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40"/>
  </p:normalViewPr>
  <p:slideViewPr>
    <p:cSldViewPr showGuides="1">
      <p:cViewPr varScale="1">
        <p:scale>
          <a:sx n="107" d="100"/>
          <a:sy n="107" d="100"/>
        </p:scale>
        <p:origin x="1760" y="160"/>
      </p:cViewPr>
      <p:guideLst>
        <p:guide orient="horz" pos="2160"/>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2" Type="http://schemas.openxmlformats.org/officeDocument/2006/relationships/tableStyles" Target="tableStyles.xml"/><Relationship Id="rId111" Type="http://schemas.openxmlformats.org/officeDocument/2006/relationships/viewProps" Target="viewProps.xml"/><Relationship Id="rId110" Type="http://schemas.openxmlformats.org/officeDocument/2006/relationships/presProps" Target="presProps.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FC51EC-6FD5-4863-83B5-92D981B3290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E40C3E-DC0F-454B-B64E-DAEF5FEB767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eaLnBrk="0" hangingPunct="0">
              <a:defRPr kumimoji="1" sz="2000">
                <a:solidFill>
                  <a:schemeClr val="tx1"/>
                </a:solidFill>
                <a:latin typeface="Times New Roman" panose="02020603050405020304" charset="0"/>
                <a:ea typeface="宋体" panose="02010600030101010101" pitchFamily="2" charset="-122"/>
              </a:defRPr>
            </a:lvl1pPr>
            <a:lvl2pPr marL="742950" indent="-285750" defTabSz="955675" eaLnBrk="0" hangingPunct="0">
              <a:defRPr kumimoji="1" sz="2000">
                <a:solidFill>
                  <a:schemeClr val="tx1"/>
                </a:solidFill>
                <a:latin typeface="Times New Roman" panose="02020603050405020304" charset="0"/>
                <a:ea typeface="宋体" panose="02010600030101010101" pitchFamily="2" charset="-122"/>
              </a:defRPr>
            </a:lvl2pPr>
            <a:lvl3pPr marL="1143000" indent="-228600" defTabSz="955675" eaLnBrk="0" hangingPunct="0">
              <a:defRPr kumimoji="1" sz="2000">
                <a:solidFill>
                  <a:schemeClr val="tx1"/>
                </a:solidFill>
                <a:latin typeface="Times New Roman" panose="02020603050405020304" charset="0"/>
                <a:ea typeface="宋体" panose="02010600030101010101" pitchFamily="2" charset="-122"/>
              </a:defRPr>
            </a:lvl3pPr>
            <a:lvl4pPr marL="1600200" indent="-228600" defTabSz="955675" eaLnBrk="0" hangingPunct="0">
              <a:defRPr kumimoji="1" sz="2000">
                <a:solidFill>
                  <a:schemeClr val="tx1"/>
                </a:solidFill>
                <a:latin typeface="Times New Roman" panose="02020603050405020304" charset="0"/>
                <a:ea typeface="宋体" panose="02010600030101010101" pitchFamily="2" charset="-122"/>
              </a:defRPr>
            </a:lvl4pPr>
            <a:lvl5pPr marL="2057400" indent="-228600" defTabSz="955675" eaLnBrk="0" hangingPunct="0">
              <a:defRPr kumimoji="1" sz="2000">
                <a:solidFill>
                  <a:schemeClr val="tx1"/>
                </a:solidFill>
                <a:latin typeface="Times New Roman" panose="02020603050405020304" charset="0"/>
                <a:ea typeface="宋体" panose="02010600030101010101" pitchFamily="2" charset="-122"/>
              </a:defRPr>
            </a:lvl5pPr>
            <a:lvl6pPr marL="2514600" indent="-228600" defTabSz="955675"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defTabSz="955675"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defTabSz="955675"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defTabSz="955675"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fld id="{497F7AEF-65A4-9E40-9F30-E4FA11C5AE53}" type="slidenum">
              <a:rPr kumimoji="0" lang="en-US" altLang="zh-CN" sz="1300">
                <a:latin typeface="Arial" panose="020B0604020202020204" pitchFamily="34" charset="0"/>
              </a:rPr>
            </a:fld>
            <a:endParaRPr kumimoji="0" lang="en-US" altLang="zh-CN" sz="1300">
              <a:latin typeface="Arial" panose="020B0604020202020204" pitchFamily="34" charset="0"/>
            </a:endParaRPr>
          </a:p>
        </p:txBody>
      </p:sp>
      <p:sp>
        <p:nvSpPr>
          <p:cNvPr id="72707" name="Rectangle 2"/>
          <p:cNvSpPr>
            <a:spLocks noRot="1" noChangeArrowheads="1" noTextEdit="1"/>
          </p:cNvSpPr>
          <p:nvPr>
            <p:ph type="sldImg"/>
          </p:nvPr>
        </p:nvSpPr>
        <p:spPr>
          <a:xfrm>
            <a:off x="503238" y="242888"/>
            <a:ext cx="3575050" cy="2681287"/>
          </a:xfrm>
        </p:spPr>
      </p:sp>
      <p:sp>
        <p:nvSpPr>
          <p:cNvPr id="72708" name="Rectangle 3"/>
          <p:cNvSpPr>
            <a:spLocks noGrp="1" noChangeArrowheads="1"/>
          </p:cNvSpPr>
          <p:nvPr>
            <p:ph type="body" idx="1"/>
          </p:nvPr>
        </p:nvSpPr>
        <p:spPr>
          <a:xfrm>
            <a:off x="663575" y="3254375"/>
            <a:ext cx="5613400" cy="6261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4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6" name="Rectangle 2"/>
          <p:cNvSpPr>
            <a:spLocks noRot="1" noChangeArrowheads="1" noTextEdit="1"/>
          </p:cNvSpPr>
          <p:nvPr>
            <p:ph type="sldImg"/>
          </p:nvPr>
        </p:nvSpPr>
        <p:spPr>
          <a:xfrm>
            <a:off x="917575" y="744538"/>
            <a:ext cx="4962525" cy="3722687"/>
          </a:xfrm>
        </p:spPr>
      </p:sp>
      <p:sp>
        <p:nvSpPr>
          <p:cNvPr id="1040387" name="Rectangle 3"/>
          <p:cNvSpPr>
            <a:spLocks noChangeArrowheads="1"/>
          </p:cNvSpPr>
          <p:nvPr>
            <p:ph type="body" idx="1"/>
          </p:nvPr>
        </p:nvSpPr>
        <p:spPr>
          <a:xfrm>
            <a:off x="906463" y="4714875"/>
            <a:ext cx="4984750"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2" name="Rectangle 2"/>
          <p:cNvSpPr>
            <a:spLocks noRot="1" noChangeArrowheads="1" noTextEdit="1"/>
          </p:cNvSpPr>
          <p:nvPr>
            <p:ph type="sldImg"/>
          </p:nvPr>
        </p:nvSpPr>
        <p:spPr>
          <a:xfrm>
            <a:off x="917575" y="744538"/>
            <a:ext cx="4962525" cy="3722687"/>
          </a:xfrm>
        </p:spPr>
      </p:sp>
      <p:sp>
        <p:nvSpPr>
          <p:cNvPr id="1054723" name="Rectangle 3"/>
          <p:cNvSpPr>
            <a:spLocks noChangeArrowheads="1"/>
          </p:cNvSpPr>
          <p:nvPr>
            <p:ph type="body" idx="1"/>
          </p:nvPr>
        </p:nvSpPr>
        <p:spPr>
          <a:xfrm>
            <a:off x="906463" y="4714875"/>
            <a:ext cx="4984750"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42" name="Rectangle 2"/>
          <p:cNvSpPr>
            <a:spLocks noRot="1" noChangeArrowheads="1" noTextEdit="1"/>
          </p:cNvSpPr>
          <p:nvPr>
            <p:ph type="sldImg"/>
          </p:nvPr>
        </p:nvSpPr>
        <p:spPr>
          <a:xfrm>
            <a:off x="917575" y="744538"/>
            <a:ext cx="4962525" cy="3722687"/>
          </a:xfrm>
        </p:spPr>
      </p:sp>
      <p:sp>
        <p:nvSpPr>
          <p:cNvPr id="1187843" name="Rectangle 3"/>
          <p:cNvSpPr>
            <a:spLocks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anose="02010600030101010101" pitchFamily="2" charset="-122"/>
              </a:rPr>
              <a:t>为了保证在任何位置上都能沿原路退回，显然需要用一个后进先出的结构来保存从入口到当前位置的路径。因此在求解迷宫通路的算法中应用“栈”也就是自然而然的事了。</a:t>
            </a:r>
            <a:endParaRPr lang="zh-CN" altLang="en-US">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0674" name="Rectangle 2"/>
          <p:cNvSpPr>
            <a:spLocks noRot="1" noChangeArrowheads="1" noTextEdit="1"/>
          </p:cNvSpPr>
          <p:nvPr>
            <p:ph type="sldImg"/>
          </p:nvPr>
        </p:nvSpPr>
        <p:spPr/>
      </p:sp>
      <p:sp>
        <p:nvSpPr>
          <p:cNvPr id="1180675" name="Rectangle 3"/>
          <p:cNvSpPr>
            <a:spLocks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anose="02010600030101010101" pitchFamily="2" charset="-122"/>
              </a:rPr>
              <a:t>四色问题又称四色猜想，是世界近代三大数学难题之一。 </a:t>
            </a:r>
            <a:endParaRPr lang="zh-CN" altLang="en-US">
              <a:ea typeface="宋体" panose="02010600030101010101" pitchFamily="2" charset="-122"/>
            </a:endParaRPr>
          </a:p>
          <a:p>
            <a:r>
              <a:rPr lang="zh-CN" altLang="en-US">
                <a:ea typeface="宋体" panose="02010600030101010101" pitchFamily="2" charset="-122"/>
              </a:rPr>
              <a:t>四色问题的内容是：“任何一张地图只用四种颜色就能使具有共同边界的国家着上不同的颜色。”用数学语言表示，即“将平面任意地细分为不相重迭的区域，每一个区域总可以用</a:t>
            </a:r>
            <a:r>
              <a:rPr lang="en-US" altLang="zh-CN">
                <a:ea typeface="宋体" panose="02010600030101010101" pitchFamily="2" charset="-122"/>
              </a:rPr>
              <a:t>1</a:t>
            </a:r>
            <a:r>
              <a:rPr lang="zh-CN" altLang="en-US">
                <a:ea typeface="宋体" panose="02010600030101010101" pitchFamily="2" charset="-122"/>
              </a:rPr>
              <a:t>，</a:t>
            </a:r>
            <a:r>
              <a:rPr lang="en-US" altLang="zh-CN">
                <a:ea typeface="宋体" panose="02010600030101010101" pitchFamily="2" charset="-122"/>
              </a:rPr>
              <a:t>2</a:t>
            </a:r>
            <a:r>
              <a:rPr lang="zh-CN" altLang="en-US">
                <a:ea typeface="宋体" panose="02010600030101010101" pitchFamily="2" charset="-122"/>
              </a:rPr>
              <a:t>，</a:t>
            </a:r>
            <a:r>
              <a:rPr lang="en-US" altLang="zh-CN">
                <a:ea typeface="宋体" panose="02010600030101010101" pitchFamily="2" charset="-122"/>
              </a:rPr>
              <a:t>3</a:t>
            </a:r>
            <a:r>
              <a:rPr lang="zh-CN" altLang="en-US">
                <a:ea typeface="宋体" panose="02010600030101010101" pitchFamily="2" charset="-122"/>
              </a:rPr>
              <a:t>，</a:t>
            </a:r>
            <a:r>
              <a:rPr lang="en-US" altLang="zh-CN">
                <a:ea typeface="宋体" panose="02010600030101010101" pitchFamily="2" charset="-122"/>
              </a:rPr>
              <a:t>4</a:t>
            </a:r>
            <a:r>
              <a:rPr lang="zh-CN" altLang="en-US">
                <a:ea typeface="宋体" panose="02010600030101010101" pitchFamily="2" charset="-122"/>
              </a:rPr>
              <a:t>这四个数字之一来标记，而不会使相邻的两个区域得到相同的数字。” </a:t>
            </a:r>
            <a:endParaRPr lang="zh-CN" altLang="en-US">
              <a:ea typeface="宋体" panose="02010600030101010101" pitchFamily="2" charset="-122"/>
            </a:endParaRPr>
          </a:p>
          <a:p>
            <a:r>
              <a:rPr lang="zh-CN" altLang="en-US">
                <a:ea typeface="宋体" panose="02010600030101010101" pitchFamily="2" charset="-122"/>
              </a:rPr>
              <a:t>这里所指的相邻区域，是指有一整段边界是公共的。如果两个区域只相遇于一点或有限多点，就不叫相邻的。因为用相同的颜色给它们着色不会引起混淆。</a:t>
            </a:r>
            <a:endParaRPr lang="zh-CN" altLang="en-US">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p:cNvSpPr>
            <a:spLocks noRot="1" noChangeArrowheads="1" noTextEdit="1"/>
          </p:cNvSpPr>
          <p:nvPr>
            <p:ph type="sldImg"/>
          </p:nvPr>
        </p:nvSpPr>
        <p:spPr>
          <a:xfrm>
            <a:off x="917575" y="744538"/>
            <a:ext cx="4962525" cy="3722687"/>
          </a:xfrm>
        </p:spPr>
      </p:sp>
      <p:sp>
        <p:nvSpPr>
          <p:cNvPr id="1067011" name="Rectangle 3"/>
          <p:cNvSpPr>
            <a:spLocks noChangeArrowheads="1"/>
          </p:cNvSpPr>
          <p:nvPr>
            <p:ph type="body" idx="1"/>
          </p:nvPr>
        </p:nvSpPr>
        <p:spPr>
          <a:xfrm>
            <a:off x="906463" y="4714875"/>
            <a:ext cx="4984750"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5858" name="Rectangle 2"/>
          <p:cNvSpPr>
            <a:spLocks noRot="1" noChangeArrowheads="1" noTextEdit="1"/>
          </p:cNvSpPr>
          <p:nvPr>
            <p:ph type="sldImg"/>
          </p:nvPr>
        </p:nvSpPr>
        <p:spPr/>
      </p:sp>
      <p:sp>
        <p:nvSpPr>
          <p:cNvPr id="1145859" name="Rectangle 3"/>
          <p:cNvSpPr>
            <a:spLocks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楷体_GB2312" charset="0"/>
                <a:ea typeface="楷体_GB2312" charset="0"/>
              </a:rPr>
              <a:t>第一个例子就是</a:t>
            </a:r>
            <a:r>
              <a:rPr lang="en-US" altLang="zh-CN">
                <a:latin typeface="楷体_GB2312" charset="0"/>
                <a:ea typeface="楷体_GB2312" charset="0"/>
              </a:rPr>
              <a:t>CPU</a:t>
            </a:r>
            <a:r>
              <a:rPr lang="zh-CN" altLang="en-US">
                <a:latin typeface="楷体_GB2312" charset="0"/>
                <a:ea typeface="楷体_GB2312" charset="0"/>
              </a:rPr>
              <a:t>资源的竞争问题。在具有多个终端的计算机系统中，有多个用户需要使用</a:t>
            </a:r>
            <a:r>
              <a:rPr lang="en-US" altLang="zh-CN">
                <a:latin typeface="楷体_GB2312" charset="0"/>
                <a:ea typeface="楷体_GB2312" charset="0"/>
              </a:rPr>
              <a:t>CPU</a:t>
            </a:r>
            <a:r>
              <a:rPr lang="zh-CN" altLang="en-US">
                <a:latin typeface="楷体_GB2312" charset="0"/>
                <a:ea typeface="楷体_GB2312" charset="0"/>
              </a:rPr>
              <a:t>各自运行自己的程序，它们分别通过各自终端向操作系统提出使用</a:t>
            </a:r>
            <a:r>
              <a:rPr lang="en-US" altLang="zh-CN">
                <a:latin typeface="楷体_GB2312" charset="0"/>
                <a:ea typeface="楷体_GB2312" charset="0"/>
              </a:rPr>
              <a:t>CPU</a:t>
            </a:r>
            <a:r>
              <a:rPr lang="zh-CN" altLang="en-US">
                <a:latin typeface="楷体_GB2312" charset="0"/>
                <a:ea typeface="楷体_GB2312" charset="0"/>
              </a:rPr>
              <a:t>的请求，操作系统按照每个请求在时间上的先后顺序，将其排成一个队列，每次把</a:t>
            </a:r>
            <a:r>
              <a:rPr lang="en-US" altLang="zh-CN">
                <a:latin typeface="楷体_GB2312" charset="0"/>
                <a:ea typeface="楷体_GB2312" charset="0"/>
              </a:rPr>
              <a:t>CPU</a:t>
            </a:r>
            <a:r>
              <a:rPr lang="zh-CN" altLang="en-US">
                <a:latin typeface="楷体_GB2312" charset="0"/>
                <a:ea typeface="楷体_GB2312" charset="0"/>
              </a:rPr>
              <a:t>分配给队头用户使用，当相应的程序运行结束，则令其出队，再把</a:t>
            </a:r>
            <a:r>
              <a:rPr lang="en-US" altLang="zh-CN">
                <a:latin typeface="楷体_GB2312" charset="0"/>
                <a:ea typeface="楷体_GB2312" charset="0"/>
              </a:rPr>
              <a:t>CPU</a:t>
            </a:r>
            <a:r>
              <a:rPr lang="zh-CN" altLang="en-US">
                <a:latin typeface="楷体_GB2312" charset="0"/>
                <a:ea typeface="楷体_GB2312" charset="0"/>
              </a:rPr>
              <a:t>分配给新的队头用户，直到所有用户任务处理完毕。</a:t>
            </a:r>
            <a:endParaRPr lang="zh-CN" altLang="en-US">
              <a:latin typeface="楷体_GB2312" charset="0"/>
              <a:ea typeface="楷体_GB2312" charset="0"/>
            </a:endParaRPr>
          </a:p>
          <a:p>
            <a:r>
              <a:rPr lang="zh-CN" altLang="en-US">
                <a:latin typeface="楷体_GB2312" charset="0"/>
                <a:ea typeface="楷体_GB2312" charset="0"/>
              </a:rPr>
              <a:t>第二个例子就是主机与外部设备之间速度不匹配的问题。以主机和打印机为例来说明，主机输出数据给打印机打印，主机输出数据的速度比打印机打印的速度要快得多，若直接把输出的数据送给打印机打印，由于速度不匹配，显然是不行的。所以解决的方法是设置一个打印数据缓冲区，主机把要打印输出的数据依此写如到这个缓冲区中，写满后就暂停输出，继而去做其它的事情，打印机就从缓冲区中按照先进先出的原则依次取出数据并打印，打印完后再向主机发出请求，主机接到请求后再向缓冲区写入打印数据，这样利用队列既保证了打印数据的正确，又使主机提高了效率。</a:t>
            </a:r>
            <a:endParaRPr lang="zh-CN" altLang="en-US">
              <a:latin typeface="楷体_GB2312" charset="0"/>
              <a:ea typeface="楷体_GB2312" charset="0"/>
            </a:endParaRPr>
          </a:p>
          <a:p>
            <a:endParaRPr lang="zh-CN" altLang="en-US">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grpSp>
        <p:nvGrpSpPr>
          <p:cNvPr id="2" name="组合 1"/>
          <p:cNvGrpSpPr/>
          <p:nvPr userDrawn="1"/>
        </p:nvGrpSpPr>
        <p:grpSpPr>
          <a:xfrm>
            <a:off x="-3765" y="4953000"/>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userDrawn="1"/>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lstStyle>
          <a:p>
            <a:fld id="{C85226CB-B0C2-4344-A5A0-B57BD90EDBDF}" type="datetimeFigureOut">
              <a:rPr lang="zh-CN" altLang="en-US" smtClean="0"/>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lstStyle>
          <a:p>
            <a:fld id="{6E1C0148-8E4B-4B2F-95CE-20B4709700A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spcAft>
                <a:spcPts val="1000"/>
              </a:spcAft>
              <a:defRPr>
                <a:solidFill>
                  <a:schemeClr val="tx2">
                    <a:lumMod val="75000"/>
                  </a:schemeClr>
                </a:solidFill>
                <a:latin typeface="华文楷体" panose="02010600040101010101" charset="-122"/>
                <a:ea typeface="华文楷体" panose="02010600040101010101" charset="-122"/>
              </a:defRPr>
            </a:lvl1pPr>
            <a:lvl2pPr>
              <a:spcAft>
                <a:spcPts val="1000"/>
              </a:spcAft>
              <a:defRPr>
                <a:solidFill>
                  <a:schemeClr val="tx2">
                    <a:lumMod val="75000"/>
                  </a:schemeClr>
                </a:solidFill>
                <a:latin typeface="华文楷体" panose="02010600040101010101" charset="-122"/>
                <a:ea typeface="华文楷体" panose="02010600040101010101" charset="-122"/>
              </a:defRPr>
            </a:lvl2pPr>
            <a:lvl3pPr>
              <a:spcAft>
                <a:spcPts val="1000"/>
              </a:spcAft>
              <a:defRPr>
                <a:solidFill>
                  <a:schemeClr val="tx2">
                    <a:lumMod val="75000"/>
                  </a:schemeClr>
                </a:solidFill>
                <a:latin typeface="华文楷体" panose="02010600040101010101" charset="-122"/>
                <a:ea typeface="华文楷体" panose="02010600040101010101" charset="-122"/>
              </a:defRPr>
            </a:lvl3pPr>
          </a:lstStyle>
          <a:p>
            <a:pPr lvl="0" eaLnBrk="1" latinLnBrk="0" hangingPunct="1"/>
            <a:r>
              <a:rPr lang="zh-CN" altLang="en-US" dirty="0" smtClean="0"/>
              <a:t>单击此处编辑母版文本样式</a:t>
            </a:r>
            <a:endParaRPr lang="zh-CN" altLang="en-US" dirty="0" smtClean="0"/>
          </a:p>
          <a:p>
            <a:pPr lvl="1" eaLnBrk="1" latinLnBrk="0" hangingPunct="1"/>
            <a:r>
              <a:rPr lang="zh-CN" altLang="en-US" dirty="0" smtClean="0"/>
              <a:t>第二级</a:t>
            </a:r>
            <a:endParaRPr lang="zh-CN" altLang="en-US" dirty="0" smtClean="0"/>
          </a:p>
          <a:p>
            <a:pPr lvl="2" eaLnBrk="1" latinLnBrk="0" hangingPunct="1"/>
            <a:r>
              <a:rPr lang="zh-CN" altLang="en-US" smtClean="0"/>
              <a:t>第三级</a:t>
            </a:r>
            <a:endParaRPr lang="zh-CN" altLang="en-US" dirty="0" smtClean="0"/>
          </a:p>
        </p:txBody>
      </p:sp>
      <p:sp>
        <p:nvSpPr>
          <p:cNvPr id="4" name="日期占位符 3"/>
          <p:cNvSpPr>
            <a:spLocks noGrp="1"/>
          </p:cNvSpPr>
          <p:nvPr>
            <p:ph type="dt" sz="half" idx="10"/>
          </p:nvPr>
        </p:nvSpPr>
        <p:spPr>
          <a:xfrm>
            <a:off x="6164422" y="6407309"/>
            <a:ext cx="1920240" cy="365760"/>
          </a:xfrm>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a:xfrm>
            <a:off x="3570447" y="6408579"/>
            <a:ext cx="2350681" cy="365125"/>
          </a:xfrm>
        </p:spPr>
        <p:txBody>
          <a:bodyPr/>
          <a:lstStyle/>
          <a:p>
            <a:endParaRPr lang="zh-CN" altLang="en-US"/>
          </a:p>
        </p:txBody>
      </p:sp>
      <p:sp>
        <p:nvSpPr>
          <p:cNvPr id="6" name="灯片编号占位符 5"/>
          <p:cNvSpPr>
            <a:spLocks noGrp="1"/>
          </p:cNvSpPr>
          <p:nvPr>
            <p:ph type="sldNum" sz="quarter" idx="12"/>
          </p:nvPr>
        </p:nvSpPr>
        <p:spPr>
          <a:xfrm>
            <a:off x="8084185" y="6407785"/>
            <a:ext cx="929005" cy="365125"/>
          </a:xfrm>
        </p:spPr>
        <p:txBody>
          <a:bodyPr/>
          <a:lstStyle/>
          <a:p>
            <a:fld id="{6E1C0148-8E4B-4B2F-95CE-20B4709700AE}" type="slidenum">
              <a:rPr lang="zh-CN" altLang="en-US" smtClean="0"/>
            </a:fld>
            <a:endParaRPr lang="zh-CN" altLang="en-US" dirty="0"/>
          </a:p>
        </p:txBody>
      </p:sp>
      <p:sp>
        <p:nvSpPr>
          <p:cNvPr id="7" name="标题 6"/>
          <p:cNvSpPr>
            <a:spLocks noGrp="1"/>
          </p:cNvSpPr>
          <p:nvPr>
            <p:ph type="title"/>
          </p:nvPr>
        </p:nvSpPr>
        <p:spPr/>
        <p:txBody>
          <a:bodyPr rtlCol="0"/>
          <a:lstStyle/>
          <a:p>
            <a:r>
              <a:rPr kumimoji="0" lang="zh-CN" altLang="en-US" smtClean="0"/>
              <a:t>单击此处编辑母版标题样式</a:t>
            </a:r>
            <a:endParaRPr kumimoji="0"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endParaRPr kumimoji="0" lang="zh-CN" altLang="en-US" smtClean="0"/>
          </a:p>
        </p:txBody>
      </p:sp>
      <p:sp>
        <p:nvSpPr>
          <p:cNvPr id="4" name="日期占位符 3"/>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8" name="标题 7"/>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6" name="标题 5"/>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fld id="{C85226CB-B0C2-4344-A5A0-B57BD90EDBD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endParaRPr kumimoji="0" lang="zh-CN" altLang="en-US" smtClean="0"/>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fld id="{C85226CB-B0C2-4344-A5A0-B57BD90EDBDF}" type="datetimeFigureOut">
              <a:rPr lang="zh-CN" altLang="en-US" smtClean="0"/>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lstStyle>
          <a:p>
            <a:fld id="{6E1C0148-8E4B-4B2F-95CE-20B4709700AE}" type="slidenum">
              <a:rPr lang="zh-CN" altLang="en-US" smtClean="0"/>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smtClean="0"/>
              <a:t>单击此处编辑母版标题样式</a:t>
            </a:r>
            <a:endParaRPr kumimoji="0" lang="en-US"/>
          </a:p>
        </p:txBody>
      </p:sp>
      <p:sp>
        <p:nvSpPr>
          <p:cNvPr id="8" name="任意多边形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userDrawn="1"/>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userDrawn="1"/>
        </p:nvSpPr>
        <p:spPr bwMode="auto">
          <a:xfrm>
            <a:off x="557472"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C85226CB-B0C2-4344-A5A0-B57BD90EDBDF}" type="datetimeFigureOut">
              <a:rPr lang="zh-CN" altLang="en-US" smtClean="0"/>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6E1C0148-8E4B-4B2F-95CE-20B4709700A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slide" Target="slide77.xml"/><Relationship Id="rId3" Type="http://schemas.openxmlformats.org/officeDocument/2006/relationships/slide" Target="slide68.xml"/><Relationship Id="rId2" Type="http://schemas.openxmlformats.org/officeDocument/2006/relationships/slide" Target="slide34.xml"/><Relationship Id="rId1" Type="http://schemas.openxmlformats.org/officeDocument/2006/relationships/slide" Target="slide2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3.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slide" Target="slide12.xml"/><Relationship Id="rId5" Type="http://schemas.openxmlformats.org/officeDocument/2006/relationships/slide" Target="slide11.xml"/><Relationship Id="rId4" Type="http://schemas.openxmlformats.org/officeDocument/2006/relationships/slide" Target="slide9.xml"/><Relationship Id="rId3" Type="http://schemas.openxmlformats.org/officeDocument/2006/relationships/slide" Target="slide8.xml"/><Relationship Id="rId2" Type="http://schemas.openxmlformats.org/officeDocument/2006/relationships/slide" Target="slide7.xml"/><Relationship Id="rId1" Type="http://schemas.openxmlformats.org/officeDocument/2006/relationships/slide" Target="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slide" Target="slide3.xml"/><Relationship Id="rId1" Type="http://schemas.openxmlformats.org/officeDocument/2006/relationships/slide" Target="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slide" Target="slide3.xml"/><Relationship Id="rId6" Type="http://schemas.openxmlformats.org/officeDocument/2006/relationships/slide" Target="slide30.xml"/><Relationship Id="rId5" Type="http://schemas.openxmlformats.org/officeDocument/2006/relationships/slide" Target="slide41.xml"/><Relationship Id="rId4" Type="http://schemas.openxmlformats.org/officeDocument/2006/relationships/slide" Target="slide33.xml"/><Relationship Id="rId3" Type="http://schemas.openxmlformats.org/officeDocument/2006/relationships/slide" Target="slide32.xml"/><Relationship Id="rId2" Type="http://schemas.openxmlformats.org/officeDocument/2006/relationships/slide" Target="slide28.xml"/><Relationship Id="rId1"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2.wav"/></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52.xml"/></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5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5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5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5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6.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hyperlink" Target="file:///d:\tc\tc" TargetMode="Externa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3.xml"/></Relationships>
</file>

<file path=ppt/slides/_rels/slide6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slide" Target="slide75.xml"/><Relationship Id="rId5" Type="http://schemas.openxmlformats.org/officeDocument/2006/relationships/slide" Target="slide76.xml"/><Relationship Id="rId4" Type="http://schemas.openxmlformats.org/officeDocument/2006/relationships/slide" Target="slide74.xml"/><Relationship Id="rId3" Type="http://schemas.openxmlformats.org/officeDocument/2006/relationships/slide" Target="slide73.xml"/><Relationship Id="rId2" Type="http://schemas.openxmlformats.org/officeDocument/2006/relationships/slide" Target="slide72.xml"/><Relationship Id="rId1" Type="http://schemas.openxmlformats.org/officeDocument/2006/relationships/slide" Target="slide7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97.xml"/><Relationship Id="rId2" Type="http://schemas.openxmlformats.org/officeDocument/2006/relationships/slide" Target="slide83.xml"/><Relationship Id="rId1" Type="http://schemas.openxmlformats.org/officeDocument/2006/relationships/slide" Target="slide7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8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5.bin"/></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6.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7.bin"/></Relationships>
</file>

<file path=ppt/slides/_rels/slide9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8.bin"/></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9.bin"/></Relationships>
</file>

<file path=ppt/slides/_rels/slide92.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10.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7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Text Box 2"/>
          <p:cNvSpPr txBox="1">
            <a:spLocks noChangeArrowheads="1"/>
          </p:cNvSpPr>
          <p:nvPr/>
        </p:nvSpPr>
        <p:spPr bwMode="auto">
          <a:xfrm>
            <a:off x="1524000" y="4648200"/>
            <a:ext cx="5943600" cy="390884"/>
          </a:xfrm>
          <a:prstGeom prst="rect">
            <a:avLst/>
          </a:prstGeom>
          <a:noFill/>
          <a:ln w="76200">
            <a:noFill/>
            <a:miter lim="800000"/>
          </a:ln>
          <a:effectLst/>
        </p:spPr>
        <p:txBody>
          <a:bodyPr lIns="82304" tIns="41152" rIns="82304" bIns="41152">
            <a:spAutoFit/>
          </a:bodyPr>
          <a:lstStyle>
            <a:lvl1pPr defTabSz="824230" eaLnBrk="0" hangingPunct="0">
              <a:defRPr kumimoji="1" sz="2000">
                <a:solidFill>
                  <a:schemeClr val="tx1"/>
                </a:solidFill>
                <a:latin typeface="Times New Roman" panose="02020603050405020304" charset="0"/>
                <a:ea typeface="宋体" panose="02010600030101010101" pitchFamily="2" charset="-122"/>
              </a:defRPr>
            </a:lvl1pPr>
            <a:lvl2pPr marL="742950" indent="-285750" defTabSz="824230" eaLnBrk="0" hangingPunct="0">
              <a:defRPr kumimoji="1" sz="2000">
                <a:solidFill>
                  <a:schemeClr val="tx1"/>
                </a:solidFill>
                <a:latin typeface="Times New Roman" panose="02020603050405020304" charset="0"/>
                <a:ea typeface="宋体" panose="02010600030101010101" pitchFamily="2" charset="-122"/>
              </a:defRPr>
            </a:lvl2pPr>
            <a:lvl3pPr marL="1143000" indent="-228600" defTabSz="824230" eaLnBrk="0" hangingPunct="0">
              <a:defRPr kumimoji="1" sz="2000">
                <a:solidFill>
                  <a:schemeClr val="tx1"/>
                </a:solidFill>
                <a:latin typeface="Times New Roman" panose="02020603050405020304" charset="0"/>
                <a:ea typeface="宋体" panose="02010600030101010101" pitchFamily="2" charset="-122"/>
              </a:defRPr>
            </a:lvl3pPr>
            <a:lvl4pPr marL="1600200" indent="-228600" defTabSz="824230" eaLnBrk="0" hangingPunct="0">
              <a:defRPr kumimoji="1" sz="2000">
                <a:solidFill>
                  <a:schemeClr val="tx1"/>
                </a:solidFill>
                <a:latin typeface="Times New Roman" panose="02020603050405020304" charset="0"/>
                <a:ea typeface="宋体" panose="02010600030101010101" pitchFamily="2" charset="-122"/>
              </a:defRPr>
            </a:lvl4pPr>
            <a:lvl5pPr marL="2057400" indent="-228600" defTabSz="824230" eaLnBrk="0" hangingPunct="0">
              <a:defRPr kumimoji="1" sz="2000">
                <a:solidFill>
                  <a:schemeClr val="tx1"/>
                </a:solidFill>
                <a:latin typeface="Times New Roman" panose="02020603050405020304" charset="0"/>
                <a:ea typeface="宋体" panose="02010600030101010101" pitchFamily="2" charset="-122"/>
              </a:defRPr>
            </a:lvl5pPr>
            <a:lvl6pPr marL="25146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a:endParaRPr kumimoji="0" lang="en-US" altLang="zh-CN" b="1" dirty="0">
              <a:solidFill>
                <a:schemeClr val="bg1"/>
              </a:solidFill>
              <a:effectLst>
                <a:outerShdw blurRad="38100" dist="38100" dir="2700000" algn="tl">
                  <a:srgbClr val="C0C0C0"/>
                </a:outerShdw>
              </a:effectLst>
            </a:endParaRPr>
          </a:p>
        </p:txBody>
      </p:sp>
      <p:sp>
        <p:nvSpPr>
          <p:cNvPr id="539651" name="Text Box 3"/>
          <p:cNvSpPr txBox="1">
            <a:spLocks noChangeArrowheads="1"/>
          </p:cNvSpPr>
          <p:nvPr/>
        </p:nvSpPr>
        <p:spPr bwMode="auto">
          <a:xfrm>
            <a:off x="-152400" y="2617788"/>
            <a:ext cx="9109075" cy="665162"/>
          </a:xfrm>
          <a:prstGeom prst="rect">
            <a:avLst/>
          </a:prstGeom>
          <a:noFill/>
          <a:ln w="12700">
            <a:noFill/>
            <a:miter lim="800000"/>
          </a:ln>
          <a:effectLst/>
        </p:spPr>
        <p:txBody>
          <a:bodyPr lIns="91703" tIns="45852" rIns="91703" bIns="45852" anchor="ctr">
            <a:spAutoFit/>
          </a:bodyPr>
          <a:lstStyle>
            <a:lvl1pPr defTabSz="824230" eaLnBrk="0" hangingPunct="0">
              <a:defRPr kumimoji="1" sz="2000">
                <a:solidFill>
                  <a:schemeClr val="tx1"/>
                </a:solidFill>
                <a:latin typeface="Times New Roman" panose="02020603050405020304" charset="0"/>
                <a:ea typeface="宋体" panose="02010600030101010101" pitchFamily="2" charset="-122"/>
              </a:defRPr>
            </a:lvl1pPr>
            <a:lvl2pPr marL="742950" indent="-285750" defTabSz="824230" eaLnBrk="0" hangingPunct="0">
              <a:defRPr kumimoji="1" sz="2000">
                <a:solidFill>
                  <a:schemeClr val="tx1"/>
                </a:solidFill>
                <a:latin typeface="Times New Roman" panose="02020603050405020304" charset="0"/>
                <a:ea typeface="宋体" panose="02010600030101010101" pitchFamily="2" charset="-122"/>
              </a:defRPr>
            </a:lvl2pPr>
            <a:lvl3pPr marL="1143000" indent="-228600" defTabSz="824230" eaLnBrk="0" hangingPunct="0">
              <a:defRPr kumimoji="1" sz="2000">
                <a:solidFill>
                  <a:schemeClr val="tx1"/>
                </a:solidFill>
                <a:latin typeface="Times New Roman" panose="02020603050405020304" charset="0"/>
                <a:ea typeface="宋体" panose="02010600030101010101" pitchFamily="2" charset="-122"/>
              </a:defRPr>
            </a:lvl3pPr>
            <a:lvl4pPr marL="1600200" indent="-228600" defTabSz="824230" eaLnBrk="0" hangingPunct="0">
              <a:defRPr kumimoji="1" sz="2000">
                <a:solidFill>
                  <a:schemeClr val="tx1"/>
                </a:solidFill>
                <a:latin typeface="Times New Roman" panose="02020603050405020304" charset="0"/>
                <a:ea typeface="宋体" panose="02010600030101010101" pitchFamily="2" charset="-122"/>
              </a:defRPr>
            </a:lvl4pPr>
            <a:lvl5pPr marL="2057400" indent="-228600" defTabSz="824230" eaLnBrk="0" hangingPunct="0">
              <a:defRPr kumimoji="1" sz="2000">
                <a:solidFill>
                  <a:schemeClr val="tx1"/>
                </a:solidFill>
                <a:latin typeface="Times New Roman" panose="02020603050405020304" charset="0"/>
                <a:ea typeface="宋体" panose="02010600030101010101" pitchFamily="2" charset="-122"/>
              </a:defRPr>
            </a:lvl5pPr>
            <a:lvl6pPr marL="25146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a:lnSpc>
                <a:spcPct val="80000"/>
              </a:lnSpc>
              <a:spcAft>
                <a:spcPct val="20000"/>
              </a:spcAft>
            </a:pPr>
            <a:r>
              <a:rPr lang="zh-CN" altLang="zh-CN" sz="4700" b="1">
                <a:effectLst>
                  <a:outerShdw blurRad="38100" dist="38100" dir="2700000" algn="tl">
                    <a:srgbClr val="C0C0C0"/>
                  </a:outerShdw>
                </a:effectLst>
                <a:latin typeface="Arial" panose="020B0604020202020204" pitchFamily="34" charset="0"/>
              </a:rPr>
              <a:t>第</a:t>
            </a:r>
            <a:r>
              <a:rPr lang="zh-CN" altLang="en-US" sz="4700" b="1">
                <a:effectLst>
                  <a:outerShdw blurRad="38100" dist="38100" dir="2700000" algn="tl">
                    <a:srgbClr val="C0C0C0"/>
                  </a:outerShdw>
                </a:effectLst>
                <a:latin typeface="Arial" panose="020B0604020202020204" pitchFamily="34" charset="0"/>
              </a:rPr>
              <a:t>三</a:t>
            </a:r>
            <a:r>
              <a:rPr lang="zh-CN" altLang="zh-CN" sz="4700" b="1">
                <a:effectLst>
                  <a:outerShdw blurRad="38100" dist="38100" dir="2700000" algn="tl">
                    <a:srgbClr val="C0C0C0"/>
                  </a:outerShdw>
                </a:effectLst>
                <a:latin typeface="Arial" panose="020B0604020202020204" pitchFamily="34" charset="0"/>
              </a:rPr>
              <a:t>章</a:t>
            </a:r>
            <a:r>
              <a:rPr lang="zh-CN" altLang="en-US" sz="4700" b="1">
                <a:effectLst>
                  <a:outerShdw blurRad="38100" dist="38100" dir="2700000" algn="tl">
                    <a:srgbClr val="C0C0C0"/>
                  </a:outerShdw>
                </a:effectLst>
                <a:latin typeface="Arial" panose="020B0604020202020204" pitchFamily="34" charset="0"/>
              </a:rPr>
              <a:t>  </a:t>
            </a:r>
            <a:r>
              <a:rPr lang="zh-CN" altLang="zh-CN" sz="4700" b="1">
                <a:effectLst>
                  <a:outerShdw blurRad="38100" dist="38100" dir="2700000" algn="tl">
                    <a:srgbClr val="C0C0C0"/>
                  </a:outerShdw>
                </a:effectLst>
                <a:latin typeface="Arial" panose="020B0604020202020204" pitchFamily="34" charset="0"/>
              </a:rPr>
              <a:t>栈和队列</a:t>
            </a:r>
            <a:endParaRPr lang="en-US" altLang="zh-CN" sz="4700" b="1">
              <a:effectLst>
                <a:outerShdw blurRad="38100" dist="38100" dir="2700000" algn="tl">
                  <a:srgbClr val="C0C0C0"/>
                </a:outerShdw>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422"/>
    </mc:Choice>
    <mc:Fallback>
      <p:transition spd="slow" advTm="422"/>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098" name="Text Box 2"/>
          <p:cNvSpPr txBox="1">
            <a:spLocks noChangeArrowheads="1"/>
          </p:cNvSpPr>
          <p:nvPr/>
        </p:nvSpPr>
        <p:spPr bwMode="auto">
          <a:xfrm>
            <a:off x="152400" y="1355725"/>
            <a:ext cx="8778875" cy="131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zh-CN" altLang="en-US" sz="4000">
                <a:solidFill>
                  <a:srgbClr val="800000"/>
                </a:solidFill>
                <a:ea typeface="楷体_GB2312" charset="0"/>
              </a:rPr>
              <a:t>通常称，栈和队列是限定</a:t>
            </a:r>
            <a:r>
              <a:rPr lang="zh-CN" altLang="en-US" sz="4000" b="1">
                <a:solidFill>
                  <a:srgbClr val="800000"/>
                </a:solidFill>
                <a:ea typeface="楷体_GB2312" charset="0"/>
              </a:rPr>
              <a:t>插入和删除只能</a:t>
            </a:r>
            <a:r>
              <a:rPr lang="zh-CN" altLang="en-US" sz="4000">
                <a:solidFill>
                  <a:srgbClr val="800000"/>
                </a:solidFill>
                <a:ea typeface="楷体_GB2312" charset="0"/>
              </a:rPr>
              <a:t>在表的“</a:t>
            </a:r>
            <a:r>
              <a:rPr lang="zh-CN" altLang="en-US" sz="4000" b="1">
                <a:solidFill>
                  <a:srgbClr val="800000"/>
                </a:solidFill>
                <a:ea typeface="楷体_GB2312" charset="0"/>
              </a:rPr>
              <a:t>端点</a:t>
            </a:r>
            <a:r>
              <a:rPr lang="zh-CN" altLang="en-US" sz="4000">
                <a:solidFill>
                  <a:srgbClr val="800000"/>
                </a:solidFill>
                <a:ea typeface="楷体_GB2312" charset="0"/>
              </a:rPr>
              <a:t>”进行的线性表。</a:t>
            </a:r>
            <a:endParaRPr lang="zh-CN" altLang="en-US" sz="4000">
              <a:solidFill>
                <a:srgbClr val="800000"/>
              </a:solidFill>
              <a:ea typeface="楷体_GB2312" charset="0"/>
            </a:endParaRPr>
          </a:p>
        </p:txBody>
      </p:sp>
      <p:sp>
        <p:nvSpPr>
          <p:cNvPr id="1028099" name="Text Box 3"/>
          <p:cNvSpPr txBox="1">
            <a:spLocks noChangeArrowheads="1"/>
          </p:cNvSpPr>
          <p:nvPr/>
        </p:nvSpPr>
        <p:spPr bwMode="auto">
          <a:xfrm>
            <a:off x="228600" y="2854325"/>
            <a:ext cx="8669338" cy="2708275"/>
          </a:xfrm>
          <a:prstGeom prst="rect">
            <a:avLst/>
          </a:prstGeom>
          <a:solidFill>
            <a:srgbClr val="FFFFCC"/>
          </a:solidFill>
          <a:ln w="57150" cmpd="thinThick">
            <a:solidFill>
              <a:srgbClr val="800000"/>
            </a:solidFill>
            <a:miter lim="800000"/>
          </a:ln>
        </p:spPr>
        <p:txBody>
          <a:bodyPr wrap="none">
            <a:spAutoFit/>
          </a:bodyPr>
          <a:lstStyle/>
          <a:p>
            <a:r>
              <a:rPr lang="zh-CN" altLang="en-US" sz="4000" b="1">
                <a:solidFill>
                  <a:srgbClr val="000066"/>
                </a:solidFill>
                <a:latin typeface="隶书" panose="02010509060101010101" charset="-122"/>
                <a:ea typeface="隶书" panose="02010509060101010101" charset="-122"/>
              </a:rPr>
              <a:t> 线性表       栈         队列</a:t>
            </a:r>
            <a:endParaRPr lang="zh-CN" altLang="en-US" sz="3200">
              <a:solidFill>
                <a:srgbClr val="000066"/>
              </a:solidFill>
            </a:endParaRPr>
          </a:p>
          <a:p>
            <a:r>
              <a:rPr lang="en-US" altLang="zh-CN" sz="3200">
                <a:solidFill>
                  <a:srgbClr val="800000"/>
                </a:solidFill>
              </a:rPr>
              <a:t>Insert(L,</a:t>
            </a:r>
            <a:r>
              <a:rPr lang="en-US" altLang="zh-CN" sz="3200">
                <a:solidFill>
                  <a:srgbClr val="FF5050"/>
                </a:solidFill>
              </a:rPr>
              <a:t> </a:t>
            </a:r>
            <a:r>
              <a:rPr lang="en-US" altLang="zh-CN" sz="3200" b="1">
                <a:solidFill>
                  <a:srgbClr val="FF5050"/>
                </a:solidFill>
              </a:rPr>
              <a:t>i</a:t>
            </a:r>
            <a:r>
              <a:rPr lang="en-US" altLang="zh-CN" sz="3200">
                <a:solidFill>
                  <a:srgbClr val="800000"/>
                </a:solidFill>
              </a:rPr>
              <a:t>, x)    Insert(S, </a:t>
            </a:r>
            <a:r>
              <a:rPr lang="en-US" altLang="zh-CN" sz="3200" b="1">
                <a:solidFill>
                  <a:srgbClr val="CC00CC"/>
                </a:solidFill>
              </a:rPr>
              <a:t>n+1</a:t>
            </a:r>
            <a:r>
              <a:rPr lang="en-US" altLang="zh-CN" sz="3200">
                <a:solidFill>
                  <a:srgbClr val="800000"/>
                </a:solidFill>
              </a:rPr>
              <a:t>, x)    Insert(Q, </a:t>
            </a:r>
            <a:r>
              <a:rPr lang="en-US" altLang="zh-CN" sz="3200" b="1">
                <a:solidFill>
                  <a:srgbClr val="CC00CC"/>
                </a:solidFill>
              </a:rPr>
              <a:t>n+1</a:t>
            </a:r>
            <a:r>
              <a:rPr lang="en-US" altLang="zh-CN" sz="3200">
                <a:solidFill>
                  <a:srgbClr val="800000"/>
                </a:solidFill>
              </a:rPr>
              <a:t>, x)</a:t>
            </a:r>
            <a:endParaRPr lang="en-US" altLang="zh-CN" sz="3200">
              <a:solidFill>
                <a:srgbClr val="800000"/>
              </a:solidFill>
            </a:endParaRPr>
          </a:p>
          <a:p>
            <a:r>
              <a:rPr lang="en-US" altLang="zh-CN" sz="3200">
                <a:solidFill>
                  <a:srgbClr val="800000"/>
                </a:solidFill>
              </a:rPr>
              <a:t> </a:t>
            </a:r>
            <a:r>
              <a:rPr lang="en-US" altLang="zh-CN" sz="3200" b="1">
                <a:solidFill>
                  <a:srgbClr val="FF5050"/>
                </a:solidFill>
              </a:rPr>
              <a:t>1≤i≤n+1</a:t>
            </a:r>
            <a:endParaRPr lang="en-US" altLang="zh-CN" sz="3200">
              <a:solidFill>
                <a:srgbClr val="800000"/>
              </a:solidFill>
            </a:endParaRPr>
          </a:p>
          <a:p>
            <a:r>
              <a:rPr lang="en-US" altLang="zh-CN" sz="3200">
                <a:solidFill>
                  <a:srgbClr val="800000"/>
                </a:solidFill>
              </a:rPr>
              <a:t> Delete(L, </a:t>
            </a:r>
            <a:r>
              <a:rPr lang="en-US" altLang="zh-CN" sz="3200" b="1">
                <a:solidFill>
                  <a:srgbClr val="FF5050"/>
                </a:solidFill>
              </a:rPr>
              <a:t>i</a:t>
            </a:r>
            <a:r>
              <a:rPr lang="en-US" altLang="zh-CN" sz="3200">
                <a:solidFill>
                  <a:srgbClr val="800000"/>
                </a:solidFill>
              </a:rPr>
              <a:t>)        Delete(S, </a:t>
            </a:r>
            <a:r>
              <a:rPr lang="en-US" altLang="zh-CN" sz="3200" b="1">
                <a:solidFill>
                  <a:srgbClr val="CC00CC"/>
                </a:solidFill>
              </a:rPr>
              <a:t>n</a:t>
            </a:r>
            <a:r>
              <a:rPr lang="en-US" altLang="zh-CN" sz="3200">
                <a:solidFill>
                  <a:srgbClr val="800000"/>
                </a:solidFill>
              </a:rPr>
              <a:t>)            Delete(Q, </a:t>
            </a:r>
            <a:r>
              <a:rPr lang="en-US" altLang="zh-CN" sz="3200" b="1">
                <a:solidFill>
                  <a:srgbClr val="CC00CC"/>
                </a:solidFill>
              </a:rPr>
              <a:t>1</a:t>
            </a:r>
            <a:r>
              <a:rPr lang="en-US" altLang="zh-CN" sz="3200">
                <a:solidFill>
                  <a:srgbClr val="800000"/>
                </a:solidFill>
              </a:rPr>
              <a:t>)</a:t>
            </a:r>
            <a:endParaRPr lang="en-US" altLang="zh-CN" sz="3200">
              <a:solidFill>
                <a:srgbClr val="800000"/>
              </a:solidFill>
            </a:endParaRPr>
          </a:p>
          <a:p>
            <a:r>
              <a:rPr lang="en-US" altLang="zh-CN" sz="3200">
                <a:solidFill>
                  <a:srgbClr val="800000"/>
                </a:solidFill>
              </a:rPr>
              <a:t>   </a:t>
            </a:r>
            <a:r>
              <a:rPr lang="en-US" altLang="zh-CN" sz="3200">
                <a:solidFill>
                  <a:srgbClr val="FF5050"/>
                </a:solidFill>
              </a:rPr>
              <a:t>1≤i≤n</a:t>
            </a:r>
            <a:endParaRPr lang="en-US" altLang="zh-CN" sz="4000">
              <a:solidFill>
                <a:srgbClr val="800000"/>
              </a:solidFill>
            </a:endParaRPr>
          </a:p>
        </p:txBody>
      </p:sp>
      <p:sp>
        <p:nvSpPr>
          <p:cNvPr id="1028100" name="Text Box 4"/>
          <p:cNvSpPr txBox="1">
            <a:spLocks noChangeArrowheads="1"/>
          </p:cNvSpPr>
          <p:nvPr/>
        </p:nvSpPr>
        <p:spPr bwMode="auto">
          <a:xfrm>
            <a:off x="790575" y="6003925"/>
            <a:ext cx="731837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b="1">
                <a:solidFill>
                  <a:srgbClr val="FF0000"/>
                </a:solidFill>
                <a:ea typeface="楷体_GB2312" charset="0"/>
              </a:rPr>
              <a:t>栈和队列是两种常用的数据类型</a:t>
            </a:r>
            <a:endParaRPr lang="zh-CN" altLang="en-US"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28099"/>
                                        </p:tgtEl>
                                        <p:attrNameLst>
                                          <p:attrName>style.visibility</p:attrName>
                                        </p:attrNameLst>
                                      </p:cBhvr>
                                      <p:to>
                                        <p:strVal val="visible"/>
                                      </p:to>
                                    </p:set>
                                    <p:animEffect transition="in" filter="strips(downRight)">
                                      <p:cBhvr>
                                        <p:cTn id="7" dur="500"/>
                                        <p:tgtEl>
                                          <p:spTgt spid="1028099"/>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iterate type="lt">
                                    <p:tmPct val="100000"/>
                                  </p:iterate>
                                  <p:childTnLst>
                                    <p:set>
                                      <p:cBhvr>
                                        <p:cTn id="11" dur="1" fill="hold">
                                          <p:stCondLst>
                                            <p:cond delay="0"/>
                                          </p:stCondLst>
                                        </p:cTn>
                                        <p:tgtEl>
                                          <p:spTgt spid="1028100"/>
                                        </p:tgtEl>
                                        <p:attrNameLst>
                                          <p:attrName>style.visibility</p:attrName>
                                        </p:attrNameLst>
                                      </p:cBhvr>
                                      <p:to>
                                        <p:strVal val="visible"/>
                                      </p:to>
                                    </p:set>
                                    <p:anim calcmode="lin" valueType="num">
                                      <p:cBhvr>
                                        <p:cTn id="12" dur="75" fill="hold"/>
                                        <p:tgtEl>
                                          <p:spTgt spid="1028100"/>
                                        </p:tgtEl>
                                        <p:attrNameLst>
                                          <p:attrName>ppt_x</p:attrName>
                                        </p:attrNameLst>
                                      </p:cBhvr>
                                      <p:tavLst>
                                        <p:tav tm="0">
                                          <p:val>
                                            <p:strVal val="#ppt_x-#ppt_w/2"/>
                                          </p:val>
                                        </p:tav>
                                        <p:tav tm="100000">
                                          <p:val>
                                            <p:strVal val="#ppt_x"/>
                                          </p:val>
                                        </p:tav>
                                      </p:tavLst>
                                    </p:anim>
                                    <p:anim calcmode="lin" valueType="num">
                                      <p:cBhvr>
                                        <p:cTn id="13" dur="75" fill="hold"/>
                                        <p:tgtEl>
                                          <p:spTgt spid="1028100"/>
                                        </p:tgtEl>
                                        <p:attrNameLst>
                                          <p:attrName>ppt_y</p:attrName>
                                        </p:attrNameLst>
                                      </p:cBhvr>
                                      <p:tavLst>
                                        <p:tav tm="0">
                                          <p:val>
                                            <p:strVal val="#ppt_y"/>
                                          </p:val>
                                        </p:tav>
                                        <p:tav tm="100000">
                                          <p:val>
                                            <p:strVal val="#ppt_y"/>
                                          </p:val>
                                        </p:tav>
                                      </p:tavLst>
                                    </p:anim>
                                    <p:anim calcmode="lin" valueType="num">
                                      <p:cBhvr>
                                        <p:cTn id="14" dur="75" fill="hold"/>
                                        <p:tgtEl>
                                          <p:spTgt spid="1028100"/>
                                        </p:tgtEl>
                                        <p:attrNameLst>
                                          <p:attrName>ppt_w</p:attrName>
                                        </p:attrNameLst>
                                      </p:cBhvr>
                                      <p:tavLst>
                                        <p:tav tm="0">
                                          <p:val>
                                            <p:fltVal val="0"/>
                                          </p:val>
                                        </p:tav>
                                        <p:tav tm="100000">
                                          <p:val>
                                            <p:strVal val="#ppt_w"/>
                                          </p:val>
                                        </p:tav>
                                      </p:tavLst>
                                    </p:anim>
                                    <p:anim calcmode="lin" valueType="num">
                                      <p:cBhvr>
                                        <p:cTn id="15" dur="75" fill="hold"/>
                                        <p:tgtEl>
                                          <p:spTgt spid="102810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099" grpId="0" animBg="1" autoUpdateAnimBg="0"/>
      <p:bldP spid="1028100"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Text Box 2">
            <a:hlinkClick r:id="" action="ppaction://hlinkshowjump?jump=nextslide"/>
          </p:cNvPr>
          <p:cNvSpPr txBox="1">
            <a:spLocks noChangeArrowheads="1"/>
          </p:cNvSpPr>
          <p:nvPr/>
        </p:nvSpPr>
        <p:spPr bwMode="auto">
          <a:xfrm>
            <a:off x="1757363" y="1330325"/>
            <a:ext cx="452437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400" b="1">
                <a:solidFill>
                  <a:srgbClr val="660033"/>
                </a:solidFill>
                <a:ea typeface="楷体_GB2312" charset="0"/>
              </a:rPr>
              <a:t>3.1  </a:t>
            </a:r>
            <a:r>
              <a:rPr lang="zh-CN" altLang="en-US" sz="4400" b="1">
                <a:solidFill>
                  <a:srgbClr val="660033"/>
                </a:solidFill>
                <a:ea typeface="楷体_GB2312" charset="0"/>
              </a:rPr>
              <a:t>栈的类型定义</a:t>
            </a:r>
            <a:endParaRPr lang="zh-CN" altLang="en-US" sz="4400" b="1">
              <a:solidFill>
                <a:srgbClr val="660033"/>
              </a:solidFill>
              <a:ea typeface="楷体_GB2312" charset="0"/>
            </a:endParaRPr>
          </a:p>
        </p:txBody>
      </p:sp>
      <p:sp>
        <p:nvSpPr>
          <p:cNvPr id="1029123" name="Text Box 3">
            <a:hlinkClick r:id="rId1" action="ppaction://hlinksldjump"/>
          </p:cNvPr>
          <p:cNvSpPr txBox="1">
            <a:spLocks noChangeArrowheads="1"/>
          </p:cNvSpPr>
          <p:nvPr/>
        </p:nvSpPr>
        <p:spPr bwMode="auto">
          <a:xfrm>
            <a:off x="1757363" y="2057400"/>
            <a:ext cx="452437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4400" b="1">
                <a:solidFill>
                  <a:srgbClr val="660033"/>
                </a:solidFill>
                <a:ea typeface="楷体_GB2312" charset="0"/>
              </a:rPr>
              <a:t>3.2  </a:t>
            </a:r>
            <a:r>
              <a:rPr lang="zh-CN" altLang="en-US" sz="4400" b="1">
                <a:solidFill>
                  <a:srgbClr val="660033"/>
                </a:solidFill>
                <a:ea typeface="楷体_GB2312" charset="0"/>
              </a:rPr>
              <a:t>栈类型的实现</a:t>
            </a:r>
            <a:endParaRPr lang="zh-CN" altLang="en-US" sz="4400" b="1">
              <a:solidFill>
                <a:srgbClr val="660033"/>
              </a:solidFill>
              <a:ea typeface="楷体_GB2312" charset="0"/>
            </a:endParaRPr>
          </a:p>
        </p:txBody>
      </p:sp>
      <p:sp>
        <p:nvSpPr>
          <p:cNvPr id="1029124" name="Text Box 4">
            <a:hlinkClick r:id="rId2" action="ppaction://hlinksldjump"/>
          </p:cNvPr>
          <p:cNvSpPr txBox="1">
            <a:spLocks noChangeArrowheads="1"/>
          </p:cNvSpPr>
          <p:nvPr/>
        </p:nvSpPr>
        <p:spPr bwMode="auto">
          <a:xfrm>
            <a:off x="1757363" y="2819400"/>
            <a:ext cx="452437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4400" b="1">
                <a:solidFill>
                  <a:srgbClr val="660033"/>
                </a:solidFill>
                <a:ea typeface="楷体_GB2312" charset="0"/>
              </a:rPr>
              <a:t>3.3  </a:t>
            </a:r>
            <a:r>
              <a:rPr lang="zh-CN" altLang="en-US" sz="4400" b="1">
                <a:solidFill>
                  <a:srgbClr val="660033"/>
                </a:solidFill>
                <a:ea typeface="楷体_GB2312" charset="0"/>
              </a:rPr>
              <a:t>栈的应用举例</a:t>
            </a:r>
            <a:endParaRPr lang="zh-CN" altLang="en-US" sz="4400" b="1">
              <a:solidFill>
                <a:srgbClr val="660033"/>
              </a:solidFill>
              <a:ea typeface="楷体_GB2312" charset="0"/>
            </a:endParaRPr>
          </a:p>
        </p:txBody>
      </p:sp>
      <p:sp>
        <p:nvSpPr>
          <p:cNvPr id="1029125" name="Text Box 5">
            <a:hlinkClick r:id="rId3" action="ppaction://hlinksldjump"/>
          </p:cNvPr>
          <p:cNvSpPr txBox="1">
            <a:spLocks noChangeArrowheads="1"/>
          </p:cNvSpPr>
          <p:nvPr/>
        </p:nvSpPr>
        <p:spPr bwMode="auto">
          <a:xfrm>
            <a:off x="1752600" y="3657600"/>
            <a:ext cx="5084763"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4400" b="1">
                <a:solidFill>
                  <a:srgbClr val="660033"/>
                </a:solidFill>
                <a:ea typeface="楷体_GB2312" charset="0"/>
              </a:rPr>
              <a:t>3.4  </a:t>
            </a:r>
            <a:r>
              <a:rPr lang="zh-CN" altLang="en-US" sz="4400" b="1">
                <a:solidFill>
                  <a:srgbClr val="660033"/>
                </a:solidFill>
                <a:ea typeface="楷体_GB2312" charset="0"/>
              </a:rPr>
              <a:t>队列的类型定义</a:t>
            </a:r>
            <a:endParaRPr lang="zh-CN" altLang="en-US" sz="4400"/>
          </a:p>
        </p:txBody>
      </p:sp>
      <p:sp>
        <p:nvSpPr>
          <p:cNvPr id="1029126" name="Text Box 6">
            <a:hlinkClick r:id="rId4" action="ppaction://hlinksldjump"/>
          </p:cNvPr>
          <p:cNvSpPr txBox="1">
            <a:spLocks noChangeArrowheads="1"/>
          </p:cNvSpPr>
          <p:nvPr/>
        </p:nvSpPr>
        <p:spPr bwMode="auto">
          <a:xfrm>
            <a:off x="1752600" y="4419600"/>
            <a:ext cx="5084763"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400" b="1">
                <a:solidFill>
                  <a:srgbClr val="660033"/>
                </a:solidFill>
                <a:ea typeface="楷体_GB2312" charset="0"/>
              </a:rPr>
              <a:t>3.5  </a:t>
            </a:r>
            <a:r>
              <a:rPr lang="zh-CN" altLang="en-US" sz="4400" b="1">
                <a:solidFill>
                  <a:srgbClr val="660033"/>
                </a:solidFill>
                <a:ea typeface="楷体_GB2312" charset="0"/>
              </a:rPr>
              <a:t>队列类型的实现</a:t>
            </a:r>
            <a:endParaRPr lang="zh-CN" altLang="en-US" sz="4400" b="1">
              <a:solidFill>
                <a:srgbClr val="660033"/>
              </a:solidFill>
              <a:ea typeface="楷体_GB2312" charset="0"/>
            </a:endParaRPr>
          </a:p>
        </p:txBody>
      </p:sp>
      <p:sp>
        <p:nvSpPr>
          <p:cNvPr id="1029127" name="AutoShape 7">
            <a:hlinkClick r:id="" action="ppaction://hlinkshowjump?jump=lastslide" highlightClick="1"/>
          </p:cNvPr>
          <p:cNvSpPr>
            <a:spLocks noChangeArrowheads="1"/>
          </p:cNvSpPr>
          <p:nvPr/>
        </p:nvSpPr>
        <p:spPr bwMode="auto">
          <a:xfrm>
            <a:off x="8229600" y="6096000"/>
            <a:ext cx="609600" cy="457200"/>
          </a:xfrm>
          <a:prstGeom prst="actionButtonEnd">
            <a:avLst/>
          </a:prstGeom>
          <a:solidFill>
            <a:srgbClr val="FFCC99"/>
          </a:solidFill>
          <a:ln w="9525">
            <a:solidFill>
              <a:srgbClr val="FF6600"/>
            </a:solidFill>
            <a:miter lim="800000"/>
          </a:ln>
        </p:spPr>
        <p:txBody>
          <a:bodyPr wrap="none" anchor="ctr"/>
          <a:lstStyle/>
          <a:p>
            <a:endParaRPr lang="zh-CN" altLang="en-US"/>
          </a:p>
        </p:txBody>
      </p:sp>
      <p:sp>
        <p:nvSpPr>
          <p:cNvPr id="1029128" name="Text Box 8">
            <a:hlinkClick r:id="rId1" action="ppaction://hlinksldjump"/>
          </p:cNvPr>
          <p:cNvSpPr txBox="1">
            <a:spLocks noChangeArrowheads="1"/>
          </p:cNvSpPr>
          <p:nvPr/>
        </p:nvSpPr>
        <p:spPr bwMode="auto">
          <a:xfrm>
            <a:off x="1828800" y="5181600"/>
            <a:ext cx="5084763"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4400" b="1">
                <a:solidFill>
                  <a:srgbClr val="660033"/>
                </a:solidFill>
                <a:ea typeface="楷体_GB2312" charset="0"/>
              </a:rPr>
              <a:t>3.6  </a:t>
            </a:r>
            <a:r>
              <a:rPr lang="zh-CN" altLang="en-US" sz="4400" b="1">
                <a:solidFill>
                  <a:srgbClr val="660033"/>
                </a:solidFill>
                <a:ea typeface="楷体_GB2312" charset="0"/>
              </a:rPr>
              <a:t>队列的应用举例</a:t>
            </a:r>
            <a:endParaRPr lang="zh-CN" altLang="en-US" sz="4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9122"/>
                                        </p:tgtEl>
                                        <p:attrNameLst>
                                          <p:attrName>style.visibility</p:attrName>
                                        </p:attrNameLst>
                                      </p:cBhvr>
                                      <p:to>
                                        <p:strVal val="visible"/>
                                      </p:to>
                                    </p:set>
                                    <p:animEffect transition="in" filter="dissolve">
                                      <p:cBhvr>
                                        <p:cTn id="7" dur="500"/>
                                        <p:tgtEl>
                                          <p:spTgt spid="1029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29123"/>
                                        </p:tgtEl>
                                        <p:attrNameLst>
                                          <p:attrName>style.visibility</p:attrName>
                                        </p:attrNameLst>
                                      </p:cBhvr>
                                      <p:to>
                                        <p:strVal val="visible"/>
                                      </p:to>
                                    </p:set>
                                    <p:animEffect transition="in" filter="dissolve">
                                      <p:cBhvr>
                                        <p:cTn id="12" dur="500"/>
                                        <p:tgtEl>
                                          <p:spTgt spid="10291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29124"/>
                                        </p:tgtEl>
                                        <p:attrNameLst>
                                          <p:attrName>style.visibility</p:attrName>
                                        </p:attrNameLst>
                                      </p:cBhvr>
                                      <p:to>
                                        <p:strVal val="visible"/>
                                      </p:to>
                                    </p:set>
                                    <p:animEffect transition="in" filter="dissolve">
                                      <p:cBhvr>
                                        <p:cTn id="17" dur="500"/>
                                        <p:tgtEl>
                                          <p:spTgt spid="102912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29125"/>
                                        </p:tgtEl>
                                        <p:attrNameLst>
                                          <p:attrName>style.visibility</p:attrName>
                                        </p:attrNameLst>
                                      </p:cBhvr>
                                      <p:to>
                                        <p:strVal val="visible"/>
                                      </p:to>
                                    </p:set>
                                    <p:animEffect transition="in" filter="dissolve">
                                      <p:cBhvr>
                                        <p:cTn id="22" dur="500"/>
                                        <p:tgtEl>
                                          <p:spTgt spid="102912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29126"/>
                                        </p:tgtEl>
                                        <p:attrNameLst>
                                          <p:attrName>style.visibility</p:attrName>
                                        </p:attrNameLst>
                                      </p:cBhvr>
                                      <p:to>
                                        <p:strVal val="visible"/>
                                      </p:to>
                                    </p:set>
                                    <p:animEffect transition="in" filter="dissolve">
                                      <p:cBhvr>
                                        <p:cTn id="27" dur="500"/>
                                        <p:tgtEl>
                                          <p:spTgt spid="1029126"/>
                                        </p:tgtEl>
                                      </p:cBhvr>
                                    </p:animEffect>
                                  </p:childTnLst>
                                </p:cTn>
                              </p:par>
                            </p:childTnLst>
                          </p:cTn>
                        </p:par>
                        <p:par>
                          <p:cTn id="28" fill="hold">
                            <p:stCondLst>
                              <p:cond delay="500"/>
                            </p:stCondLst>
                            <p:childTnLst>
                              <p:par>
                                <p:cTn id="29" presetID="2" presetClass="entr" presetSubtype="6" fill="hold" grpId="0" nodeType="afterEffect">
                                  <p:stCondLst>
                                    <p:cond delay="0"/>
                                  </p:stCondLst>
                                  <p:childTnLst>
                                    <p:set>
                                      <p:cBhvr>
                                        <p:cTn id="30" dur="1" fill="hold">
                                          <p:stCondLst>
                                            <p:cond delay="0"/>
                                          </p:stCondLst>
                                        </p:cTn>
                                        <p:tgtEl>
                                          <p:spTgt spid="1029127"/>
                                        </p:tgtEl>
                                        <p:attrNameLst>
                                          <p:attrName>style.visibility</p:attrName>
                                        </p:attrNameLst>
                                      </p:cBhvr>
                                      <p:to>
                                        <p:strVal val="visible"/>
                                      </p:to>
                                    </p:set>
                                    <p:anim calcmode="lin" valueType="num">
                                      <p:cBhvr additive="base">
                                        <p:cTn id="31" dur="500" fill="hold"/>
                                        <p:tgtEl>
                                          <p:spTgt spid="1029127"/>
                                        </p:tgtEl>
                                        <p:attrNameLst>
                                          <p:attrName>ppt_x</p:attrName>
                                        </p:attrNameLst>
                                      </p:cBhvr>
                                      <p:tavLst>
                                        <p:tav tm="0">
                                          <p:val>
                                            <p:strVal val="1+#ppt_w/2"/>
                                          </p:val>
                                        </p:tav>
                                        <p:tav tm="100000">
                                          <p:val>
                                            <p:strVal val="#ppt_x"/>
                                          </p:val>
                                        </p:tav>
                                      </p:tavLst>
                                    </p:anim>
                                    <p:anim calcmode="lin" valueType="num">
                                      <p:cBhvr additive="base">
                                        <p:cTn id="32" dur="500" fill="hold"/>
                                        <p:tgtEl>
                                          <p:spTgt spid="102912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29128"/>
                                        </p:tgtEl>
                                        <p:attrNameLst>
                                          <p:attrName>style.visibility</p:attrName>
                                        </p:attrNameLst>
                                      </p:cBhvr>
                                      <p:to>
                                        <p:strVal val="visible"/>
                                      </p:to>
                                    </p:set>
                                    <p:animEffect transition="in" filter="dissolve">
                                      <p:cBhvr>
                                        <p:cTn id="37" dur="500"/>
                                        <p:tgtEl>
                                          <p:spTgt spid="1029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122" grpId="0" autoUpdateAnimBg="0"/>
      <p:bldP spid="1029123" grpId="0" autoUpdateAnimBg="0"/>
      <p:bldP spid="1029124" grpId="0" autoUpdateAnimBg="0"/>
      <p:bldP spid="1029125" grpId="0" autoUpdateAnimBg="0"/>
      <p:bldP spid="1029126" grpId="0" autoUpdateAnimBg="0"/>
      <p:bldP spid="1029127" grpId="0" animBg="1"/>
      <p:bldP spid="102912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146" name="Text Box 2"/>
          <p:cNvSpPr txBox="1">
            <a:spLocks noChangeArrowheads="1"/>
          </p:cNvSpPr>
          <p:nvPr/>
        </p:nvSpPr>
        <p:spPr bwMode="auto">
          <a:xfrm>
            <a:off x="1371600" y="168275"/>
            <a:ext cx="4132263"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996633"/>
                </a:solidFill>
                <a:ea typeface="隶书" panose="02010509060101010101" charset="-122"/>
              </a:rPr>
              <a:t>3.1</a:t>
            </a:r>
            <a:r>
              <a:rPr lang="en-US" altLang="zh-CN" sz="4000" b="1">
                <a:solidFill>
                  <a:srgbClr val="996633"/>
                </a:solidFill>
                <a:latin typeface="隶书" panose="02010509060101010101" charset="-122"/>
                <a:ea typeface="隶书" panose="02010509060101010101" charset="-122"/>
              </a:rPr>
              <a:t> </a:t>
            </a:r>
            <a:r>
              <a:rPr lang="zh-CN" altLang="en-US" sz="4000" b="1">
                <a:solidFill>
                  <a:srgbClr val="996633"/>
                </a:solidFill>
                <a:latin typeface="隶书" panose="02010509060101010101" charset="-122"/>
                <a:ea typeface="隶书" panose="02010509060101010101" charset="-122"/>
              </a:rPr>
              <a:t>栈的类型定义</a:t>
            </a:r>
            <a:endParaRPr lang="zh-CN" altLang="en-US" sz="4000" b="1">
              <a:solidFill>
                <a:srgbClr val="0000FF"/>
              </a:solidFill>
              <a:ea typeface="楷体_GB2312" charset="0"/>
            </a:endParaRPr>
          </a:p>
        </p:txBody>
      </p:sp>
      <p:sp>
        <p:nvSpPr>
          <p:cNvPr id="1030147" name="Text Box 3"/>
          <p:cNvSpPr txBox="1">
            <a:spLocks noChangeArrowheads="1"/>
          </p:cNvSpPr>
          <p:nvPr/>
        </p:nvSpPr>
        <p:spPr bwMode="auto">
          <a:xfrm>
            <a:off x="-76200" y="1371600"/>
            <a:ext cx="8972550" cy="4044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20000"/>
              </a:lnSpc>
            </a:pPr>
            <a:r>
              <a:rPr lang="zh-CN" altLang="en-US" sz="3600" b="1">
                <a:ea typeface="楷体_GB2312" charset="0"/>
              </a:rPr>
              <a:t>   </a:t>
            </a:r>
            <a:r>
              <a:rPr lang="en-US" altLang="zh-CN" sz="3600" b="1">
                <a:ea typeface="楷体_GB2312" charset="0"/>
              </a:rPr>
              <a:t>ADT Stack</a:t>
            </a:r>
            <a:r>
              <a:rPr lang="en-US" altLang="zh-CN" sz="3600">
                <a:ea typeface="楷体_GB2312" charset="0"/>
              </a:rPr>
              <a:t> </a:t>
            </a:r>
            <a:r>
              <a:rPr lang="en-US" altLang="zh-CN" sz="3600" b="1">
                <a:ea typeface="楷体_GB2312" charset="0"/>
              </a:rPr>
              <a:t>{</a:t>
            </a:r>
            <a:endParaRPr lang="en-US" altLang="zh-CN" sz="3600">
              <a:ea typeface="楷体_GB2312" charset="0"/>
            </a:endParaRPr>
          </a:p>
          <a:p>
            <a:pPr eaLnBrk="0" hangingPunct="0">
              <a:lnSpc>
                <a:spcPct val="120000"/>
              </a:lnSpc>
            </a:pPr>
            <a:r>
              <a:rPr lang="en-US" altLang="zh-CN" sz="3600">
                <a:ea typeface="楷体_GB2312" charset="0"/>
              </a:rPr>
              <a:t>      </a:t>
            </a:r>
            <a:r>
              <a:rPr lang="zh-CN" altLang="en-US" sz="3600" b="1">
                <a:ea typeface="楷体_GB2312" charset="0"/>
              </a:rPr>
              <a:t>数据对象</a:t>
            </a:r>
            <a:r>
              <a:rPr lang="zh-CN" altLang="en-US" sz="3600">
                <a:ea typeface="楷体_GB2312" charset="0"/>
              </a:rPr>
              <a:t>：</a:t>
            </a:r>
            <a:endParaRPr lang="zh-CN" altLang="en-US" sz="3600">
              <a:ea typeface="楷体_GB2312" charset="0"/>
            </a:endParaRPr>
          </a:p>
          <a:p>
            <a:pPr eaLnBrk="0" hangingPunct="0">
              <a:lnSpc>
                <a:spcPct val="120000"/>
              </a:lnSpc>
            </a:pPr>
            <a:r>
              <a:rPr lang="zh-CN" altLang="en-US" sz="3600">
                <a:ea typeface="楷体_GB2312" charset="0"/>
              </a:rPr>
              <a:t>         </a:t>
            </a:r>
            <a:r>
              <a:rPr lang="en-US" altLang="zh-CN" sz="3600">
                <a:ea typeface="楷体_GB2312" charset="0"/>
              </a:rPr>
              <a:t>D</a:t>
            </a:r>
            <a:r>
              <a:rPr lang="zh-CN" altLang="en-US" sz="3600">
                <a:ea typeface="楷体_GB2312" charset="0"/>
              </a:rPr>
              <a:t>＝</a:t>
            </a:r>
            <a:r>
              <a:rPr lang="en-US" altLang="zh-CN" sz="3600">
                <a:ea typeface="楷体_GB2312" charset="0"/>
              </a:rPr>
              <a:t>{ a</a:t>
            </a:r>
            <a:r>
              <a:rPr lang="en-US" altLang="zh-CN" sz="3600" baseline="-25000">
                <a:ea typeface="楷体_GB2312" charset="0"/>
              </a:rPr>
              <a:t>i</a:t>
            </a:r>
            <a:r>
              <a:rPr lang="en-US" altLang="zh-CN" sz="3600">
                <a:ea typeface="楷体_GB2312" charset="0"/>
              </a:rPr>
              <a:t> | a</a:t>
            </a:r>
            <a:r>
              <a:rPr lang="en-US" altLang="zh-CN" sz="3600" baseline="-25000">
                <a:ea typeface="楷体_GB2312" charset="0"/>
              </a:rPr>
              <a:t>i </a:t>
            </a:r>
            <a:r>
              <a:rPr lang="en-US" altLang="zh-CN" sz="3600">
                <a:ea typeface="楷体_GB2312" charset="0"/>
              </a:rPr>
              <a:t>∈ElemSet, i=1,2,...,n,  n≥0 }</a:t>
            </a:r>
            <a:endParaRPr lang="en-US" altLang="zh-CN" sz="3600">
              <a:ea typeface="楷体_GB2312" charset="0"/>
            </a:endParaRPr>
          </a:p>
          <a:p>
            <a:pPr eaLnBrk="0" hangingPunct="0">
              <a:lnSpc>
                <a:spcPct val="120000"/>
              </a:lnSpc>
            </a:pPr>
            <a:r>
              <a:rPr lang="en-US" altLang="zh-CN" sz="3600">
                <a:ea typeface="楷体_GB2312" charset="0"/>
              </a:rPr>
              <a:t>      </a:t>
            </a:r>
            <a:r>
              <a:rPr lang="zh-CN" altLang="en-US" sz="3600" b="1">
                <a:ea typeface="楷体_GB2312" charset="0"/>
              </a:rPr>
              <a:t>数据关系</a:t>
            </a:r>
            <a:r>
              <a:rPr lang="zh-CN" altLang="en-US" sz="3600">
                <a:ea typeface="楷体_GB2312" charset="0"/>
              </a:rPr>
              <a:t>：</a:t>
            </a:r>
            <a:endParaRPr lang="zh-CN" altLang="en-US" sz="3600">
              <a:ea typeface="楷体_GB2312" charset="0"/>
            </a:endParaRPr>
          </a:p>
          <a:p>
            <a:pPr eaLnBrk="0" hangingPunct="0">
              <a:lnSpc>
                <a:spcPct val="120000"/>
              </a:lnSpc>
            </a:pPr>
            <a:r>
              <a:rPr lang="zh-CN" altLang="en-US" sz="3600">
                <a:ea typeface="楷体_GB2312" charset="0"/>
              </a:rPr>
              <a:t>         </a:t>
            </a:r>
            <a:r>
              <a:rPr lang="en-US" altLang="zh-CN" sz="3600">
                <a:ea typeface="楷体_GB2312" charset="0"/>
              </a:rPr>
              <a:t>R1</a:t>
            </a:r>
            <a:r>
              <a:rPr lang="zh-CN" altLang="en-US" sz="3600">
                <a:ea typeface="楷体_GB2312" charset="0"/>
              </a:rPr>
              <a:t>＝</a:t>
            </a:r>
            <a:r>
              <a:rPr lang="en-US" altLang="zh-CN" sz="3600">
                <a:ea typeface="楷体_GB2312" charset="0"/>
              </a:rPr>
              <a:t>{ &lt;a</a:t>
            </a:r>
            <a:r>
              <a:rPr lang="en-US" altLang="zh-CN" sz="3600" baseline="-25000">
                <a:ea typeface="楷体_GB2312" charset="0"/>
              </a:rPr>
              <a:t>i-1</a:t>
            </a:r>
            <a:r>
              <a:rPr lang="en-US" altLang="zh-CN" sz="3600">
                <a:ea typeface="楷体_GB2312" charset="0"/>
              </a:rPr>
              <a:t>, a</a:t>
            </a:r>
            <a:r>
              <a:rPr lang="en-US" altLang="zh-CN" sz="3600" baseline="-25000">
                <a:ea typeface="楷体_GB2312" charset="0"/>
              </a:rPr>
              <a:t>i</a:t>
            </a:r>
            <a:r>
              <a:rPr lang="en-US" altLang="zh-CN" sz="3600">
                <a:ea typeface="楷体_GB2312" charset="0"/>
              </a:rPr>
              <a:t> &gt;| a</a:t>
            </a:r>
            <a:r>
              <a:rPr lang="en-US" altLang="zh-CN" sz="3600" baseline="-25000">
                <a:ea typeface="楷体_GB2312" charset="0"/>
              </a:rPr>
              <a:t>i-1</a:t>
            </a:r>
            <a:r>
              <a:rPr lang="en-US" altLang="zh-CN" sz="3600">
                <a:ea typeface="楷体_GB2312" charset="0"/>
              </a:rPr>
              <a:t>, a</a:t>
            </a:r>
            <a:r>
              <a:rPr lang="en-US" altLang="zh-CN" sz="3600" baseline="-25000">
                <a:ea typeface="楷体_GB2312" charset="0"/>
              </a:rPr>
              <a:t>i</a:t>
            </a:r>
            <a:r>
              <a:rPr lang="en-US" altLang="zh-CN" sz="3600">
                <a:ea typeface="楷体_GB2312" charset="0"/>
              </a:rPr>
              <a:t>∈D, i=2,...,n }</a:t>
            </a:r>
            <a:endParaRPr lang="en-US" altLang="zh-CN" sz="3600">
              <a:ea typeface="楷体_GB2312" charset="0"/>
            </a:endParaRPr>
          </a:p>
          <a:p>
            <a:pPr eaLnBrk="0" hangingPunct="0">
              <a:lnSpc>
                <a:spcPct val="120000"/>
              </a:lnSpc>
            </a:pPr>
            <a:r>
              <a:rPr lang="en-US" altLang="zh-CN" sz="3600">
                <a:ea typeface="楷体_GB2312" charset="0"/>
              </a:rPr>
              <a:t>                   </a:t>
            </a:r>
            <a:r>
              <a:rPr lang="zh-CN" altLang="en-US" sz="3600">
                <a:ea typeface="楷体_GB2312" charset="0"/>
              </a:rPr>
              <a:t>约定</a:t>
            </a:r>
            <a:r>
              <a:rPr lang="en-US" altLang="zh-CN" sz="3600">
                <a:ea typeface="楷体_GB2312" charset="0"/>
              </a:rPr>
              <a:t>a</a:t>
            </a:r>
            <a:r>
              <a:rPr lang="en-US" altLang="zh-CN" sz="3600" baseline="-25000">
                <a:ea typeface="楷体_GB2312" charset="0"/>
              </a:rPr>
              <a:t>n</a:t>
            </a:r>
            <a:r>
              <a:rPr lang="en-US" altLang="zh-CN" sz="3600">
                <a:ea typeface="楷体_GB2312" charset="0"/>
              </a:rPr>
              <a:t> </a:t>
            </a:r>
            <a:r>
              <a:rPr lang="zh-CN" altLang="en-US" sz="3600">
                <a:ea typeface="楷体_GB2312" charset="0"/>
              </a:rPr>
              <a:t>端为栈顶，</a:t>
            </a:r>
            <a:r>
              <a:rPr lang="en-US" altLang="zh-CN" sz="3600">
                <a:ea typeface="楷体_GB2312" charset="0"/>
              </a:rPr>
              <a:t>a</a:t>
            </a:r>
            <a:r>
              <a:rPr lang="en-US" altLang="zh-CN" sz="3600" baseline="-25000">
                <a:ea typeface="楷体_GB2312" charset="0"/>
              </a:rPr>
              <a:t>1 </a:t>
            </a:r>
            <a:r>
              <a:rPr lang="zh-CN" altLang="en-US" sz="3600">
                <a:ea typeface="楷体_GB2312" charset="0"/>
              </a:rPr>
              <a:t>端为栈底。  </a:t>
            </a:r>
            <a:endParaRPr lang="zh-CN" altLang="en-US" sz="3600">
              <a:ea typeface="楷体_GB2312" charset="0"/>
            </a:endParaRPr>
          </a:p>
        </p:txBody>
      </p:sp>
      <p:sp>
        <p:nvSpPr>
          <p:cNvPr id="1030148" name="Text Box 4">
            <a:hlinkClick r:id="" action="ppaction://hlinkshowjump?jump=nextslide"/>
          </p:cNvPr>
          <p:cNvSpPr txBox="1">
            <a:spLocks noChangeArrowheads="1"/>
          </p:cNvSpPr>
          <p:nvPr/>
        </p:nvSpPr>
        <p:spPr bwMode="auto">
          <a:xfrm>
            <a:off x="641350" y="5302250"/>
            <a:ext cx="2478088"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3600" b="1" u="sng">
                <a:solidFill>
                  <a:srgbClr val="FF0000"/>
                </a:solidFill>
                <a:ea typeface="楷体_GB2312" charset="0"/>
              </a:rPr>
              <a:t>基本操作：</a:t>
            </a:r>
            <a:endParaRPr lang="zh-CN" altLang="en-US" sz="3600" u="sng">
              <a:ea typeface="楷体_GB2312" charset="0"/>
            </a:endParaRPr>
          </a:p>
        </p:txBody>
      </p:sp>
      <p:sp>
        <p:nvSpPr>
          <p:cNvPr id="1030149" name="Text Box 5"/>
          <p:cNvSpPr txBox="1">
            <a:spLocks noChangeArrowheads="1"/>
          </p:cNvSpPr>
          <p:nvPr/>
        </p:nvSpPr>
        <p:spPr bwMode="auto">
          <a:xfrm>
            <a:off x="284163" y="6064250"/>
            <a:ext cx="2763837"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3600">
                <a:ea typeface="楷体_GB2312" charset="0"/>
              </a:rPr>
              <a:t> </a:t>
            </a:r>
            <a:r>
              <a:rPr lang="en-US" altLang="zh-CN" sz="3600" b="1">
                <a:ea typeface="楷体_GB2312" charset="0"/>
              </a:rPr>
              <a:t>} ADT Stack</a:t>
            </a:r>
            <a:endParaRPr lang="en-US" altLang="zh-CN" sz="3600" b="1">
              <a:ea typeface="楷体_GB2312" charset="0"/>
            </a:endParaRPr>
          </a:p>
        </p:txBody>
      </p:sp>
      <p:sp>
        <p:nvSpPr>
          <p:cNvPr id="1030150" name="AutoShape 6">
            <a:hlinkClick r:id="rId1" action="ppaction://hlinksldjump" highlightClick="1"/>
          </p:cNvPr>
          <p:cNvSpPr>
            <a:spLocks noChangeArrowheads="1"/>
          </p:cNvSpPr>
          <p:nvPr/>
        </p:nvSpPr>
        <p:spPr bwMode="auto">
          <a:xfrm>
            <a:off x="8153400" y="60960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
        <p:nvSpPr>
          <p:cNvPr id="1030152" name="Rectangle 8"/>
          <p:cNvSpPr>
            <a:spLocks noChangeArrowheads="1"/>
          </p:cNvSpPr>
          <p:nvPr/>
        </p:nvSpPr>
        <p:spPr bwMode="auto">
          <a:xfrm>
            <a:off x="6823075" y="628650"/>
            <a:ext cx="1470025" cy="2266950"/>
          </a:xfrm>
          <a:prstGeom prst="rect">
            <a:avLst/>
          </a:prstGeom>
          <a:solidFill>
            <a:srgbClr val="CCFFFF"/>
          </a:solidFill>
          <a:ln w="2857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zh-CN" altLang="en-US" sz="2400"/>
          </a:p>
        </p:txBody>
      </p:sp>
      <p:sp>
        <p:nvSpPr>
          <p:cNvPr id="1030153" name="Line 9"/>
          <p:cNvSpPr>
            <a:spLocks noChangeShapeType="1"/>
          </p:cNvSpPr>
          <p:nvPr/>
        </p:nvSpPr>
        <p:spPr bwMode="auto">
          <a:xfrm>
            <a:off x="6365875" y="781050"/>
            <a:ext cx="447675"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0154" name="Line 10"/>
          <p:cNvSpPr>
            <a:spLocks noChangeShapeType="1"/>
          </p:cNvSpPr>
          <p:nvPr/>
        </p:nvSpPr>
        <p:spPr bwMode="auto">
          <a:xfrm>
            <a:off x="6365875" y="2686050"/>
            <a:ext cx="447675"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0155" name="Text Box 11"/>
          <p:cNvSpPr txBox="1">
            <a:spLocks noChangeArrowheads="1"/>
          </p:cNvSpPr>
          <p:nvPr/>
        </p:nvSpPr>
        <p:spPr bwMode="auto">
          <a:xfrm>
            <a:off x="5756275" y="552450"/>
            <a:ext cx="608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CC3300"/>
                </a:solidFill>
                <a:ea typeface="楷体_GB2312" charset="0"/>
              </a:rPr>
              <a:t>top</a:t>
            </a:r>
            <a:endParaRPr lang="en-US" altLang="zh-CN" sz="2400" b="1">
              <a:solidFill>
                <a:srgbClr val="CC3300"/>
              </a:solidFill>
              <a:ea typeface="楷体_GB2312" charset="0"/>
            </a:endParaRPr>
          </a:p>
        </p:txBody>
      </p:sp>
      <p:sp>
        <p:nvSpPr>
          <p:cNvPr id="1030156" name="Text Box 12"/>
          <p:cNvSpPr txBox="1">
            <a:spLocks noChangeArrowheads="1"/>
          </p:cNvSpPr>
          <p:nvPr/>
        </p:nvSpPr>
        <p:spPr bwMode="auto">
          <a:xfrm>
            <a:off x="5146675" y="2381250"/>
            <a:ext cx="1116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CC3300"/>
                </a:solidFill>
                <a:ea typeface="楷体_GB2312" charset="0"/>
              </a:rPr>
              <a:t>bottom</a:t>
            </a:r>
            <a:endParaRPr lang="en-US" altLang="zh-CN" sz="2400" b="1">
              <a:solidFill>
                <a:srgbClr val="CC3300"/>
              </a:solidFill>
              <a:ea typeface="楷体_GB2312" charset="0"/>
            </a:endParaRPr>
          </a:p>
        </p:txBody>
      </p:sp>
      <p:sp>
        <p:nvSpPr>
          <p:cNvPr id="1030157" name="Freeform 13"/>
          <p:cNvSpPr/>
          <p:nvPr/>
        </p:nvSpPr>
        <p:spPr bwMode="auto">
          <a:xfrm>
            <a:off x="6594475" y="95250"/>
            <a:ext cx="685800" cy="533400"/>
          </a:xfrm>
          <a:custGeom>
            <a:avLst/>
            <a:gdLst>
              <a:gd name="T0" fmla="*/ 432 w 432"/>
              <a:gd name="T1" fmla="*/ 576 h 576"/>
              <a:gd name="T2" fmla="*/ 288 w 432"/>
              <a:gd name="T3" fmla="*/ 192 h 576"/>
              <a:gd name="T4" fmla="*/ 0 w 432"/>
              <a:gd name="T5" fmla="*/ 0 h 576"/>
            </a:gdLst>
            <a:ahLst/>
            <a:cxnLst>
              <a:cxn ang="0">
                <a:pos x="T0" y="T1"/>
              </a:cxn>
              <a:cxn ang="0">
                <a:pos x="T2" y="T3"/>
              </a:cxn>
              <a:cxn ang="0">
                <a:pos x="T4" y="T5"/>
              </a:cxn>
            </a:cxnLst>
            <a:rect l="0" t="0" r="r" b="b"/>
            <a:pathLst>
              <a:path w="432" h="576">
                <a:moveTo>
                  <a:pt x="432" y="576"/>
                </a:moveTo>
                <a:cubicBezTo>
                  <a:pt x="396" y="432"/>
                  <a:pt x="360" y="288"/>
                  <a:pt x="288" y="192"/>
                </a:cubicBezTo>
                <a:cubicBezTo>
                  <a:pt x="216" y="96"/>
                  <a:pt x="56" y="40"/>
                  <a:pt x="0" y="0"/>
                </a:cubicBezTo>
              </a:path>
            </a:pathLst>
          </a:custGeom>
          <a:noFill/>
          <a:ln w="38100" cmpd="sng">
            <a:solidFill>
              <a:srgbClr val="3366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30158" name="Freeform 14"/>
          <p:cNvSpPr/>
          <p:nvPr/>
        </p:nvSpPr>
        <p:spPr bwMode="auto">
          <a:xfrm>
            <a:off x="7737475" y="95250"/>
            <a:ext cx="609600" cy="533400"/>
          </a:xfrm>
          <a:custGeom>
            <a:avLst/>
            <a:gdLst>
              <a:gd name="T0" fmla="*/ 0 w 384"/>
              <a:gd name="T1" fmla="*/ 336 h 336"/>
              <a:gd name="T2" fmla="*/ 112 w 384"/>
              <a:gd name="T3" fmla="*/ 156 h 336"/>
              <a:gd name="T4" fmla="*/ 258 w 384"/>
              <a:gd name="T5" fmla="*/ 34 h 336"/>
              <a:gd name="T6" fmla="*/ 384 w 384"/>
              <a:gd name="T7" fmla="*/ 0 h 336"/>
            </a:gdLst>
            <a:ahLst/>
            <a:cxnLst>
              <a:cxn ang="0">
                <a:pos x="T0" y="T1"/>
              </a:cxn>
              <a:cxn ang="0">
                <a:pos x="T2" y="T3"/>
              </a:cxn>
              <a:cxn ang="0">
                <a:pos x="T4" y="T5"/>
              </a:cxn>
              <a:cxn ang="0">
                <a:pos x="T6" y="T7"/>
              </a:cxn>
            </a:cxnLst>
            <a:rect l="0" t="0" r="r" b="b"/>
            <a:pathLst>
              <a:path w="384" h="336">
                <a:moveTo>
                  <a:pt x="0" y="336"/>
                </a:moveTo>
                <a:cubicBezTo>
                  <a:pt x="19" y="306"/>
                  <a:pt x="69" y="206"/>
                  <a:pt x="112" y="156"/>
                </a:cubicBezTo>
                <a:cubicBezTo>
                  <a:pt x="155" y="106"/>
                  <a:pt x="213" y="60"/>
                  <a:pt x="258" y="34"/>
                </a:cubicBezTo>
                <a:cubicBezTo>
                  <a:pt x="303" y="8"/>
                  <a:pt x="358" y="7"/>
                  <a:pt x="384" y="0"/>
                </a:cubicBezTo>
              </a:path>
            </a:pathLst>
          </a:custGeom>
          <a:noFill/>
          <a:ln w="34925">
            <a:solidFill>
              <a:srgbClr val="336600"/>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30159" name="Text Box 15"/>
          <p:cNvSpPr txBox="1">
            <a:spLocks noChangeArrowheads="1"/>
          </p:cNvSpPr>
          <p:nvPr/>
        </p:nvSpPr>
        <p:spPr bwMode="auto">
          <a:xfrm>
            <a:off x="8347075" y="-57150"/>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2400" b="1">
                <a:solidFill>
                  <a:srgbClr val="CC3300"/>
                </a:solidFill>
                <a:ea typeface="楷体_GB2312" charset="0"/>
              </a:rPr>
              <a:t>进栈</a:t>
            </a:r>
            <a:endParaRPr lang="zh-CN" altLang="en-US" sz="2400" b="1">
              <a:solidFill>
                <a:srgbClr val="CC3300"/>
              </a:solidFill>
              <a:ea typeface="楷体_GB2312" charset="0"/>
            </a:endParaRPr>
          </a:p>
        </p:txBody>
      </p:sp>
      <p:sp>
        <p:nvSpPr>
          <p:cNvPr id="1030160" name="Text Box 16"/>
          <p:cNvSpPr txBox="1">
            <a:spLocks noChangeArrowheads="1"/>
          </p:cNvSpPr>
          <p:nvPr/>
        </p:nvSpPr>
        <p:spPr bwMode="auto">
          <a:xfrm>
            <a:off x="5603875" y="19050"/>
            <a:ext cx="94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2400" b="1">
                <a:solidFill>
                  <a:srgbClr val="CC3300"/>
                </a:solidFill>
                <a:ea typeface="楷体_GB2312" charset="0"/>
              </a:rPr>
              <a:t>  出栈</a:t>
            </a:r>
            <a:endParaRPr lang="zh-CN" altLang="en-US" sz="2400" b="1">
              <a:solidFill>
                <a:srgbClr val="CC3300"/>
              </a:solidFill>
              <a:ea typeface="楷体_GB2312" charset="0"/>
            </a:endParaRPr>
          </a:p>
        </p:txBody>
      </p:sp>
      <p:sp>
        <p:nvSpPr>
          <p:cNvPr id="1030161" name="Line 17"/>
          <p:cNvSpPr>
            <a:spLocks noChangeShapeType="1"/>
          </p:cNvSpPr>
          <p:nvPr/>
        </p:nvSpPr>
        <p:spPr bwMode="auto">
          <a:xfrm>
            <a:off x="6823075" y="2076450"/>
            <a:ext cx="1470025"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0162" name="Line 18"/>
          <p:cNvSpPr>
            <a:spLocks noChangeShapeType="1"/>
          </p:cNvSpPr>
          <p:nvPr/>
        </p:nvSpPr>
        <p:spPr bwMode="auto">
          <a:xfrm>
            <a:off x="6823075" y="1009650"/>
            <a:ext cx="1470025"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0163" name="Line 19"/>
          <p:cNvSpPr>
            <a:spLocks noChangeShapeType="1"/>
          </p:cNvSpPr>
          <p:nvPr/>
        </p:nvSpPr>
        <p:spPr bwMode="auto">
          <a:xfrm>
            <a:off x="6823075" y="1695450"/>
            <a:ext cx="1470025"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0164" name="Line 20"/>
          <p:cNvSpPr>
            <a:spLocks noChangeShapeType="1"/>
          </p:cNvSpPr>
          <p:nvPr/>
        </p:nvSpPr>
        <p:spPr bwMode="auto">
          <a:xfrm>
            <a:off x="6823075" y="2457450"/>
            <a:ext cx="1470025"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30165" name="Text Box 21"/>
          <p:cNvSpPr txBox="1">
            <a:spLocks noChangeArrowheads="1"/>
          </p:cNvSpPr>
          <p:nvPr/>
        </p:nvSpPr>
        <p:spPr bwMode="auto">
          <a:xfrm>
            <a:off x="7204075" y="552450"/>
            <a:ext cx="75723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2400" b="1" i="1">
                <a:solidFill>
                  <a:srgbClr val="0000FF"/>
                </a:solidFill>
              </a:rPr>
              <a:t>a</a:t>
            </a:r>
            <a:r>
              <a:rPr lang="en-US" altLang="zh-CN" sz="2400" b="1" baseline="-25000">
                <a:solidFill>
                  <a:srgbClr val="010000"/>
                </a:solidFill>
              </a:rPr>
              <a:t>n</a:t>
            </a:r>
            <a:endParaRPr lang="en-US" altLang="zh-CN" sz="2400" b="1" baseline="-25000">
              <a:solidFill>
                <a:srgbClr val="010000"/>
              </a:solidFill>
            </a:endParaRPr>
          </a:p>
          <a:p>
            <a:r>
              <a:rPr lang="en-US" altLang="zh-CN" sz="2400" b="1">
                <a:solidFill>
                  <a:srgbClr val="0000FF"/>
                </a:solidFill>
              </a:rPr>
              <a:t>.</a:t>
            </a:r>
            <a:endParaRPr lang="en-US" altLang="zh-CN" sz="2400" b="1">
              <a:solidFill>
                <a:srgbClr val="0000FF"/>
              </a:solidFill>
            </a:endParaRPr>
          </a:p>
          <a:p>
            <a:r>
              <a:rPr lang="en-US" altLang="zh-CN" sz="2400" b="1">
                <a:solidFill>
                  <a:srgbClr val="0000FF"/>
                </a:solidFill>
              </a:rPr>
              <a:t>.</a:t>
            </a:r>
            <a:endParaRPr lang="en-US" altLang="zh-CN" sz="2400" b="1">
              <a:solidFill>
                <a:srgbClr val="0000FF"/>
              </a:solidFill>
            </a:endParaRPr>
          </a:p>
          <a:p>
            <a:r>
              <a:rPr lang="en-US" altLang="zh-CN" sz="2400" b="1">
                <a:solidFill>
                  <a:srgbClr val="0000FF"/>
                </a:solidFill>
              </a:rPr>
              <a:t>.</a:t>
            </a:r>
            <a:endParaRPr lang="en-US" altLang="zh-CN" sz="2400" b="1">
              <a:solidFill>
                <a:srgbClr val="0000FF"/>
              </a:solidFill>
            </a:endParaRPr>
          </a:p>
          <a:p>
            <a:r>
              <a:rPr lang="en-US" altLang="zh-CN" sz="2400" b="1">
                <a:solidFill>
                  <a:srgbClr val="0000FF"/>
                </a:solidFill>
              </a:rPr>
              <a:t>.</a:t>
            </a:r>
            <a:endParaRPr lang="en-US" altLang="zh-CN" sz="2400" b="1">
              <a:solidFill>
                <a:srgbClr val="0000FF"/>
              </a:solidFill>
            </a:endParaRPr>
          </a:p>
          <a:p>
            <a:r>
              <a:rPr lang="en-US" altLang="zh-CN" sz="2400" b="1" i="1">
                <a:solidFill>
                  <a:srgbClr val="0000FF"/>
                </a:solidFill>
              </a:rPr>
              <a:t>a</a:t>
            </a:r>
            <a:r>
              <a:rPr lang="en-US" altLang="zh-CN" sz="2400" b="1" i="1" baseline="-25000">
                <a:solidFill>
                  <a:srgbClr val="0000FF"/>
                </a:solidFill>
              </a:rPr>
              <a:t>1</a:t>
            </a:r>
            <a:endParaRPr lang="zh-CN" altLang="en-US" sz="2400" b="1" i="1" baseline="-25000">
              <a:solidFill>
                <a:srgbClr val="0000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014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03014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030149"/>
                                        </p:tgtEl>
                                        <p:attrNameLst>
                                          <p:attrName>style.visibility</p:attrName>
                                        </p:attrNameLst>
                                      </p:cBhvr>
                                      <p:to>
                                        <p:strVal val="visible"/>
                                      </p:to>
                                    </p:set>
                                  </p:childTnLst>
                                </p:cTn>
                              </p:par>
                            </p:childTnLst>
                          </p:cTn>
                        </p:par>
                        <p:par>
                          <p:cTn id="13" fill="hold">
                            <p:stCondLst>
                              <p:cond delay="1500"/>
                            </p:stCondLst>
                            <p:childTnLst>
                              <p:par>
                                <p:cTn id="14" presetID="2" presetClass="entr" presetSubtype="8" fill="hold" grpId="0" nodeType="afterEffect">
                                  <p:stCondLst>
                                    <p:cond delay="0"/>
                                  </p:stCondLst>
                                  <p:childTnLst>
                                    <p:set>
                                      <p:cBhvr>
                                        <p:cTn id="15" dur="1" fill="hold">
                                          <p:stCondLst>
                                            <p:cond delay="0"/>
                                          </p:stCondLst>
                                        </p:cTn>
                                        <p:tgtEl>
                                          <p:spTgt spid="1030150"/>
                                        </p:tgtEl>
                                        <p:attrNameLst>
                                          <p:attrName>style.visibility</p:attrName>
                                        </p:attrNameLst>
                                      </p:cBhvr>
                                      <p:to>
                                        <p:strVal val="visible"/>
                                      </p:to>
                                    </p:set>
                                    <p:anim calcmode="lin" valueType="num">
                                      <p:cBhvr additive="base">
                                        <p:cTn id="16" dur="500" fill="hold"/>
                                        <p:tgtEl>
                                          <p:spTgt spid="1030150"/>
                                        </p:tgtEl>
                                        <p:attrNameLst>
                                          <p:attrName>ppt_x</p:attrName>
                                        </p:attrNameLst>
                                      </p:cBhvr>
                                      <p:tavLst>
                                        <p:tav tm="0">
                                          <p:val>
                                            <p:strVal val="0-#ppt_w/2"/>
                                          </p:val>
                                        </p:tav>
                                        <p:tav tm="100000">
                                          <p:val>
                                            <p:strVal val="#ppt_x"/>
                                          </p:val>
                                        </p:tav>
                                      </p:tavLst>
                                    </p:anim>
                                    <p:anim calcmode="lin" valueType="num">
                                      <p:cBhvr additive="base">
                                        <p:cTn id="17" dur="500" fill="hold"/>
                                        <p:tgtEl>
                                          <p:spTgt spid="10301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147" grpId="0" autoUpdateAnimBg="0"/>
      <p:bldP spid="1030148" grpId="0" autoUpdateAnimBg="0"/>
      <p:bldP spid="1030149" grpId="0" autoUpdateAnimBg="0"/>
      <p:bldP spid="103015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70" name="Text Box 2">
            <a:hlinkClick r:id="" action="ppaction://hlinkshowjump?jump=nextslide"/>
          </p:cNvPr>
          <p:cNvSpPr txBox="1">
            <a:spLocks noChangeArrowheads="1"/>
          </p:cNvSpPr>
          <p:nvPr/>
        </p:nvSpPr>
        <p:spPr bwMode="auto">
          <a:xfrm>
            <a:off x="1219200" y="1066800"/>
            <a:ext cx="363537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zh-CN" sz="4000">
                <a:solidFill>
                  <a:srgbClr val="A50021"/>
                </a:solidFill>
              </a:rPr>
              <a:t>InitStack(</a:t>
            </a:r>
            <a:r>
              <a:rPr lang="en-US" altLang="zh-CN" sz="4000" b="1">
                <a:solidFill>
                  <a:srgbClr val="A50021"/>
                </a:solidFill>
              </a:rPr>
              <a:t>&amp;</a:t>
            </a:r>
            <a:r>
              <a:rPr lang="en-US" altLang="zh-CN" sz="4000">
                <a:solidFill>
                  <a:srgbClr val="A50021"/>
                </a:solidFill>
              </a:rPr>
              <a:t>S)</a:t>
            </a:r>
            <a:endParaRPr lang="en-US" altLang="zh-CN" sz="3600"/>
          </a:p>
        </p:txBody>
      </p:sp>
      <p:sp>
        <p:nvSpPr>
          <p:cNvPr id="1031171" name="Text Box 3">
            <a:hlinkClick r:id="" action="ppaction://hlinkshowjump?jump=nextslide"/>
          </p:cNvPr>
          <p:cNvSpPr txBox="1">
            <a:spLocks noChangeArrowheads="1"/>
          </p:cNvSpPr>
          <p:nvPr/>
        </p:nvSpPr>
        <p:spPr bwMode="auto">
          <a:xfrm>
            <a:off x="4594225" y="1431925"/>
            <a:ext cx="439737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zh-CN" sz="4000">
                <a:solidFill>
                  <a:srgbClr val="A50021"/>
                </a:solidFill>
              </a:rPr>
              <a:t>DestroyStack(</a:t>
            </a:r>
            <a:r>
              <a:rPr lang="en-US" altLang="zh-CN" sz="4000" b="1">
                <a:solidFill>
                  <a:srgbClr val="A50021"/>
                </a:solidFill>
              </a:rPr>
              <a:t>&amp;</a:t>
            </a:r>
            <a:r>
              <a:rPr lang="en-US" altLang="zh-CN" sz="4000">
                <a:solidFill>
                  <a:srgbClr val="A50021"/>
                </a:solidFill>
              </a:rPr>
              <a:t>S)</a:t>
            </a:r>
            <a:endParaRPr lang="en-US" altLang="zh-CN" sz="4000">
              <a:solidFill>
                <a:srgbClr val="A50021"/>
              </a:solidFill>
            </a:endParaRPr>
          </a:p>
        </p:txBody>
      </p:sp>
      <p:sp>
        <p:nvSpPr>
          <p:cNvPr id="1031172" name="Text Box 4">
            <a:hlinkClick r:id="rId1" action="ppaction://hlinksldjump"/>
          </p:cNvPr>
          <p:cNvSpPr txBox="1">
            <a:spLocks noChangeArrowheads="1"/>
          </p:cNvSpPr>
          <p:nvPr/>
        </p:nvSpPr>
        <p:spPr bwMode="auto">
          <a:xfrm>
            <a:off x="4724400" y="4164013"/>
            <a:ext cx="3459163"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a:solidFill>
                  <a:srgbClr val="A50021"/>
                </a:solidFill>
              </a:rPr>
              <a:t>ClearStack(</a:t>
            </a:r>
            <a:r>
              <a:rPr lang="en-US" altLang="zh-CN" sz="4000" b="1">
                <a:solidFill>
                  <a:srgbClr val="A50021"/>
                </a:solidFill>
              </a:rPr>
              <a:t>&amp;</a:t>
            </a:r>
            <a:r>
              <a:rPr lang="en-US" altLang="zh-CN" sz="4000">
                <a:solidFill>
                  <a:srgbClr val="A50021"/>
                </a:solidFill>
              </a:rPr>
              <a:t>S)</a:t>
            </a:r>
            <a:endParaRPr lang="en-US" altLang="zh-CN" sz="3600"/>
          </a:p>
        </p:txBody>
      </p:sp>
      <p:sp>
        <p:nvSpPr>
          <p:cNvPr id="1031173" name="Text Box 5">
            <a:hlinkClick r:id="rId2" action="ppaction://hlinksldjump"/>
          </p:cNvPr>
          <p:cNvSpPr txBox="1">
            <a:spLocks noChangeArrowheads="1"/>
          </p:cNvSpPr>
          <p:nvPr/>
        </p:nvSpPr>
        <p:spPr bwMode="auto">
          <a:xfrm>
            <a:off x="4648200" y="2716213"/>
            <a:ext cx="3205163"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a:solidFill>
                  <a:srgbClr val="A50021"/>
                </a:solidFill>
              </a:rPr>
              <a:t>StackEmpty(s)</a:t>
            </a:r>
            <a:endParaRPr lang="en-US" altLang="zh-CN" sz="3600"/>
          </a:p>
        </p:txBody>
      </p:sp>
      <p:sp>
        <p:nvSpPr>
          <p:cNvPr id="1031174" name="Text Box 6">
            <a:hlinkClick r:id="rId3" action="ppaction://hlinksldjump"/>
          </p:cNvPr>
          <p:cNvSpPr txBox="1">
            <a:spLocks noChangeArrowheads="1"/>
          </p:cNvSpPr>
          <p:nvPr/>
        </p:nvSpPr>
        <p:spPr bwMode="auto">
          <a:xfrm>
            <a:off x="1143000" y="2106613"/>
            <a:ext cx="3373438"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a:solidFill>
                  <a:srgbClr val="A50021"/>
                </a:solidFill>
              </a:rPr>
              <a:t>StackLength(S)</a:t>
            </a:r>
            <a:endParaRPr lang="en-US" altLang="zh-CN" sz="3600"/>
          </a:p>
        </p:txBody>
      </p:sp>
      <p:sp>
        <p:nvSpPr>
          <p:cNvPr id="1031175" name="Text Box 7">
            <a:hlinkClick r:id="rId4" action="ppaction://hlinksldjump"/>
          </p:cNvPr>
          <p:cNvSpPr txBox="1">
            <a:spLocks noChangeArrowheads="1"/>
          </p:cNvSpPr>
          <p:nvPr/>
        </p:nvSpPr>
        <p:spPr bwMode="auto">
          <a:xfrm>
            <a:off x="1219200" y="3478213"/>
            <a:ext cx="326072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a:solidFill>
                  <a:srgbClr val="A50021"/>
                </a:solidFill>
              </a:rPr>
              <a:t>GetTop(S, </a:t>
            </a:r>
            <a:r>
              <a:rPr lang="en-US" altLang="zh-CN" sz="4000" b="1">
                <a:solidFill>
                  <a:srgbClr val="A50021"/>
                </a:solidFill>
              </a:rPr>
              <a:t>&amp;</a:t>
            </a:r>
            <a:r>
              <a:rPr lang="en-US" altLang="zh-CN" sz="4000">
                <a:solidFill>
                  <a:srgbClr val="A50021"/>
                </a:solidFill>
              </a:rPr>
              <a:t>e)</a:t>
            </a:r>
            <a:endParaRPr lang="en-US" altLang="zh-CN" sz="3600"/>
          </a:p>
        </p:txBody>
      </p:sp>
      <p:sp>
        <p:nvSpPr>
          <p:cNvPr id="1031176" name="Text Box 8">
            <a:hlinkClick r:id="rId5" action="ppaction://hlinksldjump"/>
          </p:cNvPr>
          <p:cNvSpPr txBox="1">
            <a:spLocks noChangeArrowheads="1"/>
          </p:cNvSpPr>
          <p:nvPr/>
        </p:nvSpPr>
        <p:spPr bwMode="auto">
          <a:xfrm>
            <a:off x="1295400" y="4849813"/>
            <a:ext cx="26987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a:solidFill>
                  <a:srgbClr val="A50021"/>
                </a:solidFill>
              </a:rPr>
              <a:t>Push(</a:t>
            </a:r>
            <a:r>
              <a:rPr lang="en-US" altLang="zh-CN" sz="4000" b="1">
                <a:solidFill>
                  <a:srgbClr val="A50021"/>
                </a:solidFill>
              </a:rPr>
              <a:t>&amp;</a:t>
            </a:r>
            <a:r>
              <a:rPr lang="en-US" altLang="zh-CN" sz="4000">
                <a:solidFill>
                  <a:srgbClr val="A50021"/>
                </a:solidFill>
              </a:rPr>
              <a:t>S, e)</a:t>
            </a:r>
            <a:endParaRPr lang="en-US" altLang="zh-CN" sz="3600"/>
          </a:p>
        </p:txBody>
      </p:sp>
      <p:sp>
        <p:nvSpPr>
          <p:cNvPr id="1031177" name="Text Box 9">
            <a:hlinkClick r:id="rId6" action="ppaction://hlinksldjump"/>
          </p:cNvPr>
          <p:cNvSpPr txBox="1">
            <a:spLocks noChangeArrowheads="1"/>
          </p:cNvSpPr>
          <p:nvPr/>
        </p:nvSpPr>
        <p:spPr bwMode="auto">
          <a:xfrm>
            <a:off x="4668838" y="5257800"/>
            <a:ext cx="292417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a:solidFill>
                  <a:srgbClr val="A50021"/>
                </a:solidFill>
              </a:rPr>
              <a:t>Pop(</a:t>
            </a:r>
            <a:r>
              <a:rPr lang="en-US" altLang="zh-CN" sz="4000" b="1">
                <a:solidFill>
                  <a:srgbClr val="A50021"/>
                </a:solidFill>
              </a:rPr>
              <a:t>&amp;</a:t>
            </a:r>
            <a:r>
              <a:rPr lang="en-US" altLang="zh-CN" sz="4000">
                <a:solidFill>
                  <a:srgbClr val="A50021"/>
                </a:solidFill>
              </a:rPr>
              <a:t>S,</a:t>
            </a:r>
            <a:r>
              <a:rPr lang="en-US" altLang="zh-CN" sz="4000" b="1">
                <a:solidFill>
                  <a:srgbClr val="A50021"/>
                </a:solidFill>
              </a:rPr>
              <a:t> &amp;</a:t>
            </a:r>
            <a:r>
              <a:rPr lang="en-US" altLang="zh-CN" sz="4000">
                <a:solidFill>
                  <a:srgbClr val="A50021"/>
                </a:solidFill>
              </a:rPr>
              <a:t>e)</a:t>
            </a:r>
            <a:endParaRPr lang="en-US" altLang="zh-CN" sz="3600"/>
          </a:p>
        </p:txBody>
      </p:sp>
      <p:sp>
        <p:nvSpPr>
          <p:cNvPr id="1031178" name="Text Box 10"/>
          <p:cNvSpPr txBox="1">
            <a:spLocks noChangeArrowheads="1"/>
          </p:cNvSpPr>
          <p:nvPr/>
        </p:nvSpPr>
        <p:spPr bwMode="auto">
          <a:xfrm>
            <a:off x="909638" y="6019800"/>
            <a:ext cx="4957762"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a:solidFill>
                  <a:srgbClr val="A50021"/>
                </a:solidFill>
              </a:rPr>
              <a:t>StackTravers(S, visit())</a:t>
            </a:r>
            <a:endParaRPr lang="en-US" altLang="zh-CN" sz="3600"/>
          </a:p>
        </p:txBody>
      </p:sp>
      <p:sp>
        <p:nvSpPr>
          <p:cNvPr id="1031179" name="AutoShape 11">
            <a:hlinkClick r:id="" action="ppaction://hlinkshowjump?jump=previousslide" highlightClick="1"/>
          </p:cNvPr>
          <p:cNvSpPr>
            <a:spLocks noChangeArrowheads="1"/>
          </p:cNvSpPr>
          <p:nvPr/>
        </p:nvSpPr>
        <p:spPr bwMode="auto">
          <a:xfrm>
            <a:off x="8534400" y="6248400"/>
            <a:ext cx="381000" cy="381000"/>
          </a:xfrm>
          <a:prstGeom prst="actionButtonBackPrevious">
            <a:avLst/>
          </a:prstGeom>
          <a:solidFill>
            <a:srgbClr val="FFCC00"/>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1170"/>
                                        </p:tgtEl>
                                        <p:attrNameLst>
                                          <p:attrName>style.visibility</p:attrName>
                                        </p:attrNameLst>
                                      </p:cBhvr>
                                      <p:to>
                                        <p:strVal val="visible"/>
                                      </p:to>
                                    </p:set>
                                    <p:anim calcmode="lin" valueType="num">
                                      <p:cBhvr additive="base">
                                        <p:cTn id="7" dur="500" fill="hold"/>
                                        <p:tgtEl>
                                          <p:spTgt spid="1031170"/>
                                        </p:tgtEl>
                                        <p:attrNameLst>
                                          <p:attrName>ppt_x</p:attrName>
                                        </p:attrNameLst>
                                      </p:cBhvr>
                                      <p:tavLst>
                                        <p:tav tm="0">
                                          <p:val>
                                            <p:strVal val="0-#ppt_w/2"/>
                                          </p:val>
                                        </p:tav>
                                        <p:tav tm="100000">
                                          <p:val>
                                            <p:strVal val="#ppt_x"/>
                                          </p:val>
                                        </p:tav>
                                      </p:tavLst>
                                    </p:anim>
                                    <p:anim calcmode="lin" valueType="num">
                                      <p:cBhvr additive="base">
                                        <p:cTn id="8" dur="500" fill="hold"/>
                                        <p:tgtEl>
                                          <p:spTgt spid="10311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31171"/>
                                        </p:tgtEl>
                                        <p:attrNameLst>
                                          <p:attrName>style.visibility</p:attrName>
                                        </p:attrNameLst>
                                      </p:cBhvr>
                                      <p:to>
                                        <p:strVal val="visible"/>
                                      </p:to>
                                    </p:set>
                                    <p:anim calcmode="lin" valueType="num">
                                      <p:cBhvr additive="base">
                                        <p:cTn id="13" dur="500" fill="hold"/>
                                        <p:tgtEl>
                                          <p:spTgt spid="1031171"/>
                                        </p:tgtEl>
                                        <p:attrNameLst>
                                          <p:attrName>ppt_x</p:attrName>
                                        </p:attrNameLst>
                                      </p:cBhvr>
                                      <p:tavLst>
                                        <p:tav tm="0">
                                          <p:val>
                                            <p:strVal val="1+#ppt_w/2"/>
                                          </p:val>
                                        </p:tav>
                                        <p:tav tm="100000">
                                          <p:val>
                                            <p:strVal val="#ppt_x"/>
                                          </p:val>
                                        </p:tav>
                                      </p:tavLst>
                                    </p:anim>
                                    <p:anim calcmode="lin" valueType="num">
                                      <p:cBhvr additive="base">
                                        <p:cTn id="14" dur="500" fill="hold"/>
                                        <p:tgtEl>
                                          <p:spTgt spid="103117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31174"/>
                                        </p:tgtEl>
                                        <p:attrNameLst>
                                          <p:attrName>style.visibility</p:attrName>
                                        </p:attrNameLst>
                                      </p:cBhvr>
                                      <p:to>
                                        <p:strVal val="visible"/>
                                      </p:to>
                                    </p:set>
                                    <p:anim calcmode="lin" valueType="num">
                                      <p:cBhvr additive="base">
                                        <p:cTn id="19" dur="500" fill="hold"/>
                                        <p:tgtEl>
                                          <p:spTgt spid="1031174"/>
                                        </p:tgtEl>
                                        <p:attrNameLst>
                                          <p:attrName>ppt_x</p:attrName>
                                        </p:attrNameLst>
                                      </p:cBhvr>
                                      <p:tavLst>
                                        <p:tav tm="0">
                                          <p:val>
                                            <p:strVal val="0-#ppt_w/2"/>
                                          </p:val>
                                        </p:tav>
                                        <p:tav tm="100000">
                                          <p:val>
                                            <p:strVal val="#ppt_x"/>
                                          </p:val>
                                        </p:tav>
                                      </p:tavLst>
                                    </p:anim>
                                    <p:anim calcmode="lin" valueType="num">
                                      <p:cBhvr additive="base">
                                        <p:cTn id="20" dur="500" fill="hold"/>
                                        <p:tgtEl>
                                          <p:spTgt spid="103117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31173"/>
                                        </p:tgtEl>
                                        <p:attrNameLst>
                                          <p:attrName>style.visibility</p:attrName>
                                        </p:attrNameLst>
                                      </p:cBhvr>
                                      <p:to>
                                        <p:strVal val="visible"/>
                                      </p:to>
                                    </p:set>
                                    <p:anim calcmode="lin" valueType="num">
                                      <p:cBhvr additive="base">
                                        <p:cTn id="25" dur="500" fill="hold"/>
                                        <p:tgtEl>
                                          <p:spTgt spid="1031173"/>
                                        </p:tgtEl>
                                        <p:attrNameLst>
                                          <p:attrName>ppt_x</p:attrName>
                                        </p:attrNameLst>
                                      </p:cBhvr>
                                      <p:tavLst>
                                        <p:tav tm="0">
                                          <p:val>
                                            <p:strVal val="1+#ppt_w/2"/>
                                          </p:val>
                                        </p:tav>
                                        <p:tav tm="100000">
                                          <p:val>
                                            <p:strVal val="#ppt_x"/>
                                          </p:val>
                                        </p:tav>
                                      </p:tavLst>
                                    </p:anim>
                                    <p:anim calcmode="lin" valueType="num">
                                      <p:cBhvr additive="base">
                                        <p:cTn id="26" dur="500" fill="hold"/>
                                        <p:tgtEl>
                                          <p:spTgt spid="103117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31175"/>
                                        </p:tgtEl>
                                        <p:attrNameLst>
                                          <p:attrName>style.visibility</p:attrName>
                                        </p:attrNameLst>
                                      </p:cBhvr>
                                      <p:to>
                                        <p:strVal val="visible"/>
                                      </p:to>
                                    </p:set>
                                    <p:anim calcmode="lin" valueType="num">
                                      <p:cBhvr additive="base">
                                        <p:cTn id="31" dur="500" fill="hold"/>
                                        <p:tgtEl>
                                          <p:spTgt spid="1031175"/>
                                        </p:tgtEl>
                                        <p:attrNameLst>
                                          <p:attrName>ppt_x</p:attrName>
                                        </p:attrNameLst>
                                      </p:cBhvr>
                                      <p:tavLst>
                                        <p:tav tm="0">
                                          <p:val>
                                            <p:strVal val="0-#ppt_w/2"/>
                                          </p:val>
                                        </p:tav>
                                        <p:tav tm="100000">
                                          <p:val>
                                            <p:strVal val="#ppt_x"/>
                                          </p:val>
                                        </p:tav>
                                      </p:tavLst>
                                    </p:anim>
                                    <p:anim calcmode="lin" valueType="num">
                                      <p:cBhvr additive="base">
                                        <p:cTn id="32" dur="500" fill="hold"/>
                                        <p:tgtEl>
                                          <p:spTgt spid="103117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031172"/>
                                        </p:tgtEl>
                                        <p:attrNameLst>
                                          <p:attrName>style.visibility</p:attrName>
                                        </p:attrNameLst>
                                      </p:cBhvr>
                                      <p:to>
                                        <p:strVal val="visible"/>
                                      </p:to>
                                    </p:set>
                                    <p:anim calcmode="lin" valueType="num">
                                      <p:cBhvr additive="base">
                                        <p:cTn id="37" dur="500" fill="hold"/>
                                        <p:tgtEl>
                                          <p:spTgt spid="1031172"/>
                                        </p:tgtEl>
                                        <p:attrNameLst>
                                          <p:attrName>ppt_x</p:attrName>
                                        </p:attrNameLst>
                                      </p:cBhvr>
                                      <p:tavLst>
                                        <p:tav tm="0">
                                          <p:val>
                                            <p:strVal val="1+#ppt_w/2"/>
                                          </p:val>
                                        </p:tav>
                                        <p:tav tm="100000">
                                          <p:val>
                                            <p:strVal val="#ppt_x"/>
                                          </p:val>
                                        </p:tav>
                                      </p:tavLst>
                                    </p:anim>
                                    <p:anim calcmode="lin" valueType="num">
                                      <p:cBhvr additive="base">
                                        <p:cTn id="38" dur="500" fill="hold"/>
                                        <p:tgtEl>
                                          <p:spTgt spid="103117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31176"/>
                                        </p:tgtEl>
                                        <p:attrNameLst>
                                          <p:attrName>style.visibility</p:attrName>
                                        </p:attrNameLst>
                                      </p:cBhvr>
                                      <p:to>
                                        <p:strVal val="visible"/>
                                      </p:to>
                                    </p:set>
                                    <p:anim calcmode="lin" valueType="num">
                                      <p:cBhvr additive="base">
                                        <p:cTn id="43" dur="500" fill="hold"/>
                                        <p:tgtEl>
                                          <p:spTgt spid="1031176"/>
                                        </p:tgtEl>
                                        <p:attrNameLst>
                                          <p:attrName>ppt_x</p:attrName>
                                        </p:attrNameLst>
                                      </p:cBhvr>
                                      <p:tavLst>
                                        <p:tav tm="0">
                                          <p:val>
                                            <p:strVal val="0-#ppt_w/2"/>
                                          </p:val>
                                        </p:tav>
                                        <p:tav tm="100000">
                                          <p:val>
                                            <p:strVal val="#ppt_x"/>
                                          </p:val>
                                        </p:tav>
                                      </p:tavLst>
                                    </p:anim>
                                    <p:anim calcmode="lin" valueType="num">
                                      <p:cBhvr additive="base">
                                        <p:cTn id="44" dur="500" fill="hold"/>
                                        <p:tgtEl>
                                          <p:spTgt spid="103117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031177"/>
                                        </p:tgtEl>
                                        <p:attrNameLst>
                                          <p:attrName>style.visibility</p:attrName>
                                        </p:attrNameLst>
                                      </p:cBhvr>
                                      <p:to>
                                        <p:strVal val="visible"/>
                                      </p:to>
                                    </p:set>
                                    <p:anim calcmode="lin" valueType="num">
                                      <p:cBhvr additive="base">
                                        <p:cTn id="49" dur="500" fill="hold"/>
                                        <p:tgtEl>
                                          <p:spTgt spid="1031177"/>
                                        </p:tgtEl>
                                        <p:attrNameLst>
                                          <p:attrName>ppt_x</p:attrName>
                                        </p:attrNameLst>
                                      </p:cBhvr>
                                      <p:tavLst>
                                        <p:tav tm="0">
                                          <p:val>
                                            <p:strVal val="1+#ppt_w/2"/>
                                          </p:val>
                                        </p:tav>
                                        <p:tav tm="100000">
                                          <p:val>
                                            <p:strVal val="#ppt_x"/>
                                          </p:val>
                                        </p:tav>
                                      </p:tavLst>
                                    </p:anim>
                                    <p:anim calcmode="lin" valueType="num">
                                      <p:cBhvr additive="base">
                                        <p:cTn id="50" dur="500" fill="hold"/>
                                        <p:tgtEl>
                                          <p:spTgt spid="1031177"/>
                                        </p:tgtEl>
                                        <p:attrNameLst>
                                          <p:attrName>ppt_y</p:attrName>
                                        </p:attrNameLst>
                                      </p:cBhvr>
                                      <p:tavLst>
                                        <p:tav tm="0">
                                          <p:val>
                                            <p:strVal val="#ppt_y"/>
                                          </p:val>
                                        </p:tav>
                                        <p:tav tm="100000">
                                          <p:val>
                                            <p:strVal val="#ppt_y"/>
                                          </p:val>
                                        </p:tav>
                                      </p:tavLst>
                                    </p:anim>
                                  </p:childTnLst>
                                </p:cTn>
                              </p:par>
                            </p:childTnLst>
                          </p:cTn>
                        </p:par>
                        <p:par>
                          <p:cTn id="51" fill="hold">
                            <p:stCondLst>
                              <p:cond delay="500"/>
                            </p:stCondLst>
                            <p:childTnLst>
                              <p:par>
                                <p:cTn id="52" presetID="2" presetClass="entr" presetSubtype="6" fill="hold" grpId="0" nodeType="afterEffect">
                                  <p:stCondLst>
                                    <p:cond delay="0"/>
                                  </p:stCondLst>
                                  <p:childTnLst>
                                    <p:set>
                                      <p:cBhvr>
                                        <p:cTn id="53" dur="1" fill="hold">
                                          <p:stCondLst>
                                            <p:cond delay="0"/>
                                          </p:stCondLst>
                                        </p:cTn>
                                        <p:tgtEl>
                                          <p:spTgt spid="1031179"/>
                                        </p:tgtEl>
                                        <p:attrNameLst>
                                          <p:attrName>style.visibility</p:attrName>
                                        </p:attrNameLst>
                                      </p:cBhvr>
                                      <p:to>
                                        <p:strVal val="visible"/>
                                      </p:to>
                                    </p:set>
                                    <p:anim calcmode="lin" valueType="num">
                                      <p:cBhvr additive="base">
                                        <p:cTn id="54" dur="500" fill="hold"/>
                                        <p:tgtEl>
                                          <p:spTgt spid="1031179"/>
                                        </p:tgtEl>
                                        <p:attrNameLst>
                                          <p:attrName>ppt_x</p:attrName>
                                        </p:attrNameLst>
                                      </p:cBhvr>
                                      <p:tavLst>
                                        <p:tav tm="0">
                                          <p:val>
                                            <p:strVal val="1+#ppt_w/2"/>
                                          </p:val>
                                        </p:tav>
                                        <p:tav tm="100000">
                                          <p:val>
                                            <p:strVal val="#ppt_x"/>
                                          </p:val>
                                        </p:tav>
                                      </p:tavLst>
                                    </p:anim>
                                    <p:anim calcmode="lin" valueType="num">
                                      <p:cBhvr additive="base">
                                        <p:cTn id="55" dur="500" fill="hold"/>
                                        <p:tgtEl>
                                          <p:spTgt spid="1031179"/>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031178"/>
                                        </p:tgtEl>
                                        <p:attrNameLst>
                                          <p:attrName>style.visibility</p:attrName>
                                        </p:attrNameLst>
                                      </p:cBhvr>
                                      <p:to>
                                        <p:strVal val="visible"/>
                                      </p:to>
                                    </p:set>
                                    <p:anim calcmode="lin" valueType="num">
                                      <p:cBhvr additive="base">
                                        <p:cTn id="60" dur="500" fill="hold"/>
                                        <p:tgtEl>
                                          <p:spTgt spid="1031178"/>
                                        </p:tgtEl>
                                        <p:attrNameLst>
                                          <p:attrName>ppt_x</p:attrName>
                                        </p:attrNameLst>
                                      </p:cBhvr>
                                      <p:tavLst>
                                        <p:tav tm="0">
                                          <p:val>
                                            <p:strVal val="#ppt_x"/>
                                          </p:val>
                                        </p:tav>
                                        <p:tav tm="100000">
                                          <p:val>
                                            <p:strVal val="#ppt_x"/>
                                          </p:val>
                                        </p:tav>
                                      </p:tavLst>
                                    </p:anim>
                                    <p:anim calcmode="lin" valueType="num">
                                      <p:cBhvr additive="base">
                                        <p:cTn id="61" dur="500" fill="hold"/>
                                        <p:tgtEl>
                                          <p:spTgt spid="1031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1170" grpId="0" autoUpdateAnimBg="0"/>
      <p:bldP spid="1031171" grpId="0" autoUpdateAnimBg="0"/>
      <p:bldP spid="1031172" grpId="0" autoUpdateAnimBg="0"/>
      <p:bldP spid="1031173" grpId="0" autoUpdateAnimBg="0"/>
      <p:bldP spid="1031174" grpId="0" autoUpdateAnimBg="0"/>
      <p:bldP spid="1031175" grpId="0" autoUpdateAnimBg="0"/>
      <p:bldP spid="1031176" grpId="0" autoUpdateAnimBg="0"/>
      <p:bldP spid="1031177" grpId="0" autoUpdateAnimBg="0"/>
      <p:bldP spid="1031178" grpId="0" autoUpdateAnimBg="0"/>
      <p:bldP spid="103117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4" name="Rectangle 2"/>
          <p:cNvSpPr>
            <a:spLocks noGrp="1" noChangeArrowheads="1"/>
          </p:cNvSpPr>
          <p:nvPr>
            <p:ph type="title" idx="4294967295"/>
          </p:nvPr>
        </p:nvSpPr>
        <p:spPr>
          <a:xfrm>
            <a:off x="685800" y="2667000"/>
            <a:ext cx="7772400" cy="1143000"/>
          </a:xfrm>
        </p:spPr>
        <p:txBody>
          <a:bodyPr>
            <a:normAutofit fontScale="90000"/>
          </a:bodyPr>
          <a:lstStyle/>
          <a:p>
            <a:pPr>
              <a:lnSpc>
                <a:spcPct val="120000"/>
              </a:lnSpc>
            </a:pPr>
            <a:br>
              <a:rPr lang="zh-CN" altLang="en-US">
                <a:solidFill>
                  <a:schemeClr val="tx1"/>
                </a:solidFill>
                <a:ea typeface="楷体_GB2312" charset="0"/>
              </a:rPr>
            </a:br>
            <a:r>
              <a:rPr lang="zh-CN" altLang="en-US">
                <a:solidFill>
                  <a:schemeClr val="tx1"/>
                </a:solidFill>
                <a:ea typeface="楷体_GB2312" charset="0"/>
              </a:rPr>
              <a:t>   </a:t>
            </a:r>
            <a:r>
              <a:rPr lang="en-US" altLang="zh-CN">
                <a:solidFill>
                  <a:srgbClr val="FF0000"/>
                </a:solidFill>
                <a:ea typeface="楷体_GB2312" charset="0"/>
              </a:rPr>
              <a:t>InitStack(</a:t>
            </a:r>
            <a:r>
              <a:rPr lang="en-US" altLang="zh-CN" b="0">
                <a:solidFill>
                  <a:srgbClr val="FF0000"/>
                </a:solidFill>
                <a:ea typeface="楷体_GB2312" charset="0"/>
              </a:rPr>
              <a:t>&amp;</a:t>
            </a:r>
            <a:r>
              <a:rPr lang="en-US" altLang="zh-CN">
                <a:solidFill>
                  <a:srgbClr val="FF0000"/>
                </a:solidFill>
                <a:ea typeface="楷体_GB2312" charset="0"/>
              </a:rPr>
              <a:t>S)</a:t>
            </a:r>
            <a:br>
              <a:rPr lang="en-US" altLang="zh-CN">
                <a:solidFill>
                  <a:srgbClr val="FF0000"/>
                </a:solidFill>
                <a:ea typeface="楷体_GB2312" charset="0"/>
              </a:rPr>
            </a:br>
            <a:r>
              <a:rPr lang="en-US" altLang="zh-CN">
                <a:solidFill>
                  <a:schemeClr val="tx1"/>
                </a:solidFill>
                <a:ea typeface="楷体_GB2312" charset="0"/>
              </a:rPr>
              <a:t>    </a:t>
            </a:r>
            <a:r>
              <a:rPr lang="zh-CN" altLang="en-US">
                <a:solidFill>
                  <a:srgbClr val="0000FF"/>
                </a:solidFill>
                <a:ea typeface="楷体_GB2312" charset="0"/>
              </a:rPr>
              <a:t>操作结果</a:t>
            </a:r>
            <a:r>
              <a:rPr lang="zh-CN" altLang="en-US">
                <a:solidFill>
                  <a:schemeClr val="tx1"/>
                </a:solidFill>
                <a:ea typeface="楷体_GB2312" charset="0"/>
              </a:rPr>
              <a:t>：构造一个空栈 </a:t>
            </a:r>
            <a:r>
              <a:rPr lang="en-US" altLang="zh-CN">
                <a:solidFill>
                  <a:schemeClr val="tx1"/>
                </a:solidFill>
                <a:ea typeface="楷体_GB2312" charset="0"/>
              </a:rPr>
              <a:t>S</a:t>
            </a:r>
            <a:r>
              <a:rPr lang="zh-CN" altLang="en-US">
                <a:solidFill>
                  <a:schemeClr val="tx1"/>
                </a:solidFill>
                <a:ea typeface="楷体_GB2312" charset="0"/>
              </a:rPr>
              <a:t>。</a:t>
            </a:r>
            <a:br>
              <a:rPr lang="zh-CN" altLang="en-US">
                <a:solidFill>
                  <a:schemeClr val="tx1"/>
                </a:solidFill>
                <a:ea typeface="楷体_GB2312" charset="0"/>
              </a:rPr>
            </a:br>
            <a:br>
              <a:rPr lang="zh-CN" altLang="en-US">
                <a:solidFill>
                  <a:schemeClr val="tx1"/>
                </a:solidFill>
                <a:ea typeface="楷体_GB2312" charset="0"/>
              </a:rPr>
            </a:br>
            <a:r>
              <a:rPr lang="zh-CN" altLang="en-US">
                <a:solidFill>
                  <a:schemeClr val="tx1"/>
                </a:solidFill>
                <a:ea typeface="楷体_GB2312" charset="0"/>
              </a:rPr>
              <a:t>          </a:t>
            </a:r>
            <a:r>
              <a:rPr lang="en-US" altLang="zh-CN">
                <a:solidFill>
                  <a:srgbClr val="FF0000"/>
                </a:solidFill>
                <a:ea typeface="楷体_GB2312" charset="0"/>
              </a:rPr>
              <a:t>DestroyStack(</a:t>
            </a:r>
            <a:r>
              <a:rPr lang="en-US" altLang="zh-CN" b="0">
                <a:solidFill>
                  <a:srgbClr val="FF0000"/>
                </a:solidFill>
                <a:ea typeface="楷体_GB2312" charset="0"/>
              </a:rPr>
              <a:t>&amp;</a:t>
            </a:r>
            <a:r>
              <a:rPr lang="en-US" altLang="zh-CN">
                <a:solidFill>
                  <a:srgbClr val="FF0000"/>
                </a:solidFill>
                <a:ea typeface="楷体_GB2312" charset="0"/>
              </a:rPr>
              <a:t>S)</a:t>
            </a:r>
            <a:br>
              <a:rPr lang="en-US" altLang="zh-CN">
                <a:solidFill>
                  <a:srgbClr val="FF0000"/>
                </a:solidFill>
                <a:ea typeface="楷体_GB2312" charset="0"/>
              </a:rPr>
            </a:br>
            <a:r>
              <a:rPr lang="en-US" altLang="zh-CN">
                <a:solidFill>
                  <a:schemeClr val="tx1"/>
                </a:solidFill>
                <a:ea typeface="楷体_GB2312" charset="0"/>
              </a:rPr>
              <a:t>    </a:t>
            </a:r>
            <a:r>
              <a:rPr lang="zh-CN" altLang="en-US">
                <a:solidFill>
                  <a:srgbClr val="0000FF"/>
                </a:solidFill>
                <a:ea typeface="楷体_GB2312" charset="0"/>
              </a:rPr>
              <a:t>初始条件</a:t>
            </a:r>
            <a:r>
              <a:rPr lang="zh-CN" altLang="en-US">
                <a:solidFill>
                  <a:schemeClr val="tx1"/>
                </a:solidFill>
                <a:ea typeface="楷体_GB2312" charset="0"/>
              </a:rPr>
              <a:t>：栈 </a:t>
            </a:r>
            <a:r>
              <a:rPr lang="en-US" altLang="zh-CN">
                <a:solidFill>
                  <a:schemeClr val="tx1"/>
                </a:solidFill>
                <a:ea typeface="楷体_GB2312" charset="0"/>
              </a:rPr>
              <a:t>S </a:t>
            </a:r>
            <a:r>
              <a:rPr lang="zh-CN" altLang="en-US">
                <a:solidFill>
                  <a:schemeClr val="tx1"/>
                </a:solidFill>
                <a:ea typeface="楷体_GB2312" charset="0"/>
              </a:rPr>
              <a:t>已存在。</a:t>
            </a:r>
            <a:br>
              <a:rPr lang="zh-CN" altLang="en-US">
                <a:solidFill>
                  <a:schemeClr val="tx1"/>
                </a:solidFill>
                <a:ea typeface="楷体_GB2312" charset="0"/>
              </a:rPr>
            </a:br>
            <a:r>
              <a:rPr lang="zh-CN" altLang="en-US">
                <a:solidFill>
                  <a:schemeClr val="tx1"/>
                </a:solidFill>
                <a:ea typeface="楷体_GB2312" charset="0"/>
              </a:rPr>
              <a:t>    </a:t>
            </a:r>
            <a:r>
              <a:rPr lang="zh-CN" altLang="en-US">
                <a:solidFill>
                  <a:srgbClr val="0000FF"/>
                </a:solidFill>
                <a:ea typeface="楷体_GB2312" charset="0"/>
              </a:rPr>
              <a:t>操作结果</a:t>
            </a:r>
            <a:r>
              <a:rPr lang="zh-CN" altLang="en-US">
                <a:solidFill>
                  <a:schemeClr val="tx1"/>
                </a:solidFill>
                <a:ea typeface="楷体_GB2312" charset="0"/>
              </a:rPr>
              <a:t>：栈 </a:t>
            </a:r>
            <a:r>
              <a:rPr lang="en-US" altLang="zh-CN">
                <a:solidFill>
                  <a:schemeClr val="tx1"/>
                </a:solidFill>
                <a:ea typeface="楷体_GB2312" charset="0"/>
              </a:rPr>
              <a:t>S </a:t>
            </a:r>
            <a:r>
              <a:rPr lang="zh-CN" altLang="en-US">
                <a:solidFill>
                  <a:schemeClr val="tx1"/>
                </a:solidFill>
                <a:ea typeface="楷体_GB2312" charset="0"/>
              </a:rPr>
              <a:t>被销毁。</a:t>
            </a:r>
            <a:endParaRPr lang="zh-CN" altLang="en-US">
              <a:solidFill>
                <a:schemeClr val="tx1"/>
              </a:solidFill>
              <a:ea typeface="楷体_GB2312"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Grp="1" noChangeArrowheads="1"/>
          </p:cNvSpPr>
          <p:nvPr>
            <p:ph type="title" idx="4294967295"/>
          </p:nvPr>
        </p:nvSpPr>
        <p:spPr>
          <a:xfrm>
            <a:off x="685800" y="1981200"/>
            <a:ext cx="7772400" cy="1143000"/>
          </a:xfrm>
        </p:spPr>
        <p:txBody>
          <a:bodyPr>
            <a:normAutofit fontScale="90000"/>
          </a:bodyPr>
          <a:lstStyle/>
          <a:p>
            <a:pPr>
              <a:lnSpc>
                <a:spcPct val="120000"/>
              </a:lnSpc>
            </a:pPr>
            <a:br>
              <a:rPr lang="zh-CN" altLang="en-US">
                <a:solidFill>
                  <a:schemeClr val="tx1"/>
                </a:solidFill>
                <a:ea typeface="楷体_GB2312" charset="0"/>
              </a:rPr>
            </a:br>
            <a:r>
              <a:rPr lang="en-US" altLang="zh-CN">
                <a:solidFill>
                  <a:srgbClr val="FF0000"/>
                </a:solidFill>
                <a:ea typeface="楷体_GB2312" charset="0"/>
              </a:rPr>
              <a:t>StackEmpty(S)</a:t>
            </a:r>
            <a:br>
              <a:rPr lang="en-US" altLang="zh-CN">
                <a:solidFill>
                  <a:srgbClr val="FF0000"/>
                </a:solidFill>
                <a:ea typeface="楷体_GB2312" charset="0"/>
              </a:rPr>
            </a:br>
            <a:r>
              <a:rPr lang="zh-CN" altLang="en-US">
                <a:solidFill>
                  <a:srgbClr val="0000FF"/>
                </a:solidFill>
                <a:ea typeface="楷体_GB2312" charset="0"/>
              </a:rPr>
              <a:t>初始条件</a:t>
            </a:r>
            <a:r>
              <a:rPr lang="zh-CN" altLang="en-US">
                <a:solidFill>
                  <a:schemeClr val="tx1"/>
                </a:solidFill>
                <a:ea typeface="楷体_GB2312" charset="0"/>
              </a:rPr>
              <a:t>：栈 </a:t>
            </a:r>
            <a:r>
              <a:rPr lang="en-US" altLang="zh-CN">
                <a:solidFill>
                  <a:schemeClr val="tx1"/>
                </a:solidFill>
                <a:ea typeface="楷体_GB2312" charset="0"/>
              </a:rPr>
              <a:t>S </a:t>
            </a:r>
            <a:r>
              <a:rPr lang="zh-CN" altLang="en-US">
                <a:solidFill>
                  <a:schemeClr val="tx1"/>
                </a:solidFill>
                <a:ea typeface="楷体_GB2312" charset="0"/>
              </a:rPr>
              <a:t>已存在。</a:t>
            </a:r>
            <a:br>
              <a:rPr lang="zh-CN" altLang="en-US">
                <a:solidFill>
                  <a:schemeClr val="tx1"/>
                </a:solidFill>
                <a:ea typeface="楷体_GB2312" charset="0"/>
              </a:rPr>
            </a:br>
            <a:r>
              <a:rPr lang="zh-CN" altLang="en-US">
                <a:solidFill>
                  <a:schemeClr val="tx1"/>
                </a:solidFill>
                <a:ea typeface="楷体_GB2312" charset="0"/>
              </a:rPr>
              <a:t>    </a:t>
            </a:r>
            <a:r>
              <a:rPr lang="zh-CN" altLang="en-US">
                <a:solidFill>
                  <a:srgbClr val="0000FF"/>
                </a:solidFill>
                <a:ea typeface="楷体_GB2312" charset="0"/>
              </a:rPr>
              <a:t> 操作结果</a:t>
            </a:r>
            <a:r>
              <a:rPr lang="zh-CN" altLang="en-US">
                <a:solidFill>
                  <a:schemeClr val="tx1"/>
                </a:solidFill>
                <a:ea typeface="楷体_GB2312" charset="0"/>
              </a:rPr>
              <a:t>：若栈 </a:t>
            </a:r>
            <a:r>
              <a:rPr lang="en-US" altLang="zh-CN">
                <a:solidFill>
                  <a:schemeClr val="tx1"/>
                </a:solidFill>
                <a:ea typeface="楷体_GB2312" charset="0"/>
              </a:rPr>
              <a:t>S </a:t>
            </a:r>
            <a:r>
              <a:rPr lang="zh-CN" altLang="en-US">
                <a:solidFill>
                  <a:schemeClr val="tx1"/>
                </a:solidFill>
                <a:ea typeface="楷体_GB2312" charset="0"/>
              </a:rPr>
              <a:t>为空栈，则返回 </a:t>
            </a:r>
            <a:r>
              <a:rPr lang="en-US" altLang="zh-CN">
                <a:solidFill>
                  <a:schemeClr val="tx1"/>
                </a:solidFill>
                <a:ea typeface="楷体_GB2312" charset="0"/>
              </a:rPr>
              <a:t>TRUE</a:t>
            </a:r>
            <a:r>
              <a:rPr lang="zh-CN" altLang="en-US">
                <a:solidFill>
                  <a:schemeClr val="tx1"/>
                </a:solidFill>
                <a:ea typeface="楷体_GB2312" charset="0"/>
              </a:rPr>
              <a:t>，否则 </a:t>
            </a:r>
            <a:r>
              <a:rPr lang="en-US" altLang="zh-CN">
                <a:solidFill>
                  <a:schemeClr val="tx1"/>
                </a:solidFill>
                <a:ea typeface="楷体_GB2312" charset="0"/>
              </a:rPr>
              <a:t>FAL</a:t>
            </a:r>
            <a:r>
              <a:rPr lang="en-US" altLang="zh-CN">
                <a:solidFill>
                  <a:schemeClr val="tx1"/>
                </a:solidFill>
                <a:ea typeface="楷体_GB2312" charset="0"/>
              </a:rPr>
              <a:t>SE</a:t>
            </a:r>
            <a:r>
              <a:rPr lang="zh-CN" altLang="en-US">
                <a:solidFill>
                  <a:schemeClr val="tx1"/>
                </a:solidFill>
                <a:ea typeface="楷体_GB2312" charset="0"/>
              </a:rPr>
              <a:t>。</a:t>
            </a:r>
            <a:endParaRPr lang="zh-CN" altLang="en-US">
              <a:solidFill>
                <a:schemeClr val="tx1"/>
              </a:solidFill>
              <a:ea typeface="楷体_GB2312"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idx="4294967295"/>
          </p:nvPr>
        </p:nvSpPr>
        <p:spPr>
          <a:xfrm>
            <a:off x="685800" y="2057400"/>
            <a:ext cx="7772400" cy="1143000"/>
          </a:xfrm>
        </p:spPr>
        <p:txBody>
          <a:bodyPr>
            <a:normAutofit fontScale="90000"/>
          </a:bodyPr>
          <a:lstStyle/>
          <a:p>
            <a:pPr>
              <a:lnSpc>
                <a:spcPct val="120000"/>
              </a:lnSpc>
            </a:pPr>
            <a:br>
              <a:rPr lang="zh-CN" altLang="en-US">
                <a:solidFill>
                  <a:schemeClr val="tx1"/>
                </a:solidFill>
                <a:ea typeface="楷体_GB2312" charset="0"/>
              </a:rPr>
            </a:br>
            <a:r>
              <a:rPr lang="en-US" altLang="zh-CN">
                <a:solidFill>
                  <a:srgbClr val="FF0000"/>
                </a:solidFill>
                <a:ea typeface="楷体_GB2312" charset="0"/>
              </a:rPr>
              <a:t>StackLength(S)</a:t>
            </a:r>
            <a:br>
              <a:rPr lang="en-US" altLang="zh-CN">
                <a:solidFill>
                  <a:srgbClr val="FF0000"/>
                </a:solidFill>
                <a:ea typeface="楷体_GB2312" charset="0"/>
              </a:rPr>
            </a:br>
            <a:r>
              <a:rPr lang="zh-CN" altLang="en-US">
                <a:solidFill>
                  <a:srgbClr val="0000FF"/>
                </a:solidFill>
                <a:ea typeface="楷体_GB2312" charset="0"/>
              </a:rPr>
              <a:t>初始条件</a:t>
            </a:r>
            <a:r>
              <a:rPr lang="zh-CN" altLang="en-US">
                <a:solidFill>
                  <a:schemeClr val="tx1"/>
                </a:solidFill>
                <a:ea typeface="楷体_GB2312" charset="0"/>
              </a:rPr>
              <a:t>：栈 </a:t>
            </a:r>
            <a:r>
              <a:rPr lang="en-US" altLang="zh-CN">
                <a:solidFill>
                  <a:schemeClr val="tx1"/>
                </a:solidFill>
                <a:ea typeface="楷体_GB2312" charset="0"/>
              </a:rPr>
              <a:t>S </a:t>
            </a:r>
            <a:r>
              <a:rPr lang="zh-CN" altLang="en-US">
                <a:solidFill>
                  <a:schemeClr val="tx1"/>
                </a:solidFill>
                <a:ea typeface="楷体_GB2312" charset="0"/>
              </a:rPr>
              <a:t>已存在。</a:t>
            </a:r>
            <a:br>
              <a:rPr lang="zh-CN" altLang="en-US">
                <a:solidFill>
                  <a:schemeClr val="tx1"/>
                </a:solidFill>
                <a:ea typeface="楷体_GB2312" charset="0"/>
              </a:rPr>
            </a:br>
            <a:r>
              <a:rPr lang="zh-CN" altLang="en-US">
                <a:solidFill>
                  <a:schemeClr val="tx1"/>
                </a:solidFill>
                <a:ea typeface="楷体_GB2312" charset="0"/>
              </a:rPr>
              <a:t>     </a:t>
            </a:r>
            <a:r>
              <a:rPr lang="zh-CN" altLang="en-US">
                <a:solidFill>
                  <a:srgbClr val="0000FF"/>
                </a:solidFill>
                <a:ea typeface="楷体_GB2312" charset="0"/>
              </a:rPr>
              <a:t>操作结果</a:t>
            </a:r>
            <a:r>
              <a:rPr lang="zh-CN" altLang="en-US">
                <a:solidFill>
                  <a:schemeClr val="tx1"/>
                </a:solidFill>
                <a:ea typeface="楷体_GB2312" charset="0"/>
              </a:rPr>
              <a:t>：返回 </a:t>
            </a:r>
            <a:r>
              <a:rPr lang="en-US" altLang="zh-CN">
                <a:solidFill>
                  <a:schemeClr val="tx1"/>
                </a:solidFill>
                <a:ea typeface="楷体_GB2312" charset="0"/>
              </a:rPr>
              <a:t>S </a:t>
            </a:r>
            <a:r>
              <a:rPr lang="zh-CN" altLang="en-US">
                <a:solidFill>
                  <a:schemeClr val="tx1"/>
                </a:solidFill>
                <a:ea typeface="楷体_GB2312" charset="0"/>
              </a:rPr>
              <a:t>的元素个数，即栈的长度。</a:t>
            </a:r>
            <a:endParaRPr lang="zh-CN" altLang="en-US">
              <a:solidFill>
                <a:schemeClr val="tx1"/>
              </a:solidFill>
              <a:ea typeface="楷体_GB2312"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idx="4294967295"/>
          </p:nvPr>
        </p:nvSpPr>
        <p:spPr>
          <a:xfrm>
            <a:off x="609600" y="1905000"/>
            <a:ext cx="7772400" cy="1143000"/>
          </a:xfrm>
        </p:spPr>
        <p:txBody>
          <a:bodyPr>
            <a:normAutofit fontScale="90000"/>
          </a:bodyPr>
          <a:lstStyle/>
          <a:p>
            <a:pPr>
              <a:lnSpc>
                <a:spcPct val="120000"/>
              </a:lnSpc>
            </a:pPr>
            <a:br>
              <a:rPr lang="zh-CN" altLang="en-US">
                <a:solidFill>
                  <a:schemeClr val="tx1"/>
                </a:solidFill>
                <a:ea typeface="楷体_GB2312" charset="0"/>
              </a:rPr>
            </a:br>
            <a:r>
              <a:rPr lang="zh-CN" altLang="en-US">
                <a:solidFill>
                  <a:schemeClr val="tx1"/>
                </a:solidFill>
                <a:ea typeface="楷体_GB2312" charset="0"/>
              </a:rPr>
              <a:t>  </a:t>
            </a:r>
            <a:r>
              <a:rPr lang="en-US" altLang="zh-CN">
                <a:solidFill>
                  <a:srgbClr val="FF0000"/>
                </a:solidFill>
                <a:ea typeface="楷体_GB2312" charset="0"/>
              </a:rPr>
              <a:t>GetTop(S, </a:t>
            </a:r>
            <a:r>
              <a:rPr lang="en-US" altLang="zh-CN" b="0">
                <a:solidFill>
                  <a:srgbClr val="FF0000"/>
                </a:solidFill>
                <a:ea typeface="楷体_GB2312" charset="0"/>
              </a:rPr>
              <a:t>&amp;</a:t>
            </a:r>
            <a:r>
              <a:rPr lang="en-US" altLang="zh-CN">
                <a:solidFill>
                  <a:srgbClr val="FF0000"/>
                </a:solidFill>
                <a:ea typeface="楷体_GB2312" charset="0"/>
              </a:rPr>
              <a:t>e)</a:t>
            </a:r>
            <a:br>
              <a:rPr lang="en-US" altLang="zh-CN">
                <a:solidFill>
                  <a:srgbClr val="FF0000"/>
                </a:solidFill>
                <a:ea typeface="楷体_GB2312" charset="0"/>
              </a:rPr>
            </a:br>
            <a:r>
              <a:rPr lang="en-US" altLang="zh-CN">
                <a:solidFill>
                  <a:schemeClr val="tx1"/>
                </a:solidFill>
                <a:ea typeface="楷体_GB2312" charset="0"/>
              </a:rPr>
              <a:t>  </a:t>
            </a:r>
            <a:r>
              <a:rPr lang="zh-CN" altLang="en-US">
                <a:solidFill>
                  <a:srgbClr val="0000FF"/>
                </a:solidFill>
                <a:ea typeface="楷体_GB2312" charset="0"/>
              </a:rPr>
              <a:t>初始条件</a:t>
            </a:r>
            <a:r>
              <a:rPr lang="zh-CN" altLang="en-US">
                <a:solidFill>
                  <a:schemeClr val="tx1"/>
                </a:solidFill>
                <a:ea typeface="楷体_GB2312" charset="0"/>
              </a:rPr>
              <a:t>：栈 </a:t>
            </a:r>
            <a:r>
              <a:rPr lang="en-US" altLang="zh-CN">
                <a:solidFill>
                  <a:schemeClr val="tx1"/>
                </a:solidFill>
                <a:ea typeface="楷体_GB2312" charset="0"/>
              </a:rPr>
              <a:t>S </a:t>
            </a:r>
            <a:r>
              <a:rPr lang="zh-CN" altLang="en-US">
                <a:solidFill>
                  <a:schemeClr val="tx1"/>
                </a:solidFill>
                <a:ea typeface="楷体_GB2312" charset="0"/>
              </a:rPr>
              <a:t>已存在且非空。</a:t>
            </a:r>
            <a:r>
              <a:rPr lang="zh-CN" altLang="en-US">
                <a:solidFill>
                  <a:srgbClr val="0000FF"/>
                </a:solidFill>
                <a:ea typeface="楷体_GB2312" charset="0"/>
              </a:rPr>
              <a:t>操作结果</a:t>
            </a:r>
            <a:r>
              <a:rPr lang="zh-CN" altLang="en-US">
                <a:solidFill>
                  <a:schemeClr val="tx1"/>
                </a:solidFill>
                <a:ea typeface="楷体_GB2312" charset="0"/>
              </a:rPr>
              <a:t>：用 </a:t>
            </a:r>
            <a:r>
              <a:rPr lang="en-US" altLang="zh-CN">
                <a:solidFill>
                  <a:schemeClr val="tx1"/>
                </a:solidFill>
                <a:ea typeface="楷体_GB2312" charset="0"/>
              </a:rPr>
              <a:t>e </a:t>
            </a:r>
            <a:r>
              <a:rPr lang="zh-CN" altLang="en-US">
                <a:solidFill>
                  <a:schemeClr val="tx1"/>
                </a:solidFill>
                <a:ea typeface="楷体_GB2312" charset="0"/>
              </a:rPr>
              <a:t>返回 </a:t>
            </a:r>
            <a:r>
              <a:rPr lang="en-US" altLang="zh-CN">
                <a:solidFill>
                  <a:schemeClr val="tx1"/>
                </a:solidFill>
                <a:ea typeface="楷体_GB2312" charset="0"/>
              </a:rPr>
              <a:t>S </a:t>
            </a:r>
            <a:r>
              <a:rPr lang="zh-CN" altLang="en-US">
                <a:solidFill>
                  <a:schemeClr val="tx1"/>
                </a:solidFill>
                <a:ea typeface="楷体_GB2312" charset="0"/>
              </a:rPr>
              <a:t>的栈顶元素。</a:t>
            </a:r>
            <a:endParaRPr lang="zh-CN" altLang="en-US">
              <a:solidFill>
                <a:schemeClr val="tx1"/>
              </a:solidFill>
              <a:ea typeface="楷体_GB2312" charset="0"/>
            </a:endParaRPr>
          </a:p>
        </p:txBody>
      </p:sp>
      <p:sp>
        <p:nvSpPr>
          <p:cNvPr id="1035268" name="Line 4"/>
          <p:cNvSpPr>
            <a:spLocks noChangeShapeType="1"/>
          </p:cNvSpPr>
          <p:nvPr/>
        </p:nvSpPr>
        <p:spPr bwMode="auto">
          <a:xfrm>
            <a:off x="1066800" y="4495800"/>
            <a:ext cx="0" cy="1295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5269" name="Line 5"/>
          <p:cNvSpPr>
            <a:spLocks noChangeShapeType="1"/>
          </p:cNvSpPr>
          <p:nvPr/>
        </p:nvSpPr>
        <p:spPr bwMode="auto">
          <a:xfrm>
            <a:off x="1066800" y="4724400"/>
            <a:ext cx="5562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5270" name="Line 6"/>
          <p:cNvSpPr>
            <a:spLocks noChangeShapeType="1"/>
          </p:cNvSpPr>
          <p:nvPr/>
        </p:nvSpPr>
        <p:spPr bwMode="auto">
          <a:xfrm>
            <a:off x="1066800" y="5562600"/>
            <a:ext cx="5562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5271" name="Text Box 7"/>
          <p:cNvSpPr txBox="1">
            <a:spLocks noChangeArrowheads="1"/>
          </p:cNvSpPr>
          <p:nvPr/>
        </p:nvSpPr>
        <p:spPr bwMode="auto">
          <a:xfrm>
            <a:off x="10858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1</a:t>
            </a:r>
            <a:endParaRPr lang="en-US" altLang="zh-CN" sz="4000"/>
          </a:p>
        </p:txBody>
      </p:sp>
      <p:sp>
        <p:nvSpPr>
          <p:cNvPr id="1035272" name="Text Box 8"/>
          <p:cNvSpPr txBox="1">
            <a:spLocks noChangeArrowheads="1"/>
          </p:cNvSpPr>
          <p:nvPr/>
        </p:nvSpPr>
        <p:spPr bwMode="auto">
          <a:xfrm>
            <a:off x="16954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2</a:t>
            </a:r>
            <a:endParaRPr lang="en-US" altLang="zh-CN" sz="4000"/>
          </a:p>
        </p:txBody>
      </p:sp>
      <p:sp>
        <p:nvSpPr>
          <p:cNvPr id="1035273" name="Text Box 9"/>
          <p:cNvSpPr txBox="1">
            <a:spLocks noChangeArrowheads="1"/>
          </p:cNvSpPr>
          <p:nvPr/>
        </p:nvSpPr>
        <p:spPr bwMode="auto">
          <a:xfrm>
            <a:off x="46672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n</a:t>
            </a:r>
            <a:endParaRPr lang="en-US" altLang="zh-CN" sz="4000"/>
          </a:p>
        </p:txBody>
      </p:sp>
      <p:sp>
        <p:nvSpPr>
          <p:cNvPr id="1035274" name="Line 10"/>
          <p:cNvSpPr>
            <a:spLocks noChangeShapeType="1"/>
          </p:cNvSpPr>
          <p:nvPr/>
        </p:nvSpPr>
        <p:spPr bwMode="auto">
          <a:xfrm flipV="1">
            <a:off x="4953000" y="5562600"/>
            <a:ext cx="0" cy="68580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5275" name="Text Box 11"/>
          <p:cNvSpPr txBox="1">
            <a:spLocks noChangeArrowheads="1"/>
          </p:cNvSpPr>
          <p:nvPr/>
        </p:nvSpPr>
        <p:spPr bwMode="auto">
          <a:xfrm>
            <a:off x="2711450" y="4721225"/>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FF0000"/>
                </a:solidFill>
              </a:rPr>
              <a:t>… …</a:t>
            </a:r>
            <a:endParaRPr lang="en-US" altLang="zh-CN" sz="400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idx="4294967295"/>
          </p:nvPr>
        </p:nvSpPr>
        <p:spPr>
          <a:xfrm>
            <a:off x="685800" y="2514600"/>
            <a:ext cx="7772400" cy="1143000"/>
          </a:xfrm>
        </p:spPr>
        <p:txBody>
          <a:bodyPr>
            <a:normAutofit fontScale="90000"/>
          </a:bodyPr>
          <a:lstStyle/>
          <a:p>
            <a:pPr>
              <a:lnSpc>
                <a:spcPct val="120000"/>
              </a:lnSpc>
            </a:pPr>
            <a:r>
              <a:rPr lang="zh-CN" altLang="en-US">
                <a:solidFill>
                  <a:schemeClr val="tx1"/>
                </a:solidFill>
                <a:ea typeface="楷体_GB2312" charset="0"/>
              </a:rPr>
              <a:t>  </a:t>
            </a:r>
            <a:r>
              <a:rPr lang="en-US" altLang="zh-CN">
                <a:solidFill>
                  <a:srgbClr val="FF0000"/>
                </a:solidFill>
                <a:ea typeface="楷体_GB2312" charset="0"/>
              </a:rPr>
              <a:t>ClearStack(</a:t>
            </a:r>
            <a:r>
              <a:rPr lang="en-US" altLang="zh-CN" b="0">
                <a:solidFill>
                  <a:srgbClr val="FF0000"/>
                </a:solidFill>
                <a:ea typeface="楷体_GB2312" charset="0"/>
              </a:rPr>
              <a:t>&amp;</a:t>
            </a:r>
            <a:r>
              <a:rPr lang="en-US" altLang="zh-CN">
                <a:solidFill>
                  <a:srgbClr val="FF0000"/>
                </a:solidFill>
                <a:ea typeface="楷体_GB2312" charset="0"/>
              </a:rPr>
              <a:t>S)</a:t>
            </a:r>
            <a:br>
              <a:rPr lang="en-US" altLang="zh-CN">
                <a:solidFill>
                  <a:srgbClr val="FF0000"/>
                </a:solidFill>
                <a:ea typeface="楷体_GB2312" charset="0"/>
              </a:rPr>
            </a:br>
            <a:r>
              <a:rPr lang="zh-CN" altLang="en-US">
                <a:solidFill>
                  <a:srgbClr val="0000FF"/>
                </a:solidFill>
                <a:ea typeface="楷体_GB2312" charset="0"/>
              </a:rPr>
              <a:t>初始条件</a:t>
            </a:r>
            <a:r>
              <a:rPr lang="zh-CN" altLang="en-US">
                <a:solidFill>
                  <a:schemeClr val="tx1"/>
                </a:solidFill>
                <a:ea typeface="楷体_GB2312" charset="0"/>
              </a:rPr>
              <a:t>：栈 </a:t>
            </a:r>
            <a:r>
              <a:rPr lang="en-US" altLang="zh-CN">
                <a:solidFill>
                  <a:schemeClr val="tx1"/>
                </a:solidFill>
                <a:ea typeface="楷体_GB2312" charset="0"/>
              </a:rPr>
              <a:t>S </a:t>
            </a:r>
            <a:r>
              <a:rPr lang="zh-CN" altLang="en-US">
                <a:solidFill>
                  <a:schemeClr val="tx1"/>
                </a:solidFill>
                <a:ea typeface="楷体_GB2312" charset="0"/>
              </a:rPr>
              <a:t>已存在。</a:t>
            </a:r>
            <a:br>
              <a:rPr lang="zh-CN" altLang="en-US">
                <a:solidFill>
                  <a:schemeClr val="tx1"/>
                </a:solidFill>
                <a:ea typeface="楷体_GB2312" charset="0"/>
              </a:rPr>
            </a:br>
            <a:r>
              <a:rPr lang="zh-CN" altLang="en-US">
                <a:solidFill>
                  <a:schemeClr val="tx1"/>
                </a:solidFill>
                <a:ea typeface="楷体_GB2312" charset="0"/>
              </a:rPr>
              <a:t>    </a:t>
            </a:r>
            <a:r>
              <a:rPr lang="zh-CN" altLang="en-US">
                <a:solidFill>
                  <a:srgbClr val="0000FF"/>
                </a:solidFill>
                <a:ea typeface="楷体_GB2312" charset="0"/>
              </a:rPr>
              <a:t>操作结果</a:t>
            </a:r>
            <a:r>
              <a:rPr lang="zh-CN" altLang="en-US">
                <a:solidFill>
                  <a:schemeClr val="tx1"/>
                </a:solidFill>
                <a:ea typeface="楷体_GB2312" charset="0"/>
              </a:rPr>
              <a:t>：将 </a:t>
            </a:r>
            <a:r>
              <a:rPr lang="en-US" altLang="zh-CN">
                <a:solidFill>
                  <a:schemeClr val="tx1"/>
                </a:solidFill>
                <a:ea typeface="楷体_GB2312" charset="0"/>
              </a:rPr>
              <a:t>S </a:t>
            </a:r>
            <a:r>
              <a:rPr lang="zh-CN" altLang="en-US">
                <a:solidFill>
                  <a:schemeClr val="tx1"/>
                </a:solidFill>
                <a:ea typeface="楷体_GB2312" charset="0"/>
              </a:rPr>
              <a:t>清为空栈。</a:t>
            </a:r>
            <a:br>
              <a:rPr lang="zh-CN" altLang="en-US">
                <a:solidFill>
                  <a:schemeClr val="tx1"/>
                </a:solidFill>
                <a:ea typeface="楷体_GB2312" charset="0"/>
              </a:rPr>
            </a:br>
            <a:endParaRPr lang="zh-CN" altLang="en-US">
              <a:solidFill>
                <a:schemeClr val="tx1"/>
              </a:solidFill>
              <a:ea typeface="楷体_GB2312" charset="0"/>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Rectangle 2"/>
          <p:cNvSpPr>
            <a:spLocks noGrp="1" noChangeArrowheads="1"/>
          </p:cNvSpPr>
          <p:nvPr>
            <p:ph type="title" idx="4294967295"/>
          </p:nvPr>
        </p:nvSpPr>
        <p:spPr>
          <a:xfrm>
            <a:off x="762000" y="2590800"/>
            <a:ext cx="7772400" cy="1143000"/>
          </a:xfrm>
        </p:spPr>
        <p:txBody>
          <a:bodyPr>
            <a:normAutofit fontScale="90000"/>
          </a:bodyPr>
          <a:lstStyle/>
          <a:p>
            <a:pPr>
              <a:lnSpc>
                <a:spcPct val="120000"/>
              </a:lnSpc>
            </a:pPr>
            <a:r>
              <a:rPr lang="en-US" altLang="zh-CN">
                <a:solidFill>
                  <a:srgbClr val="FF0000"/>
                </a:solidFill>
                <a:ea typeface="楷体_GB2312" charset="0"/>
              </a:rPr>
              <a:t>Push(</a:t>
            </a:r>
            <a:r>
              <a:rPr lang="en-US" altLang="zh-CN" b="0">
                <a:solidFill>
                  <a:srgbClr val="FF0000"/>
                </a:solidFill>
                <a:ea typeface="楷体_GB2312" charset="0"/>
              </a:rPr>
              <a:t>&amp;</a:t>
            </a:r>
            <a:r>
              <a:rPr lang="en-US" altLang="zh-CN">
                <a:solidFill>
                  <a:srgbClr val="FF0000"/>
                </a:solidFill>
                <a:ea typeface="楷体_GB2312" charset="0"/>
              </a:rPr>
              <a:t>S, e)</a:t>
            </a:r>
            <a:br>
              <a:rPr lang="en-US" altLang="zh-CN">
                <a:solidFill>
                  <a:srgbClr val="FF0000"/>
                </a:solidFill>
                <a:ea typeface="楷体_GB2312" charset="0"/>
              </a:rPr>
            </a:br>
            <a:r>
              <a:rPr lang="en-US" altLang="zh-CN">
                <a:solidFill>
                  <a:srgbClr val="FF0000"/>
                </a:solidFill>
                <a:ea typeface="楷体_GB2312" charset="0"/>
              </a:rPr>
              <a:t> </a:t>
            </a:r>
            <a:r>
              <a:rPr lang="zh-CN" altLang="en-US">
                <a:solidFill>
                  <a:srgbClr val="0000FF"/>
                </a:solidFill>
                <a:ea typeface="楷体_GB2312" charset="0"/>
              </a:rPr>
              <a:t>初始条件</a:t>
            </a:r>
            <a:r>
              <a:rPr lang="zh-CN" altLang="en-US">
                <a:solidFill>
                  <a:schemeClr val="tx1"/>
                </a:solidFill>
                <a:ea typeface="楷体_GB2312" charset="0"/>
              </a:rPr>
              <a:t>：栈 </a:t>
            </a:r>
            <a:r>
              <a:rPr lang="en-US" altLang="zh-CN">
                <a:solidFill>
                  <a:schemeClr val="tx1"/>
                </a:solidFill>
                <a:ea typeface="楷体_GB2312" charset="0"/>
              </a:rPr>
              <a:t>S </a:t>
            </a:r>
            <a:r>
              <a:rPr lang="zh-CN" altLang="en-US">
                <a:solidFill>
                  <a:schemeClr val="tx1"/>
                </a:solidFill>
                <a:ea typeface="楷体_GB2312" charset="0"/>
              </a:rPr>
              <a:t>已存在。</a:t>
            </a:r>
            <a:br>
              <a:rPr lang="zh-CN" altLang="en-US">
                <a:solidFill>
                  <a:schemeClr val="tx1"/>
                </a:solidFill>
                <a:ea typeface="楷体_GB2312" charset="0"/>
              </a:rPr>
            </a:br>
            <a:r>
              <a:rPr lang="zh-CN" altLang="en-US">
                <a:solidFill>
                  <a:schemeClr val="tx1"/>
                </a:solidFill>
                <a:ea typeface="楷体_GB2312" charset="0"/>
              </a:rPr>
              <a:t>     </a:t>
            </a:r>
            <a:r>
              <a:rPr lang="zh-CN" altLang="en-US">
                <a:solidFill>
                  <a:srgbClr val="0000FF"/>
                </a:solidFill>
                <a:ea typeface="楷体_GB2312" charset="0"/>
              </a:rPr>
              <a:t>操作结果</a:t>
            </a:r>
            <a:r>
              <a:rPr lang="zh-CN" altLang="en-US">
                <a:solidFill>
                  <a:schemeClr val="tx1"/>
                </a:solidFill>
                <a:ea typeface="楷体_GB2312" charset="0"/>
              </a:rPr>
              <a:t>：插入元素 </a:t>
            </a:r>
            <a:r>
              <a:rPr lang="en-US" altLang="zh-CN">
                <a:solidFill>
                  <a:schemeClr val="tx1"/>
                </a:solidFill>
                <a:ea typeface="楷体_GB2312" charset="0"/>
              </a:rPr>
              <a:t>e </a:t>
            </a:r>
            <a:r>
              <a:rPr lang="zh-CN" altLang="en-US">
                <a:solidFill>
                  <a:schemeClr val="tx1"/>
                </a:solidFill>
                <a:ea typeface="楷体_GB2312" charset="0"/>
              </a:rPr>
              <a:t>为新的栈顶元素。</a:t>
            </a:r>
            <a:br>
              <a:rPr lang="zh-CN" altLang="en-US">
                <a:solidFill>
                  <a:schemeClr val="tx1"/>
                </a:solidFill>
                <a:ea typeface="楷体_GB2312" charset="0"/>
              </a:rPr>
            </a:br>
            <a:endParaRPr lang="zh-CN" altLang="en-US">
              <a:solidFill>
                <a:schemeClr val="tx1"/>
              </a:solidFill>
              <a:ea typeface="楷体_GB2312" charset="0"/>
            </a:endParaRPr>
          </a:p>
        </p:txBody>
      </p:sp>
      <p:sp>
        <p:nvSpPr>
          <p:cNvPr id="1037316" name="Line 4"/>
          <p:cNvSpPr>
            <a:spLocks noChangeShapeType="1"/>
          </p:cNvSpPr>
          <p:nvPr/>
        </p:nvSpPr>
        <p:spPr bwMode="auto">
          <a:xfrm>
            <a:off x="1066800" y="4495800"/>
            <a:ext cx="0" cy="1295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7317" name="Line 5"/>
          <p:cNvSpPr>
            <a:spLocks noChangeShapeType="1"/>
          </p:cNvSpPr>
          <p:nvPr/>
        </p:nvSpPr>
        <p:spPr bwMode="auto">
          <a:xfrm>
            <a:off x="1066800" y="4724400"/>
            <a:ext cx="5562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7318" name="Line 6"/>
          <p:cNvSpPr>
            <a:spLocks noChangeShapeType="1"/>
          </p:cNvSpPr>
          <p:nvPr/>
        </p:nvSpPr>
        <p:spPr bwMode="auto">
          <a:xfrm>
            <a:off x="1066800" y="5562600"/>
            <a:ext cx="5562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7319" name="Text Box 7"/>
          <p:cNvSpPr txBox="1">
            <a:spLocks noChangeArrowheads="1"/>
          </p:cNvSpPr>
          <p:nvPr/>
        </p:nvSpPr>
        <p:spPr bwMode="auto">
          <a:xfrm>
            <a:off x="10858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1</a:t>
            </a:r>
            <a:endParaRPr lang="en-US" altLang="zh-CN" sz="4000"/>
          </a:p>
        </p:txBody>
      </p:sp>
      <p:sp>
        <p:nvSpPr>
          <p:cNvPr id="1037320" name="Text Box 8"/>
          <p:cNvSpPr txBox="1">
            <a:spLocks noChangeArrowheads="1"/>
          </p:cNvSpPr>
          <p:nvPr/>
        </p:nvSpPr>
        <p:spPr bwMode="auto">
          <a:xfrm>
            <a:off x="16954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2</a:t>
            </a:r>
            <a:endParaRPr lang="en-US" altLang="zh-CN" sz="4000"/>
          </a:p>
        </p:txBody>
      </p:sp>
      <p:sp>
        <p:nvSpPr>
          <p:cNvPr id="1037321" name="Text Box 9"/>
          <p:cNvSpPr txBox="1">
            <a:spLocks noChangeArrowheads="1"/>
          </p:cNvSpPr>
          <p:nvPr/>
        </p:nvSpPr>
        <p:spPr bwMode="auto">
          <a:xfrm>
            <a:off x="46672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n</a:t>
            </a:r>
            <a:endParaRPr lang="en-US" altLang="zh-CN" sz="4000"/>
          </a:p>
        </p:txBody>
      </p:sp>
      <p:sp>
        <p:nvSpPr>
          <p:cNvPr id="1037322" name="Line 10"/>
          <p:cNvSpPr>
            <a:spLocks noChangeShapeType="1"/>
          </p:cNvSpPr>
          <p:nvPr/>
        </p:nvSpPr>
        <p:spPr bwMode="auto">
          <a:xfrm flipV="1">
            <a:off x="5562600" y="5562600"/>
            <a:ext cx="0" cy="68580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7323" name="Text Box 11"/>
          <p:cNvSpPr txBox="1">
            <a:spLocks noChangeArrowheads="1"/>
          </p:cNvSpPr>
          <p:nvPr/>
        </p:nvSpPr>
        <p:spPr bwMode="auto">
          <a:xfrm>
            <a:off x="5292725" y="4775200"/>
            <a:ext cx="54610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e </a:t>
            </a:r>
            <a:endParaRPr lang="en-US" altLang="zh-CN" sz="4000"/>
          </a:p>
        </p:txBody>
      </p:sp>
      <p:sp>
        <p:nvSpPr>
          <p:cNvPr id="1037324" name="Text Box 12"/>
          <p:cNvSpPr txBox="1">
            <a:spLocks noChangeArrowheads="1"/>
          </p:cNvSpPr>
          <p:nvPr/>
        </p:nvSpPr>
        <p:spPr bwMode="auto">
          <a:xfrm>
            <a:off x="2711450" y="4721225"/>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FF0000"/>
                </a:solidFill>
              </a:rPr>
              <a:t>… …</a:t>
            </a:r>
            <a:endParaRPr lang="en-US" altLang="zh-CN"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37323"/>
                                        </p:tgtEl>
                                        <p:attrNameLst>
                                          <p:attrName>style.visibility</p:attrName>
                                        </p:attrNameLst>
                                      </p:cBhvr>
                                      <p:to>
                                        <p:strVal val="visible"/>
                                      </p:to>
                                    </p:set>
                                    <p:anim calcmode="lin" valueType="num">
                                      <p:cBhvr additive="base">
                                        <p:cTn id="7" dur="500" fill="hold"/>
                                        <p:tgtEl>
                                          <p:spTgt spid="1037323"/>
                                        </p:tgtEl>
                                        <p:attrNameLst>
                                          <p:attrName>ppt_x</p:attrName>
                                        </p:attrNameLst>
                                      </p:cBhvr>
                                      <p:tavLst>
                                        <p:tav tm="0">
                                          <p:val>
                                            <p:strVal val="1+#ppt_w/2"/>
                                          </p:val>
                                        </p:tav>
                                        <p:tav tm="100000">
                                          <p:val>
                                            <p:strVal val="#ppt_x"/>
                                          </p:val>
                                        </p:tav>
                                      </p:tavLst>
                                    </p:anim>
                                    <p:anim calcmode="lin" valueType="num">
                                      <p:cBhvr additive="base">
                                        <p:cTn id="8" dur="500" fill="hold"/>
                                        <p:tgtEl>
                                          <p:spTgt spid="103732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037322"/>
                                        </p:tgtEl>
                                        <p:attrNameLst>
                                          <p:attrName>style.visibility</p:attrName>
                                        </p:attrNameLst>
                                      </p:cBhvr>
                                      <p:to>
                                        <p:strVal val="visible"/>
                                      </p:to>
                                    </p:set>
                                    <p:anim calcmode="lin" valueType="num">
                                      <p:cBhvr additive="base">
                                        <p:cTn id="12" dur="500" fill="hold"/>
                                        <p:tgtEl>
                                          <p:spTgt spid="1037322"/>
                                        </p:tgtEl>
                                        <p:attrNameLst>
                                          <p:attrName>ppt_x</p:attrName>
                                        </p:attrNameLst>
                                      </p:cBhvr>
                                      <p:tavLst>
                                        <p:tav tm="0">
                                          <p:val>
                                            <p:strVal val="1+#ppt_w/2"/>
                                          </p:val>
                                        </p:tav>
                                        <p:tav tm="100000">
                                          <p:val>
                                            <p:strVal val="#ppt_x"/>
                                          </p:val>
                                        </p:tav>
                                      </p:tavLst>
                                    </p:anim>
                                    <p:anim calcmode="lin" valueType="num">
                                      <p:cBhvr additive="base">
                                        <p:cTn id="13" dur="500" fill="hold"/>
                                        <p:tgtEl>
                                          <p:spTgt spid="10373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7322" grpId="0" animBg="1"/>
      <p:bldP spid="1037323"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p:cNvSpPr>
            <a:spLocks noGrp="1" noChangeArrowheads="1"/>
          </p:cNvSpPr>
          <p:nvPr>
            <p:ph type="title" idx="4294967295"/>
          </p:nvPr>
        </p:nvSpPr>
        <p:spPr>
          <a:xfrm>
            <a:off x="685800" y="1371600"/>
            <a:ext cx="7772400" cy="2819400"/>
          </a:xfrm>
        </p:spPr>
        <p:txBody>
          <a:bodyPr>
            <a:normAutofit fontScale="90000"/>
          </a:bodyPr>
          <a:lstStyle/>
          <a:p>
            <a:pPr>
              <a:lnSpc>
                <a:spcPct val="120000"/>
              </a:lnSpc>
            </a:pPr>
            <a:r>
              <a:rPr lang="en-US" altLang="zh-CN">
                <a:solidFill>
                  <a:srgbClr val="FF0000"/>
                </a:solidFill>
                <a:ea typeface="楷体_GB2312" charset="0"/>
              </a:rPr>
              <a:t>Pop(</a:t>
            </a:r>
            <a:r>
              <a:rPr lang="en-US" altLang="zh-CN" b="0">
                <a:solidFill>
                  <a:srgbClr val="FF0000"/>
                </a:solidFill>
                <a:ea typeface="楷体_GB2312" charset="0"/>
              </a:rPr>
              <a:t>&amp;</a:t>
            </a:r>
            <a:r>
              <a:rPr lang="en-US" altLang="zh-CN">
                <a:solidFill>
                  <a:srgbClr val="FF0000"/>
                </a:solidFill>
                <a:ea typeface="楷体_GB2312" charset="0"/>
              </a:rPr>
              <a:t>S, </a:t>
            </a:r>
            <a:r>
              <a:rPr lang="en-US" altLang="zh-CN" b="0">
                <a:solidFill>
                  <a:srgbClr val="FF0000"/>
                </a:solidFill>
                <a:ea typeface="楷体_GB2312" charset="0"/>
              </a:rPr>
              <a:t>&amp;</a:t>
            </a:r>
            <a:r>
              <a:rPr lang="en-US" altLang="zh-CN">
                <a:solidFill>
                  <a:srgbClr val="FF0000"/>
                </a:solidFill>
                <a:ea typeface="楷体_GB2312" charset="0"/>
              </a:rPr>
              <a:t>e)</a:t>
            </a:r>
            <a:br>
              <a:rPr lang="en-US" altLang="zh-CN">
                <a:solidFill>
                  <a:srgbClr val="FF0000"/>
                </a:solidFill>
                <a:ea typeface="楷体_GB2312" charset="0"/>
              </a:rPr>
            </a:br>
            <a:r>
              <a:rPr lang="en-US" altLang="zh-CN">
                <a:solidFill>
                  <a:schemeClr val="tx1"/>
                </a:solidFill>
                <a:ea typeface="楷体_GB2312" charset="0"/>
              </a:rPr>
              <a:t>  </a:t>
            </a:r>
            <a:r>
              <a:rPr lang="zh-CN" altLang="en-US">
                <a:solidFill>
                  <a:srgbClr val="0000FF"/>
                </a:solidFill>
                <a:ea typeface="楷体_GB2312" charset="0"/>
              </a:rPr>
              <a:t>初始条件</a:t>
            </a:r>
            <a:r>
              <a:rPr lang="zh-CN" altLang="en-US">
                <a:solidFill>
                  <a:schemeClr val="tx1"/>
                </a:solidFill>
                <a:ea typeface="楷体_GB2312" charset="0"/>
              </a:rPr>
              <a:t>：栈 </a:t>
            </a:r>
            <a:r>
              <a:rPr lang="en-US" altLang="zh-CN">
                <a:solidFill>
                  <a:schemeClr val="tx1"/>
                </a:solidFill>
                <a:ea typeface="楷体_GB2312" charset="0"/>
              </a:rPr>
              <a:t>S </a:t>
            </a:r>
            <a:r>
              <a:rPr lang="zh-CN" altLang="en-US">
                <a:solidFill>
                  <a:schemeClr val="tx1"/>
                </a:solidFill>
                <a:ea typeface="楷体_GB2312" charset="0"/>
              </a:rPr>
              <a:t>已存在且非空。</a:t>
            </a:r>
            <a:br>
              <a:rPr lang="zh-CN" altLang="en-US">
                <a:solidFill>
                  <a:schemeClr val="tx1"/>
                </a:solidFill>
                <a:ea typeface="楷体_GB2312" charset="0"/>
              </a:rPr>
            </a:br>
            <a:r>
              <a:rPr lang="zh-CN" altLang="en-US">
                <a:solidFill>
                  <a:schemeClr val="tx1"/>
                </a:solidFill>
                <a:ea typeface="楷体_GB2312" charset="0"/>
              </a:rPr>
              <a:t>  </a:t>
            </a:r>
            <a:r>
              <a:rPr lang="zh-CN" altLang="en-US">
                <a:solidFill>
                  <a:srgbClr val="0000FF"/>
                </a:solidFill>
                <a:ea typeface="楷体_GB2312" charset="0"/>
              </a:rPr>
              <a:t>操作结果</a:t>
            </a:r>
            <a:r>
              <a:rPr lang="zh-CN" altLang="en-US">
                <a:solidFill>
                  <a:schemeClr val="tx1"/>
                </a:solidFill>
                <a:ea typeface="楷体_GB2312" charset="0"/>
              </a:rPr>
              <a:t>：删除 </a:t>
            </a:r>
            <a:r>
              <a:rPr lang="en-US" altLang="zh-CN">
                <a:solidFill>
                  <a:schemeClr val="tx1"/>
                </a:solidFill>
                <a:ea typeface="楷体_GB2312" charset="0"/>
              </a:rPr>
              <a:t>S </a:t>
            </a:r>
            <a:r>
              <a:rPr lang="zh-CN" altLang="en-US">
                <a:solidFill>
                  <a:schemeClr val="tx1"/>
                </a:solidFill>
                <a:ea typeface="楷体_GB2312" charset="0"/>
              </a:rPr>
              <a:t>的栈顶元素，并用 </a:t>
            </a:r>
            <a:r>
              <a:rPr lang="en-US" altLang="zh-CN">
                <a:solidFill>
                  <a:schemeClr val="tx1"/>
                </a:solidFill>
                <a:ea typeface="楷体_GB2312" charset="0"/>
              </a:rPr>
              <a:t>e </a:t>
            </a:r>
            <a:r>
              <a:rPr lang="zh-CN" altLang="en-US">
                <a:solidFill>
                  <a:schemeClr val="tx1"/>
                </a:solidFill>
                <a:ea typeface="楷体_GB2312" charset="0"/>
              </a:rPr>
              <a:t>返回其值。</a:t>
            </a:r>
            <a:endParaRPr lang="zh-CN" altLang="en-US">
              <a:solidFill>
                <a:schemeClr val="tx1"/>
              </a:solidFill>
              <a:ea typeface="楷体_GB2312" charset="0"/>
            </a:endParaRPr>
          </a:p>
        </p:txBody>
      </p:sp>
      <p:sp>
        <p:nvSpPr>
          <p:cNvPr id="1038340" name="Line 4"/>
          <p:cNvSpPr>
            <a:spLocks noChangeShapeType="1"/>
          </p:cNvSpPr>
          <p:nvPr/>
        </p:nvSpPr>
        <p:spPr bwMode="auto">
          <a:xfrm>
            <a:off x="1066800" y="4495800"/>
            <a:ext cx="0" cy="1295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8341" name="Line 5"/>
          <p:cNvSpPr>
            <a:spLocks noChangeShapeType="1"/>
          </p:cNvSpPr>
          <p:nvPr/>
        </p:nvSpPr>
        <p:spPr bwMode="auto">
          <a:xfrm>
            <a:off x="1066800" y="4724400"/>
            <a:ext cx="5562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8342" name="Line 6"/>
          <p:cNvSpPr>
            <a:spLocks noChangeShapeType="1"/>
          </p:cNvSpPr>
          <p:nvPr/>
        </p:nvSpPr>
        <p:spPr bwMode="auto">
          <a:xfrm>
            <a:off x="1066800" y="5562600"/>
            <a:ext cx="5562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8343" name="Text Box 7"/>
          <p:cNvSpPr txBox="1">
            <a:spLocks noChangeArrowheads="1"/>
          </p:cNvSpPr>
          <p:nvPr/>
        </p:nvSpPr>
        <p:spPr bwMode="auto">
          <a:xfrm>
            <a:off x="10858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1</a:t>
            </a:r>
            <a:endParaRPr lang="en-US" altLang="zh-CN" sz="4000"/>
          </a:p>
        </p:txBody>
      </p:sp>
      <p:sp>
        <p:nvSpPr>
          <p:cNvPr id="1038344" name="Text Box 8"/>
          <p:cNvSpPr txBox="1">
            <a:spLocks noChangeArrowheads="1"/>
          </p:cNvSpPr>
          <p:nvPr/>
        </p:nvSpPr>
        <p:spPr bwMode="auto">
          <a:xfrm>
            <a:off x="16954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2</a:t>
            </a:r>
            <a:endParaRPr lang="en-US" altLang="zh-CN" sz="4000"/>
          </a:p>
        </p:txBody>
      </p:sp>
      <p:sp>
        <p:nvSpPr>
          <p:cNvPr id="1038345" name="Text Box 9"/>
          <p:cNvSpPr txBox="1">
            <a:spLocks noChangeArrowheads="1"/>
          </p:cNvSpPr>
          <p:nvPr/>
        </p:nvSpPr>
        <p:spPr bwMode="auto">
          <a:xfrm>
            <a:off x="480060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n</a:t>
            </a:r>
            <a:endParaRPr lang="en-US" altLang="zh-CN" sz="4000"/>
          </a:p>
        </p:txBody>
      </p:sp>
      <p:sp>
        <p:nvSpPr>
          <p:cNvPr id="1038346" name="Line 10"/>
          <p:cNvSpPr>
            <a:spLocks noChangeShapeType="1"/>
          </p:cNvSpPr>
          <p:nvPr/>
        </p:nvSpPr>
        <p:spPr bwMode="auto">
          <a:xfrm flipV="1">
            <a:off x="4343400" y="5562600"/>
            <a:ext cx="0" cy="68580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8347" name="Text Box 11"/>
          <p:cNvSpPr txBox="1">
            <a:spLocks noChangeArrowheads="1"/>
          </p:cNvSpPr>
          <p:nvPr/>
        </p:nvSpPr>
        <p:spPr bwMode="auto">
          <a:xfrm>
            <a:off x="3962400" y="4775200"/>
            <a:ext cx="87630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n-1</a:t>
            </a:r>
            <a:endParaRPr lang="en-US" altLang="zh-CN" sz="4000"/>
          </a:p>
        </p:txBody>
      </p:sp>
      <p:sp>
        <p:nvSpPr>
          <p:cNvPr id="1038348" name="Text Box 12"/>
          <p:cNvSpPr txBox="1">
            <a:spLocks noChangeArrowheads="1"/>
          </p:cNvSpPr>
          <p:nvPr/>
        </p:nvSpPr>
        <p:spPr bwMode="auto">
          <a:xfrm>
            <a:off x="4784725" y="4645025"/>
            <a:ext cx="438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a:t>  </a:t>
            </a:r>
            <a:endParaRPr lang="zh-CN" altLang="en-US" sz="4000"/>
          </a:p>
        </p:txBody>
      </p:sp>
      <p:sp useBgFill="1">
        <p:nvSpPr>
          <p:cNvPr id="1038349" name="Text Box 13"/>
          <p:cNvSpPr txBox="1">
            <a:spLocks noChangeArrowheads="1"/>
          </p:cNvSpPr>
          <p:nvPr/>
        </p:nvSpPr>
        <p:spPr bwMode="auto">
          <a:xfrm>
            <a:off x="4800600" y="4775200"/>
            <a:ext cx="574675" cy="711200"/>
          </a:xfrm>
          <a:prstGeom prst="rect">
            <a:avLst/>
          </a:prstGeom>
          <a:ln w="9525">
            <a:solidFill>
              <a:srgbClr val="800000"/>
            </a:solidFill>
            <a:miter lim="800000"/>
          </a:ln>
        </p:spPr>
        <p:txBody>
          <a:bodyPr wrap="none">
            <a:spAutoFit/>
          </a:bodyPr>
          <a:lstStyle/>
          <a:p>
            <a:r>
              <a:rPr lang="zh-CN" altLang="en-US" sz="4000"/>
              <a:t>   </a:t>
            </a:r>
            <a:endParaRPr lang="zh-CN" altLang="en-US" sz="4000"/>
          </a:p>
        </p:txBody>
      </p:sp>
      <p:sp>
        <p:nvSpPr>
          <p:cNvPr id="1038350" name="Text Box 14"/>
          <p:cNvSpPr txBox="1">
            <a:spLocks noChangeArrowheads="1"/>
          </p:cNvSpPr>
          <p:nvPr/>
        </p:nvSpPr>
        <p:spPr bwMode="auto">
          <a:xfrm>
            <a:off x="2590800" y="4721225"/>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FF0000"/>
                </a:solidFill>
              </a:rPr>
              <a:t>… …</a:t>
            </a:r>
            <a:endParaRPr lang="en-US" altLang="zh-CN"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8349"/>
                                        </p:tgtEl>
                                        <p:attrNameLst>
                                          <p:attrName>style.visibility</p:attrName>
                                        </p:attrNameLst>
                                      </p:cBhvr>
                                      <p:to>
                                        <p:strVal val="visible"/>
                                      </p:to>
                                    </p:set>
                                  </p:childTnLst>
                                </p:cTn>
                              </p:par>
                            </p:childTnLst>
                          </p:cTn>
                        </p:par>
                        <p:par>
                          <p:cTn id="7" fill="hold">
                            <p:stCondLst>
                              <p:cond delay="500"/>
                            </p:stCondLst>
                            <p:childTnLst>
                              <p:par>
                                <p:cTn id="8" presetID="12" presetClass="entr" presetSubtype="2" fill="hold" grpId="0" nodeType="afterEffect">
                                  <p:stCondLst>
                                    <p:cond delay="0"/>
                                  </p:stCondLst>
                                  <p:childTnLst>
                                    <p:set>
                                      <p:cBhvr>
                                        <p:cTn id="9" dur="1" fill="hold">
                                          <p:stCondLst>
                                            <p:cond delay="0"/>
                                          </p:stCondLst>
                                        </p:cTn>
                                        <p:tgtEl>
                                          <p:spTgt spid="1038346"/>
                                        </p:tgtEl>
                                        <p:attrNameLst>
                                          <p:attrName>style.visibility</p:attrName>
                                        </p:attrNameLst>
                                      </p:cBhvr>
                                      <p:to>
                                        <p:strVal val="visible"/>
                                      </p:to>
                                    </p:set>
                                    <p:animEffect transition="in" filter="slide(fromRight)">
                                      <p:cBhvr>
                                        <p:cTn id="10" dur="500"/>
                                        <p:tgtEl>
                                          <p:spTgt spid="1038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346" grpId="0" animBg="1"/>
      <p:bldP spid="1038349"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2" name="Rectangle 2"/>
          <p:cNvSpPr>
            <a:spLocks noGrp="1" noChangeArrowheads="1"/>
          </p:cNvSpPr>
          <p:nvPr>
            <p:ph type="title" idx="4294967295"/>
          </p:nvPr>
        </p:nvSpPr>
        <p:spPr/>
        <p:txBody>
          <a:bodyPr/>
          <a:lstStyle/>
          <a:p>
            <a:r>
              <a:rPr lang="en-US" altLang="zh-CN" sz="5400">
                <a:solidFill>
                  <a:srgbClr val="996633"/>
                </a:solidFill>
                <a:latin typeface="Times New Roman" panose="02020603050405020304" charset="0"/>
                <a:ea typeface="隶书" panose="02010509060101010101" charset="-122"/>
              </a:rPr>
              <a:t>3.2</a:t>
            </a:r>
            <a:r>
              <a:rPr lang="en-US" altLang="zh-CN" sz="5400">
                <a:solidFill>
                  <a:srgbClr val="996633"/>
                </a:solidFill>
                <a:latin typeface="隶书" panose="02010509060101010101" charset="-122"/>
                <a:ea typeface="隶书" panose="02010509060101010101" charset="-122"/>
              </a:rPr>
              <a:t> </a:t>
            </a:r>
            <a:r>
              <a:rPr lang="zh-CN" altLang="en-US" sz="5400">
                <a:solidFill>
                  <a:srgbClr val="996633"/>
                </a:solidFill>
                <a:latin typeface="隶书" panose="02010509060101010101" charset="-122"/>
                <a:ea typeface="隶书" panose="02010509060101010101" charset="-122"/>
              </a:rPr>
              <a:t>栈类型的实现</a:t>
            </a:r>
            <a:endParaRPr lang="zh-CN" altLang="en-US" sz="3600">
              <a:solidFill>
                <a:schemeClr val="tx1"/>
              </a:solidFill>
              <a:latin typeface="隶书" panose="02010509060101010101" charset="-122"/>
              <a:ea typeface="隶书" panose="02010509060101010101" charset="-122"/>
            </a:endParaRPr>
          </a:p>
        </p:txBody>
      </p:sp>
      <p:sp>
        <p:nvSpPr>
          <p:cNvPr id="1039363" name="Text Box 3">
            <a:hlinkClick r:id="" action="ppaction://hlinkshowjump?jump=nextslide"/>
          </p:cNvPr>
          <p:cNvSpPr txBox="1">
            <a:spLocks noChangeArrowheads="1"/>
          </p:cNvSpPr>
          <p:nvPr/>
        </p:nvSpPr>
        <p:spPr bwMode="auto">
          <a:xfrm>
            <a:off x="2590800" y="2209800"/>
            <a:ext cx="3124200" cy="109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zh-CN" altLang="en-US" sz="6600" b="1">
                <a:solidFill>
                  <a:srgbClr val="A50021"/>
                </a:solidFill>
                <a:ea typeface="楷体_GB2312" charset="0"/>
              </a:rPr>
              <a:t>顺序栈</a:t>
            </a:r>
            <a:endParaRPr lang="zh-CN" altLang="en-US" sz="6600" b="1">
              <a:ea typeface="楷体_GB2312" charset="0"/>
            </a:endParaRPr>
          </a:p>
        </p:txBody>
      </p:sp>
      <p:sp>
        <p:nvSpPr>
          <p:cNvPr id="1039364" name="Text Box 4">
            <a:hlinkClick r:id="rId1" action="ppaction://hlinksldjump"/>
          </p:cNvPr>
          <p:cNvSpPr txBox="1">
            <a:spLocks noChangeArrowheads="1"/>
          </p:cNvSpPr>
          <p:nvPr/>
        </p:nvSpPr>
        <p:spPr bwMode="auto">
          <a:xfrm>
            <a:off x="2590800" y="3575050"/>
            <a:ext cx="1866900" cy="109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6600" b="1">
                <a:solidFill>
                  <a:srgbClr val="A50021"/>
                </a:solidFill>
                <a:ea typeface="楷体_GB2312" charset="0"/>
              </a:rPr>
              <a:t>链栈</a:t>
            </a:r>
            <a:endParaRPr lang="zh-CN" altLang="en-US" sz="6600" b="1">
              <a:ea typeface="楷体_GB2312" charset="0"/>
            </a:endParaRPr>
          </a:p>
        </p:txBody>
      </p:sp>
      <p:sp>
        <p:nvSpPr>
          <p:cNvPr id="1039365" name="AutoShape 5">
            <a:hlinkClick r:id="rId2" action="ppaction://hlinksldjump" highlightClick="1"/>
          </p:cNvPr>
          <p:cNvSpPr>
            <a:spLocks noChangeArrowheads="1"/>
          </p:cNvSpPr>
          <p:nvPr/>
        </p:nvSpPr>
        <p:spPr bwMode="auto">
          <a:xfrm>
            <a:off x="8153400" y="60960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9363"/>
                                        </p:tgtEl>
                                        <p:attrNameLst>
                                          <p:attrName>style.visibility</p:attrName>
                                        </p:attrNameLst>
                                      </p:cBhvr>
                                      <p:to>
                                        <p:strVal val="visible"/>
                                      </p:to>
                                    </p:set>
                                    <p:anim calcmode="lin" valueType="num">
                                      <p:cBhvr additive="base">
                                        <p:cTn id="7" dur="500" fill="hold"/>
                                        <p:tgtEl>
                                          <p:spTgt spid="1039363"/>
                                        </p:tgtEl>
                                        <p:attrNameLst>
                                          <p:attrName>ppt_x</p:attrName>
                                        </p:attrNameLst>
                                      </p:cBhvr>
                                      <p:tavLst>
                                        <p:tav tm="0">
                                          <p:val>
                                            <p:strVal val="0-#ppt_w/2"/>
                                          </p:val>
                                        </p:tav>
                                        <p:tav tm="100000">
                                          <p:val>
                                            <p:strVal val="#ppt_x"/>
                                          </p:val>
                                        </p:tav>
                                      </p:tavLst>
                                    </p:anim>
                                    <p:anim calcmode="lin" valueType="num">
                                      <p:cBhvr additive="base">
                                        <p:cTn id="8" dur="500" fill="hold"/>
                                        <p:tgtEl>
                                          <p:spTgt spid="103936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39364"/>
                                        </p:tgtEl>
                                        <p:attrNameLst>
                                          <p:attrName>style.visibility</p:attrName>
                                        </p:attrNameLst>
                                      </p:cBhvr>
                                      <p:to>
                                        <p:strVal val="visible"/>
                                      </p:to>
                                    </p:set>
                                    <p:anim calcmode="lin" valueType="num">
                                      <p:cBhvr additive="base">
                                        <p:cTn id="13" dur="500" fill="hold"/>
                                        <p:tgtEl>
                                          <p:spTgt spid="1039364"/>
                                        </p:tgtEl>
                                        <p:attrNameLst>
                                          <p:attrName>ppt_x</p:attrName>
                                        </p:attrNameLst>
                                      </p:cBhvr>
                                      <p:tavLst>
                                        <p:tav tm="0">
                                          <p:val>
                                            <p:strVal val="0-#ppt_w/2"/>
                                          </p:val>
                                        </p:tav>
                                        <p:tav tm="100000">
                                          <p:val>
                                            <p:strVal val="#ppt_x"/>
                                          </p:val>
                                        </p:tav>
                                      </p:tavLst>
                                    </p:anim>
                                    <p:anim calcmode="lin" valueType="num">
                                      <p:cBhvr additive="base">
                                        <p:cTn id="14" dur="500" fill="hold"/>
                                        <p:tgtEl>
                                          <p:spTgt spid="1039364"/>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1039365"/>
                                        </p:tgtEl>
                                        <p:attrNameLst>
                                          <p:attrName>style.visibility</p:attrName>
                                        </p:attrNameLst>
                                      </p:cBhvr>
                                      <p:to>
                                        <p:strVal val="visible"/>
                                      </p:to>
                                    </p:set>
                                    <p:anim calcmode="lin" valueType="num">
                                      <p:cBhvr additive="base">
                                        <p:cTn id="18" dur="500" fill="hold"/>
                                        <p:tgtEl>
                                          <p:spTgt spid="1039365"/>
                                        </p:tgtEl>
                                        <p:attrNameLst>
                                          <p:attrName>ppt_x</p:attrName>
                                        </p:attrNameLst>
                                      </p:cBhvr>
                                      <p:tavLst>
                                        <p:tav tm="0">
                                          <p:val>
                                            <p:strVal val="0-#ppt_w/2"/>
                                          </p:val>
                                        </p:tav>
                                        <p:tav tm="100000">
                                          <p:val>
                                            <p:strVal val="#ppt_x"/>
                                          </p:val>
                                        </p:tav>
                                      </p:tavLst>
                                    </p:anim>
                                    <p:anim calcmode="lin" valueType="num">
                                      <p:cBhvr additive="base">
                                        <p:cTn id="19" dur="500" fill="hold"/>
                                        <p:tgtEl>
                                          <p:spTgt spid="10393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363" grpId="0" autoUpdateAnimBg="0"/>
      <p:bldP spid="1039364" grpId="0" autoUpdateAnimBg="0"/>
      <p:bldP spid="103936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4594" name="Group 2"/>
          <p:cNvGrpSpPr/>
          <p:nvPr/>
        </p:nvGrpSpPr>
        <p:grpSpPr bwMode="auto">
          <a:xfrm>
            <a:off x="7010400" y="990600"/>
            <a:ext cx="1249363" cy="1600200"/>
            <a:chOff x="1200" y="2400"/>
            <a:chExt cx="787" cy="1008"/>
          </a:xfrm>
        </p:grpSpPr>
        <p:sp>
          <p:nvSpPr>
            <p:cNvPr id="1134595" name="Rectangle 3"/>
            <p:cNvSpPr>
              <a:spLocks noChangeArrowheads="1"/>
            </p:cNvSpPr>
            <p:nvPr/>
          </p:nvSpPr>
          <p:spPr bwMode="auto">
            <a:xfrm>
              <a:off x="1200" y="2400"/>
              <a:ext cx="693" cy="1008"/>
            </a:xfrm>
            <a:prstGeom prst="rect">
              <a:avLst/>
            </a:prstGeom>
            <a:solidFill>
              <a:srgbClr val="CCFFFF"/>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CCFFFF"/>
              </a:extrusionClr>
              <a:contourClr>
                <a:srgbClr val="CC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endParaRPr lang="zh-CN" altLang="en-US"/>
            </a:p>
          </p:txBody>
        </p:sp>
        <p:sp>
          <p:nvSpPr>
            <p:cNvPr id="1134596" name="Freeform 4"/>
            <p:cNvSpPr/>
            <p:nvPr/>
          </p:nvSpPr>
          <p:spPr bwMode="auto">
            <a:xfrm>
              <a:off x="1200" y="2496"/>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597" name="Freeform 5"/>
            <p:cNvSpPr/>
            <p:nvPr/>
          </p:nvSpPr>
          <p:spPr bwMode="auto">
            <a:xfrm>
              <a:off x="1200" y="2688"/>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598" name="Freeform 6"/>
            <p:cNvSpPr/>
            <p:nvPr/>
          </p:nvSpPr>
          <p:spPr bwMode="auto">
            <a:xfrm>
              <a:off x="1200" y="2880"/>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599" name="Freeform 7"/>
            <p:cNvSpPr/>
            <p:nvPr/>
          </p:nvSpPr>
          <p:spPr bwMode="auto">
            <a:xfrm>
              <a:off x="1200" y="3072"/>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grpSp>
      <p:grpSp>
        <p:nvGrpSpPr>
          <p:cNvPr id="1134600" name="Group 8"/>
          <p:cNvGrpSpPr/>
          <p:nvPr/>
        </p:nvGrpSpPr>
        <p:grpSpPr bwMode="auto">
          <a:xfrm>
            <a:off x="4495800" y="990600"/>
            <a:ext cx="1249363" cy="1600200"/>
            <a:chOff x="1200" y="2400"/>
            <a:chExt cx="787" cy="1008"/>
          </a:xfrm>
        </p:grpSpPr>
        <p:sp>
          <p:nvSpPr>
            <p:cNvPr id="1134601" name="Rectangle 9"/>
            <p:cNvSpPr>
              <a:spLocks noChangeArrowheads="1"/>
            </p:cNvSpPr>
            <p:nvPr/>
          </p:nvSpPr>
          <p:spPr bwMode="auto">
            <a:xfrm>
              <a:off x="1200" y="2400"/>
              <a:ext cx="693" cy="1008"/>
            </a:xfrm>
            <a:prstGeom prst="rect">
              <a:avLst/>
            </a:prstGeom>
            <a:solidFill>
              <a:srgbClr val="CCFFFF"/>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CCFFFF"/>
              </a:extrusionClr>
              <a:contourClr>
                <a:srgbClr val="CC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endParaRPr lang="zh-CN" altLang="en-US"/>
            </a:p>
          </p:txBody>
        </p:sp>
        <p:sp>
          <p:nvSpPr>
            <p:cNvPr id="1134602" name="Freeform 10"/>
            <p:cNvSpPr/>
            <p:nvPr/>
          </p:nvSpPr>
          <p:spPr bwMode="auto">
            <a:xfrm>
              <a:off x="1200" y="2496"/>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03" name="Freeform 11"/>
            <p:cNvSpPr/>
            <p:nvPr/>
          </p:nvSpPr>
          <p:spPr bwMode="auto">
            <a:xfrm>
              <a:off x="1200" y="2688"/>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04" name="Freeform 12"/>
            <p:cNvSpPr/>
            <p:nvPr/>
          </p:nvSpPr>
          <p:spPr bwMode="auto">
            <a:xfrm>
              <a:off x="1200" y="2880"/>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05" name="Freeform 13"/>
            <p:cNvSpPr/>
            <p:nvPr/>
          </p:nvSpPr>
          <p:spPr bwMode="auto">
            <a:xfrm>
              <a:off x="1200" y="3072"/>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grpSp>
      <p:sp>
        <p:nvSpPr>
          <p:cNvPr id="1134606" name="Rectangle 14"/>
          <p:cNvSpPr>
            <a:spLocks noGrp="1" noChangeArrowheads="1"/>
          </p:cNvSpPr>
          <p:nvPr>
            <p:ph type="title"/>
          </p:nvPr>
        </p:nvSpPr>
        <p:spPr/>
        <p:txBody>
          <a:bodyPr/>
          <a:lstStyle/>
          <a:p>
            <a:r>
              <a:rPr lang="zh-CN" altLang="en-US" sz="3200"/>
              <a:t>顺序栈的表示与实现</a:t>
            </a:r>
            <a:endParaRPr lang="en-US" altLang="zh-CN" sz="3200"/>
          </a:p>
        </p:txBody>
      </p:sp>
      <p:sp>
        <p:nvSpPr>
          <p:cNvPr id="1134609" name="Text Box 17"/>
          <p:cNvSpPr txBox="1">
            <a:spLocks noChangeArrowheads="1"/>
          </p:cNvSpPr>
          <p:nvPr/>
        </p:nvSpPr>
        <p:spPr bwMode="auto">
          <a:xfrm>
            <a:off x="762000" y="2286000"/>
            <a:ext cx="760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0000FF"/>
                </a:solidFill>
                <a:ea typeface="楷体_GB2312" charset="0"/>
              </a:rPr>
              <a:t>base</a:t>
            </a:r>
            <a:endParaRPr lang="en-US" altLang="zh-CN" sz="2400" b="1">
              <a:solidFill>
                <a:srgbClr val="0000FF"/>
              </a:solidFill>
              <a:ea typeface="楷体_GB2312" charset="0"/>
            </a:endParaRPr>
          </a:p>
        </p:txBody>
      </p:sp>
      <p:sp>
        <p:nvSpPr>
          <p:cNvPr id="1134610" name="Text Box 18"/>
          <p:cNvSpPr txBox="1">
            <a:spLocks noChangeArrowheads="1"/>
          </p:cNvSpPr>
          <p:nvPr/>
        </p:nvSpPr>
        <p:spPr bwMode="auto">
          <a:xfrm>
            <a:off x="2057400" y="2590800"/>
            <a:ext cx="895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2800">
                <a:solidFill>
                  <a:srgbClr val="0000FF"/>
                </a:solidFill>
                <a:ea typeface="楷体_GB2312" charset="0"/>
              </a:rPr>
              <a:t>空栈</a:t>
            </a:r>
            <a:endParaRPr lang="zh-CN" altLang="en-US" sz="2800">
              <a:solidFill>
                <a:srgbClr val="0000FF"/>
              </a:solidFill>
              <a:ea typeface="楷体_GB2312" charset="0"/>
            </a:endParaRPr>
          </a:p>
        </p:txBody>
      </p:sp>
      <p:sp>
        <p:nvSpPr>
          <p:cNvPr id="1134611" name="Text Box 19"/>
          <p:cNvSpPr txBox="1">
            <a:spLocks noChangeArrowheads="1"/>
          </p:cNvSpPr>
          <p:nvPr/>
        </p:nvSpPr>
        <p:spPr bwMode="auto">
          <a:xfrm>
            <a:off x="4495800" y="2590800"/>
            <a:ext cx="1162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i="1">
                <a:solidFill>
                  <a:srgbClr val="0000FF"/>
                </a:solidFill>
                <a:ea typeface="隶书" panose="02010509060101010101" charset="-122"/>
              </a:rPr>
              <a:t>a </a:t>
            </a:r>
            <a:r>
              <a:rPr lang="zh-CN" altLang="en-US" sz="2800">
                <a:solidFill>
                  <a:srgbClr val="0000FF"/>
                </a:solidFill>
                <a:ea typeface="楷体_GB2312" charset="0"/>
              </a:rPr>
              <a:t>进栈</a:t>
            </a:r>
            <a:endParaRPr lang="zh-CN" altLang="en-US" sz="2400">
              <a:solidFill>
                <a:srgbClr val="0000FF"/>
              </a:solidFill>
              <a:ea typeface="楷体_GB2312" charset="0"/>
            </a:endParaRPr>
          </a:p>
        </p:txBody>
      </p:sp>
      <p:sp>
        <p:nvSpPr>
          <p:cNvPr id="1134612" name="Text Box 20"/>
          <p:cNvSpPr txBox="1">
            <a:spLocks noChangeArrowheads="1"/>
          </p:cNvSpPr>
          <p:nvPr/>
        </p:nvSpPr>
        <p:spPr bwMode="auto">
          <a:xfrm>
            <a:off x="7010400" y="2590800"/>
            <a:ext cx="1162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i="1">
                <a:solidFill>
                  <a:srgbClr val="0000FF"/>
                </a:solidFill>
                <a:ea typeface="隶书" panose="02010509060101010101" charset="-122"/>
              </a:rPr>
              <a:t>b </a:t>
            </a:r>
            <a:r>
              <a:rPr lang="zh-CN" altLang="en-US" sz="2800">
                <a:solidFill>
                  <a:srgbClr val="0000FF"/>
                </a:solidFill>
                <a:ea typeface="楷体_GB2312" charset="0"/>
              </a:rPr>
              <a:t>进栈</a:t>
            </a:r>
            <a:endParaRPr lang="zh-CN" altLang="en-US" sz="2800">
              <a:solidFill>
                <a:srgbClr val="0000FF"/>
              </a:solidFill>
              <a:ea typeface="楷体_GB2312" charset="0"/>
            </a:endParaRPr>
          </a:p>
        </p:txBody>
      </p:sp>
      <p:sp>
        <p:nvSpPr>
          <p:cNvPr id="1134613" name="Line 21"/>
          <p:cNvSpPr>
            <a:spLocks noChangeShapeType="1"/>
          </p:cNvSpPr>
          <p:nvPr/>
        </p:nvSpPr>
        <p:spPr bwMode="auto">
          <a:xfrm>
            <a:off x="1447800" y="2514600"/>
            <a:ext cx="3921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14" name="Line 22"/>
          <p:cNvSpPr>
            <a:spLocks noChangeShapeType="1"/>
          </p:cNvSpPr>
          <p:nvPr/>
        </p:nvSpPr>
        <p:spPr bwMode="auto">
          <a:xfrm>
            <a:off x="4114800" y="2057400"/>
            <a:ext cx="390525"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15" name="Line 23"/>
          <p:cNvSpPr>
            <a:spLocks noChangeShapeType="1"/>
          </p:cNvSpPr>
          <p:nvPr/>
        </p:nvSpPr>
        <p:spPr bwMode="auto">
          <a:xfrm>
            <a:off x="6629400" y="1752600"/>
            <a:ext cx="3159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16" name="Text Box 24"/>
          <p:cNvSpPr txBox="1">
            <a:spLocks noChangeArrowheads="1"/>
          </p:cNvSpPr>
          <p:nvPr/>
        </p:nvSpPr>
        <p:spPr bwMode="auto">
          <a:xfrm>
            <a:off x="4800600" y="2184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i="1">
                <a:solidFill>
                  <a:srgbClr val="0000FF"/>
                </a:solidFill>
              </a:rPr>
              <a:t>a</a:t>
            </a:r>
            <a:endParaRPr lang="en-US" altLang="zh-CN" sz="2400">
              <a:solidFill>
                <a:srgbClr val="0000FF"/>
              </a:solidFill>
            </a:endParaRPr>
          </a:p>
        </p:txBody>
      </p:sp>
      <p:sp>
        <p:nvSpPr>
          <p:cNvPr id="1134617" name="Text Box 25"/>
          <p:cNvSpPr txBox="1">
            <a:spLocks noChangeArrowheads="1"/>
          </p:cNvSpPr>
          <p:nvPr/>
        </p:nvSpPr>
        <p:spPr bwMode="auto">
          <a:xfrm>
            <a:off x="838200" y="1981200"/>
            <a:ext cx="608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0000FF"/>
                </a:solidFill>
                <a:ea typeface="楷体_GB2312" charset="0"/>
              </a:rPr>
              <a:t>top</a:t>
            </a:r>
            <a:endParaRPr lang="en-US" altLang="zh-CN" sz="2400" b="1">
              <a:solidFill>
                <a:srgbClr val="0000FF"/>
              </a:solidFill>
              <a:ea typeface="楷体_GB2312" charset="0"/>
            </a:endParaRPr>
          </a:p>
        </p:txBody>
      </p:sp>
      <p:sp>
        <p:nvSpPr>
          <p:cNvPr id="1134618" name="Line 26"/>
          <p:cNvSpPr>
            <a:spLocks noChangeShapeType="1"/>
          </p:cNvSpPr>
          <p:nvPr/>
        </p:nvSpPr>
        <p:spPr bwMode="auto">
          <a:xfrm>
            <a:off x="1447800" y="2286000"/>
            <a:ext cx="3921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19" name="Text Box 27"/>
          <p:cNvSpPr txBox="1">
            <a:spLocks noChangeArrowheads="1"/>
          </p:cNvSpPr>
          <p:nvPr/>
        </p:nvSpPr>
        <p:spPr bwMode="auto">
          <a:xfrm>
            <a:off x="3352800" y="2133600"/>
            <a:ext cx="760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0000FF"/>
                </a:solidFill>
                <a:ea typeface="楷体_GB2312" charset="0"/>
              </a:rPr>
              <a:t>base</a:t>
            </a:r>
            <a:endParaRPr lang="en-US" altLang="zh-CN" sz="2400" b="1">
              <a:solidFill>
                <a:srgbClr val="0000FF"/>
              </a:solidFill>
              <a:ea typeface="楷体_GB2312" charset="0"/>
            </a:endParaRPr>
          </a:p>
        </p:txBody>
      </p:sp>
      <p:sp>
        <p:nvSpPr>
          <p:cNvPr id="1134620" name="Line 28"/>
          <p:cNvSpPr>
            <a:spLocks noChangeShapeType="1"/>
          </p:cNvSpPr>
          <p:nvPr/>
        </p:nvSpPr>
        <p:spPr bwMode="auto">
          <a:xfrm>
            <a:off x="4114800" y="2438400"/>
            <a:ext cx="3921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21" name="Text Box 29"/>
          <p:cNvSpPr txBox="1">
            <a:spLocks noChangeArrowheads="1"/>
          </p:cNvSpPr>
          <p:nvPr/>
        </p:nvSpPr>
        <p:spPr bwMode="auto">
          <a:xfrm>
            <a:off x="3429000" y="1828800"/>
            <a:ext cx="608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2400" b="1">
                <a:solidFill>
                  <a:srgbClr val="0000FF"/>
                </a:solidFill>
                <a:ea typeface="楷体_GB2312" charset="0"/>
              </a:rPr>
              <a:t>top</a:t>
            </a:r>
            <a:endParaRPr lang="en-US" altLang="zh-CN" sz="2400" b="1">
              <a:solidFill>
                <a:srgbClr val="0000FF"/>
              </a:solidFill>
              <a:ea typeface="楷体_GB2312" charset="0"/>
            </a:endParaRPr>
          </a:p>
        </p:txBody>
      </p:sp>
      <p:sp>
        <p:nvSpPr>
          <p:cNvPr id="1134622" name="Text Box 30"/>
          <p:cNvSpPr txBox="1">
            <a:spLocks noChangeArrowheads="1"/>
          </p:cNvSpPr>
          <p:nvPr/>
        </p:nvSpPr>
        <p:spPr bwMode="auto">
          <a:xfrm>
            <a:off x="5867400" y="2209800"/>
            <a:ext cx="760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0000FF"/>
                </a:solidFill>
                <a:ea typeface="楷体_GB2312" charset="0"/>
              </a:rPr>
              <a:t>base</a:t>
            </a:r>
            <a:endParaRPr lang="en-US" altLang="zh-CN" sz="2400" b="1">
              <a:solidFill>
                <a:srgbClr val="0000FF"/>
              </a:solidFill>
              <a:ea typeface="楷体_GB2312" charset="0"/>
            </a:endParaRPr>
          </a:p>
        </p:txBody>
      </p:sp>
      <p:sp>
        <p:nvSpPr>
          <p:cNvPr id="1134623" name="Line 31"/>
          <p:cNvSpPr>
            <a:spLocks noChangeShapeType="1"/>
          </p:cNvSpPr>
          <p:nvPr/>
        </p:nvSpPr>
        <p:spPr bwMode="auto">
          <a:xfrm>
            <a:off x="6629400" y="2438400"/>
            <a:ext cx="3159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24" name="Text Box 32"/>
          <p:cNvSpPr txBox="1">
            <a:spLocks noChangeArrowheads="1"/>
          </p:cNvSpPr>
          <p:nvPr/>
        </p:nvSpPr>
        <p:spPr bwMode="auto">
          <a:xfrm>
            <a:off x="6019800" y="1524000"/>
            <a:ext cx="608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2400" b="1">
                <a:solidFill>
                  <a:srgbClr val="0000FF"/>
                </a:solidFill>
                <a:ea typeface="楷体_GB2312" charset="0"/>
              </a:rPr>
              <a:t>top</a:t>
            </a:r>
            <a:endParaRPr lang="en-US" altLang="zh-CN" sz="2400" b="1">
              <a:solidFill>
                <a:srgbClr val="0000FF"/>
              </a:solidFill>
              <a:ea typeface="楷体_GB2312" charset="0"/>
            </a:endParaRPr>
          </a:p>
        </p:txBody>
      </p:sp>
      <p:grpSp>
        <p:nvGrpSpPr>
          <p:cNvPr id="1134625" name="Group 33"/>
          <p:cNvGrpSpPr/>
          <p:nvPr/>
        </p:nvGrpSpPr>
        <p:grpSpPr bwMode="auto">
          <a:xfrm>
            <a:off x="1905000" y="990600"/>
            <a:ext cx="1249363" cy="1600200"/>
            <a:chOff x="1200" y="2400"/>
            <a:chExt cx="787" cy="1008"/>
          </a:xfrm>
        </p:grpSpPr>
        <p:sp>
          <p:nvSpPr>
            <p:cNvPr id="1134626" name="Rectangle 34"/>
            <p:cNvSpPr>
              <a:spLocks noChangeArrowheads="1"/>
            </p:cNvSpPr>
            <p:nvPr/>
          </p:nvSpPr>
          <p:spPr bwMode="auto">
            <a:xfrm>
              <a:off x="1200" y="2400"/>
              <a:ext cx="693" cy="1008"/>
            </a:xfrm>
            <a:prstGeom prst="rect">
              <a:avLst/>
            </a:prstGeom>
            <a:solidFill>
              <a:srgbClr val="CCFFFF"/>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CCFFFF"/>
              </a:extrusionClr>
              <a:contourClr>
                <a:srgbClr val="CC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endParaRPr lang="zh-CN" altLang="en-US"/>
            </a:p>
          </p:txBody>
        </p:sp>
        <p:sp>
          <p:nvSpPr>
            <p:cNvPr id="1134627" name="Freeform 35"/>
            <p:cNvSpPr/>
            <p:nvPr/>
          </p:nvSpPr>
          <p:spPr bwMode="auto">
            <a:xfrm>
              <a:off x="1200" y="2496"/>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28" name="Freeform 36"/>
            <p:cNvSpPr/>
            <p:nvPr/>
          </p:nvSpPr>
          <p:spPr bwMode="auto">
            <a:xfrm>
              <a:off x="1200" y="2688"/>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29" name="Freeform 37"/>
            <p:cNvSpPr/>
            <p:nvPr/>
          </p:nvSpPr>
          <p:spPr bwMode="auto">
            <a:xfrm>
              <a:off x="1200" y="2880"/>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30" name="Freeform 38"/>
            <p:cNvSpPr/>
            <p:nvPr/>
          </p:nvSpPr>
          <p:spPr bwMode="auto">
            <a:xfrm>
              <a:off x="1200" y="3072"/>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grpSp>
      <p:sp>
        <p:nvSpPr>
          <p:cNvPr id="1134631" name="Text Box 39"/>
          <p:cNvSpPr txBox="1">
            <a:spLocks noChangeArrowheads="1"/>
          </p:cNvSpPr>
          <p:nvPr/>
        </p:nvSpPr>
        <p:spPr bwMode="auto">
          <a:xfrm>
            <a:off x="7391400" y="2184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i="1">
                <a:solidFill>
                  <a:srgbClr val="0000FF"/>
                </a:solidFill>
              </a:rPr>
              <a:t>a</a:t>
            </a:r>
            <a:endParaRPr lang="en-US" altLang="zh-CN" sz="2400">
              <a:solidFill>
                <a:srgbClr val="0000FF"/>
              </a:solidFill>
            </a:endParaRPr>
          </a:p>
        </p:txBody>
      </p:sp>
      <p:sp>
        <p:nvSpPr>
          <p:cNvPr id="1134632" name="Text Box 40"/>
          <p:cNvSpPr txBox="1">
            <a:spLocks noChangeArrowheads="1"/>
          </p:cNvSpPr>
          <p:nvPr/>
        </p:nvSpPr>
        <p:spPr bwMode="auto">
          <a:xfrm>
            <a:off x="7391400" y="1828800"/>
            <a:ext cx="361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2400" b="1" i="1">
                <a:solidFill>
                  <a:srgbClr val="0000FF"/>
                </a:solidFill>
              </a:rPr>
              <a:t>b</a:t>
            </a:r>
            <a:endParaRPr lang="en-US" altLang="zh-CN" sz="2400">
              <a:solidFill>
                <a:srgbClr val="0000FF"/>
              </a:solidFill>
            </a:endParaRPr>
          </a:p>
        </p:txBody>
      </p:sp>
      <p:sp>
        <p:nvSpPr>
          <p:cNvPr id="1134633" name="Text Box 41"/>
          <p:cNvSpPr txBox="1">
            <a:spLocks noChangeArrowheads="1"/>
          </p:cNvSpPr>
          <p:nvPr/>
        </p:nvSpPr>
        <p:spPr bwMode="auto">
          <a:xfrm>
            <a:off x="1828800" y="32766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2400" b="1"/>
              <a:t>约定：</a:t>
            </a:r>
            <a:r>
              <a:rPr lang="en-US" altLang="zh-CN" sz="2400" b="1"/>
              <a:t>top</a:t>
            </a:r>
            <a:r>
              <a:rPr lang="zh-CN" altLang="en-US" sz="2400" b="1"/>
              <a:t>指向栈顶元素的下一个位置</a:t>
            </a:r>
            <a:endParaRPr lang="zh-CN" altLang="en-US" sz="2400"/>
          </a:p>
        </p:txBody>
      </p:sp>
      <p:grpSp>
        <p:nvGrpSpPr>
          <p:cNvPr id="1134634" name="Group 42"/>
          <p:cNvGrpSpPr/>
          <p:nvPr/>
        </p:nvGrpSpPr>
        <p:grpSpPr bwMode="auto">
          <a:xfrm>
            <a:off x="1905000" y="4640263"/>
            <a:ext cx="1249363" cy="1600200"/>
            <a:chOff x="1200" y="2400"/>
            <a:chExt cx="787" cy="1008"/>
          </a:xfrm>
        </p:grpSpPr>
        <p:sp>
          <p:nvSpPr>
            <p:cNvPr id="1134635" name="Rectangle 43"/>
            <p:cNvSpPr>
              <a:spLocks noChangeArrowheads="1"/>
            </p:cNvSpPr>
            <p:nvPr/>
          </p:nvSpPr>
          <p:spPr bwMode="auto">
            <a:xfrm>
              <a:off x="1200" y="2400"/>
              <a:ext cx="693" cy="1008"/>
            </a:xfrm>
            <a:prstGeom prst="rect">
              <a:avLst/>
            </a:prstGeom>
            <a:solidFill>
              <a:srgbClr val="CCFFFF"/>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CCFFFF"/>
              </a:extrusionClr>
              <a:contourClr>
                <a:srgbClr val="CC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endParaRPr lang="zh-CN" altLang="en-US"/>
            </a:p>
          </p:txBody>
        </p:sp>
        <p:sp>
          <p:nvSpPr>
            <p:cNvPr id="1134636" name="Freeform 44"/>
            <p:cNvSpPr/>
            <p:nvPr/>
          </p:nvSpPr>
          <p:spPr bwMode="auto">
            <a:xfrm>
              <a:off x="1200" y="2496"/>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37" name="Freeform 45"/>
            <p:cNvSpPr/>
            <p:nvPr/>
          </p:nvSpPr>
          <p:spPr bwMode="auto">
            <a:xfrm>
              <a:off x="1200" y="2688"/>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38" name="Freeform 46"/>
            <p:cNvSpPr/>
            <p:nvPr/>
          </p:nvSpPr>
          <p:spPr bwMode="auto">
            <a:xfrm>
              <a:off x="1200" y="2880"/>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39" name="Freeform 47"/>
            <p:cNvSpPr/>
            <p:nvPr/>
          </p:nvSpPr>
          <p:spPr bwMode="auto">
            <a:xfrm>
              <a:off x="1200" y="3072"/>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grpSp>
      <p:grpSp>
        <p:nvGrpSpPr>
          <p:cNvPr id="1134640" name="Group 48"/>
          <p:cNvGrpSpPr/>
          <p:nvPr/>
        </p:nvGrpSpPr>
        <p:grpSpPr bwMode="auto">
          <a:xfrm>
            <a:off x="7010400" y="4640263"/>
            <a:ext cx="1249363" cy="1600200"/>
            <a:chOff x="1200" y="2400"/>
            <a:chExt cx="787" cy="1008"/>
          </a:xfrm>
        </p:grpSpPr>
        <p:sp>
          <p:nvSpPr>
            <p:cNvPr id="1134641" name="Rectangle 49"/>
            <p:cNvSpPr>
              <a:spLocks noChangeArrowheads="1"/>
            </p:cNvSpPr>
            <p:nvPr/>
          </p:nvSpPr>
          <p:spPr bwMode="auto">
            <a:xfrm>
              <a:off x="1200" y="2400"/>
              <a:ext cx="693" cy="1008"/>
            </a:xfrm>
            <a:prstGeom prst="rect">
              <a:avLst/>
            </a:prstGeom>
            <a:solidFill>
              <a:srgbClr val="CCFFFF"/>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CCFFFF"/>
              </a:extrusionClr>
              <a:contourClr>
                <a:srgbClr val="CC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endParaRPr lang="zh-CN" altLang="en-US"/>
            </a:p>
          </p:txBody>
        </p:sp>
        <p:sp>
          <p:nvSpPr>
            <p:cNvPr id="1134642" name="Freeform 50"/>
            <p:cNvSpPr/>
            <p:nvPr/>
          </p:nvSpPr>
          <p:spPr bwMode="auto">
            <a:xfrm>
              <a:off x="1200" y="2496"/>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43" name="Freeform 51"/>
            <p:cNvSpPr/>
            <p:nvPr/>
          </p:nvSpPr>
          <p:spPr bwMode="auto">
            <a:xfrm>
              <a:off x="1200" y="2688"/>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44" name="Freeform 52"/>
            <p:cNvSpPr/>
            <p:nvPr/>
          </p:nvSpPr>
          <p:spPr bwMode="auto">
            <a:xfrm>
              <a:off x="1200" y="2880"/>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45" name="Freeform 53"/>
            <p:cNvSpPr/>
            <p:nvPr/>
          </p:nvSpPr>
          <p:spPr bwMode="auto">
            <a:xfrm>
              <a:off x="1200" y="3072"/>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grpSp>
      <p:grpSp>
        <p:nvGrpSpPr>
          <p:cNvPr id="1134646" name="Group 54"/>
          <p:cNvGrpSpPr/>
          <p:nvPr/>
        </p:nvGrpSpPr>
        <p:grpSpPr bwMode="auto">
          <a:xfrm>
            <a:off x="4495800" y="4640263"/>
            <a:ext cx="1249363" cy="1600200"/>
            <a:chOff x="1200" y="2400"/>
            <a:chExt cx="787" cy="1008"/>
          </a:xfrm>
        </p:grpSpPr>
        <p:sp>
          <p:nvSpPr>
            <p:cNvPr id="1134647" name="Rectangle 55"/>
            <p:cNvSpPr>
              <a:spLocks noChangeArrowheads="1"/>
            </p:cNvSpPr>
            <p:nvPr/>
          </p:nvSpPr>
          <p:spPr bwMode="auto">
            <a:xfrm>
              <a:off x="1200" y="2400"/>
              <a:ext cx="693" cy="1008"/>
            </a:xfrm>
            <a:prstGeom prst="rect">
              <a:avLst/>
            </a:prstGeom>
            <a:solidFill>
              <a:srgbClr val="CCFFFF"/>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CCFFFF"/>
              </a:extrusionClr>
              <a:contourClr>
                <a:srgbClr val="CC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endParaRPr lang="zh-CN" altLang="en-US"/>
            </a:p>
          </p:txBody>
        </p:sp>
        <p:sp>
          <p:nvSpPr>
            <p:cNvPr id="1134648" name="Freeform 56"/>
            <p:cNvSpPr/>
            <p:nvPr/>
          </p:nvSpPr>
          <p:spPr bwMode="auto">
            <a:xfrm>
              <a:off x="1200" y="2496"/>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49" name="Freeform 57"/>
            <p:cNvSpPr/>
            <p:nvPr/>
          </p:nvSpPr>
          <p:spPr bwMode="auto">
            <a:xfrm>
              <a:off x="1200" y="2688"/>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50" name="Freeform 58"/>
            <p:cNvSpPr/>
            <p:nvPr/>
          </p:nvSpPr>
          <p:spPr bwMode="auto">
            <a:xfrm>
              <a:off x="1200" y="2880"/>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sp>
          <p:nvSpPr>
            <p:cNvPr id="1134651" name="Freeform 59"/>
            <p:cNvSpPr/>
            <p:nvPr/>
          </p:nvSpPr>
          <p:spPr bwMode="auto">
            <a:xfrm>
              <a:off x="1200" y="3072"/>
              <a:ext cx="787" cy="113"/>
            </a:xfrm>
            <a:custGeom>
              <a:avLst/>
              <a:gdLst>
                <a:gd name="T0" fmla="*/ 0 w 787"/>
                <a:gd name="T1" fmla="*/ 113 h 113"/>
                <a:gd name="T2" fmla="*/ 689 w 787"/>
                <a:gd name="T3" fmla="*/ 113 h 113"/>
                <a:gd name="T4" fmla="*/ 787 w 787"/>
                <a:gd name="T5" fmla="*/ 0 h 113"/>
              </a:gdLst>
              <a:ahLst/>
              <a:cxnLst>
                <a:cxn ang="0">
                  <a:pos x="T0" y="T1"/>
                </a:cxn>
                <a:cxn ang="0">
                  <a:pos x="T2" y="T3"/>
                </a:cxn>
                <a:cxn ang="0">
                  <a:pos x="T4" y="T5"/>
                </a:cxn>
              </a:cxnLst>
              <a:rect l="0" t="0" r="r" b="b"/>
              <a:pathLst>
                <a:path w="787" h="113">
                  <a:moveTo>
                    <a:pt x="0" y="113"/>
                  </a:moveTo>
                  <a:lnTo>
                    <a:pt x="689" y="113"/>
                  </a:lnTo>
                  <a:lnTo>
                    <a:pt x="787" y="0"/>
                  </a:lnTo>
                </a:path>
              </a:pathLst>
            </a:custGeom>
            <a:noFill/>
            <a:ln w="28575" cap="flat" cmpd="sng">
              <a:solidFill>
                <a:srgbClr val="009999"/>
              </a:solidFill>
              <a:prstDash val="solid"/>
              <a:miter lim="800000"/>
              <a:headEnd type="none" w="med" len="med"/>
              <a:tailEnd type="none" w="med" len="me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lstStyle/>
            <a:p>
              <a:endParaRPr lang="zh-CN" altLang="en-US"/>
            </a:p>
          </p:txBody>
        </p:sp>
      </p:grpSp>
      <p:sp>
        <p:nvSpPr>
          <p:cNvPr id="1134652" name="Text Box 60"/>
          <p:cNvSpPr txBox="1">
            <a:spLocks noChangeArrowheads="1"/>
          </p:cNvSpPr>
          <p:nvPr/>
        </p:nvSpPr>
        <p:spPr bwMode="auto">
          <a:xfrm>
            <a:off x="762000" y="5935663"/>
            <a:ext cx="760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0000FF"/>
                </a:solidFill>
                <a:ea typeface="楷体_GB2312" charset="0"/>
              </a:rPr>
              <a:t>base</a:t>
            </a:r>
            <a:endParaRPr lang="en-US" altLang="zh-CN" sz="2400" b="1">
              <a:solidFill>
                <a:srgbClr val="0000FF"/>
              </a:solidFill>
              <a:ea typeface="楷体_GB2312" charset="0"/>
            </a:endParaRPr>
          </a:p>
        </p:txBody>
      </p:sp>
      <p:sp>
        <p:nvSpPr>
          <p:cNvPr id="1134653" name="Text Box 61"/>
          <p:cNvSpPr txBox="1">
            <a:spLocks noChangeArrowheads="1"/>
          </p:cNvSpPr>
          <p:nvPr/>
        </p:nvSpPr>
        <p:spPr bwMode="auto">
          <a:xfrm>
            <a:off x="2057400" y="6262688"/>
            <a:ext cx="11414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i="1">
                <a:solidFill>
                  <a:srgbClr val="0000FF"/>
                </a:solidFill>
                <a:ea typeface="隶书" panose="02010509060101010101" charset="-122"/>
              </a:rPr>
              <a:t>e </a:t>
            </a:r>
            <a:r>
              <a:rPr lang="zh-CN" altLang="en-US" sz="2800">
                <a:solidFill>
                  <a:srgbClr val="0000FF"/>
                </a:solidFill>
                <a:ea typeface="楷体_GB2312" charset="0"/>
              </a:rPr>
              <a:t>进栈</a:t>
            </a:r>
            <a:endParaRPr lang="zh-CN" altLang="en-US" sz="2800">
              <a:solidFill>
                <a:srgbClr val="0000FF"/>
              </a:solidFill>
              <a:ea typeface="楷体_GB2312" charset="0"/>
            </a:endParaRPr>
          </a:p>
        </p:txBody>
      </p:sp>
      <p:sp>
        <p:nvSpPr>
          <p:cNvPr id="1134654" name="Text Box 62"/>
          <p:cNvSpPr txBox="1">
            <a:spLocks noChangeArrowheads="1"/>
          </p:cNvSpPr>
          <p:nvPr/>
        </p:nvSpPr>
        <p:spPr bwMode="auto">
          <a:xfrm>
            <a:off x="4114800" y="6240463"/>
            <a:ext cx="1981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2800" b="1" i="1">
                <a:solidFill>
                  <a:srgbClr val="0000FF"/>
                </a:solidFill>
                <a:ea typeface="隶书" panose="02010509060101010101" charset="-122"/>
              </a:rPr>
              <a:t>f </a:t>
            </a:r>
            <a:r>
              <a:rPr lang="zh-CN" altLang="en-US" sz="2800">
                <a:solidFill>
                  <a:srgbClr val="0000FF"/>
                </a:solidFill>
                <a:ea typeface="楷体_GB2312" charset="0"/>
              </a:rPr>
              <a:t>进栈溢出</a:t>
            </a:r>
            <a:endParaRPr lang="zh-CN" altLang="en-US" sz="2400">
              <a:solidFill>
                <a:srgbClr val="0000FF"/>
              </a:solidFill>
              <a:ea typeface="楷体_GB2312" charset="0"/>
            </a:endParaRPr>
          </a:p>
        </p:txBody>
      </p:sp>
      <p:sp>
        <p:nvSpPr>
          <p:cNvPr id="1134655" name="Text Box 63"/>
          <p:cNvSpPr txBox="1">
            <a:spLocks noChangeArrowheads="1"/>
          </p:cNvSpPr>
          <p:nvPr/>
        </p:nvSpPr>
        <p:spPr bwMode="auto">
          <a:xfrm>
            <a:off x="7010400" y="6240463"/>
            <a:ext cx="1054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i="1">
                <a:solidFill>
                  <a:srgbClr val="0000FF"/>
                </a:solidFill>
                <a:ea typeface="隶书" panose="02010509060101010101" charset="-122"/>
              </a:rPr>
              <a:t>e</a:t>
            </a:r>
            <a:r>
              <a:rPr lang="zh-CN" altLang="en-US" sz="2800">
                <a:solidFill>
                  <a:srgbClr val="0000FF"/>
                </a:solidFill>
                <a:ea typeface="楷体_GB2312" charset="0"/>
              </a:rPr>
              <a:t>出栈</a:t>
            </a:r>
            <a:endParaRPr lang="zh-CN" altLang="en-US" sz="2800">
              <a:solidFill>
                <a:srgbClr val="0000FF"/>
              </a:solidFill>
              <a:ea typeface="楷体_GB2312" charset="0"/>
            </a:endParaRPr>
          </a:p>
        </p:txBody>
      </p:sp>
      <p:sp>
        <p:nvSpPr>
          <p:cNvPr id="1134656" name="Line 64"/>
          <p:cNvSpPr>
            <a:spLocks noChangeShapeType="1"/>
          </p:cNvSpPr>
          <p:nvPr/>
        </p:nvSpPr>
        <p:spPr bwMode="auto">
          <a:xfrm>
            <a:off x="1447800" y="6164263"/>
            <a:ext cx="3921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57" name="Line 65"/>
          <p:cNvSpPr>
            <a:spLocks noChangeShapeType="1"/>
          </p:cNvSpPr>
          <p:nvPr/>
        </p:nvSpPr>
        <p:spPr bwMode="auto">
          <a:xfrm>
            <a:off x="4114800" y="4487863"/>
            <a:ext cx="390525"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58" name="Line 66"/>
          <p:cNvSpPr>
            <a:spLocks noChangeShapeType="1"/>
          </p:cNvSpPr>
          <p:nvPr/>
        </p:nvSpPr>
        <p:spPr bwMode="auto">
          <a:xfrm>
            <a:off x="6629400" y="4792663"/>
            <a:ext cx="3159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59" name="Text Box 67"/>
          <p:cNvSpPr txBox="1">
            <a:spLocks noChangeArrowheads="1"/>
          </p:cNvSpPr>
          <p:nvPr/>
        </p:nvSpPr>
        <p:spPr bwMode="auto">
          <a:xfrm>
            <a:off x="2286000" y="4564063"/>
            <a:ext cx="361950" cy="173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90000"/>
              </a:lnSpc>
            </a:pPr>
            <a:r>
              <a:rPr lang="en-US" altLang="zh-CN" sz="2400" b="1" i="1">
                <a:solidFill>
                  <a:srgbClr val="0000FF"/>
                </a:solidFill>
              </a:rPr>
              <a:t>edcba</a:t>
            </a:r>
            <a:endParaRPr lang="en-US" altLang="zh-CN" sz="2400">
              <a:solidFill>
                <a:srgbClr val="0000FF"/>
              </a:solidFill>
            </a:endParaRPr>
          </a:p>
        </p:txBody>
      </p:sp>
      <p:sp>
        <p:nvSpPr>
          <p:cNvPr id="1134660" name="Text Box 68"/>
          <p:cNvSpPr txBox="1">
            <a:spLocks noChangeArrowheads="1"/>
          </p:cNvSpPr>
          <p:nvPr/>
        </p:nvSpPr>
        <p:spPr bwMode="auto">
          <a:xfrm>
            <a:off x="914400" y="4259263"/>
            <a:ext cx="608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0000FF"/>
                </a:solidFill>
                <a:ea typeface="楷体_GB2312" charset="0"/>
              </a:rPr>
              <a:t>top</a:t>
            </a:r>
            <a:endParaRPr lang="en-US" altLang="zh-CN" sz="2400" b="1">
              <a:solidFill>
                <a:srgbClr val="0000FF"/>
              </a:solidFill>
              <a:ea typeface="楷体_GB2312" charset="0"/>
            </a:endParaRPr>
          </a:p>
        </p:txBody>
      </p:sp>
      <p:sp>
        <p:nvSpPr>
          <p:cNvPr id="1134661" name="Line 69"/>
          <p:cNvSpPr>
            <a:spLocks noChangeShapeType="1"/>
          </p:cNvSpPr>
          <p:nvPr/>
        </p:nvSpPr>
        <p:spPr bwMode="auto">
          <a:xfrm>
            <a:off x="1524000" y="4487863"/>
            <a:ext cx="3921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62" name="Text Box 70"/>
          <p:cNvSpPr txBox="1">
            <a:spLocks noChangeArrowheads="1"/>
          </p:cNvSpPr>
          <p:nvPr/>
        </p:nvSpPr>
        <p:spPr bwMode="auto">
          <a:xfrm>
            <a:off x="3352800" y="5783263"/>
            <a:ext cx="760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0000FF"/>
                </a:solidFill>
                <a:ea typeface="楷体_GB2312" charset="0"/>
              </a:rPr>
              <a:t>base</a:t>
            </a:r>
            <a:endParaRPr lang="en-US" altLang="zh-CN" sz="2400" b="1">
              <a:solidFill>
                <a:srgbClr val="0000FF"/>
              </a:solidFill>
              <a:ea typeface="楷体_GB2312" charset="0"/>
            </a:endParaRPr>
          </a:p>
        </p:txBody>
      </p:sp>
      <p:sp>
        <p:nvSpPr>
          <p:cNvPr id="1134663" name="Line 71"/>
          <p:cNvSpPr>
            <a:spLocks noChangeShapeType="1"/>
          </p:cNvSpPr>
          <p:nvPr/>
        </p:nvSpPr>
        <p:spPr bwMode="auto">
          <a:xfrm>
            <a:off x="4114800" y="6088063"/>
            <a:ext cx="3921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64" name="Text Box 72"/>
          <p:cNvSpPr txBox="1">
            <a:spLocks noChangeArrowheads="1"/>
          </p:cNvSpPr>
          <p:nvPr/>
        </p:nvSpPr>
        <p:spPr bwMode="auto">
          <a:xfrm>
            <a:off x="3429000" y="3886200"/>
            <a:ext cx="608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2400" b="1">
                <a:solidFill>
                  <a:srgbClr val="0000FF"/>
                </a:solidFill>
                <a:ea typeface="楷体_GB2312" charset="0"/>
              </a:rPr>
              <a:t>top</a:t>
            </a:r>
            <a:endParaRPr lang="en-US" altLang="zh-CN" sz="2400" b="1">
              <a:solidFill>
                <a:srgbClr val="0000FF"/>
              </a:solidFill>
              <a:ea typeface="楷体_GB2312" charset="0"/>
            </a:endParaRPr>
          </a:p>
        </p:txBody>
      </p:sp>
      <p:sp>
        <p:nvSpPr>
          <p:cNvPr id="1134665" name="Text Box 73"/>
          <p:cNvSpPr txBox="1">
            <a:spLocks noChangeArrowheads="1"/>
          </p:cNvSpPr>
          <p:nvPr/>
        </p:nvSpPr>
        <p:spPr bwMode="auto">
          <a:xfrm>
            <a:off x="5867400" y="5859463"/>
            <a:ext cx="760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400" b="1">
                <a:solidFill>
                  <a:srgbClr val="0000FF"/>
                </a:solidFill>
                <a:ea typeface="楷体_GB2312" charset="0"/>
              </a:rPr>
              <a:t>base</a:t>
            </a:r>
            <a:endParaRPr lang="en-US" altLang="zh-CN" sz="2400" b="1">
              <a:solidFill>
                <a:srgbClr val="0000FF"/>
              </a:solidFill>
              <a:ea typeface="楷体_GB2312" charset="0"/>
            </a:endParaRPr>
          </a:p>
        </p:txBody>
      </p:sp>
      <p:sp>
        <p:nvSpPr>
          <p:cNvPr id="1134666" name="Line 74"/>
          <p:cNvSpPr>
            <a:spLocks noChangeShapeType="1"/>
          </p:cNvSpPr>
          <p:nvPr/>
        </p:nvSpPr>
        <p:spPr bwMode="auto">
          <a:xfrm>
            <a:off x="6629400" y="6088063"/>
            <a:ext cx="315913"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4667" name="Text Box 75"/>
          <p:cNvSpPr txBox="1">
            <a:spLocks noChangeArrowheads="1"/>
          </p:cNvSpPr>
          <p:nvPr/>
        </p:nvSpPr>
        <p:spPr bwMode="auto">
          <a:xfrm>
            <a:off x="6019800" y="4564063"/>
            <a:ext cx="608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2400" b="1">
                <a:solidFill>
                  <a:srgbClr val="0000FF"/>
                </a:solidFill>
                <a:ea typeface="楷体_GB2312" charset="0"/>
              </a:rPr>
              <a:t>top</a:t>
            </a:r>
            <a:endParaRPr lang="en-US" altLang="zh-CN" sz="2400" b="1">
              <a:solidFill>
                <a:srgbClr val="0000FF"/>
              </a:solidFill>
              <a:ea typeface="楷体_GB2312" charset="0"/>
            </a:endParaRPr>
          </a:p>
        </p:txBody>
      </p:sp>
      <p:sp>
        <p:nvSpPr>
          <p:cNvPr id="1134669" name="Text Box 77"/>
          <p:cNvSpPr txBox="1">
            <a:spLocks noChangeArrowheads="1"/>
          </p:cNvSpPr>
          <p:nvPr/>
        </p:nvSpPr>
        <p:spPr bwMode="auto">
          <a:xfrm>
            <a:off x="4876800" y="4564063"/>
            <a:ext cx="361950" cy="173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90000"/>
              </a:lnSpc>
            </a:pPr>
            <a:r>
              <a:rPr lang="en-US" altLang="zh-CN" sz="2400" b="1" i="1">
                <a:solidFill>
                  <a:srgbClr val="0000FF"/>
                </a:solidFill>
              </a:rPr>
              <a:t>edcba</a:t>
            </a:r>
            <a:endParaRPr lang="en-US" altLang="zh-CN" sz="2400">
              <a:solidFill>
                <a:srgbClr val="0000FF"/>
              </a:solidFill>
            </a:endParaRPr>
          </a:p>
        </p:txBody>
      </p:sp>
      <p:sp>
        <p:nvSpPr>
          <p:cNvPr id="1134670" name="Text Box 78"/>
          <p:cNvSpPr txBox="1">
            <a:spLocks noChangeArrowheads="1"/>
          </p:cNvSpPr>
          <p:nvPr/>
        </p:nvSpPr>
        <p:spPr bwMode="auto">
          <a:xfrm>
            <a:off x="7391400" y="4581525"/>
            <a:ext cx="361950" cy="173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90000"/>
              </a:lnSpc>
            </a:pPr>
            <a:endParaRPr lang="en-US" altLang="zh-CN" sz="2400" b="1" i="1">
              <a:solidFill>
                <a:srgbClr val="0000FF"/>
              </a:solidFill>
            </a:endParaRPr>
          </a:p>
          <a:p>
            <a:pPr>
              <a:lnSpc>
                <a:spcPct val="90000"/>
              </a:lnSpc>
            </a:pPr>
            <a:r>
              <a:rPr lang="en-US" altLang="zh-CN" sz="2400" b="1" i="1">
                <a:solidFill>
                  <a:srgbClr val="0000FF"/>
                </a:solidFill>
              </a:rPr>
              <a:t>dcba</a:t>
            </a:r>
            <a:endParaRPr lang="en-US" altLang="zh-CN" sz="2400">
              <a:solidFill>
                <a:srgbClr val="0000FF"/>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10" name="Text Box 2"/>
          <p:cNvSpPr txBox="1">
            <a:spLocks noChangeArrowheads="1"/>
          </p:cNvSpPr>
          <p:nvPr/>
        </p:nvSpPr>
        <p:spPr bwMode="auto">
          <a:xfrm>
            <a:off x="990600" y="1524000"/>
            <a:ext cx="7385050" cy="5146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15000"/>
              </a:lnSpc>
            </a:pPr>
            <a:r>
              <a:rPr lang="en-US" altLang="zh-CN" sz="3600"/>
              <a:t>//----- </a:t>
            </a:r>
            <a:r>
              <a:rPr lang="zh-CN" altLang="en-US" sz="3600" b="1">
                <a:solidFill>
                  <a:srgbClr val="A50021"/>
                </a:solidFill>
                <a:ea typeface="隶书" panose="02010509060101010101" charset="-122"/>
              </a:rPr>
              <a:t>栈的顺序存储表示</a:t>
            </a:r>
            <a:r>
              <a:rPr lang="zh-CN" altLang="en-US" sz="3600"/>
              <a:t> </a:t>
            </a:r>
            <a:r>
              <a:rPr lang="en-US" altLang="zh-CN" sz="3600"/>
              <a:t>-----</a:t>
            </a:r>
            <a:endParaRPr lang="en-US" altLang="zh-CN" sz="3600"/>
          </a:p>
          <a:p>
            <a:pPr eaLnBrk="0" hangingPunct="0">
              <a:lnSpc>
                <a:spcPct val="115000"/>
              </a:lnSpc>
            </a:pPr>
            <a:r>
              <a:rPr lang="en-US" altLang="zh-CN" sz="3600"/>
              <a:t>  </a:t>
            </a:r>
            <a:r>
              <a:rPr lang="en-US" altLang="zh-CN" sz="3600" b="1"/>
              <a:t>#define</a:t>
            </a:r>
            <a:r>
              <a:rPr lang="en-US" altLang="zh-CN" sz="3600"/>
              <a:t>  STACK_INIT_SIZE  100; </a:t>
            </a:r>
            <a:endParaRPr lang="en-US" altLang="zh-CN" sz="3600"/>
          </a:p>
          <a:p>
            <a:pPr eaLnBrk="0" hangingPunct="0">
              <a:lnSpc>
                <a:spcPct val="115000"/>
              </a:lnSpc>
            </a:pPr>
            <a:r>
              <a:rPr lang="en-US" altLang="zh-CN" sz="3600"/>
              <a:t>  </a:t>
            </a:r>
            <a:r>
              <a:rPr lang="en-US" altLang="zh-CN" sz="3600" b="1"/>
              <a:t>#define</a:t>
            </a:r>
            <a:r>
              <a:rPr lang="en-US" altLang="zh-CN" sz="3600"/>
              <a:t>  STACKINCREMENT   10;  </a:t>
            </a:r>
            <a:endParaRPr lang="en-US" altLang="zh-CN" sz="3600"/>
          </a:p>
          <a:p>
            <a:pPr eaLnBrk="0" hangingPunct="0">
              <a:lnSpc>
                <a:spcPct val="115000"/>
              </a:lnSpc>
            </a:pPr>
            <a:r>
              <a:rPr lang="en-US" altLang="zh-CN" sz="3600"/>
              <a:t>  </a:t>
            </a:r>
            <a:r>
              <a:rPr lang="en-US" altLang="zh-CN" sz="3600" b="1"/>
              <a:t>typedef struct {</a:t>
            </a:r>
            <a:endParaRPr lang="en-US" altLang="zh-CN" sz="3600"/>
          </a:p>
          <a:p>
            <a:pPr eaLnBrk="0" hangingPunct="0">
              <a:lnSpc>
                <a:spcPct val="115000"/>
              </a:lnSpc>
            </a:pPr>
            <a:r>
              <a:rPr lang="en-US" altLang="zh-CN" sz="3600"/>
              <a:t>    </a:t>
            </a:r>
            <a:r>
              <a:rPr lang="en-US" altLang="zh-CN" sz="3600" b="1"/>
              <a:t>SElemType</a:t>
            </a:r>
            <a:r>
              <a:rPr lang="en-US" altLang="zh-CN" sz="3600"/>
              <a:t>  </a:t>
            </a:r>
            <a:r>
              <a:rPr lang="en-US" altLang="zh-CN" sz="3600" b="1"/>
              <a:t>*</a:t>
            </a:r>
            <a:r>
              <a:rPr lang="en-US" altLang="zh-CN" sz="3600"/>
              <a:t>base;    </a:t>
            </a:r>
            <a:endParaRPr lang="en-US" altLang="zh-CN" sz="3600"/>
          </a:p>
          <a:p>
            <a:pPr eaLnBrk="0" hangingPunct="0">
              <a:lnSpc>
                <a:spcPct val="115000"/>
              </a:lnSpc>
            </a:pPr>
            <a:r>
              <a:rPr lang="en-US" altLang="zh-CN" sz="3600"/>
              <a:t>    </a:t>
            </a:r>
            <a:r>
              <a:rPr lang="en-US" altLang="zh-CN" sz="3600" b="1"/>
              <a:t>SElemType</a:t>
            </a:r>
            <a:r>
              <a:rPr lang="en-US" altLang="zh-CN" sz="3600"/>
              <a:t>  </a:t>
            </a:r>
            <a:r>
              <a:rPr lang="en-US" altLang="zh-CN" sz="3600" b="1"/>
              <a:t>*</a:t>
            </a:r>
            <a:r>
              <a:rPr lang="en-US" altLang="zh-CN" sz="3600"/>
              <a:t>top;  </a:t>
            </a:r>
            <a:endParaRPr lang="en-US" altLang="zh-CN" sz="3600"/>
          </a:p>
          <a:p>
            <a:pPr eaLnBrk="0" hangingPunct="0">
              <a:lnSpc>
                <a:spcPct val="115000"/>
              </a:lnSpc>
            </a:pPr>
            <a:r>
              <a:rPr lang="en-US" altLang="zh-CN" sz="3600"/>
              <a:t>    </a:t>
            </a:r>
            <a:r>
              <a:rPr lang="en-US" altLang="zh-CN" sz="3600" b="1"/>
              <a:t>int</a:t>
            </a:r>
            <a:r>
              <a:rPr lang="en-US" altLang="zh-CN" sz="3600"/>
              <a:t>  stacksize;    </a:t>
            </a:r>
            <a:endParaRPr lang="en-US" altLang="zh-CN" sz="3600"/>
          </a:p>
          <a:p>
            <a:pPr eaLnBrk="0" hangingPunct="0">
              <a:lnSpc>
                <a:spcPct val="115000"/>
              </a:lnSpc>
            </a:pPr>
            <a:r>
              <a:rPr lang="en-US" altLang="zh-CN" sz="3600"/>
              <a:t>  </a:t>
            </a:r>
            <a:r>
              <a:rPr lang="en-US" altLang="zh-CN" sz="3600" b="1"/>
              <a:t>}</a:t>
            </a:r>
            <a:r>
              <a:rPr lang="en-US" altLang="zh-CN" sz="3600"/>
              <a:t> </a:t>
            </a:r>
            <a:r>
              <a:rPr lang="en-US" altLang="zh-CN" sz="3600" b="1"/>
              <a:t>SqStack</a:t>
            </a:r>
            <a:r>
              <a:rPr lang="en-US" altLang="zh-CN" sz="3600"/>
              <a:t>;</a:t>
            </a:r>
            <a:endParaRPr lang="en-US" altLang="zh-CN" sz="3600"/>
          </a:p>
        </p:txBody>
      </p:sp>
      <p:sp>
        <p:nvSpPr>
          <p:cNvPr id="1041411" name="Text Box 3"/>
          <p:cNvSpPr txBox="1">
            <a:spLocks noChangeArrowheads="1"/>
          </p:cNvSpPr>
          <p:nvPr/>
        </p:nvSpPr>
        <p:spPr bwMode="auto">
          <a:xfrm>
            <a:off x="1263650" y="457200"/>
            <a:ext cx="757555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3200">
                <a:ea typeface="楷体_GB2312" charset="0"/>
              </a:rPr>
              <a:t>     类似于线性表的顺序映象实现，指向表尾的指针可以作为栈顶指针。</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041410"/>
                                        </p:tgtEl>
                                        <p:attrNameLst>
                                          <p:attrName>style.visibility</p:attrName>
                                        </p:attrNameLst>
                                      </p:cBhvr>
                                      <p:to>
                                        <p:strVal val="visible"/>
                                      </p:to>
                                    </p:set>
                                    <p:animEffect transition="in" filter="barn(outHorizontal)">
                                      <p:cBhvr>
                                        <p:cTn id="7" dur="500"/>
                                        <p:tgtEl>
                                          <p:spTgt spid="1041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141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434" name="Text Box 2"/>
          <p:cNvSpPr txBox="1">
            <a:spLocks noChangeArrowheads="1"/>
          </p:cNvSpPr>
          <p:nvPr/>
        </p:nvSpPr>
        <p:spPr bwMode="auto">
          <a:xfrm>
            <a:off x="0" y="990600"/>
            <a:ext cx="9007475" cy="5972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2400"/>
              <a:t> </a:t>
            </a:r>
            <a:r>
              <a:rPr lang="en-US" altLang="zh-CN" sz="3600" b="1"/>
              <a:t>Status</a:t>
            </a:r>
            <a:r>
              <a:rPr lang="en-US" altLang="zh-CN" sz="3600"/>
              <a:t> InitStack (SqStack </a:t>
            </a:r>
            <a:r>
              <a:rPr lang="en-US" altLang="zh-CN" sz="3600" b="1"/>
              <a:t>&amp;</a:t>
            </a:r>
            <a:r>
              <a:rPr lang="en-US" altLang="zh-CN" sz="3600"/>
              <a:t>S)</a:t>
            </a:r>
            <a:endParaRPr lang="en-US" altLang="zh-CN" sz="3600"/>
          </a:p>
          <a:p>
            <a:pPr eaLnBrk="0" hangingPunct="0">
              <a:lnSpc>
                <a:spcPct val="120000"/>
              </a:lnSpc>
            </a:pPr>
            <a:r>
              <a:rPr lang="en-US" altLang="zh-CN" sz="3600" b="1"/>
              <a:t>{</a:t>
            </a:r>
            <a:r>
              <a:rPr lang="en-US" altLang="zh-CN" sz="3200"/>
              <a:t>// </a:t>
            </a:r>
            <a:r>
              <a:rPr lang="zh-CN" altLang="en-US" sz="2800">
                <a:ea typeface="楷体_GB2312" charset="0"/>
              </a:rPr>
              <a:t>构造一个空栈</a:t>
            </a:r>
            <a:r>
              <a:rPr lang="en-US" altLang="zh-CN" sz="3200"/>
              <a:t>S</a:t>
            </a:r>
            <a:endParaRPr lang="en-US" altLang="zh-CN" sz="3200"/>
          </a:p>
          <a:p>
            <a:pPr eaLnBrk="0" hangingPunct="0">
              <a:lnSpc>
                <a:spcPct val="120000"/>
              </a:lnSpc>
            </a:pPr>
            <a:r>
              <a:rPr lang="en-US" altLang="zh-CN" sz="3600"/>
              <a:t>  S.base=(</a:t>
            </a:r>
            <a:r>
              <a:rPr lang="en-US" altLang="zh-CN" sz="3200"/>
              <a:t>ElemType*)</a:t>
            </a:r>
            <a:r>
              <a:rPr lang="en-US" altLang="zh-CN" sz="3200" b="1"/>
              <a:t>malloc</a:t>
            </a:r>
            <a:r>
              <a:rPr lang="en-US" altLang="zh-CN" sz="3600"/>
              <a:t>(</a:t>
            </a:r>
            <a:r>
              <a:rPr lang="en-US" altLang="zh-CN" sz="3200"/>
              <a:t>STACK_INIT_SIZE*</a:t>
            </a:r>
            <a:endParaRPr lang="en-US" altLang="zh-CN" sz="3200"/>
          </a:p>
          <a:p>
            <a:pPr eaLnBrk="0" hangingPunct="0">
              <a:lnSpc>
                <a:spcPct val="120000"/>
              </a:lnSpc>
            </a:pPr>
            <a:r>
              <a:rPr lang="en-US" altLang="zh-CN" sz="3600" b="1"/>
              <a:t>                                           sizeof</a:t>
            </a:r>
            <a:r>
              <a:rPr lang="en-US" altLang="zh-CN" sz="3600"/>
              <a:t>(ElemType));</a:t>
            </a:r>
            <a:endParaRPr lang="en-US" altLang="zh-CN" sz="3600"/>
          </a:p>
          <a:p>
            <a:pPr eaLnBrk="0" hangingPunct="0">
              <a:lnSpc>
                <a:spcPct val="120000"/>
              </a:lnSpc>
            </a:pPr>
            <a:r>
              <a:rPr lang="en-US" altLang="zh-CN" sz="3600"/>
              <a:t>   </a:t>
            </a:r>
            <a:r>
              <a:rPr lang="en-US" altLang="zh-CN" sz="3600" b="1"/>
              <a:t>if</a:t>
            </a:r>
            <a:r>
              <a:rPr lang="en-US" altLang="zh-CN" sz="3600"/>
              <a:t> (</a:t>
            </a:r>
            <a:r>
              <a:rPr lang="en-US" altLang="zh-CN" sz="3600" b="1"/>
              <a:t>!</a:t>
            </a:r>
            <a:r>
              <a:rPr lang="en-US" altLang="zh-CN" sz="3600"/>
              <a:t>S.base) </a:t>
            </a:r>
            <a:r>
              <a:rPr lang="en-US" altLang="zh-CN" sz="3600" b="1"/>
              <a:t>exit </a:t>
            </a:r>
            <a:r>
              <a:rPr lang="en-US" altLang="zh-CN" sz="3600"/>
              <a:t>(OVERFLOW); </a:t>
            </a:r>
            <a:r>
              <a:rPr lang="en-US" altLang="zh-CN" sz="2800"/>
              <a:t>//</a:t>
            </a:r>
            <a:r>
              <a:rPr lang="zh-CN" altLang="en-US" sz="2800">
                <a:ea typeface="楷体_GB2312" charset="0"/>
              </a:rPr>
              <a:t>存储分配失败</a:t>
            </a:r>
            <a:endParaRPr lang="zh-CN" altLang="en-US" sz="3600"/>
          </a:p>
          <a:p>
            <a:pPr eaLnBrk="0" hangingPunct="0">
              <a:lnSpc>
                <a:spcPct val="120000"/>
              </a:lnSpc>
            </a:pPr>
            <a:r>
              <a:rPr lang="zh-CN" altLang="en-US" sz="3600"/>
              <a:t>   </a:t>
            </a:r>
            <a:r>
              <a:rPr lang="en-US" altLang="zh-CN" sz="3600" b="1">
                <a:solidFill>
                  <a:srgbClr val="800000"/>
                </a:solidFill>
              </a:rPr>
              <a:t>S.top = S.base</a:t>
            </a:r>
            <a:r>
              <a:rPr lang="en-US" altLang="zh-CN" sz="3600"/>
              <a:t>;</a:t>
            </a:r>
            <a:endParaRPr lang="en-US" altLang="zh-CN" sz="3600"/>
          </a:p>
          <a:p>
            <a:pPr eaLnBrk="0" hangingPunct="0">
              <a:lnSpc>
                <a:spcPct val="120000"/>
              </a:lnSpc>
            </a:pPr>
            <a:r>
              <a:rPr lang="en-US" altLang="zh-CN" sz="3600"/>
              <a:t>   S.stacksize = STACK_INIT_SIZE;</a:t>
            </a:r>
            <a:endParaRPr lang="en-US" altLang="zh-CN" sz="3600"/>
          </a:p>
          <a:p>
            <a:pPr eaLnBrk="0" hangingPunct="0">
              <a:lnSpc>
                <a:spcPct val="120000"/>
              </a:lnSpc>
            </a:pPr>
            <a:r>
              <a:rPr lang="en-US" altLang="zh-CN" sz="3600"/>
              <a:t>   </a:t>
            </a:r>
            <a:r>
              <a:rPr lang="en-US" altLang="zh-CN" sz="3600" b="1"/>
              <a:t>return</a:t>
            </a:r>
            <a:r>
              <a:rPr lang="en-US" altLang="zh-CN" sz="3600"/>
              <a:t> OK;</a:t>
            </a:r>
            <a:endParaRPr lang="en-US" altLang="zh-CN" sz="3600"/>
          </a:p>
          <a:p>
            <a:pPr eaLnBrk="0" hangingPunct="0"/>
            <a:r>
              <a:rPr lang="en-US" altLang="zh-CN" sz="4000" b="1"/>
              <a:t>}</a:t>
            </a:r>
            <a:endParaRPr lang="zh-CN" altLang="en-US" sz="400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458" name="Text Box 2"/>
          <p:cNvSpPr txBox="1">
            <a:spLocks noChangeArrowheads="1"/>
          </p:cNvSpPr>
          <p:nvPr/>
        </p:nvSpPr>
        <p:spPr bwMode="auto">
          <a:xfrm>
            <a:off x="0" y="41275"/>
            <a:ext cx="8991600" cy="6816725"/>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15000"/>
              </a:lnSpc>
            </a:pPr>
            <a:r>
              <a:rPr lang="zh-CN" altLang="en-US" sz="2400" b="1"/>
              <a:t> </a:t>
            </a:r>
            <a:r>
              <a:rPr lang="en-US" altLang="zh-CN" sz="3200" b="1"/>
              <a:t>Status</a:t>
            </a:r>
            <a:r>
              <a:rPr lang="en-US" altLang="zh-CN" sz="3200"/>
              <a:t> Push (SqStack </a:t>
            </a:r>
            <a:r>
              <a:rPr lang="en-US" altLang="zh-CN" sz="3200" b="1"/>
              <a:t>&amp;</a:t>
            </a:r>
            <a:r>
              <a:rPr lang="en-US" altLang="zh-CN" sz="3200"/>
              <a:t>S, SElemType e) </a:t>
            </a:r>
            <a:r>
              <a:rPr lang="en-US" altLang="zh-CN" sz="3200" b="1"/>
              <a:t>{</a:t>
            </a:r>
            <a:endParaRPr lang="en-US" altLang="zh-CN" sz="3200" b="1"/>
          </a:p>
          <a:p>
            <a:pPr eaLnBrk="0" hangingPunct="0">
              <a:lnSpc>
                <a:spcPct val="115000"/>
              </a:lnSpc>
            </a:pPr>
            <a:r>
              <a:rPr lang="en-US" altLang="zh-CN" sz="3200" b="1"/>
              <a:t>   if </a:t>
            </a:r>
            <a:r>
              <a:rPr lang="en-US" altLang="zh-CN" sz="3200"/>
              <a:t>(S.top - S.base </a:t>
            </a:r>
            <a:r>
              <a:rPr lang="en-US" altLang="zh-CN" sz="3200" b="1"/>
              <a:t>&gt;=</a:t>
            </a:r>
            <a:r>
              <a:rPr lang="en-US" altLang="zh-CN" sz="3200"/>
              <a:t> S.stacksize) </a:t>
            </a:r>
            <a:r>
              <a:rPr lang="en-US" altLang="zh-CN" sz="3200" b="1"/>
              <a:t>{</a:t>
            </a:r>
            <a:r>
              <a:rPr lang="en-US" altLang="zh-CN" sz="2400"/>
              <a:t>//</a:t>
            </a:r>
            <a:r>
              <a:rPr lang="zh-CN" altLang="en-US" sz="2400">
                <a:ea typeface="楷体_GB2312" charset="0"/>
              </a:rPr>
              <a:t>栈满，追加存储空间</a:t>
            </a:r>
            <a:endParaRPr lang="zh-CN" altLang="en-US" sz="3200">
              <a:ea typeface="楷体_GB2312" charset="0"/>
            </a:endParaRPr>
          </a:p>
          <a:p>
            <a:pPr eaLnBrk="0" hangingPunct="0">
              <a:lnSpc>
                <a:spcPct val="115000"/>
              </a:lnSpc>
            </a:pPr>
            <a:r>
              <a:rPr lang="zh-CN" altLang="en-US" sz="3200"/>
              <a:t>      </a:t>
            </a:r>
            <a:r>
              <a:rPr lang="en-US" altLang="zh-CN" sz="3200">
                <a:solidFill>
                  <a:srgbClr val="800000"/>
                </a:solidFill>
              </a:rPr>
              <a:t>S.base = (ElemType *) </a:t>
            </a:r>
            <a:r>
              <a:rPr lang="en-US" altLang="zh-CN" sz="3200" b="1">
                <a:solidFill>
                  <a:srgbClr val="800000"/>
                </a:solidFill>
              </a:rPr>
              <a:t>realloc</a:t>
            </a:r>
            <a:r>
              <a:rPr lang="en-US" altLang="zh-CN" sz="3200">
                <a:solidFill>
                  <a:srgbClr val="800000"/>
                </a:solidFill>
              </a:rPr>
              <a:t> ( S.base,</a:t>
            </a:r>
            <a:endParaRPr lang="en-US" altLang="zh-CN" sz="3200">
              <a:solidFill>
                <a:srgbClr val="800000"/>
              </a:solidFill>
            </a:endParaRPr>
          </a:p>
          <a:p>
            <a:pPr eaLnBrk="0" hangingPunct="0">
              <a:lnSpc>
                <a:spcPct val="115000"/>
              </a:lnSpc>
            </a:pPr>
            <a:r>
              <a:rPr lang="en-US" altLang="zh-CN" sz="3200">
                <a:solidFill>
                  <a:srgbClr val="800000"/>
                </a:solidFill>
              </a:rPr>
              <a:t>                (S.stacksize + STACKINCREMENT) *</a:t>
            </a:r>
            <a:r>
              <a:rPr lang="en-US" altLang="zh-CN" sz="3200" b="1">
                <a:solidFill>
                  <a:srgbClr val="800000"/>
                </a:solidFill>
              </a:rPr>
              <a:t> </a:t>
            </a:r>
            <a:endParaRPr lang="en-US" altLang="zh-CN" sz="3200" b="1">
              <a:solidFill>
                <a:srgbClr val="800000"/>
              </a:solidFill>
            </a:endParaRPr>
          </a:p>
          <a:p>
            <a:pPr eaLnBrk="0" hangingPunct="0">
              <a:lnSpc>
                <a:spcPct val="115000"/>
              </a:lnSpc>
            </a:pPr>
            <a:r>
              <a:rPr lang="en-US" altLang="zh-CN" sz="3200" b="1">
                <a:solidFill>
                  <a:srgbClr val="800000"/>
                </a:solidFill>
              </a:rPr>
              <a:t>                                                      sizeof </a:t>
            </a:r>
            <a:r>
              <a:rPr lang="en-US" altLang="zh-CN" sz="3200">
                <a:solidFill>
                  <a:srgbClr val="800000"/>
                </a:solidFill>
              </a:rPr>
              <a:t>(ElemType));</a:t>
            </a:r>
            <a:endParaRPr lang="en-US" altLang="zh-CN" sz="3200"/>
          </a:p>
          <a:p>
            <a:pPr eaLnBrk="0" hangingPunct="0">
              <a:lnSpc>
                <a:spcPct val="115000"/>
              </a:lnSpc>
            </a:pPr>
            <a:r>
              <a:rPr lang="en-US" altLang="zh-CN" sz="3200"/>
              <a:t>       </a:t>
            </a:r>
            <a:r>
              <a:rPr lang="en-US" altLang="zh-CN" sz="3200" b="1"/>
              <a:t>if </a:t>
            </a:r>
            <a:r>
              <a:rPr lang="en-US" altLang="zh-CN" sz="3200"/>
              <a:t>(</a:t>
            </a:r>
            <a:r>
              <a:rPr lang="en-US" altLang="zh-CN" sz="3200" b="1"/>
              <a:t>!</a:t>
            </a:r>
            <a:r>
              <a:rPr lang="en-US" altLang="zh-CN" sz="3200"/>
              <a:t>S.base) </a:t>
            </a:r>
            <a:r>
              <a:rPr lang="en-US" altLang="zh-CN" sz="3200" b="1"/>
              <a:t>exit </a:t>
            </a:r>
            <a:r>
              <a:rPr lang="en-US" altLang="zh-CN" sz="3200"/>
              <a:t>(OVERFLOW); //</a:t>
            </a:r>
            <a:r>
              <a:rPr lang="zh-CN" altLang="en-US" sz="3200">
                <a:ea typeface="楷体_GB2312" charset="0"/>
              </a:rPr>
              <a:t>存储分配失败</a:t>
            </a:r>
            <a:endParaRPr lang="zh-CN" altLang="en-US" sz="3200"/>
          </a:p>
          <a:p>
            <a:pPr eaLnBrk="0" hangingPunct="0">
              <a:lnSpc>
                <a:spcPct val="115000"/>
              </a:lnSpc>
            </a:pPr>
            <a:r>
              <a:rPr lang="zh-CN" altLang="en-US" sz="3200"/>
              <a:t>       </a:t>
            </a:r>
            <a:r>
              <a:rPr lang="en-US" altLang="zh-CN" sz="3200">
                <a:solidFill>
                  <a:srgbClr val="800000"/>
                </a:solidFill>
              </a:rPr>
              <a:t>S.top = S.base + S.stacksize;</a:t>
            </a:r>
            <a:endParaRPr lang="en-US" altLang="zh-CN" sz="3200"/>
          </a:p>
          <a:p>
            <a:pPr eaLnBrk="0" hangingPunct="0">
              <a:lnSpc>
                <a:spcPct val="115000"/>
              </a:lnSpc>
            </a:pPr>
            <a:r>
              <a:rPr lang="en-US" altLang="zh-CN" sz="3200"/>
              <a:t>       S.stacksize += STACKINCREMENT;</a:t>
            </a:r>
            <a:endParaRPr lang="en-US" altLang="zh-CN" sz="3200"/>
          </a:p>
          <a:p>
            <a:pPr eaLnBrk="0" hangingPunct="0">
              <a:lnSpc>
                <a:spcPct val="115000"/>
              </a:lnSpc>
            </a:pPr>
            <a:r>
              <a:rPr lang="en-US" altLang="zh-CN" sz="3200"/>
              <a:t>  </a:t>
            </a:r>
            <a:r>
              <a:rPr lang="en-US" altLang="zh-CN" sz="3200" b="1"/>
              <a:t> }</a:t>
            </a:r>
            <a:endParaRPr lang="en-US" altLang="zh-CN" sz="3200"/>
          </a:p>
          <a:p>
            <a:pPr eaLnBrk="0" hangingPunct="0">
              <a:lnSpc>
                <a:spcPct val="115000"/>
              </a:lnSpc>
            </a:pPr>
            <a:r>
              <a:rPr lang="en-US" altLang="zh-CN" sz="3200"/>
              <a:t>  </a:t>
            </a:r>
            <a:r>
              <a:rPr lang="en-US" altLang="zh-CN" sz="3200" b="1"/>
              <a:t> </a:t>
            </a:r>
            <a:r>
              <a:rPr lang="en-US" altLang="zh-CN" sz="3200">
                <a:solidFill>
                  <a:srgbClr val="800000"/>
                </a:solidFill>
              </a:rPr>
              <a:t>*S.top++ = e;</a:t>
            </a:r>
            <a:endParaRPr lang="en-US" altLang="zh-CN" sz="3200"/>
          </a:p>
          <a:p>
            <a:pPr eaLnBrk="0" hangingPunct="0">
              <a:lnSpc>
                <a:spcPct val="115000"/>
              </a:lnSpc>
            </a:pPr>
            <a:r>
              <a:rPr lang="en-US" altLang="zh-CN" sz="3200"/>
              <a:t>    </a:t>
            </a:r>
            <a:r>
              <a:rPr lang="en-US" altLang="zh-CN" sz="3200" b="1"/>
              <a:t>return </a:t>
            </a:r>
            <a:r>
              <a:rPr lang="en-US" altLang="zh-CN" sz="3200"/>
              <a:t>OK;</a:t>
            </a:r>
            <a:endParaRPr lang="en-US" altLang="zh-CN" sz="3200"/>
          </a:p>
          <a:p>
            <a:pPr eaLnBrk="0" hangingPunct="0">
              <a:lnSpc>
                <a:spcPct val="115000"/>
              </a:lnSpc>
            </a:pPr>
            <a:r>
              <a:rPr lang="en-US" altLang="zh-CN" sz="3200" b="1"/>
              <a:t>}</a:t>
            </a:r>
            <a:endParaRPr lang="en-US" altLang="zh-CN" sz="400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82" name="Text Box 2"/>
          <p:cNvSpPr txBox="1">
            <a:spLocks noChangeArrowheads="1"/>
          </p:cNvSpPr>
          <p:nvPr/>
        </p:nvSpPr>
        <p:spPr bwMode="auto">
          <a:xfrm>
            <a:off x="228600" y="1066800"/>
            <a:ext cx="8839200" cy="5591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5000"/>
              </a:lnSpc>
            </a:pPr>
            <a:r>
              <a:rPr lang="en-US" altLang="zh-CN" sz="3600" b="1"/>
              <a:t>Status</a:t>
            </a:r>
            <a:r>
              <a:rPr lang="en-US" altLang="zh-CN" sz="3600"/>
              <a:t> Pop (SqStack </a:t>
            </a:r>
            <a:r>
              <a:rPr lang="en-US" altLang="zh-CN" sz="3600" b="1"/>
              <a:t>&amp;</a:t>
            </a:r>
            <a:r>
              <a:rPr lang="en-US" altLang="zh-CN" sz="3600"/>
              <a:t>S, SElemType </a:t>
            </a:r>
            <a:r>
              <a:rPr lang="en-US" altLang="zh-CN" sz="3600" b="1"/>
              <a:t>&amp;</a:t>
            </a:r>
            <a:r>
              <a:rPr lang="en-US" altLang="zh-CN" sz="3600"/>
              <a:t>e) </a:t>
            </a:r>
            <a:r>
              <a:rPr lang="en-US" altLang="zh-CN" sz="3600" b="1"/>
              <a:t>{</a:t>
            </a:r>
            <a:endParaRPr lang="en-US" altLang="zh-CN" sz="3600"/>
          </a:p>
          <a:p>
            <a:pPr eaLnBrk="0" hangingPunct="0">
              <a:lnSpc>
                <a:spcPct val="125000"/>
              </a:lnSpc>
            </a:pPr>
            <a:r>
              <a:rPr lang="en-US" altLang="zh-CN" sz="3600"/>
              <a:t>     // </a:t>
            </a:r>
            <a:r>
              <a:rPr lang="zh-CN" altLang="en-US" sz="3600">
                <a:ea typeface="楷体_GB2312" charset="0"/>
              </a:rPr>
              <a:t>若栈不空，则删除</a:t>
            </a:r>
            <a:r>
              <a:rPr lang="en-US" altLang="zh-CN" sz="3600">
                <a:ea typeface="楷体_GB2312" charset="0"/>
              </a:rPr>
              <a:t>S</a:t>
            </a:r>
            <a:r>
              <a:rPr lang="zh-CN" altLang="en-US" sz="3600">
                <a:ea typeface="楷体_GB2312" charset="0"/>
              </a:rPr>
              <a:t>的栈顶元素，</a:t>
            </a:r>
            <a:endParaRPr lang="zh-CN" altLang="en-US" sz="3600">
              <a:ea typeface="楷体_GB2312" charset="0"/>
            </a:endParaRPr>
          </a:p>
          <a:p>
            <a:pPr eaLnBrk="0" hangingPunct="0">
              <a:lnSpc>
                <a:spcPct val="125000"/>
              </a:lnSpc>
            </a:pPr>
            <a:r>
              <a:rPr lang="zh-CN" altLang="en-US" sz="3600">
                <a:ea typeface="楷体_GB2312" charset="0"/>
              </a:rPr>
              <a:t>     </a:t>
            </a:r>
            <a:r>
              <a:rPr lang="en-US" altLang="zh-CN" sz="3600">
                <a:ea typeface="楷体_GB2312" charset="0"/>
              </a:rPr>
              <a:t>// </a:t>
            </a:r>
            <a:r>
              <a:rPr lang="zh-CN" altLang="en-US" sz="3600">
                <a:ea typeface="楷体_GB2312" charset="0"/>
              </a:rPr>
              <a:t>用</a:t>
            </a:r>
            <a:r>
              <a:rPr lang="en-US" altLang="zh-CN" sz="3600">
                <a:ea typeface="楷体_GB2312" charset="0"/>
              </a:rPr>
              <a:t>e</a:t>
            </a:r>
            <a:r>
              <a:rPr lang="zh-CN" altLang="en-US" sz="3600">
                <a:ea typeface="楷体_GB2312" charset="0"/>
              </a:rPr>
              <a:t>返回其值，并返回</a:t>
            </a:r>
            <a:r>
              <a:rPr lang="en-US" altLang="zh-CN" sz="3600">
                <a:ea typeface="楷体_GB2312" charset="0"/>
              </a:rPr>
              <a:t>OK</a:t>
            </a:r>
            <a:r>
              <a:rPr lang="zh-CN" altLang="en-US" sz="3600"/>
              <a:t>；</a:t>
            </a:r>
            <a:endParaRPr lang="zh-CN" altLang="en-US" sz="3600"/>
          </a:p>
          <a:p>
            <a:pPr eaLnBrk="0" hangingPunct="0">
              <a:lnSpc>
                <a:spcPct val="125000"/>
              </a:lnSpc>
            </a:pPr>
            <a:r>
              <a:rPr lang="zh-CN" altLang="en-US" sz="3600"/>
              <a:t>     </a:t>
            </a:r>
            <a:r>
              <a:rPr lang="en-US" altLang="zh-CN" sz="3600"/>
              <a:t>// </a:t>
            </a:r>
            <a:r>
              <a:rPr lang="zh-CN" altLang="en-US" sz="3600">
                <a:ea typeface="楷体_GB2312" charset="0"/>
              </a:rPr>
              <a:t>否则返回</a:t>
            </a:r>
            <a:r>
              <a:rPr lang="en-US" altLang="zh-CN" sz="3600">
                <a:ea typeface="楷体_GB2312" charset="0"/>
              </a:rPr>
              <a:t>ERROR</a:t>
            </a:r>
            <a:endParaRPr lang="en-US" altLang="zh-CN" sz="3600"/>
          </a:p>
          <a:p>
            <a:pPr eaLnBrk="0" hangingPunct="0">
              <a:lnSpc>
                <a:spcPct val="125000"/>
              </a:lnSpc>
            </a:pPr>
            <a:r>
              <a:rPr lang="en-US" altLang="zh-CN" sz="3600"/>
              <a:t>    </a:t>
            </a:r>
            <a:r>
              <a:rPr lang="en-US" altLang="zh-CN" sz="3600" b="1"/>
              <a:t>if</a:t>
            </a:r>
            <a:r>
              <a:rPr lang="en-US" altLang="zh-CN" sz="3600"/>
              <a:t> </a:t>
            </a:r>
            <a:r>
              <a:rPr lang="en-US" altLang="zh-CN" sz="3600">
                <a:solidFill>
                  <a:srgbClr val="800000"/>
                </a:solidFill>
              </a:rPr>
              <a:t>(S.top</a:t>
            </a:r>
            <a:r>
              <a:rPr lang="en-US" altLang="zh-CN" sz="3600" b="1">
                <a:solidFill>
                  <a:srgbClr val="800000"/>
                </a:solidFill>
              </a:rPr>
              <a:t> </a:t>
            </a:r>
            <a:r>
              <a:rPr lang="en-US" altLang="zh-CN" sz="3600">
                <a:solidFill>
                  <a:srgbClr val="800000"/>
                </a:solidFill>
              </a:rPr>
              <a:t>==</a:t>
            </a:r>
            <a:r>
              <a:rPr lang="en-US" altLang="zh-CN" sz="3600" b="1">
                <a:solidFill>
                  <a:srgbClr val="800000"/>
                </a:solidFill>
              </a:rPr>
              <a:t> </a:t>
            </a:r>
            <a:r>
              <a:rPr lang="en-US" altLang="zh-CN" sz="3600">
                <a:solidFill>
                  <a:srgbClr val="800000"/>
                </a:solidFill>
              </a:rPr>
              <a:t>S.base)</a:t>
            </a:r>
            <a:r>
              <a:rPr lang="en-US" altLang="zh-CN" sz="3600"/>
              <a:t> </a:t>
            </a:r>
            <a:r>
              <a:rPr lang="en-US" altLang="zh-CN" sz="3600" b="1"/>
              <a:t>return</a:t>
            </a:r>
            <a:r>
              <a:rPr lang="en-US" altLang="zh-CN" sz="3600"/>
              <a:t> ERROR;</a:t>
            </a:r>
            <a:endParaRPr lang="en-US" altLang="zh-CN" sz="3600"/>
          </a:p>
          <a:p>
            <a:pPr eaLnBrk="0" hangingPunct="0">
              <a:lnSpc>
                <a:spcPct val="125000"/>
              </a:lnSpc>
            </a:pPr>
            <a:r>
              <a:rPr lang="en-US" altLang="zh-CN" sz="3600"/>
              <a:t>    </a:t>
            </a:r>
            <a:r>
              <a:rPr lang="en-US" altLang="zh-CN" sz="3600">
                <a:solidFill>
                  <a:srgbClr val="800000"/>
                </a:solidFill>
              </a:rPr>
              <a:t>e = *--S.top;</a:t>
            </a:r>
            <a:endParaRPr lang="en-US" altLang="zh-CN" sz="3600"/>
          </a:p>
          <a:p>
            <a:pPr eaLnBrk="0" hangingPunct="0">
              <a:lnSpc>
                <a:spcPct val="125000"/>
              </a:lnSpc>
            </a:pPr>
            <a:r>
              <a:rPr lang="en-US" altLang="zh-CN" sz="3600"/>
              <a:t>   </a:t>
            </a:r>
            <a:r>
              <a:rPr lang="en-US" altLang="zh-CN" sz="3600" b="1"/>
              <a:t> return</a:t>
            </a:r>
            <a:r>
              <a:rPr lang="en-US" altLang="zh-CN" sz="3600"/>
              <a:t> OK;</a:t>
            </a:r>
            <a:endParaRPr lang="en-US" altLang="zh-CN" sz="3600"/>
          </a:p>
          <a:p>
            <a:pPr eaLnBrk="0" hangingPunct="0">
              <a:lnSpc>
                <a:spcPct val="125000"/>
              </a:lnSpc>
            </a:pPr>
            <a:r>
              <a:rPr lang="en-US" altLang="zh-CN" sz="3600" b="1"/>
              <a:t>}</a:t>
            </a:r>
            <a:endParaRPr lang="zh-CN" altLang="en-US" sz="4000"/>
          </a:p>
        </p:txBody>
      </p:sp>
      <p:sp>
        <p:nvSpPr>
          <p:cNvPr id="1044483" name="AutoShape 3">
            <a:hlinkClick r:id="rId1" action="ppaction://hlinksldjump" highlightClick="1"/>
          </p:cNvPr>
          <p:cNvSpPr>
            <a:spLocks noChangeArrowheads="1"/>
          </p:cNvSpPr>
          <p:nvPr/>
        </p:nvSpPr>
        <p:spPr bwMode="auto">
          <a:xfrm>
            <a:off x="8382000" y="6172200"/>
            <a:ext cx="381000" cy="381000"/>
          </a:xfrm>
          <a:prstGeom prst="actionButtonBackPrevious">
            <a:avLst/>
          </a:prstGeom>
          <a:solidFill>
            <a:srgbClr val="800000"/>
          </a:solidFill>
          <a:ln w="9525">
            <a:solidFill>
              <a:srgbClr val="FF6600"/>
            </a:solidFill>
            <a:miter lim="800000"/>
          </a:ln>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1600200" y="0"/>
            <a:ext cx="1905000" cy="1143000"/>
          </a:xfrm>
        </p:spPr>
        <p:txBody>
          <a:bodyPr/>
          <a:lstStyle/>
          <a:p>
            <a:r>
              <a:rPr lang="zh-CN" altLang="en-US" sz="5400">
                <a:solidFill>
                  <a:srgbClr val="FF0000"/>
                </a:solidFill>
                <a:ea typeface="楷体_GB2312" charset="0"/>
              </a:rPr>
              <a:t>链栈</a:t>
            </a:r>
            <a:endParaRPr lang="zh-CN" altLang="en-US" sz="5400">
              <a:solidFill>
                <a:srgbClr val="FF0000"/>
              </a:solidFill>
              <a:ea typeface="楷体_GB2312" charset="0"/>
            </a:endParaRPr>
          </a:p>
        </p:txBody>
      </p:sp>
      <p:sp>
        <p:nvSpPr>
          <p:cNvPr id="1119235" name="Rectangle 3"/>
          <p:cNvSpPr>
            <a:spLocks noGrp="1" noChangeArrowheads="1"/>
          </p:cNvSpPr>
          <p:nvPr>
            <p:ph type="body" idx="1"/>
          </p:nvPr>
        </p:nvSpPr>
        <p:spPr>
          <a:xfrm>
            <a:off x="685800" y="1524000"/>
            <a:ext cx="7772400" cy="838200"/>
          </a:xfrm>
        </p:spPr>
        <p:txBody>
          <a:bodyPr/>
          <a:lstStyle/>
          <a:p>
            <a:r>
              <a:rPr lang="zh-CN" altLang="en-US" b="1">
                <a:ea typeface="楷体_GB2312" charset="0"/>
              </a:rPr>
              <a:t>栈的链式存储结构称为</a:t>
            </a:r>
            <a:r>
              <a:rPr lang="zh-CN" altLang="en-US" b="1">
                <a:solidFill>
                  <a:schemeClr val="tx2"/>
                </a:solidFill>
                <a:effectLst>
                  <a:outerShdw blurRad="38100" dist="38100" dir="2700000" algn="tl">
                    <a:srgbClr val="C0C0C0"/>
                  </a:outerShdw>
                </a:effectLst>
                <a:ea typeface="楷体_GB2312" charset="0"/>
              </a:rPr>
              <a:t>链栈</a:t>
            </a:r>
            <a:r>
              <a:rPr lang="zh-CN" altLang="en-US" b="1">
                <a:ea typeface="楷体_GB2312" charset="0"/>
              </a:rPr>
              <a:t>。</a:t>
            </a:r>
            <a:endParaRPr lang="zh-CN" altLang="en-US" b="1">
              <a:ea typeface="楷体_GB2312" charset="0"/>
            </a:endParaRPr>
          </a:p>
        </p:txBody>
      </p:sp>
      <p:grpSp>
        <p:nvGrpSpPr>
          <p:cNvPr id="1119236" name="Group 4"/>
          <p:cNvGrpSpPr/>
          <p:nvPr/>
        </p:nvGrpSpPr>
        <p:grpSpPr bwMode="auto">
          <a:xfrm>
            <a:off x="5715000" y="3124200"/>
            <a:ext cx="990600" cy="533400"/>
            <a:chOff x="3600" y="1968"/>
            <a:chExt cx="624" cy="336"/>
          </a:xfrm>
        </p:grpSpPr>
        <p:sp>
          <p:nvSpPr>
            <p:cNvPr id="1119237" name="Line 5"/>
            <p:cNvSpPr>
              <a:spLocks noChangeShapeType="1"/>
            </p:cNvSpPr>
            <p:nvPr/>
          </p:nvSpPr>
          <p:spPr bwMode="auto">
            <a:xfrm>
              <a:off x="3600" y="1968"/>
              <a:ext cx="528" cy="0"/>
            </a:xfrm>
            <a:prstGeom prst="line">
              <a:avLst/>
            </a:prstGeom>
            <a:noFill/>
            <a:ln w="381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19238" name="Text Box 6"/>
            <p:cNvSpPr txBox="1">
              <a:spLocks noChangeArrowheads="1"/>
            </p:cNvSpPr>
            <p:nvPr/>
          </p:nvSpPr>
          <p:spPr bwMode="auto">
            <a:xfrm>
              <a:off x="3600" y="2016"/>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2400" b="1">
                  <a:solidFill>
                    <a:srgbClr val="FF6600"/>
                  </a:solidFill>
                </a:rPr>
                <a:t>栈顶</a:t>
              </a:r>
              <a:endParaRPr lang="zh-CN" altLang="en-US" sz="2400" b="1">
                <a:solidFill>
                  <a:srgbClr val="FF6600"/>
                </a:solidFill>
              </a:endParaRPr>
            </a:p>
          </p:txBody>
        </p:sp>
      </p:grpSp>
      <p:sp>
        <p:nvSpPr>
          <p:cNvPr id="1119239" name="Rectangle 7"/>
          <p:cNvSpPr>
            <a:spLocks noChangeArrowheads="1"/>
          </p:cNvSpPr>
          <p:nvPr/>
        </p:nvSpPr>
        <p:spPr bwMode="auto">
          <a:xfrm>
            <a:off x="685800" y="2514600"/>
            <a:ext cx="5105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eaLnBrk="0" hangingPunct="0">
              <a:defRPr kumimoji="1" sz="2000">
                <a:solidFill>
                  <a:schemeClr val="tx1"/>
                </a:solidFill>
                <a:latin typeface="Times New Roman" panose="02020603050405020304" charset="0"/>
                <a:ea typeface="宋体" panose="02010600030101010101" pitchFamily="2" charset="-122"/>
              </a:defRPr>
            </a:lvl1pPr>
            <a:lvl2pPr marL="742950" indent="-285750" eaLnBrk="0" hangingPunct="0">
              <a:defRPr kumimoji="1" sz="2000">
                <a:solidFill>
                  <a:schemeClr val="tx1"/>
                </a:solidFill>
                <a:latin typeface="Times New Roman" panose="02020603050405020304" charset="0"/>
                <a:ea typeface="宋体" panose="02010600030101010101" pitchFamily="2" charset="-122"/>
              </a:defRPr>
            </a:lvl2pPr>
            <a:lvl3pPr marL="1143000" indent="-228600" eaLnBrk="0" hangingPunct="0">
              <a:defRPr kumimoji="1" sz="2000">
                <a:solidFill>
                  <a:schemeClr val="tx1"/>
                </a:solidFill>
                <a:latin typeface="Times New Roman" panose="02020603050405020304" charset="0"/>
                <a:ea typeface="宋体" panose="02010600030101010101" pitchFamily="2" charset="-122"/>
              </a:defRPr>
            </a:lvl3pPr>
            <a:lvl4pPr marL="1600200" indent="-228600" eaLnBrk="0" hangingPunct="0">
              <a:defRPr kumimoji="1" sz="2000">
                <a:solidFill>
                  <a:schemeClr val="tx1"/>
                </a:solidFill>
                <a:latin typeface="Times New Roman" panose="02020603050405020304" charset="0"/>
                <a:ea typeface="宋体" panose="02010600030101010101" pitchFamily="2" charset="-122"/>
              </a:defRPr>
            </a:lvl4pPr>
            <a:lvl5pPr marL="2057400" indent="-228600" eaLnBrk="0" hangingPunct="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spcBef>
                <a:spcPct val="20000"/>
              </a:spcBef>
              <a:buClr>
                <a:schemeClr val="accent2"/>
              </a:buClr>
              <a:buSzPct val="80000"/>
              <a:buFont typeface="Wingdings" panose="05000000000000000000" pitchFamily="2" charset="2"/>
              <a:buChar char="l"/>
            </a:pPr>
            <a:r>
              <a:rPr lang="zh-CN" altLang="en-US" sz="2800" b="1"/>
              <a:t>链栈的</a:t>
            </a:r>
            <a:r>
              <a:rPr lang="zh-CN" altLang="en-US" sz="2800" b="1">
                <a:solidFill>
                  <a:srgbClr val="FF6600"/>
                </a:solidFill>
              </a:rPr>
              <a:t>特点</a:t>
            </a:r>
            <a:r>
              <a:rPr lang="en-US" altLang="zh-CN" sz="2800" b="1"/>
              <a:t>---</a:t>
            </a:r>
            <a:endParaRPr lang="en-US" altLang="zh-CN" sz="2800" b="1"/>
          </a:p>
          <a:p>
            <a:pPr eaLnBrk="1" hangingPunct="1">
              <a:lnSpc>
                <a:spcPct val="110000"/>
              </a:lnSpc>
              <a:buFont typeface="Wingdings" panose="05000000000000000000" pitchFamily="2" charset="2"/>
              <a:buNone/>
            </a:pPr>
            <a:r>
              <a:rPr lang="zh-CN" altLang="en-US" sz="2800"/>
              <a:t>（</a:t>
            </a:r>
            <a:r>
              <a:rPr lang="en-US" altLang="zh-CN" sz="2800"/>
              <a:t>1</a:t>
            </a:r>
            <a:r>
              <a:rPr lang="zh-CN" altLang="en-US" sz="2800"/>
              <a:t>）</a:t>
            </a:r>
            <a:r>
              <a:rPr lang="zh-CN" altLang="en-US" sz="2800" b="1"/>
              <a:t>插入和删除（进栈</a:t>
            </a:r>
            <a:r>
              <a:rPr lang="en-US" altLang="zh-CN" sz="2800" b="1"/>
              <a:t>/</a:t>
            </a:r>
            <a:r>
              <a:rPr lang="zh-CN" altLang="en-US" sz="2800" b="1"/>
              <a:t>退栈）仅在表头位置上（栈顶）进行。</a:t>
            </a:r>
            <a:endParaRPr lang="zh-CN" altLang="en-US" sz="2800" b="1"/>
          </a:p>
          <a:p>
            <a:pPr eaLnBrk="1" hangingPunct="1">
              <a:lnSpc>
                <a:spcPct val="110000"/>
              </a:lnSpc>
              <a:buFont typeface="Wingdings" panose="05000000000000000000" pitchFamily="2" charset="2"/>
              <a:buNone/>
            </a:pPr>
            <a:r>
              <a:rPr lang="zh-CN" altLang="en-US" sz="2800" b="1"/>
              <a:t>（</a:t>
            </a:r>
            <a:r>
              <a:rPr lang="en-US" altLang="zh-CN" sz="2800" b="1"/>
              <a:t>2</a:t>
            </a:r>
            <a:r>
              <a:rPr lang="zh-CN" altLang="en-US" sz="2800" b="1"/>
              <a:t>）不需附加头结点，栈顶指针就是链表（即链栈）的头指针。</a:t>
            </a:r>
            <a:endParaRPr lang="zh-CN" altLang="en-US" sz="2800" b="1">
              <a:ea typeface="楷体_GB2312" charset="0"/>
            </a:endParaRPr>
          </a:p>
        </p:txBody>
      </p:sp>
      <p:grpSp>
        <p:nvGrpSpPr>
          <p:cNvPr id="1119240" name="Group 8"/>
          <p:cNvGrpSpPr/>
          <p:nvPr/>
        </p:nvGrpSpPr>
        <p:grpSpPr bwMode="auto">
          <a:xfrm>
            <a:off x="6629400" y="2438400"/>
            <a:ext cx="2286000" cy="4038600"/>
            <a:chOff x="4176" y="1536"/>
            <a:chExt cx="1440" cy="2544"/>
          </a:xfrm>
        </p:grpSpPr>
        <p:sp>
          <p:nvSpPr>
            <p:cNvPr id="1119241" name="Rectangle 9"/>
            <p:cNvSpPr>
              <a:spLocks noChangeArrowheads="1"/>
            </p:cNvSpPr>
            <p:nvPr/>
          </p:nvSpPr>
          <p:spPr bwMode="auto">
            <a:xfrm>
              <a:off x="4176" y="1824"/>
              <a:ext cx="1200" cy="336"/>
            </a:xfrm>
            <a:prstGeom prst="rect">
              <a:avLst/>
            </a:prstGeom>
            <a:noFill/>
            <a:ln w="9525">
              <a:solidFill>
                <a:schemeClr val="tx1"/>
              </a:solidFill>
              <a:miter lim="800000"/>
            </a:ln>
            <a:effectLst/>
            <a:extLst>
              <a:ext uri="{909E8E84-426E-40DD-AFC4-6F175D3DCCD1}">
                <a14:hiddenFill xmlns:a14="http://schemas.microsoft.com/office/drawing/2010/main">
                  <a:solidFill>
                    <a:srgbClr val="66330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19242" name="Text Box 10"/>
            <p:cNvSpPr txBox="1">
              <a:spLocks noChangeArrowheads="1"/>
            </p:cNvSpPr>
            <p:nvPr/>
          </p:nvSpPr>
          <p:spPr bwMode="auto">
            <a:xfrm>
              <a:off x="4176" y="1536"/>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2400"/>
                <a:t> </a:t>
              </a:r>
              <a:r>
                <a:rPr lang="en-US" altLang="zh-CN" sz="2400" b="1"/>
                <a:t>data      link</a:t>
              </a:r>
              <a:endParaRPr lang="en-US" altLang="zh-CN" sz="2400" b="1"/>
            </a:p>
          </p:txBody>
        </p:sp>
        <p:sp>
          <p:nvSpPr>
            <p:cNvPr id="1119243" name="Rectangle 11"/>
            <p:cNvSpPr>
              <a:spLocks noChangeArrowheads="1"/>
            </p:cNvSpPr>
            <p:nvPr/>
          </p:nvSpPr>
          <p:spPr bwMode="auto">
            <a:xfrm>
              <a:off x="4224" y="2496"/>
              <a:ext cx="1200" cy="336"/>
            </a:xfrm>
            <a:prstGeom prst="rect">
              <a:avLst/>
            </a:prstGeom>
            <a:noFill/>
            <a:ln w="9525">
              <a:solidFill>
                <a:schemeClr val="tx1"/>
              </a:solidFill>
              <a:miter lim="800000"/>
            </a:ln>
            <a:effectLst/>
            <a:extLst>
              <a:ext uri="{909E8E84-426E-40DD-AFC4-6F175D3DCCD1}">
                <a14:hiddenFill xmlns:a14="http://schemas.microsoft.com/office/drawing/2010/main">
                  <a:solidFill>
                    <a:srgbClr val="66330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zh-CN" altLang="en-US" sz="2400">
                <a:solidFill>
                  <a:schemeClr val="bg2"/>
                </a:solidFill>
              </a:endParaRPr>
            </a:p>
          </p:txBody>
        </p:sp>
        <p:sp>
          <p:nvSpPr>
            <p:cNvPr id="1119244" name="Rectangle 12"/>
            <p:cNvSpPr>
              <a:spLocks noChangeArrowheads="1"/>
            </p:cNvSpPr>
            <p:nvPr/>
          </p:nvSpPr>
          <p:spPr bwMode="auto">
            <a:xfrm>
              <a:off x="4224" y="3744"/>
              <a:ext cx="1200" cy="336"/>
            </a:xfrm>
            <a:prstGeom prst="rect">
              <a:avLst/>
            </a:prstGeom>
            <a:noFill/>
            <a:ln w="9525">
              <a:solidFill>
                <a:schemeClr val="tx1"/>
              </a:solidFill>
              <a:miter lim="800000"/>
            </a:ln>
            <a:effectLst/>
            <a:extLst>
              <a:ext uri="{909E8E84-426E-40DD-AFC4-6F175D3DCCD1}">
                <a14:hiddenFill xmlns:a14="http://schemas.microsoft.com/office/drawing/2010/main">
                  <a:solidFill>
                    <a:srgbClr val="66330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19245" name="Line 13"/>
            <p:cNvSpPr>
              <a:spLocks noChangeShapeType="1"/>
            </p:cNvSpPr>
            <p:nvPr/>
          </p:nvSpPr>
          <p:spPr bwMode="auto">
            <a:xfrm>
              <a:off x="5184" y="2016"/>
              <a:ext cx="0" cy="576"/>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19246" name="Line 14"/>
            <p:cNvSpPr>
              <a:spLocks noChangeShapeType="1"/>
            </p:cNvSpPr>
            <p:nvPr/>
          </p:nvSpPr>
          <p:spPr bwMode="auto">
            <a:xfrm>
              <a:off x="5184" y="2784"/>
              <a:ext cx="0" cy="24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19247" name="Line 15"/>
            <p:cNvSpPr>
              <a:spLocks noChangeShapeType="1"/>
            </p:cNvSpPr>
            <p:nvPr/>
          </p:nvSpPr>
          <p:spPr bwMode="auto">
            <a:xfrm>
              <a:off x="5184" y="3600"/>
              <a:ext cx="0" cy="288"/>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19248" name="Line 16"/>
            <p:cNvSpPr>
              <a:spLocks noChangeShapeType="1"/>
            </p:cNvSpPr>
            <p:nvPr/>
          </p:nvSpPr>
          <p:spPr bwMode="auto">
            <a:xfrm>
              <a:off x="4800" y="182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19249" name="Line 17"/>
            <p:cNvSpPr>
              <a:spLocks noChangeShapeType="1"/>
            </p:cNvSpPr>
            <p:nvPr/>
          </p:nvSpPr>
          <p:spPr bwMode="auto">
            <a:xfrm>
              <a:off x="4848"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19250" name="Line 18"/>
            <p:cNvSpPr>
              <a:spLocks noChangeShapeType="1"/>
            </p:cNvSpPr>
            <p:nvPr/>
          </p:nvSpPr>
          <p:spPr bwMode="auto">
            <a:xfrm>
              <a:off x="4848" y="37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19251" name="Line 19"/>
            <p:cNvSpPr>
              <a:spLocks noChangeShapeType="1"/>
            </p:cNvSpPr>
            <p:nvPr/>
          </p:nvSpPr>
          <p:spPr bwMode="auto">
            <a:xfrm>
              <a:off x="5184" y="3072"/>
              <a:ext cx="0" cy="432"/>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grpSp>
      <p:sp>
        <p:nvSpPr>
          <p:cNvPr id="1119252" name="Text Box 20"/>
          <p:cNvSpPr txBox="1">
            <a:spLocks noChangeArrowheads="1"/>
          </p:cNvSpPr>
          <p:nvPr/>
        </p:nvSpPr>
        <p:spPr bwMode="auto">
          <a:xfrm>
            <a:off x="5867400" y="59436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2400" b="1">
                <a:solidFill>
                  <a:srgbClr val="FF6600"/>
                </a:solidFill>
              </a:rPr>
              <a:t>栈底</a:t>
            </a:r>
            <a:endParaRPr lang="zh-CN" altLang="en-US" sz="2400" b="1">
              <a:solidFill>
                <a:srgbClr val="FF66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19235">
                                            <p:txEl>
                                              <p:pRg st="0" end="0"/>
                                            </p:txEl>
                                          </p:spTgt>
                                        </p:tgtEl>
                                        <p:attrNameLst>
                                          <p:attrName>style.visibility</p:attrName>
                                        </p:attrNameLst>
                                      </p:cBhvr>
                                      <p:to>
                                        <p:strVal val="visible"/>
                                      </p:to>
                                    </p:set>
                                    <p:animEffect transition="in" filter="box(in)">
                                      <p:cBhvr>
                                        <p:cTn id="7" dur="500"/>
                                        <p:tgtEl>
                                          <p:spTgt spid="11192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19240"/>
                                        </p:tgtEl>
                                        <p:attrNameLst>
                                          <p:attrName>style.visibility</p:attrName>
                                        </p:attrNameLst>
                                      </p:cBhvr>
                                      <p:to>
                                        <p:strVal val="visible"/>
                                      </p:to>
                                    </p:set>
                                    <p:animEffect transition="in" filter="box(in)">
                                      <p:cBhvr>
                                        <p:cTn id="12" dur="500"/>
                                        <p:tgtEl>
                                          <p:spTgt spid="111924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1119252"/>
                                        </p:tgtEl>
                                        <p:attrNameLst>
                                          <p:attrName>style.visibility</p:attrName>
                                        </p:attrNameLst>
                                      </p:cBhvr>
                                      <p:to>
                                        <p:strVal val="visible"/>
                                      </p:to>
                                    </p:set>
                                    <p:animEffect transition="in" filter="slide(fromLeft)">
                                      <p:cBhvr>
                                        <p:cTn id="17" dur="500"/>
                                        <p:tgtEl>
                                          <p:spTgt spid="111925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1119236"/>
                                        </p:tgtEl>
                                        <p:attrNameLst>
                                          <p:attrName>style.visibility</p:attrName>
                                        </p:attrNameLst>
                                      </p:cBhvr>
                                      <p:to>
                                        <p:strVal val="visible"/>
                                      </p:to>
                                    </p:set>
                                    <p:animEffect transition="in" filter="slide(fromLeft)">
                                      <p:cBhvr>
                                        <p:cTn id="22" dur="500"/>
                                        <p:tgtEl>
                                          <p:spTgt spid="11192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19239">
                                            <p:txEl>
                                              <p:pRg st="0" end="0"/>
                                            </p:txEl>
                                          </p:spTgt>
                                        </p:tgtEl>
                                        <p:attrNameLst>
                                          <p:attrName>style.visibility</p:attrName>
                                        </p:attrNameLst>
                                      </p:cBhvr>
                                      <p:to>
                                        <p:strVal val="visible"/>
                                      </p:to>
                                    </p:set>
                                    <p:animEffect transition="in" filter="wipe(up)">
                                      <p:cBhvr>
                                        <p:cTn id="27" dur="500"/>
                                        <p:tgtEl>
                                          <p:spTgt spid="111923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19239">
                                            <p:txEl>
                                              <p:pRg st="1" end="1"/>
                                            </p:txEl>
                                          </p:spTgt>
                                        </p:tgtEl>
                                        <p:attrNameLst>
                                          <p:attrName>style.visibility</p:attrName>
                                        </p:attrNameLst>
                                      </p:cBhvr>
                                      <p:to>
                                        <p:strVal val="visible"/>
                                      </p:to>
                                    </p:set>
                                    <p:animEffect transition="in" filter="wipe(up)">
                                      <p:cBhvr>
                                        <p:cTn id="32" dur="500"/>
                                        <p:tgtEl>
                                          <p:spTgt spid="1119239">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119239">
                                            <p:txEl>
                                              <p:pRg st="2" end="2"/>
                                            </p:txEl>
                                          </p:spTgt>
                                        </p:tgtEl>
                                        <p:attrNameLst>
                                          <p:attrName>style.visibility</p:attrName>
                                        </p:attrNameLst>
                                      </p:cBhvr>
                                      <p:to>
                                        <p:strVal val="visible"/>
                                      </p:to>
                                    </p:set>
                                    <p:animEffect transition="in" filter="wipe(up)">
                                      <p:cBhvr>
                                        <p:cTn id="37" dur="500"/>
                                        <p:tgtEl>
                                          <p:spTgt spid="11192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9235" grpId="0" autoUpdateAnimBg="0" build="p"/>
      <p:bldP spid="1119239" grpId="0" autoUpdateAnimBg="0" build="p"/>
      <p:bldP spid="111925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258" name="Text Box 2"/>
          <p:cNvSpPr txBox="1">
            <a:spLocks noChangeArrowheads="1"/>
          </p:cNvSpPr>
          <p:nvPr/>
        </p:nvSpPr>
        <p:spPr bwMode="auto">
          <a:xfrm>
            <a:off x="1600200" y="304800"/>
            <a:ext cx="6248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zh-CN" altLang="en-US" sz="3600" b="1">
                <a:solidFill>
                  <a:srgbClr val="FF6600"/>
                </a:solidFill>
                <a:latin typeface="VW媩$婫`婡p瑙" charset="0"/>
                <a:ea typeface="楷体_GB2312" charset="0"/>
              </a:rPr>
              <a:t>栈的链接存储结构</a:t>
            </a:r>
            <a:endParaRPr lang="zh-CN" altLang="en-US" sz="3600" b="1">
              <a:solidFill>
                <a:srgbClr val="FF6600"/>
              </a:solidFill>
              <a:latin typeface="VW媩$婫`婡p瑙" charset="0"/>
              <a:ea typeface="楷体_GB2312" charset="0"/>
            </a:endParaRPr>
          </a:p>
        </p:txBody>
      </p:sp>
      <p:sp>
        <p:nvSpPr>
          <p:cNvPr id="1120259" name="Text Box 3"/>
          <p:cNvSpPr txBox="1">
            <a:spLocks noChangeArrowheads="1"/>
          </p:cNvSpPr>
          <p:nvPr/>
        </p:nvSpPr>
        <p:spPr bwMode="auto">
          <a:xfrm>
            <a:off x="1524000" y="1295400"/>
            <a:ext cx="6400800" cy="488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20000"/>
              </a:spcBef>
            </a:pPr>
            <a:r>
              <a:rPr lang="zh-CN" altLang="en-US" sz="3200">
                <a:ea typeface="黑体" panose="02010609060101010101" charset="-122"/>
              </a:rPr>
              <a:t>链栈的结点定义</a:t>
            </a:r>
            <a:r>
              <a:rPr lang="en-US" altLang="zh-CN" sz="3200">
                <a:ea typeface="黑体" panose="02010609060101010101" charset="-122"/>
              </a:rPr>
              <a:t>:</a:t>
            </a:r>
            <a:endParaRPr lang="en-US" altLang="zh-CN" sz="3200"/>
          </a:p>
          <a:p>
            <a:pPr eaLnBrk="0" hangingPunct="0">
              <a:spcBef>
                <a:spcPct val="20000"/>
              </a:spcBef>
            </a:pPr>
            <a:r>
              <a:rPr lang="en-US" altLang="zh-CN" sz="3200">
                <a:ea typeface="黑体" panose="02010609060101010101" charset="-122"/>
              </a:rPr>
              <a:t>typedef  char  SElemType ;</a:t>
            </a:r>
            <a:endParaRPr lang="en-US" altLang="zh-CN" sz="3200"/>
          </a:p>
          <a:p>
            <a:pPr eaLnBrk="0" hangingPunct="0">
              <a:spcBef>
                <a:spcPct val="20000"/>
              </a:spcBef>
            </a:pPr>
            <a:r>
              <a:rPr lang="en-US" altLang="zh-CN" sz="3200">
                <a:ea typeface="黑体" panose="02010609060101010101" charset="-122"/>
              </a:rPr>
              <a:t>typedef struct LinkNode{</a:t>
            </a:r>
            <a:endParaRPr lang="en-US" altLang="zh-CN" sz="3200">
              <a:ea typeface="黑体" panose="02010609060101010101" charset="-122"/>
            </a:endParaRPr>
          </a:p>
          <a:p>
            <a:pPr eaLnBrk="0" hangingPunct="0">
              <a:spcBef>
                <a:spcPct val="20000"/>
              </a:spcBef>
            </a:pPr>
            <a:r>
              <a:rPr lang="en-US" altLang="zh-CN" sz="3200">
                <a:ea typeface="黑体" panose="02010609060101010101" charset="-122"/>
              </a:rPr>
              <a:t>       SElemType  data;</a:t>
            </a:r>
            <a:endParaRPr lang="en-US" altLang="zh-CN" sz="3200"/>
          </a:p>
          <a:p>
            <a:pPr eaLnBrk="0" hangingPunct="0">
              <a:spcBef>
                <a:spcPct val="20000"/>
              </a:spcBef>
            </a:pPr>
            <a:r>
              <a:rPr lang="en-US" altLang="zh-CN" sz="3200">
                <a:ea typeface="黑体" panose="02010609060101010101" charset="-122"/>
              </a:rPr>
              <a:t>       struct LinkNode  *next;</a:t>
            </a:r>
            <a:endParaRPr lang="en-US" altLang="zh-CN" sz="3200">
              <a:ea typeface="黑体" panose="02010609060101010101" charset="-122"/>
              <a:cs typeface="Times New Roman" panose="02020603050405020304" charset="0"/>
            </a:endParaRPr>
          </a:p>
          <a:p>
            <a:pPr eaLnBrk="0" hangingPunct="0">
              <a:spcBef>
                <a:spcPct val="20000"/>
              </a:spcBef>
            </a:pPr>
            <a:r>
              <a:rPr lang="en-US" altLang="zh-CN" sz="3200">
                <a:ea typeface="黑体" panose="02010609060101010101" charset="-122"/>
              </a:rPr>
              <a:t>} LinkNode,  *LinkStack; </a:t>
            </a:r>
            <a:endParaRPr lang="en-US" altLang="zh-CN" sz="3200">
              <a:ea typeface="黑体" panose="02010609060101010101" charset="-122"/>
            </a:endParaRPr>
          </a:p>
          <a:p>
            <a:pPr eaLnBrk="0" hangingPunct="0">
              <a:spcBef>
                <a:spcPct val="50000"/>
              </a:spcBef>
            </a:pPr>
            <a:r>
              <a:rPr lang="en-US" altLang="zh-CN" sz="3200">
                <a:ea typeface="黑体" panose="02010609060101010101" charset="-122"/>
              </a:rPr>
              <a:t>LinkStack  top;</a:t>
            </a:r>
            <a:endParaRPr lang="en-US" altLang="zh-CN" sz="3200">
              <a:ea typeface="黑体" panose="02010609060101010101" charset="-122"/>
            </a:endParaRPr>
          </a:p>
          <a:p>
            <a:pPr eaLnBrk="0" hangingPunct="0">
              <a:spcBef>
                <a:spcPct val="35000"/>
              </a:spcBef>
            </a:pPr>
            <a:endParaRPr lang="zh-CN" altLang="en-US" sz="3200">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0259"/>
                                        </p:tgtEl>
                                        <p:attrNameLst>
                                          <p:attrName>style.visibility</p:attrName>
                                        </p:attrNameLst>
                                      </p:cBhvr>
                                      <p:to>
                                        <p:strVal val="visible"/>
                                      </p:to>
                                    </p:set>
                                    <p:animEffect transition="in" filter="wipe(up)">
                                      <p:cBhvr>
                                        <p:cTn id="7" dur="500"/>
                                        <p:tgtEl>
                                          <p:spTgt spid="1120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0259"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282" name="Text Box 2"/>
          <p:cNvSpPr txBox="1">
            <a:spLocks noChangeArrowheads="1"/>
          </p:cNvSpPr>
          <p:nvPr/>
        </p:nvSpPr>
        <p:spPr bwMode="auto">
          <a:xfrm>
            <a:off x="1219200" y="228600"/>
            <a:ext cx="7924800" cy="186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zh-CN" altLang="en-US" sz="3200" b="1">
                <a:solidFill>
                  <a:srgbClr val="FF6600"/>
                </a:solidFill>
                <a:latin typeface="楷体_GB2312" charset="0"/>
                <a:ea typeface="楷体_GB2312" charset="0"/>
              </a:rPr>
              <a:t>链栈的进栈算法</a:t>
            </a:r>
            <a:r>
              <a:rPr lang="en-US" altLang="zh-CN" sz="3200" b="1">
                <a:solidFill>
                  <a:srgbClr val="FF6600"/>
                </a:solidFill>
                <a:latin typeface="楷体_GB2312" charset="0"/>
                <a:ea typeface="楷体_GB2312" charset="0"/>
              </a:rPr>
              <a:t>:</a:t>
            </a:r>
            <a:endParaRPr lang="en-US" altLang="zh-CN" sz="3200">
              <a:solidFill>
                <a:srgbClr val="FF6600"/>
              </a:solidFill>
              <a:latin typeface="楷体_GB2312" charset="0"/>
              <a:ea typeface="楷体_GB2312" charset="0"/>
            </a:endParaRPr>
          </a:p>
          <a:p>
            <a:pPr eaLnBrk="0" hangingPunct="0">
              <a:spcBef>
                <a:spcPct val="50000"/>
              </a:spcBef>
            </a:pPr>
            <a:r>
              <a:rPr lang="en-US" altLang="zh-CN" sz="2800" b="1">
                <a:ea typeface="黑体" panose="02010609060101010101" charset="-122"/>
              </a:rPr>
              <a:t>Status Push( LinkStack &amp;top,  SElemType  e ){</a:t>
            </a:r>
            <a:endParaRPr lang="en-US" altLang="zh-CN" sz="2800" b="1">
              <a:ea typeface="黑体" panose="02010609060101010101" charset="-122"/>
            </a:endParaRPr>
          </a:p>
          <a:p>
            <a:pPr eaLnBrk="0" hangingPunct="0">
              <a:spcBef>
                <a:spcPct val="50000"/>
              </a:spcBef>
            </a:pPr>
            <a:r>
              <a:rPr lang="en-US" altLang="zh-CN" sz="2800" b="1">
                <a:ea typeface="黑体" panose="02010609060101010101" charset="-122"/>
              </a:rPr>
              <a:t>       </a:t>
            </a:r>
            <a:endParaRPr lang="en-US" altLang="zh-CN" sz="2800" b="1">
              <a:ea typeface="黑体" panose="02010609060101010101" charset="-122"/>
            </a:endParaRPr>
          </a:p>
        </p:txBody>
      </p:sp>
      <p:sp>
        <p:nvSpPr>
          <p:cNvPr id="1121283" name="Rectangle 3"/>
          <p:cNvSpPr>
            <a:spLocks noChangeArrowheads="1"/>
          </p:cNvSpPr>
          <p:nvPr/>
        </p:nvSpPr>
        <p:spPr bwMode="auto">
          <a:xfrm>
            <a:off x="838200" y="1981200"/>
            <a:ext cx="7786688" cy="371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25000"/>
              </a:spcBef>
            </a:pPr>
            <a:r>
              <a:rPr lang="zh-CN" altLang="en-US" sz="2800" b="1">
                <a:ea typeface="黑体" panose="02010609060101010101" charset="-122"/>
              </a:rPr>
              <a:t>      </a:t>
            </a:r>
            <a:r>
              <a:rPr lang="en-US" altLang="zh-CN" sz="2800" b="1">
                <a:ea typeface="黑体" panose="02010609060101010101" charset="-122"/>
              </a:rPr>
              <a:t>LinkStack  p;</a:t>
            </a:r>
            <a:endParaRPr lang="en-US" altLang="zh-CN" sz="2800"/>
          </a:p>
          <a:p>
            <a:pPr eaLnBrk="0" hangingPunct="0">
              <a:spcBef>
                <a:spcPct val="25000"/>
              </a:spcBef>
            </a:pPr>
            <a:r>
              <a:rPr lang="en-US" altLang="zh-CN" sz="2800" b="1">
                <a:ea typeface="黑体" panose="02010609060101010101" charset="-122"/>
              </a:rPr>
              <a:t>       p=(LinkNode</a:t>
            </a:r>
            <a:r>
              <a:rPr lang="en-US" altLang="zh-CN" sz="2400" b="1">
                <a:ea typeface="黑体" panose="02010609060101010101" charset="-122"/>
              </a:rPr>
              <a:t> </a:t>
            </a:r>
            <a:r>
              <a:rPr lang="en-US" altLang="zh-CN" sz="2800" b="1">
                <a:ea typeface="黑体" panose="02010609060101010101" charset="-122"/>
              </a:rPr>
              <a:t>*)malloc(sizeof(LinkNode));</a:t>
            </a:r>
            <a:endParaRPr lang="en-US" altLang="zh-CN" sz="2800"/>
          </a:p>
          <a:p>
            <a:pPr eaLnBrk="0" hangingPunct="0">
              <a:spcBef>
                <a:spcPct val="25000"/>
              </a:spcBef>
            </a:pPr>
            <a:r>
              <a:rPr lang="en-US" altLang="zh-CN" sz="2800" b="1">
                <a:ea typeface="黑体" panose="02010609060101010101" charset="-122"/>
              </a:rPr>
              <a:t>       if ( !p ) exit(ERROR);       </a:t>
            </a:r>
            <a:endParaRPr lang="en-US" altLang="zh-CN" sz="2800" b="1">
              <a:ea typeface="黑体" panose="02010609060101010101" charset="-122"/>
            </a:endParaRPr>
          </a:p>
          <a:p>
            <a:pPr eaLnBrk="0" hangingPunct="0">
              <a:spcBef>
                <a:spcPct val="25000"/>
              </a:spcBef>
            </a:pPr>
            <a:r>
              <a:rPr lang="en-US" altLang="zh-CN" sz="2800" b="1">
                <a:ea typeface="黑体" panose="02010609060101010101" charset="-122"/>
              </a:rPr>
              <a:t>       p-&gt;data = e; </a:t>
            </a:r>
            <a:endParaRPr lang="en-US" altLang="zh-CN" sz="2800" b="1">
              <a:ea typeface="黑体" panose="02010609060101010101" charset="-122"/>
            </a:endParaRPr>
          </a:p>
          <a:p>
            <a:pPr eaLnBrk="0" hangingPunct="0">
              <a:spcBef>
                <a:spcPct val="25000"/>
              </a:spcBef>
            </a:pPr>
            <a:r>
              <a:rPr lang="en-US" altLang="zh-CN" sz="2800" b="1">
                <a:ea typeface="黑体" panose="02010609060101010101" charset="-122"/>
              </a:rPr>
              <a:t>       p-&gt;next=top;</a:t>
            </a:r>
            <a:endParaRPr lang="en-US" altLang="zh-CN" sz="2800"/>
          </a:p>
          <a:p>
            <a:pPr eaLnBrk="0" hangingPunct="0">
              <a:spcBef>
                <a:spcPct val="25000"/>
              </a:spcBef>
            </a:pPr>
            <a:r>
              <a:rPr lang="en-US" altLang="zh-CN" sz="2800" b="1">
                <a:ea typeface="黑体" panose="02010609060101010101" charset="-122"/>
              </a:rPr>
              <a:t>       top = p;</a:t>
            </a:r>
            <a:endParaRPr lang="en-US" altLang="zh-CN" sz="2800"/>
          </a:p>
          <a:p>
            <a:pPr eaLnBrk="0" hangingPunct="0">
              <a:spcBef>
                <a:spcPct val="25000"/>
              </a:spcBef>
            </a:pPr>
            <a:r>
              <a:rPr lang="en-US" altLang="zh-CN" sz="2800" b="1">
                <a:ea typeface="黑体" panose="02010609060101010101" charset="-122"/>
              </a:rPr>
              <a:t>}</a:t>
            </a:r>
            <a:endParaRPr lang="en-US" altLang="zh-CN" sz="2800" b="1">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1283"/>
                                        </p:tgtEl>
                                        <p:attrNameLst>
                                          <p:attrName>style.visibility</p:attrName>
                                        </p:attrNameLst>
                                      </p:cBhvr>
                                      <p:to>
                                        <p:strVal val="visible"/>
                                      </p:to>
                                    </p:set>
                                    <p:animEffect transition="in" filter="wipe(up)">
                                      <p:cBhvr>
                                        <p:cTn id="7" dur="500"/>
                                        <p:tgtEl>
                                          <p:spTgt spid="1121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1283"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2306" name="Text Box 2"/>
          <p:cNvSpPr txBox="1">
            <a:spLocks noChangeArrowheads="1"/>
          </p:cNvSpPr>
          <p:nvPr/>
        </p:nvSpPr>
        <p:spPr bwMode="auto">
          <a:xfrm>
            <a:off x="1447800" y="304800"/>
            <a:ext cx="7315200"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zh-CN" altLang="en-US" sz="3200" b="1">
                <a:solidFill>
                  <a:srgbClr val="FF6600"/>
                </a:solidFill>
                <a:latin typeface="楷体_GB2312" charset="0"/>
                <a:ea typeface="楷体_GB2312" charset="0"/>
              </a:rPr>
              <a:t>链栈的出栈算法</a:t>
            </a:r>
            <a:r>
              <a:rPr lang="en-US" altLang="zh-CN" sz="3200" b="1">
                <a:solidFill>
                  <a:srgbClr val="FF6600"/>
                </a:solidFill>
                <a:latin typeface="楷体_GB2312" charset="0"/>
                <a:ea typeface="楷体_GB2312" charset="0"/>
              </a:rPr>
              <a:t>:</a:t>
            </a:r>
            <a:endParaRPr lang="en-US" altLang="zh-CN" sz="3200">
              <a:solidFill>
                <a:srgbClr val="FF6600"/>
              </a:solidFill>
              <a:latin typeface="楷体_GB2312" charset="0"/>
              <a:ea typeface="楷体_GB2312" charset="0"/>
            </a:endParaRPr>
          </a:p>
          <a:p>
            <a:pPr eaLnBrk="0" hangingPunct="0">
              <a:spcBef>
                <a:spcPct val="5000"/>
              </a:spcBef>
            </a:pPr>
            <a:r>
              <a:rPr lang="en-US" altLang="zh-CN" sz="2800">
                <a:latin typeface="Arial" panose="020B0604020202020204" pitchFamily="34" charset="0"/>
                <a:ea typeface="黑体" panose="02010609060101010101" charset="-122"/>
              </a:rPr>
              <a:t>       </a:t>
            </a:r>
            <a:endParaRPr lang="en-US" altLang="zh-CN" sz="2800">
              <a:latin typeface="Arial" panose="020B0604020202020204" pitchFamily="34" charset="0"/>
              <a:ea typeface="黑体" panose="02010609060101010101" charset="-122"/>
            </a:endParaRPr>
          </a:p>
        </p:txBody>
      </p:sp>
      <p:sp>
        <p:nvSpPr>
          <p:cNvPr id="1122307" name="Rectangle 3"/>
          <p:cNvSpPr>
            <a:spLocks noChangeArrowheads="1"/>
          </p:cNvSpPr>
          <p:nvPr/>
        </p:nvSpPr>
        <p:spPr bwMode="auto">
          <a:xfrm>
            <a:off x="762000" y="1600200"/>
            <a:ext cx="8001000" cy="499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
              </a:spcBef>
            </a:pPr>
            <a:r>
              <a:rPr lang="en-US" altLang="zh-CN" sz="2800" b="1">
                <a:ea typeface="黑体" panose="02010609060101010101" charset="-122"/>
              </a:rPr>
              <a:t>Status Pop(LinkStack &amp;top,  SElemType  &amp;e){</a:t>
            </a:r>
            <a:endParaRPr lang="en-US" altLang="zh-CN" sz="2800" b="1">
              <a:ea typeface="黑体" panose="02010609060101010101" charset="-122"/>
            </a:endParaRPr>
          </a:p>
          <a:p>
            <a:pPr eaLnBrk="0" hangingPunct="0">
              <a:spcBef>
                <a:spcPct val="5000"/>
              </a:spcBef>
            </a:pPr>
            <a:r>
              <a:rPr lang="zh-CN" altLang="en-US" sz="2800" b="1">
                <a:ea typeface="黑体" panose="02010609060101010101" charset="-122"/>
              </a:rPr>
              <a:t>        </a:t>
            </a:r>
            <a:r>
              <a:rPr lang="en-US" altLang="zh-CN" sz="2800" b="1">
                <a:ea typeface="黑体" panose="02010609060101010101" charset="-122"/>
              </a:rPr>
              <a:t>if ( top == NULL)</a:t>
            </a:r>
            <a:endParaRPr lang="en-US" altLang="zh-CN" sz="2800" b="1">
              <a:ea typeface="黑体" panose="02010609060101010101" charset="-122"/>
            </a:endParaRPr>
          </a:p>
          <a:p>
            <a:pPr eaLnBrk="0" hangingPunct="0">
              <a:spcBef>
                <a:spcPct val="5000"/>
              </a:spcBef>
            </a:pPr>
            <a:r>
              <a:rPr lang="en-US" altLang="zh-CN" sz="2800" b="1">
                <a:ea typeface="黑体" panose="02010609060101010101" charset="-122"/>
              </a:rPr>
              <a:t>              return  ERROR;</a:t>
            </a:r>
            <a:endParaRPr lang="en-US" altLang="zh-CN" sz="2800" b="1">
              <a:ea typeface="黑体" panose="02010609060101010101" charset="-122"/>
            </a:endParaRPr>
          </a:p>
          <a:p>
            <a:pPr eaLnBrk="0" hangingPunct="0">
              <a:spcBef>
                <a:spcPct val="5000"/>
              </a:spcBef>
            </a:pPr>
            <a:r>
              <a:rPr lang="en-US" altLang="zh-CN" sz="2800" b="1">
                <a:ea typeface="黑体" panose="02010609060101010101" charset="-122"/>
              </a:rPr>
              <a:t>         else { </a:t>
            </a:r>
            <a:endParaRPr lang="en-US" altLang="zh-CN" sz="2800" b="1">
              <a:ea typeface="黑体" panose="02010609060101010101" charset="-122"/>
            </a:endParaRPr>
          </a:p>
          <a:p>
            <a:pPr eaLnBrk="0" hangingPunct="0">
              <a:spcBef>
                <a:spcPct val="5000"/>
              </a:spcBef>
            </a:pPr>
            <a:r>
              <a:rPr lang="en-US" altLang="zh-CN" sz="2800" b="1">
                <a:ea typeface="黑体" panose="02010609060101010101" charset="-122"/>
              </a:rPr>
              <a:t>              e = top-&gt;data;</a:t>
            </a:r>
            <a:endParaRPr lang="en-US" altLang="zh-CN" sz="2800" b="1">
              <a:ea typeface="黑体" panose="02010609060101010101" charset="-122"/>
              <a:cs typeface="Times New Roman" panose="02020603050405020304" charset="0"/>
            </a:endParaRPr>
          </a:p>
          <a:p>
            <a:pPr eaLnBrk="0" hangingPunct="0">
              <a:spcBef>
                <a:spcPct val="5000"/>
              </a:spcBef>
            </a:pPr>
            <a:r>
              <a:rPr lang="en-US" altLang="zh-CN" sz="2800" b="1">
                <a:ea typeface="黑体" panose="02010609060101010101" charset="-122"/>
              </a:rPr>
              <a:t>              p= top;</a:t>
            </a:r>
            <a:endParaRPr lang="en-US" altLang="zh-CN" sz="2800" b="1">
              <a:ea typeface="黑体" panose="02010609060101010101" charset="-122"/>
            </a:endParaRPr>
          </a:p>
          <a:p>
            <a:pPr eaLnBrk="0" hangingPunct="0">
              <a:spcBef>
                <a:spcPct val="5000"/>
              </a:spcBef>
            </a:pPr>
            <a:r>
              <a:rPr lang="en-US" altLang="zh-CN" sz="2800" b="1">
                <a:ea typeface="黑体" panose="02010609060101010101" charset="-122"/>
              </a:rPr>
              <a:t>              top = top-&gt;next;</a:t>
            </a:r>
            <a:endParaRPr lang="en-US" altLang="zh-CN" sz="2800" b="1">
              <a:ea typeface="黑体" panose="02010609060101010101" charset="-122"/>
            </a:endParaRPr>
          </a:p>
          <a:p>
            <a:pPr eaLnBrk="0" hangingPunct="0">
              <a:spcBef>
                <a:spcPct val="5000"/>
              </a:spcBef>
            </a:pPr>
            <a:r>
              <a:rPr lang="en-US" altLang="zh-CN" sz="2800" b="1">
                <a:ea typeface="黑体" panose="02010609060101010101" charset="-122"/>
              </a:rPr>
              <a:t>              free(p);</a:t>
            </a:r>
            <a:endParaRPr lang="en-US" altLang="zh-CN" sz="2800" b="1">
              <a:ea typeface="黑体" panose="02010609060101010101" charset="-122"/>
            </a:endParaRPr>
          </a:p>
          <a:p>
            <a:pPr eaLnBrk="0" hangingPunct="0">
              <a:spcBef>
                <a:spcPct val="5000"/>
              </a:spcBef>
            </a:pPr>
            <a:r>
              <a:rPr lang="en-US" altLang="zh-CN" sz="2800" b="1">
                <a:ea typeface="黑体" panose="02010609060101010101" charset="-122"/>
              </a:rPr>
              <a:t>              return OK;</a:t>
            </a:r>
            <a:endParaRPr lang="en-US" altLang="zh-CN" sz="2800" b="1">
              <a:ea typeface="黑体" panose="02010609060101010101" charset="-122"/>
            </a:endParaRPr>
          </a:p>
          <a:p>
            <a:pPr eaLnBrk="0" hangingPunct="0">
              <a:spcBef>
                <a:spcPct val="5000"/>
              </a:spcBef>
            </a:pPr>
            <a:r>
              <a:rPr lang="en-US" altLang="zh-CN" sz="2800" b="1">
                <a:ea typeface="黑体" panose="02010609060101010101" charset="-122"/>
              </a:rPr>
              <a:t>        }</a:t>
            </a:r>
            <a:endParaRPr lang="en-US" altLang="zh-CN" sz="2800" b="1">
              <a:ea typeface="黑体" panose="02010609060101010101" charset="-122"/>
            </a:endParaRPr>
          </a:p>
          <a:p>
            <a:pPr eaLnBrk="0" hangingPunct="0">
              <a:spcBef>
                <a:spcPct val="5000"/>
              </a:spcBef>
            </a:pPr>
            <a:r>
              <a:rPr lang="en-US" altLang="zh-CN" sz="2800" b="1">
                <a:ea typeface="黑体" panose="02010609060101010101" charset="-122"/>
              </a:rPr>
              <a:t>}</a:t>
            </a:r>
            <a:endParaRPr lang="en-US" altLang="zh-CN" sz="2800" b="1">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2307"/>
                                        </p:tgtEl>
                                        <p:attrNameLst>
                                          <p:attrName>style.visibility</p:attrName>
                                        </p:attrNameLst>
                                      </p:cBhvr>
                                      <p:to>
                                        <p:strVal val="visible"/>
                                      </p:to>
                                    </p:set>
                                    <p:animEffect transition="in" filter="wipe(up)">
                                      <p:cBhvr>
                                        <p:cTn id="7" dur="500"/>
                                        <p:tgtEl>
                                          <p:spTgt spid="1122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2307"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30" name="Text Box 2"/>
          <p:cNvSpPr txBox="1">
            <a:spLocks noChangeArrowheads="1"/>
          </p:cNvSpPr>
          <p:nvPr/>
        </p:nvSpPr>
        <p:spPr bwMode="auto">
          <a:xfrm>
            <a:off x="1428750" y="76200"/>
            <a:ext cx="6496050"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6000" b="1">
                <a:solidFill>
                  <a:srgbClr val="996633"/>
                </a:solidFill>
                <a:ea typeface="隶书" panose="02010509060101010101" charset="-122"/>
              </a:rPr>
              <a:t>3.3</a:t>
            </a:r>
            <a:r>
              <a:rPr lang="en-US" altLang="zh-CN" sz="6000" b="1">
                <a:solidFill>
                  <a:srgbClr val="996633"/>
                </a:solidFill>
                <a:latin typeface="隶书" panose="02010509060101010101" charset="-122"/>
                <a:ea typeface="隶书" panose="02010509060101010101" charset="-122"/>
              </a:rPr>
              <a:t>  </a:t>
            </a:r>
            <a:r>
              <a:rPr lang="zh-CN" altLang="en-US" sz="6000" b="1">
                <a:solidFill>
                  <a:srgbClr val="996633"/>
                </a:solidFill>
                <a:latin typeface="隶书" panose="02010509060101010101" charset="-122"/>
                <a:ea typeface="隶书" panose="02010509060101010101" charset="-122"/>
              </a:rPr>
              <a:t>栈的应用举例</a:t>
            </a:r>
            <a:endParaRPr lang="zh-CN" altLang="en-US" sz="6000">
              <a:solidFill>
                <a:srgbClr val="0000FF"/>
              </a:solidFill>
            </a:endParaRPr>
          </a:p>
        </p:txBody>
      </p:sp>
      <p:sp>
        <p:nvSpPr>
          <p:cNvPr id="1046531" name="Text Box 3">
            <a:hlinkClick r:id="rId1" action="ppaction://hlinksldjump"/>
          </p:cNvPr>
          <p:cNvSpPr txBox="1">
            <a:spLocks noChangeArrowheads="1"/>
          </p:cNvSpPr>
          <p:nvPr/>
        </p:nvSpPr>
        <p:spPr bwMode="auto">
          <a:xfrm>
            <a:off x="1066800" y="1371600"/>
            <a:ext cx="426878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400" b="1">
                <a:solidFill>
                  <a:srgbClr val="660066"/>
                </a:solidFill>
                <a:ea typeface="楷体_GB2312" charset="0"/>
              </a:rPr>
              <a:t>例一、 数制转换</a:t>
            </a:r>
            <a:endParaRPr lang="zh-CN" altLang="en-US" sz="4400" b="1">
              <a:ea typeface="楷体_GB2312" charset="0"/>
            </a:endParaRPr>
          </a:p>
        </p:txBody>
      </p:sp>
      <p:sp>
        <p:nvSpPr>
          <p:cNvPr id="1046532" name="Text Box 4">
            <a:hlinkClick r:id="rId2" action="ppaction://hlinksldjump"/>
          </p:cNvPr>
          <p:cNvSpPr txBox="1">
            <a:spLocks noChangeArrowheads="1"/>
          </p:cNvSpPr>
          <p:nvPr/>
        </p:nvSpPr>
        <p:spPr bwMode="auto">
          <a:xfrm>
            <a:off x="1066800" y="2209800"/>
            <a:ext cx="595947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400" b="1">
                <a:solidFill>
                  <a:srgbClr val="660066"/>
                </a:solidFill>
                <a:ea typeface="楷体_GB2312" charset="0"/>
              </a:rPr>
              <a:t>例二、 括号匹配的检验</a:t>
            </a:r>
            <a:endParaRPr lang="zh-CN" altLang="en-US" sz="4400" b="1">
              <a:ea typeface="楷体_GB2312" charset="0"/>
            </a:endParaRPr>
          </a:p>
        </p:txBody>
      </p:sp>
      <p:sp>
        <p:nvSpPr>
          <p:cNvPr id="1046533" name="Text Box 5">
            <a:hlinkClick r:id="rId3" action="ppaction://hlinksldjump"/>
          </p:cNvPr>
          <p:cNvSpPr txBox="1">
            <a:spLocks noChangeArrowheads="1"/>
          </p:cNvSpPr>
          <p:nvPr/>
        </p:nvSpPr>
        <p:spPr bwMode="auto">
          <a:xfrm>
            <a:off x="1066800" y="3124200"/>
            <a:ext cx="595947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400" b="1">
                <a:solidFill>
                  <a:srgbClr val="660066"/>
                </a:solidFill>
                <a:ea typeface="楷体_GB2312" charset="0"/>
              </a:rPr>
              <a:t>例三、 行编辑程序问题</a:t>
            </a:r>
            <a:endParaRPr lang="zh-CN" altLang="en-US" sz="4400">
              <a:solidFill>
                <a:srgbClr val="660066"/>
              </a:solidFill>
            </a:endParaRPr>
          </a:p>
        </p:txBody>
      </p:sp>
      <p:sp>
        <p:nvSpPr>
          <p:cNvPr id="1046534" name="Text Box 6">
            <a:hlinkClick r:id="rId4" action="ppaction://hlinksldjump"/>
          </p:cNvPr>
          <p:cNvSpPr txBox="1">
            <a:spLocks noChangeArrowheads="1"/>
          </p:cNvSpPr>
          <p:nvPr/>
        </p:nvSpPr>
        <p:spPr bwMode="auto">
          <a:xfrm>
            <a:off x="1066800" y="4038600"/>
            <a:ext cx="426878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400" b="1">
                <a:solidFill>
                  <a:srgbClr val="660066"/>
                </a:solidFill>
                <a:ea typeface="楷体_GB2312" charset="0"/>
              </a:rPr>
              <a:t>例四、 迷宫求解</a:t>
            </a:r>
            <a:endParaRPr lang="zh-CN" altLang="en-US" sz="4400" b="1">
              <a:ea typeface="楷体_GB2312" charset="0"/>
            </a:endParaRPr>
          </a:p>
        </p:txBody>
      </p:sp>
      <p:sp>
        <p:nvSpPr>
          <p:cNvPr id="1046535" name="Text Box 7">
            <a:hlinkClick r:id="rId5" action="ppaction://hlinksldjump"/>
          </p:cNvPr>
          <p:cNvSpPr txBox="1">
            <a:spLocks noChangeArrowheads="1"/>
          </p:cNvSpPr>
          <p:nvPr/>
        </p:nvSpPr>
        <p:spPr bwMode="auto">
          <a:xfrm>
            <a:off x="1066800" y="4953000"/>
            <a:ext cx="483235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400" b="1">
                <a:solidFill>
                  <a:srgbClr val="660066"/>
                </a:solidFill>
                <a:ea typeface="楷体_GB2312" charset="0"/>
              </a:rPr>
              <a:t>例五、 表达式求值</a:t>
            </a:r>
            <a:endParaRPr lang="zh-CN" altLang="en-US" sz="4400" b="1">
              <a:ea typeface="楷体_GB2312" charset="0"/>
            </a:endParaRPr>
          </a:p>
        </p:txBody>
      </p:sp>
      <p:sp>
        <p:nvSpPr>
          <p:cNvPr id="1046536" name="Text Box 8">
            <a:hlinkClick r:id="rId6" action="ppaction://hlinksldjump"/>
          </p:cNvPr>
          <p:cNvSpPr txBox="1">
            <a:spLocks noChangeArrowheads="1"/>
          </p:cNvSpPr>
          <p:nvPr/>
        </p:nvSpPr>
        <p:spPr bwMode="auto">
          <a:xfrm>
            <a:off x="1066800" y="5867400"/>
            <a:ext cx="426878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400" b="1">
                <a:solidFill>
                  <a:srgbClr val="660066"/>
                </a:solidFill>
                <a:ea typeface="楷体_GB2312" charset="0"/>
              </a:rPr>
              <a:t>例六、 实现递归</a:t>
            </a:r>
            <a:endParaRPr lang="zh-CN" altLang="en-US" sz="4400" b="1">
              <a:ea typeface="楷体_GB2312" charset="0"/>
            </a:endParaRPr>
          </a:p>
        </p:txBody>
      </p:sp>
      <p:sp>
        <p:nvSpPr>
          <p:cNvPr id="1046537" name="AutoShape 9">
            <a:hlinkClick r:id="rId7" action="ppaction://hlinksldjump" highlightClick="1"/>
          </p:cNvPr>
          <p:cNvSpPr>
            <a:spLocks noChangeArrowheads="1"/>
          </p:cNvSpPr>
          <p:nvPr/>
        </p:nvSpPr>
        <p:spPr bwMode="auto">
          <a:xfrm>
            <a:off x="8305800" y="6248400"/>
            <a:ext cx="5334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46531"/>
                                        </p:tgtEl>
                                        <p:attrNameLst>
                                          <p:attrName>style.visibility</p:attrName>
                                        </p:attrNameLst>
                                      </p:cBhvr>
                                      <p:to>
                                        <p:strVal val="visible"/>
                                      </p:to>
                                    </p:set>
                                    <p:animEffect transition="in" filter="box(out)">
                                      <p:cBhvr>
                                        <p:cTn id="7" dur="500"/>
                                        <p:tgtEl>
                                          <p:spTgt spid="104653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46532"/>
                                        </p:tgtEl>
                                        <p:attrNameLst>
                                          <p:attrName>style.visibility</p:attrName>
                                        </p:attrNameLst>
                                      </p:cBhvr>
                                      <p:to>
                                        <p:strVal val="visible"/>
                                      </p:to>
                                    </p:set>
                                    <p:animEffect transition="in" filter="box(out)">
                                      <p:cBhvr>
                                        <p:cTn id="12" dur="500"/>
                                        <p:tgtEl>
                                          <p:spTgt spid="104653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46533"/>
                                        </p:tgtEl>
                                        <p:attrNameLst>
                                          <p:attrName>style.visibility</p:attrName>
                                        </p:attrNameLst>
                                      </p:cBhvr>
                                      <p:to>
                                        <p:strVal val="visible"/>
                                      </p:to>
                                    </p:set>
                                    <p:animEffect transition="in" filter="box(out)">
                                      <p:cBhvr>
                                        <p:cTn id="17" dur="500"/>
                                        <p:tgtEl>
                                          <p:spTgt spid="104653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046534"/>
                                        </p:tgtEl>
                                        <p:attrNameLst>
                                          <p:attrName>style.visibility</p:attrName>
                                        </p:attrNameLst>
                                      </p:cBhvr>
                                      <p:to>
                                        <p:strVal val="visible"/>
                                      </p:to>
                                    </p:set>
                                    <p:animEffect transition="in" filter="box(out)">
                                      <p:cBhvr>
                                        <p:cTn id="22" dur="500"/>
                                        <p:tgtEl>
                                          <p:spTgt spid="104653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46535"/>
                                        </p:tgtEl>
                                        <p:attrNameLst>
                                          <p:attrName>style.visibility</p:attrName>
                                        </p:attrNameLst>
                                      </p:cBhvr>
                                      <p:to>
                                        <p:strVal val="visible"/>
                                      </p:to>
                                    </p:set>
                                    <p:animEffect transition="in" filter="box(out)">
                                      <p:cBhvr>
                                        <p:cTn id="27" dur="500"/>
                                        <p:tgtEl>
                                          <p:spTgt spid="104653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46536"/>
                                        </p:tgtEl>
                                        <p:attrNameLst>
                                          <p:attrName>style.visibility</p:attrName>
                                        </p:attrNameLst>
                                      </p:cBhvr>
                                      <p:to>
                                        <p:strVal val="visible"/>
                                      </p:to>
                                    </p:set>
                                    <p:animEffect transition="in" filter="box(out)">
                                      <p:cBhvr>
                                        <p:cTn id="32" dur="500"/>
                                        <p:tgtEl>
                                          <p:spTgt spid="1046536"/>
                                        </p:tgtEl>
                                      </p:cBhvr>
                                    </p:animEffect>
                                  </p:childTnLst>
                                </p:cTn>
                              </p:par>
                            </p:childTnLst>
                          </p:cTn>
                        </p:par>
                        <p:par>
                          <p:cTn id="33" fill="hold">
                            <p:stCondLst>
                              <p:cond delay="500"/>
                            </p:stCondLst>
                            <p:childTnLst>
                              <p:par>
                                <p:cTn id="34" presetID="2" presetClass="entr" presetSubtype="8" fill="hold" grpId="0" nodeType="afterEffect">
                                  <p:stCondLst>
                                    <p:cond delay="0"/>
                                  </p:stCondLst>
                                  <p:childTnLst>
                                    <p:set>
                                      <p:cBhvr>
                                        <p:cTn id="35" dur="1" fill="hold">
                                          <p:stCondLst>
                                            <p:cond delay="0"/>
                                          </p:stCondLst>
                                        </p:cTn>
                                        <p:tgtEl>
                                          <p:spTgt spid="1046537"/>
                                        </p:tgtEl>
                                        <p:attrNameLst>
                                          <p:attrName>style.visibility</p:attrName>
                                        </p:attrNameLst>
                                      </p:cBhvr>
                                      <p:to>
                                        <p:strVal val="visible"/>
                                      </p:to>
                                    </p:set>
                                    <p:anim calcmode="lin" valueType="num">
                                      <p:cBhvr additive="base">
                                        <p:cTn id="36" dur="500" fill="hold"/>
                                        <p:tgtEl>
                                          <p:spTgt spid="1046537"/>
                                        </p:tgtEl>
                                        <p:attrNameLst>
                                          <p:attrName>ppt_x</p:attrName>
                                        </p:attrNameLst>
                                      </p:cBhvr>
                                      <p:tavLst>
                                        <p:tav tm="0">
                                          <p:val>
                                            <p:strVal val="0-#ppt_w/2"/>
                                          </p:val>
                                        </p:tav>
                                        <p:tav tm="100000">
                                          <p:val>
                                            <p:strVal val="#ppt_x"/>
                                          </p:val>
                                        </p:tav>
                                      </p:tavLst>
                                    </p:anim>
                                    <p:anim calcmode="lin" valueType="num">
                                      <p:cBhvr additive="base">
                                        <p:cTn id="37" dur="500" fill="hold"/>
                                        <p:tgtEl>
                                          <p:spTgt spid="10465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531" grpId="0" autoUpdateAnimBg="0"/>
      <p:bldP spid="1046532" grpId="0" autoUpdateAnimBg="0"/>
      <p:bldP spid="1046533" grpId="0" autoUpdateAnimBg="0"/>
      <p:bldP spid="1046534" grpId="0" autoUpdateAnimBg="0"/>
      <p:bldP spid="1046535" grpId="0" autoUpdateAnimBg="0"/>
      <p:bldP spid="1046536" grpId="0" autoUpdateAnimBg="0"/>
      <p:bldP spid="104653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554" name="Rectangle 2"/>
          <p:cNvSpPr>
            <a:spLocks noGrp="1" noChangeArrowheads="1"/>
          </p:cNvSpPr>
          <p:nvPr>
            <p:ph type="title" idx="4294967295"/>
          </p:nvPr>
        </p:nvSpPr>
        <p:spPr>
          <a:xfrm>
            <a:off x="609600" y="2743200"/>
            <a:ext cx="7772400" cy="1143000"/>
          </a:xfrm>
        </p:spPr>
        <p:txBody>
          <a:bodyPr>
            <a:normAutofit fontScale="90000"/>
          </a:bodyPr>
          <a:lstStyle/>
          <a:p>
            <a:pPr>
              <a:lnSpc>
                <a:spcPct val="150000"/>
              </a:lnSpc>
            </a:pPr>
            <a:r>
              <a:rPr lang="zh-CN" altLang="en-US">
                <a:solidFill>
                  <a:schemeClr val="tx1"/>
                </a:solidFill>
                <a:ea typeface="楷体_GB2312" charset="0"/>
              </a:rPr>
              <a:t>  </a:t>
            </a:r>
            <a:r>
              <a:rPr lang="zh-CN" altLang="en-US" sz="4800" b="0">
                <a:solidFill>
                  <a:srgbClr val="FF5050"/>
                </a:solidFill>
                <a:ea typeface="楷体_GB2312" charset="0"/>
              </a:rPr>
              <a:t>例一、 数制转换</a:t>
            </a:r>
            <a:br>
              <a:rPr lang="zh-CN" altLang="en-US" sz="4800" b="0">
                <a:solidFill>
                  <a:schemeClr val="tx1"/>
                </a:solidFill>
                <a:ea typeface="楷体_GB2312" charset="0"/>
              </a:rPr>
            </a:br>
            <a:br>
              <a:rPr lang="zh-CN" altLang="en-US" sz="2800">
                <a:solidFill>
                  <a:schemeClr val="tx1"/>
                </a:solidFill>
                <a:ea typeface="楷体_GB2312" charset="0"/>
              </a:rPr>
            </a:br>
            <a:r>
              <a:rPr lang="zh-CN" altLang="en-US" sz="2800">
                <a:solidFill>
                  <a:schemeClr val="tx1"/>
                </a:solidFill>
                <a:ea typeface="楷体_GB2312" charset="0"/>
              </a:rPr>
              <a:t>  </a:t>
            </a:r>
            <a:r>
              <a:rPr lang="zh-CN" altLang="en-US">
                <a:solidFill>
                  <a:schemeClr val="tx1"/>
                </a:solidFill>
                <a:ea typeface="楷体_GB2312" charset="0"/>
              </a:rPr>
              <a:t>算法基于原理：</a:t>
            </a:r>
            <a:br>
              <a:rPr lang="zh-CN" altLang="en-US">
                <a:solidFill>
                  <a:schemeClr val="tx1"/>
                </a:solidFill>
                <a:ea typeface="楷体_GB2312" charset="0"/>
              </a:rPr>
            </a:br>
            <a:r>
              <a:rPr lang="zh-CN" altLang="en-US" b="0">
                <a:solidFill>
                  <a:srgbClr val="FF0000"/>
                </a:solidFill>
                <a:ea typeface="楷体_GB2312" charset="0"/>
              </a:rPr>
              <a:t>     </a:t>
            </a:r>
            <a:r>
              <a:rPr lang="en-US" altLang="zh-CN" b="0">
                <a:solidFill>
                  <a:srgbClr val="FF0000"/>
                </a:solidFill>
                <a:ea typeface="楷体_GB2312" charset="0"/>
              </a:rPr>
              <a:t>N = (N div d)×d + N mod d  </a:t>
            </a:r>
            <a:br>
              <a:rPr lang="en-US" altLang="zh-CN">
                <a:solidFill>
                  <a:schemeClr val="tx1"/>
                </a:solidFill>
                <a:ea typeface="楷体_GB2312" charset="0"/>
              </a:rPr>
            </a:br>
            <a:endParaRPr lang="en-US" altLang="zh-CN">
              <a:solidFill>
                <a:schemeClr val="tx1"/>
              </a:solidFill>
              <a:ea typeface="楷体_GB2312" charset="0"/>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Rectangle 2"/>
          <p:cNvSpPr>
            <a:spLocks noGrp="1" noChangeArrowheads="1"/>
          </p:cNvSpPr>
          <p:nvPr>
            <p:ph type="title" idx="4294967295"/>
          </p:nvPr>
        </p:nvSpPr>
        <p:spPr>
          <a:xfrm>
            <a:off x="1403350" y="2743200"/>
            <a:ext cx="7772400" cy="1143000"/>
          </a:xfrm>
        </p:spPr>
        <p:txBody>
          <a:bodyPr>
            <a:normAutofit fontScale="90000"/>
          </a:bodyPr>
          <a:lstStyle/>
          <a:p>
            <a:br>
              <a:rPr lang="zh-CN" altLang="en-US">
                <a:solidFill>
                  <a:schemeClr val="tx1"/>
                </a:solidFill>
                <a:ea typeface="楷体_GB2312" charset="0"/>
              </a:rPr>
            </a:br>
            <a:r>
              <a:rPr lang="zh-CN" altLang="en-US" b="0">
                <a:solidFill>
                  <a:schemeClr val="tx1"/>
                </a:solidFill>
                <a:ea typeface="楷体_GB2312" charset="0"/>
              </a:rPr>
              <a:t>例如：</a:t>
            </a:r>
            <a:r>
              <a:rPr lang="zh-CN" altLang="en-US">
                <a:solidFill>
                  <a:schemeClr val="tx1"/>
                </a:solidFill>
                <a:ea typeface="楷体_GB2312" charset="0"/>
              </a:rPr>
              <a:t>（</a:t>
            </a:r>
            <a:r>
              <a:rPr lang="en-US" altLang="zh-CN">
                <a:solidFill>
                  <a:schemeClr val="tx1"/>
                </a:solidFill>
                <a:ea typeface="楷体_GB2312" charset="0"/>
              </a:rPr>
              <a:t>1348)</a:t>
            </a:r>
            <a:r>
              <a:rPr lang="en-US" altLang="zh-CN" baseline="-25000">
                <a:solidFill>
                  <a:schemeClr val="tx1"/>
                </a:solidFill>
                <a:ea typeface="楷体_GB2312" charset="0"/>
              </a:rPr>
              <a:t>10</a:t>
            </a:r>
            <a:r>
              <a:rPr lang="en-US" altLang="zh-CN">
                <a:solidFill>
                  <a:schemeClr val="tx1"/>
                </a:solidFill>
                <a:ea typeface="楷体_GB2312" charset="0"/>
              </a:rPr>
              <a:t> = (2504)</a:t>
            </a:r>
            <a:r>
              <a:rPr lang="en-US" altLang="zh-CN" baseline="-25000">
                <a:solidFill>
                  <a:schemeClr val="tx1"/>
                </a:solidFill>
                <a:ea typeface="楷体_GB2312" charset="0"/>
              </a:rPr>
              <a:t>8</a:t>
            </a:r>
            <a:r>
              <a:rPr lang="en-US" altLang="zh-CN">
                <a:solidFill>
                  <a:schemeClr val="tx1"/>
                </a:solidFill>
                <a:ea typeface="楷体_GB2312" charset="0"/>
              </a:rPr>
              <a:t> </a:t>
            </a:r>
            <a:r>
              <a:rPr lang="zh-CN" altLang="en-US">
                <a:solidFill>
                  <a:schemeClr val="tx1"/>
                </a:solidFill>
                <a:ea typeface="楷体_GB2312" charset="0"/>
              </a:rPr>
              <a:t>，其运算过程如下：</a:t>
            </a:r>
            <a:br>
              <a:rPr lang="zh-CN" altLang="en-US">
                <a:solidFill>
                  <a:schemeClr val="tx1"/>
                </a:solidFill>
                <a:ea typeface="楷体_GB2312" charset="0"/>
              </a:rPr>
            </a:br>
            <a:br>
              <a:rPr lang="zh-CN" altLang="en-US">
                <a:solidFill>
                  <a:schemeClr val="tx1"/>
                </a:solidFill>
                <a:ea typeface="楷体_GB2312" charset="0"/>
              </a:rPr>
            </a:br>
            <a:r>
              <a:rPr lang="zh-CN" altLang="en-US">
                <a:solidFill>
                  <a:schemeClr val="tx1"/>
                </a:solidFill>
                <a:ea typeface="楷体_GB2312" charset="0"/>
              </a:rPr>
              <a:t>  </a:t>
            </a:r>
            <a:r>
              <a:rPr lang="en-US" altLang="zh-CN" b="0">
                <a:solidFill>
                  <a:srgbClr val="996633"/>
                </a:solidFill>
                <a:ea typeface="楷体_GB2312" charset="0"/>
              </a:rPr>
              <a:t>N     N div 8    N mod 8</a:t>
            </a:r>
            <a:br>
              <a:rPr lang="en-US" altLang="zh-CN">
                <a:solidFill>
                  <a:srgbClr val="0000FF"/>
                </a:solidFill>
                <a:ea typeface="楷体_GB2312" charset="0"/>
              </a:rPr>
            </a:br>
            <a:r>
              <a:rPr lang="en-US" altLang="zh-CN">
                <a:solidFill>
                  <a:schemeClr val="tx1"/>
                </a:solidFill>
                <a:ea typeface="楷体_GB2312" charset="0"/>
              </a:rPr>
              <a:t>1348      168         4</a:t>
            </a:r>
            <a:br>
              <a:rPr lang="en-US" altLang="zh-CN">
                <a:solidFill>
                  <a:schemeClr val="tx1"/>
                </a:solidFill>
                <a:ea typeface="楷体_GB2312" charset="0"/>
              </a:rPr>
            </a:br>
            <a:r>
              <a:rPr lang="en-US" altLang="zh-CN">
                <a:solidFill>
                  <a:schemeClr val="tx1"/>
                </a:solidFill>
                <a:ea typeface="楷体_GB2312" charset="0"/>
              </a:rPr>
              <a:t>   168        21         0</a:t>
            </a:r>
            <a:br>
              <a:rPr lang="en-US" altLang="zh-CN">
                <a:solidFill>
                  <a:schemeClr val="tx1"/>
                </a:solidFill>
                <a:ea typeface="楷体_GB2312" charset="0"/>
              </a:rPr>
            </a:br>
            <a:r>
              <a:rPr lang="en-US" altLang="zh-CN">
                <a:solidFill>
                  <a:schemeClr val="tx1"/>
                </a:solidFill>
                <a:ea typeface="楷体_GB2312" charset="0"/>
              </a:rPr>
              <a:t>      21         2         5</a:t>
            </a:r>
            <a:br>
              <a:rPr lang="en-US" altLang="zh-CN">
                <a:solidFill>
                  <a:schemeClr val="tx1"/>
                </a:solidFill>
                <a:ea typeface="楷体_GB2312" charset="0"/>
              </a:rPr>
            </a:br>
            <a:r>
              <a:rPr lang="en-US" altLang="zh-CN">
                <a:solidFill>
                  <a:schemeClr val="tx1"/>
                </a:solidFill>
                <a:ea typeface="楷体_GB2312" charset="0"/>
              </a:rPr>
              <a:t>       2          0         2</a:t>
            </a:r>
            <a:endParaRPr lang="en-US" altLang="zh-CN">
              <a:solidFill>
                <a:schemeClr val="tx1"/>
              </a:solidFill>
              <a:ea typeface="楷体_GB2312" charset="0"/>
            </a:endParaRPr>
          </a:p>
        </p:txBody>
      </p:sp>
      <p:sp>
        <p:nvSpPr>
          <p:cNvPr id="1048579" name="Line 3"/>
          <p:cNvSpPr>
            <a:spLocks noChangeShapeType="1"/>
          </p:cNvSpPr>
          <p:nvPr/>
        </p:nvSpPr>
        <p:spPr bwMode="auto">
          <a:xfrm>
            <a:off x="1098550" y="3276600"/>
            <a:ext cx="0" cy="2819400"/>
          </a:xfrm>
          <a:prstGeom prst="line">
            <a:avLst/>
          </a:prstGeom>
          <a:noFill/>
          <a:ln w="28575">
            <a:solidFill>
              <a:srgbClr val="A50021"/>
            </a:solidFill>
            <a:rou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8580" name="Line 4"/>
          <p:cNvSpPr>
            <a:spLocks noChangeShapeType="1"/>
          </p:cNvSpPr>
          <p:nvPr/>
        </p:nvSpPr>
        <p:spPr bwMode="auto">
          <a:xfrm flipV="1">
            <a:off x="7346950" y="3200400"/>
            <a:ext cx="0" cy="3124200"/>
          </a:xfrm>
          <a:prstGeom prst="line">
            <a:avLst/>
          </a:prstGeom>
          <a:noFill/>
          <a:ln w="28575">
            <a:solidFill>
              <a:srgbClr val="A50021"/>
            </a:solidFill>
            <a:rou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8581" name="Text Box 5"/>
          <p:cNvSpPr txBox="1">
            <a:spLocks noChangeArrowheads="1"/>
          </p:cNvSpPr>
          <p:nvPr/>
        </p:nvSpPr>
        <p:spPr bwMode="auto">
          <a:xfrm>
            <a:off x="304800" y="3590925"/>
            <a:ext cx="793750" cy="209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wrap="none">
            <a:spAutoFit/>
          </a:bodyPr>
          <a:lstStyle/>
          <a:p>
            <a:r>
              <a:rPr lang="zh-CN" altLang="en-US" sz="4000" b="1">
                <a:solidFill>
                  <a:srgbClr val="FF0000"/>
                </a:solidFill>
                <a:ea typeface="楷体_GB2312" charset="0"/>
              </a:rPr>
              <a:t>计算顺序</a:t>
            </a:r>
            <a:endParaRPr lang="zh-CN" altLang="en-US" sz="2400" b="1">
              <a:solidFill>
                <a:srgbClr val="FF0000"/>
              </a:solidFill>
            </a:endParaRPr>
          </a:p>
        </p:txBody>
      </p:sp>
      <p:sp>
        <p:nvSpPr>
          <p:cNvPr id="1048582" name="Text Box 6"/>
          <p:cNvSpPr txBox="1">
            <a:spLocks noChangeArrowheads="1"/>
          </p:cNvSpPr>
          <p:nvPr/>
        </p:nvSpPr>
        <p:spPr bwMode="auto">
          <a:xfrm>
            <a:off x="7397750" y="3611563"/>
            <a:ext cx="793750" cy="209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wrap="none">
            <a:spAutoFit/>
          </a:bodyPr>
          <a:lstStyle/>
          <a:p>
            <a:r>
              <a:rPr lang="zh-CN" altLang="en-US" sz="4000" b="1">
                <a:solidFill>
                  <a:srgbClr val="FF0000"/>
                </a:solidFill>
                <a:ea typeface="楷体_GB2312" charset="0"/>
              </a:rPr>
              <a:t>输出顺序</a:t>
            </a:r>
            <a:endParaRPr lang="zh-CN" altLang="en-US" sz="4000" b="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048579"/>
                                        </p:tgtEl>
                                        <p:attrNameLst>
                                          <p:attrName>style.visibility</p:attrName>
                                        </p:attrNameLst>
                                      </p:cBhvr>
                                      <p:to>
                                        <p:strVal val="visible"/>
                                      </p:to>
                                    </p:set>
                                    <p:animEffect transition="in" filter="slide(fromTop)">
                                      <p:cBhvr>
                                        <p:cTn id="7" dur="500"/>
                                        <p:tgtEl>
                                          <p:spTgt spid="104857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0485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1048580"/>
                                        </p:tgtEl>
                                        <p:attrNameLst>
                                          <p:attrName>style.visibility</p:attrName>
                                        </p:attrNameLst>
                                      </p:cBhvr>
                                      <p:to>
                                        <p:strVal val="visible"/>
                                      </p:to>
                                    </p:set>
                                    <p:animEffect transition="in" filter="slide(fromBottom)">
                                      <p:cBhvr>
                                        <p:cTn id="15" dur="500"/>
                                        <p:tgtEl>
                                          <p:spTgt spid="1048580"/>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10485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79" grpId="0" animBg="1"/>
      <p:bldP spid="1048580" grpId="0" animBg="1"/>
      <p:bldP spid="1048581" grpId="0" autoUpdateAnimBg="0"/>
      <p:bldP spid="1048582"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2" name="Text Box 2"/>
          <p:cNvSpPr txBox="1">
            <a:spLocks noChangeArrowheads="1"/>
          </p:cNvSpPr>
          <p:nvPr/>
        </p:nvSpPr>
        <p:spPr bwMode="auto">
          <a:xfrm>
            <a:off x="1897063" y="250825"/>
            <a:ext cx="5341937" cy="668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3600" b="1">
                <a:ea typeface="楷体_GB2312" charset="0"/>
              </a:rPr>
              <a:t>void</a:t>
            </a:r>
            <a:r>
              <a:rPr lang="en-US" altLang="zh-CN" sz="3600">
                <a:ea typeface="楷体_GB2312" charset="0"/>
              </a:rPr>
              <a:t> conversion () </a:t>
            </a:r>
            <a:r>
              <a:rPr lang="en-US" altLang="zh-CN" sz="3600" b="1">
                <a:ea typeface="楷体_GB2312" charset="0"/>
              </a:rPr>
              <a:t>{</a:t>
            </a:r>
            <a:endParaRPr lang="en-US" altLang="zh-CN" sz="3600">
              <a:ea typeface="楷体_GB2312" charset="0"/>
            </a:endParaRPr>
          </a:p>
          <a:p>
            <a:pPr eaLnBrk="0" hangingPunct="0"/>
            <a:r>
              <a:rPr lang="en-US" altLang="zh-CN" sz="3600">
                <a:solidFill>
                  <a:srgbClr val="FF0000"/>
                </a:solidFill>
                <a:ea typeface="楷体_GB2312" charset="0"/>
              </a:rPr>
              <a:t>    InitStack(S);</a:t>
            </a:r>
            <a:r>
              <a:rPr lang="en-US" altLang="zh-CN" sz="3600">
                <a:ea typeface="楷体_GB2312" charset="0"/>
              </a:rPr>
              <a:t> </a:t>
            </a:r>
            <a:endParaRPr lang="en-US" altLang="zh-CN" sz="3600">
              <a:ea typeface="楷体_GB2312" charset="0"/>
            </a:endParaRPr>
          </a:p>
          <a:p>
            <a:pPr eaLnBrk="0" hangingPunct="0"/>
            <a:r>
              <a:rPr lang="en-US" altLang="zh-CN" sz="3600" b="1">
                <a:ea typeface="楷体_GB2312" charset="0"/>
              </a:rPr>
              <a:t>    scanf</a:t>
            </a:r>
            <a:r>
              <a:rPr lang="en-US" altLang="zh-CN" sz="3600">
                <a:ea typeface="楷体_GB2312" charset="0"/>
              </a:rPr>
              <a:t> ("</a:t>
            </a:r>
            <a:r>
              <a:rPr lang="en-US" altLang="zh-CN" sz="3600" b="1">
                <a:ea typeface="楷体_GB2312" charset="0"/>
              </a:rPr>
              <a:t>%</a:t>
            </a:r>
            <a:r>
              <a:rPr lang="en-US" altLang="zh-CN" sz="3600">
                <a:ea typeface="楷体_GB2312" charset="0"/>
              </a:rPr>
              <a:t>d",N);</a:t>
            </a:r>
            <a:endParaRPr lang="en-US" altLang="zh-CN" sz="3600">
              <a:ea typeface="楷体_GB2312" charset="0"/>
            </a:endParaRPr>
          </a:p>
          <a:p>
            <a:pPr eaLnBrk="0" hangingPunct="0"/>
            <a:r>
              <a:rPr lang="en-US" altLang="zh-CN" sz="3600">
                <a:ea typeface="楷体_GB2312" charset="0"/>
              </a:rPr>
              <a:t>    </a:t>
            </a:r>
            <a:r>
              <a:rPr lang="en-US" altLang="zh-CN" sz="3600" b="1">
                <a:ea typeface="楷体_GB2312" charset="0"/>
              </a:rPr>
              <a:t>while</a:t>
            </a:r>
            <a:r>
              <a:rPr lang="en-US" altLang="zh-CN" sz="3600">
                <a:ea typeface="楷体_GB2312" charset="0"/>
              </a:rPr>
              <a:t> (N) </a:t>
            </a:r>
            <a:r>
              <a:rPr lang="en-US" altLang="zh-CN" sz="3600" b="1">
                <a:ea typeface="楷体_GB2312" charset="0"/>
              </a:rPr>
              <a:t>{</a:t>
            </a:r>
            <a:endParaRPr lang="en-US" altLang="zh-CN" sz="3600">
              <a:ea typeface="楷体_GB2312" charset="0"/>
            </a:endParaRPr>
          </a:p>
          <a:p>
            <a:pPr eaLnBrk="0" hangingPunct="0"/>
            <a:r>
              <a:rPr lang="en-US" altLang="zh-CN" sz="3600">
                <a:ea typeface="楷体_GB2312" charset="0"/>
              </a:rPr>
              <a:t>      </a:t>
            </a:r>
            <a:r>
              <a:rPr lang="en-US" altLang="zh-CN" sz="3600">
                <a:solidFill>
                  <a:srgbClr val="FF0000"/>
                </a:solidFill>
                <a:ea typeface="楷体_GB2312" charset="0"/>
              </a:rPr>
              <a:t>Push(S, N </a:t>
            </a:r>
            <a:r>
              <a:rPr lang="en-US" altLang="zh-CN" sz="3600" b="1">
                <a:solidFill>
                  <a:srgbClr val="FF0000"/>
                </a:solidFill>
                <a:ea typeface="楷体_GB2312" charset="0"/>
              </a:rPr>
              <a:t>%</a:t>
            </a:r>
            <a:r>
              <a:rPr lang="en-US" altLang="zh-CN" sz="3600">
                <a:solidFill>
                  <a:srgbClr val="FF0000"/>
                </a:solidFill>
                <a:ea typeface="楷体_GB2312" charset="0"/>
              </a:rPr>
              <a:t> 8);</a:t>
            </a:r>
            <a:endParaRPr lang="en-US" altLang="zh-CN" sz="3600">
              <a:solidFill>
                <a:srgbClr val="FF0000"/>
              </a:solidFill>
              <a:ea typeface="楷体_GB2312" charset="0"/>
            </a:endParaRPr>
          </a:p>
          <a:p>
            <a:pPr eaLnBrk="0" hangingPunct="0"/>
            <a:r>
              <a:rPr lang="en-US" altLang="zh-CN" sz="3600">
                <a:ea typeface="楷体_GB2312" charset="0"/>
              </a:rPr>
              <a:t>      N = N/8;</a:t>
            </a:r>
            <a:endParaRPr lang="en-US" altLang="zh-CN" sz="3600">
              <a:ea typeface="楷体_GB2312" charset="0"/>
            </a:endParaRPr>
          </a:p>
          <a:p>
            <a:pPr eaLnBrk="0" hangingPunct="0"/>
            <a:r>
              <a:rPr lang="en-US" altLang="zh-CN" sz="3600">
                <a:ea typeface="楷体_GB2312" charset="0"/>
              </a:rPr>
              <a:t>    </a:t>
            </a:r>
            <a:r>
              <a:rPr lang="en-US" altLang="zh-CN" sz="3600" b="1">
                <a:ea typeface="楷体_GB2312" charset="0"/>
              </a:rPr>
              <a:t>}</a:t>
            </a:r>
            <a:endParaRPr lang="en-US" altLang="zh-CN" sz="3600">
              <a:ea typeface="楷体_GB2312" charset="0"/>
            </a:endParaRPr>
          </a:p>
          <a:p>
            <a:pPr eaLnBrk="0" hangingPunct="0"/>
            <a:r>
              <a:rPr lang="en-US" altLang="zh-CN" sz="3600">
                <a:ea typeface="楷体_GB2312" charset="0"/>
              </a:rPr>
              <a:t>    </a:t>
            </a:r>
            <a:r>
              <a:rPr lang="en-US" altLang="zh-CN" sz="3600" b="1">
                <a:ea typeface="楷体_GB2312" charset="0"/>
              </a:rPr>
              <a:t>while</a:t>
            </a:r>
            <a:r>
              <a:rPr lang="en-US" altLang="zh-CN" sz="3600">
                <a:ea typeface="楷体_GB2312" charset="0"/>
              </a:rPr>
              <a:t> (</a:t>
            </a:r>
            <a:r>
              <a:rPr lang="en-US" altLang="zh-CN" sz="3600" b="1">
                <a:ea typeface="楷体_GB2312" charset="0"/>
              </a:rPr>
              <a:t>!</a:t>
            </a:r>
            <a:r>
              <a:rPr lang="en-US" altLang="zh-CN" sz="3600">
                <a:solidFill>
                  <a:srgbClr val="FF0000"/>
                </a:solidFill>
                <a:ea typeface="楷体_GB2312" charset="0"/>
              </a:rPr>
              <a:t>StackEmpty(S)</a:t>
            </a:r>
            <a:r>
              <a:rPr lang="en-US" altLang="zh-CN" sz="3600">
                <a:ea typeface="楷体_GB2312" charset="0"/>
              </a:rPr>
              <a:t>) </a:t>
            </a:r>
            <a:r>
              <a:rPr lang="en-US" altLang="zh-CN" sz="3600" b="1">
                <a:ea typeface="楷体_GB2312" charset="0"/>
              </a:rPr>
              <a:t>{</a:t>
            </a:r>
            <a:endParaRPr lang="en-US" altLang="zh-CN" sz="3600">
              <a:ea typeface="楷体_GB2312" charset="0"/>
            </a:endParaRPr>
          </a:p>
          <a:p>
            <a:pPr eaLnBrk="0" hangingPunct="0"/>
            <a:r>
              <a:rPr lang="en-US" altLang="zh-CN" sz="3600">
                <a:ea typeface="楷体_GB2312" charset="0"/>
              </a:rPr>
              <a:t>      </a:t>
            </a:r>
            <a:r>
              <a:rPr lang="en-US" altLang="zh-CN" sz="3600">
                <a:solidFill>
                  <a:srgbClr val="FF0000"/>
                </a:solidFill>
                <a:ea typeface="楷体_GB2312" charset="0"/>
              </a:rPr>
              <a:t>Pop(S,e);</a:t>
            </a:r>
            <a:endParaRPr lang="en-US" altLang="zh-CN" sz="3600">
              <a:solidFill>
                <a:srgbClr val="FF0000"/>
              </a:solidFill>
              <a:ea typeface="楷体_GB2312" charset="0"/>
            </a:endParaRPr>
          </a:p>
          <a:p>
            <a:pPr eaLnBrk="0" hangingPunct="0"/>
            <a:r>
              <a:rPr lang="en-US" altLang="zh-CN" sz="3600">
                <a:ea typeface="楷体_GB2312" charset="0"/>
              </a:rPr>
              <a:t>      </a:t>
            </a:r>
            <a:r>
              <a:rPr lang="en-US" altLang="zh-CN" sz="3600" b="1">
                <a:ea typeface="楷体_GB2312" charset="0"/>
              </a:rPr>
              <a:t>printf </a:t>
            </a:r>
            <a:r>
              <a:rPr lang="en-US" altLang="zh-CN" sz="3600">
                <a:ea typeface="楷体_GB2312" charset="0"/>
              </a:rPr>
              <a:t>( "</a:t>
            </a:r>
            <a:r>
              <a:rPr lang="en-US" altLang="zh-CN" sz="3600" b="1">
                <a:ea typeface="楷体_GB2312" charset="0"/>
              </a:rPr>
              <a:t>%</a:t>
            </a:r>
            <a:r>
              <a:rPr lang="en-US" altLang="zh-CN" sz="3600">
                <a:ea typeface="楷体_GB2312" charset="0"/>
              </a:rPr>
              <a:t>d", e );</a:t>
            </a:r>
            <a:endParaRPr lang="en-US" altLang="zh-CN" sz="3600">
              <a:ea typeface="楷体_GB2312" charset="0"/>
            </a:endParaRPr>
          </a:p>
          <a:p>
            <a:pPr eaLnBrk="0" hangingPunct="0"/>
            <a:r>
              <a:rPr lang="en-US" altLang="zh-CN" sz="3600">
                <a:ea typeface="楷体_GB2312" charset="0"/>
              </a:rPr>
              <a:t>    </a:t>
            </a:r>
            <a:r>
              <a:rPr lang="en-US" altLang="zh-CN" sz="3600" b="1">
                <a:ea typeface="楷体_GB2312" charset="0"/>
              </a:rPr>
              <a:t>}</a:t>
            </a:r>
            <a:endParaRPr lang="en-US" altLang="zh-CN" sz="3600">
              <a:ea typeface="楷体_GB2312" charset="0"/>
            </a:endParaRPr>
          </a:p>
          <a:p>
            <a:pPr eaLnBrk="0" hangingPunct="0"/>
            <a:r>
              <a:rPr lang="en-US" altLang="zh-CN" sz="3600" b="1">
                <a:ea typeface="楷体_GB2312" charset="0"/>
              </a:rPr>
              <a:t>}</a:t>
            </a:r>
            <a:r>
              <a:rPr lang="en-US" altLang="zh-CN" sz="3600">
                <a:ea typeface="楷体_GB2312" charset="0"/>
              </a:rPr>
              <a:t> // conversion</a:t>
            </a:r>
            <a:endParaRPr lang="en-US" altLang="zh-CN" sz="2400" i="1">
              <a:ea typeface="楷体_GB2312" charset="0"/>
            </a:endParaRPr>
          </a:p>
        </p:txBody>
      </p:sp>
      <p:sp>
        <p:nvSpPr>
          <p:cNvPr id="1049603" name="AutoShape 3">
            <a:hlinkClick r:id="rId1"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049603"/>
                                        </p:tgtEl>
                                        <p:attrNameLst>
                                          <p:attrName>style.visibility</p:attrName>
                                        </p:attrNameLst>
                                      </p:cBhvr>
                                      <p:to>
                                        <p:strVal val="visible"/>
                                      </p:to>
                                    </p:set>
                                    <p:anim calcmode="lin" valueType="num">
                                      <p:cBhvr additive="base">
                                        <p:cTn id="7" dur="500" fill="hold"/>
                                        <p:tgtEl>
                                          <p:spTgt spid="1049603"/>
                                        </p:tgtEl>
                                        <p:attrNameLst>
                                          <p:attrName>ppt_x</p:attrName>
                                        </p:attrNameLst>
                                      </p:cBhvr>
                                      <p:tavLst>
                                        <p:tav tm="0">
                                          <p:val>
                                            <p:strVal val="1+#ppt_w/2"/>
                                          </p:val>
                                        </p:tav>
                                        <p:tav tm="100000">
                                          <p:val>
                                            <p:strVal val="#ppt_x"/>
                                          </p:val>
                                        </p:tav>
                                      </p:tavLst>
                                    </p:anim>
                                    <p:anim calcmode="lin" valueType="num">
                                      <p:cBhvr additive="base">
                                        <p:cTn id="8" dur="500" fill="hold"/>
                                        <p:tgtEl>
                                          <p:spTgt spid="10496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0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626" name="Rectangle 2"/>
          <p:cNvSpPr>
            <a:spLocks noGrp="1" noChangeArrowheads="1"/>
          </p:cNvSpPr>
          <p:nvPr>
            <p:ph type="title"/>
          </p:nvPr>
        </p:nvSpPr>
        <p:spPr/>
        <p:txBody>
          <a:bodyPr/>
          <a:lstStyle/>
          <a:p>
            <a:r>
              <a:rPr lang="zh-CN" altLang="en-US">
                <a:latin typeface="楷体_GB2312" charset="0"/>
                <a:ea typeface="楷体_GB2312" charset="0"/>
              </a:rPr>
              <a:t>回文游戏</a:t>
            </a:r>
            <a:endParaRPr lang="zh-CN" altLang="en-US">
              <a:latin typeface="楷体_GB2312" charset="0"/>
              <a:ea typeface="楷体_GB2312" charset="0"/>
            </a:endParaRPr>
          </a:p>
        </p:txBody>
      </p:sp>
      <p:sp>
        <p:nvSpPr>
          <p:cNvPr id="1178627" name="Rectangle 3"/>
          <p:cNvSpPr>
            <a:spLocks noGrp="1" noChangeArrowheads="1"/>
          </p:cNvSpPr>
          <p:nvPr>
            <p:ph type="body" idx="1"/>
          </p:nvPr>
        </p:nvSpPr>
        <p:spPr/>
        <p:txBody>
          <a:bodyPr/>
          <a:lstStyle/>
          <a:p>
            <a:r>
              <a:rPr lang="zh-CN" altLang="en-US">
                <a:latin typeface="楷体_GB2312" charset="0"/>
                <a:ea typeface="楷体_GB2312" charset="0"/>
              </a:rPr>
              <a:t>顺读与逆读字符串一样（不含空格）</a:t>
            </a:r>
            <a:endParaRPr lang="zh-CN" altLang="en-US">
              <a:latin typeface="楷体_GB2312" charset="0"/>
              <a:ea typeface="楷体_GB2312" charset="0"/>
            </a:endParaRPr>
          </a:p>
        </p:txBody>
      </p:sp>
      <p:sp>
        <p:nvSpPr>
          <p:cNvPr id="1178628" name="Rectangle 4"/>
          <p:cNvSpPr>
            <a:spLocks noChangeArrowheads="1"/>
          </p:cNvSpPr>
          <p:nvPr/>
        </p:nvSpPr>
        <p:spPr bwMode="auto">
          <a:xfrm>
            <a:off x="242888" y="2128838"/>
            <a:ext cx="8901112" cy="550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lvl="2"/>
            <a:endParaRPr lang="zh-CN" altLang="en-US">
              <a:latin typeface="楷体_GB2312" charset="0"/>
              <a:ea typeface="楷体_GB2312" charset="0"/>
            </a:endParaRPr>
          </a:p>
        </p:txBody>
      </p:sp>
      <p:grpSp>
        <p:nvGrpSpPr>
          <p:cNvPr id="1178629" name="Group 5"/>
          <p:cNvGrpSpPr/>
          <p:nvPr/>
        </p:nvGrpSpPr>
        <p:grpSpPr bwMode="auto">
          <a:xfrm>
            <a:off x="866775" y="2925763"/>
            <a:ext cx="1939925" cy="1143000"/>
            <a:chOff x="1236" y="924"/>
            <a:chExt cx="1222" cy="720"/>
          </a:xfrm>
        </p:grpSpPr>
        <p:grpSp>
          <p:nvGrpSpPr>
            <p:cNvPr id="1178630" name="Group 6"/>
            <p:cNvGrpSpPr/>
            <p:nvPr/>
          </p:nvGrpSpPr>
          <p:grpSpPr bwMode="auto">
            <a:xfrm>
              <a:off x="1236" y="924"/>
              <a:ext cx="660" cy="720"/>
              <a:chOff x="1608" y="924"/>
              <a:chExt cx="288" cy="720"/>
            </a:xfrm>
          </p:grpSpPr>
          <p:sp>
            <p:nvSpPr>
              <p:cNvPr id="1178631" name="Line 7"/>
              <p:cNvSpPr>
                <a:spLocks noChangeShapeType="1"/>
              </p:cNvSpPr>
              <p:nvPr/>
            </p:nvSpPr>
            <p:spPr bwMode="auto">
              <a:xfrm flipV="1">
                <a:off x="1608" y="924"/>
                <a:ext cx="0" cy="720"/>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8632" name="Line 8"/>
              <p:cNvSpPr>
                <a:spLocks noChangeShapeType="1"/>
              </p:cNvSpPr>
              <p:nvPr/>
            </p:nvSpPr>
            <p:spPr bwMode="auto">
              <a:xfrm flipV="1">
                <a:off x="1896" y="924"/>
                <a:ext cx="0" cy="720"/>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8633" name="Rectangle 9"/>
              <p:cNvSpPr>
                <a:spLocks noChangeArrowheads="1"/>
              </p:cNvSpPr>
              <p:nvPr/>
            </p:nvSpPr>
            <p:spPr bwMode="auto">
              <a:xfrm>
                <a:off x="1608" y="1452"/>
                <a:ext cx="288" cy="192"/>
              </a:xfrm>
              <a:prstGeom prst="rect">
                <a:avLst/>
              </a:prstGeom>
              <a:solidFill>
                <a:schemeClr val="bg1"/>
              </a:solidFill>
              <a:ln w="19050">
                <a:solidFill>
                  <a:srgbClr val="0033CC"/>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latin typeface="楷体_GB2312" charset="0"/>
                    <a:ea typeface="楷体_GB2312" charset="0"/>
                  </a:rPr>
                  <a:t>d</a:t>
                </a:r>
                <a:endParaRPr lang="en-US" altLang="zh-CN" sz="2400">
                  <a:latin typeface="楷体_GB2312" charset="0"/>
                  <a:ea typeface="楷体_GB2312" charset="0"/>
                </a:endParaRPr>
              </a:p>
            </p:txBody>
          </p:sp>
          <p:sp>
            <p:nvSpPr>
              <p:cNvPr id="1178634" name="Rectangle 10"/>
              <p:cNvSpPr>
                <a:spLocks noChangeArrowheads="1"/>
              </p:cNvSpPr>
              <p:nvPr/>
            </p:nvSpPr>
            <p:spPr bwMode="auto">
              <a:xfrm>
                <a:off x="1608" y="1260"/>
                <a:ext cx="288" cy="192"/>
              </a:xfrm>
              <a:prstGeom prst="rect">
                <a:avLst/>
              </a:prstGeom>
              <a:solidFill>
                <a:schemeClr val="bg1"/>
              </a:solidFill>
              <a:ln w="19050">
                <a:solidFill>
                  <a:srgbClr val="0033CC"/>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latin typeface="楷体_GB2312" charset="0"/>
                    <a:ea typeface="楷体_GB2312" charset="0"/>
                  </a:rPr>
                  <a:t>a</a:t>
                </a:r>
                <a:endParaRPr lang="en-US" altLang="zh-CN" sz="2400">
                  <a:latin typeface="楷体_GB2312" charset="0"/>
                  <a:ea typeface="楷体_GB2312" charset="0"/>
                </a:endParaRPr>
              </a:p>
            </p:txBody>
          </p:sp>
          <p:sp>
            <p:nvSpPr>
              <p:cNvPr id="1178635" name="Rectangle 11"/>
              <p:cNvSpPr>
                <a:spLocks noChangeArrowheads="1"/>
              </p:cNvSpPr>
              <p:nvPr/>
            </p:nvSpPr>
            <p:spPr bwMode="auto">
              <a:xfrm>
                <a:off x="1608" y="1068"/>
                <a:ext cx="288" cy="192"/>
              </a:xfrm>
              <a:prstGeom prst="rect">
                <a:avLst/>
              </a:prstGeom>
              <a:solidFill>
                <a:schemeClr val="bg1"/>
              </a:solidFill>
              <a:ln w="19050">
                <a:solidFill>
                  <a:srgbClr val="0033CC"/>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latin typeface="楷体_GB2312" charset="0"/>
                    <a:ea typeface="楷体_GB2312" charset="0"/>
                  </a:rPr>
                  <a:t>d</a:t>
                </a:r>
                <a:endParaRPr lang="en-US" altLang="zh-CN" sz="2400">
                  <a:latin typeface="楷体_GB2312" charset="0"/>
                  <a:ea typeface="楷体_GB2312" charset="0"/>
                </a:endParaRPr>
              </a:p>
            </p:txBody>
          </p:sp>
        </p:grpSp>
        <p:sp>
          <p:nvSpPr>
            <p:cNvPr id="1178636" name="Line 12"/>
            <p:cNvSpPr>
              <a:spLocks noChangeShapeType="1"/>
            </p:cNvSpPr>
            <p:nvPr/>
          </p:nvSpPr>
          <p:spPr bwMode="auto">
            <a:xfrm flipH="1">
              <a:off x="1884" y="1068"/>
              <a:ext cx="276" cy="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8637" name="Text Box 13"/>
            <p:cNvSpPr txBox="1">
              <a:spLocks noChangeArrowheads="1"/>
            </p:cNvSpPr>
            <p:nvPr/>
          </p:nvSpPr>
          <p:spPr bwMode="auto">
            <a:xfrm>
              <a:off x="2102" y="931"/>
              <a:ext cx="356" cy="250"/>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solidFill>
                    <a:srgbClr val="990000"/>
                  </a:solidFill>
                  <a:latin typeface="楷体_GB2312" charset="0"/>
                  <a:ea typeface="楷体_GB2312" charset="0"/>
                </a:rPr>
                <a:t>top</a:t>
              </a:r>
              <a:endParaRPr lang="en-US" altLang="zh-CN">
                <a:solidFill>
                  <a:srgbClr val="990000"/>
                </a:solidFill>
                <a:latin typeface="楷体_GB2312" charset="0"/>
                <a:ea typeface="楷体_GB2312" charset="0"/>
              </a:endParaRPr>
            </a:p>
          </p:txBody>
        </p:sp>
      </p:grpSp>
      <p:sp>
        <p:nvSpPr>
          <p:cNvPr id="1178638" name="Text Box 14"/>
          <p:cNvSpPr txBox="1">
            <a:spLocks noChangeArrowheads="1"/>
          </p:cNvSpPr>
          <p:nvPr/>
        </p:nvSpPr>
        <p:spPr bwMode="auto">
          <a:xfrm>
            <a:off x="3581400" y="2238375"/>
            <a:ext cx="5073650" cy="3081338"/>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en-US" altLang="zh-CN" sz="2800">
                <a:latin typeface="楷体_GB2312" charset="0"/>
                <a:ea typeface="楷体_GB2312" charset="0"/>
              </a:rPr>
              <a:t>1.</a:t>
            </a:r>
            <a:r>
              <a:rPr lang="zh-CN" altLang="en-US" sz="2800">
                <a:latin typeface="楷体_GB2312" charset="0"/>
                <a:ea typeface="楷体_GB2312" charset="0"/>
              </a:rPr>
              <a:t>读入字符串</a:t>
            </a:r>
            <a:endParaRPr lang="zh-CN" altLang="en-US" sz="2800">
              <a:latin typeface="楷体_GB2312" charset="0"/>
              <a:ea typeface="楷体_GB2312" charset="0"/>
            </a:endParaRPr>
          </a:p>
          <a:p>
            <a:r>
              <a:rPr lang="en-US" altLang="zh-CN" sz="2800">
                <a:latin typeface="楷体_GB2312" charset="0"/>
                <a:ea typeface="楷体_GB2312" charset="0"/>
              </a:rPr>
              <a:t>2.</a:t>
            </a:r>
            <a:r>
              <a:rPr lang="zh-CN" altLang="en-US" sz="2800">
                <a:latin typeface="楷体_GB2312" charset="0"/>
                <a:ea typeface="楷体_GB2312" charset="0"/>
              </a:rPr>
              <a:t>去掉空格（原串）</a:t>
            </a:r>
            <a:endParaRPr lang="zh-CN" altLang="en-US" sz="2800">
              <a:latin typeface="楷体_GB2312" charset="0"/>
              <a:ea typeface="楷体_GB2312" charset="0"/>
            </a:endParaRPr>
          </a:p>
          <a:p>
            <a:r>
              <a:rPr lang="en-US" altLang="zh-CN" sz="2800">
                <a:latin typeface="楷体_GB2312" charset="0"/>
                <a:ea typeface="楷体_GB2312" charset="0"/>
              </a:rPr>
              <a:t>3.</a:t>
            </a:r>
            <a:r>
              <a:rPr lang="zh-CN" altLang="en-US" sz="2800">
                <a:latin typeface="楷体_GB2312" charset="0"/>
                <a:ea typeface="楷体_GB2312" charset="0"/>
              </a:rPr>
              <a:t>压入栈</a:t>
            </a:r>
            <a:endParaRPr lang="zh-CN" altLang="en-US" sz="2800">
              <a:latin typeface="楷体_GB2312" charset="0"/>
              <a:ea typeface="楷体_GB2312" charset="0"/>
            </a:endParaRPr>
          </a:p>
          <a:p>
            <a:r>
              <a:rPr lang="en-US" altLang="zh-CN" sz="2800">
                <a:latin typeface="楷体_GB2312" charset="0"/>
                <a:ea typeface="楷体_GB2312" charset="0"/>
              </a:rPr>
              <a:t>4.</a:t>
            </a:r>
            <a:r>
              <a:rPr lang="zh-CN" altLang="en-US" sz="2800">
                <a:latin typeface="楷体_GB2312" charset="0"/>
                <a:ea typeface="楷体_GB2312" charset="0"/>
              </a:rPr>
              <a:t>原串字符与出栈字符依次比较</a:t>
            </a:r>
            <a:endParaRPr lang="zh-CN" altLang="en-US" sz="2800">
              <a:latin typeface="楷体_GB2312" charset="0"/>
              <a:ea typeface="楷体_GB2312" charset="0"/>
            </a:endParaRPr>
          </a:p>
          <a:p>
            <a:r>
              <a:rPr lang="zh-CN" altLang="en-US" sz="2800">
                <a:latin typeface="楷体_GB2312" charset="0"/>
                <a:ea typeface="楷体_GB2312" charset="0"/>
              </a:rPr>
              <a:t>  若不等，非回文</a:t>
            </a:r>
            <a:endParaRPr lang="zh-CN" altLang="en-US" sz="2800">
              <a:latin typeface="楷体_GB2312" charset="0"/>
              <a:ea typeface="楷体_GB2312" charset="0"/>
            </a:endParaRPr>
          </a:p>
          <a:p>
            <a:r>
              <a:rPr lang="zh-CN" altLang="en-US" sz="2800">
                <a:latin typeface="楷体_GB2312" charset="0"/>
                <a:ea typeface="楷体_GB2312" charset="0"/>
              </a:rPr>
              <a:t>  若直到栈空都相等，回文</a:t>
            </a:r>
            <a:endParaRPr lang="zh-CN" altLang="en-US" sz="2800">
              <a:latin typeface="楷体_GB2312" charset="0"/>
              <a:ea typeface="楷体_GB2312" charset="0"/>
            </a:endParaRPr>
          </a:p>
        </p:txBody>
      </p:sp>
      <p:sp>
        <p:nvSpPr>
          <p:cNvPr id="1178639" name="Text Box 15"/>
          <p:cNvSpPr txBox="1">
            <a:spLocks noChangeArrowheads="1"/>
          </p:cNvSpPr>
          <p:nvPr/>
        </p:nvSpPr>
        <p:spPr bwMode="auto">
          <a:xfrm>
            <a:off x="171450" y="4251325"/>
            <a:ext cx="3076575" cy="396875"/>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zh-CN" altLang="en-US">
                <a:latin typeface="楷体_GB2312" charset="0"/>
                <a:ea typeface="楷体_GB2312" charset="0"/>
              </a:rPr>
              <a:t>字符串：</a:t>
            </a:r>
            <a:r>
              <a:rPr lang="zh-CN" altLang="en-US">
                <a:ea typeface="楷体_GB2312" charset="0"/>
              </a:rPr>
              <a:t>“</a:t>
            </a:r>
            <a:r>
              <a:rPr lang="en-US" altLang="zh-CN">
                <a:latin typeface="楷体_GB2312" charset="0"/>
                <a:ea typeface="楷体_GB2312" charset="0"/>
              </a:rPr>
              <a:t>madam im adam</a:t>
            </a:r>
            <a:r>
              <a:rPr lang="en-US" altLang="zh-CN">
                <a:ea typeface="楷体_GB2312" charset="0"/>
              </a:rPr>
              <a:t>”</a:t>
            </a:r>
            <a:endParaRPr lang="en-US" altLang="zh-CN">
              <a:latin typeface="楷体_GB2312" charset="0"/>
              <a:ea typeface="楷体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178628">
                                            <p:txEl>
                                              <p:pRg st="0" end="0"/>
                                            </p:txEl>
                                          </p:spTgt>
                                        </p:tgtEl>
                                        <p:attrNameLst>
                                          <p:attrName>style.visibility</p:attrName>
                                        </p:attrNameLst>
                                      </p:cBhvr>
                                      <p:to>
                                        <p:strVal val="visible"/>
                                      </p:to>
                                    </p:set>
                                    <p:anim calcmode="lin" valueType="num">
                                      <p:cBhvr additive="base">
                                        <p:cTn id="7" dur="500" fill="hold"/>
                                        <p:tgtEl>
                                          <p:spTgt spid="117862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7862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78629"/>
                                        </p:tgtEl>
                                        <p:attrNameLst>
                                          <p:attrName>style.visibility</p:attrName>
                                        </p:attrNameLst>
                                      </p:cBhvr>
                                      <p:to>
                                        <p:strVal val="visible"/>
                                      </p:to>
                                    </p:set>
                                    <p:animEffect transition="in" filter="box(out)">
                                      <p:cBhvr>
                                        <p:cTn id="13" dur="500"/>
                                        <p:tgtEl>
                                          <p:spTgt spid="1178629"/>
                                        </p:tgtEl>
                                      </p:cBhvr>
                                    </p:animEffect>
                                  </p:childTnLst>
                                  <p:subTnLst>
                                    <p:audio>
                                      <p:cMediaNode>
                                        <p:cTn display="0" masterRel="sameClick">
                                          <p:stCondLst>
                                            <p:cond evt="begin" delay="0">
                                              <p:tn val="11"/>
                                            </p:cond>
                                          </p:stCondLst>
                                          <p:endCondLst>
                                            <p:cond evt="onStopAudio" delay="0">
                                              <p:tgtEl>
                                                <p:sldTgt/>
                                              </p:tgtEl>
                                            </p:cond>
                                          </p:endCondLst>
                                        </p:cTn>
                                        <p:tgtEl>
                                          <p:sndTgt r:embed="rId1"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178638">
                                            <p:txEl>
                                              <p:pRg st="0" end="0"/>
                                            </p:txEl>
                                          </p:spTgt>
                                        </p:tgtEl>
                                        <p:attrNameLst>
                                          <p:attrName>style.visibility</p:attrName>
                                        </p:attrNameLst>
                                      </p:cBhvr>
                                      <p:to>
                                        <p:strVal val="visible"/>
                                      </p:to>
                                    </p:set>
                                    <p:animEffect transition="in" filter="box(out)">
                                      <p:cBhvr>
                                        <p:cTn id="18" dur="500"/>
                                        <p:tgtEl>
                                          <p:spTgt spid="1178638">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1"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78638">
                                            <p:txEl>
                                              <p:pRg st="1" end="1"/>
                                            </p:txEl>
                                          </p:spTgt>
                                        </p:tgtEl>
                                        <p:attrNameLst>
                                          <p:attrName>style.visibility</p:attrName>
                                        </p:attrNameLst>
                                      </p:cBhvr>
                                      <p:to>
                                        <p:strVal val="visible"/>
                                      </p:to>
                                    </p:set>
                                    <p:animEffect transition="in" filter="box(out)">
                                      <p:cBhvr>
                                        <p:cTn id="23" dur="500"/>
                                        <p:tgtEl>
                                          <p:spTgt spid="1178638">
                                            <p:txEl>
                                              <p:pRg st="1" end="1"/>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1"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178638">
                                            <p:txEl>
                                              <p:pRg st="2" end="2"/>
                                            </p:txEl>
                                          </p:spTgt>
                                        </p:tgtEl>
                                        <p:attrNameLst>
                                          <p:attrName>style.visibility</p:attrName>
                                        </p:attrNameLst>
                                      </p:cBhvr>
                                      <p:to>
                                        <p:strVal val="visible"/>
                                      </p:to>
                                    </p:set>
                                    <p:animEffect transition="in" filter="box(out)">
                                      <p:cBhvr>
                                        <p:cTn id="28" dur="500"/>
                                        <p:tgtEl>
                                          <p:spTgt spid="1178638">
                                            <p:txEl>
                                              <p:pRg st="2" end="2"/>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1"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178638">
                                            <p:txEl>
                                              <p:pRg st="3" end="3"/>
                                            </p:txEl>
                                          </p:spTgt>
                                        </p:tgtEl>
                                        <p:attrNameLst>
                                          <p:attrName>style.visibility</p:attrName>
                                        </p:attrNameLst>
                                      </p:cBhvr>
                                      <p:to>
                                        <p:strVal val="visible"/>
                                      </p:to>
                                    </p:set>
                                    <p:animEffect transition="in" filter="box(out)">
                                      <p:cBhvr>
                                        <p:cTn id="33" dur="500"/>
                                        <p:tgtEl>
                                          <p:spTgt spid="1178638">
                                            <p:txEl>
                                              <p:pRg st="3" end="3"/>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1"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78638">
                                            <p:txEl>
                                              <p:pRg st="4" end="4"/>
                                            </p:txEl>
                                          </p:spTgt>
                                        </p:tgtEl>
                                        <p:attrNameLst>
                                          <p:attrName>style.visibility</p:attrName>
                                        </p:attrNameLst>
                                      </p:cBhvr>
                                      <p:to>
                                        <p:strVal val="visible"/>
                                      </p:to>
                                    </p:set>
                                    <p:animEffect transition="in" filter="box(out)">
                                      <p:cBhvr>
                                        <p:cTn id="38" dur="500"/>
                                        <p:tgtEl>
                                          <p:spTgt spid="1178638">
                                            <p:txEl>
                                              <p:pRg st="4" end="4"/>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1"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178638">
                                            <p:txEl>
                                              <p:pRg st="5" end="5"/>
                                            </p:txEl>
                                          </p:spTgt>
                                        </p:tgtEl>
                                        <p:attrNameLst>
                                          <p:attrName>style.visibility</p:attrName>
                                        </p:attrNameLst>
                                      </p:cBhvr>
                                      <p:to>
                                        <p:strVal val="visible"/>
                                      </p:to>
                                    </p:set>
                                    <p:animEffect transition="in" filter="box(out)">
                                      <p:cBhvr>
                                        <p:cTn id="43" dur="500"/>
                                        <p:tgtEl>
                                          <p:spTgt spid="1178638">
                                            <p:txEl>
                                              <p:pRg st="5" end="5"/>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1"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1178639">
                                            <p:txEl>
                                              <p:pRg st="0" end="0"/>
                                            </p:txEl>
                                          </p:spTgt>
                                        </p:tgtEl>
                                        <p:attrNameLst>
                                          <p:attrName>style.visibility</p:attrName>
                                        </p:attrNameLst>
                                      </p:cBhvr>
                                      <p:to>
                                        <p:strVal val="visible"/>
                                      </p:to>
                                    </p:set>
                                    <p:animEffect transition="in" filter="box(out)">
                                      <p:cBhvr>
                                        <p:cTn id="48" dur="500"/>
                                        <p:tgtEl>
                                          <p:spTgt spid="1178639">
                                            <p:txEl>
                                              <p:pRg st="0" end="0"/>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628" grpId="0" bldLvl="5" autoUpdateAnimBg="0" build="p"/>
      <p:bldP spid="1178638" grpId="0" autoUpdateAnimBg="0" build="p"/>
      <p:bldP spid="1178639" grpId="0" autoUpdateAnimBg="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626" name="Text Box 2"/>
          <p:cNvSpPr txBox="1">
            <a:spLocks noChangeArrowheads="1"/>
          </p:cNvSpPr>
          <p:nvPr/>
        </p:nvSpPr>
        <p:spPr bwMode="auto">
          <a:xfrm>
            <a:off x="381000" y="1143000"/>
            <a:ext cx="8439150" cy="3751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4000">
                <a:ea typeface="楷体_GB2312" charset="0"/>
              </a:rPr>
              <a:t>假设在表达式中</a:t>
            </a:r>
            <a:endParaRPr lang="zh-CN" altLang="en-US" sz="4000">
              <a:ea typeface="楷体_GB2312" charset="0"/>
            </a:endParaRPr>
          </a:p>
          <a:p>
            <a:pPr eaLnBrk="0" hangingPunct="0">
              <a:lnSpc>
                <a:spcPct val="120000"/>
              </a:lnSpc>
            </a:pPr>
            <a:r>
              <a:rPr lang="zh-CN" altLang="en-US" sz="4000">
                <a:ea typeface="楷体_GB2312" charset="0"/>
              </a:rPr>
              <a:t>（［］（））或［（［ ］［ ］）］</a:t>
            </a:r>
            <a:endParaRPr lang="zh-CN" altLang="en-US" sz="4000">
              <a:ea typeface="楷体_GB2312" charset="0"/>
            </a:endParaRPr>
          </a:p>
          <a:p>
            <a:pPr eaLnBrk="0" hangingPunct="0">
              <a:lnSpc>
                <a:spcPct val="120000"/>
              </a:lnSpc>
            </a:pPr>
            <a:r>
              <a:rPr lang="zh-CN" altLang="en-US" sz="4000">
                <a:ea typeface="楷体_GB2312" charset="0"/>
              </a:rPr>
              <a:t>等为正确的格式，</a:t>
            </a:r>
            <a:endParaRPr lang="zh-CN" altLang="en-US" sz="4000">
              <a:ea typeface="楷体_GB2312" charset="0"/>
            </a:endParaRPr>
          </a:p>
          <a:p>
            <a:pPr eaLnBrk="0" hangingPunct="0">
              <a:lnSpc>
                <a:spcPct val="120000"/>
              </a:lnSpc>
            </a:pPr>
            <a:r>
              <a:rPr lang="zh-CN" altLang="en-US" sz="4000">
                <a:ea typeface="楷体_GB2312" charset="0"/>
              </a:rPr>
              <a:t>［（ ］）或（［（ ））或 （（）］</a:t>
            </a:r>
            <a:r>
              <a:rPr lang="en-US" altLang="zh-CN" sz="4000">
                <a:ea typeface="楷体_GB2312" charset="0"/>
              </a:rPr>
              <a:t>)</a:t>
            </a:r>
            <a:endParaRPr lang="en-US" altLang="zh-CN" sz="4000">
              <a:ea typeface="楷体_GB2312" charset="0"/>
            </a:endParaRPr>
          </a:p>
          <a:p>
            <a:pPr eaLnBrk="0" hangingPunct="0">
              <a:lnSpc>
                <a:spcPct val="120000"/>
              </a:lnSpc>
            </a:pPr>
            <a:r>
              <a:rPr lang="zh-CN" altLang="en-US" sz="4000">
                <a:ea typeface="楷体_GB2312" charset="0"/>
              </a:rPr>
              <a:t>均为不正确的格式。</a:t>
            </a:r>
            <a:endParaRPr lang="zh-CN" altLang="en-US" sz="4000">
              <a:solidFill>
                <a:srgbClr val="FF0000"/>
              </a:solidFill>
              <a:ea typeface="楷体_GB2312" charset="0"/>
            </a:endParaRPr>
          </a:p>
        </p:txBody>
      </p:sp>
      <p:sp>
        <p:nvSpPr>
          <p:cNvPr id="1050627" name="Text Box 3"/>
          <p:cNvSpPr txBox="1">
            <a:spLocks noChangeArrowheads="1"/>
          </p:cNvSpPr>
          <p:nvPr/>
        </p:nvSpPr>
        <p:spPr bwMode="auto">
          <a:xfrm>
            <a:off x="508000" y="4845050"/>
            <a:ext cx="8255000" cy="155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20000"/>
              </a:lnSpc>
            </a:pPr>
            <a:r>
              <a:rPr lang="zh-CN" altLang="en-US" sz="4000">
                <a:ea typeface="楷体_GB2312" charset="0"/>
              </a:rPr>
              <a:t>则 </a:t>
            </a:r>
            <a:r>
              <a:rPr lang="zh-CN" altLang="en-US" sz="4000">
                <a:solidFill>
                  <a:srgbClr val="FF0000"/>
                </a:solidFill>
                <a:ea typeface="楷体_GB2312" charset="0"/>
              </a:rPr>
              <a:t>检验括号是否匹配</a:t>
            </a:r>
            <a:r>
              <a:rPr lang="zh-CN" altLang="en-US" sz="4000">
                <a:ea typeface="楷体_GB2312" charset="0"/>
              </a:rPr>
              <a:t>的方法可用</a:t>
            </a:r>
            <a:endParaRPr lang="zh-CN" altLang="en-US" sz="4000">
              <a:solidFill>
                <a:srgbClr val="FF0000"/>
              </a:solidFill>
              <a:ea typeface="楷体_GB2312" charset="0"/>
            </a:endParaRPr>
          </a:p>
          <a:p>
            <a:pPr eaLnBrk="0" hangingPunct="0">
              <a:lnSpc>
                <a:spcPct val="120000"/>
              </a:lnSpc>
            </a:pPr>
            <a:r>
              <a:rPr lang="zh-CN" altLang="en-US" sz="4000">
                <a:solidFill>
                  <a:srgbClr val="FF0000"/>
                </a:solidFill>
                <a:ea typeface="楷体_GB2312" charset="0"/>
              </a:rPr>
              <a:t>“期待的急迫程度”</a:t>
            </a:r>
            <a:r>
              <a:rPr lang="zh-CN" altLang="en-US" sz="4000">
                <a:ea typeface="楷体_GB2312" charset="0"/>
              </a:rPr>
              <a:t>这个概念来描述。</a:t>
            </a:r>
            <a:endParaRPr lang="zh-CN" altLang="en-US" sz="4000">
              <a:solidFill>
                <a:srgbClr val="FF0000"/>
              </a:solidFill>
              <a:ea typeface="楷体_GB2312" charset="0"/>
            </a:endParaRPr>
          </a:p>
        </p:txBody>
      </p:sp>
      <p:sp>
        <p:nvSpPr>
          <p:cNvPr id="1050629" name="Rectangle 5"/>
          <p:cNvSpPr>
            <a:spLocks noChangeArrowheads="1"/>
          </p:cNvSpPr>
          <p:nvPr/>
        </p:nvSpPr>
        <p:spPr bwMode="auto">
          <a:xfrm>
            <a:off x="1676400" y="152400"/>
            <a:ext cx="5407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zh-CN" altLang="en-US" sz="4000" b="1">
                <a:solidFill>
                  <a:srgbClr val="FF5050"/>
                </a:solidFill>
                <a:ea typeface="楷体_GB2312" charset="0"/>
              </a:rPr>
              <a:t>例二、 括号匹配的检验</a:t>
            </a:r>
            <a:endParaRPr lang="zh-CN" altLang="en-US" sz="4000" b="1">
              <a:solidFill>
                <a:srgbClr val="FF5050"/>
              </a:solidFill>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50627">
                                            <p:txEl>
                                              <p:pRg st="0" end="0"/>
                                            </p:txEl>
                                          </p:spTgt>
                                        </p:tgtEl>
                                        <p:attrNameLst>
                                          <p:attrName>style.visibility</p:attrName>
                                        </p:attrNameLst>
                                      </p:cBhvr>
                                      <p:to>
                                        <p:strVal val="visible"/>
                                      </p:to>
                                    </p:set>
                                    <p:anim calcmode="lin" valueType="num">
                                      <p:cBhvr additive="base">
                                        <p:cTn id="7" dur="500" fill="hold"/>
                                        <p:tgtEl>
                                          <p:spTgt spid="10506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5062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CARBRAK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50627">
                                            <p:txEl>
                                              <p:pRg st="1" end="1"/>
                                            </p:txEl>
                                          </p:spTgt>
                                        </p:tgtEl>
                                        <p:attrNameLst>
                                          <p:attrName>style.visibility</p:attrName>
                                        </p:attrNameLst>
                                      </p:cBhvr>
                                      <p:to>
                                        <p:strVal val="visible"/>
                                      </p:to>
                                    </p:set>
                                    <p:anim calcmode="lin" valueType="num">
                                      <p:cBhvr additive="base">
                                        <p:cTn id="13" dur="500" fill="hold"/>
                                        <p:tgtEl>
                                          <p:spTgt spid="10506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5062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0627" grpId="0" autoUpdateAnimBg="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1650" name="Rectangle 2"/>
          <p:cNvSpPr>
            <a:spLocks noGrp="1" noChangeArrowheads="1"/>
          </p:cNvSpPr>
          <p:nvPr>
            <p:ph type="title" idx="4294967295"/>
          </p:nvPr>
        </p:nvSpPr>
        <p:spPr>
          <a:xfrm>
            <a:off x="457200" y="2133600"/>
            <a:ext cx="7772400" cy="1143000"/>
          </a:xfrm>
        </p:spPr>
        <p:txBody>
          <a:bodyPr/>
          <a:lstStyle/>
          <a:p>
            <a:r>
              <a:rPr lang="zh-CN" altLang="en-US">
                <a:solidFill>
                  <a:schemeClr val="tx1"/>
                </a:solidFill>
                <a:ea typeface="楷体_GB2312" charset="0"/>
              </a:rPr>
              <a:t>分析可能出现的</a:t>
            </a:r>
            <a:r>
              <a:rPr lang="zh-CN" altLang="en-US" b="0">
                <a:solidFill>
                  <a:srgbClr val="A50021"/>
                </a:solidFill>
              </a:rPr>
              <a:t>不匹配</a:t>
            </a:r>
            <a:r>
              <a:rPr lang="zh-CN" altLang="en-US">
                <a:solidFill>
                  <a:schemeClr val="tx1"/>
                </a:solidFill>
                <a:ea typeface="楷体_GB2312" charset="0"/>
              </a:rPr>
              <a:t>的情况</a:t>
            </a:r>
            <a:r>
              <a:rPr lang="en-US" altLang="zh-CN" b="0">
                <a:solidFill>
                  <a:schemeClr val="tx1"/>
                </a:solidFill>
                <a:ea typeface="楷体_GB2312" charset="0"/>
              </a:rPr>
              <a:t>:</a:t>
            </a:r>
            <a:endParaRPr lang="en-US" altLang="zh-CN" b="0">
              <a:solidFill>
                <a:schemeClr val="tx1"/>
              </a:solidFill>
              <a:ea typeface="楷体_GB2312" charset="0"/>
            </a:endParaRPr>
          </a:p>
        </p:txBody>
      </p:sp>
      <p:sp>
        <p:nvSpPr>
          <p:cNvPr id="1051651" name="Rectangle 3"/>
          <p:cNvSpPr>
            <a:spLocks noGrp="1" noChangeArrowheads="1"/>
          </p:cNvSpPr>
          <p:nvPr>
            <p:ph type="body" idx="4294967295"/>
          </p:nvPr>
        </p:nvSpPr>
        <p:spPr>
          <a:xfrm>
            <a:off x="762000" y="3276600"/>
            <a:ext cx="8915400" cy="609600"/>
          </a:xfrm>
        </p:spPr>
        <p:txBody>
          <a:bodyPr>
            <a:normAutofit fontScale="92500" lnSpcReduction="20000"/>
          </a:bodyPr>
          <a:lstStyle/>
          <a:p>
            <a:r>
              <a:rPr lang="zh-CN" altLang="en-US" sz="4400">
                <a:ea typeface="楷体_GB2312" charset="0"/>
              </a:rPr>
              <a:t>到来的右括弧</a:t>
            </a:r>
            <a:r>
              <a:rPr lang="zh-CN" altLang="en-US" sz="4400">
                <a:solidFill>
                  <a:srgbClr val="FF0000"/>
                </a:solidFill>
                <a:ea typeface="楷体_GB2312" charset="0"/>
              </a:rPr>
              <a:t>并非是所“期待”</a:t>
            </a:r>
            <a:r>
              <a:rPr lang="zh-CN" altLang="en-US" sz="4400">
                <a:ea typeface="楷体_GB2312" charset="0"/>
              </a:rPr>
              <a:t>的；</a:t>
            </a:r>
            <a:endParaRPr lang="zh-CN" altLang="en-US" sz="4400">
              <a:ea typeface="楷体_GB2312" charset="0"/>
            </a:endParaRPr>
          </a:p>
        </p:txBody>
      </p:sp>
      <p:sp>
        <p:nvSpPr>
          <p:cNvPr id="1051652" name="Text Box 4"/>
          <p:cNvSpPr txBox="1">
            <a:spLocks noChangeArrowheads="1"/>
          </p:cNvSpPr>
          <p:nvPr/>
        </p:nvSpPr>
        <p:spPr bwMode="auto">
          <a:xfrm>
            <a:off x="1524000" y="288925"/>
            <a:ext cx="6280150" cy="192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4000">
                <a:ea typeface="楷体_GB2312" charset="0"/>
              </a:rPr>
              <a:t>例如：考虑下列括号序列：</a:t>
            </a:r>
            <a:endParaRPr lang="zh-CN" altLang="en-US" sz="4000">
              <a:ea typeface="楷体_GB2312" charset="0"/>
            </a:endParaRPr>
          </a:p>
          <a:p>
            <a:pPr eaLnBrk="0" hangingPunct="0"/>
            <a:r>
              <a:rPr lang="zh-CN" altLang="en-US" sz="4000">
                <a:ea typeface="楷体_GB2312" charset="0"/>
              </a:rPr>
              <a:t>             </a:t>
            </a:r>
            <a:r>
              <a:rPr lang="en-US" altLang="zh-CN" sz="4000">
                <a:ea typeface="楷体_GB2312" charset="0"/>
              </a:rPr>
              <a:t>[  (   [   ]  [   ]   )  ]</a:t>
            </a:r>
            <a:endParaRPr lang="en-US" altLang="zh-CN" sz="4000">
              <a:ea typeface="楷体_GB2312" charset="0"/>
            </a:endParaRPr>
          </a:p>
          <a:p>
            <a:pPr eaLnBrk="0" hangingPunct="0"/>
            <a:r>
              <a:rPr lang="en-US" altLang="zh-CN" sz="4000">
                <a:ea typeface="楷体_GB2312" charset="0"/>
              </a:rPr>
              <a:t>             1  2  3 4  5  6  7  8</a:t>
            </a:r>
            <a:endParaRPr lang="en-US" altLang="zh-CN" sz="4000"/>
          </a:p>
        </p:txBody>
      </p:sp>
      <p:sp>
        <p:nvSpPr>
          <p:cNvPr id="1051653" name="Rectangle 5"/>
          <p:cNvSpPr>
            <a:spLocks noChangeArrowheads="1"/>
          </p:cNvSpPr>
          <p:nvPr/>
        </p:nvSpPr>
        <p:spPr bwMode="auto">
          <a:xfrm>
            <a:off x="762000" y="41148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r>
              <a:rPr lang="zh-CN" altLang="en-US" sz="4400">
                <a:ea typeface="楷体_GB2312" charset="0"/>
              </a:rPr>
              <a:t>到来的是</a:t>
            </a:r>
            <a:r>
              <a:rPr lang="zh-CN" altLang="en-US" sz="4400">
                <a:solidFill>
                  <a:srgbClr val="FF0000"/>
                </a:solidFill>
                <a:ea typeface="楷体_GB2312" charset="0"/>
              </a:rPr>
              <a:t>“不速之客”</a:t>
            </a:r>
            <a:r>
              <a:rPr lang="zh-CN" altLang="en-US" sz="4400">
                <a:ea typeface="楷体_GB2312" charset="0"/>
              </a:rPr>
              <a:t>；</a:t>
            </a:r>
            <a:endParaRPr lang="zh-CN" altLang="en-US" sz="4400">
              <a:ea typeface="楷体_GB2312" charset="0"/>
            </a:endParaRPr>
          </a:p>
        </p:txBody>
      </p:sp>
      <p:sp>
        <p:nvSpPr>
          <p:cNvPr id="1051654" name="Rectangle 6"/>
          <p:cNvSpPr>
            <a:spLocks noChangeArrowheads="1"/>
          </p:cNvSpPr>
          <p:nvPr/>
        </p:nvSpPr>
        <p:spPr bwMode="auto">
          <a:xfrm>
            <a:off x="762000" y="48768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4400">
                <a:ea typeface="楷体_GB2312" charset="0"/>
              </a:rPr>
              <a:t>直到结束，也没有到来</a:t>
            </a:r>
            <a:r>
              <a:rPr lang="zh-CN" altLang="en-US" sz="4400">
                <a:solidFill>
                  <a:srgbClr val="FF0000"/>
                </a:solidFill>
                <a:ea typeface="楷体_GB2312" charset="0"/>
              </a:rPr>
              <a:t>所“期待”</a:t>
            </a:r>
            <a:r>
              <a:rPr lang="zh-CN" altLang="en-US" sz="4400">
                <a:ea typeface="楷体_GB2312" charset="0"/>
              </a:rPr>
              <a:t>的括弧。</a:t>
            </a:r>
            <a:endParaRPr lang="zh-CN" altLang="en-US" sz="4400">
              <a:ea typeface="楷体_GB2312" charset="0"/>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051650"/>
                                        </p:tgtEl>
                                        <p:attrNameLst>
                                          <p:attrName>style.visibility</p:attrName>
                                        </p:attrNameLst>
                                      </p:cBhvr>
                                      <p:to>
                                        <p:strVal val="visible"/>
                                      </p:to>
                                    </p:set>
                                    <p:animEffect transition="in" filter="blinds(vertical)">
                                      <p:cBhvr>
                                        <p:cTn id="7" dur="500"/>
                                        <p:tgtEl>
                                          <p:spTgt spid="10516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1651">
                                            <p:txEl>
                                              <p:pRg st="0" end="0"/>
                                            </p:txEl>
                                          </p:spTgt>
                                        </p:tgtEl>
                                        <p:attrNameLst>
                                          <p:attrName>style.visibility</p:attrName>
                                        </p:attrNameLst>
                                      </p:cBhvr>
                                      <p:to>
                                        <p:strVal val="visible"/>
                                      </p:to>
                                    </p:set>
                                    <p:animEffect transition="in" filter="wipe(left)">
                                      <p:cBhvr>
                                        <p:cTn id="12" dur="500"/>
                                        <p:tgtEl>
                                          <p:spTgt spid="10516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1653">
                                            <p:txEl>
                                              <p:pRg st="0" end="0"/>
                                            </p:txEl>
                                          </p:spTgt>
                                        </p:tgtEl>
                                        <p:attrNameLst>
                                          <p:attrName>style.visibility</p:attrName>
                                        </p:attrNameLst>
                                      </p:cBhvr>
                                      <p:to>
                                        <p:strVal val="visible"/>
                                      </p:to>
                                    </p:set>
                                    <p:animEffect transition="in" filter="wipe(left)">
                                      <p:cBhvr>
                                        <p:cTn id="17" dur="500"/>
                                        <p:tgtEl>
                                          <p:spTgt spid="105165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51654">
                                            <p:txEl>
                                              <p:pRg st="0" end="0"/>
                                            </p:txEl>
                                          </p:spTgt>
                                        </p:tgtEl>
                                        <p:attrNameLst>
                                          <p:attrName>style.visibility</p:attrName>
                                        </p:attrNameLst>
                                      </p:cBhvr>
                                      <p:to>
                                        <p:strVal val="visible"/>
                                      </p:to>
                                    </p:set>
                                    <p:animEffect transition="in" filter="wipe(left)">
                                      <p:cBhvr>
                                        <p:cTn id="22" dur="500"/>
                                        <p:tgtEl>
                                          <p:spTgt spid="10516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1650" grpId="0" autoUpdateAnimBg="0"/>
      <p:bldP spid="1051651" grpId="0" autoUpdateAnimBg="0" build="p"/>
      <p:bldP spid="1051653" grpId="0" autoUpdateAnimBg="0" build="p"/>
      <p:bldP spid="1051654" grpId="0" autoUpdateAnimBg="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674" name="Text Box 2"/>
          <p:cNvSpPr txBox="1">
            <a:spLocks noChangeArrowheads="1"/>
          </p:cNvSpPr>
          <p:nvPr/>
        </p:nvSpPr>
        <p:spPr bwMode="auto">
          <a:xfrm>
            <a:off x="1676400" y="76200"/>
            <a:ext cx="42672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zh-CN" altLang="zh-CN" sz="4000" b="1">
                <a:solidFill>
                  <a:srgbClr val="FF0000"/>
                </a:solidFill>
              </a:rPr>
              <a:t>算法的设计思想：</a:t>
            </a:r>
            <a:endParaRPr lang="zh-CN" altLang="en-US" sz="4000">
              <a:solidFill>
                <a:srgbClr val="A50021"/>
              </a:solidFill>
              <a:latin typeface="楷体_GB2312" charset="0"/>
              <a:ea typeface="楷体_GB2312" charset="0"/>
            </a:endParaRPr>
          </a:p>
        </p:txBody>
      </p:sp>
      <p:sp>
        <p:nvSpPr>
          <p:cNvPr id="1052675" name="Text Box 3"/>
          <p:cNvSpPr txBox="1">
            <a:spLocks noChangeArrowheads="1"/>
          </p:cNvSpPr>
          <p:nvPr/>
        </p:nvSpPr>
        <p:spPr bwMode="auto">
          <a:xfrm>
            <a:off x="720725" y="1109663"/>
            <a:ext cx="5907088"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zh-CN" sz="3600" b="1">
                <a:solidFill>
                  <a:srgbClr val="A50021"/>
                </a:solidFill>
                <a:ea typeface="楷体_GB2312" charset="0"/>
              </a:rPr>
              <a:t>1</a:t>
            </a:r>
            <a:r>
              <a:rPr lang="zh-CN" altLang="zh-CN" sz="3600">
                <a:solidFill>
                  <a:srgbClr val="A50021"/>
                </a:solidFill>
                <a:latin typeface="楷体_GB2312" charset="0"/>
                <a:ea typeface="楷体_GB2312" charset="0"/>
              </a:rPr>
              <a:t>）凡出现</a:t>
            </a:r>
            <a:r>
              <a:rPr lang="zh-CN" altLang="zh-CN" sz="3600" b="1">
                <a:solidFill>
                  <a:srgbClr val="660033"/>
                </a:solidFill>
                <a:latin typeface="楷体_GB2312" charset="0"/>
                <a:ea typeface="楷体_GB2312" charset="0"/>
              </a:rPr>
              <a:t>左括弧</a:t>
            </a:r>
            <a:r>
              <a:rPr lang="zh-CN" altLang="zh-CN" sz="3600">
                <a:solidFill>
                  <a:srgbClr val="A50021"/>
                </a:solidFill>
                <a:latin typeface="楷体_GB2312" charset="0"/>
                <a:ea typeface="楷体_GB2312" charset="0"/>
              </a:rPr>
              <a:t>，则</a:t>
            </a:r>
            <a:r>
              <a:rPr lang="zh-CN" altLang="zh-CN" sz="3600" b="1">
                <a:solidFill>
                  <a:srgbClr val="660033"/>
                </a:solidFill>
                <a:latin typeface="楷体_GB2312" charset="0"/>
                <a:ea typeface="楷体_GB2312" charset="0"/>
              </a:rPr>
              <a:t>进栈</a:t>
            </a:r>
            <a:r>
              <a:rPr lang="zh-CN" altLang="zh-CN" sz="3600">
                <a:solidFill>
                  <a:srgbClr val="A50021"/>
                </a:solidFill>
                <a:latin typeface="楷体_GB2312" charset="0"/>
                <a:ea typeface="楷体_GB2312" charset="0"/>
              </a:rPr>
              <a:t>；</a:t>
            </a:r>
            <a:endParaRPr lang="zh-CN" altLang="zh-CN" sz="4000">
              <a:solidFill>
                <a:srgbClr val="A50021"/>
              </a:solidFill>
              <a:latin typeface="楷体_GB2312" charset="0"/>
              <a:ea typeface="楷体_GB2312" charset="0"/>
            </a:endParaRPr>
          </a:p>
        </p:txBody>
      </p:sp>
      <p:sp>
        <p:nvSpPr>
          <p:cNvPr id="1052676" name="Text Box 4"/>
          <p:cNvSpPr txBox="1">
            <a:spLocks noChangeArrowheads="1"/>
          </p:cNvSpPr>
          <p:nvPr/>
        </p:nvSpPr>
        <p:spPr bwMode="auto">
          <a:xfrm>
            <a:off x="771525" y="1782763"/>
            <a:ext cx="7970838" cy="311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nSpc>
                <a:spcPct val="110000"/>
              </a:lnSpc>
            </a:pPr>
            <a:r>
              <a:rPr lang="zh-CN" altLang="zh-CN" sz="3600" b="1">
                <a:solidFill>
                  <a:srgbClr val="A50021"/>
                </a:solidFill>
                <a:ea typeface="楷体_GB2312" charset="0"/>
              </a:rPr>
              <a:t>2</a:t>
            </a:r>
            <a:r>
              <a:rPr lang="zh-CN" altLang="zh-CN" sz="3600">
                <a:solidFill>
                  <a:srgbClr val="A50021"/>
                </a:solidFill>
                <a:latin typeface="楷体_GB2312" charset="0"/>
                <a:ea typeface="楷体_GB2312" charset="0"/>
              </a:rPr>
              <a:t>）凡出现</a:t>
            </a:r>
            <a:r>
              <a:rPr lang="zh-CN" altLang="zh-CN" sz="3600" b="1">
                <a:solidFill>
                  <a:srgbClr val="660033"/>
                </a:solidFill>
                <a:latin typeface="楷体_GB2312" charset="0"/>
                <a:ea typeface="楷体_GB2312" charset="0"/>
              </a:rPr>
              <a:t>右括弧</a:t>
            </a:r>
            <a:r>
              <a:rPr lang="zh-CN" altLang="zh-CN" sz="3600">
                <a:solidFill>
                  <a:srgbClr val="A50021"/>
                </a:solidFill>
                <a:latin typeface="楷体_GB2312" charset="0"/>
                <a:ea typeface="楷体_GB2312" charset="0"/>
              </a:rPr>
              <a:t>，首先检查栈是否空</a:t>
            </a:r>
            <a:endParaRPr lang="zh-CN" altLang="zh-CN" sz="3600">
              <a:solidFill>
                <a:srgbClr val="A50021"/>
              </a:solidFill>
              <a:latin typeface="楷体_GB2312" charset="0"/>
              <a:ea typeface="楷体_GB2312" charset="0"/>
            </a:endParaRPr>
          </a:p>
          <a:p>
            <a:pPr>
              <a:lnSpc>
                <a:spcPct val="110000"/>
              </a:lnSpc>
            </a:pPr>
            <a:r>
              <a:rPr lang="zh-CN" altLang="zh-CN" sz="3600">
                <a:solidFill>
                  <a:srgbClr val="A50021"/>
                </a:solidFill>
                <a:latin typeface="楷体_GB2312" charset="0"/>
                <a:ea typeface="楷体_GB2312" charset="0"/>
              </a:rPr>
              <a:t>   若</a:t>
            </a:r>
            <a:r>
              <a:rPr lang="zh-CN" altLang="zh-CN" sz="3600" b="1">
                <a:solidFill>
                  <a:srgbClr val="660033"/>
                </a:solidFill>
                <a:latin typeface="楷体_GB2312" charset="0"/>
                <a:ea typeface="楷体_GB2312" charset="0"/>
              </a:rPr>
              <a:t>栈空</a:t>
            </a:r>
            <a:r>
              <a:rPr lang="zh-CN" altLang="zh-CN" sz="3600">
                <a:solidFill>
                  <a:srgbClr val="A50021"/>
                </a:solidFill>
                <a:latin typeface="楷体_GB2312" charset="0"/>
                <a:ea typeface="楷体_GB2312" charset="0"/>
              </a:rPr>
              <a:t>，则表明该</a:t>
            </a:r>
            <a:r>
              <a:rPr lang="zh-CN" altLang="zh-CN" sz="3600" b="1">
                <a:solidFill>
                  <a:srgbClr val="660033"/>
                </a:solidFill>
                <a:ea typeface="楷体_GB2312" charset="0"/>
              </a:rPr>
              <a:t>“</a:t>
            </a:r>
            <a:r>
              <a:rPr lang="zh-CN" altLang="zh-CN" sz="3600" b="1">
                <a:solidFill>
                  <a:srgbClr val="660033"/>
                </a:solidFill>
                <a:latin typeface="楷体_GB2312" charset="0"/>
                <a:ea typeface="楷体_GB2312" charset="0"/>
              </a:rPr>
              <a:t>右括弧</a:t>
            </a:r>
            <a:r>
              <a:rPr lang="zh-CN" altLang="zh-CN" sz="3600" b="1">
                <a:solidFill>
                  <a:srgbClr val="660033"/>
                </a:solidFill>
                <a:ea typeface="楷体_GB2312" charset="0"/>
              </a:rPr>
              <a:t>”</a:t>
            </a:r>
            <a:r>
              <a:rPr lang="zh-CN" altLang="zh-CN" sz="3600" b="1">
                <a:solidFill>
                  <a:srgbClr val="660033"/>
                </a:solidFill>
                <a:latin typeface="楷体_GB2312" charset="0"/>
                <a:ea typeface="楷体_GB2312" charset="0"/>
              </a:rPr>
              <a:t>多余</a:t>
            </a:r>
            <a:r>
              <a:rPr lang="zh-CN" altLang="zh-CN" sz="3600">
                <a:solidFill>
                  <a:srgbClr val="A50021"/>
                </a:solidFill>
                <a:latin typeface="楷体_GB2312" charset="0"/>
                <a:ea typeface="楷体_GB2312" charset="0"/>
              </a:rPr>
              <a:t>，</a:t>
            </a:r>
            <a:endParaRPr lang="zh-CN" altLang="zh-CN" sz="3600">
              <a:solidFill>
                <a:srgbClr val="A50021"/>
              </a:solidFill>
              <a:latin typeface="楷体_GB2312" charset="0"/>
              <a:ea typeface="楷体_GB2312" charset="0"/>
            </a:endParaRPr>
          </a:p>
          <a:p>
            <a:pPr>
              <a:lnSpc>
                <a:spcPct val="110000"/>
              </a:lnSpc>
            </a:pPr>
            <a:r>
              <a:rPr lang="zh-CN" altLang="zh-CN" sz="3600">
                <a:solidFill>
                  <a:srgbClr val="A50021"/>
                </a:solidFill>
                <a:latin typeface="楷体_GB2312" charset="0"/>
                <a:ea typeface="楷体_GB2312" charset="0"/>
              </a:rPr>
              <a:t>   否则</a:t>
            </a:r>
            <a:r>
              <a:rPr lang="zh-CN" altLang="zh-CN" sz="3600" b="1">
                <a:solidFill>
                  <a:srgbClr val="660033"/>
                </a:solidFill>
                <a:latin typeface="楷体_GB2312" charset="0"/>
                <a:ea typeface="楷体_GB2312" charset="0"/>
              </a:rPr>
              <a:t>和栈顶元素</a:t>
            </a:r>
            <a:r>
              <a:rPr lang="zh-CN" altLang="zh-CN" sz="3600">
                <a:solidFill>
                  <a:srgbClr val="A50021"/>
                </a:solidFill>
                <a:latin typeface="楷体_GB2312" charset="0"/>
                <a:ea typeface="楷体_GB2312" charset="0"/>
              </a:rPr>
              <a:t>比较，</a:t>
            </a:r>
            <a:endParaRPr lang="zh-CN" altLang="zh-CN" sz="3600">
              <a:solidFill>
                <a:srgbClr val="A50021"/>
              </a:solidFill>
              <a:latin typeface="楷体_GB2312" charset="0"/>
              <a:ea typeface="楷体_GB2312" charset="0"/>
            </a:endParaRPr>
          </a:p>
          <a:p>
            <a:pPr>
              <a:lnSpc>
                <a:spcPct val="110000"/>
              </a:lnSpc>
            </a:pPr>
            <a:r>
              <a:rPr lang="zh-CN" altLang="zh-CN" sz="3600">
                <a:solidFill>
                  <a:srgbClr val="A50021"/>
                </a:solidFill>
                <a:latin typeface="楷体_GB2312" charset="0"/>
                <a:ea typeface="楷体_GB2312" charset="0"/>
              </a:rPr>
              <a:t>       若</a:t>
            </a:r>
            <a:r>
              <a:rPr lang="zh-CN" altLang="zh-CN" sz="3600" b="1">
                <a:solidFill>
                  <a:srgbClr val="660033"/>
                </a:solidFill>
                <a:latin typeface="楷体_GB2312" charset="0"/>
                <a:ea typeface="楷体_GB2312" charset="0"/>
              </a:rPr>
              <a:t>相匹配</a:t>
            </a:r>
            <a:r>
              <a:rPr lang="zh-CN" altLang="zh-CN" sz="3600">
                <a:solidFill>
                  <a:srgbClr val="A50021"/>
                </a:solidFill>
                <a:latin typeface="楷体_GB2312" charset="0"/>
                <a:ea typeface="楷体_GB2312" charset="0"/>
              </a:rPr>
              <a:t>，则</a:t>
            </a:r>
            <a:r>
              <a:rPr lang="zh-CN" altLang="zh-CN" sz="3600" b="1">
                <a:solidFill>
                  <a:srgbClr val="660033"/>
                </a:solidFill>
                <a:ea typeface="楷体_GB2312" charset="0"/>
              </a:rPr>
              <a:t>“</a:t>
            </a:r>
            <a:r>
              <a:rPr lang="zh-CN" altLang="zh-CN" sz="3600" b="1">
                <a:solidFill>
                  <a:srgbClr val="660033"/>
                </a:solidFill>
                <a:latin typeface="楷体_GB2312" charset="0"/>
                <a:ea typeface="楷体_GB2312" charset="0"/>
              </a:rPr>
              <a:t>左括弧出栈</a:t>
            </a:r>
            <a:r>
              <a:rPr lang="zh-CN" altLang="zh-CN" sz="3600" b="1">
                <a:solidFill>
                  <a:srgbClr val="660033"/>
                </a:solidFill>
                <a:ea typeface="楷体_GB2312" charset="0"/>
              </a:rPr>
              <a:t>”</a:t>
            </a:r>
            <a:r>
              <a:rPr lang="zh-CN" altLang="zh-CN" sz="3600" b="1">
                <a:solidFill>
                  <a:srgbClr val="660033"/>
                </a:solidFill>
                <a:latin typeface="楷体_GB2312" charset="0"/>
                <a:ea typeface="楷体_GB2312" charset="0"/>
              </a:rPr>
              <a:t> </a:t>
            </a:r>
            <a:r>
              <a:rPr lang="zh-CN" altLang="zh-CN" sz="3600">
                <a:solidFill>
                  <a:srgbClr val="A50021"/>
                </a:solidFill>
                <a:latin typeface="楷体_GB2312" charset="0"/>
                <a:ea typeface="楷体_GB2312" charset="0"/>
              </a:rPr>
              <a:t>，</a:t>
            </a:r>
            <a:endParaRPr lang="zh-CN" altLang="zh-CN" sz="3600">
              <a:solidFill>
                <a:srgbClr val="A50021"/>
              </a:solidFill>
              <a:latin typeface="楷体_GB2312" charset="0"/>
              <a:ea typeface="楷体_GB2312" charset="0"/>
            </a:endParaRPr>
          </a:p>
          <a:p>
            <a:pPr>
              <a:lnSpc>
                <a:spcPct val="110000"/>
              </a:lnSpc>
            </a:pPr>
            <a:r>
              <a:rPr lang="zh-CN" altLang="zh-CN" sz="3600">
                <a:solidFill>
                  <a:srgbClr val="A50021"/>
                </a:solidFill>
                <a:latin typeface="楷体_GB2312" charset="0"/>
                <a:ea typeface="楷体_GB2312" charset="0"/>
              </a:rPr>
              <a:t>       否则表明</a:t>
            </a:r>
            <a:r>
              <a:rPr lang="zh-CN" altLang="zh-CN" sz="3600" b="1">
                <a:solidFill>
                  <a:srgbClr val="660033"/>
                </a:solidFill>
                <a:latin typeface="楷体_GB2312" charset="0"/>
                <a:ea typeface="楷体_GB2312" charset="0"/>
              </a:rPr>
              <a:t>不匹配</a:t>
            </a:r>
            <a:r>
              <a:rPr lang="zh-CN" altLang="zh-CN" sz="3600">
                <a:solidFill>
                  <a:srgbClr val="A50021"/>
                </a:solidFill>
                <a:latin typeface="楷体_GB2312" charset="0"/>
                <a:ea typeface="楷体_GB2312" charset="0"/>
              </a:rPr>
              <a:t>。</a:t>
            </a:r>
            <a:endParaRPr lang="zh-CN" altLang="zh-CN" sz="3600">
              <a:solidFill>
                <a:srgbClr val="A50021"/>
              </a:solidFill>
              <a:latin typeface="楷体_GB2312" charset="0"/>
              <a:ea typeface="楷体_GB2312" charset="0"/>
            </a:endParaRPr>
          </a:p>
        </p:txBody>
      </p:sp>
      <p:sp>
        <p:nvSpPr>
          <p:cNvPr id="1052677" name="Text Box 5"/>
          <p:cNvSpPr txBox="1">
            <a:spLocks noChangeArrowheads="1"/>
          </p:cNvSpPr>
          <p:nvPr/>
        </p:nvSpPr>
        <p:spPr bwMode="auto">
          <a:xfrm>
            <a:off x="685800" y="4875213"/>
            <a:ext cx="8194675" cy="1906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nSpc>
                <a:spcPct val="110000"/>
              </a:lnSpc>
            </a:pPr>
            <a:r>
              <a:rPr lang="zh-CN" altLang="zh-CN" sz="3600" b="1">
                <a:solidFill>
                  <a:srgbClr val="A50021"/>
                </a:solidFill>
                <a:ea typeface="楷体_GB2312" charset="0"/>
              </a:rPr>
              <a:t>3</a:t>
            </a:r>
            <a:r>
              <a:rPr lang="zh-CN" altLang="zh-CN" sz="3600">
                <a:solidFill>
                  <a:srgbClr val="A50021"/>
                </a:solidFill>
                <a:latin typeface="楷体_GB2312" charset="0"/>
                <a:ea typeface="楷体_GB2312" charset="0"/>
              </a:rPr>
              <a:t>）</a:t>
            </a:r>
            <a:r>
              <a:rPr lang="zh-CN" altLang="zh-CN" sz="3600" b="1">
                <a:solidFill>
                  <a:srgbClr val="A50021"/>
                </a:solidFill>
                <a:latin typeface="楷体_GB2312" charset="0"/>
                <a:ea typeface="楷体_GB2312" charset="0"/>
              </a:rPr>
              <a:t>表达式</a:t>
            </a:r>
            <a:r>
              <a:rPr lang="zh-CN" altLang="zh-CN" sz="3600">
                <a:solidFill>
                  <a:srgbClr val="A50021"/>
                </a:solidFill>
                <a:latin typeface="楷体_GB2312" charset="0"/>
                <a:ea typeface="楷体_GB2312" charset="0"/>
              </a:rPr>
              <a:t>检验</a:t>
            </a:r>
            <a:r>
              <a:rPr lang="zh-CN" altLang="zh-CN" sz="3600" b="1">
                <a:solidFill>
                  <a:srgbClr val="A50021"/>
                </a:solidFill>
                <a:latin typeface="楷体_GB2312" charset="0"/>
                <a:ea typeface="楷体_GB2312" charset="0"/>
              </a:rPr>
              <a:t>结束时</a:t>
            </a:r>
            <a:r>
              <a:rPr lang="zh-CN" altLang="zh-CN" sz="3600">
                <a:solidFill>
                  <a:srgbClr val="A50021"/>
                </a:solidFill>
                <a:latin typeface="楷体_GB2312" charset="0"/>
                <a:ea typeface="楷体_GB2312" charset="0"/>
              </a:rPr>
              <a:t>，</a:t>
            </a:r>
            <a:endParaRPr lang="zh-CN" altLang="zh-CN" sz="3600">
              <a:solidFill>
                <a:srgbClr val="A50021"/>
              </a:solidFill>
              <a:latin typeface="楷体_GB2312" charset="0"/>
              <a:ea typeface="楷体_GB2312" charset="0"/>
            </a:endParaRPr>
          </a:p>
          <a:p>
            <a:pPr>
              <a:lnSpc>
                <a:spcPct val="110000"/>
              </a:lnSpc>
            </a:pPr>
            <a:r>
              <a:rPr lang="zh-CN" altLang="zh-CN" sz="3600">
                <a:solidFill>
                  <a:srgbClr val="A50021"/>
                </a:solidFill>
                <a:latin typeface="楷体_GB2312" charset="0"/>
                <a:ea typeface="楷体_GB2312" charset="0"/>
              </a:rPr>
              <a:t>   若</a:t>
            </a:r>
            <a:r>
              <a:rPr lang="zh-CN" altLang="zh-CN" sz="3600" b="1">
                <a:solidFill>
                  <a:srgbClr val="A50021"/>
                </a:solidFill>
                <a:latin typeface="楷体_GB2312" charset="0"/>
                <a:ea typeface="楷体_GB2312" charset="0"/>
              </a:rPr>
              <a:t>栈空</a:t>
            </a:r>
            <a:r>
              <a:rPr lang="zh-CN" altLang="zh-CN" sz="3600">
                <a:solidFill>
                  <a:srgbClr val="A50021"/>
                </a:solidFill>
                <a:latin typeface="楷体_GB2312" charset="0"/>
                <a:ea typeface="楷体_GB2312" charset="0"/>
              </a:rPr>
              <a:t>，则表明表达式中</a:t>
            </a:r>
            <a:r>
              <a:rPr lang="zh-CN" altLang="zh-CN" sz="3600" b="1">
                <a:solidFill>
                  <a:srgbClr val="660033"/>
                </a:solidFill>
                <a:latin typeface="楷体_GB2312" charset="0"/>
                <a:ea typeface="楷体_GB2312" charset="0"/>
              </a:rPr>
              <a:t>匹配正确</a:t>
            </a:r>
            <a:r>
              <a:rPr lang="zh-CN" altLang="zh-CN" sz="3600">
                <a:solidFill>
                  <a:srgbClr val="A50021"/>
                </a:solidFill>
                <a:latin typeface="楷体_GB2312" charset="0"/>
                <a:ea typeface="楷体_GB2312" charset="0"/>
              </a:rPr>
              <a:t>，</a:t>
            </a:r>
            <a:endParaRPr lang="zh-CN" altLang="zh-CN" sz="3600">
              <a:solidFill>
                <a:srgbClr val="A50021"/>
              </a:solidFill>
              <a:latin typeface="楷体_GB2312" charset="0"/>
              <a:ea typeface="楷体_GB2312" charset="0"/>
            </a:endParaRPr>
          </a:p>
          <a:p>
            <a:pPr>
              <a:lnSpc>
                <a:spcPct val="110000"/>
              </a:lnSpc>
            </a:pPr>
            <a:r>
              <a:rPr lang="zh-CN" altLang="zh-CN" sz="3600">
                <a:solidFill>
                  <a:srgbClr val="A50021"/>
                </a:solidFill>
                <a:latin typeface="楷体_GB2312" charset="0"/>
                <a:ea typeface="楷体_GB2312" charset="0"/>
              </a:rPr>
              <a:t>   否则表明</a:t>
            </a:r>
            <a:r>
              <a:rPr lang="zh-CN" altLang="zh-CN" sz="3600" b="1">
                <a:solidFill>
                  <a:srgbClr val="660033"/>
                </a:solidFill>
                <a:ea typeface="楷体_GB2312" charset="0"/>
              </a:rPr>
              <a:t>“</a:t>
            </a:r>
            <a:r>
              <a:rPr lang="zh-CN" altLang="zh-CN" sz="3600" b="1">
                <a:solidFill>
                  <a:srgbClr val="660033"/>
                </a:solidFill>
                <a:latin typeface="楷体_GB2312" charset="0"/>
                <a:ea typeface="楷体_GB2312" charset="0"/>
              </a:rPr>
              <a:t>左括弧</a:t>
            </a:r>
            <a:r>
              <a:rPr lang="zh-CN" altLang="zh-CN" sz="3600" b="1">
                <a:solidFill>
                  <a:srgbClr val="660033"/>
                </a:solidFill>
                <a:ea typeface="楷体_GB2312" charset="0"/>
              </a:rPr>
              <a:t>”</a:t>
            </a:r>
            <a:r>
              <a:rPr lang="zh-CN" altLang="zh-CN" sz="3600" b="1">
                <a:solidFill>
                  <a:srgbClr val="660033"/>
                </a:solidFill>
                <a:latin typeface="楷体_GB2312" charset="0"/>
                <a:ea typeface="楷体_GB2312" charset="0"/>
              </a:rPr>
              <a:t>有余</a:t>
            </a:r>
            <a:r>
              <a:rPr lang="zh-CN" altLang="zh-CN" sz="3600">
                <a:solidFill>
                  <a:srgbClr val="A50021"/>
                </a:solidFill>
                <a:latin typeface="楷体_GB2312" charset="0"/>
                <a:ea typeface="楷体_GB2312" charset="0"/>
              </a:rPr>
              <a:t>。</a:t>
            </a:r>
            <a:endParaRPr lang="zh-CN" altLang="en-US" sz="3600">
              <a:solidFill>
                <a:srgbClr val="A50021"/>
              </a:solidFill>
              <a:latin typeface="楷体_GB2312" charset="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052675"/>
                                        </p:tgtEl>
                                        <p:attrNameLst>
                                          <p:attrName>style.visibility</p:attrName>
                                        </p:attrNameLst>
                                      </p:cBhvr>
                                      <p:to>
                                        <p:strVal val="visible"/>
                                      </p:to>
                                    </p:set>
                                    <p:animEffect transition="in" filter="wipe(left)">
                                      <p:cBhvr>
                                        <p:cTn id="7" dur="300"/>
                                        <p:tgtEl>
                                          <p:spTgt spid="10526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052676"/>
                                        </p:tgtEl>
                                        <p:attrNameLst>
                                          <p:attrName>style.visibility</p:attrName>
                                        </p:attrNameLst>
                                      </p:cBhvr>
                                      <p:to>
                                        <p:strVal val="visible"/>
                                      </p:to>
                                    </p:set>
                                    <p:animEffect transition="in" filter="wipe(left)">
                                      <p:cBhvr>
                                        <p:cTn id="12" dur="300"/>
                                        <p:tgtEl>
                                          <p:spTgt spid="10526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052677"/>
                                        </p:tgtEl>
                                        <p:attrNameLst>
                                          <p:attrName>style.visibility</p:attrName>
                                        </p:attrNameLst>
                                      </p:cBhvr>
                                      <p:to>
                                        <p:strVal val="visible"/>
                                      </p:to>
                                    </p:set>
                                    <p:animEffect transition="in" filter="wipe(left)">
                                      <p:cBhvr>
                                        <p:cTn id="17" dur="300"/>
                                        <p:tgtEl>
                                          <p:spTgt spid="1052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2675" grpId="0" autoUpdateAnimBg="0"/>
      <p:bldP spid="1052676" grpId="0" autoUpdateAnimBg="0"/>
      <p:bldP spid="1052677"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8" name="Text Box 2"/>
          <p:cNvSpPr txBox="1">
            <a:spLocks noChangeArrowheads="1"/>
          </p:cNvSpPr>
          <p:nvPr/>
        </p:nvSpPr>
        <p:spPr bwMode="auto">
          <a:xfrm>
            <a:off x="0" y="22225"/>
            <a:ext cx="8458200" cy="6530975"/>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10000"/>
              </a:lnSpc>
            </a:pPr>
            <a:r>
              <a:rPr lang="en-US" altLang="zh-CN" sz="3200" b="1"/>
              <a:t>Status</a:t>
            </a:r>
            <a:r>
              <a:rPr lang="en-US" altLang="zh-CN" sz="3200"/>
              <a:t> matching(string</a:t>
            </a:r>
            <a:r>
              <a:rPr lang="en-US" altLang="zh-CN" sz="3200" b="1"/>
              <a:t>&amp;</a:t>
            </a:r>
            <a:r>
              <a:rPr lang="en-US" altLang="zh-CN" sz="3200"/>
              <a:t> exp) {</a:t>
            </a:r>
            <a:endParaRPr lang="en-US" altLang="zh-CN" sz="3200"/>
          </a:p>
          <a:p>
            <a:pPr>
              <a:lnSpc>
                <a:spcPct val="110000"/>
              </a:lnSpc>
            </a:pPr>
            <a:r>
              <a:rPr lang="en-US" altLang="zh-CN" sz="3200"/>
              <a:t>  </a:t>
            </a:r>
            <a:r>
              <a:rPr lang="en-US" altLang="zh-CN" sz="3200" b="1"/>
              <a:t>int</a:t>
            </a:r>
            <a:r>
              <a:rPr lang="en-US" altLang="zh-CN" sz="3200"/>
              <a:t> state = 1;</a:t>
            </a:r>
            <a:endParaRPr lang="en-US" altLang="zh-CN" sz="3200"/>
          </a:p>
          <a:p>
            <a:pPr>
              <a:lnSpc>
                <a:spcPct val="110000"/>
              </a:lnSpc>
            </a:pPr>
            <a:r>
              <a:rPr lang="en-US" altLang="zh-CN" sz="3200"/>
              <a:t>  </a:t>
            </a:r>
            <a:r>
              <a:rPr lang="en-US" altLang="zh-CN" sz="3200" b="1"/>
              <a:t>while</a:t>
            </a:r>
            <a:r>
              <a:rPr lang="en-US" altLang="zh-CN" sz="3200"/>
              <a:t> (i&lt;=Length(exp) </a:t>
            </a:r>
            <a:r>
              <a:rPr lang="en-US" altLang="zh-CN" sz="3200" b="1"/>
              <a:t>&amp;&amp;</a:t>
            </a:r>
            <a:r>
              <a:rPr lang="en-US" altLang="zh-CN" sz="3200"/>
              <a:t> state) {</a:t>
            </a:r>
            <a:endParaRPr lang="en-US" altLang="zh-CN" sz="3200"/>
          </a:p>
          <a:p>
            <a:pPr>
              <a:lnSpc>
                <a:spcPct val="110000"/>
              </a:lnSpc>
            </a:pPr>
            <a:r>
              <a:rPr lang="en-US" altLang="zh-CN" sz="3200"/>
              <a:t>     </a:t>
            </a:r>
            <a:r>
              <a:rPr lang="en-US" altLang="zh-CN" sz="3200" b="1"/>
              <a:t>switch of</a:t>
            </a:r>
            <a:r>
              <a:rPr lang="en-US" altLang="zh-CN" sz="3200"/>
              <a:t> exp[i] {</a:t>
            </a:r>
            <a:endParaRPr lang="en-US" altLang="zh-CN" sz="3200"/>
          </a:p>
          <a:p>
            <a:pPr>
              <a:lnSpc>
                <a:spcPct val="110000"/>
              </a:lnSpc>
            </a:pPr>
            <a:r>
              <a:rPr lang="en-US" altLang="zh-CN" sz="3200"/>
              <a:t>       </a:t>
            </a:r>
            <a:r>
              <a:rPr lang="en-US" altLang="zh-CN" sz="3200" b="1"/>
              <a:t>case</a:t>
            </a:r>
            <a:r>
              <a:rPr lang="en-US" altLang="zh-CN" sz="3200"/>
              <a:t> </a:t>
            </a:r>
            <a:r>
              <a:rPr lang="zh-CN" altLang="zh-CN" sz="3200"/>
              <a:t>左括弧</a:t>
            </a:r>
            <a:r>
              <a:rPr lang="en-US" altLang="zh-CN" sz="3200"/>
              <a:t>:{Push(S,exp[i]); i++; </a:t>
            </a:r>
            <a:r>
              <a:rPr lang="en-US" altLang="zh-CN" sz="3200" b="1"/>
              <a:t>break</a:t>
            </a:r>
            <a:r>
              <a:rPr lang="en-US" altLang="zh-CN" sz="3200"/>
              <a:t>;}</a:t>
            </a:r>
            <a:endParaRPr lang="en-US" altLang="zh-CN" sz="3200"/>
          </a:p>
          <a:p>
            <a:pPr>
              <a:lnSpc>
                <a:spcPct val="110000"/>
              </a:lnSpc>
            </a:pPr>
            <a:r>
              <a:rPr lang="en-US" altLang="zh-CN" sz="3200"/>
              <a:t>       </a:t>
            </a:r>
            <a:r>
              <a:rPr lang="en-US" altLang="zh-CN" sz="3200" b="1"/>
              <a:t>case</a:t>
            </a:r>
            <a:r>
              <a:rPr lang="en-US" altLang="zh-CN" sz="3200"/>
              <a:t>”)”: {</a:t>
            </a:r>
            <a:endParaRPr lang="en-US" altLang="zh-CN" sz="3200"/>
          </a:p>
          <a:p>
            <a:pPr>
              <a:lnSpc>
                <a:spcPct val="110000"/>
              </a:lnSpc>
            </a:pPr>
            <a:r>
              <a:rPr lang="en-US" altLang="zh-CN" sz="3200"/>
              <a:t>          </a:t>
            </a:r>
            <a:r>
              <a:rPr lang="en-US" altLang="zh-CN" sz="3200" b="1"/>
              <a:t>if</a:t>
            </a:r>
            <a:r>
              <a:rPr lang="en-US" altLang="zh-CN" sz="3200"/>
              <a:t>(</a:t>
            </a:r>
            <a:r>
              <a:rPr lang="en-US" altLang="zh-CN" sz="3200" b="1"/>
              <a:t>NOT</a:t>
            </a:r>
            <a:r>
              <a:rPr lang="en-US" altLang="zh-CN" sz="3200"/>
              <a:t> StackEmpty(S)</a:t>
            </a:r>
            <a:r>
              <a:rPr lang="en-US" altLang="zh-CN" sz="3200" b="1"/>
              <a:t>&amp;&amp;</a:t>
            </a:r>
            <a:r>
              <a:rPr lang="en-US" altLang="zh-CN" sz="3200"/>
              <a:t>GetTop(S)=“(“</a:t>
            </a:r>
            <a:endParaRPr lang="en-US" altLang="zh-CN" sz="3200"/>
          </a:p>
          <a:p>
            <a:pPr>
              <a:lnSpc>
                <a:spcPct val="110000"/>
              </a:lnSpc>
            </a:pPr>
            <a:r>
              <a:rPr lang="en-US" altLang="zh-CN" sz="3200"/>
              <a:t>            {Pop(S,e);  ii++;}</a:t>
            </a:r>
            <a:endParaRPr lang="en-US" altLang="zh-CN" sz="3200"/>
          </a:p>
          <a:p>
            <a:pPr>
              <a:lnSpc>
                <a:spcPct val="110000"/>
              </a:lnSpc>
            </a:pPr>
            <a:r>
              <a:rPr lang="en-US" altLang="zh-CN" sz="3200"/>
              <a:t>          </a:t>
            </a:r>
            <a:r>
              <a:rPr lang="en-US" altLang="zh-CN" sz="3200" b="1"/>
              <a:t>else</a:t>
            </a:r>
            <a:r>
              <a:rPr lang="en-US" altLang="zh-CN" sz="3200"/>
              <a:t> {state = 0;}</a:t>
            </a:r>
            <a:endParaRPr lang="en-US" altLang="zh-CN" sz="3200"/>
          </a:p>
          <a:p>
            <a:pPr>
              <a:lnSpc>
                <a:spcPct val="110000"/>
              </a:lnSpc>
            </a:pPr>
            <a:r>
              <a:rPr lang="en-US" altLang="zh-CN" sz="3200"/>
              <a:t>          </a:t>
            </a:r>
            <a:r>
              <a:rPr lang="en-US" altLang="zh-CN" sz="3200" b="1"/>
              <a:t>break</a:t>
            </a:r>
            <a:r>
              <a:rPr lang="en-US" altLang="zh-CN" sz="3200"/>
              <a:t>;  }   … …</a:t>
            </a:r>
            <a:endParaRPr lang="en-US" altLang="zh-CN" sz="3200"/>
          </a:p>
          <a:p>
            <a:pPr>
              <a:lnSpc>
                <a:spcPct val="110000"/>
              </a:lnSpc>
            </a:pPr>
            <a:r>
              <a:rPr lang="en-US" altLang="zh-CN" sz="3200"/>
              <a:t>  }</a:t>
            </a:r>
            <a:endParaRPr lang="en-US" altLang="zh-CN" sz="3200"/>
          </a:p>
          <a:p>
            <a:pPr>
              <a:lnSpc>
                <a:spcPct val="110000"/>
              </a:lnSpc>
            </a:pPr>
            <a:r>
              <a:rPr lang="en-US" altLang="zh-CN" sz="3200"/>
              <a:t>  </a:t>
            </a:r>
            <a:r>
              <a:rPr lang="en-US" altLang="zh-CN" sz="3200" b="1"/>
              <a:t>if</a:t>
            </a:r>
            <a:r>
              <a:rPr lang="en-US" altLang="zh-CN" sz="3200"/>
              <a:t> (StackEmpty(S)</a:t>
            </a:r>
            <a:r>
              <a:rPr lang="en-US" altLang="zh-CN" sz="3200" b="1"/>
              <a:t>&amp;&amp;</a:t>
            </a:r>
            <a:r>
              <a:rPr lang="en-US" altLang="zh-CN" sz="3200"/>
              <a:t>state) </a:t>
            </a:r>
            <a:r>
              <a:rPr lang="en-US" altLang="zh-CN" sz="3200" b="1"/>
              <a:t>return</a:t>
            </a:r>
            <a:r>
              <a:rPr lang="en-US" altLang="zh-CN" sz="3200"/>
              <a:t> OK; …...</a:t>
            </a:r>
            <a:endParaRPr lang="en-US" altLang="zh-CN" sz="3200"/>
          </a:p>
        </p:txBody>
      </p:sp>
      <p:sp>
        <p:nvSpPr>
          <p:cNvPr id="1053699" name="AutoShape 3">
            <a:hlinkClick r:id="rId1" action="ppaction://hlinksldjump" highlightClick="1"/>
          </p:cNvPr>
          <p:cNvSpPr>
            <a:spLocks noChangeArrowheads="1"/>
          </p:cNvSpPr>
          <p:nvPr/>
        </p:nvSpPr>
        <p:spPr bwMode="auto">
          <a:xfrm>
            <a:off x="8534400" y="6248400"/>
            <a:ext cx="381000" cy="381000"/>
          </a:xfrm>
          <a:prstGeom prst="actionButtonBackPrevious">
            <a:avLst/>
          </a:prstGeom>
          <a:solidFill>
            <a:srgbClr val="009900"/>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053699"/>
                                        </p:tgtEl>
                                        <p:attrNameLst>
                                          <p:attrName>style.visibility</p:attrName>
                                        </p:attrNameLst>
                                      </p:cBhvr>
                                      <p:to>
                                        <p:strVal val="visible"/>
                                      </p:to>
                                    </p:set>
                                    <p:anim calcmode="lin" valueType="num">
                                      <p:cBhvr additive="base">
                                        <p:cTn id="7" dur="500" fill="hold"/>
                                        <p:tgtEl>
                                          <p:spTgt spid="1053699"/>
                                        </p:tgtEl>
                                        <p:attrNameLst>
                                          <p:attrName>ppt_x</p:attrName>
                                        </p:attrNameLst>
                                      </p:cBhvr>
                                      <p:tavLst>
                                        <p:tav tm="0">
                                          <p:val>
                                            <p:strVal val="1+#ppt_w/2"/>
                                          </p:val>
                                        </p:tav>
                                        <p:tav tm="100000">
                                          <p:val>
                                            <p:strVal val="#ppt_x"/>
                                          </p:val>
                                        </p:tav>
                                      </p:tavLst>
                                    </p:anim>
                                    <p:anim calcmode="lin" valueType="num">
                                      <p:cBhvr additive="base">
                                        <p:cTn id="8" dur="500" fill="hold"/>
                                        <p:tgtEl>
                                          <p:spTgt spid="1053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369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746" name="Text Box 2"/>
          <p:cNvSpPr txBox="1">
            <a:spLocks noChangeArrowheads="1"/>
          </p:cNvSpPr>
          <p:nvPr/>
        </p:nvSpPr>
        <p:spPr bwMode="auto">
          <a:xfrm>
            <a:off x="1143000" y="1143000"/>
            <a:ext cx="70739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5400" b="1">
                <a:solidFill>
                  <a:srgbClr val="FF5050"/>
                </a:solidFill>
                <a:ea typeface="楷体_GB2312" charset="0"/>
              </a:rPr>
              <a:t>例三、行编辑程序问题</a:t>
            </a:r>
            <a:endParaRPr lang="zh-CN" altLang="en-US" sz="5400" b="1">
              <a:ea typeface="楷体_GB2312" charset="0"/>
            </a:endParaRPr>
          </a:p>
        </p:txBody>
      </p:sp>
      <p:sp>
        <p:nvSpPr>
          <p:cNvPr id="1055747" name="Text Box 3"/>
          <p:cNvSpPr txBox="1">
            <a:spLocks noChangeArrowheads="1"/>
          </p:cNvSpPr>
          <p:nvPr/>
        </p:nvSpPr>
        <p:spPr bwMode="auto">
          <a:xfrm>
            <a:off x="1660525" y="2274888"/>
            <a:ext cx="3001963"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400" b="1">
                <a:solidFill>
                  <a:srgbClr val="660033"/>
                </a:solidFill>
                <a:ea typeface="楷体_GB2312" charset="0"/>
              </a:rPr>
              <a:t>如何实现？</a:t>
            </a:r>
            <a:endParaRPr lang="zh-CN" altLang="en-US" sz="4400" b="1">
              <a:ea typeface="楷体_GB2312" charset="0"/>
            </a:endParaRPr>
          </a:p>
        </p:txBody>
      </p:sp>
      <p:sp>
        <p:nvSpPr>
          <p:cNvPr id="1055748" name="Text Box 4"/>
          <p:cNvSpPr txBox="1">
            <a:spLocks noChangeArrowheads="1"/>
          </p:cNvSpPr>
          <p:nvPr/>
        </p:nvSpPr>
        <p:spPr bwMode="auto">
          <a:xfrm>
            <a:off x="338138" y="3581400"/>
            <a:ext cx="8120062"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b="1">
                <a:ea typeface="楷体_GB2312" charset="0"/>
              </a:rPr>
              <a:t>“每接受一个字符即存入存储器”  </a:t>
            </a:r>
            <a:r>
              <a:rPr lang="en-US" altLang="zh-CN" sz="6000" b="1">
                <a:solidFill>
                  <a:srgbClr val="FF0000"/>
                </a:solidFill>
                <a:ea typeface="楷体_GB2312" charset="0"/>
              </a:rPr>
              <a:t>?</a:t>
            </a:r>
            <a:r>
              <a:rPr lang="en-US" altLang="zh-CN" sz="4000" b="1">
                <a:solidFill>
                  <a:srgbClr val="FF0000"/>
                </a:solidFill>
                <a:ea typeface="楷体_GB2312" charset="0"/>
              </a:rPr>
              <a:t> </a:t>
            </a:r>
            <a:endParaRPr lang="en-US" altLang="zh-CN" sz="4000">
              <a:ea typeface="楷体_GB2312" charset="0"/>
            </a:endParaRPr>
          </a:p>
        </p:txBody>
      </p:sp>
      <p:sp>
        <p:nvSpPr>
          <p:cNvPr id="1055749" name="Text Box 5"/>
          <p:cNvSpPr txBox="1">
            <a:spLocks noChangeArrowheads="1"/>
          </p:cNvSpPr>
          <p:nvPr/>
        </p:nvSpPr>
        <p:spPr bwMode="auto">
          <a:xfrm>
            <a:off x="1889125" y="5145088"/>
            <a:ext cx="2724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a:solidFill>
                  <a:srgbClr val="CC6600"/>
                </a:solidFill>
                <a:ea typeface="楷体_GB2312" charset="0"/>
              </a:rPr>
              <a:t>并不恰当！</a:t>
            </a:r>
            <a:endParaRPr lang="zh-CN" altLang="en-US"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5747"/>
                                        </p:tgtEl>
                                        <p:attrNameLst>
                                          <p:attrName>style.visibility</p:attrName>
                                        </p:attrNameLst>
                                      </p:cBhvr>
                                      <p:to>
                                        <p:strVal val="visible"/>
                                      </p:to>
                                    </p:set>
                                    <p:animEffect transition="in" filter="wipe(left)">
                                      <p:cBhvr>
                                        <p:cTn id="7" dur="500"/>
                                        <p:tgtEl>
                                          <p:spTgt spid="10557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5748"/>
                                        </p:tgtEl>
                                        <p:attrNameLst>
                                          <p:attrName>style.visibility</p:attrName>
                                        </p:attrNameLst>
                                      </p:cBhvr>
                                      <p:to>
                                        <p:strVal val="visible"/>
                                      </p:to>
                                    </p:set>
                                    <p:animEffect transition="in" filter="wipe(left)">
                                      <p:cBhvr>
                                        <p:cTn id="12" dur="500"/>
                                        <p:tgtEl>
                                          <p:spTgt spid="105574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55749"/>
                                        </p:tgtEl>
                                        <p:attrNameLst>
                                          <p:attrName>style.visibility</p:attrName>
                                        </p:attrNameLst>
                                      </p:cBhvr>
                                      <p:to>
                                        <p:strVal val="visible"/>
                                      </p:to>
                                    </p:set>
                                    <p:animEffect transition="in" filter="blinds(horizontal)">
                                      <p:cBhvr>
                                        <p:cTn id="17" dur="500"/>
                                        <p:tgtEl>
                                          <p:spTgt spid="1055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747" grpId="0" autoUpdateAnimBg="0"/>
      <p:bldP spid="1055748" grpId="0" autoUpdateAnimBg="0"/>
      <p:bldP spid="105574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70" name="Text Box 2"/>
          <p:cNvSpPr txBox="1">
            <a:spLocks noChangeArrowheads="1"/>
          </p:cNvSpPr>
          <p:nvPr/>
        </p:nvSpPr>
        <p:spPr bwMode="auto">
          <a:xfrm>
            <a:off x="533400" y="3276600"/>
            <a:ext cx="8305800"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4000" b="1">
                <a:solidFill>
                  <a:srgbClr val="660033"/>
                </a:solidFill>
                <a:ea typeface="楷体_GB2312" charset="0"/>
              </a:rPr>
              <a:t>    设立一个输入缓冲区，用以接受用户输入的一行字符，然后逐行存入用户数据区，并假设“</a:t>
            </a:r>
            <a:r>
              <a:rPr lang="en-US" altLang="zh-CN" sz="4000" b="1">
                <a:solidFill>
                  <a:srgbClr val="660033"/>
                </a:solidFill>
                <a:ea typeface="楷体_GB2312" charset="0"/>
              </a:rPr>
              <a:t>#”</a:t>
            </a:r>
            <a:r>
              <a:rPr lang="zh-CN" altLang="en-US" sz="4000" b="1">
                <a:solidFill>
                  <a:srgbClr val="660033"/>
                </a:solidFill>
                <a:ea typeface="楷体_GB2312" charset="0"/>
              </a:rPr>
              <a:t>为退格符，“</a:t>
            </a:r>
            <a:r>
              <a:rPr lang="en-US" altLang="zh-CN" sz="4000" b="1">
                <a:solidFill>
                  <a:srgbClr val="660033"/>
                </a:solidFill>
                <a:ea typeface="楷体_GB2312" charset="0"/>
              </a:rPr>
              <a:t>@”</a:t>
            </a:r>
            <a:r>
              <a:rPr lang="zh-CN" altLang="en-US" sz="4000" b="1">
                <a:solidFill>
                  <a:srgbClr val="660033"/>
                </a:solidFill>
                <a:ea typeface="楷体_GB2312" charset="0"/>
              </a:rPr>
              <a:t>为退行符。</a:t>
            </a:r>
            <a:endParaRPr lang="zh-CN" altLang="en-US" sz="2400" b="1">
              <a:ea typeface="楷体_GB2312" charset="0"/>
            </a:endParaRPr>
          </a:p>
        </p:txBody>
      </p:sp>
      <p:sp>
        <p:nvSpPr>
          <p:cNvPr id="1056771" name="Text Box 3"/>
          <p:cNvSpPr txBox="1">
            <a:spLocks noChangeArrowheads="1"/>
          </p:cNvSpPr>
          <p:nvPr/>
        </p:nvSpPr>
        <p:spPr bwMode="auto">
          <a:xfrm>
            <a:off x="533400" y="228600"/>
            <a:ext cx="8129588" cy="2287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20000"/>
              </a:lnSpc>
            </a:pPr>
            <a:r>
              <a:rPr lang="zh-CN" altLang="en-US" sz="4000" b="1">
                <a:ea typeface="楷体_GB2312" charset="0"/>
              </a:rPr>
              <a:t>      在用户输入一行的过程中，允许</a:t>
            </a:r>
            <a:endParaRPr lang="zh-CN" altLang="en-US" sz="4000" b="1">
              <a:ea typeface="楷体_GB2312" charset="0"/>
            </a:endParaRPr>
          </a:p>
          <a:p>
            <a:pPr eaLnBrk="0" hangingPunct="0">
              <a:lnSpc>
                <a:spcPct val="120000"/>
              </a:lnSpc>
            </a:pPr>
            <a:r>
              <a:rPr lang="zh-CN" altLang="en-US" sz="4000" b="1">
                <a:ea typeface="楷体_GB2312" charset="0"/>
              </a:rPr>
              <a:t>  用户输入出差错，并在发现有误时</a:t>
            </a:r>
            <a:endParaRPr lang="zh-CN" altLang="en-US" sz="4000" b="1">
              <a:ea typeface="楷体_GB2312" charset="0"/>
            </a:endParaRPr>
          </a:p>
          <a:p>
            <a:pPr eaLnBrk="0" hangingPunct="0">
              <a:lnSpc>
                <a:spcPct val="120000"/>
              </a:lnSpc>
            </a:pPr>
            <a:r>
              <a:rPr lang="zh-CN" altLang="en-US" sz="4000" b="1">
                <a:ea typeface="楷体_GB2312" charset="0"/>
              </a:rPr>
              <a:t>  可以及时更正。</a:t>
            </a:r>
            <a:endParaRPr lang="zh-CN" altLang="en-US" sz="2400" b="1">
              <a:ea typeface="楷体_GB2312" charset="0"/>
            </a:endParaRPr>
          </a:p>
        </p:txBody>
      </p:sp>
      <p:sp>
        <p:nvSpPr>
          <p:cNvPr id="1056772" name="Text Box 4"/>
          <p:cNvSpPr txBox="1">
            <a:spLocks noChangeArrowheads="1"/>
          </p:cNvSpPr>
          <p:nvPr/>
        </p:nvSpPr>
        <p:spPr bwMode="auto">
          <a:xfrm>
            <a:off x="441325" y="2514600"/>
            <a:ext cx="3740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a:solidFill>
                  <a:srgbClr val="FF0000"/>
                </a:solidFill>
              </a:rPr>
              <a:t>合理的作法是：</a:t>
            </a:r>
            <a:endParaRPr lang="zh-CN" altLang="en-US"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056771"/>
                                        </p:tgtEl>
                                        <p:attrNameLst>
                                          <p:attrName>style.visibility</p:attrName>
                                        </p:attrNameLst>
                                      </p:cBhvr>
                                      <p:to>
                                        <p:strVal val="visible"/>
                                      </p:to>
                                    </p:set>
                                    <p:animEffect transition="in" filter="wipe(left)">
                                      <p:cBhvr>
                                        <p:cTn id="7" dur="300"/>
                                        <p:tgtEl>
                                          <p:spTgt spid="105677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56772"/>
                                        </p:tgtEl>
                                        <p:attrNameLst>
                                          <p:attrName>style.visibility</p:attrName>
                                        </p:attrNameLst>
                                      </p:cBhvr>
                                      <p:to>
                                        <p:strVal val="visible"/>
                                      </p:to>
                                    </p:set>
                                    <p:animEffect transition="in" filter="box(in)">
                                      <p:cBhvr>
                                        <p:cTn id="12" dur="500"/>
                                        <p:tgtEl>
                                          <p:spTgt spid="10567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056770"/>
                                        </p:tgtEl>
                                        <p:attrNameLst>
                                          <p:attrName>style.visibility</p:attrName>
                                        </p:attrNameLst>
                                      </p:cBhvr>
                                      <p:to>
                                        <p:strVal val="visible"/>
                                      </p:to>
                                    </p:set>
                                    <p:animEffect transition="in" filter="wipe(left)">
                                      <p:cBhvr>
                                        <p:cTn id="17" dur="300"/>
                                        <p:tgtEl>
                                          <p:spTgt spid="1056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0" grpId="0" autoUpdateAnimBg="0"/>
      <p:bldP spid="1056771" grpId="0" autoUpdateAnimBg="0"/>
      <p:bldP spid="1056772"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7794" name="Text Box 2"/>
          <p:cNvSpPr txBox="1">
            <a:spLocks noChangeArrowheads="1"/>
          </p:cNvSpPr>
          <p:nvPr/>
        </p:nvSpPr>
        <p:spPr bwMode="auto">
          <a:xfrm>
            <a:off x="838200" y="1066800"/>
            <a:ext cx="7804150" cy="2378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25000"/>
              </a:lnSpc>
            </a:pPr>
            <a:r>
              <a:rPr lang="zh-CN" altLang="en-US" sz="4000">
                <a:ea typeface="楷体_GB2312" charset="0"/>
              </a:rPr>
              <a:t>假设从终端接受了这样两行字符：</a:t>
            </a:r>
            <a:endParaRPr lang="zh-CN" altLang="en-US" sz="4000">
              <a:ea typeface="楷体_GB2312" charset="0"/>
            </a:endParaRPr>
          </a:p>
          <a:p>
            <a:pPr eaLnBrk="0" hangingPunct="0">
              <a:lnSpc>
                <a:spcPct val="125000"/>
              </a:lnSpc>
            </a:pPr>
            <a:r>
              <a:rPr lang="zh-CN" altLang="en-US" sz="4000">
                <a:ea typeface="楷体_GB2312" charset="0"/>
              </a:rPr>
              <a:t> </a:t>
            </a:r>
            <a:r>
              <a:rPr lang="zh-CN" altLang="en-US" sz="4000">
                <a:solidFill>
                  <a:srgbClr val="0000FF"/>
                </a:solidFill>
                <a:ea typeface="楷体_GB2312" charset="0"/>
              </a:rPr>
              <a:t>       </a:t>
            </a:r>
            <a:r>
              <a:rPr lang="en-US" altLang="zh-CN" sz="4000" b="1">
                <a:ea typeface="楷体_GB2312" charset="0"/>
              </a:rPr>
              <a:t>wh</a:t>
            </a:r>
            <a:r>
              <a:rPr lang="en-US" altLang="zh-CN" sz="4000">
                <a:solidFill>
                  <a:srgbClr val="CC6600"/>
                </a:solidFill>
                <a:ea typeface="楷体_GB2312" charset="0"/>
              </a:rPr>
              <a:t>li##</a:t>
            </a:r>
            <a:r>
              <a:rPr lang="en-US" altLang="zh-CN" sz="4000" b="1">
                <a:ea typeface="楷体_GB2312" charset="0"/>
              </a:rPr>
              <a:t>il</a:t>
            </a:r>
            <a:r>
              <a:rPr lang="en-US" altLang="zh-CN" sz="4000">
                <a:solidFill>
                  <a:srgbClr val="CC6600"/>
                </a:solidFill>
                <a:ea typeface="楷体_GB2312" charset="0"/>
              </a:rPr>
              <a:t>r#</a:t>
            </a:r>
            <a:r>
              <a:rPr lang="en-US" altLang="zh-CN" sz="4000" b="1">
                <a:ea typeface="楷体_GB2312" charset="0"/>
              </a:rPr>
              <a:t>e</a:t>
            </a:r>
            <a:r>
              <a:rPr lang="zh-CN" altLang="en-US" sz="4000">
                <a:ea typeface="楷体_GB2312" charset="0"/>
              </a:rPr>
              <a:t>（</a:t>
            </a:r>
            <a:r>
              <a:rPr lang="en-US" altLang="zh-CN" sz="4000">
                <a:solidFill>
                  <a:srgbClr val="CC6600"/>
                </a:solidFill>
                <a:ea typeface="楷体_GB2312" charset="0"/>
              </a:rPr>
              <a:t>s#</a:t>
            </a:r>
            <a:r>
              <a:rPr lang="en-US" altLang="zh-CN" sz="4000" b="1">
                <a:ea typeface="楷体_GB2312" charset="0"/>
              </a:rPr>
              <a:t>*</a:t>
            </a:r>
            <a:r>
              <a:rPr lang="en-US" altLang="zh-CN" sz="4000">
                <a:ea typeface="楷体_GB2312" charset="0"/>
              </a:rPr>
              <a:t>s)</a:t>
            </a:r>
            <a:endParaRPr lang="en-US" altLang="zh-CN" sz="4000">
              <a:ea typeface="楷体_GB2312" charset="0"/>
            </a:endParaRPr>
          </a:p>
          <a:p>
            <a:pPr eaLnBrk="0" hangingPunct="0">
              <a:lnSpc>
                <a:spcPct val="125000"/>
              </a:lnSpc>
            </a:pPr>
            <a:r>
              <a:rPr lang="en-US" altLang="zh-CN" sz="4000">
                <a:ea typeface="楷体_GB2312" charset="0"/>
              </a:rPr>
              <a:t>          </a:t>
            </a:r>
            <a:r>
              <a:rPr lang="en-US" altLang="zh-CN" sz="4000">
                <a:solidFill>
                  <a:srgbClr val="CC6600"/>
                </a:solidFill>
                <a:ea typeface="楷体_GB2312" charset="0"/>
              </a:rPr>
              <a:t>outcha@</a:t>
            </a:r>
            <a:r>
              <a:rPr lang="en-US" altLang="zh-CN" sz="4000" b="1">
                <a:ea typeface="楷体_GB2312" charset="0"/>
              </a:rPr>
              <a:t>putchar</a:t>
            </a:r>
            <a:r>
              <a:rPr lang="en-US" altLang="zh-CN" sz="4000">
                <a:ea typeface="楷体_GB2312" charset="0"/>
              </a:rPr>
              <a:t>(</a:t>
            </a:r>
            <a:r>
              <a:rPr lang="en-US" altLang="zh-CN" sz="4000" b="1">
                <a:ea typeface="楷体_GB2312" charset="0"/>
              </a:rPr>
              <a:t>*</a:t>
            </a:r>
            <a:r>
              <a:rPr lang="en-US" altLang="zh-CN" sz="4000">
                <a:ea typeface="楷体_GB2312" charset="0"/>
              </a:rPr>
              <a:t>s</a:t>
            </a:r>
            <a:r>
              <a:rPr lang="en-US" altLang="zh-CN" sz="4000">
                <a:solidFill>
                  <a:srgbClr val="CC6600"/>
                </a:solidFill>
                <a:ea typeface="楷体_GB2312" charset="0"/>
              </a:rPr>
              <a:t>=#</a:t>
            </a:r>
            <a:r>
              <a:rPr lang="en-US" altLang="zh-CN" sz="4000" b="1">
                <a:ea typeface="楷体_GB2312" charset="0"/>
              </a:rPr>
              <a:t>++</a:t>
            </a:r>
            <a:r>
              <a:rPr lang="en-US" altLang="zh-CN" sz="4000">
                <a:ea typeface="楷体_GB2312" charset="0"/>
              </a:rPr>
              <a:t>);</a:t>
            </a:r>
            <a:endParaRPr lang="en-US" altLang="zh-CN" sz="4000">
              <a:ea typeface="楷体_GB2312" charset="0"/>
            </a:endParaRPr>
          </a:p>
        </p:txBody>
      </p:sp>
      <p:sp>
        <p:nvSpPr>
          <p:cNvPr id="1057795" name="Text Box 3"/>
          <p:cNvSpPr txBox="1">
            <a:spLocks noChangeArrowheads="1"/>
          </p:cNvSpPr>
          <p:nvPr/>
        </p:nvSpPr>
        <p:spPr bwMode="auto">
          <a:xfrm>
            <a:off x="806450" y="3870325"/>
            <a:ext cx="6280150" cy="2378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25000"/>
              </a:lnSpc>
            </a:pPr>
            <a:r>
              <a:rPr lang="zh-CN" altLang="en-US" sz="4000">
                <a:solidFill>
                  <a:srgbClr val="660033"/>
                </a:solidFill>
                <a:ea typeface="楷体_GB2312" charset="0"/>
              </a:rPr>
              <a:t>则实际有效的是下列两行：</a:t>
            </a:r>
            <a:endParaRPr lang="zh-CN" altLang="en-US" sz="4000">
              <a:ea typeface="楷体_GB2312" charset="0"/>
            </a:endParaRPr>
          </a:p>
          <a:p>
            <a:pPr eaLnBrk="0" hangingPunct="0">
              <a:lnSpc>
                <a:spcPct val="125000"/>
              </a:lnSpc>
            </a:pPr>
            <a:r>
              <a:rPr lang="zh-CN" altLang="en-US" sz="4000">
                <a:ea typeface="楷体_GB2312" charset="0"/>
              </a:rPr>
              <a:t> </a:t>
            </a:r>
            <a:r>
              <a:rPr lang="zh-CN" altLang="en-US" sz="4000">
                <a:solidFill>
                  <a:srgbClr val="0000FF"/>
                </a:solidFill>
                <a:ea typeface="楷体_GB2312" charset="0"/>
              </a:rPr>
              <a:t>       </a:t>
            </a:r>
            <a:r>
              <a:rPr lang="en-US" altLang="zh-CN" sz="4000" b="1">
                <a:ea typeface="楷体_GB2312" charset="0"/>
              </a:rPr>
              <a:t>while</a:t>
            </a:r>
            <a:r>
              <a:rPr lang="en-US" altLang="zh-CN" sz="4000">
                <a:ea typeface="楷体_GB2312" charset="0"/>
              </a:rPr>
              <a:t> (</a:t>
            </a:r>
            <a:r>
              <a:rPr lang="en-US" altLang="zh-CN" sz="4000" b="1">
                <a:ea typeface="楷体_GB2312" charset="0"/>
              </a:rPr>
              <a:t>*</a:t>
            </a:r>
            <a:r>
              <a:rPr lang="en-US" altLang="zh-CN" sz="4000">
                <a:ea typeface="楷体_GB2312" charset="0"/>
              </a:rPr>
              <a:t>s)</a:t>
            </a:r>
            <a:endParaRPr lang="en-US" altLang="zh-CN" sz="4000">
              <a:ea typeface="楷体_GB2312" charset="0"/>
            </a:endParaRPr>
          </a:p>
          <a:p>
            <a:pPr eaLnBrk="0" hangingPunct="0">
              <a:lnSpc>
                <a:spcPct val="125000"/>
              </a:lnSpc>
            </a:pPr>
            <a:r>
              <a:rPr lang="en-US" altLang="zh-CN" sz="4000">
                <a:ea typeface="楷体_GB2312" charset="0"/>
              </a:rPr>
              <a:t>          </a:t>
            </a:r>
            <a:r>
              <a:rPr lang="en-US" altLang="zh-CN" sz="4000" b="1">
                <a:ea typeface="楷体_GB2312" charset="0"/>
              </a:rPr>
              <a:t>putchar</a:t>
            </a:r>
            <a:r>
              <a:rPr lang="en-US" altLang="zh-CN" sz="4000">
                <a:ea typeface="楷体_GB2312" charset="0"/>
              </a:rPr>
              <a:t>(</a:t>
            </a:r>
            <a:r>
              <a:rPr lang="en-US" altLang="zh-CN" sz="4000" b="1">
                <a:ea typeface="楷体_GB2312" charset="0"/>
              </a:rPr>
              <a:t>*</a:t>
            </a:r>
            <a:r>
              <a:rPr lang="en-US" altLang="zh-CN" sz="4000">
                <a:ea typeface="楷体_GB2312" charset="0"/>
              </a:rPr>
              <a:t>s</a:t>
            </a:r>
            <a:r>
              <a:rPr lang="en-US" altLang="zh-CN" sz="4000" b="1">
                <a:ea typeface="楷体_GB2312" charset="0"/>
              </a:rPr>
              <a:t>++</a:t>
            </a:r>
            <a:r>
              <a:rPr lang="en-US" altLang="zh-CN" sz="4000">
                <a:ea typeface="楷体_GB2312" charset="0"/>
              </a:rPr>
              <a:t>);</a:t>
            </a:r>
            <a:endParaRPr lang="en-US" altLang="zh-CN"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057795"/>
                                        </p:tgtEl>
                                        <p:attrNameLst>
                                          <p:attrName>style.visibility</p:attrName>
                                        </p:attrNameLst>
                                      </p:cBhvr>
                                      <p:to>
                                        <p:strVal val="visible"/>
                                      </p:to>
                                    </p:set>
                                    <p:animEffect transition="in" filter="barn(outVertical)">
                                      <p:cBhvr>
                                        <p:cTn id="7" dur="500"/>
                                        <p:tgtEl>
                                          <p:spTgt spid="1057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779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8818" name="Text Box 2"/>
          <p:cNvSpPr txBox="1">
            <a:spLocks noChangeArrowheads="1"/>
          </p:cNvSpPr>
          <p:nvPr/>
        </p:nvSpPr>
        <p:spPr bwMode="auto">
          <a:xfrm>
            <a:off x="247650" y="1114425"/>
            <a:ext cx="8685213" cy="399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3200">
                <a:ea typeface="楷体_GB2312" charset="0"/>
              </a:rPr>
              <a:t>    </a:t>
            </a:r>
            <a:r>
              <a:rPr lang="en-US" altLang="zh-CN" sz="3200" b="1">
                <a:ea typeface="楷体_GB2312" charset="0"/>
              </a:rPr>
              <a:t>while</a:t>
            </a:r>
            <a:r>
              <a:rPr lang="en-US" altLang="zh-CN" sz="3200">
                <a:ea typeface="楷体_GB2312" charset="0"/>
              </a:rPr>
              <a:t> (ch </a:t>
            </a:r>
            <a:r>
              <a:rPr lang="en-US" altLang="zh-CN" sz="3200" b="1">
                <a:ea typeface="楷体_GB2312" charset="0"/>
              </a:rPr>
              <a:t>!= EOF &amp;&amp; </a:t>
            </a:r>
            <a:r>
              <a:rPr lang="en-US" altLang="zh-CN" sz="3200">
                <a:ea typeface="楷体_GB2312" charset="0"/>
              </a:rPr>
              <a:t>ch </a:t>
            </a:r>
            <a:r>
              <a:rPr lang="en-US" altLang="zh-CN" sz="3200" b="1">
                <a:ea typeface="楷体_GB2312" charset="0"/>
              </a:rPr>
              <a:t>!= </a:t>
            </a:r>
            <a:r>
              <a:rPr lang="en-US" altLang="zh-CN" sz="3200">
                <a:ea typeface="楷体_GB2312" charset="0"/>
              </a:rPr>
              <a:t>'\n') </a:t>
            </a:r>
            <a:r>
              <a:rPr lang="en-US" altLang="zh-CN" sz="3200" b="1">
                <a:ea typeface="楷体_GB2312" charset="0"/>
              </a:rPr>
              <a:t>{</a:t>
            </a:r>
            <a:endParaRPr lang="en-US" altLang="zh-CN" sz="3200">
              <a:ea typeface="楷体_GB2312" charset="0"/>
            </a:endParaRPr>
          </a:p>
          <a:p>
            <a:pPr eaLnBrk="0" hangingPunct="0"/>
            <a:r>
              <a:rPr lang="en-US" altLang="zh-CN" sz="3200">
                <a:ea typeface="楷体_GB2312" charset="0"/>
              </a:rPr>
              <a:t>     </a:t>
            </a:r>
            <a:r>
              <a:rPr lang="en-US" altLang="zh-CN" sz="3200">
                <a:solidFill>
                  <a:srgbClr val="0000FF"/>
                </a:solidFill>
                <a:ea typeface="楷体_GB2312" charset="0"/>
              </a:rPr>
              <a:t> </a:t>
            </a:r>
            <a:r>
              <a:rPr lang="en-US" altLang="zh-CN" sz="3200" b="1">
                <a:solidFill>
                  <a:srgbClr val="A50021"/>
                </a:solidFill>
                <a:ea typeface="楷体_GB2312" charset="0"/>
              </a:rPr>
              <a:t>switch </a:t>
            </a:r>
            <a:r>
              <a:rPr lang="en-US" altLang="zh-CN" sz="3200">
                <a:solidFill>
                  <a:srgbClr val="A50021"/>
                </a:solidFill>
                <a:ea typeface="楷体_GB2312" charset="0"/>
              </a:rPr>
              <a:t>(ch) </a:t>
            </a:r>
            <a:r>
              <a:rPr lang="en-US" altLang="zh-CN" sz="3200" b="1">
                <a:solidFill>
                  <a:srgbClr val="A50021"/>
                </a:solidFill>
                <a:ea typeface="楷体_GB2312" charset="0"/>
              </a:rPr>
              <a:t>{</a:t>
            </a:r>
            <a:endParaRPr lang="en-US" altLang="zh-CN" sz="3200">
              <a:solidFill>
                <a:srgbClr val="A50021"/>
              </a:solidFill>
              <a:ea typeface="楷体_GB2312" charset="0"/>
            </a:endParaRPr>
          </a:p>
          <a:p>
            <a:pPr eaLnBrk="0" hangingPunct="0"/>
            <a:r>
              <a:rPr lang="en-US" altLang="zh-CN" sz="3200">
                <a:solidFill>
                  <a:srgbClr val="A50021"/>
                </a:solidFill>
                <a:ea typeface="楷体_GB2312" charset="0"/>
              </a:rPr>
              <a:t>       </a:t>
            </a:r>
            <a:r>
              <a:rPr lang="en-US" altLang="zh-CN" sz="3200" b="1">
                <a:solidFill>
                  <a:srgbClr val="A50021"/>
                </a:solidFill>
                <a:ea typeface="楷体_GB2312" charset="0"/>
              </a:rPr>
              <a:t>case</a:t>
            </a:r>
            <a:r>
              <a:rPr lang="en-US" altLang="zh-CN" sz="3200">
                <a:solidFill>
                  <a:srgbClr val="A50021"/>
                </a:solidFill>
                <a:ea typeface="楷体_GB2312" charset="0"/>
              </a:rPr>
              <a:t> '#' </a:t>
            </a:r>
            <a:r>
              <a:rPr lang="en-US" altLang="zh-CN" sz="3200" b="1">
                <a:solidFill>
                  <a:srgbClr val="A50021"/>
                </a:solidFill>
                <a:ea typeface="楷体_GB2312" charset="0"/>
              </a:rPr>
              <a:t>:</a:t>
            </a:r>
            <a:r>
              <a:rPr lang="en-US" altLang="zh-CN" sz="3200">
                <a:solidFill>
                  <a:srgbClr val="A50021"/>
                </a:solidFill>
                <a:ea typeface="楷体_GB2312" charset="0"/>
              </a:rPr>
              <a:t> Pop(S, c); </a:t>
            </a:r>
            <a:r>
              <a:rPr lang="en-US" altLang="zh-CN" sz="3200" b="1">
                <a:solidFill>
                  <a:srgbClr val="A50021"/>
                </a:solidFill>
                <a:ea typeface="楷体_GB2312" charset="0"/>
              </a:rPr>
              <a:t>break</a:t>
            </a:r>
            <a:r>
              <a:rPr lang="en-US" altLang="zh-CN" sz="3200">
                <a:solidFill>
                  <a:srgbClr val="A50021"/>
                </a:solidFill>
                <a:ea typeface="楷体_GB2312" charset="0"/>
              </a:rPr>
              <a:t>;</a:t>
            </a:r>
            <a:endParaRPr lang="en-US" altLang="zh-CN" sz="3200">
              <a:solidFill>
                <a:srgbClr val="A50021"/>
              </a:solidFill>
              <a:ea typeface="楷体_GB2312" charset="0"/>
            </a:endParaRPr>
          </a:p>
          <a:p>
            <a:pPr eaLnBrk="0" hangingPunct="0"/>
            <a:r>
              <a:rPr lang="en-US" altLang="zh-CN" sz="3200">
                <a:solidFill>
                  <a:srgbClr val="A50021"/>
                </a:solidFill>
                <a:ea typeface="楷体_GB2312" charset="0"/>
              </a:rPr>
              <a:t>       </a:t>
            </a:r>
            <a:r>
              <a:rPr lang="en-US" altLang="zh-CN" sz="3200" b="1">
                <a:solidFill>
                  <a:srgbClr val="A50021"/>
                </a:solidFill>
                <a:ea typeface="楷体_GB2312" charset="0"/>
              </a:rPr>
              <a:t>case</a:t>
            </a:r>
            <a:r>
              <a:rPr lang="en-US" altLang="zh-CN" sz="3200">
                <a:solidFill>
                  <a:srgbClr val="A50021"/>
                </a:solidFill>
                <a:ea typeface="楷体_GB2312" charset="0"/>
              </a:rPr>
              <a:t> '@'</a:t>
            </a:r>
            <a:r>
              <a:rPr lang="en-US" altLang="zh-CN" sz="3200" b="1">
                <a:solidFill>
                  <a:srgbClr val="A50021"/>
                </a:solidFill>
                <a:ea typeface="楷体_GB2312" charset="0"/>
              </a:rPr>
              <a:t>:</a:t>
            </a:r>
            <a:r>
              <a:rPr lang="en-US" altLang="zh-CN" sz="3200">
                <a:solidFill>
                  <a:srgbClr val="A50021"/>
                </a:solidFill>
                <a:ea typeface="楷体_GB2312" charset="0"/>
              </a:rPr>
              <a:t> ClearStack(S); </a:t>
            </a:r>
            <a:r>
              <a:rPr lang="en-US" altLang="zh-CN" sz="3200" b="1">
                <a:solidFill>
                  <a:srgbClr val="A50021"/>
                </a:solidFill>
                <a:ea typeface="楷体_GB2312" charset="0"/>
              </a:rPr>
              <a:t>break</a:t>
            </a:r>
            <a:r>
              <a:rPr lang="en-US" altLang="zh-CN" sz="3200">
                <a:solidFill>
                  <a:srgbClr val="A50021"/>
                </a:solidFill>
                <a:ea typeface="楷体_GB2312" charset="0"/>
              </a:rPr>
              <a:t>;// </a:t>
            </a:r>
            <a:r>
              <a:rPr lang="zh-CN" altLang="en-US" sz="3200">
                <a:solidFill>
                  <a:srgbClr val="A50021"/>
                </a:solidFill>
                <a:ea typeface="楷体_GB2312" charset="0"/>
              </a:rPr>
              <a:t>重置</a:t>
            </a:r>
            <a:r>
              <a:rPr lang="en-US" altLang="zh-CN" sz="3200">
                <a:solidFill>
                  <a:srgbClr val="A50021"/>
                </a:solidFill>
                <a:ea typeface="楷体_GB2312" charset="0"/>
              </a:rPr>
              <a:t>S</a:t>
            </a:r>
            <a:r>
              <a:rPr lang="zh-CN" altLang="en-US" sz="3200">
                <a:solidFill>
                  <a:srgbClr val="A50021"/>
                </a:solidFill>
                <a:ea typeface="楷体_GB2312" charset="0"/>
              </a:rPr>
              <a:t>为空栈</a:t>
            </a:r>
            <a:endParaRPr lang="zh-CN" altLang="en-US" sz="3200">
              <a:solidFill>
                <a:srgbClr val="A50021"/>
              </a:solidFill>
              <a:ea typeface="楷体_GB2312" charset="0"/>
            </a:endParaRPr>
          </a:p>
          <a:p>
            <a:pPr eaLnBrk="0" hangingPunct="0"/>
            <a:r>
              <a:rPr lang="zh-CN" altLang="en-US" sz="3200">
                <a:solidFill>
                  <a:srgbClr val="A50021"/>
                </a:solidFill>
                <a:ea typeface="楷体_GB2312" charset="0"/>
              </a:rPr>
              <a:t>       </a:t>
            </a:r>
            <a:r>
              <a:rPr lang="en-US" altLang="zh-CN" sz="3200" b="1">
                <a:solidFill>
                  <a:srgbClr val="A50021"/>
                </a:solidFill>
                <a:ea typeface="楷体_GB2312" charset="0"/>
              </a:rPr>
              <a:t>default</a:t>
            </a:r>
            <a:r>
              <a:rPr lang="en-US" altLang="zh-CN" sz="3200">
                <a:solidFill>
                  <a:srgbClr val="A50021"/>
                </a:solidFill>
                <a:ea typeface="楷体_GB2312" charset="0"/>
              </a:rPr>
              <a:t> </a:t>
            </a:r>
            <a:r>
              <a:rPr lang="en-US" altLang="zh-CN" sz="3200" b="1">
                <a:solidFill>
                  <a:srgbClr val="A50021"/>
                </a:solidFill>
                <a:ea typeface="楷体_GB2312" charset="0"/>
              </a:rPr>
              <a:t>:</a:t>
            </a:r>
            <a:r>
              <a:rPr lang="en-US" altLang="zh-CN" sz="3200">
                <a:solidFill>
                  <a:srgbClr val="A50021"/>
                </a:solidFill>
                <a:ea typeface="楷体_GB2312" charset="0"/>
              </a:rPr>
              <a:t> Push(S, ch);  </a:t>
            </a:r>
            <a:r>
              <a:rPr lang="en-US" altLang="zh-CN" sz="3200" b="1">
                <a:solidFill>
                  <a:srgbClr val="A50021"/>
                </a:solidFill>
                <a:ea typeface="楷体_GB2312" charset="0"/>
              </a:rPr>
              <a:t>break</a:t>
            </a:r>
            <a:r>
              <a:rPr lang="en-US" altLang="zh-CN" sz="3200">
                <a:solidFill>
                  <a:srgbClr val="A50021"/>
                </a:solidFill>
                <a:ea typeface="楷体_GB2312" charset="0"/>
              </a:rPr>
              <a:t>;  </a:t>
            </a:r>
            <a:endParaRPr lang="en-US" altLang="zh-CN" sz="3200">
              <a:solidFill>
                <a:srgbClr val="A50021"/>
              </a:solidFill>
              <a:ea typeface="楷体_GB2312" charset="0"/>
            </a:endParaRPr>
          </a:p>
          <a:p>
            <a:pPr eaLnBrk="0" hangingPunct="0"/>
            <a:r>
              <a:rPr lang="en-US" altLang="zh-CN" sz="3200">
                <a:solidFill>
                  <a:srgbClr val="A50021"/>
                </a:solidFill>
                <a:ea typeface="楷体_GB2312" charset="0"/>
              </a:rPr>
              <a:t>      </a:t>
            </a:r>
            <a:r>
              <a:rPr lang="en-US" altLang="zh-CN" sz="3200" b="1">
                <a:solidFill>
                  <a:srgbClr val="A50021"/>
                </a:solidFill>
                <a:ea typeface="楷体_GB2312" charset="0"/>
              </a:rPr>
              <a:t>}</a:t>
            </a:r>
            <a:endParaRPr lang="en-US" altLang="zh-CN" sz="3200">
              <a:ea typeface="楷体_GB2312" charset="0"/>
            </a:endParaRPr>
          </a:p>
          <a:p>
            <a:pPr eaLnBrk="0" hangingPunct="0"/>
            <a:r>
              <a:rPr lang="en-US" altLang="zh-CN" sz="3200">
                <a:ea typeface="楷体_GB2312" charset="0"/>
              </a:rPr>
              <a:t>      ch = getchar();  // </a:t>
            </a:r>
            <a:r>
              <a:rPr lang="zh-CN" altLang="en-US" sz="3200">
                <a:ea typeface="楷体_GB2312" charset="0"/>
              </a:rPr>
              <a:t>从终端接收下一个字符</a:t>
            </a:r>
            <a:endParaRPr lang="zh-CN" altLang="en-US" sz="3200">
              <a:ea typeface="楷体_GB2312" charset="0"/>
            </a:endParaRPr>
          </a:p>
          <a:p>
            <a:pPr eaLnBrk="0" hangingPunct="0"/>
            <a:r>
              <a:rPr lang="zh-CN" altLang="en-US" sz="3200">
                <a:ea typeface="楷体_GB2312" charset="0"/>
              </a:rPr>
              <a:t>    </a:t>
            </a:r>
            <a:r>
              <a:rPr lang="en-US" altLang="zh-CN" sz="3200" b="1">
                <a:ea typeface="楷体_GB2312" charset="0"/>
              </a:rPr>
              <a:t>}</a:t>
            </a:r>
            <a:endParaRPr lang="en-US" altLang="zh-CN" sz="3200"/>
          </a:p>
        </p:txBody>
      </p:sp>
      <p:sp>
        <p:nvSpPr>
          <p:cNvPr id="1058819" name="Text Box 3"/>
          <p:cNvSpPr txBox="1">
            <a:spLocks noChangeArrowheads="1"/>
          </p:cNvSpPr>
          <p:nvPr/>
        </p:nvSpPr>
        <p:spPr bwMode="auto">
          <a:xfrm>
            <a:off x="706438" y="5486400"/>
            <a:ext cx="5770562"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3200">
                <a:ea typeface="楷体_GB2312" charset="0"/>
              </a:rPr>
              <a:t>ClearStack(S);      // </a:t>
            </a:r>
            <a:r>
              <a:rPr lang="zh-CN" altLang="en-US" sz="3200">
                <a:ea typeface="楷体_GB2312" charset="0"/>
              </a:rPr>
              <a:t>重置</a:t>
            </a:r>
            <a:r>
              <a:rPr lang="en-US" altLang="zh-CN" sz="3200">
                <a:ea typeface="楷体_GB2312" charset="0"/>
              </a:rPr>
              <a:t>S</a:t>
            </a:r>
            <a:r>
              <a:rPr lang="zh-CN" altLang="en-US" sz="3200">
                <a:ea typeface="楷体_GB2312" charset="0"/>
              </a:rPr>
              <a:t>为空栈</a:t>
            </a:r>
            <a:endParaRPr lang="zh-CN" altLang="en-US" sz="3200">
              <a:ea typeface="楷体_GB2312" charset="0"/>
            </a:endParaRPr>
          </a:p>
          <a:p>
            <a:pPr eaLnBrk="0" hangingPunct="0"/>
            <a:r>
              <a:rPr lang="en-US" altLang="zh-CN" sz="3200" b="1">
                <a:ea typeface="楷体_GB2312" charset="0"/>
              </a:rPr>
              <a:t>if</a:t>
            </a:r>
            <a:r>
              <a:rPr lang="en-US" altLang="zh-CN" sz="3200">
                <a:ea typeface="楷体_GB2312" charset="0"/>
              </a:rPr>
              <a:t> (ch </a:t>
            </a:r>
            <a:r>
              <a:rPr lang="en-US" altLang="zh-CN" sz="3200" b="1">
                <a:ea typeface="楷体_GB2312" charset="0"/>
              </a:rPr>
              <a:t>!= EOF</a:t>
            </a:r>
            <a:r>
              <a:rPr lang="en-US" altLang="zh-CN" sz="3200">
                <a:ea typeface="楷体_GB2312" charset="0"/>
              </a:rPr>
              <a:t>)  ch = getchar();</a:t>
            </a:r>
            <a:endParaRPr lang="en-US" altLang="zh-CN" sz="3200">
              <a:ea typeface="楷体_GB2312" charset="0"/>
            </a:endParaRPr>
          </a:p>
        </p:txBody>
      </p:sp>
      <p:sp>
        <p:nvSpPr>
          <p:cNvPr id="1058820" name="Text Box 4"/>
          <p:cNvSpPr txBox="1">
            <a:spLocks noChangeArrowheads="1"/>
          </p:cNvSpPr>
          <p:nvPr/>
        </p:nvSpPr>
        <p:spPr bwMode="auto">
          <a:xfrm>
            <a:off x="1371600" y="304800"/>
            <a:ext cx="7064375"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200" b="1">
                <a:solidFill>
                  <a:srgbClr val="660066"/>
                </a:solidFill>
                <a:ea typeface="楷体_GB2312" charset="0"/>
              </a:rPr>
              <a:t>while</a:t>
            </a:r>
            <a:r>
              <a:rPr lang="en-US" altLang="zh-CN" sz="3200">
                <a:solidFill>
                  <a:srgbClr val="660066"/>
                </a:solidFill>
                <a:ea typeface="楷体_GB2312" charset="0"/>
              </a:rPr>
              <a:t> (ch </a:t>
            </a:r>
            <a:r>
              <a:rPr lang="en-US" altLang="zh-CN" sz="3200" b="1">
                <a:solidFill>
                  <a:srgbClr val="660066"/>
                </a:solidFill>
                <a:ea typeface="楷体_GB2312" charset="0"/>
              </a:rPr>
              <a:t>!= EOF</a:t>
            </a:r>
            <a:r>
              <a:rPr lang="en-US" altLang="zh-CN" sz="3200">
                <a:solidFill>
                  <a:srgbClr val="660066"/>
                </a:solidFill>
                <a:ea typeface="楷体_GB2312" charset="0"/>
              </a:rPr>
              <a:t>) </a:t>
            </a:r>
            <a:r>
              <a:rPr lang="en-US" altLang="zh-CN" sz="3200" b="1">
                <a:solidFill>
                  <a:srgbClr val="660066"/>
                </a:solidFill>
                <a:ea typeface="楷体_GB2312" charset="0"/>
              </a:rPr>
              <a:t>{</a:t>
            </a:r>
            <a:r>
              <a:rPr lang="en-US" altLang="zh-CN" sz="3200">
                <a:solidFill>
                  <a:srgbClr val="660066"/>
                </a:solidFill>
                <a:ea typeface="楷体_GB2312" charset="0"/>
              </a:rPr>
              <a:t> //EOF</a:t>
            </a:r>
            <a:r>
              <a:rPr lang="zh-CN" altLang="en-US" sz="3200">
                <a:solidFill>
                  <a:srgbClr val="660066"/>
                </a:solidFill>
                <a:ea typeface="楷体_GB2312" charset="0"/>
              </a:rPr>
              <a:t>为全文结束符</a:t>
            </a:r>
            <a:endParaRPr lang="zh-CN" altLang="en-US" sz="3200">
              <a:ea typeface="楷体_GB2312" charset="0"/>
            </a:endParaRPr>
          </a:p>
        </p:txBody>
      </p:sp>
      <p:sp>
        <p:nvSpPr>
          <p:cNvPr id="1058821" name="Text Box 5"/>
          <p:cNvSpPr txBox="1">
            <a:spLocks noChangeArrowheads="1"/>
          </p:cNvSpPr>
          <p:nvPr/>
        </p:nvSpPr>
        <p:spPr bwMode="auto">
          <a:xfrm>
            <a:off x="654050" y="5029200"/>
            <a:ext cx="84899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400">
                <a:ea typeface="楷体_GB2312" charset="0"/>
              </a:rPr>
              <a:t>将从栈底到栈顶的字符传送至调用过程的数据区；</a:t>
            </a:r>
            <a:endParaRPr lang="zh-CN" altLang="en-US" sz="2400">
              <a:ea typeface="楷体_GB2312" charset="0"/>
            </a:endParaRPr>
          </a:p>
        </p:txBody>
      </p:sp>
      <p:sp>
        <p:nvSpPr>
          <p:cNvPr id="1058822" name="AutoShape 6">
            <a:hlinkClick r:id="rId1"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8821"/>
                                        </p:tgtEl>
                                        <p:attrNameLst>
                                          <p:attrName>style.visibility</p:attrName>
                                        </p:attrNameLst>
                                      </p:cBhvr>
                                      <p:to>
                                        <p:strVal val="visible"/>
                                      </p:to>
                                    </p:set>
                                    <p:animEffect transition="in" filter="box(out)">
                                      <p:cBhvr>
                                        <p:cTn id="7" dur="500"/>
                                        <p:tgtEl>
                                          <p:spTgt spid="1058821"/>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058819"/>
                                        </p:tgtEl>
                                        <p:attrNameLst>
                                          <p:attrName>style.visibility</p:attrName>
                                        </p:attrNameLst>
                                      </p:cBhvr>
                                      <p:to>
                                        <p:strVal val="visible"/>
                                      </p:to>
                                    </p:set>
                                    <p:animEffect transition="in" filter="box(out)">
                                      <p:cBhvr>
                                        <p:cTn id="11" dur="500"/>
                                        <p:tgtEl>
                                          <p:spTgt spid="10588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wd">
                                    <p:tmPct val="100000"/>
                                  </p:iterate>
                                  <p:childTnLst>
                                    <p:set>
                                      <p:cBhvr>
                                        <p:cTn id="15" dur="1" fill="hold">
                                          <p:stCondLst>
                                            <p:cond delay="0"/>
                                          </p:stCondLst>
                                        </p:cTn>
                                        <p:tgtEl>
                                          <p:spTgt spid="1058820"/>
                                        </p:tgtEl>
                                        <p:attrNameLst>
                                          <p:attrName>style.visibility</p:attrName>
                                        </p:attrNameLst>
                                      </p:cBhvr>
                                      <p:to>
                                        <p:strVal val="visible"/>
                                      </p:to>
                                    </p:set>
                                    <p:animEffect transition="in" filter="wipe(left)">
                                      <p:cBhvr>
                                        <p:cTn id="16" dur="300"/>
                                        <p:tgtEl>
                                          <p:spTgt spid="1058820"/>
                                        </p:tgtEl>
                                      </p:cBhvr>
                                    </p:animEffect>
                                  </p:childTnLst>
                                </p:cTn>
                              </p:par>
                            </p:childTnLst>
                          </p:cTn>
                        </p:par>
                        <p:par>
                          <p:cTn id="17" fill="hold">
                            <p:stCondLst>
                              <p:cond delay="9300"/>
                            </p:stCondLst>
                            <p:childTnLst>
                              <p:par>
                                <p:cTn id="18" presetID="2" presetClass="entr" presetSubtype="6" fill="hold" grpId="0" nodeType="afterEffect">
                                  <p:stCondLst>
                                    <p:cond delay="0"/>
                                  </p:stCondLst>
                                  <p:childTnLst>
                                    <p:set>
                                      <p:cBhvr>
                                        <p:cTn id="19" dur="1" fill="hold">
                                          <p:stCondLst>
                                            <p:cond delay="0"/>
                                          </p:stCondLst>
                                        </p:cTn>
                                        <p:tgtEl>
                                          <p:spTgt spid="1058822"/>
                                        </p:tgtEl>
                                        <p:attrNameLst>
                                          <p:attrName>style.visibility</p:attrName>
                                        </p:attrNameLst>
                                      </p:cBhvr>
                                      <p:to>
                                        <p:strVal val="visible"/>
                                      </p:to>
                                    </p:set>
                                    <p:anim calcmode="lin" valueType="num">
                                      <p:cBhvr additive="base">
                                        <p:cTn id="20" dur="500" fill="hold"/>
                                        <p:tgtEl>
                                          <p:spTgt spid="1058822"/>
                                        </p:tgtEl>
                                        <p:attrNameLst>
                                          <p:attrName>ppt_x</p:attrName>
                                        </p:attrNameLst>
                                      </p:cBhvr>
                                      <p:tavLst>
                                        <p:tav tm="0">
                                          <p:val>
                                            <p:strVal val="1+#ppt_w/2"/>
                                          </p:val>
                                        </p:tav>
                                        <p:tav tm="100000">
                                          <p:val>
                                            <p:strVal val="#ppt_x"/>
                                          </p:val>
                                        </p:tav>
                                      </p:tavLst>
                                    </p:anim>
                                    <p:anim calcmode="lin" valueType="num">
                                      <p:cBhvr additive="base">
                                        <p:cTn id="21" dur="500" fill="hold"/>
                                        <p:tgtEl>
                                          <p:spTgt spid="1058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8819" grpId="0" autoUpdateAnimBg="0"/>
      <p:bldP spid="1058820" grpId="0" autoUpdateAnimBg="0"/>
      <p:bldP spid="1058821" grpId="0" autoUpdateAnimBg="0"/>
      <p:bldP spid="105882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6818" name="Rectangle 2"/>
          <p:cNvSpPr>
            <a:spLocks noGrp="1" noChangeArrowheads="1"/>
          </p:cNvSpPr>
          <p:nvPr>
            <p:ph type="title"/>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lIns="92075" tIns="46038" rIns="92075" bIns="46038"/>
          <a:lstStyle/>
          <a:p>
            <a:r>
              <a:rPr lang="zh-CN" altLang="en-US">
                <a:solidFill>
                  <a:srgbClr val="FF5050"/>
                </a:solidFill>
                <a:ea typeface="楷体_GB2312" charset="0"/>
              </a:rPr>
              <a:t>例四、  迷宫求解</a:t>
            </a:r>
            <a:endParaRPr lang="zh-CN" altLang="en-US">
              <a:solidFill>
                <a:srgbClr val="FF5050"/>
              </a:solidFill>
              <a:ea typeface="楷体_GB2312" charset="0"/>
            </a:endParaRPr>
          </a:p>
        </p:txBody>
      </p:sp>
      <p:sp>
        <p:nvSpPr>
          <p:cNvPr id="1186820" name="AutoShape 4"/>
          <p:cNvSpPr>
            <a:spLocks noChangeArrowheads="1"/>
          </p:cNvSpPr>
          <p:nvPr/>
        </p:nvSpPr>
        <p:spPr bwMode="auto">
          <a:xfrm>
            <a:off x="179388" y="1339850"/>
            <a:ext cx="4608512" cy="4968875"/>
          </a:xfrm>
          <a:prstGeom prst="flowChartAlternateProcess">
            <a:avLst/>
          </a:prstGeom>
          <a:noFill/>
          <a:ln w="31750">
            <a:solidFill>
              <a:srgbClr val="33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6821" name="Rectangle 5"/>
          <p:cNvSpPr>
            <a:spLocks noChangeArrowheads="1"/>
          </p:cNvSpPr>
          <p:nvPr/>
        </p:nvSpPr>
        <p:spPr bwMode="auto">
          <a:xfrm>
            <a:off x="4932680" y="274955"/>
            <a:ext cx="3960495" cy="3881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oAutofit/>
          </a:bodyPr>
          <a:lstStyle/>
          <a:p>
            <a:pPr>
              <a:spcBef>
                <a:spcPct val="50000"/>
              </a:spcBef>
            </a:pPr>
            <a:r>
              <a:rPr kumimoji="0" lang="zh-CN" altLang="en-US" b="1">
                <a:effectLst>
                  <a:outerShdw blurRad="38100" dist="38100" dir="2700000" algn="tl">
                    <a:srgbClr val="C0C0C0"/>
                  </a:outerShdw>
                </a:effectLst>
                <a:ea typeface="楷体_GB2312" charset="0"/>
              </a:rPr>
              <a:t>      计算机解迷宫时，通常用的是“穷举求解”的方法：</a:t>
            </a:r>
            <a:endParaRPr kumimoji="0" lang="zh-CN" altLang="en-US" b="1">
              <a:effectLst>
                <a:outerShdw blurRad="38100" dist="38100" dir="2700000" algn="tl">
                  <a:srgbClr val="C0C0C0"/>
                </a:outerShdw>
              </a:effectLst>
              <a:ea typeface="楷体_GB2312" charset="0"/>
            </a:endParaRPr>
          </a:p>
          <a:p>
            <a:pPr>
              <a:spcBef>
                <a:spcPct val="50000"/>
              </a:spcBef>
              <a:buClr>
                <a:schemeClr val="accent1"/>
              </a:buClr>
              <a:buFontTx/>
              <a:buChar char="•"/>
            </a:pPr>
            <a:r>
              <a:rPr kumimoji="0" lang="zh-CN" altLang="en-US" b="1">
                <a:effectLst>
                  <a:outerShdw blurRad="38100" dist="38100" dir="2700000" algn="tl">
                    <a:srgbClr val="C0C0C0"/>
                  </a:outerShdw>
                </a:effectLst>
                <a:ea typeface="楷体_GB2312" charset="0"/>
              </a:rPr>
              <a:t>  从入口出发，顺某一方向向前探索，若能走通，则继续往前走；</a:t>
            </a:r>
            <a:endParaRPr kumimoji="0" lang="zh-CN" altLang="en-US" b="1">
              <a:effectLst>
                <a:outerShdw blurRad="38100" dist="38100" dir="2700000" algn="tl">
                  <a:srgbClr val="C0C0C0"/>
                </a:outerShdw>
              </a:effectLst>
              <a:ea typeface="楷体_GB2312" charset="0"/>
            </a:endParaRPr>
          </a:p>
          <a:p>
            <a:pPr>
              <a:spcBef>
                <a:spcPct val="50000"/>
              </a:spcBef>
              <a:buClr>
                <a:schemeClr val="accent1"/>
              </a:buClr>
              <a:buFontTx/>
              <a:buChar char="•"/>
            </a:pPr>
            <a:r>
              <a:rPr kumimoji="0" lang="zh-CN" altLang="en-US" b="1">
                <a:effectLst>
                  <a:outerShdw blurRad="38100" dist="38100" dir="2700000" algn="tl">
                    <a:srgbClr val="C0C0C0"/>
                  </a:outerShdw>
                </a:effectLst>
                <a:ea typeface="楷体_GB2312" charset="0"/>
              </a:rPr>
              <a:t>  否则沿</a:t>
            </a:r>
            <a:r>
              <a:rPr kumimoji="0" lang="zh-CN" altLang="en-US" b="1">
                <a:solidFill>
                  <a:srgbClr val="FF0000"/>
                </a:solidFill>
                <a:effectLst>
                  <a:outerShdw blurRad="38100" dist="38100" dir="2700000" algn="tl">
                    <a:srgbClr val="C0C0C0"/>
                  </a:outerShdw>
                </a:effectLst>
                <a:ea typeface="楷体_GB2312" charset="0"/>
              </a:rPr>
              <a:t>原路退回</a:t>
            </a:r>
            <a:r>
              <a:rPr kumimoji="0" lang="zh-CN" altLang="en-US" b="1">
                <a:effectLst>
                  <a:outerShdw blurRad="38100" dist="38100" dir="2700000" algn="tl">
                    <a:srgbClr val="C0C0C0"/>
                  </a:outerShdw>
                </a:effectLst>
                <a:ea typeface="楷体_GB2312" charset="0"/>
              </a:rPr>
              <a:t>，换一个方向再继续探索，直至所有可能的通路都探索到为止。</a:t>
            </a:r>
            <a:endParaRPr kumimoji="0" lang="zh-CN" altLang="en-US" b="1">
              <a:effectLst>
                <a:outerShdw blurRad="38100" dist="38100" dir="2700000" algn="tl">
                  <a:srgbClr val="C0C0C0"/>
                </a:outerShdw>
              </a:effectLst>
              <a:ea typeface="楷体_GB2312" charset="0"/>
            </a:endParaRPr>
          </a:p>
          <a:p>
            <a:pPr>
              <a:spcBef>
                <a:spcPct val="50000"/>
              </a:spcBef>
              <a:buClr>
                <a:schemeClr val="accent1"/>
              </a:buClr>
              <a:buFontTx/>
              <a:buChar char="•"/>
            </a:pPr>
            <a:r>
              <a:rPr kumimoji="0" lang="zh-CN" altLang="en-US" b="1">
                <a:effectLst>
                  <a:outerShdw blurRad="38100" dist="38100" dir="2700000" algn="tl">
                    <a:srgbClr val="C0C0C0"/>
                  </a:outerShdw>
                </a:effectLst>
                <a:ea typeface="楷体_GB2312" charset="0"/>
              </a:rPr>
              <a:t>  如果所有可能的通路都试探过，还是不能走到终点，那就说明该迷宫不存在从起点到终点的通道。</a:t>
            </a:r>
            <a:endParaRPr kumimoji="0" lang="zh-CN" altLang="en-US" b="1">
              <a:effectLst>
                <a:outerShdw blurRad="38100" dist="38100" dir="2700000" algn="tl">
                  <a:srgbClr val="C0C0C0"/>
                </a:outerShdw>
              </a:effectLst>
              <a:ea typeface="楷体_GB2312" charset="0"/>
            </a:endParaRPr>
          </a:p>
        </p:txBody>
      </p:sp>
      <p:sp>
        <p:nvSpPr>
          <p:cNvPr id="1186822" name="AutoShape 6"/>
          <p:cNvSpPr>
            <a:spLocks noChangeArrowheads="1"/>
          </p:cNvSpPr>
          <p:nvPr/>
        </p:nvSpPr>
        <p:spPr bwMode="ltGray">
          <a:xfrm rot="571436">
            <a:off x="4848860" y="3364230"/>
            <a:ext cx="3805238" cy="2798763"/>
          </a:xfrm>
          <a:prstGeom prst="irregularSeal1">
            <a:avLst/>
          </a:prstGeom>
          <a:gradFill rotWithShape="0">
            <a:gsLst>
              <a:gs pos="0">
                <a:schemeClr val="accent1"/>
              </a:gs>
              <a:gs pos="100000">
                <a:schemeClr val="accent2"/>
              </a:gs>
            </a:gsLst>
            <a:lin ang="2700000" scaled="1"/>
          </a:gradFill>
          <a:ln>
            <a:noFill/>
          </a:ln>
          <a:effectLst>
            <a:outerShdw blurRad="63500" dist="99190" dir="2388334" algn="ctr" rotWithShape="0">
              <a:schemeClr val="bg1">
                <a:alpha val="74998"/>
              </a:schemeClr>
            </a:outerShdw>
          </a:effectLst>
          <a:extLst>
            <a:ext uri="{91240B29-F687-4F45-9708-019B960494DF}">
              <a14:hiddenLine xmlns:a14="http://schemas.microsoft.com/office/drawing/2010/main" w="9525">
                <a:solidFill>
                  <a:schemeClr val="accent1"/>
                </a:solidFill>
                <a:miter lim="800000"/>
                <a:headEnd type="none" w="sm" len="sm"/>
                <a:tailEnd type="none" w="sm" len="sm"/>
              </a14:hiddenLine>
            </a:ext>
          </a:extLst>
        </p:spPr>
        <p:txBody>
          <a:bodyPr anchor="ctr"/>
          <a:lstStyle/>
          <a:p>
            <a:pPr algn="ctr"/>
            <a:r>
              <a:rPr kumimoji="0" lang="zh-CN" altLang="en-US" sz="2800" b="1">
                <a:solidFill>
                  <a:schemeClr val="bg1"/>
                </a:solidFill>
                <a:effectLst>
                  <a:outerShdw blurRad="38100" dist="38100" dir="2700000" algn="tl">
                    <a:srgbClr val="000000"/>
                  </a:outerShdw>
                </a:effectLst>
                <a:ea typeface="楷体_GB2312" charset="0"/>
              </a:rPr>
              <a:t>回溯法</a:t>
            </a:r>
            <a:endParaRPr kumimoji="0" lang="zh-CN" altLang="en-US" sz="2800" b="1">
              <a:solidFill>
                <a:schemeClr val="bg1"/>
              </a:solidFill>
              <a:effectLst>
                <a:outerShdw blurRad="38100" dist="38100" dir="2700000" algn="tl">
                  <a:srgbClr val="000000"/>
                </a:outerShdw>
              </a:effectLst>
              <a:ea typeface="楷体_GB2312" charset="0"/>
            </a:endParaRPr>
          </a:p>
        </p:txBody>
      </p:sp>
      <p:pic>
        <p:nvPicPr>
          <p:cNvPr id="1025" name="Object"/>
          <p:cNvPicPr/>
          <p:nvPr/>
        </p:nvPicPr>
        <p:blipFill>
          <a:blip r:embed="rId1"/>
          <a:srcRect/>
          <a:stretch>
            <a:fillRect/>
          </a:stretch>
        </p:blipFill>
        <p:spPr>
          <a:xfrm>
            <a:off x="393700" y="1549400"/>
            <a:ext cx="4165600" cy="4597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186821"/>
                                        </p:tgtEl>
                                        <p:attrNameLst>
                                          <p:attrName>style.visibility</p:attrName>
                                        </p:attrNameLst>
                                      </p:cBhvr>
                                      <p:to>
                                        <p:strVal val="visible"/>
                                      </p:to>
                                    </p:set>
                                    <p:animEffect transition="in" filter="blinds(vertical)">
                                      <p:cBhvr>
                                        <p:cTn id="7" dur="500"/>
                                        <p:tgtEl>
                                          <p:spTgt spid="118682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1186822"/>
                                        </p:tgtEl>
                                        <p:attrNameLst>
                                          <p:attrName>style.visibility</p:attrName>
                                        </p:attrNameLst>
                                      </p:cBhvr>
                                      <p:to>
                                        <p:strVal val="visible"/>
                                      </p:to>
                                    </p:set>
                                    <p:animEffect transition="in" filter="diamond(out)">
                                      <p:cBhvr>
                                        <p:cTn id="12" dur="1000"/>
                                        <p:tgtEl>
                                          <p:spTgt spid="1186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6821" grpId="0" bldLvl="0" animBg="1"/>
      <p:bldP spid="1186822"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0866" name="Rectangle 2"/>
          <p:cNvSpPr>
            <a:spLocks noGrp="1" noChangeArrowheads="1"/>
          </p:cNvSpPr>
          <p:nvPr>
            <p:ph type="title" idx="4294967295"/>
          </p:nvPr>
        </p:nvSpPr>
        <p:spPr>
          <a:xfrm>
            <a:off x="914400" y="762000"/>
            <a:ext cx="7772400" cy="1143000"/>
          </a:xfrm>
        </p:spPr>
        <p:txBody>
          <a:bodyPr/>
          <a:lstStyle/>
          <a:p>
            <a:r>
              <a:rPr lang="zh-CN" altLang="en-US">
                <a:solidFill>
                  <a:schemeClr val="tx1"/>
                </a:solidFill>
                <a:ea typeface="楷体_GB2312" charset="0"/>
              </a:rPr>
              <a:t>求迷宫路径算法的</a:t>
            </a:r>
            <a:r>
              <a:rPr lang="zh-CN" altLang="en-US" b="0">
                <a:solidFill>
                  <a:schemeClr val="tx1"/>
                </a:solidFill>
                <a:ea typeface="楷体_GB2312" charset="0"/>
              </a:rPr>
              <a:t>基本思想</a:t>
            </a:r>
            <a:r>
              <a:rPr lang="zh-CN" altLang="en-US">
                <a:solidFill>
                  <a:schemeClr val="tx1"/>
                </a:solidFill>
                <a:ea typeface="楷体_GB2312" charset="0"/>
              </a:rPr>
              <a:t>是：</a:t>
            </a:r>
            <a:endParaRPr lang="zh-CN" altLang="en-US">
              <a:solidFill>
                <a:schemeClr val="tx1"/>
              </a:solidFill>
              <a:ea typeface="楷体_GB2312" charset="0"/>
            </a:endParaRPr>
          </a:p>
        </p:txBody>
      </p:sp>
      <p:sp>
        <p:nvSpPr>
          <p:cNvPr id="1060867" name="Rectangle 3"/>
          <p:cNvSpPr>
            <a:spLocks noGrp="1" noChangeArrowheads="1"/>
          </p:cNvSpPr>
          <p:nvPr>
            <p:ph type="body" idx="4294967295"/>
          </p:nvPr>
        </p:nvSpPr>
        <p:spPr>
          <a:xfrm>
            <a:off x="685800" y="1676400"/>
            <a:ext cx="7772400" cy="1295400"/>
          </a:xfrm>
        </p:spPr>
        <p:txBody>
          <a:bodyPr>
            <a:normAutofit fontScale="92500" lnSpcReduction="10000"/>
          </a:bodyPr>
          <a:lstStyle/>
          <a:p>
            <a:r>
              <a:rPr lang="zh-CN" altLang="en-US" sz="4400" b="1">
                <a:solidFill>
                  <a:srgbClr val="A50021"/>
                </a:solidFill>
                <a:ea typeface="楷体_GB2312" charset="0"/>
              </a:rPr>
              <a:t>若当前位置“可通”，则纳入路径，继续前进</a:t>
            </a:r>
            <a:r>
              <a:rPr lang="en-US" altLang="zh-CN" sz="4400" b="1">
                <a:solidFill>
                  <a:srgbClr val="A50021"/>
                </a:solidFill>
                <a:ea typeface="楷体_GB2312" charset="0"/>
              </a:rPr>
              <a:t>;</a:t>
            </a:r>
            <a:endParaRPr lang="en-US" altLang="zh-CN" sz="4400" b="1">
              <a:ea typeface="楷体_GB2312" charset="0"/>
            </a:endParaRPr>
          </a:p>
        </p:txBody>
      </p:sp>
      <p:sp>
        <p:nvSpPr>
          <p:cNvPr id="1060868" name="Rectangle 4"/>
          <p:cNvSpPr>
            <a:spLocks noChangeArrowheads="1"/>
          </p:cNvSpPr>
          <p:nvPr/>
        </p:nvSpPr>
        <p:spPr bwMode="auto">
          <a:xfrm>
            <a:off x="685800" y="3124200"/>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r>
              <a:rPr lang="zh-CN" altLang="en-US" sz="4400" b="1">
                <a:solidFill>
                  <a:srgbClr val="A50021"/>
                </a:solidFill>
                <a:ea typeface="楷体_GB2312" charset="0"/>
              </a:rPr>
              <a:t>若当前位置“不可通”，则后退，换方向继续探索</a:t>
            </a:r>
            <a:r>
              <a:rPr lang="en-US" altLang="zh-CN" sz="4400" b="1">
                <a:solidFill>
                  <a:srgbClr val="A50021"/>
                </a:solidFill>
                <a:ea typeface="楷体_GB2312" charset="0"/>
              </a:rPr>
              <a:t>;</a:t>
            </a:r>
            <a:endParaRPr lang="en-US" altLang="zh-CN" sz="4400" b="1">
              <a:ea typeface="楷体_GB2312" charset="0"/>
            </a:endParaRPr>
          </a:p>
        </p:txBody>
      </p:sp>
      <p:sp>
        <p:nvSpPr>
          <p:cNvPr id="1060869" name="Rectangle 5"/>
          <p:cNvSpPr>
            <a:spLocks noChangeArrowheads="1"/>
          </p:cNvSpPr>
          <p:nvPr/>
        </p:nvSpPr>
        <p:spPr bwMode="auto">
          <a:xfrm>
            <a:off x="685800" y="4572000"/>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r>
              <a:rPr lang="zh-CN" altLang="en-US" sz="4400" b="1">
                <a:solidFill>
                  <a:srgbClr val="A50021"/>
                </a:solidFill>
                <a:ea typeface="楷体_GB2312" charset="0"/>
              </a:rPr>
              <a:t>若四周“均无通路”，则将当前位置从路径中删除出去。</a:t>
            </a:r>
            <a:endParaRPr lang="zh-CN" altLang="en-US" sz="4400" b="1">
              <a:ea typeface="楷体_GB2312" charset="0"/>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60867">
                                            <p:txEl>
                                              <p:pRg st="0" end="0"/>
                                            </p:txEl>
                                          </p:spTgt>
                                        </p:tgtEl>
                                        <p:attrNameLst>
                                          <p:attrName>style.visibility</p:attrName>
                                        </p:attrNameLst>
                                      </p:cBhvr>
                                      <p:to>
                                        <p:strVal val="visible"/>
                                      </p:to>
                                    </p:set>
                                    <p:animEffect transition="in" filter="strips(downRight)">
                                      <p:cBhvr>
                                        <p:cTn id="7" dur="500"/>
                                        <p:tgtEl>
                                          <p:spTgt spid="10608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60868"/>
                                        </p:tgtEl>
                                        <p:attrNameLst>
                                          <p:attrName>style.visibility</p:attrName>
                                        </p:attrNameLst>
                                      </p:cBhvr>
                                      <p:to>
                                        <p:strVal val="visible"/>
                                      </p:to>
                                    </p:set>
                                    <p:animEffect transition="in" filter="strips(downRight)">
                                      <p:cBhvr>
                                        <p:cTn id="12" dur="500"/>
                                        <p:tgtEl>
                                          <p:spTgt spid="106086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60869"/>
                                        </p:tgtEl>
                                        <p:attrNameLst>
                                          <p:attrName>style.visibility</p:attrName>
                                        </p:attrNameLst>
                                      </p:cBhvr>
                                      <p:to>
                                        <p:strVal val="visible"/>
                                      </p:to>
                                    </p:set>
                                    <p:animEffect transition="in" filter="strips(downRight)">
                                      <p:cBhvr>
                                        <p:cTn id="17" dur="500"/>
                                        <p:tgtEl>
                                          <p:spTgt spid="1060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0867" grpId="0" autoUpdateAnimBg="0" build="p"/>
      <p:bldP spid="1060868" grpId="0" autoUpdateAnimBg="0"/>
      <p:bldP spid="1060869"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90" name="Text Box 2"/>
          <p:cNvSpPr txBox="1">
            <a:spLocks noChangeArrowheads="1"/>
          </p:cNvSpPr>
          <p:nvPr/>
        </p:nvSpPr>
        <p:spPr bwMode="auto">
          <a:xfrm>
            <a:off x="850900" y="1216025"/>
            <a:ext cx="7912100" cy="526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10000"/>
              </a:lnSpc>
            </a:pPr>
            <a:r>
              <a:rPr lang="zh-CN" altLang="en-US" sz="2800">
                <a:solidFill>
                  <a:srgbClr val="A50021"/>
                </a:solidFill>
                <a:ea typeface="楷体_GB2312" charset="0"/>
              </a:rPr>
              <a:t>设定当前位置的初值为入口位置；</a:t>
            </a:r>
            <a:endParaRPr lang="zh-CN" altLang="en-US" sz="2800">
              <a:solidFill>
                <a:srgbClr val="A50021"/>
              </a:solidFill>
              <a:ea typeface="楷体_GB2312" charset="0"/>
            </a:endParaRPr>
          </a:p>
          <a:p>
            <a:pPr eaLnBrk="0" hangingPunct="0">
              <a:lnSpc>
                <a:spcPct val="110000"/>
              </a:lnSpc>
            </a:pPr>
            <a:r>
              <a:rPr lang="zh-CN" altLang="en-US" sz="2800">
                <a:solidFill>
                  <a:srgbClr val="A50021"/>
                </a:solidFill>
                <a:ea typeface="楷体_GB2312" charset="0"/>
              </a:rPr>
              <a:t> </a:t>
            </a:r>
            <a:r>
              <a:rPr lang="en-US" altLang="zh-CN" sz="2800" b="1">
                <a:solidFill>
                  <a:srgbClr val="A50021"/>
                </a:solidFill>
                <a:ea typeface="楷体_GB2312" charset="0"/>
              </a:rPr>
              <a:t>do</a:t>
            </a:r>
            <a:r>
              <a:rPr lang="zh-CN" altLang="en-US" sz="2800" b="1">
                <a:solidFill>
                  <a:srgbClr val="A50021"/>
                </a:solidFill>
                <a:ea typeface="楷体_GB2312" charset="0"/>
              </a:rPr>
              <a:t>｛</a:t>
            </a:r>
            <a:endParaRPr lang="zh-CN" altLang="en-US" sz="2800">
              <a:solidFill>
                <a:srgbClr val="A50021"/>
              </a:solidFill>
              <a:ea typeface="楷体_GB2312" charset="0"/>
            </a:endParaRPr>
          </a:p>
          <a:p>
            <a:pPr eaLnBrk="0" hangingPunct="0">
              <a:lnSpc>
                <a:spcPct val="110000"/>
              </a:lnSpc>
            </a:pPr>
            <a:r>
              <a:rPr lang="zh-CN" altLang="en-US" sz="2800">
                <a:solidFill>
                  <a:srgbClr val="A50021"/>
                </a:solidFill>
                <a:ea typeface="楷体_GB2312" charset="0"/>
              </a:rPr>
              <a:t>   </a:t>
            </a:r>
            <a:r>
              <a:rPr lang="zh-CN" altLang="en-US" sz="2800" b="1">
                <a:solidFill>
                  <a:srgbClr val="A50021"/>
                </a:solidFill>
                <a:ea typeface="楷体_GB2312" charset="0"/>
              </a:rPr>
              <a:t>若当前位置可通</a:t>
            </a:r>
            <a:r>
              <a:rPr lang="zh-CN" altLang="en-US" sz="2800">
                <a:solidFill>
                  <a:srgbClr val="A50021"/>
                </a:solidFill>
                <a:ea typeface="楷体_GB2312" charset="0"/>
              </a:rPr>
              <a:t>，</a:t>
            </a:r>
            <a:endParaRPr lang="zh-CN" altLang="en-US" sz="2800">
              <a:solidFill>
                <a:srgbClr val="A50021"/>
              </a:solidFill>
              <a:ea typeface="楷体_GB2312" charset="0"/>
            </a:endParaRPr>
          </a:p>
          <a:p>
            <a:pPr eaLnBrk="0" hangingPunct="0">
              <a:lnSpc>
                <a:spcPct val="110000"/>
              </a:lnSpc>
            </a:pPr>
            <a:r>
              <a:rPr lang="zh-CN" altLang="en-US" sz="2800">
                <a:solidFill>
                  <a:srgbClr val="A50021"/>
                </a:solidFill>
                <a:ea typeface="楷体_GB2312" charset="0"/>
              </a:rPr>
              <a:t>   </a:t>
            </a:r>
            <a:r>
              <a:rPr lang="zh-CN" altLang="en-US" sz="2800" b="1">
                <a:solidFill>
                  <a:srgbClr val="A50021"/>
                </a:solidFill>
                <a:ea typeface="楷体_GB2312" charset="0"/>
              </a:rPr>
              <a:t>则｛</a:t>
            </a:r>
            <a:r>
              <a:rPr lang="zh-CN" altLang="en-US" sz="2800">
                <a:solidFill>
                  <a:srgbClr val="A50021"/>
                </a:solidFill>
                <a:ea typeface="楷体_GB2312" charset="0"/>
              </a:rPr>
              <a:t>将当前位置</a:t>
            </a:r>
            <a:r>
              <a:rPr lang="zh-CN" altLang="en-US" sz="2800" b="1">
                <a:solidFill>
                  <a:srgbClr val="A50021"/>
                </a:solidFill>
                <a:ea typeface="楷体_GB2312" charset="0"/>
              </a:rPr>
              <a:t>插入栈顶</a:t>
            </a:r>
            <a:r>
              <a:rPr lang="zh-CN" altLang="en-US" sz="2800">
                <a:solidFill>
                  <a:srgbClr val="A50021"/>
                </a:solidFill>
                <a:ea typeface="楷体_GB2312" charset="0"/>
              </a:rPr>
              <a:t>； </a:t>
            </a:r>
            <a:endParaRPr lang="zh-CN" altLang="en-US" sz="2800">
              <a:solidFill>
                <a:srgbClr val="A50021"/>
              </a:solidFill>
              <a:ea typeface="楷体_GB2312" charset="0"/>
            </a:endParaRPr>
          </a:p>
          <a:p>
            <a:pPr eaLnBrk="0" hangingPunct="0">
              <a:lnSpc>
                <a:spcPct val="110000"/>
              </a:lnSpc>
            </a:pPr>
            <a:r>
              <a:rPr lang="zh-CN" altLang="en-US" sz="2800">
                <a:solidFill>
                  <a:srgbClr val="A50021"/>
                </a:solidFill>
                <a:ea typeface="楷体_GB2312" charset="0"/>
              </a:rPr>
              <a:t>           </a:t>
            </a:r>
            <a:r>
              <a:rPr lang="zh-CN" altLang="en-US" sz="2800" b="1">
                <a:solidFill>
                  <a:srgbClr val="A50021"/>
                </a:solidFill>
                <a:ea typeface="楷体_GB2312" charset="0"/>
              </a:rPr>
              <a:t>若</a:t>
            </a:r>
            <a:r>
              <a:rPr lang="zh-CN" altLang="en-US" sz="2800">
                <a:solidFill>
                  <a:srgbClr val="A50021"/>
                </a:solidFill>
                <a:ea typeface="楷体_GB2312" charset="0"/>
              </a:rPr>
              <a:t>该位置是出口位置，</a:t>
            </a:r>
            <a:r>
              <a:rPr lang="zh-CN" altLang="en-US" sz="2800" b="1">
                <a:solidFill>
                  <a:srgbClr val="A50021"/>
                </a:solidFill>
                <a:ea typeface="楷体_GB2312" charset="0"/>
              </a:rPr>
              <a:t>则</a:t>
            </a:r>
            <a:r>
              <a:rPr lang="zh-CN" altLang="en-US" sz="2800">
                <a:solidFill>
                  <a:srgbClr val="A50021"/>
                </a:solidFill>
                <a:ea typeface="楷体_GB2312" charset="0"/>
              </a:rPr>
              <a:t>算法结束；            </a:t>
            </a:r>
            <a:endParaRPr lang="zh-CN" altLang="en-US" sz="2800">
              <a:solidFill>
                <a:srgbClr val="A50021"/>
              </a:solidFill>
              <a:ea typeface="楷体_GB2312" charset="0"/>
            </a:endParaRPr>
          </a:p>
          <a:p>
            <a:pPr eaLnBrk="0" hangingPunct="0">
              <a:lnSpc>
                <a:spcPct val="110000"/>
              </a:lnSpc>
            </a:pPr>
            <a:r>
              <a:rPr lang="zh-CN" altLang="en-US" sz="2800" b="1">
                <a:solidFill>
                  <a:srgbClr val="A50021"/>
                </a:solidFill>
                <a:ea typeface="楷体_GB2312" charset="0"/>
              </a:rPr>
              <a:t>           否则切换</a:t>
            </a:r>
            <a:r>
              <a:rPr lang="zh-CN" altLang="en-US" sz="2800">
                <a:solidFill>
                  <a:srgbClr val="A50021"/>
                </a:solidFill>
                <a:ea typeface="楷体_GB2312" charset="0"/>
              </a:rPr>
              <a:t>当前位置的东邻方块为</a:t>
            </a:r>
            <a:endParaRPr lang="zh-CN" altLang="en-US" sz="2800">
              <a:solidFill>
                <a:srgbClr val="A50021"/>
              </a:solidFill>
              <a:ea typeface="楷体_GB2312" charset="0"/>
            </a:endParaRPr>
          </a:p>
          <a:p>
            <a:pPr eaLnBrk="0" hangingPunct="0">
              <a:lnSpc>
                <a:spcPct val="110000"/>
              </a:lnSpc>
            </a:pPr>
            <a:r>
              <a:rPr lang="zh-CN" altLang="en-US" sz="2800">
                <a:solidFill>
                  <a:srgbClr val="A50021"/>
                </a:solidFill>
                <a:ea typeface="楷体_GB2312" charset="0"/>
              </a:rPr>
              <a:t>                   新的当前位置；</a:t>
            </a:r>
            <a:endParaRPr lang="zh-CN" altLang="en-US" sz="2800">
              <a:solidFill>
                <a:srgbClr val="A50021"/>
              </a:solidFill>
              <a:ea typeface="楷体_GB2312" charset="0"/>
            </a:endParaRPr>
          </a:p>
          <a:p>
            <a:pPr eaLnBrk="0" hangingPunct="0">
              <a:lnSpc>
                <a:spcPct val="110000"/>
              </a:lnSpc>
            </a:pPr>
            <a:r>
              <a:rPr lang="zh-CN" altLang="en-US" sz="2800">
                <a:solidFill>
                  <a:srgbClr val="A50021"/>
                </a:solidFill>
                <a:ea typeface="楷体_GB2312" charset="0"/>
              </a:rPr>
              <a:t>   </a:t>
            </a:r>
            <a:r>
              <a:rPr lang="zh-CN" altLang="en-US" sz="2800" b="1">
                <a:solidFill>
                  <a:srgbClr val="A50021"/>
                </a:solidFill>
                <a:ea typeface="楷体_GB2312" charset="0"/>
              </a:rPr>
              <a:t>｝</a:t>
            </a:r>
            <a:endParaRPr lang="zh-CN" altLang="en-US" sz="2800">
              <a:solidFill>
                <a:srgbClr val="A50021"/>
              </a:solidFill>
              <a:ea typeface="楷体_GB2312" charset="0"/>
            </a:endParaRPr>
          </a:p>
          <a:p>
            <a:pPr eaLnBrk="0" hangingPunct="0">
              <a:lnSpc>
                <a:spcPct val="110000"/>
              </a:lnSpc>
            </a:pPr>
            <a:r>
              <a:rPr lang="zh-CN" altLang="en-US" sz="2800">
                <a:solidFill>
                  <a:srgbClr val="A50021"/>
                </a:solidFill>
                <a:ea typeface="楷体_GB2312" charset="0"/>
              </a:rPr>
              <a:t>   </a:t>
            </a:r>
            <a:r>
              <a:rPr lang="zh-CN" altLang="en-US" sz="2800" b="1">
                <a:solidFill>
                  <a:srgbClr val="A50021"/>
                </a:solidFill>
                <a:ea typeface="楷体_GB2312" charset="0"/>
              </a:rPr>
              <a:t>否则 </a:t>
            </a:r>
            <a:r>
              <a:rPr lang="en-US" altLang="zh-CN" sz="2800" b="1">
                <a:solidFill>
                  <a:srgbClr val="A50021"/>
                </a:solidFill>
                <a:ea typeface="楷体_GB2312" charset="0"/>
              </a:rPr>
              <a:t>{</a:t>
            </a:r>
            <a:endParaRPr lang="en-US" altLang="zh-CN" sz="2800">
              <a:solidFill>
                <a:srgbClr val="A50021"/>
              </a:solidFill>
              <a:ea typeface="楷体_GB2312" charset="0"/>
            </a:endParaRPr>
          </a:p>
          <a:p>
            <a:pPr eaLnBrk="0" hangingPunct="0">
              <a:lnSpc>
                <a:spcPct val="110000"/>
              </a:lnSpc>
            </a:pPr>
            <a:r>
              <a:rPr lang="en-US" altLang="zh-CN" sz="2800">
                <a:solidFill>
                  <a:srgbClr val="A50021"/>
                </a:solidFill>
                <a:ea typeface="楷体_GB2312" charset="0"/>
              </a:rPr>
              <a:t>   </a:t>
            </a:r>
            <a:r>
              <a:rPr lang="zh-CN" altLang="en-US" sz="2800" b="1">
                <a:solidFill>
                  <a:srgbClr val="A50021"/>
                </a:solidFill>
                <a:ea typeface="楷体_GB2312" charset="0"/>
              </a:rPr>
              <a:t>｝</a:t>
            </a:r>
            <a:endParaRPr lang="zh-CN" altLang="en-US" sz="2800">
              <a:solidFill>
                <a:srgbClr val="A50021"/>
              </a:solidFill>
              <a:ea typeface="楷体_GB2312" charset="0"/>
            </a:endParaRPr>
          </a:p>
          <a:p>
            <a:pPr eaLnBrk="0" hangingPunct="0">
              <a:lnSpc>
                <a:spcPct val="110000"/>
              </a:lnSpc>
            </a:pPr>
            <a:r>
              <a:rPr lang="zh-CN" altLang="en-US" sz="2800" b="1">
                <a:solidFill>
                  <a:srgbClr val="A50021"/>
                </a:solidFill>
                <a:ea typeface="楷体_GB2312" charset="0"/>
              </a:rPr>
              <a:t>｝</a:t>
            </a:r>
            <a:r>
              <a:rPr lang="en-US" altLang="zh-CN" sz="2800" b="1">
                <a:solidFill>
                  <a:srgbClr val="A50021"/>
                </a:solidFill>
                <a:ea typeface="楷体_GB2312" charset="0"/>
              </a:rPr>
              <a:t>while (</a:t>
            </a:r>
            <a:r>
              <a:rPr lang="zh-CN" altLang="en-US" sz="2800" b="1">
                <a:solidFill>
                  <a:srgbClr val="A50021"/>
                </a:solidFill>
                <a:ea typeface="楷体_GB2312" charset="0"/>
              </a:rPr>
              <a:t>栈不空）</a:t>
            </a:r>
            <a:r>
              <a:rPr lang="zh-CN" altLang="en-US" sz="2800">
                <a:solidFill>
                  <a:srgbClr val="A50021"/>
                </a:solidFill>
                <a:ea typeface="楷体_GB2312" charset="0"/>
              </a:rPr>
              <a:t>；</a:t>
            </a:r>
            <a:endParaRPr lang="zh-CN" altLang="en-US" sz="2800"/>
          </a:p>
        </p:txBody>
      </p:sp>
      <p:sp>
        <p:nvSpPr>
          <p:cNvPr id="1061891" name="Text Box 3"/>
          <p:cNvSpPr txBox="1">
            <a:spLocks noChangeArrowheads="1"/>
          </p:cNvSpPr>
          <p:nvPr/>
        </p:nvSpPr>
        <p:spPr bwMode="auto">
          <a:xfrm>
            <a:off x="1371600" y="152400"/>
            <a:ext cx="77724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3200" b="1">
                <a:ea typeface="楷体_GB2312" charset="0"/>
              </a:rPr>
              <a:t>求迷宫中一条从入口到出口的路径的算法</a:t>
            </a:r>
            <a:endParaRPr lang="zh-CN" altLang="en-US" sz="3200" b="1"/>
          </a:p>
        </p:txBody>
      </p:sp>
      <p:sp>
        <p:nvSpPr>
          <p:cNvPr id="1061892" name="Text Box 4">
            <a:hlinkClick r:id="" action="ppaction://hlinkshowjump?jump=nextslide"/>
          </p:cNvPr>
          <p:cNvSpPr txBox="1">
            <a:spLocks noChangeArrowheads="1"/>
          </p:cNvSpPr>
          <p:nvPr/>
        </p:nvSpPr>
        <p:spPr bwMode="auto">
          <a:xfrm>
            <a:off x="2346325" y="5048250"/>
            <a:ext cx="13970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3200" b="1">
                <a:solidFill>
                  <a:srgbClr val="A50021"/>
                </a:solidFill>
                <a:latin typeface="楷体_GB2312" charset="0"/>
                <a:ea typeface="楷体_GB2312" charset="0"/>
              </a:rPr>
              <a:t> </a:t>
            </a:r>
            <a:r>
              <a:rPr lang="en-US" altLang="zh-CN" sz="3200" b="1">
                <a:solidFill>
                  <a:srgbClr val="A50021"/>
                </a:solidFill>
                <a:ea typeface="楷体_GB2312" charset="0"/>
              </a:rPr>
              <a:t>…</a:t>
            </a:r>
            <a:r>
              <a:rPr lang="en-US" altLang="zh-CN" sz="3200" b="1">
                <a:solidFill>
                  <a:srgbClr val="A50021"/>
                </a:solidFill>
                <a:latin typeface="楷体_GB2312" charset="0"/>
                <a:ea typeface="楷体_GB2312" charset="0"/>
              </a:rPr>
              <a:t> </a:t>
            </a:r>
            <a:r>
              <a:rPr lang="en-US" altLang="zh-CN" sz="3200" b="1">
                <a:solidFill>
                  <a:srgbClr val="A50021"/>
                </a:solidFill>
                <a:ea typeface="楷体_GB2312" charset="0"/>
              </a:rPr>
              <a:t>…</a:t>
            </a:r>
            <a:endParaRPr lang="en-US" altLang="zh-CN" sz="3200" b="1">
              <a:solidFill>
                <a:srgbClr val="A50021"/>
              </a:solidFill>
              <a:latin typeface="楷体_GB2312" charset="0"/>
              <a:ea typeface="楷体_GB2312" charset="0"/>
            </a:endParaRPr>
          </a:p>
        </p:txBody>
      </p:sp>
      <p:sp>
        <p:nvSpPr>
          <p:cNvPr id="1061893" name="AutoShape 5">
            <a:hlinkClick r:id="" action="ppaction://hlinkshowjump?jump=lastslideviewed" highlightClick="1"/>
          </p:cNvPr>
          <p:cNvSpPr>
            <a:spLocks noChangeArrowheads="1"/>
          </p:cNvSpPr>
          <p:nvPr/>
        </p:nvSpPr>
        <p:spPr bwMode="auto">
          <a:xfrm>
            <a:off x="8610600" y="6324600"/>
            <a:ext cx="304800" cy="304800"/>
          </a:xfrm>
          <a:prstGeom prst="actionButtonReturn">
            <a:avLst/>
          </a:prstGeom>
          <a:solidFill>
            <a:srgbClr val="FF5050"/>
          </a:solidFill>
          <a:ln w="9525">
            <a:solidFill>
              <a:srgbClr val="800000"/>
            </a:solid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1061890"/>
                                        </p:tgtEl>
                                        <p:attrNameLst>
                                          <p:attrName>style.visibility</p:attrName>
                                        </p:attrNameLst>
                                      </p:cBhvr>
                                      <p:to>
                                        <p:strVal val="visible"/>
                                      </p:to>
                                    </p:set>
                                    <p:animEffect transition="in" filter="strips(upLeft)">
                                      <p:cBhvr>
                                        <p:cTn id="7" dur="500"/>
                                        <p:tgtEl>
                                          <p:spTgt spid="106189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061892"/>
                                        </p:tgtEl>
                                        <p:attrNameLst>
                                          <p:attrName>style.visibility</p:attrName>
                                        </p:attrNameLst>
                                      </p:cBhvr>
                                      <p:to>
                                        <p:strVal val="visible"/>
                                      </p:to>
                                    </p:set>
                                  </p:childTnLst>
                                </p:cTn>
                              </p:par>
                            </p:childTnLst>
                          </p:cTn>
                        </p:par>
                        <p:par>
                          <p:cTn id="11" fill="hold">
                            <p:stCondLst>
                              <p:cond delay="1000"/>
                            </p:stCondLst>
                            <p:childTnLst>
                              <p:par>
                                <p:cTn id="12" presetID="2" presetClass="entr" presetSubtype="4" fill="hold" grpId="0" nodeType="afterEffect">
                                  <p:stCondLst>
                                    <p:cond delay="0"/>
                                  </p:stCondLst>
                                  <p:childTnLst>
                                    <p:set>
                                      <p:cBhvr>
                                        <p:cTn id="13" dur="1" fill="hold">
                                          <p:stCondLst>
                                            <p:cond delay="0"/>
                                          </p:stCondLst>
                                        </p:cTn>
                                        <p:tgtEl>
                                          <p:spTgt spid="1061893"/>
                                        </p:tgtEl>
                                        <p:attrNameLst>
                                          <p:attrName>style.visibility</p:attrName>
                                        </p:attrNameLst>
                                      </p:cBhvr>
                                      <p:to>
                                        <p:strVal val="visible"/>
                                      </p:to>
                                    </p:set>
                                    <p:anim calcmode="lin" valueType="num">
                                      <p:cBhvr additive="base">
                                        <p:cTn id="14" dur="500" fill="hold"/>
                                        <p:tgtEl>
                                          <p:spTgt spid="1061893"/>
                                        </p:tgtEl>
                                        <p:attrNameLst>
                                          <p:attrName>ppt_x</p:attrName>
                                        </p:attrNameLst>
                                      </p:cBhvr>
                                      <p:tavLst>
                                        <p:tav tm="0">
                                          <p:val>
                                            <p:strVal val="#ppt_x"/>
                                          </p:val>
                                        </p:tav>
                                        <p:tav tm="100000">
                                          <p:val>
                                            <p:strVal val="#ppt_x"/>
                                          </p:val>
                                        </p:tav>
                                      </p:tavLst>
                                    </p:anim>
                                    <p:anim calcmode="lin" valueType="num">
                                      <p:cBhvr additive="base">
                                        <p:cTn id="15" dur="500" fill="hold"/>
                                        <p:tgtEl>
                                          <p:spTgt spid="10618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1890" grpId="0" autoUpdateAnimBg="0"/>
      <p:bldP spid="1061892" grpId="0" autoUpdateAnimBg="0"/>
      <p:bldP spid="106189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4" name="Text Box 2"/>
          <p:cNvSpPr txBox="1">
            <a:spLocks noChangeArrowheads="1"/>
          </p:cNvSpPr>
          <p:nvPr/>
        </p:nvSpPr>
        <p:spPr bwMode="auto">
          <a:xfrm>
            <a:off x="304800" y="1417638"/>
            <a:ext cx="8839200" cy="1630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2800" b="1">
                <a:solidFill>
                  <a:srgbClr val="A50021"/>
                </a:solidFill>
                <a:ea typeface="楷体_GB2312" charset="0"/>
              </a:rPr>
              <a:t>若</a:t>
            </a:r>
            <a:r>
              <a:rPr lang="zh-CN" altLang="en-US" sz="2800" b="1">
                <a:solidFill>
                  <a:srgbClr val="660033"/>
                </a:solidFill>
                <a:ea typeface="楷体_GB2312" charset="0"/>
              </a:rPr>
              <a:t>栈不空且栈顶位置尚有其他方向未被探索</a:t>
            </a:r>
            <a:r>
              <a:rPr lang="zh-CN" altLang="en-US" sz="2800">
                <a:solidFill>
                  <a:srgbClr val="A50021"/>
                </a:solidFill>
                <a:ea typeface="楷体_GB2312" charset="0"/>
              </a:rPr>
              <a:t>，</a:t>
            </a:r>
            <a:endParaRPr lang="zh-CN" altLang="en-US" sz="2800">
              <a:solidFill>
                <a:srgbClr val="A50021"/>
              </a:solidFill>
              <a:ea typeface="楷体_GB2312" charset="0"/>
            </a:endParaRPr>
          </a:p>
          <a:p>
            <a:pPr eaLnBrk="0" hangingPunct="0">
              <a:lnSpc>
                <a:spcPct val="120000"/>
              </a:lnSpc>
            </a:pPr>
            <a:r>
              <a:rPr lang="zh-CN" altLang="en-US" sz="2800" b="1">
                <a:solidFill>
                  <a:srgbClr val="A50021"/>
                </a:solidFill>
                <a:ea typeface="楷体_GB2312" charset="0"/>
              </a:rPr>
              <a:t>则</a:t>
            </a:r>
            <a:r>
              <a:rPr lang="zh-CN" altLang="en-US" sz="2800">
                <a:solidFill>
                  <a:srgbClr val="A50021"/>
                </a:solidFill>
                <a:ea typeface="楷体_GB2312" charset="0"/>
              </a:rPr>
              <a:t>设定新的当前位置为</a:t>
            </a:r>
            <a:r>
              <a:rPr lang="en-US" altLang="zh-CN" sz="2800">
                <a:solidFill>
                  <a:srgbClr val="A50021"/>
                </a:solidFill>
                <a:ea typeface="楷体_GB2312" charset="0"/>
              </a:rPr>
              <a:t>: </a:t>
            </a:r>
            <a:r>
              <a:rPr lang="zh-CN" altLang="en-US" sz="2800">
                <a:solidFill>
                  <a:srgbClr val="A50021"/>
                </a:solidFill>
                <a:ea typeface="楷体_GB2312" charset="0"/>
              </a:rPr>
              <a:t>沿顺时针方向旋转</a:t>
            </a:r>
            <a:endParaRPr lang="zh-CN" altLang="en-US" sz="2800">
              <a:solidFill>
                <a:srgbClr val="A50021"/>
              </a:solidFill>
              <a:ea typeface="楷体_GB2312" charset="0"/>
            </a:endParaRPr>
          </a:p>
          <a:p>
            <a:pPr eaLnBrk="0" hangingPunct="0">
              <a:lnSpc>
                <a:spcPct val="120000"/>
              </a:lnSpc>
            </a:pPr>
            <a:r>
              <a:rPr lang="zh-CN" altLang="en-US" sz="2800">
                <a:solidFill>
                  <a:srgbClr val="A50021"/>
                </a:solidFill>
                <a:ea typeface="楷体_GB2312" charset="0"/>
              </a:rPr>
              <a:t>            找到的</a:t>
            </a:r>
            <a:r>
              <a:rPr lang="zh-CN" altLang="en-US" sz="2800" b="1">
                <a:solidFill>
                  <a:srgbClr val="A50021"/>
                </a:solidFill>
                <a:ea typeface="楷体_GB2312" charset="0"/>
              </a:rPr>
              <a:t>栈顶位置的下一相邻块</a:t>
            </a:r>
            <a:r>
              <a:rPr lang="zh-CN" altLang="en-US" sz="2800">
                <a:solidFill>
                  <a:srgbClr val="A50021"/>
                </a:solidFill>
                <a:ea typeface="楷体_GB2312" charset="0"/>
              </a:rPr>
              <a:t>；</a:t>
            </a:r>
            <a:endParaRPr lang="zh-CN" altLang="en-US" sz="2800">
              <a:solidFill>
                <a:srgbClr val="A50021"/>
              </a:solidFill>
              <a:ea typeface="楷体_GB2312" charset="0"/>
            </a:endParaRPr>
          </a:p>
        </p:txBody>
      </p:sp>
      <p:sp>
        <p:nvSpPr>
          <p:cNvPr id="1062915" name="Text Box 3"/>
          <p:cNvSpPr txBox="1">
            <a:spLocks noChangeArrowheads="1"/>
          </p:cNvSpPr>
          <p:nvPr/>
        </p:nvSpPr>
        <p:spPr bwMode="auto">
          <a:xfrm>
            <a:off x="288925" y="3398838"/>
            <a:ext cx="8855075" cy="2655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2800" b="1">
                <a:solidFill>
                  <a:srgbClr val="A50021"/>
                </a:solidFill>
                <a:ea typeface="楷体_GB2312" charset="0"/>
              </a:rPr>
              <a:t>若</a:t>
            </a:r>
            <a:r>
              <a:rPr lang="zh-CN" altLang="en-US" sz="2800" b="1">
                <a:solidFill>
                  <a:srgbClr val="660033"/>
                </a:solidFill>
                <a:ea typeface="楷体_GB2312" charset="0"/>
              </a:rPr>
              <a:t>栈不空但栈顶位置的四周均不可通</a:t>
            </a:r>
            <a:r>
              <a:rPr lang="zh-CN" altLang="en-US" sz="2800">
                <a:solidFill>
                  <a:srgbClr val="A50021"/>
                </a:solidFill>
                <a:ea typeface="楷体_GB2312" charset="0"/>
              </a:rPr>
              <a:t>，</a:t>
            </a:r>
            <a:endParaRPr lang="zh-CN" altLang="en-US" sz="2800">
              <a:solidFill>
                <a:srgbClr val="A50021"/>
              </a:solidFill>
              <a:ea typeface="楷体_GB2312" charset="0"/>
            </a:endParaRPr>
          </a:p>
          <a:p>
            <a:pPr eaLnBrk="0" hangingPunct="0">
              <a:lnSpc>
                <a:spcPct val="120000"/>
              </a:lnSpc>
            </a:pPr>
            <a:r>
              <a:rPr lang="zh-CN" altLang="en-US" sz="2800" b="1">
                <a:solidFill>
                  <a:srgbClr val="A50021"/>
                </a:solidFill>
                <a:ea typeface="楷体_GB2312" charset="0"/>
              </a:rPr>
              <a:t>则｛</a:t>
            </a:r>
            <a:r>
              <a:rPr lang="zh-CN" altLang="en-US" sz="2800">
                <a:solidFill>
                  <a:srgbClr val="A50021"/>
                </a:solidFill>
                <a:ea typeface="楷体_GB2312" charset="0"/>
              </a:rPr>
              <a:t>删去栈顶位置；</a:t>
            </a:r>
            <a:r>
              <a:rPr lang="en-US" altLang="zh-CN" sz="2800">
                <a:solidFill>
                  <a:srgbClr val="A50021"/>
                </a:solidFill>
                <a:ea typeface="楷体_GB2312" charset="0"/>
              </a:rPr>
              <a:t>// </a:t>
            </a:r>
            <a:r>
              <a:rPr lang="zh-CN" altLang="en-US" sz="2800">
                <a:solidFill>
                  <a:srgbClr val="A50021"/>
                </a:solidFill>
                <a:ea typeface="楷体_GB2312" charset="0"/>
              </a:rPr>
              <a:t>从路径中删去该通道块                   </a:t>
            </a:r>
            <a:endParaRPr lang="zh-CN" altLang="en-US" sz="2800">
              <a:solidFill>
                <a:srgbClr val="A50021"/>
              </a:solidFill>
              <a:ea typeface="楷体_GB2312" charset="0"/>
            </a:endParaRPr>
          </a:p>
          <a:p>
            <a:pPr eaLnBrk="0" hangingPunct="0">
              <a:lnSpc>
                <a:spcPct val="120000"/>
              </a:lnSpc>
            </a:pPr>
            <a:r>
              <a:rPr lang="zh-CN" altLang="en-US" sz="2800">
                <a:solidFill>
                  <a:srgbClr val="A50021"/>
                </a:solidFill>
                <a:ea typeface="楷体_GB2312" charset="0"/>
              </a:rPr>
              <a:t>        </a:t>
            </a:r>
            <a:r>
              <a:rPr lang="zh-CN" altLang="en-US" sz="2800" b="1">
                <a:solidFill>
                  <a:srgbClr val="A50021"/>
                </a:solidFill>
                <a:ea typeface="楷体_GB2312" charset="0"/>
              </a:rPr>
              <a:t>若</a:t>
            </a:r>
            <a:r>
              <a:rPr lang="zh-CN" altLang="en-US" sz="2800">
                <a:solidFill>
                  <a:srgbClr val="A50021"/>
                </a:solidFill>
                <a:ea typeface="楷体_GB2312" charset="0"/>
              </a:rPr>
              <a:t>栈不空，</a:t>
            </a:r>
            <a:r>
              <a:rPr lang="zh-CN" altLang="en-US" sz="2800" b="1">
                <a:solidFill>
                  <a:srgbClr val="A50021"/>
                </a:solidFill>
                <a:ea typeface="楷体_GB2312" charset="0"/>
              </a:rPr>
              <a:t>则</a:t>
            </a:r>
            <a:r>
              <a:rPr lang="zh-CN" altLang="en-US" sz="2800">
                <a:solidFill>
                  <a:srgbClr val="A50021"/>
                </a:solidFill>
                <a:ea typeface="楷体_GB2312" charset="0"/>
              </a:rPr>
              <a:t>重新测试新的栈顶位置，</a:t>
            </a:r>
            <a:endParaRPr lang="zh-CN" altLang="en-US" sz="2800">
              <a:solidFill>
                <a:srgbClr val="A50021"/>
              </a:solidFill>
              <a:ea typeface="楷体_GB2312" charset="0"/>
            </a:endParaRPr>
          </a:p>
          <a:p>
            <a:pPr eaLnBrk="0" hangingPunct="0">
              <a:lnSpc>
                <a:spcPct val="120000"/>
              </a:lnSpc>
            </a:pPr>
            <a:r>
              <a:rPr lang="zh-CN" altLang="en-US" sz="2800">
                <a:solidFill>
                  <a:srgbClr val="A50021"/>
                </a:solidFill>
                <a:ea typeface="楷体_GB2312" charset="0"/>
              </a:rPr>
              <a:t>        </a:t>
            </a:r>
            <a:r>
              <a:rPr lang="zh-CN" altLang="en-US" sz="2800" b="1">
                <a:solidFill>
                  <a:srgbClr val="A50021"/>
                </a:solidFill>
                <a:ea typeface="楷体_GB2312" charset="0"/>
              </a:rPr>
              <a:t>直至</a:t>
            </a:r>
            <a:r>
              <a:rPr lang="zh-CN" altLang="en-US" sz="2800">
                <a:solidFill>
                  <a:srgbClr val="A50021"/>
                </a:solidFill>
                <a:ea typeface="楷体_GB2312" charset="0"/>
              </a:rPr>
              <a:t>找到一个可通的相邻块或出栈至栈空；</a:t>
            </a:r>
            <a:endParaRPr lang="zh-CN" altLang="en-US" sz="2800">
              <a:solidFill>
                <a:srgbClr val="A50021"/>
              </a:solidFill>
              <a:ea typeface="楷体_GB2312" charset="0"/>
            </a:endParaRPr>
          </a:p>
          <a:p>
            <a:pPr eaLnBrk="0" hangingPunct="0">
              <a:lnSpc>
                <a:spcPct val="120000"/>
              </a:lnSpc>
            </a:pPr>
            <a:r>
              <a:rPr lang="zh-CN" altLang="en-US" sz="2800" b="1">
                <a:solidFill>
                  <a:srgbClr val="A50021"/>
                </a:solidFill>
                <a:ea typeface="楷体_GB2312" charset="0"/>
              </a:rPr>
              <a:t>｝</a:t>
            </a:r>
            <a:endParaRPr lang="zh-CN" altLang="en-US" sz="3600"/>
          </a:p>
        </p:txBody>
      </p:sp>
      <p:sp>
        <p:nvSpPr>
          <p:cNvPr id="1062916" name="Text Box 4"/>
          <p:cNvSpPr txBox="1">
            <a:spLocks noChangeArrowheads="1"/>
          </p:cNvSpPr>
          <p:nvPr/>
        </p:nvSpPr>
        <p:spPr bwMode="auto">
          <a:xfrm>
            <a:off x="304800" y="6172200"/>
            <a:ext cx="51689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2800" b="1">
                <a:solidFill>
                  <a:srgbClr val="A50021"/>
                </a:solidFill>
                <a:ea typeface="楷体_GB2312" charset="0"/>
              </a:rPr>
              <a:t>若</a:t>
            </a:r>
            <a:r>
              <a:rPr lang="zh-CN" altLang="en-US" sz="2800" b="1">
                <a:solidFill>
                  <a:srgbClr val="660033"/>
                </a:solidFill>
                <a:ea typeface="楷体_GB2312" charset="0"/>
              </a:rPr>
              <a:t>栈空</a:t>
            </a:r>
            <a:r>
              <a:rPr lang="zh-CN" altLang="en-US" sz="2800">
                <a:solidFill>
                  <a:srgbClr val="A50021"/>
                </a:solidFill>
                <a:ea typeface="楷体_GB2312" charset="0"/>
              </a:rPr>
              <a:t>，</a:t>
            </a:r>
            <a:r>
              <a:rPr lang="zh-CN" altLang="en-US" sz="2800" b="1">
                <a:solidFill>
                  <a:srgbClr val="A50021"/>
                </a:solidFill>
                <a:ea typeface="楷体_GB2312" charset="0"/>
              </a:rPr>
              <a:t>则</a:t>
            </a:r>
            <a:r>
              <a:rPr lang="zh-CN" altLang="en-US" sz="2800">
                <a:solidFill>
                  <a:srgbClr val="A50021"/>
                </a:solidFill>
                <a:ea typeface="楷体_GB2312" charset="0"/>
              </a:rPr>
              <a:t>表明迷宫没有通路。</a:t>
            </a:r>
            <a:endParaRPr lang="zh-CN" altLang="en-US" sz="3600"/>
          </a:p>
        </p:txBody>
      </p:sp>
      <p:sp>
        <p:nvSpPr>
          <p:cNvPr id="1062918" name="AutoShape 6">
            <a:hlinkClick r:id="rId1"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062914"/>
                                        </p:tgtEl>
                                        <p:attrNameLst>
                                          <p:attrName>style.visibility</p:attrName>
                                        </p:attrNameLst>
                                      </p:cBhvr>
                                      <p:to>
                                        <p:strVal val="visible"/>
                                      </p:to>
                                    </p:set>
                                    <p:animEffect transition="in" filter="barn(outVertical)">
                                      <p:cBhvr>
                                        <p:cTn id="7" dur="500"/>
                                        <p:tgtEl>
                                          <p:spTgt spid="10629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062915"/>
                                        </p:tgtEl>
                                        <p:attrNameLst>
                                          <p:attrName>style.visibility</p:attrName>
                                        </p:attrNameLst>
                                      </p:cBhvr>
                                      <p:to>
                                        <p:strVal val="visible"/>
                                      </p:to>
                                    </p:set>
                                    <p:animEffect transition="in" filter="barn(outVertical)">
                                      <p:cBhvr>
                                        <p:cTn id="12" dur="500"/>
                                        <p:tgtEl>
                                          <p:spTgt spid="106291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062916"/>
                                        </p:tgtEl>
                                        <p:attrNameLst>
                                          <p:attrName>style.visibility</p:attrName>
                                        </p:attrNameLst>
                                      </p:cBhvr>
                                      <p:to>
                                        <p:strVal val="visible"/>
                                      </p:to>
                                    </p:set>
                                    <p:animEffect transition="in" filter="barn(outVertical)">
                                      <p:cBhvr>
                                        <p:cTn id="17" dur="500"/>
                                        <p:tgtEl>
                                          <p:spTgt spid="1062916"/>
                                        </p:tgtEl>
                                      </p:cBhvr>
                                    </p:animEffect>
                                  </p:childTnLst>
                                </p:cTn>
                              </p:par>
                            </p:childTnLst>
                          </p:cTn>
                        </p:par>
                        <p:par>
                          <p:cTn id="18" fill="hold">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1062918"/>
                                        </p:tgtEl>
                                        <p:attrNameLst>
                                          <p:attrName>style.visibility</p:attrName>
                                        </p:attrNameLst>
                                      </p:cBhvr>
                                      <p:to>
                                        <p:strVal val="visible"/>
                                      </p:to>
                                    </p:set>
                                    <p:anim calcmode="lin" valueType="num">
                                      <p:cBhvr additive="base">
                                        <p:cTn id="21" dur="500" fill="hold"/>
                                        <p:tgtEl>
                                          <p:spTgt spid="1062918"/>
                                        </p:tgtEl>
                                        <p:attrNameLst>
                                          <p:attrName>ppt_x</p:attrName>
                                        </p:attrNameLst>
                                      </p:cBhvr>
                                      <p:tavLst>
                                        <p:tav tm="0">
                                          <p:val>
                                            <p:strVal val="1+#ppt_w/2"/>
                                          </p:val>
                                        </p:tav>
                                        <p:tav tm="100000">
                                          <p:val>
                                            <p:strVal val="#ppt_x"/>
                                          </p:val>
                                        </p:tav>
                                      </p:tavLst>
                                    </p:anim>
                                    <p:anim calcmode="lin" valueType="num">
                                      <p:cBhvr additive="base">
                                        <p:cTn id="22" dur="500" fill="hold"/>
                                        <p:tgtEl>
                                          <p:spTgt spid="10629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14" grpId="0" autoUpdateAnimBg="0"/>
      <p:bldP spid="1062915" grpId="0" autoUpdateAnimBg="0"/>
      <p:bldP spid="1062916" grpId="0" autoUpdateAnimBg="0"/>
      <p:bldP spid="10629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9650" name="Freeform 2"/>
          <p:cNvSpPr/>
          <p:nvPr/>
        </p:nvSpPr>
        <p:spPr bwMode="auto">
          <a:xfrm>
            <a:off x="5295900" y="1657350"/>
            <a:ext cx="914400" cy="965200"/>
          </a:xfrm>
          <a:custGeom>
            <a:avLst/>
            <a:gdLst>
              <a:gd name="T0" fmla="*/ 288 w 736"/>
              <a:gd name="T1" fmla="*/ 104 h 816"/>
              <a:gd name="T2" fmla="*/ 576 w 736"/>
              <a:gd name="T3" fmla="*/ 56 h 816"/>
              <a:gd name="T4" fmla="*/ 720 w 736"/>
              <a:gd name="T5" fmla="*/ 440 h 816"/>
              <a:gd name="T6" fmla="*/ 480 w 736"/>
              <a:gd name="T7" fmla="*/ 776 h 816"/>
              <a:gd name="T8" fmla="*/ 48 w 736"/>
              <a:gd name="T9" fmla="*/ 680 h 816"/>
              <a:gd name="T10" fmla="*/ 192 w 736"/>
              <a:gd name="T11" fmla="*/ 392 h 816"/>
              <a:gd name="T12" fmla="*/ 192 w 736"/>
              <a:gd name="T13" fmla="*/ 200 h 816"/>
              <a:gd name="T14" fmla="*/ 288 w 736"/>
              <a:gd name="T15" fmla="*/ 104 h 8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6" h="816">
                <a:moveTo>
                  <a:pt x="288" y="104"/>
                </a:moveTo>
                <a:cubicBezTo>
                  <a:pt x="352" y="80"/>
                  <a:pt x="504" y="0"/>
                  <a:pt x="576" y="56"/>
                </a:cubicBezTo>
                <a:cubicBezTo>
                  <a:pt x="648" y="112"/>
                  <a:pt x="736" y="320"/>
                  <a:pt x="720" y="440"/>
                </a:cubicBezTo>
                <a:cubicBezTo>
                  <a:pt x="704" y="560"/>
                  <a:pt x="592" y="736"/>
                  <a:pt x="480" y="776"/>
                </a:cubicBezTo>
                <a:cubicBezTo>
                  <a:pt x="368" y="816"/>
                  <a:pt x="96" y="744"/>
                  <a:pt x="48" y="680"/>
                </a:cubicBezTo>
                <a:cubicBezTo>
                  <a:pt x="0" y="616"/>
                  <a:pt x="168" y="472"/>
                  <a:pt x="192" y="392"/>
                </a:cubicBezTo>
                <a:cubicBezTo>
                  <a:pt x="216" y="312"/>
                  <a:pt x="176" y="248"/>
                  <a:pt x="192" y="200"/>
                </a:cubicBezTo>
                <a:cubicBezTo>
                  <a:pt x="208" y="152"/>
                  <a:pt x="224" y="128"/>
                  <a:pt x="288" y="104"/>
                </a:cubicBezTo>
                <a:close/>
              </a:path>
            </a:pathLst>
          </a:custGeom>
          <a:solidFill>
            <a:srgbClr val="FF00FF"/>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51" name="Freeform 3"/>
          <p:cNvSpPr/>
          <p:nvPr/>
        </p:nvSpPr>
        <p:spPr bwMode="auto">
          <a:xfrm>
            <a:off x="6121400" y="1806575"/>
            <a:ext cx="1485900" cy="1768475"/>
          </a:xfrm>
          <a:custGeom>
            <a:avLst/>
            <a:gdLst>
              <a:gd name="T0" fmla="*/ 936 w 936"/>
              <a:gd name="T1" fmla="*/ 872 h 1128"/>
              <a:gd name="T2" fmla="*/ 840 w 936"/>
              <a:gd name="T3" fmla="*/ 920 h 1128"/>
              <a:gd name="T4" fmla="*/ 696 w 936"/>
              <a:gd name="T5" fmla="*/ 1016 h 1128"/>
              <a:gd name="T6" fmla="*/ 456 w 936"/>
              <a:gd name="T7" fmla="*/ 1112 h 1128"/>
              <a:gd name="T8" fmla="*/ 72 w 936"/>
              <a:gd name="T9" fmla="*/ 920 h 1128"/>
              <a:gd name="T10" fmla="*/ 24 w 936"/>
              <a:gd name="T11" fmla="*/ 488 h 1128"/>
              <a:gd name="T12" fmla="*/ 216 w 936"/>
              <a:gd name="T13" fmla="*/ 152 h 1128"/>
              <a:gd name="T14" fmla="*/ 648 w 936"/>
              <a:gd name="T15" fmla="*/ 8 h 1128"/>
              <a:gd name="T16" fmla="*/ 792 w 936"/>
              <a:gd name="T17" fmla="*/ 200 h 1128"/>
              <a:gd name="T18" fmla="*/ 888 w 936"/>
              <a:gd name="T19" fmla="*/ 392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6" h="1128">
                <a:moveTo>
                  <a:pt x="936" y="872"/>
                </a:moveTo>
                <a:cubicBezTo>
                  <a:pt x="908" y="884"/>
                  <a:pt x="880" y="896"/>
                  <a:pt x="840" y="920"/>
                </a:cubicBezTo>
                <a:cubicBezTo>
                  <a:pt x="800" y="944"/>
                  <a:pt x="760" y="984"/>
                  <a:pt x="696" y="1016"/>
                </a:cubicBezTo>
                <a:cubicBezTo>
                  <a:pt x="632" y="1048"/>
                  <a:pt x="560" y="1128"/>
                  <a:pt x="456" y="1112"/>
                </a:cubicBezTo>
                <a:cubicBezTo>
                  <a:pt x="352" y="1096"/>
                  <a:pt x="144" y="1024"/>
                  <a:pt x="72" y="920"/>
                </a:cubicBezTo>
                <a:cubicBezTo>
                  <a:pt x="0" y="816"/>
                  <a:pt x="0" y="616"/>
                  <a:pt x="24" y="488"/>
                </a:cubicBezTo>
                <a:cubicBezTo>
                  <a:pt x="48" y="360"/>
                  <a:pt x="112" y="232"/>
                  <a:pt x="216" y="152"/>
                </a:cubicBezTo>
                <a:cubicBezTo>
                  <a:pt x="320" y="72"/>
                  <a:pt x="552" y="0"/>
                  <a:pt x="648" y="8"/>
                </a:cubicBezTo>
                <a:cubicBezTo>
                  <a:pt x="744" y="16"/>
                  <a:pt x="752" y="136"/>
                  <a:pt x="792" y="200"/>
                </a:cubicBezTo>
                <a:cubicBezTo>
                  <a:pt x="832" y="264"/>
                  <a:pt x="904" y="360"/>
                  <a:pt x="888" y="392"/>
                </a:cubicBezTo>
              </a:path>
            </a:pathLst>
          </a:custGeom>
          <a:solidFill>
            <a:srgbClr val="FF0000"/>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52" name="Freeform 4"/>
          <p:cNvSpPr/>
          <p:nvPr/>
        </p:nvSpPr>
        <p:spPr bwMode="auto">
          <a:xfrm>
            <a:off x="7296150" y="1949450"/>
            <a:ext cx="1295400" cy="2032000"/>
          </a:xfrm>
          <a:custGeom>
            <a:avLst/>
            <a:gdLst>
              <a:gd name="T0" fmla="*/ 288 w 816"/>
              <a:gd name="T1" fmla="*/ 304 h 1296"/>
              <a:gd name="T2" fmla="*/ 384 w 816"/>
              <a:gd name="T3" fmla="*/ 64 h 1296"/>
              <a:gd name="T4" fmla="*/ 624 w 816"/>
              <a:gd name="T5" fmla="*/ 16 h 1296"/>
              <a:gd name="T6" fmla="*/ 768 w 816"/>
              <a:gd name="T7" fmla="*/ 160 h 1296"/>
              <a:gd name="T8" fmla="*/ 816 w 816"/>
              <a:gd name="T9" fmla="*/ 496 h 1296"/>
              <a:gd name="T10" fmla="*/ 768 w 816"/>
              <a:gd name="T11" fmla="*/ 976 h 1296"/>
              <a:gd name="T12" fmla="*/ 672 w 816"/>
              <a:gd name="T13" fmla="*/ 1264 h 1296"/>
              <a:gd name="T14" fmla="*/ 288 w 816"/>
              <a:gd name="T15" fmla="*/ 1168 h 1296"/>
              <a:gd name="T16" fmla="*/ 96 w 816"/>
              <a:gd name="T17" fmla="*/ 1024 h 1296"/>
              <a:gd name="T18" fmla="*/ 0 w 816"/>
              <a:gd name="T19" fmla="*/ 928 h 1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6" h="1296">
                <a:moveTo>
                  <a:pt x="288" y="304"/>
                </a:moveTo>
                <a:cubicBezTo>
                  <a:pt x="308" y="208"/>
                  <a:pt x="328" y="112"/>
                  <a:pt x="384" y="64"/>
                </a:cubicBezTo>
                <a:cubicBezTo>
                  <a:pt x="440" y="16"/>
                  <a:pt x="560" y="0"/>
                  <a:pt x="624" y="16"/>
                </a:cubicBezTo>
                <a:cubicBezTo>
                  <a:pt x="688" y="32"/>
                  <a:pt x="736" y="80"/>
                  <a:pt x="768" y="160"/>
                </a:cubicBezTo>
                <a:cubicBezTo>
                  <a:pt x="800" y="240"/>
                  <a:pt x="816" y="360"/>
                  <a:pt x="816" y="496"/>
                </a:cubicBezTo>
                <a:cubicBezTo>
                  <a:pt x="816" y="632"/>
                  <a:pt x="792" y="848"/>
                  <a:pt x="768" y="976"/>
                </a:cubicBezTo>
                <a:cubicBezTo>
                  <a:pt x="744" y="1104"/>
                  <a:pt x="752" y="1232"/>
                  <a:pt x="672" y="1264"/>
                </a:cubicBezTo>
                <a:cubicBezTo>
                  <a:pt x="592" y="1296"/>
                  <a:pt x="384" y="1208"/>
                  <a:pt x="288" y="1168"/>
                </a:cubicBezTo>
                <a:cubicBezTo>
                  <a:pt x="192" y="1128"/>
                  <a:pt x="144" y="1064"/>
                  <a:pt x="96" y="1024"/>
                </a:cubicBezTo>
                <a:cubicBezTo>
                  <a:pt x="48" y="984"/>
                  <a:pt x="24" y="956"/>
                  <a:pt x="0" y="928"/>
                </a:cubicBezTo>
              </a:path>
            </a:pathLst>
          </a:custGeom>
          <a:solidFill>
            <a:schemeClr val="accent1"/>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53" name="Freeform 5"/>
          <p:cNvSpPr/>
          <p:nvPr/>
        </p:nvSpPr>
        <p:spPr bwMode="auto">
          <a:xfrm>
            <a:off x="7296150" y="1930400"/>
            <a:ext cx="1295400" cy="2032000"/>
          </a:xfrm>
          <a:custGeom>
            <a:avLst/>
            <a:gdLst>
              <a:gd name="T0" fmla="*/ 288 w 816"/>
              <a:gd name="T1" fmla="*/ 304 h 1296"/>
              <a:gd name="T2" fmla="*/ 384 w 816"/>
              <a:gd name="T3" fmla="*/ 64 h 1296"/>
              <a:gd name="T4" fmla="*/ 624 w 816"/>
              <a:gd name="T5" fmla="*/ 16 h 1296"/>
              <a:gd name="T6" fmla="*/ 768 w 816"/>
              <a:gd name="T7" fmla="*/ 160 h 1296"/>
              <a:gd name="T8" fmla="*/ 816 w 816"/>
              <a:gd name="T9" fmla="*/ 496 h 1296"/>
              <a:gd name="T10" fmla="*/ 768 w 816"/>
              <a:gd name="T11" fmla="*/ 976 h 1296"/>
              <a:gd name="T12" fmla="*/ 672 w 816"/>
              <a:gd name="T13" fmla="*/ 1264 h 1296"/>
              <a:gd name="T14" fmla="*/ 288 w 816"/>
              <a:gd name="T15" fmla="*/ 1168 h 1296"/>
              <a:gd name="T16" fmla="*/ 96 w 816"/>
              <a:gd name="T17" fmla="*/ 1024 h 1296"/>
              <a:gd name="T18" fmla="*/ 0 w 816"/>
              <a:gd name="T19" fmla="*/ 928 h 1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6" h="1296">
                <a:moveTo>
                  <a:pt x="288" y="304"/>
                </a:moveTo>
                <a:cubicBezTo>
                  <a:pt x="308" y="208"/>
                  <a:pt x="328" y="112"/>
                  <a:pt x="384" y="64"/>
                </a:cubicBezTo>
                <a:cubicBezTo>
                  <a:pt x="440" y="16"/>
                  <a:pt x="560" y="0"/>
                  <a:pt x="624" y="16"/>
                </a:cubicBezTo>
                <a:cubicBezTo>
                  <a:pt x="688" y="32"/>
                  <a:pt x="736" y="80"/>
                  <a:pt x="768" y="160"/>
                </a:cubicBezTo>
                <a:cubicBezTo>
                  <a:pt x="800" y="240"/>
                  <a:pt x="816" y="360"/>
                  <a:pt x="816" y="496"/>
                </a:cubicBezTo>
                <a:cubicBezTo>
                  <a:pt x="816" y="632"/>
                  <a:pt x="792" y="848"/>
                  <a:pt x="768" y="976"/>
                </a:cubicBezTo>
                <a:cubicBezTo>
                  <a:pt x="744" y="1104"/>
                  <a:pt x="752" y="1232"/>
                  <a:pt x="672" y="1264"/>
                </a:cubicBezTo>
                <a:cubicBezTo>
                  <a:pt x="592" y="1296"/>
                  <a:pt x="384" y="1208"/>
                  <a:pt x="288" y="1168"/>
                </a:cubicBezTo>
                <a:cubicBezTo>
                  <a:pt x="192" y="1128"/>
                  <a:pt x="144" y="1064"/>
                  <a:pt x="96" y="1024"/>
                </a:cubicBezTo>
                <a:cubicBezTo>
                  <a:pt x="48" y="984"/>
                  <a:pt x="24" y="956"/>
                  <a:pt x="0" y="928"/>
                </a:cubicBezTo>
              </a:path>
            </a:pathLst>
          </a:custGeom>
          <a:gradFill rotWithShape="0">
            <a:gsLst>
              <a:gs pos="0">
                <a:srgbClr val="FED0AE"/>
              </a:gs>
              <a:gs pos="100000">
                <a:srgbClr val="FED0AE">
                  <a:gamma/>
                  <a:tint val="82353"/>
                  <a:invGamma/>
                </a:srgbClr>
              </a:gs>
            </a:gsLst>
            <a:lin ang="5400000" scaled="1"/>
          </a:gra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54" name="Freeform 6"/>
          <p:cNvSpPr/>
          <p:nvPr/>
        </p:nvSpPr>
        <p:spPr bwMode="auto">
          <a:xfrm>
            <a:off x="7296150" y="1968500"/>
            <a:ext cx="1295400" cy="2032000"/>
          </a:xfrm>
          <a:custGeom>
            <a:avLst/>
            <a:gdLst>
              <a:gd name="T0" fmla="*/ 288 w 816"/>
              <a:gd name="T1" fmla="*/ 304 h 1296"/>
              <a:gd name="T2" fmla="*/ 384 w 816"/>
              <a:gd name="T3" fmla="*/ 64 h 1296"/>
              <a:gd name="T4" fmla="*/ 624 w 816"/>
              <a:gd name="T5" fmla="*/ 16 h 1296"/>
              <a:gd name="T6" fmla="*/ 768 w 816"/>
              <a:gd name="T7" fmla="*/ 160 h 1296"/>
              <a:gd name="T8" fmla="*/ 816 w 816"/>
              <a:gd name="T9" fmla="*/ 496 h 1296"/>
              <a:gd name="T10" fmla="*/ 768 w 816"/>
              <a:gd name="T11" fmla="*/ 976 h 1296"/>
              <a:gd name="T12" fmla="*/ 672 w 816"/>
              <a:gd name="T13" fmla="*/ 1264 h 1296"/>
              <a:gd name="T14" fmla="*/ 288 w 816"/>
              <a:gd name="T15" fmla="*/ 1168 h 1296"/>
              <a:gd name="T16" fmla="*/ 96 w 816"/>
              <a:gd name="T17" fmla="*/ 1024 h 1296"/>
              <a:gd name="T18" fmla="*/ 0 w 816"/>
              <a:gd name="T19" fmla="*/ 928 h 1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6" h="1296">
                <a:moveTo>
                  <a:pt x="288" y="304"/>
                </a:moveTo>
                <a:cubicBezTo>
                  <a:pt x="308" y="208"/>
                  <a:pt x="328" y="112"/>
                  <a:pt x="384" y="64"/>
                </a:cubicBezTo>
                <a:cubicBezTo>
                  <a:pt x="440" y="16"/>
                  <a:pt x="560" y="0"/>
                  <a:pt x="624" y="16"/>
                </a:cubicBezTo>
                <a:cubicBezTo>
                  <a:pt x="688" y="32"/>
                  <a:pt x="736" y="80"/>
                  <a:pt x="768" y="160"/>
                </a:cubicBezTo>
                <a:cubicBezTo>
                  <a:pt x="800" y="240"/>
                  <a:pt x="816" y="360"/>
                  <a:pt x="816" y="496"/>
                </a:cubicBezTo>
                <a:cubicBezTo>
                  <a:pt x="816" y="632"/>
                  <a:pt x="792" y="848"/>
                  <a:pt x="768" y="976"/>
                </a:cubicBezTo>
                <a:cubicBezTo>
                  <a:pt x="744" y="1104"/>
                  <a:pt x="752" y="1232"/>
                  <a:pt x="672" y="1264"/>
                </a:cubicBezTo>
                <a:cubicBezTo>
                  <a:pt x="592" y="1296"/>
                  <a:pt x="384" y="1208"/>
                  <a:pt x="288" y="1168"/>
                </a:cubicBezTo>
                <a:cubicBezTo>
                  <a:pt x="192" y="1128"/>
                  <a:pt x="144" y="1064"/>
                  <a:pt x="96" y="1024"/>
                </a:cubicBezTo>
                <a:cubicBezTo>
                  <a:pt x="48" y="984"/>
                  <a:pt x="24" y="956"/>
                  <a:pt x="0" y="928"/>
                </a:cubicBezTo>
              </a:path>
            </a:pathLst>
          </a:custGeom>
          <a:solidFill>
            <a:srgbClr val="FF0000"/>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55" name="Freeform 7"/>
          <p:cNvSpPr/>
          <p:nvPr/>
        </p:nvSpPr>
        <p:spPr bwMode="auto">
          <a:xfrm>
            <a:off x="7315200" y="1968500"/>
            <a:ext cx="1295400" cy="2032000"/>
          </a:xfrm>
          <a:custGeom>
            <a:avLst/>
            <a:gdLst>
              <a:gd name="T0" fmla="*/ 288 w 816"/>
              <a:gd name="T1" fmla="*/ 304 h 1296"/>
              <a:gd name="T2" fmla="*/ 384 w 816"/>
              <a:gd name="T3" fmla="*/ 64 h 1296"/>
              <a:gd name="T4" fmla="*/ 624 w 816"/>
              <a:gd name="T5" fmla="*/ 16 h 1296"/>
              <a:gd name="T6" fmla="*/ 768 w 816"/>
              <a:gd name="T7" fmla="*/ 160 h 1296"/>
              <a:gd name="T8" fmla="*/ 816 w 816"/>
              <a:gd name="T9" fmla="*/ 496 h 1296"/>
              <a:gd name="T10" fmla="*/ 768 w 816"/>
              <a:gd name="T11" fmla="*/ 976 h 1296"/>
              <a:gd name="T12" fmla="*/ 672 w 816"/>
              <a:gd name="T13" fmla="*/ 1264 h 1296"/>
              <a:gd name="T14" fmla="*/ 288 w 816"/>
              <a:gd name="T15" fmla="*/ 1168 h 1296"/>
              <a:gd name="T16" fmla="*/ 96 w 816"/>
              <a:gd name="T17" fmla="*/ 1024 h 1296"/>
              <a:gd name="T18" fmla="*/ 0 w 816"/>
              <a:gd name="T19" fmla="*/ 928 h 1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6" h="1296">
                <a:moveTo>
                  <a:pt x="288" y="304"/>
                </a:moveTo>
                <a:cubicBezTo>
                  <a:pt x="308" y="208"/>
                  <a:pt x="328" y="112"/>
                  <a:pt x="384" y="64"/>
                </a:cubicBezTo>
                <a:cubicBezTo>
                  <a:pt x="440" y="16"/>
                  <a:pt x="560" y="0"/>
                  <a:pt x="624" y="16"/>
                </a:cubicBezTo>
                <a:cubicBezTo>
                  <a:pt x="688" y="32"/>
                  <a:pt x="736" y="80"/>
                  <a:pt x="768" y="160"/>
                </a:cubicBezTo>
                <a:cubicBezTo>
                  <a:pt x="800" y="240"/>
                  <a:pt x="816" y="360"/>
                  <a:pt x="816" y="496"/>
                </a:cubicBezTo>
                <a:cubicBezTo>
                  <a:pt x="816" y="632"/>
                  <a:pt x="792" y="848"/>
                  <a:pt x="768" y="976"/>
                </a:cubicBezTo>
                <a:cubicBezTo>
                  <a:pt x="744" y="1104"/>
                  <a:pt x="752" y="1232"/>
                  <a:pt x="672" y="1264"/>
                </a:cubicBezTo>
                <a:cubicBezTo>
                  <a:pt x="592" y="1296"/>
                  <a:pt x="384" y="1208"/>
                  <a:pt x="288" y="1168"/>
                </a:cubicBezTo>
                <a:cubicBezTo>
                  <a:pt x="192" y="1128"/>
                  <a:pt x="144" y="1064"/>
                  <a:pt x="96" y="1024"/>
                </a:cubicBezTo>
                <a:cubicBezTo>
                  <a:pt x="48" y="984"/>
                  <a:pt x="24" y="956"/>
                  <a:pt x="0" y="928"/>
                </a:cubicBezTo>
              </a:path>
            </a:pathLst>
          </a:custGeom>
          <a:solidFill>
            <a:srgbClr val="FED0AE"/>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56" name="Freeform 8"/>
          <p:cNvSpPr/>
          <p:nvPr/>
        </p:nvSpPr>
        <p:spPr bwMode="auto">
          <a:xfrm>
            <a:off x="7277100" y="1968500"/>
            <a:ext cx="1295400" cy="2032000"/>
          </a:xfrm>
          <a:custGeom>
            <a:avLst/>
            <a:gdLst>
              <a:gd name="T0" fmla="*/ 288 w 816"/>
              <a:gd name="T1" fmla="*/ 304 h 1296"/>
              <a:gd name="T2" fmla="*/ 384 w 816"/>
              <a:gd name="T3" fmla="*/ 64 h 1296"/>
              <a:gd name="T4" fmla="*/ 624 w 816"/>
              <a:gd name="T5" fmla="*/ 16 h 1296"/>
              <a:gd name="T6" fmla="*/ 768 w 816"/>
              <a:gd name="T7" fmla="*/ 160 h 1296"/>
              <a:gd name="T8" fmla="*/ 816 w 816"/>
              <a:gd name="T9" fmla="*/ 496 h 1296"/>
              <a:gd name="T10" fmla="*/ 768 w 816"/>
              <a:gd name="T11" fmla="*/ 976 h 1296"/>
              <a:gd name="T12" fmla="*/ 672 w 816"/>
              <a:gd name="T13" fmla="*/ 1264 h 1296"/>
              <a:gd name="T14" fmla="*/ 288 w 816"/>
              <a:gd name="T15" fmla="*/ 1168 h 1296"/>
              <a:gd name="T16" fmla="*/ 96 w 816"/>
              <a:gd name="T17" fmla="*/ 1024 h 1296"/>
              <a:gd name="T18" fmla="*/ 0 w 816"/>
              <a:gd name="T19" fmla="*/ 928 h 1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6" h="1296">
                <a:moveTo>
                  <a:pt x="288" y="304"/>
                </a:moveTo>
                <a:cubicBezTo>
                  <a:pt x="308" y="208"/>
                  <a:pt x="328" y="112"/>
                  <a:pt x="384" y="64"/>
                </a:cubicBezTo>
                <a:cubicBezTo>
                  <a:pt x="440" y="16"/>
                  <a:pt x="560" y="0"/>
                  <a:pt x="624" y="16"/>
                </a:cubicBezTo>
                <a:cubicBezTo>
                  <a:pt x="688" y="32"/>
                  <a:pt x="736" y="80"/>
                  <a:pt x="768" y="160"/>
                </a:cubicBezTo>
                <a:cubicBezTo>
                  <a:pt x="800" y="240"/>
                  <a:pt x="816" y="360"/>
                  <a:pt x="816" y="496"/>
                </a:cubicBezTo>
                <a:cubicBezTo>
                  <a:pt x="816" y="632"/>
                  <a:pt x="792" y="848"/>
                  <a:pt x="768" y="976"/>
                </a:cubicBezTo>
                <a:cubicBezTo>
                  <a:pt x="744" y="1104"/>
                  <a:pt x="752" y="1232"/>
                  <a:pt x="672" y="1264"/>
                </a:cubicBezTo>
                <a:cubicBezTo>
                  <a:pt x="592" y="1296"/>
                  <a:pt x="384" y="1208"/>
                  <a:pt x="288" y="1168"/>
                </a:cubicBezTo>
                <a:cubicBezTo>
                  <a:pt x="192" y="1128"/>
                  <a:pt x="144" y="1064"/>
                  <a:pt x="96" y="1024"/>
                </a:cubicBezTo>
                <a:cubicBezTo>
                  <a:pt x="48" y="984"/>
                  <a:pt x="24" y="956"/>
                  <a:pt x="0" y="928"/>
                </a:cubicBezTo>
              </a:path>
            </a:pathLst>
          </a:custGeom>
          <a:solidFill>
            <a:schemeClr val="accent1"/>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57" name="Freeform 9"/>
          <p:cNvSpPr/>
          <p:nvPr/>
        </p:nvSpPr>
        <p:spPr bwMode="auto">
          <a:xfrm>
            <a:off x="7493000" y="2700338"/>
            <a:ext cx="825500" cy="614362"/>
          </a:xfrm>
          <a:custGeom>
            <a:avLst/>
            <a:gdLst>
              <a:gd name="T0" fmla="*/ 192 w 520"/>
              <a:gd name="T1" fmla="*/ 0 h 392"/>
              <a:gd name="T2" fmla="*/ 336 w 520"/>
              <a:gd name="T3" fmla="*/ 48 h 392"/>
              <a:gd name="T4" fmla="*/ 480 w 520"/>
              <a:gd name="T5" fmla="*/ 96 h 392"/>
              <a:gd name="T6" fmla="*/ 480 w 520"/>
              <a:gd name="T7" fmla="*/ 336 h 392"/>
              <a:gd name="T8" fmla="*/ 240 w 520"/>
              <a:gd name="T9" fmla="*/ 384 h 392"/>
              <a:gd name="T10" fmla="*/ 96 w 520"/>
              <a:gd name="T11" fmla="*/ 288 h 392"/>
              <a:gd name="T12" fmla="*/ 0 w 520"/>
              <a:gd name="T13" fmla="*/ 96 h 392"/>
            </a:gdLst>
            <a:ahLst/>
            <a:cxnLst>
              <a:cxn ang="0">
                <a:pos x="T0" y="T1"/>
              </a:cxn>
              <a:cxn ang="0">
                <a:pos x="T2" y="T3"/>
              </a:cxn>
              <a:cxn ang="0">
                <a:pos x="T4" y="T5"/>
              </a:cxn>
              <a:cxn ang="0">
                <a:pos x="T6" y="T7"/>
              </a:cxn>
              <a:cxn ang="0">
                <a:pos x="T8" y="T9"/>
              </a:cxn>
              <a:cxn ang="0">
                <a:pos x="T10" y="T11"/>
              </a:cxn>
              <a:cxn ang="0">
                <a:pos x="T12" y="T13"/>
              </a:cxn>
            </a:cxnLst>
            <a:rect l="0" t="0" r="r" b="b"/>
            <a:pathLst>
              <a:path w="520" h="392">
                <a:moveTo>
                  <a:pt x="192" y="0"/>
                </a:moveTo>
                <a:cubicBezTo>
                  <a:pt x="240" y="16"/>
                  <a:pt x="288" y="32"/>
                  <a:pt x="336" y="48"/>
                </a:cubicBezTo>
                <a:cubicBezTo>
                  <a:pt x="384" y="64"/>
                  <a:pt x="456" y="48"/>
                  <a:pt x="480" y="96"/>
                </a:cubicBezTo>
                <a:cubicBezTo>
                  <a:pt x="504" y="144"/>
                  <a:pt x="520" y="288"/>
                  <a:pt x="480" y="336"/>
                </a:cubicBezTo>
                <a:cubicBezTo>
                  <a:pt x="440" y="384"/>
                  <a:pt x="304" y="392"/>
                  <a:pt x="240" y="384"/>
                </a:cubicBezTo>
                <a:cubicBezTo>
                  <a:pt x="176" y="376"/>
                  <a:pt x="136" y="336"/>
                  <a:pt x="96" y="288"/>
                </a:cubicBezTo>
                <a:cubicBezTo>
                  <a:pt x="56" y="240"/>
                  <a:pt x="28" y="168"/>
                  <a:pt x="0" y="96"/>
                </a:cubicBezTo>
              </a:path>
            </a:pathLst>
          </a:custGeom>
          <a:solidFill>
            <a:srgbClr val="FF0000"/>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58" name="Freeform 10"/>
          <p:cNvSpPr/>
          <p:nvPr/>
        </p:nvSpPr>
        <p:spPr bwMode="auto">
          <a:xfrm>
            <a:off x="7493000" y="2700338"/>
            <a:ext cx="825500" cy="614362"/>
          </a:xfrm>
          <a:custGeom>
            <a:avLst/>
            <a:gdLst>
              <a:gd name="T0" fmla="*/ 192 w 520"/>
              <a:gd name="T1" fmla="*/ 0 h 392"/>
              <a:gd name="T2" fmla="*/ 336 w 520"/>
              <a:gd name="T3" fmla="*/ 48 h 392"/>
              <a:gd name="T4" fmla="*/ 480 w 520"/>
              <a:gd name="T5" fmla="*/ 96 h 392"/>
              <a:gd name="T6" fmla="*/ 480 w 520"/>
              <a:gd name="T7" fmla="*/ 336 h 392"/>
              <a:gd name="T8" fmla="*/ 240 w 520"/>
              <a:gd name="T9" fmla="*/ 384 h 392"/>
              <a:gd name="T10" fmla="*/ 96 w 520"/>
              <a:gd name="T11" fmla="*/ 288 h 392"/>
              <a:gd name="T12" fmla="*/ 0 w 520"/>
              <a:gd name="T13" fmla="*/ 96 h 392"/>
            </a:gdLst>
            <a:ahLst/>
            <a:cxnLst>
              <a:cxn ang="0">
                <a:pos x="T0" y="T1"/>
              </a:cxn>
              <a:cxn ang="0">
                <a:pos x="T2" y="T3"/>
              </a:cxn>
              <a:cxn ang="0">
                <a:pos x="T4" y="T5"/>
              </a:cxn>
              <a:cxn ang="0">
                <a:pos x="T6" y="T7"/>
              </a:cxn>
              <a:cxn ang="0">
                <a:pos x="T8" y="T9"/>
              </a:cxn>
              <a:cxn ang="0">
                <a:pos x="T10" y="T11"/>
              </a:cxn>
              <a:cxn ang="0">
                <a:pos x="T12" y="T13"/>
              </a:cxn>
            </a:cxnLst>
            <a:rect l="0" t="0" r="r" b="b"/>
            <a:pathLst>
              <a:path w="520" h="392">
                <a:moveTo>
                  <a:pt x="192" y="0"/>
                </a:moveTo>
                <a:cubicBezTo>
                  <a:pt x="240" y="16"/>
                  <a:pt x="288" y="32"/>
                  <a:pt x="336" y="48"/>
                </a:cubicBezTo>
                <a:cubicBezTo>
                  <a:pt x="384" y="64"/>
                  <a:pt x="456" y="48"/>
                  <a:pt x="480" y="96"/>
                </a:cubicBezTo>
                <a:cubicBezTo>
                  <a:pt x="504" y="144"/>
                  <a:pt x="520" y="288"/>
                  <a:pt x="480" y="336"/>
                </a:cubicBezTo>
                <a:cubicBezTo>
                  <a:pt x="440" y="384"/>
                  <a:pt x="304" y="392"/>
                  <a:pt x="240" y="384"/>
                </a:cubicBezTo>
                <a:cubicBezTo>
                  <a:pt x="176" y="376"/>
                  <a:pt x="136" y="336"/>
                  <a:pt x="96" y="288"/>
                </a:cubicBezTo>
                <a:cubicBezTo>
                  <a:pt x="56" y="240"/>
                  <a:pt x="28" y="168"/>
                  <a:pt x="0" y="96"/>
                </a:cubicBezTo>
              </a:path>
            </a:pathLst>
          </a:custGeom>
          <a:solidFill>
            <a:schemeClr val="accent1"/>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59" name="Freeform 11"/>
          <p:cNvSpPr/>
          <p:nvPr/>
        </p:nvSpPr>
        <p:spPr bwMode="auto">
          <a:xfrm>
            <a:off x="7473950" y="2662238"/>
            <a:ext cx="825500" cy="614362"/>
          </a:xfrm>
          <a:custGeom>
            <a:avLst/>
            <a:gdLst>
              <a:gd name="T0" fmla="*/ 192 w 520"/>
              <a:gd name="T1" fmla="*/ 0 h 392"/>
              <a:gd name="T2" fmla="*/ 336 w 520"/>
              <a:gd name="T3" fmla="*/ 48 h 392"/>
              <a:gd name="T4" fmla="*/ 480 w 520"/>
              <a:gd name="T5" fmla="*/ 96 h 392"/>
              <a:gd name="T6" fmla="*/ 480 w 520"/>
              <a:gd name="T7" fmla="*/ 336 h 392"/>
              <a:gd name="T8" fmla="*/ 240 w 520"/>
              <a:gd name="T9" fmla="*/ 384 h 392"/>
              <a:gd name="T10" fmla="*/ 96 w 520"/>
              <a:gd name="T11" fmla="*/ 288 h 392"/>
              <a:gd name="T12" fmla="*/ 0 w 520"/>
              <a:gd name="T13" fmla="*/ 96 h 392"/>
            </a:gdLst>
            <a:ahLst/>
            <a:cxnLst>
              <a:cxn ang="0">
                <a:pos x="T0" y="T1"/>
              </a:cxn>
              <a:cxn ang="0">
                <a:pos x="T2" y="T3"/>
              </a:cxn>
              <a:cxn ang="0">
                <a:pos x="T4" y="T5"/>
              </a:cxn>
              <a:cxn ang="0">
                <a:pos x="T6" y="T7"/>
              </a:cxn>
              <a:cxn ang="0">
                <a:pos x="T8" y="T9"/>
              </a:cxn>
              <a:cxn ang="0">
                <a:pos x="T10" y="T11"/>
              </a:cxn>
              <a:cxn ang="0">
                <a:pos x="T12" y="T13"/>
              </a:cxn>
            </a:cxnLst>
            <a:rect l="0" t="0" r="r" b="b"/>
            <a:pathLst>
              <a:path w="520" h="392">
                <a:moveTo>
                  <a:pt x="192" y="0"/>
                </a:moveTo>
                <a:cubicBezTo>
                  <a:pt x="240" y="16"/>
                  <a:pt x="288" y="32"/>
                  <a:pt x="336" y="48"/>
                </a:cubicBezTo>
                <a:cubicBezTo>
                  <a:pt x="384" y="64"/>
                  <a:pt x="456" y="48"/>
                  <a:pt x="480" y="96"/>
                </a:cubicBezTo>
                <a:cubicBezTo>
                  <a:pt x="504" y="144"/>
                  <a:pt x="520" y="288"/>
                  <a:pt x="480" y="336"/>
                </a:cubicBezTo>
                <a:cubicBezTo>
                  <a:pt x="440" y="384"/>
                  <a:pt x="304" y="392"/>
                  <a:pt x="240" y="384"/>
                </a:cubicBezTo>
                <a:cubicBezTo>
                  <a:pt x="176" y="376"/>
                  <a:pt x="136" y="336"/>
                  <a:pt x="96" y="288"/>
                </a:cubicBezTo>
                <a:cubicBezTo>
                  <a:pt x="56" y="240"/>
                  <a:pt x="28" y="168"/>
                  <a:pt x="0" y="96"/>
                </a:cubicBezTo>
              </a:path>
            </a:pathLst>
          </a:custGeom>
          <a:solidFill>
            <a:srgbClr val="FED0AE"/>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60" name="Freeform 12"/>
          <p:cNvSpPr/>
          <p:nvPr/>
        </p:nvSpPr>
        <p:spPr bwMode="auto">
          <a:xfrm>
            <a:off x="7473950" y="2719388"/>
            <a:ext cx="825500" cy="614362"/>
          </a:xfrm>
          <a:custGeom>
            <a:avLst/>
            <a:gdLst>
              <a:gd name="T0" fmla="*/ 192 w 520"/>
              <a:gd name="T1" fmla="*/ 0 h 392"/>
              <a:gd name="T2" fmla="*/ 336 w 520"/>
              <a:gd name="T3" fmla="*/ 48 h 392"/>
              <a:gd name="T4" fmla="*/ 480 w 520"/>
              <a:gd name="T5" fmla="*/ 96 h 392"/>
              <a:gd name="T6" fmla="*/ 480 w 520"/>
              <a:gd name="T7" fmla="*/ 336 h 392"/>
              <a:gd name="T8" fmla="*/ 240 w 520"/>
              <a:gd name="T9" fmla="*/ 384 h 392"/>
              <a:gd name="T10" fmla="*/ 96 w 520"/>
              <a:gd name="T11" fmla="*/ 288 h 392"/>
              <a:gd name="T12" fmla="*/ 0 w 520"/>
              <a:gd name="T13" fmla="*/ 96 h 392"/>
            </a:gdLst>
            <a:ahLst/>
            <a:cxnLst>
              <a:cxn ang="0">
                <a:pos x="T0" y="T1"/>
              </a:cxn>
              <a:cxn ang="0">
                <a:pos x="T2" y="T3"/>
              </a:cxn>
              <a:cxn ang="0">
                <a:pos x="T4" y="T5"/>
              </a:cxn>
              <a:cxn ang="0">
                <a:pos x="T6" y="T7"/>
              </a:cxn>
              <a:cxn ang="0">
                <a:pos x="T8" y="T9"/>
              </a:cxn>
              <a:cxn ang="0">
                <a:pos x="T10" y="T11"/>
              </a:cxn>
              <a:cxn ang="0">
                <a:pos x="T12" y="T13"/>
              </a:cxn>
            </a:cxnLst>
            <a:rect l="0" t="0" r="r" b="b"/>
            <a:pathLst>
              <a:path w="520" h="392">
                <a:moveTo>
                  <a:pt x="192" y="0"/>
                </a:moveTo>
                <a:cubicBezTo>
                  <a:pt x="240" y="16"/>
                  <a:pt x="288" y="32"/>
                  <a:pt x="336" y="48"/>
                </a:cubicBezTo>
                <a:cubicBezTo>
                  <a:pt x="384" y="64"/>
                  <a:pt x="456" y="48"/>
                  <a:pt x="480" y="96"/>
                </a:cubicBezTo>
                <a:cubicBezTo>
                  <a:pt x="504" y="144"/>
                  <a:pt x="520" y="288"/>
                  <a:pt x="480" y="336"/>
                </a:cubicBezTo>
                <a:cubicBezTo>
                  <a:pt x="440" y="384"/>
                  <a:pt x="304" y="392"/>
                  <a:pt x="240" y="384"/>
                </a:cubicBezTo>
                <a:cubicBezTo>
                  <a:pt x="176" y="376"/>
                  <a:pt x="136" y="336"/>
                  <a:pt x="96" y="288"/>
                </a:cubicBezTo>
                <a:cubicBezTo>
                  <a:pt x="56" y="240"/>
                  <a:pt x="28" y="168"/>
                  <a:pt x="0" y="96"/>
                </a:cubicBezTo>
              </a:path>
            </a:pathLst>
          </a:custGeom>
          <a:solidFill>
            <a:srgbClr val="FF9900"/>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61" name="Freeform 13"/>
          <p:cNvSpPr/>
          <p:nvPr/>
        </p:nvSpPr>
        <p:spPr bwMode="auto">
          <a:xfrm>
            <a:off x="7772400" y="2241550"/>
            <a:ext cx="723900" cy="539750"/>
          </a:xfrm>
          <a:custGeom>
            <a:avLst/>
            <a:gdLst>
              <a:gd name="T0" fmla="*/ 48 w 456"/>
              <a:gd name="T1" fmla="*/ 96 h 344"/>
              <a:gd name="T2" fmla="*/ 192 w 456"/>
              <a:gd name="T3" fmla="*/ 0 h 344"/>
              <a:gd name="T4" fmla="*/ 384 w 456"/>
              <a:gd name="T5" fmla="*/ 96 h 344"/>
              <a:gd name="T6" fmla="*/ 432 w 456"/>
              <a:gd name="T7" fmla="*/ 288 h 344"/>
              <a:gd name="T8" fmla="*/ 240 w 456"/>
              <a:gd name="T9" fmla="*/ 336 h 344"/>
              <a:gd name="T10" fmla="*/ 96 w 456"/>
              <a:gd name="T11" fmla="*/ 336 h 344"/>
              <a:gd name="T12" fmla="*/ 0 w 456"/>
              <a:gd name="T13" fmla="*/ 288 h 344"/>
            </a:gdLst>
            <a:ahLst/>
            <a:cxnLst>
              <a:cxn ang="0">
                <a:pos x="T0" y="T1"/>
              </a:cxn>
              <a:cxn ang="0">
                <a:pos x="T2" y="T3"/>
              </a:cxn>
              <a:cxn ang="0">
                <a:pos x="T4" y="T5"/>
              </a:cxn>
              <a:cxn ang="0">
                <a:pos x="T6" y="T7"/>
              </a:cxn>
              <a:cxn ang="0">
                <a:pos x="T8" y="T9"/>
              </a:cxn>
              <a:cxn ang="0">
                <a:pos x="T10" y="T11"/>
              </a:cxn>
              <a:cxn ang="0">
                <a:pos x="T12" y="T13"/>
              </a:cxn>
            </a:cxnLst>
            <a:rect l="0" t="0" r="r" b="b"/>
            <a:pathLst>
              <a:path w="456" h="344">
                <a:moveTo>
                  <a:pt x="48" y="96"/>
                </a:moveTo>
                <a:cubicBezTo>
                  <a:pt x="92" y="48"/>
                  <a:pt x="136" y="0"/>
                  <a:pt x="192" y="0"/>
                </a:cubicBezTo>
                <a:cubicBezTo>
                  <a:pt x="248" y="0"/>
                  <a:pt x="344" y="48"/>
                  <a:pt x="384" y="96"/>
                </a:cubicBezTo>
                <a:cubicBezTo>
                  <a:pt x="424" y="144"/>
                  <a:pt x="456" y="248"/>
                  <a:pt x="432" y="288"/>
                </a:cubicBezTo>
                <a:cubicBezTo>
                  <a:pt x="408" y="328"/>
                  <a:pt x="296" y="328"/>
                  <a:pt x="240" y="336"/>
                </a:cubicBezTo>
                <a:cubicBezTo>
                  <a:pt x="184" y="344"/>
                  <a:pt x="136" y="344"/>
                  <a:pt x="96" y="336"/>
                </a:cubicBezTo>
                <a:cubicBezTo>
                  <a:pt x="56" y="328"/>
                  <a:pt x="28" y="308"/>
                  <a:pt x="0" y="288"/>
                </a:cubicBezTo>
              </a:path>
            </a:pathLst>
          </a:custGeom>
          <a:solidFill>
            <a:srgbClr val="FF9900"/>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62" name="Freeform 14"/>
          <p:cNvSpPr/>
          <p:nvPr/>
        </p:nvSpPr>
        <p:spPr bwMode="auto">
          <a:xfrm>
            <a:off x="7753350" y="2241550"/>
            <a:ext cx="723900" cy="539750"/>
          </a:xfrm>
          <a:custGeom>
            <a:avLst/>
            <a:gdLst>
              <a:gd name="T0" fmla="*/ 48 w 456"/>
              <a:gd name="T1" fmla="*/ 96 h 344"/>
              <a:gd name="T2" fmla="*/ 192 w 456"/>
              <a:gd name="T3" fmla="*/ 0 h 344"/>
              <a:gd name="T4" fmla="*/ 384 w 456"/>
              <a:gd name="T5" fmla="*/ 96 h 344"/>
              <a:gd name="T6" fmla="*/ 432 w 456"/>
              <a:gd name="T7" fmla="*/ 288 h 344"/>
              <a:gd name="T8" fmla="*/ 240 w 456"/>
              <a:gd name="T9" fmla="*/ 336 h 344"/>
              <a:gd name="T10" fmla="*/ 96 w 456"/>
              <a:gd name="T11" fmla="*/ 336 h 344"/>
              <a:gd name="T12" fmla="*/ 0 w 456"/>
              <a:gd name="T13" fmla="*/ 288 h 344"/>
            </a:gdLst>
            <a:ahLst/>
            <a:cxnLst>
              <a:cxn ang="0">
                <a:pos x="T0" y="T1"/>
              </a:cxn>
              <a:cxn ang="0">
                <a:pos x="T2" y="T3"/>
              </a:cxn>
              <a:cxn ang="0">
                <a:pos x="T4" y="T5"/>
              </a:cxn>
              <a:cxn ang="0">
                <a:pos x="T6" y="T7"/>
              </a:cxn>
              <a:cxn ang="0">
                <a:pos x="T8" y="T9"/>
              </a:cxn>
              <a:cxn ang="0">
                <a:pos x="T10" y="T11"/>
              </a:cxn>
              <a:cxn ang="0">
                <a:pos x="T12" y="T13"/>
              </a:cxn>
            </a:cxnLst>
            <a:rect l="0" t="0" r="r" b="b"/>
            <a:pathLst>
              <a:path w="456" h="344">
                <a:moveTo>
                  <a:pt x="48" y="96"/>
                </a:moveTo>
                <a:cubicBezTo>
                  <a:pt x="92" y="48"/>
                  <a:pt x="136" y="0"/>
                  <a:pt x="192" y="0"/>
                </a:cubicBezTo>
                <a:cubicBezTo>
                  <a:pt x="248" y="0"/>
                  <a:pt x="344" y="48"/>
                  <a:pt x="384" y="96"/>
                </a:cubicBezTo>
                <a:cubicBezTo>
                  <a:pt x="424" y="144"/>
                  <a:pt x="456" y="248"/>
                  <a:pt x="432" y="288"/>
                </a:cubicBezTo>
                <a:cubicBezTo>
                  <a:pt x="408" y="328"/>
                  <a:pt x="296" y="328"/>
                  <a:pt x="240" y="336"/>
                </a:cubicBezTo>
                <a:cubicBezTo>
                  <a:pt x="184" y="344"/>
                  <a:pt x="136" y="344"/>
                  <a:pt x="96" y="336"/>
                </a:cubicBezTo>
                <a:cubicBezTo>
                  <a:pt x="56" y="328"/>
                  <a:pt x="28" y="308"/>
                  <a:pt x="0" y="288"/>
                </a:cubicBezTo>
              </a:path>
            </a:pathLst>
          </a:custGeom>
          <a:solidFill>
            <a:srgbClr val="FF0000"/>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63" name="Freeform 15"/>
          <p:cNvSpPr/>
          <p:nvPr/>
        </p:nvSpPr>
        <p:spPr bwMode="auto">
          <a:xfrm>
            <a:off x="6559550" y="2171700"/>
            <a:ext cx="838200" cy="1079500"/>
          </a:xfrm>
          <a:custGeom>
            <a:avLst/>
            <a:gdLst>
              <a:gd name="T0" fmla="*/ 528 w 528"/>
              <a:gd name="T1" fmla="*/ 144 h 688"/>
              <a:gd name="T2" fmla="*/ 336 w 528"/>
              <a:gd name="T3" fmla="*/ 0 h 688"/>
              <a:gd name="T4" fmla="*/ 48 w 528"/>
              <a:gd name="T5" fmla="*/ 144 h 688"/>
              <a:gd name="T6" fmla="*/ 48 w 528"/>
              <a:gd name="T7" fmla="*/ 480 h 688"/>
              <a:gd name="T8" fmla="*/ 288 w 528"/>
              <a:gd name="T9" fmla="*/ 672 h 688"/>
              <a:gd name="T10" fmla="*/ 432 w 528"/>
              <a:gd name="T11" fmla="*/ 384 h 688"/>
            </a:gdLst>
            <a:ahLst/>
            <a:cxnLst>
              <a:cxn ang="0">
                <a:pos x="T0" y="T1"/>
              </a:cxn>
              <a:cxn ang="0">
                <a:pos x="T2" y="T3"/>
              </a:cxn>
              <a:cxn ang="0">
                <a:pos x="T4" y="T5"/>
              </a:cxn>
              <a:cxn ang="0">
                <a:pos x="T6" y="T7"/>
              </a:cxn>
              <a:cxn ang="0">
                <a:pos x="T8" y="T9"/>
              </a:cxn>
              <a:cxn ang="0">
                <a:pos x="T10" y="T11"/>
              </a:cxn>
            </a:cxnLst>
            <a:rect l="0" t="0" r="r" b="b"/>
            <a:pathLst>
              <a:path w="528" h="688">
                <a:moveTo>
                  <a:pt x="528" y="144"/>
                </a:moveTo>
                <a:cubicBezTo>
                  <a:pt x="472" y="72"/>
                  <a:pt x="416" y="0"/>
                  <a:pt x="336" y="0"/>
                </a:cubicBezTo>
                <a:cubicBezTo>
                  <a:pt x="256" y="0"/>
                  <a:pt x="96" y="64"/>
                  <a:pt x="48" y="144"/>
                </a:cubicBezTo>
                <a:cubicBezTo>
                  <a:pt x="0" y="224"/>
                  <a:pt x="8" y="392"/>
                  <a:pt x="48" y="480"/>
                </a:cubicBezTo>
                <a:cubicBezTo>
                  <a:pt x="88" y="568"/>
                  <a:pt x="224" y="688"/>
                  <a:pt x="288" y="672"/>
                </a:cubicBezTo>
                <a:cubicBezTo>
                  <a:pt x="352" y="656"/>
                  <a:pt x="392" y="520"/>
                  <a:pt x="432" y="384"/>
                </a:cubicBezTo>
              </a:path>
            </a:pathLst>
          </a:custGeom>
          <a:solidFill>
            <a:srgbClr val="FF9900"/>
          </a:solidFill>
          <a:ln w="38100" cmpd="sng">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64" name="Freeform 16"/>
          <p:cNvSpPr/>
          <p:nvPr/>
        </p:nvSpPr>
        <p:spPr bwMode="auto">
          <a:xfrm>
            <a:off x="7162800" y="2393950"/>
            <a:ext cx="736600" cy="450850"/>
          </a:xfrm>
          <a:custGeom>
            <a:avLst/>
            <a:gdLst>
              <a:gd name="T0" fmla="*/ 112 w 464"/>
              <a:gd name="T1" fmla="*/ 48 h 288"/>
              <a:gd name="T2" fmla="*/ 16 w 464"/>
              <a:gd name="T3" fmla="*/ 192 h 288"/>
              <a:gd name="T4" fmla="*/ 208 w 464"/>
              <a:gd name="T5" fmla="*/ 288 h 288"/>
              <a:gd name="T6" fmla="*/ 400 w 464"/>
              <a:gd name="T7" fmla="*/ 192 h 288"/>
              <a:gd name="T8" fmla="*/ 448 w 464"/>
              <a:gd name="T9" fmla="*/ 48 h 288"/>
              <a:gd name="T10" fmla="*/ 304 w 464"/>
              <a:gd name="T11" fmla="*/ 0 h 288"/>
              <a:gd name="T12" fmla="*/ 112 w 464"/>
              <a:gd name="T13" fmla="*/ 48 h 288"/>
            </a:gdLst>
            <a:ahLst/>
            <a:cxnLst>
              <a:cxn ang="0">
                <a:pos x="T0" y="T1"/>
              </a:cxn>
              <a:cxn ang="0">
                <a:pos x="T2" y="T3"/>
              </a:cxn>
              <a:cxn ang="0">
                <a:pos x="T4" y="T5"/>
              </a:cxn>
              <a:cxn ang="0">
                <a:pos x="T6" y="T7"/>
              </a:cxn>
              <a:cxn ang="0">
                <a:pos x="T8" y="T9"/>
              </a:cxn>
              <a:cxn ang="0">
                <a:pos x="T10" y="T11"/>
              </a:cxn>
              <a:cxn ang="0">
                <a:pos x="T12" y="T13"/>
              </a:cxn>
            </a:cxnLst>
            <a:rect l="0" t="0" r="r" b="b"/>
            <a:pathLst>
              <a:path w="464" h="288">
                <a:moveTo>
                  <a:pt x="112" y="48"/>
                </a:moveTo>
                <a:cubicBezTo>
                  <a:pt x="64" y="80"/>
                  <a:pt x="0" y="152"/>
                  <a:pt x="16" y="192"/>
                </a:cubicBezTo>
                <a:cubicBezTo>
                  <a:pt x="32" y="232"/>
                  <a:pt x="144" y="288"/>
                  <a:pt x="208" y="288"/>
                </a:cubicBezTo>
                <a:cubicBezTo>
                  <a:pt x="272" y="288"/>
                  <a:pt x="360" y="232"/>
                  <a:pt x="400" y="192"/>
                </a:cubicBezTo>
                <a:cubicBezTo>
                  <a:pt x="440" y="152"/>
                  <a:pt x="464" y="80"/>
                  <a:pt x="448" y="48"/>
                </a:cubicBezTo>
                <a:cubicBezTo>
                  <a:pt x="432" y="16"/>
                  <a:pt x="352" y="0"/>
                  <a:pt x="304" y="0"/>
                </a:cubicBezTo>
                <a:cubicBezTo>
                  <a:pt x="256" y="0"/>
                  <a:pt x="160" y="16"/>
                  <a:pt x="112" y="48"/>
                </a:cubicBezTo>
                <a:close/>
              </a:path>
            </a:pathLst>
          </a:custGeom>
          <a:solidFill>
            <a:srgbClr val="FF00FF"/>
          </a:solidFill>
          <a:ln>
            <a:noFill/>
          </a:ln>
          <a:effectLst/>
          <a:extLst>
            <a:ext uri="{91240B29-F687-4F45-9708-019B960494DF}">
              <a14:hiddenLine xmlns:a14="http://schemas.microsoft.com/office/drawing/2010/main" w="38100">
                <a:solidFill>
                  <a:srgbClr val="0033CC"/>
                </a:solidFill>
                <a:rou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nvGrpSpPr>
          <p:cNvPr id="1179665" name="Group 17"/>
          <p:cNvGrpSpPr/>
          <p:nvPr/>
        </p:nvGrpSpPr>
        <p:grpSpPr bwMode="auto">
          <a:xfrm>
            <a:off x="5314950" y="1638300"/>
            <a:ext cx="3276600" cy="2324100"/>
            <a:chOff x="2880" y="96"/>
            <a:chExt cx="2064" cy="1464"/>
          </a:xfrm>
        </p:grpSpPr>
        <p:sp>
          <p:nvSpPr>
            <p:cNvPr id="1179666" name="Freeform 18"/>
            <p:cNvSpPr/>
            <p:nvPr/>
          </p:nvSpPr>
          <p:spPr bwMode="auto">
            <a:xfrm>
              <a:off x="4032" y="572"/>
              <a:ext cx="464" cy="284"/>
            </a:xfrm>
            <a:custGeom>
              <a:avLst/>
              <a:gdLst>
                <a:gd name="T0" fmla="*/ 112 w 464"/>
                <a:gd name="T1" fmla="*/ 48 h 288"/>
                <a:gd name="T2" fmla="*/ 16 w 464"/>
                <a:gd name="T3" fmla="*/ 192 h 288"/>
                <a:gd name="T4" fmla="*/ 208 w 464"/>
                <a:gd name="T5" fmla="*/ 288 h 288"/>
                <a:gd name="T6" fmla="*/ 400 w 464"/>
                <a:gd name="T7" fmla="*/ 192 h 288"/>
                <a:gd name="T8" fmla="*/ 448 w 464"/>
                <a:gd name="T9" fmla="*/ 48 h 288"/>
                <a:gd name="T10" fmla="*/ 304 w 464"/>
                <a:gd name="T11" fmla="*/ 0 h 288"/>
                <a:gd name="T12" fmla="*/ 112 w 464"/>
                <a:gd name="T13" fmla="*/ 48 h 288"/>
              </a:gdLst>
              <a:ahLst/>
              <a:cxnLst>
                <a:cxn ang="0">
                  <a:pos x="T0" y="T1"/>
                </a:cxn>
                <a:cxn ang="0">
                  <a:pos x="T2" y="T3"/>
                </a:cxn>
                <a:cxn ang="0">
                  <a:pos x="T4" y="T5"/>
                </a:cxn>
                <a:cxn ang="0">
                  <a:pos x="T6" y="T7"/>
                </a:cxn>
                <a:cxn ang="0">
                  <a:pos x="T8" y="T9"/>
                </a:cxn>
                <a:cxn ang="0">
                  <a:pos x="T10" y="T11"/>
                </a:cxn>
                <a:cxn ang="0">
                  <a:pos x="T12" y="T13"/>
                </a:cxn>
              </a:cxnLst>
              <a:rect l="0" t="0" r="r" b="b"/>
              <a:pathLst>
                <a:path w="464" h="288">
                  <a:moveTo>
                    <a:pt x="112" y="48"/>
                  </a:moveTo>
                  <a:cubicBezTo>
                    <a:pt x="64" y="80"/>
                    <a:pt x="0" y="152"/>
                    <a:pt x="16" y="192"/>
                  </a:cubicBezTo>
                  <a:cubicBezTo>
                    <a:pt x="32" y="232"/>
                    <a:pt x="144" y="288"/>
                    <a:pt x="208" y="288"/>
                  </a:cubicBezTo>
                  <a:cubicBezTo>
                    <a:pt x="272" y="288"/>
                    <a:pt x="360" y="232"/>
                    <a:pt x="400" y="192"/>
                  </a:cubicBezTo>
                  <a:cubicBezTo>
                    <a:pt x="440" y="152"/>
                    <a:pt x="464" y="80"/>
                    <a:pt x="448" y="48"/>
                  </a:cubicBezTo>
                  <a:cubicBezTo>
                    <a:pt x="432" y="16"/>
                    <a:pt x="352" y="0"/>
                    <a:pt x="304" y="0"/>
                  </a:cubicBezTo>
                  <a:cubicBezTo>
                    <a:pt x="256" y="0"/>
                    <a:pt x="160" y="16"/>
                    <a:pt x="112" y="48"/>
                  </a:cubicBezTo>
                  <a:close/>
                </a:path>
              </a:pathLst>
            </a:custGeom>
            <a:noFill/>
            <a:ln w="38100" cmpd="sng">
              <a:solidFill>
                <a:schemeClr val="tx1"/>
              </a:solidFill>
              <a:rou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67" name="Freeform 19"/>
            <p:cNvSpPr/>
            <p:nvPr/>
          </p:nvSpPr>
          <p:spPr bwMode="auto">
            <a:xfrm>
              <a:off x="4240" y="765"/>
              <a:ext cx="520" cy="387"/>
            </a:xfrm>
            <a:custGeom>
              <a:avLst/>
              <a:gdLst>
                <a:gd name="T0" fmla="*/ 192 w 520"/>
                <a:gd name="T1" fmla="*/ 0 h 392"/>
                <a:gd name="T2" fmla="*/ 336 w 520"/>
                <a:gd name="T3" fmla="*/ 48 h 392"/>
                <a:gd name="T4" fmla="*/ 480 w 520"/>
                <a:gd name="T5" fmla="*/ 96 h 392"/>
                <a:gd name="T6" fmla="*/ 480 w 520"/>
                <a:gd name="T7" fmla="*/ 336 h 392"/>
                <a:gd name="T8" fmla="*/ 240 w 520"/>
                <a:gd name="T9" fmla="*/ 384 h 392"/>
                <a:gd name="T10" fmla="*/ 96 w 520"/>
                <a:gd name="T11" fmla="*/ 288 h 392"/>
                <a:gd name="T12" fmla="*/ 0 w 520"/>
                <a:gd name="T13" fmla="*/ 96 h 392"/>
              </a:gdLst>
              <a:ahLst/>
              <a:cxnLst>
                <a:cxn ang="0">
                  <a:pos x="T0" y="T1"/>
                </a:cxn>
                <a:cxn ang="0">
                  <a:pos x="T2" y="T3"/>
                </a:cxn>
                <a:cxn ang="0">
                  <a:pos x="T4" y="T5"/>
                </a:cxn>
                <a:cxn ang="0">
                  <a:pos x="T6" y="T7"/>
                </a:cxn>
                <a:cxn ang="0">
                  <a:pos x="T8" y="T9"/>
                </a:cxn>
                <a:cxn ang="0">
                  <a:pos x="T10" y="T11"/>
                </a:cxn>
                <a:cxn ang="0">
                  <a:pos x="T12" y="T13"/>
                </a:cxn>
              </a:cxnLst>
              <a:rect l="0" t="0" r="r" b="b"/>
              <a:pathLst>
                <a:path w="520" h="392">
                  <a:moveTo>
                    <a:pt x="192" y="0"/>
                  </a:moveTo>
                  <a:cubicBezTo>
                    <a:pt x="240" y="16"/>
                    <a:pt x="288" y="32"/>
                    <a:pt x="336" y="48"/>
                  </a:cubicBezTo>
                  <a:cubicBezTo>
                    <a:pt x="384" y="64"/>
                    <a:pt x="456" y="48"/>
                    <a:pt x="480" y="96"/>
                  </a:cubicBezTo>
                  <a:cubicBezTo>
                    <a:pt x="504" y="144"/>
                    <a:pt x="520" y="288"/>
                    <a:pt x="480" y="336"/>
                  </a:cubicBezTo>
                  <a:cubicBezTo>
                    <a:pt x="440" y="384"/>
                    <a:pt x="304" y="392"/>
                    <a:pt x="240" y="384"/>
                  </a:cubicBezTo>
                  <a:cubicBezTo>
                    <a:pt x="176" y="376"/>
                    <a:pt x="136" y="336"/>
                    <a:pt x="96" y="288"/>
                  </a:cubicBezTo>
                  <a:cubicBezTo>
                    <a:pt x="56" y="240"/>
                    <a:pt x="28" y="168"/>
                    <a:pt x="0" y="96"/>
                  </a:cubicBezTo>
                </a:path>
              </a:pathLst>
            </a:custGeom>
            <a:noFill/>
            <a:ln w="38100" cmpd="sng">
              <a:solidFill>
                <a:schemeClr val="tx1"/>
              </a:solidFill>
              <a:round/>
            </a:ln>
            <a:effectLst/>
            <a:extLst>
              <a:ext uri="{909E8E84-426E-40DD-AFC4-6F175D3DCCD1}">
                <a14:hiddenFill xmlns:a14="http://schemas.microsoft.com/office/drawing/2010/main">
                  <a:solidFill>
                    <a:srgbClr val="66FF99"/>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68" name="Freeform 20"/>
            <p:cNvSpPr/>
            <p:nvPr/>
          </p:nvSpPr>
          <p:spPr bwMode="auto">
            <a:xfrm>
              <a:off x="3400" y="190"/>
              <a:ext cx="936" cy="1114"/>
            </a:xfrm>
            <a:custGeom>
              <a:avLst/>
              <a:gdLst>
                <a:gd name="T0" fmla="*/ 936 w 936"/>
                <a:gd name="T1" fmla="*/ 872 h 1128"/>
                <a:gd name="T2" fmla="*/ 840 w 936"/>
                <a:gd name="T3" fmla="*/ 920 h 1128"/>
                <a:gd name="T4" fmla="*/ 696 w 936"/>
                <a:gd name="T5" fmla="*/ 1016 h 1128"/>
                <a:gd name="T6" fmla="*/ 456 w 936"/>
                <a:gd name="T7" fmla="*/ 1112 h 1128"/>
                <a:gd name="T8" fmla="*/ 72 w 936"/>
                <a:gd name="T9" fmla="*/ 920 h 1128"/>
                <a:gd name="T10" fmla="*/ 24 w 936"/>
                <a:gd name="T11" fmla="*/ 488 h 1128"/>
                <a:gd name="T12" fmla="*/ 216 w 936"/>
                <a:gd name="T13" fmla="*/ 152 h 1128"/>
                <a:gd name="T14" fmla="*/ 648 w 936"/>
                <a:gd name="T15" fmla="*/ 8 h 1128"/>
                <a:gd name="T16" fmla="*/ 792 w 936"/>
                <a:gd name="T17" fmla="*/ 200 h 1128"/>
                <a:gd name="T18" fmla="*/ 888 w 936"/>
                <a:gd name="T19" fmla="*/ 392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6" h="1128">
                  <a:moveTo>
                    <a:pt x="936" y="872"/>
                  </a:moveTo>
                  <a:cubicBezTo>
                    <a:pt x="908" y="884"/>
                    <a:pt x="880" y="896"/>
                    <a:pt x="840" y="920"/>
                  </a:cubicBezTo>
                  <a:cubicBezTo>
                    <a:pt x="800" y="944"/>
                    <a:pt x="760" y="984"/>
                    <a:pt x="696" y="1016"/>
                  </a:cubicBezTo>
                  <a:cubicBezTo>
                    <a:pt x="632" y="1048"/>
                    <a:pt x="560" y="1128"/>
                    <a:pt x="456" y="1112"/>
                  </a:cubicBezTo>
                  <a:cubicBezTo>
                    <a:pt x="352" y="1096"/>
                    <a:pt x="144" y="1024"/>
                    <a:pt x="72" y="920"/>
                  </a:cubicBezTo>
                  <a:cubicBezTo>
                    <a:pt x="0" y="816"/>
                    <a:pt x="0" y="616"/>
                    <a:pt x="24" y="488"/>
                  </a:cubicBezTo>
                  <a:cubicBezTo>
                    <a:pt x="48" y="360"/>
                    <a:pt x="112" y="232"/>
                    <a:pt x="216" y="152"/>
                  </a:cubicBezTo>
                  <a:cubicBezTo>
                    <a:pt x="320" y="72"/>
                    <a:pt x="552" y="0"/>
                    <a:pt x="648" y="8"/>
                  </a:cubicBezTo>
                  <a:cubicBezTo>
                    <a:pt x="744" y="16"/>
                    <a:pt x="752" y="136"/>
                    <a:pt x="792" y="200"/>
                  </a:cubicBezTo>
                  <a:cubicBezTo>
                    <a:pt x="832" y="264"/>
                    <a:pt x="904" y="360"/>
                    <a:pt x="888" y="392"/>
                  </a:cubicBezTo>
                </a:path>
              </a:pathLst>
            </a:custGeom>
            <a:noFill/>
            <a:ln w="381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69" name="Freeform 21"/>
            <p:cNvSpPr/>
            <p:nvPr/>
          </p:nvSpPr>
          <p:spPr bwMode="auto">
            <a:xfrm>
              <a:off x="3664" y="432"/>
              <a:ext cx="528" cy="680"/>
            </a:xfrm>
            <a:custGeom>
              <a:avLst/>
              <a:gdLst>
                <a:gd name="T0" fmla="*/ 528 w 528"/>
                <a:gd name="T1" fmla="*/ 144 h 688"/>
                <a:gd name="T2" fmla="*/ 336 w 528"/>
                <a:gd name="T3" fmla="*/ 0 h 688"/>
                <a:gd name="T4" fmla="*/ 48 w 528"/>
                <a:gd name="T5" fmla="*/ 144 h 688"/>
                <a:gd name="T6" fmla="*/ 48 w 528"/>
                <a:gd name="T7" fmla="*/ 480 h 688"/>
                <a:gd name="T8" fmla="*/ 288 w 528"/>
                <a:gd name="T9" fmla="*/ 672 h 688"/>
                <a:gd name="T10" fmla="*/ 432 w 528"/>
                <a:gd name="T11" fmla="*/ 384 h 688"/>
              </a:gdLst>
              <a:ahLst/>
              <a:cxnLst>
                <a:cxn ang="0">
                  <a:pos x="T0" y="T1"/>
                </a:cxn>
                <a:cxn ang="0">
                  <a:pos x="T2" y="T3"/>
                </a:cxn>
                <a:cxn ang="0">
                  <a:pos x="T4" y="T5"/>
                </a:cxn>
                <a:cxn ang="0">
                  <a:pos x="T6" y="T7"/>
                </a:cxn>
                <a:cxn ang="0">
                  <a:pos x="T8" y="T9"/>
                </a:cxn>
                <a:cxn ang="0">
                  <a:pos x="T10" y="T11"/>
                </a:cxn>
              </a:cxnLst>
              <a:rect l="0" t="0" r="r" b="b"/>
              <a:pathLst>
                <a:path w="528" h="688">
                  <a:moveTo>
                    <a:pt x="528" y="144"/>
                  </a:moveTo>
                  <a:cubicBezTo>
                    <a:pt x="472" y="72"/>
                    <a:pt x="416" y="0"/>
                    <a:pt x="336" y="0"/>
                  </a:cubicBezTo>
                  <a:cubicBezTo>
                    <a:pt x="256" y="0"/>
                    <a:pt x="96" y="64"/>
                    <a:pt x="48" y="144"/>
                  </a:cubicBezTo>
                  <a:cubicBezTo>
                    <a:pt x="0" y="224"/>
                    <a:pt x="8" y="392"/>
                    <a:pt x="48" y="480"/>
                  </a:cubicBezTo>
                  <a:cubicBezTo>
                    <a:pt x="88" y="568"/>
                    <a:pt x="224" y="688"/>
                    <a:pt x="288" y="672"/>
                  </a:cubicBezTo>
                  <a:cubicBezTo>
                    <a:pt x="352" y="656"/>
                    <a:pt x="392" y="520"/>
                    <a:pt x="432" y="384"/>
                  </a:cubicBezTo>
                </a:path>
              </a:pathLst>
            </a:custGeom>
            <a:noFill/>
            <a:ln w="38100" cmpd="sng">
              <a:solidFill>
                <a:schemeClr val="tx1"/>
              </a:solidFill>
              <a:rou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70" name="Freeform 22"/>
            <p:cNvSpPr/>
            <p:nvPr/>
          </p:nvSpPr>
          <p:spPr bwMode="auto">
            <a:xfrm>
              <a:off x="2880" y="96"/>
              <a:ext cx="576" cy="608"/>
            </a:xfrm>
            <a:custGeom>
              <a:avLst/>
              <a:gdLst>
                <a:gd name="T0" fmla="*/ 288 w 736"/>
                <a:gd name="T1" fmla="*/ 104 h 816"/>
                <a:gd name="T2" fmla="*/ 576 w 736"/>
                <a:gd name="T3" fmla="*/ 56 h 816"/>
                <a:gd name="T4" fmla="*/ 720 w 736"/>
                <a:gd name="T5" fmla="*/ 440 h 816"/>
                <a:gd name="T6" fmla="*/ 480 w 736"/>
                <a:gd name="T7" fmla="*/ 776 h 816"/>
                <a:gd name="T8" fmla="*/ 48 w 736"/>
                <a:gd name="T9" fmla="*/ 680 h 816"/>
                <a:gd name="T10" fmla="*/ 192 w 736"/>
                <a:gd name="T11" fmla="*/ 392 h 816"/>
                <a:gd name="T12" fmla="*/ 192 w 736"/>
                <a:gd name="T13" fmla="*/ 200 h 816"/>
                <a:gd name="T14" fmla="*/ 288 w 736"/>
                <a:gd name="T15" fmla="*/ 104 h 8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6" h="816">
                  <a:moveTo>
                    <a:pt x="288" y="104"/>
                  </a:moveTo>
                  <a:cubicBezTo>
                    <a:pt x="352" y="80"/>
                    <a:pt x="504" y="0"/>
                    <a:pt x="576" y="56"/>
                  </a:cubicBezTo>
                  <a:cubicBezTo>
                    <a:pt x="648" y="112"/>
                    <a:pt x="736" y="320"/>
                    <a:pt x="720" y="440"/>
                  </a:cubicBezTo>
                  <a:cubicBezTo>
                    <a:pt x="704" y="560"/>
                    <a:pt x="592" y="736"/>
                    <a:pt x="480" y="776"/>
                  </a:cubicBezTo>
                  <a:cubicBezTo>
                    <a:pt x="368" y="816"/>
                    <a:pt x="96" y="744"/>
                    <a:pt x="48" y="680"/>
                  </a:cubicBezTo>
                  <a:cubicBezTo>
                    <a:pt x="0" y="616"/>
                    <a:pt x="168" y="472"/>
                    <a:pt x="192" y="392"/>
                  </a:cubicBezTo>
                  <a:cubicBezTo>
                    <a:pt x="216" y="312"/>
                    <a:pt x="176" y="248"/>
                    <a:pt x="192" y="200"/>
                  </a:cubicBezTo>
                  <a:cubicBezTo>
                    <a:pt x="208" y="152"/>
                    <a:pt x="224" y="128"/>
                    <a:pt x="288" y="104"/>
                  </a:cubicBezTo>
                  <a:close/>
                </a:path>
              </a:pathLst>
            </a:custGeom>
            <a:noFill/>
            <a:ln w="38100" cmpd="sng">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79671" name="Freeform 23"/>
            <p:cNvSpPr/>
            <p:nvPr/>
          </p:nvSpPr>
          <p:spPr bwMode="auto">
            <a:xfrm>
              <a:off x="4416" y="476"/>
              <a:ext cx="456" cy="340"/>
            </a:xfrm>
            <a:custGeom>
              <a:avLst/>
              <a:gdLst>
                <a:gd name="T0" fmla="*/ 48 w 456"/>
                <a:gd name="T1" fmla="*/ 96 h 344"/>
                <a:gd name="T2" fmla="*/ 192 w 456"/>
                <a:gd name="T3" fmla="*/ 0 h 344"/>
                <a:gd name="T4" fmla="*/ 384 w 456"/>
                <a:gd name="T5" fmla="*/ 96 h 344"/>
                <a:gd name="T6" fmla="*/ 432 w 456"/>
                <a:gd name="T7" fmla="*/ 288 h 344"/>
                <a:gd name="T8" fmla="*/ 240 w 456"/>
                <a:gd name="T9" fmla="*/ 336 h 344"/>
                <a:gd name="T10" fmla="*/ 96 w 456"/>
                <a:gd name="T11" fmla="*/ 336 h 344"/>
                <a:gd name="T12" fmla="*/ 0 w 456"/>
                <a:gd name="T13" fmla="*/ 288 h 344"/>
              </a:gdLst>
              <a:ahLst/>
              <a:cxnLst>
                <a:cxn ang="0">
                  <a:pos x="T0" y="T1"/>
                </a:cxn>
                <a:cxn ang="0">
                  <a:pos x="T2" y="T3"/>
                </a:cxn>
                <a:cxn ang="0">
                  <a:pos x="T4" y="T5"/>
                </a:cxn>
                <a:cxn ang="0">
                  <a:pos x="T6" y="T7"/>
                </a:cxn>
                <a:cxn ang="0">
                  <a:pos x="T8" y="T9"/>
                </a:cxn>
                <a:cxn ang="0">
                  <a:pos x="T10" y="T11"/>
                </a:cxn>
                <a:cxn ang="0">
                  <a:pos x="T12" y="T13"/>
                </a:cxn>
              </a:cxnLst>
              <a:rect l="0" t="0" r="r" b="b"/>
              <a:pathLst>
                <a:path w="456" h="344">
                  <a:moveTo>
                    <a:pt x="48" y="96"/>
                  </a:moveTo>
                  <a:cubicBezTo>
                    <a:pt x="92" y="48"/>
                    <a:pt x="136" y="0"/>
                    <a:pt x="192" y="0"/>
                  </a:cubicBezTo>
                  <a:cubicBezTo>
                    <a:pt x="248" y="0"/>
                    <a:pt x="344" y="48"/>
                    <a:pt x="384" y="96"/>
                  </a:cubicBezTo>
                  <a:cubicBezTo>
                    <a:pt x="424" y="144"/>
                    <a:pt x="456" y="248"/>
                    <a:pt x="432" y="288"/>
                  </a:cubicBezTo>
                  <a:cubicBezTo>
                    <a:pt x="408" y="328"/>
                    <a:pt x="296" y="328"/>
                    <a:pt x="240" y="336"/>
                  </a:cubicBezTo>
                  <a:cubicBezTo>
                    <a:pt x="184" y="344"/>
                    <a:pt x="136" y="344"/>
                    <a:pt x="96" y="336"/>
                  </a:cubicBezTo>
                  <a:cubicBezTo>
                    <a:pt x="56" y="328"/>
                    <a:pt x="28" y="308"/>
                    <a:pt x="0" y="288"/>
                  </a:cubicBezTo>
                </a:path>
              </a:pathLst>
            </a:custGeom>
            <a:noFill/>
            <a:ln w="38100" cmpd="sng">
              <a:solidFill>
                <a:schemeClr val="tx1"/>
              </a:solidFill>
              <a:round/>
            </a:ln>
            <a:effectLst/>
            <a:extLst>
              <a:ext uri="{909E8E84-426E-40DD-AFC4-6F175D3DCCD1}">
                <a14:hiddenFill xmlns:a14="http://schemas.microsoft.com/office/drawing/2010/main">
                  <a:solidFill>
                    <a:srgbClr val="FF505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nvGrpSpPr>
            <p:cNvPr id="1179672" name="Group 24"/>
            <p:cNvGrpSpPr/>
            <p:nvPr/>
          </p:nvGrpSpPr>
          <p:grpSpPr bwMode="auto">
            <a:xfrm>
              <a:off x="3120" y="186"/>
              <a:ext cx="1680" cy="1191"/>
              <a:chOff x="3120" y="186"/>
              <a:chExt cx="1680" cy="1191"/>
            </a:xfrm>
          </p:grpSpPr>
          <p:sp>
            <p:nvSpPr>
              <p:cNvPr id="1179673" name="Text Box 25"/>
              <p:cNvSpPr txBox="1">
                <a:spLocks noChangeArrowheads="1"/>
              </p:cNvSpPr>
              <p:nvPr/>
            </p:nvSpPr>
            <p:spPr bwMode="auto">
              <a:xfrm>
                <a:off x="4128" y="570"/>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en-US" altLang="zh-CN" sz="1800" b="1"/>
                  <a:t>(1)</a:t>
                </a:r>
                <a:endParaRPr lang="en-US" altLang="zh-CN" sz="1800" b="1"/>
              </a:p>
            </p:txBody>
          </p:sp>
          <p:sp>
            <p:nvSpPr>
              <p:cNvPr id="1179674" name="Text Box 26"/>
              <p:cNvSpPr txBox="1">
                <a:spLocks noChangeArrowheads="1"/>
              </p:cNvSpPr>
              <p:nvPr/>
            </p:nvSpPr>
            <p:spPr bwMode="auto">
              <a:xfrm>
                <a:off x="3712" y="570"/>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en-US" altLang="zh-CN" sz="1800" b="1"/>
                  <a:t>(2)</a:t>
                </a:r>
                <a:endParaRPr lang="en-US" altLang="zh-CN" sz="1800" b="1"/>
              </a:p>
            </p:txBody>
          </p:sp>
          <p:sp>
            <p:nvSpPr>
              <p:cNvPr id="1179675" name="Text Box 27"/>
              <p:cNvSpPr txBox="1">
                <a:spLocks noChangeArrowheads="1"/>
              </p:cNvSpPr>
              <p:nvPr/>
            </p:nvSpPr>
            <p:spPr bwMode="auto">
              <a:xfrm>
                <a:off x="4384" y="81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en-US" altLang="zh-CN" sz="1800" b="1"/>
                  <a:t>(4)</a:t>
                </a:r>
                <a:endParaRPr lang="en-US" altLang="zh-CN" sz="1800" b="1"/>
              </a:p>
            </p:txBody>
          </p:sp>
          <p:sp>
            <p:nvSpPr>
              <p:cNvPr id="1179676" name="Text Box 28"/>
              <p:cNvSpPr txBox="1">
                <a:spLocks noChangeArrowheads="1"/>
              </p:cNvSpPr>
              <p:nvPr/>
            </p:nvSpPr>
            <p:spPr bwMode="auto">
              <a:xfrm>
                <a:off x="4432" y="114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en-US" altLang="zh-CN" sz="1800" b="1"/>
                  <a:t>(5)</a:t>
                </a:r>
                <a:endParaRPr lang="en-US" altLang="zh-CN" sz="1800" b="1"/>
              </a:p>
            </p:txBody>
          </p:sp>
          <p:sp>
            <p:nvSpPr>
              <p:cNvPr id="1179677" name="Text Box 29"/>
              <p:cNvSpPr txBox="1">
                <a:spLocks noChangeArrowheads="1"/>
              </p:cNvSpPr>
              <p:nvPr/>
            </p:nvSpPr>
            <p:spPr bwMode="auto">
              <a:xfrm>
                <a:off x="3424" y="76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en-US" altLang="zh-CN" sz="1800" b="1"/>
                  <a:t>(6)</a:t>
                </a:r>
                <a:endParaRPr lang="en-US" altLang="zh-CN" sz="1800" b="1"/>
              </a:p>
            </p:txBody>
          </p:sp>
          <p:sp>
            <p:nvSpPr>
              <p:cNvPr id="1179678" name="Text Box 30"/>
              <p:cNvSpPr txBox="1">
                <a:spLocks noChangeArrowheads="1"/>
              </p:cNvSpPr>
              <p:nvPr/>
            </p:nvSpPr>
            <p:spPr bwMode="auto">
              <a:xfrm>
                <a:off x="3120" y="18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en-US" altLang="zh-CN" sz="1800" b="1"/>
                  <a:t>(7)</a:t>
                </a:r>
                <a:endParaRPr lang="en-US" altLang="zh-CN" sz="1800" b="1"/>
              </a:p>
            </p:txBody>
          </p:sp>
          <p:sp>
            <p:nvSpPr>
              <p:cNvPr id="1179679" name="Text Box 31"/>
              <p:cNvSpPr txBox="1">
                <a:spLocks noChangeArrowheads="1"/>
              </p:cNvSpPr>
              <p:nvPr/>
            </p:nvSpPr>
            <p:spPr bwMode="auto">
              <a:xfrm>
                <a:off x="4464" y="522"/>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en-US" altLang="zh-CN" sz="1800" b="1"/>
                  <a:t>(3)</a:t>
                </a:r>
                <a:endParaRPr lang="en-US" altLang="zh-CN" sz="1800" b="1"/>
              </a:p>
            </p:txBody>
          </p:sp>
        </p:grpSp>
        <p:sp>
          <p:nvSpPr>
            <p:cNvPr id="1179680" name="Freeform 32"/>
            <p:cNvSpPr/>
            <p:nvPr/>
          </p:nvSpPr>
          <p:spPr bwMode="auto">
            <a:xfrm>
              <a:off x="4128" y="280"/>
              <a:ext cx="816" cy="1280"/>
            </a:xfrm>
            <a:custGeom>
              <a:avLst/>
              <a:gdLst>
                <a:gd name="T0" fmla="*/ 288 w 816"/>
                <a:gd name="T1" fmla="*/ 304 h 1296"/>
                <a:gd name="T2" fmla="*/ 384 w 816"/>
                <a:gd name="T3" fmla="*/ 64 h 1296"/>
                <a:gd name="T4" fmla="*/ 624 w 816"/>
                <a:gd name="T5" fmla="*/ 16 h 1296"/>
                <a:gd name="T6" fmla="*/ 768 w 816"/>
                <a:gd name="T7" fmla="*/ 160 h 1296"/>
                <a:gd name="T8" fmla="*/ 816 w 816"/>
                <a:gd name="T9" fmla="*/ 496 h 1296"/>
                <a:gd name="T10" fmla="*/ 768 w 816"/>
                <a:gd name="T11" fmla="*/ 976 h 1296"/>
                <a:gd name="T12" fmla="*/ 672 w 816"/>
                <a:gd name="T13" fmla="*/ 1264 h 1296"/>
                <a:gd name="T14" fmla="*/ 288 w 816"/>
                <a:gd name="T15" fmla="*/ 1168 h 1296"/>
                <a:gd name="T16" fmla="*/ 96 w 816"/>
                <a:gd name="T17" fmla="*/ 1024 h 1296"/>
                <a:gd name="T18" fmla="*/ 0 w 816"/>
                <a:gd name="T19" fmla="*/ 928 h 1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6" h="1296">
                  <a:moveTo>
                    <a:pt x="288" y="304"/>
                  </a:moveTo>
                  <a:cubicBezTo>
                    <a:pt x="308" y="208"/>
                    <a:pt x="328" y="112"/>
                    <a:pt x="384" y="64"/>
                  </a:cubicBezTo>
                  <a:cubicBezTo>
                    <a:pt x="440" y="16"/>
                    <a:pt x="560" y="0"/>
                    <a:pt x="624" y="16"/>
                  </a:cubicBezTo>
                  <a:cubicBezTo>
                    <a:pt x="688" y="32"/>
                    <a:pt x="736" y="80"/>
                    <a:pt x="768" y="160"/>
                  </a:cubicBezTo>
                  <a:cubicBezTo>
                    <a:pt x="800" y="240"/>
                    <a:pt x="816" y="360"/>
                    <a:pt x="816" y="496"/>
                  </a:cubicBezTo>
                  <a:cubicBezTo>
                    <a:pt x="816" y="632"/>
                    <a:pt x="792" y="848"/>
                    <a:pt x="768" y="976"/>
                  </a:cubicBezTo>
                  <a:cubicBezTo>
                    <a:pt x="744" y="1104"/>
                    <a:pt x="752" y="1232"/>
                    <a:pt x="672" y="1264"/>
                  </a:cubicBezTo>
                  <a:cubicBezTo>
                    <a:pt x="592" y="1296"/>
                    <a:pt x="384" y="1208"/>
                    <a:pt x="288" y="1168"/>
                  </a:cubicBezTo>
                  <a:cubicBezTo>
                    <a:pt x="192" y="1128"/>
                    <a:pt x="144" y="1064"/>
                    <a:pt x="96" y="1024"/>
                  </a:cubicBezTo>
                  <a:cubicBezTo>
                    <a:pt x="48" y="984"/>
                    <a:pt x="24" y="956"/>
                    <a:pt x="0" y="928"/>
                  </a:cubicBezTo>
                </a:path>
              </a:pathLst>
            </a:custGeom>
            <a:noFill/>
            <a:ln w="381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1179681" name="Rectangle 33"/>
          <p:cNvSpPr>
            <a:spLocks noChangeArrowheads="1"/>
          </p:cNvSpPr>
          <p:nvPr/>
        </p:nvSpPr>
        <p:spPr bwMode="auto">
          <a:xfrm>
            <a:off x="533400" y="152400"/>
            <a:ext cx="5867400" cy="550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lvl="2">
              <a:buFontTx/>
              <a:buNone/>
            </a:pPr>
            <a:r>
              <a:rPr lang="zh-CN" altLang="en-US" sz="4000">
                <a:ea typeface="楷体_GB2312" charset="0"/>
              </a:rPr>
              <a:t>地图四染色问题</a:t>
            </a:r>
            <a:endParaRPr lang="zh-CN" altLang="en-US" sz="4000">
              <a:ea typeface="楷体_GB2312" charset="0"/>
            </a:endParaRPr>
          </a:p>
        </p:txBody>
      </p:sp>
      <p:grpSp>
        <p:nvGrpSpPr>
          <p:cNvPr id="1179682" name="Group 34"/>
          <p:cNvGrpSpPr/>
          <p:nvPr/>
        </p:nvGrpSpPr>
        <p:grpSpPr bwMode="auto">
          <a:xfrm>
            <a:off x="708025" y="952500"/>
            <a:ext cx="3162300" cy="3219450"/>
            <a:chOff x="554" y="1200"/>
            <a:chExt cx="1992" cy="2028"/>
          </a:xfrm>
        </p:grpSpPr>
        <p:sp>
          <p:nvSpPr>
            <p:cNvPr id="1179683" name="Text Box 35"/>
            <p:cNvSpPr txBox="1">
              <a:spLocks noChangeArrowheads="1"/>
            </p:cNvSpPr>
            <p:nvPr/>
          </p:nvSpPr>
          <p:spPr bwMode="auto">
            <a:xfrm>
              <a:off x="1284" y="1200"/>
              <a:ext cx="668" cy="212"/>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50000"/>
                </a:spcBef>
              </a:pPr>
              <a:r>
                <a:rPr lang="en-US" altLang="zh-CN" sz="1600" b="1"/>
                <a:t>R [  7][ 7 ]</a:t>
              </a:r>
              <a:endParaRPr lang="en-US" altLang="zh-CN" sz="1600" b="1"/>
            </a:p>
          </p:txBody>
        </p:sp>
        <p:sp>
          <p:nvSpPr>
            <p:cNvPr id="1179684" name="Rectangle 36"/>
            <p:cNvSpPr>
              <a:spLocks noChangeArrowheads="1"/>
            </p:cNvSpPr>
            <p:nvPr/>
          </p:nvSpPr>
          <p:spPr bwMode="auto">
            <a:xfrm>
              <a:off x="816" y="1500"/>
              <a:ext cx="1728" cy="24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b="1"/>
                <a:t>1    2    3    4    5    6    7</a:t>
              </a:r>
              <a:endParaRPr lang="en-US" altLang="zh-CN" b="1"/>
            </a:p>
          </p:txBody>
        </p:sp>
        <p:sp>
          <p:nvSpPr>
            <p:cNvPr id="1179685" name="Text Box 37"/>
            <p:cNvSpPr txBox="1">
              <a:spLocks noChangeArrowheads="1"/>
            </p:cNvSpPr>
            <p:nvPr/>
          </p:nvSpPr>
          <p:spPr bwMode="auto">
            <a:xfrm>
              <a:off x="554" y="1740"/>
              <a:ext cx="270" cy="1488"/>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a:spAutoFit/>
            </a:bodyPr>
            <a:lstStyle/>
            <a:p>
              <a:pPr eaLnBrk="0" hangingPunct="0">
                <a:spcBef>
                  <a:spcPct val="50000"/>
                </a:spcBef>
              </a:pPr>
              <a:r>
                <a:rPr lang="en-US" altLang="zh-CN" sz="1600" b="1"/>
                <a:t>1 2  3  4  5   6  7 </a:t>
              </a:r>
              <a:endParaRPr lang="en-US" altLang="zh-CN" sz="1600" b="1"/>
            </a:p>
          </p:txBody>
        </p:sp>
        <p:sp>
          <p:nvSpPr>
            <p:cNvPr id="1179686" name="Rectangle 38"/>
            <p:cNvSpPr>
              <a:spLocks noChangeArrowheads="1"/>
            </p:cNvSpPr>
            <p:nvPr/>
          </p:nvSpPr>
          <p:spPr bwMode="auto">
            <a:xfrm>
              <a:off x="828" y="1740"/>
              <a:ext cx="1716" cy="1476"/>
            </a:xfrm>
            <a:prstGeom prst="rect">
              <a:avLst/>
            </a:prstGeom>
            <a:noFill/>
            <a:ln w="9525">
              <a:solidFill>
                <a:schemeClr val="tx1"/>
              </a:solidFill>
              <a:miter lim="800000"/>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87" name="Line 39"/>
            <p:cNvSpPr>
              <a:spLocks noChangeShapeType="1"/>
            </p:cNvSpPr>
            <p:nvPr/>
          </p:nvSpPr>
          <p:spPr bwMode="auto">
            <a:xfrm>
              <a:off x="828" y="1954"/>
              <a:ext cx="17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88" name="Line 40"/>
            <p:cNvSpPr>
              <a:spLocks noChangeShapeType="1"/>
            </p:cNvSpPr>
            <p:nvPr/>
          </p:nvSpPr>
          <p:spPr bwMode="auto">
            <a:xfrm>
              <a:off x="828" y="2150"/>
              <a:ext cx="17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89" name="Line 41"/>
            <p:cNvSpPr>
              <a:spLocks noChangeShapeType="1"/>
            </p:cNvSpPr>
            <p:nvPr/>
          </p:nvSpPr>
          <p:spPr bwMode="auto">
            <a:xfrm>
              <a:off x="828" y="2359"/>
              <a:ext cx="17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0" name="Line 42"/>
            <p:cNvSpPr>
              <a:spLocks noChangeShapeType="1"/>
            </p:cNvSpPr>
            <p:nvPr/>
          </p:nvSpPr>
          <p:spPr bwMode="auto">
            <a:xfrm>
              <a:off x="828" y="2568"/>
              <a:ext cx="17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1" name="Line 43"/>
            <p:cNvSpPr>
              <a:spLocks noChangeShapeType="1"/>
            </p:cNvSpPr>
            <p:nvPr/>
          </p:nvSpPr>
          <p:spPr bwMode="auto">
            <a:xfrm>
              <a:off x="828" y="2777"/>
              <a:ext cx="17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2" name="Line 44"/>
            <p:cNvSpPr>
              <a:spLocks noChangeShapeType="1"/>
            </p:cNvSpPr>
            <p:nvPr/>
          </p:nvSpPr>
          <p:spPr bwMode="auto">
            <a:xfrm>
              <a:off x="828" y="2986"/>
              <a:ext cx="17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3" name="Line 45"/>
            <p:cNvSpPr>
              <a:spLocks noChangeShapeType="1"/>
            </p:cNvSpPr>
            <p:nvPr/>
          </p:nvSpPr>
          <p:spPr bwMode="auto">
            <a:xfrm>
              <a:off x="1068" y="1740"/>
              <a:ext cx="0" cy="1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4" name="Line 46"/>
            <p:cNvSpPr>
              <a:spLocks noChangeShapeType="1"/>
            </p:cNvSpPr>
            <p:nvPr/>
          </p:nvSpPr>
          <p:spPr bwMode="auto">
            <a:xfrm>
              <a:off x="1310" y="1740"/>
              <a:ext cx="0" cy="1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5" name="Line 47"/>
            <p:cNvSpPr>
              <a:spLocks noChangeShapeType="1"/>
            </p:cNvSpPr>
            <p:nvPr/>
          </p:nvSpPr>
          <p:spPr bwMode="auto">
            <a:xfrm>
              <a:off x="1552" y="1740"/>
              <a:ext cx="0" cy="1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6" name="Line 48"/>
            <p:cNvSpPr>
              <a:spLocks noChangeShapeType="1"/>
            </p:cNvSpPr>
            <p:nvPr/>
          </p:nvSpPr>
          <p:spPr bwMode="auto">
            <a:xfrm>
              <a:off x="1795" y="1740"/>
              <a:ext cx="0" cy="1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7" name="Line 49"/>
            <p:cNvSpPr>
              <a:spLocks noChangeShapeType="1"/>
            </p:cNvSpPr>
            <p:nvPr/>
          </p:nvSpPr>
          <p:spPr bwMode="auto">
            <a:xfrm>
              <a:off x="2037" y="1740"/>
              <a:ext cx="0" cy="1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8" name="Line 50"/>
            <p:cNvSpPr>
              <a:spLocks noChangeShapeType="1"/>
            </p:cNvSpPr>
            <p:nvPr/>
          </p:nvSpPr>
          <p:spPr bwMode="auto">
            <a:xfrm>
              <a:off x="2280" y="1740"/>
              <a:ext cx="0" cy="1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699" name="Text Box 51"/>
            <p:cNvSpPr txBox="1">
              <a:spLocks noChangeArrowheads="1"/>
            </p:cNvSpPr>
            <p:nvPr/>
          </p:nvSpPr>
          <p:spPr bwMode="auto">
            <a:xfrm>
              <a:off x="858" y="1927"/>
              <a:ext cx="1676" cy="250"/>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r>
                <a:rPr lang="en-US" altLang="zh-CN"/>
                <a:t>1    0    0    0     0   1     0</a:t>
              </a:r>
              <a:endParaRPr lang="en-US" altLang="zh-CN"/>
            </a:p>
          </p:txBody>
        </p:sp>
        <p:sp>
          <p:nvSpPr>
            <p:cNvPr id="1179700" name="Text Box 52"/>
            <p:cNvSpPr txBox="1">
              <a:spLocks noChangeArrowheads="1"/>
            </p:cNvSpPr>
            <p:nvPr/>
          </p:nvSpPr>
          <p:spPr bwMode="auto">
            <a:xfrm>
              <a:off x="870" y="1711"/>
              <a:ext cx="1676" cy="250"/>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r>
                <a:rPr lang="en-US" altLang="zh-CN"/>
                <a:t>0    1    1    1     1   1     0</a:t>
              </a:r>
              <a:endParaRPr lang="en-US" altLang="zh-CN"/>
            </a:p>
          </p:txBody>
        </p:sp>
        <p:sp>
          <p:nvSpPr>
            <p:cNvPr id="1179701" name="Text Box 53"/>
            <p:cNvSpPr txBox="1">
              <a:spLocks noChangeArrowheads="1"/>
            </p:cNvSpPr>
            <p:nvPr/>
          </p:nvSpPr>
          <p:spPr bwMode="auto">
            <a:xfrm>
              <a:off x="870" y="2345"/>
              <a:ext cx="1676" cy="250"/>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r>
                <a:rPr lang="en-US" altLang="zh-CN"/>
                <a:t>1    0    1    0     1   1     0</a:t>
              </a:r>
              <a:endParaRPr lang="en-US" altLang="zh-CN"/>
            </a:p>
          </p:txBody>
        </p:sp>
        <p:sp>
          <p:nvSpPr>
            <p:cNvPr id="1179702" name="Text Box 54"/>
            <p:cNvSpPr txBox="1">
              <a:spLocks noChangeArrowheads="1"/>
            </p:cNvSpPr>
            <p:nvPr/>
          </p:nvSpPr>
          <p:spPr bwMode="auto">
            <a:xfrm>
              <a:off x="870" y="2554"/>
              <a:ext cx="1676" cy="250"/>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r>
                <a:rPr lang="en-US" altLang="zh-CN"/>
                <a:t>1    0    1    1     0   1     0</a:t>
              </a:r>
              <a:endParaRPr lang="en-US" altLang="zh-CN"/>
            </a:p>
          </p:txBody>
        </p:sp>
        <p:sp>
          <p:nvSpPr>
            <p:cNvPr id="1179703" name="Text Box 55"/>
            <p:cNvSpPr txBox="1">
              <a:spLocks noChangeArrowheads="1"/>
            </p:cNvSpPr>
            <p:nvPr/>
          </p:nvSpPr>
          <p:spPr bwMode="auto">
            <a:xfrm>
              <a:off x="870" y="2763"/>
              <a:ext cx="1676" cy="250"/>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r>
                <a:rPr lang="en-US" altLang="zh-CN"/>
                <a:t>1    1    0    1     1   0     0</a:t>
              </a:r>
              <a:endParaRPr lang="en-US" altLang="zh-CN"/>
            </a:p>
          </p:txBody>
        </p:sp>
        <p:sp>
          <p:nvSpPr>
            <p:cNvPr id="1179704" name="Text Box 56"/>
            <p:cNvSpPr txBox="1">
              <a:spLocks noChangeArrowheads="1"/>
            </p:cNvSpPr>
            <p:nvPr/>
          </p:nvSpPr>
          <p:spPr bwMode="auto">
            <a:xfrm>
              <a:off x="870" y="2136"/>
              <a:ext cx="1676" cy="250"/>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r>
                <a:rPr lang="en-US" altLang="zh-CN"/>
                <a:t>1    0    0    1     1   0     0</a:t>
              </a:r>
              <a:endParaRPr lang="en-US" altLang="zh-CN"/>
            </a:p>
          </p:txBody>
        </p:sp>
        <p:sp>
          <p:nvSpPr>
            <p:cNvPr id="1179705" name="Text Box 57"/>
            <p:cNvSpPr txBox="1">
              <a:spLocks noChangeArrowheads="1"/>
            </p:cNvSpPr>
            <p:nvPr/>
          </p:nvSpPr>
          <p:spPr bwMode="auto">
            <a:xfrm>
              <a:off x="870" y="2971"/>
              <a:ext cx="1676" cy="250"/>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r>
                <a:rPr lang="en-US" altLang="zh-CN"/>
                <a:t>0    0    0    0     0   0     0</a:t>
              </a:r>
              <a:endParaRPr lang="en-US" altLang="zh-CN"/>
            </a:p>
          </p:txBody>
        </p:sp>
      </p:grpSp>
      <p:grpSp>
        <p:nvGrpSpPr>
          <p:cNvPr id="1179706" name="Group 58"/>
          <p:cNvGrpSpPr/>
          <p:nvPr/>
        </p:nvGrpSpPr>
        <p:grpSpPr bwMode="auto">
          <a:xfrm>
            <a:off x="5524500" y="4533900"/>
            <a:ext cx="2609850" cy="628650"/>
            <a:chOff x="3552" y="1716"/>
            <a:chExt cx="1644" cy="396"/>
          </a:xfrm>
        </p:grpSpPr>
        <p:sp>
          <p:nvSpPr>
            <p:cNvPr id="1179707" name="Rectangle 59"/>
            <p:cNvSpPr>
              <a:spLocks noChangeArrowheads="1"/>
            </p:cNvSpPr>
            <p:nvPr/>
          </p:nvSpPr>
          <p:spPr bwMode="auto">
            <a:xfrm>
              <a:off x="3564" y="1716"/>
              <a:ext cx="1632"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1400" b="1"/>
                <a:t>1      2       3       4      5      6      7  </a:t>
              </a:r>
              <a:endParaRPr lang="en-US" altLang="zh-CN" sz="1400" b="1"/>
            </a:p>
          </p:txBody>
        </p:sp>
        <p:sp>
          <p:nvSpPr>
            <p:cNvPr id="1179708" name="Rectangle 60"/>
            <p:cNvSpPr>
              <a:spLocks noChangeArrowheads="1"/>
            </p:cNvSpPr>
            <p:nvPr/>
          </p:nvSpPr>
          <p:spPr bwMode="auto">
            <a:xfrm>
              <a:off x="3552" y="1872"/>
              <a:ext cx="1620" cy="24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79709" name="Line 61"/>
            <p:cNvSpPr>
              <a:spLocks noChangeShapeType="1"/>
            </p:cNvSpPr>
            <p:nvPr/>
          </p:nvSpPr>
          <p:spPr bwMode="auto">
            <a:xfrm>
              <a:off x="3780" y="1884"/>
              <a:ext cx="0" cy="2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710" name="Line 62"/>
            <p:cNvSpPr>
              <a:spLocks noChangeShapeType="1"/>
            </p:cNvSpPr>
            <p:nvPr/>
          </p:nvSpPr>
          <p:spPr bwMode="auto">
            <a:xfrm>
              <a:off x="4015" y="1884"/>
              <a:ext cx="0" cy="2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711" name="Line 63"/>
            <p:cNvSpPr>
              <a:spLocks noChangeShapeType="1"/>
            </p:cNvSpPr>
            <p:nvPr/>
          </p:nvSpPr>
          <p:spPr bwMode="auto">
            <a:xfrm>
              <a:off x="4250" y="1884"/>
              <a:ext cx="0" cy="2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712" name="Line 64"/>
            <p:cNvSpPr>
              <a:spLocks noChangeShapeType="1"/>
            </p:cNvSpPr>
            <p:nvPr/>
          </p:nvSpPr>
          <p:spPr bwMode="auto">
            <a:xfrm>
              <a:off x="4485" y="1884"/>
              <a:ext cx="0" cy="2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713" name="Line 65"/>
            <p:cNvSpPr>
              <a:spLocks noChangeShapeType="1"/>
            </p:cNvSpPr>
            <p:nvPr/>
          </p:nvSpPr>
          <p:spPr bwMode="auto">
            <a:xfrm>
              <a:off x="4720" y="1884"/>
              <a:ext cx="0" cy="2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79714" name="Line 66"/>
            <p:cNvSpPr>
              <a:spLocks noChangeShapeType="1"/>
            </p:cNvSpPr>
            <p:nvPr/>
          </p:nvSpPr>
          <p:spPr bwMode="auto">
            <a:xfrm>
              <a:off x="4956" y="1884"/>
              <a:ext cx="0" cy="2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79715" name="Text Box 67"/>
          <p:cNvSpPr txBox="1">
            <a:spLocks noChangeArrowheads="1"/>
          </p:cNvSpPr>
          <p:nvPr/>
        </p:nvSpPr>
        <p:spPr bwMode="auto">
          <a:xfrm>
            <a:off x="5540375" y="4754563"/>
            <a:ext cx="311150" cy="396875"/>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t>1</a:t>
            </a:r>
            <a:endParaRPr lang="en-US" altLang="zh-CN"/>
          </a:p>
        </p:txBody>
      </p:sp>
      <p:sp>
        <p:nvSpPr>
          <p:cNvPr id="1179716" name="Text Box 68"/>
          <p:cNvSpPr txBox="1">
            <a:spLocks noChangeArrowheads="1"/>
          </p:cNvSpPr>
          <p:nvPr/>
        </p:nvSpPr>
        <p:spPr bwMode="auto">
          <a:xfrm>
            <a:off x="5921375" y="4754563"/>
            <a:ext cx="311150" cy="396875"/>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t>2</a:t>
            </a:r>
            <a:endParaRPr lang="en-US" altLang="zh-CN"/>
          </a:p>
        </p:txBody>
      </p:sp>
      <p:sp>
        <p:nvSpPr>
          <p:cNvPr id="1179717" name="Text Box 69"/>
          <p:cNvSpPr txBox="1">
            <a:spLocks noChangeArrowheads="1"/>
          </p:cNvSpPr>
          <p:nvPr/>
        </p:nvSpPr>
        <p:spPr bwMode="auto">
          <a:xfrm>
            <a:off x="6321425" y="4778375"/>
            <a:ext cx="311150" cy="396875"/>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t>2</a:t>
            </a:r>
            <a:endParaRPr lang="en-US" altLang="zh-CN"/>
          </a:p>
        </p:txBody>
      </p:sp>
      <p:sp>
        <p:nvSpPr>
          <p:cNvPr id="1179718" name="Text Box 70"/>
          <p:cNvSpPr txBox="1">
            <a:spLocks noChangeArrowheads="1"/>
          </p:cNvSpPr>
          <p:nvPr/>
        </p:nvSpPr>
        <p:spPr bwMode="auto">
          <a:xfrm>
            <a:off x="6645275" y="4778375"/>
            <a:ext cx="311150" cy="396875"/>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t>3</a:t>
            </a:r>
            <a:endParaRPr lang="en-US" altLang="zh-CN"/>
          </a:p>
        </p:txBody>
      </p:sp>
      <p:sp>
        <p:nvSpPr>
          <p:cNvPr id="1179719" name="Text Box 71"/>
          <p:cNvSpPr txBox="1">
            <a:spLocks noChangeArrowheads="1"/>
          </p:cNvSpPr>
          <p:nvPr/>
        </p:nvSpPr>
        <p:spPr bwMode="auto">
          <a:xfrm>
            <a:off x="7045325" y="4778375"/>
            <a:ext cx="311150" cy="396875"/>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t>4</a:t>
            </a:r>
            <a:endParaRPr lang="en-US" altLang="zh-CN"/>
          </a:p>
        </p:txBody>
      </p:sp>
      <p:sp>
        <p:nvSpPr>
          <p:cNvPr id="1179720" name="Rectangle 72"/>
          <p:cNvSpPr>
            <a:spLocks noChangeArrowheads="1"/>
          </p:cNvSpPr>
          <p:nvPr/>
        </p:nvSpPr>
        <p:spPr bwMode="auto">
          <a:xfrm>
            <a:off x="7010400" y="4794250"/>
            <a:ext cx="361950" cy="3810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79721" name="Rectangle 73"/>
          <p:cNvSpPr>
            <a:spLocks noChangeArrowheads="1"/>
          </p:cNvSpPr>
          <p:nvPr/>
        </p:nvSpPr>
        <p:spPr bwMode="auto">
          <a:xfrm>
            <a:off x="7734300" y="4768850"/>
            <a:ext cx="361950" cy="4064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pPr algn="ctr"/>
            <a:r>
              <a:rPr lang="en-US" altLang="zh-CN"/>
              <a:t>1</a:t>
            </a:r>
            <a:endParaRPr lang="en-US" altLang="zh-CN"/>
          </a:p>
        </p:txBody>
      </p:sp>
      <p:sp>
        <p:nvSpPr>
          <p:cNvPr id="1179722" name="Rectangle 74"/>
          <p:cNvSpPr>
            <a:spLocks noChangeArrowheads="1"/>
          </p:cNvSpPr>
          <p:nvPr/>
        </p:nvSpPr>
        <p:spPr bwMode="auto">
          <a:xfrm>
            <a:off x="6629400" y="4768850"/>
            <a:ext cx="361950" cy="4064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pPr algn="ctr"/>
            <a:r>
              <a:rPr lang="en-US" altLang="zh-CN"/>
              <a:t>4</a:t>
            </a:r>
            <a:endParaRPr lang="en-US" altLang="zh-CN"/>
          </a:p>
        </p:txBody>
      </p:sp>
      <p:sp>
        <p:nvSpPr>
          <p:cNvPr id="1179723" name="Text Box 75"/>
          <p:cNvSpPr txBox="1">
            <a:spLocks noChangeArrowheads="1"/>
          </p:cNvSpPr>
          <p:nvPr/>
        </p:nvSpPr>
        <p:spPr bwMode="auto">
          <a:xfrm>
            <a:off x="7045325" y="4778375"/>
            <a:ext cx="311150" cy="396875"/>
          </a:xfrm>
          <a:prstGeom prst="rect">
            <a:avLst/>
          </a:prstGeom>
          <a:noFill/>
          <a:ln>
            <a:noFill/>
          </a:ln>
          <a:effectLst/>
          <a:extLst>
            <a:ext uri="{909E8E84-426E-40DD-AFC4-6F175D3DCCD1}">
              <a14:hiddenFill xmlns:a14="http://schemas.microsoft.com/office/drawing/2010/main">
                <a:gradFill rotWithShape="0">
                  <a:gsLst>
                    <a:gs pos="0">
                      <a:schemeClr val="bg2"/>
                    </a:gs>
                    <a:gs pos="100000">
                      <a:schemeClr val="bg2"/>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t>3</a:t>
            </a:r>
            <a:endParaRPr lang="en-US" altLang="zh-CN"/>
          </a:p>
        </p:txBody>
      </p:sp>
      <p:sp>
        <p:nvSpPr>
          <p:cNvPr id="1179724" name="Rectangle 76"/>
          <p:cNvSpPr>
            <a:spLocks noChangeArrowheads="1"/>
          </p:cNvSpPr>
          <p:nvPr/>
        </p:nvSpPr>
        <p:spPr bwMode="auto">
          <a:xfrm>
            <a:off x="7010400" y="4794250"/>
            <a:ext cx="361950" cy="3810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79725" name="Rectangle 77"/>
          <p:cNvSpPr>
            <a:spLocks noChangeArrowheads="1"/>
          </p:cNvSpPr>
          <p:nvPr/>
        </p:nvSpPr>
        <p:spPr bwMode="auto">
          <a:xfrm>
            <a:off x="6667500" y="4794250"/>
            <a:ext cx="361950" cy="3810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79726" name="Rectangle 78"/>
          <p:cNvSpPr>
            <a:spLocks noChangeArrowheads="1"/>
          </p:cNvSpPr>
          <p:nvPr/>
        </p:nvSpPr>
        <p:spPr bwMode="auto">
          <a:xfrm>
            <a:off x="6286500" y="4768850"/>
            <a:ext cx="361950" cy="4064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pPr algn="ctr"/>
            <a:r>
              <a:rPr lang="en-US" altLang="zh-CN"/>
              <a:t>3</a:t>
            </a:r>
            <a:endParaRPr lang="en-US" altLang="zh-CN"/>
          </a:p>
        </p:txBody>
      </p:sp>
      <p:sp>
        <p:nvSpPr>
          <p:cNvPr id="1179727" name="Rectangle 79"/>
          <p:cNvSpPr>
            <a:spLocks noChangeArrowheads="1"/>
          </p:cNvSpPr>
          <p:nvPr/>
        </p:nvSpPr>
        <p:spPr bwMode="auto">
          <a:xfrm>
            <a:off x="7010400" y="4768850"/>
            <a:ext cx="361950" cy="4064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pPr algn="ctr"/>
            <a:r>
              <a:rPr lang="en-US" altLang="zh-CN"/>
              <a:t>4</a:t>
            </a:r>
            <a:endParaRPr lang="en-US" altLang="zh-CN"/>
          </a:p>
        </p:txBody>
      </p:sp>
      <p:sp>
        <p:nvSpPr>
          <p:cNvPr id="1179728" name="Rectangle 80"/>
          <p:cNvSpPr>
            <a:spLocks noChangeArrowheads="1"/>
          </p:cNvSpPr>
          <p:nvPr/>
        </p:nvSpPr>
        <p:spPr bwMode="auto">
          <a:xfrm>
            <a:off x="6648450" y="4768850"/>
            <a:ext cx="361950" cy="4064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pPr algn="ctr"/>
            <a:r>
              <a:rPr lang="en-US" altLang="zh-CN"/>
              <a:t>2</a:t>
            </a:r>
            <a:endParaRPr lang="en-US" altLang="zh-CN"/>
          </a:p>
        </p:txBody>
      </p:sp>
      <p:sp>
        <p:nvSpPr>
          <p:cNvPr id="1179729" name="Rectangle 81"/>
          <p:cNvSpPr>
            <a:spLocks noChangeArrowheads="1"/>
          </p:cNvSpPr>
          <p:nvPr/>
        </p:nvSpPr>
        <p:spPr bwMode="auto">
          <a:xfrm>
            <a:off x="7372350" y="4768850"/>
            <a:ext cx="361950" cy="4064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pPr algn="ctr"/>
            <a:r>
              <a:rPr lang="en-US" altLang="zh-CN"/>
              <a:t>3</a:t>
            </a:r>
            <a:endParaRPr lang="en-US" altLang="zh-CN"/>
          </a:p>
        </p:txBody>
      </p:sp>
      <p:sp>
        <p:nvSpPr>
          <p:cNvPr id="1179730" name="Text Box 82"/>
          <p:cNvSpPr txBox="1">
            <a:spLocks noChangeArrowheads="1"/>
          </p:cNvSpPr>
          <p:nvPr/>
        </p:nvSpPr>
        <p:spPr bwMode="auto">
          <a:xfrm>
            <a:off x="933450" y="4457700"/>
            <a:ext cx="1444625" cy="2138363"/>
          </a:xfrm>
          <a:prstGeom prst="rect">
            <a:avLst/>
          </a:prstGeom>
          <a:solidFill>
            <a:schemeClr val="bg1"/>
          </a:solidFill>
          <a:ln w="38100">
            <a:solidFill>
              <a:schemeClr val="accent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50000"/>
              </a:spcBef>
            </a:pPr>
            <a:r>
              <a:rPr lang="en-US" altLang="zh-CN" sz="2400" b="1"/>
              <a:t>1#  </a:t>
            </a:r>
            <a:r>
              <a:rPr lang="en-US" altLang="zh-CN" sz="2400" b="1">
                <a:solidFill>
                  <a:srgbClr val="FF00FF"/>
                </a:solidFill>
              </a:rPr>
              <a:t> </a:t>
            </a:r>
            <a:r>
              <a:rPr lang="zh-CN" altLang="en-US" sz="2400" b="1">
                <a:solidFill>
                  <a:srgbClr val="FF00FF"/>
                </a:solidFill>
              </a:rPr>
              <a:t>紫色</a:t>
            </a:r>
            <a:r>
              <a:rPr lang="zh-CN" altLang="en-US" sz="2400" b="1"/>
              <a:t> </a:t>
            </a:r>
            <a:endParaRPr lang="zh-CN" altLang="en-US" sz="2400" b="1"/>
          </a:p>
          <a:p>
            <a:pPr eaLnBrk="0" hangingPunct="0">
              <a:spcBef>
                <a:spcPct val="50000"/>
              </a:spcBef>
            </a:pPr>
            <a:r>
              <a:rPr lang="en-US" altLang="zh-CN" sz="2400" b="1"/>
              <a:t>2#   </a:t>
            </a:r>
            <a:r>
              <a:rPr lang="zh-CN" altLang="en-US" sz="2400" b="1">
                <a:solidFill>
                  <a:srgbClr val="FF9900"/>
                </a:solidFill>
              </a:rPr>
              <a:t>黄色</a:t>
            </a:r>
            <a:endParaRPr lang="zh-CN" altLang="en-US" sz="2400" b="1"/>
          </a:p>
          <a:p>
            <a:pPr eaLnBrk="0" hangingPunct="0">
              <a:spcBef>
                <a:spcPct val="50000"/>
              </a:spcBef>
            </a:pPr>
            <a:r>
              <a:rPr lang="en-US" altLang="zh-CN" sz="2400" b="1"/>
              <a:t>3#  </a:t>
            </a:r>
            <a:r>
              <a:rPr lang="en-US" altLang="zh-CN" sz="2400" b="1">
                <a:solidFill>
                  <a:srgbClr val="FF0000"/>
                </a:solidFill>
              </a:rPr>
              <a:t> </a:t>
            </a:r>
            <a:r>
              <a:rPr lang="zh-CN" altLang="en-US" sz="2400" b="1">
                <a:solidFill>
                  <a:srgbClr val="FF0000"/>
                </a:solidFill>
              </a:rPr>
              <a:t>红色</a:t>
            </a:r>
            <a:endParaRPr lang="zh-CN" altLang="en-US" sz="2400" b="1"/>
          </a:p>
          <a:p>
            <a:pPr eaLnBrk="0" hangingPunct="0">
              <a:spcBef>
                <a:spcPct val="50000"/>
              </a:spcBef>
            </a:pPr>
            <a:r>
              <a:rPr lang="en-US" altLang="zh-CN" sz="2400" b="1"/>
              <a:t>4#  </a:t>
            </a:r>
            <a:r>
              <a:rPr lang="en-US" altLang="zh-CN" sz="2400" b="1">
                <a:solidFill>
                  <a:schemeClr val="accent1"/>
                </a:solidFill>
              </a:rPr>
              <a:t> </a:t>
            </a:r>
            <a:r>
              <a:rPr lang="zh-CN" altLang="en-US" sz="2400" b="1">
                <a:solidFill>
                  <a:schemeClr val="folHlink"/>
                </a:solidFill>
              </a:rPr>
              <a:t>绿色</a:t>
            </a:r>
            <a:endParaRPr lang="zh-CN" altLang="en-US" sz="2400" b="1">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9681">
                                            <p:txEl>
                                              <p:pRg st="0" end="0"/>
                                            </p:txEl>
                                          </p:spTgt>
                                        </p:tgtEl>
                                        <p:attrNameLst>
                                          <p:attrName>style.visibility</p:attrName>
                                        </p:attrNameLst>
                                      </p:cBhvr>
                                      <p:to>
                                        <p:strVal val="visible"/>
                                      </p:to>
                                    </p:set>
                                    <p:anim calcmode="lin" valueType="num">
                                      <p:cBhvr additive="base">
                                        <p:cTn id="7" dur="500" fill="hold"/>
                                        <p:tgtEl>
                                          <p:spTgt spid="117968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796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179665"/>
                                        </p:tgtEl>
                                        <p:attrNameLst>
                                          <p:attrName>style.visibility</p:attrName>
                                        </p:attrNameLst>
                                      </p:cBhvr>
                                      <p:to>
                                        <p:strVal val="visible"/>
                                      </p:to>
                                    </p:set>
                                    <p:animEffect transition="in" filter="box(out)">
                                      <p:cBhvr>
                                        <p:cTn id="13" dur="500"/>
                                        <p:tgtEl>
                                          <p:spTgt spid="1179665"/>
                                        </p:tgtEl>
                                      </p:cBhvr>
                                    </p:animEffect>
                                  </p:childTnLst>
                                  <p:subTnLst>
                                    <p:audio>
                                      <p:cMediaNode>
                                        <p:cTn display="0" masterRel="sameClick">
                                          <p:stCondLst>
                                            <p:cond evt="begin" delay="0">
                                              <p:tn val="11"/>
                                            </p:cond>
                                          </p:stCondLst>
                                          <p:endCondLst>
                                            <p:cond evt="onStopAudio" delay="0">
                                              <p:tgtEl>
                                                <p:sldTgt/>
                                              </p:tgtEl>
                                            </p:cond>
                                          </p:endCondLst>
                                        </p:cTn>
                                        <p:tgtEl>
                                          <p:sndTgt r:embed="rId1"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179682"/>
                                        </p:tgtEl>
                                        <p:attrNameLst>
                                          <p:attrName>style.visibility</p:attrName>
                                        </p:attrNameLst>
                                      </p:cBhvr>
                                      <p:to>
                                        <p:strVal val="visible"/>
                                      </p:to>
                                    </p:set>
                                    <p:animEffect transition="in" filter="box(out)">
                                      <p:cBhvr>
                                        <p:cTn id="18" dur="500"/>
                                        <p:tgtEl>
                                          <p:spTgt spid="1179682"/>
                                        </p:tgtEl>
                                      </p:cBhvr>
                                    </p:animEffect>
                                  </p:childTnLst>
                                  <p:subTnLst>
                                    <p:audio>
                                      <p:cMediaNode>
                                        <p:cTn display="0" masterRel="sameClick">
                                          <p:stCondLst>
                                            <p:cond evt="begin" delay="0">
                                              <p:tn val="16"/>
                                            </p:cond>
                                          </p:stCondLst>
                                          <p:endCondLst>
                                            <p:cond evt="onStopAudio" delay="0">
                                              <p:tgtEl>
                                                <p:sldTgt/>
                                              </p:tgtEl>
                                            </p:cond>
                                          </p:endCondLst>
                                        </p:cTn>
                                        <p:tgtEl>
                                          <p:sndTgt r:embed="rId1"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179730"/>
                                        </p:tgtEl>
                                        <p:attrNameLst>
                                          <p:attrName>style.visibility</p:attrName>
                                        </p:attrNameLst>
                                      </p:cBhvr>
                                      <p:to>
                                        <p:strVal val="visible"/>
                                      </p:to>
                                    </p:set>
                                    <p:animEffect transition="in" filter="box(out)">
                                      <p:cBhvr>
                                        <p:cTn id="23" dur="500"/>
                                        <p:tgtEl>
                                          <p:spTgt spid="1179730"/>
                                        </p:tgtEl>
                                      </p:cBhvr>
                                    </p:animEffect>
                                  </p:childTnLst>
                                  <p:subTnLst>
                                    <p:audio>
                                      <p:cMediaNode>
                                        <p:cTn display="0" masterRel="sameClick">
                                          <p:stCondLst>
                                            <p:cond evt="begin" delay="0">
                                              <p:tn val="21"/>
                                            </p:cond>
                                          </p:stCondLst>
                                          <p:endCondLst>
                                            <p:cond evt="onStopAudio" delay="0">
                                              <p:tgtEl>
                                                <p:sldTgt/>
                                              </p:tgtEl>
                                            </p:cond>
                                          </p:endCondLst>
                                        </p:cTn>
                                        <p:tgtEl>
                                          <p:sndTgt r:embed="rId1"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179706"/>
                                        </p:tgtEl>
                                        <p:attrNameLst>
                                          <p:attrName>style.visibility</p:attrName>
                                        </p:attrNameLst>
                                      </p:cBhvr>
                                      <p:to>
                                        <p:strVal val="visible"/>
                                      </p:to>
                                    </p:set>
                                    <p:animEffect transition="in" filter="box(out)">
                                      <p:cBhvr>
                                        <p:cTn id="28" dur="500"/>
                                        <p:tgtEl>
                                          <p:spTgt spid="1179706"/>
                                        </p:tgtEl>
                                      </p:cBhvr>
                                    </p:animEffect>
                                  </p:childTnLst>
                                  <p:subTnLst>
                                    <p:audio>
                                      <p:cMediaNode>
                                        <p:cTn display="0" masterRel="sameClick">
                                          <p:stCondLst>
                                            <p:cond evt="begin" delay="0">
                                              <p:tn val="26"/>
                                            </p:cond>
                                          </p:stCondLst>
                                          <p:endCondLst>
                                            <p:cond evt="onStopAudio" delay="0">
                                              <p:tgtEl>
                                                <p:sldTgt/>
                                              </p:tgtEl>
                                            </p:cond>
                                          </p:endCondLst>
                                        </p:cTn>
                                        <p:tgtEl>
                                          <p:sndTgt r:embed="rId1"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179715">
                                            <p:txEl>
                                              <p:pRg st="0" end="0"/>
                                            </p:txEl>
                                          </p:spTgt>
                                        </p:tgtEl>
                                        <p:attrNameLst>
                                          <p:attrName>style.visibility</p:attrName>
                                        </p:attrNameLst>
                                      </p:cBhvr>
                                      <p:to>
                                        <p:strVal val="visible"/>
                                      </p:to>
                                    </p:set>
                                    <p:animEffect transition="in" filter="box(out)">
                                      <p:cBhvr>
                                        <p:cTn id="33" dur="500"/>
                                        <p:tgtEl>
                                          <p:spTgt spid="1179715">
                                            <p:txEl>
                                              <p:pRg st="0" end="0"/>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1"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179664"/>
                                        </p:tgtEl>
                                        <p:attrNameLst>
                                          <p:attrName>style.visibility</p:attrName>
                                        </p:attrNameLst>
                                      </p:cBhvr>
                                      <p:to>
                                        <p:strVal val="visible"/>
                                      </p:to>
                                    </p:set>
                                    <p:animEffect transition="in" filter="box(out)">
                                      <p:cBhvr>
                                        <p:cTn id="38" dur="500"/>
                                        <p:tgtEl>
                                          <p:spTgt spid="1179664"/>
                                        </p:tgtEl>
                                      </p:cBhvr>
                                    </p:animEffect>
                                  </p:childTnLst>
                                  <p:subTnLst>
                                    <p:audio>
                                      <p:cMediaNode>
                                        <p:cTn display="0" masterRel="sameClick">
                                          <p:stCondLst>
                                            <p:cond evt="begin" delay="0">
                                              <p:tn val="36"/>
                                            </p:cond>
                                          </p:stCondLst>
                                          <p:endCondLst>
                                            <p:cond evt="onStopAudio" delay="0">
                                              <p:tgtEl>
                                                <p:sldTgt/>
                                              </p:tgtEl>
                                            </p:cond>
                                          </p:endCondLst>
                                        </p:cTn>
                                        <p:tgtEl>
                                          <p:sndTgt r:embed="rId1"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179716">
                                            <p:txEl>
                                              <p:pRg st="0" end="0"/>
                                            </p:txEl>
                                          </p:spTgt>
                                        </p:tgtEl>
                                        <p:attrNameLst>
                                          <p:attrName>style.visibility</p:attrName>
                                        </p:attrNameLst>
                                      </p:cBhvr>
                                      <p:to>
                                        <p:strVal val="visible"/>
                                      </p:to>
                                    </p:set>
                                    <p:animEffect transition="in" filter="box(out)">
                                      <p:cBhvr>
                                        <p:cTn id="43" dur="500"/>
                                        <p:tgtEl>
                                          <p:spTgt spid="1179716">
                                            <p:txEl>
                                              <p:pRg st="0" end="0"/>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1"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1179663"/>
                                        </p:tgtEl>
                                        <p:attrNameLst>
                                          <p:attrName>style.visibility</p:attrName>
                                        </p:attrNameLst>
                                      </p:cBhvr>
                                      <p:to>
                                        <p:strVal val="visible"/>
                                      </p:to>
                                    </p:set>
                                    <p:animEffect transition="in" filter="box(out)">
                                      <p:cBhvr>
                                        <p:cTn id="48" dur="500"/>
                                        <p:tgtEl>
                                          <p:spTgt spid="1179663"/>
                                        </p:tgtEl>
                                      </p:cBhvr>
                                    </p:animEffect>
                                  </p:childTnLst>
                                  <p:subTnLst>
                                    <p:audio>
                                      <p:cMediaNode>
                                        <p:cTn display="0" masterRel="sameClick">
                                          <p:stCondLst>
                                            <p:cond evt="begin" delay="0">
                                              <p:tn val="46"/>
                                            </p:cond>
                                          </p:stCondLst>
                                          <p:endCondLst>
                                            <p:cond evt="onStopAudio" delay="0">
                                              <p:tgtEl>
                                                <p:sldTgt/>
                                              </p:tgtEl>
                                            </p:cond>
                                          </p:endCondLst>
                                        </p:cTn>
                                        <p:tgtEl>
                                          <p:sndTgt r:embed="rId1"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179717">
                                            <p:txEl>
                                              <p:pRg st="0" end="0"/>
                                            </p:txEl>
                                          </p:spTgt>
                                        </p:tgtEl>
                                        <p:attrNameLst>
                                          <p:attrName>style.visibility</p:attrName>
                                        </p:attrNameLst>
                                      </p:cBhvr>
                                      <p:to>
                                        <p:strVal val="visible"/>
                                      </p:to>
                                    </p:set>
                                    <p:animEffect transition="in" filter="box(out)">
                                      <p:cBhvr>
                                        <p:cTn id="53" dur="500"/>
                                        <p:tgtEl>
                                          <p:spTgt spid="1179717">
                                            <p:txEl>
                                              <p:pRg st="0" end="0"/>
                                            </p:txEl>
                                          </p:spTgt>
                                        </p:tgtEl>
                                      </p:cBhvr>
                                    </p:animEffect>
                                  </p:childTnLst>
                                  <p:subTnLst>
                                    <p:audio>
                                      <p:cMediaNode>
                                        <p:cTn display="0" masterRel="sameClick">
                                          <p:stCondLst>
                                            <p:cond evt="begin" delay="0">
                                              <p:tn val="51"/>
                                            </p:cond>
                                          </p:stCondLst>
                                          <p:endCondLst>
                                            <p:cond evt="onStopAudio" delay="0">
                                              <p:tgtEl>
                                                <p:sldTgt/>
                                              </p:tgtEl>
                                            </p:cond>
                                          </p:endCondLst>
                                        </p:cTn>
                                        <p:tgtEl>
                                          <p:sndTgt r:embed="rId1"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179661"/>
                                        </p:tgtEl>
                                        <p:attrNameLst>
                                          <p:attrName>style.visibility</p:attrName>
                                        </p:attrNameLst>
                                      </p:cBhvr>
                                      <p:to>
                                        <p:strVal val="visible"/>
                                      </p:to>
                                    </p:set>
                                    <p:animEffect transition="in" filter="box(out)">
                                      <p:cBhvr>
                                        <p:cTn id="58" dur="500"/>
                                        <p:tgtEl>
                                          <p:spTgt spid="1179661"/>
                                        </p:tgtEl>
                                      </p:cBhvr>
                                    </p:animEffect>
                                  </p:childTnLst>
                                  <p:subTnLst>
                                    <p:audio>
                                      <p:cMediaNode>
                                        <p:cTn display="0" masterRel="sameClick">
                                          <p:stCondLst>
                                            <p:cond evt="begin" delay="0">
                                              <p:tn val="56"/>
                                            </p:cond>
                                          </p:stCondLst>
                                          <p:endCondLst>
                                            <p:cond evt="onStopAudio" delay="0">
                                              <p:tgtEl>
                                                <p:sldTgt/>
                                              </p:tgtEl>
                                            </p:cond>
                                          </p:endCondLst>
                                        </p:cTn>
                                        <p:tgtEl>
                                          <p:sndTgt r:embed="rId1"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1179718">
                                            <p:txEl>
                                              <p:pRg st="0" end="0"/>
                                            </p:txEl>
                                          </p:spTgt>
                                        </p:tgtEl>
                                        <p:attrNameLst>
                                          <p:attrName>style.visibility</p:attrName>
                                        </p:attrNameLst>
                                      </p:cBhvr>
                                      <p:to>
                                        <p:strVal val="visible"/>
                                      </p:to>
                                    </p:set>
                                    <p:animEffect transition="in" filter="box(out)">
                                      <p:cBhvr>
                                        <p:cTn id="63" dur="500"/>
                                        <p:tgtEl>
                                          <p:spTgt spid="1179718">
                                            <p:txEl>
                                              <p:pRg st="0" end="0"/>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1"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1179657"/>
                                        </p:tgtEl>
                                        <p:attrNameLst>
                                          <p:attrName>style.visibility</p:attrName>
                                        </p:attrNameLst>
                                      </p:cBhvr>
                                      <p:to>
                                        <p:strVal val="visible"/>
                                      </p:to>
                                    </p:set>
                                    <p:animEffect transition="in" filter="box(out)">
                                      <p:cBhvr>
                                        <p:cTn id="68" dur="500"/>
                                        <p:tgtEl>
                                          <p:spTgt spid="1179657"/>
                                        </p:tgtEl>
                                      </p:cBhvr>
                                    </p:animEffect>
                                  </p:childTnLst>
                                  <p:subTnLst>
                                    <p:audio>
                                      <p:cMediaNode>
                                        <p:cTn display="0" masterRel="sameClick">
                                          <p:stCondLst>
                                            <p:cond evt="begin" delay="0">
                                              <p:tn val="66"/>
                                            </p:cond>
                                          </p:stCondLst>
                                          <p:endCondLst>
                                            <p:cond evt="onStopAudio" delay="0">
                                              <p:tgtEl>
                                                <p:sldTgt/>
                                              </p:tgtEl>
                                            </p:cond>
                                          </p:endCondLst>
                                        </p:cTn>
                                        <p:tgtEl>
                                          <p:sndTgt r:embed="rId1" name="CAMERA.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1179719">
                                            <p:txEl>
                                              <p:pRg st="0" end="0"/>
                                            </p:txEl>
                                          </p:spTgt>
                                        </p:tgtEl>
                                        <p:attrNameLst>
                                          <p:attrName>style.visibility</p:attrName>
                                        </p:attrNameLst>
                                      </p:cBhvr>
                                      <p:to>
                                        <p:strVal val="visible"/>
                                      </p:to>
                                    </p:set>
                                    <p:animEffect transition="in" filter="box(out)">
                                      <p:cBhvr>
                                        <p:cTn id="73" dur="500"/>
                                        <p:tgtEl>
                                          <p:spTgt spid="1179719">
                                            <p:txEl>
                                              <p:pRg st="0" end="0"/>
                                            </p:txEl>
                                          </p:spTgt>
                                        </p:tgtEl>
                                      </p:cBhvr>
                                    </p:animEffect>
                                  </p:childTnLst>
                                  <p:subTnLst>
                                    <p:audio>
                                      <p:cMediaNode>
                                        <p:cTn display="0" masterRel="sameClick">
                                          <p:stCondLst>
                                            <p:cond evt="begin" delay="0">
                                              <p:tn val="71"/>
                                            </p:cond>
                                          </p:stCondLst>
                                          <p:endCondLst>
                                            <p:cond evt="onStopAudio" delay="0">
                                              <p:tgtEl>
                                                <p:sldTgt/>
                                              </p:tgtEl>
                                            </p:cond>
                                          </p:endCondLst>
                                        </p:cTn>
                                        <p:tgtEl>
                                          <p:sndTgt r:embed="rId1" name="CAMERA.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1179652"/>
                                        </p:tgtEl>
                                        <p:attrNameLst>
                                          <p:attrName>style.visibility</p:attrName>
                                        </p:attrNameLst>
                                      </p:cBhvr>
                                      <p:to>
                                        <p:strVal val="visible"/>
                                      </p:to>
                                    </p:set>
                                    <p:animEffect transition="in" filter="box(out)">
                                      <p:cBhvr>
                                        <p:cTn id="78" dur="500"/>
                                        <p:tgtEl>
                                          <p:spTgt spid="1179652"/>
                                        </p:tgtEl>
                                      </p:cBhvr>
                                    </p:animEffect>
                                  </p:childTnLst>
                                  <p:subTnLst>
                                    <p:audio>
                                      <p:cMediaNode>
                                        <p:cTn display="0" masterRel="sameClick">
                                          <p:stCondLst>
                                            <p:cond evt="begin" delay="0">
                                              <p:tn val="76"/>
                                            </p:cond>
                                          </p:stCondLst>
                                          <p:endCondLst>
                                            <p:cond evt="onStopAudio" delay="0">
                                              <p:tgtEl>
                                                <p:sldTgt/>
                                              </p:tgtEl>
                                            </p:cond>
                                          </p:endCondLst>
                                        </p:cTn>
                                        <p:tgtEl>
                                          <p:sndTgt r:embed="rId1" name="CAMERA.WAV"/>
                                        </p:tgtEl>
                                      </p:cMediaNode>
                                    </p:audio>
                                  </p:subTnLst>
                                </p:cTn>
                              </p:par>
                            </p:childTnLst>
                          </p:cTn>
                        </p:par>
                      </p:childTnLst>
                    </p:cTn>
                  </p:par>
                  <p:par>
                    <p:cTn id="79" fill="hold">
                      <p:stCondLst>
                        <p:cond delay="indefinite"/>
                      </p:stCondLst>
                      <p:childTnLst>
                        <p:par>
                          <p:cTn id="80" fill="hold">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1179720"/>
                                        </p:tgtEl>
                                        <p:attrNameLst>
                                          <p:attrName>style.visibility</p:attrName>
                                        </p:attrNameLst>
                                      </p:cBhvr>
                                      <p:to>
                                        <p:strVal val="visible"/>
                                      </p:to>
                                    </p:set>
                                    <p:animEffect transition="in" filter="box(out)">
                                      <p:cBhvr>
                                        <p:cTn id="83" dur="500"/>
                                        <p:tgtEl>
                                          <p:spTgt spid="1179720"/>
                                        </p:tgtEl>
                                      </p:cBhvr>
                                    </p:animEffect>
                                  </p:childTnLst>
                                  <p:subTnLst>
                                    <p:audio>
                                      <p:cMediaNode>
                                        <p:cTn display="0" masterRel="sameClick">
                                          <p:stCondLst>
                                            <p:cond evt="begin" delay="0">
                                              <p:tn val="81"/>
                                            </p:cond>
                                          </p:stCondLst>
                                          <p:endCondLst>
                                            <p:cond evt="onStopAudio" delay="0">
                                              <p:tgtEl>
                                                <p:sldTgt/>
                                              </p:tgtEl>
                                            </p:cond>
                                          </p:endCondLst>
                                        </p:cTn>
                                        <p:tgtEl>
                                          <p:sndTgt r:embed="rId1" name="CAMERA.WAV"/>
                                        </p:tgtEl>
                                      </p:cMediaNode>
                                    </p:audio>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grpId="0" nodeType="clickEffect">
                                  <p:stCondLst>
                                    <p:cond delay="0"/>
                                  </p:stCondLst>
                                  <p:childTnLst>
                                    <p:set>
                                      <p:cBhvr>
                                        <p:cTn id="87" dur="1" fill="hold">
                                          <p:stCondLst>
                                            <p:cond delay="0"/>
                                          </p:stCondLst>
                                        </p:cTn>
                                        <p:tgtEl>
                                          <p:spTgt spid="1179653"/>
                                        </p:tgtEl>
                                        <p:attrNameLst>
                                          <p:attrName>style.visibility</p:attrName>
                                        </p:attrNameLst>
                                      </p:cBhvr>
                                      <p:to>
                                        <p:strVal val="visible"/>
                                      </p:to>
                                    </p:set>
                                    <p:animEffect transition="in" filter="box(out)">
                                      <p:cBhvr>
                                        <p:cTn id="88" dur="500"/>
                                        <p:tgtEl>
                                          <p:spTgt spid="1179653"/>
                                        </p:tgtEl>
                                      </p:cBhvr>
                                    </p:animEffect>
                                  </p:childTnLst>
                                  <p:subTnLst>
                                    <p:audio>
                                      <p:cMediaNode>
                                        <p:cTn display="0" masterRel="sameClick">
                                          <p:stCondLst>
                                            <p:cond evt="begin" delay="0">
                                              <p:tn val="86"/>
                                            </p:cond>
                                          </p:stCondLst>
                                          <p:endCondLst>
                                            <p:cond evt="onStopAudio" delay="0">
                                              <p:tgtEl>
                                                <p:sldTgt/>
                                              </p:tgtEl>
                                            </p:cond>
                                          </p:endCondLst>
                                        </p:cTn>
                                        <p:tgtEl>
                                          <p:sndTgt r:embed="rId1" name="CAMERA.WAV"/>
                                        </p:tgtEl>
                                      </p:cMediaNode>
                                    </p:audio>
                                  </p:subTnLst>
                                </p:cTn>
                              </p:par>
                            </p:childTnLst>
                          </p:cTn>
                        </p:par>
                      </p:childTnLst>
                    </p:cTn>
                  </p:par>
                  <p:par>
                    <p:cTn id="89" fill="hold">
                      <p:stCondLst>
                        <p:cond delay="indefinite"/>
                      </p:stCondLst>
                      <p:childTnLst>
                        <p:par>
                          <p:cTn id="90" fill="hold">
                            <p:stCondLst>
                              <p:cond delay="0"/>
                            </p:stCondLst>
                            <p:childTnLst>
                              <p:par>
                                <p:cTn id="91" presetID="4" presetClass="entr" presetSubtype="32" fill="hold" grpId="0" nodeType="clickEffect">
                                  <p:stCondLst>
                                    <p:cond delay="0"/>
                                  </p:stCondLst>
                                  <p:childTnLst>
                                    <p:set>
                                      <p:cBhvr>
                                        <p:cTn id="92" dur="1" fill="hold">
                                          <p:stCondLst>
                                            <p:cond delay="0"/>
                                          </p:stCondLst>
                                        </p:cTn>
                                        <p:tgtEl>
                                          <p:spTgt spid="1179722"/>
                                        </p:tgtEl>
                                        <p:attrNameLst>
                                          <p:attrName>style.visibility</p:attrName>
                                        </p:attrNameLst>
                                      </p:cBhvr>
                                      <p:to>
                                        <p:strVal val="visible"/>
                                      </p:to>
                                    </p:set>
                                    <p:animEffect transition="in" filter="box(out)">
                                      <p:cBhvr>
                                        <p:cTn id="93" dur="500"/>
                                        <p:tgtEl>
                                          <p:spTgt spid="1179722"/>
                                        </p:tgtEl>
                                      </p:cBhvr>
                                    </p:animEffect>
                                  </p:childTnLst>
                                  <p:subTnLst>
                                    <p:audio>
                                      <p:cMediaNode>
                                        <p:cTn display="0" masterRel="sameClick">
                                          <p:stCondLst>
                                            <p:cond evt="begin" delay="0">
                                              <p:tn val="91"/>
                                            </p:cond>
                                          </p:stCondLst>
                                          <p:endCondLst>
                                            <p:cond evt="onStopAudio" delay="0">
                                              <p:tgtEl>
                                                <p:sldTgt/>
                                              </p:tgtEl>
                                            </p:cond>
                                          </p:endCondLst>
                                        </p:cTn>
                                        <p:tgtEl>
                                          <p:sndTgt r:embed="rId1" name="CAMERA.WAV"/>
                                        </p:tgtEl>
                                      </p:cMediaNode>
                                    </p:audio>
                                  </p:subTnLst>
                                </p:cTn>
                              </p:par>
                            </p:childTnLst>
                          </p:cTn>
                        </p:par>
                      </p:childTnLst>
                    </p:cTn>
                  </p:par>
                  <p:par>
                    <p:cTn id="94" fill="hold">
                      <p:stCondLst>
                        <p:cond delay="indefinite"/>
                      </p:stCondLst>
                      <p:childTnLst>
                        <p:par>
                          <p:cTn id="95" fill="hold">
                            <p:stCondLst>
                              <p:cond delay="0"/>
                            </p:stCondLst>
                            <p:childTnLst>
                              <p:par>
                                <p:cTn id="96" presetID="4" presetClass="entr" presetSubtype="32" fill="hold" grpId="0" nodeType="clickEffect">
                                  <p:stCondLst>
                                    <p:cond delay="0"/>
                                  </p:stCondLst>
                                  <p:childTnLst>
                                    <p:set>
                                      <p:cBhvr>
                                        <p:cTn id="97" dur="1" fill="hold">
                                          <p:stCondLst>
                                            <p:cond delay="0"/>
                                          </p:stCondLst>
                                        </p:cTn>
                                        <p:tgtEl>
                                          <p:spTgt spid="1179658"/>
                                        </p:tgtEl>
                                        <p:attrNameLst>
                                          <p:attrName>style.visibility</p:attrName>
                                        </p:attrNameLst>
                                      </p:cBhvr>
                                      <p:to>
                                        <p:strVal val="visible"/>
                                      </p:to>
                                    </p:set>
                                    <p:animEffect transition="in" filter="box(out)">
                                      <p:cBhvr>
                                        <p:cTn id="98" dur="500"/>
                                        <p:tgtEl>
                                          <p:spTgt spid="1179658"/>
                                        </p:tgtEl>
                                      </p:cBhvr>
                                    </p:animEffect>
                                  </p:childTnLst>
                                  <p:subTnLst>
                                    <p:audio>
                                      <p:cMediaNode>
                                        <p:cTn display="0" masterRel="sameClick">
                                          <p:stCondLst>
                                            <p:cond evt="begin" delay="0">
                                              <p:tn val="96"/>
                                            </p:cond>
                                          </p:stCondLst>
                                          <p:endCondLst>
                                            <p:cond evt="onStopAudio" delay="0">
                                              <p:tgtEl>
                                                <p:sldTgt/>
                                              </p:tgtEl>
                                            </p:cond>
                                          </p:endCondLst>
                                        </p:cTn>
                                        <p:tgtEl>
                                          <p:sndTgt r:embed="rId1" name="CAMERA.WAV"/>
                                        </p:tgtEl>
                                      </p:cMediaNode>
                                    </p:audio>
                                  </p:subTnLst>
                                </p:cTn>
                              </p:par>
                            </p:childTnLst>
                          </p:cTn>
                        </p:par>
                      </p:childTnLst>
                    </p:cTn>
                  </p:par>
                  <p:par>
                    <p:cTn id="99" fill="hold">
                      <p:stCondLst>
                        <p:cond delay="indefinite"/>
                      </p:stCondLst>
                      <p:childTnLst>
                        <p:par>
                          <p:cTn id="100" fill="hold">
                            <p:stCondLst>
                              <p:cond delay="0"/>
                            </p:stCondLst>
                            <p:childTnLst>
                              <p:par>
                                <p:cTn id="101" presetID="4" presetClass="entr" presetSubtype="32" fill="hold" grpId="0" nodeType="clickEffect">
                                  <p:stCondLst>
                                    <p:cond delay="0"/>
                                  </p:stCondLst>
                                  <p:childTnLst>
                                    <p:set>
                                      <p:cBhvr>
                                        <p:cTn id="102" dur="1" fill="hold">
                                          <p:stCondLst>
                                            <p:cond delay="0"/>
                                          </p:stCondLst>
                                        </p:cTn>
                                        <p:tgtEl>
                                          <p:spTgt spid="1179723">
                                            <p:txEl>
                                              <p:pRg st="0" end="0"/>
                                            </p:txEl>
                                          </p:spTgt>
                                        </p:tgtEl>
                                        <p:attrNameLst>
                                          <p:attrName>style.visibility</p:attrName>
                                        </p:attrNameLst>
                                      </p:cBhvr>
                                      <p:to>
                                        <p:strVal val="visible"/>
                                      </p:to>
                                    </p:set>
                                    <p:animEffect transition="in" filter="box(out)">
                                      <p:cBhvr>
                                        <p:cTn id="103" dur="500"/>
                                        <p:tgtEl>
                                          <p:spTgt spid="1179723">
                                            <p:txEl>
                                              <p:pRg st="0" end="0"/>
                                            </p:txEl>
                                          </p:spTgt>
                                        </p:tgtEl>
                                      </p:cBhvr>
                                    </p:animEffect>
                                  </p:childTnLst>
                                  <p:subTnLst>
                                    <p:audio>
                                      <p:cMediaNode>
                                        <p:cTn display="0" masterRel="sameClick">
                                          <p:stCondLst>
                                            <p:cond evt="begin" delay="0">
                                              <p:tn val="101"/>
                                            </p:cond>
                                          </p:stCondLst>
                                          <p:endCondLst>
                                            <p:cond evt="onStopAudio" delay="0">
                                              <p:tgtEl>
                                                <p:sldTgt/>
                                              </p:tgtEl>
                                            </p:cond>
                                          </p:endCondLst>
                                        </p:cTn>
                                        <p:tgtEl>
                                          <p:sndTgt r:embed="rId1" name="CAMERA.WAV"/>
                                        </p:tgtEl>
                                      </p:cMediaNode>
                                    </p:audio>
                                  </p:subTnLst>
                                </p:cTn>
                              </p:par>
                            </p:childTnLst>
                          </p:cTn>
                        </p:par>
                      </p:childTnLst>
                    </p:cTn>
                  </p:par>
                  <p:par>
                    <p:cTn id="104" fill="hold">
                      <p:stCondLst>
                        <p:cond delay="indefinite"/>
                      </p:stCondLst>
                      <p:childTnLst>
                        <p:par>
                          <p:cTn id="105" fill="hold">
                            <p:stCondLst>
                              <p:cond delay="0"/>
                            </p:stCondLst>
                            <p:childTnLst>
                              <p:par>
                                <p:cTn id="106" presetID="4" presetClass="entr" presetSubtype="32" fill="hold" grpId="0" nodeType="clickEffect">
                                  <p:stCondLst>
                                    <p:cond delay="0"/>
                                  </p:stCondLst>
                                  <p:childTnLst>
                                    <p:set>
                                      <p:cBhvr>
                                        <p:cTn id="107" dur="1" fill="hold">
                                          <p:stCondLst>
                                            <p:cond delay="0"/>
                                          </p:stCondLst>
                                        </p:cTn>
                                        <p:tgtEl>
                                          <p:spTgt spid="1179654"/>
                                        </p:tgtEl>
                                        <p:attrNameLst>
                                          <p:attrName>style.visibility</p:attrName>
                                        </p:attrNameLst>
                                      </p:cBhvr>
                                      <p:to>
                                        <p:strVal val="visible"/>
                                      </p:to>
                                    </p:set>
                                    <p:animEffect transition="in" filter="box(out)">
                                      <p:cBhvr>
                                        <p:cTn id="108" dur="500"/>
                                        <p:tgtEl>
                                          <p:spTgt spid="1179654"/>
                                        </p:tgtEl>
                                      </p:cBhvr>
                                    </p:animEffect>
                                  </p:childTnLst>
                                  <p:subTnLst>
                                    <p:audio>
                                      <p:cMediaNode>
                                        <p:cTn display="0" masterRel="sameClick">
                                          <p:stCondLst>
                                            <p:cond evt="begin" delay="0">
                                              <p:tn val="106"/>
                                            </p:cond>
                                          </p:stCondLst>
                                          <p:endCondLst>
                                            <p:cond evt="onStopAudio" delay="0">
                                              <p:tgtEl>
                                                <p:sldTgt/>
                                              </p:tgtEl>
                                            </p:cond>
                                          </p:endCondLst>
                                        </p:cTn>
                                        <p:tgtEl>
                                          <p:sndTgt r:embed="rId1" name="CAMERA.WAV"/>
                                        </p:tgtEl>
                                      </p:cMediaNode>
                                    </p:audio>
                                  </p:subTnLst>
                                </p:cTn>
                              </p:par>
                            </p:childTnLst>
                          </p:cTn>
                        </p:par>
                      </p:childTnLst>
                    </p:cTn>
                  </p:par>
                  <p:par>
                    <p:cTn id="109" fill="hold">
                      <p:stCondLst>
                        <p:cond delay="indefinite"/>
                      </p:stCondLst>
                      <p:childTnLst>
                        <p:par>
                          <p:cTn id="110" fill="hold">
                            <p:stCondLst>
                              <p:cond delay="0"/>
                            </p:stCondLst>
                            <p:childTnLst>
                              <p:par>
                                <p:cTn id="111" presetID="4" presetClass="entr" presetSubtype="32" fill="hold" grpId="0" nodeType="clickEffect">
                                  <p:stCondLst>
                                    <p:cond delay="0"/>
                                  </p:stCondLst>
                                  <p:childTnLst>
                                    <p:set>
                                      <p:cBhvr>
                                        <p:cTn id="112" dur="1" fill="hold">
                                          <p:stCondLst>
                                            <p:cond delay="0"/>
                                          </p:stCondLst>
                                        </p:cTn>
                                        <p:tgtEl>
                                          <p:spTgt spid="1179724"/>
                                        </p:tgtEl>
                                        <p:attrNameLst>
                                          <p:attrName>style.visibility</p:attrName>
                                        </p:attrNameLst>
                                      </p:cBhvr>
                                      <p:to>
                                        <p:strVal val="visible"/>
                                      </p:to>
                                    </p:set>
                                    <p:animEffect transition="in" filter="box(out)">
                                      <p:cBhvr>
                                        <p:cTn id="113" dur="500"/>
                                        <p:tgtEl>
                                          <p:spTgt spid="1179724"/>
                                        </p:tgtEl>
                                      </p:cBhvr>
                                    </p:animEffect>
                                  </p:childTnLst>
                                  <p:subTnLst>
                                    <p:audio>
                                      <p:cMediaNode>
                                        <p:cTn display="0" masterRel="sameClick">
                                          <p:stCondLst>
                                            <p:cond evt="begin" delay="0">
                                              <p:tn val="111"/>
                                            </p:cond>
                                          </p:stCondLst>
                                          <p:endCondLst>
                                            <p:cond evt="onStopAudio" delay="0">
                                              <p:tgtEl>
                                                <p:sldTgt/>
                                              </p:tgtEl>
                                            </p:cond>
                                          </p:endCondLst>
                                        </p:cTn>
                                        <p:tgtEl>
                                          <p:sndTgt r:embed="rId1" name="CAMERA.WAV"/>
                                        </p:tgtEl>
                                      </p:cMediaNode>
                                    </p:audio>
                                  </p:subTnLst>
                                </p:cTn>
                              </p:par>
                            </p:childTnLst>
                          </p:cTn>
                        </p:par>
                      </p:childTnLst>
                    </p:cTn>
                  </p:par>
                  <p:par>
                    <p:cTn id="114" fill="hold">
                      <p:stCondLst>
                        <p:cond delay="indefinite"/>
                      </p:stCondLst>
                      <p:childTnLst>
                        <p:par>
                          <p:cTn id="115" fill="hold">
                            <p:stCondLst>
                              <p:cond delay="0"/>
                            </p:stCondLst>
                            <p:childTnLst>
                              <p:par>
                                <p:cTn id="116" presetID="4" presetClass="entr" presetSubtype="32" fill="hold" grpId="0" nodeType="clickEffect">
                                  <p:stCondLst>
                                    <p:cond delay="0"/>
                                  </p:stCondLst>
                                  <p:childTnLst>
                                    <p:set>
                                      <p:cBhvr>
                                        <p:cTn id="117" dur="1" fill="hold">
                                          <p:stCondLst>
                                            <p:cond delay="0"/>
                                          </p:stCondLst>
                                        </p:cTn>
                                        <p:tgtEl>
                                          <p:spTgt spid="1179655"/>
                                        </p:tgtEl>
                                        <p:attrNameLst>
                                          <p:attrName>style.visibility</p:attrName>
                                        </p:attrNameLst>
                                      </p:cBhvr>
                                      <p:to>
                                        <p:strVal val="visible"/>
                                      </p:to>
                                    </p:set>
                                    <p:animEffect transition="in" filter="box(out)">
                                      <p:cBhvr>
                                        <p:cTn id="118" dur="500"/>
                                        <p:tgtEl>
                                          <p:spTgt spid="1179655"/>
                                        </p:tgtEl>
                                      </p:cBhvr>
                                    </p:animEffect>
                                  </p:childTnLst>
                                  <p:subTnLst>
                                    <p:audio>
                                      <p:cMediaNode>
                                        <p:cTn display="0" masterRel="sameClick">
                                          <p:stCondLst>
                                            <p:cond evt="begin" delay="0">
                                              <p:tn val="116"/>
                                            </p:cond>
                                          </p:stCondLst>
                                          <p:endCondLst>
                                            <p:cond evt="onStopAudio" delay="0">
                                              <p:tgtEl>
                                                <p:sldTgt/>
                                              </p:tgtEl>
                                            </p:cond>
                                          </p:endCondLst>
                                        </p:cTn>
                                        <p:tgtEl>
                                          <p:sndTgt r:embed="rId1" name="CAMERA.WAV"/>
                                        </p:tgtEl>
                                      </p:cMediaNode>
                                    </p:audio>
                                  </p:subTnLst>
                                </p:cTn>
                              </p:par>
                            </p:childTnLst>
                          </p:cTn>
                        </p:par>
                      </p:childTnLst>
                    </p:cTn>
                  </p:par>
                  <p:par>
                    <p:cTn id="119" fill="hold">
                      <p:stCondLst>
                        <p:cond delay="indefinite"/>
                      </p:stCondLst>
                      <p:childTnLst>
                        <p:par>
                          <p:cTn id="120" fill="hold">
                            <p:stCondLst>
                              <p:cond delay="0"/>
                            </p:stCondLst>
                            <p:childTnLst>
                              <p:par>
                                <p:cTn id="121" presetID="4" presetClass="entr" presetSubtype="32" fill="hold" grpId="0" nodeType="clickEffect">
                                  <p:stCondLst>
                                    <p:cond delay="0"/>
                                  </p:stCondLst>
                                  <p:childTnLst>
                                    <p:set>
                                      <p:cBhvr>
                                        <p:cTn id="122" dur="1" fill="hold">
                                          <p:stCondLst>
                                            <p:cond delay="0"/>
                                          </p:stCondLst>
                                        </p:cTn>
                                        <p:tgtEl>
                                          <p:spTgt spid="1179725"/>
                                        </p:tgtEl>
                                        <p:attrNameLst>
                                          <p:attrName>style.visibility</p:attrName>
                                        </p:attrNameLst>
                                      </p:cBhvr>
                                      <p:to>
                                        <p:strVal val="visible"/>
                                      </p:to>
                                    </p:set>
                                    <p:animEffect transition="in" filter="box(out)">
                                      <p:cBhvr>
                                        <p:cTn id="123" dur="500"/>
                                        <p:tgtEl>
                                          <p:spTgt spid="1179725"/>
                                        </p:tgtEl>
                                      </p:cBhvr>
                                    </p:animEffect>
                                  </p:childTnLst>
                                  <p:subTnLst>
                                    <p:audio>
                                      <p:cMediaNode>
                                        <p:cTn display="0" masterRel="sameClick">
                                          <p:stCondLst>
                                            <p:cond evt="begin" delay="0">
                                              <p:tn val="121"/>
                                            </p:cond>
                                          </p:stCondLst>
                                          <p:endCondLst>
                                            <p:cond evt="onStopAudio" delay="0">
                                              <p:tgtEl>
                                                <p:sldTgt/>
                                              </p:tgtEl>
                                            </p:cond>
                                          </p:endCondLst>
                                        </p:cTn>
                                        <p:tgtEl>
                                          <p:sndTgt r:embed="rId1"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4" presetClass="entr" presetSubtype="32" fill="hold" grpId="0" nodeType="clickEffect">
                                  <p:stCondLst>
                                    <p:cond delay="0"/>
                                  </p:stCondLst>
                                  <p:childTnLst>
                                    <p:set>
                                      <p:cBhvr>
                                        <p:cTn id="127" dur="1" fill="hold">
                                          <p:stCondLst>
                                            <p:cond delay="0"/>
                                          </p:stCondLst>
                                        </p:cTn>
                                        <p:tgtEl>
                                          <p:spTgt spid="1179659"/>
                                        </p:tgtEl>
                                        <p:attrNameLst>
                                          <p:attrName>style.visibility</p:attrName>
                                        </p:attrNameLst>
                                      </p:cBhvr>
                                      <p:to>
                                        <p:strVal val="visible"/>
                                      </p:to>
                                    </p:set>
                                    <p:animEffect transition="in" filter="box(out)">
                                      <p:cBhvr>
                                        <p:cTn id="128" dur="500"/>
                                        <p:tgtEl>
                                          <p:spTgt spid="1179659"/>
                                        </p:tgtEl>
                                      </p:cBhvr>
                                    </p:animEffect>
                                  </p:childTnLst>
                                  <p:subTnLst>
                                    <p:audio>
                                      <p:cMediaNode>
                                        <p:cTn display="0" masterRel="sameClick">
                                          <p:stCondLst>
                                            <p:cond evt="begin" delay="0">
                                              <p:tn val="126"/>
                                            </p:cond>
                                          </p:stCondLst>
                                          <p:endCondLst>
                                            <p:cond evt="onStopAudio" delay="0">
                                              <p:tgtEl>
                                                <p:sldTgt/>
                                              </p:tgtEl>
                                            </p:cond>
                                          </p:endCondLst>
                                        </p:cTn>
                                        <p:tgtEl>
                                          <p:sndTgt r:embed="rId1"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4" presetClass="entr" presetSubtype="32" fill="hold" grpId="0" nodeType="clickEffect">
                                  <p:stCondLst>
                                    <p:cond delay="0"/>
                                  </p:stCondLst>
                                  <p:childTnLst>
                                    <p:set>
                                      <p:cBhvr>
                                        <p:cTn id="132" dur="1" fill="hold">
                                          <p:stCondLst>
                                            <p:cond delay="0"/>
                                          </p:stCondLst>
                                        </p:cTn>
                                        <p:tgtEl>
                                          <p:spTgt spid="1179726"/>
                                        </p:tgtEl>
                                        <p:attrNameLst>
                                          <p:attrName>style.visibility</p:attrName>
                                        </p:attrNameLst>
                                      </p:cBhvr>
                                      <p:to>
                                        <p:strVal val="visible"/>
                                      </p:to>
                                    </p:set>
                                    <p:animEffect transition="in" filter="box(out)">
                                      <p:cBhvr>
                                        <p:cTn id="133" dur="500"/>
                                        <p:tgtEl>
                                          <p:spTgt spid="1179726"/>
                                        </p:tgtEl>
                                      </p:cBhvr>
                                    </p:animEffect>
                                  </p:childTnLst>
                                  <p:subTnLst>
                                    <p:audio>
                                      <p:cMediaNode>
                                        <p:cTn display="0" masterRel="sameClick">
                                          <p:stCondLst>
                                            <p:cond evt="begin" delay="0">
                                              <p:tn val="131"/>
                                            </p:cond>
                                          </p:stCondLst>
                                          <p:endCondLst>
                                            <p:cond evt="onStopAudio" delay="0">
                                              <p:tgtEl>
                                                <p:sldTgt/>
                                              </p:tgtEl>
                                            </p:cond>
                                          </p:endCondLst>
                                        </p:cTn>
                                        <p:tgtEl>
                                          <p:sndTgt r:embed="rId1"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4" presetClass="entr" presetSubtype="32" fill="hold" grpId="0" nodeType="clickEffect">
                                  <p:stCondLst>
                                    <p:cond delay="0"/>
                                  </p:stCondLst>
                                  <p:childTnLst>
                                    <p:set>
                                      <p:cBhvr>
                                        <p:cTn id="137" dur="1" fill="hold">
                                          <p:stCondLst>
                                            <p:cond delay="0"/>
                                          </p:stCondLst>
                                        </p:cTn>
                                        <p:tgtEl>
                                          <p:spTgt spid="1179662"/>
                                        </p:tgtEl>
                                        <p:attrNameLst>
                                          <p:attrName>style.visibility</p:attrName>
                                        </p:attrNameLst>
                                      </p:cBhvr>
                                      <p:to>
                                        <p:strVal val="visible"/>
                                      </p:to>
                                    </p:set>
                                    <p:animEffect transition="in" filter="box(out)">
                                      <p:cBhvr>
                                        <p:cTn id="138" dur="500"/>
                                        <p:tgtEl>
                                          <p:spTgt spid="1179662"/>
                                        </p:tgtEl>
                                      </p:cBhvr>
                                    </p:animEffect>
                                  </p:childTnLst>
                                  <p:subTnLst>
                                    <p:audio>
                                      <p:cMediaNode>
                                        <p:cTn display="0" masterRel="sameClick">
                                          <p:stCondLst>
                                            <p:cond evt="begin" delay="0">
                                              <p:tn val="136"/>
                                            </p:cond>
                                          </p:stCondLst>
                                          <p:endCondLst>
                                            <p:cond evt="onStopAudio" delay="0">
                                              <p:tgtEl>
                                                <p:sldTgt/>
                                              </p:tgtEl>
                                            </p:cond>
                                          </p:endCondLst>
                                        </p:cTn>
                                        <p:tgtEl>
                                          <p:sndTgt r:embed="rId1" name="CAMERA.WAV"/>
                                        </p:tgtEl>
                                      </p:cMediaNode>
                                    </p:audio>
                                  </p:subTnLst>
                                </p:cTn>
                              </p:par>
                            </p:childTnLst>
                          </p:cTn>
                        </p:par>
                      </p:childTnLst>
                    </p:cTn>
                  </p:par>
                  <p:par>
                    <p:cTn id="139" fill="hold">
                      <p:stCondLst>
                        <p:cond delay="indefinite"/>
                      </p:stCondLst>
                      <p:childTnLst>
                        <p:par>
                          <p:cTn id="140" fill="hold">
                            <p:stCondLst>
                              <p:cond delay="0"/>
                            </p:stCondLst>
                            <p:childTnLst>
                              <p:par>
                                <p:cTn id="141" presetID="4" presetClass="entr" presetSubtype="32" fill="hold" grpId="0" nodeType="clickEffect">
                                  <p:stCondLst>
                                    <p:cond delay="0"/>
                                  </p:stCondLst>
                                  <p:childTnLst>
                                    <p:set>
                                      <p:cBhvr>
                                        <p:cTn id="142" dur="1" fill="hold">
                                          <p:stCondLst>
                                            <p:cond delay="0"/>
                                          </p:stCondLst>
                                        </p:cTn>
                                        <p:tgtEl>
                                          <p:spTgt spid="1179728"/>
                                        </p:tgtEl>
                                        <p:attrNameLst>
                                          <p:attrName>style.visibility</p:attrName>
                                        </p:attrNameLst>
                                      </p:cBhvr>
                                      <p:to>
                                        <p:strVal val="visible"/>
                                      </p:to>
                                    </p:set>
                                    <p:animEffect transition="in" filter="box(out)">
                                      <p:cBhvr>
                                        <p:cTn id="143" dur="500"/>
                                        <p:tgtEl>
                                          <p:spTgt spid="1179728"/>
                                        </p:tgtEl>
                                      </p:cBhvr>
                                    </p:animEffect>
                                  </p:childTnLst>
                                  <p:subTnLst>
                                    <p:audio>
                                      <p:cMediaNode>
                                        <p:cTn display="0" masterRel="sameClick">
                                          <p:stCondLst>
                                            <p:cond evt="begin" delay="0">
                                              <p:tn val="141"/>
                                            </p:cond>
                                          </p:stCondLst>
                                          <p:endCondLst>
                                            <p:cond evt="onStopAudio" delay="0">
                                              <p:tgtEl>
                                                <p:sldTgt/>
                                              </p:tgtEl>
                                            </p:cond>
                                          </p:endCondLst>
                                        </p:cTn>
                                        <p:tgtEl>
                                          <p:sndTgt r:embed="rId1" name="CAMERA.WAV"/>
                                        </p:tgtEl>
                                      </p:cMediaNode>
                                    </p:audio>
                                  </p:subTnLst>
                                </p:cTn>
                              </p:par>
                            </p:childTnLst>
                          </p:cTn>
                        </p:par>
                      </p:childTnLst>
                    </p:cTn>
                  </p:par>
                  <p:par>
                    <p:cTn id="144" fill="hold">
                      <p:stCondLst>
                        <p:cond delay="indefinite"/>
                      </p:stCondLst>
                      <p:childTnLst>
                        <p:par>
                          <p:cTn id="145" fill="hold">
                            <p:stCondLst>
                              <p:cond delay="0"/>
                            </p:stCondLst>
                            <p:childTnLst>
                              <p:par>
                                <p:cTn id="146" presetID="4" presetClass="entr" presetSubtype="32" fill="hold" grpId="0" nodeType="clickEffect">
                                  <p:stCondLst>
                                    <p:cond delay="0"/>
                                  </p:stCondLst>
                                  <p:childTnLst>
                                    <p:set>
                                      <p:cBhvr>
                                        <p:cTn id="147" dur="1" fill="hold">
                                          <p:stCondLst>
                                            <p:cond delay="0"/>
                                          </p:stCondLst>
                                        </p:cTn>
                                        <p:tgtEl>
                                          <p:spTgt spid="1179660"/>
                                        </p:tgtEl>
                                        <p:attrNameLst>
                                          <p:attrName>style.visibility</p:attrName>
                                        </p:attrNameLst>
                                      </p:cBhvr>
                                      <p:to>
                                        <p:strVal val="visible"/>
                                      </p:to>
                                    </p:set>
                                    <p:animEffect transition="in" filter="box(out)">
                                      <p:cBhvr>
                                        <p:cTn id="148" dur="500"/>
                                        <p:tgtEl>
                                          <p:spTgt spid="1179660"/>
                                        </p:tgtEl>
                                      </p:cBhvr>
                                    </p:animEffect>
                                  </p:childTnLst>
                                  <p:subTnLst>
                                    <p:audio>
                                      <p:cMediaNode>
                                        <p:cTn display="0" masterRel="sameClick">
                                          <p:stCondLst>
                                            <p:cond evt="begin" delay="0">
                                              <p:tn val="146"/>
                                            </p:cond>
                                          </p:stCondLst>
                                          <p:endCondLst>
                                            <p:cond evt="onStopAudio" delay="0">
                                              <p:tgtEl>
                                                <p:sldTgt/>
                                              </p:tgtEl>
                                            </p:cond>
                                          </p:endCondLst>
                                        </p:cTn>
                                        <p:tgtEl>
                                          <p:sndTgt r:embed="rId1" name="CAMERA.WAV"/>
                                        </p:tgtEl>
                                      </p:cMediaNode>
                                    </p:audio>
                                  </p:subTnLst>
                                </p:cTn>
                              </p:par>
                            </p:childTnLst>
                          </p:cTn>
                        </p:par>
                      </p:childTnLst>
                    </p:cTn>
                  </p:par>
                  <p:par>
                    <p:cTn id="149" fill="hold">
                      <p:stCondLst>
                        <p:cond delay="indefinite"/>
                      </p:stCondLst>
                      <p:childTnLst>
                        <p:par>
                          <p:cTn id="150" fill="hold">
                            <p:stCondLst>
                              <p:cond delay="0"/>
                            </p:stCondLst>
                            <p:childTnLst>
                              <p:par>
                                <p:cTn id="151" presetID="4" presetClass="entr" presetSubtype="32" fill="hold" grpId="0" nodeType="clickEffect">
                                  <p:stCondLst>
                                    <p:cond delay="0"/>
                                  </p:stCondLst>
                                  <p:childTnLst>
                                    <p:set>
                                      <p:cBhvr>
                                        <p:cTn id="152" dur="1" fill="hold">
                                          <p:stCondLst>
                                            <p:cond delay="0"/>
                                          </p:stCondLst>
                                        </p:cTn>
                                        <p:tgtEl>
                                          <p:spTgt spid="1179727"/>
                                        </p:tgtEl>
                                        <p:attrNameLst>
                                          <p:attrName>style.visibility</p:attrName>
                                        </p:attrNameLst>
                                      </p:cBhvr>
                                      <p:to>
                                        <p:strVal val="visible"/>
                                      </p:to>
                                    </p:set>
                                    <p:animEffect transition="in" filter="box(out)">
                                      <p:cBhvr>
                                        <p:cTn id="153" dur="500"/>
                                        <p:tgtEl>
                                          <p:spTgt spid="1179727"/>
                                        </p:tgtEl>
                                      </p:cBhvr>
                                    </p:animEffect>
                                  </p:childTnLst>
                                  <p:subTnLst>
                                    <p:audio>
                                      <p:cMediaNode>
                                        <p:cTn display="0" masterRel="sameClick">
                                          <p:stCondLst>
                                            <p:cond evt="begin" delay="0">
                                              <p:tn val="151"/>
                                            </p:cond>
                                          </p:stCondLst>
                                          <p:endCondLst>
                                            <p:cond evt="onStopAudio" delay="0">
                                              <p:tgtEl>
                                                <p:sldTgt/>
                                              </p:tgtEl>
                                            </p:cond>
                                          </p:endCondLst>
                                        </p:cTn>
                                        <p:tgtEl>
                                          <p:sndTgt r:embed="rId1" name="CAMERA.WAV"/>
                                        </p:tgtEl>
                                      </p:cMediaNode>
                                    </p:audio>
                                  </p:subTnLst>
                                </p:cTn>
                              </p:par>
                            </p:childTnLst>
                          </p:cTn>
                        </p:par>
                      </p:childTnLst>
                    </p:cTn>
                  </p:par>
                  <p:par>
                    <p:cTn id="154" fill="hold">
                      <p:stCondLst>
                        <p:cond delay="indefinite"/>
                      </p:stCondLst>
                      <p:childTnLst>
                        <p:par>
                          <p:cTn id="155" fill="hold">
                            <p:stCondLst>
                              <p:cond delay="0"/>
                            </p:stCondLst>
                            <p:childTnLst>
                              <p:par>
                                <p:cTn id="156" presetID="4" presetClass="entr" presetSubtype="32" fill="hold" grpId="0" nodeType="clickEffect">
                                  <p:stCondLst>
                                    <p:cond delay="0"/>
                                  </p:stCondLst>
                                  <p:childTnLst>
                                    <p:set>
                                      <p:cBhvr>
                                        <p:cTn id="157" dur="1" fill="hold">
                                          <p:stCondLst>
                                            <p:cond delay="0"/>
                                          </p:stCondLst>
                                        </p:cTn>
                                        <p:tgtEl>
                                          <p:spTgt spid="1179656"/>
                                        </p:tgtEl>
                                        <p:attrNameLst>
                                          <p:attrName>style.visibility</p:attrName>
                                        </p:attrNameLst>
                                      </p:cBhvr>
                                      <p:to>
                                        <p:strVal val="visible"/>
                                      </p:to>
                                    </p:set>
                                    <p:animEffect transition="in" filter="box(out)">
                                      <p:cBhvr>
                                        <p:cTn id="158" dur="500"/>
                                        <p:tgtEl>
                                          <p:spTgt spid="1179656"/>
                                        </p:tgtEl>
                                      </p:cBhvr>
                                    </p:animEffect>
                                  </p:childTnLst>
                                  <p:subTnLst>
                                    <p:audio>
                                      <p:cMediaNode>
                                        <p:cTn display="0" masterRel="sameClick">
                                          <p:stCondLst>
                                            <p:cond evt="begin" delay="0">
                                              <p:tn val="156"/>
                                            </p:cond>
                                          </p:stCondLst>
                                          <p:endCondLst>
                                            <p:cond evt="onStopAudio" delay="0">
                                              <p:tgtEl>
                                                <p:sldTgt/>
                                              </p:tgtEl>
                                            </p:cond>
                                          </p:endCondLst>
                                        </p:cTn>
                                        <p:tgtEl>
                                          <p:sndTgt r:embed="rId1" name="CAMERA.WAV"/>
                                        </p:tgtEl>
                                      </p:cMediaNode>
                                    </p:audio>
                                  </p:subTnLst>
                                </p:cTn>
                              </p:par>
                            </p:childTnLst>
                          </p:cTn>
                        </p:par>
                      </p:childTnLst>
                    </p:cTn>
                  </p:par>
                  <p:par>
                    <p:cTn id="159" fill="hold">
                      <p:stCondLst>
                        <p:cond delay="indefinite"/>
                      </p:stCondLst>
                      <p:childTnLst>
                        <p:par>
                          <p:cTn id="160" fill="hold">
                            <p:stCondLst>
                              <p:cond delay="0"/>
                            </p:stCondLst>
                            <p:childTnLst>
                              <p:par>
                                <p:cTn id="161" presetID="4" presetClass="entr" presetSubtype="32" fill="hold" grpId="0" nodeType="clickEffect">
                                  <p:stCondLst>
                                    <p:cond delay="0"/>
                                  </p:stCondLst>
                                  <p:childTnLst>
                                    <p:set>
                                      <p:cBhvr>
                                        <p:cTn id="162" dur="1" fill="hold">
                                          <p:stCondLst>
                                            <p:cond delay="0"/>
                                          </p:stCondLst>
                                        </p:cTn>
                                        <p:tgtEl>
                                          <p:spTgt spid="1179729"/>
                                        </p:tgtEl>
                                        <p:attrNameLst>
                                          <p:attrName>style.visibility</p:attrName>
                                        </p:attrNameLst>
                                      </p:cBhvr>
                                      <p:to>
                                        <p:strVal val="visible"/>
                                      </p:to>
                                    </p:set>
                                    <p:animEffect transition="in" filter="box(out)">
                                      <p:cBhvr>
                                        <p:cTn id="163" dur="500"/>
                                        <p:tgtEl>
                                          <p:spTgt spid="1179729"/>
                                        </p:tgtEl>
                                      </p:cBhvr>
                                    </p:animEffect>
                                  </p:childTnLst>
                                  <p:subTnLst>
                                    <p:audio>
                                      <p:cMediaNode>
                                        <p:cTn display="0" masterRel="sameClick">
                                          <p:stCondLst>
                                            <p:cond evt="begin" delay="0">
                                              <p:tn val="161"/>
                                            </p:cond>
                                          </p:stCondLst>
                                          <p:endCondLst>
                                            <p:cond evt="onStopAudio" delay="0">
                                              <p:tgtEl>
                                                <p:sldTgt/>
                                              </p:tgtEl>
                                            </p:cond>
                                          </p:endCondLst>
                                        </p:cTn>
                                        <p:tgtEl>
                                          <p:sndTgt r:embed="rId1" name="CAMERA.WAV"/>
                                        </p:tgtEl>
                                      </p:cMediaNode>
                                    </p:audio>
                                  </p:subTnLst>
                                </p:cTn>
                              </p:par>
                            </p:childTnLst>
                          </p:cTn>
                        </p:par>
                      </p:childTnLst>
                    </p:cTn>
                  </p:par>
                  <p:par>
                    <p:cTn id="164" fill="hold">
                      <p:stCondLst>
                        <p:cond delay="indefinite"/>
                      </p:stCondLst>
                      <p:childTnLst>
                        <p:par>
                          <p:cTn id="165" fill="hold">
                            <p:stCondLst>
                              <p:cond delay="0"/>
                            </p:stCondLst>
                            <p:childTnLst>
                              <p:par>
                                <p:cTn id="166" presetID="4" presetClass="entr" presetSubtype="32" fill="hold" grpId="0" nodeType="clickEffect">
                                  <p:stCondLst>
                                    <p:cond delay="0"/>
                                  </p:stCondLst>
                                  <p:childTnLst>
                                    <p:set>
                                      <p:cBhvr>
                                        <p:cTn id="167" dur="1" fill="hold">
                                          <p:stCondLst>
                                            <p:cond delay="0"/>
                                          </p:stCondLst>
                                        </p:cTn>
                                        <p:tgtEl>
                                          <p:spTgt spid="1179651"/>
                                        </p:tgtEl>
                                        <p:attrNameLst>
                                          <p:attrName>style.visibility</p:attrName>
                                        </p:attrNameLst>
                                      </p:cBhvr>
                                      <p:to>
                                        <p:strVal val="visible"/>
                                      </p:to>
                                    </p:set>
                                    <p:animEffect transition="in" filter="box(out)">
                                      <p:cBhvr>
                                        <p:cTn id="168" dur="500"/>
                                        <p:tgtEl>
                                          <p:spTgt spid="1179651"/>
                                        </p:tgtEl>
                                      </p:cBhvr>
                                    </p:animEffect>
                                  </p:childTnLst>
                                  <p:subTnLst>
                                    <p:audio>
                                      <p:cMediaNode>
                                        <p:cTn display="0" masterRel="sameClick">
                                          <p:stCondLst>
                                            <p:cond evt="begin" delay="0">
                                              <p:tn val="166"/>
                                            </p:cond>
                                          </p:stCondLst>
                                          <p:endCondLst>
                                            <p:cond evt="onStopAudio" delay="0">
                                              <p:tgtEl>
                                                <p:sldTgt/>
                                              </p:tgtEl>
                                            </p:cond>
                                          </p:endCondLst>
                                        </p:cTn>
                                        <p:tgtEl>
                                          <p:sndTgt r:embed="rId1" name="CAMERA.WAV"/>
                                        </p:tgtEl>
                                      </p:cMediaNode>
                                    </p:audio>
                                  </p:subTnLst>
                                </p:cTn>
                              </p:par>
                            </p:childTnLst>
                          </p:cTn>
                        </p:par>
                      </p:childTnLst>
                    </p:cTn>
                  </p:par>
                  <p:par>
                    <p:cTn id="169" fill="hold">
                      <p:stCondLst>
                        <p:cond delay="indefinite"/>
                      </p:stCondLst>
                      <p:childTnLst>
                        <p:par>
                          <p:cTn id="170" fill="hold">
                            <p:stCondLst>
                              <p:cond delay="0"/>
                            </p:stCondLst>
                            <p:childTnLst>
                              <p:par>
                                <p:cTn id="171" presetID="4" presetClass="entr" presetSubtype="32" fill="hold" grpId="0" nodeType="clickEffect">
                                  <p:stCondLst>
                                    <p:cond delay="0"/>
                                  </p:stCondLst>
                                  <p:childTnLst>
                                    <p:set>
                                      <p:cBhvr>
                                        <p:cTn id="172" dur="1" fill="hold">
                                          <p:stCondLst>
                                            <p:cond delay="0"/>
                                          </p:stCondLst>
                                        </p:cTn>
                                        <p:tgtEl>
                                          <p:spTgt spid="1179721"/>
                                        </p:tgtEl>
                                        <p:attrNameLst>
                                          <p:attrName>style.visibility</p:attrName>
                                        </p:attrNameLst>
                                      </p:cBhvr>
                                      <p:to>
                                        <p:strVal val="visible"/>
                                      </p:to>
                                    </p:set>
                                    <p:animEffect transition="in" filter="box(out)">
                                      <p:cBhvr>
                                        <p:cTn id="173" dur="500"/>
                                        <p:tgtEl>
                                          <p:spTgt spid="1179721"/>
                                        </p:tgtEl>
                                      </p:cBhvr>
                                    </p:animEffect>
                                  </p:childTnLst>
                                  <p:subTnLst>
                                    <p:audio>
                                      <p:cMediaNode>
                                        <p:cTn display="0" masterRel="sameClick">
                                          <p:stCondLst>
                                            <p:cond evt="begin" delay="0">
                                              <p:tn val="171"/>
                                            </p:cond>
                                          </p:stCondLst>
                                          <p:endCondLst>
                                            <p:cond evt="onStopAudio" delay="0">
                                              <p:tgtEl>
                                                <p:sldTgt/>
                                              </p:tgtEl>
                                            </p:cond>
                                          </p:endCondLst>
                                        </p:cTn>
                                        <p:tgtEl>
                                          <p:sndTgt r:embed="rId1" name="CAMERA.WAV"/>
                                        </p:tgtEl>
                                      </p:cMediaNode>
                                    </p:audio>
                                  </p:subTnLst>
                                </p:cTn>
                              </p:par>
                            </p:childTnLst>
                          </p:cTn>
                        </p:par>
                      </p:childTnLst>
                    </p:cTn>
                  </p:par>
                  <p:par>
                    <p:cTn id="174" fill="hold">
                      <p:stCondLst>
                        <p:cond delay="indefinite"/>
                      </p:stCondLst>
                      <p:childTnLst>
                        <p:par>
                          <p:cTn id="175" fill="hold">
                            <p:stCondLst>
                              <p:cond delay="0"/>
                            </p:stCondLst>
                            <p:childTnLst>
                              <p:par>
                                <p:cTn id="176" presetID="4" presetClass="entr" presetSubtype="32" fill="hold" grpId="0" nodeType="clickEffect">
                                  <p:stCondLst>
                                    <p:cond delay="0"/>
                                  </p:stCondLst>
                                  <p:childTnLst>
                                    <p:set>
                                      <p:cBhvr>
                                        <p:cTn id="177" dur="1" fill="hold">
                                          <p:stCondLst>
                                            <p:cond delay="0"/>
                                          </p:stCondLst>
                                        </p:cTn>
                                        <p:tgtEl>
                                          <p:spTgt spid="1179650"/>
                                        </p:tgtEl>
                                        <p:attrNameLst>
                                          <p:attrName>style.visibility</p:attrName>
                                        </p:attrNameLst>
                                      </p:cBhvr>
                                      <p:to>
                                        <p:strVal val="visible"/>
                                      </p:to>
                                    </p:set>
                                    <p:animEffect transition="in" filter="box(out)">
                                      <p:cBhvr>
                                        <p:cTn id="178" dur="500"/>
                                        <p:tgtEl>
                                          <p:spTgt spid="1179650"/>
                                        </p:tgtEl>
                                      </p:cBhvr>
                                    </p:animEffect>
                                  </p:childTnLst>
                                  <p:subTnLst>
                                    <p:audio>
                                      <p:cMediaNode>
                                        <p:cTn display="0" masterRel="sameClick">
                                          <p:stCondLst>
                                            <p:cond evt="begin" delay="0">
                                              <p:tn val="176"/>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9650" grpId="0" animBg="1"/>
      <p:bldP spid="1179651" grpId="0" animBg="1"/>
      <p:bldP spid="1179652" grpId="0" animBg="1"/>
      <p:bldP spid="1179653" grpId="0" animBg="1"/>
      <p:bldP spid="1179654" grpId="0" animBg="1"/>
      <p:bldP spid="1179655" grpId="0" animBg="1"/>
      <p:bldP spid="1179656" grpId="0" animBg="1"/>
      <p:bldP spid="1179657" grpId="0" animBg="1"/>
      <p:bldP spid="1179658" grpId="0" animBg="1"/>
      <p:bldP spid="1179659" grpId="0" animBg="1"/>
      <p:bldP spid="1179660" grpId="0" animBg="1"/>
      <p:bldP spid="1179661" grpId="0" animBg="1"/>
      <p:bldP spid="1179662" grpId="0" animBg="1"/>
      <p:bldP spid="1179663" grpId="0" animBg="1"/>
      <p:bldP spid="1179664" grpId="0" animBg="1"/>
      <p:bldP spid="1179681" grpId="0" bldLvl="5" autoUpdateAnimBg="0" build="p"/>
      <p:bldP spid="1179715" grpId="0" autoUpdateAnimBg="0" build="p"/>
      <p:bldP spid="1179716" grpId="0" autoUpdateAnimBg="0" build="p"/>
      <p:bldP spid="1179717" grpId="0" autoUpdateAnimBg="0" build="p"/>
      <p:bldP spid="1179718" grpId="0" autoUpdateAnimBg="0" build="p"/>
      <p:bldP spid="1179719" grpId="0" autoUpdateAnimBg="0" build="p"/>
      <p:bldP spid="1179720" grpId="0" animBg="1"/>
      <p:bldP spid="1179721" grpId="0" animBg="1" autoUpdateAnimBg="0"/>
      <p:bldP spid="1179722" grpId="0" animBg="1" autoUpdateAnimBg="0"/>
      <p:bldP spid="1179723" grpId="0" autoUpdateAnimBg="0" build="p"/>
      <p:bldP spid="1179724" grpId="0" animBg="1"/>
      <p:bldP spid="1179725" grpId="0" animBg="1"/>
      <p:bldP spid="1179726" grpId="0" animBg="1" autoUpdateAnimBg="0"/>
      <p:bldP spid="1179727" grpId="0" animBg="1" autoUpdateAnimBg="0"/>
      <p:bldP spid="1179728" grpId="0" animBg="1" autoUpdateAnimBg="0"/>
      <p:bldP spid="1179729" grpId="0" animBg="1" autoUpdateAnimBg="0"/>
      <p:bldP spid="1179730"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Text Box 2"/>
          <p:cNvSpPr txBox="1">
            <a:spLocks noChangeArrowheads="1"/>
          </p:cNvSpPr>
          <p:nvPr/>
        </p:nvSpPr>
        <p:spPr bwMode="auto">
          <a:xfrm>
            <a:off x="200025" y="2057400"/>
            <a:ext cx="8737600" cy="363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4500">
                <a:ea typeface="楷体_GB2312" charset="0"/>
              </a:rPr>
              <a:t> 限于二元运算符的表达式定义</a:t>
            </a:r>
            <a:r>
              <a:rPr lang="en-US" altLang="zh-CN" sz="4500">
                <a:ea typeface="楷体_GB2312" charset="0"/>
              </a:rPr>
              <a:t>:</a:t>
            </a:r>
            <a:endParaRPr lang="en-US" altLang="zh-CN" sz="4500">
              <a:ea typeface="楷体_GB2312" charset="0"/>
            </a:endParaRPr>
          </a:p>
          <a:p>
            <a:pPr eaLnBrk="0" hangingPunct="0"/>
            <a:endParaRPr lang="en-US" altLang="zh-CN" sz="3600">
              <a:ea typeface="楷体_GB2312" charset="0"/>
            </a:endParaRPr>
          </a:p>
          <a:p>
            <a:pPr eaLnBrk="0" hangingPunct="0">
              <a:lnSpc>
                <a:spcPct val="140000"/>
              </a:lnSpc>
            </a:pPr>
            <a:r>
              <a:rPr lang="en-US" altLang="zh-CN" sz="3600">
                <a:ea typeface="楷体_GB2312" charset="0"/>
              </a:rPr>
              <a:t>   </a:t>
            </a:r>
            <a:r>
              <a:rPr lang="zh-CN" altLang="en-US" sz="3600" b="1">
                <a:solidFill>
                  <a:srgbClr val="A50021"/>
                </a:solidFill>
                <a:ea typeface="楷体_GB2312" charset="0"/>
              </a:rPr>
              <a:t>表达式 </a:t>
            </a:r>
            <a:r>
              <a:rPr lang="en-US" altLang="zh-CN" sz="3600" b="1">
                <a:solidFill>
                  <a:srgbClr val="A50021"/>
                </a:solidFill>
                <a:ea typeface="楷体_GB2312" charset="0"/>
              </a:rPr>
              <a:t>::= (</a:t>
            </a:r>
            <a:r>
              <a:rPr lang="zh-CN" altLang="en-US" sz="3600" b="1">
                <a:solidFill>
                  <a:srgbClr val="A50021"/>
                </a:solidFill>
                <a:ea typeface="楷体_GB2312" charset="0"/>
              </a:rPr>
              <a:t>操作数</a:t>
            </a:r>
            <a:r>
              <a:rPr lang="en-US" altLang="zh-CN" sz="3600" b="1">
                <a:solidFill>
                  <a:srgbClr val="A50021"/>
                </a:solidFill>
                <a:ea typeface="楷体_GB2312" charset="0"/>
              </a:rPr>
              <a:t>) + (</a:t>
            </a:r>
            <a:r>
              <a:rPr lang="zh-CN" altLang="en-US" sz="3600" b="1">
                <a:solidFill>
                  <a:srgbClr val="A50021"/>
                </a:solidFill>
                <a:ea typeface="楷体_GB2312" charset="0"/>
              </a:rPr>
              <a:t>运算符</a:t>
            </a:r>
            <a:r>
              <a:rPr lang="en-US" altLang="zh-CN" sz="3600" b="1">
                <a:solidFill>
                  <a:srgbClr val="A50021"/>
                </a:solidFill>
                <a:ea typeface="楷体_GB2312" charset="0"/>
              </a:rPr>
              <a:t>) + (</a:t>
            </a:r>
            <a:r>
              <a:rPr lang="zh-CN" altLang="en-US" sz="3600" b="1">
                <a:solidFill>
                  <a:srgbClr val="A50021"/>
                </a:solidFill>
                <a:ea typeface="楷体_GB2312" charset="0"/>
              </a:rPr>
              <a:t>操作数</a:t>
            </a:r>
            <a:r>
              <a:rPr lang="en-US" altLang="zh-CN" sz="3600" b="1">
                <a:solidFill>
                  <a:srgbClr val="A50021"/>
                </a:solidFill>
                <a:ea typeface="楷体_GB2312" charset="0"/>
              </a:rPr>
              <a:t>)</a:t>
            </a:r>
            <a:endParaRPr lang="en-US" altLang="zh-CN" sz="3600" b="1">
              <a:solidFill>
                <a:srgbClr val="A50021"/>
              </a:solidFill>
              <a:ea typeface="楷体_GB2312" charset="0"/>
            </a:endParaRPr>
          </a:p>
          <a:p>
            <a:pPr eaLnBrk="0" hangingPunct="0">
              <a:lnSpc>
                <a:spcPct val="140000"/>
              </a:lnSpc>
            </a:pPr>
            <a:r>
              <a:rPr lang="en-US" altLang="zh-CN" sz="3600" b="1">
                <a:solidFill>
                  <a:srgbClr val="A50021"/>
                </a:solidFill>
                <a:ea typeface="楷体_GB2312" charset="0"/>
              </a:rPr>
              <a:t>   </a:t>
            </a:r>
            <a:r>
              <a:rPr lang="zh-CN" altLang="en-US" sz="3600" b="1">
                <a:solidFill>
                  <a:srgbClr val="A50021"/>
                </a:solidFill>
                <a:ea typeface="楷体_GB2312" charset="0"/>
              </a:rPr>
              <a:t>操作数 </a:t>
            </a:r>
            <a:r>
              <a:rPr lang="en-US" altLang="zh-CN" sz="3600" b="1">
                <a:solidFill>
                  <a:srgbClr val="A50021"/>
                </a:solidFill>
                <a:ea typeface="楷体_GB2312" charset="0"/>
              </a:rPr>
              <a:t>::= </a:t>
            </a:r>
            <a:r>
              <a:rPr lang="zh-CN" altLang="en-US" sz="3600" b="1">
                <a:solidFill>
                  <a:srgbClr val="A50021"/>
                </a:solidFill>
                <a:ea typeface="楷体_GB2312" charset="0"/>
              </a:rPr>
              <a:t>简单变量 </a:t>
            </a:r>
            <a:r>
              <a:rPr lang="en-US" altLang="zh-CN" sz="3600" b="1">
                <a:solidFill>
                  <a:srgbClr val="A50021"/>
                </a:solidFill>
                <a:ea typeface="楷体_GB2312" charset="0"/>
              </a:rPr>
              <a:t>| </a:t>
            </a:r>
            <a:r>
              <a:rPr lang="zh-CN" altLang="en-US" sz="3600" b="1">
                <a:solidFill>
                  <a:srgbClr val="A50021"/>
                </a:solidFill>
                <a:ea typeface="楷体_GB2312" charset="0"/>
              </a:rPr>
              <a:t>表达式</a:t>
            </a:r>
            <a:endParaRPr lang="zh-CN" altLang="en-US" sz="3600" b="1">
              <a:solidFill>
                <a:srgbClr val="A50021"/>
              </a:solidFill>
              <a:ea typeface="楷体_GB2312" charset="0"/>
            </a:endParaRPr>
          </a:p>
          <a:p>
            <a:pPr eaLnBrk="0" hangingPunct="0">
              <a:lnSpc>
                <a:spcPct val="140000"/>
              </a:lnSpc>
            </a:pPr>
            <a:r>
              <a:rPr lang="zh-CN" altLang="en-US" sz="3600" b="1">
                <a:solidFill>
                  <a:srgbClr val="A50021"/>
                </a:solidFill>
                <a:ea typeface="楷体_GB2312" charset="0"/>
              </a:rPr>
              <a:t>   简单变量 </a:t>
            </a:r>
            <a:r>
              <a:rPr lang="en-US" altLang="zh-CN" sz="3600" b="1">
                <a:solidFill>
                  <a:srgbClr val="A50021"/>
                </a:solidFill>
                <a:ea typeface="楷体_GB2312" charset="0"/>
              </a:rPr>
              <a:t>:: = </a:t>
            </a:r>
            <a:r>
              <a:rPr lang="zh-CN" altLang="en-US" sz="3600" b="1">
                <a:solidFill>
                  <a:srgbClr val="A50021"/>
                </a:solidFill>
                <a:ea typeface="楷体_GB2312" charset="0"/>
              </a:rPr>
              <a:t>标识符 </a:t>
            </a:r>
            <a:r>
              <a:rPr lang="en-US" altLang="zh-CN" sz="3600" b="1">
                <a:solidFill>
                  <a:srgbClr val="A50021"/>
                </a:solidFill>
                <a:ea typeface="楷体_GB2312" charset="0"/>
              </a:rPr>
              <a:t>| </a:t>
            </a:r>
            <a:r>
              <a:rPr lang="zh-CN" altLang="en-US" sz="3600" b="1">
                <a:solidFill>
                  <a:srgbClr val="A50021"/>
                </a:solidFill>
                <a:ea typeface="楷体_GB2312" charset="0"/>
              </a:rPr>
              <a:t>无符号整数</a:t>
            </a:r>
            <a:endParaRPr lang="zh-CN" altLang="en-US" sz="3600">
              <a:solidFill>
                <a:srgbClr val="A50021"/>
              </a:solidFill>
              <a:ea typeface="楷体_GB2312" charset="0"/>
            </a:endParaRPr>
          </a:p>
        </p:txBody>
      </p:sp>
      <p:sp>
        <p:nvSpPr>
          <p:cNvPr id="1063939" name="Text Box 3"/>
          <p:cNvSpPr txBox="1">
            <a:spLocks noChangeArrowheads="1"/>
          </p:cNvSpPr>
          <p:nvPr/>
        </p:nvSpPr>
        <p:spPr bwMode="auto">
          <a:xfrm>
            <a:off x="1447800" y="73025"/>
            <a:ext cx="5238750" cy="823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800" b="1">
                <a:solidFill>
                  <a:srgbClr val="FF5050"/>
                </a:solidFill>
                <a:ea typeface="楷体_GB2312" charset="0"/>
              </a:rPr>
              <a:t>例五、 表达式求值</a:t>
            </a:r>
            <a:endParaRPr lang="zh-CN" altLang="en-US" sz="4800" b="1">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1063938"/>
                                        </p:tgtEl>
                                        <p:attrNameLst>
                                          <p:attrName>style.visibility</p:attrName>
                                        </p:attrNameLst>
                                      </p:cBhvr>
                                      <p:to>
                                        <p:strVal val="visible"/>
                                      </p:to>
                                    </p:set>
                                    <p:anim calcmode="lin" valueType="num">
                                      <p:cBhvr>
                                        <p:cTn id="7" dur="500" fill="hold"/>
                                        <p:tgtEl>
                                          <p:spTgt spid="1063938"/>
                                        </p:tgtEl>
                                        <p:attrNameLst>
                                          <p:attrName>ppt_w</p:attrName>
                                        </p:attrNameLst>
                                      </p:cBhvr>
                                      <p:tavLst>
                                        <p:tav tm="0">
                                          <p:val>
                                            <p:fltVal val="0"/>
                                          </p:val>
                                        </p:tav>
                                        <p:tav tm="100000">
                                          <p:val>
                                            <p:strVal val="#ppt_w"/>
                                          </p:val>
                                        </p:tav>
                                      </p:tavLst>
                                    </p:anim>
                                    <p:anim calcmode="lin" valueType="num">
                                      <p:cBhvr>
                                        <p:cTn id="8" dur="500" fill="hold"/>
                                        <p:tgtEl>
                                          <p:spTgt spid="1063938"/>
                                        </p:tgtEl>
                                        <p:attrNameLst>
                                          <p:attrName>ppt_h</p:attrName>
                                        </p:attrNameLst>
                                      </p:cBhvr>
                                      <p:tavLst>
                                        <p:tav tm="0">
                                          <p:val>
                                            <p:fltVal val="0"/>
                                          </p:val>
                                        </p:tav>
                                        <p:tav tm="100000">
                                          <p:val>
                                            <p:strVal val="#ppt_h"/>
                                          </p:val>
                                        </p:tav>
                                      </p:tavLst>
                                    </p:anim>
                                    <p:anim calcmode="lin" valueType="num">
                                      <p:cBhvr>
                                        <p:cTn id="9" dur="500" fill="hold"/>
                                        <p:tgtEl>
                                          <p:spTgt spid="1063938"/>
                                        </p:tgtEl>
                                        <p:attrNameLst>
                                          <p:attrName>ppt_x</p:attrName>
                                        </p:attrNameLst>
                                      </p:cBhvr>
                                      <p:tavLst>
                                        <p:tav tm="0">
                                          <p:val>
                                            <p:fltVal val="0.5"/>
                                          </p:val>
                                        </p:tav>
                                        <p:tav tm="100000">
                                          <p:val>
                                            <p:strVal val="#ppt_x"/>
                                          </p:val>
                                        </p:tav>
                                      </p:tavLst>
                                    </p:anim>
                                    <p:anim calcmode="lin" valueType="num">
                                      <p:cBhvr>
                                        <p:cTn id="10" dur="500" fill="hold"/>
                                        <p:tgtEl>
                                          <p:spTgt spid="1063938"/>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3938"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Text Box 2"/>
          <p:cNvSpPr txBox="1">
            <a:spLocks noChangeArrowheads="1"/>
          </p:cNvSpPr>
          <p:nvPr/>
        </p:nvSpPr>
        <p:spPr bwMode="auto">
          <a:xfrm>
            <a:off x="1524000" y="228600"/>
            <a:ext cx="5865813"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2400">
                <a:ea typeface="楷体_GB2312" charset="0"/>
              </a:rPr>
              <a:t> </a:t>
            </a:r>
            <a:r>
              <a:rPr lang="zh-CN" altLang="en-US" sz="4000" b="1">
                <a:solidFill>
                  <a:srgbClr val="660033"/>
                </a:solidFill>
                <a:ea typeface="楷体_GB2312" charset="0"/>
              </a:rPr>
              <a:t>表达式的三种标识方法：</a:t>
            </a:r>
            <a:endParaRPr lang="zh-CN" altLang="en-US" sz="4000">
              <a:ea typeface="楷体_GB2312" charset="0"/>
            </a:endParaRPr>
          </a:p>
        </p:txBody>
      </p:sp>
      <p:sp>
        <p:nvSpPr>
          <p:cNvPr id="1064963" name="Text Box 3"/>
          <p:cNvSpPr txBox="1">
            <a:spLocks noChangeArrowheads="1"/>
          </p:cNvSpPr>
          <p:nvPr/>
        </p:nvSpPr>
        <p:spPr bwMode="auto">
          <a:xfrm>
            <a:off x="365125" y="1812925"/>
            <a:ext cx="51625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4000" b="1">
                <a:ea typeface="楷体_GB2312" charset="0"/>
              </a:rPr>
              <a:t>设 </a:t>
            </a:r>
            <a:r>
              <a:rPr lang="zh-CN" altLang="en-US" sz="4000">
                <a:solidFill>
                  <a:srgbClr val="FF5050"/>
                </a:solidFill>
                <a:ea typeface="楷体_GB2312" charset="0"/>
              </a:rPr>
              <a:t> </a:t>
            </a:r>
            <a:r>
              <a:rPr lang="en-US" altLang="zh-CN" sz="4000">
                <a:solidFill>
                  <a:srgbClr val="FF0000"/>
                </a:solidFill>
                <a:ea typeface="楷体_GB2312" charset="0"/>
              </a:rPr>
              <a:t>Exp = </a:t>
            </a:r>
            <a:r>
              <a:rPr lang="en-US" altLang="zh-CN" sz="4000" u="sng">
                <a:solidFill>
                  <a:srgbClr val="FF0000"/>
                </a:solidFill>
                <a:ea typeface="楷体_GB2312" charset="0"/>
              </a:rPr>
              <a:t>S1 </a:t>
            </a:r>
            <a:r>
              <a:rPr lang="en-US" altLang="zh-CN" sz="4000">
                <a:solidFill>
                  <a:srgbClr val="FF0000"/>
                </a:solidFill>
                <a:ea typeface="楷体_GB2312" charset="0"/>
              </a:rPr>
              <a:t>+</a:t>
            </a:r>
            <a:r>
              <a:rPr lang="en-US" altLang="zh-CN" sz="4000">
                <a:solidFill>
                  <a:srgbClr val="A50021"/>
                </a:solidFill>
                <a:ea typeface="楷体_GB2312" charset="0"/>
              </a:rPr>
              <a:t> </a:t>
            </a:r>
            <a:r>
              <a:rPr lang="en-US" altLang="zh-CN" sz="4000" b="1">
                <a:solidFill>
                  <a:srgbClr val="A50021"/>
                </a:solidFill>
                <a:ea typeface="楷体_GB2312" charset="0"/>
              </a:rPr>
              <a:t>OP</a:t>
            </a:r>
            <a:r>
              <a:rPr lang="en-US" altLang="zh-CN" sz="4000">
                <a:solidFill>
                  <a:srgbClr val="FF5050"/>
                </a:solidFill>
                <a:ea typeface="楷体_GB2312" charset="0"/>
              </a:rPr>
              <a:t> </a:t>
            </a:r>
            <a:r>
              <a:rPr lang="en-US" altLang="zh-CN" sz="4000">
                <a:solidFill>
                  <a:srgbClr val="FF0000"/>
                </a:solidFill>
                <a:ea typeface="楷体_GB2312" charset="0"/>
              </a:rPr>
              <a:t>+ </a:t>
            </a:r>
            <a:r>
              <a:rPr lang="en-US" altLang="zh-CN" sz="4000" u="sng">
                <a:solidFill>
                  <a:srgbClr val="FF0000"/>
                </a:solidFill>
                <a:ea typeface="楷体_GB2312" charset="0"/>
              </a:rPr>
              <a:t>S2</a:t>
            </a:r>
            <a:endParaRPr lang="en-US" altLang="zh-CN" sz="4000"/>
          </a:p>
        </p:txBody>
      </p:sp>
      <p:sp>
        <p:nvSpPr>
          <p:cNvPr id="1064964" name="Text Box 4"/>
          <p:cNvSpPr txBox="1">
            <a:spLocks noChangeArrowheads="1"/>
          </p:cNvSpPr>
          <p:nvPr/>
        </p:nvSpPr>
        <p:spPr bwMode="auto">
          <a:xfrm>
            <a:off x="304800" y="3019425"/>
            <a:ext cx="85344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4000" b="1">
                <a:ea typeface="楷体_GB2312" charset="0"/>
              </a:rPr>
              <a:t>则称</a:t>
            </a:r>
            <a:r>
              <a:rPr lang="zh-CN" altLang="en-US" sz="4000">
                <a:ea typeface="楷体_GB2312" charset="0"/>
              </a:rPr>
              <a:t>    </a:t>
            </a:r>
            <a:r>
              <a:rPr lang="en-US" altLang="zh-CN" sz="4000" b="1">
                <a:solidFill>
                  <a:srgbClr val="A50021"/>
                </a:solidFill>
                <a:ea typeface="楷体_GB2312" charset="0"/>
              </a:rPr>
              <a:t>OP</a:t>
            </a:r>
            <a:r>
              <a:rPr lang="en-US" altLang="zh-CN" sz="4000">
                <a:ea typeface="楷体_GB2312" charset="0"/>
              </a:rPr>
              <a:t> </a:t>
            </a:r>
            <a:r>
              <a:rPr lang="en-US" altLang="zh-CN" sz="4000">
                <a:solidFill>
                  <a:srgbClr val="FF0000"/>
                </a:solidFill>
                <a:ea typeface="楷体_GB2312" charset="0"/>
              </a:rPr>
              <a:t>+ </a:t>
            </a:r>
            <a:r>
              <a:rPr lang="en-US" altLang="zh-CN" sz="4000" u="sng">
                <a:solidFill>
                  <a:srgbClr val="FF0000"/>
                </a:solidFill>
                <a:ea typeface="楷体_GB2312" charset="0"/>
              </a:rPr>
              <a:t>S1 </a:t>
            </a:r>
            <a:r>
              <a:rPr lang="en-US" altLang="zh-CN" sz="4000">
                <a:solidFill>
                  <a:srgbClr val="FF0000"/>
                </a:solidFill>
                <a:ea typeface="楷体_GB2312" charset="0"/>
              </a:rPr>
              <a:t>+ </a:t>
            </a:r>
            <a:r>
              <a:rPr lang="en-US" altLang="zh-CN" sz="4000" u="sng">
                <a:solidFill>
                  <a:srgbClr val="FF0000"/>
                </a:solidFill>
                <a:ea typeface="楷体_GB2312" charset="0"/>
              </a:rPr>
              <a:t>S2</a:t>
            </a:r>
            <a:r>
              <a:rPr lang="en-US" altLang="zh-CN" sz="4000">
                <a:ea typeface="楷体_GB2312" charset="0"/>
              </a:rPr>
              <a:t>      </a:t>
            </a:r>
            <a:r>
              <a:rPr lang="zh-CN" altLang="en-US" sz="4000">
                <a:ea typeface="楷体_GB2312" charset="0"/>
              </a:rPr>
              <a:t>为</a:t>
            </a:r>
            <a:r>
              <a:rPr lang="zh-CN" altLang="en-US" sz="4000" b="1">
                <a:solidFill>
                  <a:srgbClr val="A50021"/>
                </a:solidFill>
                <a:ea typeface="楷体_GB2312" charset="0"/>
              </a:rPr>
              <a:t>前缀表示法</a:t>
            </a:r>
            <a:r>
              <a:rPr lang="zh-CN" altLang="en-US" sz="4000">
                <a:ea typeface="楷体_GB2312" charset="0"/>
              </a:rPr>
              <a:t> </a:t>
            </a:r>
            <a:endParaRPr lang="zh-CN" altLang="en-US" sz="4000">
              <a:ea typeface="楷体_GB2312" charset="0"/>
            </a:endParaRPr>
          </a:p>
        </p:txBody>
      </p:sp>
      <p:sp>
        <p:nvSpPr>
          <p:cNvPr id="1064965" name="Text Box 5"/>
          <p:cNvSpPr txBox="1">
            <a:spLocks noChangeArrowheads="1"/>
          </p:cNvSpPr>
          <p:nvPr/>
        </p:nvSpPr>
        <p:spPr bwMode="auto">
          <a:xfrm>
            <a:off x="1828800" y="4162425"/>
            <a:ext cx="702627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4000" u="sng">
                <a:solidFill>
                  <a:srgbClr val="FF0000"/>
                </a:solidFill>
                <a:ea typeface="楷体_GB2312" charset="0"/>
              </a:rPr>
              <a:t>S1</a:t>
            </a:r>
            <a:r>
              <a:rPr lang="en-US" altLang="zh-CN" sz="4000">
                <a:solidFill>
                  <a:srgbClr val="FF0000"/>
                </a:solidFill>
                <a:ea typeface="楷体_GB2312" charset="0"/>
              </a:rPr>
              <a:t> +</a:t>
            </a:r>
            <a:r>
              <a:rPr lang="en-US" altLang="zh-CN" sz="4000">
                <a:ea typeface="楷体_GB2312" charset="0"/>
              </a:rPr>
              <a:t> </a:t>
            </a:r>
            <a:r>
              <a:rPr lang="en-US" altLang="zh-CN" sz="4000" b="1">
                <a:solidFill>
                  <a:srgbClr val="A50021"/>
                </a:solidFill>
                <a:ea typeface="楷体_GB2312" charset="0"/>
              </a:rPr>
              <a:t>OP</a:t>
            </a:r>
            <a:r>
              <a:rPr lang="en-US" altLang="zh-CN" sz="4000">
                <a:ea typeface="楷体_GB2312" charset="0"/>
              </a:rPr>
              <a:t> </a:t>
            </a:r>
            <a:r>
              <a:rPr lang="en-US" altLang="zh-CN" sz="4000">
                <a:solidFill>
                  <a:srgbClr val="FF0000"/>
                </a:solidFill>
                <a:ea typeface="楷体_GB2312" charset="0"/>
              </a:rPr>
              <a:t>+ </a:t>
            </a:r>
            <a:r>
              <a:rPr lang="en-US" altLang="zh-CN" sz="4000" u="sng">
                <a:solidFill>
                  <a:srgbClr val="FF0000"/>
                </a:solidFill>
                <a:ea typeface="楷体_GB2312" charset="0"/>
              </a:rPr>
              <a:t>S2</a:t>
            </a:r>
            <a:r>
              <a:rPr lang="en-US" altLang="zh-CN" sz="4000">
                <a:ea typeface="楷体_GB2312" charset="0"/>
              </a:rPr>
              <a:t>      </a:t>
            </a:r>
            <a:r>
              <a:rPr lang="zh-CN" altLang="en-US" sz="4000">
                <a:ea typeface="楷体_GB2312" charset="0"/>
              </a:rPr>
              <a:t>为</a:t>
            </a:r>
            <a:r>
              <a:rPr lang="zh-CN" altLang="en-US" sz="4000" b="1">
                <a:solidFill>
                  <a:srgbClr val="A50021"/>
                </a:solidFill>
                <a:ea typeface="楷体_GB2312" charset="0"/>
              </a:rPr>
              <a:t>中缀表示法</a:t>
            </a:r>
            <a:r>
              <a:rPr lang="zh-CN" altLang="en-US" sz="4000">
                <a:ea typeface="楷体_GB2312" charset="0"/>
              </a:rPr>
              <a:t> </a:t>
            </a:r>
            <a:endParaRPr lang="zh-CN" altLang="en-US" sz="4000">
              <a:ea typeface="楷体_GB2312" charset="0"/>
            </a:endParaRPr>
          </a:p>
        </p:txBody>
      </p:sp>
      <p:sp>
        <p:nvSpPr>
          <p:cNvPr id="1064966" name="Text Box 6"/>
          <p:cNvSpPr txBox="1">
            <a:spLocks noChangeArrowheads="1"/>
          </p:cNvSpPr>
          <p:nvPr/>
        </p:nvSpPr>
        <p:spPr bwMode="auto">
          <a:xfrm>
            <a:off x="1676400" y="5318125"/>
            <a:ext cx="7113588"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4000">
                <a:ea typeface="楷体_GB2312" charset="0"/>
              </a:rPr>
              <a:t> </a:t>
            </a:r>
            <a:r>
              <a:rPr lang="en-US" altLang="zh-CN" sz="4000" u="sng">
                <a:solidFill>
                  <a:srgbClr val="FF0000"/>
                </a:solidFill>
                <a:ea typeface="楷体_GB2312" charset="0"/>
              </a:rPr>
              <a:t>S1</a:t>
            </a:r>
            <a:r>
              <a:rPr lang="en-US" altLang="zh-CN" sz="4000">
                <a:solidFill>
                  <a:srgbClr val="FF0000"/>
                </a:solidFill>
                <a:ea typeface="楷体_GB2312" charset="0"/>
              </a:rPr>
              <a:t> + </a:t>
            </a:r>
            <a:r>
              <a:rPr lang="en-US" altLang="zh-CN" sz="4000" u="sng">
                <a:solidFill>
                  <a:srgbClr val="FF0000"/>
                </a:solidFill>
                <a:ea typeface="楷体_GB2312" charset="0"/>
              </a:rPr>
              <a:t>S2</a:t>
            </a:r>
            <a:r>
              <a:rPr lang="en-US" altLang="zh-CN" sz="4000">
                <a:solidFill>
                  <a:srgbClr val="FF0000"/>
                </a:solidFill>
                <a:ea typeface="楷体_GB2312" charset="0"/>
              </a:rPr>
              <a:t> +</a:t>
            </a:r>
            <a:r>
              <a:rPr lang="en-US" altLang="zh-CN" sz="4000">
                <a:ea typeface="楷体_GB2312" charset="0"/>
              </a:rPr>
              <a:t> </a:t>
            </a:r>
            <a:r>
              <a:rPr lang="en-US" altLang="zh-CN" sz="4000" b="1">
                <a:solidFill>
                  <a:srgbClr val="A50021"/>
                </a:solidFill>
                <a:ea typeface="楷体_GB2312" charset="0"/>
              </a:rPr>
              <a:t>OP</a:t>
            </a:r>
            <a:r>
              <a:rPr lang="en-US" altLang="zh-CN" sz="4000">
                <a:ea typeface="楷体_GB2312" charset="0"/>
              </a:rPr>
              <a:t>      </a:t>
            </a:r>
            <a:r>
              <a:rPr lang="zh-CN" altLang="en-US" sz="4000">
                <a:ea typeface="楷体_GB2312" charset="0"/>
              </a:rPr>
              <a:t>为</a:t>
            </a:r>
            <a:r>
              <a:rPr lang="zh-CN" altLang="en-US" sz="4000" b="1">
                <a:solidFill>
                  <a:srgbClr val="A50021"/>
                </a:solidFill>
                <a:ea typeface="楷体_GB2312" charset="0"/>
              </a:rPr>
              <a:t>后缀表示法</a:t>
            </a:r>
            <a:r>
              <a:rPr lang="zh-CN" altLang="en-US" sz="4000">
                <a:ea typeface="楷体_GB2312" charset="0"/>
              </a:rPr>
              <a:t> </a:t>
            </a:r>
            <a:endParaRPr lang="zh-CN" altLang="en-US" sz="400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649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iterate type="wd">
                                    <p:tmPct val="100000"/>
                                  </p:iterate>
                                  <p:childTnLst>
                                    <p:set>
                                      <p:cBhvr>
                                        <p:cTn id="10" dur="1" fill="hold">
                                          <p:stCondLst>
                                            <p:cond delay="0"/>
                                          </p:stCondLst>
                                        </p:cTn>
                                        <p:tgtEl>
                                          <p:spTgt spid="1064964"/>
                                        </p:tgtEl>
                                        <p:attrNameLst>
                                          <p:attrName>style.visibility</p:attrName>
                                        </p:attrNameLst>
                                      </p:cBhvr>
                                      <p:to>
                                        <p:strVal val="visible"/>
                                      </p:to>
                                    </p:set>
                                    <p:animEffect transition="in" filter="wipe(left)">
                                      <p:cBhvr>
                                        <p:cTn id="11" dur="300"/>
                                        <p:tgtEl>
                                          <p:spTgt spid="106496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wd">
                                    <p:tmPct val="100000"/>
                                  </p:iterate>
                                  <p:childTnLst>
                                    <p:set>
                                      <p:cBhvr>
                                        <p:cTn id="15" dur="1" fill="hold">
                                          <p:stCondLst>
                                            <p:cond delay="0"/>
                                          </p:stCondLst>
                                        </p:cTn>
                                        <p:tgtEl>
                                          <p:spTgt spid="1064965"/>
                                        </p:tgtEl>
                                        <p:attrNameLst>
                                          <p:attrName>style.visibility</p:attrName>
                                        </p:attrNameLst>
                                      </p:cBhvr>
                                      <p:to>
                                        <p:strVal val="visible"/>
                                      </p:to>
                                    </p:set>
                                    <p:animEffect transition="in" filter="wipe(left)">
                                      <p:cBhvr>
                                        <p:cTn id="16" dur="300"/>
                                        <p:tgtEl>
                                          <p:spTgt spid="106496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wd">
                                    <p:tmPct val="100000"/>
                                  </p:iterate>
                                  <p:childTnLst>
                                    <p:set>
                                      <p:cBhvr>
                                        <p:cTn id="20" dur="1" fill="hold">
                                          <p:stCondLst>
                                            <p:cond delay="0"/>
                                          </p:stCondLst>
                                        </p:cTn>
                                        <p:tgtEl>
                                          <p:spTgt spid="1064966"/>
                                        </p:tgtEl>
                                        <p:attrNameLst>
                                          <p:attrName>style.visibility</p:attrName>
                                        </p:attrNameLst>
                                      </p:cBhvr>
                                      <p:to>
                                        <p:strVal val="visible"/>
                                      </p:to>
                                    </p:set>
                                    <p:animEffect transition="in" filter="wipe(left)">
                                      <p:cBhvr>
                                        <p:cTn id="21" dur="300"/>
                                        <p:tgtEl>
                                          <p:spTgt spid="1064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63" grpId="0" autoUpdateAnimBg="0"/>
      <p:bldP spid="1064964" grpId="0" autoUpdateAnimBg="0"/>
      <p:bldP spid="1064965" grpId="0" autoUpdateAnimBg="0"/>
      <p:bldP spid="1064966"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6" name="Text Box 2"/>
          <p:cNvSpPr txBox="1">
            <a:spLocks noChangeArrowheads="1"/>
          </p:cNvSpPr>
          <p:nvPr/>
        </p:nvSpPr>
        <p:spPr bwMode="auto">
          <a:xfrm>
            <a:off x="251143" y="152400"/>
            <a:ext cx="7773987" cy="289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15000"/>
              </a:lnSpc>
            </a:pPr>
            <a:r>
              <a:rPr lang="zh-CN" altLang="en-US" sz="4000">
                <a:ea typeface="楷体_GB2312" charset="0"/>
              </a:rPr>
              <a:t>例如</a:t>
            </a:r>
            <a:r>
              <a:rPr lang="en-US" altLang="zh-CN" sz="4000">
                <a:ea typeface="楷体_GB2312" charset="0"/>
              </a:rPr>
              <a:t>:    </a:t>
            </a:r>
            <a:r>
              <a:rPr lang="en-US" altLang="zh-CN" sz="4000" b="1">
                <a:ea typeface="楷体_GB2312" charset="0"/>
              </a:rPr>
              <a:t>Exp</a:t>
            </a:r>
            <a:r>
              <a:rPr lang="en-US" altLang="zh-CN" sz="4000">
                <a:ea typeface="楷体_GB2312" charset="0"/>
              </a:rPr>
              <a:t> = </a:t>
            </a:r>
            <a:r>
              <a:rPr lang="en-US" altLang="zh-CN" sz="4000" u="sng">
                <a:solidFill>
                  <a:srgbClr val="800000"/>
                </a:solidFill>
                <a:ea typeface="楷体_GB2312" charset="0"/>
              </a:rPr>
              <a:t>a </a:t>
            </a:r>
            <a:r>
              <a:rPr lang="en-US" altLang="zh-CN" sz="4000" u="sng">
                <a:solidFill>
                  <a:srgbClr val="800000"/>
                </a:solidFill>
                <a:ea typeface="楷体_GB2312" charset="0"/>
                <a:sym typeface="Symbol" panose="05050102010706020507" charset="2"/>
              </a:rPr>
              <a:t></a:t>
            </a:r>
            <a:r>
              <a:rPr lang="en-US" altLang="zh-CN" sz="4000" u="sng">
                <a:solidFill>
                  <a:srgbClr val="800000"/>
                </a:solidFill>
                <a:ea typeface="楷体_GB2312" charset="0"/>
              </a:rPr>
              <a:t> b</a:t>
            </a:r>
            <a:r>
              <a:rPr lang="en-US" altLang="zh-CN" sz="4000">
                <a:ea typeface="楷体_GB2312" charset="0"/>
              </a:rPr>
              <a:t> </a:t>
            </a:r>
            <a:r>
              <a:rPr lang="en-US" altLang="zh-CN" sz="4000" b="1">
                <a:solidFill>
                  <a:srgbClr val="FF0000"/>
                </a:solidFill>
                <a:ea typeface="楷体_GB2312" charset="0"/>
              </a:rPr>
              <a:t>+</a:t>
            </a:r>
            <a:r>
              <a:rPr lang="en-US" altLang="zh-CN" sz="4000">
                <a:ea typeface="楷体_GB2312" charset="0"/>
              </a:rPr>
              <a:t> </a:t>
            </a:r>
            <a:r>
              <a:rPr lang="en-US" altLang="zh-CN" sz="4000" u="sng">
                <a:solidFill>
                  <a:srgbClr val="008080"/>
                </a:solidFill>
                <a:ea typeface="楷体_GB2312" charset="0"/>
              </a:rPr>
              <a:t>(c </a:t>
            </a:r>
            <a:r>
              <a:rPr lang="en-US" altLang="zh-CN" sz="4000" u="sng">
                <a:solidFill>
                  <a:srgbClr val="008080"/>
                </a:solidFill>
                <a:ea typeface="楷体_GB2312" charset="0"/>
                <a:sym typeface="Symbol" panose="05050102010706020507" charset="2"/>
              </a:rPr>
              <a:t></a:t>
            </a:r>
            <a:r>
              <a:rPr lang="en-US" altLang="zh-CN" sz="4000" u="sng">
                <a:solidFill>
                  <a:srgbClr val="008080"/>
                </a:solidFill>
                <a:ea typeface="楷体_GB2312" charset="0"/>
              </a:rPr>
              <a:t> d / e) </a:t>
            </a:r>
            <a:r>
              <a:rPr lang="en-US" altLang="zh-CN" sz="4000" u="sng">
                <a:solidFill>
                  <a:srgbClr val="008080"/>
                </a:solidFill>
                <a:ea typeface="楷体_GB2312" charset="0"/>
                <a:sym typeface="Symbol" panose="05050102010706020507" charset="2"/>
              </a:rPr>
              <a:t></a:t>
            </a:r>
            <a:r>
              <a:rPr lang="en-US" altLang="zh-CN" sz="4000" u="sng">
                <a:solidFill>
                  <a:srgbClr val="008080"/>
                </a:solidFill>
                <a:ea typeface="楷体_GB2312" charset="0"/>
              </a:rPr>
              <a:t> f</a:t>
            </a:r>
            <a:endParaRPr lang="en-US" altLang="zh-CN" sz="4000" u="sng">
              <a:solidFill>
                <a:srgbClr val="008080"/>
              </a:solidFill>
              <a:ea typeface="楷体_GB2312" charset="0"/>
            </a:endParaRPr>
          </a:p>
          <a:p>
            <a:pPr eaLnBrk="0" hangingPunct="0">
              <a:lnSpc>
                <a:spcPct val="115000"/>
              </a:lnSpc>
            </a:pPr>
            <a:r>
              <a:rPr lang="zh-CN" altLang="en-US" sz="4000">
                <a:ea typeface="楷体_GB2312" charset="0"/>
              </a:rPr>
              <a:t>前缀式</a:t>
            </a:r>
            <a:r>
              <a:rPr lang="en-US" altLang="zh-CN" sz="4000">
                <a:ea typeface="楷体_GB2312" charset="0"/>
              </a:rPr>
              <a:t>:           </a:t>
            </a:r>
            <a:r>
              <a:rPr lang="en-US" altLang="zh-CN" sz="4000" b="1">
                <a:solidFill>
                  <a:srgbClr val="FF0000"/>
                </a:solidFill>
                <a:ea typeface="楷体_GB2312" charset="0"/>
              </a:rPr>
              <a:t>+</a:t>
            </a:r>
            <a:r>
              <a:rPr lang="en-US" altLang="zh-CN" sz="4000">
                <a:ea typeface="楷体_GB2312" charset="0"/>
              </a:rPr>
              <a:t> </a:t>
            </a:r>
            <a:r>
              <a:rPr lang="en-US" altLang="zh-CN" sz="4000" u="sng">
                <a:solidFill>
                  <a:srgbClr val="800000"/>
                </a:solidFill>
                <a:ea typeface="楷体_GB2312" charset="0"/>
                <a:sym typeface="Symbol" panose="05050102010706020507" charset="2"/>
              </a:rPr>
              <a:t></a:t>
            </a:r>
            <a:r>
              <a:rPr lang="en-US" altLang="zh-CN" sz="4000" u="sng">
                <a:solidFill>
                  <a:srgbClr val="800000"/>
                </a:solidFill>
                <a:ea typeface="楷体_GB2312" charset="0"/>
              </a:rPr>
              <a:t> a b</a:t>
            </a:r>
            <a:r>
              <a:rPr lang="en-US" altLang="zh-CN" sz="4000">
                <a:ea typeface="楷体_GB2312" charset="0"/>
              </a:rPr>
              <a:t> </a:t>
            </a:r>
            <a:r>
              <a:rPr lang="en-US" altLang="zh-CN" sz="4000" u="sng">
                <a:solidFill>
                  <a:srgbClr val="008080"/>
                </a:solidFill>
                <a:ea typeface="楷体_GB2312" charset="0"/>
                <a:sym typeface="Symbol" panose="05050102010706020507" charset="2"/>
              </a:rPr>
              <a:t></a:t>
            </a:r>
            <a:r>
              <a:rPr lang="en-US" altLang="zh-CN" sz="4000" u="sng">
                <a:solidFill>
                  <a:srgbClr val="008080"/>
                </a:solidFill>
                <a:ea typeface="楷体_GB2312" charset="0"/>
              </a:rPr>
              <a:t> </a:t>
            </a:r>
            <a:r>
              <a:rPr lang="en-US" altLang="zh-CN" sz="4000" u="sng">
                <a:solidFill>
                  <a:srgbClr val="008080"/>
                </a:solidFill>
                <a:ea typeface="楷体_GB2312" charset="0"/>
                <a:sym typeface="Symbol" panose="05050102010706020507" charset="2"/>
              </a:rPr>
              <a:t></a:t>
            </a:r>
            <a:r>
              <a:rPr lang="en-US" altLang="zh-CN" sz="4000" u="sng">
                <a:solidFill>
                  <a:srgbClr val="008080"/>
                </a:solidFill>
                <a:ea typeface="楷体_GB2312" charset="0"/>
              </a:rPr>
              <a:t> c / d e f</a:t>
            </a:r>
            <a:endParaRPr lang="en-US" altLang="zh-CN" sz="4000">
              <a:ea typeface="楷体_GB2312" charset="0"/>
            </a:endParaRPr>
          </a:p>
          <a:p>
            <a:pPr eaLnBrk="0" hangingPunct="0">
              <a:lnSpc>
                <a:spcPct val="115000"/>
              </a:lnSpc>
            </a:pPr>
            <a:r>
              <a:rPr lang="zh-CN" altLang="en-US" sz="4000">
                <a:ea typeface="楷体_GB2312" charset="0"/>
              </a:rPr>
              <a:t>中缀式</a:t>
            </a:r>
            <a:r>
              <a:rPr lang="en-US" altLang="zh-CN" sz="4000">
                <a:ea typeface="楷体_GB2312" charset="0"/>
              </a:rPr>
              <a:t>:           </a:t>
            </a:r>
            <a:r>
              <a:rPr lang="en-US" altLang="zh-CN" sz="4000" u="sng">
                <a:solidFill>
                  <a:srgbClr val="800000"/>
                </a:solidFill>
                <a:ea typeface="楷体_GB2312" charset="0"/>
              </a:rPr>
              <a:t>a </a:t>
            </a:r>
            <a:r>
              <a:rPr lang="en-US" altLang="zh-CN" sz="4000" u="sng">
                <a:solidFill>
                  <a:srgbClr val="800000"/>
                </a:solidFill>
                <a:ea typeface="楷体_GB2312" charset="0"/>
                <a:sym typeface="Symbol" panose="05050102010706020507" charset="2"/>
              </a:rPr>
              <a:t></a:t>
            </a:r>
            <a:r>
              <a:rPr lang="en-US" altLang="zh-CN" sz="4000" u="sng">
                <a:solidFill>
                  <a:srgbClr val="800000"/>
                </a:solidFill>
                <a:ea typeface="楷体_GB2312" charset="0"/>
              </a:rPr>
              <a:t> b</a:t>
            </a:r>
            <a:r>
              <a:rPr lang="en-US" altLang="zh-CN" sz="4000">
                <a:ea typeface="楷体_GB2312" charset="0"/>
              </a:rPr>
              <a:t> </a:t>
            </a:r>
            <a:r>
              <a:rPr lang="en-US" altLang="zh-CN" sz="4000" b="1">
                <a:solidFill>
                  <a:srgbClr val="FF0000"/>
                </a:solidFill>
                <a:ea typeface="楷体_GB2312" charset="0"/>
              </a:rPr>
              <a:t>+</a:t>
            </a:r>
            <a:r>
              <a:rPr lang="en-US" altLang="zh-CN" sz="4000">
                <a:ea typeface="楷体_GB2312" charset="0"/>
              </a:rPr>
              <a:t> </a:t>
            </a:r>
            <a:r>
              <a:rPr lang="en-US" altLang="zh-CN" sz="4000" u="sng">
                <a:solidFill>
                  <a:srgbClr val="008080"/>
                </a:solidFill>
                <a:ea typeface="楷体_GB2312" charset="0"/>
              </a:rPr>
              <a:t>c </a:t>
            </a:r>
            <a:r>
              <a:rPr lang="en-US" altLang="zh-CN" sz="4000" u="sng">
                <a:solidFill>
                  <a:srgbClr val="008080"/>
                </a:solidFill>
                <a:ea typeface="楷体_GB2312" charset="0"/>
                <a:sym typeface="Symbol" panose="05050102010706020507" charset="2"/>
              </a:rPr>
              <a:t></a:t>
            </a:r>
            <a:r>
              <a:rPr lang="en-US" altLang="zh-CN" sz="4000" u="sng">
                <a:solidFill>
                  <a:srgbClr val="008080"/>
                </a:solidFill>
                <a:ea typeface="楷体_GB2312" charset="0"/>
              </a:rPr>
              <a:t> d / e </a:t>
            </a:r>
            <a:r>
              <a:rPr lang="en-US" altLang="zh-CN" sz="4000" u="sng">
                <a:solidFill>
                  <a:srgbClr val="008080"/>
                </a:solidFill>
                <a:ea typeface="楷体_GB2312" charset="0"/>
                <a:sym typeface="Symbol" panose="05050102010706020507" charset="2"/>
              </a:rPr>
              <a:t></a:t>
            </a:r>
            <a:r>
              <a:rPr lang="en-US" altLang="zh-CN" sz="4000" u="sng">
                <a:solidFill>
                  <a:srgbClr val="008080"/>
                </a:solidFill>
                <a:ea typeface="楷体_GB2312" charset="0"/>
              </a:rPr>
              <a:t> f</a:t>
            </a:r>
            <a:endParaRPr lang="en-US" altLang="zh-CN" sz="4000">
              <a:ea typeface="楷体_GB2312" charset="0"/>
            </a:endParaRPr>
          </a:p>
          <a:p>
            <a:pPr eaLnBrk="0" hangingPunct="0">
              <a:lnSpc>
                <a:spcPct val="115000"/>
              </a:lnSpc>
            </a:pPr>
            <a:r>
              <a:rPr lang="zh-CN" altLang="en-US" sz="4000">
                <a:ea typeface="楷体_GB2312" charset="0"/>
              </a:rPr>
              <a:t>后缀式</a:t>
            </a:r>
            <a:r>
              <a:rPr lang="en-US" altLang="zh-CN" sz="4000">
                <a:ea typeface="楷体_GB2312" charset="0"/>
              </a:rPr>
              <a:t>:           </a:t>
            </a:r>
            <a:r>
              <a:rPr lang="en-US" altLang="zh-CN" sz="4000" u="sng">
                <a:solidFill>
                  <a:srgbClr val="800000"/>
                </a:solidFill>
                <a:ea typeface="楷体_GB2312" charset="0"/>
              </a:rPr>
              <a:t>a b </a:t>
            </a:r>
            <a:r>
              <a:rPr lang="en-US" altLang="zh-CN" sz="4000" u="sng">
                <a:solidFill>
                  <a:srgbClr val="800000"/>
                </a:solidFill>
                <a:ea typeface="楷体_GB2312" charset="0"/>
                <a:sym typeface="Symbol" panose="05050102010706020507" charset="2"/>
              </a:rPr>
              <a:t></a:t>
            </a:r>
            <a:r>
              <a:rPr lang="en-US" altLang="zh-CN" sz="4000">
                <a:ea typeface="楷体_GB2312" charset="0"/>
              </a:rPr>
              <a:t> </a:t>
            </a:r>
            <a:r>
              <a:rPr lang="en-US" altLang="zh-CN" sz="4000" u="sng">
                <a:solidFill>
                  <a:srgbClr val="008080"/>
                </a:solidFill>
                <a:ea typeface="楷体_GB2312" charset="0"/>
              </a:rPr>
              <a:t>c d e / </a:t>
            </a:r>
            <a:r>
              <a:rPr lang="en-US" altLang="zh-CN" sz="4000" u="sng">
                <a:solidFill>
                  <a:srgbClr val="008080"/>
                </a:solidFill>
                <a:ea typeface="楷体_GB2312" charset="0"/>
                <a:sym typeface="Symbol" panose="05050102010706020507" charset="2"/>
              </a:rPr>
              <a:t></a:t>
            </a:r>
            <a:r>
              <a:rPr lang="en-US" altLang="zh-CN" sz="4000" u="sng">
                <a:solidFill>
                  <a:srgbClr val="008080"/>
                </a:solidFill>
                <a:ea typeface="楷体_GB2312" charset="0"/>
              </a:rPr>
              <a:t> f </a:t>
            </a:r>
            <a:r>
              <a:rPr lang="en-US" altLang="zh-CN" sz="4000" u="sng">
                <a:solidFill>
                  <a:srgbClr val="008080"/>
                </a:solidFill>
                <a:ea typeface="楷体_GB2312" charset="0"/>
                <a:sym typeface="Symbol" panose="05050102010706020507" charset="2"/>
              </a:rPr>
              <a:t></a:t>
            </a:r>
            <a:r>
              <a:rPr lang="en-US" altLang="zh-CN" sz="4000">
                <a:ea typeface="楷体_GB2312" charset="0"/>
              </a:rPr>
              <a:t> </a:t>
            </a:r>
            <a:r>
              <a:rPr lang="en-US" altLang="zh-CN" sz="4000" b="1">
                <a:solidFill>
                  <a:srgbClr val="FF0000"/>
                </a:solidFill>
                <a:ea typeface="楷体_GB2312" charset="0"/>
              </a:rPr>
              <a:t>+     </a:t>
            </a:r>
            <a:endParaRPr lang="en-US" altLang="zh-CN" sz="2400" b="1">
              <a:solidFill>
                <a:srgbClr val="FF0000"/>
              </a:solidFill>
              <a:ea typeface="楷体_GB2312" charset="0"/>
            </a:endParaRPr>
          </a:p>
        </p:txBody>
      </p:sp>
      <p:sp>
        <p:nvSpPr>
          <p:cNvPr id="1065987" name="Text Box 3"/>
          <p:cNvSpPr txBox="1">
            <a:spLocks noChangeArrowheads="1"/>
          </p:cNvSpPr>
          <p:nvPr/>
        </p:nvSpPr>
        <p:spPr bwMode="auto">
          <a:xfrm>
            <a:off x="0" y="3048000"/>
            <a:ext cx="148748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400" b="1">
                <a:solidFill>
                  <a:srgbClr val="660066"/>
                </a:solidFill>
                <a:ea typeface="楷体_GB2312" charset="0"/>
              </a:rPr>
              <a:t>结论</a:t>
            </a:r>
            <a:r>
              <a:rPr lang="en-US" altLang="zh-CN" sz="4400" b="1">
                <a:solidFill>
                  <a:srgbClr val="660066"/>
                </a:solidFill>
                <a:ea typeface="楷体_GB2312" charset="0"/>
              </a:rPr>
              <a:t>:</a:t>
            </a:r>
            <a:endParaRPr lang="en-US" altLang="zh-CN" sz="2400" b="1">
              <a:ea typeface="楷体_GB2312" charset="0"/>
            </a:endParaRPr>
          </a:p>
        </p:txBody>
      </p:sp>
      <p:sp>
        <p:nvSpPr>
          <p:cNvPr id="1065988" name="Text Box 4"/>
          <p:cNvSpPr txBox="1">
            <a:spLocks noChangeArrowheads="1"/>
          </p:cNvSpPr>
          <p:nvPr/>
        </p:nvSpPr>
        <p:spPr bwMode="auto">
          <a:xfrm>
            <a:off x="1295400" y="3962400"/>
            <a:ext cx="727392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660066"/>
                </a:solidFill>
                <a:ea typeface="楷体_GB2312" charset="0"/>
              </a:rPr>
              <a:t>1</a:t>
            </a:r>
            <a:r>
              <a:rPr lang="zh-CN" altLang="en-US" sz="4000" b="1">
                <a:solidFill>
                  <a:srgbClr val="660066"/>
                </a:solidFill>
                <a:ea typeface="楷体_GB2312" charset="0"/>
              </a:rPr>
              <a:t>）操作数之间的相对次序不变</a:t>
            </a:r>
            <a:r>
              <a:rPr lang="en-US" altLang="zh-CN" sz="4000" b="1">
                <a:solidFill>
                  <a:srgbClr val="660066"/>
                </a:solidFill>
                <a:ea typeface="楷体_GB2312" charset="0"/>
              </a:rPr>
              <a:t>;</a:t>
            </a:r>
            <a:endParaRPr lang="en-US" altLang="zh-CN" sz="2400" b="1">
              <a:ea typeface="楷体_GB2312" charset="0"/>
            </a:endParaRPr>
          </a:p>
        </p:txBody>
      </p:sp>
      <p:sp>
        <p:nvSpPr>
          <p:cNvPr id="1065989" name="Text Box 5"/>
          <p:cNvSpPr txBox="1">
            <a:spLocks noChangeArrowheads="1"/>
          </p:cNvSpPr>
          <p:nvPr/>
        </p:nvSpPr>
        <p:spPr bwMode="auto">
          <a:xfrm>
            <a:off x="1295400" y="4784725"/>
            <a:ext cx="62484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660066"/>
                </a:solidFill>
                <a:ea typeface="楷体_GB2312" charset="0"/>
              </a:rPr>
              <a:t>2</a:t>
            </a:r>
            <a:r>
              <a:rPr lang="zh-CN" altLang="en-US" sz="4000" b="1">
                <a:solidFill>
                  <a:srgbClr val="660066"/>
                </a:solidFill>
                <a:ea typeface="楷体_GB2312" charset="0"/>
              </a:rPr>
              <a:t>）运算符的相对次序不同</a:t>
            </a:r>
            <a:r>
              <a:rPr lang="en-US" altLang="zh-CN" sz="4000" b="1">
                <a:solidFill>
                  <a:srgbClr val="660066"/>
                </a:solidFill>
                <a:ea typeface="楷体_GB2312" charset="0"/>
              </a:rPr>
              <a:t>;</a:t>
            </a:r>
            <a:endParaRPr lang="en-US" altLang="zh-CN" sz="2400" b="1">
              <a:solidFill>
                <a:srgbClr val="660066"/>
              </a:solidFill>
              <a:ea typeface="楷体_GB2312" charset="0"/>
            </a:endParaRPr>
          </a:p>
        </p:txBody>
      </p:sp>
      <p:sp>
        <p:nvSpPr>
          <p:cNvPr id="1065990" name="Text Box 6"/>
          <p:cNvSpPr txBox="1">
            <a:spLocks noChangeArrowheads="1"/>
          </p:cNvSpPr>
          <p:nvPr/>
        </p:nvSpPr>
        <p:spPr bwMode="auto">
          <a:xfrm>
            <a:off x="381000" y="3962400"/>
            <a:ext cx="8077200" cy="131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2" eaLnBrk="0" hangingPunct="0"/>
            <a:r>
              <a:rPr lang="en-US" altLang="zh-CN" sz="4000">
                <a:solidFill>
                  <a:srgbClr val="660066"/>
                </a:solidFill>
              </a:rPr>
              <a:t>3</a:t>
            </a:r>
            <a:r>
              <a:rPr lang="zh-CN" altLang="en-US" sz="4000">
                <a:solidFill>
                  <a:srgbClr val="660066"/>
                </a:solidFill>
              </a:rPr>
              <a:t>）</a:t>
            </a:r>
            <a:r>
              <a:rPr lang="zh-CN" altLang="en-US" sz="4000">
                <a:solidFill>
                  <a:srgbClr val="660066"/>
                </a:solidFill>
                <a:ea typeface="楷体_GB2312" charset="0"/>
              </a:rPr>
              <a:t>中缀式丢失了括弧信息，</a:t>
            </a:r>
            <a:endParaRPr lang="zh-CN" altLang="en-US" sz="4000">
              <a:solidFill>
                <a:srgbClr val="660066"/>
              </a:solidFill>
              <a:ea typeface="楷体_GB2312" charset="0"/>
            </a:endParaRPr>
          </a:p>
          <a:p>
            <a:pPr eaLnBrk="0" hangingPunct="0"/>
            <a:r>
              <a:rPr lang="zh-CN" altLang="en-US" sz="4000">
                <a:solidFill>
                  <a:srgbClr val="660066"/>
                </a:solidFill>
                <a:ea typeface="楷体_GB2312" charset="0"/>
              </a:rPr>
              <a:t>           致使运算的次序不确定</a:t>
            </a:r>
            <a:r>
              <a:rPr lang="en-US" altLang="zh-CN" sz="4000">
                <a:solidFill>
                  <a:srgbClr val="660066"/>
                </a:solidFill>
                <a:ea typeface="楷体_GB2312" charset="0"/>
              </a:rPr>
              <a:t>;</a:t>
            </a:r>
            <a:endParaRPr lang="en-US" altLang="zh-CN" sz="2400">
              <a:ea typeface="楷体_GB2312" charset="0"/>
            </a:endParaRPr>
          </a:p>
        </p:txBody>
      </p:sp>
      <p:sp>
        <p:nvSpPr>
          <p:cNvPr id="1065991" name="Text Box 7"/>
          <p:cNvSpPr txBox="1">
            <a:spLocks noChangeArrowheads="1"/>
          </p:cNvSpPr>
          <p:nvPr/>
        </p:nvSpPr>
        <p:spPr bwMode="auto">
          <a:xfrm>
            <a:off x="628650" y="3733800"/>
            <a:ext cx="8210550" cy="271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lvl="2" eaLnBrk="0" hangingPunct="0"/>
            <a:r>
              <a:rPr lang="en-US" altLang="zh-CN" sz="4000" b="1">
                <a:solidFill>
                  <a:srgbClr val="660066"/>
                </a:solidFill>
              </a:rPr>
              <a:t>4)</a:t>
            </a:r>
            <a:r>
              <a:rPr lang="zh-CN" altLang="en-US" sz="4000" b="1">
                <a:solidFill>
                  <a:srgbClr val="660066"/>
                </a:solidFill>
                <a:ea typeface="楷体_GB2312" charset="0"/>
              </a:rPr>
              <a:t>前缀式的运算规则</a:t>
            </a:r>
            <a:r>
              <a:rPr lang="zh-CN" altLang="en-US" sz="4000">
                <a:solidFill>
                  <a:srgbClr val="660066"/>
                </a:solidFill>
                <a:ea typeface="楷体_GB2312" charset="0"/>
              </a:rPr>
              <a:t>为</a:t>
            </a:r>
            <a:r>
              <a:rPr lang="en-US" altLang="zh-CN" sz="4000" b="1">
                <a:solidFill>
                  <a:srgbClr val="660066"/>
                </a:solidFill>
                <a:ea typeface="楷体_GB2312" charset="0"/>
              </a:rPr>
              <a:t>:</a:t>
            </a:r>
            <a:endParaRPr lang="en-US" altLang="zh-CN" sz="4000">
              <a:solidFill>
                <a:srgbClr val="660066"/>
              </a:solidFill>
              <a:ea typeface="楷体_GB2312" charset="0"/>
            </a:endParaRPr>
          </a:p>
          <a:p>
            <a:pPr lvl="2" eaLnBrk="0" hangingPunct="0">
              <a:lnSpc>
                <a:spcPct val="110000"/>
              </a:lnSpc>
            </a:pPr>
            <a:r>
              <a:rPr lang="zh-CN" altLang="en-US" sz="4000" b="1">
                <a:solidFill>
                  <a:srgbClr val="CC00CC"/>
                </a:solidFill>
                <a:ea typeface="楷体_GB2312" charset="0"/>
              </a:rPr>
              <a:t>连续出现的两个操作数和在它们</a:t>
            </a:r>
            <a:endParaRPr lang="zh-CN" altLang="en-US" sz="4000">
              <a:solidFill>
                <a:srgbClr val="CC00CC"/>
              </a:solidFill>
              <a:ea typeface="楷体_GB2312" charset="0"/>
            </a:endParaRPr>
          </a:p>
          <a:p>
            <a:pPr lvl="2" eaLnBrk="0" hangingPunct="0">
              <a:lnSpc>
                <a:spcPct val="110000"/>
              </a:lnSpc>
            </a:pPr>
            <a:r>
              <a:rPr lang="zh-CN" altLang="en-US" sz="4000" b="1">
                <a:solidFill>
                  <a:srgbClr val="CC00CC"/>
                </a:solidFill>
                <a:ea typeface="楷体_GB2312" charset="0"/>
              </a:rPr>
              <a:t>之前且紧靠它们的运算符构成一</a:t>
            </a:r>
            <a:endParaRPr lang="zh-CN" altLang="en-US" sz="4000">
              <a:solidFill>
                <a:srgbClr val="CC00CC"/>
              </a:solidFill>
              <a:ea typeface="楷体_GB2312" charset="0"/>
            </a:endParaRPr>
          </a:p>
          <a:p>
            <a:pPr lvl="2" eaLnBrk="0" hangingPunct="0">
              <a:lnSpc>
                <a:spcPct val="110000"/>
              </a:lnSpc>
            </a:pPr>
            <a:r>
              <a:rPr lang="zh-CN" altLang="en-US" sz="4000" b="1">
                <a:solidFill>
                  <a:srgbClr val="CC00CC"/>
                </a:solidFill>
                <a:ea typeface="楷体_GB2312" charset="0"/>
              </a:rPr>
              <a:t>个最小表达式</a:t>
            </a:r>
            <a:r>
              <a:rPr lang="en-US" altLang="zh-CN" sz="4000" b="1">
                <a:solidFill>
                  <a:srgbClr val="CC00CC"/>
                </a:solidFill>
                <a:ea typeface="楷体_GB2312" charset="0"/>
              </a:rPr>
              <a:t>;</a:t>
            </a:r>
            <a:endParaRPr lang="en-US" altLang="zh-CN" sz="2400">
              <a:solidFill>
                <a:srgbClr val="CC00CC"/>
              </a:solidFill>
              <a:ea typeface="楷体_GB2312" charset="0"/>
            </a:endParaRPr>
          </a:p>
        </p:txBody>
      </p:sp>
      <p:sp>
        <p:nvSpPr>
          <p:cNvPr id="1065992" name="Text Box 8"/>
          <p:cNvSpPr txBox="1">
            <a:spLocks noChangeArrowheads="1"/>
          </p:cNvSpPr>
          <p:nvPr/>
        </p:nvSpPr>
        <p:spPr bwMode="auto">
          <a:xfrm>
            <a:off x="533400" y="3116263"/>
            <a:ext cx="8569325" cy="3665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lvl="2" eaLnBrk="0" hangingPunct="0"/>
            <a:r>
              <a:rPr lang="zh-CN" altLang="en-US" sz="3600" b="1">
                <a:solidFill>
                  <a:srgbClr val="660066"/>
                </a:solidFill>
              </a:rPr>
              <a:t>     </a:t>
            </a:r>
            <a:r>
              <a:rPr lang="en-US" altLang="zh-CN" sz="3600" b="1">
                <a:solidFill>
                  <a:srgbClr val="660066"/>
                </a:solidFill>
              </a:rPr>
              <a:t>5)</a:t>
            </a:r>
            <a:r>
              <a:rPr lang="zh-CN" altLang="en-US" sz="3600" b="1">
                <a:solidFill>
                  <a:srgbClr val="660066"/>
                </a:solidFill>
                <a:ea typeface="楷体_GB2312" charset="0"/>
              </a:rPr>
              <a:t>后缀式的运算规则</a:t>
            </a:r>
            <a:r>
              <a:rPr lang="zh-CN" altLang="en-US" sz="3600">
                <a:solidFill>
                  <a:srgbClr val="660066"/>
                </a:solidFill>
                <a:ea typeface="楷体_GB2312" charset="0"/>
              </a:rPr>
              <a:t>为</a:t>
            </a:r>
            <a:r>
              <a:rPr lang="en-US" altLang="zh-CN" sz="3600" b="1">
                <a:solidFill>
                  <a:srgbClr val="660066"/>
                </a:solidFill>
                <a:ea typeface="楷体_GB2312" charset="0"/>
              </a:rPr>
              <a:t>:</a:t>
            </a:r>
            <a:endParaRPr lang="en-US" altLang="zh-CN" sz="3600">
              <a:solidFill>
                <a:srgbClr val="660066"/>
              </a:solidFill>
              <a:ea typeface="楷体_GB2312" charset="0"/>
            </a:endParaRPr>
          </a:p>
          <a:p>
            <a:pPr lvl="2" eaLnBrk="0" hangingPunct="0">
              <a:lnSpc>
                <a:spcPct val="110000"/>
              </a:lnSpc>
            </a:pPr>
            <a:r>
              <a:rPr lang="en-US" altLang="zh-CN" sz="3600">
                <a:ea typeface="楷体_GB2312" charset="0"/>
              </a:rPr>
              <a:t>            </a:t>
            </a:r>
            <a:r>
              <a:rPr lang="zh-CN" altLang="en-US" sz="3600" b="1">
                <a:solidFill>
                  <a:srgbClr val="CC00CC"/>
                </a:solidFill>
                <a:ea typeface="楷体_GB2312" charset="0"/>
              </a:rPr>
              <a:t>运算符在式中出现的顺序恰为 </a:t>
            </a:r>
            <a:endParaRPr lang="zh-CN" altLang="en-US" sz="3600" b="1">
              <a:solidFill>
                <a:srgbClr val="CC00CC"/>
              </a:solidFill>
              <a:ea typeface="楷体_GB2312" charset="0"/>
            </a:endParaRPr>
          </a:p>
          <a:p>
            <a:pPr lvl="2" eaLnBrk="0" hangingPunct="0">
              <a:lnSpc>
                <a:spcPct val="110000"/>
              </a:lnSpc>
            </a:pPr>
            <a:r>
              <a:rPr lang="zh-CN" altLang="en-US" sz="3600" b="1">
                <a:solidFill>
                  <a:srgbClr val="CC00CC"/>
                </a:solidFill>
                <a:ea typeface="楷体_GB2312" charset="0"/>
              </a:rPr>
              <a:t>    表达式的运算顺序</a:t>
            </a:r>
            <a:r>
              <a:rPr lang="en-US" altLang="zh-CN" sz="3600" b="1">
                <a:solidFill>
                  <a:srgbClr val="CC00CC"/>
                </a:solidFill>
                <a:ea typeface="楷体_GB2312" charset="0"/>
              </a:rPr>
              <a:t>;</a:t>
            </a:r>
            <a:endParaRPr lang="en-US" altLang="zh-CN" sz="3600" b="1">
              <a:solidFill>
                <a:srgbClr val="CC00CC"/>
              </a:solidFill>
              <a:ea typeface="楷体_GB2312" charset="0"/>
            </a:endParaRPr>
          </a:p>
          <a:p>
            <a:pPr lvl="2" eaLnBrk="0" hangingPunct="0">
              <a:lnSpc>
                <a:spcPct val="110000"/>
              </a:lnSpc>
            </a:pPr>
            <a:r>
              <a:rPr lang="en-US" altLang="zh-CN" sz="3600" b="1">
                <a:solidFill>
                  <a:srgbClr val="CC00CC"/>
                </a:solidFill>
                <a:ea typeface="楷体_GB2312" charset="0"/>
              </a:rPr>
              <a:t>           </a:t>
            </a:r>
            <a:r>
              <a:rPr lang="zh-CN" altLang="en-US" sz="3600" b="1">
                <a:solidFill>
                  <a:srgbClr val="CC00CC"/>
                </a:solidFill>
                <a:ea typeface="楷体_GB2312" charset="0"/>
              </a:rPr>
              <a:t>每个运算符和在它之前出现</a:t>
            </a:r>
            <a:r>
              <a:rPr lang="zh-CN" altLang="en-US" sz="3600">
                <a:solidFill>
                  <a:srgbClr val="CC00CC"/>
                </a:solidFill>
                <a:ea typeface="楷体_GB2312" charset="0"/>
              </a:rPr>
              <a:t> </a:t>
            </a:r>
            <a:r>
              <a:rPr lang="zh-CN" altLang="en-US" sz="3600" b="1">
                <a:solidFill>
                  <a:srgbClr val="CC00CC"/>
                </a:solidFill>
                <a:ea typeface="楷体_GB2312" charset="0"/>
              </a:rPr>
              <a:t>且</a:t>
            </a:r>
            <a:endParaRPr lang="zh-CN" altLang="en-US" sz="3600" b="1">
              <a:solidFill>
                <a:srgbClr val="CC00CC"/>
              </a:solidFill>
              <a:ea typeface="楷体_GB2312" charset="0"/>
            </a:endParaRPr>
          </a:p>
          <a:p>
            <a:pPr lvl="2" eaLnBrk="0" hangingPunct="0">
              <a:lnSpc>
                <a:spcPct val="110000"/>
              </a:lnSpc>
            </a:pPr>
            <a:r>
              <a:rPr lang="zh-CN" altLang="en-US" sz="3600" b="1">
                <a:solidFill>
                  <a:srgbClr val="CC00CC"/>
                </a:solidFill>
                <a:ea typeface="楷体_GB2312" charset="0"/>
              </a:rPr>
              <a:t>    紧靠它的两个操作数构成一个最小</a:t>
            </a:r>
            <a:endParaRPr lang="zh-CN" altLang="en-US" sz="3600" b="1">
              <a:solidFill>
                <a:srgbClr val="CC00CC"/>
              </a:solidFill>
              <a:ea typeface="楷体_GB2312" charset="0"/>
            </a:endParaRPr>
          </a:p>
          <a:p>
            <a:pPr lvl="2" eaLnBrk="0" hangingPunct="0">
              <a:lnSpc>
                <a:spcPct val="110000"/>
              </a:lnSpc>
            </a:pPr>
            <a:r>
              <a:rPr lang="zh-CN" altLang="en-US" sz="3600" b="1">
                <a:solidFill>
                  <a:srgbClr val="CC00CC"/>
                </a:solidFill>
                <a:ea typeface="楷体_GB2312" charset="0"/>
              </a:rPr>
              <a:t>    表达式。</a:t>
            </a:r>
            <a:endParaRPr lang="zh-CN" altLang="en-US" sz="3600" b="1">
              <a:solidFill>
                <a:srgbClr val="CC00CC"/>
              </a:solidFill>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iterate type="lt">
                                    <p:tmPct val="100000"/>
                                  </p:iterate>
                                  <p:childTnLst>
                                    <p:set>
                                      <p:cBhvr>
                                        <p:cTn id="6" dur="1" fill="hold">
                                          <p:stCondLst>
                                            <p:cond delay="0"/>
                                          </p:stCondLst>
                                        </p:cTn>
                                        <p:tgtEl>
                                          <p:spTgt spid="1065987"/>
                                        </p:tgtEl>
                                        <p:attrNameLst>
                                          <p:attrName>style.visibility</p:attrName>
                                        </p:attrNameLst>
                                      </p:cBhvr>
                                      <p:to>
                                        <p:strVal val="visible"/>
                                      </p:to>
                                    </p:set>
                                    <p:anim calcmode="lin" valueType="num">
                                      <p:cBhvr>
                                        <p:cTn id="7" dur="75" fill="hold"/>
                                        <p:tgtEl>
                                          <p:spTgt spid="1065987"/>
                                        </p:tgtEl>
                                        <p:attrNameLst>
                                          <p:attrName>ppt_x</p:attrName>
                                        </p:attrNameLst>
                                      </p:cBhvr>
                                      <p:tavLst>
                                        <p:tav tm="0">
                                          <p:val>
                                            <p:strVal val="#ppt_x-#ppt_w/2"/>
                                          </p:val>
                                        </p:tav>
                                        <p:tav tm="100000">
                                          <p:val>
                                            <p:strVal val="#ppt_x"/>
                                          </p:val>
                                        </p:tav>
                                      </p:tavLst>
                                    </p:anim>
                                    <p:anim calcmode="lin" valueType="num">
                                      <p:cBhvr>
                                        <p:cTn id="8" dur="75" fill="hold"/>
                                        <p:tgtEl>
                                          <p:spTgt spid="1065987"/>
                                        </p:tgtEl>
                                        <p:attrNameLst>
                                          <p:attrName>ppt_y</p:attrName>
                                        </p:attrNameLst>
                                      </p:cBhvr>
                                      <p:tavLst>
                                        <p:tav tm="0">
                                          <p:val>
                                            <p:strVal val="#ppt_y"/>
                                          </p:val>
                                        </p:tav>
                                        <p:tav tm="100000">
                                          <p:val>
                                            <p:strVal val="#ppt_y"/>
                                          </p:val>
                                        </p:tav>
                                      </p:tavLst>
                                    </p:anim>
                                    <p:anim calcmode="lin" valueType="num">
                                      <p:cBhvr>
                                        <p:cTn id="9" dur="75" fill="hold"/>
                                        <p:tgtEl>
                                          <p:spTgt spid="1065987"/>
                                        </p:tgtEl>
                                        <p:attrNameLst>
                                          <p:attrName>ppt_w</p:attrName>
                                        </p:attrNameLst>
                                      </p:cBhvr>
                                      <p:tavLst>
                                        <p:tav tm="0">
                                          <p:val>
                                            <p:fltVal val="0"/>
                                          </p:val>
                                        </p:tav>
                                        <p:tav tm="100000">
                                          <p:val>
                                            <p:strVal val="#ppt_w"/>
                                          </p:val>
                                        </p:tav>
                                      </p:tavLst>
                                    </p:anim>
                                    <p:anim calcmode="lin" valueType="num">
                                      <p:cBhvr>
                                        <p:cTn id="10" dur="75" fill="hold"/>
                                        <p:tgtEl>
                                          <p:spTgt spid="1065987"/>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iterate type="lt">
                                    <p:tmPct val="100000"/>
                                  </p:iterate>
                                  <p:childTnLst>
                                    <p:set>
                                      <p:cBhvr>
                                        <p:cTn id="14" dur="1" fill="hold">
                                          <p:stCondLst>
                                            <p:cond delay="0"/>
                                          </p:stCondLst>
                                        </p:cTn>
                                        <p:tgtEl>
                                          <p:spTgt spid="1065988"/>
                                        </p:tgtEl>
                                        <p:attrNameLst>
                                          <p:attrName>style.visibility</p:attrName>
                                        </p:attrNameLst>
                                      </p:cBhvr>
                                      <p:to>
                                        <p:strVal val="visible"/>
                                      </p:to>
                                    </p:set>
                                    <p:animEffect transition="in" filter="wipe(left)">
                                      <p:cBhvr>
                                        <p:cTn id="15" dur="75"/>
                                        <p:tgtEl>
                                          <p:spTgt spid="1065988"/>
                                        </p:tgtEl>
                                      </p:cBhvr>
                                    </p:animEffect>
                                  </p:childTnLst>
                                  <p:subTnLst>
                                    <p:set>
                                      <p:cBhvr override="childStyle">
                                        <p:cTn dur="1" fill="hold" display="0" masterRel="nextClick" afterEffect="1"/>
                                        <p:tgtEl>
                                          <p:spTgt spid="1065988"/>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1065989"/>
                                        </p:tgtEl>
                                        <p:attrNameLst>
                                          <p:attrName>style.visibility</p:attrName>
                                        </p:attrNameLst>
                                      </p:cBhvr>
                                      <p:to>
                                        <p:strVal val="visible"/>
                                      </p:to>
                                    </p:set>
                                    <p:animEffect transition="in" filter="wipe(left)">
                                      <p:cBhvr>
                                        <p:cTn id="20" dur="75"/>
                                        <p:tgtEl>
                                          <p:spTgt spid="1065989"/>
                                        </p:tgtEl>
                                      </p:cBhvr>
                                    </p:animEffect>
                                  </p:childTnLst>
                                  <p:subTnLst>
                                    <p:set>
                                      <p:cBhvr override="childStyle">
                                        <p:cTn dur="1" fill="hold" display="0" masterRel="nextClick" afterEffect="1"/>
                                        <p:tgtEl>
                                          <p:spTgt spid="106598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iterate type="lt">
                                    <p:tmPct val="100000"/>
                                  </p:iterate>
                                  <p:childTnLst>
                                    <p:set>
                                      <p:cBhvr>
                                        <p:cTn id="24" dur="1" fill="hold">
                                          <p:stCondLst>
                                            <p:cond delay="0"/>
                                          </p:stCondLst>
                                        </p:cTn>
                                        <p:tgtEl>
                                          <p:spTgt spid="1065990"/>
                                        </p:tgtEl>
                                        <p:attrNameLst>
                                          <p:attrName>style.visibility</p:attrName>
                                        </p:attrNameLst>
                                      </p:cBhvr>
                                      <p:to>
                                        <p:strVal val="visible"/>
                                      </p:to>
                                    </p:set>
                                    <p:animEffect transition="in" filter="wipe(left)">
                                      <p:cBhvr>
                                        <p:cTn id="25" dur="75"/>
                                        <p:tgtEl>
                                          <p:spTgt spid="1065990"/>
                                        </p:tgtEl>
                                      </p:cBhvr>
                                    </p:animEffect>
                                  </p:childTnLst>
                                  <p:subTnLst>
                                    <p:set>
                                      <p:cBhvr override="childStyle">
                                        <p:cTn dur="1" fill="hold" display="0" masterRel="nextClick" afterEffect="1"/>
                                        <p:tgtEl>
                                          <p:spTgt spid="1065990"/>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0"/>
                                  </p:iterate>
                                  <p:childTnLst>
                                    <p:set>
                                      <p:cBhvr>
                                        <p:cTn id="29" dur="1" fill="hold">
                                          <p:stCondLst>
                                            <p:cond delay="0"/>
                                          </p:stCondLst>
                                        </p:cTn>
                                        <p:tgtEl>
                                          <p:spTgt spid="1065991"/>
                                        </p:tgtEl>
                                        <p:attrNameLst>
                                          <p:attrName>style.visibility</p:attrName>
                                        </p:attrNameLst>
                                      </p:cBhvr>
                                      <p:to>
                                        <p:strVal val="visible"/>
                                      </p:to>
                                    </p:set>
                                    <p:animEffect transition="in" filter="wipe(left)">
                                      <p:cBhvr>
                                        <p:cTn id="30" dur="75"/>
                                        <p:tgtEl>
                                          <p:spTgt spid="1065991"/>
                                        </p:tgtEl>
                                      </p:cBhvr>
                                    </p:animEffect>
                                  </p:childTnLst>
                                  <p:subTnLst>
                                    <p:set>
                                      <p:cBhvr override="childStyle">
                                        <p:cTn dur="1" fill="hold" display="0" masterRel="nextClick" afterEffect="1"/>
                                        <p:tgtEl>
                                          <p:spTgt spid="1065991"/>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1065992"/>
                                        </p:tgtEl>
                                        <p:attrNameLst>
                                          <p:attrName>style.visibility</p:attrName>
                                        </p:attrNameLst>
                                      </p:cBhvr>
                                      <p:to>
                                        <p:strVal val="visible"/>
                                      </p:to>
                                    </p:set>
                                    <p:animEffect transition="in" filter="wipe(left)">
                                      <p:cBhvr>
                                        <p:cTn id="35" dur="75"/>
                                        <p:tgtEl>
                                          <p:spTgt spid="1065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987" grpId="0" autoUpdateAnimBg="0"/>
      <p:bldP spid="1065988" grpId="0" autoUpdateAnimBg="0"/>
      <p:bldP spid="1065989" grpId="0" autoUpdateAnimBg="0"/>
      <p:bldP spid="1065990" grpId="0" autoUpdateAnimBg="0"/>
      <p:bldP spid="1065991" grpId="0" autoUpdateAnimBg="0"/>
      <p:bldP spid="1065992"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8034" name="Rectangle 2"/>
          <p:cNvSpPr>
            <a:spLocks noGrp="1" noChangeArrowheads="1"/>
          </p:cNvSpPr>
          <p:nvPr>
            <p:ph type="ctrTitle"/>
          </p:nvPr>
        </p:nvSpPr>
        <p:spPr>
          <a:xfrm>
            <a:off x="1371600" y="0"/>
            <a:ext cx="7772400" cy="1143000"/>
          </a:xfrm>
        </p:spPr>
        <p:txBody>
          <a:bodyPr anchor="ctr"/>
          <a:lstStyle/>
          <a:p>
            <a:pPr algn="l"/>
            <a:r>
              <a:rPr lang="zh-CN" altLang="en-US" sz="4400" b="0">
                <a:solidFill>
                  <a:srgbClr val="660033"/>
                </a:solidFill>
                <a:ea typeface="幼圆" panose="02010509060101010101" charset="-122"/>
              </a:rPr>
              <a:t>如何从后缀式求值？</a:t>
            </a:r>
            <a:endParaRPr lang="zh-CN" altLang="en-US" sz="3200"/>
          </a:p>
        </p:txBody>
      </p:sp>
      <p:sp>
        <p:nvSpPr>
          <p:cNvPr id="1068035" name="Rectangle 3"/>
          <p:cNvSpPr>
            <a:spLocks noGrp="1" noChangeArrowheads="1"/>
          </p:cNvSpPr>
          <p:nvPr>
            <p:ph type="subTitle" idx="1"/>
          </p:nvPr>
        </p:nvSpPr>
        <p:spPr>
          <a:xfrm>
            <a:off x="990600" y="1447800"/>
            <a:ext cx="6400800" cy="1752600"/>
          </a:xfrm>
        </p:spPr>
        <p:txBody>
          <a:bodyPr>
            <a:normAutofit lnSpcReduction="10000"/>
          </a:bodyPr>
          <a:lstStyle/>
          <a:p>
            <a:r>
              <a:rPr lang="zh-CN" altLang="en-US" sz="5400" b="1">
                <a:solidFill>
                  <a:srgbClr val="006666"/>
                </a:solidFill>
                <a:ea typeface="楷体_GB2312" charset="0"/>
              </a:rPr>
              <a:t>先找运算符，</a:t>
            </a:r>
            <a:endParaRPr lang="zh-CN" altLang="en-US" sz="5400" b="1">
              <a:solidFill>
                <a:srgbClr val="006666"/>
              </a:solidFill>
              <a:ea typeface="楷体_GB2312" charset="0"/>
            </a:endParaRPr>
          </a:p>
          <a:p>
            <a:r>
              <a:rPr lang="zh-CN" altLang="en-US" sz="5400" b="1">
                <a:solidFill>
                  <a:srgbClr val="006666"/>
                </a:solidFill>
                <a:ea typeface="楷体_GB2312" charset="0"/>
              </a:rPr>
              <a:t>    再找操作数</a:t>
            </a:r>
            <a:endParaRPr lang="zh-CN" altLang="en-US" sz="3600">
              <a:solidFill>
                <a:srgbClr val="006666"/>
              </a:solidFill>
            </a:endParaRPr>
          </a:p>
        </p:txBody>
      </p:sp>
      <p:sp>
        <p:nvSpPr>
          <p:cNvPr id="1068036" name="Text Box 4"/>
          <p:cNvSpPr txBox="1">
            <a:spLocks noChangeArrowheads="1"/>
          </p:cNvSpPr>
          <p:nvPr/>
        </p:nvSpPr>
        <p:spPr bwMode="auto">
          <a:xfrm>
            <a:off x="838200" y="3184525"/>
            <a:ext cx="5813425" cy="131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b="1">
                <a:solidFill>
                  <a:srgbClr val="A50021"/>
                </a:solidFill>
                <a:ea typeface="楷体_GB2312" charset="0"/>
              </a:rPr>
              <a:t>例如：</a:t>
            </a:r>
            <a:endParaRPr lang="zh-CN" altLang="en-US" sz="4000" b="1">
              <a:solidFill>
                <a:srgbClr val="A50021"/>
              </a:solidFill>
              <a:ea typeface="楷体_GB2312" charset="0"/>
            </a:endParaRPr>
          </a:p>
          <a:p>
            <a:r>
              <a:rPr lang="zh-CN" altLang="en-US" sz="4000" b="1">
                <a:solidFill>
                  <a:srgbClr val="A50021"/>
                </a:solidFill>
                <a:ea typeface="楷体_GB2312" charset="0"/>
              </a:rPr>
              <a:t>             </a:t>
            </a:r>
            <a:r>
              <a:rPr lang="en-US" altLang="zh-CN" sz="4000" b="1">
                <a:solidFill>
                  <a:srgbClr val="A50021"/>
                </a:solidFill>
                <a:ea typeface="楷体_GB2312" charset="0"/>
              </a:rPr>
              <a:t>a b </a:t>
            </a:r>
            <a:r>
              <a:rPr lang="en-US" altLang="zh-CN" sz="4000" b="1">
                <a:solidFill>
                  <a:srgbClr val="A50021"/>
                </a:solidFill>
                <a:ea typeface="楷体_GB2312" charset="0"/>
                <a:sym typeface="Symbol" panose="05050102010706020507" charset="2"/>
              </a:rPr>
              <a:t></a:t>
            </a:r>
            <a:r>
              <a:rPr lang="en-US" altLang="zh-CN" sz="4000" b="1">
                <a:solidFill>
                  <a:srgbClr val="A50021"/>
                </a:solidFill>
                <a:ea typeface="楷体_GB2312" charset="0"/>
              </a:rPr>
              <a:t> c d e / </a:t>
            </a:r>
            <a:r>
              <a:rPr lang="en-US" altLang="zh-CN" sz="4000" b="1">
                <a:solidFill>
                  <a:srgbClr val="A50021"/>
                </a:solidFill>
                <a:ea typeface="楷体_GB2312" charset="0"/>
                <a:sym typeface="Symbol" panose="05050102010706020507" charset="2"/>
              </a:rPr>
              <a:t></a:t>
            </a:r>
            <a:r>
              <a:rPr lang="en-US" altLang="zh-CN" sz="4000" b="1">
                <a:solidFill>
                  <a:srgbClr val="A50021"/>
                </a:solidFill>
                <a:ea typeface="楷体_GB2312" charset="0"/>
              </a:rPr>
              <a:t> f </a:t>
            </a:r>
            <a:r>
              <a:rPr lang="en-US" altLang="zh-CN" sz="4000" b="1">
                <a:solidFill>
                  <a:srgbClr val="A50021"/>
                </a:solidFill>
                <a:ea typeface="楷体_GB2312" charset="0"/>
                <a:sym typeface="Symbol" panose="05050102010706020507" charset="2"/>
              </a:rPr>
              <a:t></a:t>
            </a:r>
            <a:r>
              <a:rPr lang="en-US" altLang="zh-CN" sz="4000" b="1">
                <a:solidFill>
                  <a:srgbClr val="A50021"/>
                </a:solidFill>
                <a:ea typeface="楷体_GB2312" charset="0"/>
              </a:rPr>
              <a:t> +</a:t>
            </a:r>
            <a:endParaRPr lang="en-US" altLang="zh-CN" sz="4000" b="1">
              <a:solidFill>
                <a:srgbClr val="FF0000"/>
              </a:solidFill>
              <a:ea typeface="楷体_GB2312" charset="0"/>
            </a:endParaRPr>
          </a:p>
        </p:txBody>
      </p:sp>
      <p:sp>
        <p:nvSpPr>
          <p:cNvPr id="1068037" name="Line 5"/>
          <p:cNvSpPr>
            <a:spLocks noChangeShapeType="1"/>
          </p:cNvSpPr>
          <p:nvPr/>
        </p:nvSpPr>
        <p:spPr bwMode="auto">
          <a:xfrm>
            <a:off x="2514600" y="4495800"/>
            <a:ext cx="1219200" cy="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38" name="Line 6"/>
          <p:cNvSpPr>
            <a:spLocks noChangeShapeType="1"/>
          </p:cNvSpPr>
          <p:nvPr/>
        </p:nvSpPr>
        <p:spPr bwMode="auto">
          <a:xfrm>
            <a:off x="4114800" y="4724400"/>
            <a:ext cx="914400" cy="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39" name="Line 7"/>
          <p:cNvSpPr>
            <a:spLocks noChangeShapeType="1"/>
          </p:cNvSpPr>
          <p:nvPr/>
        </p:nvSpPr>
        <p:spPr bwMode="auto">
          <a:xfrm>
            <a:off x="3810000" y="5181600"/>
            <a:ext cx="1676400" cy="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0" name="Line 8"/>
          <p:cNvSpPr>
            <a:spLocks noChangeShapeType="1"/>
          </p:cNvSpPr>
          <p:nvPr/>
        </p:nvSpPr>
        <p:spPr bwMode="auto">
          <a:xfrm>
            <a:off x="2514600" y="43434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1" name="Line 9"/>
          <p:cNvSpPr>
            <a:spLocks noChangeShapeType="1"/>
          </p:cNvSpPr>
          <p:nvPr/>
        </p:nvSpPr>
        <p:spPr bwMode="auto">
          <a:xfrm>
            <a:off x="3733800" y="43434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2" name="Line 10"/>
          <p:cNvSpPr>
            <a:spLocks noChangeShapeType="1"/>
          </p:cNvSpPr>
          <p:nvPr/>
        </p:nvSpPr>
        <p:spPr bwMode="auto">
          <a:xfrm>
            <a:off x="4114800" y="45720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3" name="Line 11"/>
          <p:cNvSpPr>
            <a:spLocks noChangeShapeType="1"/>
          </p:cNvSpPr>
          <p:nvPr/>
        </p:nvSpPr>
        <p:spPr bwMode="auto">
          <a:xfrm>
            <a:off x="5029200" y="45720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4" name="Line 12"/>
          <p:cNvSpPr>
            <a:spLocks noChangeShapeType="1"/>
          </p:cNvSpPr>
          <p:nvPr/>
        </p:nvSpPr>
        <p:spPr bwMode="auto">
          <a:xfrm>
            <a:off x="3810000" y="50292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5" name="Line 13"/>
          <p:cNvSpPr>
            <a:spLocks noChangeShapeType="1"/>
          </p:cNvSpPr>
          <p:nvPr/>
        </p:nvSpPr>
        <p:spPr bwMode="auto">
          <a:xfrm>
            <a:off x="5486400" y="50292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6" name="Line 14"/>
          <p:cNvSpPr>
            <a:spLocks noChangeShapeType="1"/>
          </p:cNvSpPr>
          <p:nvPr/>
        </p:nvSpPr>
        <p:spPr bwMode="auto">
          <a:xfrm>
            <a:off x="3810000" y="5638800"/>
            <a:ext cx="2362200" cy="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7" name="Line 15"/>
          <p:cNvSpPr>
            <a:spLocks noChangeShapeType="1"/>
          </p:cNvSpPr>
          <p:nvPr/>
        </p:nvSpPr>
        <p:spPr bwMode="auto">
          <a:xfrm>
            <a:off x="3810000" y="54864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8" name="Line 16"/>
          <p:cNvSpPr>
            <a:spLocks noChangeShapeType="1"/>
          </p:cNvSpPr>
          <p:nvPr/>
        </p:nvSpPr>
        <p:spPr bwMode="auto">
          <a:xfrm>
            <a:off x="6172200" y="54864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49" name="Line 17"/>
          <p:cNvSpPr>
            <a:spLocks noChangeShapeType="1"/>
          </p:cNvSpPr>
          <p:nvPr/>
        </p:nvSpPr>
        <p:spPr bwMode="auto">
          <a:xfrm>
            <a:off x="2514600" y="6096000"/>
            <a:ext cx="4191000" cy="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50" name="Line 18"/>
          <p:cNvSpPr>
            <a:spLocks noChangeShapeType="1"/>
          </p:cNvSpPr>
          <p:nvPr/>
        </p:nvSpPr>
        <p:spPr bwMode="auto">
          <a:xfrm>
            <a:off x="2514600" y="59436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51" name="Line 19"/>
          <p:cNvSpPr>
            <a:spLocks noChangeShapeType="1"/>
          </p:cNvSpPr>
          <p:nvPr/>
        </p:nvSpPr>
        <p:spPr bwMode="auto">
          <a:xfrm>
            <a:off x="6705600" y="5943600"/>
            <a:ext cx="0" cy="152400"/>
          </a:xfrm>
          <a:prstGeom prst="line">
            <a:avLst/>
          </a:prstGeom>
          <a:noFill/>
          <a:ln w="38100">
            <a:solidFill>
              <a:srgbClr val="0033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052" name="AutoShape 20"/>
          <p:cNvSpPr>
            <a:spLocks noChangeArrowheads="1"/>
          </p:cNvSpPr>
          <p:nvPr/>
        </p:nvSpPr>
        <p:spPr bwMode="auto">
          <a:xfrm>
            <a:off x="1295400" y="4648200"/>
            <a:ext cx="685800" cy="381000"/>
          </a:xfrm>
          <a:prstGeom prst="wedgeRectCallout">
            <a:avLst>
              <a:gd name="adj1" fmla="val 219676"/>
              <a:gd name="adj2" fmla="val -83333"/>
            </a:avLst>
          </a:prstGeom>
          <a:solidFill>
            <a:srgbClr val="FFFFCC"/>
          </a:solidFill>
          <a:ln w="9525">
            <a:solidFill>
              <a:srgbClr val="CC9900"/>
            </a:solidFill>
            <a:miter lim="800000"/>
          </a:ln>
        </p:spPr>
        <p:txBody>
          <a:bodyPr wrap="none" anchor="ctr"/>
          <a:lstStyle/>
          <a:p>
            <a:pPr algn="ctr"/>
            <a:r>
              <a:rPr lang="en-US" altLang="zh-CN" sz="3200">
                <a:solidFill>
                  <a:srgbClr val="CC6600"/>
                </a:solidFill>
              </a:rPr>
              <a:t>a</a:t>
            </a:r>
            <a:r>
              <a:rPr lang="en-US" altLang="zh-CN" sz="3200" b="1">
                <a:solidFill>
                  <a:srgbClr val="006666"/>
                </a:solidFill>
                <a:sym typeface="Symbol" panose="05050102010706020507" charset="2"/>
              </a:rPr>
              <a:t></a:t>
            </a:r>
            <a:r>
              <a:rPr lang="en-US" altLang="zh-CN" sz="3200">
                <a:solidFill>
                  <a:srgbClr val="CC6600"/>
                </a:solidFill>
                <a:sym typeface="Symbol" panose="05050102010706020507" charset="2"/>
              </a:rPr>
              <a:t>b</a:t>
            </a:r>
            <a:endParaRPr lang="en-US" altLang="zh-CN" sz="4000"/>
          </a:p>
        </p:txBody>
      </p:sp>
      <p:sp>
        <p:nvSpPr>
          <p:cNvPr id="1068053" name="AutoShape 21"/>
          <p:cNvSpPr>
            <a:spLocks noChangeArrowheads="1"/>
          </p:cNvSpPr>
          <p:nvPr/>
        </p:nvSpPr>
        <p:spPr bwMode="auto">
          <a:xfrm>
            <a:off x="5867400" y="4800600"/>
            <a:ext cx="838200" cy="457200"/>
          </a:xfrm>
          <a:prstGeom prst="wedgeRectCallout">
            <a:avLst>
              <a:gd name="adj1" fmla="val -205870"/>
              <a:gd name="adj2" fmla="val -64583"/>
            </a:avLst>
          </a:prstGeom>
          <a:solidFill>
            <a:srgbClr val="FFFFCC"/>
          </a:solidFill>
          <a:ln w="9525">
            <a:solidFill>
              <a:srgbClr val="CC9900"/>
            </a:solidFill>
            <a:miter lim="800000"/>
          </a:ln>
        </p:spPr>
        <p:txBody>
          <a:bodyPr wrap="none" anchor="ctr"/>
          <a:lstStyle/>
          <a:p>
            <a:pPr algn="ctr"/>
            <a:r>
              <a:rPr lang="en-US" altLang="zh-CN" sz="3200">
                <a:solidFill>
                  <a:srgbClr val="CC6600"/>
                </a:solidFill>
              </a:rPr>
              <a:t>d</a:t>
            </a:r>
            <a:r>
              <a:rPr lang="en-US" altLang="zh-CN" sz="3200" b="1">
                <a:solidFill>
                  <a:srgbClr val="006666"/>
                </a:solidFill>
              </a:rPr>
              <a:t>/</a:t>
            </a:r>
            <a:r>
              <a:rPr lang="en-US" altLang="zh-CN" sz="3200">
                <a:solidFill>
                  <a:srgbClr val="CC6600"/>
                </a:solidFill>
              </a:rPr>
              <a:t>e</a:t>
            </a:r>
            <a:endParaRPr lang="en-US" altLang="zh-CN" sz="4000"/>
          </a:p>
        </p:txBody>
      </p:sp>
      <p:sp>
        <p:nvSpPr>
          <p:cNvPr id="1068054" name="AutoShape 22"/>
          <p:cNvSpPr>
            <a:spLocks noChangeArrowheads="1"/>
          </p:cNvSpPr>
          <p:nvPr/>
        </p:nvSpPr>
        <p:spPr bwMode="auto">
          <a:xfrm>
            <a:off x="2362200" y="5257800"/>
            <a:ext cx="1219200" cy="381000"/>
          </a:xfrm>
          <a:prstGeom prst="wedgeRectCallout">
            <a:avLst>
              <a:gd name="adj1" fmla="val 133722"/>
              <a:gd name="adj2" fmla="val -62500"/>
            </a:avLst>
          </a:prstGeom>
          <a:solidFill>
            <a:srgbClr val="FFFFCC"/>
          </a:solidFill>
          <a:ln w="9525">
            <a:solidFill>
              <a:srgbClr val="CC9900"/>
            </a:solidFill>
            <a:miter lim="800000"/>
          </a:ln>
        </p:spPr>
        <p:txBody>
          <a:bodyPr wrap="none" anchor="ctr"/>
          <a:lstStyle/>
          <a:p>
            <a:pPr algn="ctr"/>
            <a:r>
              <a:rPr lang="en-US" altLang="zh-CN" sz="4000">
                <a:solidFill>
                  <a:srgbClr val="CC6600"/>
                </a:solidFill>
              </a:rPr>
              <a:t>c</a:t>
            </a:r>
            <a:r>
              <a:rPr lang="en-US" altLang="zh-CN" sz="4000" b="1">
                <a:solidFill>
                  <a:srgbClr val="006666"/>
                </a:solidFill>
              </a:rPr>
              <a:t>-</a:t>
            </a:r>
            <a:r>
              <a:rPr lang="en-US" altLang="zh-CN" sz="4000">
                <a:solidFill>
                  <a:srgbClr val="CC6600"/>
                </a:solidFill>
              </a:rPr>
              <a:t>d/e</a:t>
            </a:r>
            <a:endParaRPr lang="en-US" altLang="zh-CN" sz="4000"/>
          </a:p>
        </p:txBody>
      </p:sp>
      <p:sp>
        <p:nvSpPr>
          <p:cNvPr id="1068055" name="AutoShape 23"/>
          <p:cNvSpPr>
            <a:spLocks noChangeArrowheads="1"/>
          </p:cNvSpPr>
          <p:nvPr/>
        </p:nvSpPr>
        <p:spPr bwMode="auto">
          <a:xfrm>
            <a:off x="7010400" y="5638800"/>
            <a:ext cx="1828800" cy="533400"/>
          </a:xfrm>
          <a:prstGeom prst="wedgeRectCallout">
            <a:avLst>
              <a:gd name="adj1" fmla="val -161546"/>
              <a:gd name="adj2" fmla="val -49106"/>
            </a:avLst>
          </a:prstGeom>
          <a:solidFill>
            <a:srgbClr val="FFFFCC"/>
          </a:solidFill>
          <a:ln w="9525">
            <a:solidFill>
              <a:srgbClr val="CC9900"/>
            </a:solidFill>
            <a:miter lim="800000"/>
          </a:ln>
        </p:spPr>
        <p:txBody>
          <a:bodyPr wrap="none" anchor="ctr"/>
          <a:lstStyle/>
          <a:p>
            <a:pPr algn="ctr"/>
            <a:r>
              <a:rPr lang="en-US" altLang="zh-CN" sz="3200">
                <a:solidFill>
                  <a:srgbClr val="CC6600"/>
                </a:solidFill>
              </a:rPr>
              <a:t>(c-d/e)</a:t>
            </a:r>
            <a:r>
              <a:rPr lang="en-US" altLang="zh-CN" sz="3200" b="1">
                <a:solidFill>
                  <a:srgbClr val="006666"/>
                </a:solidFill>
                <a:sym typeface="Symbol" panose="05050102010706020507" charset="2"/>
              </a:rPr>
              <a:t></a:t>
            </a:r>
            <a:r>
              <a:rPr lang="en-US" altLang="zh-CN" sz="3200">
                <a:solidFill>
                  <a:srgbClr val="CC6600"/>
                </a:solidFill>
                <a:sym typeface="Symbol" panose="05050102010706020507" charset="2"/>
              </a:rPr>
              <a:t>f</a:t>
            </a:r>
            <a:endParaRPr lang="en-US" altLang="zh-CN" sz="4000"/>
          </a:p>
        </p:txBody>
      </p:sp>
      <p:sp>
        <p:nvSpPr>
          <p:cNvPr id="1068056" name="AutoShape 24"/>
          <p:cNvSpPr>
            <a:spLocks noChangeArrowheads="1"/>
          </p:cNvSpPr>
          <p:nvPr/>
        </p:nvSpPr>
        <p:spPr bwMode="auto">
          <a:xfrm>
            <a:off x="3429000" y="3581400"/>
            <a:ext cx="152400" cy="381000"/>
          </a:xfrm>
          <a:prstGeom prst="downArrow">
            <a:avLst>
              <a:gd name="adj1" fmla="val 50000"/>
              <a:gd name="adj2" fmla="val 62500"/>
            </a:avLst>
          </a:prstGeom>
          <a:solidFill>
            <a:srgbClr val="FFCC99"/>
          </a:solidFill>
          <a:ln w="9525">
            <a:solidFill>
              <a:schemeClr val="tx1"/>
            </a:solidFill>
            <a:miter lim="800000"/>
          </a:ln>
        </p:spPr>
        <p:txBody>
          <a:bodyPr vert="eaVert" wrap="none" anchor="ctr"/>
          <a:lstStyle/>
          <a:p>
            <a:endParaRPr lang="zh-CN" altLang="en-US"/>
          </a:p>
        </p:txBody>
      </p:sp>
      <p:sp>
        <p:nvSpPr>
          <p:cNvPr id="1068057" name="AutoShape 25"/>
          <p:cNvSpPr>
            <a:spLocks noChangeArrowheads="1"/>
          </p:cNvSpPr>
          <p:nvPr/>
        </p:nvSpPr>
        <p:spPr bwMode="auto">
          <a:xfrm>
            <a:off x="4876800" y="3581400"/>
            <a:ext cx="152400" cy="381000"/>
          </a:xfrm>
          <a:prstGeom prst="downArrow">
            <a:avLst>
              <a:gd name="adj1" fmla="val 50000"/>
              <a:gd name="adj2" fmla="val 62500"/>
            </a:avLst>
          </a:prstGeom>
          <a:solidFill>
            <a:srgbClr val="FFCC99"/>
          </a:solidFill>
          <a:ln w="9525">
            <a:solidFill>
              <a:schemeClr val="tx1"/>
            </a:solidFill>
            <a:miter lim="800000"/>
          </a:ln>
        </p:spPr>
        <p:txBody>
          <a:bodyPr vert="eaVert" wrap="none" anchor="ctr"/>
          <a:lstStyle/>
          <a:p>
            <a:endParaRPr lang="zh-CN" altLang="en-US"/>
          </a:p>
        </p:txBody>
      </p:sp>
      <p:sp>
        <p:nvSpPr>
          <p:cNvPr id="1068058" name="AutoShape 26"/>
          <p:cNvSpPr>
            <a:spLocks noChangeArrowheads="1"/>
          </p:cNvSpPr>
          <p:nvPr/>
        </p:nvSpPr>
        <p:spPr bwMode="auto">
          <a:xfrm>
            <a:off x="5257800" y="3581400"/>
            <a:ext cx="152400" cy="381000"/>
          </a:xfrm>
          <a:prstGeom prst="downArrow">
            <a:avLst>
              <a:gd name="adj1" fmla="val 50000"/>
              <a:gd name="adj2" fmla="val 62500"/>
            </a:avLst>
          </a:prstGeom>
          <a:solidFill>
            <a:srgbClr val="FFCC99"/>
          </a:solidFill>
          <a:ln w="9525">
            <a:solidFill>
              <a:schemeClr val="tx1"/>
            </a:solidFill>
            <a:miter lim="800000"/>
          </a:ln>
        </p:spPr>
        <p:txBody>
          <a:bodyPr vert="eaVert" wrap="none" anchor="ctr"/>
          <a:lstStyle/>
          <a:p>
            <a:endParaRPr lang="zh-CN" altLang="en-US"/>
          </a:p>
        </p:txBody>
      </p:sp>
      <p:sp>
        <p:nvSpPr>
          <p:cNvPr id="1068059" name="AutoShape 27"/>
          <p:cNvSpPr>
            <a:spLocks noChangeArrowheads="1"/>
          </p:cNvSpPr>
          <p:nvPr/>
        </p:nvSpPr>
        <p:spPr bwMode="auto">
          <a:xfrm>
            <a:off x="5943600" y="3581400"/>
            <a:ext cx="152400" cy="381000"/>
          </a:xfrm>
          <a:prstGeom prst="downArrow">
            <a:avLst>
              <a:gd name="adj1" fmla="val 50000"/>
              <a:gd name="adj2" fmla="val 62500"/>
            </a:avLst>
          </a:prstGeom>
          <a:solidFill>
            <a:srgbClr val="FFCC99"/>
          </a:solidFill>
          <a:ln w="9525">
            <a:solidFill>
              <a:schemeClr val="tx1"/>
            </a:solidFill>
            <a:miter lim="800000"/>
          </a:ln>
        </p:spPr>
        <p:txBody>
          <a:bodyPr vert="eaVert" wrap="none" anchor="ctr"/>
          <a:lstStyle/>
          <a:p>
            <a:endParaRPr lang="zh-CN" altLang="en-US"/>
          </a:p>
        </p:txBody>
      </p:sp>
      <p:sp>
        <p:nvSpPr>
          <p:cNvPr id="1068060" name="AutoShape 28"/>
          <p:cNvSpPr>
            <a:spLocks noChangeArrowheads="1"/>
          </p:cNvSpPr>
          <p:nvPr/>
        </p:nvSpPr>
        <p:spPr bwMode="auto">
          <a:xfrm>
            <a:off x="6324600" y="3581400"/>
            <a:ext cx="152400" cy="381000"/>
          </a:xfrm>
          <a:prstGeom prst="downArrow">
            <a:avLst>
              <a:gd name="adj1" fmla="val 50000"/>
              <a:gd name="adj2" fmla="val 62500"/>
            </a:avLst>
          </a:prstGeom>
          <a:solidFill>
            <a:srgbClr val="FFCC99"/>
          </a:solidFill>
          <a:ln w="9525">
            <a:solidFill>
              <a:schemeClr val="tx1"/>
            </a:solidFill>
            <a:miter lim="800000"/>
          </a:ln>
        </p:spPr>
        <p:txBody>
          <a:bodyPr vert="eaVert" wrap="none" anchor="ctr"/>
          <a:lstStyle/>
          <a:p>
            <a:endParaRPr lang="zh-CN" altLang="en-US"/>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iterate type="wd">
                                    <p:tmPct val="100000"/>
                                  </p:iterate>
                                  <p:childTnLst>
                                    <p:set>
                                      <p:cBhvr>
                                        <p:cTn id="6" dur="1" fill="hold">
                                          <p:stCondLst>
                                            <p:cond delay="0"/>
                                          </p:stCondLst>
                                        </p:cTn>
                                        <p:tgtEl>
                                          <p:spTgt spid="1068035">
                                            <p:txEl>
                                              <p:pRg st="0" end="0"/>
                                            </p:txEl>
                                          </p:spTgt>
                                        </p:tgtEl>
                                        <p:attrNameLst>
                                          <p:attrName>style.visibility</p:attrName>
                                        </p:attrNameLst>
                                      </p:cBhvr>
                                      <p:to>
                                        <p:strVal val="visible"/>
                                      </p:to>
                                    </p:set>
                                    <p:animEffect transition="in" filter="slide(fromLeft)">
                                      <p:cBhvr>
                                        <p:cTn id="7" dur="300"/>
                                        <p:tgtEl>
                                          <p:spTgt spid="1068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iterate type="wd">
                                    <p:tmPct val="100000"/>
                                  </p:iterate>
                                  <p:childTnLst>
                                    <p:set>
                                      <p:cBhvr>
                                        <p:cTn id="11" dur="1" fill="hold">
                                          <p:stCondLst>
                                            <p:cond delay="0"/>
                                          </p:stCondLst>
                                        </p:cTn>
                                        <p:tgtEl>
                                          <p:spTgt spid="1068035">
                                            <p:txEl>
                                              <p:pRg st="1" end="1"/>
                                            </p:txEl>
                                          </p:spTgt>
                                        </p:tgtEl>
                                        <p:attrNameLst>
                                          <p:attrName>style.visibility</p:attrName>
                                        </p:attrNameLst>
                                      </p:cBhvr>
                                      <p:to>
                                        <p:strVal val="visible"/>
                                      </p:to>
                                    </p:set>
                                    <p:animEffect transition="in" filter="slide(fromLeft)">
                                      <p:cBhvr>
                                        <p:cTn id="12" dur="300"/>
                                        <p:tgtEl>
                                          <p:spTgt spid="10680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68036"/>
                                        </p:tgtEl>
                                        <p:attrNameLst>
                                          <p:attrName>style.visibility</p:attrName>
                                        </p:attrNameLst>
                                      </p:cBhvr>
                                      <p:to>
                                        <p:strVal val="visible"/>
                                      </p:to>
                                    </p:set>
                                    <p:animEffect transition="in" filter="dissolve">
                                      <p:cBhvr>
                                        <p:cTn id="17" dur="500"/>
                                        <p:tgtEl>
                                          <p:spTgt spid="106803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068056"/>
                                        </p:tgtEl>
                                        <p:attrNameLst>
                                          <p:attrName>style.visibility</p:attrName>
                                        </p:attrNameLst>
                                      </p:cBhvr>
                                      <p:to>
                                        <p:strVal val="visible"/>
                                      </p:to>
                                    </p:set>
                                    <p:anim calcmode="lin" valueType="num">
                                      <p:cBhvr additive="base">
                                        <p:cTn id="22" dur="500" fill="hold"/>
                                        <p:tgtEl>
                                          <p:spTgt spid="1068056"/>
                                        </p:tgtEl>
                                        <p:attrNameLst>
                                          <p:attrName>ppt_x</p:attrName>
                                        </p:attrNameLst>
                                      </p:cBhvr>
                                      <p:tavLst>
                                        <p:tav tm="0">
                                          <p:val>
                                            <p:strVal val="0-#ppt_w/2"/>
                                          </p:val>
                                        </p:tav>
                                        <p:tav tm="100000">
                                          <p:val>
                                            <p:strVal val="#ppt_x"/>
                                          </p:val>
                                        </p:tav>
                                      </p:tavLst>
                                    </p:anim>
                                    <p:anim calcmode="lin" valueType="num">
                                      <p:cBhvr additive="base">
                                        <p:cTn id="23" dur="500" fill="hold"/>
                                        <p:tgtEl>
                                          <p:spTgt spid="106805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68056"/>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068041"/>
                                        </p:tgtEl>
                                        <p:attrNameLst>
                                          <p:attrName>style.visibility</p:attrName>
                                        </p:attrNameLst>
                                      </p:cBhvr>
                                      <p:to>
                                        <p:strVal val="visible"/>
                                      </p:to>
                                    </p:set>
                                  </p:childTnLst>
                                </p:cTn>
                              </p:par>
                            </p:childTnLst>
                          </p:cTn>
                        </p:par>
                        <p:par>
                          <p:cTn id="28" fill="hold">
                            <p:stCondLst>
                              <p:cond delay="500"/>
                            </p:stCondLst>
                            <p:childTnLst>
                              <p:par>
                                <p:cTn id="29" presetID="17" presetClass="entr" presetSubtype="2" fill="hold" grpId="0" nodeType="afterEffect">
                                  <p:stCondLst>
                                    <p:cond delay="0"/>
                                  </p:stCondLst>
                                  <p:childTnLst>
                                    <p:set>
                                      <p:cBhvr>
                                        <p:cTn id="30" dur="1" fill="hold">
                                          <p:stCondLst>
                                            <p:cond delay="0"/>
                                          </p:stCondLst>
                                        </p:cTn>
                                        <p:tgtEl>
                                          <p:spTgt spid="1068037"/>
                                        </p:tgtEl>
                                        <p:attrNameLst>
                                          <p:attrName>style.visibility</p:attrName>
                                        </p:attrNameLst>
                                      </p:cBhvr>
                                      <p:to>
                                        <p:strVal val="visible"/>
                                      </p:to>
                                    </p:set>
                                    <p:anim calcmode="lin" valueType="num">
                                      <p:cBhvr>
                                        <p:cTn id="31" dur="500" fill="hold"/>
                                        <p:tgtEl>
                                          <p:spTgt spid="1068037"/>
                                        </p:tgtEl>
                                        <p:attrNameLst>
                                          <p:attrName>ppt_x</p:attrName>
                                        </p:attrNameLst>
                                      </p:cBhvr>
                                      <p:tavLst>
                                        <p:tav tm="0">
                                          <p:val>
                                            <p:strVal val="#ppt_x+#ppt_w/2"/>
                                          </p:val>
                                        </p:tav>
                                        <p:tav tm="100000">
                                          <p:val>
                                            <p:strVal val="#ppt_x"/>
                                          </p:val>
                                        </p:tav>
                                      </p:tavLst>
                                    </p:anim>
                                    <p:anim calcmode="lin" valueType="num">
                                      <p:cBhvr>
                                        <p:cTn id="32" dur="500" fill="hold"/>
                                        <p:tgtEl>
                                          <p:spTgt spid="1068037"/>
                                        </p:tgtEl>
                                        <p:attrNameLst>
                                          <p:attrName>ppt_y</p:attrName>
                                        </p:attrNameLst>
                                      </p:cBhvr>
                                      <p:tavLst>
                                        <p:tav tm="0">
                                          <p:val>
                                            <p:strVal val="#ppt_y"/>
                                          </p:val>
                                        </p:tav>
                                        <p:tav tm="100000">
                                          <p:val>
                                            <p:strVal val="#ppt_y"/>
                                          </p:val>
                                        </p:tav>
                                      </p:tavLst>
                                    </p:anim>
                                    <p:anim calcmode="lin" valueType="num">
                                      <p:cBhvr>
                                        <p:cTn id="33" dur="500" fill="hold"/>
                                        <p:tgtEl>
                                          <p:spTgt spid="1068037"/>
                                        </p:tgtEl>
                                        <p:attrNameLst>
                                          <p:attrName>ppt_w</p:attrName>
                                        </p:attrNameLst>
                                      </p:cBhvr>
                                      <p:tavLst>
                                        <p:tav tm="0">
                                          <p:val>
                                            <p:fltVal val="0"/>
                                          </p:val>
                                        </p:tav>
                                        <p:tav tm="100000">
                                          <p:val>
                                            <p:strVal val="#ppt_w"/>
                                          </p:val>
                                        </p:tav>
                                      </p:tavLst>
                                    </p:anim>
                                    <p:anim calcmode="lin" valueType="num">
                                      <p:cBhvr>
                                        <p:cTn id="34" dur="500" fill="hold"/>
                                        <p:tgtEl>
                                          <p:spTgt spid="1068037"/>
                                        </p:tgtEl>
                                        <p:attrNameLst>
                                          <p:attrName>ppt_h</p:attrName>
                                        </p:attrNameLst>
                                      </p:cBhvr>
                                      <p:tavLst>
                                        <p:tav tm="0">
                                          <p:val>
                                            <p:strVal val="#ppt_h"/>
                                          </p:val>
                                        </p:tav>
                                        <p:tav tm="100000">
                                          <p:val>
                                            <p:strVal val="#ppt_h"/>
                                          </p:val>
                                        </p:tav>
                                      </p:tavLst>
                                    </p:anim>
                                  </p:childTnLst>
                                </p:cTn>
                              </p:par>
                            </p:childTnLst>
                          </p:cTn>
                        </p:par>
                        <p:par>
                          <p:cTn id="35" fill="hold">
                            <p:stCondLst>
                              <p:cond delay="1000"/>
                            </p:stCondLst>
                            <p:childTnLst>
                              <p:par>
                                <p:cTn id="36" presetID="1" presetClass="entr" presetSubtype="0" fill="hold" grpId="0" nodeType="afterEffect">
                                  <p:stCondLst>
                                    <p:cond delay="0"/>
                                  </p:stCondLst>
                                  <p:childTnLst>
                                    <p:set>
                                      <p:cBhvr>
                                        <p:cTn id="37" dur="1" fill="hold">
                                          <p:stCondLst>
                                            <p:cond delay="499"/>
                                          </p:stCondLst>
                                        </p:cTn>
                                        <p:tgtEl>
                                          <p:spTgt spid="106804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068052"/>
                                        </p:tgtEl>
                                        <p:attrNameLst>
                                          <p:attrName>style.visibility</p:attrName>
                                        </p:attrNameLst>
                                      </p:cBhvr>
                                      <p:to>
                                        <p:strVal val="visible"/>
                                      </p:to>
                                    </p:set>
                                    <p:anim calcmode="lin" valueType="num">
                                      <p:cBhvr additive="base">
                                        <p:cTn id="42" dur="500" fill="hold"/>
                                        <p:tgtEl>
                                          <p:spTgt spid="1068052"/>
                                        </p:tgtEl>
                                        <p:attrNameLst>
                                          <p:attrName>ppt_x</p:attrName>
                                        </p:attrNameLst>
                                      </p:cBhvr>
                                      <p:tavLst>
                                        <p:tav tm="0">
                                          <p:val>
                                            <p:strVal val="0-#ppt_w/2"/>
                                          </p:val>
                                        </p:tav>
                                        <p:tav tm="100000">
                                          <p:val>
                                            <p:strVal val="#ppt_x"/>
                                          </p:val>
                                        </p:tav>
                                      </p:tavLst>
                                    </p:anim>
                                    <p:anim calcmode="lin" valueType="num">
                                      <p:cBhvr additive="base">
                                        <p:cTn id="43" dur="500" fill="hold"/>
                                        <p:tgtEl>
                                          <p:spTgt spid="1068052"/>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7" presetClass="entr" presetSubtype="8" fill="hold" grpId="0" nodeType="clickEffect">
                                  <p:stCondLst>
                                    <p:cond delay="0"/>
                                  </p:stCondLst>
                                  <p:childTnLst>
                                    <p:set>
                                      <p:cBhvr>
                                        <p:cTn id="47" dur="1" fill="hold">
                                          <p:stCondLst>
                                            <p:cond delay="0"/>
                                          </p:stCondLst>
                                        </p:cTn>
                                        <p:tgtEl>
                                          <p:spTgt spid="1068057"/>
                                        </p:tgtEl>
                                        <p:attrNameLst>
                                          <p:attrName>style.visibility</p:attrName>
                                        </p:attrNameLst>
                                      </p:cBhvr>
                                      <p:to>
                                        <p:strVal val="visible"/>
                                      </p:to>
                                    </p:set>
                                    <p:anim calcmode="lin" valueType="num">
                                      <p:cBhvr>
                                        <p:cTn id="48" dur="500" fill="hold"/>
                                        <p:tgtEl>
                                          <p:spTgt spid="1068057"/>
                                        </p:tgtEl>
                                        <p:attrNameLst>
                                          <p:attrName>ppt_x</p:attrName>
                                        </p:attrNameLst>
                                      </p:cBhvr>
                                      <p:tavLst>
                                        <p:tav tm="0">
                                          <p:val>
                                            <p:strVal val="#ppt_x-#ppt_w/2"/>
                                          </p:val>
                                        </p:tav>
                                        <p:tav tm="100000">
                                          <p:val>
                                            <p:strVal val="#ppt_x"/>
                                          </p:val>
                                        </p:tav>
                                      </p:tavLst>
                                    </p:anim>
                                    <p:anim calcmode="lin" valueType="num">
                                      <p:cBhvr>
                                        <p:cTn id="49" dur="500" fill="hold"/>
                                        <p:tgtEl>
                                          <p:spTgt spid="1068057"/>
                                        </p:tgtEl>
                                        <p:attrNameLst>
                                          <p:attrName>ppt_y</p:attrName>
                                        </p:attrNameLst>
                                      </p:cBhvr>
                                      <p:tavLst>
                                        <p:tav tm="0">
                                          <p:val>
                                            <p:strVal val="#ppt_y"/>
                                          </p:val>
                                        </p:tav>
                                        <p:tav tm="100000">
                                          <p:val>
                                            <p:strVal val="#ppt_y"/>
                                          </p:val>
                                        </p:tav>
                                      </p:tavLst>
                                    </p:anim>
                                    <p:anim calcmode="lin" valueType="num">
                                      <p:cBhvr>
                                        <p:cTn id="50" dur="500" fill="hold"/>
                                        <p:tgtEl>
                                          <p:spTgt spid="1068057"/>
                                        </p:tgtEl>
                                        <p:attrNameLst>
                                          <p:attrName>ppt_w</p:attrName>
                                        </p:attrNameLst>
                                      </p:cBhvr>
                                      <p:tavLst>
                                        <p:tav tm="0">
                                          <p:val>
                                            <p:fltVal val="0"/>
                                          </p:val>
                                        </p:tav>
                                        <p:tav tm="100000">
                                          <p:val>
                                            <p:strVal val="#ppt_w"/>
                                          </p:val>
                                        </p:tav>
                                      </p:tavLst>
                                    </p:anim>
                                    <p:anim calcmode="lin" valueType="num">
                                      <p:cBhvr>
                                        <p:cTn id="51" dur="500" fill="hold"/>
                                        <p:tgtEl>
                                          <p:spTgt spid="1068057"/>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068057"/>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1068043"/>
                                        </p:tgtEl>
                                        <p:attrNameLst>
                                          <p:attrName>style.visibility</p:attrName>
                                        </p:attrNameLst>
                                      </p:cBhvr>
                                      <p:to>
                                        <p:strVal val="visible"/>
                                      </p:to>
                                    </p:set>
                                  </p:childTnLst>
                                </p:cTn>
                              </p:par>
                            </p:childTnLst>
                          </p:cTn>
                        </p:par>
                        <p:par>
                          <p:cTn id="56" fill="hold">
                            <p:stCondLst>
                              <p:cond delay="500"/>
                            </p:stCondLst>
                            <p:childTnLst>
                              <p:par>
                                <p:cTn id="57" presetID="17" presetClass="entr" presetSubtype="2" fill="hold" grpId="0" nodeType="afterEffect">
                                  <p:stCondLst>
                                    <p:cond delay="0"/>
                                  </p:stCondLst>
                                  <p:childTnLst>
                                    <p:set>
                                      <p:cBhvr>
                                        <p:cTn id="58" dur="1" fill="hold">
                                          <p:stCondLst>
                                            <p:cond delay="0"/>
                                          </p:stCondLst>
                                        </p:cTn>
                                        <p:tgtEl>
                                          <p:spTgt spid="1068038"/>
                                        </p:tgtEl>
                                        <p:attrNameLst>
                                          <p:attrName>style.visibility</p:attrName>
                                        </p:attrNameLst>
                                      </p:cBhvr>
                                      <p:to>
                                        <p:strVal val="visible"/>
                                      </p:to>
                                    </p:set>
                                    <p:anim calcmode="lin" valueType="num">
                                      <p:cBhvr>
                                        <p:cTn id="59" dur="500" fill="hold"/>
                                        <p:tgtEl>
                                          <p:spTgt spid="1068038"/>
                                        </p:tgtEl>
                                        <p:attrNameLst>
                                          <p:attrName>ppt_x</p:attrName>
                                        </p:attrNameLst>
                                      </p:cBhvr>
                                      <p:tavLst>
                                        <p:tav tm="0">
                                          <p:val>
                                            <p:strVal val="#ppt_x+#ppt_w/2"/>
                                          </p:val>
                                        </p:tav>
                                        <p:tav tm="100000">
                                          <p:val>
                                            <p:strVal val="#ppt_x"/>
                                          </p:val>
                                        </p:tav>
                                      </p:tavLst>
                                    </p:anim>
                                    <p:anim calcmode="lin" valueType="num">
                                      <p:cBhvr>
                                        <p:cTn id="60" dur="500" fill="hold"/>
                                        <p:tgtEl>
                                          <p:spTgt spid="1068038"/>
                                        </p:tgtEl>
                                        <p:attrNameLst>
                                          <p:attrName>ppt_y</p:attrName>
                                        </p:attrNameLst>
                                      </p:cBhvr>
                                      <p:tavLst>
                                        <p:tav tm="0">
                                          <p:val>
                                            <p:strVal val="#ppt_y"/>
                                          </p:val>
                                        </p:tav>
                                        <p:tav tm="100000">
                                          <p:val>
                                            <p:strVal val="#ppt_y"/>
                                          </p:val>
                                        </p:tav>
                                      </p:tavLst>
                                    </p:anim>
                                    <p:anim calcmode="lin" valueType="num">
                                      <p:cBhvr>
                                        <p:cTn id="61" dur="500" fill="hold"/>
                                        <p:tgtEl>
                                          <p:spTgt spid="1068038"/>
                                        </p:tgtEl>
                                        <p:attrNameLst>
                                          <p:attrName>ppt_w</p:attrName>
                                        </p:attrNameLst>
                                      </p:cBhvr>
                                      <p:tavLst>
                                        <p:tav tm="0">
                                          <p:val>
                                            <p:fltVal val="0"/>
                                          </p:val>
                                        </p:tav>
                                        <p:tav tm="100000">
                                          <p:val>
                                            <p:strVal val="#ppt_w"/>
                                          </p:val>
                                        </p:tav>
                                      </p:tavLst>
                                    </p:anim>
                                    <p:anim calcmode="lin" valueType="num">
                                      <p:cBhvr>
                                        <p:cTn id="62" dur="500" fill="hold"/>
                                        <p:tgtEl>
                                          <p:spTgt spid="1068038"/>
                                        </p:tgtEl>
                                        <p:attrNameLst>
                                          <p:attrName>ppt_h</p:attrName>
                                        </p:attrNameLst>
                                      </p:cBhvr>
                                      <p:tavLst>
                                        <p:tav tm="0">
                                          <p:val>
                                            <p:strVal val="#ppt_h"/>
                                          </p:val>
                                        </p:tav>
                                        <p:tav tm="100000">
                                          <p:val>
                                            <p:strVal val="#ppt_h"/>
                                          </p:val>
                                        </p:tav>
                                      </p:tavLst>
                                    </p:anim>
                                  </p:childTnLst>
                                </p:cTn>
                              </p:par>
                            </p:childTnLst>
                          </p:cTn>
                        </p:par>
                        <p:par>
                          <p:cTn id="63" fill="hold">
                            <p:stCondLst>
                              <p:cond delay="1000"/>
                            </p:stCondLst>
                            <p:childTnLst>
                              <p:par>
                                <p:cTn id="64" presetID="1" presetClass="entr" presetSubtype="0" fill="hold" grpId="0" nodeType="afterEffect">
                                  <p:stCondLst>
                                    <p:cond delay="0"/>
                                  </p:stCondLst>
                                  <p:childTnLst>
                                    <p:set>
                                      <p:cBhvr>
                                        <p:cTn id="65" dur="1" fill="hold">
                                          <p:stCondLst>
                                            <p:cond delay="499"/>
                                          </p:stCondLst>
                                        </p:cTn>
                                        <p:tgtEl>
                                          <p:spTgt spid="106804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grpId="0" nodeType="clickEffect">
                                  <p:stCondLst>
                                    <p:cond delay="0"/>
                                  </p:stCondLst>
                                  <p:childTnLst>
                                    <p:set>
                                      <p:cBhvr>
                                        <p:cTn id="69" dur="1" fill="hold">
                                          <p:stCondLst>
                                            <p:cond delay="0"/>
                                          </p:stCondLst>
                                        </p:cTn>
                                        <p:tgtEl>
                                          <p:spTgt spid="1068053"/>
                                        </p:tgtEl>
                                        <p:attrNameLst>
                                          <p:attrName>style.visibility</p:attrName>
                                        </p:attrNameLst>
                                      </p:cBhvr>
                                      <p:to>
                                        <p:strVal val="visible"/>
                                      </p:to>
                                    </p:set>
                                    <p:anim calcmode="lin" valueType="num">
                                      <p:cBhvr additive="base">
                                        <p:cTn id="70" dur="500" fill="hold"/>
                                        <p:tgtEl>
                                          <p:spTgt spid="1068053"/>
                                        </p:tgtEl>
                                        <p:attrNameLst>
                                          <p:attrName>ppt_x</p:attrName>
                                        </p:attrNameLst>
                                      </p:cBhvr>
                                      <p:tavLst>
                                        <p:tav tm="0">
                                          <p:val>
                                            <p:strVal val="1+#ppt_w/2"/>
                                          </p:val>
                                        </p:tav>
                                        <p:tav tm="100000">
                                          <p:val>
                                            <p:strVal val="#ppt_x"/>
                                          </p:val>
                                        </p:tav>
                                      </p:tavLst>
                                    </p:anim>
                                    <p:anim calcmode="lin" valueType="num">
                                      <p:cBhvr additive="base">
                                        <p:cTn id="71" dur="500" fill="hold"/>
                                        <p:tgtEl>
                                          <p:spTgt spid="1068053"/>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7" presetClass="entr" presetSubtype="8" fill="hold" grpId="0" nodeType="clickEffect">
                                  <p:stCondLst>
                                    <p:cond delay="0"/>
                                  </p:stCondLst>
                                  <p:childTnLst>
                                    <p:set>
                                      <p:cBhvr>
                                        <p:cTn id="75" dur="1" fill="hold">
                                          <p:stCondLst>
                                            <p:cond delay="0"/>
                                          </p:stCondLst>
                                        </p:cTn>
                                        <p:tgtEl>
                                          <p:spTgt spid="1068058"/>
                                        </p:tgtEl>
                                        <p:attrNameLst>
                                          <p:attrName>style.visibility</p:attrName>
                                        </p:attrNameLst>
                                      </p:cBhvr>
                                      <p:to>
                                        <p:strVal val="visible"/>
                                      </p:to>
                                    </p:set>
                                    <p:anim calcmode="lin" valueType="num">
                                      <p:cBhvr>
                                        <p:cTn id="76" dur="500" fill="hold"/>
                                        <p:tgtEl>
                                          <p:spTgt spid="1068058"/>
                                        </p:tgtEl>
                                        <p:attrNameLst>
                                          <p:attrName>ppt_x</p:attrName>
                                        </p:attrNameLst>
                                      </p:cBhvr>
                                      <p:tavLst>
                                        <p:tav tm="0">
                                          <p:val>
                                            <p:strVal val="#ppt_x-#ppt_w/2"/>
                                          </p:val>
                                        </p:tav>
                                        <p:tav tm="100000">
                                          <p:val>
                                            <p:strVal val="#ppt_x"/>
                                          </p:val>
                                        </p:tav>
                                      </p:tavLst>
                                    </p:anim>
                                    <p:anim calcmode="lin" valueType="num">
                                      <p:cBhvr>
                                        <p:cTn id="77" dur="500" fill="hold"/>
                                        <p:tgtEl>
                                          <p:spTgt spid="1068058"/>
                                        </p:tgtEl>
                                        <p:attrNameLst>
                                          <p:attrName>ppt_y</p:attrName>
                                        </p:attrNameLst>
                                      </p:cBhvr>
                                      <p:tavLst>
                                        <p:tav tm="0">
                                          <p:val>
                                            <p:strVal val="#ppt_y"/>
                                          </p:val>
                                        </p:tav>
                                        <p:tav tm="100000">
                                          <p:val>
                                            <p:strVal val="#ppt_y"/>
                                          </p:val>
                                        </p:tav>
                                      </p:tavLst>
                                    </p:anim>
                                    <p:anim calcmode="lin" valueType="num">
                                      <p:cBhvr>
                                        <p:cTn id="78" dur="500" fill="hold"/>
                                        <p:tgtEl>
                                          <p:spTgt spid="1068058"/>
                                        </p:tgtEl>
                                        <p:attrNameLst>
                                          <p:attrName>ppt_w</p:attrName>
                                        </p:attrNameLst>
                                      </p:cBhvr>
                                      <p:tavLst>
                                        <p:tav tm="0">
                                          <p:val>
                                            <p:fltVal val="0"/>
                                          </p:val>
                                        </p:tav>
                                        <p:tav tm="100000">
                                          <p:val>
                                            <p:strVal val="#ppt_w"/>
                                          </p:val>
                                        </p:tav>
                                      </p:tavLst>
                                    </p:anim>
                                    <p:anim calcmode="lin" valueType="num">
                                      <p:cBhvr>
                                        <p:cTn id="79" dur="500" fill="hold"/>
                                        <p:tgtEl>
                                          <p:spTgt spid="1068058"/>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068058"/>
                                        </p:tgtEl>
                                        <p:attrNameLst>
                                          <p:attrName>style.visibility</p:attrName>
                                        </p:attrNameLst>
                                      </p:cBhvr>
                                      <p:to>
                                        <p:strVal val="hidden"/>
                                      </p:to>
                                    </p:set>
                                  </p:sub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499"/>
                                          </p:stCondLst>
                                        </p:cTn>
                                        <p:tgtEl>
                                          <p:spTgt spid="1068045"/>
                                        </p:tgtEl>
                                        <p:attrNameLst>
                                          <p:attrName>style.visibility</p:attrName>
                                        </p:attrNameLst>
                                      </p:cBhvr>
                                      <p:to>
                                        <p:strVal val="visible"/>
                                      </p:to>
                                    </p:set>
                                  </p:childTnLst>
                                </p:cTn>
                              </p:par>
                            </p:childTnLst>
                          </p:cTn>
                        </p:par>
                        <p:par>
                          <p:cTn id="84" fill="hold">
                            <p:stCondLst>
                              <p:cond delay="500"/>
                            </p:stCondLst>
                            <p:childTnLst>
                              <p:par>
                                <p:cTn id="85" presetID="17" presetClass="entr" presetSubtype="2" fill="hold" grpId="0" nodeType="afterEffect">
                                  <p:stCondLst>
                                    <p:cond delay="0"/>
                                  </p:stCondLst>
                                  <p:childTnLst>
                                    <p:set>
                                      <p:cBhvr>
                                        <p:cTn id="86" dur="1" fill="hold">
                                          <p:stCondLst>
                                            <p:cond delay="0"/>
                                          </p:stCondLst>
                                        </p:cTn>
                                        <p:tgtEl>
                                          <p:spTgt spid="1068039"/>
                                        </p:tgtEl>
                                        <p:attrNameLst>
                                          <p:attrName>style.visibility</p:attrName>
                                        </p:attrNameLst>
                                      </p:cBhvr>
                                      <p:to>
                                        <p:strVal val="visible"/>
                                      </p:to>
                                    </p:set>
                                    <p:anim calcmode="lin" valueType="num">
                                      <p:cBhvr>
                                        <p:cTn id="87" dur="500" fill="hold"/>
                                        <p:tgtEl>
                                          <p:spTgt spid="1068039"/>
                                        </p:tgtEl>
                                        <p:attrNameLst>
                                          <p:attrName>ppt_x</p:attrName>
                                        </p:attrNameLst>
                                      </p:cBhvr>
                                      <p:tavLst>
                                        <p:tav tm="0">
                                          <p:val>
                                            <p:strVal val="#ppt_x+#ppt_w/2"/>
                                          </p:val>
                                        </p:tav>
                                        <p:tav tm="100000">
                                          <p:val>
                                            <p:strVal val="#ppt_x"/>
                                          </p:val>
                                        </p:tav>
                                      </p:tavLst>
                                    </p:anim>
                                    <p:anim calcmode="lin" valueType="num">
                                      <p:cBhvr>
                                        <p:cTn id="88" dur="500" fill="hold"/>
                                        <p:tgtEl>
                                          <p:spTgt spid="1068039"/>
                                        </p:tgtEl>
                                        <p:attrNameLst>
                                          <p:attrName>ppt_y</p:attrName>
                                        </p:attrNameLst>
                                      </p:cBhvr>
                                      <p:tavLst>
                                        <p:tav tm="0">
                                          <p:val>
                                            <p:strVal val="#ppt_y"/>
                                          </p:val>
                                        </p:tav>
                                        <p:tav tm="100000">
                                          <p:val>
                                            <p:strVal val="#ppt_y"/>
                                          </p:val>
                                        </p:tav>
                                      </p:tavLst>
                                    </p:anim>
                                    <p:anim calcmode="lin" valueType="num">
                                      <p:cBhvr>
                                        <p:cTn id="89" dur="500" fill="hold"/>
                                        <p:tgtEl>
                                          <p:spTgt spid="1068039"/>
                                        </p:tgtEl>
                                        <p:attrNameLst>
                                          <p:attrName>ppt_w</p:attrName>
                                        </p:attrNameLst>
                                      </p:cBhvr>
                                      <p:tavLst>
                                        <p:tav tm="0">
                                          <p:val>
                                            <p:fltVal val="0"/>
                                          </p:val>
                                        </p:tav>
                                        <p:tav tm="100000">
                                          <p:val>
                                            <p:strVal val="#ppt_w"/>
                                          </p:val>
                                        </p:tav>
                                      </p:tavLst>
                                    </p:anim>
                                    <p:anim calcmode="lin" valueType="num">
                                      <p:cBhvr>
                                        <p:cTn id="90" dur="500" fill="hold"/>
                                        <p:tgtEl>
                                          <p:spTgt spid="1068039"/>
                                        </p:tgtEl>
                                        <p:attrNameLst>
                                          <p:attrName>ppt_h</p:attrName>
                                        </p:attrNameLst>
                                      </p:cBhvr>
                                      <p:tavLst>
                                        <p:tav tm="0">
                                          <p:val>
                                            <p:strVal val="#ppt_h"/>
                                          </p:val>
                                        </p:tav>
                                        <p:tav tm="100000">
                                          <p:val>
                                            <p:strVal val="#ppt_h"/>
                                          </p:val>
                                        </p:tav>
                                      </p:tavLst>
                                    </p:anim>
                                  </p:childTnLst>
                                </p:cTn>
                              </p:par>
                            </p:childTnLst>
                          </p:cTn>
                        </p:par>
                        <p:par>
                          <p:cTn id="91" fill="hold">
                            <p:stCondLst>
                              <p:cond delay="1000"/>
                            </p:stCondLst>
                            <p:childTnLst>
                              <p:par>
                                <p:cTn id="92" presetID="1" presetClass="entr" presetSubtype="0" fill="hold" grpId="0" nodeType="afterEffect">
                                  <p:stCondLst>
                                    <p:cond delay="0"/>
                                  </p:stCondLst>
                                  <p:childTnLst>
                                    <p:set>
                                      <p:cBhvr>
                                        <p:cTn id="93" dur="1" fill="hold">
                                          <p:stCondLst>
                                            <p:cond delay="499"/>
                                          </p:stCondLst>
                                        </p:cTn>
                                        <p:tgtEl>
                                          <p:spTgt spid="1068044"/>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 presetClass="entr" presetSubtype="12" fill="hold" grpId="0" nodeType="clickEffect">
                                  <p:stCondLst>
                                    <p:cond delay="0"/>
                                  </p:stCondLst>
                                  <p:childTnLst>
                                    <p:set>
                                      <p:cBhvr>
                                        <p:cTn id="97" dur="1" fill="hold">
                                          <p:stCondLst>
                                            <p:cond delay="0"/>
                                          </p:stCondLst>
                                        </p:cTn>
                                        <p:tgtEl>
                                          <p:spTgt spid="1068054"/>
                                        </p:tgtEl>
                                        <p:attrNameLst>
                                          <p:attrName>style.visibility</p:attrName>
                                        </p:attrNameLst>
                                      </p:cBhvr>
                                      <p:to>
                                        <p:strVal val="visible"/>
                                      </p:to>
                                    </p:set>
                                    <p:anim calcmode="lin" valueType="num">
                                      <p:cBhvr additive="base">
                                        <p:cTn id="98" dur="500" fill="hold"/>
                                        <p:tgtEl>
                                          <p:spTgt spid="1068054"/>
                                        </p:tgtEl>
                                        <p:attrNameLst>
                                          <p:attrName>ppt_x</p:attrName>
                                        </p:attrNameLst>
                                      </p:cBhvr>
                                      <p:tavLst>
                                        <p:tav tm="0">
                                          <p:val>
                                            <p:strVal val="0-#ppt_w/2"/>
                                          </p:val>
                                        </p:tav>
                                        <p:tav tm="100000">
                                          <p:val>
                                            <p:strVal val="#ppt_x"/>
                                          </p:val>
                                        </p:tav>
                                      </p:tavLst>
                                    </p:anim>
                                    <p:anim calcmode="lin" valueType="num">
                                      <p:cBhvr additive="base">
                                        <p:cTn id="99" dur="500" fill="hold"/>
                                        <p:tgtEl>
                                          <p:spTgt spid="1068054"/>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7" presetClass="entr" presetSubtype="8" fill="hold" grpId="0" nodeType="clickEffect">
                                  <p:stCondLst>
                                    <p:cond delay="0"/>
                                  </p:stCondLst>
                                  <p:childTnLst>
                                    <p:set>
                                      <p:cBhvr>
                                        <p:cTn id="103" dur="1" fill="hold">
                                          <p:stCondLst>
                                            <p:cond delay="0"/>
                                          </p:stCondLst>
                                        </p:cTn>
                                        <p:tgtEl>
                                          <p:spTgt spid="1068059"/>
                                        </p:tgtEl>
                                        <p:attrNameLst>
                                          <p:attrName>style.visibility</p:attrName>
                                        </p:attrNameLst>
                                      </p:cBhvr>
                                      <p:to>
                                        <p:strVal val="visible"/>
                                      </p:to>
                                    </p:set>
                                    <p:anim calcmode="lin" valueType="num">
                                      <p:cBhvr>
                                        <p:cTn id="104" dur="500" fill="hold"/>
                                        <p:tgtEl>
                                          <p:spTgt spid="1068059"/>
                                        </p:tgtEl>
                                        <p:attrNameLst>
                                          <p:attrName>ppt_x</p:attrName>
                                        </p:attrNameLst>
                                      </p:cBhvr>
                                      <p:tavLst>
                                        <p:tav tm="0">
                                          <p:val>
                                            <p:strVal val="#ppt_x-#ppt_w/2"/>
                                          </p:val>
                                        </p:tav>
                                        <p:tav tm="100000">
                                          <p:val>
                                            <p:strVal val="#ppt_x"/>
                                          </p:val>
                                        </p:tav>
                                      </p:tavLst>
                                    </p:anim>
                                    <p:anim calcmode="lin" valueType="num">
                                      <p:cBhvr>
                                        <p:cTn id="105" dur="500" fill="hold"/>
                                        <p:tgtEl>
                                          <p:spTgt spid="1068059"/>
                                        </p:tgtEl>
                                        <p:attrNameLst>
                                          <p:attrName>ppt_y</p:attrName>
                                        </p:attrNameLst>
                                      </p:cBhvr>
                                      <p:tavLst>
                                        <p:tav tm="0">
                                          <p:val>
                                            <p:strVal val="#ppt_y"/>
                                          </p:val>
                                        </p:tav>
                                        <p:tav tm="100000">
                                          <p:val>
                                            <p:strVal val="#ppt_y"/>
                                          </p:val>
                                        </p:tav>
                                      </p:tavLst>
                                    </p:anim>
                                    <p:anim calcmode="lin" valueType="num">
                                      <p:cBhvr>
                                        <p:cTn id="106" dur="500" fill="hold"/>
                                        <p:tgtEl>
                                          <p:spTgt spid="1068059"/>
                                        </p:tgtEl>
                                        <p:attrNameLst>
                                          <p:attrName>ppt_w</p:attrName>
                                        </p:attrNameLst>
                                      </p:cBhvr>
                                      <p:tavLst>
                                        <p:tav tm="0">
                                          <p:val>
                                            <p:fltVal val="0"/>
                                          </p:val>
                                        </p:tav>
                                        <p:tav tm="100000">
                                          <p:val>
                                            <p:strVal val="#ppt_w"/>
                                          </p:val>
                                        </p:tav>
                                      </p:tavLst>
                                    </p:anim>
                                    <p:anim calcmode="lin" valueType="num">
                                      <p:cBhvr>
                                        <p:cTn id="107" dur="500" fill="hold"/>
                                        <p:tgtEl>
                                          <p:spTgt spid="1068059"/>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068059"/>
                                        </p:tgtEl>
                                        <p:attrNameLst>
                                          <p:attrName>style.visibility</p:attrName>
                                        </p:attrNameLst>
                                      </p:cBhvr>
                                      <p:to>
                                        <p:strVal val="hidden"/>
                                      </p:to>
                                    </p:set>
                                  </p:sub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499"/>
                                          </p:stCondLst>
                                        </p:cTn>
                                        <p:tgtEl>
                                          <p:spTgt spid="1068048"/>
                                        </p:tgtEl>
                                        <p:attrNameLst>
                                          <p:attrName>style.visibility</p:attrName>
                                        </p:attrNameLst>
                                      </p:cBhvr>
                                      <p:to>
                                        <p:strVal val="visible"/>
                                      </p:to>
                                    </p:set>
                                  </p:childTnLst>
                                </p:cTn>
                              </p:par>
                            </p:childTnLst>
                          </p:cTn>
                        </p:par>
                        <p:par>
                          <p:cTn id="112" fill="hold">
                            <p:stCondLst>
                              <p:cond delay="500"/>
                            </p:stCondLst>
                            <p:childTnLst>
                              <p:par>
                                <p:cTn id="113" presetID="17" presetClass="entr" presetSubtype="2" fill="hold" grpId="0" nodeType="afterEffect">
                                  <p:stCondLst>
                                    <p:cond delay="0"/>
                                  </p:stCondLst>
                                  <p:childTnLst>
                                    <p:set>
                                      <p:cBhvr>
                                        <p:cTn id="114" dur="1" fill="hold">
                                          <p:stCondLst>
                                            <p:cond delay="0"/>
                                          </p:stCondLst>
                                        </p:cTn>
                                        <p:tgtEl>
                                          <p:spTgt spid="1068046"/>
                                        </p:tgtEl>
                                        <p:attrNameLst>
                                          <p:attrName>style.visibility</p:attrName>
                                        </p:attrNameLst>
                                      </p:cBhvr>
                                      <p:to>
                                        <p:strVal val="visible"/>
                                      </p:to>
                                    </p:set>
                                    <p:anim calcmode="lin" valueType="num">
                                      <p:cBhvr>
                                        <p:cTn id="115" dur="500" fill="hold"/>
                                        <p:tgtEl>
                                          <p:spTgt spid="1068046"/>
                                        </p:tgtEl>
                                        <p:attrNameLst>
                                          <p:attrName>ppt_x</p:attrName>
                                        </p:attrNameLst>
                                      </p:cBhvr>
                                      <p:tavLst>
                                        <p:tav tm="0">
                                          <p:val>
                                            <p:strVal val="#ppt_x+#ppt_w/2"/>
                                          </p:val>
                                        </p:tav>
                                        <p:tav tm="100000">
                                          <p:val>
                                            <p:strVal val="#ppt_x"/>
                                          </p:val>
                                        </p:tav>
                                      </p:tavLst>
                                    </p:anim>
                                    <p:anim calcmode="lin" valueType="num">
                                      <p:cBhvr>
                                        <p:cTn id="116" dur="500" fill="hold"/>
                                        <p:tgtEl>
                                          <p:spTgt spid="1068046"/>
                                        </p:tgtEl>
                                        <p:attrNameLst>
                                          <p:attrName>ppt_y</p:attrName>
                                        </p:attrNameLst>
                                      </p:cBhvr>
                                      <p:tavLst>
                                        <p:tav tm="0">
                                          <p:val>
                                            <p:strVal val="#ppt_y"/>
                                          </p:val>
                                        </p:tav>
                                        <p:tav tm="100000">
                                          <p:val>
                                            <p:strVal val="#ppt_y"/>
                                          </p:val>
                                        </p:tav>
                                      </p:tavLst>
                                    </p:anim>
                                    <p:anim calcmode="lin" valueType="num">
                                      <p:cBhvr>
                                        <p:cTn id="117" dur="500" fill="hold"/>
                                        <p:tgtEl>
                                          <p:spTgt spid="1068046"/>
                                        </p:tgtEl>
                                        <p:attrNameLst>
                                          <p:attrName>ppt_w</p:attrName>
                                        </p:attrNameLst>
                                      </p:cBhvr>
                                      <p:tavLst>
                                        <p:tav tm="0">
                                          <p:val>
                                            <p:fltVal val="0"/>
                                          </p:val>
                                        </p:tav>
                                        <p:tav tm="100000">
                                          <p:val>
                                            <p:strVal val="#ppt_w"/>
                                          </p:val>
                                        </p:tav>
                                      </p:tavLst>
                                    </p:anim>
                                    <p:anim calcmode="lin" valueType="num">
                                      <p:cBhvr>
                                        <p:cTn id="118" dur="500" fill="hold"/>
                                        <p:tgtEl>
                                          <p:spTgt spid="1068046"/>
                                        </p:tgtEl>
                                        <p:attrNameLst>
                                          <p:attrName>ppt_h</p:attrName>
                                        </p:attrNameLst>
                                      </p:cBhvr>
                                      <p:tavLst>
                                        <p:tav tm="0">
                                          <p:val>
                                            <p:strVal val="#ppt_h"/>
                                          </p:val>
                                        </p:tav>
                                        <p:tav tm="100000">
                                          <p:val>
                                            <p:strVal val="#ppt_h"/>
                                          </p:val>
                                        </p:tav>
                                      </p:tavLst>
                                    </p:anim>
                                  </p:childTnLst>
                                </p:cTn>
                              </p:par>
                            </p:childTnLst>
                          </p:cTn>
                        </p:par>
                        <p:par>
                          <p:cTn id="119" fill="hold">
                            <p:stCondLst>
                              <p:cond delay="1000"/>
                            </p:stCondLst>
                            <p:childTnLst>
                              <p:par>
                                <p:cTn id="120" presetID="1" presetClass="entr" presetSubtype="0" fill="hold" grpId="0" nodeType="afterEffect">
                                  <p:stCondLst>
                                    <p:cond delay="0"/>
                                  </p:stCondLst>
                                  <p:childTnLst>
                                    <p:set>
                                      <p:cBhvr>
                                        <p:cTn id="121" dur="1" fill="hold">
                                          <p:stCondLst>
                                            <p:cond delay="499"/>
                                          </p:stCondLst>
                                        </p:cTn>
                                        <p:tgtEl>
                                          <p:spTgt spid="1068047"/>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2" presetClass="entr" presetSubtype="6" fill="hold" grpId="0" nodeType="clickEffect">
                                  <p:stCondLst>
                                    <p:cond delay="0"/>
                                  </p:stCondLst>
                                  <p:childTnLst>
                                    <p:set>
                                      <p:cBhvr>
                                        <p:cTn id="125" dur="1" fill="hold">
                                          <p:stCondLst>
                                            <p:cond delay="0"/>
                                          </p:stCondLst>
                                        </p:cTn>
                                        <p:tgtEl>
                                          <p:spTgt spid="1068055"/>
                                        </p:tgtEl>
                                        <p:attrNameLst>
                                          <p:attrName>style.visibility</p:attrName>
                                        </p:attrNameLst>
                                      </p:cBhvr>
                                      <p:to>
                                        <p:strVal val="visible"/>
                                      </p:to>
                                    </p:set>
                                    <p:anim calcmode="lin" valueType="num">
                                      <p:cBhvr additive="base">
                                        <p:cTn id="126" dur="500" fill="hold"/>
                                        <p:tgtEl>
                                          <p:spTgt spid="1068055"/>
                                        </p:tgtEl>
                                        <p:attrNameLst>
                                          <p:attrName>ppt_x</p:attrName>
                                        </p:attrNameLst>
                                      </p:cBhvr>
                                      <p:tavLst>
                                        <p:tav tm="0">
                                          <p:val>
                                            <p:strVal val="1+#ppt_w/2"/>
                                          </p:val>
                                        </p:tav>
                                        <p:tav tm="100000">
                                          <p:val>
                                            <p:strVal val="#ppt_x"/>
                                          </p:val>
                                        </p:tav>
                                      </p:tavLst>
                                    </p:anim>
                                    <p:anim calcmode="lin" valueType="num">
                                      <p:cBhvr additive="base">
                                        <p:cTn id="127" dur="500" fill="hold"/>
                                        <p:tgtEl>
                                          <p:spTgt spid="1068055"/>
                                        </p:tgtEl>
                                        <p:attrNameLst>
                                          <p:attrName>ppt_y</p:attrName>
                                        </p:attrNameLst>
                                      </p:cBhvr>
                                      <p:tavLst>
                                        <p:tav tm="0">
                                          <p:val>
                                            <p:strVal val="1+#ppt_h/2"/>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17" presetClass="entr" presetSubtype="8" fill="hold" grpId="0" nodeType="clickEffect">
                                  <p:stCondLst>
                                    <p:cond delay="0"/>
                                  </p:stCondLst>
                                  <p:childTnLst>
                                    <p:set>
                                      <p:cBhvr>
                                        <p:cTn id="131" dur="1" fill="hold">
                                          <p:stCondLst>
                                            <p:cond delay="0"/>
                                          </p:stCondLst>
                                        </p:cTn>
                                        <p:tgtEl>
                                          <p:spTgt spid="1068060"/>
                                        </p:tgtEl>
                                        <p:attrNameLst>
                                          <p:attrName>style.visibility</p:attrName>
                                        </p:attrNameLst>
                                      </p:cBhvr>
                                      <p:to>
                                        <p:strVal val="visible"/>
                                      </p:to>
                                    </p:set>
                                    <p:anim calcmode="lin" valueType="num">
                                      <p:cBhvr>
                                        <p:cTn id="132" dur="500" fill="hold"/>
                                        <p:tgtEl>
                                          <p:spTgt spid="1068060"/>
                                        </p:tgtEl>
                                        <p:attrNameLst>
                                          <p:attrName>ppt_x</p:attrName>
                                        </p:attrNameLst>
                                      </p:cBhvr>
                                      <p:tavLst>
                                        <p:tav tm="0">
                                          <p:val>
                                            <p:strVal val="#ppt_x-#ppt_w/2"/>
                                          </p:val>
                                        </p:tav>
                                        <p:tav tm="100000">
                                          <p:val>
                                            <p:strVal val="#ppt_x"/>
                                          </p:val>
                                        </p:tav>
                                      </p:tavLst>
                                    </p:anim>
                                    <p:anim calcmode="lin" valueType="num">
                                      <p:cBhvr>
                                        <p:cTn id="133" dur="500" fill="hold"/>
                                        <p:tgtEl>
                                          <p:spTgt spid="1068060"/>
                                        </p:tgtEl>
                                        <p:attrNameLst>
                                          <p:attrName>ppt_y</p:attrName>
                                        </p:attrNameLst>
                                      </p:cBhvr>
                                      <p:tavLst>
                                        <p:tav tm="0">
                                          <p:val>
                                            <p:strVal val="#ppt_y"/>
                                          </p:val>
                                        </p:tav>
                                        <p:tav tm="100000">
                                          <p:val>
                                            <p:strVal val="#ppt_y"/>
                                          </p:val>
                                        </p:tav>
                                      </p:tavLst>
                                    </p:anim>
                                    <p:anim calcmode="lin" valueType="num">
                                      <p:cBhvr>
                                        <p:cTn id="134" dur="500" fill="hold"/>
                                        <p:tgtEl>
                                          <p:spTgt spid="1068060"/>
                                        </p:tgtEl>
                                        <p:attrNameLst>
                                          <p:attrName>ppt_w</p:attrName>
                                        </p:attrNameLst>
                                      </p:cBhvr>
                                      <p:tavLst>
                                        <p:tav tm="0">
                                          <p:val>
                                            <p:fltVal val="0"/>
                                          </p:val>
                                        </p:tav>
                                        <p:tav tm="100000">
                                          <p:val>
                                            <p:strVal val="#ppt_w"/>
                                          </p:val>
                                        </p:tav>
                                      </p:tavLst>
                                    </p:anim>
                                    <p:anim calcmode="lin" valueType="num">
                                      <p:cBhvr>
                                        <p:cTn id="135" dur="500" fill="hold"/>
                                        <p:tgtEl>
                                          <p:spTgt spid="1068060"/>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068060"/>
                                        </p:tgtEl>
                                        <p:attrNameLst>
                                          <p:attrName>style.visibility</p:attrName>
                                        </p:attrNameLst>
                                      </p:cBhvr>
                                      <p:to>
                                        <p:strVal val="hidden"/>
                                      </p:to>
                                    </p:set>
                                  </p:sub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499"/>
                                          </p:stCondLst>
                                        </p:cTn>
                                        <p:tgtEl>
                                          <p:spTgt spid="1068051"/>
                                        </p:tgtEl>
                                        <p:attrNameLst>
                                          <p:attrName>style.visibility</p:attrName>
                                        </p:attrNameLst>
                                      </p:cBhvr>
                                      <p:to>
                                        <p:strVal val="visible"/>
                                      </p:to>
                                    </p:set>
                                  </p:childTnLst>
                                </p:cTn>
                              </p:par>
                            </p:childTnLst>
                          </p:cTn>
                        </p:par>
                        <p:par>
                          <p:cTn id="140" fill="hold">
                            <p:stCondLst>
                              <p:cond delay="500"/>
                            </p:stCondLst>
                            <p:childTnLst>
                              <p:par>
                                <p:cTn id="141" presetID="17" presetClass="entr" presetSubtype="2" fill="hold" grpId="0" nodeType="afterEffect">
                                  <p:stCondLst>
                                    <p:cond delay="0"/>
                                  </p:stCondLst>
                                  <p:childTnLst>
                                    <p:set>
                                      <p:cBhvr>
                                        <p:cTn id="142" dur="1" fill="hold">
                                          <p:stCondLst>
                                            <p:cond delay="0"/>
                                          </p:stCondLst>
                                        </p:cTn>
                                        <p:tgtEl>
                                          <p:spTgt spid="1068049"/>
                                        </p:tgtEl>
                                        <p:attrNameLst>
                                          <p:attrName>style.visibility</p:attrName>
                                        </p:attrNameLst>
                                      </p:cBhvr>
                                      <p:to>
                                        <p:strVal val="visible"/>
                                      </p:to>
                                    </p:set>
                                    <p:anim calcmode="lin" valueType="num">
                                      <p:cBhvr>
                                        <p:cTn id="143" dur="500" fill="hold"/>
                                        <p:tgtEl>
                                          <p:spTgt spid="1068049"/>
                                        </p:tgtEl>
                                        <p:attrNameLst>
                                          <p:attrName>ppt_x</p:attrName>
                                        </p:attrNameLst>
                                      </p:cBhvr>
                                      <p:tavLst>
                                        <p:tav tm="0">
                                          <p:val>
                                            <p:strVal val="#ppt_x+#ppt_w/2"/>
                                          </p:val>
                                        </p:tav>
                                        <p:tav tm="100000">
                                          <p:val>
                                            <p:strVal val="#ppt_x"/>
                                          </p:val>
                                        </p:tav>
                                      </p:tavLst>
                                    </p:anim>
                                    <p:anim calcmode="lin" valueType="num">
                                      <p:cBhvr>
                                        <p:cTn id="144" dur="500" fill="hold"/>
                                        <p:tgtEl>
                                          <p:spTgt spid="1068049"/>
                                        </p:tgtEl>
                                        <p:attrNameLst>
                                          <p:attrName>ppt_y</p:attrName>
                                        </p:attrNameLst>
                                      </p:cBhvr>
                                      <p:tavLst>
                                        <p:tav tm="0">
                                          <p:val>
                                            <p:strVal val="#ppt_y"/>
                                          </p:val>
                                        </p:tav>
                                        <p:tav tm="100000">
                                          <p:val>
                                            <p:strVal val="#ppt_y"/>
                                          </p:val>
                                        </p:tav>
                                      </p:tavLst>
                                    </p:anim>
                                    <p:anim calcmode="lin" valueType="num">
                                      <p:cBhvr>
                                        <p:cTn id="145" dur="500" fill="hold"/>
                                        <p:tgtEl>
                                          <p:spTgt spid="1068049"/>
                                        </p:tgtEl>
                                        <p:attrNameLst>
                                          <p:attrName>ppt_w</p:attrName>
                                        </p:attrNameLst>
                                      </p:cBhvr>
                                      <p:tavLst>
                                        <p:tav tm="0">
                                          <p:val>
                                            <p:fltVal val="0"/>
                                          </p:val>
                                        </p:tav>
                                        <p:tav tm="100000">
                                          <p:val>
                                            <p:strVal val="#ppt_w"/>
                                          </p:val>
                                        </p:tav>
                                      </p:tavLst>
                                    </p:anim>
                                    <p:anim calcmode="lin" valueType="num">
                                      <p:cBhvr>
                                        <p:cTn id="146" dur="500" fill="hold"/>
                                        <p:tgtEl>
                                          <p:spTgt spid="1068049"/>
                                        </p:tgtEl>
                                        <p:attrNameLst>
                                          <p:attrName>ppt_h</p:attrName>
                                        </p:attrNameLst>
                                      </p:cBhvr>
                                      <p:tavLst>
                                        <p:tav tm="0">
                                          <p:val>
                                            <p:strVal val="#ppt_h"/>
                                          </p:val>
                                        </p:tav>
                                        <p:tav tm="100000">
                                          <p:val>
                                            <p:strVal val="#ppt_h"/>
                                          </p:val>
                                        </p:tav>
                                      </p:tavLst>
                                    </p:anim>
                                  </p:childTnLst>
                                </p:cTn>
                              </p:par>
                            </p:childTnLst>
                          </p:cTn>
                        </p:par>
                        <p:par>
                          <p:cTn id="147" fill="hold">
                            <p:stCondLst>
                              <p:cond delay="1000"/>
                            </p:stCondLst>
                            <p:childTnLst>
                              <p:par>
                                <p:cTn id="148" presetID="1" presetClass="entr" presetSubtype="0" fill="hold" grpId="0" nodeType="afterEffect">
                                  <p:stCondLst>
                                    <p:cond delay="0"/>
                                  </p:stCondLst>
                                  <p:childTnLst>
                                    <p:set>
                                      <p:cBhvr>
                                        <p:cTn id="149" dur="1" fill="hold">
                                          <p:stCondLst>
                                            <p:cond delay="499"/>
                                          </p:stCondLst>
                                        </p:cTn>
                                        <p:tgtEl>
                                          <p:spTgt spid="1068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8035" grpId="0" autoUpdateAnimBg="0" build="p"/>
      <p:bldP spid="1068036" grpId="0" autoUpdateAnimBg="0"/>
      <p:bldP spid="1068037" grpId="0" animBg="1"/>
      <p:bldP spid="1068038" grpId="0" animBg="1"/>
      <p:bldP spid="1068039" grpId="0" animBg="1"/>
      <p:bldP spid="1068040" grpId="0" animBg="1"/>
      <p:bldP spid="1068041" grpId="0" animBg="1"/>
      <p:bldP spid="1068042" grpId="0" animBg="1"/>
      <p:bldP spid="1068043" grpId="0" animBg="1"/>
      <p:bldP spid="1068044" grpId="0" animBg="1"/>
      <p:bldP spid="1068045" grpId="0" animBg="1"/>
      <p:bldP spid="1068046" grpId="0" animBg="1"/>
      <p:bldP spid="1068047" grpId="0" animBg="1"/>
      <p:bldP spid="1068048" grpId="0" animBg="1"/>
      <p:bldP spid="1068049" grpId="0" animBg="1"/>
      <p:bldP spid="1068050" grpId="0" animBg="1"/>
      <p:bldP spid="1068051" grpId="0" animBg="1"/>
      <p:bldP spid="1068052" grpId="0" animBg="1" autoUpdateAnimBg="0"/>
      <p:bldP spid="1068053" grpId="0" animBg="1" autoUpdateAnimBg="0"/>
      <p:bldP spid="1068054" grpId="0" animBg="1" autoUpdateAnimBg="0"/>
      <p:bldP spid="1068055" grpId="0" animBg="1" autoUpdateAnimBg="0"/>
      <p:bldP spid="1068056" grpId="0" animBg="1"/>
      <p:bldP spid="1068057" grpId="0" animBg="1"/>
      <p:bldP spid="1068058" grpId="0" animBg="1"/>
      <p:bldP spid="1068059" grpId="0" animBg="1"/>
      <p:bldP spid="106806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8" name="Text Box 2"/>
          <p:cNvSpPr txBox="1">
            <a:spLocks noChangeArrowheads="1"/>
          </p:cNvSpPr>
          <p:nvPr/>
        </p:nvSpPr>
        <p:spPr bwMode="auto">
          <a:xfrm>
            <a:off x="838200" y="152400"/>
            <a:ext cx="78486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2" eaLnBrk="0" hangingPunct="0">
              <a:buFont typeface="Wingdings" panose="05000000000000000000" pitchFamily="2" charset="2"/>
              <a:buNone/>
            </a:pPr>
            <a:r>
              <a:rPr lang="zh-CN" altLang="en-US" sz="4000" b="1">
                <a:solidFill>
                  <a:srgbClr val="000066"/>
                </a:solidFill>
                <a:ea typeface="楷体_GB2312" charset="0"/>
              </a:rPr>
              <a:t>如何从原表达式求得后缀式？</a:t>
            </a:r>
            <a:endParaRPr lang="zh-CN" altLang="en-US" sz="4000">
              <a:ea typeface="楷体_GB2312" charset="0"/>
            </a:endParaRPr>
          </a:p>
        </p:txBody>
      </p:sp>
      <p:sp>
        <p:nvSpPr>
          <p:cNvPr id="1069059" name="Text Box 3"/>
          <p:cNvSpPr txBox="1">
            <a:spLocks noChangeArrowheads="1"/>
          </p:cNvSpPr>
          <p:nvPr/>
        </p:nvSpPr>
        <p:spPr bwMode="auto">
          <a:xfrm>
            <a:off x="457200" y="3609975"/>
            <a:ext cx="8382000"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4000">
                <a:ea typeface="楷体_GB2312" charset="0"/>
              </a:rPr>
              <a:t>    </a:t>
            </a:r>
            <a:r>
              <a:rPr lang="zh-CN" altLang="en-US" sz="4000">
                <a:solidFill>
                  <a:srgbClr val="800000"/>
                </a:solidFill>
                <a:ea typeface="楷体_GB2312" charset="0"/>
              </a:rPr>
              <a:t>每个运算符的运算次序要由</a:t>
            </a:r>
            <a:r>
              <a:rPr lang="zh-CN" altLang="en-US" sz="4000" b="1">
                <a:solidFill>
                  <a:srgbClr val="800000"/>
                </a:solidFill>
                <a:ea typeface="楷体_GB2312" charset="0"/>
              </a:rPr>
              <a:t>它之后的一个运算符</a:t>
            </a:r>
            <a:r>
              <a:rPr lang="zh-CN" altLang="en-US" sz="4000">
                <a:solidFill>
                  <a:srgbClr val="800000"/>
                </a:solidFill>
                <a:ea typeface="楷体_GB2312" charset="0"/>
              </a:rPr>
              <a:t>来定，在后缀式中，优先数高的运算符领先于优先数低的运算符。</a:t>
            </a:r>
            <a:endParaRPr lang="zh-CN" altLang="en-US" sz="4000">
              <a:solidFill>
                <a:srgbClr val="800000"/>
              </a:solidFill>
              <a:ea typeface="楷体_GB2312" charset="0"/>
            </a:endParaRPr>
          </a:p>
        </p:txBody>
      </p:sp>
      <p:sp>
        <p:nvSpPr>
          <p:cNvPr id="1069060" name="Text Box 4"/>
          <p:cNvSpPr txBox="1">
            <a:spLocks noChangeArrowheads="1"/>
          </p:cNvSpPr>
          <p:nvPr/>
        </p:nvSpPr>
        <p:spPr bwMode="auto">
          <a:xfrm>
            <a:off x="76200" y="1293813"/>
            <a:ext cx="9996170" cy="2306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20000"/>
              </a:lnSpc>
            </a:pPr>
            <a:r>
              <a:rPr lang="zh-CN" altLang="en-US" sz="4000">
                <a:solidFill>
                  <a:srgbClr val="006666"/>
                </a:solidFill>
                <a:ea typeface="楷体_GB2312" charset="0"/>
              </a:rPr>
              <a:t>分析“原表达式”和“后缀式”中的运算符</a:t>
            </a:r>
            <a:r>
              <a:rPr lang="en-US" altLang="zh-CN" sz="4000" b="1">
                <a:solidFill>
                  <a:srgbClr val="006666"/>
                </a:solidFill>
                <a:ea typeface="楷体_GB2312" charset="0"/>
              </a:rPr>
              <a:t>:</a:t>
            </a:r>
            <a:endParaRPr lang="en-US" altLang="zh-CN" sz="4000" b="1">
              <a:solidFill>
                <a:srgbClr val="006666"/>
              </a:solidFill>
              <a:ea typeface="楷体_GB2312" charset="0"/>
            </a:endParaRPr>
          </a:p>
          <a:p>
            <a:pPr eaLnBrk="0" hangingPunct="0">
              <a:lnSpc>
                <a:spcPct val="120000"/>
              </a:lnSpc>
            </a:pPr>
            <a:r>
              <a:rPr lang="zh-CN" altLang="en-US" sz="4000">
                <a:solidFill>
                  <a:srgbClr val="006666"/>
                </a:solidFill>
                <a:ea typeface="楷体_GB2312" charset="0"/>
              </a:rPr>
              <a:t>原表达式</a:t>
            </a:r>
            <a:r>
              <a:rPr lang="en-US" altLang="zh-CN" sz="4000" b="1">
                <a:solidFill>
                  <a:srgbClr val="006666"/>
                </a:solidFill>
                <a:ea typeface="楷体_GB2312" charset="0"/>
              </a:rPr>
              <a:t>:  </a:t>
            </a:r>
            <a:r>
              <a:rPr lang="en-US" altLang="zh-CN" sz="4000" b="1">
                <a:solidFill>
                  <a:srgbClr val="FF6600"/>
                </a:solidFill>
                <a:ea typeface="楷体_GB2312" charset="0"/>
              </a:rPr>
              <a:t>a </a:t>
            </a:r>
            <a:r>
              <a:rPr lang="en-US" altLang="zh-CN" sz="4000" b="1">
                <a:solidFill>
                  <a:srgbClr val="A50021"/>
                </a:solidFill>
                <a:ea typeface="楷体_GB2312" charset="0"/>
              </a:rPr>
              <a:t>+</a:t>
            </a:r>
            <a:r>
              <a:rPr lang="en-US" altLang="zh-CN" sz="4000" b="1">
                <a:solidFill>
                  <a:srgbClr val="FF6600"/>
                </a:solidFill>
                <a:ea typeface="楷体_GB2312" charset="0"/>
              </a:rPr>
              <a:t> b </a:t>
            </a:r>
            <a:r>
              <a:rPr lang="en-US" altLang="zh-CN" sz="4000" b="1">
                <a:solidFill>
                  <a:srgbClr val="A50021"/>
                </a:solidFill>
                <a:ea typeface="楷体_GB2312" charset="0"/>
                <a:sym typeface="Symbol" panose="05050102010706020507" charset="2"/>
              </a:rPr>
              <a:t></a:t>
            </a:r>
            <a:r>
              <a:rPr lang="en-US" altLang="zh-CN" sz="4000" b="1">
                <a:solidFill>
                  <a:srgbClr val="A50021"/>
                </a:solidFill>
                <a:ea typeface="楷体_GB2312" charset="0"/>
              </a:rPr>
              <a:t> </a:t>
            </a:r>
            <a:r>
              <a:rPr lang="en-US" altLang="zh-CN" sz="4000" b="1">
                <a:solidFill>
                  <a:srgbClr val="FF6600"/>
                </a:solidFill>
                <a:ea typeface="楷体_GB2312" charset="0"/>
              </a:rPr>
              <a:t>c </a:t>
            </a:r>
            <a:r>
              <a:rPr lang="en-US" altLang="zh-CN" sz="4000" b="1">
                <a:solidFill>
                  <a:srgbClr val="A50021"/>
                </a:solidFill>
                <a:ea typeface="楷体_GB2312" charset="0"/>
                <a:sym typeface="Symbol" panose="05050102010706020507" charset="2"/>
              </a:rPr>
              <a:t></a:t>
            </a:r>
            <a:r>
              <a:rPr lang="en-US" altLang="zh-CN" sz="4000" b="1">
                <a:solidFill>
                  <a:srgbClr val="FF6600"/>
                </a:solidFill>
                <a:ea typeface="楷体_GB2312" charset="0"/>
              </a:rPr>
              <a:t> d</a:t>
            </a:r>
            <a:r>
              <a:rPr lang="en-US" altLang="zh-CN" sz="4000" b="1">
                <a:solidFill>
                  <a:srgbClr val="A50021"/>
                </a:solidFill>
                <a:ea typeface="楷体_GB2312" charset="0"/>
              </a:rPr>
              <a:t> /</a:t>
            </a:r>
            <a:r>
              <a:rPr lang="en-US" altLang="zh-CN" sz="4000" b="1">
                <a:solidFill>
                  <a:srgbClr val="FF6600"/>
                </a:solidFill>
                <a:ea typeface="楷体_GB2312" charset="0"/>
              </a:rPr>
              <a:t> e </a:t>
            </a:r>
            <a:r>
              <a:rPr lang="en-US" altLang="zh-CN" sz="4000" b="1">
                <a:solidFill>
                  <a:srgbClr val="A50021"/>
                </a:solidFill>
                <a:ea typeface="楷体_GB2312" charset="0"/>
                <a:sym typeface="Symbol" panose="05050102010706020507" charset="2"/>
              </a:rPr>
              <a:t></a:t>
            </a:r>
            <a:r>
              <a:rPr lang="en-US" altLang="zh-CN" sz="4000" b="1">
                <a:solidFill>
                  <a:srgbClr val="A50021"/>
                </a:solidFill>
                <a:ea typeface="楷体_GB2312" charset="0"/>
              </a:rPr>
              <a:t> </a:t>
            </a:r>
            <a:r>
              <a:rPr lang="en-US" altLang="zh-CN" sz="4000" b="1">
                <a:solidFill>
                  <a:srgbClr val="FF6600"/>
                </a:solidFill>
                <a:ea typeface="楷体_GB2312" charset="0"/>
              </a:rPr>
              <a:t>f</a:t>
            </a:r>
            <a:endParaRPr lang="en-US" altLang="zh-CN" sz="4000" b="1">
              <a:solidFill>
                <a:srgbClr val="FF6600"/>
              </a:solidFill>
              <a:ea typeface="楷体_GB2312" charset="0"/>
            </a:endParaRPr>
          </a:p>
          <a:p>
            <a:pPr eaLnBrk="0" hangingPunct="0">
              <a:lnSpc>
                <a:spcPct val="120000"/>
              </a:lnSpc>
            </a:pPr>
            <a:r>
              <a:rPr lang="en-US" altLang="zh-CN" sz="4000">
                <a:solidFill>
                  <a:srgbClr val="006666"/>
                </a:solidFill>
                <a:ea typeface="楷体_GB2312" charset="0"/>
              </a:rPr>
              <a:t>    </a:t>
            </a:r>
            <a:r>
              <a:rPr lang="zh-CN" altLang="en-US" sz="4000">
                <a:solidFill>
                  <a:srgbClr val="006666"/>
                </a:solidFill>
                <a:ea typeface="楷体_GB2312" charset="0"/>
              </a:rPr>
              <a:t>后缀式</a:t>
            </a:r>
            <a:r>
              <a:rPr lang="en-US" altLang="zh-CN" sz="4000" b="1">
                <a:solidFill>
                  <a:srgbClr val="006666"/>
                </a:solidFill>
                <a:ea typeface="楷体_GB2312" charset="0"/>
              </a:rPr>
              <a:t>:  </a:t>
            </a:r>
            <a:r>
              <a:rPr lang="en-US" altLang="zh-CN" sz="4000" b="1">
                <a:solidFill>
                  <a:srgbClr val="FF6600"/>
                </a:solidFill>
                <a:ea typeface="楷体_GB2312" charset="0"/>
              </a:rPr>
              <a:t>a b c </a:t>
            </a:r>
            <a:r>
              <a:rPr lang="en-US" altLang="zh-CN" sz="4000" b="1">
                <a:solidFill>
                  <a:srgbClr val="A50021"/>
                </a:solidFill>
                <a:ea typeface="楷体_GB2312" charset="0"/>
                <a:sym typeface="Symbol" panose="05050102010706020507" charset="2"/>
              </a:rPr>
              <a:t></a:t>
            </a:r>
            <a:r>
              <a:rPr lang="en-US" altLang="zh-CN" sz="4000" b="1">
                <a:solidFill>
                  <a:srgbClr val="A50021"/>
                </a:solidFill>
                <a:ea typeface="楷体_GB2312" charset="0"/>
              </a:rPr>
              <a:t> +</a:t>
            </a:r>
            <a:r>
              <a:rPr lang="en-US" altLang="zh-CN" sz="4000" b="1">
                <a:solidFill>
                  <a:srgbClr val="FF6600"/>
                </a:solidFill>
                <a:ea typeface="楷体_GB2312" charset="0"/>
              </a:rPr>
              <a:t> d e </a:t>
            </a:r>
            <a:r>
              <a:rPr lang="en-US" altLang="zh-CN" sz="4000" b="1">
                <a:solidFill>
                  <a:srgbClr val="A50021"/>
                </a:solidFill>
                <a:ea typeface="楷体_GB2312" charset="0"/>
              </a:rPr>
              <a:t>/</a:t>
            </a:r>
            <a:r>
              <a:rPr lang="en-US" altLang="zh-CN" sz="4000" b="1">
                <a:solidFill>
                  <a:srgbClr val="FF6600"/>
                </a:solidFill>
                <a:ea typeface="楷体_GB2312" charset="0"/>
              </a:rPr>
              <a:t> f </a:t>
            </a:r>
            <a:r>
              <a:rPr lang="en-US" altLang="zh-CN" sz="4000" b="1">
                <a:solidFill>
                  <a:srgbClr val="A50021"/>
                </a:solidFill>
                <a:ea typeface="楷体_GB2312" charset="0"/>
                <a:sym typeface="Symbol" panose="05050102010706020507" charset="2"/>
              </a:rPr>
              <a:t></a:t>
            </a:r>
            <a:r>
              <a:rPr lang="en-US" altLang="zh-CN" sz="4000" b="1">
                <a:solidFill>
                  <a:srgbClr val="A50021"/>
                </a:solidFill>
                <a:ea typeface="楷体_GB2312" charset="0"/>
              </a:rPr>
              <a:t> </a:t>
            </a:r>
            <a:r>
              <a:rPr lang="en-US" altLang="zh-CN" sz="4000" b="1">
                <a:solidFill>
                  <a:srgbClr val="A50021"/>
                </a:solidFill>
                <a:ea typeface="楷体_GB2312" charset="0"/>
                <a:sym typeface="Symbol" panose="05050102010706020507" charset="2"/>
              </a:rPr>
              <a:t></a:t>
            </a:r>
            <a:endParaRPr lang="en-US" altLang="zh-CN" sz="4000">
              <a:solidFill>
                <a:srgbClr val="CC66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69060"/>
                                        </p:tgtEl>
                                        <p:attrNameLst>
                                          <p:attrName>style.visibility</p:attrName>
                                        </p:attrNameLst>
                                      </p:cBhvr>
                                      <p:to>
                                        <p:strVal val="visible"/>
                                      </p:to>
                                    </p:set>
                                    <p:animEffect transition="in" filter="box(out)">
                                      <p:cBhvr>
                                        <p:cTn id="7" dur="500"/>
                                        <p:tgtEl>
                                          <p:spTgt spid="10690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069059"/>
                                        </p:tgtEl>
                                        <p:attrNameLst>
                                          <p:attrName>style.visibility</p:attrName>
                                        </p:attrNameLst>
                                      </p:cBhvr>
                                      <p:to>
                                        <p:strVal val="visible"/>
                                      </p:to>
                                    </p:set>
                                    <p:animEffect transition="in" filter="wipe(left)">
                                      <p:cBhvr>
                                        <p:cTn id="12" dur="300"/>
                                        <p:tgtEl>
                                          <p:spTgt spid="1069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9059" grpId="0" autoUpdateAnimBg="0"/>
      <p:bldP spid="1069060"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2" name="Text Box 2"/>
          <p:cNvSpPr txBox="1">
            <a:spLocks noChangeArrowheads="1"/>
          </p:cNvSpPr>
          <p:nvPr/>
        </p:nvSpPr>
        <p:spPr bwMode="auto">
          <a:xfrm>
            <a:off x="1368425" y="127000"/>
            <a:ext cx="731837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b="1">
                <a:ea typeface="楷体_GB2312" charset="0"/>
              </a:rPr>
              <a:t>从原表达式求得后缀式的规律为</a:t>
            </a:r>
            <a:endParaRPr lang="zh-CN" altLang="en-US" sz="4000">
              <a:ea typeface="楷体_GB2312" charset="0"/>
            </a:endParaRPr>
          </a:p>
        </p:txBody>
      </p:sp>
      <p:sp>
        <p:nvSpPr>
          <p:cNvPr id="1070083" name="Text Box 3"/>
          <p:cNvSpPr txBox="1">
            <a:spLocks noChangeArrowheads="1"/>
          </p:cNvSpPr>
          <p:nvPr/>
        </p:nvSpPr>
        <p:spPr bwMode="auto">
          <a:xfrm>
            <a:off x="-171450" y="1279525"/>
            <a:ext cx="53403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lvl="2" eaLnBrk="0" hangingPunct="0"/>
            <a:r>
              <a:rPr lang="en-US" altLang="zh-CN" sz="4000"/>
              <a:t>1)  </a:t>
            </a:r>
            <a:r>
              <a:rPr lang="zh-CN" altLang="en-US" sz="4000">
                <a:ea typeface="楷体_GB2312" charset="0"/>
              </a:rPr>
              <a:t>设立</a:t>
            </a:r>
            <a:r>
              <a:rPr lang="zh-CN" altLang="en-US" sz="4000" b="1">
                <a:solidFill>
                  <a:srgbClr val="FF0000"/>
                </a:solidFill>
                <a:ea typeface="楷体_GB2312" charset="0"/>
              </a:rPr>
              <a:t>运算符栈；</a:t>
            </a:r>
            <a:endParaRPr lang="zh-CN" altLang="en-US" sz="4000" b="1">
              <a:solidFill>
                <a:srgbClr val="FF0000"/>
              </a:solidFill>
              <a:ea typeface="楷体_GB2312" charset="0"/>
            </a:endParaRPr>
          </a:p>
        </p:txBody>
      </p:sp>
      <p:sp>
        <p:nvSpPr>
          <p:cNvPr id="1070084" name="Text Box 4"/>
          <p:cNvSpPr txBox="1">
            <a:spLocks noChangeArrowheads="1"/>
          </p:cNvSpPr>
          <p:nvPr/>
        </p:nvSpPr>
        <p:spPr bwMode="auto">
          <a:xfrm>
            <a:off x="-228600" y="2312988"/>
            <a:ext cx="8305800" cy="161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2" eaLnBrk="0" hangingPunct="0">
              <a:lnSpc>
                <a:spcPct val="125000"/>
              </a:lnSpc>
            </a:pPr>
            <a:r>
              <a:rPr lang="en-US" altLang="zh-CN" sz="4000"/>
              <a:t>2)  </a:t>
            </a:r>
            <a:r>
              <a:rPr lang="zh-CN" altLang="en-US" sz="4000">
                <a:ea typeface="楷体_GB2312" charset="0"/>
              </a:rPr>
              <a:t>设表达式的结束符为“</a:t>
            </a:r>
            <a:r>
              <a:rPr lang="en-US" altLang="zh-CN" sz="4000">
                <a:ea typeface="楷体_GB2312" charset="0"/>
              </a:rPr>
              <a:t>#”</a:t>
            </a:r>
            <a:r>
              <a:rPr lang="zh-CN" altLang="en-US" sz="4000">
                <a:ea typeface="楷体_GB2312" charset="0"/>
              </a:rPr>
              <a:t>，    </a:t>
            </a:r>
            <a:endParaRPr lang="zh-CN" altLang="en-US" sz="4000">
              <a:ea typeface="楷体_GB2312" charset="0"/>
            </a:endParaRPr>
          </a:p>
          <a:p>
            <a:pPr lvl="2" eaLnBrk="0" hangingPunct="0">
              <a:lnSpc>
                <a:spcPct val="125000"/>
              </a:lnSpc>
            </a:pPr>
            <a:r>
              <a:rPr lang="zh-CN" altLang="en-US" sz="4000">
                <a:ea typeface="楷体_GB2312" charset="0"/>
              </a:rPr>
              <a:t>    </a:t>
            </a:r>
            <a:r>
              <a:rPr lang="zh-CN" altLang="en-US" sz="4000">
                <a:solidFill>
                  <a:srgbClr val="0000FF"/>
                </a:solidFill>
                <a:ea typeface="楷体_GB2312" charset="0"/>
              </a:rPr>
              <a:t>予设</a:t>
            </a:r>
            <a:r>
              <a:rPr lang="zh-CN" altLang="en-US" sz="4000">
                <a:ea typeface="楷体_GB2312" charset="0"/>
              </a:rPr>
              <a:t>运算符栈的</a:t>
            </a:r>
            <a:r>
              <a:rPr lang="zh-CN" altLang="en-US" sz="4000">
                <a:solidFill>
                  <a:srgbClr val="0000FF"/>
                </a:solidFill>
                <a:ea typeface="楷体_GB2312" charset="0"/>
              </a:rPr>
              <a:t>栈底为“</a:t>
            </a:r>
            <a:r>
              <a:rPr lang="en-US" altLang="zh-CN" sz="4000">
                <a:solidFill>
                  <a:srgbClr val="0000FF"/>
                </a:solidFill>
                <a:ea typeface="楷体_GB2312" charset="0"/>
              </a:rPr>
              <a:t>#”</a:t>
            </a:r>
            <a:r>
              <a:rPr lang="zh-CN" altLang="en-US" sz="4000">
                <a:solidFill>
                  <a:srgbClr val="0000FF"/>
                </a:solidFill>
                <a:ea typeface="楷体_GB2312" charset="0"/>
              </a:rPr>
              <a:t>；</a:t>
            </a:r>
            <a:endParaRPr lang="zh-CN" altLang="en-US" sz="4000">
              <a:ea typeface="楷体_GB2312" charset="0"/>
            </a:endParaRPr>
          </a:p>
        </p:txBody>
      </p:sp>
      <p:sp>
        <p:nvSpPr>
          <p:cNvPr id="1070085" name="Text Box 5"/>
          <p:cNvSpPr txBox="1">
            <a:spLocks noChangeArrowheads="1"/>
          </p:cNvSpPr>
          <p:nvPr/>
        </p:nvSpPr>
        <p:spPr bwMode="auto">
          <a:xfrm>
            <a:off x="-176213" y="4141788"/>
            <a:ext cx="6729413" cy="161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lvl="2" eaLnBrk="0" hangingPunct="0">
              <a:lnSpc>
                <a:spcPct val="125000"/>
              </a:lnSpc>
            </a:pPr>
            <a:r>
              <a:rPr lang="en-US" altLang="zh-CN" sz="4000"/>
              <a:t>3) </a:t>
            </a:r>
            <a:r>
              <a:rPr lang="zh-CN" altLang="en-US" sz="4000">
                <a:solidFill>
                  <a:srgbClr val="FF0000"/>
                </a:solidFill>
                <a:ea typeface="楷体_GB2312" charset="0"/>
              </a:rPr>
              <a:t>若</a:t>
            </a:r>
            <a:r>
              <a:rPr lang="zh-CN" altLang="en-US" sz="4000">
                <a:ea typeface="楷体_GB2312" charset="0"/>
              </a:rPr>
              <a:t>当前字符</a:t>
            </a:r>
            <a:r>
              <a:rPr lang="zh-CN" altLang="en-US" sz="4000">
                <a:solidFill>
                  <a:srgbClr val="FF0000"/>
                </a:solidFill>
                <a:ea typeface="楷体_GB2312" charset="0"/>
              </a:rPr>
              <a:t>是操作数</a:t>
            </a:r>
            <a:r>
              <a:rPr lang="zh-CN" altLang="en-US" sz="4000">
                <a:ea typeface="楷体_GB2312" charset="0"/>
              </a:rPr>
              <a:t>，</a:t>
            </a:r>
            <a:endParaRPr lang="zh-CN" altLang="en-US" sz="4000">
              <a:ea typeface="楷体_GB2312" charset="0"/>
            </a:endParaRPr>
          </a:p>
          <a:p>
            <a:pPr lvl="2" eaLnBrk="0" hangingPunct="0">
              <a:lnSpc>
                <a:spcPct val="125000"/>
              </a:lnSpc>
            </a:pPr>
            <a:r>
              <a:rPr lang="zh-CN" altLang="en-US" sz="4000">
                <a:ea typeface="楷体_GB2312" charset="0"/>
              </a:rPr>
              <a:t>   则</a:t>
            </a:r>
            <a:r>
              <a:rPr lang="zh-CN" altLang="en-US" sz="4000">
                <a:solidFill>
                  <a:srgbClr val="0000FF"/>
                </a:solidFill>
                <a:ea typeface="楷体_GB2312" charset="0"/>
              </a:rPr>
              <a:t>直接发送给后缀式</a:t>
            </a:r>
            <a:r>
              <a:rPr lang="zh-CN" altLang="en-US" sz="4000">
                <a:ea typeface="楷体_GB2312" charset="0"/>
              </a:rPr>
              <a:t>。</a:t>
            </a:r>
            <a:endParaRPr lang="zh-CN" altLang="en-US"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0083"/>
                                        </p:tgtEl>
                                        <p:attrNameLst>
                                          <p:attrName>style.visibility</p:attrName>
                                        </p:attrNameLst>
                                      </p:cBhvr>
                                      <p:to>
                                        <p:strVal val="visible"/>
                                      </p:to>
                                    </p:set>
                                    <p:animEffect transition="in" filter="wipe(left)">
                                      <p:cBhvr>
                                        <p:cTn id="7" dur="500"/>
                                        <p:tgtEl>
                                          <p:spTgt spid="10700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0084"/>
                                        </p:tgtEl>
                                        <p:attrNameLst>
                                          <p:attrName>style.visibility</p:attrName>
                                        </p:attrNameLst>
                                      </p:cBhvr>
                                      <p:to>
                                        <p:strVal val="visible"/>
                                      </p:to>
                                    </p:set>
                                    <p:animEffect transition="in" filter="wipe(left)">
                                      <p:cBhvr>
                                        <p:cTn id="12" dur="500"/>
                                        <p:tgtEl>
                                          <p:spTgt spid="10700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70085"/>
                                        </p:tgtEl>
                                        <p:attrNameLst>
                                          <p:attrName>style.visibility</p:attrName>
                                        </p:attrNameLst>
                                      </p:cBhvr>
                                      <p:to>
                                        <p:strVal val="visible"/>
                                      </p:to>
                                    </p:set>
                                    <p:animEffect transition="in" filter="wipe(left)">
                                      <p:cBhvr>
                                        <p:cTn id="17" dur="500"/>
                                        <p:tgtEl>
                                          <p:spTgt spid="1070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0083" grpId="0" autoUpdateAnimBg="0"/>
      <p:bldP spid="1070084" grpId="0" autoUpdateAnimBg="0"/>
      <p:bldP spid="1070085"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Text Box 2"/>
          <p:cNvSpPr txBox="1">
            <a:spLocks noChangeArrowheads="1"/>
          </p:cNvSpPr>
          <p:nvPr/>
        </p:nvSpPr>
        <p:spPr bwMode="auto">
          <a:xfrm>
            <a:off x="-228600" y="1127125"/>
            <a:ext cx="9144000" cy="161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2" eaLnBrk="0" hangingPunct="0">
              <a:lnSpc>
                <a:spcPct val="125000"/>
              </a:lnSpc>
            </a:pPr>
            <a:r>
              <a:rPr lang="en-US" altLang="zh-CN" sz="4000"/>
              <a:t>4)  </a:t>
            </a:r>
            <a:r>
              <a:rPr lang="zh-CN" altLang="en-US" sz="4000">
                <a:ea typeface="楷体_GB2312" charset="0"/>
              </a:rPr>
              <a:t>若</a:t>
            </a:r>
            <a:r>
              <a:rPr lang="zh-CN" altLang="en-US" sz="4000">
                <a:solidFill>
                  <a:srgbClr val="FF0000"/>
                </a:solidFill>
                <a:ea typeface="楷体_GB2312" charset="0"/>
              </a:rPr>
              <a:t>当前</a:t>
            </a:r>
            <a:r>
              <a:rPr lang="zh-CN" altLang="en-US" sz="4000">
                <a:ea typeface="楷体_GB2312" charset="0"/>
              </a:rPr>
              <a:t>运算符的</a:t>
            </a:r>
            <a:r>
              <a:rPr lang="zh-CN" altLang="en-US" sz="4000">
                <a:solidFill>
                  <a:srgbClr val="FF0000"/>
                </a:solidFill>
                <a:ea typeface="楷体_GB2312" charset="0"/>
              </a:rPr>
              <a:t>优先数高</a:t>
            </a:r>
            <a:r>
              <a:rPr lang="zh-CN" altLang="en-US" sz="4000">
                <a:ea typeface="楷体_GB2312" charset="0"/>
              </a:rPr>
              <a:t>于栈顶运算符，则</a:t>
            </a:r>
            <a:r>
              <a:rPr lang="zh-CN" altLang="en-US" sz="4000">
                <a:solidFill>
                  <a:srgbClr val="0000FF"/>
                </a:solidFill>
                <a:ea typeface="楷体_GB2312" charset="0"/>
              </a:rPr>
              <a:t>进栈</a:t>
            </a:r>
            <a:r>
              <a:rPr lang="zh-CN" altLang="en-US" sz="4000">
                <a:ea typeface="楷体_GB2312" charset="0"/>
              </a:rPr>
              <a:t>；</a:t>
            </a:r>
            <a:endParaRPr lang="zh-CN" altLang="en-US" sz="4000">
              <a:ea typeface="楷体_GB2312" charset="0"/>
            </a:endParaRPr>
          </a:p>
        </p:txBody>
      </p:sp>
      <p:sp>
        <p:nvSpPr>
          <p:cNvPr id="1071107" name="Text Box 3"/>
          <p:cNvSpPr txBox="1">
            <a:spLocks noChangeArrowheads="1"/>
          </p:cNvSpPr>
          <p:nvPr/>
        </p:nvSpPr>
        <p:spPr bwMode="auto">
          <a:xfrm>
            <a:off x="-228600" y="2727325"/>
            <a:ext cx="9067800" cy="161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2" eaLnBrk="0" hangingPunct="0">
              <a:lnSpc>
                <a:spcPct val="125000"/>
              </a:lnSpc>
            </a:pPr>
            <a:r>
              <a:rPr lang="en-US" altLang="zh-CN" sz="4000"/>
              <a:t>5)  </a:t>
            </a:r>
            <a:r>
              <a:rPr lang="zh-CN" altLang="en-US" sz="4000">
                <a:solidFill>
                  <a:srgbClr val="008000"/>
                </a:solidFill>
                <a:ea typeface="楷体_GB2312" charset="0"/>
              </a:rPr>
              <a:t>否则，退出栈顶运算符发送给后缀式</a:t>
            </a:r>
            <a:r>
              <a:rPr lang="zh-CN" altLang="en-US" sz="4000">
                <a:ea typeface="楷体_GB2312" charset="0"/>
              </a:rPr>
              <a:t>；</a:t>
            </a:r>
            <a:r>
              <a:rPr lang="zh-CN" altLang="en-US" sz="4000">
                <a:solidFill>
                  <a:srgbClr val="FF0000"/>
                </a:solidFill>
                <a:ea typeface="楷体_GB2312" charset="0"/>
              </a:rPr>
              <a:t>    </a:t>
            </a:r>
            <a:endParaRPr lang="zh-CN" altLang="en-US" sz="4000"/>
          </a:p>
        </p:txBody>
      </p:sp>
      <p:sp>
        <p:nvSpPr>
          <p:cNvPr id="1071108" name="Text Box 4"/>
          <p:cNvSpPr txBox="1">
            <a:spLocks noChangeArrowheads="1"/>
          </p:cNvSpPr>
          <p:nvPr/>
        </p:nvSpPr>
        <p:spPr bwMode="auto">
          <a:xfrm>
            <a:off x="642938" y="4251325"/>
            <a:ext cx="8196262" cy="2378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5000"/>
              </a:lnSpc>
            </a:pPr>
            <a:r>
              <a:rPr lang="en-US" altLang="zh-CN" sz="4000">
                <a:ea typeface="楷体_GB2312" charset="0"/>
              </a:rPr>
              <a:t>6</a:t>
            </a:r>
            <a:r>
              <a:rPr lang="en-US" altLang="zh-CN" sz="4000"/>
              <a:t>)  </a:t>
            </a:r>
            <a:r>
              <a:rPr lang="en-US" altLang="zh-CN" sz="4000">
                <a:solidFill>
                  <a:srgbClr val="FF0000"/>
                </a:solidFill>
                <a:ea typeface="楷体_GB2312" charset="0"/>
              </a:rPr>
              <a:t> “(” </a:t>
            </a:r>
            <a:r>
              <a:rPr lang="zh-CN" altLang="en-US" sz="4000">
                <a:ea typeface="楷体_GB2312" charset="0"/>
              </a:rPr>
              <a:t>对它之前后的运算符</a:t>
            </a:r>
            <a:r>
              <a:rPr lang="zh-CN" altLang="en-US" sz="4000">
                <a:solidFill>
                  <a:srgbClr val="0000FF"/>
                </a:solidFill>
                <a:ea typeface="楷体_GB2312" charset="0"/>
              </a:rPr>
              <a:t>起隔离作用</a:t>
            </a:r>
            <a:r>
              <a:rPr lang="zh-CN" altLang="en-US" sz="4000">
                <a:ea typeface="楷体_GB2312" charset="0"/>
              </a:rPr>
              <a:t>，</a:t>
            </a:r>
            <a:r>
              <a:rPr lang="zh-CN" altLang="en-US" sz="4000">
                <a:solidFill>
                  <a:srgbClr val="800000"/>
                </a:solidFill>
                <a:ea typeface="楷体_GB2312" charset="0"/>
              </a:rPr>
              <a:t>“</a:t>
            </a:r>
            <a:r>
              <a:rPr lang="en-US" altLang="zh-CN" sz="4000">
                <a:solidFill>
                  <a:srgbClr val="800000"/>
                </a:solidFill>
                <a:ea typeface="楷体_GB2312" charset="0"/>
              </a:rPr>
              <a:t>)”</a:t>
            </a:r>
            <a:r>
              <a:rPr lang="zh-CN" altLang="en-US" sz="4000">
                <a:solidFill>
                  <a:srgbClr val="800000"/>
                </a:solidFill>
                <a:ea typeface="楷体_GB2312" charset="0"/>
              </a:rPr>
              <a:t>可视为自相应左括弧开始的表达式的结束符。</a:t>
            </a:r>
            <a:endParaRPr lang="zh-CN" altLang="en-US" sz="4000">
              <a:solidFill>
                <a:srgbClr val="800000"/>
              </a:solidFill>
              <a:ea typeface="楷体_GB2312" charset="0"/>
            </a:endParaRPr>
          </a:p>
        </p:txBody>
      </p:sp>
      <p:sp>
        <p:nvSpPr>
          <p:cNvPr id="1071109" name="Text Box 5"/>
          <p:cNvSpPr txBox="1">
            <a:spLocks noChangeArrowheads="1"/>
          </p:cNvSpPr>
          <p:nvPr/>
        </p:nvSpPr>
        <p:spPr bwMode="auto">
          <a:xfrm>
            <a:off x="1371600" y="152400"/>
            <a:ext cx="731837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b="1">
                <a:ea typeface="楷体_GB2312" charset="0"/>
              </a:rPr>
              <a:t>从原表达式求得后缀式的规律为</a:t>
            </a:r>
            <a:endParaRPr lang="zh-CN" altLang="en-US" sz="400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iterate type="lt">
                                    <p:tmPct val="100000"/>
                                  </p:iterate>
                                  <p:childTnLst>
                                    <p:set>
                                      <p:cBhvr>
                                        <p:cTn id="6" dur="1" fill="hold">
                                          <p:stCondLst>
                                            <p:cond delay="0"/>
                                          </p:stCondLst>
                                        </p:cTn>
                                        <p:tgtEl>
                                          <p:spTgt spid="1071106"/>
                                        </p:tgtEl>
                                        <p:attrNameLst>
                                          <p:attrName>style.visibility</p:attrName>
                                        </p:attrNameLst>
                                      </p:cBhvr>
                                      <p:to>
                                        <p:strVal val="visible"/>
                                      </p:to>
                                    </p:set>
                                    <p:animEffect transition="in" filter="slide(fromLeft)">
                                      <p:cBhvr>
                                        <p:cTn id="7" dur="75"/>
                                        <p:tgtEl>
                                          <p:spTgt spid="107110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iterate type="lt">
                                    <p:tmPct val="100000"/>
                                  </p:iterate>
                                  <p:childTnLst>
                                    <p:set>
                                      <p:cBhvr>
                                        <p:cTn id="11" dur="1" fill="hold">
                                          <p:stCondLst>
                                            <p:cond delay="0"/>
                                          </p:stCondLst>
                                        </p:cTn>
                                        <p:tgtEl>
                                          <p:spTgt spid="1071107"/>
                                        </p:tgtEl>
                                        <p:attrNameLst>
                                          <p:attrName>style.visibility</p:attrName>
                                        </p:attrNameLst>
                                      </p:cBhvr>
                                      <p:to>
                                        <p:strVal val="visible"/>
                                      </p:to>
                                    </p:set>
                                    <p:animEffect transition="in" filter="slide(fromLeft)">
                                      <p:cBhvr>
                                        <p:cTn id="12" dur="75"/>
                                        <p:tgtEl>
                                          <p:spTgt spid="107110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iterate type="lt">
                                    <p:tmPct val="100000"/>
                                  </p:iterate>
                                  <p:childTnLst>
                                    <p:set>
                                      <p:cBhvr>
                                        <p:cTn id="16" dur="1" fill="hold">
                                          <p:stCondLst>
                                            <p:cond delay="0"/>
                                          </p:stCondLst>
                                        </p:cTn>
                                        <p:tgtEl>
                                          <p:spTgt spid="1071108"/>
                                        </p:tgtEl>
                                        <p:attrNameLst>
                                          <p:attrName>style.visibility</p:attrName>
                                        </p:attrNameLst>
                                      </p:cBhvr>
                                      <p:to>
                                        <p:strVal val="visible"/>
                                      </p:to>
                                    </p:set>
                                    <p:animEffect transition="in" filter="slide(fromLeft)">
                                      <p:cBhvr>
                                        <p:cTn id="17" dur="75"/>
                                        <p:tgtEl>
                                          <p:spTgt spid="1071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1106" grpId="0" autoUpdateAnimBg="0"/>
      <p:bldP spid="1071107" grpId="0" autoUpdateAnimBg="0"/>
      <p:bldP spid="1071108"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30" name="Rectangle 2"/>
          <p:cNvSpPr>
            <a:spLocks noChangeArrowheads="1"/>
          </p:cNvSpPr>
          <p:nvPr/>
        </p:nvSpPr>
        <p:spPr bwMode="auto">
          <a:xfrm>
            <a:off x="1600200" y="228600"/>
            <a:ext cx="4260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zh-CN" altLang="en-US" sz="4000" b="1">
                <a:ea typeface="楷体_GB2312" charset="0"/>
              </a:rPr>
              <a:t>算符间的优先关系</a:t>
            </a:r>
            <a:endParaRPr lang="zh-CN" altLang="en-US" sz="4000" b="1">
              <a:ea typeface="楷体_GB2312" charset="0"/>
            </a:endParaRPr>
          </a:p>
        </p:txBody>
      </p:sp>
      <p:graphicFrame>
        <p:nvGraphicFramePr>
          <p:cNvPr id="1123331" name="Group 3"/>
          <p:cNvGraphicFramePr>
            <a:graphicFrameLocks noGrp="1"/>
          </p:cNvGraphicFramePr>
          <p:nvPr/>
        </p:nvGraphicFramePr>
        <p:xfrm>
          <a:off x="762000" y="1574800"/>
          <a:ext cx="4114800" cy="4632960"/>
        </p:xfrm>
        <a:graphic>
          <a:graphicData uri="http://schemas.openxmlformats.org/drawingml/2006/table">
            <a:tbl>
              <a:tblPr/>
              <a:tblGrid>
                <a:gridCol w="514350"/>
                <a:gridCol w="514350"/>
                <a:gridCol w="514350"/>
                <a:gridCol w="514350"/>
                <a:gridCol w="514350"/>
                <a:gridCol w="514350"/>
                <a:gridCol w="514350"/>
                <a:gridCol w="514350"/>
              </a:tblGrid>
              <a:tr h="4318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23414" name="Text Box 86"/>
          <p:cNvSpPr txBox="1">
            <a:spLocks noChangeArrowheads="1"/>
          </p:cNvSpPr>
          <p:nvPr/>
        </p:nvSpPr>
        <p:spPr bwMode="auto">
          <a:xfrm>
            <a:off x="5029200" y="1295400"/>
            <a:ext cx="4038600"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2800" b="1">
                <a:solidFill>
                  <a:srgbClr val="FF6600"/>
                </a:solidFill>
                <a:effectLst>
                  <a:outerShdw blurRad="38100" dist="38100" dir="2700000" algn="tl">
                    <a:srgbClr val="C0C0C0"/>
                  </a:outerShdw>
                </a:effectLst>
              </a:rPr>
              <a:t>说明</a:t>
            </a:r>
            <a:r>
              <a:rPr lang="zh-CN" altLang="en-US" sz="2400" b="1">
                <a:solidFill>
                  <a:srgbClr val="FF6600"/>
                </a:solidFill>
              </a:rPr>
              <a:t>：</a:t>
            </a:r>
            <a:endParaRPr lang="zh-CN" altLang="en-US" sz="2400" b="1">
              <a:solidFill>
                <a:srgbClr val="FF6600"/>
              </a:solidFill>
            </a:endParaRPr>
          </a:p>
          <a:p>
            <a:pPr>
              <a:spcBef>
                <a:spcPct val="50000"/>
              </a:spcBef>
              <a:buFontTx/>
              <a:buChar char="•"/>
            </a:pPr>
            <a:r>
              <a:rPr lang="zh-CN" altLang="en-US" sz="2400" b="1"/>
              <a:t> 左括号‘ </a:t>
            </a:r>
            <a:r>
              <a:rPr lang="en-US" altLang="zh-CN" sz="2400" b="1"/>
              <a:t>( ’ </a:t>
            </a:r>
            <a:r>
              <a:rPr lang="zh-CN" altLang="en-US" sz="2400" b="1"/>
              <a:t>的优先级最高</a:t>
            </a:r>
            <a:endParaRPr lang="zh-CN" altLang="en-US" sz="2400" b="1"/>
          </a:p>
          <a:p>
            <a:pPr>
              <a:spcBef>
                <a:spcPct val="50000"/>
              </a:spcBef>
              <a:buFontTx/>
              <a:buChar char="•"/>
            </a:pPr>
            <a:r>
              <a:rPr lang="zh-CN" altLang="en-US" sz="2400" b="1"/>
              <a:t> 当</a:t>
            </a:r>
            <a:r>
              <a:rPr lang="en-US" altLang="zh-CN" sz="2400" b="1"/>
              <a:t>θ1 = θ2 </a:t>
            </a:r>
            <a:r>
              <a:rPr lang="zh-CN" altLang="en-US" sz="2400" b="1"/>
              <a:t>时，令</a:t>
            </a:r>
            <a:endParaRPr lang="zh-CN" altLang="en-US" sz="2400" b="1"/>
          </a:p>
          <a:p>
            <a:pPr>
              <a:spcBef>
                <a:spcPct val="50000"/>
              </a:spcBef>
            </a:pPr>
            <a:r>
              <a:rPr lang="zh-CN" altLang="en-US" sz="2400" b="1"/>
              <a:t>   </a:t>
            </a:r>
            <a:r>
              <a:rPr lang="en-US" altLang="zh-CN" sz="2400" b="1"/>
              <a:t>θ1  &gt;θ2</a:t>
            </a:r>
            <a:r>
              <a:rPr lang="zh-CN" altLang="en-US" sz="2400" b="1"/>
              <a:t>。（左结合性）</a:t>
            </a:r>
            <a:endParaRPr lang="zh-CN" altLang="en-US" sz="2400" b="1"/>
          </a:p>
          <a:p>
            <a:pPr>
              <a:spcBef>
                <a:spcPct val="50000"/>
              </a:spcBef>
              <a:buFontTx/>
              <a:buChar char="•"/>
            </a:pPr>
            <a:r>
              <a:rPr lang="zh-CN" altLang="en-US" sz="2400" b="1"/>
              <a:t> 为了算法处理的方便，在表达式的最左和最右边各添加一个‘ </a:t>
            </a:r>
            <a:r>
              <a:rPr lang="en-US" altLang="zh-CN" sz="2400" b="1">
                <a:solidFill>
                  <a:srgbClr val="FF6600"/>
                </a:solidFill>
              </a:rPr>
              <a:t># </a:t>
            </a:r>
            <a:r>
              <a:rPr lang="en-US" altLang="zh-CN" sz="2400" b="1"/>
              <a:t>’</a:t>
            </a:r>
            <a:r>
              <a:rPr lang="zh-CN" altLang="en-US" sz="2400" b="1"/>
              <a:t>。</a:t>
            </a:r>
            <a:endParaRPr lang="zh-CN" altLang="en-US" sz="2400" b="1"/>
          </a:p>
          <a:p>
            <a:pPr>
              <a:spcBef>
                <a:spcPct val="50000"/>
              </a:spcBef>
              <a:buFontTx/>
              <a:buChar char="•"/>
            </a:pPr>
            <a:r>
              <a:rPr lang="zh-CN" altLang="en-US" sz="2400" b="1"/>
              <a:t>优先关系相等的情况只有‘ </a:t>
            </a:r>
            <a:r>
              <a:rPr lang="en-US" altLang="zh-CN" sz="2400" b="1"/>
              <a:t>( ’ = ‘ ) ’</a:t>
            </a:r>
            <a:r>
              <a:rPr lang="zh-CN" altLang="en-US" sz="2400" b="1"/>
              <a:t>和‘ </a:t>
            </a:r>
            <a:r>
              <a:rPr lang="en-US" altLang="zh-CN" sz="2400" b="1"/>
              <a:t># ’ = ‘ # ’</a:t>
            </a:r>
            <a:endParaRPr lang="en-US" altLang="zh-CN" sz="2400" b="1"/>
          </a:p>
        </p:txBody>
      </p:sp>
      <p:sp>
        <p:nvSpPr>
          <p:cNvPr id="1123415" name="Rectangle 87"/>
          <p:cNvSpPr>
            <a:spLocks noChangeArrowheads="1"/>
          </p:cNvSpPr>
          <p:nvPr/>
        </p:nvSpPr>
        <p:spPr bwMode="auto">
          <a:xfrm>
            <a:off x="-76200" y="2620963"/>
            <a:ext cx="793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FF6600"/>
                </a:solidFill>
              </a:rPr>
              <a:t>θ1</a:t>
            </a:r>
            <a:endParaRPr lang="en-US" altLang="zh-CN" sz="3200" b="1">
              <a:solidFill>
                <a:srgbClr val="FF6600"/>
              </a:solidFill>
            </a:endParaRPr>
          </a:p>
        </p:txBody>
      </p:sp>
      <p:sp>
        <p:nvSpPr>
          <p:cNvPr id="1123416" name="Rectangle 88"/>
          <p:cNvSpPr>
            <a:spLocks noChangeArrowheads="1"/>
          </p:cNvSpPr>
          <p:nvPr/>
        </p:nvSpPr>
        <p:spPr bwMode="auto">
          <a:xfrm>
            <a:off x="2057400" y="1020763"/>
            <a:ext cx="793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3200" b="1">
                <a:solidFill>
                  <a:srgbClr val="FF6600"/>
                </a:solidFill>
              </a:rPr>
              <a:t>θ2</a:t>
            </a:r>
            <a:endParaRPr lang="en-US" altLang="zh-CN" sz="3200" b="1">
              <a:solidFill>
                <a:srgbClr val="FF66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23414">
                                            <p:txEl>
                                              <p:pRg st="0" end="0"/>
                                            </p:txEl>
                                          </p:spTgt>
                                        </p:tgtEl>
                                        <p:attrNameLst>
                                          <p:attrName>style.visibility</p:attrName>
                                        </p:attrNameLst>
                                      </p:cBhvr>
                                      <p:to>
                                        <p:strVal val="visible"/>
                                      </p:to>
                                    </p:set>
                                    <p:animEffect transition="in" filter="box(in)">
                                      <p:cBhvr>
                                        <p:cTn id="7" dur="500"/>
                                        <p:tgtEl>
                                          <p:spTgt spid="11234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23414">
                                            <p:txEl>
                                              <p:pRg st="1" end="1"/>
                                            </p:txEl>
                                          </p:spTgt>
                                        </p:tgtEl>
                                        <p:attrNameLst>
                                          <p:attrName>style.visibility</p:attrName>
                                        </p:attrNameLst>
                                      </p:cBhvr>
                                      <p:to>
                                        <p:strVal val="visible"/>
                                      </p:to>
                                    </p:set>
                                    <p:animEffect transition="in" filter="box(in)">
                                      <p:cBhvr>
                                        <p:cTn id="12" dur="500"/>
                                        <p:tgtEl>
                                          <p:spTgt spid="11234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23414">
                                            <p:txEl>
                                              <p:pRg st="2" end="2"/>
                                            </p:txEl>
                                          </p:spTgt>
                                        </p:tgtEl>
                                        <p:attrNameLst>
                                          <p:attrName>style.visibility</p:attrName>
                                        </p:attrNameLst>
                                      </p:cBhvr>
                                      <p:to>
                                        <p:strVal val="visible"/>
                                      </p:to>
                                    </p:set>
                                    <p:animEffect transition="in" filter="box(in)">
                                      <p:cBhvr>
                                        <p:cTn id="17" dur="500"/>
                                        <p:tgtEl>
                                          <p:spTgt spid="11234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23414">
                                            <p:txEl>
                                              <p:pRg st="3" end="3"/>
                                            </p:txEl>
                                          </p:spTgt>
                                        </p:tgtEl>
                                        <p:attrNameLst>
                                          <p:attrName>style.visibility</p:attrName>
                                        </p:attrNameLst>
                                      </p:cBhvr>
                                      <p:to>
                                        <p:strVal val="visible"/>
                                      </p:to>
                                    </p:set>
                                    <p:animEffect transition="in" filter="box(in)">
                                      <p:cBhvr>
                                        <p:cTn id="22" dur="500"/>
                                        <p:tgtEl>
                                          <p:spTgt spid="11234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123414">
                                            <p:txEl>
                                              <p:pRg st="4" end="4"/>
                                            </p:txEl>
                                          </p:spTgt>
                                        </p:tgtEl>
                                        <p:attrNameLst>
                                          <p:attrName>style.visibility</p:attrName>
                                        </p:attrNameLst>
                                      </p:cBhvr>
                                      <p:to>
                                        <p:strVal val="visible"/>
                                      </p:to>
                                    </p:set>
                                    <p:animEffect transition="in" filter="box(in)">
                                      <p:cBhvr>
                                        <p:cTn id="27" dur="500"/>
                                        <p:tgtEl>
                                          <p:spTgt spid="11234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123414">
                                            <p:txEl>
                                              <p:pRg st="5" end="5"/>
                                            </p:txEl>
                                          </p:spTgt>
                                        </p:tgtEl>
                                        <p:attrNameLst>
                                          <p:attrName>style.visibility</p:attrName>
                                        </p:attrNameLst>
                                      </p:cBhvr>
                                      <p:to>
                                        <p:strVal val="visible"/>
                                      </p:to>
                                    </p:set>
                                    <p:animEffect transition="in" filter="box(in)">
                                      <p:cBhvr>
                                        <p:cTn id="32" dur="500"/>
                                        <p:tgtEl>
                                          <p:spTgt spid="11234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3414" grpId="0" autoUpdateAnimBg="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0" name="Text Box 2"/>
          <p:cNvSpPr txBox="1">
            <a:spLocks noChangeArrowheads="1"/>
          </p:cNvSpPr>
          <p:nvPr/>
        </p:nvSpPr>
        <p:spPr bwMode="auto">
          <a:xfrm>
            <a:off x="0" y="76200"/>
            <a:ext cx="9144000" cy="668020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en-US" altLang="zh-CN" sz="3600" b="1">
                <a:solidFill>
                  <a:srgbClr val="000066"/>
                </a:solidFill>
                <a:ea typeface="楷体_GB2312" charset="0"/>
              </a:rPr>
              <a:t>void</a:t>
            </a:r>
            <a:r>
              <a:rPr lang="en-US" altLang="zh-CN" sz="3600">
                <a:solidFill>
                  <a:srgbClr val="000066"/>
                </a:solidFill>
                <a:ea typeface="楷体_GB2312" charset="0"/>
              </a:rPr>
              <a:t> transform(</a:t>
            </a:r>
            <a:r>
              <a:rPr lang="en-US" altLang="zh-CN" sz="3600" b="1">
                <a:solidFill>
                  <a:srgbClr val="000066"/>
                </a:solidFill>
                <a:ea typeface="楷体_GB2312" charset="0"/>
              </a:rPr>
              <a:t>char</a:t>
            </a:r>
            <a:r>
              <a:rPr lang="en-US" altLang="zh-CN" sz="3600">
                <a:solidFill>
                  <a:srgbClr val="000066"/>
                </a:solidFill>
                <a:ea typeface="楷体_GB2312" charset="0"/>
              </a:rPr>
              <a:t> suffix[ ], </a:t>
            </a:r>
            <a:r>
              <a:rPr lang="en-US" altLang="zh-CN" sz="3600" b="1">
                <a:solidFill>
                  <a:srgbClr val="000066"/>
                </a:solidFill>
                <a:ea typeface="楷体_GB2312" charset="0"/>
              </a:rPr>
              <a:t>char</a:t>
            </a:r>
            <a:r>
              <a:rPr lang="en-US" altLang="zh-CN" sz="3600">
                <a:solidFill>
                  <a:srgbClr val="000066"/>
                </a:solidFill>
                <a:ea typeface="楷体_GB2312" charset="0"/>
              </a:rPr>
              <a:t> exp[ ] ) </a:t>
            </a:r>
            <a:r>
              <a:rPr lang="en-US" altLang="zh-CN" sz="3600" b="1">
                <a:solidFill>
                  <a:srgbClr val="000066"/>
                </a:solidFill>
                <a:ea typeface="楷体_GB2312" charset="0"/>
              </a:rPr>
              <a:t>{</a:t>
            </a:r>
            <a:endParaRPr lang="en-US" altLang="zh-CN" sz="3600">
              <a:solidFill>
                <a:srgbClr val="000066"/>
              </a:solidFill>
              <a:ea typeface="楷体_GB2312" charset="0"/>
            </a:endParaRPr>
          </a:p>
          <a:p>
            <a:pPr eaLnBrk="0" hangingPunct="0">
              <a:lnSpc>
                <a:spcPct val="120000"/>
              </a:lnSpc>
            </a:pPr>
            <a:r>
              <a:rPr lang="en-US" altLang="zh-CN" sz="3600">
                <a:solidFill>
                  <a:srgbClr val="000066"/>
                </a:solidFill>
                <a:ea typeface="楷体_GB2312" charset="0"/>
              </a:rPr>
              <a:t>  InitStack(S);  Push(S, </a:t>
            </a:r>
            <a:r>
              <a:rPr lang="en-US" altLang="zh-CN" sz="3600">
                <a:solidFill>
                  <a:srgbClr val="000066"/>
                </a:solidFill>
                <a:ea typeface="楷体_GB2312" charset="0"/>
                <a:sym typeface="Symbol" panose="05050102010706020507" charset="2"/>
              </a:rPr>
              <a:t></a:t>
            </a:r>
            <a:r>
              <a:rPr lang="en-US" altLang="zh-CN" sz="3600">
                <a:solidFill>
                  <a:srgbClr val="000066"/>
                </a:solidFill>
                <a:ea typeface="楷体_GB2312" charset="0"/>
              </a:rPr>
              <a:t>#</a:t>
            </a:r>
            <a:r>
              <a:rPr lang="en-US" altLang="zh-CN" sz="3600">
                <a:solidFill>
                  <a:srgbClr val="000066"/>
                </a:solidFill>
                <a:ea typeface="楷体_GB2312" charset="0"/>
                <a:sym typeface="Symbol" panose="05050102010706020507" charset="2"/>
              </a:rPr>
              <a:t></a:t>
            </a:r>
            <a:r>
              <a:rPr lang="en-US" altLang="zh-CN" sz="3600">
                <a:solidFill>
                  <a:srgbClr val="000066"/>
                </a:solidFill>
                <a:ea typeface="楷体_GB2312" charset="0"/>
              </a:rPr>
              <a:t>);</a:t>
            </a:r>
            <a:endParaRPr lang="en-US" altLang="zh-CN" sz="3600">
              <a:solidFill>
                <a:srgbClr val="000066"/>
              </a:solidFill>
              <a:ea typeface="楷体_GB2312" charset="0"/>
            </a:endParaRPr>
          </a:p>
          <a:p>
            <a:pPr eaLnBrk="0" hangingPunct="0">
              <a:lnSpc>
                <a:spcPct val="120000"/>
              </a:lnSpc>
            </a:pPr>
            <a:r>
              <a:rPr lang="en-US" altLang="zh-CN" sz="3600">
                <a:solidFill>
                  <a:srgbClr val="000066"/>
                </a:solidFill>
                <a:ea typeface="楷体_GB2312" charset="0"/>
              </a:rPr>
              <a:t>  p = exp;  ch = *p;</a:t>
            </a:r>
            <a:endParaRPr lang="en-US" altLang="zh-CN" sz="3600">
              <a:solidFill>
                <a:srgbClr val="000066"/>
              </a:solidFill>
              <a:ea typeface="楷体_GB2312" charset="0"/>
            </a:endParaRPr>
          </a:p>
          <a:p>
            <a:pPr eaLnBrk="0" hangingPunct="0">
              <a:lnSpc>
                <a:spcPct val="120000"/>
              </a:lnSpc>
            </a:pPr>
            <a:r>
              <a:rPr lang="en-US" altLang="zh-CN" sz="3600">
                <a:solidFill>
                  <a:srgbClr val="000066"/>
                </a:solidFill>
                <a:ea typeface="楷体_GB2312" charset="0"/>
              </a:rPr>
              <a:t>  </a:t>
            </a:r>
            <a:r>
              <a:rPr lang="en-US" altLang="zh-CN" sz="3600" b="1">
                <a:solidFill>
                  <a:srgbClr val="000066"/>
                </a:solidFill>
                <a:ea typeface="楷体_GB2312" charset="0"/>
              </a:rPr>
              <a:t>while</a:t>
            </a:r>
            <a:r>
              <a:rPr lang="en-US" altLang="zh-CN" sz="3600">
                <a:solidFill>
                  <a:srgbClr val="000066"/>
                </a:solidFill>
                <a:ea typeface="楷体_GB2312" charset="0"/>
              </a:rPr>
              <a:t> (</a:t>
            </a:r>
            <a:r>
              <a:rPr lang="en-US" altLang="zh-CN" sz="3600" b="1">
                <a:solidFill>
                  <a:srgbClr val="000066"/>
                </a:solidFill>
                <a:ea typeface="楷体_GB2312" charset="0"/>
              </a:rPr>
              <a:t>!</a:t>
            </a:r>
            <a:r>
              <a:rPr lang="en-US" altLang="zh-CN" sz="3600">
                <a:solidFill>
                  <a:srgbClr val="000066"/>
                </a:solidFill>
                <a:ea typeface="楷体_GB2312" charset="0"/>
              </a:rPr>
              <a:t>StackEmpty(S)) </a:t>
            </a:r>
            <a:r>
              <a:rPr lang="en-US" altLang="zh-CN" sz="3600" b="1">
                <a:solidFill>
                  <a:srgbClr val="000066"/>
                </a:solidFill>
                <a:ea typeface="楷体_GB2312" charset="0"/>
              </a:rPr>
              <a:t>{</a:t>
            </a:r>
            <a:endParaRPr lang="en-US" altLang="zh-CN" sz="3600">
              <a:solidFill>
                <a:srgbClr val="000066"/>
              </a:solidFill>
              <a:ea typeface="楷体_GB2312" charset="0"/>
            </a:endParaRPr>
          </a:p>
          <a:p>
            <a:pPr eaLnBrk="0" hangingPunct="0">
              <a:lnSpc>
                <a:spcPct val="120000"/>
              </a:lnSpc>
            </a:pPr>
            <a:r>
              <a:rPr lang="en-US" altLang="zh-CN" sz="3600" b="1">
                <a:solidFill>
                  <a:srgbClr val="000066"/>
                </a:solidFill>
                <a:ea typeface="楷体_GB2312" charset="0"/>
              </a:rPr>
              <a:t>      if</a:t>
            </a:r>
            <a:r>
              <a:rPr lang="en-US" altLang="zh-CN" sz="3600">
                <a:solidFill>
                  <a:srgbClr val="000066"/>
                </a:solidFill>
                <a:ea typeface="楷体_GB2312" charset="0"/>
              </a:rPr>
              <a:t> (</a:t>
            </a:r>
            <a:r>
              <a:rPr lang="en-US" altLang="zh-CN" sz="3600" b="1">
                <a:solidFill>
                  <a:srgbClr val="000066"/>
                </a:solidFill>
                <a:ea typeface="楷体_GB2312" charset="0"/>
              </a:rPr>
              <a:t>!</a:t>
            </a:r>
            <a:r>
              <a:rPr lang="en-US" altLang="zh-CN" sz="3600">
                <a:solidFill>
                  <a:srgbClr val="000066"/>
                </a:solidFill>
                <a:ea typeface="楷体_GB2312" charset="0"/>
              </a:rPr>
              <a:t>IN(ch, OP)) Pass( Suffix, ch); </a:t>
            </a:r>
            <a:endParaRPr lang="en-US" altLang="zh-CN" sz="3600">
              <a:solidFill>
                <a:srgbClr val="000066"/>
              </a:solidFill>
              <a:ea typeface="楷体_GB2312" charset="0"/>
            </a:endParaRPr>
          </a:p>
          <a:p>
            <a:pPr eaLnBrk="0" hangingPunct="0">
              <a:lnSpc>
                <a:spcPct val="120000"/>
              </a:lnSpc>
            </a:pPr>
            <a:r>
              <a:rPr lang="en-US" altLang="zh-CN" sz="3600" b="1">
                <a:solidFill>
                  <a:srgbClr val="000066"/>
                </a:solidFill>
                <a:ea typeface="楷体_GB2312" charset="0"/>
              </a:rPr>
              <a:t>      else {            }</a:t>
            </a:r>
            <a:endParaRPr lang="en-US" altLang="zh-CN" sz="3600">
              <a:solidFill>
                <a:srgbClr val="000066"/>
              </a:solidFill>
              <a:ea typeface="楷体_GB2312" charset="0"/>
            </a:endParaRPr>
          </a:p>
          <a:p>
            <a:pPr eaLnBrk="0" hangingPunct="0">
              <a:lnSpc>
                <a:spcPct val="120000"/>
              </a:lnSpc>
            </a:pPr>
            <a:r>
              <a:rPr lang="en-US" altLang="zh-CN" sz="3600" b="1">
                <a:solidFill>
                  <a:srgbClr val="000066"/>
                </a:solidFill>
                <a:ea typeface="楷体_GB2312" charset="0"/>
              </a:rPr>
              <a:t>   </a:t>
            </a:r>
            <a:r>
              <a:rPr lang="en-US" altLang="zh-CN" sz="3600">
                <a:solidFill>
                  <a:srgbClr val="000066"/>
                </a:solidFill>
                <a:ea typeface="楷体_GB2312" charset="0"/>
              </a:rPr>
              <a:t>   </a:t>
            </a:r>
            <a:r>
              <a:rPr lang="en-US" altLang="zh-CN" sz="3600" b="1">
                <a:solidFill>
                  <a:srgbClr val="000066"/>
                </a:solidFill>
                <a:ea typeface="楷体_GB2312" charset="0"/>
              </a:rPr>
              <a:t>if</a:t>
            </a:r>
            <a:r>
              <a:rPr lang="en-US" altLang="zh-CN" sz="3600">
                <a:solidFill>
                  <a:srgbClr val="000066"/>
                </a:solidFill>
                <a:ea typeface="楷体_GB2312" charset="0"/>
              </a:rPr>
              <a:t> ( ch!= </a:t>
            </a:r>
            <a:r>
              <a:rPr lang="en-US" altLang="zh-CN" sz="3600">
                <a:solidFill>
                  <a:srgbClr val="000066"/>
                </a:solidFill>
                <a:ea typeface="楷体_GB2312" charset="0"/>
                <a:sym typeface="Symbol" panose="05050102010706020507" charset="2"/>
              </a:rPr>
              <a:t></a:t>
            </a:r>
            <a:r>
              <a:rPr lang="en-US" altLang="zh-CN" sz="3600">
                <a:solidFill>
                  <a:srgbClr val="000066"/>
                </a:solidFill>
                <a:ea typeface="楷体_GB2312" charset="0"/>
              </a:rPr>
              <a:t>#</a:t>
            </a:r>
            <a:r>
              <a:rPr lang="en-US" altLang="zh-CN" sz="3600">
                <a:solidFill>
                  <a:srgbClr val="000066"/>
                </a:solidFill>
                <a:ea typeface="楷体_GB2312" charset="0"/>
                <a:sym typeface="Symbol" panose="05050102010706020507" charset="2"/>
              </a:rPr>
              <a:t></a:t>
            </a:r>
            <a:r>
              <a:rPr lang="en-US" altLang="zh-CN" sz="3600">
                <a:solidFill>
                  <a:srgbClr val="000066"/>
                </a:solidFill>
                <a:ea typeface="楷体_GB2312" charset="0"/>
              </a:rPr>
              <a:t> ) </a:t>
            </a:r>
            <a:r>
              <a:rPr lang="en-US" altLang="zh-CN" sz="3600" b="1">
                <a:solidFill>
                  <a:srgbClr val="000066"/>
                </a:solidFill>
                <a:ea typeface="楷体_GB2312" charset="0"/>
              </a:rPr>
              <a:t>{</a:t>
            </a:r>
            <a:r>
              <a:rPr lang="en-US" altLang="zh-CN" sz="3600">
                <a:solidFill>
                  <a:srgbClr val="000066"/>
                </a:solidFill>
                <a:ea typeface="楷体_GB2312" charset="0"/>
              </a:rPr>
              <a:t> p++;  ch = *p; </a:t>
            </a:r>
            <a:r>
              <a:rPr lang="en-US" altLang="zh-CN" sz="3600" b="1">
                <a:solidFill>
                  <a:srgbClr val="000066"/>
                </a:solidFill>
                <a:ea typeface="楷体_GB2312" charset="0"/>
              </a:rPr>
              <a:t>}</a:t>
            </a:r>
            <a:endParaRPr lang="en-US" altLang="zh-CN" sz="3600" b="1">
              <a:solidFill>
                <a:srgbClr val="000066"/>
              </a:solidFill>
              <a:ea typeface="楷体_GB2312" charset="0"/>
            </a:endParaRPr>
          </a:p>
          <a:p>
            <a:pPr eaLnBrk="0" hangingPunct="0">
              <a:lnSpc>
                <a:spcPct val="120000"/>
              </a:lnSpc>
            </a:pPr>
            <a:r>
              <a:rPr lang="en-US" altLang="zh-CN" sz="3600" b="1">
                <a:solidFill>
                  <a:srgbClr val="000066"/>
                </a:solidFill>
                <a:ea typeface="楷体_GB2312" charset="0"/>
              </a:rPr>
              <a:t>      else </a:t>
            </a:r>
            <a:r>
              <a:rPr lang="en-US" altLang="zh-CN" sz="3600">
                <a:solidFill>
                  <a:srgbClr val="000066"/>
                </a:solidFill>
                <a:ea typeface="楷体_GB2312" charset="0"/>
              </a:rPr>
              <a:t>{ Pop(S, ch);  Pass(Suffix, ch); }</a:t>
            </a:r>
            <a:endParaRPr lang="en-US" altLang="zh-CN" sz="3600">
              <a:solidFill>
                <a:srgbClr val="000066"/>
              </a:solidFill>
              <a:ea typeface="楷体_GB2312" charset="0"/>
            </a:endParaRPr>
          </a:p>
          <a:p>
            <a:pPr eaLnBrk="0" hangingPunct="0">
              <a:lnSpc>
                <a:spcPct val="120000"/>
              </a:lnSpc>
            </a:pPr>
            <a:r>
              <a:rPr lang="en-US" altLang="zh-CN" sz="3600">
                <a:solidFill>
                  <a:srgbClr val="000066"/>
                </a:solidFill>
                <a:ea typeface="楷体_GB2312" charset="0"/>
              </a:rPr>
              <a:t>  </a:t>
            </a:r>
            <a:r>
              <a:rPr lang="en-US" altLang="zh-CN" sz="3600" b="1">
                <a:solidFill>
                  <a:srgbClr val="000066"/>
                </a:solidFill>
                <a:ea typeface="楷体_GB2312" charset="0"/>
              </a:rPr>
              <a:t>}</a:t>
            </a:r>
            <a:r>
              <a:rPr lang="en-US" altLang="zh-CN" sz="3600">
                <a:solidFill>
                  <a:srgbClr val="000066"/>
                </a:solidFill>
                <a:ea typeface="楷体_GB2312" charset="0"/>
              </a:rPr>
              <a:t> // while</a:t>
            </a:r>
            <a:endParaRPr lang="en-US" altLang="zh-CN" sz="3600">
              <a:solidFill>
                <a:srgbClr val="000066"/>
              </a:solidFill>
              <a:ea typeface="楷体_GB2312" charset="0"/>
            </a:endParaRPr>
          </a:p>
          <a:p>
            <a:pPr eaLnBrk="0" hangingPunct="0">
              <a:lnSpc>
                <a:spcPct val="120000"/>
              </a:lnSpc>
            </a:pPr>
            <a:r>
              <a:rPr lang="en-US" altLang="zh-CN" sz="3600" b="1">
                <a:solidFill>
                  <a:srgbClr val="000066"/>
                </a:solidFill>
                <a:ea typeface="楷体_GB2312" charset="0"/>
              </a:rPr>
              <a:t>}</a:t>
            </a:r>
            <a:r>
              <a:rPr lang="en-US" altLang="zh-CN" sz="3600">
                <a:solidFill>
                  <a:srgbClr val="000066"/>
                </a:solidFill>
                <a:ea typeface="楷体_GB2312" charset="0"/>
              </a:rPr>
              <a:t> // CrtExptree</a:t>
            </a:r>
            <a:endParaRPr lang="en-US" altLang="zh-CN" sz="3600">
              <a:solidFill>
                <a:srgbClr val="000066"/>
              </a:solidFill>
              <a:ea typeface="楷体_GB2312" charset="0"/>
            </a:endParaRPr>
          </a:p>
        </p:txBody>
      </p:sp>
      <p:sp>
        <p:nvSpPr>
          <p:cNvPr id="1072131" name="Text Box 3">
            <a:hlinkClick r:id="" action="ppaction://hlinkshowjump?jump=nextslide"/>
          </p:cNvPr>
          <p:cNvSpPr txBox="1">
            <a:spLocks noChangeArrowheads="1"/>
          </p:cNvSpPr>
          <p:nvPr/>
        </p:nvSpPr>
        <p:spPr bwMode="auto">
          <a:xfrm>
            <a:off x="2178050" y="3352800"/>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FF0000"/>
                </a:solidFill>
              </a:rPr>
              <a:t>… …</a:t>
            </a:r>
            <a:endParaRPr lang="en-US" altLang="zh-CN" sz="4000" b="1"/>
          </a:p>
        </p:txBody>
      </p:sp>
      <p:sp>
        <p:nvSpPr>
          <p:cNvPr id="1072132" name="AutoShape 4">
            <a:hlinkClick r:id="rId1"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072131"/>
                                        </p:tgtEl>
                                        <p:attrNameLst>
                                          <p:attrName>style.visibility</p:attrName>
                                        </p:attrNameLst>
                                      </p:cBhvr>
                                      <p:to>
                                        <p:strVal val="visible"/>
                                      </p:to>
                                    </p:set>
                                    <p:anim calcmode="lin" valueType="num">
                                      <p:cBhvr>
                                        <p:cTn id="7" dur="500" fill="hold"/>
                                        <p:tgtEl>
                                          <p:spTgt spid="1072131"/>
                                        </p:tgtEl>
                                        <p:attrNameLst>
                                          <p:attrName>ppt_w</p:attrName>
                                        </p:attrNameLst>
                                      </p:cBhvr>
                                      <p:tavLst>
                                        <p:tav tm="0">
                                          <p:val>
                                            <p:fltVal val="0"/>
                                          </p:val>
                                        </p:tav>
                                        <p:tav tm="100000">
                                          <p:val>
                                            <p:strVal val="#ppt_w"/>
                                          </p:val>
                                        </p:tav>
                                      </p:tavLst>
                                    </p:anim>
                                    <p:anim calcmode="lin" valueType="num">
                                      <p:cBhvr>
                                        <p:cTn id="8" dur="500" fill="hold"/>
                                        <p:tgtEl>
                                          <p:spTgt spid="1072131"/>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1072132"/>
                                        </p:tgtEl>
                                        <p:attrNameLst>
                                          <p:attrName>style.visibility</p:attrName>
                                        </p:attrNameLst>
                                      </p:cBhvr>
                                      <p:to>
                                        <p:strVal val="visible"/>
                                      </p:to>
                                    </p:set>
                                    <p:anim calcmode="lin" valueType="num">
                                      <p:cBhvr additive="base">
                                        <p:cTn id="12" dur="500" fill="hold"/>
                                        <p:tgtEl>
                                          <p:spTgt spid="1072132"/>
                                        </p:tgtEl>
                                        <p:attrNameLst>
                                          <p:attrName>ppt_x</p:attrName>
                                        </p:attrNameLst>
                                      </p:cBhvr>
                                      <p:tavLst>
                                        <p:tav tm="0">
                                          <p:val>
                                            <p:strVal val="1+#ppt_w/2"/>
                                          </p:val>
                                        </p:tav>
                                        <p:tav tm="100000">
                                          <p:val>
                                            <p:strVal val="#ppt_x"/>
                                          </p:val>
                                        </p:tav>
                                      </p:tavLst>
                                    </p:anim>
                                    <p:anim calcmode="lin" valueType="num">
                                      <p:cBhvr additive="base">
                                        <p:cTn id="13" dur="500" fill="hold"/>
                                        <p:tgtEl>
                                          <p:spTgt spid="10721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2131" grpId="0" autoUpdateAnimBg="0"/>
      <p:bldP spid="107213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4" name="Text Box 2"/>
          <p:cNvSpPr txBox="1">
            <a:spLocks noChangeArrowheads="1"/>
          </p:cNvSpPr>
          <p:nvPr/>
        </p:nvSpPr>
        <p:spPr bwMode="auto">
          <a:xfrm>
            <a:off x="228600" y="152400"/>
            <a:ext cx="8915400" cy="6683375"/>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600" b="1">
                <a:ea typeface="楷体_GB2312" charset="0"/>
              </a:rPr>
              <a:t>switch</a:t>
            </a:r>
            <a:r>
              <a:rPr lang="en-US" altLang="zh-CN" sz="3600">
                <a:ea typeface="楷体_GB2312" charset="0"/>
              </a:rPr>
              <a:t> (ch)</a:t>
            </a:r>
            <a:r>
              <a:rPr lang="en-US" altLang="zh-CN" sz="3600" b="1">
                <a:ea typeface="楷体_GB2312" charset="0"/>
              </a:rPr>
              <a:t> {</a:t>
            </a:r>
            <a:endParaRPr lang="en-US" altLang="zh-CN" sz="3600" b="1">
              <a:ea typeface="楷体_GB2312" charset="0"/>
            </a:endParaRPr>
          </a:p>
          <a:p>
            <a:pPr eaLnBrk="0" hangingPunct="0"/>
            <a:r>
              <a:rPr lang="en-US" altLang="zh-CN" sz="3600" b="1">
                <a:ea typeface="楷体_GB2312" charset="0"/>
              </a:rPr>
              <a:t>   </a:t>
            </a:r>
            <a:r>
              <a:rPr lang="en-US" altLang="zh-CN" sz="3600" b="1">
                <a:solidFill>
                  <a:srgbClr val="FF6600"/>
                </a:solidFill>
                <a:ea typeface="楷体_GB2312" charset="0"/>
              </a:rPr>
              <a:t>case</a:t>
            </a:r>
            <a:r>
              <a:rPr lang="en-US" altLang="zh-CN" sz="3600">
                <a:solidFill>
                  <a:srgbClr val="FF6600"/>
                </a:solidFill>
                <a:ea typeface="楷体_GB2312" charset="0"/>
              </a:rPr>
              <a:t> </a:t>
            </a:r>
            <a:r>
              <a:rPr lang="en-US" altLang="zh-CN" sz="3600">
                <a:solidFill>
                  <a:srgbClr val="FF6600"/>
                </a:solidFill>
                <a:ea typeface="楷体_GB2312" charset="0"/>
                <a:sym typeface="Symbol" panose="05050102010706020507" charset="2"/>
              </a:rPr>
              <a:t></a:t>
            </a:r>
            <a:r>
              <a:rPr lang="en-US" altLang="zh-CN" sz="3600">
                <a:solidFill>
                  <a:srgbClr val="FF6600"/>
                </a:solidFill>
                <a:ea typeface="楷体_GB2312" charset="0"/>
              </a:rPr>
              <a:t>(</a:t>
            </a:r>
            <a:r>
              <a:rPr lang="en-US" altLang="zh-CN" sz="3600">
                <a:solidFill>
                  <a:srgbClr val="FF6600"/>
                </a:solidFill>
                <a:ea typeface="楷体_GB2312" charset="0"/>
                <a:sym typeface="Symbol" panose="05050102010706020507" charset="2"/>
              </a:rPr>
              <a:t></a:t>
            </a:r>
            <a:r>
              <a:rPr lang="en-US" altLang="zh-CN" sz="3600">
                <a:solidFill>
                  <a:srgbClr val="FF6600"/>
                </a:solidFill>
                <a:ea typeface="楷体_GB2312" charset="0"/>
              </a:rPr>
              <a:t> </a:t>
            </a:r>
            <a:r>
              <a:rPr lang="en-US" altLang="zh-CN" sz="3600" b="1">
                <a:solidFill>
                  <a:srgbClr val="FF6600"/>
                </a:solidFill>
                <a:ea typeface="楷体_GB2312" charset="0"/>
              </a:rPr>
              <a:t>:</a:t>
            </a:r>
            <a:r>
              <a:rPr lang="en-US" altLang="zh-CN" sz="3600">
                <a:solidFill>
                  <a:srgbClr val="FF6600"/>
                </a:solidFill>
                <a:ea typeface="楷体_GB2312" charset="0"/>
              </a:rPr>
              <a:t>  Push(S, ch); </a:t>
            </a:r>
            <a:r>
              <a:rPr lang="en-US" altLang="zh-CN" sz="3600" b="1">
                <a:solidFill>
                  <a:srgbClr val="FF6600"/>
                </a:solidFill>
                <a:ea typeface="楷体_GB2312" charset="0"/>
              </a:rPr>
              <a:t>break</a:t>
            </a:r>
            <a:r>
              <a:rPr lang="en-US" altLang="zh-CN" sz="3600">
                <a:solidFill>
                  <a:srgbClr val="FF6600"/>
                </a:solidFill>
                <a:ea typeface="楷体_GB2312" charset="0"/>
              </a:rPr>
              <a:t>;</a:t>
            </a:r>
            <a:endParaRPr lang="en-US" altLang="zh-CN" sz="3600">
              <a:ea typeface="楷体_GB2312" charset="0"/>
            </a:endParaRPr>
          </a:p>
          <a:p>
            <a:pPr eaLnBrk="0" hangingPunct="0"/>
            <a:r>
              <a:rPr lang="en-US" altLang="zh-CN" sz="3600">
                <a:ea typeface="楷体_GB2312" charset="0"/>
              </a:rPr>
              <a:t>   </a:t>
            </a:r>
            <a:r>
              <a:rPr lang="en-US" altLang="zh-CN" sz="3600" b="1">
                <a:solidFill>
                  <a:srgbClr val="006666"/>
                </a:solidFill>
                <a:ea typeface="楷体_GB2312" charset="0"/>
              </a:rPr>
              <a:t>case</a:t>
            </a:r>
            <a:r>
              <a:rPr lang="en-US" altLang="zh-CN" sz="3600">
                <a:solidFill>
                  <a:srgbClr val="006666"/>
                </a:solidFill>
                <a:ea typeface="楷体_GB2312" charset="0"/>
              </a:rPr>
              <a:t> </a:t>
            </a:r>
            <a:r>
              <a:rPr lang="en-US" altLang="zh-CN" sz="3600">
                <a:solidFill>
                  <a:srgbClr val="006666"/>
                </a:solidFill>
                <a:ea typeface="楷体_GB2312" charset="0"/>
                <a:sym typeface="Symbol" panose="05050102010706020507" charset="2"/>
              </a:rPr>
              <a:t></a:t>
            </a:r>
            <a:r>
              <a:rPr lang="en-US" altLang="zh-CN" sz="3600">
                <a:solidFill>
                  <a:srgbClr val="006666"/>
                </a:solidFill>
                <a:ea typeface="楷体_GB2312" charset="0"/>
              </a:rPr>
              <a:t>)</a:t>
            </a:r>
            <a:r>
              <a:rPr lang="en-US" altLang="zh-CN" sz="3600">
                <a:solidFill>
                  <a:srgbClr val="006666"/>
                </a:solidFill>
                <a:ea typeface="楷体_GB2312" charset="0"/>
                <a:sym typeface="Symbol" panose="05050102010706020507" charset="2"/>
              </a:rPr>
              <a:t></a:t>
            </a:r>
            <a:r>
              <a:rPr lang="en-US" altLang="zh-CN" sz="3600">
                <a:solidFill>
                  <a:srgbClr val="006666"/>
                </a:solidFill>
                <a:ea typeface="楷体_GB2312" charset="0"/>
              </a:rPr>
              <a:t> </a:t>
            </a:r>
            <a:r>
              <a:rPr lang="en-US" altLang="zh-CN" sz="3600" b="1">
                <a:solidFill>
                  <a:srgbClr val="006666"/>
                </a:solidFill>
                <a:ea typeface="楷体_GB2312" charset="0"/>
              </a:rPr>
              <a:t>:</a:t>
            </a:r>
            <a:r>
              <a:rPr lang="en-US" altLang="zh-CN" sz="3600">
                <a:solidFill>
                  <a:srgbClr val="006666"/>
                </a:solidFill>
                <a:ea typeface="楷体_GB2312" charset="0"/>
              </a:rPr>
              <a:t> </a:t>
            </a:r>
            <a:r>
              <a:rPr lang="en-US" altLang="zh-CN" sz="3600" b="1">
                <a:ea typeface="楷体_GB2312" charset="0"/>
              </a:rPr>
              <a:t> </a:t>
            </a:r>
            <a:r>
              <a:rPr lang="en-US" altLang="zh-CN" sz="3600">
                <a:solidFill>
                  <a:srgbClr val="006666"/>
                </a:solidFill>
                <a:ea typeface="楷体_GB2312" charset="0"/>
              </a:rPr>
              <a:t>Pop(S, c);</a:t>
            </a:r>
            <a:endParaRPr lang="en-US" altLang="zh-CN" sz="3600">
              <a:solidFill>
                <a:srgbClr val="006666"/>
              </a:solidFill>
              <a:ea typeface="楷体_GB2312" charset="0"/>
            </a:endParaRPr>
          </a:p>
          <a:p>
            <a:pPr eaLnBrk="0" hangingPunct="0"/>
            <a:r>
              <a:rPr lang="en-US" altLang="zh-CN" sz="3600">
                <a:solidFill>
                  <a:srgbClr val="006666"/>
                </a:solidFill>
                <a:ea typeface="楷体_GB2312" charset="0"/>
              </a:rPr>
              <a:t>                    </a:t>
            </a:r>
            <a:r>
              <a:rPr lang="en-US" altLang="zh-CN" sz="3600" b="1">
                <a:solidFill>
                  <a:srgbClr val="006666"/>
                </a:solidFill>
                <a:ea typeface="楷体_GB2312" charset="0"/>
              </a:rPr>
              <a:t>while</a:t>
            </a:r>
            <a:r>
              <a:rPr lang="en-US" altLang="zh-CN" sz="3600">
                <a:solidFill>
                  <a:srgbClr val="006666"/>
                </a:solidFill>
                <a:ea typeface="楷体_GB2312" charset="0"/>
              </a:rPr>
              <a:t> (c</a:t>
            </a:r>
            <a:r>
              <a:rPr lang="en-US" altLang="zh-CN" sz="3600" b="1">
                <a:solidFill>
                  <a:srgbClr val="006666"/>
                </a:solidFill>
                <a:ea typeface="楷体_GB2312" charset="0"/>
              </a:rPr>
              <a:t>!=</a:t>
            </a:r>
            <a:r>
              <a:rPr lang="en-US" altLang="zh-CN" sz="3600">
                <a:solidFill>
                  <a:srgbClr val="006666"/>
                </a:solidFill>
                <a:ea typeface="楷体_GB2312" charset="0"/>
              </a:rPr>
              <a:t> </a:t>
            </a:r>
            <a:r>
              <a:rPr lang="en-US" altLang="zh-CN" sz="3600">
                <a:solidFill>
                  <a:srgbClr val="006666"/>
                </a:solidFill>
                <a:ea typeface="楷体_GB2312" charset="0"/>
                <a:sym typeface="Symbol" panose="05050102010706020507" charset="2"/>
              </a:rPr>
              <a:t></a:t>
            </a:r>
            <a:r>
              <a:rPr lang="en-US" altLang="zh-CN" sz="3600">
                <a:solidFill>
                  <a:srgbClr val="006666"/>
                </a:solidFill>
                <a:ea typeface="楷体_GB2312" charset="0"/>
              </a:rPr>
              <a:t>(</a:t>
            </a:r>
            <a:r>
              <a:rPr lang="en-US" altLang="zh-CN" sz="3600">
                <a:solidFill>
                  <a:srgbClr val="006666"/>
                </a:solidFill>
                <a:ea typeface="楷体_GB2312" charset="0"/>
                <a:sym typeface="Symbol" panose="05050102010706020507" charset="2"/>
              </a:rPr>
              <a:t></a:t>
            </a:r>
            <a:r>
              <a:rPr lang="en-US" altLang="zh-CN" sz="3600">
                <a:solidFill>
                  <a:srgbClr val="006666"/>
                </a:solidFill>
                <a:ea typeface="楷体_GB2312" charset="0"/>
              </a:rPr>
              <a:t> )</a:t>
            </a:r>
            <a:endParaRPr lang="en-US" altLang="zh-CN" sz="3600">
              <a:solidFill>
                <a:srgbClr val="006666"/>
              </a:solidFill>
              <a:ea typeface="楷体_GB2312" charset="0"/>
            </a:endParaRPr>
          </a:p>
          <a:p>
            <a:pPr eaLnBrk="0" hangingPunct="0"/>
            <a:r>
              <a:rPr lang="en-US" altLang="zh-CN" sz="3600">
                <a:solidFill>
                  <a:srgbClr val="006666"/>
                </a:solidFill>
                <a:ea typeface="楷体_GB2312" charset="0"/>
              </a:rPr>
              <a:t>                       </a:t>
            </a:r>
            <a:r>
              <a:rPr lang="en-US" altLang="zh-CN" sz="3600" b="1">
                <a:solidFill>
                  <a:srgbClr val="006666"/>
                </a:solidFill>
                <a:ea typeface="楷体_GB2312" charset="0"/>
              </a:rPr>
              <a:t>{ </a:t>
            </a:r>
            <a:r>
              <a:rPr lang="en-US" altLang="zh-CN" sz="3600">
                <a:solidFill>
                  <a:srgbClr val="006666"/>
                </a:solidFill>
                <a:ea typeface="楷体_GB2312" charset="0"/>
              </a:rPr>
              <a:t>Pass( Suffix, c);  Pop(S, c) </a:t>
            </a:r>
            <a:r>
              <a:rPr lang="en-US" altLang="zh-CN" sz="3600" b="1">
                <a:solidFill>
                  <a:srgbClr val="006666"/>
                </a:solidFill>
                <a:ea typeface="楷体_GB2312" charset="0"/>
              </a:rPr>
              <a:t>}</a:t>
            </a:r>
            <a:endParaRPr lang="en-US" altLang="zh-CN" sz="3600">
              <a:solidFill>
                <a:srgbClr val="006666"/>
              </a:solidFill>
              <a:ea typeface="楷体_GB2312" charset="0"/>
            </a:endParaRPr>
          </a:p>
          <a:p>
            <a:pPr eaLnBrk="0" hangingPunct="0"/>
            <a:r>
              <a:rPr lang="en-US" altLang="zh-CN" sz="3600">
                <a:solidFill>
                  <a:srgbClr val="006666"/>
                </a:solidFill>
                <a:ea typeface="楷体_GB2312" charset="0"/>
              </a:rPr>
              <a:t>     </a:t>
            </a:r>
            <a:r>
              <a:rPr lang="en-US" altLang="zh-CN" sz="3600" b="1">
                <a:solidFill>
                  <a:srgbClr val="006666"/>
                </a:solidFill>
                <a:ea typeface="楷体_GB2312" charset="0"/>
              </a:rPr>
              <a:t>               break; </a:t>
            </a:r>
            <a:endParaRPr lang="en-US" altLang="zh-CN" sz="3600" b="1">
              <a:ea typeface="楷体_GB2312" charset="0"/>
            </a:endParaRPr>
          </a:p>
          <a:p>
            <a:pPr eaLnBrk="0" hangingPunct="0"/>
            <a:r>
              <a:rPr lang="en-US" altLang="zh-CN" sz="3600">
                <a:ea typeface="楷体_GB2312" charset="0"/>
              </a:rPr>
              <a:t>    </a:t>
            </a:r>
            <a:r>
              <a:rPr lang="en-US" altLang="zh-CN" sz="3600" b="1">
                <a:solidFill>
                  <a:srgbClr val="A50021"/>
                </a:solidFill>
                <a:ea typeface="楷体_GB2312" charset="0"/>
              </a:rPr>
              <a:t>defult  : </a:t>
            </a:r>
            <a:endParaRPr lang="en-US" altLang="zh-CN" sz="3600" b="1">
              <a:solidFill>
                <a:srgbClr val="A50021"/>
              </a:solidFill>
              <a:ea typeface="楷体_GB2312" charset="0"/>
            </a:endParaRPr>
          </a:p>
          <a:p>
            <a:pPr eaLnBrk="0" hangingPunct="0"/>
            <a:r>
              <a:rPr lang="en-US" altLang="zh-CN" sz="3600" b="1">
                <a:solidFill>
                  <a:srgbClr val="A50021"/>
                </a:solidFill>
                <a:ea typeface="楷体_GB2312" charset="0"/>
              </a:rPr>
              <a:t>       while</a:t>
            </a:r>
            <a:r>
              <a:rPr lang="en-US" altLang="zh-CN" sz="3600">
                <a:solidFill>
                  <a:srgbClr val="A50021"/>
                </a:solidFill>
                <a:ea typeface="楷体_GB2312" charset="0"/>
              </a:rPr>
              <a:t>(Gettop(S, c) </a:t>
            </a:r>
            <a:r>
              <a:rPr lang="en-US" altLang="zh-CN" sz="3600" b="1">
                <a:solidFill>
                  <a:srgbClr val="A50021"/>
                </a:solidFill>
                <a:ea typeface="楷体_GB2312" charset="0"/>
              </a:rPr>
              <a:t>&amp;&amp;</a:t>
            </a:r>
            <a:r>
              <a:rPr lang="en-US" altLang="zh-CN" sz="3600">
                <a:solidFill>
                  <a:srgbClr val="A50021"/>
                </a:solidFill>
                <a:ea typeface="楷体_GB2312" charset="0"/>
              </a:rPr>
              <a:t> ( precede(c,ch)))</a:t>
            </a:r>
            <a:endParaRPr lang="en-US" altLang="zh-CN" sz="3600">
              <a:solidFill>
                <a:srgbClr val="A50021"/>
              </a:solidFill>
              <a:ea typeface="楷体_GB2312" charset="0"/>
            </a:endParaRPr>
          </a:p>
          <a:p>
            <a:pPr eaLnBrk="0" hangingPunct="0"/>
            <a:r>
              <a:rPr lang="en-US" altLang="zh-CN" sz="3600">
                <a:solidFill>
                  <a:srgbClr val="A50021"/>
                </a:solidFill>
                <a:ea typeface="楷体_GB2312" charset="0"/>
              </a:rPr>
              <a:t>          </a:t>
            </a:r>
            <a:r>
              <a:rPr lang="en-US" altLang="zh-CN" sz="3600" b="1">
                <a:solidFill>
                  <a:srgbClr val="A50021"/>
                </a:solidFill>
                <a:ea typeface="楷体_GB2312" charset="0"/>
              </a:rPr>
              <a:t>{</a:t>
            </a:r>
            <a:r>
              <a:rPr lang="en-US" altLang="zh-CN" sz="3600">
                <a:solidFill>
                  <a:srgbClr val="A50021"/>
                </a:solidFill>
                <a:ea typeface="楷体_GB2312" charset="0"/>
              </a:rPr>
              <a:t> Pass( Suffix, c);  Pop(S, c); </a:t>
            </a:r>
            <a:r>
              <a:rPr lang="en-US" altLang="zh-CN" sz="3600" b="1">
                <a:solidFill>
                  <a:srgbClr val="A50021"/>
                </a:solidFill>
                <a:ea typeface="楷体_GB2312" charset="0"/>
              </a:rPr>
              <a:t>}</a:t>
            </a:r>
            <a:endParaRPr lang="en-US" altLang="zh-CN" sz="3600">
              <a:solidFill>
                <a:srgbClr val="A50021"/>
              </a:solidFill>
              <a:ea typeface="楷体_GB2312" charset="0"/>
            </a:endParaRPr>
          </a:p>
          <a:p>
            <a:pPr eaLnBrk="0" hangingPunct="0"/>
            <a:r>
              <a:rPr lang="en-US" altLang="zh-CN" sz="3600">
                <a:solidFill>
                  <a:srgbClr val="A50021"/>
                </a:solidFill>
                <a:ea typeface="楷体_GB2312" charset="0"/>
              </a:rPr>
              <a:t>       </a:t>
            </a:r>
            <a:r>
              <a:rPr lang="en-US" altLang="zh-CN" sz="3600" b="1">
                <a:solidFill>
                  <a:srgbClr val="A50021"/>
                </a:solidFill>
                <a:ea typeface="楷体_GB2312" charset="0"/>
              </a:rPr>
              <a:t>if</a:t>
            </a:r>
            <a:r>
              <a:rPr lang="en-US" altLang="zh-CN" sz="3600">
                <a:solidFill>
                  <a:srgbClr val="A50021"/>
                </a:solidFill>
                <a:ea typeface="楷体_GB2312" charset="0"/>
              </a:rPr>
              <a:t> ( ch</a:t>
            </a:r>
            <a:r>
              <a:rPr lang="en-US" altLang="zh-CN" sz="3600" b="1">
                <a:solidFill>
                  <a:srgbClr val="A50021"/>
                </a:solidFill>
                <a:ea typeface="楷体_GB2312" charset="0"/>
              </a:rPr>
              <a:t>!=</a:t>
            </a:r>
            <a:r>
              <a:rPr lang="en-US" altLang="zh-CN" sz="3600">
                <a:solidFill>
                  <a:srgbClr val="A50021"/>
                </a:solidFill>
                <a:ea typeface="楷体_GB2312" charset="0"/>
              </a:rPr>
              <a:t> </a:t>
            </a:r>
            <a:r>
              <a:rPr lang="en-US" altLang="zh-CN" sz="3600">
                <a:solidFill>
                  <a:srgbClr val="A50021"/>
                </a:solidFill>
                <a:ea typeface="楷体_GB2312" charset="0"/>
                <a:sym typeface="Symbol" panose="05050102010706020507" charset="2"/>
              </a:rPr>
              <a:t></a:t>
            </a:r>
            <a:r>
              <a:rPr lang="en-US" altLang="zh-CN" sz="3600">
                <a:solidFill>
                  <a:srgbClr val="A50021"/>
                </a:solidFill>
                <a:ea typeface="楷体_GB2312" charset="0"/>
              </a:rPr>
              <a:t>#</a:t>
            </a:r>
            <a:r>
              <a:rPr lang="en-US" altLang="zh-CN" sz="3600">
                <a:solidFill>
                  <a:srgbClr val="A50021"/>
                </a:solidFill>
                <a:ea typeface="楷体_GB2312" charset="0"/>
                <a:sym typeface="Symbol" panose="05050102010706020507" charset="2"/>
              </a:rPr>
              <a:t></a:t>
            </a:r>
            <a:r>
              <a:rPr lang="en-US" altLang="zh-CN" sz="3600">
                <a:solidFill>
                  <a:srgbClr val="A50021"/>
                </a:solidFill>
                <a:ea typeface="楷体_GB2312" charset="0"/>
              </a:rPr>
              <a:t> )  Push( S, ch); </a:t>
            </a:r>
            <a:endParaRPr lang="en-US" altLang="zh-CN" sz="3600">
              <a:solidFill>
                <a:srgbClr val="A50021"/>
              </a:solidFill>
              <a:ea typeface="楷体_GB2312" charset="0"/>
            </a:endParaRPr>
          </a:p>
          <a:p>
            <a:pPr eaLnBrk="0" hangingPunct="0"/>
            <a:r>
              <a:rPr lang="en-US" altLang="zh-CN" sz="3600">
                <a:solidFill>
                  <a:srgbClr val="A50021"/>
                </a:solidFill>
                <a:ea typeface="楷体_GB2312" charset="0"/>
              </a:rPr>
              <a:t>       </a:t>
            </a:r>
            <a:r>
              <a:rPr lang="en-US" altLang="zh-CN" sz="3600" b="1">
                <a:solidFill>
                  <a:srgbClr val="A50021"/>
                </a:solidFill>
                <a:ea typeface="楷体_GB2312" charset="0"/>
              </a:rPr>
              <a:t>break</a:t>
            </a:r>
            <a:r>
              <a:rPr lang="en-US" altLang="zh-CN" sz="3600">
                <a:solidFill>
                  <a:srgbClr val="A50021"/>
                </a:solidFill>
                <a:ea typeface="楷体_GB2312" charset="0"/>
              </a:rPr>
              <a:t>;</a:t>
            </a:r>
            <a:r>
              <a:rPr lang="en-US" altLang="zh-CN" sz="3600" b="1">
                <a:solidFill>
                  <a:srgbClr val="A50021"/>
                </a:solidFill>
                <a:ea typeface="楷体_GB2312" charset="0"/>
              </a:rPr>
              <a:t>  </a:t>
            </a:r>
            <a:endParaRPr lang="en-US" altLang="zh-CN" sz="3600">
              <a:solidFill>
                <a:srgbClr val="A50021"/>
              </a:solidFill>
              <a:ea typeface="楷体_GB2312" charset="0"/>
            </a:endParaRPr>
          </a:p>
          <a:p>
            <a:pPr eaLnBrk="0" hangingPunct="0"/>
            <a:r>
              <a:rPr lang="en-US" altLang="zh-CN" sz="3600" b="1">
                <a:ea typeface="楷体_GB2312" charset="0"/>
              </a:rPr>
              <a:t>}</a:t>
            </a:r>
            <a:r>
              <a:rPr lang="en-US" altLang="zh-CN" sz="3600">
                <a:ea typeface="楷体_GB2312" charset="0"/>
              </a:rPr>
              <a:t> </a:t>
            </a:r>
            <a:r>
              <a:rPr lang="en-US" altLang="zh-CN" sz="3200">
                <a:ea typeface="楷体_GB2312" charset="0"/>
              </a:rPr>
              <a:t>// switch</a:t>
            </a:r>
            <a:endParaRPr lang="en-US" altLang="zh-CN" sz="3600"/>
          </a:p>
        </p:txBody>
      </p:sp>
      <p:sp>
        <p:nvSpPr>
          <p:cNvPr id="1073155" name="AutoShape 3">
            <a:hlinkClick r:id="" action="ppaction://hlinkshowjump?jump=lastslideviewed" highlightClick="1"/>
          </p:cNvPr>
          <p:cNvSpPr>
            <a:spLocks noChangeArrowheads="1"/>
          </p:cNvSpPr>
          <p:nvPr/>
        </p:nvSpPr>
        <p:spPr bwMode="auto">
          <a:xfrm>
            <a:off x="8534400" y="6324600"/>
            <a:ext cx="381000" cy="304800"/>
          </a:xfrm>
          <a:prstGeom prst="actionButtonReturn">
            <a:avLst/>
          </a:prstGeom>
          <a:solidFill>
            <a:srgbClr val="FF5050"/>
          </a:solidFill>
          <a:ln w="9525">
            <a:solidFill>
              <a:srgbClr val="800000"/>
            </a:solid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73155"/>
                                        </p:tgtEl>
                                        <p:attrNameLst>
                                          <p:attrName>style.visibility</p:attrName>
                                        </p:attrNameLst>
                                      </p:cBhvr>
                                      <p:to>
                                        <p:strVal val="visible"/>
                                      </p:to>
                                    </p:set>
                                    <p:anim calcmode="lin" valueType="num">
                                      <p:cBhvr additive="base">
                                        <p:cTn id="7" dur="500" fill="hold"/>
                                        <p:tgtEl>
                                          <p:spTgt spid="1073155"/>
                                        </p:tgtEl>
                                        <p:attrNameLst>
                                          <p:attrName>ppt_x</p:attrName>
                                        </p:attrNameLst>
                                      </p:cBhvr>
                                      <p:tavLst>
                                        <p:tav tm="0">
                                          <p:val>
                                            <p:strVal val="#ppt_x"/>
                                          </p:val>
                                        </p:tav>
                                        <p:tav tm="100000">
                                          <p:val>
                                            <p:strVal val="#ppt_x"/>
                                          </p:val>
                                        </p:tav>
                                      </p:tavLst>
                                    </p:anim>
                                    <p:anim calcmode="lin" valueType="num">
                                      <p:cBhvr additive="base">
                                        <p:cTn id="8" dur="500" fill="hold"/>
                                        <p:tgtEl>
                                          <p:spTgt spid="1073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3155"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4178" name="Rectangle 2"/>
          <p:cNvSpPr>
            <a:spLocks noGrp="1" noChangeArrowheads="1"/>
          </p:cNvSpPr>
          <p:nvPr>
            <p:ph type="body" idx="1"/>
          </p:nvPr>
        </p:nvSpPr>
        <p:spPr>
          <a:xfrm>
            <a:off x="611188" y="1447800"/>
            <a:ext cx="7772400" cy="5410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ormAutofit lnSpcReduction="10000"/>
          </a:bodyPr>
          <a:lstStyle/>
          <a:p>
            <a:pPr>
              <a:lnSpc>
                <a:spcPct val="80000"/>
              </a:lnSpc>
              <a:buFontTx/>
              <a:buNone/>
            </a:pPr>
            <a:r>
              <a:rPr lang="en-US" altLang="zh-CN" sz="2800">
                <a:solidFill>
                  <a:schemeClr val="tx2"/>
                </a:solidFill>
                <a:latin typeface="楷体_GB2312" charset="0"/>
                <a:ea typeface="楷体_GB2312" charset="0"/>
              </a:rPr>
              <a:t>1.  </a:t>
            </a:r>
            <a:r>
              <a:rPr lang="zh-CN" altLang="en-US" sz="2800" b="1">
                <a:solidFill>
                  <a:schemeClr val="accent2"/>
                </a:solidFill>
                <a:latin typeface="楷体_GB2312" charset="0"/>
                <a:ea typeface="楷体_GB2312" charset="0"/>
              </a:rPr>
              <a:t>定义： 在调用一个函数的过程中直接或间接地调用该函数本身，称为递归函数。</a:t>
            </a:r>
            <a:endParaRPr lang="zh-CN" altLang="en-US" sz="2800" b="1">
              <a:solidFill>
                <a:schemeClr val="accent2"/>
              </a:solidFill>
              <a:latin typeface="楷体_GB2312" charset="0"/>
              <a:ea typeface="楷体_GB2312" charset="0"/>
            </a:endParaRPr>
          </a:p>
          <a:p>
            <a:pPr>
              <a:lnSpc>
                <a:spcPct val="80000"/>
              </a:lnSpc>
              <a:buFontTx/>
              <a:buNone/>
            </a:pPr>
            <a:endParaRPr lang="zh-CN" altLang="en-US" sz="2800" b="1">
              <a:latin typeface="楷体_GB2312" charset="0"/>
              <a:ea typeface="楷体_GB2312" charset="0"/>
            </a:endParaRPr>
          </a:p>
          <a:p>
            <a:pPr>
              <a:lnSpc>
                <a:spcPct val="80000"/>
              </a:lnSpc>
            </a:pPr>
            <a:r>
              <a:rPr lang="zh-CN" altLang="en-US" sz="2800" b="1">
                <a:solidFill>
                  <a:srgbClr val="0000FF"/>
                </a:solidFill>
              </a:rPr>
              <a:t>直接调用</a:t>
            </a:r>
            <a:endParaRPr lang="zh-CN" altLang="en-US" sz="2800" b="1">
              <a:solidFill>
                <a:srgbClr val="0000FF"/>
              </a:solidFill>
            </a:endParaRPr>
          </a:p>
          <a:p>
            <a:pPr>
              <a:lnSpc>
                <a:spcPct val="80000"/>
              </a:lnSpc>
              <a:buFontTx/>
              <a:buNone/>
            </a:pPr>
            <a:r>
              <a:rPr lang="en-US" altLang="zh-CN" sz="2400" b="1"/>
              <a:t>int f(x)</a:t>
            </a:r>
            <a:endParaRPr lang="en-US" altLang="zh-CN" sz="2400" b="1"/>
          </a:p>
          <a:p>
            <a:pPr>
              <a:lnSpc>
                <a:spcPct val="80000"/>
              </a:lnSpc>
              <a:buFontTx/>
              <a:buNone/>
            </a:pPr>
            <a:r>
              <a:rPr lang="en-US" altLang="zh-CN" sz="2400" b="1"/>
              <a:t>int x;</a:t>
            </a:r>
            <a:endParaRPr lang="en-US" altLang="zh-CN" sz="2400" b="1"/>
          </a:p>
          <a:p>
            <a:pPr>
              <a:lnSpc>
                <a:spcPct val="80000"/>
              </a:lnSpc>
              <a:buFontTx/>
              <a:buNone/>
            </a:pPr>
            <a:r>
              <a:rPr lang="en-US" altLang="zh-CN" sz="2400" b="1"/>
              <a:t>{   int y,z;</a:t>
            </a:r>
            <a:endParaRPr lang="en-US" altLang="zh-CN" sz="2400" b="1"/>
          </a:p>
          <a:p>
            <a:pPr>
              <a:lnSpc>
                <a:spcPct val="80000"/>
              </a:lnSpc>
              <a:buFontTx/>
              <a:buNone/>
            </a:pPr>
            <a:r>
              <a:rPr lang="en-US" altLang="zh-CN" sz="2400" b="1"/>
              <a:t>      …..</a:t>
            </a:r>
            <a:endParaRPr lang="en-US" altLang="zh-CN" sz="2400" b="1"/>
          </a:p>
          <a:p>
            <a:pPr>
              <a:lnSpc>
                <a:spcPct val="80000"/>
              </a:lnSpc>
              <a:buFontTx/>
              <a:buNone/>
            </a:pPr>
            <a:r>
              <a:rPr lang="en-US" altLang="zh-CN" sz="2400" b="1"/>
              <a:t>     z=f(x);</a:t>
            </a:r>
            <a:endParaRPr lang="en-US" altLang="zh-CN" sz="2400" b="1"/>
          </a:p>
          <a:p>
            <a:pPr>
              <a:lnSpc>
                <a:spcPct val="80000"/>
              </a:lnSpc>
              <a:buFontTx/>
              <a:buNone/>
            </a:pPr>
            <a:r>
              <a:rPr lang="en-US" altLang="zh-CN" sz="2400" b="1"/>
              <a:t>     ……</a:t>
            </a:r>
            <a:endParaRPr lang="en-US" altLang="zh-CN" sz="2400" b="1"/>
          </a:p>
          <a:p>
            <a:pPr>
              <a:lnSpc>
                <a:spcPct val="80000"/>
              </a:lnSpc>
              <a:buFontTx/>
              <a:buNone/>
            </a:pPr>
            <a:r>
              <a:rPr lang="en-US" altLang="zh-CN" sz="2400" b="1"/>
              <a:t>     return (2*z);                               </a:t>
            </a:r>
            <a:endParaRPr lang="en-US" altLang="zh-CN" sz="2400" b="1"/>
          </a:p>
          <a:p>
            <a:pPr>
              <a:lnSpc>
                <a:spcPct val="80000"/>
              </a:lnSpc>
              <a:buFontTx/>
              <a:buNone/>
            </a:pPr>
            <a:r>
              <a:rPr lang="en-US" altLang="zh-CN" sz="2400" b="1"/>
              <a:t> }</a:t>
            </a:r>
            <a:r>
              <a:rPr lang="en-US" altLang="zh-CN" sz="2800"/>
              <a:t>                           </a:t>
            </a:r>
            <a:endParaRPr lang="en-US" altLang="zh-CN" sz="2800"/>
          </a:p>
        </p:txBody>
      </p:sp>
      <p:sp>
        <p:nvSpPr>
          <p:cNvPr id="1074179" name="Rectangle 3"/>
          <p:cNvSpPr>
            <a:spLocks noChangeArrowheads="1"/>
          </p:cNvSpPr>
          <p:nvPr/>
        </p:nvSpPr>
        <p:spPr bwMode="auto">
          <a:xfrm>
            <a:off x="5334000" y="2819400"/>
            <a:ext cx="1219200" cy="609600"/>
          </a:xfrm>
          <a:prstGeom prst="rect">
            <a:avLst/>
          </a:prstGeom>
          <a:solidFill>
            <a:srgbClr val="FFFF99"/>
          </a:solidFill>
          <a:ln w="76200">
            <a:solidFill>
              <a:schemeClr val="hlink"/>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2400">
                <a:latin typeface="" charset="0"/>
              </a:rPr>
              <a:t>f </a:t>
            </a:r>
            <a:r>
              <a:rPr lang="zh-CN" altLang="en-US" sz="2400">
                <a:latin typeface="" charset="0"/>
              </a:rPr>
              <a:t>函数</a:t>
            </a:r>
            <a:endParaRPr lang="zh-CN" altLang="en-US" sz="2400">
              <a:latin typeface="" charset="0"/>
            </a:endParaRPr>
          </a:p>
        </p:txBody>
      </p:sp>
      <p:sp>
        <p:nvSpPr>
          <p:cNvPr id="1074180" name="Rectangle 4"/>
          <p:cNvSpPr>
            <a:spLocks noChangeArrowheads="1"/>
          </p:cNvSpPr>
          <p:nvPr/>
        </p:nvSpPr>
        <p:spPr bwMode="auto">
          <a:xfrm>
            <a:off x="5257800" y="4419600"/>
            <a:ext cx="1447800" cy="609600"/>
          </a:xfrm>
          <a:prstGeom prst="rect">
            <a:avLst/>
          </a:prstGeom>
          <a:solidFill>
            <a:srgbClr val="FFFF99"/>
          </a:solidFill>
          <a:ln w="76200">
            <a:solidFill>
              <a:schemeClr val="hlink"/>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zh-CN" altLang="en-US" sz="2400">
                <a:latin typeface="" charset="0"/>
              </a:rPr>
              <a:t>调用 </a:t>
            </a:r>
            <a:r>
              <a:rPr lang="en-US" altLang="zh-CN" sz="2400">
                <a:latin typeface="" charset="0"/>
              </a:rPr>
              <a:t>f</a:t>
            </a:r>
            <a:r>
              <a:rPr lang="zh-CN" altLang="en-US" sz="2400">
                <a:latin typeface="" charset="0"/>
              </a:rPr>
              <a:t>函数</a:t>
            </a:r>
            <a:endParaRPr lang="zh-CN" altLang="en-US" sz="2400">
              <a:latin typeface="" charset="0"/>
            </a:endParaRPr>
          </a:p>
        </p:txBody>
      </p:sp>
      <p:sp>
        <p:nvSpPr>
          <p:cNvPr id="1074181" name="Line 5"/>
          <p:cNvSpPr>
            <a:spLocks noChangeShapeType="1"/>
          </p:cNvSpPr>
          <p:nvPr/>
        </p:nvSpPr>
        <p:spPr bwMode="auto">
          <a:xfrm>
            <a:off x="5943600" y="3429000"/>
            <a:ext cx="0" cy="990600"/>
          </a:xfrm>
          <a:prstGeom prst="line">
            <a:avLst/>
          </a:prstGeom>
          <a:noFill/>
          <a:ln w="3810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4182" name="Line 6"/>
          <p:cNvSpPr>
            <a:spLocks noChangeShapeType="1"/>
          </p:cNvSpPr>
          <p:nvPr/>
        </p:nvSpPr>
        <p:spPr bwMode="auto">
          <a:xfrm flipH="1">
            <a:off x="4267200" y="4724400"/>
            <a:ext cx="990600" cy="0"/>
          </a:xfrm>
          <a:prstGeom prst="line">
            <a:avLst/>
          </a:prstGeom>
          <a:noFill/>
          <a:ln w="381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4183" name="Line 7"/>
          <p:cNvSpPr>
            <a:spLocks noChangeShapeType="1"/>
          </p:cNvSpPr>
          <p:nvPr/>
        </p:nvSpPr>
        <p:spPr bwMode="auto">
          <a:xfrm flipV="1">
            <a:off x="4267200" y="3124200"/>
            <a:ext cx="0" cy="1600200"/>
          </a:xfrm>
          <a:prstGeom prst="line">
            <a:avLst/>
          </a:prstGeom>
          <a:noFill/>
          <a:ln w="381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4184" name="Line 8"/>
          <p:cNvSpPr>
            <a:spLocks noChangeShapeType="1"/>
          </p:cNvSpPr>
          <p:nvPr/>
        </p:nvSpPr>
        <p:spPr bwMode="auto">
          <a:xfrm>
            <a:off x="4267200" y="3124200"/>
            <a:ext cx="1066800" cy="0"/>
          </a:xfrm>
          <a:prstGeom prst="line">
            <a:avLst/>
          </a:prstGeom>
          <a:noFill/>
          <a:ln w="38100">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4185" name="Text Box 9"/>
          <p:cNvSpPr txBox="1">
            <a:spLocks noChangeArrowheads="1"/>
          </p:cNvSpPr>
          <p:nvPr>
            <p:ph type="title"/>
          </p:nvPr>
        </p:nvSpPr>
        <p:spPr>
          <a:xfrm>
            <a:off x="1371600" y="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40" tIns="45720" rIns="91440" bIns="45720"/>
          <a:lstStyle/>
          <a:p>
            <a:r>
              <a:rPr lang="zh-CN" altLang="en-US" sz="4800">
                <a:solidFill>
                  <a:srgbClr val="FF5050"/>
                </a:solidFill>
                <a:ea typeface="楷体_GB2312" charset="0"/>
              </a:rPr>
              <a:t>例六、实现递归</a:t>
            </a:r>
            <a:endParaRPr lang="zh-CN" altLang="en-US" sz="4800">
              <a:solidFill>
                <a:srgbClr val="FF5050"/>
              </a:solidFill>
              <a:ea typeface="楷体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741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7417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7417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7417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7417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7417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07417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07417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074178">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074178">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07417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07418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07418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074182"/>
                                        </p:tgtEl>
                                        <p:attrNameLst>
                                          <p:attrName>style.visibility</p:attrName>
                                        </p:attrNameLst>
                                      </p:cBhvr>
                                      <p:to>
                                        <p:strVal val="visible"/>
                                      </p:to>
                                    </p:set>
                                  </p:child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499"/>
                                          </p:stCondLst>
                                        </p:cTn>
                                        <p:tgtEl>
                                          <p:spTgt spid="1074183"/>
                                        </p:tgtEl>
                                        <p:attrNameLst>
                                          <p:attrName>style.visibility</p:attrName>
                                        </p:attrNameLst>
                                      </p:cBhvr>
                                      <p:to>
                                        <p:strVal val="visible"/>
                                      </p:to>
                                    </p:set>
                                  </p:childTnLst>
                                </p:cTn>
                              </p:par>
                            </p:childTnLst>
                          </p:cTn>
                        </p:par>
                        <p:par>
                          <p:cTn id="62" fill="hold">
                            <p:stCondLst>
                              <p:cond delay="1000"/>
                            </p:stCondLst>
                            <p:childTnLst>
                              <p:par>
                                <p:cTn id="63" presetID="1" presetClass="entr" presetSubtype="0" fill="hold" grpId="0" nodeType="afterEffect">
                                  <p:stCondLst>
                                    <p:cond delay="0"/>
                                  </p:stCondLst>
                                  <p:childTnLst>
                                    <p:set>
                                      <p:cBhvr>
                                        <p:cTn id="64" dur="1" fill="hold">
                                          <p:stCondLst>
                                            <p:cond delay="499"/>
                                          </p:stCondLst>
                                        </p:cTn>
                                        <p:tgtEl>
                                          <p:spTgt spid="1074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4178" grpId="0" autoUpdateAnimBg="0" build="p"/>
      <p:bldP spid="1074179" grpId="0" animBg="1" autoUpdateAnimBg="0"/>
      <p:bldP spid="1074180" grpId="0" animBg="1" autoUpdateAnimBg="0"/>
      <p:bldP spid="1074181" grpId="0" animBg="1"/>
      <p:bldP spid="1074182" grpId="0" animBg="1"/>
      <p:bldP spid="1074183" grpId="0" animBg="1"/>
      <p:bldP spid="107418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02" name="Rectangle 2"/>
          <p:cNvSpPr>
            <a:spLocks noChangeArrowheads="1"/>
          </p:cNvSpPr>
          <p:nvPr/>
        </p:nvSpPr>
        <p:spPr bwMode="auto">
          <a:xfrm>
            <a:off x="1981200" y="228600"/>
            <a:ext cx="2590800" cy="32766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609600" indent="-609600" eaLnBrk="0" hangingPunct="0">
              <a:defRPr kumimoji="1" sz="2000">
                <a:solidFill>
                  <a:schemeClr val="tx1"/>
                </a:solidFill>
                <a:latin typeface="Times New Roman" panose="02020603050405020304" charset="0"/>
                <a:ea typeface="宋体" panose="02010600030101010101" pitchFamily="2" charset="-122"/>
              </a:defRPr>
            </a:lvl1pPr>
            <a:lvl2pPr marL="971550" indent="-514350" eaLnBrk="0" hangingPunct="0">
              <a:defRPr kumimoji="1" sz="2000">
                <a:solidFill>
                  <a:schemeClr val="tx1"/>
                </a:solidFill>
                <a:latin typeface="Times New Roman" panose="02020603050405020304" charset="0"/>
                <a:ea typeface="宋体" panose="02010600030101010101" pitchFamily="2" charset="-122"/>
              </a:defRPr>
            </a:lvl2pPr>
            <a:lvl3pPr marL="1352550" indent="-438150" eaLnBrk="0" hangingPunct="0">
              <a:defRPr kumimoji="1" sz="2000">
                <a:solidFill>
                  <a:schemeClr val="tx1"/>
                </a:solidFill>
                <a:latin typeface="Times New Roman" panose="02020603050405020304" charset="0"/>
                <a:ea typeface="宋体" panose="02010600030101010101" pitchFamily="2" charset="-122"/>
              </a:defRPr>
            </a:lvl3pPr>
            <a:lvl4pPr marL="1752600" indent="-381000" eaLnBrk="0" hangingPunct="0">
              <a:defRPr kumimoji="1" sz="2000">
                <a:solidFill>
                  <a:schemeClr val="tx1"/>
                </a:solidFill>
                <a:latin typeface="Times New Roman" panose="02020603050405020304" charset="0"/>
                <a:ea typeface="宋体" panose="02010600030101010101" pitchFamily="2" charset="-122"/>
              </a:defRPr>
            </a:lvl4pPr>
            <a:lvl5pPr marL="2209800" indent="-381000" eaLnBrk="0" hangingPunct="0">
              <a:defRPr kumimoji="1" sz="2000">
                <a:solidFill>
                  <a:schemeClr val="tx1"/>
                </a:solidFill>
                <a:latin typeface="Times New Roman" panose="02020603050405020304" charset="0"/>
                <a:ea typeface="宋体" panose="02010600030101010101" pitchFamily="2" charset="-122"/>
              </a:defRPr>
            </a:lvl5pPr>
            <a:lvl6pPr marL="2667000" indent="-3810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124200" indent="-3810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581400" indent="-3810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038600" indent="-3810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int f1(x)</a:t>
            </a:r>
            <a:endParaRPr kumimoji="0" lang="en-US" altLang="zh-CN" sz="2400" b="1">
              <a:latin typeface="Arial" panose="020B0604020202020204" pitchFamily="34" charset="0"/>
            </a:endParaRPr>
          </a:p>
          <a:p>
            <a:pPr eaLnBrk="1" hangingPunct="1">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int x;</a:t>
            </a:r>
            <a:endParaRPr kumimoji="0" lang="en-US" altLang="zh-CN" sz="2400" b="1">
              <a:latin typeface="Arial" panose="020B0604020202020204" pitchFamily="34" charset="0"/>
            </a:endParaRPr>
          </a:p>
          <a:p>
            <a:pPr eaLnBrk="1" hangingPunct="1">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int y,z;</a:t>
            </a:r>
            <a:endParaRPr kumimoji="0" lang="en-US" altLang="zh-CN" sz="2400" b="1">
              <a:latin typeface="Arial" panose="020B0604020202020204" pitchFamily="34" charset="0"/>
            </a:endParaRPr>
          </a:p>
          <a:p>
            <a:pPr eaLnBrk="1" hangingPunct="1">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a:t>
            </a:r>
            <a:endParaRPr kumimoji="0" lang="en-US" altLang="zh-CN" sz="2400" b="1">
              <a:latin typeface="Arial" panose="020B0604020202020204" pitchFamily="34" charset="0"/>
            </a:endParaRPr>
          </a:p>
          <a:p>
            <a:pPr eaLnBrk="1" hangingPunct="1">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z=f2( y);</a:t>
            </a:r>
            <a:endParaRPr kumimoji="0" lang="en-US" altLang="zh-CN" sz="2400" b="1">
              <a:latin typeface="Arial" panose="020B0604020202020204" pitchFamily="34" charset="0"/>
            </a:endParaRPr>
          </a:p>
          <a:p>
            <a:pPr eaLnBrk="1" hangingPunct="1">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a:t>
            </a:r>
            <a:endParaRPr kumimoji="0" lang="en-US" altLang="zh-CN" sz="2400" b="1">
              <a:latin typeface="Arial" panose="020B0604020202020204" pitchFamily="34" charset="0"/>
            </a:endParaRPr>
          </a:p>
          <a:p>
            <a:pPr eaLnBrk="1" hangingPunct="1">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return (2*z);  }</a:t>
            </a:r>
            <a:endParaRPr kumimoji="0" lang="en-US" altLang="zh-CN" sz="2400">
              <a:latin typeface="Arial" panose="020B0604020202020204" pitchFamily="34" charset="0"/>
            </a:endParaRPr>
          </a:p>
        </p:txBody>
      </p:sp>
      <p:sp>
        <p:nvSpPr>
          <p:cNvPr id="1075203" name="Rectangle 3"/>
          <p:cNvSpPr>
            <a:spLocks noChangeArrowheads="1"/>
          </p:cNvSpPr>
          <p:nvPr/>
        </p:nvSpPr>
        <p:spPr bwMode="auto">
          <a:xfrm>
            <a:off x="6019800" y="457200"/>
            <a:ext cx="2895600" cy="30480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eaLnBrk="0" hangingPunct="0">
              <a:defRPr kumimoji="1" sz="2000">
                <a:solidFill>
                  <a:schemeClr val="tx1"/>
                </a:solidFill>
                <a:latin typeface="Times New Roman" panose="02020603050405020304" charset="0"/>
                <a:ea typeface="宋体" panose="02010600030101010101" pitchFamily="2" charset="-122"/>
              </a:defRPr>
            </a:lvl1pPr>
            <a:lvl2pPr marL="742950" indent="-285750" eaLnBrk="0" hangingPunct="0">
              <a:defRPr kumimoji="1" sz="2000">
                <a:solidFill>
                  <a:schemeClr val="tx1"/>
                </a:solidFill>
                <a:latin typeface="Times New Roman" panose="02020603050405020304" charset="0"/>
                <a:ea typeface="宋体" panose="02010600030101010101" pitchFamily="2" charset="-122"/>
              </a:defRPr>
            </a:lvl2pPr>
            <a:lvl3pPr marL="1143000" indent="-228600" eaLnBrk="0" hangingPunct="0">
              <a:defRPr kumimoji="1" sz="2000">
                <a:solidFill>
                  <a:schemeClr val="tx1"/>
                </a:solidFill>
                <a:latin typeface="Times New Roman" panose="02020603050405020304" charset="0"/>
                <a:ea typeface="宋体" panose="02010600030101010101" pitchFamily="2" charset="-122"/>
              </a:defRPr>
            </a:lvl3pPr>
            <a:lvl4pPr marL="1600200" indent="-228600" eaLnBrk="0" hangingPunct="0">
              <a:defRPr kumimoji="1" sz="2000">
                <a:solidFill>
                  <a:schemeClr val="tx1"/>
                </a:solidFill>
                <a:latin typeface="Times New Roman" panose="02020603050405020304" charset="0"/>
                <a:ea typeface="宋体" panose="02010600030101010101" pitchFamily="2" charset="-122"/>
              </a:defRPr>
            </a:lvl4pPr>
            <a:lvl5pPr marL="2057400" indent="-228600" eaLnBrk="0" hangingPunct="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int f2(t)</a:t>
            </a:r>
            <a:endParaRPr kumimoji="0" lang="en-US" altLang="zh-CN" sz="2400" b="1">
              <a:latin typeface="Arial" panose="020B0604020202020204" pitchFamily="34" charset="0"/>
            </a:endParaRPr>
          </a:p>
          <a:p>
            <a:pPr eaLnBrk="1" hangingPunct="1">
              <a:lnSpc>
                <a:spcPct val="90000"/>
              </a:lnSpc>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int t;</a:t>
            </a:r>
            <a:endParaRPr kumimoji="0" lang="en-US" altLang="zh-CN" sz="2400" b="1">
              <a:latin typeface="Arial" panose="020B0604020202020204" pitchFamily="34" charset="0"/>
            </a:endParaRPr>
          </a:p>
          <a:p>
            <a:pPr eaLnBrk="1" hangingPunct="1">
              <a:lnSpc>
                <a:spcPct val="90000"/>
              </a:lnSpc>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int a,c;</a:t>
            </a:r>
            <a:endParaRPr kumimoji="0" lang="en-US" altLang="zh-CN" sz="2400" b="1">
              <a:latin typeface="Arial" panose="020B0604020202020204" pitchFamily="34" charset="0"/>
            </a:endParaRPr>
          </a:p>
          <a:p>
            <a:pPr eaLnBrk="1" hangingPunct="1">
              <a:lnSpc>
                <a:spcPct val="90000"/>
              </a:lnSpc>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a:t>
            </a:r>
            <a:endParaRPr kumimoji="0" lang="en-US" altLang="zh-CN" sz="2400" b="1">
              <a:latin typeface="Arial" panose="020B0604020202020204" pitchFamily="34" charset="0"/>
            </a:endParaRPr>
          </a:p>
          <a:p>
            <a:pPr eaLnBrk="1" hangingPunct="1">
              <a:lnSpc>
                <a:spcPct val="90000"/>
              </a:lnSpc>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c=f1(a);</a:t>
            </a:r>
            <a:endParaRPr kumimoji="0" lang="en-US" altLang="zh-CN" sz="2400" b="1">
              <a:latin typeface="Arial" panose="020B0604020202020204" pitchFamily="34" charset="0"/>
            </a:endParaRPr>
          </a:p>
          <a:p>
            <a:pPr eaLnBrk="1" hangingPunct="1">
              <a:lnSpc>
                <a:spcPct val="90000"/>
              </a:lnSpc>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a:t>
            </a:r>
            <a:endParaRPr kumimoji="0" lang="en-US" altLang="zh-CN" sz="2400" b="1">
              <a:latin typeface="Arial" panose="020B0604020202020204" pitchFamily="34" charset="0"/>
            </a:endParaRPr>
          </a:p>
          <a:p>
            <a:pPr eaLnBrk="1" hangingPunct="1">
              <a:lnSpc>
                <a:spcPct val="90000"/>
              </a:lnSpc>
              <a:spcBef>
                <a:spcPct val="20000"/>
              </a:spcBef>
              <a:buClr>
                <a:schemeClr val="accent1"/>
              </a:buClr>
              <a:buFont typeface="Wingdings" panose="05000000000000000000" pitchFamily="2" charset="2"/>
              <a:buNone/>
            </a:pPr>
            <a:r>
              <a:rPr kumimoji="0" lang="en-US" altLang="zh-CN" sz="2400" b="1">
                <a:latin typeface="Arial" panose="020B0604020202020204" pitchFamily="34" charset="0"/>
              </a:rPr>
              <a:t>  return (3+c);  }</a:t>
            </a:r>
            <a:endParaRPr kumimoji="0" lang="en-US" altLang="zh-CN" sz="2400" b="1">
              <a:latin typeface="Arial" panose="020B0604020202020204" pitchFamily="34" charset="0"/>
            </a:endParaRPr>
          </a:p>
        </p:txBody>
      </p:sp>
      <p:sp>
        <p:nvSpPr>
          <p:cNvPr id="1075204" name="Line 4"/>
          <p:cNvSpPr>
            <a:spLocks noChangeShapeType="1"/>
          </p:cNvSpPr>
          <p:nvPr/>
        </p:nvSpPr>
        <p:spPr bwMode="auto">
          <a:xfrm flipV="1">
            <a:off x="3810000" y="838200"/>
            <a:ext cx="2133600" cy="1447800"/>
          </a:xfrm>
          <a:prstGeom prst="line">
            <a:avLst/>
          </a:prstGeom>
          <a:noFill/>
          <a:ln w="38100">
            <a:solidFill>
              <a:srgbClr val="0000FF"/>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5205" name="Line 5"/>
          <p:cNvSpPr>
            <a:spLocks noChangeShapeType="1"/>
          </p:cNvSpPr>
          <p:nvPr/>
        </p:nvSpPr>
        <p:spPr bwMode="auto">
          <a:xfrm flipH="1" flipV="1">
            <a:off x="3276600" y="609600"/>
            <a:ext cx="3048000" cy="1676400"/>
          </a:xfrm>
          <a:prstGeom prst="line">
            <a:avLst/>
          </a:prstGeom>
          <a:noFill/>
          <a:ln w="38100">
            <a:solidFill>
              <a:srgbClr val="0000FF"/>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1075206" name="Group 6"/>
          <p:cNvGrpSpPr/>
          <p:nvPr/>
        </p:nvGrpSpPr>
        <p:grpSpPr bwMode="auto">
          <a:xfrm>
            <a:off x="2133600" y="3962400"/>
            <a:ext cx="5943600" cy="2209800"/>
            <a:chOff x="864" y="2688"/>
            <a:chExt cx="3744" cy="1392"/>
          </a:xfrm>
        </p:grpSpPr>
        <p:sp>
          <p:nvSpPr>
            <p:cNvPr id="1075207" name="Rectangle 7"/>
            <p:cNvSpPr>
              <a:spLocks noChangeArrowheads="1"/>
            </p:cNvSpPr>
            <p:nvPr/>
          </p:nvSpPr>
          <p:spPr bwMode="auto">
            <a:xfrm>
              <a:off x="1104" y="2928"/>
              <a:ext cx="768" cy="384"/>
            </a:xfrm>
            <a:prstGeom prst="rect">
              <a:avLst/>
            </a:prstGeom>
            <a:solidFill>
              <a:schemeClr val="hlink"/>
            </a:solidFill>
            <a:ln w="38100">
              <a:solidFill>
                <a:schemeClr val="accent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2400">
                  <a:latin typeface="" charset="0"/>
                </a:rPr>
                <a:t>f 1</a:t>
              </a:r>
              <a:r>
                <a:rPr lang="zh-CN" altLang="en-US" sz="2400">
                  <a:latin typeface="" charset="0"/>
                </a:rPr>
                <a:t>函数</a:t>
              </a:r>
              <a:endParaRPr lang="zh-CN" altLang="en-US" sz="2400">
                <a:latin typeface="" charset="0"/>
              </a:endParaRPr>
            </a:p>
          </p:txBody>
        </p:sp>
        <p:sp>
          <p:nvSpPr>
            <p:cNvPr id="1075208" name="Rectangle 8"/>
            <p:cNvSpPr>
              <a:spLocks noChangeArrowheads="1"/>
            </p:cNvSpPr>
            <p:nvPr/>
          </p:nvSpPr>
          <p:spPr bwMode="auto">
            <a:xfrm>
              <a:off x="864" y="3696"/>
              <a:ext cx="1008" cy="384"/>
            </a:xfrm>
            <a:prstGeom prst="rect">
              <a:avLst/>
            </a:prstGeom>
            <a:solidFill>
              <a:schemeClr val="hlink"/>
            </a:solidFill>
            <a:ln w="38100">
              <a:solidFill>
                <a:schemeClr val="accent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zh-CN" altLang="en-US" sz="2400">
                  <a:latin typeface="" charset="0"/>
                </a:rPr>
                <a:t>调用 </a:t>
              </a:r>
              <a:r>
                <a:rPr lang="en-US" altLang="zh-CN" sz="2400">
                  <a:latin typeface="" charset="0"/>
                </a:rPr>
                <a:t>f2</a:t>
              </a:r>
              <a:r>
                <a:rPr lang="zh-CN" altLang="en-US" sz="2400">
                  <a:latin typeface="" charset="0"/>
                </a:rPr>
                <a:t>函数</a:t>
              </a:r>
              <a:endParaRPr lang="zh-CN" altLang="en-US" sz="2400">
                <a:latin typeface="" charset="0"/>
              </a:endParaRPr>
            </a:p>
          </p:txBody>
        </p:sp>
        <p:sp>
          <p:nvSpPr>
            <p:cNvPr id="1075209" name="Rectangle 9"/>
            <p:cNvSpPr>
              <a:spLocks noChangeArrowheads="1"/>
            </p:cNvSpPr>
            <p:nvPr/>
          </p:nvSpPr>
          <p:spPr bwMode="auto">
            <a:xfrm>
              <a:off x="3264" y="2928"/>
              <a:ext cx="768" cy="384"/>
            </a:xfrm>
            <a:prstGeom prst="rect">
              <a:avLst/>
            </a:prstGeom>
            <a:solidFill>
              <a:schemeClr val="hlink"/>
            </a:solidFill>
            <a:ln w="38100">
              <a:solidFill>
                <a:schemeClr val="accent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sz="2400">
                  <a:latin typeface="" charset="0"/>
                </a:rPr>
                <a:t>f 2</a:t>
              </a:r>
              <a:r>
                <a:rPr lang="zh-CN" altLang="en-US" sz="2400">
                  <a:latin typeface="" charset="0"/>
                </a:rPr>
                <a:t>函数</a:t>
              </a:r>
              <a:endParaRPr lang="zh-CN" altLang="en-US" sz="2400">
                <a:latin typeface="" charset="0"/>
              </a:endParaRPr>
            </a:p>
          </p:txBody>
        </p:sp>
        <p:sp>
          <p:nvSpPr>
            <p:cNvPr id="1075210" name="Rectangle 10"/>
            <p:cNvSpPr>
              <a:spLocks noChangeArrowheads="1"/>
            </p:cNvSpPr>
            <p:nvPr/>
          </p:nvSpPr>
          <p:spPr bwMode="auto">
            <a:xfrm>
              <a:off x="3120" y="3696"/>
              <a:ext cx="1056" cy="384"/>
            </a:xfrm>
            <a:prstGeom prst="rect">
              <a:avLst/>
            </a:prstGeom>
            <a:solidFill>
              <a:schemeClr val="hlink"/>
            </a:solidFill>
            <a:ln w="38100">
              <a:solidFill>
                <a:schemeClr val="accent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zh-CN" altLang="en-US" sz="2400">
                  <a:latin typeface="" charset="0"/>
                </a:rPr>
                <a:t>调用 </a:t>
              </a:r>
              <a:r>
                <a:rPr lang="en-US" altLang="zh-CN" sz="2400">
                  <a:latin typeface="" charset="0"/>
                </a:rPr>
                <a:t>f1</a:t>
              </a:r>
              <a:r>
                <a:rPr lang="zh-CN" altLang="en-US" sz="2400">
                  <a:latin typeface="" charset="0"/>
                </a:rPr>
                <a:t>函数</a:t>
              </a:r>
              <a:endParaRPr lang="zh-CN" altLang="en-US" sz="2400">
                <a:latin typeface="" charset="0"/>
              </a:endParaRPr>
            </a:p>
          </p:txBody>
        </p:sp>
        <p:sp>
          <p:nvSpPr>
            <p:cNvPr id="1075211" name="Line 11"/>
            <p:cNvSpPr>
              <a:spLocks noChangeShapeType="1"/>
            </p:cNvSpPr>
            <p:nvPr/>
          </p:nvSpPr>
          <p:spPr bwMode="auto">
            <a:xfrm>
              <a:off x="1440" y="3312"/>
              <a:ext cx="0" cy="384"/>
            </a:xfrm>
            <a:prstGeom prst="line">
              <a:avLst/>
            </a:prstGeom>
            <a:noFill/>
            <a:ln w="38100">
              <a:solidFill>
                <a:schemeClr val="accent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5212" name="Line 12"/>
            <p:cNvSpPr>
              <a:spLocks noChangeShapeType="1"/>
            </p:cNvSpPr>
            <p:nvPr/>
          </p:nvSpPr>
          <p:spPr bwMode="auto">
            <a:xfrm flipV="1">
              <a:off x="1872" y="3120"/>
              <a:ext cx="1392" cy="768"/>
            </a:xfrm>
            <a:prstGeom prst="line">
              <a:avLst/>
            </a:prstGeom>
            <a:noFill/>
            <a:ln w="38100">
              <a:solidFill>
                <a:schemeClr val="accent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5213" name="Line 13"/>
            <p:cNvSpPr>
              <a:spLocks noChangeShapeType="1"/>
            </p:cNvSpPr>
            <p:nvPr/>
          </p:nvSpPr>
          <p:spPr bwMode="auto">
            <a:xfrm>
              <a:off x="3696" y="3312"/>
              <a:ext cx="0" cy="384"/>
            </a:xfrm>
            <a:prstGeom prst="line">
              <a:avLst/>
            </a:prstGeom>
            <a:noFill/>
            <a:ln w="38100">
              <a:solidFill>
                <a:schemeClr val="accent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5214" name="Line 14"/>
            <p:cNvSpPr>
              <a:spLocks noChangeShapeType="1"/>
            </p:cNvSpPr>
            <p:nvPr/>
          </p:nvSpPr>
          <p:spPr bwMode="auto">
            <a:xfrm flipV="1">
              <a:off x="4176" y="3888"/>
              <a:ext cx="432" cy="0"/>
            </a:xfrm>
            <a:prstGeom prst="line">
              <a:avLst/>
            </a:prstGeom>
            <a:noFill/>
            <a:ln w="381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5215" name="Line 15"/>
            <p:cNvSpPr>
              <a:spLocks noChangeShapeType="1"/>
            </p:cNvSpPr>
            <p:nvPr/>
          </p:nvSpPr>
          <p:spPr bwMode="auto">
            <a:xfrm flipV="1">
              <a:off x="4608" y="2688"/>
              <a:ext cx="0" cy="1200"/>
            </a:xfrm>
            <a:prstGeom prst="line">
              <a:avLst/>
            </a:prstGeom>
            <a:noFill/>
            <a:ln w="381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5216" name="Line 16"/>
            <p:cNvSpPr>
              <a:spLocks noChangeShapeType="1"/>
            </p:cNvSpPr>
            <p:nvPr/>
          </p:nvSpPr>
          <p:spPr bwMode="auto">
            <a:xfrm flipH="1">
              <a:off x="1440" y="2688"/>
              <a:ext cx="3168" cy="0"/>
            </a:xfrm>
            <a:prstGeom prst="line">
              <a:avLst/>
            </a:prstGeom>
            <a:noFill/>
            <a:ln w="381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75217" name="Line 17"/>
            <p:cNvSpPr>
              <a:spLocks noChangeShapeType="1"/>
            </p:cNvSpPr>
            <p:nvPr/>
          </p:nvSpPr>
          <p:spPr bwMode="auto">
            <a:xfrm>
              <a:off x="1439" y="2688"/>
              <a:ext cx="0" cy="240"/>
            </a:xfrm>
            <a:prstGeom prst="line">
              <a:avLst/>
            </a:prstGeom>
            <a:noFill/>
            <a:ln w="38100">
              <a:solidFill>
                <a:schemeClr val="accent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075218" name="Text Box 18"/>
          <p:cNvSpPr txBox="1">
            <a:spLocks noChangeArrowheads="1"/>
          </p:cNvSpPr>
          <p:nvPr/>
        </p:nvSpPr>
        <p:spPr bwMode="auto">
          <a:xfrm>
            <a:off x="531813" y="1371600"/>
            <a:ext cx="611187"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vert="eaVert">
            <a:spAutoFit/>
          </a:bodyPr>
          <a:lstStyle/>
          <a:p>
            <a:pPr>
              <a:spcBef>
                <a:spcPct val="50000"/>
              </a:spcBef>
            </a:pPr>
            <a:r>
              <a:rPr kumimoji="0" lang="zh-CN" altLang="en-US" sz="2800" b="1">
                <a:solidFill>
                  <a:srgbClr val="0000FF"/>
                </a:solidFill>
                <a:latin typeface="Arial" panose="020B0604020202020204" pitchFamily="34" charset="0"/>
              </a:rPr>
              <a:t>间  接  调  用</a:t>
            </a:r>
            <a:endParaRPr kumimoji="0" lang="zh-CN" altLang="en-US" sz="2800" b="1">
              <a:solidFill>
                <a:srgbClr val="0000FF"/>
              </a:solidFill>
              <a:latin typeface="Arial" panose="020B0604020202020204" pitchFamily="34"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6" name="Rectangle 2"/>
          <p:cNvSpPr>
            <a:spLocks noGrp="1" noChangeArrowheads="1"/>
          </p:cNvSpPr>
          <p:nvPr>
            <p:ph type="body" idx="1"/>
          </p:nvPr>
        </p:nvSpPr>
        <p:spPr>
          <a:xfrm>
            <a:off x="457200" y="304800"/>
            <a:ext cx="8229600" cy="5826125"/>
          </a:xfrm>
        </p:spPr>
        <p:txBody>
          <a:bodyPr/>
          <a:lstStyle/>
          <a:p>
            <a:r>
              <a:rPr lang="zh-CN" altLang="en-US" b="1">
                <a:latin typeface="楷体_GB2312" charset="0"/>
                <a:ea typeface="楷体_GB2312" charset="0"/>
              </a:rPr>
              <a:t>    递归表现为：在该函数的所有可能执行路径中，存在一条由于调用自身或其它函数所导致的环路路径；为确保函数最终在有限的时间内执行完毕，必须在环路中存在一个出口，即当某种条件成立时，不必执行环路，而直接执行一条通向结束的非环路线</a:t>
            </a:r>
            <a:r>
              <a:rPr lang="zh-CN" altLang="en-US" b="1">
                <a:solidFill>
                  <a:srgbClr val="CC0000"/>
                </a:solidFill>
                <a:latin typeface="楷体_GB2312" charset="0"/>
                <a:ea typeface="楷体_GB2312" charset="0"/>
              </a:rPr>
              <a:t>。</a:t>
            </a:r>
            <a:r>
              <a:rPr lang="zh-CN" altLang="en-US">
                <a:latin typeface="楷体_GB2312" charset="0"/>
                <a:ea typeface="楷体_GB2312" charset="0"/>
              </a:rPr>
              <a:t> </a:t>
            </a:r>
            <a:endParaRPr lang="zh-CN" altLang="en-US">
              <a:latin typeface="楷体_GB2312" charset="0"/>
              <a:ea typeface="楷体_GB2312" charset="0"/>
            </a:endParaRPr>
          </a:p>
        </p:txBody>
      </p:sp>
      <p:pic>
        <p:nvPicPr>
          <p:cNvPr id="1076227" name="Picture 3" descr="hatecom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67400" y="4191000"/>
            <a:ext cx="2990850" cy="2411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42" name="Rectangle 2"/>
          <p:cNvSpPr>
            <a:spLocks noGrp="1" noChangeArrowheads="1"/>
          </p:cNvSpPr>
          <p:nvPr>
            <p:ph type="title"/>
          </p:nvPr>
        </p:nvSpPr>
        <p:spPr/>
        <p:txBody>
          <a:bodyPr/>
          <a:lstStyle/>
          <a:p>
            <a:r>
              <a:rPr lang="zh-CN" altLang="en-US"/>
              <a:t>栈与递归的实现</a:t>
            </a:r>
            <a:endParaRPr lang="en-US" altLang="zh-CN" sz="3200"/>
          </a:p>
        </p:txBody>
      </p:sp>
      <p:sp>
        <p:nvSpPr>
          <p:cNvPr id="1136643" name="Rectangle 3"/>
          <p:cNvSpPr>
            <a:spLocks noGrp="1" noChangeArrowheads="1"/>
          </p:cNvSpPr>
          <p:nvPr>
            <p:ph type="body" idx="1"/>
          </p:nvPr>
        </p:nvSpPr>
        <p:spPr>
          <a:xfrm>
            <a:off x="0" y="1295400"/>
            <a:ext cx="8648700" cy="4719638"/>
          </a:xfrm>
        </p:spPr>
        <p:txBody>
          <a:bodyPr/>
          <a:lstStyle/>
          <a:p>
            <a:pPr lvl="1"/>
            <a:r>
              <a:rPr lang="zh-CN" altLang="en-US" sz="2800">
                <a:ea typeface="黑体" panose="02010609060101010101" charset="-122"/>
              </a:rPr>
              <a:t>递归的对象</a:t>
            </a:r>
            <a:r>
              <a:rPr lang="zh-CN" altLang="en-US" sz="2800"/>
              <a:t>：一个对象部分地包含它自己，或用它自己给自己定义</a:t>
            </a:r>
            <a:r>
              <a:rPr lang="zh-CN" altLang="en-US" sz="2800">
                <a:ea typeface="楷体_GB2312" charset="0"/>
              </a:rPr>
              <a:t>。如某些数据结构的定义</a:t>
            </a:r>
            <a:endParaRPr lang="zh-CN" altLang="en-US" sz="2800">
              <a:ea typeface="楷体_GB2312" charset="0"/>
            </a:endParaRPr>
          </a:p>
          <a:p>
            <a:pPr lvl="2">
              <a:buFontTx/>
              <a:buNone/>
            </a:pPr>
            <a:r>
              <a:rPr lang="zh-CN" altLang="en-US" sz="2400">
                <a:ea typeface="楷体_GB2312" charset="0"/>
              </a:rPr>
              <a:t>线性表的另一种定义</a:t>
            </a:r>
            <a:r>
              <a:rPr lang="en-US" altLang="zh-CN" sz="2400">
                <a:ea typeface="楷体_GB2312" charset="0"/>
              </a:rPr>
              <a:t>:</a:t>
            </a:r>
            <a:endParaRPr lang="en-US" altLang="zh-CN" sz="2400">
              <a:ea typeface="楷体_GB2312" charset="0"/>
            </a:endParaRPr>
          </a:p>
          <a:p>
            <a:pPr lvl="2"/>
            <a:r>
              <a:rPr lang="zh-CN" altLang="en-US" sz="2400">
                <a:ea typeface="楷体_GB2312" charset="0"/>
              </a:rPr>
              <a:t>若元素个数为</a:t>
            </a:r>
            <a:r>
              <a:rPr lang="en-US" altLang="zh-CN" sz="2400">
                <a:ea typeface="楷体_GB2312" charset="0"/>
              </a:rPr>
              <a:t>0</a:t>
            </a:r>
            <a:r>
              <a:rPr lang="zh-CN" altLang="en-US" sz="2400">
                <a:ea typeface="楷体_GB2312" charset="0"/>
              </a:rPr>
              <a:t>，则称为空表</a:t>
            </a:r>
            <a:endParaRPr lang="zh-CN" altLang="en-US" sz="2400">
              <a:ea typeface="楷体_GB2312" charset="0"/>
            </a:endParaRPr>
          </a:p>
          <a:p>
            <a:pPr lvl="2"/>
            <a:r>
              <a:rPr lang="zh-CN" altLang="en-US" sz="2400">
                <a:ea typeface="楷体_GB2312" charset="0"/>
              </a:rPr>
              <a:t>若元素个数大于</a:t>
            </a:r>
            <a:r>
              <a:rPr lang="en-US" altLang="zh-CN" sz="2400">
                <a:ea typeface="楷体_GB2312" charset="0"/>
              </a:rPr>
              <a:t>0</a:t>
            </a:r>
            <a:r>
              <a:rPr lang="zh-CN" altLang="en-US" sz="2400">
                <a:ea typeface="楷体_GB2312" charset="0"/>
              </a:rPr>
              <a:t>，则有且仅有一个第一个元素</a:t>
            </a:r>
            <a:r>
              <a:rPr lang="en-US" altLang="zh-CN" sz="2400">
                <a:ea typeface="楷体_GB2312" charset="0"/>
              </a:rPr>
              <a:t>(</a:t>
            </a:r>
            <a:r>
              <a:rPr lang="zh-CN" altLang="en-US" sz="2400">
                <a:ea typeface="楷体_GB2312" charset="0"/>
              </a:rPr>
              <a:t>即表头</a:t>
            </a:r>
            <a:r>
              <a:rPr lang="en-US" altLang="zh-CN" sz="2400">
                <a:ea typeface="楷体_GB2312" charset="0"/>
              </a:rPr>
              <a:t>)</a:t>
            </a:r>
            <a:r>
              <a:rPr lang="zh-CN" altLang="en-US" sz="2400">
                <a:ea typeface="楷体_GB2312" charset="0"/>
              </a:rPr>
              <a:t>，剩余元素形成一个表</a:t>
            </a:r>
            <a:r>
              <a:rPr lang="en-US" altLang="zh-CN" sz="2400">
                <a:ea typeface="楷体_GB2312" charset="0"/>
              </a:rPr>
              <a:t>(</a:t>
            </a:r>
            <a:r>
              <a:rPr lang="zh-CN" altLang="en-US" sz="2400">
                <a:ea typeface="楷体_GB2312" charset="0"/>
              </a:rPr>
              <a:t>即表尾</a:t>
            </a:r>
            <a:r>
              <a:rPr lang="en-US" altLang="zh-CN" sz="2400">
                <a:ea typeface="楷体_GB2312" charset="0"/>
              </a:rPr>
              <a:t>) </a:t>
            </a:r>
            <a:r>
              <a:rPr lang="zh-CN" altLang="en-US" sz="2400">
                <a:ea typeface="楷体_GB2312" charset="0"/>
              </a:rPr>
              <a:t>。 </a:t>
            </a:r>
            <a:endParaRPr lang="zh-CN" altLang="en-US" sz="2400">
              <a:ea typeface="楷体_GB2312" charset="0"/>
            </a:endParaRPr>
          </a:p>
          <a:p>
            <a:pPr lvl="1"/>
            <a:r>
              <a:rPr lang="zh-CN" altLang="en-US" sz="2800">
                <a:ea typeface="黑体" panose="02010609060101010101" charset="-122"/>
              </a:rPr>
              <a:t>递归的过程</a:t>
            </a:r>
            <a:r>
              <a:rPr lang="zh-CN" altLang="en-US" sz="2800"/>
              <a:t>：一个过程直接或间接地调用自己</a:t>
            </a:r>
            <a:endParaRPr lang="zh-CN" altLang="en-US" sz="2800"/>
          </a:p>
          <a:p>
            <a:pPr lvl="2">
              <a:buFontTx/>
              <a:buNone/>
            </a:pPr>
            <a:r>
              <a:rPr lang="zh-CN" altLang="en-US" sz="2400">
                <a:ea typeface="楷体_GB2312" charset="0"/>
              </a:rPr>
              <a:t>如：</a:t>
            </a:r>
            <a:r>
              <a:rPr lang="en-US" altLang="zh-CN" sz="2400">
                <a:ea typeface="楷体_GB2312" charset="0"/>
              </a:rPr>
              <a:t>0</a:t>
            </a:r>
            <a:r>
              <a:rPr lang="zh-CN" altLang="en-US" sz="2400">
                <a:ea typeface="楷体_GB2312" charset="0"/>
              </a:rPr>
              <a:t>的阶乘是</a:t>
            </a:r>
            <a:r>
              <a:rPr lang="en-US" altLang="zh-CN" sz="2400">
                <a:ea typeface="楷体_GB2312" charset="0"/>
              </a:rPr>
              <a:t>1</a:t>
            </a:r>
            <a:r>
              <a:rPr lang="zh-CN" altLang="en-US" sz="2400">
                <a:ea typeface="楷体_GB2312" charset="0"/>
              </a:rPr>
              <a:t>，</a:t>
            </a:r>
            <a:r>
              <a:rPr lang="en-US" altLang="zh-CN" sz="2400">
                <a:ea typeface="楷体_GB2312" charset="0"/>
              </a:rPr>
              <a:t>n(n&gt;0)</a:t>
            </a:r>
            <a:r>
              <a:rPr lang="zh-CN" altLang="en-US" sz="2400">
                <a:ea typeface="楷体_GB2312" charset="0"/>
              </a:rPr>
              <a:t>的阶乘等于</a:t>
            </a:r>
            <a:r>
              <a:rPr lang="en-US" altLang="zh-CN" sz="2400">
                <a:ea typeface="楷体_GB2312" charset="0"/>
              </a:rPr>
              <a:t>n</a:t>
            </a:r>
            <a:r>
              <a:rPr lang="zh-CN" altLang="en-US" sz="2400">
                <a:ea typeface="楷体_GB2312" charset="0"/>
              </a:rPr>
              <a:t>乘上</a:t>
            </a:r>
            <a:r>
              <a:rPr lang="en-US" altLang="zh-CN" sz="2400">
                <a:ea typeface="楷体_GB2312" charset="0"/>
              </a:rPr>
              <a:t>(n-1)</a:t>
            </a:r>
            <a:r>
              <a:rPr lang="zh-CN" altLang="en-US" sz="2400">
                <a:ea typeface="楷体_GB2312" charset="0"/>
              </a:rPr>
              <a:t>的阶乘</a:t>
            </a:r>
            <a:endParaRPr lang="en-US" altLang="zh-CN" sz="2400">
              <a:ea typeface="楷体_GB2312"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7666" name="Rectangle 2"/>
          <p:cNvSpPr>
            <a:spLocks noGrp="1" noChangeArrowheads="1"/>
          </p:cNvSpPr>
          <p:nvPr>
            <p:ph type="title"/>
          </p:nvPr>
        </p:nvSpPr>
        <p:spPr/>
        <p:txBody>
          <a:bodyPr/>
          <a:lstStyle/>
          <a:p>
            <a:r>
              <a:rPr lang="zh-CN" altLang="en-US" b="0">
                <a:solidFill>
                  <a:schemeClr val="tx1"/>
                </a:solidFill>
                <a:ea typeface="楷体_GB2312" charset="0"/>
              </a:rPr>
              <a:t>递归的应用</a:t>
            </a:r>
            <a:endParaRPr lang="en-US" altLang="zh-CN" b="0">
              <a:solidFill>
                <a:schemeClr val="tx1"/>
              </a:solidFill>
              <a:ea typeface="楷体_GB2312" charset="0"/>
            </a:endParaRPr>
          </a:p>
        </p:txBody>
      </p:sp>
      <p:sp>
        <p:nvSpPr>
          <p:cNvPr id="1137667" name="Rectangle 3"/>
          <p:cNvSpPr>
            <a:spLocks noGrp="1" noChangeArrowheads="1"/>
          </p:cNvSpPr>
          <p:nvPr>
            <p:ph type="body" idx="1"/>
          </p:nvPr>
        </p:nvSpPr>
        <p:spPr>
          <a:xfrm>
            <a:off x="381000" y="1752600"/>
            <a:ext cx="8305800" cy="43830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lvl="1"/>
            <a:r>
              <a:rPr lang="zh-CN" altLang="en-US"/>
              <a:t>递归定义</a:t>
            </a:r>
            <a:r>
              <a:rPr lang="zh-CN" altLang="en-US">
                <a:ea typeface="楷体_GB2312" charset="0"/>
              </a:rPr>
              <a:t>：如阶乘、</a:t>
            </a:r>
            <a:r>
              <a:rPr lang="en-US" altLang="zh-CN">
                <a:ea typeface="楷体_GB2312" charset="0"/>
              </a:rPr>
              <a:t>Fibonacci</a:t>
            </a:r>
            <a:r>
              <a:rPr lang="zh-CN" altLang="en-US">
                <a:ea typeface="楷体_GB2312" charset="0"/>
              </a:rPr>
              <a:t>数列等</a:t>
            </a:r>
            <a:endParaRPr lang="zh-CN" altLang="en-US">
              <a:ea typeface="楷体_GB2312" charset="0"/>
            </a:endParaRPr>
          </a:p>
          <a:p>
            <a:pPr lvl="1"/>
            <a:r>
              <a:rPr lang="zh-CN" altLang="en-US"/>
              <a:t>数据结构</a:t>
            </a:r>
            <a:r>
              <a:rPr lang="zh-CN" altLang="en-US">
                <a:ea typeface="楷体_GB2312" charset="0"/>
              </a:rPr>
              <a:t>：如表、树、二叉树等</a:t>
            </a:r>
            <a:endParaRPr lang="zh-CN" altLang="en-US">
              <a:ea typeface="楷体_GB2312" charset="0"/>
            </a:endParaRPr>
          </a:p>
          <a:p>
            <a:pPr lvl="1"/>
            <a:r>
              <a:rPr lang="zh-CN" altLang="en-US"/>
              <a:t>问题求解</a:t>
            </a:r>
            <a:r>
              <a:rPr lang="zh-CN" altLang="en-US">
                <a:ea typeface="楷体_GB2312" charset="0"/>
              </a:rPr>
              <a:t>：如</a:t>
            </a:r>
            <a:r>
              <a:rPr lang="en-US" altLang="zh-CN" sz="2800">
                <a:ea typeface="楷体_GB2312" charset="0"/>
              </a:rPr>
              <a:t>Hanoi</a:t>
            </a:r>
            <a:r>
              <a:rPr lang="zh-CN" altLang="en-US" sz="2800">
                <a:ea typeface="楷体_GB2312" charset="0"/>
              </a:rPr>
              <a:t>塔、八皇后</a:t>
            </a:r>
            <a:endParaRPr lang="en-US" altLang="zh-CN">
              <a:ea typeface="楷体_GB2312" charset="0"/>
            </a:endParaRPr>
          </a:p>
        </p:txBody>
      </p:sp>
      <p:sp>
        <p:nvSpPr>
          <p:cNvPr id="1137668" name="AutoShape 4">
            <a:hlinkClick r:id="rId1"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690" name="Rectangle 2"/>
          <p:cNvSpPr>
            <a:spLocks noGrp="1" noChangeArrowheads="1"/>
          </p:cNvSpPr>
          <p:nvPr>
            <p:ph type="title"/>
          </p:nvPr>
        </p:nvSpPr>
        <p:spPr/>
        <p:txBody>
          <a:bodyPr/>
          <a:lstStyle/>
          <a:p>
            <a:r>
              <a:rPr lang="zh-CN" altLang="en-US"/>
              <a:t>栈与递归的实现–</a:t>
            </a:r>
            <a:r>
              <a:rPr lang="zh-CN" altLang="en-US" sz="3200"/>
              <a:t>阶乘函数</a:t>
            </a:r>
            <a:endParaRPr lang="en-US" altLang="zh-CN" sz="3200"/>
          </a:p>
        </p:txBody>
      </p:sp>
      <p:sp>
        <p:nvSpPr>
          <p:cNvPr id="1138691" name="Rectangle 3"/>
          <p:cNvSpPr>
            <a:spLocks noGrp="1" noChangeArrowheads="1"/>
          </p:cNvSpPr>
          <p:nvPr>
            <p:ph type="body" idx="1"/>
          </p:nvPr>
        </p:nvSpPr>
        <p:spPr>
          <a:xfrm>
            <a:off x="838200" y="1676400"/>
            <a:ext cx="8305800" cy="43830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t>定义是递归的</a:t>
            </a:r>
            <a:endParaRPr lang="zh-CN" altLang="en-US"/>
          </a:p>
        </p:txBody>
      </p:sp>
      <p:graphicFrame>
        <p:nvGraphicFramePr>
          <p:cNvPr id="1138692" name="Object 4"/>
          <p:cNvGraphicFramePr>
            <a:graphicFrameLocks noChangeAspect="1"/>
          </p:cNvGraphicFramePr>
          <p:nvPr/>
        </p:nvGraphicFramePr>
        <p:xfrm>
          <a:off x="1295400" y="2325688"/>
          <a:ext cx="5784850" cy="1255712"/>
        </p:xfrm>
        <a:graphic>
          <a:graphicData uri="http://schemas.openxmlformats.org/presentationml/2006/ole">
            <mc:AlternateContent xmlns:mc="http://schemas.openxmlformats.org/markup-compatibility/2006">
              <mc:Choice xmlns:v="urn:schemas-microsoft-com:vml" Requires="v">
                <p:oleObj spid="_x0000_s396289" name="Equation" r:id="rId1" imgW="1777365" imgH="482600" progId="Equation.3">
                  <p:embed/>
                </p:oleObj>
              </mc:Choice>
              <mc:Fallback>
                <p:oleObj name="Equation" r:id="rId1" imgW="1777365" imgH="482600" progId="Equation.3">
                  <p:embed/>
                  <p:pic>
                    <p:nvPicPr>
                      <p:cNvPr id="0" name="图片 39628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325688"/>
                        <a:ext cx="5784850" cy="1255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138693" name="Text Box 5"/>
          <p:cNvSpPr txBox="1">
            <a:spLocks noChangeArrowheads="1"/>
          </p:cNvSpPr>
          <p:nvPr/>
        </p:nvSpPr>
        <p:spPr bwMode="auto">
          <a:xfrm>
            <a:off x="990600" y="3779838"/>
            <a:ext cx="7315200"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sz="2800" b="1">
                <a:ea typeface="楷体_GB2312" charset="0"/>
              </a:rPr>
              <a:t>求解阶乘函数的递归算法</a:t>
            </a:r>
            <a:endParaRPr lang="zh-CN" altLang="en-US" sz="2800" b="1">
              <a:ea typeface="楷体_GB2312" charset="0"/>
            </a:endParaRPr>
          </a:p>
          <a:p>
            <a:r>
              <a:rPr lang="en-US" altLang="zh-CN" sz="2800" b="1">
                <a:ea typeface="楷体_GB2312" charset="0"/>
              </a:rPr>
              <a:t>long fact ( long n ) {</a:t>
            </a:r>
            <a:endParaRPr lang="en-US" altLang="zh-CN" sz="2800" b="1">
              <a:ea typeface="楷体_GB2312" charset="0"/>
            </a:endParaRPr>
          </a:p>
          <a:p>
            <a:pPr>
              <a:lnSpc>
                <a:spcPct val="105000"/>
              </a:lnSpc>
            </a:pPr>
            <a:r>
              <a:rPr lang="en-US" altLang="zh-CN" sz="2800" b="1">
                <a:ea typeface="楷体_GB2312" charset="0"/>
              </a:rPr>
              <a:t>    if ( n == 0 ) return 1;		//</a:t>
            </a:r>
            <a:r>
              <a:rPr lang="zh-CN" altLang="en-US" sz="2800" b="1">
                <a:ea typeface="楷体_GB2312" charset="0"/>
              </a:rPr>
              <a:t>递归结束条件</a:t>
            </a:r>
            <a:endParaRPr lang="zh-CN" altLang="en-US" sz="2800" b="1">
              <a:ea typeface="楷体_GB2312" charset="0"/>
            </a:endParaRPr>
          </a:p>
          <a:p>
            <a:pPr>
              <a:lnSpc>
                <a:spcPct val="105000"/>
              </a:lnSpc>
            </a:pPr>
            <a:r>
              <a:rPr lang="en-US" altLang="zh-CN" sz="2800" b="1">
                <a:ea typeface="楷体_GB2312" charset="0"/>
              </a:rPr>
              <a:t>    else return n * fact (n</a:t>
            </a:r>
            <a:r>
              <a:rPr lang="en-US" altLang="zh-CN" sz="2800" b="1">
                <a:latin typeface="仿宋_GB2312" charset="0"/>
                <a:ea typeface="楷体_GB2312" charset="0"/>
              </a:rPr>
              <a:t>-</a:t>
            </a:r>
            <a:r>
              <a:rPr lang="en-US" altLang="zh-CN" sz="2800" b="1">
                <a:ea typeface="楷体_GB2312" charset="0"/>
              </a:rPr>
              <a:t>1); 	//</a:t>
            </a:r>
            <a:r>
              <a:rPr lang="zh-CN" altLang="en-US" sz="2800" b="1">
                <a:ea typeface="楷体_GB2312" charset="0"/>
              </a:rPr>
              <a:t>递归的规则</a:t>
            </a:r>
            <a:endParaRPr lang="en-US" altLang="zh-CN" sz="2800" b="1">
              <a:ea typeface="楷体_GB2312" charset="0"/>
            </a:endParaRPr>
          </a:p>
          <a:p>
            <a:pPr>
              <a:lnSpc>
                <a:spcPct val="105000"/>
              </a:lnSpc>
            </a:pPr>
            <a:r>
              <a:rPr lang="en-US" altLang="zh-CN" sz="2800" b="1">
                <a:ea typeface="楷体_GB2312" charset="0"/>
              </a:rPr>
              <a:t>}</a:t>
            </a:r>
            <a:endParaRPr lang="en-US" altLang="zh-CN" sz="2800" b="1">
              <a:ea typeface="楷体_GB2312"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9714" name="Rectangle 2"/>
          <p:cNvSpPr>
            <a:spLocks noGrp="1" noChangeArrowheads="1"/>
          </p:cNvSpPr>
          <p:nvPr>
            <p:ph type="title"/>
          </p:nvPr>
        </p:nvSpPr>
        <p:spPr/>
        <p:txBody>
          <a:bodyPr/>
          <a:lstStyle/>
          <a:p>
            <a:r>
              <a:rPr lang="zh-CN" altLang="en-US"/>
              <a:t>栈与递归的实现–</a:t>
            </a:r>
            <a:r>
              <a:rPr lang="zh-CN" altLang="en-US" sz="3200"/>
              <a:t>阶乘函数</a:t>
            </a:r>
            <a:endParaRPr lang="en-US" altLang="zh-CN" sz="3200"/>
          </a:p>
        </p:txBody>
      </p:sp>
      <p:sp>
        <p:nvSpPr>
          <p:cNvPr id="1139715" name="Rectangle 3"/>
          <p:cNvSpPr>
            <a:spLocks noChangeArrowheads="1"/>
          </p:cNvSpPr>
          <p:nvPr/>
        </p:nvSpPr>
        <p:spPr bwMode="auto">
          <a:xfrm>
            <a:off x="1739900" y="1900238"/>
            <a:ext cx="5410200" cy="609600"/>
          </a:xfrm>
          <a:prstGeom prst="rect">
            <a:avLst/>
          </a:prstGeom>
          <a:gradFill rotWithShape="0">
            <a:gsLst>
              <a:gs pos="0">
                <a:srgbClr val="CCFFFF"/>
              </a:gs>
              <a:gs pos="100000">
                <a:srgbClr val="CCFFFF">
                  <a:gamma/>
                  <a:shade val="86275"/>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zh-CN" altLang="en-US" sz="2800" b="1">
                <a:solidFill>
                  <a:schemeClr val="tx2"/>
                </a:solidFill>
                <a:effectLst>
                  <a:outerShdw blurRad="38100" dist="38100" dir="2700000" algn="tl">
                    <a:srgbClr val="FFFFFF"/>
                  </a:outerShdw>
                </a:effectLst>
                <a:ea typeface="仿宋_GB2312" charset="0"/>
              </a:rPr>
              <a:t>主程序</a:t>
            </a:r>
            <a:r>
              <a:rPr lang="zh-CN" altLang="en-US" sz="2800" b="1">
                <a:solidFill>
                  <a:schemeClr val="tx2"/>
                </a:solidFill>
              </a:rPr>
              <a:t> </a:t>
            </a:r>
            <a:r>
              <a:rPr lang="en-US" altLang="zh-CN" sz="2800" b="1">
                <a:solidFill>
                  <a:schemeClr val="tx2"/>
                </a:solidFill>
              </a:rPr>
              <a:t>main( ): fact(4)	</a:t>
            </a:r>
            <a:endParaRPr lang="zh-CN" altLang="en-US" sz="2800" b="1">
              <a:solidFill>
                <a:schemeClr val="tx2"/>
              </a:solidFill>
              <a:ea typeface="仿宋_GB2312" charset="0"/>
            </a:endParaRPr>
          </a:p>
        </p:txBody>
      </p:sp>
      <p:grpSp>
        <p:nvGrpSpPr>
          <p:cNvPr id="1139716" name="Group 4"/>
          <p:cNvGrpSpPr/>
          <p:nvPr/>
        </p:nvGrpSpPr>
        <p:grpSpPr bwMode="auto">
          <a:xfrm>
            <a:off x="0" y="2306638"/>
            <a:ext cx="1158875" cy="3962400"/>
            <a:chOff x="0" y="1453"/>
            <a:chExt cx="730" cy="2496"/>
          </a:xfrm>
        </p:grpSpPr>
        <p:sp>
          <p:nvSpPr>
            <p:cNvPr id="1139717" name="Text Box 5"/>
            <p:cNvSpPr txBox="1">
              <a:spLocks noChangeArrowheads="1"/>
            </p:cNvSpPr>
            <p:nvPr/>
          </p:nvSpPr>
          <p:spPr bwMode="auto">
            <a:xfrm>
              <a:off x="336" y="2047"/>
              <a:ext cx="394" cy="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sz="2800" b="1">
                  <a:ea typeface="仿宋_GB2312" charset="0"/>
                </a:rPr>
                <a:t>参数传递</a:t>
              </a:r>
              <a:endParaRPr lang="zh-CN" altLang="en-US" sz="2400"/>
            </a:p>
          </p:txBody>
        </p:sp>
        <p:sp>
          <p:nvSpPr>
            <p:cNvPr id="1139718" name="Line 6"/>
            <p:cNvSpPr>
              <a:spLocks noChangeShapeType="1"/>
            </p:cNvSpPr>
            <p:nvPr/>
          </p:nvSpPr>
          <p:spPr bwMode="auto">
            <a:xfrm>
              <a:off x="346" y="1453"/>
              <a:ext cx="0" cy="2496"/>
            </a:xfrm>
            <a:prstGeom prst="line">
              <a:avLst/>
            </a:prstGeom>
            <a:noFill/>
            <a:ln w="28575">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9719" name="Text Box 7"/>
            <p:cNvSpPr txBox="1">
              <a:spLocks noChangeArrowheads="1"/>
            </p:cNvSpPr>
            <p:nvPr/>
          </p:nvSpPr>
          <p:spPr bwMode="auto">
            <a:xfrm>
              <a:off x="0" y="2047"/>
              <a:ext cx="394" cy="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sz="2800" b="1">
                  <a:effectLst>
                    <a:outerShdw blurRad="38100" dist="38100" dir="2700000" algn="tl">
                      <a:srgbClr val="C0C0C0"/>
                    </a:outerShdw>
                  </a:effectLst>
                  <a:ea typeface="仿宋_GB2312" charset="0"/>
                </a:rPr>
                <a:t>递归调用</a:t>
              </a:r>
              <a:endParaRPr lang="zh-CN" altLang="en-US" sz="2400"/>
            </a:p>
          </p:txBody>
        </p:sp>
      </p:grpSp>
      <p:grpSp>
        <p:nvGrpSpPr>
          <p:cNvPr id="1139720" name="Group 8"/>
          <p:cNvGrpSpPr/>
          <p:nvPr/>
        </p:nvGrpSpPr>
        <p:grpSpPr bwMode="auto">
          <a:xfrm>
            <a:off x="7770813" y="2155825"/>
            <a:ext cx="1158875" cy="3962400"/>
            <a:chOff x="4903" y="1457"/>
            <a:chExt cx="730" cy="2496"/>
          </a:xfrm>
        </p:grpSpPr>
        <p:sp>
          <p:nvSpPr>
            <p:cNvPr id="1139721" name="Text Box 9"/>
            <p:cNvSpPr txBox="1">
              <a:spLocks noChangeArrowheads="1"/>
            </p:cNvSpPr>
            <p:nvPr/>
          </p:nvSpPr>
          <p:spPr bwMode="auto">
            <a:xfrm>
              <a:off x="4903" y="2081"/>
              <a:ext cx="346" cy="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sz="2800" b="1">
                  <a:ea typeface="楷体_GB2312" charset="0"/>
                </a:rPr>
                <a:t>结果返回</a:t>
              </a:r>
              <a:endParaRPr lang="zh-CN" altLang="en-US" sz="2800" b="1">
                <a:ea typeface="楷体_GB2312" charset="0"/>
              </a:endParaRPr>
            </a:p>
          </p:txBody>
        </p:sp>
        <p:sp>
          <p:nvSpPr>
            <p:cNvPr id="1139722" name="Line 10"/>
            <p:cNvSpPr>
              <a:spLocks noChangeShapeType="1"/>
            </p:cNvSpPr>
            <p:nvPr/>
          </p:nvSpPr>
          <p:spPr bwMode="auto">
            <a:xfrm>
              <a:off x="5239" y="1457"/>
              <a:ext cx="0" cy="2496"/>
            </a:xfrm>
            <a:prstGeom prst="line">
              <a:avLst/>
            </a:prstGeom>
            <a:noFill/>
            <a:ln w="28575">
              <a:solidFill>
                <a:schemeClr val="tx1"/>
              </a:solidFill>
              <a:round/>
              <a:headEnd type="triangle" w="lg"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9723" name="Text Box 11"/>
            <p:cNvSpPr txBox="1">
              <a:spLocks noChangeArrowheads="1"/>
            </p:cNvSpPr>
            <p:nvPr/>
          </p:nvSpPr>
          <p:spPr bwMode="auto">
            <a:xfrm>
              <a:off x="5239" y="2051"/>
              <a:ext cx="394" cy="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sz="2800" b="1">
                  <a:effectLst>
                    <a:outerShdw blurRad="38100" dist="38100" dir="2700000" algn="tl">
                      <a:srgbClr val="C0C0C0"/>
                    </a:outerShdw>
                  </a:effectLst>
                  <a:ea typeface="仿宋_GB2312" charset="0"/>
                </a:rPr>
                <a:t>回归求值</a:t>
              </a:r>
              <a:endParaRPr lang="zh-CN" altLang="en-US" sz="2400"/>
            </a:p>
          </p:txBody>
        </p:sp>
      </p:grpSp>
      <p:grpSp>
        <p:nvGrpSpPr>
          <p:cNvPr id="1139724" name="Group 12"/>
          <p:cNvGrpSpPr/>
          <p:nvPr/>
        </p:nvGrpSpPr>
        <p:grpSpPr bwMode="auto">
          <a:xfrm>
            <a:off x="1511300" y="2281238"/>
            <a:ext cx="5638800" cy="1020762"/>
            <a:chOff x="960" y="1536"/>
            <a:chExt cx="3552" cy="643"/>
          </a:xfrm>
        </p:grpSpPr>
        <p:sp>
          <p:nvSpPr>
            <p:cNvPr id="1139725" name="Freeform 13"/>
            <p:cNvSpPr/>
            <p:nvPr/>
          </p:nvSpPr>
          <p:spPr bwMode="auto">
            <a:xfrm>
              <a:off x="960" y="1536"/>
              <a:ext cx="144" cy="379"/>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9726" name="Rectangle 14"/>
            <p:cNvSpPr>
              <a:spLocks noChangeArrowheads="1"/>
            </p:cNvSpPr>
            <p:nvPr/>
          </p:nvSpPr>
          <p:spPr bwMode="auto">
            <a:xfrm>
              <a:off x="1104" y="1795"/>
              <a:ext cx="3408" cy="384"/>
            </a:xfrm>
            <a:prstGeom prst="rect">
              <a:avLst/>
            </a:prstGeom>
            <a:gradFill rotWithShape="0">
              <a:gsLst>
                <a:gs pos="0">
                  <a:srgbClr val="CCFFFF"/>
                </a:gs>
                <a:gs pos="100000">
                  <a:srgbClr val="CCFFFF">
                    <a:gamma/>
                    <a:shade val="86275"/>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2800" b="1">
                  <a:solidFill>
                    <a:schemeClr val="tx2"/>
                  </a:solidFill>
                  <a:ea typeface="仿宋_GB2312" charset="0"/>
                </a:rPr>
                <a:t>   fact(</a:t>
              </a:r>
              <a:r>
                <a:rPr lang="zh-CN" altLang="en-US" sz="2800" b="1">
                  <a:solidFill>
                    <a:schemeClr val="tx2"/>
                  </a:solidFill>
                  <a:ea typeface="仿宋_GB2312" charset="0"/>
                </a:rPr>
                <a:t>4): </a:t>
              </a:r>
              <a:r>
                <a:rPr lang="en-US" altLang="zh-CN" sz="2800" b="1">
                  <a:solidFill>
                    <a:schemeClr val="tx2"/>
                  </a:solidFill>
                  <a:ea typeface="仿宋_GB2312" charset="0"/>
                </a:rPr>
                <a:t>	</a:t>
              </a:r>
              <a:endParaRPr lang="zh-CN" altLang="en-US" sz="2800" b="1">
                <a:solidFill>
                  <a:schemeClr val="tx2"/>
                </a:solidFill>
                <a:ea typeface="仿宋_GB2312" charset="0"/>
              </a:endParaRPr>
            </a:p>
          </p:txBody>
        </p:sp>
      </p:grpSp>
      <p:grpSp>
        <p:nvGrpSpPr>
          <p:cNvPr id="1139727" name="Group 15"/>
          <p:cNvGrpSpPr/>
          <p:nvPr/>
        </p:nvGrpSpPr>
        <p:grpSpPr bwMode="auto">
          <a:xfrm>
            <a:off x="1498600" y="3055938"/>
            <a:ext cx="5638800" cy="1050925"/>
            <a:chOff x="960" y="2016"/>
            <a:chExt cx="3552" cy="662"/>
          </a:xfrm>
        </p:grpSpPr>
        <p:sp>
          <p:nvSpPr>
            <p:cNvPr id="1139728" name="Rectangle 16"/>
            <p:cNvSpPr>
              <a:spLocks noChangeArrowheads="1"/>
            </p:cNvSpPr>
            <p:nvPr/>
          </p:nvSpPr>
          <p:spPr bwMode="auto">
            <a:xfrm>
              <a:off x="1104" y="2294"/>
              <a:ext cx="3408" cy="384"/>
            </a:xfrm>
            <a:prstGeom prst="rect">
              <a:avLst/>
            </a:prstGeom>
            <a:gradFill rotWithShape="0">
              <a:gsLst>
                <a:gs pos="0">
                  <a:srgbClr val="CCFFFF"/>
                </a:gs>
                <a:gs pos="100000">
                  <a:srgbClr val="CCFFFF">
                    <a:gamma/>
                    <a:shade val="86275"/>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2800" b="1">
                  <a:solidFill>
                    <a:schemeClr val="tx2"/>
                  </a:solidFill>
                  <a:ea typeface="仿宋_GB2312" charset="0"/>
                </a:rPr>
                <a:t>   fact(</a:t>
              </a:r>
              <a:r>
                <a:rPr lang="zh-CN" altLang="en-US" sz="2800" b="1">
                  <a:solidFill>
                    <a:schemeClr val="tx2"/>
                  </a:solidFill>
                  <a:ea typeface="仿宋_GB2312" charset="0"/>
                </a:rPr>
                <a:t>3): </a:t>
              </a:r>
              <a:r>
                <a:rPr lang="en-US" altLang="zh-CN" sz="2800" b="1">
                  <a:solidFill>
                    <a:schemeClr val="tx2"/>
                  </a:solidFill>
                  <a:ea typeface="仿宋_GB2312" charset="0"/>
                </a:rPr>
                <a:t>	</a:t>
              </a:r>
              <a:endParaRPr lang="zh-CN" altLang="en-US" sz="2800" b="1">
                <a:solidFill>
                  <a:schemeClr val="tx2"/>
                </a:solidFill>
                <a:ea typeface="仿宋_GB2312" charset="0"/>
              </a:endParaRPr>
            </a:p>
          </p:txBody>
        </p:sp>
        <p:sp>
          <p:nvSpPr>
            <p:cNvPr id="1139729" name="Freeform 17"/>
            <p:cNvSpPr/>
            <p:nvPr/>
          </p:nvSpPr>
          <p:spPr bwMode="auto">
            <a:xfrm>
              <a:off x="960" y="2016"/>
              <a:ext cx="155" cy="382"/>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39730" name="Group 18"/>
          <p:cNvGrpSpPr/>
          <p:nvPr/>
        </p:nvGrpSpPr>
        <p:grpSpPr bwMode="auto">
          <a:xfrm>
            <a:off x="1511300" y="3805238"/>
            <a:ext cx="5638800" cy="1081087"/>
            <a:chOff x="960" y="2496"/>
            <a:chExt cx="3552" cy="681"/>
          </a:xfrm>
        </p:grpSpPr>
        <p:sp>
          <p:nvSpPr>
            <p:cNvPr id="1139731" name="Rectangle 19"/>
            <p:cNvSpPr>
              <a:spLocks noChangeArrowheads="1"/>
            </p:cNvSpPr>
            <p:nvPr/>
          </p:nvSpPr>
          <p:spPr bwMode="auto">
            <a:xfrm>
              <a:off x="1104" y="2793"/>
              <a:ext cx="3408" cy="384"/>
            </a:xfrm>
            <a:prstGeom prst="rect">
              <a:avLst/>
            </a:prstGeom>
            <a:gradFill rotWithShape="0">
              <a:gsLst>
                <a:gs pos="0">
                  <a:srgbClr val="CCFFFF"/>
                </a:gs>
                <a:gs pos="100000">
                  <a:srgbClr val="CCFFFF">
                    <a:gamma/>
                    <a:shade val="86275"/>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2800" b="1">
                  <a:solidFill>
                    <a:schemeClr val="tx2"/>
                  </a:solidFill>
                  <a:ea typeface="仿宋_GB2312" charset="0"/>
                </a:rPr>
                <a:t>   fact(</a:t>
              </a:r>
              <a:r>
                <a:rPr lang="zh-CN" altLang="en-US" sz="2800" b="1">
                  <a:solidFill>
                    <a:schemeClr val="tx2"/>
                  </a:solidFill>
                  <a:ea typeface="仿宋_GB2312" charset="0"/>
                </a:rPr>
                <a:t>2):</a:t>
              </a:r>
              <a:endParaRPr lang="zh-CN" altLang="en-US" sz="2800" b="1">
                <a:solidFill>
                  <a:schemeClr val="tx2"/>
                </a:solidFill>
                <a:ea typeface="仿宋_GB2312" charset="0"/>
              </a:endParaRPr>
            </a:p>
          </p:txBody>
        </p:sp>
        <p:sp>
          <p:nvSpPr>
            <p:cNvPr id="1139732" name="Freeform 20"/>
            <p:cNvSpPr/>
            <p:nvPr/>
          </p:nvSpPr>
          <p:spPr bwMode="auto">
            <a:xfrm>
              <a:off x="960" y="2496"/>
              <a:ext cx="155" cy="382"/>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39733" name="Group 21"/>
          <p:cNvGrpSpPr/>
          <p:nvPr/>
        </p:nvGrpSpPr>
        <p:grpSpPr bwMode="auto">
          <a:xfrm>
            <a:off x="1511300" y="4643438"/>
            <a:ext cx="5638800" cy="1035050"/>
            <a:chOff x="960" y="3024"/>
            <a:chExt cx="3552" cy="652"/>
          </a:xfrm>
        </p:grpSpPr>
        <p:sp>
          <p:nvSpPr>
            <p:cNvPr id="1139734" name="Rectangle 22"/>
            <p:cNvSpPr>
              <a:spLocks noChangeArrowheads="1"/>
            </p:cNvSpPr>
            <p:nvPr/>
          </p:nvSpPr>
          <p:spPr bwMode="auto">
            <a:xfrm>
              <a:off x="1104" y="3292"/>
              <a:ext cx="3408" cy="384"/>
            </a:xfrm>
            <a:prstGeom prst="rect">
              <a:avLst/>
            </a:prstGeom>
            <a:gradFill rotWithShape="0">
              <a:gsLst>
                <a:gs pos="0">
                  <a:srgbClr val="CCFFFF"/>
                </a:gs>
                <a:gs pos="100000">
                  <a:srgbClr val="CCFFFF">
                    <a:gamma/>
                    <a:shade val="86275"/>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2800" b="1">
                  <a:solidFill>
                    <a:schemeClr val="tx2"/>
                  </a:solidFill>
                  <a:ea typeface="仿宋_GB2312" charset="0"/>
                </a:rPr>
                <a:t>   fact(</a:t>
              </a:r>
              <a:r>
                <a:rPr lang="zh-CN" altLang="en-US" sz="2800" b="1">
                  <a:solidFill>
                    <a:schemeClr val="tx2"/>
                  </a:solidFill>
                  <a:ea typeface="仿宋_GB2312" charset="0"/>
                </a:rPr>
                <a:t>1): </a:t>
              </a:r>
              <a:r>
                <a:rPr lang="en-US" altLang="zh-CN" sz="2800" b="1">
                  <a:solidFill>
                    <a:schemeClr val="tx2"/>
                  </a:solidFill>
                  <a:ea typeface="仿宋_GB2312" charset="0"/>
                </a:rPr>
                <a:t>	</a:t>
              </a:r>
              <a:endParaRPr lang="zh-CN" altLang="en-US" sz="2800" b="1">
                <a:solidFill>
                  <a:schemeClr val="tx2"/>
                </a:solidFill>
                <a:ea typeface="仿宋_GB2312" charset="0"/>
              </a:endParaRPr>
            </a:p>
          </p:txBody>
        </p:sp>
        <p:sp>
          <p:nvSpPr>
            <p:cNvPr id="1139735" name="Freeform 23"/>
            <p:cNvSpPr/>
            <p:nvPr/>
          </p:nvSpPr>
          <p:spPr bwMode="auto">
            <a:xfrm>
              <a:off x="960" y="3024"/>
              <a:ext cx="155" cy="382"/>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39736" name="Group 24"/>
          <p:cNvGrpSpPr/>
          <p:nvPr/>
        </p:nvGrpSpPr>
        <p:grpSpPr bwMode="auto">
          <a:xfrm>
            <a:off x="1511300" y="5481638"/>
            <a:ext cx="5638800" cy="990600"/>
            <a:chOff x="960" y="3552"/>
            <a:chExt cx="3552" cy="624"/>
          </a:xfrm>
        </p:grpSpPr>
        <p:sp>
          <p:nvSpPr>
            <p:cNvPr id="1139737" name="Rectangle 25"/>
            <p:cNvSpPr>
              <a:spLocks noChangeArrowheads="1"/>
            </p:cNvSpPr>
            <p:nvPr/>
          </p:nvSpPr>
          <p:spPr bwMode="auto">
            <a:xfrm>
              <a:off x="1104" y="3792"/>
              <a:ext cx="3408" cy="384"/>
            </a:xfrm>
            <a:prstGeom prst="rect">
              <a:avLst/>
            </a:prstGeom>
            <a:gradFill rotWithShape="0">
              <a:gsLst>
                <a:gs pos="0">
                  <a:srgbClr val="CCFFFF"/>
                </a:gs>
                <a:gs pos="100000">
                  <a:srgbClr val="CCFFFF">
                    <a:gamma/>
                    <a:shade val="86275"/>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2800" b="1">
                  <a:solidFill>
                    <a:schemeClr val="tx2"/>
                  </a:solidFill>
                  <a:ea typeface="仿宋_GB2312" charset="0"/>
                </a:rPr>
                <a:t>   fact(</a:t>
              </a:r>
              <a:r>
                <a:rPr lang="zh-CN" altLang="en-US" sz="2800" b="1">
                  <a:solidFill>
                    <a:schemeClr val="tx2"/>
                  </a:solidFill>
                  <a:ea typeface="仿宋_GB2312" charset="0"/>
                </a:rPr>
                <a:t>0): 	</a:t>
              </a:r>
              <a:endParaRPr lang="zh-CN" altLang="en-US" sz="2800" b="1">
                <a:solidFill>
                  <a:schemeClr val="tx2"/>
                </a:solidFill>
              </a:endParaRPr>
            </a:p>
          </p:txBody>
        </p:sp>
        <p:sp>
          <p:nvSpPr>
            <p:cNvPr id="1139738" name="Freeform 26"/>
            <p:cNvSpPr/>
            <p:nvPr/>
          </p:nvSpPr>
          <p:spPr bwMode="auto">
            <a:xfrm>
              <a:off x="960" y="3552"/>
              <a:ext cx="155" cy="382"/>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39739" name="Group 27"/>
          <p:cNvGrpSpPr/>
          <p:nvPr/>
        </p:nvGrpSpPr>
        <p:grpSpPr bwMode="auto">
          <a:xfrm>
            <a:off x="7150100" y="5481638"/>
            <a:ext cx="503238" cy="609600"/>
            <a:chOff x="4512" y="3552"/>
            <a:chExt cx="317" cy="384"/>
          </a:xfrm>
        </p:grpSpPr>
        <p:sp>
          <p:nvSpPr>
            <p:cNvPr id="1139740" name="Freeform 28"/>
            <p:cNvSpPr/>
            <p:nvPr/>
          </p:nvSpPr>
          <p:spPr bwMode="auto">
            <a:xfrm flipH="1" flipV="1">
              <a:off x="4512" y="3552"/>
              <a:ext cx="144" cy="384"/>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9741" name="Rectangle 29"/>
            <p:cNvSpPr>
              <a:spLocks noChangeArrowheads="1"/>
            </p:cNvSpPr>
            <p:nvPr/>
          </p:nvSpPr>
          <p:spPr bwMode="auto">
            <a:xfrm>
              <a:off x="4672" y="3594"/>
              <a:ext cx="1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pPr algn="ctr"/>
              <a:r>
                <a:rPr lang="en-US" altLang="zh-CN" sz="2400" b="1">
                  <a:solidFill>
                    <a:srgbClr val="009900"/>
                  </a:solidFill>
                </a:rPr>
                <a:t>1</a:t>
              </a:r>
              <a:endParaRPr lang="en-US" altLang="zh-CN" sz="2400" b="1">
                <a:solidFill>
                  <a:srgbClr val="009900"/>
                </a:solidFill>
              </a:endParaRPr>
            </a:p>
          </p:txBody>
        </p:sp>
      </p:grpSp>
      <p:sp>
        <p:nvSpPr>
          <p:cNvPr id="1139742" name="Rectangle 30"/>
          <p:cNvSpPr>
            <a:spLocks noChangeArrowheads="1"/>
          </p:cNvSpPr>
          <p:nvPr/>
        </p:nvSpPr>
        <p:spPr bwMode="auto">
          <a:xfrm>
            <a:off x="3371850" y="5900738"/>
            <a:ext cx="215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pPr algn="ctr"/>
            <a:r>
              <a:rPr lang="zh-CN" altLang="en-US" sz="2800" b="1">
                <a:solidFill>
                  <a:schemeClr val="tx2"/>
                </a:solidFill>
                <a:latin typeface="仿宋_GB2312" charset="0"/>
                <a:ea typeface="仿宋_GB2312" charset="0"/>
              </a:rPr>
              <a:t>直接定值为1</a:t>
            </a:r>
            <a:endParaRPr lang="zh-CN" altLang="en-US" sz="2800" b="1">
              <a:solidFill>
                <a:schemeClr val="tx2"/>
              </a:solidFill>
              <a:latin typeface="仿宋_GB2312" charset="0"/>
              <a:ea typeface="仿宋_GB2312" charset="0"/>
            </a:endParaRPr>
          </a:p>
        </p:txBody>
      </p:sp>
      <p:sp>
        <p:nvSpPr>
          <p:cNvPr id="1139743" name="Rectangle 31"/>
          <p:cNvSpPr>
            <a:spLocks noChangeArrowheads="1"/>
          </p:cNvSpPr>
          <p:nvPr/>
        </p:nvSpPr>
        <p:spPr bwMode="auto">
          <a:xfrm>
            <a:off x="3263900" y="2767013"/>
            <a:ext cx="23320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r>
              <a:rPr lang="zh-CN" altLang="en-US" sz="2800" b="1">
                <a:solidFill>
                  <a:schemeClr val="tx2"/>
                </a:solidFill>
                <a:ea typeface="仿宋_GB2312" charset="0"/>
              </a:rPr>
              <a:t>计算 4*</a:t>
            </a:r>
            <a:r>
              <a:rPr lang="en-US" altLang="zh-CN" sz="2800" b="1">
                <a:solidFill>
                  <a:schemeClr val="tx2"/>
                </a:solidFill>
                <a:ea typeface="仿宋_GB2312" charset="0"/>
              </a:rPr>
              <a:t>fact(3)</a:t>
            </a:r>
            <a:endParaRPr lang="zh-CN" altLang="en-US" sz="2800" b="1">
              <a:solidFill>
                <a:schemeClr val="tx2"/>
              </a:solidFill>
              <a:ea typeface="仿宋_GB2312" charset="0"/>
            </a:endParaRPr>
          </a:p>
        </p:txBody>
      </p:sp>
      <p:sp>
        <p:nvSpPr>
          <p:cNvPr id="1139744" name="Rectangle 32"/>
          <p:cNvSpPr>
            <a:spLocks noChangeArrowheads="1"/>
          </p:cNvSpPr>
          <p:nvPr/>
        </p:nvSpPr>
        <p:spPr bwMode="auto">
          <a:xfrm>
            <a:off x="3263900" y="3487738"/>
            <a:ext cx="2447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r>
              <a:rPr lang="zh-CN" altLang="en-US" sz="2800" b="1">
                <a:solidFill>
                  <a:schemeClr val="tx2"/>
                </a:solidFill>
                <a:ea typeface="仿宋_GB2312" charset="0"/>
              </a:rPr>
              <a:t>计算 3*</a:t>
            </a:r>
            <a:r>
              <a:rPr lang="en-US" altLang="zh-CN" sz="2800" b="1">
                <a:solidFill>
                  <a:schemeClr val="tx2"/>
                </a:solidFill>
                <a:ea typeface="仿宋_GB2312" charset="0"/>
              </a:rPr>
              <a:t>fact(2)</a:t>
            </a:r>
            <a:endParaRPr lang="zh-CN" altLang="en-US" sz="2800" b="1">
              <a:solidFill>
                <a:schemeClr val="tx2"/>
              </a:solidFill>
              <a:ea typeface="仿宋_GB2312" charset="0"/>
            </a:endParaRPr>
          </a:p>
        </p:txBody>
      </p:sp>
      <p:sp>
        <p:nvSpPr>
          <p:cNvPr id="1139745" name="Rectangle 33"/>
          <p:cNvSpPr>
            <a:spLocks noChangeArrowheads="1"/>
          </p:cNvSpPr>
          <p:nvPr/>
        </p:nvSpPr>
        <p:spPr bwMode="auto">
          <a:xfrm>
            <a:off x="3263900" y="4279900"/>
            <a:ext cx="2339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r>
              <a:rPr lang="zh-CN" altLang="en-US" sz="2800" b="1">
                <a:solidFill>
                  <a:schemeClr val="tx2"/>
                </a:solidFill>
                <a:ea typeface="仿宋_GB2312" charset="0"/>
              </a:rPr>
              <a:t>计算 2*</a:t>
            </a:r>
            <a:r>
              <a:rPr lang="en-US" altLang="zh-CN" sz="2800" b="1">
                <a:solidFill>
                  <a:schemeClr val="tx2"/>
                </a:solidFill>
                <a:ea typeface="仿宋_GB2312" charset="0"/>
              </a:rPr>
              <a:t>fact(1)</a:t>
            </a:r>
            <a:endParaRPr lang="zh-CN" altLang="en-US" sz="2800" b="1">
              <a:solidFill>
                <a:schemeClr val="tx2"/>
              </a:solidFill>
              <a:ea typeface="仿宋_GB2312" charset="0"/>
            </a:endParaRPr>
          </a:p>
        </p:txBody>
      </p:sp>
      <p:sp>
        <p:nvSpPr>
          <p:cNvPr id="1139746" name="Rectangle 34"/>
          <p:cNvSpPr>
            <a:spLocks noChangeArrowheads="1"/>
          </p:cNvSpPr>
          <p:nvPr/>
        </p:nvSpPr>
        <p:spPr bwMode="auto">
          <a:xfrm>
            <a:off x="3263900" y="5072063"/>
            <a:ext cx="23320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r>
              <a:rPr lang="zh-CN" altLang="en-US" sz="2800" b="1">
                <a:solidFill>
                  <a:schemeClr val="tx2"/>
                </a:solidFill>
                <a:ea typeface="仿宋_GB2312" charset="0"/>
              </a:rPr>
              <a:t>计算 1*</a:t>
            </a:r>
            <a:r>
              <a:rPr lang="en-US" altLang="zh-CN" sz="2800" b="1">
                <a:solidFill>
                  <a:schemeClr val="tx2"/>
                </a:solidFill>
                <a:ea typeface="仿宋_GB2312" charset="0"/>
              </a:rPr>
              <a:t>fact(0)</a:t>
            </a:r>
            <a:endParaRPr lang="zh-CN" altLang="en-US" sz="2800" b="1">
              <a:solidFill>
                <a:schemeClr val="tx2"/>
              </a:solidFill>
              <a:ea typeface="仿宋_GB2312" charset="0"/>
            </a:endParaRPr>
          </a:p>
        </p:txBody>
      </p:sp>
      <p:grpSp>
        <p:nvGrpSpPr>
          <p:cNvPr id="1139747" name="Group 35"/>
          <p:cNvGrpSpPr/>
          <p:nvPr/>
        </p:nvGrpSpPr>
        <p:grpSpPr bwMode="auto">
          <a:xfrm>
            <a:off x="7151688" y="4676775"/>
            <a:ext cx="503237" cy="609600"/>
            <a:chOff x="4512" y="3552"/>
            <a:chExt cx="317" cy="384"/>
          </a:xfrm>
        </p:grpSpPr>
        <p:sp>
          <p:nvSpPr>
            <p:cNvPr id="1139748" name="Freeform 36"/>
            <p:cNvSpPr/>
            <p:nvPr/>
          </p:nvSpPr>
          <p:spPr bwMode="auto">
            <a:xfrm flipH="1" flipV="1">
              <a:off x="4512" y="3552"/>
              <a:ext cx="144" cy="384"/>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9749" name="Rectangle 37"/>
            <p:cNvSpPr>
              <a:spLocks noChangeArrowheads="1"/>
            </p:cNvSpPr>
            <p:nvPr/>
          </p:nvSpPr>
          <p:spPr bwMode="auto">
            <a:xfrm>
              <a:off x="4672" y="3594"/>
              <a:ext cx="1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pPr algn="ctr"/>
              <a:r>
                <a:rPr lang="en-US" altLang="zh-CN" sz="2400" b="1">
                  <a:solidFill>
                    <a:srgbClr val="009900"/>
                  </a:solidFill>
                </a:rPr>
                <a:t>1</a:t>
              </a:r>
              <a:endParaRPr lang="en-US" altLang="zh-CN" sz="2400" b="1">
                <a:solidFill>
                  <a:srgbClr val="009900"/>
                </a:solidFill>
              </a:endParaRPr>
            </a:p>
          </p:txBody>
        </p:sp>
      </p:grpSp>
      <p:grpSp>
        <p:nvGrpSpPr>
          <p:cNvPr id="1139750" name="Group 38"/>
          <p:cNvGrpSpPr/>
          <p:nvPr/>
        </p:nvGrpSpPr>
        <p:grpSpPr bwMode="auto">
          <a:xfrm>
            <a:off x="7151688" y="3884613"/>
            <a:ext cx="503237" cy="609600"/>
            <a:chOff x="4512" y="3552"/>
            <a:chExt cx="317" cy="384"/>
          </a:xfrm>
        </p:grpSpPr>
        <p:sp>
          <p:nvSpPr>
            <p:cNvPr id="1139751" name="Freeform 39"/>
            <p:cNvSpPr/>
            <p:nvPr/>
          </p:nvSpPr>
          <p:spPr bwMode="auto">
            <a:xfrm flipH="1" flipV="1">
              <a:off x="4512" y="3552"/>
              <a:ext cx="144" cy="384"/>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9752" name="Rectangle 40"/>
            <p:cNvSpPr>
              <a:spLocks noChangeArrowheads="1"/>
            </p:cNvSpPr>
            <p:nvPr/>
          </p:nvSpPr>
          <p:spPr bwMode="auto">
            <a:xfrm>
              <a:off x="4672" y="3594"/>
              <a:ext cx="1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pPr algn="ctr"/>
              <a:r>
                <a:rPr lang="en-US" altLang="zh-CN" sz="2400" b="1">
                  <a:solidFill>
                    <a:srgbClr val="009900"/>
                  </a:solidFill>
                </a:rPr>
                <a:t>2</a:t>
              </a:r>
              <a:endParaRPr lang="en-US" altLang="zh-CN" sz="2400" b="1">
                <a:solidFill>
                  <a:srgbClr val="009900"/>
                </a:solidFill>
              </a:endParaRPr>
            </a:p>
          </p:txBody>
        </p:sp>
      </p:grpSp>
      <p:grpSp>
        <p:nvGrpSpPr>
          <p:cNvPr id="1139753" name="Group 41"/>
          <p:cNvGrpSpPr/>
          <p:nvPr/>
        </p:nvGrpSpPr>
        <p:grpSpPr bwMode="auto">
          <a:xfrm>
            <a:off x="7115175" y="3092450"/>
            <a:ext cx="503238" cy="609600"/>
            <a:chOff x="4512" y="3552"/>
            <a:chExt cx="317" cy="384"/>
          </a:xfrm>
        </p:grpSpPr>
        <p:sp>
          <p:nvSpPr>
            <p:cNvPr id="1139754" name="Freeform 42"/>
            <p:cNvSpPr/>
            <p:nvPr/>
          </p:nvSpPr>
          <p:spPr bwMode="auto">
            <a:xfrm flipH="1" flipV="1">
              <a:off x="4512" y="3552"/>
              <a:ext cx="144" cy="384"/>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9755" name="Rectangle 43"/>
            <p:cNvSpPr>
              <a:spLocks noChangeArrowheads="1"/>
            </p:cNvSpPr>
            <p:nvPr/>
          </p:nvSpPr>
          <p:spPr bwMode="auto">
            <a:xfrm>
              <a:off x="4672" y="3594"/>
              <a:ext cx="1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pPr algn="ctr"/>
              <a:r>
                <a:rPr lang="en-US" altLang="zh-CN" sz="2400" b="1">
                  <a:solidFill>
                    <a:srgbClr val="009900"/>
                  </a:solidFill>
                </a:rPr>
                <a:t>6</a:t>
              </a:r>
              <a:endParaRPr lang="en-US" altLang="zh-CN" sz="2400" b="1">
                <a:solidFill>
                  <a:srgbClr val="009900"/>
                </a:solidFill>
              </a:endParaRPr>
            </a:p>
          </p:txBody>
        </p:sp>
      </p:grpSp>
      <p:grpSp>
        <p:nvGrpSpPr>
          <p:cNvPr id="1139756" name="Group 44"/>
          <p:cNvGrpSpPr/>
          <p:nvPr/>
        </p:nvGrpSpPr>
        <p:grpSpPr bwMode="auto">
          <a:xfrm>
            <a:off x="7151688" y="2300288"/>
            <a:ext cx="754062" cy="609600"/>
            <a:chOff x="4513" y="1548"/>
            <a:chExt cx="475" cy="384"/>
          </a:xfrm>
        </p:grpSpPr>
        <p:sp>
          <p:nvSpPr>
            <p:cNvPr id="1139757" name="Freeform 45"/>
            <p:cNvSpPr/>
            <p:nvPr/>
          </p:nvSpPr>
          <p:spPr bwMode="auto">
            <a:xfrm flipH="1" flipV="1">
              <a:off x="4513" y="1548"/>
              <a:ext cx="144" cy="384"/>
            </a:xfrm>
            <a:custGeom>
              <a:avLst/>
              <a:gdLst>
                <a:gd name="T0" fmla="*/ 146 w 155"/>
                <a:gd name="T1" fmla="*/ 430 h 430"/>
                <a:gd name="T2" fmla="*/ 0 w 155"/>
                <a:gd name="T3" fmla="*/ 430 h 430"/>
                <a:gd name="T4" fmla="*/ 0 w 155"/>
                <a:gd name="T5" fmla="*/ 0 h 430"/>
                <a:gd name="T6" fmla="*/ 155 w 155"/>
                <a:gd name="T7" fmla="*/ 3 h 430"/>
              </a:gdLst>
              <a:ahLst/>
              <a:cxnLst>
                <a:cxn ang="0">
                  <a:pos x="T0" y="T1"/>
                </a:cxn>
                <a:cxn ang="0">
                  <a:pos x="T2" y="T3"/>
                </a:cxn>
                <a:cxn ang="0">
                  <a:pos x="T4" y="T5"/>
                </a:cxn>
                <a:cxn ang="0">
                  <a:pos x="T6" y="T7"/>
                </a:cxn>
              </a:cxnLst>
              <a:rect l="0" t="0" r="r" b="b"/>
              <a:pathLst>
                <a:path w="155" h="430">
                  <a:moveTo>
                    <a:pt x="146" y="430"/>
                  </a:moveTo>
                  <a:lnTo>
                    <a:pt x="0" y="430"/>
                  </a:lnTo>
                  <a:lnTo>
                    <a:pt x="0" y="0"/>
                  </a:lnTo>
                  <a:lnTo>
                    <a:pt x="155" y="3"/>
                  </a:lnTo>
                </a:path>
              </a:pathLst>
            </a:custGeom>
            <a:noFill/>
            <a:ln w="28575">
              <a:solidFill>
                <a:srgbClr val="0099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39758" name="Rectangle 46"/>
            <p:cNvSpPr>
              <a:spLocks noChangeArrowheads="1"/>
            </p:cNvSpPr>
            <p:nvPr/>
          </p:nvSpPr>
          <p:spPr bwMode="auto">
            <a:xfrm>
              <a:off x="4626" y="1593"/>
              <a:ext cx="3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spAutoFit/>
            </a:bodyPr>
            <a:lstStyle/>
            <a:p>
              <a:pPr algn="ctr"/>
              <a:r>
                <a:rPr lang="en-US" altLang="zh-CN" sz="2400" b="1">
                  <a:solidFill>
                    <a:srgbClr val="009900"/>
                  </a:solidFill>
                </a:rPr>
                <a:t>24</a:t>
              </a:r>
              <a:endParaRPr lang="en-US" altLang="zh-CN" sz="2400" b="1">
                <a:solidFill>
                  <a:srgbClr val="009900"/>
                </a:solidFill>
              </a:endParaRPr>
            </a:p>
          </p:txBody>
        </p:sp>
      </p:grpSp>
      <p:sp>
        <p:nvSpPr>
          <p:cNvPr id="1139759" name="AutoShape 47">
            <a:hlinkClick r:id="rId1"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39724"/>
                                        </p:tgtEl>
                                        <p:attrNameLst>
                                          <p:attrName>style.visibility</p:attrName>
                                        </p:attrNameLst>
                                      </p:cBhvr>
                                      <p:to>
                                        <p:strVal val="visible"/>
                                      </p:to>
                                    </p:set>
                                    <p:animEffect transition="in" filter="wipe(up)">
                                      <p:cBhvr>
                                        <p:cTn id="7" dur="500"/>
                                        <p:tgtEl>
                                          <p:spTgt spid="11397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39743"/>
                                        </p:tgtEl>
                                        <p:attrNameLst>
                                          <p:attrName>style.visibility</p:attrName>
                                        </p:attrNameLst>
                                      </p:cBhvr>
                                      <p:to>
                                        <p:strVal val="visible"/>
                                      </p:to>
                                    </p:set>
                                    <p:animEffect transition="in" filter="blinds(horizontal)">
                                      <p:cBhvr>
                                        <p:cTn id="12" dur="500"/>
                                        <p:tgtEl>
                                          <p:spTgt spid="11397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39727"/>
                                        </p:tgtEl>
                                        <p:attrNameLst>
                                          <p:attrName>style.visibility</p:attrName>
                                        </p:attrNameLst>
                                      </p:cBhvr>
                                      <p:to>
                                        <p:strVal val="visible"/>
                                      </p:to>
                                    </p:set>
                                    <p:animEffect transition="in" filter="wipe(up)">
                                      <p:cBhvr>
                                        <p:cTn id="17" dur="500"/>
                                        <p:tgtEl>
                                          <p:spTgt spid="113972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39744"/>
                                        </p:tgtEl>
                                        <p:attrNameLst>
                                          <p:attrName>style.visibility</p:attrName>
                                        </p:attrNameLst>
                                      </p:cBhvr>
                                      <p:to>
                                        <p:strVal val="visible"/>
                                      </p:to>
                                    </p:set>
                                    <p:animEffect transition="in" filter="blinds(horizontal)">
                                      <p:cBhvr>
                                        <p:cTn id="22" dur="500"/>
                                        <p:tgtEl>
                                          <p:spTgt spid="11397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139730"/>
                                        </p:tgtEl>
                                        <p:attrNameLst>
                                          <p:attrName>style.visibility</p:attrName>
                                        </p:attrNameLst>
                                      </p:cBhvr>
                                      <p:to>
                                        <p:strVal val="visible"/>
                                      </p:to>
                                    </p:set>
                                    <p:animEffect transition="in" filter="wipe(up)">
                                      <p:cBhvr>
                                        <p:cTn id="27" dur="500"/>
                                        <p:tgtEl>
                                          <p:spTgt spid="113973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39745"/>
                                        </p:tgtEl>
                                        <p:attrNameLst>
                                          <p:attrName>style.visibility</p:attrName>
                                        </p:attrNameLst>
                                      </p:cBhvr>
                                      <p:to>
                                        <p:strVal val="visible"/>
                                      </p:to>
                                    </p:set>
                                    <p:animEffect transition="in" filter="blinds(horizontal)">
                                      <p:cBhvr>
                                        <p:cTn id="32" dur="500"/>
                                        <p:tgtEl>
                                          <p:spTgt spid="113974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139733"/>
                                        </p:tgtEl>
                                        <p:attrNameLst>
                                          <p:attrName>style.visibility</p:attrName>
                                        </p:attrNameLst>
                                      </p:cBhvr>
                                      <p:to>
                                        <p:strVal val="visible"/>
                                      </p:to>
                                    </p:set>
                                    <p:animEffect transition="in" filter="wipe(up)">
                                      <p:cBhvr>
                                        <p:cTn id="37" dur="500"/>
                                        <p:tgtEl>
                                          <p:spTgt spid="113973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39746"/>
                                        </p:tgtEl>
                                        <p:attrNameLst>
                                          <p:attrName>style.visibility</p:attrName>
                                        </p:attrNameLst>
                                      </p:cBhvr>
                                      <p:to>
                                        <p:strVal val="visible"/>
                                      </p:to>
                                    </p:set>
                                    <p:animEffect transition="in" filter="blinds(horizontal)">
                                      <p:cBhvr>
                                        <p:cTn id="42" dur="500"/>
                                        <p:tgtEl>
                                          <p:spTgt spid="113974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139736"/>
                                        </p:tgtEl>
                                        <p:attrNameLst>
                                          <p:attrName>style.visibility</p:attrName>
                                        </p:attrNameLst>
                                      </p:cBhvr>
                                      <p:to>
                                        <p:strVal val="visible"/>
                                      </p:to>
                                    </p:set>
                                    <p:animEffect transition="in" filter="wipe(up)">
                                      <p:cBhvr>
                                        <p:cTn id="47" dur="500"/>
                                        <p:tgtEl>
                                          <p:spTgt spid="113973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39742"/>
                                        </p:tgtEl>
                                        <p:attrNameLst>
                                          <p:attrName>style.visibility</p:attrName>
                                        </p:attrNameLst>
                                      </p:cBhvr>
                                      <p:to>
                                        <p:strVal val="visible"/>
                                      </p:to>
                                    </p:set>
                                    <p:animEffect transition="in" filter="blinds(horizontal)">
                                      <p:cBhvr>
                                        <p:cTn id="52" dur="500"/>
                                        <p:tgtEl>
                                          <p:spTgt spid="113974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139716"/>
                                        </p:tgtEl>
                                        <p:attrNameLst>
                                          <p:attrName>style.visibility</p:attrName>
                                        </p:attrNameLst>
                                      </p:cBhvr>
                                      <p:to>
                                        <p:strVal val="visible"/>
                                      </p:to>
                                    </p:set>
                                    <p:animEffect transition="in" filter="wipe(up)">
                                      <p:cBhvr>
                                        <p:cTn id="57" dur="500"/>
                                        <p:tgtEl>
                                          <p:spTgt spid="11397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139739"/>
                                        </p:tgtEl>
                                        <p:attrNameLst>
                                          <p:attrName>style.visibility</p:attrName>
                                        </p:attrNameLst>
                                      </p:cBhvr>
                                      <p:to>
                                        <p:strVal val="visible"/>
                                      </p:to>
                                    </p:set>
                                    <p:animEffect transition="in" filter="wipe(down)">
                                      <p:cBhvr>
                                        <p:cTn id="62" dur="500"/>
                                        <p:tgtEl>
                                          <p:spTgt spid="113973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1139747"/>
                                        </p:tgtEl>
                                        <p:attrNameLst>
                                          <p:attrName>style.visibility</p:attrName>
                                        </p:attrNameLst>
                                      </p:cBhvr>
                                      <p:to>
                                        <p:strVal val="visible"/>
                                      </p:to>
                                    </p:set>
                                    <p:animEffect transition="in" filter="wipe(down)">
                                      <p:cBhvr>
                                        <p:cTn id="67" dur="500"/>
                                        <p:tgtEl>
                                          <p:spTgt spid="113974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1139750"/>
                                        </p:tgtEl>
                                        <p:attrNameLst>
                                          <p:attrName>style.visibility</p:attrName>
                                        </p:attrNameLst>
                                      </p:cBhvr>
                                      <p:to>
                                        <p:strVal val="visible"/>
                                      </p:to>
                                    </p:set>
                                    <p:animEffect transition="in" filter="wipe(down)">
                                      <p:cBhvr>
                                        <p:cTn id="72" dur="500"/>
                                        <p:tgtEl>
                                          <p:spTgt spid="113975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1139753"/>
                                        </p:tgtEl>
                                        <p:attrNameLst>
                                          <p:attrName>style.visibility</p:attrName>
                                        </p:attrNameLst>
                                      </p:cBhvr>
                                      <p:to>
                                        <p:strVal val="visible"/>
                                      </p:to>
                                    </p:set>
                                    <p:animEffect transition="in" filter="wipe(down)">
                                      <p:cBhvr>
                                        <p:cTn id="77" dur="500"/>
                                        <p:tgtEl>
                                          <p:spTgt spid="113975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1139756"/>
                                        </p:tgtEl>
                                        <p:attrNameLst>
                                          <p:attrName>style.visibility</p:attrName>
                                        </p:attrNameLst>
                                      </p:cBhvr>
                                      <p:to>
                                        <p:strVal val="visible"/>
                                      </p:to>
                                    </p:set>
                                    <p:animEffect transition="in" filter="wipe(down)">
                                      <p:cBhvr>
                                        <p:cTn id="82" dur="500"/>
                                        <p:tgtEl>
                                          <p:spTgt spid="113975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1139720"/>
                                        </p:tgtEl>
                                        <p:attrNameLst>
                                          <p:attrName>style.visibility</p:attrName>
                                        </p:attrNameLst>
                                      </p:cBhvr>
                                      <p:to>
                                        <p:strVal val="visible"/>
                                      </p:to>
                                    </p:set>
                                    <p:animEffect transition="in" filter="wipe(down)">
                                      <p:cBhvr>
                                        <p:cTn id="87" dur="500"/>
                                        <p:tgtEl>
                                          <p:spTgt spid="1139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9742" grpId="0"/>
      <p:bldP spid="1139743" grpId="0"/>
      <p:bldP spid="1139744" grpId="0"/>
      <p:bldP spid="1139745" grpId="0"/>
      <p:bldP spid="113974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0738" name="Rectangle 2"/>
          <p:cNvSpPr>
            <a:spLocks noGrp="1" noChangeArrowheads="1"/>
          </p:cNvSpPr>
          <p:nvPr>
            <p:ph type="title"/>
          </p:nvPr>
        </p:nvSpPr>
        <p:spPr/>
        <p:txBody>
          <a:bodyPr>
            <a:normAutofit fontScale="90000"/>
          </a:bodyPr>
          <a:lstStyle/>
          <a:p>
            <a:r>
              <a:rPr lang="zh-CN" altLang="en-US"/>
              <a:t>栈与递归的实现–数据结构是递归的</a:t>
            </a:r>
            <a:endParaRPr lang="en-US" altLang="zh-CN"/>
          </a:p>
        </p:txBody>
      </p:sp>
      <p:sp>
        <p:nvSpPr>
          <p:cNvPr id="1140739" name="Rectangle 3"/>
          <p:cNvSpPr>
            <a:spLocks noGrp="1" noChangeArrowheads="1"/>
          </p:cNvSpPr>
          <p:nvPr>
            <p:ph type="body" idx="1"/>
          </p:nvPr>
        </p:nvSpPr>
        <p:spPr>
          <a:xfrm>
            <a:off x="533400" y="1524000"/>
            <a:ext cx="8305800" cy="43830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ormAutofit fontScale="85000" lnSpcReduction="20000"/>
          </a:bodyPr>
          <a:lstStyle/>
          <a:p>
            <a:pPr>
              <a:lnSpc>
                <a:spcPct val="90000"/>
              </a:lnSpc>
            </a:pPr>
            <a:r>
              <a:rPr lang="zh-CN" altLang="en-US"/>
              <a:t>数据结构是递归的--表</a:t>
            </a:r>
            <a:endParaRPr lang="zh-CN" altLang="en-US"/>
          </a:p>
          <a:p>
            <a:pPr lvl="1">
              <a:lnSpc>
                <a:spcPct val="90000"/>
              </a:lnSpc>
            </a:pPr>
            <a:r>
              <a:rPr lang="zh-CN" altLang="en-US" sz="2800"/>
              <a:t>空表</a:t>
            </a:r>
            <a:endParaRPr lang="zh-CN" altLang="en-US" sz="2800"/>
          </a:p>
          <a:p>
            <a:pPr lvl="1">
              <a:lnSpc>
                <a:spcPct val="90000"/>
              </a:lnSpc>
            </a:pPr>
            <a:r>
              <a:rPr lang="zh-CN" altLang="en-US" sz="2800"/>
              <a:t>非空表: </a:t>
            </a:r>
            <a:r>
              <a:rPr lang="zh-CN" altLang="en-US" sz="2800">
                <a:sym typeface="Wingdings" panose="05000000000000000000" pitchFamily="2" charset="2"/>
              </a:rPr>
              <a:t>(</a:t>
            </a:r>
            <a:r>
              <a:rPr lang="zh-CN" altLang="en-US" sz="2800"/>
              <a:t>表头元素+除表头元素以外的剩余元素)</a:t>
            </a:r>
            <a:endParaRPr lang="zh-CN" altLang="en-US" sz="2800"/>
          </a:p>
          <a:p>
            <a:pPr lvl="1">
              <a:lnSpc>
                <a:spcPct val="90000"/>
              </a:lnSpc>
            </a:pPr>
            <a:r>
              <a:rPr lang="zh-CN" altLang="en-US" sz="2800">
                <a:latin typeface="Times New Roman" panose="02020603050405020304" charset="0"/>
                <a:ea typeface="楷体_GB2312" charset="0"/>
              </a:rPr>
              <a:t>查找表</a:t>
            </a:r>
            <a:r>
              <a:rPr lang="en-US" altLang="zh-CN" sz="2800">
                <a:latin typeface="Times New Roman" panose="02020603050405020304" charset="0"/>
                <a:ea typeface="楷体_GB2312" charset="0"/>
              </a:rPr>
              <a:t>L</a:t>
            </a:r>
            <a:r>
              <a:rPr lang="zh-CN" altLang="en-US" sz="2800">
                <a:latin typeface="Times New Roman" panose="02020603050405020304" charset="0"/>
                <a:ea typeface="楷体_GB2312" charset="0"/>
              </a:rPr>
              <a:t>中是否有元素值</a:t>
            </a:r>
            <a:r>
              <a:rPr lang="en-US" altLang="zh-CN" sz="2800">
                <a:latin typeface="Times New Roman" panose="02020603050405020304" charset="0"/>
                <a:ea typeface="楷体_GB2312" charset="0"/>
              </a:rPr>
              <a:t>e</a:t>
            </a:r>
            <a:endParaRPr lang="en-US" altLang="zh-CN" sz="2800">
              <a:latin typeface="Times New Roman" panose="02020603050405020304" charset="0"/>
              <a:ea typeface="楷体_GB2312" charset="0"/>
            </a:endParaRPr>
          </a:p>
          <a:p>
            <a:pPr lvl="2">
              <a:lnSpc>
                <a:spcPct val="90000"/>
              </a:lnSpc>
              <a:buFontTx/>
              <a:buNone/>
            </a:pPr>
            <a:r>
              <a:rPr lang="en-US" altLang="zh-CN" sz="2400"/>
              <a:t>LinkList search(LinkList L, ElemType e)</a:t>
            </a:r>
            <a:endParaRPr lang="en-US" altLang="zh-CN" sz="2400"/>
          </a:p>
          <a:p>
            <a:pPr lvl="2">
              <a:lnSpc>
                <a:spcPct val="90000"/>
              </a:lnSpc>
              <a:buFontTx/>
              <a:buNone/>
            </a:pPr>
            <a:r>
              <a:rPr lang="en-US" altLang="zh-CN" sz="2400"/>
              <a:t>// L</a:t>
            </a:r>
            <a:r>
              <a:rPr lang="zh-CN" altLang="en-US" sz="2400"/>
              <a:t>为不带头结点的单向非循环链表</a:t>
            </a:r>
            <a:endParaRPr lang="zh-CN" altLang="en-US" sz="2400"/>
          </a:p>
          <a:p>
            <a:pPr lvl="2">
              <a:lnSpc>
                <a:spcPct val="90000"/>
              </a:lnSpc>
              <a:buFontTx/>
              <a:buNone/>
            </a:pPr>
            <a:r>
              <a:rPr lang="en-US" altLang="zh-CN" sz="2400"/>
              <a:t>{</a:t>
            </a:r>
            <a:endParaRPr lang="en-US" altLang="zh-CN" sz="2400"/>
          </a:p>
          <a:p>
            <a:pPr lvl="2">
              <a:lnSpc>
                <a:spcPct val="90000"/>
              </a:lnSpc>
              <a:buFontTx/>
              <a:buNone/>
            </a:pPr>
            <a:r>
              <a:rPr lang="en-US" altLang="zh-CN" sz="2400"/>
              <a:t>    if  ( L==NULL )  return NULL;</a:t>
            </a:r>
            <a:endParaRPr lang="en-US" altLang="zh-CN" sz="2400"/>
          </a:p>
          <a:p>
            <a:pPr lvl="2">
              <a:lnSpc>
                <a:spcPct val="90000"/>
              </a:lnSpc>
              <a:buFontTx/>
              <a:buNone/>
            </a:pPr>
            <a:r>
              <a:rPr lang="en-US" altLang="zh-CN" sz="2400"/>
              <a:t>    else if  ( L-&gt;data==e )  return L;</a:t>
            </a:r>
            <a:endParaRPr lang="en-US" altLang="zh-CN" sz="2400"/>
          </a:p>
          <a:p>
            <a:pPr lvl="2">
              <a:lnSpc>
                <a:spcPct val="90000"/>
              </a:lnSpc>
              <a:buFontTx/>
              <a:buNone/>
            </a:pPr>
            <a:r>
              <a:rPr lang="en-US" altLang="zh-CN" sz="2400"/>
              <a:t>    else return search(L-&gt;next, e);</a:t>
            </a:r>
            <a:endParaRPr lang="en-US" altLang="zh-CN" sz="2400"/>
          </a:p>
          <a:p>
            <a:pPr lvl="2">
              <a:lnSpc>
                <a:spcPct val="90000"/>
              </a:lnSpc>
              <a:buFontTx/>
              <a:buNone/>
            </a:pPr>
            <a:r>
              <a:rPr lang="en-US" altLang="zh-CN" sz="2400"/>
              <a:t>}</a:t>
            </a:r>
            <a:endParaRPr lang="en-US" altLang="zh-CN" sz="2400"/>
          </a:p>
        </p:txBody>
      </p:sp>
      <p:sp>
        <p:nvSpPr>
          <p:cNvPr id="1140740" name="AutoShape 4">
            <a:hlinkClick r:id="rId1"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17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05263" y="1768475"/>
            <a:ext cx="4495800"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1763" name="Rectangle 3"/>
          <p:cNvSpPr>
            <a:spLocks noGrp="1" noChangeArrowheads="1"/>
          </p:cNvSpPr>
          <p:nvPr>
            <p:ph type="title"/>
          </p:nvPr>
        </p:nvSpPr>
        <p:spPr/>
        <p:txBody>
          <a:bodyPr/>
          <a:lstStyle/>
          <a:p>
            <a:r>
              <a:rPr lang="zh-CN" altLang="en-US"/>
              <a:t>栈与递归的实现</a:t>
            </a:r>
            <a:r>
              <a:rPr lang="zh-CN" altLang="en-US" sz="3200"/>
              <a:t>–问题求解是递归的</a:t>
            </a:r>
            <a:endParaRPr lang="en-US" altLang="zh-CN" sz="3200"/>
          </a:p>
        </p:txBody>
      </p:sp>
      <p:sp>
        <p:nvSpPr>
          <p:cNvPr id="1141764" name="Rectangle 4"/>
          <p:cNvSpPr>
            <a:spLocks noGrp="1" noChangeArrowheads="1"/>
          </p:cNvSpPr>
          <p:nvPr>
            <p:ph type="body" idx="1"/>
          </p:nvPr>
        </p:nvSpPr>
        <p:spPr>
          <a:xfrm>
            <a:off x="381000" y="1179513"/>
            <a:ext cx="8577263" cy="48402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nSpc>
                <a:spcPct val="80000"/>
              </a:lnSpc>
            </a:pPr>
            <a:r>
              <a:rPr lang="en-US" altLang="zh-CN" sz="2400"/>
              <a:t>Hanoi</a:t>
            </a:r>
            <a:r>
              <a:rPr lang="zh-CN" altLang="en-US" sz="2400"/>
              <a:t>塔问题</a:t>
            </a:r>
            <a:endParaRPr lang="en-US" altLang="zh-CN" sz="2400"/>
          </a:p>
          <a:p>
            <a:pPr>
              <a:lnSpc>
                <a:spcPct val="80000"/>
              </a:lnSpc>
            </a:pPr>
            <a:r>
              <a:rPr lang="en-US" altLang="zh-CN" sz="2400">
                <a:solidFill>
                  <a:srgbClr val="FF0000"/>
                </a:solidFill>
              </a:rPr>
              <a:t>void hanoi(int n, char a, char b, char c)</a:t>
            </a:r>
            <a:br>
              <a:rPr lang="en-US" altLang="zh-CN" sz="2400"/>
            </a:br>
            <a:r>
              <a:rPr lang="en-US" altLang="zh-CN" sz="2400"/>
              <a:t>n-</a:t>
            </a:r>
            <a:r>
              <a:rPr lang="zh-CN" altLang="en-US" sz="2400"/>
              <a:t>圆盘数</a:t>
            </a:r>
            <a:r>
              <a:rPr lang="en-US" altLang="zh-CN" sz="2400"/>
              <a:t>	a-</a:t>
            </a:r>
            <a:r>
              <a:rPr lang="zh-CN" altLang="en-US" sz="2400"/>
              <a:t>源塔座</a:t>
            </a:r>
            <a:br>
              <a:rPr lang="en-US" altLang="zh-CN" sz="2400"/>
            </a:br>
            <a:r>
              <a:rPr lang="en-US" altLang="zh-CN" sz="2400"/>
              <a:t>b-</a:t>
            </a:r>
            <a:r>
              <a:rPr lang="zh-CN" altLang="en-US" sz="2400"/>
              <a:t>中介塔座</a:t>
            </a:r>
            <a:r>
              <a:rPr lang="en-US" altLang="zh-CN" sz="2400"/>
              <a:t> c-</a:t>
            </a:r>
            <a:r>
              <a:rPr lang="zh-CN" altLang="en-US" sz="2400"/>
              <a:t>目标塔座</a:t>
            </a:r>
            <a:endParaRPr lang="zh-CN" altLang="en-US" sz="2400"/>
          </a:p>
          <a:p>
            <a:pPr>
              <a:lnSpc>
                <a:spcPct val="80000"/>
              </a:lnSpc>
            </a:pPr>
            <a:r>
              <a:rPr lang="zh-CN" altLang="en-US" sz="2400"/>
              <a:t>搬动方法</a:t>
            </a:r>
            <a:endParaRPr lang="zh-CN" altLang="en-US" sz="2400"/>
          </a:p>
          <a:p>
            <a:pPr lvl="1">
              <a:lnSpc>
                <a:spcPct val="80000"/>
              </a:lnSpc>
            </a:pPr>
            <a:r>
              <a:rPr lang="en-US" altLang="zh-CN" sz="2000"/>
              <a:t>n=1,  a-&gt;c</a:t>
            </a:r>
            <a:endParaRPr lang="en-US" altLang="zh-CN" sz="2000"/>
          </a:p>
          <a:p>
            <a:pPr lvl="1">
              <a:lnSpc>
                <a:spcPct val="80000"/>
              </a:lnSpc>
            </a:pPr>
            <a:r>
              <a:rPr lang="en-US" altLang="zh-CN" sz="2000"/>
              <a:t>n&gt;1:</a:t>
            </a:r>
            <a:br>
              <a:rPr lang="en-US" altLang="zh-CN" sz="2000"/>
            </a:br>
            <a:r>
              <a:rPr lang="en-US" altLang="zh-CN" sz="2000"/>
              <a:t>hanoi(n-1, a, c, b)</a:t>
            </a:r>
            <a:br>
              <a:rPr lang="en-US" altLang="zh-CN" sz="2000"/>
            </a:br>
            <a:r>
              <a:rPr lang="en-US" altLang="zh-CN" sz="2000"/>
              <a:t>a-&gt;c</a:t>
            </a:r>
            <a:br>
              <a:rPr lang="en-US" altLang="zh-CN" sz="2000"/>
            </a:br>
            <a:r>
              <a:rPr lang="en-US" altLang="zh-CN" sz="2000"/>
              <a:t>hanoi(n-1, b, a, c)</a:t>
            </a:r>
            <a:endParaRPr lang="en-US" altLang="zh-CN" sz="2000"/>
          </a:p>
          <a:p>
            <a:pPr>
              <a:lnSpc>
                <a:spcPct val="80000"/>
              </a:lnSpc>
            </a:pPr>
            <a:r>
              <a:rPr lang="zh-CN" altLang="en-US" sz="2400"/>
              <a:t>注意</a:t>
            </a:r>
            <a:br>
              <a:rPr lang="zh-CN" altLang="en-US" sz="2400"/>
            </a:br>
            <a:r>
              <a:rPr lang="zh-CN" altLang="en-US" sz="2400">
                <a:solidFill>
                  <a:srgbClr val="FF0000"/>
                </a:solidFill>
                <a:ea typeface="楷体_GB2312" charset="0"/>
              </a:rPr>
              <a:t>用递归调用的结果，</a:t>
            </a:r>
            <a:br>
              <a:rPr lang="zh-CN" altLang="en-US" sz="2400">
                <a:solidFill>
                  <a:srgbClr val="FF0000"/>
                </a:solidFill>
                <a:ea typeface="楷体_GB2312" charset="0"/>
              </a:rPr>
            </a:br>
            <a:r>
              <a:rPr lang="zh-CN" altLang="en-US" sz="2400">
                <a:solidFill>
                  <a:srgbClr val="FF0000"/>
                </a:solidFill>
                <a:ea typeface="楷体_GB2312" charset="0"/>
              </a:rPr>
              <a:t>不关注该结果如何</a:t>
            </a:r>
            <a:br>
              <a:rPr lang="zh-CN" altLang="en-US" sz="2400">
                <a:solidFill>
                  <a:srgbClr val="FF0000"/>
                </a:solidFill>
                <a:ea typeface="楷体_GB2312" charset="0"/>
              </a:rPr>
            </a:br>
            <a:r>
              <a:rPr lang="zh-CN" altLang="en-US" sz="2400">
                <a:solidFill>
                  <a:srgbClr val="FF0000"/>
                </a:solidFill>
                <a:ea typeface="楷体_GB2312" charset="0"/>
              </a:rPr>
              <a:t>获得的细节</a:t>
            </a:r>
            <a:endParaRPr lang="en-US" altLang="zh-CN" sz="2400">
              <a:solidFill>
                <a:srgbClr val="FF0000"/>
              </a:solidFill>
              <a:ea typeface="楷体_GB2312"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2786" name="Rectangle 2"/>
          <p:cNvSpPr>
            <a:spLocks noGrp="1" noChangeArrowheads="1"/>
          </p:cNvSpPr>
          <p:nvPr>
            <p:ph type="title"/>
          </p:nvPr>
        </p:nvSpPr>
        <p:spPr/>
        <p:txBody>
          <a:bodyPr/>
          <a:lstStyle/>
          <a:p>
            <a:r>
              <a:rPr lang="zh-CN" altLang="en-US"/>
              <a:t>栈与递归的实现–递归实现</a:t>
            </a:r>
            <a:endParaRPr lang="zh-CN" altLang="en-US"/>
          </a:p>
        </p:txBody>
      </p:sp>
      <p:sp>
        <p:nvSpPr>
          <p:cNvPr id="1142787" name="Rectangle 3"/>
          <p:cNvSpPr>
            <a:spLocks noGrp="1" noChangeArrowheads="1"/>
          </p:cNvSpPr>
          <p:nvPr>
            <p:ph type="body" idx="1"/>
          </p:nvPr>
        </p:nvSpPr>
        <p:spPr>
          <a:xfrm>
            <a:off x="533400" y="1524000"/>
            <a:ext cx="8305800" cy="43068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ormAutofit lnSpcReduction="10000"/>
          </a:bodyPr>
          <a:lstStyle/>
          <a:p>
            <a:r>
              <a:rPr lang="zh-CN" altLang="en-US"/>
              <a:t>调用函数与被调用函数---系统工作栈</a:t>
            </a:r>
            <a:endParaRPr lang="zh-CN" altLang="en-US"/>
          </a:p>
          <a:p>
            <a:pPr lvl="1"/>
            <a:r>
              <a:rPr lang="zh-CN" altLang="en-US">
                <a:latin typeface="宋体" panose="02010600030101010101" pitchFamily="2" charset="-122"/>
              </a:rPr>
              <a:t>执行被调用函数前</a:t>
            </a:r>
            <a:endParaRPr lang="zh-CN" altLang="en-US">
              <a:latin typeface="宋体" panose="02010600030101010101" pitchFamily="2" charset="-122"/>
            </a:endParaRPr>
          </a:p>
          <a:p>
            <a:pPr lvl="2"/>
            <a:r>
              <a:rPr lang="zh-CN" altLang="en-US"/>
              <a:t>现场保护：</a:t>
            </a:r>
            <a:r>
              <a:rPr lang="zh-CN" altLang="en-US">
                <a:ea typeface="楷体_GB2312" charset="0"/>
              </a:rPr>
              <a:t>实在参数、返回地址</a:t>
            </a:r>
            <a:endParaRPr lang="zh-CN" altLang="en-US">
              <a:ea typeface="楷体_GB2312" charset="0"/>
            </a:endParaRPr>
          </a:p>
          <a:p>
            <a:pPr lvl="2"/>
            <a:r>
              <a:rPr lang="zh-CN" altLang="en-US">
                <a:latin typeface="宋体" panose="02010600030101010101" pitchFamily="2" charset="-122"/>
              </a:rPr>
              <a:t>为被调用函数的局部变量分配存储区</a:t>
            </a:r>
            <a:endParaRPr lang="zh-CN" altLang="en-US">
              <a:latin typeface="宋体" panose="02010600030101010101" pitchFamily="2" charset="-122"/>
            </a:endParaRPr>
          </a:p>
          <a:p>
            <a:pPr lvl="2"/>
            <a:r>
              <a:rPr lang="zh-CN" altLang="en-US">
                <a:latin typeface="宋体" panose="02010600030101010101" pitchFamily="2" charset="-122"/>
              </a:rPr>
              <a:t>将控制转移到被调函数的入口 </a:t>
            </a:r>
            <a:r>
              <a:rPr lang="zh-CN" altLang="en-US">
                <a:ea typeface="楷体_GB2312" charset="0"/>
              </a:rPr>
              <a:t> </a:t>
            </a:r>
            <a:endParaRPr lang="zh-CN" altLang="en-US">
              <a:ea typeface="楷体_GB2312" charset="0"/>
            </a:endParaRPr>
          </a:p>
          <a:p>
            <a:pPr lvl="1"/>
            <a:r>
              <a:rPr lang="zh-CN" altLang="en-US"/>
              <a:t>从被调用函数返回调用函数前</a:t>
            </a:r>
            <a:endParaRPr lang="zh-CN" altLang="en-US"/>
          </a:p>
          <a:p>
            <a:pPr lvl="2"/>
            <a:r>
              <a:rPr lang="zh-CN" altLang="en-US"/>
              <a:t>保存被调函数的计算结果</a:t>
            </a:r>
            <a:endParaRPr lang="zh-CN" altLang="en-US"/>
          </a:p>
          <a:p>
            <a:pPr lvl="2"/>
            <a:r>
              <a:rPr lang="zh-CN" altLang="en-US"/>
              <a:t>释放被调函数的数据区</a:t>
            </a:r>
            <a:endParaRPr lang="zh-CN" altLang="en-US"/>
          </a:p>
          <a:p>
            <a:pPr lvl="2"/>
            <a:r>
              <a:rPr lang="zh-CN" altLang="en-US"/>
              <a:t>现场恢复：</a:t>
            </a:r>
            <a:r>
              <a:rPr lang="zh-CN" altLang="en-US">
                <a:ea typeface="楷体_GB2312" charset="0"/>
              </a:rPr>
              <a:t>返回</a:t>
            </a:r>
            <a:endParaRPr lang="zh-CN" altLang="en-US">
              <a:ea typeface="楷体_GB2312" charset="0"/>
            </a:endParaRPr>
          </a:p>
        </p:txBody>
      </p:sp>
      <p:sp>
        <p:nvSpPr>
          <p:cNvPr id="1142788" name="AutoShape 4">
            <a:hlinkClick r:id="rId1"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Rectangle 2"/>
          <p:cNvSpPr>
            <a:spLocks noGrp="1" noChangeArrowheads="1"/>
          </p:cNvSpPr>
          <p:nvPr>
            <p:ph type="title"/>
          </p:nvPr>
        </p:nvSpPr>
        <p:spPr/>
        <p:txBody>
          <a:bodyPr/>
          <a:lstStyle/>
          <a:p>
            <a:r>
              <a:rPr lang="zh-CN" altLang="en-US"/>
              <a:t>栈与递归的实现–递归实现</a:t>
            </a:r>
            <a:endParaRPr lang="zh-CN" altLang="en-US"/>
          </a:p>
        </p:txBody>
      </p:sp>
      <p:sp>
        <p:nvSpPr>
          <p:cNvPr id="1143811" name="Rectangle 3"/>
          <p:cNvSpPr>
            <a:spLocks noGrp="1" noChangeArrowheads="1"/>
          </p:cNvSpPr>
          <p:nvPr>
            <p:ph type="body" idx="1"/>
          </p:nvPr>
        </p:nvSpPr>
        <p:spPr>
          <a:xfrm>
            <a:off x="457200" y="1524000"/>
            <a:ext cx="8305800" cy="45354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ormAutofit lnSpcReduction="10000"/>
          </a:bodyPr>
          <a:lstStyle/>
          <a:p>
            <a:r>
              <a:rPr lang="zh-CN" altLang="en-US"/>
              <a:t>递归过程与递归工作栈</a:t>
            </a:r>
            <a:br>
              <a:rPr lang="zh-CN" altLang="en-US"/>
            </a:br>
            <a:r>
              <a:rPr lang="zh-CN" altLang="en-US" sz="2000">
                <a:ea typeface="楷体_GB2312" charset="0"/>
              </a:rPr>
              <a:t>实际的系统中，一般综合考虑递归调用和非递归调用，统一处理</a:t>
            </a:r>
            <a:endParaRPr lang="zh-CN" altLang="en-US" sz="2000">
              <a:ea typeface="楷体_GB2312" charset="0"/>
            </a:endParaRPr>
          </a:p>
          <a:p>
            <a:r>
              <a:rPr lang="zh-CN" altLang="en-US"/>
              <a:t>递归工作栈</a:t>
            </a:r>
            <a:endParaRPr lang="zh-CN" altLang="en-US"/>
          </a:p>
          <a:p>
            <a:pPr lvl="1"/>
            <a:r>
              <a:rPr lang="zh-CN" altLang="en-US" sz="2800"/>
              <a:t>活动记录(栈帧</a:t>
            </a:r>
            <a:r>
              <a:rPr lang="en-US" altLang="zh-CN" sz="2800"/>
              <a:t>stack frame)</a:t>
            </a:r>
            <a:br>
              <a:rPr lang="en-US" altLang="zh-CN" sz="2800"/>
            </a:br>
            <a:r>
              <a:rPr lang="zh-CN" altLang="en-US" sz="2400">
                <a:ea typeface="楷体_GB2312" charset="0"/>
              </a:rPr>
              <a:t>实在参数、局部变量、上一层的返回地址</a:t>
            </a:r>
            <a:endParaRPr lang="zh-CN" altLang="en-US" sz="2400">
              <a:ea typeface="楷体_GB2312" charset="0"/>
            </a:endParaRPr>
          </a:p>
          <a:p>
            <a:pPr lvl="1"/>
            <a:r>
              <a:rPr lang="zh-CN" altLang="en-US" sz="2800"/>
              <a:t>每进入一层递归，产生一个新的工作记录入栈</a:t>
            </a:r>
            <a:endParaRPr lang="zh-CN" altLang="en-US" sz="2800"/>
          </a:p>
          <a:p>
            <a:pPr lvl="1"/>
            <a:r>
              <a:rPr lang="zh-CN" altLang="en-US" sz="2800"/>
              <a:t>每退出一层递归，就从栈顶弹出一个工作记录</a:t>
            </a:r>
            <a:endParaRPr lang="zh-CN" altLang="en-US" sz="2800"/>
          </a:p>
          <a:p>
            <a:pPr lvl="1"/>
            <a:r>
              <a:rPr lang="zh-CN" altLang="en-US" sz="2800"/>
              <a:t>当前执行层的工作记录必是栈顶记录</a:t>
            </a:r>
            <a:endParaRPr lang="zh-CN" altLang="en-US" sz="2800"/>
          </a:p>
          <a:p>
            <a:r>
              <a:rPr lang="zh-CN" altLang="en-US"/>
              <a:t>例子：</a:t>
            </a:r>
            <a:r>
              <a:rPr lang="en-US" altLang="zh-CN"/>
              <a:t>  hanoi(3,a,b,c)</a:t>
            </a:r>
            <a:endParaRPr lang="zh-CN" altLang="en-US"/>
          </a:p>
        </p:txBody>
      </p:sp>
      <p:sp>
        <p:nvSpPr>
          <p:cNvPr id="1143812" name="AutoShape 4">
            <a:hlinkClick r:id="rId1"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3394" name="Rectangle 2"/>
          <p:cNvSpPr>
            <a:spLocks noGrp="1" noChangeArrowheads="1"/>
          </p:cNvSpPr>
          <p:nvPr>
            <p:ph type="body" idx="1"/>
          </p:nvPr>
        </p:nvSpPr>
        <p:spPr>
          <a:xfrm>
            <a:off x="1524000" y="228600"/>
            <a:ext cx="6019800" cy="762000"/>
          </a:xfrm>
        </p:spPr>
        <p:txBody>
          <a:bodyPr/>
          <a:lstStyle/>
          <a:p>
            <a:r>
              <a:rPr lang="zh-CN" altLang="en-US" b="1">
                <a:ea typeface="楷体_GB2312" charset="0"/>
              </a:rPr>
              <a:t>程序嵌套调用的示意图</a:t>
            </a:r>
            <a:endParaRPr lang="zh-CN" altLang="en-US" b="1">
              <a:ea typeface="楷体_GB2312" charset="0"/>
            </a:endParaRPr>
          </a:p>
        </p:txBody>
      </p:sp>
      <p:grpSp>
        <p:nvGrpSpPr>
          <p:cNvPr id="1083395" name="Group 3"/>
          <p:cNvGrpSpPr/>
          <p:nvPr/>
        </p:nvGrpSpPr>
        <p:grpSpPr bwMode="auto">
          <a:xfrm>
            <a:off x="1720850" y="2743200"/>
            <a:ext cx="1905000" cy="762000"/>
            <a:chOff x="912" y="1632"/>
            <a:chExt cx="1200" cy="480"/>
          </a:xfrm>
        </p:grpSpPr>
        <p:sp>
          <p:nvSpPr>
            <p:cNvPr id="1083396" name="Line 4"/>
            <p:cNvSpPr>
              <a:spLocks noChangeShapeType="1"/>
            </p:cNvSpPr>
            <p:nvPr/>
          </p:nvSpPr>
          <p:spPr bwMode="auto">
            <a:xfrm>
              <a:off x="2112" y="1632"/>
              <a:ext cx="0"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cxnSp>
          <p:nvCxnSpPr>
            <p:cNvPr id="1083397" name="AutoShape 5"/>
            <p:cNvCxnSpPr>
              <a:cxnSpLocks noChangeShapeType="1"/>
              <a:stCxn id="1083411" idx="1"/>
              <a:endCxn id="1083396" idx="0"/>
            </p:cNvCxnSpPr>
            <p:nvPr/>
          </p:nvCxnSpPr>
          <p:spPr bwMode="auto">
            <a:xfrm flipV="1">
              <a:off x="912" y="1632"/>
              <a:ext cx="1200" cy="48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grpSp>
        <p:nvGrpSpPr>
          <p:cNvPr id="1083398" name="Group 6"/>
          <p:cNvGrpSpPr/>
          <p:nvPr/>
        </p:nvGrpSpPr>
        <p:grpSpPr bwMode="auto">
          <a:xfrm>
            <a:off x="3625850" y="2743200"/>
            <a:ext cx="1981200" cy="762000"/>
            <a:chOff x="2112" y="1632"/>
            <a:chExt cx="1248" cy="480"/>
          </a:xfrm>
        </p:grpSpPr>
        <p:sp>
          <p:nvSpPr>
            <p:cNvPr id="1083399" name="Line 7"/>
            <p:cNvSpPr>
              <a:spLocks noChangeShapeType="1"/>
            </p:cNvSpPr>
            <p:nvPr/>
          </p:nvSpPr>
          <p:spPr bwMode="auto">
            <a:xfrm>
              <a:off x="3360" y="1632"/>
              <a:ext cx="0"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cxnSp>
          <p:nvCxnSpPr>
            <p:cNvPr id="1083400" name="AutoShape 8"/>
            <p:cNvCxnSpPr>
              <a:cxnSpLocks noChangeShapeType="1"/>
              <a:stCxn id="1083396" idx="1"/>
              <a:endCxn id="1083399" idx="0"/>
            </p:cNvCxnSpPr>
            <p:nvPr/>
          </p:nvCxnSpPr>
          <p:spPr bwMode="auto">
            <a:xfrm flipV="1">
              <a:off x="2112" y="1632"/>
              <a:ext cx="1248" cy="48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grpSp>
        <p:nvGrpSpPr>
          <p:cNvPr id="1083401" name="Group 9"/>
          <p:cNvGrpSpPr/>
          <p:nvPr/>
        </p:nvGrpSpPr>
        <p:grpSpPr bwMode="auto">
          <a:xfrm>
            <a:off x="5607050" y="2971800"/>
            <a:ext cx="2057400" cy="1752600"/>
            <a:chOff x="3360" y="1776"/>
            <a:chExt cx="1296" cy="1104"/>
          </a:xfrm>
        </p:grpSpPr>
        <p:sp>
          <p:nvSpPr>
            <p:cNvPr id="1083402" name="Line 10"/>
            <p:cNvSpPr>
              <a:spLocks noChangeShapeType="1"/>
            </p:cNvSpPr>
            <p:nvPr/>
          </p:nvSpPr>
          <p:spPr bwMode="auto">
            <a:xfrm>
              <a:off x="4656" y="1776"/>
              <a:ext cx="0" cy="110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cxnSp>
          <p:nvCxnSpPr>
            <p:cNvPr id="1083403" name="AutoShape 11"/>
            <p:cNvCxnSpPr>
              <a:cxnSpLocks noChangeShapeType="1"/>
              <a:stCxn id="1083399" idx="1"/>
              <a:endCxn id="1083402" idx="0"/>
            </p:cNvCxnSpPr>
            <p:nvPr/>
          </p:nvCxnSpPr>
          <p:spPr bwMode="auto">
            <a:xfrm flipV="1">
              <a:off x="3360" y="1776"/>
              <a:ext cx="1296" cy="336"/>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083404" name="AutoShape 12"/>
            <p:cNvCxnSpPr>
              <a:cxnSpLocks noChangeShapeType="1"/>
              <a:stCxn id="1083402" idx="1"/>
              <a:endCxn id="1083406" idx="0"/>
            </p:cNvCxnSpPr>
            <p:nvPr/>
          </p:nvCxnSpPr>
          <p:spPr bwMode="auto">
            <a:xfrm flipH="1" flipV="1">
              <a:off x="3360" y="2544"/>
              <a:ext cx="1296" cy="336"/>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grpSp>
        <p:nvGrpSpPr>
          <p:cNvPr id="1083405" name="Group 13"/>
          <p:cNvGrpSpPr/>
          <p:nvPr/>
        </p:nvGrpSpPr>
        <p:grpSpPr bwMode="auto">
          <a:xfrm>
            <a:off x="3625850" y="4191000"/>
            <a:ext cx="1981200" cy="762000"/>
            <a:chOff x="2112" y="2544"/>
            <a:chExt cx="1248" cy="480"/>
          </a:xfrm>
        </p:grpSpPr>
        <p:sp>
          <p:nvSpPr>
            <p:cNvPr id="1083406" name="Line 14"/>
            <p:cNvSpPr>
              <a:spLocks noChangeShapeType="1"/>
            </p:cNvSpPr>
            <p:nvPr/>
          </p:nvSpPr>
          <p:spPr bwMode="auto">
            <a:xfrm>
              <a:off x="3360" y="2544"/>
              <a:ext cx="0"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cxnSp>
          <p:nvCxnSpPr>
            <p:cNvPr id="1083407" name="AutoShape 15"/>
            <p:cNvCxnSpPr>
              <a:cxnSpLocks noChangeShapeType="1"/>
              <a:stCxn id="1083406" idx="1"/>
              <a:endCxn id="1083409" idx="0"/>
            </p:cNvCxnSpPr>
            <p:nvPr/>
          </p:nvCxnSpPr>
          <p:spPr bwMode="auto">
            <a:xfrm flipH="1" flipV="1">
              <a:off x="2112" y="2544"/>
              <a:ext cx="1248" cy="48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grpSp>
        <p:nvGrpSpPr>
          <p:cNvPr id="1083408" name="Group 16"/>
          <p:cNvGrpSpPr/>
          <p:nvPr/>
        </p:nvGrpSpPr>
        <p:grpSpPr bwMode="auto">
          <a:xfrm>
            <a:off x="1720850" y="4191000"/>
            <a:ext cx="1905000" cy="762000"/>
            <a:chOff x="912" y="2544"/>
            <a:chExt cx="1200" cy="480"/>
          </a:xfrm>
        </p:grpSpPr>
        <p:sp>
          <p:nvSpPr>
            <p:cNvPr id="1083409" name="Line 17"/>
            <p:cNvSpPr>
              <a:spLocks noChangeShapeType="1"/>
            </p:cNvSpPr>
            <p:nvPr/>
          </p:nvSpPr>
          <p:spPr bwMode="auto">
            <a:xfrm>
              <a:off x="2112" y="2544"/>
              <a:ext cx="0"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cxnSp>
          <p:nvCxnSpPr>
            <p:cNvPr id="1083410" name="AutoShape 18"/>
            <p:cNvCxnSpPr>
              <a:cxnSpLocks noChangeShapeType="1"/>
              <a:stCxn id="1083409" idx="1"/>
              <a:endCxn id="1083425" idx="0"/>
            </p:cNvCxnSpPr>
            <p:nvPr/>
          </p:nvCxnSpPr>
          <p:spPr bwMode="auto">
            <a:xfrm flipH="1" flipV="1">
              <a:off x="912" y="2544"/>
              <a:ext cx="1200" cy="48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sp>
        <p:nvSpPr>
          <p:cNvPr id="1083411" name="Line 19"/>
          <p:cNvSpPr>
            <a:spLocks noChangeShapeType="1"/>
          </p:cNvSpPr>
          <p:nvPr/>
        </p:nvSpPr>
        <p:spPr bwMode="auto">
          <a:xfrm>
            <a:off x="1720850" y="2743200"/>
            <a:ext cx="0" cy="762000"/>
          </a:xfrm>
          <a:prstGeom prst="line">
            <a:avLst/>
          </a:prstGeom>
          <a:noFill/>
          <a:ln w="28575">
            <a:solidFill>
              <a:srgbClr val="FF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nvGrpSpPr>
          <p:cNvPr id="1083412" name="Group 20"/>
          <p:cNvGrpSpPr/>
          <p:nvPr/>
        </p:nvGrpSpPr>
        <p:grpSpPr bwMode="auto">
          <a:xfrm>
            <a:off x="1339850" y="2362200"/>
            <a:ext cx="930275" cy="1219200"/>
            <a:chOff x="1152" y="1488"/>
            <a:chExt cx="586" cy="768"/>
          </a:xfrm>
        </p:grpSpPr>
        <p:sp>
          <p:nvSpPr>
            <p:cNvPr id="1083413" name="Text Box 21"/>
            <p:cNvSpPr txBox="1">
              <a:spLocks noChangeArrowheads="1"/>
            </p:cNvSpPr>
            <p:nvPr/>
          </p:nvSpPr>
          <p:spPr bwMode="auto">
            <a:xfrm>
              <a:off x="1152" y="196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en-US" altLang="zh-CN" sz="2400" b="1"/>
                <a:t>r</a:t>
              </a:r>
              <a:endParaRPr lang="en-US" altLang="zh-CN" sz="2400" b="1"/>
            </a:p>
          </p:txBody>
        </p:sp>
        <p:sp>
          <p:nvSpPr>
            <p:cNvPr id="1083414" name="Text Box 22"/>
            <p:cNvSpPr txBox="1">
              <a:spLocks noChangeArrowheads="1"/>
            </p:cNvSpPr>
            <p:nvPr/>
          </p:nvSpPr>
          <p:spPr bwMode="auto">
            <a:xfrm>
              <a:off x="1392" y="1488"/>
              <a:ext cx="34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a:spAutoFit/>
            </a:bodyPr>
            <a:lstStyle/>
            <a:p>
              <a:pPr eaLnBrk="0" hangingPunct="0">
                <a:spcBef>
                  <a:spcPct val="50000"/>
                </a:spcBef>
              </a:pPr>
              <a:r>
                <a:rPr lang="zh-CN" altLang="en-US" sz="2400" b="1"/>
                <a:t>主程序</a:t>
              </a:r>
              <a:endParaRPr lang="zh-CN" altLang="en-US" sz="2400" b="1"/>
            </a:p>
          </p:txBody>
        </p:sp>
      </p:grpSp>
      <p:grpSp>
        <p:nvGrpSpPr>
          <p:cNvPr id="1083415" name="Group 23"/>
          <p:cNvGrpSpPr/>
          <p:nvPr/>
        </p:nvGrpSpPr>
        <p:grpSpPr bwMode="auto">
          <a:xfrm>
            <a:off x="5073650" y="5105400"/>
            <a:ext cx="457200" cy="1143000"/>
            <a:chOff x="3504" y="3216"/>
            <a:chExt cx="288" cy="720"/>
          </a:xfrm>
        </p:grpSpPr>
        <p:sp>
          <p:nvSpPr>
            <p:cNvPr id="1083416" name="Rectangle 24"/>
            <p:cNvSpPr>
              <a:spLocks noChangeArrowheads="1"/>
            </p:cNvSpPr>
            <p:nvPr/>
          </p:nvSpPr>
          <p:spPr bwMode="auto">
            <a:xfrm>
              <a:off x="3504" y="3552"/>
              <a:ext cx="288" cy="192"/>
            </a:xfrm>
            <a:prstGeom prst="rect">
              <a:avLst/>
            </a:prstGeom>
            <a:solidFill>
              <a:srgbClr val="FF9933"/>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b="1"/>
                <a:t>s</a:t>
              </a:r>
              <a:endParaRPr lang="en-US" altLang="zh-CN" sz="2400" b="1"/>
            </a:p>
          </p:txBody>
        </p:sp>
        <p:sp>
          <p:nvSpPr>
            <p:cNvPr id="1083417" name="Line 25"/>
            <p:cNvSpPr>
              <a:spLocks noChangeShapeType="1"/>
            </p:cNvSpPr>
            <p:nvPr/>
          </p:nvSpPr>
          <p:spPr bwMode="auto">
            <a:xfrm flipV="1">
              <a:off x="3792" y="3216"/>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18" name="Line 26"/>
            <p:cNvSpPr>
              <a:spLocks noChangeShapeType="1"/>
            </p:cNvSpPr>
            <p:nvPr/>
          </p:nvSpPr>
          <p:spPr bwMode="auto">
            <a:xfrm flipV="1">
              <a:off x="3504" y="3216"/>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19" name="Rectangle 27"/>
            <p:cNvSpPr>
              <a:spLocks noChangeArrowheads="1"/>
            </p:cNvSpPr>
            <p:nvPr/>
          </p:nvSpPr>
          <p:spPr bwMode="auto">
            <a:xfrm>
              <a:off x="3504" y="3744"/>
              <a:ext cx="288" cy="192"/>
            </a:xfrm>
            <a:prstGeom prst="rect">
              <a:avLst/>
            </a:prstGeom>
            <a:solidFill>
              <a:schemeClr val="accent1"/>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b="1"/>
                <a:t>r</a:t>
              </a:r>
              <a:endParaRPr lang="en-US" altLang="zh-CN" sz="2400" b="1"/>
            </a:p>
          </p:txBody>
        </p:sp>
      </p:grpSp>
      <p:grpSp>
        <p:nvGrpSpPr>
          <p:cNvPr id="1083420" name="Group 28"/>
          <p:cNvGrpSpPr/>
          <p:nvPr/>
        </p:nvGrpSpPr>
        <p:grpSpPr bwMode="auto">
          <a:xfrm>
            <a:off x="3016250" y="5029200"/>
            <a:ext cx="457200" cy="1143000"/>
            <a:chOff x="3744" y="2544"/>
            <a:chExt cx="288" cy="720"/>
          </a:xfrm>
        </p:grpSpPr>
        <p:sp>
          <p:nvSpPr>
            <p:cNvPr id="1083421" name="Line 29"/>
            <p:cNvSpPr>
              <a:spLocks noChangeShapeType="1"/>
            </p:cNvSpPr>
            <p:nvPr/>
          </p:nvSpPr>
          <p:spPr bwMode="auto">
            <a:xfrm flipV="1">
              <a:off x="3744" y="2544"/>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22" name="Line 30"/>
            <p:cNvSpPr>
              <a:spLocks noChangeShapeType="1"/>
            </p:cNvSpPr>
            <p:nvPr/>
          </p:nvSpPr>
          <p:spPr bwMode="auto">
            <a:xfrm flipV="1">
              <a:off x="4032" y="2544"/>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23" name="Rectangle 31"/>
            <p:cNvSpPr>
              <a:spLocks noChangeArrowheads="1"/>
            </p:cNvSpPr>
            <p:nvPr/>
          </p:nvSpPr>
          <p:spPr bwMode="auto">
            <a:xfrm>
              <a:off x="3744" y="3072"/>
              <a:ext cx="288" cy="192"/>
            </a:xfrm>
            <a:prstGeom prst="rect">
              <a:avLst/>
            </a:prstGeom>
            <a:solidFill>
              <a:schemeClr val="accent1"/>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b="1"/>
                <a:t>r</a:t>
              </a:r>
              <a:endParaRPr lang="en-US" altLang="zh-CN" sz="2400" b="1"/>
            </a:p>
          </p:txBody>
        </p:sp>
      </p:grpSp>
      <p:grpSp>
        <p:nvGrpSpPr>
          <p:cNvPr id="1083424" name="Group 32"/>
          <p:cNvGrpSpPr/>
          <p:nvPr/>
        </p:nvGrpSpPr>
        <p:grpSpPr bwMode="auto">
          <a:xfrm>
            <a:off x="1035050" y="4191000"/>
            <a:ext cx="685800" cy="1143000"/>
            <a:chOff x="960" y="2640"/>
            <a:chExt cx="432" cy="720"/>
          </a:xfrm>
        </p:grpSpPr>
        <p:sp>
          <p:nvSpPr>
            <p:cNvPr id="1083425" name="Line 33"/>
            <p:cNvSpPr>
              <a:spLocks noChangeShapeType="1"/>
            </p:cNvSpPr>
            <p:nvPr/>
          </p:nvSpPr>
          <p:spPr bwMode="auto">
            <a:xfrm>
              <a:off x="1392" y="2640"/>
              <a:ext cx="0" cy="480"/>
            </a:xfrm>
            <a:prstGeom prst="line">
              <a:avLst/>
            </a:prstGeom>
            <a:noFill/>
            <a:ln w="28575">
              <a:solidFill>
                <a:srgbClr val="FF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nvGrpSpPr>
            <p:cNvPr id="1083426" name="Group 34"/>
            <p:cNvGrpSpPr/>
            <p:nvPr/>
          </p:nvGrpSpPr>
          <p:grpSpPr bwMode="auto">
            <a:xfrm>
              <a:off x="960" y="2640"/>
              <a:ext cx="288" cy="720"/>
              <a:chOff x="2784" y="3408"/>
              <a:chExt cx="288" cy="720"/>
            </a:xfrm>
          </p:grpSpPr>
          <p:sp>
            <p:nvSpPr>
              <p:cNvPr id="1083427" name="Line 35"/>
              <p:cNvSpPr>
                <a:spLocks noChangeShapeType="1"/>
              </p:cNvSpPr>
              <p:nvPr/>
            </p:nvSpPr>
            <p:spPr bwMode="auto">
              <a:xfrm flipV="1">
                <a:off x="2784" y="3408"/>
                <a:ext cx="0" cy="720"/>
              </a:xfrm>
              <a:prstGeom prst="line">
                <a:avLst/>
              </a:prstGeom>
              <a:noFill/>
              <a:ln w="2857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28" name="Line 36"/>
              <p:cNvSpPr>
                <a:spLocks noChangeShapeType="1"/>
              </p:cNvSpPr>
              <p:nvPr/>
            </p:nvSpPr>
            <p:spPr bwMode="auto">
              <a:xfrm flipV="1">
                <a:off x="3072" y="3408"/>
                <a:ext cx="0" cy="720"/>
              </a:xfrm>
              <a:prstGeom prst="line">
                <a:avLst/>
              </a:prstGeom>
              <a:noFill/>
              <a:ln w="2857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cxnSp>
            <p:nvCxnSpPr>
              <p:cNvPr id="1083429" name="AutoShape 37"/>
              <p:cNvCxnSpPr>
                <a:cxnSpLocks noChangeShapeType="1"/>
                <a:stCxn id="1083427" idx="0"/>
                <a:endCxn id="1083428" idx="0"/>
              </p:cNvCxnSpPr>
              <p:nvPr/>
            </p:nvCxnSpPr>
            <p:spPr bwMode="auto">
              <a:xfrm>
                <a:off x="2784" y="4128"/>
                <a:ext cx="288" cy="0"/>
              </a:xfrm>
              <a:prstGeom prst="straightConnector1">
                <a:avLst/>
              </a:prstGeom>
              <a:noFill/>
              <a:ln w="2857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grpSp>
      <p:grpSp>
        <p:nvGrpSpPr>
          <p:cNvPr id="1083430" name="Group 38"/>
          <p:cNvGrpSpPr/>
          <p:nvPr/>
        </p:nvGrpSpPr>
        <p:grpSpPr bwMode="auto">
          <a:xfrm>
            <a:off x="3016250" y="1524000"/>
            <a:ext cx="1098550" cy="2133600"/>
            <a:chOff x="2208" y="960"/>
            <a:chExt cx="692" cy="1344"/>
          </a:xfrm>
        </p:grpSpPr>
        <p:grpSp>
          <p:nvGrpSpPr>
            <p:cNvPr id="1083431" name="Group 39"/>
            <p:cNvGrpSpPr/>
            <p:nvPr/>
          </p:nvGrpSpPr>
          <p:grpSpPr bwMode="auto">
            <a:xfrm>
              <a:off x="2256" y="960"/>
              <a:ext cx="288" cy="720"/>
              <a:chOff x="912" y="2976"/>
              <a:chExt cx="288" cy="720"/>
            </a:xfrm>
          </p:grpSpPr>
          <p:sp>
            <p:nvSpPr>
              <p:cNvPr id="1083432" name="Rectangle 40"/>
              <p:cNvSpPr>
                <a:spLocks noChangeArrowheads="1"/>
              </p:cNvSpPr>
              <p:nvPr/>
            </p:nvSpPr>
            <p:spPr bwMode="auto">
              <a:xfrm>
                <a:off x="912" y="3504"/>
                <a:ext cx="288" cy="192"/>
              </a:xfrm>
              <a:prstGeom prst="rect">
                <a:avLst/>
              </a:prstGeom>
              <a:solidFill>
                <a:schemeClr val="accent1"/>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t>r</a:t>
                </a:r>
                <a:endParaRPr lang="en-US" altLang="zh-CN" sz="2400"/>
              </a:p>
            </p:txBody>
          </p:sp>
          <p:sp>
            <p:nvSpPr>
              <p:cNvPr id="1083433" name="Line 41"/>
              <p:cNvSpPr>
                <a:spLocks noChangeShapeType="1"/>
              </p:cNvSpPr>
              <p:nvPr/>
            </p:nvSpPr>
            <p:spPr bwMode="auto">
              <a:xfrm flipV="1">
                <a:off x="1200" y="2976"/>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34" name="Line 42"/>
              <p:cNvSpPr>
                <a:spLocks noChangeShapeType="1"/>
              </p:cNvSpPr>
              <p:nvPr/>
            </p:nvSpPr>
            <p:spPr bwMode="auto">
              <a:xfrm flipV="1">
                <a:off x="912" y="2976"/>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1083435" name="Text Box 43" descr="花岗岩"/>
            <p:cNvSpPr txBox="1">
              <a:spLocks noChangeArrowheads="1"/>
            </p:cNvSpPr>
            <p:nvPr/>
          </p:nvSpPr>
          <p:spPr bwMode="auto">
            <a:xfrm>
              <a:off x="2208" y="2016"/>
              <a:ext cx="336" cy="288"/>
            </a:xfrm>
            <a:prstGeom prst="rect">
              <a:avLst/>
            </a:prstGeom>
            <a:noFill/>
            <a:ln>
              <a:noFill/>
            </a:ln>
            <a:effectLst/>
            <a:extLst>
              <a:ext uri="{909E8E84-426E-40DD-AFC4-6F175D3DCCD1}">
                <a14:hiddenFill xmlns:a14="http://schemas.microsoft.com/office/drawing/2010/main">
                  <a:blipFill dpi="0" rotWithShape="0">
                    <a:blip r:embed="rId1"/>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spcBef>
                  <a:spcPct val="50000"/>
                </a:spcBef>
              </a:pPr>
              <a:r>
                <a:rPr lang="en-US" altLang="zh-CN" sz="2400" b="1"/>
                <a:t>s</a:t>
              </a:r>
              <a:endParaRPr lang="en-US" altLang="zh-CN" sz="2400" b="1"/>
            </a:p>
          </p:txBody>
        </p:sp>
        <p:sp>
          <p:nvSpPr>
            <p:cNvPr id="1083436" name="Text Box 44" descr="花岗岩"/>
            <p:cNvSpPr txBox="1">
              <a:spLocks noChangeArrowheads="1"/>
            </p:cNvSpPr>
            <p:nvPr/>
          </p:nvSpPr>
          <p:spPr bwMode="auto">
            <a:xfrm>
              <a:off x="2554" y="960"/>
              <a:ext cx="346" cy="864"/>
            </a:xfrm>
            <a:prstGeom prst="rect">
              <a:avLst/>
            </a:prstGeom>
            <a:noFill/>
            <a:ln>
              <a:noFill/>
            </a:ln>
            <a:effectLst/>
            <a:extLst>
              <a:ext uri="{909E8E84-426E-40DD-AFC4-6F175D3DCCD1}">
                <a14:hiddenFill xmlns:a14="http://schemas.microsoft.com/office/drawing/2010/main">
                  <a:blipFill dpi="0" rotWithShape="0">
                    <a:blip r:embed="rId1"/>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a:spAutoFit/>
            </a:bodyPr>
            <a:lstStyle/>
            <a:p>
              <a:pPr algn="ctr" eaLnBrk="0" hangingPunct="0">
                <a:spcBef>
                  <a:spcPct val="50000"/>
                </a:spcBef>
              </a:pPr>
              <a:r>
                <a:rPr lang="zh-CN" altLang="en-US" sz="2400" b="1"/>
                <a:t>子过程</a:t>
              </a:r>
              <a:r>
                <a:rPr lang="en-US" altLang="zh-CN" sz="2400" b="1"/>
                <a:t>1</a:t>
              </a:r>
              <a:endParaRPr lang="en-US" altLang="zh-CN" sz="2400" b="1"/>
            </a:p>
          </p:txBody>
        </p:sp>
      </p:grpSp>
      <p:grpSp>
        <p:nvGrpSpPr>
          <p:cNvPr id="1083437" name="Group 45"/>
          <p:cNvGrpSpPr/>
          <p:nvPr/>
        </p:nvGrpSpPr>
        <p:grpSpPr bwMode="auto">
          <a:xfrm>
            <a:off x="5073650" y="1447800"/>
            <a:ext cx="1098550" cy="2209800"/>
            <a:chOff x="3504" y="912"/>
            <a:chExt cx="692" cy="1392"/>
          </a:xfrm>
        </p:grpSpPr>
        <p:sp>
          <p:nvSpPr>
            <p:cNvPr id="1083438" name="Rectangle 46"/>
            <p:cNvSpPr>
              <a:spLocks noChangeArrowheads="1"/>
            </p:cNvSpPr>
            <p:nvPr/>
          </p:nvSpPr>
          <p:spPr bwMode="auto">
            <a:xfrm>
              <a:off x="3504" y="1488"/>
              <a:ext cx="288" cy="192"/>
            </a:xfrm>
            <a:prstGeom prst="rect">
              <a:avLst/>
            </a:prstGeom>
            <a:solidFill>
              <a:schemeClr val="accent1"/>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t>r</a:t>
              </a:r>
              <a:endParaRPr lang="en-US" altLang="zh-CN" sz="2400"/>
            </a:p>
          </p:txBody>
        </p:sp>
        <p:sp>
          <p:nvSpPr>
            <p:cNvPr id="1083439" name="Rectangle 47"/>
            <p:cNvSpPr>
              <a:spLocks noChangeArrowheads="1"/>
            </p:cNvSpPr>
            <p:nvPr/>
          </p:nvSpPr>
          <p:spPr bwMode="auto">
            <a:xfrm>
              <a:off x="3504" y="1296"/>
              <a:ext cx="288" cy="192"/>
            </a:xfrm>
            <a:prstGeom prst="rect">
              <a:avLst/>
            </a:prstGeom>
            <a:solidFill>
              <a:srgbClr val="FF9933"/>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t>s</a:t>
              </a:r>
              <a:endParaRPr lang="en-US" altLang="zh-CN" sz="2400"/>
            </a:p>
          </p:txBody>
        </p:sp>
        <p:sp>
          <p:nvSpPr>
            <p:cNvPr id="1083440" name="Line 48"/>
            <p:cNvSpPr>
              <a:spLocks noChangeShapeType="1"/>
            </p:cNvSpPr>
            <p:nvPr/>
          </p:nvSpPr>
          <p:spPr bwMode="auto">
            <a:xfrm flipV="1">
              <a:off x="3504" y="960"/>
              <a:ext cx="0" cy="336"/>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41" name="Line 49"/>
            <p:cNvSpPr>
              <a:spLocks noChangeShapeType="1"/>
            </p:cNvSpPr>
            <p:nvPr/>
          </p:nvSpPr>
          <p:spPr bwMode="auto">
            <a:xfrm flipV="1">
              <a:off x="3792" y="960"/>
              <a:ext cx="0" cy="336"/>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42" name="Text Box 50" descr="花岗岩"/>
            <p:cNvSpPr txBox="1">
              <a:spLocks noChangeArrowheads="1"/>
            </p:cNvSpPr>
            <p:nvPr/>
          </p:nvSpPr>
          <p:spPr bwMode="auto">
            <a:xfrm>
              <a:off x="3504" y="2016"/>
              <a:ext cx="288" cy="288"/>
            </a:xfrm>
            <a:prstGeom prst="rect">
              <a:avLst/>
            </a:prstGeom>
            <a:noFill/>
            <a:ln>
              <a:noFill/>
            </a:ln>
            <a:effectLst/>
            <a:extLst>
              <a:ext uri="{909E8E84-426E-40DD-AFC4-6F175D3DCCD1}">
                <a14:hiddenFill xmlns:a14="http://schemas.microsoft.com/office/drawing/2010/main">
                  <a:blipFill dpi="0" rotWithShape="0">
                    <a:blip r:embed="rId1"/>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spcBef>
                  <a:spcPct val="50000"/>
                </a:spcBef>
              </a:pPr>
              <a:r>
                <a:rPr lang="en-US" altLang="zh-CN" sz="2400" b="1"/>
                <a:t>t</a:t>
              </a:r>
              <a:endParaRPr lang="en-US" altLang="zh-CN" sz="2400" b="1"/>
            </a:p>
          </p:txBody>
        </p:sp>
        <p:sp>
          <p:nvSpPr>
            <p:cNvPr id="1083443" name="Text Box 51" descr="花岗岩"/>
            <p:cNvSpPr txBox="1">
              <a:spLocks noChangeArrowheads="1"/>
            </p:cNvSpPr>
            <p:nvPr/>
          </p:nvSpPr>
          <p:spPr bwMode="auto">
            <a:xfrm>
              <a:off x="3850" y="912"/>
              <a:ext cx="346" cy="864"/>
            </a:xfrm>
            <a:prstGeom prst="rect">
              <a:avLst/>
            </a:prstGeom>
            <a:noFill/>
            <a:ln>
              <a:noFill/>
            </a:ln>
            <a:effectLst/>
            <a:extLst>
              <a:ext uri="{909E8E84-426E-40DD-AFC4-6F175D3DCCD1}">
                <a14:hiddenFill xmlns:a14="http://schemas.microsoft.com/office/drawing/2010/main">
                  <a:blipFill dpi="0" rotWithShape="0">
                    <a:blip r:embed="rId1"/>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a:spAutoFit/>
            </a:bodyPr>
            <a:lstStyle/>
            <a:p>
              <a:pPr algn="ctr" eaLnBrk="0" hangingPunct="0">
                <a:spcBef>
                  <a:spcPct val="50000"/>
                </a:spcBef>
              </a:pPr>
              <a:r>
                <a:rPr lang="zh-CN" altLang="en-US" sz="2400" b="1"/>
                <a:t>子过程</a:t>
              </a:r>
              <a:r>
                <a:rPr lang="en-US" altLang="zh-CN" sz="2400" b="1"/>
                <a:t>2</a:t>
              </a:r>
              <a:endParaRPr lang="en-US" altLang="zh-CN" sz="2400" b="1"/>
            </a:p>
          </p:txBody>
        </p:sp>
      </p:grpSp>
      <p:grpSp>
        <p:nvGrpSpPr>
          <p:cNvPr id="1083444" name="Group 52"/>
          <p:cNvGrpSpPr/>
          <p:nvPr/>
        </p:nvGrpSpPr>
        <p:grpSpPr bwMode="auto">
          <a:xfrm>
            <a:off x="7131050" y="1676400"/>
            <a:ext cx="1098550" cy="1371600"/>
            <a:chOff x="4800" y="1056"/>
            <a:chExt cx="692" cy="864"/>
          </a:xfrm>
        </p:grpSpPr>
        <p:sp>
          <p:nvSpPr>
            <p:cNvPr id="1083445" name="Line 53"/>
            <p:cNvSpPr>
              <a:spLocks noChangeShapeType="1"/>
            </p:cNvSpPr>
            <p:nvPr/>
          </p:nvSpPr>
          <p:spPr bwMode="auto">
            <a:xfrm flipV="1">
              <a:off x="4800" y="1104"/>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46" name="Line 54"/>
            <p:cNvSpPr>
              <a:spLocks noChangeShapeType="1"/>
            </p:cNvSpPr>
            <p:nvPr/>
          </p:nvSpPr>
          <p:spPr bwMode="auto">
            <a:xfrm flipV="1">
              <a:off x="5088" y="1104"/>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3447" name="Rectangle 55"/>
            <p:cNvSpPr>
              <a:spLocks noChangeArrowheads="1"/>
            </p:cNvSpPr>
            <p:nvPr/>
          </p:nvSpPr>
          <p:spPr bwMode="auto">
            <a:xfrm>
              <a:off x="4800" y="1632"/>
              <a:ext cx="288" cy="192"/>
            </a:xfrm>
            <a:prstGeom prst="rect">
              <a:avLst/>
            </a:prstGeom>
            <a:solidFill>
              <a:schemeClr val="accent1"/>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t>r</a:t>
              </a:r>
              <a:endParaRPr lang="en-US" altLang="zh-CN" sz="2400"/>
            </a:p>
          </p:txBody>
        </p:sp>
        <p:sp>
          <p:nvSpPr>
            <p:cNvPr id="1083448" name="Rectangle 56"/>
            <p:cNvSpPr>
              <a:spLocks noChangeArrowheads="1"/>
            </p:cNvSpPr>
            <p:nvPr/>
          </p:nvSpPr>
          <p:spPr bwMode="auto">
            <a:xfrm>
              <a:off x="4800" y="1440"/>
              <a:ext cx="288" cy="192"/>
            </a:xfrm>
            <a:prstGeom prst="rect">
              <a:avLst/>
            </a:prstGeom>
            <a:solidFill>
              <a:srgbClr val="FF9933"/>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t>s</a:t>
              </a:r>
              <a:endParaRPr lang="en-US" altLang="zh-CN" sz="2400"/>
            </a:p>
          </p:txBody>
        </p:sp>
        <p:sp>
          <p:nvSpPr>
            <p:cNvPr id="1083449" name="Rectangle 57"/>
            <p:cNvSpPr>
              <a:spLocks noChangeArrowheads="1"/>
            </p:cNvSpPr>
            <p:nvPr/>
          </p:nvSpPr>
          <p:spPr bwMode="auto">
            <a:xfrm>
              <a:off x="4800" y="1248"/>
              <a:ext cx="288" cy="192"/>
            </a:xfrm>
            <a:prstGeom prst="rect">
              <a:avLst/>
            </a:prstGeom>
            <a:solidFill>
              <a:srgbClr val="FF6699"/>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t>t</a:t>
              </a:r>
              <a:endParaRPr lang="en-US" altLang="zh-CN" sz="2400"/>
            </a:p>
          </p:txBody>
        </p:sp>
        <p:sp>
          <p:nvSpPr>
            <p:cNvPr id="1083450" name="Text Box 58" descr="花岗岩"/>
            <p:cNvSpPr txBox="1">
              <a:spLocks noChangeArrowheads="1"/>
            </p:cNvSpPr>
            <p:nvPr/>
          </p:nvSpPr>
          <p:spPr bwMode="auto">
            <a:xfrm>
              <a:off x="5146" y="1056"/>
              <a:ext cx="346" cy="864"/>
            </a:xfrm>
            <a:prstGeom prst="rect">
              <a:avLst/>
            </a:prstGeom>
            <a:noFill/>
            <a:ln>
              <a:noFill/>
            </a:ln>
            <a:effectLst/>
            <a:extLst>
              <a:ext uri="{909E8E84-426E-40DD-AFC4-6F175D3DCCD1}">
                <a14:hiddenFill xmlns:a14="http://schemas.microsoft.com/office/drawing/2010/main">
                  <a:blipFill dpi="0" rotWithShape="0">
                    <a:blip r:embed="rId1"/>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a:spAutoFit/>
            </a:bodyPr>
            <a:lstStyle/>
            <a:p>
              <a:pPr algn="ctr" eaLnBrk="0" hangingPunct="0">
                <a:spcBef>
                  <a:spcPct val="50000"/>
                </a:spcBef>
              </a:pPr>
              <a:r>
                <a:rPr lang="zh-CN" altLang="en-US" sz="2400" b="1"/>
                <a:t>子过程</a:t>
              </a:r>
              <a:r>
                <a:rPr lang="en-US" altLang="zh-CN" sz="2400" b="1"/>
                <a:t>3</a:t>
              </a:r>
              <a:endParaRPr lang="en-US" altLang="zh-CN" sz="2400" b="1"/>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1083395"/>
                                        </p:tgtEl>
                                        <p:attrNameLst>
                                          <p:attrName>style.visibility</p:attrName>
                                        </p:attrNameLst>
                                      </p:cBhvr>
                                      <p:to>
                                        <p:strVal val="visible"/>
                                      </p:to>
                                    </p:set>
                                    <p:anim calcmode="lin" valueType="num">
                                      <p:cBhvr>
                                        <p:cTn id="7" dur="500" fill="hold"/>
                                        <p:tgtEl>
                                          <p:spTgt spid="1083395"/>
                                        </p:tgtEl>
                                        <p:attrNameLst>
                                          <p:attrName>ppt_x</p:attrName>
                                        </p:attrNameLst>
                                      </p:cBhvr>
                                      <p:tavLst>
                                        <p:tav tm="0">
                                          <p:val>
                                            <p:strVal val="#ppt_x-#ppt_w/2"/>
                                          </p:val>
                                        </p:tav>
                                        <p:tav tm="100000">
                                          <p:val>
                                            <p:strVal val="#ppt_x"/>
                                          </p:val>
                                        </p:tav>
                                      </p:tavLst>
                                    </p:anim>
                                    <p:anim calcmode="lin" valueType="num">
                                      <p:cBhvr>
                                        <p:cTn id="8" dur="500" fill="hold"/>
                                        <p:tgtEl>
                                          <p:spTgt spid="1083395"/>
                                        </p:tgtEl>
                                        <p:attrNameLst>
                                          <p:attrName>ppt_y</p:attrName>
                                        </p:attrNameLst>
                                      </p:cBhvr>
                                      <p:tavLst>
                                        <p:tav tm="0">
                                          <p:val>
                                            <p:strVal val="#ppt_y"/>
                                          </p:val>
                                        </p:tav>
                                        <p:tav tm="100000">
                                          <p:val>
                                            <p:strVal val="#ppt_y"/>
                                          </p:val>
                                        </p:tav>
                                      </p:tavLst>
                                    </p:anim>
                                    <p:anim calcmode="lin" valueType="num">
                                      <p:cBhvr>
                                        <p:cTn id="9" dur="500" fill="hold"/>
                                        <p:tgtEl>
                                          <p:spTgt spid="1083395"/>
                                        </p:tgtEl>
                                        <p:attrNameLst>
                                          <p:attrName>ppt_w</p:attrName>
                                        </p:attrNameLst>
                                      </p:cBhvr>
                                      <p:tavLst>
                                        <p:tav tm="0">
                                          <p:val>
                                            <p:fltVal val="0"/>
                                          </p:val>
                                        </p:tav>
                                        <p:tav tm="100000">
                                          <p:val>
                                            <p:strVal val="#ppt_w"/>
                                          </p:val>
                                        </p:tav>
                                      </p:tavLst>
                                    </p:anim>
                                    <p:anim calcmode="lin" valueType="num">
                                      <p:cBhvr>
                                        <p:cTn id="10" dur="500" fill="hold"/>
                                        <p:tgtEl>
                                          <p:spTgt spid="1083395"/>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1083395"/>
                                        </p:tgtEl>
                                        <p:attrNameLst>
                                          <p:attrName>ppt_c</p:attrName>
                                        </p:attrNameLst>
                                      </p:cBhvr>
                                      <p:to>
                                        <a:srgbClr val="FF5050"/>
                                      </p:to>
                                    </p:animClr>
                                  </p:subTnLst>
                                </p:cTn>
                              </p:par>
                            </p:childTnLst>
                          </p:cTn>
                        </p:par>
                        <p:par>
                          <p:cTn id="11" fill="hold">
                            <p:stCondLst>
                              <p:cond delay="500"/>
                            </p:stCondLst>
                            <p:childTnLst>
                              <p:par>
                                <p:cTn id="12" presetID="2" presetClass="entr" presetSubtype="8" fill="hold" grpId="0" nodeType="afterEffect">
                                  <p:stCondLst>
                                    <p:cond delay="0"/>
                                  </p:stCondLst>
                                  <p:childTnLst>
                                    <p:set>
                                      <p:cBhvr>
                                        <p:cTn id="13" dur="1" fill="hold">
                                          <p:stCondLst>
                                            <p:cond delay="0"/>
                                          </p:stCondLst>
                                        </p:cTn>
                                        <p:tgtEl>
                                          <p:spTgt spid="1083411"/>
                                        </p:tgtEl>
                                        <p:attrNameLst>
                                          <p:attrName>style.visibility</p:attrName>
                                        </p:attrNameLst>
                                      </p:cBhvr>
                                      <p:to>
                                        <p:strVal val="visible"/>
                                      </p:to>
                                    </p:set>
                                    <p:anim calcmode="lin" valueType="num">
                                      <p:cBhvr additive="base">
                                        <p:cTn id="14" dur="500" fill="hold"/>
                                        <p:tgtEl>
                                          <p:spTgt spid="1083411"/>
                                        </p:tgtEl>
                                        <p:attrNameLst>
                                          <p:attrName>ppt_x</p:attrName>
                                        </p:attrNameLst>
                                      </p:cBhvr>
                                      <p:tavLst>
                                        <p:tav tm="0">
                                          <p:val>
                                            <p:strVal val="0-#ppt_w/2"/>
                                          </p:val>
                                        </p:tav>
                                        <p:tav tm="100000">
                                          <p:val>
                                            <p:strVal val="#ppt_x"/>
                                          </p:val>
                                        </p:tav>
                                      </p:tavLst>
                                    </p:anim>
                                    <p:anim calcmode="lin" valueType="num">
                                      <p:cBhvr additive="base">
                                        <p:cTn id="15" dur="500" fill="hold"/>
                                        <p:tgtEl>
                                          <p:spTgt spid="1083411"/>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nodeType="clickEffect">
                                  <p:stCondLst>
                                    <p:cond delay="0"/>
                                  </p:stCondLst>
                                  <p:childTnLst>
                                    <p:set>
                                      <p:cBhvr>
                                        <p:cTn id="19" dur="1" fill="hold">
                                          <p:stCondLst>
                                            <p:cond delay="0"/>
                                          </p:stCondLst>
                                        </p:cTn>
                                        <p:tgtEl>
                                          <p:spTgt spid="1083412"/>
                                        </p:tgtEl>
                                        <p:attrNameLst>
                                          <p:attrName>style.visibility</p:attrName>
                                        </p:attrNameLst>
                                      </p:cBhvr>
                                      <p:to>
                                        <p:strVal val="visible"/>
                                      </p:to>
                                    </p:set>
                                    <p:animEffect transition="in" filter="box(out)">
                                      <p:cBhvr>
                                        <p:cTn id="20" dur="500"/>
                                        <p:tgtEl>
                                          <p:spTgt spid="1083412"/>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WAV"/>
                                        </p:tgtEl>
                                      </p:cMediaNode>
                                    </p:audio>
                                  </p:subTnLst>
                                </p:cTn>
                              </p:par>
                            </p:childTnLst>
                          </p:cTn>
                        </p:par>
                        <p:par>
                          <p:cTn id="21" fill="hold">
                            <p:stCondLst>
                              <p:cond delay="500"/>
                            </p:stCondLst>
                            <p:childTnLst>
                              <p:par>
                                <p:cTn id="22" presetID="3" presetClass="entr" presetSubtype="5" fill="hold" nodeType="afterEffect">
                                  <p:stCondLst>
                                    <p:cond delay="0"/>
                                  </p:stCondLst>
                                  <p:childTnLst>
                                    <p:set>
                                      <p:cBhvr>
                                        <p:cTn id="23" dur="1" fill="hold">
                                          <p:stCondLst>
                                            <p:cond delay="0"/>
                                          </p:stCondLst>
                                        </p:cTn>
                                        <p:tgtEl>
                                          <p:spTgt spid="1083430"/>
                                        </p:tgtEl>
                                        <p:attrNameLst>
                                          <p:attrName>style.visibility</p:attrName>
                                        </p:attrNameLst>
                                      </p:cBhvr>
                                      <p:to>
                                        <p:strVal val="visible"/>
                                      </p:to>
                                    </p:set>
                                    <p:animEffect transition="in" filter="blinds(vertical)">
                                      <p:cBhvr>
                                        <p:cTn id="24" dur="500"/>
                                        <p:tgtEl>
                                          <p:spTgt spid="1083430"/>
                                        </p:tgtEl>
                                      </p:cBhvr>
                                    </p:animEffect>
                                  </p:childTnLst>
                                </p:cTn>
                              </p:par>
                            </p:childTnLst>
                          </p:cTn>
                        </p:par>
                      </p:childTnLst>
                    </p:cTn>
                  </p:par>
                  <p:par>
                    <p:cTn id="25" fill="hold">
                      <p:stCondLst>
                        <p:cond delay="indefinite"/>
                      </p:stCondLst>
                      <p:childTnLst>
                        <p:par>
                          <p:cTn id="26" fill="hold">
                            <p:stCondLst>
                              <p:cond delay="0"/>
                            </p:stCondLst>
                            <p:childTnLst>
                              <p:par>
                                <p:cTn id="27" presetID="17" presetClass="entr" presetSubtype="8" fill="hold" nodeType="clickEffect">
                                  <p:stCondLst>
                                    <p:cond delay="0"/>
                                  </p:stCondLst>
                                  <p:childTnLst>
                                    <p:set>
                                      <p:cBhvr>
                                        <p:cTn id="28" dur="1" fill="hold">
                                          <p:stCondLst>
                                            <p:cond delay="0"/>
                                          </p:stCondLst>
                                        </p:cTn>
                                        <p:tgtEl>
                                          <p:spTgt spid="1083398"/>
                                        </p:tgtEl>
                                        <p:attrNameLst>
                                          <p:attrName>style.visibility</p:attrName>
                                        </p:attrNameLst>
                                      </p:cBhvr>
                                      <p:to>
                                        <p:strVal val="visible"/>
                                      </p:to>
                                    </p:set>
                                    <p:anim calcmode="lin" valueType="num">
                                      <p:cBhvr>
                                        <p:cTn id="29" dur="500" fill="hold"/>
                                        <p:tgtEl>
                                          <p:spTgt spid="1083398"/>
                                        </p:tgtEl>
                                        <p:attrNameLst>
                                          <p:attrName>ppt_x</p:attrName>
                                        </p:attrNameLst>
                                      </p:cBhvr>
                                      <p:tavLst>
                                        <p:tav tm="0">
                                          <p:val>
                                            <p:strVal val="#ppt_x-#ppt_w/2"/>
                                          </p:val>
                                        </p:tav>
                                        <p:tav tm="100000">
                                          <p:val>
                                            <p:strVal val="#ppt_x"/>
                                          </p:val>
                                        </p:tav>
                                      </p:tavLst>
                                    </p:anim>
                                    <p:anim calcmode="lin" valueType="num">
                                      <p:cBhvr>
                                        <p:cTn id="30" dur="500" fill="hold"/>
                                        <p:tgtEl>
                                          <p:spTgt spid="1083398"/>
                                        </p:tgtEl>
                                        <p:attrNameLst>
                                          <p:attrName>ppt_y</p:attrName>
                                        </p:attrNameLst>
                                      </p:cBhvr>
                                      <p:tavLst>
                                        <p:tav tm="0">
                                          <p:val>
                                            <p:strVal val="#ppt_y"/>
                                          </p:val>
                                        </p:tav>
                                        <p:tav tm="100000">
                                          <p:val>
                                            <p:strVal val="#ppt_y"/>
                                          </p:val>
                                        </p:tav>
                                      </p:tavLst>
                                    </p:anim>
                                    <p:anim calcmode="lin" valueType="num">
                                      <p:cBhvr>
                                        <p:cTn id="31" dur="500" fill="hold"/>
                                        <p:tgtEl>
                                          <p:spTgt spid="1083398"/>
                                        </p:tgtEl>
                                        <p:attrNameLst>
                                          <p:attrName>ppt_w</p:attrName>
                                        </p:attrNameLst>
                                      </p:cBhvr>
                                      <p:tavLst>
                                        <p:tav tm="0">
                                          <p:val>
                                            <p:fltVal val="0"/>
                                          </p:val>
                                        </p:tav>
                                        <p:tav tm="100000">
                                          <p:val>
                                            <p:strVal val="#ppt_w"/>
                                          </p:val>
                                        </p:tav>
                                      </p:tavLst>
                                    </p:anim>
                                    <p:anim calcmode="lin" valueType="num">
                                      <p:cBhvr>
                                        <p:cTn id="32" dur="500" fill="hold"/>
                                        <p:tgtEl>
                                          <p:spTgt spid="1083398"/>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1083398"/>
                                        </p:tgtEl>
                                        <p:attrNameLst>
                                          <p:attrName>ppt_c</p:attrName>
                                        </p:attrNameLst>
                                      </p:cBhvr>
                                      <p:to>
                                        <a:srgbClr val="FF5050"/>
                                      </p:to>
                                    </p:animClr>
                                  </p:subTnLst>
                                </p:cTn>
                              </p:par>
                            </p:childTnLst>
                          </p:cTn>
                        </p:par>
                        <p:par>
                          <p:cTn id="33" fill="hold">
                            <p:stCondLst>
                              <p:cond delay="500"/>
                            </p:stCondLst>
                            <p:childTnLst>
                              <p:par>
                                <p:cTn id="34" presetID="3" presetClass="entr" presetSubtype="5" fill="hold" nodeType="afterEffect">
                                  <p:stCondLst>
                                    <p:cond delay="0"/>
                                  </p:stCondLst>
                                  <p:childTnLst>
                                    <p:set>
                                      <p:cBhvr>
                                        <p:cTn id="35" dur="1" fill="hold">
                                          <p:stCondLst>
                                            <p:cond delay="0"/>
                                          </p:stCondLst>
                                        </p:cTn>
                                        <p:tgtEl>
                                          <p:spTgt spid="1083437"/>
                                        </p:tgtEl>
                                        <p:attrNameLst>
                                          <p:attrName>style.visibility</p:attrName>
                                        </p:attrNameLst>
                                      </p:cBhvr>
                                      <p:to>
                                        <p:strVal val="visible"/>
                                      </p:to>
                                    </p:set>
                                    <p:animEffect transition="in" filter="blinds(vertical)">
                                      <p:cBhvr>
                                        <p:cTn id="36" dur="500"/>
                                        <p:tgtEl>
                                          <p:spTgt spid="1083437"/>
                                        </p:tgtEl>
                                      </p:cBhvr>
                                    </p:animEffect>
                                  </p:childTnLst>
                                </p:cTn>
                              </p:par>
                            </p:childTnLst>
                          </p:cTn>
                        </p:par>
                      </p:childTnLst>
                    </p:cTn>
                  </p:par>
                  <p:par>
                    <p:cTn id="37" fill="hold">
                      <p:stCondLst>
                        <p:cond delay="indefinite"/>
                      </p:stCondLst>
                      <p:childTnLst>
                        <p:par>
                          <p:cTn id="38" fill="hold">
                            <p:stCondLst>
                              <p:cond delay="0"/>
                            </p:stCondLst>
                            <p:childTnLst>
                              <p:par>
                                <p:cTn id="39" presetID="17" presetClass="entr" presetSubtype="8" fill="hold" nodeType="clickEffect">
                                  <p:stCondLst>
                                    <p:cond delay="0"/>
                                  </p:stCondLst>
                                  <p:childTnLst>
                                    <p:set>
                                      <p:cBhvr>
                                        <p:cTn id="40" dur="1" fill="hold">
                                          <p:stCondLst>
                                            <p:cond delay="0"/>
                                          </p:stCondLst>
                                        </p:cTn>
                                        <p:tgtEl>
                                          <p:spTgt spid="1083401"/>
                                        </p:tgtEl>
                                        <p:attrNameLst>
                                          <p:attrName>style.visibility</p:attrName>
                                        </p:attrNameLst>
                                      </p:cBhvr>
                                      <p:to>
                                        <p:strVal val="visible"/>
                                      </p:to>
                                    </p:set>
                                    <p:anim calcmode="lin" valueType="num">
                                      <p:cBhvr>
                                        <p:cTn id="41" dur="500" fill="hold"/>
                                        <p:tgtEl>
                                          <p:spTgt spid="1083401"/>
                                        </p:tgtEl>
                                        <p:attrNameLst>
                                          <p:attrName>ppt_x</p:attrName>
                                        </p:attrNameLst>
                                      </p:cBhvr>
                                      <p:tavLst>
                                        <p:tav tm="0">
                                          <p:val>
                                            <p:strVal val="#ppt_x-#ppt_w/2"/>
                                          </p:val>
                                        </p:tav>
                                        <p:tav tm="100000">
                                          <p:val>
                                            <p:strVal val="#ppt_x"/>
                                          </p:val>
                                        </p:tav>
                                      </p:tavLst>
                                    </p:anim>
                                    <p:anim calcmode="lin" valueType="num">
                                      <p:cBhvr>
                                        <p:cTn id="42" dur="500" fill="hold"/>
                                        <p:tgtEl>
                                          <p:spTgt spid="1083401"/>
                                        </p:tgtEl>
                                        <p:attrNameLst>
                                          <p:attrName>ppt_y</p:attrName>
                                        </p:attrNameLst>
                                      </p:cBhvr>
                                      <p:tavLst>
                                        <p:tav tm="0">
                                          <p:val>
                                            <p:strVal val="#ppt_y"/>
                                          </p:val>
                                        </p:tav>
                                        <p:tav tm="100000">
                                          <p:val>
                                            <p:strVal val="#ppt_y"/>
                                          </p:val>
                                        </p:tav>
                                      </p:tavLst>
                                    </p:anim>
                                    <p:anim calcmode="lin" valueType="num">
                                      <p:cBhvr>
                                        <p:cTn id="43" dur="500" fill="hold"/>
                                        <p:tgtEl>
                                          <p:spTgt spid="1083401"/>
                                        </p:tgtEl>
                                        <p:attrNameLst>
                                          <p:attrName>ppt_w</p:attrName>
                                        </p:attrNameLst>
                                      </p:cBhvr>
                                      <p:tavLst>
                                        <p:tav tm="0">
                                          <p:val>
                                            <p:fltVal val="0"/>
                                          </p:val>
                                        </p:tav>
                                        <p:tav tm="100000">
                                          <p:val>
                                            <p:strVal val="#ppt_w"/>
                                          </p:val>
                                        </p:tav>
                                      </p:tavLst>
                                    </p:anim>
                                    <p:anim calcmode="lin" valueType="num">
                                      <p:cBhvr>
                                        <p:cTn id="44" dur="500" fill="hold"/>
                                        <p:tgtEl>
                                          <p:spTgt spid="1083401"/>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1083401"/>
                                        </p:tgtEl>
                                        <p:attrNameLst>
                                          <p:attrName>ppt_c</p:attrName>
                                        </p:attrNameLst>
                                      </p:cBhvr>
                                      <p:to>
                                        <a:srgbClr val="FF5050"/>
                                      </p:to>
                                    </p:animClr>
                                  </p:subTnLst>
                                </p:cTn>
                              </p:par>
                            </p:childTnLst>
                          </p:cTn>
                        </p:par>
                        <p:par>
                          <p:cTn id="45" fill="hold">
                            <p:stCondLst>
                              <p:cond delay="500"/>
                            </p:stCondLst>
                            <p:childTnLst>
                              <p:par>
                                <p:cTn id="46" presetID="3" presetClass="entr" presetSubtype="5" fill="hold" nodeType="afterEffect">
                                  <p:stCondLst>
                                    <p:cond delay="0"/>
                                  </p:stCondLst>
                                  <p:childTnLst>
                                    <p:set>
                                      <p:cBhvr>
                                        <p:cTn id="47" dur="1" fill="hold">
                                          <p:stCondLst>
                                            <p:cond delay="0"/>
                                          </p:stCondLst>
                                        </p:cTn>
                                        <p:tgtEl>
                                          <p:spTgt spid="1083444"/>
                                        </p:tgtEl>
                                        <p:attrNameLst>
                                          <p:attrName>style.visibility</p:attrName>
                                        </p:attrNameLst>
                                      </p:cBhvr>
                                      <p:to>
                                        <p:strVal val="visible"/>
                                      </p:to>
                                    </p:set>
                                    <p:animEffect transition="in" filter="blinds(vertical)">
                                      <p:cBhvr>
                                        <p:cTn id="48" dur="500"/>
                                        <p:tgtEl>
                                          <p:spTgt spid="1083444"/>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2" fill="hold" nodeType="clickEffect">
                                  <p:stCondLst>
                                    <p:cond delay="0"/>
                                  </p:stCondLst>
                                  <p:childTnLst>
                                    <p:set>
                                      <p:cBhvr>
                                        <p:cTn id="52" dur="1" fill="hold">
                                          <p:stCondLst>
                                            <p:cond delay="0"/>
                                          </p:stCondLst>
                                        </p:cTn>
                                        <p:tgtEl>
                                          <p:spTgt spid="1083405"/>
                                        </p:tgtEl>
                                        <p:attrNameLst>
                                          <p:attrName>style.visibility</p:attrName>
                                        </p:attrNameLst>
                                      </p:cBhvr>
                                      <p:to>
                                        <p:strVal val="visible"/>
                                      </p:to>
                                    </p:set>
                                    <p:anim calcmode="lin" valueType="num">
                                      <p:cBhvr>
                                        <p:cTn id="53" dur="500" fill="hold"/>
                                        <p:tgtEl>
                                          <p:spTgt spid="1083405"/>
                                        </p:tgtEl>
                                        <p:attrNameLst>
                                          <p:attrName>ppt_x</p:attrName>
                                        </p:attrNameLst>
                                      </p:cBhvr>
                                      <p:tavLst>
                                        <p:tav tm="0">
                                          <p:val>
                                            <p:strVal val="#ppt_x+#ppt_w/2"/>
                                          </p:val>
                                        </p:tav>
                                        <p:tav tm="100000">
                                          <p:val>
                                            <p:strVal val="#ppt_x"/>
                                          </p:val>
                                        </p:tav>
                                      </p:tavLst>
                                    </p:anim>
                                    <p:anim calcmode="lin" valueType="num">
                                      <p:cBhvr>
                                        <p:cTn id="54" dur="500" fill="hold"/>
                                        <p:tgtEl>
                                          <p:spTgt spid="1083405"/>
                                        </p:tgtEl>
                                        <p:attrNameLst>
                                          <p:attrName>ppt_y</p:attrName>
                                        </p:attrNameLst>
                                      </p:cBhvr>
                                      <p:tavLst>
                                        <p:tav tm="0">
                                          <p:val>
                                            <p:strVal val="#ppt_y"/>
                                          </p:val>
                                        </p:tav>
                                        <p:tav tm="100000">
                                          <p:val>
                                            <p:strVal val="#ppt_y"/>
                                          </p:val>
                                        </p:tav>
                                      </p:tavLst>
                                    </p:anim>
                                    <p:anim calcmode="lin" valueType="num">
                                      <p:cBhvr>
                                        <p:cTn id="55" dur="500" fill="hold"/>
                                        <p:tgtEl>
                                          <p:spTgt spid="1083405"/>
                                        </p:tgtEl>
                                        <p:attrNameLst>
                                          <p:attrName>ppt_w</p:attrName>
                                        </p:attrNameLst>
                                      </p:cBhvr>
                                      <p:tavLst>
                                        <p:tav tm="0">
                                          <p:val>
                                            <p:fltVal val="0"/>
                                          </p:val>
                                        </p:tav>
                                        <p:tav tm="100000">
                                          <p:val>
                                            <p:strVal val="#ppt_w"/>
                                          </p:val>
                                        </p:tav>
                                      </p:tavLst>
                                    </p:anim>
                                    <p:anim calcmode="lin" valueType="num">
                                      <p:cBhvr>
                                        <p:cTn id="56" dur="500" fill="hold"/>
                                        <p:tgtEl>
                                          <p:spTgt spid="1083405"/>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1083405"/>
                                        </p:tgtEl>
                                        <p:attrNameLst>
                                          <p:attrName>ppt_c</p:attrName>
                                        </p:attrNameLst>
                                      </p:cBhvr>
                                      <p:to>
                                        <a:srgbClr val="FF5050"/>
                                      </p:to>
                                    </p:animClr>
                                  </p:subTnLst>
                                </p:cTn>
                              </p:par>
                            </p:childTnLst>
                          </p:cTn>
                        </p:par>
                        <p:par>
                          <p:cTn id="57" fill="hold">
                            <p:stCondLst>
                              <p:cond delay="500"/>
                            </p:stCondLst>
                            <p:childTnLst>
                              <p:par>
                                <p:cTn id="58" presetID="9" presetClass="entr" presetSubtype="0" fill="hold" nodeType="afterEffect">
                                  <p:stCondLst>
                                    <p:cond delay="0"/>
                                  </p:stCondLst>
                                  <p:childTnLst>
                                    <p:set>
                                      <p:cBhvr>
                                        <p:cTn id="59" dur="1" fill="hold">
                                          <p:stCondLst>
                                            <p:cond delay="0"/>
                                          </p:stCondLst>
                                        </p:cTn>
                                        <p:tgtEl>
                                          <p:spTgt spid="1083415"/>
                                        </p:tgtEl>
                                        <p:attrNameLst>
                                          <p:attrName>style.visibility</p:attrName>
                                        </p:attrNameLst>
                                      </p:cBhvr>
                                      <p:to>
                                        <p:strVal val="visible"/>
                                      </p:to>
                                    </p:set>
                                    <p:animEffect transition="in" filter="dissolve">
                                      <p:cBhvr>
                                        <p:cTn id="60" dur="500"/>
                                        <p:tgtEl>
                                          <p:spTgt spid="1083415"/>
                                        </p:tgtEl>
                                      </p:cBhvr>
                                    </p:animEffect>
                                  </p:childTnLst>
                                </p:cTn>
                              </p:par>
                            </p:childTnLst>
                          </p:cTn>
                        </p:par>
                      </p:childTnLst>
                    </p:cTn>
                  </p:par>
                  <p:par>
                    <p:cTn id="61" fill="hold">
                      <p:stCondLst>
                        <p:cond delay="indefinite"/>
                      </p:stCondLst>
                      <p:childTnLst>
                        <p:par>
                          <p:cTn id="62" fill="hold">
                            <p:stCondLst>
                              <p:cond delay="0"/>
                            </p:stCondLst>
                            <p:childTnLst>
                              <p:par>
                                <p:cTn id="63" presetID="17" presetClass="entr" presetSubtype="2" fill="hold" nodeType="clickEffect">
                                  <p:stCondLst>
                                    <p:cond delay="0"/>
                                  </p:stCondLst>
                                  <p:childTnLst>
                                    <p:set>
                                      <p:cBhvr>
                                        <p:cTn id="64" dur="1" fill="hold">
                                          <p:stCondLst>
                                            <p:cond delay="0"/>
                                          </p:stCondLst>
                                        </p:cTn>
                                        <p:tgtEl>
                                          <p:spTgt spid="1083408"/>
                                        </p:tgtEl>
                                        <p:attrNameLst>
                                          <p:attrName>style.visibility</p:attrName>
                                        </p:attrNameLst>
                                      </p:cBhvr>
                                      <p:to>
                                        <p:strVal val="visible"/>
                                      </p:to>
                                    </p:set>
                                    <p:anim calcmode="lin" valueType="num">
                                      <p:cBhvr>
                                        <p:cTn id="65" dur="500" fill="hold"/>
                                        <p:tgtEl>
                                          <p:spTgt spid="1083408"/>
                                        </p:tgtEl>
                                        <p:attrNameLst>
                                          <p:attrName>ppt_x</p:attrName>
                                        </p:attrNameLst>
                                      </p:cBhvr>
                                      <p:tavLst>
                                        <p:tav tm="0">
                                          <p:val>
                                            <p:strVal val="#ppt_x+#ppt_w/2"/>
                                          </p:val>
                                        </p:tav>
                                        <p:tav tm="100000">
                                          <p:val>
                                            <p:strVal val="#ppt_x"/>
                                          </p:val>
                                        </p:tav>
                                      </p:tavLst>
                                    </p:anim>
                                    <p:anim calcmode="lin" valueType="num">
                                      <p:cBhvr>
                                        <p:cTn id="66" dur="500" fill="hold"/>
                                        <p:tgtEl>
                                          <p:spTgt spid="1083408"/>
                                        </p:tgtEl>
                                        <p:attrNameLst>
                                          <p:attrName>ppt_y</p:attrName>
                                        </p:attrNameLst>
                                      </p:cBhvr>
                                      <p:tavLst>
                                        <p:tav tm="0">
                                          <p:val>
                                            <p:strVal val="#ppt_y"/>
                                          </p:val>
                                        </p:tav>
                                        <p:tav tm="100000">
                                          <p:val>
                                            <p:strVal val="#ppt_y"/>
                                          </p:val>
                                        </p:tav>
                                      </p:tavLst>
                                    </p:anim>
                                    <p:anim calcmode="lin" valueType="num">
                                      <p:cBhvr>
                                        <p:cTn id="67" dur="500" fill="hold"/>
                                        <p:tgtEl>
                                          <p:spTgt spid="1083408"/>
                                        </p:tgtEl>
                                        <p:attrNameLst>
                                          <p:attrName>ppt_w</p:attrName>
                                        </p:attrNameLst>
                                      </p:cBhvr>
                                      <p:tavLst>
                                        <p:tav tm="0">
                                          <p:val>
                                            <p:fltVal val="0"/>
                                          </p:val>
                                        </p:tav>
                                        <p:tav tm="100000">
                                          <p:val>
                                            <p:strVal val="#ppt_w"/>
                                          </p:val>
                                        </p:tav>
                                      </p:tavLst>
                                    </p:anim>
                                    <p:anim calcmode="lin" valueType="num">
                                      <p:cBhvr>
                                        <p:cTn id="68" dur="500" fill="hold"/>
                                        <p:tgtEl>
                                          <p:spTgt spid="1083408"/>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1083408"/>
                                        </p:tgtEl>
                                        <p:attrNameLst>
                                          <p:attrName>ppt_c</p:attrName>
                                        </p:attrNameLst>
                                      </p:cBhvr>
                                      <p:to>
                                        <a:srgbClr val="FF5050"/>
                                      </p:to>
                                    </p:animClr>
                                  </p:subTnLst>
                                </p:cTn>
                              </p:par>
                            </p:childTnLst>
                          </p:cTn>
                        </p:par>
                        <p:par>
                          <p:cTn id="69" fill="hold">
                            <p:stCondLst>
                              <p:cond delay="500"/>
                            </p:stCondLst>
                            <p:childTnLst>
                              <p:par>
                                <p:cTn id="70" presetID="9" presetClass="entr" presetSubtype="0" fill="hold" nodeType="afterEffect">
                                  <p:stCondLst>
                                    <p:cond delay="0"/>
                                  </p:stCondLst>
                                  <p:childTnLst>
                                    <p:set>
                                      <p:cBhvr>
                                        <p:cTn id="71" dur="1" fill="hold">
                                          <p:stCondLst>
                                            <p:cond delay="0"/>
                                          </p:stCondLst>
                                        </p:cTn>
                                        <p:tgtEl>
                                          <p:spTgt spid="1083420"/>
                                        </p:tgtEl>
                                        <p:attrNameLst>
                                          <p:attrName>style.visibility</p:attrName>
                                        </p:attrNameLst>
                                      </p:cBhvr>
                                      <p:to>
                                        <p:strVal val="visible"/>
                                      </p:to>
                                    </p:set>
                                    <p:animEffect transition="in" filter="dissolve">
                                      <p:cBhvr>
                                        <p:cTn id="72" dur="500"/>
                                        <p:tgtEl>
                                          <p:spTgt spid="1083420"/>
                                        </p:tgtEl>
                                      </p:cBhvr>
                                    </p:animEffect>
                                  </p:childTnLst>
                                </p:cTn>
                              </p:par>
                            </p:childTnLst>
                          </p:cTn>
                        </p:par>
                      </p:childTnLst>
                    </p:cTn>
                  </p:par>
                  <p:par>
                    <p:cTn id="73" fill="hold">
                      <p:stCondLst>
                        <p:cond delay="indefinite"/>
                      </p:stCondLst>
                      <p:childTnLst>
                        <p:par>
                          <p:cTn id="74" fill="hold">
                            <p:stCondLst>
                              <p:cond delay="0"/>
                            </p:stCondLst>
                            <p:childTnLst>
                              <p:par>
                                <p:cTn id="75" presetID="17" presetClass="entr" presetSubtype="1" fill="hold" nodeType="clickEffect">
                                  <p:stCondLst>
                                    <p:cond delay="0"/>
                                  </p:stCondLst>
                                  <p:childTnLst>
                                    <p:set>
                                      <p:cBhvr>
                                        <p:cTn id="76" dur="1" fill="hold">
                                          <p:stCondLst>
                                            <p:cond delay="0"/>
                                          </p:stCondLst>
                                        </p:cTn>
                                        <p:tgtEl>
                                          <p:spTgt spid="1083424"/>
                                        </p:tgtEl>
                                        <p:attrNameLst>
                                          <p:attrName>style.visibility</p:attrName>
                                        </p:attrNameLst>
                                      </p:cBhvr>
                                      <p:to>
                                        <p:strVal val="visible"/>
                                      </p:to>
                                    </p:set>
                                    <p:anim calcmode="lin" valueType="num">
                                      <p:cBhvr>
                                        <p:cTn id="77" dur="500" fill="hold"/>
                                        <p:tgtEl>
                                          <p:spTgt spid="1083424"/>
                                        </p:tgtEl>
                                        <p:attrNameLst>
                                          <p:attrName>ppt_x</p:attrName>
                                        </p:attrNameLst>
                                      </p:cBhvr>
                                      <p:tavLst>
                                        <p:tav tm="0">
                                          <p:val>
                                            <p:strVal val="#ppt_x"/>
                                          </p:val>
                                        </p:tav>
                                        <p:tav tm="100000">
                                          <p:val>
                                            <p:strVal val="#ppt_x"/>
                                          </p:val>
                                        </p:tav>
                                      </p:tavLst>
                                    </p:anim>
                                    <p:anim calcmode="lin" valueType="num">
                                      <p:cBhvr>
                                        <p:cTn id="78" dur="500" fill="hold"/>
                                        <p:tgtEl>
                                          <p:spTgt spid="1083424"/>
                                        </p:tgtEl>
                                        <p:attrNameLst>
                                          <p:attrName>ppt_y</p:attrName>
                                        </p:attrNameLst>
                                      </p:cBhvr>
                                      <p:tavLst>
                                        <p:tav tm="0">
                                          <p:val>
                                            <p:strVal val="#ppt_y-#ppt_h/2"/>
                                          </p:val>
                                        </p:tav>
                                        <p:tav tm="100000">
                                          <p:val>
                                            <p:strVal val="#ppt_y"/>
                                          </p:val>
                                        </p:tav>
                                      </p:tavLst>
                                    </p:anim>
                                    <p:anim calcmode="lin" valueType="num">
                                      <p:cBhvr>
                                        <p:cTn id="79" dur="500" fill="hold"/>
                                        <p:tgtEl>
                                          <p:spTgt spid="1083424"/>
                                        </p:tgtEl>
                                        <p:attrNameLst>
                                          <p:attrName>ppt_w</p:attrName>
                                        </p:attrNameLst>
                                      </p:cBhvr>
                                      <p:tavLst>
                                        <p:tav tm="0">
                                          <p:val>
                                            <p:strVal val="#ppt_w"/>
                                          </p:val>
                                        </p:tav>
                                        <p:tav tm="100000">
                                          <p:val>
                                            <p:strVal val="#ppt_w"/>
                                          </p:val>
                                        </p:tav>
                                      </p:tavLst>
                                    </p:anim>
                                    <p:anim calcmode="lin" valueType="num">
                                      <p:cBhvr>
                                        <p:cTn id="80" dur="500" fill="hold"/>
                                        <p:tgtEl>
                                          <p:spTgt spid="108342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341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418" name="Text Box 2"/>
          <p:cNvSpPr txBox="1">
            <a:spLocks noChangeArrowheads="1"/>
          </p:cNvSpPr>
          <p:nvPr>
            <p:ph type="body" idx="1"/>
          </p:nvPr>
        </p:nvSpPr>
        <p:spPr>
          <a:xfrm>
            <a:off x="1447800" y="1219200"/>
            <a:ext cx="2667000" cy="5181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lIns="91440" tIns="45720" rIns="91440" bIns="45720">
            <a:normAutofit fontScale="77500" lnSpcReduction="20000"/>
          </a:bodyPr>
          <a:lstStyle/>
          <a:p>
            <a:pPr>
              <a:lnSpc>
                <a:spcPct val="80000"/>
              </a:lnSpc>
              <a:spcBef>
                <a:spcPct val="50000"/>
              </a:spcBef>
              <a:buFontTx/>
              <a:buNone/>
            </a:pPr>
            <a:r>
              <a:rPr lang="en-US" altLang="zh-CN" sz="2000" b="1"/>
              <a:t>Void main(){</a:t>
            </a:r>
            <a:endParaRPr lang="en-US" altLang="zh-CN" sz="2000" b="1"/>
          </a:p>
          <a:p>
            <a:pPr>
              <a:lnSpc>
                <a:spcPct val="80000"/>
              </a:lnSpc>
              <a:spcBef>
                <a:spcPct val="50000"/>
              </a:spcBef>
              <a:buFontTx/>
              <a:buNone/>
            </a:pPr>
            <a:r>
              <a:rPr lang="en-US" altLang="zh-CN" sz="2000" b="1"/>
              <a:t>Int m,n;</a:t>
            </a:r>
            <a:endParaRPr lang="en-US" altLang="zh-CN" sz="2000" b="1"/>
          </a:p>
          <a:p>
            <a:pPr>
              <a:lnSpc>
                <a:spcPct val="80000"/>
              </a:lnSpc>
              <a:spcBef>
                <a:spcPct val="50000"/>
              </a:spcBef>
              <a:buFontTx/>
              <a:buNone/>
            </a:pPr>
            <a:r>
              <a:rPr lang="en-US" altLang="zh-CN" sz="2000" b="1"/>
              <a:t>First(m,n);</a:t>
            </a:r>
            <a:endParaRPr lang="en-US" altLang="zh-CN" sz="2000" b="1"/>
          </a:p>
          <a:p>
            <a:pPr>
              <a:lnSpc>
                <a:spcPct val="80000"/>
              </a:lnSpc>
              <a:spcBef>
                <a:spcPct val="50000"/>
              </a:spcBef>
              <a:buFontTx/>
              <a:buNone/>
            </a:pPr>
            <a:r>
              <a:rPr lang="en-US" altLang="zh-CN" sz="2000" b="1"/>
              <a:t>1:……</a:t>
            </a:r>
            <a:endParaRPr lang="en-US" altLang="zh-CN" sz="2000" b="1"/>
          </a:p>
          <a:p>
            <a:pPr>
              <a:lnSpc>
                <a:spcPct val="80000"/>
              </a:lnSpc>
              <a:spcBef>
                <a:spcPct val="50000"/>
              </a:spcBef>
              <a:buFontTx/>
              <a:buNone/>
            </a:pPr>
            <a:r>
              <a:rPr lang="en-US" altLang="zh-CN" sz="2000" b="1"/>
              <a:t>}</a:t>
            </a:r>
            <a:endParaRPr lang="en-US" altLang="zh-CN" sz="2000" b="1"/>
          </a:p>
          <a:p>
            <a:pPr>
              <a:lnSpc>
                <a:spcPct val="80000"/>
              </a:lnSpc>
              <a:spcBef>
                <a:spcPct val="50000"/>
              </a:spcBef>
              <a:buFontTx/>
              <a:buNone/>
            </a:pPr>
            <a:r>
              <a:rPr lang="en-US" altLang="zh-CN" sz="2000" b="1"/>
              <a:t>Int first(int s,int t){</a:t>
            </a:r>
            <a:endParaRPr lang="en-US" altLang="zh-CN" sz="2000" b="1"/>
          </a:p>
          <a:p>
            <a:pPr>
              <a:lnSpc>
                <a:spcPct val="80000"/>
              </a:lnSpc>
              <a:spcBef>
                <a:spcPct val="50000"/>
              </a:spcBef>
              <a:buFontTx/>
              <a:buNone/>
            </a:pPr>
            <a:r>
              <a:rPr lang="en-US" altLang="zh-CN" sz="2000" b="1"/>
              <a:t>Int i;</a:t>
            </a:r>
            <a:endParaRPr lang="en-US" altLang="zh-CN" sz="2000" b="1"/>
          </a:p>
          <a:p>
            <a:pPr>
              <a:lnSpc>
                <a:spcPct val="80000"/>
              </a:lnSpc>
              <a:spcBef>
                <a:spcPct val="50000"/>
              </a:spcBef>
              <a:buFontTx/>
              <a:buNone/>
            </a:pPr>
            <a:r>
              <a:rPr lang="en-US" altLang="zh-CN" sz="2000" b="1"/>
              <a:t>Second(i);</a:t>
            </a:r>
            <a:endParaRPr lang="en-US" altLang="zh-CN" sz="2000" b="1"/>
          </a:p>
          <a:p>
            <a:pPr>
              <a:lnSpc>
                <a:spcPct val="80000"/>
              </a:lnSpc>
              <a:spcBef>
                <a:spcPct val="50000"/>
              </a:spcBef>
              <a:buFontTx/>
              <a:buNone/>
            </a:pPr>
            <a:r>
              <a:rPr lang="en-US" altLang="zh-CN" sz="2000" b="1"/>
              <a:t>2:….</a:t>
            </a:r>
            <a:endParaRPr lang="en-US" altLang="zh-CN" sz="2000" b="1"/>
          </a:p>
          <a:p>
            <a:pPr>
              <a:lnSpc>
                <a:spcPct val="80000"/>
              </a:lnSpc>
              <a:spcBef>
                <a:spcPct val="50000"/>
              </a:spcBef>
              <a:buFontTx/>
              <a:buNone/>
            </a:pPr>
            <a:r>
              <a:rPr lang="en-US" altLang="zh-CN" sz="2000" b="1"/>
              <a:t>}</a:t>
            </a:r>
            <a:endParaRPr lang="en-US" altLang="zh-CN" sz="2000" b="1"/>
          </a:p>
          <a:p>
            <a:pPr>
              <a:lnSpc>
                <a:spcPct val="80000"/>
              </a:lnSpc>
              <a:spcBef>
                <a:spcPct val="50000"/>
              </a:spcBef>
              <a:buFontTx/>
              <a:buNone/>
            </a:pPr>
            <a:r>
              <a:rPr lang="en-US" altLang="zh-CN" sz="2000" b="1"/>
              <a:t>Int second(int d){</a:t>
            </a:r>
            <a:endParaRPr lang="en-US" altLang="zh-CN" sz="2000" b="1"/>
          </a:p>
          <a:p>
            <a:pPr>
              <a:lnSpc>
                <a:spcPct val="80000"/>
              </a:lnSpc>
              <a:spcBef>
                <a:spcPct val="50000"/>
              </a:spcBef>
              <a:buFontTx/>
              <a:buNone/>
            </a:pPr>
            <a:r>
              <a:rPr lang="en-US" altLang="zh-CN" sz="2000" b="1"/>
              <a:t>Int x,y;</a:t>
            </a:r>
            <a:endParaRPr lang="en-US" altLang="zh-CN" sz="2000" b="1"/>
          </a:p>
          <a:p>
            <a:pPr>
              <a:lnSpc>
                <a:spcPct val="80000"/>
              </a:lnSpc>
              <a:spcBef>
                <a:spcPct val="50000"/>
              </a:spcBef>
              <a:buFontTx/>
              <a:buNone/>
            </a:pPr>
            <a:r>
              <a:rPr lang="en-US" altLang="zh-CN" sz="2000" b="1"/>
              <a:t>….}</a:t>
            </a:r>
            <a:r>
              <a:rPr lang="zh-CN" altLang="en-US" sz="2000" b="1"/>
              <a:t>实现</a:t>
            </a:r>
            <a:endParaRPr lang="zh-CN" altLang="en-US" sz="2000" b="1"/>
          </a:p>
        </p:txBody>
      </p:sp>
      <p:grpSp>
        <p:nvGrpSpPr>
          <p:cNvPr id="1084419" name="Group 3"/>
          <p:cNvGrpSpPr/>
          <p:nvPr/>
        </p:nvGrpSpPr>
        <p:grpSpPr bwMode="auto">
          <a:xfrm>
            <a:off x="4800600" y="457200"/>
            <a:ext cx="2286000" cy="1600200"/>
            <a:chOff x="912" y="2976"/>
            <a:chExt cx="288" cy="720"/>
          </a:xfrm>
        </p:grpSpPr>
        <p:sp>
          <p:nvSpPr>
            <p:cNvPr id="1084420" name="Rectangle 4"/>
            <p:cNvSpPr>
              <a:spLocks noChangeArrowheads="1"/>
            </p:cNvSpPr>
            <p:nvPr/>
          </p:nvSpPr>
          <p:spPr bwMode="auto">
            <a:xfrm>
              <a:off x="912" y="3504"/>
              <a:ext cx="288" cy="192"/>
            </a:xfrm>
            <a:prstGeom prst="rect">
              <a:avLst/>
            </a:prstGeom>
            <a:solidFill>
              <a:schemeClr val="accent1"/>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zh-CN" altLang="en-US" sz="2400"/>
                <a:t> </a:t>
              </a:r>
              <a:r>
                <a:rPr lang="en-US" altLang="zh-CN" sz="2400"/>
                <a:t>m,n </a:t>
              </a:r>
              <a:endParaRPr lang="en-US" altLang="zh-CN" sz="2400"/>
            </a:p>
          </p:txBody>
        </p:sp>
        <p:sp>
          <p:nvSpPr>
            <p:cNvPr id="1084421" name="Line 5"/>
            <p:cNvSpPr>
              <a:spLocks noChangeShapeType="1"/>
            </p:cNvSpPr>
            <p:nvPr/>
          </p:nvSpPr>
          <p:spPr bwMode="auto">
            <a:xfrm flipV="1">
              <a:off x="1200" y="2976"/>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4422" name="Line 6"/>
            <p:cNvSpPr>
              <a:spLocks noChangeShapeType="1"/>
            </p:cNvSpPr>
            <p:nvPr/>
          </p:nvSpPr>
          <p:spPr bwMode="auto">
            <a:xfrm flipV="1">
              <a:off x="912" y="2976"/>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1084423" name="Group 7"/>
          <p:cNvGrpSpPr/>
          <p:nvPr/>
        </p:nvGrpSpPr>
        <p:grpSpPr bwMode="auto">
          <a:xfrm>
            <a:off x="4800600" y="2438400"/>
            <a:ext cx="2286000" cy="1447800"/>
            <a:chOff x="2640" y="1440"/>
            <a:chExt cx="1248" cy="720"/>
          </a:xfrm>
        </p:grpSpPr>
        <p:sp>
          <p:nvSpPr>
            <p:cNvPr id="1084424" name="Rectangle 8"/>
            <p:cNvSpPr>
              <a:spLocks noChangeArrowheads="1"/>
            </p:cNvSpPr>
            <p:nvPr/>
          </p:nvSpPr>
          <p:spPr bwMode="auto">
            <a:xfrm>
              <a:off x="2640" y="1968"/>
              <a:ext cx="1248" cy="192"/>
            </a:xfrm>
            <a:prstGeom prst="rect">
              <a:avLst/>
            </a:prstGeom>
            <a:solidFill>
              <a:schemeClr val="accent1"/>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zh-CN" altLang="en-US" sz="2400"/>
                <a:t> </a:t>
              </a:r>
              <a:r>
                <a:rPr lang="en-US" altLang="zh-CN" sz="2400"/>
                <a:t>m,n </a:t>
              </a:r>
              <a:endParaRPr lang="en-US" altLang="zh-CN" sz="2400"/>
            </a:p>
          </p:txBody>
        </p:sp>
        <p:sp>
          <p:nvSpPr>
            <p:cNvPr id="1084425" name="Line 9"/>
            <p:cNvSpPr>
              <a:spLocks noChangeShapeType="1"/>
            </p:cNvSpPr>
            <p:nvPr/>
          </p:nvSpPr>
          <p:spPr bwMode="auto">
            <a:xfrm flipV="1">
              <a:off x="3888" y="1440"/>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4426" name="Line 10"/>
            <p:cNvSpPr>
              <a:spLocks noChangeShapeType="1"/>
            </p:cNvSpPr>
            <p:nvPr/>
          </p:nvSpPr>
          <p:spPr bwMode="auto">
            <a:xfrm flipV="1">
              <a:off x="2640" y="1440"/>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4427" name="Rectangle 11"/>
            <p:cNvSpPr>
              <a:spLocks noChangeArrowheads="1"/>
            </p:cNvSpPr>
            <p:nvPr/>
          </p:nvSpPr>
          <p:spPr bwMode="auto">
            <a:xfrm>
              <a:off x="2640" y="1776"/>
              <a:ext cx="1248" cy="192"/>
            </a:xfrm>
            <a:prstGeom prst="rect">
              <a:avLst/>
            </a:prstGeom>
            <a:solidFill>
              <a:srgbClr val="FFFF00"/>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t>1,m,n,i </a:t>
              </a:r>
              <a:endParaRPr lang="en-US" altLang="zh-CN" sz="2400"/>
            </a:p>
          </p:txBody>
        </p:sp>
      </p:grpSp>
      <p:grpSp>
        <p:nvGrpSpPr>
          <p:cNvPr id="1084428" name="Group 12"/>
          <p:cNvGrpSpPr/>
          <p:nvPr/>
        </p:nvGrpSpPr>
        <p:grpSpPr bwMode="auto">
          <a:xfrm>
            <a:off x="4800600" y="4419600"/>
            <a:ext cx="2286000" cy="1752600"/>
            <a:chOff x="2640" y="2208"/>
            <a:chExt cx="1248" cy="720"/>
          </a:xfrm>
        </p:grpSpPr>
        <p:sp>
          <p:nvSpPr>
            <p:cNvPr id="1084429" name="Rectangle 13"/>
            <p:cNvSpPr>
              <a:spLocks noChangeArrowheads="1"/>
            </p:cNvSpPr>
            <p:nvPr/>
          </p:nvSpPr>
          <p:spPr bwMode="auto">
            <a:xfrm>
              <a:off x="2640" y="2736"/>
              <a:ext cx="1248" cy="192"/>
            </a:xfrm>
            <a:prstGeom prst="rect">
              <a:avLst/>
            </a:prstGeom>
            <a:solidFill>
              <a:schemeClr val="accent1"/>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zh-CN" altLang="en-US" sz="2400"/>
                <a:t> </a:t>
              </a:r>
              <a:r>
                <a:rPr lang="en-US" altLang="zh-CN" sz="2400"/>
                <a:t>m,n </a:t>
              </a:r>
              <a:endParaRPr lang="en-US" altLang="zh-CN" sz="2400"/>
            </a:p>
          </p:txBody>
        </p:sp>
        <p:sp>
          <p:nvSpPr>
            <p:cNvPr id="1084430" name="Line 14"/>
            <p:cNvSpPr>
              <a:spLocks noChangeShapeType="1"/>
            </p:cNvSpPr>
            <p:nvPr/>
          </p:nvSpPr>
          <p:spPr bwMode="auto">
            <a:xfrm flipV="1">
              <a:off x="3888" y="2208"/>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4431" name="Line 15"/>
            <p:cNvSpPr>
              <a:spLocks noChangeShapeType="1"/>
            </p:cNvSpPr>
            <p:nvPr/>
          </p:nvSpPr>
          <p:spPr bwMode="auto">
            <a:xfrm flipV="1">
              <a:off x="2640" y="2208"/>
              <a:ext cx="0" cy="720"/>
            </a:xfrm>
            <a:prstGeom prst="line">
              <a:avLst/>
            </a:prstGeom>
            <a:noFill/>
            <a:ln w="19050">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084432" name="Rectangle 16"/>
            <p:cNvSpPr>
              <a:spLocks noChangeArrowheads="1"/>
            </p:cNvSpPr>
            <p:nvPr/>
          </p:nvSpPr>
          <p:spPr bwMode="auto">
            <a:xfrm>
              <a:off x="2640" y="2544"/>
              <a:ext cx="1248" cy="192"/>
            </a:xfrm>
            <a:prstGeom prst="rect">
              <a:avLst/>
            </a:prstGeom>
            <a:solidFill>
              <a:srgbClr val="FFFF00"/>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t>1,m,n,i </a:t>
              </a:r>
              <a:endParaRPr lang="en-US" altLang="zh-CN" sz="2400"/>
            </a:p>
          </p:txBody>
        </p:sp>
        <p:sp>
          <p:nvSpPr>
            <p:cNvPr id="1084433" name="Rectangle 17"/>
            <p:cNvSpPr>
              <a:spLocks noChangeArrowheads="1"/>
            </p:cNvSpPr>
            <p:nvPr/>
          </p:nvSpPr>
          <p:spPr bwMode="auto">
            <a:xfrm>
              <a:off x="2640" y="2352"/>
              <a:ext cx="1248" cy="192"/>
            </a:xfrm>
            <a:prstGeom prst="rect">
              <a:avLst/>
            </a:prstGeom>
            <a:solidFill>
              <a:srgbClr val="99CC00"/>
            </a:solidFill>
            <a:ln w="19050">
              <a:solidFill>
                <a:srgbClr val="FF00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2400"/>
                <a:t>2,i,x,y </a:t>
              </a:r>
              <a:endParaRPr lang="en-US" altLang="zh-CN" sz="240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84419"/>
                                        </p:tgtEl>
                                        <p:attrNameLst>
                                          <p:attrName>style.visibility</p:attrName>
                                        </p:attrNameLst>
                                      </p:cBhvr>
                                      <p:to>
                                        <p:strVal val="visible"/>
                                      </p:to>
                                    </p:set>
                                    <p:animEffect transition="in" filter="dissolve">
                                      <p:cBhvr>
                                        <p:cTn id="7" dur="500"/>
                                        <p:tgtEl>
                                          <p:spTgt spid="1084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1698" name="Rectangle 2"/>
          <p:cNvSpPr>
            <a:spLocks noChangeArrowheads="1"/>
          </p:cNvSpPr>
          <p:nvPr/>
        </p:nvSpPr>
        <p:spPr bwMode="auto">
          <a:xfrm>
            <a:off x="512763" y="3879850"/>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699" name="Rectangle 3"/>
          <p:cNvSpPr>
            <a:spLocks noChangeArrowheads="1"/>
          </p:cNvSpPr>
          <p:nvPr/>
        </p:nvSpPr>
        <p:spPr bwMode="auto">
          <a:xfrm>
            <a:off x="512763" y="3544888"/>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0" name="Rectangle 4"/>
          <p:cNvSpPr>
            <a:spLocks noChangeArrowheads="1"/>
          </p:cNvSpPr>
          <p:nvPr/>
        </p:nvSpPr>
        <p:spPr bwMode="auto">
          <a:xfrm>
            <a:off x="512763" y="319087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1" name="Rectangle 5"/>
          <p:cNvSpPr>
            <a:spLocks noChangeArrowheads="1"/>
          </p:cNvSpPr>
          <p:nvPr/>
        </p:nvSpPr>
        <p:spPr bwMode="auto">
          <a:xfrm>
            <a:off x="530225" y="2816225"/>
            <a:ext cx="4708525" cy="369888"/>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2" name="Rectangle 6"/>
          <p:cNvSpPr>
            <a:spLocks noChangeArrowheads="1"/>
          </p:cNvSpPr>
          <p:nvPr/>
        </p:nvSpPr>
        <p:spPr bwMode="auto">
          <a:xfrm>
            <a:off x="512763" y="319087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3" name="Rectangle 7"/>
          <p:cNvSpPr>
            <a:spLocks noChangeArrowheads="1"/>
          </p:cNvSpPr>
          <p:nvPr/>
        </p:nvSpPr>
        <p:spPr bwMode="auto">
          <a:xfrm>
            <a:off x="512763" y="357187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4" name="Rectangle 8"/>
          <p:cNvSpPr>
            <a:spLocks noChangeArrowheads="1"/>
          </p:cNvSpPr>
          <p:nvPr/>
        </p:nvSpPr>
        <p:spPr bwMode="auto">
          <a:xfrm>
            <a:off x="512763" y="4278313"/>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5" name="Rectangle 9"/>
          <p:cNvSpPr>
            <a:spLocks noChangeArrowheads="1"/>
          </p:cNvSpPr>
          <p:nvPr/>
        </p:nvSpPr>
        <p:spPr bwMode="auto">
          <a:xfrm>
            <a:off x="512763" y="468312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6" name="Rectangle 10"/>
          <p:cNvSpPr>
            <a:spLocks noChangeArrowheads="1"/>
          </p:cNvSpPr>
          <p:nvPr/>
        </p:nvSpPr>
        <p:spPr bwMode="auto">
          <a:xfrm>
            <a:off x="512763" y="2840038"/>
            <a:ext cx="4725987" cy="369887"/>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7" name="Rectangle 11"/>
          <p:cNvSpPr>
            <a:spLocks noChangeArrowheads="1"/>
          </p:cNvSpPr>
          <p:nvPr/>
        </p:nvSpPr>
        <p:spPr bwMode="auto">
          <a:xfrm>
            <a:off x="512763" y="282892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8" name="Rectangle 12"/>
          <p:cNvSpPr>
            <a:spLocks noChangeArrowheads="1"/>
          </p:cNvSpPr>
          <p:nvPr/>
        </p:nvSpPr>
        <p:spPr bwMode="auto">
          <a:xfrm>
            <a:off x="512763" y="3179763"/>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09" name="Rectangle 13"/>
          <p:cNvSpPr>
            <a:spLocks noChangeArrowheads="1"/>
          </p:cNvSpPr>
          <p:nvPr/>
        </p:nvSpPr>
        <p:spPr bwMode="auto">
          <a:xfrm>
            <a:off x="512763" y="353377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10" name="Rectangle 14"/>
          <p:cNvSpPr>
            <a:spLocks noChangeArrowheads="1"/>
          </p:cNvSpPr>
          <p:nvPr/>
        </p:nvSpPr>
        <p:spPr bwMode="auto">
          <a:xfrm>
            <a:off x="512763" y="4273550"/>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11" name="Rectangle 15"/>
          <p:cNvSpPr>
            <a:spLocks noChangeArrowheads="1"/>
          </p:cNvSpPr>
          <p:nvPr/>
        </p:nvSpPr>
        <p:spPr bwMode="auto">
          <a:xfrm>
            <a:off x="512763" y="464502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12" name="Rectangle 16"/>
          <p:cNvSpPr>
            <a:spLocks noChangeArrowheads="1"/>
          </p:cNvSpPr>
          <p:nvPr/>
        </p:nvSpPr>
        <p:spPr bwMode="auto">
          <a:xfrm>
            <a:off x="512763" y="614363"/>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13" name="Rectangle 17"/>
          <p:cNvSpPr>
            <a:spLocks noChangeArrowheads="1"/>
          </p:cNvSpPr>
          <p:nvPr/>
        </p:nvSpPr>
        <p:spPr bwMode="auto">
          <a:xfrm>
            <a:off x="512763" y="249238"/>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14" name="Rectangle 18"/>
          <p:cNvSpPr>
            <a:spLocks noChangeArrowheads="1"/>
          </p:cNvSpPr>
          <p:nvPr/>
        </p:nvSpPr>
        <p:spPr bwMode="auto">
          <a:xfrm>
            <a:off x="512763" y="100012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15" name="Rectangle 19"/>
          <p:cNvSpPr>
            <a:spLocks noChangeArrowheads="1"/>
          </p:cNvSpPr>
          <p:nvPr/>
        </p:nvSpPr>
        <p:spPr bwMode="auto">
          <a:xfrm>
            <a:off x="512763" y="133667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16" name="Rectangle 20"/>
          <p:cNvSpPr>
            <a:spLocks noChangeArrowheads="1"/>
          </p:cNvSpPr>
          <p:nvPr/>
        </p:nvSpPr>
        <p:spPr bwMode="auto">
          <a:xfrm>
            <a:off x="512763" y="172402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17" name="Rectangle 21"/>
          <p:cNvSpPr>
            <a:spLocks noChangeArrowheads="1"/>
          </p:cNvSpPr>
          <p:nvPr/>
        </p:nvSpPr>
        <p:spPr bwMode="auto">
          <a:xfrm>
            <a:off x="512763" y="2076450"/>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18" name="Text Box 22"/>
          <p:cNvSpPr txBox="1">
            <a:spLocks noChangeArrowheads="1"/>
          </p:cNvSpPr>
          <p:nvPr/>
        </p:nvSpPr>
        <p:spPr bwMode="auto">
          <a:xfrm>
            <a:off x="533400" y="193675"/>
            <a:ext cx="4699000" cy="6299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zh-CN" altLang="en-US" sz="2400"/>
              <a:t> </a:t>
            </a:r>
            <a:r>
              <a:rPr lang="en-US" altLang="zh-CN" sz="2400"/>
              <a:t>main()</a:t>
            </a:r>
            <a:endParaRPr lang="en-US" altLang="zh-CN" sz="2400"/>
          </a:p>
          <a:p>
            <a:pPr eaLnBrk="0" hangingPunct="0"/>
            <a:r>
              <a:rPr lang="en-US" altLang="zh-CN" sz="2400"/>
              <a:t>   {   int m;</a:t>
            </a:r>
            <a:endParaRPr lang="en-US" altLang="zh-CN" sz="2400"/>
          </a:p>
          <a:p>
            <a:pPr eaLnBrk="0" hangingPunct="0"/>
            <a:r>
              <a:rPr lang="en-US" altLang="zh-CN" sz="2400"/>
              <a:t>       printf("Input number of disks”);</a:t>
            </a:r>
            <a:endParaRPr lang="en-US" altLang="zh-CN" sz="2400"/>
          </a:p>
          <a:p>
            <a:pPr eaLnBrk="0" hangingPunct="0"/>
            <a:r>
              <a:rPr lang="en-US" altLang="zh-CN" sz="2400"/>
              <a:t>       scanf("%d",&amp;m);</a:t>
            </a:r>
            <a:endParaRPr lang="en-US" altLang="zh-CN" sz="2400"/>
          </a:p>
          <a:p>
            <a:pPr eaLnBrk="0" hangingPunct="0"/>
            <a:r>
              <a:rPr lang="en-US" altLang="zh-CN" sz="2400"/>
              <a:t>       printf(”Steps : %3d disks”,m);</a:t>
            </a:r>
            <a:endParaRPr lang="en-US" altLang="zh-CN" sz="2400"/>
          </a:p>
          <a:p>
            <a:pPr eaLnBrk="0" hangingPunct="0"/>
            <a:r>
              <a:rPr lang="en-US" altLang="zh-CN" sz="2400"/>
              <a:t>       hanoi(m,'A','B','C');</a:t>
            </a:r>
            <a:endParaRPr lang="en-US" altLang="zh-CN" sz="2400"/>
          </a:p>
          <a:p>
            <a:pPr eaLnBrk="0" hangingPunct="0"/>
            <a:r>
              <a:rPr lang="en-US" altLang="zh-CN" sz="2400"/>
              <a:t>(0) }</a:t>
            </a:r>
            <a:endParaRPr lang="en-US" altLang="zh-CN" sz="2400"/>
          </a:p>
          <a:p>
            <a:pPr eaLnBrk="0" hangingPunct="0"/>
            <a:r>
              <a:rPr lang="en-US" altLang="zh-CN" sz="2400"/>
              <a:t>void hanoi(int n,char x,char y,char z)</a:t>
            </a:r>
            <a:endParaRPr lang="en-US" altLang="zh-CN" sz="2400"/>
          </a:p>
          <a:p>
            <a:pPr eaLnBrk="0" hangingPunct="0"/>
            <a:r>
              <a:rPr lang="en-US" altLang="zh-CN" sz="2400"/>
              <a:t>(1)  {</a:t>
            </a:r>
            <a:endParaRPr lang="en-US" altLang="zh-CN" sz="2400"/>
          </a:p>
          <a:p>
            <a:pPr eaLnBrk="0" hangingPunct="0"/>
            <a:r>
              <a:rPr lang="en-US" altLang="zh-CN" sz="2400"/>
              <a:t>(2)     if(n==1)</a:t>
            </a:r>
            <a:endParaRPr lang="en-US" altLang="zh-CN" sz="2400"/>
          </a:p>
          <a:p>
            <a:pPr eaLnBrk="0" hangingPunct="0"/>
            <a:r>
              <a:rPr lang="en-US" altLang="zh-CN" sz="2400"/>
              <a:t>(3)         move(1,x,z);</a:t>
            </a:r>
            <a:endParaRPr lang="en-US" altLang="zh-CN" sz="2400"/>
          </a:p>
          <a:p>
            <a:pPr eaLnBrk="0" hangingPunct="0"/>
            <a:r>
              <a:rPr lang="en-US" altLang="zh-CN" sz="2400"/>
              <a:t>(4)     else{</a:t>
            </a:r>
            <a:endParaRPr lang="en-US" altLang="zh-CN" sz="2400"/>
          </a:p>
          <a:p>
            <a:pPr eaLnBrk="0" hangingPunct="0"/>
            <a:r>
              <a:rPr lang="en-US" altLang="zh-CN" sz="2400"/>
              <a:t>(5)            hanoi(n-1,x,z,y);</a:t>
            </a:r>
            <a:endParaRPr lang="en-US" altLang="zh-CN" sz="2400"/>
          </a:p>
          <a:p>
            <a:pPr eaLnBrk="0" hangingPunct="0"/>
            <a:r>
              <a:rPr lang="en-US" altLang="zh-CN" sz="2400"/>
              <a:t>(6)            move(n,x,z);</a:t>
            </a:r>
            <a:endParaRPr lang="en-US" altLang="zh-CN" sz="2400"/>
          </a:p>
          <a:p>
            <a:pPr eaLnBrk="0" hangingPunct="0"/>
            <a:r>
              <a:rPr lang="en-US" altLang="zh-CN" sz="2400"/>
              <a:t>(7)            hanoi(n-1,y,x,z);</a:t>
            </a:r>
            <a:endParaRPr lang="en-US" altLang="zh-CN" sz="2400"/>
          </a:p>
          <a:p>
            <a:pPr eaLnBrk="0" hangingPunct="0"/>
            <a:r>
              <a:rPr lang="en-US" altLang="zh-CN" sz="2400"/>
              <a:t>(8)         }</a:t>
            </a:r>
            <a:endParaRPr lang="en-US" altLang="zh-CN" sz="2400"/>
          </a:p>
          <a:p>
            <a:pPr eaLnBrk="0" hangingPunct="0"/>
            <a:r>
              <a:rPr lang="en-US" altLang="zh-CN" sz="2400"/>
              <a:t>(9)  }</a:t>
            </a:r>
            <a:endParaRPr lang="en-US" altLang="zh-CN" sz="2400"/>
          </a:p>
        </p:txBody>
      </p:sp>
      <p:grpSp>
        <p:nvGrpSpPr>
          <p:cNvPr id="1181719" name="Group 23"/>
          <p:cNvGrpSpPr/>
          <p:nvPr/>
        </p:nvGrpSpPr>
        <p:grpSpPr bwMode="auto">
          <a:xfrm>
            <a:off x="5253038" y="244475"/>
            <a:ext cx="3608387" cy="1274763"/>
            <a:chOff x="287" y="0"/>
            <a:chExt cx="3984" cy="1513"/>
          </a:xfrm>
        </p:grpSpPr>
        <p:grpSp>
          <p:nvGrpSpPr>
            <p:cNvPr id="1181720" name="Group 24"/>
            <p:cNvGrpSpPr/>
            <p:nvPr/>
          </p:nvGrpSpPr>
          <p:grpSpPr bwMode="auto">
            <a:xfrm>
              <a:off x="287" y="0"/>
              <a:ext cx="3984" cy="1513"/>
              <a:chOff x="720" y="0"/>
              <a:chExt cx="3984" cy="1513"/>
            </a:xfrm>
          </p:grpSpPr>
          <p:grpSp>
            <p:nvGrpSpPr>
              <p:cNvPr id="1181721" name="Group 25"/>
              <p:cNvGrpSpPr/>
              <p:nvPr/>
            </p:nvGrpSpPr>
            <p:grpSpPr bwMode="auto">
              <a:xfrm>
                <a:off x="720" y="0"/>
                <a:ext cx="1248" cy="1513"/>
                <a:chOff x="720" y="0"/>
                <a:chExt cx="1248" cy="1513"/>
              </a:xfrm>
            </p:grpSpPr>
            <p:grpSp>
              <p:nvGrpSpPr>
                <p:cNvPr id="1181722" name="Group 26"/>
                <p:cNvGrpSpPr/>
                <p:nvPr/>
              </p:nvGrpSpPr>
              <p:grpSpPr bwMode="auto">
                <a:xfrm>
                  <a:off x="720" y="0"/>
                  <a:ext cx="1248" cy="1104"/>
                  <a:chOff x="720" y="0"/>
                  <a:chExt cx="1248" cy="1104"/>
                </a:xfrm>
              </p:grpSpPr>
              <p:sp>
                <p:nvSpPr>
                  <p:cNvPr id="1181723" name="Line 27"/>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24" name="Line 28"/>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1725" name="Text Box 29"/>
                <p:cNvSpPr txBox="1">
                  <a:spLocks noChangeArrowheads="1"/>
                </p:cNvSpPr>
                <p:nvPr/>
              </p:nvSpPr>
              <p:spPr bwMode="auto">
                <a:xfrm>
                  <a:off x="1116" y="1042"/>
                  <a:ext cx="407"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A</a:t>
                  </a:r>
                  <a:endParaRPr lang="en-US" altLang="zh-CN"/>
                </a:p>
              </p:txBody>
            </p:sp>
          </p:grpSp>
          <p:grpSp>
            <p:nvGrpSpPr>
              <p:cNvPr id="1181726" name="Group 30"/>
              <p:cNvGrpSpPr/>
              <p:nvPr/>
            </p:nvGrpSpPr>
            <p:grpSpPr bwMode="auto">
              <a:xfrm>
                <a:off x="2112" y="0"/>
                <a:ext cx="1248" cy="1513"/>
                <a:chOff x="2112" y="0"/>
                <a:chExt cx="1248" cy="1513"/>
              </a:xfrm>
            </p:grpSpPr>
            <p:grpSp>
              <p:nvGrpSpPr>
                <p:cNvPr id="1181727" name="Group 31"/>
                <p:cNvGrpSpPr/>
                <p:nvPr/>
              </p:nvGrpSpPr>
              <p:grpSpPr bwMode="auto">
                <a:xfrm>
                  <a:off x="2112" y="0"/>
                  <a:ext cx="1248" cy="1104"/>
                  <a:chOff x="720" y="0"/>
                  <a:chExt cx="1248" cy="1104"/>
                </a:xfrm>
              </p:grpSpPr>
              <p:sp>
                <p:nvSpPr>
                  <p:cNvPr id="1181728" name="Line 32"/>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29" name="Line 33"/>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1730" name="Text Box 34"/>
                <p:cNvSpPr txBox="1">
                  <a:spLocks noChangeArrowheads="1"/>
                </p:cNvSpPr>
                <p:nvPr/>
              </p:nvSpPr>
              <p:spPr bwMode="auto">
                <a:xfrm>
                  <a:off x="2511" y="1042"/>
                  <a:ext cx="391"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B</a:t>
                  </a:r>
                  <a:endParaRPr lang="en-US" altLang="zh-CN"/>
                </a:p>
              </p:txBody>
            </p:sp>
          </p:grpSp>
          <p:grpSp>
            <p:nvGrpSpPr>
              <p:cNvPr id="1181731" name="Group 35"/>
              <p:cNvGrpSpPr/>
              <p:nvPr/>
            </p:nvGrpSpPr>
            <p:grpSpPr bwMode="auto">
              <a:xfrm>
                <a:off x="3456" y="0"/>
                <a:ext cx="1248" cy="1513"/>
                <a:chOff x="3456" y="0"/>
                <a:chExt cx="1248" cy="1513"/>
              </a:xfrm>
            </p:grpSpPr>
            <p:grpSp>
              <p:nvGrpSpPr>
                <p:cNvPr id="1181732" name="Group 36"/>
                <p:cNvGrpSpPr/>
                <p:nvPr/>
              </p:nvGrpSpPr>
              <p:grpSpPr bwMode="auto">
                <a:xfrm>
                  <a:off x="3456" y="0"/>
                  <a:ext cx="1248" cy="1104"/>
                  <a:chOff x="720" y="0"/>
                  <a:chExt cx="1248" cy="1104"/>
                </a:xfrm>
              </p:grpSpPr>
              <p:sp>
                <p:nvSpPr>
                  <p:cNvPr id="1181733" name="Line 37"/>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34" name="Line 38"/>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1735" name="Text Box 39"/>
                <p:cNvSpPr txBox="1">
                  <a:spLocks noChangeArrowheads="1"/>
                </p:cNvSpPr>
                <p:nvPr/>
              </p:nvSpPr>
              <p:spPr bwMode="auto">
                <a:xfrm>
                  <a:off x="3850" y="1042"/>
                  <a:ext cx="391"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C</a:t>
                  </a:r>
                  <a:endParaRPr lang="en-US" altLang="zh-CN"/>
                </a:p>
              </p:txBody>
            </p:sp>
          </p:grpSp>
          <p:sp>
            <p:nvSpPr>
              <p:cNvPr id="1181736" name="Rectangle 40"/>
              <p:cNvSpPr>
                <a:spLocks noChangeArrowheads="1"/>
              </p:cNvSpPr>
              <p:nvPr/>
            </p:nvSpPr>
            <p:spPr bwMode="auto">
              <a:xfrm>
                <a:off x="912" y="960"/>
                <a:ext cx="76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37" name="Rectangle 41"/>
              <p:cNvSpPr>
                <a:spLocks noChangeArrowheads="1"/>
              </p:cNvSpPr>
              <p:nvPr/>
            </p:nvSpPr>
            <p:spPr bwMode="auto">
              <a:xfrm>
                <a:off x="1056" y="816"/>
                <a:ext cx="480"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38" name="Rectangle 42"/>
              <p:cNvSpPr>
                <a:spLocks noChangeArrowheads="1"/>
              </p:cNvSpPr>
              <p:nvPr/>
            </p:nvSpPr>
            <p:spPr bwMode="auto">
              <a:xfrm>
                <a:off x="1152" y="672"/>
                <a:ext cx="28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1739" name="Text Box 43"/>
            <p:cNvSpPr txBox="1">
              <a:spLocks noChangeArrowheads="1"/>
            </p:cNvSpPr>
            <p:nvPr/>
          </p:nvSpPr>
          <p:spPr bwMode="auto">
            <a:xfrm>
              <a:off x="618" y="509"/>
              <a:ext cx="344" cy="471"/>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t>1</a:t>
              </a:r>
              <a:endParaRPr lang="en-US" altLang="zh-CN"/>
            </a:p>
          </p:txBody>
        </p:sp>
        <p:sp>
          <p:nvSpPr>
            <p:cNvPr id="1181740" name="Text Box 44"/>
            <p:cNvSpPr txBox="1">
              <a:spLocks noChangeArrowheads="1"/>
            </p:cNvSpPr>
            <p:nvPr/>
          </p:nvSpPr>
          <p:spPr bwMode="auto">
            <a:xfrm>
              <a:off x="618" y="656"/>
              <a:ext cx="344" cy="471"/>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t>2</a:t>
              </a:r>
              <a:endParaRPr lang="en-US" altLang="zh-CN"/>
            </a:p>
          </p:txBody>
        </p:sp>
        <p:sp>
          <p:nvSpPr>
            <p:cNvPr id="1181741" name="Text Box 45"/>
            <p:cNvSpPr txBox="1">
              <a:spLocks noChangeArrowheads="1"/>
            </p:cNvSpPr>
            <p:nvPr/>
          </p:nvSpPr>
          <p:spPr bwMode="auto">
            <a:xfrm>
              <a:off x="618" y="808"/>
              <a:ext cx="344" cy="471"/>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en-US" altLang="zh-CN"/>
                <a:t>3</a:t>
              </a:r>
              <a:endParaRPr lang="en-US" altLang="zh-CN"/>
            </a:p>
          </p:txBody>
        </p:sp>
      </p:grpSp>
      <p:grpSp>
        <p:nvGrpSpPr>
          <p:cNvPr id="1181742" name="Group 46"/>
          <p:cNvGrpSpPr/>
          <p:nvPr/>
        </p:nvGrpSpPr>
        <p:grpSpPr bwMode="auto">
          <a:xfrm>
            <a:off x="5621338" y="1409700"/>
            <a:ext cx="2130425" cy="660400"/>
            <a:chOff x="4174" y="622"/>
            <a:chExt cx="1342" cy="416"/>
          </a:xfrm>
        </p:grpSpPr>
        <p:grpSp>
          <p:nvGrpSpPr>
            <p:cNvPr id="1181743" name="Group 47"/>
            <p:cNvGrpSpPr/>
            <p:nvPr/>
          </p:nvGrpSpPr>
          <p:grpSpPr bwMode="auto">
            <a:xfrm>
              <a:off x="4174" y="778"/>
              <a:ext cx="1342" cy="260"/>
              <a:chOff x="3628" y="1745"/>
              <a:chExt cx="1342" cy="260"/>
            </a:xfrm>
          </p:grpSpPr>
          <p:sp>
            <p:nvSpPr>
              <p:cNvPr id="1181744" name="Rectangle 48"/>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1745" name="Line 49"/>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1746" name="Line 50"/>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47" name="Line 51"/>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48" name="Line 52"/>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1749" name="Line 53"/>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50" name="Line 54"/>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1751" name="Group 55"/>
          <p:cNvGrpSpPr/>
          <p:nvPr/>
        </p:nvGrpSpPr>
        <p:grpSpPr bwMode="auto">
          <a:xfrm>
            <a:off x="5595938" y="2024063"/>
            <a:ext cx="2132012" cy="1066800"/>
            <a:chOff x="4236" y="608"/>
            <a:chExt cx="1343" cy="672"/>
          </a:xfrm>
        </p:grpSpPr>
        <p:grpSp>
          <p:nvGrpSpPr>
            <p:cNvPr id="1181752" name="Group 56"/>
            <p:cNvGrpSpPr/>
            <p:nvPr/>
          </p:nvGrpSpPr>
          <p:grpSpPr bwMode="auto">
            <a:xfrm>
              <a:off x="4236" y="1020"/>
              <a:ext cx="1342" cy="260"/>
              <a:chOff x="3628" y="1745"/>
              <a:chExt cx="1342" cy="260"/>
            </a:xfrm>
          </p:grpSpPr>
          <p:sp>
            <p:nvSpPr>
              <p:cNvPr id="1181753" name="Rectangle 57"/>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1754" name="Line 58"/>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1755" name="Line 59"/>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56" name="Line 60"/>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57" name="Line 61"/>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1758" name="Group 62"/>
            <p:cNvGrpSpPr/>
            <p:nvPr/>
          </p:nvGrpSpPr>
          <p:grpSpPr bwMode="auto">
            <a:xfrm>
              <a:off x="4237" y="608"/>
              <a:ext cx="1342" cy="416"/>
              <a:chOff x="4174" y="622"/>
              <a:chExt cx="1342" cy="416"/>
            </a:xfrm>
          </p:grpSpPr>
          <p:grpSp>
            <p:nvGrpSpPr>
              <p:cNvPr id="1181759" name="Group 63"/>
              <p:cNvGrpSpPr/>
              <p:nvPr/>
            </p:nvGrpSpPr>
            <p:grpSpPr bwMode="auto">
              <a:xfrm>
                <a:off x="4174" y="778"/>
                <a:ext cx="1342" cy="260"/>
                <a:chOff x="3628" y="1745"/>
                <a:chExt cx="1342" cy="260"/>
              </a:xfrm>
            </p:grpSpPr>
            <p:sp>
              <p:nvSpPr>
                <p:cNvPr id="1181760" name="Rectangle 64"/>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A    C    B     6</a:t>
                  </a:r>
                  <a:endParaRPr lang="en-US" altLang="zh-CN"/>
                </a:p>
              </p:txBody>
            </p:sp>
            <p:sp>
              <p:nvSpPr>
                <p:cNvPr id="1181761" name="Line 65"/>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1762" name="Line 66"/>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63" name="Line 67"/>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64" name="Line 68"/>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1765" name="Line 69"/>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66" name="Line 70"/>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grpSp>
        <p:nvGrpSpPr>
          <p:cNvPr id="1181767" name="Group 71"/>
          <p:cNvGrpSpPr/>
          <p:nvPr/>
        </p:nvGrpSpPr>
        <p:grpSpPr bwMode="auto">
          <a:xfrm>
            <a:off x="5614988" y="3097213"/>
            <a:ext cx="2141537" cy="1466850"/>
            <a:chOff x="4259" y="1385"/>
            <a:chExt cx="1349" cy="924"/>
          </a:xfrm>
        </p:grpSpPr>
        <p:grpSp>
          <p:nvGrpSpPr>
            <p:cNvPr id="1181768" name="Group 72"/>
            <p:cNvGrpSpPr/>
            <p:nvPr/>
          </p:nvGrpSpPr>
          <p:grpSpPr bwMode="auto">
            <a:xfrm>
              <a:off x="4265" y="2049"/>
              <a:ext cx="1342" cy="260"/>
              <a:chOff x="3628" y="1745"/>
              <a:chExt cx="1342" cy="260"/>
            </a:xfrm>
          </p:grpSpPr>
          <p:sp>
            <p:nvSpPr>
              <p:cNvPr id="1181769" name="Rectangle 73"/>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1770" name="Line 74"/>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1771" name="Line 75"/>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72" name="Line 76"/>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73" name="Line 77"/>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1774" name="Group 78"/>
            <p:cNvGrpSpPr/>
            <p:nvPr/>
          </p:nvGrpSpPr>
          <p:grpSpPr bwMode="auto">
            <a:xfrm>
              <a:off x="4266" y="1793"/>
              <a:ext cx="1342" cy="260"/>
              <a:chOff x="3628" y="1745"/>
              <a:chExt cx="1342" cy="260"/>
            </a:xfrm>
          </p:grpSpPr>
          <p:sp>
            <p:nvSpPr>
              <p:cNvPr id="1181775" name="Rectangle 79"/>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A    C    B     6</a:t>
                </a:r>
                <a:endParaRPr lang="en-US" altLang="zh-CN"/>
              </a:p>
            </p:txBody>
          </p:sp>
          <p:sp>
            <p:nvSpPr>
              <p:cNvPr id="1181776" name="Line 80"/>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1777" name="Line 81"/>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78" name="Line 82"/>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79" name="Line 83"/>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1780" name="Group 84"/>
            <p:cNvGrpSpPr/>
            <p:nvPr/>
          </p:nvGrpSpPr>
          <p:grpSpPr bwMode="auto">
            <a:xfrm>
              <a:off x="4259" y="1385"/>
              <a:ext cx="1342" cy="416"/>
              <a:chOff x="4174" y="622"/>
              <a:chExt cx="1342" cy="416"/>
            </a:xfrm>
          </p:grpSpPr>
          <p:grpSp>
            <p:nvGrpSpPr>
              <p:cNvPr id="1181781" name="Group 85"/>
              <p:cNvGrpSpPr/>
              <p:nvPr/>
            </p:nvGrpSpPr>
            <p:grpSpPr bwMode="auto">
              <a:xfrm>
                <a:off x="4174" y="778"/>
                <a:ext cx="1342" cy="260"/>
                <a:chOff x="3628" y="1745"/>
                <a:chExt cx="1342" cy="260"/>
              </a:xfrm>
            </p:grpSpPr>
            <p:sp>
              <p:nvSpPr>
                <p:cNvPr id="1181782" name="Rectangle 86"/>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1    </a:t>
                  </a:r>
                  <a:r>
                    <a:rPr lang="en-US" altLang="zh-CN"/>
                    <a:t>A    B    C    6</a:t>
                  </a:r>
                  <a:endParaRPr lang="en-US" altLang="zh-CN"/>
                </a:p>
              </p:txBody>
            </p:sp>
            <p:sp>
              <p:nvSpPr>
                <p:cNvPr id="1181783" name="Line 87"/>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1784" name="Line 88"/>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85" name="Line 89"/>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86" name="Line 90"/>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1787" name="Line 91"/>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788" name="Line 92"/>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grpSp>
        <p:nvGrpSpPr>
          <p:cNvPr id="1181789" name="Group 93"/>
          <p:cNvGrpSpPr/>
          <p:nvPr/>
        </p:nvGrpSpPr>
        <p:grpSpPr bwMode="auto">
          <a:xfrm>
            <a:off x="5237163" y="4578350"/>
            <a:ext cx="3078162" cy="1150938"/>
            <a:chOff x="720" y="1440"/>
            <a:chExt cx="3984" cy="1545"/>
          </a:xfrm>
        </p:grpSpPr>
        <p:grpSp>
          <p:nvGrpSpPr>
            <p:cNvPr id="1181790" name="Group 94"/>
            <p:cNvGrpSpPr/>
            <p:nvPr/>
          </p:nvGrpSpPr>
          <p:grpSpPr bwMode="auto">
            <a:xfrm>
              <a:off x="720" y="1440"/>
              <a:ext cx="1248" cy="1545"/>
              <a:chOff x="720" y="0"/>
              <a:chExt cx="1248" cy="1545"/>
            </a:xfrm>
          </p:grpSpPr>
          <p:grpSp>
            <p:nvGrpSpPr>
              <p:cNvPr id="1181791" name="Group 95"/>
              <p:cNvGrpSpPr/>
              <p:nvPr/>
            </p:nvGrpSpPr>
            <p:grpSpPr bwMode="auto">
              <a:xfrm>
                <a:off x="720" y="0"/>
                <a:ext cx="1248" cy="1104"/>
                <a:chOff x="720" y="0"/>
                <a:chExt cx="1248" cy="1104"/>
              </a:xfrm>
            </p:grpSpPr>
            <p:sp>
              <p:nvSpPr>
                <p:cNvPr id="1181792" name="Line 96"/>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93" name="Line 97"/>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1794" name="Text Box 98"/>
              <p:cNvSpPr txBox="1">
                <a:spLocks noChangeArrowheads="1"/>
              </p:cNvSpPr>
              <p:nvPr/>
            </p:nvSpPr>
            <p:spPr bwMode="auto">
              <a:xfrm>
                <a:off x="1075" y="1012"/>
                <a:ext cx="477" cy="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A</a:t>
                </a:r>
                <a:endParaRPr lang="en-US" altLang="zh-CN"/>
              </a:p>
            </p:txBody>
          </p:sp>
        </p:grpSp>
        <p:grpSp>
          <p:nvGrpSpPr>
            <p:cNvPr id="1181795" name="Group 99"/>
            <p:cNvGrpSpPr/>
            <p:nvPr/>
          </p:nvGrpSpPr>
          <p:grpSpPr bwMode="auto">
            <a:xfrm>
              <a:off x="2112" y="1440"/>
              <a:ext cx="1248" cy="1545"/>
              <a:chOff x="2112" y="0"/>
              <a:chExt cx="1248" cy="1545"/>
            </a:xfrm>
          </p:grpSpPr>
          <p:grpSp>
            <p:nvGrpSpPr>
              <p:cNvPr id="1181796" name="Group 100"/>
              <p:cNvGrpSpPr/>
              <p:nvPr/>
            </p:nvGrpSpPr>
            <p:grpSpPr bwMode="auto">
              <a:xfrm>
                <a:off x="2112" y="0"/>
                <a:ext cx="1248" cy="1104"/>
                <a:chOff x="720" y="0"/>
                <a:chExt cx="1248" cy="1104"/>
              </a:xfrm>
            </p:grpSpPr>
            <p:sp>
              <p:nvSpPr>
                <p:cNvPr id="1181797" name="Line 101"/>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798" name="Line 102"/>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1799" name="Text Box 103"/>
              <p:cNvSpPr txBox="1">
                <a:spLocks noChangeArrowheads="1"/>
              </p:cNvSpPr>
              <p:nvPr/>
            </p:nvSpPr>
            <p:spPr bwMode="auto">
              <a:xfrm>
                <a:off x="2479" y="1012"/>
                <a:ext cx="458" cy="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B</a:t>
                </a:r>
                <a:endParaRPr lang="en-US" altLang="zh-CN"/>
              </a:p>
            </p:txBody>
          </p:sp>
        </p:grpSp>
        <p:grpSp>
          <p:nvGrpSpPr>
            <p:cNvPr id="1181800" name="Group 104"/>
            <p:cNvGrpSpPr/>
            <p:nvPr/>
          </p:nvGrpSpPr>
          <p:grpSpPr bwMode="auto">
            <a:xfrm>
              <a:off x="3456" y="1440"/>
              <a:ext cx="1248" cy="1545"/>
              <a:chOff x="3456" y="0"/>
              <a:chExt cx="1248" cy="1545"/>
            </a:xfrm>
          </p:grpSpPr>
          <p:grpSp>
            <p:nvGrpSpPr>
              <p:cNvPr id="1181801" name="Group 105"/>
              <p:cNvGrpSpPr/>
              <p:nvPr/>
            </p:nvGrpSpPr>
            <p:grpSpPr bwMode="auto">
              <a:xfrm>
                <a:off x="3456" y="0"/>
                <a:ext cx="1248" cy="1104"/>
                <a:chOff x="720" y="0"/>
                <a:chExt cx="1248" cy="1104"/>
              </a:xfrm>
            </p:grpSpPr>
            <p:sp>
              <p:nvSpPr>
                <p:cNvPr id="1181802" name="Line 106"/>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803" name="Line 107"/>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1804" name="Text Box 108"/>
              <p:cNvSpPr txBox="1">
                <a:spLocks noChangeArrowheads="1"/>
              </p:cNvSpPr>
              <p:nvPr/>
            </p:nvSpPr>
            <p:spPr bwMode="auto">
              <a:xfrm>
                <a:off x="3818" y="1012"/>
                <a:ext cx="459" cy="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C</a:t>
                </a:r>
                <a:endParaRPr lang="en-US" altLang="zh-CN"/>
              </a:p>
            </p:txBody>
          </p:sp>
        </p:grpSp>
        <p:sp>
          <p:nvSpPr>
            <p:cNvPr id="1181805" name="Rectangle 109"/>
            <p:cNvSpPr>
              <a:spLocks noChangeArrowheads="1"/>
            </p:cNvSpPr>
            <p:nvPr/>
          </p:nvSpPr>
          <p:spPr bwMode="auto">
            <a:xfrm>
              <a:off x="912" y="2400"/>
              <a:ext cx="76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806" name="Rectangle 110"/>
            <p:cNvSpPr>
              <a:spLocks noChangeArrowheads="1"/>
            </p:cNvSpPr>
            <p:nvPr/>
          </p:nvSpPr>
          <p:spPr bwMode="auto">
            <a:xfrm>
              <a:off x="1056" y="2256"/>
              <a:ext cx="480"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1807" name="Rectangle 111"/>
            <p:cNvSpPr>
              <a:spLocks noChangeArrowheads="1"/>
            </p:cNvSpPr>
            <p:nvPr/>
          </p:nvSpPr>
          <p:spPr bwMode="auto">
            <a:xfrm>
              <a:off x="3888" y="2400"/>
              <a:ext cx="28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81808" name="Group 112"/>
          <p:cNvGrpSpPr/>
          <p:nvPr/>
        </p:nvGrpSpPr>
        <p:grpSpPr bwMode="auto">
          <a:xfrm>
            <a:off x="5570538" y="5543550"/>
            <a:ext cx="2132012" cy="1066800"/>
            <a:chOff x="4236" y="608"/>
            <a:chExt cx="1343" cy="672"/>
          </a:xfrm>
        </p:grpSpPr>
        <p:grpSp>
          <p:nvGrpSpPr>
            <p:cNvPr id="1181809" name="Group 113"/>
            <p:cNvGrpSpPr/>
            <p:nvPr/>
          </p:nvGrpSpPr>
          <p:grpSpPr bwMode="auto">
            <a:xfrm>
              <a:off x="4236" y="1020"/>
              <a:ext cx="1342" cy="260"/>
              <a:chOff x="3628" y="1745"/>
              <a:chExt cx="1342" cy="260"/>
            </a:xfrm>
          </p:grpSpPr>
          <p:sp>
            <p:nvSpPr>
              <p:cNvPr id="1181810" name="Rectangle 114"/>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1811" name="Line 115"/>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1812" name="Line 116"/>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813" name="Line 117"/>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814" name="Line 118"/>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1815" name="Group 119"/>
            <p:cNvGrpSpPr/>
            <p:nvPr/>
          </p:nvGrpSpPr>
          <p:grpSpPr bwMode="auto">
            <a:xfrm>
              <a:off x="4237" y="608"/>
              <a:ext cx="1342" cy="416"/>
              <a:chOff x="4174" y="622"/>
              <a:chExt cx="1342" cy="416"/>
            </a:xfrm>
          </p:grpSpPr>
          <p:grpSp>
            <p:nvGrpSpPr>
              <p:cNvPr id="1181816" name="Group 120"/>
              <p:cNvGrpSpPr/>
              <p:nvPr/>
            </p:nvGrpSpPr>
            <p:grpSpPr bwMode="auto">
              <a:xfrm>
                <a:off x="4174" y="778"/>
                <a:ext cx="1342" cy="260"/>
                <a:chOff x="3628" y="1745"/>
                <a:chExt cx="1342" cy="260"/>
              </a:xfrm>
            </p:grpSpPr>
            <p:sp>
              <p:nvSpPr>
                <p:cNvPr id="1181817" name="Rectangle 121"/>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A    C    B     6</a:t>
                  </a:r>
                  <a:endParaRPr lang="en-US" altLang="zh-CN"/>
                </a:p>
              </p:txBody>
            </p:sp>
            <p:sp>
              <p:nvSpPr>
                <p:cNvPr id="1181818" name="Line 122"/>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1819" name="Line 123"/>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820" name="Line 124"/>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821" name="Line 125"/>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1822" name="Line 126"/>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1823" name="Line 127"/>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sp>
        <p:nvSpPr>
          <p:cNvPr id="1181824" name="AutoShape 128">
            <a:hlinkClick r:id="" action="ppaction://hlinkshowjump?jump=nextslide" highlightClick="1"/>
          </p:cNvPr>
          <p:cNvSpPr>
            <a:spLocks noChangeArrowheads="1"/>
          </p:cNvSpPr>
          <p:nvPr/>
        </p:nvSpPr>
        <p:spPr bwMode="auto">
          <a:xfrm>
            <a:off x="8485188" y="6296025"/>
            <a:ext cx="423862" cy="334963"/>
          </a:xfrm>
          <a:prstGeom prst="actionButtonForwardNext">
            <a:avLst/>
          </a:prstGeom>
          <a:noFill/>
          <a:ln w="9525">
            <a:solidFill>
              <a:schemeClr val="tx1"/>
            </a:solidFill>
            <a:miter lim="800000"/>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81713"/>
                                        </p:tgtEl>
                                        <p:attrNameLst>
                                          <p:attrName>style.visibility</p:attrName>
                                        </p:attrNameLst>
                                      </p:cBhvr>
                                      <p:to>
                                        <p:strVal val="visible"/>
                                      </p:to>
                                    </p:set>
                                  </p:childTnLst>
                                  <p:subTnLst>
                                    <p:set>
                                      <p:cBhvr override="childStyle">
                                        <p:cTn dur="1" fill="hold" display="0" masterRel="nextClick" afterEffect="1"/>
                                        <p:tgtEl>
                                          <p:spTgt spid="118171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81712"/>
                                        </p:tgtEl>
                                        <p:attrNameLst>
                                          <p:attrName>style.visibility</p:attrName>
                                        </p:attrNameLst>
                                      </p:cBhvr>
                                      <p:to>
                                        <p:strVal val="visible"/>
                                      </p:to>
                                    </p:set>
                                  </p:childTnLst>
                                  <p:subTnLst>
                                    <p:set>
                                      <p:cBhvr override="childStyle">
                                        <p:cTn dur="1" fill="hold" display="0" masterRel="nextClick" afterEffect="1"/>
                                        <p:tgtEl>
                                          <p:spTgt spid="1181712"/>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81714"/>
                                        </p:tgtEl>
                                        <p:attrNameLst>
                                          <p:attrName>style.visibility</p:attrName>
                                        </p:attrNameLst>
                                      </p:cBhvr>
                                      <p:to>
                                        <p:strVal val="visible"/>
                                      </p:to>
                                    </p:set>
                                  </p:childTnLst>
                                  <p:subTnLst>
                                    <p:set>
                                      <p:cBhvr override="childStyle">
                                        <p:cTn dur="1" fill="hold" display="0" masterRel="nextClick" afterEffect="1"/>
                                        <p:tgtEl>
                                          <p:spTgt spid="1181714"/>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81715"/>
                                        </p:tgtEl>
                                        <p:attrNameLst>
                                          <p:attrName>style.visibility</p:attrName>
                                        </p:attrNameLst>
                                      </p:cBhvr>
                                      <p:to>
                                        <p:strVal val="visible"/>
                                      </p:to>
                                    </p:set>
                                  </p:childTnLst>
                                  <p:subTnLst>
                                    <p:set>
                                      <p:cBhvr override="childStyle">
                                        <p:cTn dur="1" fill="hold" display="0" masterRel="nextClick" afterEffect="1"/>
                                        <p:tgtEl>
                                          <p:spTgt spid="1181715"/>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81716"/>
                                        </p:tgtEl>
                                        <p:attrNameLst>
                                          <p:attrName>style.visibility</p:attrName>
                                        </p:attrNameLst>
                                      </p:cBhvr>
                                      <p:to>
                                        <p:strVal val="visible"/>
                                      </p:to>
                                    </p:set>
                                  </p:childTnLst>
                                  <p:subTnLst>
                                    <p:set>
                                      <p:cBhvr override="childStyle">
                                        <p:cTn dur="1" fill="hold" display="0" masterRel="nextClick" afterEffect="1"/>
                                        <p:tgtEl>
                                          <p:spTgt spid="1181716"/>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81717"/>
                                        </p:tgtEl>
                                        <p:attrNameLst>
                                          <p:attrName>style.visibility</p:attrName>
                                        </p:attrNameLst>
                                      </p:cBhvr>
                                      <p:to>
                                        <p:strVal val="visible"/>
                                      </p:to>
                                    </p:set>
                                  </p:childTnLst>
                                  <p:subTnLst>
                                    <p:set>
                                      <p:cBhvr override="childStyle">
                                        <p:cTn dur="1" fill="hold" display="0" masterRel="nextClick" afterEffect="1"/>
                                        <p:tgtEl>
                                          <p:spTgt spid="1181717"/>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181719"/>
                                        </p:tgtEl>
                                        <p:attrNameLst>
                                          <p:attrName>style.visibility</p:attrName>
                                        </p:attrNameLst>
                                      </p:cBhvr>
                                      <p:to>
                                        <p:strVal val="visible"/>
                                      </p:to>
                                    </p:set>
                                    <p:animEffect transition="in" filter="box(out)">
                                      <p:cBhvr>
                                        <p:cTn id="31" dur="500"/>
                                        <p:tgtEl>
                                          <p:spTgt spid="1181719"/>
                                        </p:tgtEl>
                                      </p:cBhvr>
                                    </p:animEffect>
                                  </p:childTnLst>
                                  <p:subTnLst>
                                    <p:audio>
                                      <p:cMediaNode>
                                        <p:cTn display="0" masterRel="sameClick">
                                          <p:stCondLst>
                                            <p:cond evt="begin" delay="0">
                                              <p:tn val="29"/>
                                            </p:cond>
                                          </p:stCondLst>
                                          <p:endCondLst>
                                            <p:cond evt="onStopAudio" delay="0">
                                              <p:tgtEl>
                                                <p:sldTgt/>
                                              </p:tgtEl>
                                            </p:cond>
                                          </p:endCondLst>
                                        </p:cTn>
                                        <p:tgtEl>
                                          <p:sndTgt r:embed="rId1"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1181742"/>
                                        </p:tgtEl>
                                        <p:attrNameLst>
                                          <p:attrName>style.visibility</p:attrName>
                                        </p:attrNameLst>
                                      </p:cBhvr>
                                      <p:to>
                                        <p:strVal val="visible"/>
                                      </p:to>
                                    </p:set>
                                    <p:animEffect transition="in" filter="box(out)">
                                      <p:cBhvr>
                                        <p:cTn id="36" dur="500"/>
                                        <p:tgtEl>
                                          <p:spTgt spid="1181742"/>
                                        </p:tgtEl>
                                      </p:cBhvr>
                                    </p:animEffect>
                                  </p:childTnLst>
                                  <p:subTnLst>
                                    <p:audio>
                                      <p:cMediaNode>
                                        <p:cTn display="0" masterRel="sameClick">
                                          <p:stCondLst>
                                            <p:cond evt="begin" delay="0">
                                              <p:tn val="34"/>
                                            </p:cond>
                                          </p:stCondLst>
                                          <p:endCondLst>
                                            <p:cond evt="onStopAudio" delay="0">
                                              <p:tgtEl>
                                                <p:sldTgt/>
                                              </p:tgtEl>
                                            </p:cond>
                                          </p:endCondLst>
                                        </p:cTn>
                                        <p:tgtEl>
                                          <p:sndTgt r:embed="rId1"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181707"/>
                                        </p:tgtEl>
                                        <p:attrNameLst>
                                          <p:attrName>style.visibility</p:attrName>
                                        </p:attrNameLst>
                                      </p:cBhvr>
                                      <p:to>
                                        <p:strVal val="visible"/>
                                      </p:to>
                                    </p:set>
                                  </p:childTnLst>
                                  <p:subTnLst>
                                    <p:set>
                                      <p:cBhvr override="childStyle">
                                        <p:cTn dur="1" fill="hold" display="0" masterRel="nextClick" afterEffect="1"/>
                                        <p:tgtEl>
                                          <p:spTgt spid="1181707"/>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1181708"/>
                                        </p:tgtEl>
                                        <p:attrNameLst>
                                          <p:attrName>style.visibility</p:attrName>
                                        </p:attrNameLst>
                                      </p:cBhvr>
                                      <p:to>
                                        <p:strVal val="visible"/>
                                      </p:to>
                                    </p:set>
                                  </p:childTnLst>
                                  <p:subTnLst>
                                    <p:set>
                                      <p:cBhvr override="childStyle">
                                        <p:cTn dur="1" fill="hold" display="0" masterRel="nextClick" afterEffect="1"/>
                                        <p:tgtEl>
                                          <p:spTgt spid="1181708"/>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181709"/>
                                        </p:tgtEl>
                                        <p:attrNameLst>
                                          <p:attrName>style.visibility</p:attrName>
                                        </p:attrNameLst>
                                      </p:cBhvr>
                                      <p:to>
                                        <p:strVal val="visible"/>
                                      </p:to>
                                    </p:set>
                                  </p:childTnLst>
                                  <p:subTnLst>
                                    <p:set>
                                      <p:cBhvr override="childStyle">
                                        <p:cTn dur="1" fill="hold" display="0" masterRel="nextClick" afterEffect="1"/>
                                        <p:tgtEl>
                                          <p:spTgt spid="1181709"/>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1181710"/>
                                        </p:tgtEl>
                                        <p:attrNameLst>
                                          <p:attrName>style.visibility</p:attrName>
                                        </p:attrNameLst>
                                      </p:cBhvr>
                                      <p:to>
                                        <p:strVal val="visible"/>
                                      </p:to>
                                    </p:set>
                                  </p:childTnLst>
                                  <p:subTnLst>
                                    <p:set>
                                      <p:cBhvr override="childStyle">
                                        <p:cTn dur="1" fill="hold" display="0" masterRel="nextClick" afterEffect="1"/>
                                        <p:tgtEl>
                                          <p:spTgt spid="1181710"/>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181711"/>
                                        </p:tgtEl>
                                        <p:attrNameLst>
                                          <p:attrName>style.visibility</p:attrName>
                                        </p:attrNameLst>
                                      </p:cBhvr>
                                      <p:to>
                                        <p:strVal val="visible"/>
                                      </p:to>
                                    </p:set>
                                  </p:childTnLst>
                                  <p:subTnLst>
                                    <p:set>
                                      <p:cBhvr override="childStyle">
                                        <p:cTn dur="1" fill="hold" display="0" masterRel="nextClick" afterEffect="1"/>
                                        <p:tgtEl>
                                          <p:spTgt spid="1181711"/>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1181751"/>
                                        </p:tgtEl>
                                        <p:attrNameLst>
                                          <p:attrName>style.visibility</p:attrName>
                                        </p:attrNameLst>
                                      </p:cBhvr>
                                      <p:to>
                                        <p:strVal val="visible"/>
                                      </p:to>
                                    </p:set>
                                    <p:animEffect transition="in" filter="box(out)">
                                      <p:cBhvr>
                                        <p:cTn id="61" dur="500"/>
                                        <p:tgtEl>
                                          <p:spTgt spid="1181751"/>
                                        </p:tgtEl>
                                      </p:cBhvr>
                                    </p:animEffect>
                                  </p:childTnLst>
                                  <p:subTnLst>
                                    <p:audio>
                                      <p:cMediaNode>
                                        <p:cTn display="0" masterRel="sameClick">
                                          <p:stCondLst>
                                            <p:cond evt="begin" delay="0">
                                              <p:tn val="59"/>
                                            </p:cond>
                                          </p:stCondLst>
                                          <p:endCondLst>
                                            <p:cond evt="onStopAudio" delay="0">
                                              <p:tgtEl>
                                                <p:sldTgt/>
                                              </p:tgtEl>
                                            </p:cond>
                                          </p:endCondLst>
                                        </p:cTn>
                                        <p:tgtEl>
                                          <p:sndTgt r:embed="rId1" name="CAMERA.WAV"/>
                                        </p:tgtEl>
                                      </p:cMediaNode>
                                    </p:audio>
                                  </p:sub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1181706"/>
                                        </p:tgtEl>
                                        <p:attrNameLst>
                                          <p:attrName>style.visibility</p:attrName>
                                        </p:attrNameLst>
                                      </p:cBhvr>
                                      <p:to>
                                        <p:strVal val="visible"/>
                                      </p:to>
                                    </p:set>
                                  </p:childTnLst>
                                  <p:subTnLst>
                                    <p:set>
                                      <p:cBhvr override="childStyle">
                                        <p:cTn dur="1" fill="hold" display="0" masterRel="nextClick" afterEffect="1"/>
                                        <p:tgtEl>
                                          <p:spTgt spid="1181706"/>
                                        </p:tgtEl>
                                        <p:attrNameLst>
                                          <p:attrName>style.visibility</p:attrName>
                                        </p:attrNameLst>
                                      </p:cBhvr>
                                      <p:to>
                                        <p:strVal val="hidden"/>
                                      </p:to>
                                    </p:set>
                                  </p:sub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499"/>
                                          </p:stCondLst>
                                        </p:cTn>
                                        <p:tgtEl>
                                          <p:spTgt spid="1181702"/>
                                        </p:tgtEl>
                                        <p:attrNameLst>
                                          <p:attrName>style.visibility</p:attrName>
                                        </p:attrNameLst>
                                      </p:cBhvr>
                                      <p:to>
                                        <p:strVal val="visible"/>
                                      </p:to>
                                    </p:set>
                                  </p:childTnLst>
                                  <p:subTnLst>
                                    <p:set>
                                      <p:cBhvr override="childStyle">
                                        <p:cTn dur="1" fill="hold" display="0" masterRel="nextClick" afterEffect="1"/>
                                        <p:tgtEl>
                                          <p:spTgt spid="1181702"/>
                                        </p:tgtEl>
                                        <p:attrNameLst>
                                          <p:attrName>style.visibility</p:attrName>
                                        </p:attrNameLst>
                                      </p:cBhvr>
                                      <p:to>
                                        <p:strVal val="hidden"/>
                                      </p:to>
                                    </p:set>
                                  </p:sub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1181703"/>
                                        </p:tgtEl>
                                        <p:attrNameLst>
                                          <p:attrName>style.visibility</p:attrName>
                                        </p:attrNameLst>
                                      </p:cBhvr>
                                      <p:to>
                                        <p:strVal val="visible"/>
                                      </p:to>
                                    </p:set>
                                  </p:childTnLst>
                                  <p:subTnLst>
                                    <p:set>
                                      <p:cBhvr override="childStyle">
                                        <p:cTn dur="1" fill="hold" display="0" masterRel="nextClick" afterEffect="1"/>
                                        <p:tgtEl>
                                          <p:spTgt spid="1181703"/>
                                        </p:tgtEl>
                                        <p:attrNameLst>
                                          <p:attrName>style.visibility</p:attrName>
                                        </p:attrNameLst>
                                      </p:cBhvr>
                                      <p:to>
                                        <p:strVal val="hidden"/>
                                      </p:to>
                                    </p:set>
                                  </p:sub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499"/>
                                          </p:stCondLst>
                                        </p:cTn>
                                        <p:tgtEl>
                                          <p:spTgt spid="1181704"/>
                                        </p:tgtEl>
                                        <p:attrNameLst>
                                          <p:attrName>style.visibility</p:attrName>
                                        </p:attrNameLst>
                                      </p:cBhvr>
                                      <p:to>
                                        <p:strVal val="visible"/>
                                      </p:to>
                                    </p:set>
                                  </p:childTnLst>
                                  <p:subTnLst>
                                    <p:set>
                                      <p:cBhvr override="childStyle">
                                        <p:cTn dur="1" fill="hold" display="0" masterRel="nextClick" afterEffect="1"/>
                                        <p:tgtEl>
                                          <p:spTgt spid="1181704"/>
                                        </p:tgtEl>
                                        <p:attrNameLst>
                                          <p:attrName>style.visibility</p:attrName>
                                        </p:attrNameLst>
                                      </p:cBhvr>
                                      <p:to>
                                        <p:strVal val="hidden"/>
                                      </p:to>
                                    </p:set>
                                  </p:sub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499"/>
                                          </p:stCondLst>
                                        </p:cTn>
                                        <p:tgtEl>
                                          <p:spTgt spid="1181705"/>
                                        </p:tgtEl>
                                        <p:attrNameLst>
                                          <p:attrName>style.visibility</p:attrName>
                                        </p:attrNameLst>
                                      </p:cBhvr>
                                      <p:to>
                                        <p:strVal val="visible"/>
                                      </p:to>
                                    </p:set>
                                  </p:childTnLst>
                                  <p:subTnLst>
                                    <p:set>
                                      <p:cBhvr override="childStyle">
                                        <p:cTn dur="1" fill="hold" display="0" masterRel="nextClick" afterEffect="1"/>
                                        <p:tgtEl>
                                          <p:spTgt spid="1181705"/>
                                        </p:tgtEl>
                                        <p:attrNameLst>
                                          <p:attrName>style.visibility</p:attrName>
                                        </p:attrNameLst>
                                      </p:cBhvr>
                                      <p:to>
                                        <p:strVal val="hidden"/>
                                      </p:to>
                                    </p:set>
                                  </p:subTnLst>
                                </p:cTn>
                              </p:par>
                            </p:childTnLst>
                          </p:cTn>
                        </p:par>
                      </p:childTnLst>
                    </p:cTn>
                  </p:par>
                  <p:par>
                    <p:cTn id="82" fill="hold">
                      <p:stCondLst>
                        <p:cond delay="indefinite"/>
                      </p:stCondLst>
                      <p:childTnLst>
                        <p:par>
                          <p:cTn id="83" fill="hold">
                            <p:stCondLst>
                              <p:cond delay="0"/>
                            </p:stCondLst>
                            <p:childTnLst>
                              <p:par>
                                <p:cTn id="84" presetID="4" presetClass="entr" presetSubtype="32" fill="hold" nodeType="clickEffect">
                                  <p:stCondLst>
                                    <p:cond delay="0"/>
                                  </p:stCondLst>
                                  <p:childTnLst>
                                    <p:set>
                                      <p:cBhvr>
                                        <p:cTn id="85" dur="1" fill="hold">
                                          <p:stCondLst>
                                            <p:cond delay="0"/>
                                          </p:stCondLst>
                                        </p:cTn>
                                        <p:tgtEl>
                                          <p:spTgt spid="1181767"/>
                                        </p:tgtEl>
                                        <p:attrNameLst>
                                          <p:attrName>style.visibility</p:attrName>
                                        </p:attrNameLst>
                                      </p:cBhvr>
                                      <p:to>
                                        <p:strVal val="visible"/>
                                      </p:to>
                                    </p:set>
                                    <p:animEffect transition="in" filter="box(out)">
                                      <p:cBhvr>
                                        <p:cTn id="86" dur="500"/>
                                        <p:tgtEl>
                                          <p:spTgt spid="1181767"/>
                                        </p:tgtEl>
                                      </p:cBhvr>
                                    </p:animEffect>
                                  </p:childTnLst>
                                  <p:subTnLst>
                                    <p:audio>
                                      <p:cMediaNode>
                                        <p:cTn display="0" masterRel="sameClick">
                                          <p:stCondLst>
                                            <p:cond evt="begin" delay="0">
                                              <p:tn val="84"/>
                                            </p:cond>
                                          </p:stCondLst>
                                          <p:endCondLst>
                                            <p:cond evt="onStopAudio" delay="0">
                                              <p:tgtEl>
                                                <p:sldTgt/>
                                              </p:tgtEl>
                                            </p:cond>
                                          </p:endCondLst>
                                        </p:cTn>
                                        <p:tgtEl>
                                          <p:sndTgt r:embed="rId1" name="CAMERA.WAV"/>
                                        </p:tgtEl>
                                      </p:cMediaNode>
                                    </p:audio>
                                  </p:sub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1181701"/>
                                        </p:tgtEl>
                                        <p:attrNameLst>
                                          <p:attrName>style.visibility</p:attrName>
                                        </p:attrNameLst>
                                      </p:cBhvr>
                                      <p:to>
                                        <p:strVal val="visible"/>
                                      </p:to>
                                    </p:set>
                                  </p:childTnLst>
                                  <p:subTnLst>
                                    <p:set>
                                      <p:cBhvr override="childStyle">
                                        <p:cTn dur="1" fill="hold" display="0" masterRel="nextClick" afterEffect="1"/>
                                        <p:tgtEl>
                                          <p:spTgt spid="1181701"/>
                                        </p:tgtEl>
                                        <p:attrNameLst>
                                          <p:attrName>style.visibility</p:attrName>
                                        </p:attrNameLst>
                                      </p:cBhvr>
                                      <p:to>
                                        <p:strVal val="hidden"/>
                                      </p:to>
                                    </p:set>
                                    <p:audio>
                                      <p:cMediaNode>
                                        <p:cTn display="0" masterRel="sameClick">
                                          <p:stCondLst>
                                            <p:cond evt="begin" delay="0">
                                              <p:tn val="89"/>
                                            </p:cond>
                                          </p:stCondLst>
                                          <p:endCondLst>
                                            <p:cond evt="onStopAudio" delay="0">
                                              <p:tgtEl>
                                                <p:sldTgt/>
                                              </p:tgtEl>
                                            </p:cond>
                                          </p:endCondLst>
                                        </p:cTn>
                                        <p:tgtEl>
                                          <p:sndTgt r:embed="rId1" name="CAMERA.WAV"/>
                                        </p:tgtEl>
                                      </p:cMediaNode>
                                    </p:audio>
                                  </p:sub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1181700"/>
                                        </p:tgtEl>
                                        <p:attrNameLst>
                                          <p:attrName>style.visibility</p:attrName>
                                        </p:attrNameLst>
                                      </p:cBhvr>
                                      <p:to>
                                        <p:strVal val="visible"/>
                                      </p:to>
                                    </p:set>
                                  </p:childTnLst>
                                  <p:subTnLst>
                                    <p:set>
                                      <p:cBhvr override="childStyle">
                                        <p:cTn dur="1" fill="hold" display="0" masterRel="nextClick" afterEffect="1"/>
                                        <p:tgtEl>
                                          <p:spTgt spid="1181700"/>
                                        </p:tgtEl>
                                        <p:attrNameLst>
                                          <p:attrName>style.visibility</p:attrName>
                                        </p:attrNameLst>
                                      </p:cBhvr>
                                      <p:to>
                                        <p:strVal val="hidden"/>
                                      </p:to>
                                    </p:set>
                                    <p:audio>
                                      <p:cMediaNode>
                                        <p:cTn display="0" masterRel="sameClick">
                                          <p:stCondLst>
                                            <p:cond evt="begin" delay="0">
                                              <p:tn val="93"/>
                                            </p:cond>
                                          </p:stCondLst>
                                          <p:endCondLst>
                                            <p:cond evt="onStopAudio" delay="0">
                                              <p:tgtEl>
                                                <p:sldTgt/>
                                              </p:tgtEl>
                                            </p:cond>
                                          </p:endCondLst>
                                        </p:cTn>
                                        <p:tgtEl>
                                          <p:sndTgt r:embed="rId1" name="CAMERA.WAV"/>
                                        </p:tgtEl>
                                      </p:cMediaNode>
                                    </p:audio>
                                  </p:sub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1181699"/>
                                        </p:tgtEl>
                                        <p:attrNameLst>
                                          <p:attrName>style.visibility</p:attrName>
                                        </p:attrNameLst>
                                      </p:cBhvr>
                                      <p:to>
                                        <p:strVal val="visible"/>
                                      </p:to>
                                    </p:set>
                                  </p:childTnLst>
                                  <p:subTnLst>
                                    <p:set>
                                      <p:cBhvr override="childStyle">
                                        <p:cTn dur="1" fill="hold" display="0" masterRel="nextClick" afterEffect="1"/>
                                        <p:tgtEl>
                                          <p:spTgt spid="1181699"/>
                                        </p:tgtEl>
                                        <p:attrNameLst>
                                          <p:attrName>style.visibility</p:attrName>
                                        </p:attrNameLst>
                                      </p:cBhvr>
                                      <p:to>
                                        <p:strVal val="hidden"/>
                                      </p:to>
                                    </p:set>
                                    <p:audio>
                                      <p:cMediaNode>
                                        <p:cTn display="0" masterRel="sameClick">
                                          <p:stCondLst>
                                            <p:cond evt="begin" delay="0">
                                              <p:tn val="97"/>
                                            </p:cond>
                                          </p:stCondLst>
                                          <p:endCondLst>
                                            <p:cond evt="onStopAudio" delay="0">
                                              <p:tgtEl>
                                                <p:sldTgt/>
                                              </p:tgtEl>
                                            </p:cond>
                                          </p:endCondLst>
                                        </p:cTn>
                                        <p:tgtEl>
                                          <p:sndTgt r:embed="rId1" name="CAMERA.WAV"/>
                                        </p:tgtEl>
                                      </p:cMediaNode>
                                    </p:audio>
                                  </p:sub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1181698"/>
                                        </p:tgtEl>
                                        <p:attrNameLst>
                                          <p:attrName>style.visibility</p:attrName>
                                        </p:attrNameLst>
                                      </p:cBhvr>
                                      <p:to>
                                        <p:strVal val="visible"/>
                                      </p:to>
                                    </p:set>
                                  </p:childTnLst>
                                  <p:subTnLst>
                                    <p:set>
                                      <p:cBhvr override="childStyle">
                                        <p:cTn dur="1" fill="hold" display="0" masterRel="nextClick" afterEffect="1"/>
                                        <p:tgtEl>
                                          <p:spTgt spid="1181698"/>
                                        </p:tgtEl>
                                        <p:attrNameLst>
                                          <p:attrName>style.visibility</p:attrName>
                                        </p:attrNameLst>
                                      </p:cBhvr>
                                      <p:to>
                                        <p:strVal val="hidden"/>
                                      </p:to>
                                    </p:set>
                                  </p:sub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nodeType="clickEffect">
                                  <p:stCondLst>
                                    <p:cond delay="0"/>
                                  </p:stCondLst>
                                  <p:childTnLst>
                                    <p:set>
                                      <p:cBhvr>
                                        <p:cTn id="106" dur="1" fill="hold">
                                          <p:stCondLst>
                                            <p:cond delay="0"/>
                                          </p:stCondLst>
                                        </p:cTn>
                                        <p:tgtEl>
                                          <p:spTgt spid="1181789"/>
                                        </p:tgtEl>
                                        <p:attrNameLst>
                                          <p:attrName>style.visibility</p:attrName>
                                        </p:attrNameLst>
                                      </p:cBhvr>
                                      <p:to>
                                        <p:strVal val="visible"/>
                                      </p:to>
                                    </p:set>
                                    <p:animEffect transition="in" filter="box(out)">
                                      <p:cBhvr>
                                        <p:cTn id="107" dur="500"/>
                                        <p:tgtEl>
                                          <p:spTgt spid="1181789"/>
                                        </p:tgtEl>
                                      </p:cBhvr>
                                    </p:animEffect>
                                  </p:childTnLst>
                                  <p:subTnLst>
                                    <p:audio>
                                      <p:cMediaNode>
                                        <p:cTn display="0" masterRel="sameClick">
                                          <p:stCondLst>
                                            <p:cond evt="begin" delay="0">
                                              <p:tn val="105"/>
                                            </p:cond>
                                          </p:stCondLst>
                                          <p:endCondLst>
                                            <p:cond evt="onStopAudio" delay="0">
                                              <p:tgtEl>
                                                <p:sldTgt/>
                                              </p:tgtEl>
                                            </p:cond>
                                          </p:endCondLst>
                                        </p:cTn>
                                        <p:tgtEl>
                                          <p:sndTgt r:embed="rId1"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4" presetClass="entr" presetSubtype="32" fill="hold" nodeType="clickEffect">
                                  <p:stCondLst>
                                    <p:cond delay="0"/>
                                  </p:stCondLst>
                                  <p:childTnLst>
                                    <p:set>
                                      <p:cBhvr>
                                        <p:cTn id="111" dur="1" fill="hold">
                                          <p:stCondLst>
                                            <p:cond delay="0"/>
                                          </p:stCondLst>
                                        </p:cTn>
                                        <p:tgtEl>
                                          <p:spTgt spid="1181808"/>
                                        </p:tgtEl>
                                        <p:attrNameLst>
                                          <p:attrName>style.visibility</p:attrName>
                                        </p:attrNameLst>
                                      </p:cBhvr>
                                      <p:to>
                                        <p:strVal val="visible"/>
                                      </p:to>
                                    </p:set>
                                    <p:animEffect transition="in" filter="box(out)">
                                      <p:cBhvr>
                                        <p:cTn id="112" dur="500"/>
                                        <p:tgtEl>
                                          <p:spTgt spid="1181808"/>
                                        </p:tgtEl>
                                      </p:cBhvr>
                                    </p:animEffect>
                                  </p:childTnLst>
                                  <p:subTnLst>
                                    <p:audio>
                                      <p:cMediaNode>
                                        <p:cTn display="0" masterRel="sameClick">
                                          <p:stCondLst>
                                            <p:cond evt="begin" delay="0">
                                              <p:tn val="110"/>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1698" grpId="0" animBg="1"/>
      <p:bldP spid="1181699" grpId="0" animBg="1"/>
      <p:bldP spid="1181700" grpId="0" animBg="1"/>
      <p:bldP spid="1181701" grpId="0" animBg="1"/>
      <p:bldP spid="1181702" grpId="0" animBg="1"/>
      <p:bldP spid="1181703" grpId="0" animBg="1"/>
      <p:bldP spid="1181704" grpId="0" animBg="1"/>
      <p:bldP spid="1181705" grpId="0" animBg="1"/>
      <p:bldP spid="1181706" grpId="0" animBg="1"/>
      <p:bldP spid="1181707" grpId="0" animBg="1"/>
      <p:bldP spid="1181708" grpId="0" animBg="1"/>
      <p:bldP spid="1181709" grpId="0" animBg="1"/>
      <p:bldP spid="1181710" grpId="0" animBg="1"/>
      <p:bldP spid="1181711" grpId="0" animBg="1"/>
      <p:bldP spid="1181712" grpId="0" animBg="1"/>
      <p:bldP spid="1181713" grpId="0" animBg="1"/>
      <p:bldP spid="1181714" grpId="0" animBg="1"/>
      <p:bldP spid="1181715" grpId="0" animBg="1"/>
      <p:bldP spid="1181716" grpId="0" animBg="1"/>
      <p:bldP spid="118171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722" name="Rectangle 2"/>
          <p:cNvSpPr>
            <a:spLocks noChangeArrowheads="1"/>
          </p:cNvSpPr>
          <p:nvPr/>
        </p:nvSpPr>
        <p:spPr bwMode="auto">
          <a:xfrm>
            <a:off x="498475" y="2809875"/>
            <a:ext cx="4725988"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23" name="Rectangle 3"/>
          <p:cNvSpPr>
            <a:spLocks noChangeArrowheads="1"/>
          </p:cNvSpPr>
          <p:nvPr/>
        </p:nvSpPr>
        <p:spPr bwMode="auto">
          <a:xfrm>
            <a:off x="498475" y="3198813"/>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24" name="Rectangle 4"/>
          <p:cNvSpPr>
            <a:spLocks noChangeArrowheads="1"/>
          </p:cNvSpPr>
          <p:nvPr/>
        </p:nvSpPr>
        <p:spPr bwMode="auto">
          <a:xfrm>
            <a:off x="498475" y="3551238"/>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25" name="Rectangle 5"/>
          <p:cNvSpPr>
            <a:spLocks noChangeArrowheads="1"/>
          </p:cNvSpPr>
          <p:nvPr/>
        </p:nvSpPr>
        <p:spPr bwMode="auto">
          <a:xfrm>
            <a:off x="498475" y="3884613"/>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26" name="Rectangle 6"/>
          <p:cNvSpPr>
            <a:spLocks noChangeArrowheads="1"/>
          </p:cNvSpPr>
          <p:nvPr/>
        </p:nvSpPr>
        <p:spPr bwMode="auto">
          <a:xfrm>
            <a:off x="498475" y="4997450"/>
            <a:ext cx="4725988"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27" name="Rectangle 7"/>
          <p:cNvSpPr>
            <a:spLocks noChangeArrowheads="1"/>
          </p:cNvSpPr>
          <p:nvPr/>
        </p:nvSpPr>
        <p:spPr bwMode="auto">
          <a:xfrm>
            <a:off x="498475" y="4997450"/>
            <a:ext cx="4725988"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28" name="Rectangle 8"/>
          <p:cNvSpPr>
            <a:spLocks noChangeArrowheads="1"/>
          </p:cNvSpPr>
          <p:nvPr/>
        </p:nvSpPr>
        <p:spPr bwMode="auto">
          <a:xfrm>
            <a:off x="498475" y="5383213"/>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29" name="Rectangle 9"/>
          <p:cNvSpPr>
            <a:spLocks noChangeArrowheads="1"/>
          </p:cNvSpPr>
          <p:nvPr/>
        </p:nvSpPr>
        <p:spPr bwMode="auto">
          <a:xfrm>
            <a:off x="498475" y="5754688"/>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30" name="Rectangle 10"/>
          <p:cNvSpPr>
            <a:spLocks noChangeArrowheads="1"/>
          </p:cNvSpPr>
          <p:nvPr/>
        </p:nvSpPr>
        <p:spPr bwMode="auto">
          <a:xfrm>
            <a:off x="498475" y="6116638"/>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31" name="Text Box 11"/>
          <p:cNvSpPr txBox="1">
            <a:spLocks noChangeArrowheads="1"/>
          </p:cNvSpPr>
          <p:nvPr/>
        </p:nvSpPr>
        <p:spPr bwMode="auto">
          <a:xfrm>
            <a:off x="533400" y="193675"/>
            <a:ext cx="4749800" cy="6299200"/>
          </a:xfrm>
          <a:prstGeom prst="rect">
            <a:avLst/>
          </a:prstGeom>
          <a:noFill/>
          <a:ln>
            <a:noFill/>
          </a:ln>
          <a:effectLst/>
          <a:extLst>
            <a:ext uri="{909E8E84-426E-40DD-AFC4-6F175D3DCCD1}">
              <a14:hiddenFill xmlns:a14="http://schemas.microsoft.com/office/drawing/2010/main">
                <a:solidFill>
                  <a:srgbClr val="3399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zh-CN" altLang="en-US" sz="2400"/>
              <a:t> </a:t>
            </a:r>
            <a:r>
              <a:rPr lang="en-US" altLang="zh-CN" sz="2400"/>
              <a:t>main()</a:t>
            </a:r>
            <a:endParaRPr lang="en-US" altLang="zh-CN" sz="2400"/>
          </a:p>
          <a:p>
            <a:pPr eaLnBrk="0" hangingPunct="0"/>
            <a:r>
              <a:rPr lang="en-US" altLang="zh-CN" sz="2400"/>
              <a:t>   {   int m;</a:t>
            </a:r>
            <a:endParaRPr lang="en-US" altLang="zh-CN" sz="2400"/>
          </a:p>
          <a:p>
            <a:pPr eaLnBrk="0" hangingPunct="0"/>
            <a:r>
              <a:rPr lang="en-US" altLang="zh-CN" sz="2400"/>
              <a:t>       printf("Input the number of disks</a:t>
            </a:r>
            <a:endParaRPr lang="en-US" altLang="zh-CN" sz="2400"/>
          </a:p>
          <a:p>
            <a:pPr eaLnBrk="0" hangingPunct="0"/>
            <a:r>
              <a:rPr lang="en-US" altLang="zh-CN" sz="2400"/>
              <a:t>       scanf("%d",&amp;m);</a:t>
            </a:r>
            <a:endParaRPr lang="en-US" altLang="zh-CN" sz="2400"/>
          </a:p>
          <a:p>
            <a:pPr eaLnBrk="0" hangingPunct="0"/>
            <a:r>
              <a:rPr lang="en-US" altLang="zh-CN" sz="2400"/>
              <a:t>       printf("The steps to moving %3d</a:t>
            </a:r>
            <a:endParaRPr lang="en-US" altLang="zh-CN" sz="2400"/>
          </a:p>
          <a:p>
            <a:pPr eaLnBrk="0" hangingPunct="0"/>
            <a:r>
              <a:rPr lang="en-US" altLang="zh-CN" sz="2400"/>
              <a:t>       hanoi(m,'A','B','C');</a:t>
            </a:r>
            <a:endParaRPr lang="en-US" altLang="zh-CN" sz="2400"/>
          </a:p>
          <a:p>
            <a:pPr eaLnBrk="0" hangingPunct="0"/>
            <a:r>
              <a:rPr lang="en-US" altLang="zh-CN" sz="2400"/>
              <a:t>(0) }</a:t>
            </a:r>
            <a:endParaRPr lang="en-US" altLang="zh-CN" sz="2400"/>
          </a:p>
          <a:p>
            <a:pPr eaLnBrk="0" hangingPunct="0"/>
            <a:r>
              <a:rPr lang="en-US" altLang="zh-CN" sz="2400"/>
              <a:t>void hanoi(int n,char x,char y,char z)</a:t>
            </a:r>
            <a:endParaRPr lang="en-US" altLang="zh-CN" sz="2400"/>
          </a:p>
          <a:p>
            <a:pPr eaLnBrk="0" hangingPunct="0"/>
            <a:r>
              <a:rPr lang="en-US" altLang="zh-CN" sz="2400"/>
              <a:t>(1)  {</a:t>
            </a:r>
            <a:endParaRPr lang="en-US" altLang="zh-CN" sz="2400"/>
          </a:p>
          <a:p>
            <a:pPr eaLnBrk="0" hangingPunct="0"/>
            <a:r>
              <a:rPr lang="en-US" altLang="zh-CN" sz="2400"/>
              <a:t>(2)     if(n==1)</a:t>
            </a:r>
            <a:endParaRPr lang="en-US" altLang="zh-CN" sz="2400"/>
          </a:p>
          <a:p>
            <a:pPr eaLnBrk="0" hangingPunct="0"/>
            <a:r>
              <a:rPr lang="en-US" altLang="zh-CN" sz="2400"/>
              <a:t>(3)         move(1,x,z);</a:t>
            </a:r>
            <a:endParaRPr lang="en-US" altLang="zh-CN" sz="2400"/>
          </a:p>
          <a:p>
            <a:pPr eaLnBrk="0" hangingPunct="0"/>
            <a:r>
              <a:rPr lang="en-US" altLang="zh-CN" sz="2400"/>
              <a:t>(4)     else{</a:t>
            </a:r>
            <a:endParaRPr lang="en-US" altLang="zh-CN" sz="2400"/>
          </a:p>
          <a:p>
            <a:pPr eaLnBrk="0" hangingPunct="0"/>
            <a:r>
              <a:rPr lang="en-US" altLang="zh-CN" sz="2400"/>
              <a:t>(5)            hanoi(n-1,x,z,y);</a:t>
            </a:r>
            <a:endParaRPr lang="en-US" altLang="zh-CN" sz="2400"/>
          </a:p>
          <a:p>
            <a:pPr eaLnBrk="0" hangingPunct="0"/>
            <a:r>
              <a:rPr lang="en-US" altLang="zh-CN" sz="2400"/>
              <a:t>(6)            move(n,x,z);</a:t>
            </a:r>
            <a:endParaRPr lang="en-US" altLang="zh-CN" sz="2400"/>
          </a:p>
          <a:p>
            <a:pPr eaLnBrk="0" hangingPunct="0"/>
            <a:r>
              <a:rPr lang="en-US" altLang="zh-CN" sz="2400"/>
              <a:t>(7)            hanoi(n-1,y,x,z);</a:t>
            </a:r>
            <a:endParaRPr lang="en-US" altLang="zh-CN" sz="2400"/>
          </a:p>
          <a:p>
            <a:pPr eaLnBrk="0" hangingPunct="0"/>
            <a:r>
              <a:rPr lang="en-US" altLang="zh-CN" sz="2400"/>
              <a:t>(8)         }</a:t>
            </a:r>
            <a:endParaRPr lang="en-US" altLang="zh-CN" sz="2400"/>
          </a:p>
          <a:p>
            <a:pPr eaLnBrk="0" hangingPunct="0"/>
            <a:r>
              <a:rPr lang="en-US" altLang="zh-CN" sz="2400"/>
              <a:t>(9)  }</a:t>
            </a:r>
            <a:endParaRPr lang="en-US" altLang="zh-CN" sz="2400"/>
          </a:p>
        </p:txBody>
      </p:sp>
      <p:grpSp>
        <p:nvGrpSpPr>
          <p:cNvPr id="1182732" name="Group 12"/>
          <p:cNvGrpSpPr/>
          <p:nvPr/>
        </p:nvGrpSpPr>
        <p:grpSpPr bwMode="auto">
          <a:xfrm>
            <a:off x="5748338" y="328613"/>
            <a:ext cx="3108325" cy="1090612"/>
            <a:chOff x="720" y="2918"/>
            <a:chExt cx="3984" cy="1564"/>
          </a:xfrm>
        </p:grpSpPr>
        <p:grpSp>
          <p:nvGrpSpPr>
            <p:cNvPr id="1182733" name="Group 13"/>
            <p:cNvGrpSpPr/>
            <p:nvPr/>
          </p:nvGrpSpPr>
          <p:grpSpPr bwMode="auto">
            <a:xfrm>
              <a:off x="720" y="2918"/>
              <a:ext cx="1248" cy="1564"/>
              <a:chOff x="720" y="0"/>
              <a:chExt cx="1248" cy="1564"/>
            </a:xfrm>
          </p:grpSpPr>
          <p:grpSp>
            <p:nvGrpSpPr>
              <p:cNvPr id="1182734" name="Group 14"/>
              <p:cNvGrpSpPr/>
              <p:nvPr/>
            </p:nvGrpSpPr>
            <p:grpSpPr bwMode="auto">
              <a:xfrm>
                <a:off x="720" y="0"/>
                <a:ext cx="1248" cy="1104"/>
                <a:chOff x="720" y="0"/>
                <a:chExt cx="1248" cy="1104"/>
              </a:xfrm>
            </p:grpSpPr>
            <p:sp>
              <p:nvSpPr>
                <p:cNvPr id="1182735" name="Line 15"/>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36" name="Line 16"/>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2737" name="Text Box 17"/>
              <p:cNvSpPr txBox="1">
                <a:spLocks noChangeArrowheads="1"/>
              </p:cNvSpPr>
              <p:nvPr/>
            </p:nvSpPr>
            <p:spPr bwMode="auto">
              <a:xfrm>
                <a:off x="1080" y="995"/>
                <a:ext cx="472" cy="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A</a:t>
                </a:r>
                <a:endParaRPr lang="en-US" altLang="zh-CN"/>
              </a:p>
            </p:txBody>
          </p:sp>
        </p:grpSp>
        <p:grpSp>
          <p:nvGrpSpPr>
            <p:cNvPr id="1182738" name="Group 18"/>
            <p:cNvGrpSpPr/>
            <p:nvPr/>
          </p:nvGrpSpPr>
          <p:grpSpPr bwMode="auto">
            <a:xfrm>
              <a:off x="2112" y="2918"/>
              <a:ext cx="1248" cy="1564"/>
              <a:chOff x="2112" y="0"/>
              <a:chExt cx="1248" cy="1564"/>
            </a:xfrm>
          </p:grpSpPr>
          <p:grpSp>
            <p:nvGrpSpPr>
              <p:cNvPr id="1182739" name="Group 19"/>
              <p:cNvGrpSpPr/>
              <p:nvPr/>
            </p:nvGrpSpPr>
            <p:grpSpPr bwMode="auto">
              <a:xfrm>
                <a:off x="2112" y="0"/>
                <a:ext cx="1248" cy="1104"/>
                <a:chOff x="720" y="0"/>
                <a:chExt cx="1248" cy="1104"/>
              </a:xfrm>
            </p:grpSpPr>
            <p:sp>
              <p:nvSpPr>
                <p:cNvPr id="1182740" name="Line 20"/>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41" name="Line 21"/>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2742" name="Text Box 22"/>
              <p:cNvSpPr txBox="1">
                <a:spLocks noChangeArrowheads="1"/>
              </p:cNvSpPr>
              <p:nvPr/>
            </p:nvSpPr>
            <p:spPr bwMode="auto">
              <a:xfrm>
                <a:off x="2480" y="995"/>
                <a:ext cx="454" cy="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B</a:t>
                </a:r>
                <a:endParaRPr lang="en-US" altLang="zh-CN"/>
              </a:p>
            </p:txBody>
          </p:sp>
        </p:grpSp>
        <p:grpSp>
          <p:nvGrpSpPr>
            <p:cNvPr id="1182743" name="Group 23"/>
            <p:cNvGrpSpPr/>
            <p:nvPr/>
          </p:nvGrpSpPr>
          <p:grpSpPr bwMode="auto">
            <a:xfrm>
              <a:off x="3456" y="2918"/>
              <a:ext cx="1248" cy="1564"/>
              <a:chOff x="3456" y="0"/>
              <a:chExt cx="1248" cy="1564"/>
            </a:xfrm>
          </p:grpSpPr>
          <p:grpSp>
            <p:nvGrpSpPr>
              <p:cNvPr id="1182744" name="Group 24"/>
              <p:cNvGrpSpPr/>
              <p:nvPr/>
            </p:nvGrpSpPr>
            <p:grpSpPr bwMode="auto">
              <a:xfrm>
                <a:off x="3456" y="0"/>
                <a:ext cx="1248" cy="1104"/>
                <a:chOff x="720" y="0"/>
                <a:chExt cx="1248" cy="1104"/>
              </a:xfrm>
            </p:grpSpPr>
            <p:sp>
              <p:nvSpPr>
                <p:cNvPr id="1182745" name="Line 25"/>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46" name="Line 26"/>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2747" name="Text Box 27"/>
              <p:cNvSpPr txBox="1">
                <a:spLocks noChangeArrowheads="1"/>
              </p:cNvSpPr>
              <p:nvPr/>
            </p:nvSpPr>
            <p:spPr bwMode="auto">
              <a:xfrm>
                <a:off x="3823" y="995"/>
                <a:ext cx="454" cy="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C</a:t>
                </a:r>
                <a:endParaRPr lang="en-US" altLang="zh-CN"/>
              </a:p>
            </p:txBody>
          </p:sp>
        </p:grpSp>
        <p:sp>
          <p:nvSpPr>
            <p:cNvPr id="1182748" name="Rectangle 28"/>
            <p:cNvSpPr>
              <a:spLocks noChangeArrowheads="1"/>
            </p:cNvSpPr>
            <p:nvPr/>
          </p:nvSpPr>
          <p:spPr bwMode="auto">
            <a:xfrm>
              <a:off x="912" y="3878"/>
              <a:ext cx="76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49" name="Rectangle 29"/>
            <p:cNvSpPr>
              <a:spLocks noChangeArrowheads="1"/>
            </p:cNvSpPr>
            <p:nvPr/>
          </p:nvSpPr>
          <p:spPr bwMode="auto">
            <a:xfrm>
              <a:off x="3888" y="3878"/>
              <a:ext cx="28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50" name="Rectangle 30"/>
            <p:cNvSpPr>
              <a:spLocks noChangeArrowheads="1"/>
            </p:cNvSpPr>
            <p:nvPr/>
          </p:nvSpPr>
          <p:spPr bwMode="auto">
            <a:xfrm>
              <a:off x="2459" y="3877"/>
              <a:ext cx="480"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82751" name="Group 31"/>
          <p:cNvGrpSpPr/>
          <p:nvPr/>
        </p:nvGrpSpPr>
        <p:grpSpPr bwMode="auto">
          <a:xfrm>
            <a:off x="6091238" y="1409700"/>
            <a:ext cx="2141537" cy="1466850"/>
            <a:chOff x="4259" y="1385"/>
            <a:chExt cx="1349" cy="924"/>
          </a:xfrm>
        </p:grpSpPr>
        <p:grpSp>
          <p:nvGrpSpPr>
            <p:cNvPr id="1182752" name="Group 32"/>
            <p:cNvGrpSpPr/>
            <p:nvPr/>
          </p:nvGrpSpPr>
          <p:grpSpPr bwMode="auto">
            <a:xfrm>
              <a:off x="4265" y="2049"/>
              <a:ext cx="1342" cy="260"/>
              <a:chOff x="3628" y="1745"/>
              <a:chExt cx="1342" cy="260"/>
            </a:xfrm>
          </p:grpSpPr>
          <p:sp>
            <p:nvSpPr>
              <p:cNvPr id="1182753" name="Rectangle 33"/>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2754" name="Line 34"/>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2755" name="Line 35"/>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756" name="Line 36"/>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757" name="Line 37"/>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2758" name="Group 38"/>
            <p:cNvGrpSpPr/>
            <p:nvPr/>
          </p:nvGrpSpPr>
          <p:grpSpPr bwMode="auto">
            <a:xfrm>
              <a:off x="4266" y="1793"/>
              <a:ext cx="1342" cy="260"/>
              <a:chOff x="3628" y="1745"/>
              <a:chExt cx="1342" cy="260"/>
            </a:xfrm>
          </p:grpSpPr>
          <p:sp>
            <p:nvSpPr>
              <p:cNvPr id="1182759" name="Rectangle 39"/>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A    C    B     6</a:t>
                </a:r>
                <a:endParaRPr lang="en-US" altLang="zh-CN"/>
              </a:p>
            </p:txBody>
          </p:sp>
          <p:sp>
            <p:nvSpPr>
              <p:cNvPr id="1182760" name="Line 40"/>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2761" name="Line 41"/>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762" name="Line 42"/>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763" name="Line 43"/>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2764" name="Group 44"/>
            <p:cNvGrpSpPr/>
            <p:nvPr/>
          </p:nvGrpSpPr>
          <p:grpSpPr bwMode="auto">
            <a:xfrm>
              <a:off x="4259" y="1385"/>
              <a:ext cx="1342" cy="416"/>
              <a:chOff x="4174" y="622"/>
              <a:chExt cx="1342" cy="416"/>
            </a:xfrm>
          </p:grpSpPr>
          <p:grpSp>
            <p:nvGrpSpPr>
              <p:cNvPr id="1182765" name="Group 45"/>
              <p:cNvGrpSpPr/>
              <p:nvPr/>
            </p:nvGrpSpPr>
            <p:grpSpPr bwMode="auto">
              <a:xfrm>
                <a:off x="4174" y="778"/>
                <a:ext cx="1342" cy="260"/>
                <a:chOff x="3628" y="1745"/>
                <a:chExt cx="1342" cy="260"/>
              </a:xfrm>
            </p:grpSpPr>
            <p:sp>
              <p:nvSpPr>
                <p:cNvPr id="1182766" name="Rectangle 46"/>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1    </a:t>
                  </a:r>
                  <a:r>
                    <a:rPr lang="en-US" altLang="zh-CN"/>
                    <a:t>C    A    B    8</a:t>
                  </a:r>
                  <a:endParaRPr lang="en-US" altLang="zh-CN"/>
                </a:p>
              </p:txBody>
            </p:sp>
            <p:sp>
              <p:nvSpPr>
                <p:cNvPr id="1182767" name="Line 47"/>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2768" name="Line 48"/>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769" name="Line 49"/>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770" name="Line 50"/>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2771" name="Line 51"/>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772" name="Line 52"/>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grpSp>
        <p:nvGrpSpPr>
          <p:cNvPr id="1182773" name="Group 53"/>
          <p:cNvGrpSpPr/>
          <p:nvPr/>
        </p:nvGrpSpPr>
        <p:grpSpPr bwMode="auto">
          <a:xfrm>
            <a:off x="5748338" y="3051175"/>
            <a:ext cx="3008312" cy="1198563"/>
            <a:chOff x="698" y="0"/>
            <a:chExt cx="3984" cy="1532"/>
          </a:xfrm>
        </p:grpSpPr>
        <p:grpSp>
          <p:nvGrpSpPr>
            <p:cNvPr id="1182774" name="Group 54"/>
            <p:cNvGrpSpPr/>
            <p:nvPr/>
          </p:nvGrpSpPr>
          <p:grpSpPr bwMode="auto">
            <a:xfrm>
              <a:off x="698" y="0"/>
              <a:ext cx="1248" cy="1532"/>
              <a:chOff x="720" y="0"/>
              <a:chExt cx="1248" cy="1532"/>
            </a:xfrm>
          </p:grpSpPr>
          <p:grpSp>
            <p:nvGrpSpPr>
              <p:cNvPr id="1182775" name="Group 55"/>
              <p:cNvGrpSpPr/>
              <p:nvPr/>
            </p:nvGrpSpPr>
            <p:grpSpPr bwMode="auto">
              <a:xfrm>
                <a:off x="720" y="0"/>
                <a:ext cx="1248" cy="1104"/>
                <a:chOff x="720" y="0"/>
                <a:chExt cx="1248" cy="1104"/>
              </a:xfrm>
            </p:grpSpPr>
            <p:sp>
              <p:nvSpPr>
                <p:cNvPr id="1182776" name="Line 56"/>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77" name="Line 57"/>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2778" name="Text Box 58"/>
              <p:cNvSpPr txBox="1">
                <a:spLocks noChangeArrowheads="1"/>
              </p:cNvSpPr>
              <p:nvPr/>
            </p:nvSpPr>
            <p:spPr bwMode="auto">
              <a:xfrm>
                <a:off x="1071" y="1025"/>
                <a:ext cx="488" cy="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A</a:t>
                </a:r>
                <a:endParaRPr lang="en-US" altLang="zh-CN"/>
              </a:p>
            </p:txBody>
          </p:sp>
        </p:grpSp>
        <p:grpSp>
          <p:nvGrpSpPr>
            <p:cNvPr id="1182779" name="Group 59"/>
            <p:cNvGrpSpPr/>
            <p:nvPr/>
          </p:nvGrpSpPr>
          <p:grpSpPr bwMode="auto">
            <a:xfrm>
              <a:off x="2090" y="0"/>
              <a:ext cx="1248" cy="1532"/>
              <a:chOff x="2112" y="0"/>
              <a:chExt cx="1248" cy="1532"/>
            </a:xfrm>
          </p:grpSpPr>
          <p:grpSp>
            <p:nvGrpSpPr>
              <p:cNvPr id="1182780" name="Group 60"/>
              <p:cNvGrpSpPr/>
              <p:nvPr/>
            </p:nvGrpSpPr>
            <p:grpSpPr bwMode="auto">
              <a:xfrm>
                <a:off x="2112" y="0"/>
                <a:ext cx="1248" cy="1104"/>
                <a:chOff x="720" y="0"/>
                <a:chExt cx="1248" cy="1104"/>
              </a:xfrm>
            </p:grpSpPr>
            <p:sp>
              <p:nvSpPr>
                <p:cNvPr id="1182781" name="Line 61"/>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82" name="Line 62"/>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2783" name="Text Box 63"/>
              <p:cNvSpPr txBox="1">
                <a:spLocks noChangeArrowheads="1"/>
              </p:cNvSpPr>
              <p:nvPr/>
            </p:nvSpPr>
            <p:spPr bwMode="auto">
              <a:xfrm>
                <a:off x="2473" y="1025"/>
                <a:ext cx="469" cy="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B</a:t>
                </a:r>
                <a:endParaRPr lang="en-US" altLang="zh-CN"/>
              </a:p>
            </p:txBody>
          </p:sp>
        </p:grpSp>
        <p:grpSp>
          <p:nvGrpSpPr>
            <p:cNvPr id="1182784" name="Group 64"/>
            <p:cNvGrpSpPr/>
            <p:nvPr/>
          </p:nvGrpSpPr>
          <p:grpSpPr bwMode="auto">
            <a:xfrm>
              <a:off x="3434" y="0"/>
              <a:ext cx="1248" cy="1532"/>
              <a:chOff x="3456" y="0"/>
              <a:chExt cx="1248" cy="1532"/>
            </a:xfrm>
          </p:grpSpPr>
          <p:grpSp>
            <p:nvGrpSpPr>
              <p:cNvPr id="1182785" name="Group 65"/>
              <p:cNvGrpSpPr/>
              <p:nvPr/>
            </p:nvGrpSpPr>
            <p:grpSpPr bwMode="auto">
              <a:xfrm>
                <a:off x="3456" y="0"/>
                <a:ext cx="1248" cy="1104"/>
                <a:chOff x="720" y="0"/>
                <a:chExt cx="1248" cy="1104"/>
              </a:xfrm>
            </p:grpSpPr>
            <p:sp>
              <p:nvSpPr>
                <p:cNvPr id="1182786" name="Line 66"/>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87" name="Line 67"/>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2788" name="Text Box 68"/>
              <p:cNvSpPr txBox="1">
                <a:spLocks noChangeArrowheads="1"/>
              </p:cNvSpPr>
              <p:nvPr/>
            </p:nvSpPr>
            <p:spPr bwMode="auto">
              <a:xfrm>
                <a:off x="3813" y="1025"/>
                <a:ext cx="468" cy="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C</a:t>
                </a:r>
                <a:endParaRPr lang="en-US" altLang="zh-CN"/>
              </a:p>
            </p:txBody>
          </p:sp>
        </p:grpSp>
        <p:sp>
          <p:nvSpPr>
            <p:cNvPr id="1182789" name="Rectangle 69"/>
            <p:cNvSpPr>
              <a:spLocks noChangeArrowheads="1"/>
            </p:cNvSpPr>
            <p:nvPr/>
          </p:nvSpPr>
          <p:spPr bwMode="auto">
            <a:xfrm>
              <a:off x="890" y="960"/>
              <a:ext cx="76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90" name="Rectangle 70"/>
            <p:cNvSpPr>
              <a:spLocks noChangeArrowheads="1"/>
            </p:cNvSpPr>
            <p:nvPr/>
          </p:nvSpPr>
          <p:spPr bwMode="auto">
            <a:xfrm>
              <a:off x="2437" y="959"/>
              <a:ext cx="480"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791" name="Rectangle 71"/>
            <p:cNvSpPr>
              <a:spLocks noChangeArrowheads="1"/>
            </p:cNvSpPr>
            <p:nvPr/>
          </p:nvSpPr>
          <p:spPr bwMode="auto">
            <a:xfrm>
              <a:off x="2524" y="815"/>
              <a:ext cx="28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82792" name="Group 72"/>
          <p:cNvGrpSpPr/>
          <p:nvPr/>
        </p:nvGrpSpPr>
        <p:grpSpPr bwMode="auto">
          <a:xfrm>
            <a:off x="6135688" y="4238625"/>
            <a:ext cx="2132012" cy="1066800"/>
            <a:chOff x="4236" y="608"/>
            <a:chExt cx="1343" cy="672"/>
          </a:xfrm>
        </p:grpSpPr>
        <p:grpSp>
          <p:nvGrpSpPr>
            <p:cNvPr id="1182793" name="Group 73"/>
            <p:cNvGrpSpPr/>
            <p:nvPr/>
          </p:nvGrpSpPr>
          <p:grpSpPr bwMode="auto">
            <a:xfrm>
              <a:off x="4236" y="1020"/>
              <a:ext cx="1342" cy="260"/>
              <a:chOff x="3628" y="1745"/>
              <a:chExt cx="1342" cy="260"/>
            </a:xfrm>
          </p:grpSpPr>
          <p:sp>
            <p:nvSpPr>
              <p:cNvPr id="1182794" name="Rectangle 74"/>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2795" name="Line 75"/>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2796" name="Line 76"/>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797" name="Line 77"/>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798" name="Line 78"/>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2799" name="Group 79"/>
            <p:cNvGrpSpPr/>
            <p:nvPr/>
          </p:nvGrpSpPr>
          <p:grpSpPr bwMode="auto">
            <a:xfrm>
              <a:off x="4237" y="608"/>
              <a:ext cx="1342" cy="416"/>
              <a:chOff x="4174" y="622"/>
              <a:chExt cx="1342" cy="416"/>
            </a:xfrm>
          </p:grpSpPr>
          <p:grpSp>
            <p:nvGrpSpPr>
              <p:cNvPr id="1182800" name="Group 80"/>
              <p:cNvGrpSpPr/>
              <p:nvPr/>
            </p:nvGrpSpPr>
            <p:grpSpPr bwMode="auto">
              <a:xfrm>
                <a:off x="4174" y="778"/>
                <a:ext cx="1342" cy="260"/>
                <a:chOff x="3628" y="1745"/>
                <a:chExt cx="1342" cy="260"/>
              </a:xfrm>
            </p:grpSpPr>
            <p:sp>
              <p:nvSpPr>
                <p:cNvPr id="1182801" name="Rectangle 81"/>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A    C    B     6</a:t>
                  </a:r>
                  <a:endParaRPr lang="en-US" altLang="zh-CN"/>
                </a:p>
              </p:txBody>
            </p:sp>
            <p:sp>
              <p:nvSpPr>
                <p:cNvPr id="1182802" name="Line 82"/>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2803" name="Line 83"/>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04" name="Line 84"/>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05" name="Line 85"/>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2806" name="Line 86"/>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07" name="Line 87"/>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grpSp>
        <p:nvGrpSpPr>
          <p:cNvPr id="1182808" name="Group 88"/>
          <p:cNvGrpSpPr/>
          <p:nvPr/>
        </p:nvGrpSpPr>
        <p:grpSpPr bwMode="auto">
          <a:xfrm>
            <a:off x="6134100" y="5592763"/>
            <a:ext cx="2130425" cy="660400"/>
            <a:chOff x="4174" y="622"/>
            <a:chExt cx="1342" cy="416"/>
          </a:xfrm>
        </p:grpSpPr>
        <p:grpSp>
          <p:nvGrpSpPr>
            <p:cNvPr id="1182809" name="Group 89"/>
            <p:cNvGrpSpPr/>
            <p:nvPr/>
          </p:nvGrpSpPr>
          <p:grpSpPr bwMode="auto">
            <a:xfrm>
              <a:off x="4174" y="778"/>
              <a:ext cx="1342" cy="260"/>
              <a:chOff x="3628" y="1745"/>
              <a:chExt cx="1342" cy="260"/>
            </a:xfrm>
          </p:grpSpPr>
          <p:sp>
            <p:nvSpPr>
              <p:cNvPr id="1182810" name="Rectangle 90"/>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2811" name="Line 91"/>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2812" name="Line 92"/>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13" name="Line 93"/>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14" name="Line 94"/>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2815" name="Line 95"/>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16" name="Line 96"/>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2817" name="AutoShape 97">
            <a:hlinkClick r:id="" action="ppaction://hlinkshowjump?jump=previousslide" highlightClick="1"/>
          </p:cNvPr>
          <p:cNvSpPr>
            <a:spLocks noChangeArrowheads="1"/>
          </p:cNvSpPr>
          <p:nvPr/>
        </p:nvSpPr>
        <p:spPr bwMode="auto">
          <a:xfrm>
            <a:off x="8112125" y="6296025"/>
            <a:ext cx="390525" cy="334963"/>
          </a:xfrm>
          <a:prstGeom prst="actionButtonBackPrevious">
            <a:avLst/>
          </a:prstGeom>
          <a:noFill/>
          <a:ln w="9525">
            <a:solidFill>
              <a:schemeClr val="tx1"/>
            </a:solidFill>
            <a:miter lim="800000"/>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2818" name="AutoShape 98">
            <a:hlinkClick r:id="" action="ppaction://hlinkshowjump?jump=nextslide" highlightClick="1"/>
          </p:cNvPr>
          <p:cNvSpPr>
            <a:spLocks noChangeArrowheads="1"/>
          </p:cNvSpPr>
          <p:nvPr/>
        </p:nvSpPr>
        <p:spPr bwMode="auto">
          <a:xfrm>
            <a:off x="8485188" y="6296025"/>
            <a:ext cx="423862" cy="334963"/>
          </a:xfrm>
          <a:prstGeom prst="actionButtonForwardNext">
            <a:avLst/>
          </a:prstGeom>
          <a:noFill/>
          <a:ln w="9525">
            <a:solidFill>
              <a:schemeClr val="tx1"/>
            </a:solidFill>
            <a:miter lim="800000"/>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1182819" name="Group 99"/>
          <p:cNvGrpSpPr/>
          <p:nvPr/>
        </p:nvGrpSpPr>
        <p:grpSpPr bwMode="auto">
          <a:xfrm>
            <a:off x="3417888" y="0"/>
            <a:ext cx="2132012" cy="1066800"/>
            <a:chOff x="4236" y="608"/>
            <a:chExt cx="1343" cy="672"/>
          </a:xfrm>
        </p:grpSpPr>
        <p:grpSp>
          <p:nvGrpSpPr>
            <p:cNvPr id="1182820" name="Group 100"/>
            <p:cNvGrpSpPr/>
            <p:nvPr/>
          </p:nvGrpSpPr>
          <p:grpSpPr bwMode="auto">
            <a:xfrm>
              <a:off x="4236" y="1020"/>
              <a:ext cx="1342" cy="260"/>
              <a:chOff x="3628" y="1745"/>
              <a:chExt cx="1342" cy="260"/>
            </a:xfrm>
          </p:grpSpPr>
          <p:sp>
            <p:nvSpPr>
              <p:cNvPr id="1182821" name="Rectangle 101"/>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2822" name="Line 102"/>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2823" name="Line 103"/>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24" name="Line 104"/>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25" name="Line 105"/>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2826" name="Group 106"/>
            <p:cNvGrpSpPr/>
            <p:nvPr/>
          </p:nvGrpSpPr>
          <p:grpSpPr bwMode="auto">
            <a:xfrm>
              <a:off x="4237" y="608"/>
              <a:ext cx="1342" cy="416"/>
              <a:chOff x="4174" y="622"/>
              <a:chExt cx="1342" cy="416"/>
            </a:xfrm>
          </p:grpSpPr>
          <p:grpSp>
            <p:nvGrpSpPr>
              <p:cNvPr id="1182827" name="Group 107"/>
              <p:cNvGrpSpPr/>
              <p:nvPr/>
            </p:nvGrpSpPr>
            <p:grpSpPr bwMode="auto">
              <a:xfrm>
                <a:off x="4174" y="778"/>
                <a:ext cx="1342" cy="260"/>
                <a:chOff x="3628" y="1745"/>
                <a:chExt cx="1342" cy="260"/>
              </a:xfrm>
            </p:grpSpPr>
            <p:sp>
              <p:nvSpPr>
                <p:cNvPr id="1182828" name="Rectangle 108"/>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A    C    B     6</a:t>
                  </a:r>
                  <a:endParaRPr lang="en-US" altLang="zh-CN"/>
                </a:p>
              </p:txBody>
            </p:sp>
            <p:sp>
              <p:nvSpPr>
                <p:cNvPr id="1182829" name="Line 109"/>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2830" name="Line 110"/>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31" name="Line 111"/>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32" name="Line 112"/>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2833" name="Line 113"/>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2834" name="Line 114"/>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82727"/>
                                        </p:tgtEl>
                                        <p:attrNameLst>
                                          <p:attrName>style.visibility</p:attrName>
                                        </p:attrNameLst>
                                      </p:cBhvr>
                                      <p:to>
                                        <p:strVal val="visible"/>
                                      </p:to>
                                    </p:set>
                                  </p:childTnLst>
                                  <p:subTnLst>
                                    <p:set>
                                      <p:cBhvr override="childStyle">
                                        <p:cTn dur="1" fill="hold" display="0" masterRel="nextClick" afterEffect="1"/>
                                        <p:tgtEl>
                                          <p:spTgt spid="1182727"/>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4" presetClass="entr" presetSubtype="32" fill="hold" nodeType="clickEffect">
                                  <p:stCondLst>
                                    <p:cond delay="0"/>
                                  </p:stCondLst>
                                  <p:childTnLst>
                                    <p:set>
                                      <p:cBhvr>
                                        <p:cTn id="10" dur="1" fill="hold">
                                          <p:stCondLst>
                                            <p:cond delay="0"/>
                                          </p:stCondLst>
                                        </p:cTn>
                                        <p:tgtEl>
                                          <p:spTgt spid="1182732"/>
                                        </p:tgtEl>
                                        <p:attrNameLst>
                                          <p:attrName>style.visibility</p:attrName>
                                        </p:attrNameLst>
                                      </p:cBhvr>
                                      <p:to>
                                        <p:strVal val="visible"/>
                                      </p:to>
                                    </p:set>
                                    <p:animEffect transition="in" filter="box(out)">
                                      <p:cBhvr>
                                        <p:cTn id="11" dur="500"/>
                                        <p:tgtEl>
                                          <p:spTgt spid="1182732"/>
                                        </p:tgtEl>
                                      </p:cBhvr>
                                    </p:animEffect>
                                  </p:childTnLst>
                                  <p:subTnLst>
                                    <p:audio>
                                      <p:cMediaNode>
                                        <p:cTn display="0" masterRel="sameClick">
                                          <p:stCondLst>
                                            <p:cond evt="begin" delay="0">
                                              <p:tn val="9"/>
                                            </p:cond>
                                          </p:stCondLst>
                                          <p:endCondLst>
                                            <p:cond evt="onStopAudio" delay="0">
                                              <p:tgtEl>
                                                <p:sldTgt/>
                                              </p:tgtEl>
                                            </p:cond>
                                          </p:endCondLst>
                                        </p:cTn>
                                        <p:tgtEl>
                                          <p:sndTgt r:embed="rId1"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82728"/>
                                        </p:tgtEl>
                                        <p:attrNameLst>
                                          <p:attrName>style.visibility</p:attrName>
                                        </p:attrNameLst>
                                      </p:cBhvr>
                                      <p:to>
                                        <p:strVal val="visible"/>
                                      </p:to>
                                    </p:set>
                                  </p:childTnLst>
                                  <p:subTnLst>
                                    <p:set>
                                      <p:cBhvr override="childStyle">
                                        <p:cTn dur="1" fill="hold" display="0" masterRel="nextClick" afterEffect="1"/>
                                        <p:tgtEl>
                                          <p:spTgt spid="1182728"/>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4" presetClass="entr" presetSubtype="32" fill="hold" nodeType="clickEffect">
                                  <p:stCondLst>
                                    <p:cond delay="0"/>
                                  </p:stCondLst>
                                  <p:childTnLst>
                                    <p:set>
                                      <p:cBhvr>
                                        <p:cTn id="19" dur="1" fill="hold">
                                          <p:stCondLst>
                                            <p:cond delay="0"/>
                                          </p:stCondLst>
                                        </p:cTn>
                                        <p:tgtEl>
                                          <p:spTgt spid="1182751"/>
                                        </p:tgtEl>
                                        <p:attrNameLst>
                                          <p:attrName>style.visibility</p:attrName>
                                        </p:attrNameLst>
                                      </p:cBhvr>
                                      <p:to>
                                        <p:strVal val="visible"/>
                                      </p:to>
                                    </p:set>
                                    <p:animEffect transition="in" filter="box(out)">
                                      <p:cBhvr>
                                        <p:cTn id="20" dur="500"/>
                                        <p:tgtEl>
                                          <p:spTgt spid="1182751"/>
                                        </p:tgtEl>
                                      </p:cBhvr>
                                    </p:animEffect>
                                  </p:childTnLst>
                                  <p:subTnLst>
                                    <p:audio>
                                      <p:cMediaNode>
                                        <p:cTn display="0" masterRel="sameClick">
                                          <p:stCondLst>
                                            <p:cond evt="begin" delay="0">
                                              <p:tn val="18"/>
                                            </p:cond>
                                          </p:stCondLst>
                                          <p:endCondLst>
                                            <p:cond evt="onStopAudio" delay="0">
                                              <p:tgtEl>
                                                <p:sldTgt/>
                                              </p:tgtEl>
                                            </p:cond>
                                          </p:endCondLst>
                                        </p:cTn>
                                        <p:tgtEl>
                                          <p:sndTgt r:embed="rId1"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182722"/>
                                        </p:tgtEl>
                                        <p:attrNameLst>
                                          <p:attrName>style.visibility</p:attrName>
                                        </p:attrNameLst>
                                      </p:cBhvr>
                                      <p:to>
                                        <p:strVal val="visible"/>
                                      </p:to>
                                    </p:set>
                                  </p:childTnLst>
                                  <p:subTnLst>
                                    <p:set>
                                      <p:cBhvr override="childStyle">
                                        <p:cTn dur="1" fill="hold" display="0" masterRel="nextClick" afterEffect="1"/>
                                        <p:tgtEl>
                                          <p:spTgt spid="1182722"/>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182723"/>
                                        </p:tgtEl>
                                        <p:attrNameLst>
                                          <p:attrName>style.visibility</p:attrName>
                                        </p:attrNameLst>
                                      </p:cBhvr>
                                      <p:to>
                                        <p:strVal val="visible"/>
                                      </p:to>
                                    </p:set>
                                  </p:childTnLst>
                                  <p:subTnLst>
                                    <p:set>
                                      <p:cBhvr override="childStyle">
                                        <p:cTn dur="1" fill="hold" display="0" masterRel="nextClick" afterEffect="1"/>
                                        <p:tgtEl>
                                          <p:spTgt spid="1182723"/>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182724"/>
                                        </p:tgtEl>
                                        <p:attrNameLst>
                                          <p:attrName>style.visibility</p:attrName>
                                        </p:attrNameLst>
                                      </p:cBhvr>
                                      <p:to>
                                        <p:strVal val="visible"/>
                                      </p:to>
                                    </p:set>
                                  </p:childTnLst>
                                  <p:subTnLst>
                                    <p:set>
                                      <p:cBhvr override="childStyle">
                                        <p:cTn dur="1" fill="hold" display="0" masterRel="nextClick" afterEffect="1"/>
                                        <p:tgtEl>
                                          <p:spTgt spid="1182724"/>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182725"/>
                                        </p:tgtEl>
                                        <p:attrNameLst>
                                          <p:attrName>style.visibility</p:attrName>
                                        </p:attrNameLst>
                                      </p:cBhvr>
                                      <p:to>
                                        <p:strVal val="visible"/>
                                      </p:to>
                                    </p:set>
                                  </p:childTnLst>
                                  <p:subTnLst>
                                    <p:set>
                                      <p:cBhvr override="childStyle">
                                        <p:cTn dur="1" fill="hold" display="0" masterRel="nextClick" afterEffect="1"/>
                                        <p:tgtEl>
                                          <p:spTgt spid="1182725"/>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1"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182773"/>
                                        </p:tgtEl>
                                        <p:attrNameLst>
                                          <p:attrName>style.visibility</p:attrName>
                                        </p:attrNameLst>
                                      </p:cBhvr>
                                      <p:to>
                                        <p:strVal val="visible"/>
                                      </p:to>
                                    </p:set>
                                    <p:animEffect transition="in" filter="box(out)">
                                      <p:cBhvr>
                                        <p:cTn id="41" dur="500"/>
                                        <p:tgtEl>
                                          <p:spTgt spid="1182773"/>
                                        </p:tgtEl>
                                      </p:cBhvr>
                                    </p:animEffect>
                                  </p:childTnLst>
                                  <p:subTnLst>
                                    <p:audio>
                                      <p:cMediaNode>
                                        <p:cTn display="0" masterRel="sameClick">
                                          <p:stCondLst>
                                            <p:cond evt="begin" delay="0">
                                              <p:tn val="39"/>
                                            </p:cond>
                                          </p:stCondLst>
                                          <p:endCondLst>
                                            <p:cond evt="onStopAudio" delay="0">
                                              <p:tgtEl>
                                                <p:sldTgt/>
                                              </p:tgtEl>
                                            </p:cond>
                                          </p:endCondLst>
                                        </p:cTn>
                                        <p:tgtEl>
                                          <p:sndTgt r:embed="rId1"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nodeType="clickEffect">
                                  <p:stCondLst>
                                    <p:cond delay="0"/>
                                  </p:stCondLst>
                                  <p:childTnLst>
                                    <p:set>
                                      <p:cBhvr>
                                        <p:cTn id="45" dur="1" fill="hold">
                                          <p:stCondLst>
                                            <p:cond delay="0"/>
                                          </p:stCondLst>
                                        </p:cTn>
                                        <p:tgtEl>
                                          <p:spTgt spid="1182792"/>
                                        </p:tgtEl>
                                        <p:attrNameLst>
                                          <p:attrName>style.visibility</p:attrName>
                                        </p:attrNameLst>
                                      </p:cBhvr>
                                      <p:to>
                                        <p:strVal val="visible"/>
                                      </p:to>
                                    </p:set>
                                    <p:animEffect transition="in" filter="box(out)">
                                      <p:cBhvr>
                                        <p:cTn id="46" dur="500"/>
                                        <p:tgtEl>
                                          <p:spTgt spid="1182792"/>
                                        </p:tgtEl>
                                      </p:cBhvr>
                                    </p:animEffect>
                                  </p:childTnLst>
                                  <p:subTnLst>
                                    <p:audio>
                                      <p:cMediaNode>
                                        <p:cTn display="0" masterRel="sameClick">
                                          <p:stCondLst>
                                            <p:cond evt="begin" delay="0">
                                              <p:tn val="44"/>
                                            </p:cond>
                                          </p:stCondLst>
                                          <p:endCondLst>
                                            <p:cond evt="onStopAudio" delay="0">
                                              <p:tgtEl>
                                                <p:sldTgt/>
                                              </p:tgtEl>
                                            </p:cond>
                                          </p:endCondLst>
                                        </p:cTn>
                                        <p:tgtEl>
                                          <p:sndTgt r:embed="rId1" name="CAMERA.WAV"/>
                                        </p:tgtEl>
                                      </p:cMediaNode>
                                    </p:audio>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182729"/>
                                        </p:tgtEl>
                                        <p:attrNameLst>
                                          <p:attrName>style.visibility</p:attrName>
                                        </p:attrNameLst>
                                      </p:cBhvr>
                                      <p:to>
                                        <p:strVal val="visible"/>
                                      </p:to>
                                    </p:set>
                                  </p:childTnLst>
                                  <p:subTnLst>
                                    <p:set>
                                      <p:cBhvr override="childStyle">
                                        <p:cTn dur="1" fill="hold" display="0" masterRel="nextClick" afterEffect="1"/>
                                        <p:tgtEl>
                                          <p:spTgt spid="1182729"/>
                                        </p:tgtEl>
                                        <p:attrNameLst>
                                          <p:attrName>style.visibility</p:attrName>
                                        </p:attrNameLst>
                                      </p:cBhvr>
                                      <p:to>
                                        <p:strVal val="hidden"/>
                                      </p:to>
                                    </p:set>
                                    <p:audio>
                                      <p:cMediaNode>
                                        <p:cTn display="0" masterRel="sameClick">
                                          <p:stCondLst>
                                            <p:cond evt="begin" delay="0">
                                              <p:tn val="49"/>
                                            </p:cond>
                                          </p:stCondLst>
                                          <p:endCondLst>
                                            <p:cond evt="onStopAudio" delay="0">
                                              <p:tgtEl>
                                                <p:sldTgt/>
                                              </p:tgtEl>
                                            </p:cond>
                                          </p:endCondLst>
                                        </p:cTn>
                                        <p:tgtEl>
                                          <p:sndTgt r:embed="rId1" name="CAMERA.WAV"/>
                                        </p:tgtEl>
                                      </p:cMediaNode>
                                    </p:audio>
                                  </p:sub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182730"/>
                                        </p:tgtEl>
                                        <p:attrNameLst>
                                          <p:attrName>style.visibility</p:attrName>
                                        </p:attrNameLst>
                                      </p:cBhvr>
                                      <p:to>
                                        <p:strVal val="visible"/>
                                      </p:to>
                                    </p:set>
                                  </p:childTnLst>
                                  <p:subTnLst>
                                    <p:set>
                                      <p:cBhvr override="childStyle">
                                        <p:cTn dur="1" fill="hold" display="0" masterRel="nextClick" afterEffect="1"/>
                                        <p:tgtEl>
                                          <p:spTgt spid="1182730"/>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1182808"/>
                                        </p:tgtEl>
                                        <p:attrNameLst>
                                          <p:attrName>style.visibility</p:attrName>
                                        </p:attrNameLst>
                                      </p:cBhvr>
                                      <p:to>
                                        <p:strVal val="visible"/>
                                      </p:to>
                                    </p:set>
                                    <p:animEffect transition="in" filter="box(out)">
                                      <p:cBhvr>
                                        <p:cTn id="59" dur="500"/>
                                        <p:tgtEl>
                                          <p:spTgt spid="1182808"/>
                                        </p:tgtEl>
                                      </p:cBhvr>
                                    </p:animEffect>
                                  </p:childTnLst>
                                  <p:subTnLst>
                                    <p:audio>
                                      <p:cMediaNode>
                                        <p:cTn display="0" masterRel="sameClick">
                                          <p:stCondLst>
                                            <p:cond evt="begin" delay="0">
                                              <p:tn val="57"/>
                                            </p:cond>
                                          </p:stCondLst>
                                          <p:endCondLst>
                                            <p:cond evt="onStopAudio" delay="0">
                                              <p:tgtEl>
                                                <p:sldTgt/>
                                              </p:tgtEl>
                                            </p:cond>
                                          </p:endCondLst>
                                        </p:cTn>
                                        <p:tgtEl>
                                          <p:sndTgt r:embed="rId1" name="CAMERA.WAV"/>
                                        </p:tgtEl>
                                      </p:cMediaNode>
                                    </p:audio>
                                  </p:sub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1182726"/>
                                        </p:tgtEl>
                                        <p:attrNameLst>
                                          <p:attrName>style.visibility</p:attrName>
                                        </p:attrNameLst>
                                      </p:cBhvr>
                                      <p:to>
                                        <p:strVal val="visible"/>
                                      </p:to>
                                    </p:set>
                                  </p:childTnLst>
                                  <p:subTnLst>
                                    <p:set>
                                      <p:cBhvr override="childStyle">
                                        <p:cTn dur="1" fill="hold" display="0" masterRel="nextClick" afterEffect="1"/>
                                        <p:tgtEl>
                                          <p:spTgt spid="118272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2722" grpId="0" animBg="1"/>
      <p:bldP spid="1182723" grpId="0" animBg="1"/>
      <p:bldP spid="1182724" grpId="0" animBg="1"/>
      <p:bldP spid="1182725" grpId="0" animBg="1"/>
      <p:bldP spid="1182726" grpId="0" animBg="1"/>
      <p:bldP spid="1182727" grpId="0" animBg="1"/>
      <p:bldP spid="1182728" grpId="0" animBg="1"/>
      <p:bldP spid="1182729" grpId="0" animBg="1"/>
      <p:bldP spid="118273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3746" name="Rectangle 2"/>
          <p:cNvSpPr>
            <a:spLocks noChangeArrowheads="1"/>
          </p:cNvSpPr>
          <p:nvPr/>
        </p:nvSpPr>
        <p:spPr bwMode="auto">
          <a:xfrm>
            <a:off x="496888" y="5024438"/>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47" name="Rectangle 3"/>
          <p:cNvSpPr>
            <a:spLocks noChangeArrowheads="1"/>
          </p:cNvSpPr>
          <p:nvPr/>
        </p:nvSpPr>
        <p:spPr bwMode="auto">
          <a:xfrm>
            <a:off x="496888" y="2851150"/>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48" name="Rectangle 4"/>
          <p:cNvSpPr>
            <a:spLocks noChangeArrowheads="1"/>
          </p:cNvSpPr>
          <p:nvPr/>
        </p:nvSpPr>
        <p:spPr bwMode="auto">
          <a:xfrm>
            <a:off x="496888" y="3214688"/>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49" name="Rectangle 5"/>
          <p:cNvSpPr>
            <a:spLocks noChangeArrowheads="1"/>
          </p:cNvSpPr>
          <p:nvPr/>
        </p:nvSpPr>
        <p:spPr bwMode="auto">
          <a:xfrm>
            <a:off x="496888" y="358457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50" name="Rectangle 6"/>
          <p:cNvSpPr>
            <a:spLocks noChangeArrowheads="1"/>
          </p:cNvSpPr>
          <p:nvPr/>
        </p:nvSpPr>
        <p:spPr bwMode="auto">
          <a:xfrm>
            <a:off x="496888" y="3937000"/>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51" name="Rectangle 7"/>
          <p:cNvSpPr>
            <a:spLocks noChangeArrowheads="1"/>
          </p:cNvSpPr>
          <p:nvPr/>
        </p:nvSpPr>
        <p:spPr bwMode="auto">
          <a:xfrm>
            <a:off x="496888" y="2840038"/>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52" name="Rectangle 8"/>
          <p:cNvSpPr>
            <a:spLocks noChangeArrowheads="1"/>
          </p:cNvSpPr>
          <p:nvPr/>
        </p:nvSpPr>
        <p:spPr bwMode="auto">
          <a:xfrm>
            <a:off x="496888" y="3186113"/>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53" name="Rectangle 9"/>
          <p:cNvSpPr>
            <a:spLocks noChangeArrowheads="1"/>
          </p:cNvSpPr>
          <p:nvPr/>
        </p:nvSpPr>
        <p:spPr bwMode="auto">
          <a:xfrm>
            <a:off x="496888" y="3573463"/>
            <a:ext cx="4725987"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54" name="Rectangle 10"/>
          <p:cNvSpPr>
            <a:spLocks noChangeArrowheads="1"/>
          </p:cNvSpPr>
          <p:nvPr/>
        </p:nvSpPr>
        <p:spPr bwMode="auto">
          <a:xfrm>
            <a:off x="496888" y="4279900"/>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55" name="Rectangle 11"/>
          <p:cNvSpPr>
            <a:spLocks noChangeArrowheads="1"/>
          </p:cNvSpPr>
          <p:nvPr/>
        </p:nvSpPr>
        <p:spPr bwMode="auto">
          <a:xfrm>
            <a:off x="496888" y="4632325"/>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56" name="Rectangle 12"/>
          <p:cNvSpPr>
            <a:spLocks noChangeArrowheads="1"/>
          </p:cNvSpPr>
          <p:nvPr/>
        </p:nvSpPr>
        <p:spPr bwMode="auto">
          <a:xfrm>
            <a:off x="496888" y="5365750"/>
            <a:ext cx="4725987"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57" name="Text Box 13"/>
          <p:cNvSpPr txBox="1">
            <a:spLocks noChangeArrowheads="1"/>
          </p:cNvSpPr>
          <p:nvPr/>
        </p:nvSpPr>
        <p:spPr bwMode="auto">
          <a:xfrm>
            <a:off x="527050" y="193675"/>
            <a:ext cx="4749800" cy="6299200"/>
          </a:xfrm>
          <a:prstGeom prst="rect">
            <a:avLst/>
          </a:prstGeom>
          <a:noFill/>
          <a:ln>
            <a:noFill/>
          </a:ln>
          <a:effectLst/>
          <a:extLst>
            <a:ext uri="{909E8E84-426E-40DD-AFC4-6F175D3DCCD1}">
              <a14:hiddenFill xmlns:a14="http://schemas.microsoft.com/office/drawing/2010/main">
                <a:solidFill>
                  <a:srgbClr val="3399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zh-CN" altLang="en-US" sz="2400"/>
              <a:t> </a:t>
            </a:r>
            <a:r>
              <a:rPr lang="en-US" altLang="zh-CN" sz="2400"/>
              <a:t>main()</a:t>
            </a:r>
            <a:endParaRPr lang="en-US" altLang="zh-CN" sz="2400"/>
          </a:p>
          <a:p>
            <a:pPr eaLnBrk="0" hangingPunct="0"/>
            <a:r>
              <a:rPr lang="en-US" altLang="zh-CN" sz="2400"/>
              <a:t>   {   int m;</a:t>
            </a:r>
            <a:endParaRPr lang="en-US" altLang="zh-CN" sz="2400"/>
          </a:p>
          <a:p>
            <a:pPr eaLnBrk="0" hangingPunct="0"/>
            <a:r>
              <a:rPr lang="en-US" altLang="zh-CN" sz="2400"/>
              <a:t>       printf("Input the number of disks</a:t>
            </a:r>
            <a:endParaRPr lang="en-US" altLang="zh-CN" sz="2400"/>
          </a:p>
          <a:p>
            <a:pPr eaLnBrk="0" hangingPunct="0"/>
            <a:r>
              <a:rPr lang="en-US" altLang="zh-CN" sz="2400"/>
              <a:t>       scanf("%d",&amp;m);</a:t>
            </a:r>
            <a:endParaRPr lang="en-US" altLang="zh-CN" sz="2400"/>
          </a:p>
          <a:p>
            <a:pPr eaLnBrk="0" hangingPunct="0"/>
            <a:r>
              <a:rPr lang="en-US" altLang="zh-CN" sz="2400"/>
              <a:t>       printf("The steps to moving %3d</a:t>
            </a:r>
            <a:endParaRPr lang="en-US" altLang="zh-CN" sz="2400"/>
          </a:p>
          <a:p>
            <a:pPr eaLnBrk="0" hangingPunct="0"/>
            <a:r>
              <a:rPr lang="en-US" altLang="zh-CN" sz="2400"/>
              <a:t>       hanoi(m,'A','B','C');</a:t>
            </a:r>
            <a:endParaRPr lang="en-US" altLang="zh-CN" sz="2400"/>
          </a:p>
          <a:p>
            <a:pPr eaLnBrk="0" hangingPunct="0"/>
            <a:r>
              <a:rPr lang="en-US" altLang="zh-CN" sz="2400"/>
              <a:t>(0) }</a:t>
            </a:r>
            <a:endParaRPr lang="en-US" altLang="zh-CN" sz="2400"/>
          </a:p>
          <a:p>
            <a:pPr eaLnBrk="0" hangingPunct="0"/>
            <a:r>
              <a:rPr lang="en-US" altLang="zh-CN" sz="2400"/>
              <a:t>void hanoi(int n,char x,char y,char z)</a:t>
            </a:r>
            <a:endParaRPr lang="en-US" altLang="zh-CN" sz="2400"/>
          </a:p>
          <a:p>
            <a:pPr eaLnBrk="0" hangingPunct="0"/>
            <a:r>
              <a:rPr lang="en-US" altLang="zh-CN" sz="2400"/>
              <a:t>(1)  {</a:t>
            </a:r>
            <a:endParaRPr lang="en-US" altLang="zh-CN" sz="2400"/>
          </a:p>
          <a:p>
            <a:pPr eaLnBrk="0" hangingPunct="0"/>
            <a:r>
              <a:rPr lang="en-US" altLang="zh-CN" sz="2400"/>
              <a:t>(2)     if(n==1)</a:t>
            </a:r>
            <a:endParaRPr lang="en-US" altLang="zh-CN" sz="2400"/>
          </a:p>
          <a:p>
            <a:pPr eaLnBrk="0" hangingPunct="0"/>
            <a:r>
              <a:rPr lang="en-US" altLang="zh-CN" sz="2400"/>
              <a:t>(3)         move(1,x,z);</a:t>
            </a:r>
            <a:endParaRPr lang="en-US" altLang="zh-CN" sz="2400"/>
          </a:p>
          <a:p>
            <a:pPr eaLnBrk="0" hangingPunct="0"/>
            <a:r>
              <a:rPr lang="en-US" altLang="zh-CN" sz="2400"/>
              <a:t>(4)     else{</a:t>
            </a:r>
            <a:endParaRPr lang="en-US" altLang="zh-CN" sz="2400"/>
          </a:p>
          <a:p>
            <a:pPr eaLnBrk="0" hangingPunct="0"/>
            <a:r>
              <a:rPr lang="en-US" altLang="zh-CN" sz="2400"/>
              <a:t>(5)            hanoi(n-1,x,z,y);</a:t>
            </a:r>
            <a:endParaRPr lang="en-US" altLang="zh-CN" sz="2400"/>
          </a:p>
          <a:p>
            <a:pPr eaLnBrk="0" hangingPunct="0"/>
            <a:r>
              <a:rPr lang="en-US" altLang="zh-CN" sz="2400"/>
              <a:t>(6)            move(n,x,z);</a:t>
            </a:r>
            <a:endParaRPr lang="en-US" altLang="zh-CN" sz="2400"/>
          </a:p>
          <a:p>
            <a:pPr eaLnBrk="0" hangingPunct="0"/>
            <a:r>
              <a:rPr lang="en-US" altLang="zh-CN" sz="2400"/>
              <a:t>(7)            hanoi(n-1,y,x,z);</a:t>
            </a:r>
            <a:endParaRPr lang="en-US" altLang="zh-CN" sz="2400"/>
          </a:p>
          <a:p>
            <a:pPr eaLnBrk="0" hangingPunct="0"/>
            <a:r>
              <a:rPr lang="en-US" altLang="zh-CN" sz="2400"/>
              <a:t>(8)         }</a:t>
            </a:r>
            <a:endParaRPr lang="en-US" altLang="zh-CN" sz="2400"/>
          </a:p>
          <a:p>
            <a:pPr eaLnBrk="0" hangingPunct="0"/>
            <a:r>
              <a:rPr lang="en-US" altLang="zh-CN" sz="2400"/>
              <a:t>(9)  }</a:t>
            </a:r>
            <a:endParaRPr lang="en-US" altLang="zh-CN" sz="2400"/>
          </a:p>
        </p:txBody>
      </p:sp>
      <p:grpSp>
        <p:nvGrpSpPr>
          <p:cNvPr id="1183758" name="Group 14"/>
          <p:cNvGrpSpPr/>
          <p:nvPr/>
        </p:nvGrpSpPr>
        <p:grpSpPr bwMode="auto">
          <a:xfrm>
            <a:off x="5476875" y="328613"/>
            <a:ext cx="3660775" cy="1374775"/>
            <a:chOff x="694" y="1385"/>
            <a:chExt cx="3984" cy="1493"/>
          </a:xfrm>
        </p:grpSpPr>
        <p:grpSp>
          <p:nvGrpSpPr>
            <p:cNvPr id="1183759" name="Group 15"/>
            <p:cNvGrpSpPr/>
            <p:nvPr/>
          </p:nvGrpSpPr>
          <p:grpSpPr bwMode="auto">
            <a:xfrm>
              <a:off x="694" y="1385"/>
              <a:ext cx="1248" cy="1493"/>
              <a:chOff x="720" y="0"/>
              <a:chExt cx="1248" cy="1493"/>
            </a:xfrm>
          </p:grpSpPr>
          <p:grpSp>
            <p:nvGrpSpPr>
              <p:cNvPr id="1183760" name="Group 16"/>
              <p:cNvGrpSpPr/>
              <p:nvPr/>
            </p:nvGrpSpPr>
            <p:grpSpPr bwMode="auto">
              <a:xfrm>
                <a:off x="720" y="0"/>
                <a:ext cx="1248" cy="1104"/>
                <a:chOff x="720" y="0"/>
                <a:chExt cx="1248" cy="1104"/>
              </a:xfrm>
            </p:grpSpPr>
            <p:sp>
              <p:nvSpPr>
                <p:cNvPr id="1183761" name="Line 17"/>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62" name="Line 18"/>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3763" name="Text Box 19"/>
              <p:cNvSpPr txBox="1">
                <a:spLocks noChangeArrowheads="1"/>
              </p:cNvSpPr>
              <p:nvPr/>
            </p:nvSpPr>
            <p:spPr bwMode="auto">
              <a:xfrm>
                <a:off x="1116" y="1062"/>
                <a:ext cx="400" cy="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A</a:t>
                </a:r>
                <a:endParaRPr lang="en-US" altLang="zh-CN"/>
              </a:p>
            </p:txBody>
          </p:sp>
        </p:grpSp>
        <p:grpSp>
          <p:nvGrpSpPr>
            <p:cNvPr id="1183764" name="Group 20"/>
            <p:cNvGrpSpPr/>
            <p:nvPr/>
          </p:nvGrpSpPr>
          <p:grpSpPr bwMode="auto">
            <a:xfrm>
              <a:off x="2086" y="1385"/>
              <a:ext cx="1248" cy="1493"/>
              <a:chOff x="2112" y="0"/>
              <a:chExt cx="1248" cy="1493"/>
            </a:xfrm>
          </p:grpSpPr>
          <p:grpSp>
            <p:nvGrpSpPr>
              <p:cNvPr id="1183765" name="Group 21"/>
              <p:cNvGrpSpPr/>
              <p:nvPr/>
            </p:nvGrpSpPr>
            <p:grpSpPr bwMode="auto">
              <a:xfrm>
                <a:off x="2112" y="0"/>
                <a:ext cx="1248" cy="1104"/>
                <a:chOff x="720" y="0"/>
                <a:chExt cx="1248" cy="1104"/>
              </a:xfrm>
            </p:grpSpPr>
            <p:sp>
              <p:nvSpPr>
                <p:cNvPr id="1183766" name="Line 22"/>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67" name="Line 23"/>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3768" name="Text Box 24"/>
              <p:cNvSpPr txBox="1">
                <a:spLocks noChangeArrowheads="1"/>
              </p:cNvSpPr>
              <p:nvPr/>
            </p:nvSpPr>
            <p:spPr bwMode="auto">
              <a:xfrm>
                <a:off x="2515" y="1062"/>
                <a:ext cx="385" cy="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B</a:t>
                </a:r>
                <a:endParaRPr lang="en-US" altLang="zh-CN"/>
              </a:p>
            </p:txBody>
          </p:sp>
        </p:grpSp>
        <p:grpSp>
          <p:nvGrpSpPr>
            <p:cNvPr id="1183769" name="Group 25"/>
            <p:cNvGrpSpPr/>
            <p:nvPr/>
          </p:nvGrpSpPr>
          <p:grpSpPr bwMode="auto">
            <a:xfrm>
              <a:off x="3430" y="1385"/>
              <a:ext cx="1248" cy="1493"/>
              <a:chOff x="3456" y="0"/>
              <a:chExt cx="1248" cy="1493"/>
            </a:xfrm>
          </p:grpSpPr>
          <p:grpSp>
            <p:nvGrpSpPr>
              <p:cNvPr id="1183770" name="Group 26"/>
              <p:cNvGrpSpPr/>
              <p:nvPr/>
            </p:nvGrpSpPr>
            <p:grpSpPr bwMode="auto">
              <a:xfrm>
                <a:off x="3456" y="0"/>
                <a:ext cx="1248" cy="1104"/>
                <a:chOff x="720" y="0"/>
                <a:chExt cx="1248" cy="1104"/>
              </a:xfrm>
            </p:grpSpPr>
            <p:sp>
              <p:nvSpPr>
                <p:cNvPr id="1183771" name="Line 27"/>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72" name="Line 28"/>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3773" name="Text Box 29"/>
              <p:cNvSpPr txBox="1">
                <a:spLocks noChangeArrowheads="1"/>
              </p:cNvSpPr>
              <p:nvPr/>
            </p:nvSpPr>
            <p:spPr bwMode="auto">
              <a:xfrm>
                <a:off x="3856" y="1062"/>
                <a:ext cx="385" cy="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C</a:t>
                </a:r>
                <a:endParaRPr lang="en-US" altLang="zh-CN"/>
              </a:p>
            </p:txBody>
          </p:sp>
        </p:grpSp>
        <p:sp>
          <p:nvSpPr>
            <p:cNvPr id="1183774" name="Rectangle 30"/>
            <p:cNvSpPr>
              <a:spLocks noChangeArrowheads="1"/>
            </p:cNvSpPr>
            <p:nvPr/>
          </p:nvSpPr>
          <p:spPr bwMode="auto">
            <a:xfrm>
              <a:off x="2433" y="2343"/>
              <a:ext cx="480"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75" name="Rectangle 31"/>
            <p:cNvSpPr>
              <a:spLocks noChangeArrowheads="1"/>
            </p:cNvSpPr>
            <p:nvPr/>
          </p:nvSpPr>
          <p:spPr bwMode="auto">
            <a:xfrm>
              <a:off x="2520" y="2199"/>
              <a:ext cx="28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776" name="Rectangle 32"/>
            <p:cNvSpPr>
              <a:spLocks noChangeArrowheads="1"/>
            </p:cNvSpPr>
            <p:nvPr/>
          </p:nvSpPr>
          <p:spPr bwMode="auto">
            <a:xfrm>
              <a:off x="3623" y="2349"/>
              <a:ext cx="76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83777" name="Group 33"/>
          <p:cNvGrpSpPr/>
          <p:nvPr/>
        </p:nvGrpSpPr>
        <p:grpSpPr bwMode="auto">
          <a:xfrm>
            <a:off x="5927725" y="1622425"/>
            <a:ext cx="2132013" cy="1066800"/>
            <a:chOff x="4236" y="608"/>
            <a:chExt cx="1343" cy="672"/>
          </a:xfrm>
        </p:grpSpPr>
        <p:grpSp>
          <p:nvGrpSpPr>
            <p:cNvPr id="1183778" name="Group 34"/>
            <p:cNvGrpSpPr/>
            <p:nvPr/>
          </p:nvGrpSpPr>
          <p:grpSpPr bwMode="auto">
            <a:xfrm>
              <a:off x="4236" y="1020"/>
              <a:ext cx="1342" cy="260"/>
              <a:chOff x="3628" y="1745"/>
              <a:chExt cx="1342" cy="260"/>
            </a:xfrm>
          </p:grpSpPr>
          <p:sp>
            <p:nvSpPr>
              <p:cNvPr id="1183779" name="Rectangle 35"/>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3780" name="Line 36"/>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3781" name="Line 37"/>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782" name="Line 38"/>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783" name="Line 39"/>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3784" name="Group 40"/>
            <p:cNvGrpSpPr/>
            <p:nvPr/>
          </p:nvGrpSpPr>
          <p:grpSpPr bwMode="auto">
            <a:xfrm>
              <a:off x="4237" y="608"/>
              <a:ext cx="1342" cy="416"/>
              <a:chOff x="4174" y="622"/>
              <a:chExt cx="1342" cy="416"/>
            </a:xfrm>
          </p:grpSpPr>
          <p:grpSp>
            <p:nvGrpSpPr>
              <p:cNvPr id="1183785" name="Group 41"/>
              <p:cNvGrpSpPr/>
              <p:nvPr/>
            </p:nvGrpSpPr>
            <p:grpSpPr bwMode="auto">
              <a:xfrm>
                <a:off x="4174" y="778"/>
                <a:ext cx="1342" cy="260"/>
                <a:chOff x="3628" y="1745"/>
                <a:chExt cx="1342" cy="260"/>
              </a:xfrm>
            </p:grpSpPr>
            <p:sp>
              <p:nvSpPr>
                <p:cNvPr id="1183786" name="Rectangle 42"/>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B    A    C     8</a:t>
                  </a:r>
                  <a:endParaRPr lang="en-US" altLang="zh-CN"/>
                </a:p>
              </p:txBody>
            </p:sp>
            <p:sp>
              <p:nvSpPr>
                <p:cNvPr id="1183787" name="Line 43"/>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3788" name="Line 44"/>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789" name="Line 45"/>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790" name="Line 46"/>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3791" name="Line 47"/>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792" name="Line 48"/>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grpSp>
        <p:nvGrpSpPr>
          <p:cNvPr id="1183793" name="Group 49"/>
          <p:cNvGrpSpPr/>
          <p:nvPr/>
        </p:nvGrpSpPr>
        <p:grpSpPr bwMode="auto">
          <a:xfrm>
            <a:off x="5918200" y="2708275"/>
            <a:ext cx="2141538" cy="1466850"/>
            <a:chOff x="4259" y="1385"/>
            <a:chExt cx="1349" cy="924"/>
          </a:xfrm>
        </p:grpSpPr>
        <p:grpSp>
          <p:nvGrpSpPr>
            <p:cNvPr id="1183794" name="Group 50"/>
            <p:cNvGrpSpPr/>
            <p:nvPr/>
          </p:nvGrpSpPr>
          <p:grpSpPr bwMode="auto">
            <a:xfrm>
              <a:off x="4265" y="2049"/>
              <a:ext cx="1342" cy="260"/>
              <a:chOff x="3628" y="1745"/>
              <a:chExt cx="1342" cy="260"/>
            </a:xfrm>
          </p:grpSpPr>
          <p:sp>
            <p:nvSpPr>
              <p:cNvPr id="1183795" name="Rectangle 51"/>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3796" name="Line 52"/>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3797" name="Line 53"/>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798" name="Line 54"/>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799" name="Line 55"/>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3800" name="Group 56"/>
            <p:cNvGrpSpPr/>
            <p:nvPr/>
          </p:nvGrpSpPr>
          <p:grpSpPr bwMode="auto">
            <a:xfrm>
              <a:off x="4266" y="1793"/>
              <a:ext cx="1342" cy="260"/>
              <a:chOff x="3628" y="1745"/>
              <a:chExt cx="1342" cy="260"/>
            </a:xfrm>
          </p:grpSpPr>
          <p:sp>
            <p:nvSpPr>
              <p:cNvPr id="1183801" name="Rectangle 57"/>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B    A    C     8</a:t>
                </a:r>
                <a:endParaRPr lang="en-US" altLang="zh-CN"/>
              </a:p>
            </p:txBody>
          </p:sp>
          <p:sp>
            <p:nvSpPr>
              <p:cNvPr id="1183802" name="Line 58"/>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3803" name="Line 59"/>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04" name="Line 60"/>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05" name="Line 61"/>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3806" name="Group 62"/>
            <p:cNvGrpSpPr/>
            <p:nvPr/>
          </p:nvGrpSpPr>
          <p:grpSpPr bwMode="auto">
            <a:xfrm>
              <a:off x="4259" y="1385"/>
              <a:ext cx="1342" cy="416"/>
              <a:chOff x="4174" y="622"/>
              <a:chExt cx="1342" cy="416"/>
            </a:xfrm>
          </p:grpSpPr>
          <p:grpSp>
            <p:nvGrpSpPr>
              <p:cNvPr id="1183807" name="Group 63"/>
              <p:cNvGrpSpPr/>
              <p:nvPr/>
            </p:nvGrpSpPr>
            <p:grpSpPr bwMode="auto">
              <a:xfrm>
                <a:off x="4174" y="778"/>
                <a:ext cx="1342" cy="260"/>
                <a:chOff x="3628" y="1745"/>
                <a:chExt cx="1342" cy="260"/>
              </a:xfrm>
            </p:grpSpPr>
            <p:sp>
              <p:nvSpPr>
                <p:cNvPr id="1183808" name="Rectangle 64"/>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1    </a:t>
                  </a:r>
                  <a:r>
                    <a:rPr lang="en-US" altLang="zh-CN"/>
                    <a:t>B    C    A    6</a:t>
                  </a:r>
                  <a:endParaRPr lang="en-US" altLang="zh-CN"/>
                </a:p>
              </p:txBody>
            </p:sp>
            <p:sp>
              <p:nvSpPr>
                <p:cNvPr id="1183809" name="Line 65"/>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3810" name="Line 66"/>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11" name="Line 67"/>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12" name="Line 68"/>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3813" name="Line 69"/>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14" name="Line 70"/>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grpSp>
        <p:nvGrpSpPr>
          <p:cNvPr id="1183815" name="Group 71"/>
          <p:cNvGrpSpPr/>
          <p:nvPr/>
        </p:nvGrpSpPr>
        <p:grpSpPr bwMode="auto">
          <a:xfrm>
            <a:off x="5464175" y="4314825"/>
            <a:ext cx="3395663" cy="1228725"/>
            <a:chOff x="690" y="2918"/>
            <a:chExt cx="3984" cy="1525"/>
          </a:xfrm>
        </p:grpSpPr>
        <p:grpSp>
          <p:nvGrpSpPr>
            <p:cNvPr id="1183816" name="Group 72"/>
            <p:cNvGrpSpPr/>
            <p:nvPr/>
          </p:nvGrpSpPr>
          <p:grpSpPr bwMode="auto">
            <a:xfrm>
              <a:off x="690" y="2918"/>
              <a:ext cx="1248" cy="1525"/>
              <a:chOff x="720" y="0"/>
              <a:chExt cx="1248" cy="1525"/>
            </a:xfrm>
          </p:grpSpPr>
          <p:grpSp>
            <p:nvGrpSpPr>
              <p:cNvPr id="1183817" name="Group 73"/>
              <p:cNvGrpSpPr/>
              <p:nvPr/>
            </p:nvGrpSpPr>
            <p:grpSpPr bwMode="auto">
              <a:xfrm>
                <a:off x="720" y="0"/>
                <a:ext cx="1248" cy="1104"/>
                <a:chOff x="720" y="0"/>
                <a:chExt cx="1248" cy="1104"/>
              </a:xfrm>
            </p:grpSpPr>
            <p:sp>
              <p:nvSpPr>
                <p:cNvPr id="1183818" name="Line 74"/>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819" name="Line 75"/>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3820" name="Text Box 76"/>
              <p:cNvSpPr txBox="1">
                <a:spLocks noChangeArrowheads="1"/>
              </p:cNvSpPr>
              <p:nvPr/>
            </p:nvSpPr>
            <p:spPr bwMode="auto">
              <a:xfrm>
                <a:off x="1100" y="1032"/>
                <a:ext cx="432" cy="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A</a:t>
                </a:r>
                <a:endParaRPr lang="en-US" altLang="zh-CN"/>
              </a:p>
            </p:txBody>
          </p:sp>
        </p:grpSp>
        <p:grpSp>
          <p:nvGrpSpPr>
            <p:cNvPr id="1183821" name="Group 77"/>
            <p:cNvGrpSpPr/>
            <p:nvPr/>
          </p:nvGrpSpPr>
          <p:grpSpPr bwMode="auto">
            <a:xfrm>
              <a:off x="2082" y="2918"/>
              <a:ext cx="1248" cy="1525"/>
              <a:chOff x="2112" y="0"/>
              <a:chExt cx="1248" cy="1525"/>
            </a:xfrm>
          </p:grpSpPr>
          <p:grpSp>
            <p:nvGrpSpPr>
              <p:cNvPr id="1183822" name="Group 78"/>
              <p:cNvGrpSpPr/>
              <p:nvPr/>
            </p:nvGrpSpPr>
            <p:grpSpPr bwMode="auto">
              <a:xfrm>
                <a:off x="2112" y="0"/>
                <a:ext cx="1248" cy="1104"/>
                <a:chOff x="720" y="0"/>
                <a:chExt cx="1248" cy="1104"/>
              </a:xfrm>
            </p:grpSpPr>
            <p:sp>
              <p:nvSpPr>
                <p:cNvPr id="1183823" name="Line 79"/>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824" name="Line 80"/>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3825" name="Text Box 81"/>
              <p:cNvSpPr txBox="1">
                <a:spLocks noChangeArrowheads="1"/>
              </p:cNvSpPr>
              <p:nvPr/>
            </p:nvSpPr>
            <p:spPr bwMode="auto">
              <a:xfrm>
                <a:off x="2501" y="1032"/>
                <a:ext cx="415" cy="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B</a:t>
                </a:r>
                <a:endParaRPr lang="en-US" altLang="zh-CN"/>
              </a:p>
            </p:txBody>
          </p:sp>
        </p:grpSp>
        <p:grpSp>
          <p:nvGrpSpPr>
            <p:cNvPr id="1183826" name="Group 82"/>
            <p:cNvGrpSpPr/>
            <p:nvPr/>
          </p:nvGrpSpPr>
          <p:grpSpPr bwMode="auto">
            <a:xfrm>
              <a:off x="3426" y="2918"/>
              <a:ext cx="1248" cy="1525"/>
              <a:chOff x="3456" y="0"/>
              <a:chExt cx="1248" cy="1525"/>
            </a:xfrm>
          </p:grpSpPr>
          <p:grpSp>
            <p:nvGrpSpPr>
              <p:cNvPr id="1183827" name="Group 83"/>
              <p:cNvGrpSpPr/>
              <p:nvPr/>
            </p:nvGrpSpPr>
            <p:grpSpPr bwMode="auto">
              <a:xfrm>
                <a:off x="3456" y="0"/>
                <a:ext cx="1248" cy="1104"/>
                <a:chOff x="720" y="0"/>
                <a:chExt cx="1248" cy="1104"/>
              </a:xfrm>
            </p:grpSpPr>
            <p:sp>
              <p:nvSpPr>
                <p:cNvPr id="1183828" name="Line 84"/>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829" name="Line 85"/>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3830" name="Text Box 86"/>
              <p:cNvSpPr txBox="1">
                <a:spLocks noChangeArrowheads="1"/>
              </p:cNvSpPr>
              <p:nvPr/>
            </p:nvSpPr>
            <p:spPr bwMode="auto">
              <a:xfrm>
                <a:off x="3840" y="1033"/>
                <a:ext cx="415" cy="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C</a:t>
                </a:r>
                <a:endParaRPr lang="en-US" altLang="zh-CN"/>
              </a:p>
            </p:txBody>
          </p:sp>
        </p:grpSp>
        <p:sp>
          <p:nvSpPr>
            <p:cNvPr id="1183831" name="Rectangle 87"/>
            <p:cNvSpPr>
              <a:spLocks noChangeArrowheads="1"/>
            </p:cNvSpPr>
            <p:nvPr/>
          </p:nvSpPr>
          <p:spPr bwMode="auto">
            <a:xfrm>
              <a:off x="2429" y="3876"/>
              <a:ext cx="480"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832" name="Rectangle 88"/>
            <p:cNvSpPr>
              <a:spLocks noChangeArrowheads="1"/>
            </p:cNvSpPr>
            <p:nvPr/>
          </p:nvSpPr>
          <p:spPr bwMode="auto">
            <a:xfrm>
              <a:off x="3619" y="3882"/>
              <a:ext cx="76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833" name="Rectangle 89"/>
            <p:cNvSpPr>
              <a:spLocks noChangeArrowheads="1"/>
            </p:cNvSpPr>
            <p:nvPr/>
          </p:nvSpPr>
          <p:spPr bwMode="auto">
            <a:xfrm>
              <a:off x="1135" y="3882"/>
              <a:ext cx="28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83834" name="Group 90"/>
          <p:cNvGrpSpPr/>
          <p:nvPr/>
        </p:nvGrpSpPr>
        <p:grpSpPr bwMode="auto">
          <a:xfrm>
            <a:off x="5910263" y="5451475"/>
            <a:ext cx="2132012" cy="1066800"/>
            <a:chOff x="4236" y="608"/>
            <a:chExt cx="1343" cy="672"/>
          </a:xfrm>
        </p:grpSpPr>
        <p:grpSp>
          <p:nvGrpSpPr>
            <p:cNvPr id="1183835" name="Group 91"/>
            <p:cNvGrpSpPr/>
            <p:nvPr/>
          </p:nvGrpSpPr>
          <p:grpSpPr bwMode="auto">
            <a:xfrm>
              <a:off x="4236" y="1020"/>
              <a:ext cx="1342" cy="260"/>
              <a:chOff x="3628" y="1745"/>
              <a:chExt cx="1342" cy="260"/>
            </a:xfrm>
          </p:grpSpPr>
          <p:sp>
            <p:nvSpPr>
              <p:cNvPr id="1183836" name="Rectangle 92"/>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3837" name="Line 93"/>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3838" name="Line 94"/>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39" name="Line 95"/>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40" name="Line 96"/>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3841" name="Group 97"/>
            <p:cNvGrpSpPr/>
            <p:nvPr/>
          </p:nvGrpSpPr>
          <p:grpSpPr bwMode="auto">
            <a:xfrm>
              <a:off x="4237" y="608"/>
              <a:ext cx="1342" cy="416"/>
              <a:chOff x="4174" y="622"/>
              <a:chExt cx="1342" cy="416"/>
            </a:xfrm>
          </p:grpSpPr>
          <p:grpSp>
            <p:nvGrpSpPr>
              <p:cNvPr id="1183842" name="Group 98"/>
              <p:cNvGrpSpPr/>
              <p:nvPr/>
            </p:nvGrpSpPr>
            <p:grpSpPr bwMode="auto">
              <a:xfrm>
                <a:off x="4174" y="778"/>
                <a:ext cx="1342" cy="260"/>
                <a:chOff x="3628" y="1745"/>
                <a:chExt cx="1342" cy="260"/>
              </a:xfrm>
            </p:grpSpPr>
            <p:sp>
              <p:nvSpPr>
                <p:cNvPr id="1183843" name="Rectangle 99"/>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B    A    C     8</a:t>
                  </a:r>
                  <a:endParaRPr lang="en-US" altLang="zh-CN"/>
                </a:p>
              </p:txBody>
            </p:sp>
            <p:sp>
              <p:nvSpPr>
                <p:cNvPr id="1183844" name="Line 100"/>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3845" name="Line 101"/>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46" name="Line 102"/>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47" name="Line 103"/>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3848" name="Line 104"/>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49" name="Line 105"/>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sp>
        <p:nvSpPr>
          <p:cNvPr id="1183850" name="AutoShape 106">
            <a:hlinkClick r:id="" action="ppaction://hlinkshowjump?jump=previousslide" highlightClick="1"/>
          </p:cNvPr>
          <p:cNvSpPr>
            <a:spLocks noChangeArrowheads="1"/>
          </p:cNvSpPr>
          <p:nvPr/>
        </p:nvSpPr>
        <p:spPr bwMode="auto">
          <a:xfrm>
            <a:off x="8105775" y="6296025"/>
            <a:ext cx="390525" cy="334963"/>
          </a:xfrm>
          <a:prstGeom prst="actionButtonBackPrevious">
            <a:avLst/>
          </a:prstGeom>
          <a:noFill/>
          <a:ln w="9525">
            <a:solidFill>
              <a:schemeClr val="tx1"/>
            </a:solidFill>
            <a:miter lim="800000"/>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3851" name="AutoShape 107">
            <a:hlinkClick r:id="" action="ppaction://hlinkshowjump?jump=nextslide" highlightClick="1"/>
          </p:cNvPr>
          <p:cNvSpPr>
            <a:spLocks noChangeArrowheads="1"/>
          </p:cNvSpPr>
          <p:nvPr/>
        </p:nvSpPr>
        <p:spPr bwMode="auto">
          <a:xfrm>
            <a:off x="8478838" y="6296025"/>
            <a:ext cx="423862" cy="334963"/>
          </a:xfrm>
          <a:prstGeom prst="actionButtonForwardNext">
            <a:avLst/>
          </a:prstGeom>
          <a:noFill/>
          <a:ln w="9525">
            <a:solidFill>
              <a:schemeClr val="tx1"/>
            </a:solidFill>
            <a:miter lim="800000"/>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1183852" name="Group 108"/>
          <p:cNvGrpSpPr/>
          <p:nvPr/>
        </p:nvGrpSpPr>
        <p:grpSpPr bwMode="auto">
          <a:xfrm>
            <a:off x="3481388" y="249238"/>
            <a:ext cx="2130425" cy="660400"/>
            <a:chOff x="4174" y="622"/>
            <a:chExt cx="1342" cy="416"/>
          </a:xfrm>
        </p:grpSpPr>
        <p:grpSp>
          <p:nvGrpSpPr>
            <p:cNvPr id="1183853" name="Group 109"/>
            <p:cNvGrpSpPr/>
            <p:nvPr/>
          </p:nvGrpSpPr>
          <p:grpSpPr bwMode="auto">
            <a:xfrm>
              <a:off x="4174" y="778"/>
              <a:ext cx="1342" cy="260"/>
              <a:chOff x="3628" y="1745"/>
              <a:chExt cx="1342" cy="260"/>
            </a:xfrm>
          </p:grpSpPr>
          <p:sp>
            <p:nvSpPr>
              <p:cNvPr id="1183854" name="Rectangle 110"/>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3855" name="Line 111"/>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3856" name="Line 112"/>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57" name="Line 113"/>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58" name="Line 114"/>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3859" name="Line 115"/>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3860" name="Line 116"/>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83758"/>
                                        </p:tgtEl>
                                        <p:attrNameLst>
                                          <p:attrName>style.visibility</p:attrName>
                                        </p:attrNameLst>
                                      </p:cBhvr>
                                      <p:to>
                                        <p:strVal val="visible"/>
                                      </p:to>
                                    </p:set>
                                    <p:animEffect transition="in" filter="box(out)">
                                      <p:cBhvr>
                                        <p:cTn id="7" dur="500"/>
                                        <p:tgtEl>
                                          <p:spTgt spid="1183758"/>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83756"/>
                                        </p:tgtEl>
                                        <p:attrNameLst>
                                          <p:attrName>style.visibility</p:attrName>
                                        </p:attrNameLst>
                                      </p:cBhvr>
                                      <p:to>
                                        <p:strVal val="visible"/>
                                      </p:to>
                                    </p:set>
                                  </p:childTnLst>
                                  <p:subTnLst>
                                    <p:set>
                                      <p:cBhvr override="childStyle">
                                        <p:cTn dur="1" fill="hold" display="0" masterRel="nextClick" afterEffect="1"/>
                                        <p:tgtEl>
                                          <p:spTgt spid="1183756"/>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1183777"/>
                                        </p:tgtEl>
                                        <p:attrNameLst>
                                          <p:attrName>style.visibility</p:attrName>
                                        </p:attrNameLst>
                                      </p:cBhvr>
                                      <p:to>
                                        <p:strVal val="visible"/>
                                      </p:to>
                                    </p:set>
                                    <p:animEffect transition="in" filter="box(out)">
                                      <p:cBhvr>
                                        <p:cTn id="16" dur="500"/>
                                        <p:tgtEl>
                                          <p:spTgt spid="1183777"/>
                                        </p:tgtEl>
                                      </p:cBhvr>
                                    </p:animEffect>
                                  </p:childTnLst>
                                  <p:subTnLst>
                                    <p:audio>
                                      <p:cMediaNode>
                                        <p:cTn display="0" masterRel="sameClick">
                                          <p:stCondLst>
                                            <p:cond evt="begin" delay="0">
                                              <p:tn val="14"/>
                                            </p:cond>
                                          </p:stCondLst>
                                          <p:endCondLst>
                                            <p:cond evt="onStopAudio" delay="0">
                                              <p:tgtEl>
                                                <p:sldTgt/>
                                              </p:tgtEl>
                                            </p:cond>
                                          </p:endCondLst>
                                        </p:cTn>
                                        <p:tgtEl>
                                          <p:sndTgt r:embed="rId1"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183751"/>
                                        </p:tgtEl>
                                        <p:attrNameLst>
                                          <p:attrName>style.visibility</p:attrName>
                                        </p:attrNameLst>
                                      </p:cBhvr>
                                      <p:to>
                                        <p:strVal val="visible"/>
                                      </p:to>
                                    </p:set>
                                  </p:childTnLst>
                                  <p:subTnLst>
                                    <p:set>
                                      <p:cBhvr override="childStyle">
                                        <p:cTn dur="1" fill="hold" display="0" masterRel="nextClick" afterEffect="1"/>
                                        <p:tgtEl>
                                          <p:spTgt spid="1183751"/>
                                        </p:tgtEl>
                                        <p:attrNameLst>
                                          <p:attrName>style.visibility</p:attrName>
                                        </p:attrNameLst>
                                      </p:cBhvr>
                                      <p:to>
                                        <p:strVal val="hidden"/>
                                      </p:to>
                                    </p:set>
                                    <p:audio>
                                      <p:cMediaNode>
                                        <p:cTn display="0" masterRel="sameClick">
                                          <p:stCondLst>
                                            <p:cond evt="begin" delay="0">
                                              <p:tn val="19"/>
                                            </p:cond>
                                          </p:stCondLst>
                                          <p:endCondLst>
                                            <p:cond evt="onStopAudio" delay="0">
                                              <p:tgtEl>
                                                <p:sldTgt/>
                                              </p:tgtEl>
                                            </p:cond>
                                          </p:endCondLst>
                                        </p:cTn>
                                        <p:tgtEl>
                                          <p:sndTgt r:embed="rId1"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183752"/>
                                        </p:tgtEl>
                                        <p:attrNameLst>
                                          <p:attrName>style.visibility</p:attrName>
                                        </p:attrNameLst>
                                      </p:cBhvr>
                                      <p:to>
                                        <p:strVal val="visible"/>
                                      </p:to>
                                    </p:set>
                                  </p:childTnLst>
                                  <p:subTnLst>
                                    <p:set>
                                      <p:cBhvr override="childStyle">
                                        <p:cTn dur="1" fill="hold" display="0" masterRel="nextClick" afterEffect="1"/>
                                        <p:tgtEl>
                                          <p:spTgt spid="1183752"/>
                                        </p:tgtEl>
                                        <p:attrNameLst>
                                          <p:attrName>style.visibility</p:attrName>
                                        </p:attrNameLst>
                                      </p:cBhvr>
                                      <p:to>
                                        <p:strVal val="hidden"/>
                                      </p:to>
                                    </p:set>
                                    <p:audio>
                                      <p:cMediaNode>
                                        <p:cTn display="0" masterRel="sameClick">
                                          <p:stCondLst>
                                            <p:cond evt="begin" delay="0">
                                              <p:tn val="23"/>
                                            </p:cond>
                                          </p:stCondLst>
                                          <p:endCondLst>
                                            <p:cond evt="onStopAudio" delay="0">
                                              <p:tgtEl>
                                                <p:sldTgt/>
                                              </p:tgtEl>
                                            </p:cond>
                                          </p:endCondLst>
                                        </p:cTn>
                                        <p:tgtEl>
                                          <p:sndTgt r:embed="rId1"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183753"/>
                                        </p:tgtEl>
                                        <p:attrNameLst>
                                          <p:attrName>style.visibility</p:attrName>
                                        </p:attrNameLst>
                                      </p:cBhvr>
                                      <p:to>
                                        <p:strVal val="visible"/>
                                      </p:to>
                                    </p:set>
                                  </p:childTnLst>
                                  <p:subTnLst>
                                    <p:set>
                                      <p:cBhvr override="childStyle">
                                        <p:cTn dur="1" fill="hold" display="0" masterRel="nextClick" afterEffect="1"/>
                                        <p:tgtEl>
                                          <p:spTgt spid="1183753"/>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1"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183754"/>
                                        </p:tgtEl>
                                        <p:attrNameLst>
                                          <p:attrName>style.visibility</p:attrName>
                                        </p:attrNameLst>
                                      </p:cBhvr>
                                      <p:to>
                                        <p:strVal val="visible"/>
                                      </p:to>
                                    </p:set>
                                  </p:childTnLst>
                                  <p:subTnLst>
                                    <p:set>
                                      <p:cBhvr override="childStyle">
                                        <p:cTn dur="1" fill="hold" display="0" masterRel="nextClick" afterEffect="1"/>
                                        <p:tgtEl>
                                          <p:spTgt spid="1183754"/>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1"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183755"/>
                                        </p:tgtEl>
                                        <p:attrNameLst>
                                          <p:attrName>style.visibility</p:attrName>
                                        </p:attrNameLst>
                                      </p:cBhvr>
                                      <p:to>
                                        <p:strVal val="visible"/>
                                      </p:to>
                                    </p:set>
                                  </p:childTnLst>
                                  <p:subTnLst>
                                    <p:set>
                                      <p:cBhvr override="childStyle">
                                        <p:cTn dur="1" fill="hold" display="0" masterRel="nextClick" afterEffect="1"/>
                                        <p:tgtEl>
                                          <p:spTgt spid="1183755"/>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1"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183793"/>
                                        </p:tgtEl>
                                        <p:attrNameLst>
                                          <p:attrName>style.visibility</p:attrName>
                                        </p:attrNameLst>
                                      </p:cBhvr>
                                      <p:to>
                                        <p:strVal val="visible"/>
                                      </p:to>
                                    </p:set>
                                    <p:animEffect transition="in" filter="box(out)">
                                      <p:cBhvr>
                                        <p:cTn id="41" dur="500"/>
                                        <p:tgtEl>
                                          <p:spTgt spid="1183793"/>
                                        </p:tgtEl>
                                      </p:cBhvr>
                                    </p:animEffect>
                                  </p:childTnLst>
                                  <p:subTnLst>
                                    <p:audio>
                                      <p:cMediaNode>
                                        <p:cTn display="0" masterRel="sameClick">
                                          <p:stCondLst>
                                            <p:cond evt="begin" delay="0">
                                              <p:tn val="39"/>
                                            </p:cond>
                                          </p:stCondLst>
                                          <p:endCondLst>
                                            <p:cond evt="onStopAudio" delay="0">
                                              <p:tgtEl>
                                                <p:sldTgt/>
                                              </p:tgtEl>
                                            </p:cond>
                                          </p:endCondLst>
                                        </p:cTn>
                                        <p:tgtEl>
                                          <p:sndTgt r:embed="rId1"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1183747"/>
                                        </p:tgtEl>
                                        <p:attrNameLst>
                                          <p:attrName>style.visibility</p:attrName>
                                        </p:attrNameLst>
                                      </p:cBhvr>
                                      <p:to>
                                        <p:strVal val="visible"/>
                                      </p:to>
                                    </p:set>
                                  </p:childTnLst>
                                  <p:subTnLst>
                                    <p:set>
                                      <p:cBhvr override="childStyle">
                                        <p:cTn dur="1" fill="hold" display="0" masterRel="nextClick" afterEffect="1"/>
                                        <p:tgtEl>
                                          <p:spTgt spid="1183747"/>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1" name="CAMERA.WAV"/>
                                        </p:tgtEl>
                                      </p:cMediaNode>
                                    </p:audio>
                                  </p:sub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1183748"/>
                                        </p:tgtEl>
                                        <p:attrNameLst>
                                          <p:attrName>style.visibility</p:attrName>
                                        </p:attrNameLst>
                                      </p:cBhvr>
                                      <p:to>
                                        <p:strVal val="visible"/>
                                      </p:to>
                                    </p:set>
                                  </p:childTnLst>
                                  <p:subTnLst>
                                    <p:set>
                                      <p:cBhvr override="childStyle">
                                        <p:cTn dur="1" fill="hold" display="0" masterRel="nextClick" afterEffect="1"/>
                                        <p:tgtEl>
                                          <p:spTgt spid="1183748"/>
                                        </p:tgtEl>
                                        <p:attrNameLst>
                                          <p:attrName>style.visibility</p:attrName>
                                        </p:attrNameLst>
                                      </p:cBhvr>
                                      <p:to>
                                        <p:strVal val="hidden"/>
                                      </p:to>
                                    </p:set>
                                    <p:audio>
                                      <p:cMediaNode>
                                        <p:cTn display="0" masterRel="sameClick">
                                          <p:stCondLst>
                                            <p:cond evt="begin" delay="0">
                                              <p:tn val="48"/>
                                            </p:cond>
                                          </p:stCondLst>
                                          <p:endCondLst>
                                            <p:cond evt="onStopAudio" delay="0">
                                              <p:tgtEl>
                                                <p:sldTgt/>
                                              </p:tgtEl>
                                            </p:cond>
                                          </p:endCondLst>
                                        </p:cTn>
                                        <p:tgtEl>
                                          <p:sndTgt r:embed="rId1" name="CAMERA.WAV"/>
                                        </p:tgtEl>
                                      </p:cMediaNode>
                                    </p:audio>
                                  </p:sub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1183749"/>
                                        </p:tgtEl>
                                        <p:attrNameLst>
                                          <p:attrName>style.visibility</p:attrName>
                                        </p:attrNameLst>
                                      </p:cBhvr>
                                      <p:to>
                                        <p:strVal val="visible"/>
                                      </p:to>
                                    </p:set>
                                  </p:childTnLst>
                                  <p:subTnLst>
                                    <p:set>
                                      <p:cBhvr override="childStyle">
                                        <p:cTn dur="1" fill="hold" display="0" masterRel="nextClick" afterEffect="1"/>
                                        <p:tgtEl>
                                          <p:spTgt spid="1183749"/>
                                        </p:tgtEl>
                                        <p:attrNameLst>
                                          <p:attrName>style.visibility</p:attrName>
                                        </p:attrNameLst>
                                      </p:cBhvr>
                                      <p:to>
                                        <p:strVal val="hidden"/>
                                      </p:to>
                                    </p:set>
                                    <p:audio>
                                      <p:cMediaNode>
                                        <p:cTn display="0" masterRel="sameClick">
                                          <p:stCondLst>
                                            <p:cond evt="begin" delay="0">
                                              <p:tn val="52"/>
                                            </p:cond>
                                          </p:stCondLst>
                                          <p:endCondLst>
                                            <p:cond evt="onStopAudio" delay="0">
                                              <p:tgtEl>
                                                <p:sldTgt/>
                                              </p:tgtEl>
                                            </p:cond>
                                          </p:endCondLst>
                                        </p:cTn>
                                        <p:tgtEl>
                                          <p:sndTgt r:embed="rId1" name="CAMERA.WAV"/>
                                        </p:tgtEl>
                                      </p:cMediaNode>
                                    </p:audio>
                                  </p:sub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1183750"/>
                                        </p:tgtEl>
                                        <p:attrNameLst>
                                          <p:attrName>style.visibility</p:attrName>
                                        </p:attrNameLst>
                                      </p:cBhvr>
                                      <p:to>
                                        <p:strVal val="visible"/>
                                      </p:to>
                                    </p:set>
                                  </p:childTnLst>
                                  <p:subTnLst>
                                    <p:set>
                                      <p:cBhvr override="childStyle">
                                        <p:cTn dur="1" fill="hold" display="0" masterRel="nextClick" afterEffect="1"/>
                                        <p:tgtEl>
                                          <p:spTgt spid="1183750"/>
                                        </p:tgtEl>
                                        <p:attrNameLst>
                                          <p:attrName>style.visibility</p:attrName>
                                        </p:attrNameLst>
                                      </p:cBhvr>
                                      <p:to>
                                        <p:strVal val="hidden"/>
                                      </p:to>
                                    </p:set>
                                    <p:audio>
                                      <p:cMediaNode>
                                        <p:cTn display="0" masterRel="sameClick">
                                          <p:stCondLst>
                                            <p:cond evt="begin" delay="0">
                                              <p:tn val="56"/>
                                            </p:cond>
                                          </p:stCondLst>
                                          <p:endCondLst>
                                            <p:cond evt="onStopAudio" delay="0">
                                              <p:tgtEl>
                                                <p:sldTgt/>
                                              </p:tgtEl>
                                            </p:cond>
                                          </p:endCondLst>
                                        </p:cTn>
                                        <p:tgtEl>
                                          <p:sndTgt r:embed="rId1"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1183815"/>
                                        </p:tgtEl>
                                        <p:attrNameLst>
                                          <p:attrName>style.visibility</p:attrName>
                                        </p:attrNameLst>
                                      </p:cBhvr>
                                      <p:to>
                                        <p:strVal val="visible"/>
                                      </p:to>
                                    </p:set>
                                    <p:animEffect transition="in" filter="box(out)">
                                      <p:cBhvr>
                                        <p:cTn id="62" dur="500"/>
                                        <p:tgtEl>
                                          <p:spTgt spid="1183815"/>
                                        </p:tgtEl>
                                      </p:cBhvr>
                                    </p:animEffect>
                                  </p:childTnLst>
                                  <p:subTnLst>
                                    <p:audio>
                                      <p:cMediaNode>
                                        <p:cTn display="0" masterRel="sameClick">
                                          <p:stCondLst>
                                            <p:cond evt="begin" delay="0">
                                              <p:tn val="60"/>
                                            </p:cond>
                                          </p:stCondLst>
                                          <p:endCondLst>
                                            <p:cond evt="onStopAudio" delay="0">
                                              <p:tgtEl>
                                                <p:sldTgt/>
                                              </p:tgtEl>
                                            </p:cond>
                                          </p:endCondLst>
                                        </p:cTn>
                                        <p:tgtEl>
                                          <p:sndTgt r:embed="rId1"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1183834"/>
                                        </p:tgtEl>
                                        <p:attrNameLst>
                                          <p:attrName>style.visibility</p:attrName>
                                        </p:attrNameLst>
                                      </p:cBhvr>
                                      <p:to>
                                        <p:strVal val="visible"/>
                                      </p:to>
                                    </p:set>
                                    <p:animEffect transition="in" filter="box(out)">
                                      <p:cBhvr>
                                        <p:cTn id="67" dur="500"/>
                                        <p:tgtEl>
                                          <p:spTgt spid="1183834"/>
                                        </p:tgtEl>
                                      </p:cBhvr>
                                    </p:animEffect>
                                  </p:childTnLst>
                                  <p:subTnLst>
                                    <p:audio>
                                      <p:cMediaNode>
                                        <p:cTn display="0" masterRel="sameClick">
                                          <p:stCondLst>
                                            <p:cond evt="begin" delay="0">
                                              <p:tn val="65"/>
                                            </p:cond>
                                          </p:stCondLst>
                                          <p:endCondLst>
                                            <p:cond evt="onStopAudio" delay="0">
                                              <p:tgtEl>
                                                <p:sldTgt/>
                                              </p:tgtEl>
                                            </p:cond>
                                          </p:endCondLst>
                                        </p:cTn>
                                        <p:tgtEl>
                                          <p:sndTgt r:embed="rId1" name="CAMERA.WAV"/>
                                        </p:tgtEl>
                                      </p:cMediaNode>
                                    </p:audio>
                                  </p:sub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1183746"/>
                                        </p:tgtEl>
                                        <p:attrNameLst>
                                          <p:attrName>style.visibility</p:attrName>
                                        </p:attrNameLst>
                                      </p:cBhvr>
                                      <p:to>
                                        <p:strVal val="visible"/>
                                      </p:to>
                                    </p:set>
                                  </p:childTnLst>
                                  <p:subTnLst>
                                    <p:set>
                                      <p:cBhvr override="childStyle">
                                        <p:cTn dur="1" fill="hold" display="0" masterRel="nextClick" afterEffect="1"/>
                                        <p:tgtEl>
                                          <p:spTgt spid="118374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3746" grpId="0" animBg="1"/>
      <p:bldP spid="1183747" grpId="0" animBg="1"/>
      <p:bldP spid="1183748" grpId="0" animBg="1"/>
      <p:bldP spid="1183749" grpId="0" animBg="1"/>
      <p:bldP spid="1183750" grpId="0" animBg="1"/>
      <p:bldP spid="1183751" grpId="0" animBg="1"/>
      <p:bldP spid="1183752" grpId="0" animBg="1"/>
      <p:bldP spid="1183753" grpId="0" animBg="1"/>
      <p:bldP spid="1183754" grpId="0" animBg="1"/>
      <p:bldP spid="1183755" grpId="0" animBg="1"/>
      <p:bldP spid="118375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Rectangle 2"/>
          <p:cNvSpPr>
            <a:spLocks noChangeArrowheads="1"/>
          </p:cNvSpPr>
          <p:nvPr/>
        </p:nvSpPr>
        <p:spPr bwMode="auto">
          <a:xfrm>
            <a:off x="488950" y="5732463"/>
            <a:ext cx="4743450" cy="369887"/>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71" name="Rectangle 3"/>
          <p:cNvSpPr>
            <a:spLocks noChangeArrowheads="1"/>
          </p:cNvSpPr>
          <p:nvPr/>
        </p:nvSpPr>
        <p:spPr bwMode="auto">
          <a:xfrm>
            <a:off x="488950" y="6078538"/>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72" name="Rectangle 4"/>
          <p:cNvSpPr>
            <a:spLocks noChangeArrowheads="1"/>
          </p:cNvSpPr>
          <p:nvPr/>
        </p:nvSpPr>
        <p:spPr bwMode="auto">
          <a:xfrm>
            <a:off x="488950" y="5738813"/>
            <a:ext cx="4743450" cy="369887"/>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73" name="Rectangle 5"/>
          <p:cNvSpPr>
            <a:spLocks noChangeArrowheads="1"/>
          </p:cNvSpPr>
          <p:nvPr/>
        </p:nvSpPr>
        <p:spPr bwMode="auto">
          <a:xfrm>
            <a:off x="488950" y="6100763"/>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74" name="Rectangle 6"/>
          <p:cNvSpPr>
            <a:spLocks noChangeArrowheads="1"/>
          </p:cNvSpPr>
          <p:nvPr/>
        </p:nvSpPr>
        <p:spPr bwMode="auto">
          <a:xfrm>
            <a:off x="488950" y="2414588"/>
            <a:ext cx="4689475" cy="387350"/>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75" name="Rectangle 7"/>
          <p:cNvSpPr>
            <a:spLocks noChangeArrowheads="1"/>
          </p:cNvSpPr>
          <p:nvPr/>
        </p:nvSpPr>
        <p:spPr bwMode="auto">
          <a:xfrm>
            <a:off x="488950" y="2803525"/>
            <a:ext cx="4725988"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76" name="Rectangle 8"/>
          <p:cNvSpPr>
            <a:spLocks noChangeArrowheads="1"/>
          </p:cNvSpPr>
          <p:nvPr/>
        </p:nvSpPr>
        <p:spPr bwMode="auto">
          <a:xfrm>
            <a:off x="488950" y="3167063"/>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77" name="Rectangle 9"/>
          <p:cNvSpPr>
            <a:spLocks noChangeArrowheads="1"/>
          </p:cNvSpPr>
          <p:nvPr/>
        </p:nvSpPr>
        <p:spPr bwMode="auto">
          <a:xfrm>
            <a:off x="488950" y="3513138"/>
            <a:ext cx="4725988"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78" name="Rectangle 10"/>
          <p:cNvSpPr>
            <a:spLocks noChangeArrowheads="1"/>
          </p:cNvSpPr>
          <p:nvPr/>
        </p:nvSpPr>
        <p:spPr bwMode="auto">
          <a:xfrm>
            <a:off x="488950" y="3883025"/>
            <a:ext cx="4725988" cy="334963"/>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79" name="Rectangle 11"/>
          <p:cNvSpPr>
            <a:spLocks noChangeArrowheads="1"/>
          </p:cNvSpPr>
          <p:nvPr/>
        </p:nvSpPr>
        <p:spPr bwMode="auto">
          <a:xfrm>
            <a:off x="488950" y="5383213"/>
            <a:ext cx="4741863" cy="334962"/>
          </a:xfrm>
          <a:prstGeom prst="rect">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80" name="Text Box 12"/>
          <p:cNvSpPr txBox="1">
            <a:spLocks noChangeArrowheads="1"/>
          </p:cNvSpPr>
          <p:nvPr/>
        </p:nvSpPr>
        <p:spPr bwMode="auto">
          <a:xfrm>
            <a:off x="527050" y="193675"/>
            <a:ext cx="4749800" cy="6299200"/>
          </a:xfrm>
          <a:prstGeom prst="rect">
            <a:avLst/>
          </a:prstGeom>
          <a:noFill/>
          <a:ln>
            <a:noFill/>
          </a:ln>
          <a:effectLst/>
          <a:extLst>
            <a:ext uri="{909E8E84-426E-40DD-AFC4-6F175D3DCCD1}">
              <a14:hiddenFill xmlns:a14="http://schemas.microsoft.com/office/drawing/2010/main">
                <a:solidFill>
                  <a:srgbClr val="3399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zh-CN" altLang="en-US" sz="2400"/>
              <a:t> </a:t>
            </a:r>
            <a:r>
              <a:rPr lang="en-US" altLang="zh-CN" sz="2400"/>
              <a:t>main()</a:t>
            </a:r>
            <a:endParaRPr lang="en-US" altLang="zh-CN" sz="2400"/>
          </a:p>
          <a:p>
            <a:pPr eaLnBrk="0" hangingPunct="0"/>
            <a:r>
              <a:rPr lang="en-US" altLang="zh-CN" sz="2400"/>
              <a:t>   {   int m;</a:t>
            </a:r>
            <a:endParaRPr lang="en-US" altLang="zh-CN" sz="2400"/>
          </a:p>
          <a:p>
            <a:pPr eaLnBrk="0" hangingPunct="0"/>
            <a:r>
              <a:rPr lang="en-US" altLang="zh-CN" sz="2400"/>
              <a:t>       printf("Input the number of disks</a:t>
            </a:r>
            <a:endParaRPr lang="en-US" altLang="zh-CN" sz="2400"/>
          </a:p>
          <a:p>
            <a:pPr eaLnBrk="0" hangingPunct="0"/>
            <a:r>
              <a:rPr lang="en-US" altLang="zh-CN" sz="2400"/>
              <a:t>       scanf("%d",&amp;m);</a:t>
            </a:r>
            <a:endParaRPr lang="en-US" altLang="zh-CN" sz="2400"/>
          </a:p>
          <a:p>
            <a:pPr eaLnBrk="0" hangingPunct="0"/>
            <a:r>
              <a:rPr lang="en-US" altLang="zh-CN" sz="2400"/>
              <a:t>       printf("The steps to moving %3d</a:t>
            </a:r>
            <a:endParaRPr lang="en-US" altLang="zh-CN" sz="2400"/>
          </a:p>
          <a:p>
            <a:pPr eaLnBrk="0" hangingPunct="0"/>
            <a:r>
              <a:rPr lang="en-US" altLang="zh-CN" sz="2400"/>
              <a:t>       hanoi(m,'A','B','C');</a:t>
            </a:r>
            <a:endParaRPr lang="en-US" altLang="zh-CN" sz="2400"/>
          </a:p>
          <a:p>
            <a:pPr eaLnBrk="0" hangingPunct="0"/>
            <a:r>
              <a:rPr lang="en-US" altLang="zh-CN" sz="2400"/>
              <a:t>(0) }</a:t>
            </a:r>
            <a:endParaRPr lang="en-US" altLang="zh-CN" sz="2400"/>
          </a:p>
          <a:p>
            <a:pPr eaLnBrk="0" hangingPunct="0"/>
            <a:r>
              <a:rPr lang="en-US" altLang="zh-CN" sz="2400"/>
              <a:t>void hanoi(int n,char x,char y,char z)</a:t>
            </a:r>
            <a:endParaRPr lang="en-US" altLang="zh-CN" sz="2400"/>
          </a:p>
          <a:p>
            <a:pPr eaLnBrk="0" hangingPunct="0"/>
            <a:r>
              <a:rPr lang="en-US" altLang="zh-CN" sz="2400"/>
              <a:t>(1)  {</a:t>
            </a:r>
            <a:endParaRPr lang="en-US" altLang="zh-CN" sz="2400"/>
          </a:p>
          <a:p>
            <a:pPr eaLnBrk="0" hangingPunct="0"/>
            <a:r>
              <a:rPr lang="en-US" altLang="zh-CN" sz="2400"/>
              <a:t>(2)     if(n==1)</a:t>
            </a:r>
            <a:endParaRPr lang="en-US" altLang="zh-CN" sz="2400"/>
          </a:p>
          <a:p>
            <a:pPr eaLnBrk="0" hangingPunct="0"/>
            <a:r>
              <a:rPr lang="en-US" altLang="zh-CN" sz="2400"/>
              <a:t>(3)         move(1,x,z);</a:t>
            </a:r>
            <a:endParaRPr lang="en-US" altLang="zh-CN" sz="2400"/>
          </a:p>
          <a:p>
            <a:pPr eaLnBrk="0" hangingPunct="0"/>
            <a:r>
              <a:rPr lang="en-US" altLang="zh-CN" sz="2400"/>
              <a:t>(4)     else{</a:t>
            </a:r>
            <a:endParaRPr lang="en-US" altLang="zh-CN" sz="2400"/>
          </a:p>
          <a:p>
            <a:pPr eaLnBrk="0" hangingPunct="0"/>
            <a:r>
              <a:rPr lang="en-US" altLang="zh-CN" sz="2400"/>
              <a:t>(5)            hanoi(n-1,x,z,y);</a:t>
            </a:r>
            <a:endParaRPr lang="en-US" altLang="zh-CN" sz="2400"/>
          </a:p>
          <a:p>
            <a:pPr eaLnBrk="0" hangingPunct="0"/>
            <a:r>
              <a:rPr lang="en-US" altLang="zh-CN" sz="2400"/>
              <a:t>(6)            move(n,x,z);</a:t>
            </a:r>
            <a:endParaRPr lang="en-US" altLang="zh-CN" sz="2400"/>
          </a:p>
          <a:p>
            <a:pPr eaLnBrk="0" hangingPunct="0"/>
            <a:r>
              <a:rPr lang="en-US" altLang="zh-CN" sz="2400"/>
              <a:t>(7)            hanoi(n-1,y,x,z);</a:t>
            </a:r>
            <a:endParaRPr lang="en-US" altLang="zh-CN" sz="2400"/>
          </a:p>
          <a:p>
            <a:pPr eaLnBrk="0" hangingPunct="0"/>
            <a:r>
              <a:rPr lang="en-US" altLang="zh-CN" sz="2400"/>
              <a:t>(8)         }</a:t>
            </a:r>
            <a:endParaRPr lang="en-US" altLang="zh-CN" sz="2400"/>
          </a:p>
          <a:p>
            <a:pPr eaLnBrk="0" hangingPunct="0"/>
            <a:r>
              <a:rPr lang="en-US" altLang="zh-CN" sz="2400"/>
              <a:t>(9)  }</a:t>
            </a:r>
            <a:endParaRPr lang="en-US" altLang="zh-CN" sz="2400"/>
          </a:p>
        </p:txBody>
      </p:sp>
      <p:grpSp>
        <p:nvGrpSpPr>
          <p:cNvPr id="1184781" name="Group 13"/>
          <p:cNvGrpSpPr/>
          <p:nvPr/>
        </p:nvGrpSpPr>
        <p:grpSpPr bwMode="auto">
          <a:xfrm>
            <a:off x="5440363" y="0"/>
            <a:ext cx="3697287" cy="1274763"/>
            <a:chOff x="790" y="0"/>
            <a:chExt cx="3984" cy="1514"/>
          </a:xfrm>
        </p:grpSpPr>
        <p:grpSp>
          <p:nvGrpSpPr>
            <p:cNvPr id="1184782" name="Group 14"/>
            <p:cNvGrpSpPr/>
            <p:nvPr/>
          </p:nvGrpSpPr>
          <p:grpSpPr bwMode="auto">
            <a:xfrm>
              <a:off x="790" y="0"/>
              <a:ext cx="1248" cy="1514"/>
              <a:chOff x="720" y="0"/>
              <a:chExt cx="1248" cy="1514"/>
            </a:xfrm>
          </p:grpSpPr>
          <p:grpSp>
            <p:nvGrpSpPr>
              <p:cNvPr id="1184783" name="Group 15"/>
              <p:cNvGrpSpPr/>
              <p:nvPr/>
            </p:nvGrpSpPr>
            <p:grpSpPr bwMode="auto">
              <a:xfrm>
                <a:off x="720" y="0"/>
                <a:ext cx="1248" cy="1104"/>
                <a:chOff x="720" y="0"/>
                <a:chExt cx="1248" cy="1104"/>
              </a:xfrm>
            </p:grpSpPr>
            <p:sp>
              <p:nvSpPr>
                <p:cNvPr id="1184784" name="Line 16"/>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85" name="Line 17"/>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4786" name="Text Box 18"/>
              <p:cNvSpPr txBox="1">
                <a:spLocks noChangeArrowheads="1"/>
              </p:cNvSpPr>
              <p:nvPr/>
            </p:nvSpPr>
            <p:spPr bwMode="auto">
              <a:xfrm>
                <a:off x="1119" y="1043"/>
                <a:ext cx="396"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A</a:t>
                </a:r>
                <a:endParaRPr lang="en-US" altLang="zh-CN"/>
              </a:p>
            </p:txBody>
          </p:sp>
        </p:grpSp>
        <p:grpSp>
          <p:nvGrpSpPr>
            <p:cNvPr id="1184787" name="Group 19"/>
            <p:cNvGrpSpPr/>
            <p:nvPr/>
          </p:nvGrpSpPr>
          <p:grpSpPr bwMode="auto">
            <a:xfrm>
              <a:off x="2182" y="0"/>
              <a:ext cx="1248" cy="1514"/>
              <a:chOff x="2112" y="0"/>
              <a:chExt cx="1248" cy="1514"/>
            </a:xfrm>
          </p:grpSpPr>
          <p:grpSp>
            <p:nvGrpSpPr>
              <p:cNvPr id="1184788" name="Group 20"/>
              <p:cNvGrpSpPr/>
              <p:nvPr/>
            </p:nvGrpSpPr>
            <p:grpSpPr bwMode="auto">
              <a:xfrm>
                <a:off x="2112" y="0"/>
                <a:ext cx="1248" cy="1104"/>
                <a:chOff x="720" y="0"/>
                <a:chExt cx="1248" cy="1104"/>
              </a:xfrm>
            </p:grpSpPr>
            <p:sp>
              <p:nvSpPr>
                <p:cNvPr id="1184789" name="Line 21"/>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90" name="Line 22"/>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4791" name="Text Box 23"/>
              <p:cNvSpPr txBox="1">
                <a:spLocks noChangeArrowheads="1"/>
              </p:cNvSpPr>
              <p:nvPr/>
            </p:nvSpPr>
            <p:spPr bwMode="auto">
              <a:xfrm>
                <a:off x="2518" y="1043"/>
                <a:ext cx="381"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B</a:t>
                </a:r>
                <a:endParaRPr lang="en-US" altLang="zh-CN"/>
              </a:p>
            </p:txBody>
          </p:sp>
        </p:grpSp>
        <p:grpSp>
          <p:nvGrpSpPr>
            <p:cNvPr id="1184792" name="Group 24"/>
            <p:cNvGrpSpPr/>
            <p:nvPr/>
          </p:nvGrpSpPr>
          <p:grpSpPr bwMode="auto">
            <a:xfrm>
              <a:off x="3526" y="0"/>
              <a:ext cx="1248" cy="1514"/>
              <a:chOff x="3456" y="0"/>
              <a:chExt cx="1248" cy="1514"/>
            </a:xfrm>
          </p:grpSpPr>
          <p:grpSp>
            <p:nvGrpSpPr>
              <p:cNvPr id="1184793" name="Group 25"/>
              <p:cNvGrpSpPr/>
              <p:nvPr/>
            </p:nvGrpSpPr>
            <p:grpSpPr bwMode="auto">
              <a:xfrm>
                <a:off x="3456" y="0"/>
                <a:ext cx="1248" cy="1104"/>
                <a:chOff x="720" y="0"/>
                <a:chExt cx="1248" cy="1104"/>
              </a:xfrm>
            </p:grpSpPr>
            <p:sp>
              <p:nvSpPr>
                <p:cNvPr id="1184794" name="Line 26"/>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95" name="Line 27"/>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4796" name="Text Box 28"/>
              <p:cNvSpPr txBox="1">
                <a:spLocks noChangeArrowheads="1"/>
              </p:cNvSpPr>
              <p:nvPr/>
            </p:nvSpPr>
            <p:spPr bwMode="auto">
              <a:xfrm>
                <a:off x="3856" y="1043"/>
                <a:ext cx="381"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C</a:t>
                </a:r>
                <a:endParaRPr lang="en-US" altLang="zh-CN"/>
              </a:p>
            </p:txBody>
          </p:sp>
        </p:grpSp>
        <p:sp>
          <p:nvSpPr>
            <p:cNvPr id="1184797" name="Rectangle 29"/>
            <p:cNvSpPr>
              <a:spLocks noChangeArrowheads="1"/>
            </p:cNvSpPr>
            <p:nvPr/>
          </p:nvSpPr>
          <p:spPr bwMode="auto">
            <a:xfrm>
              <a:off x="3730" y="953"/>
              <a:ext cx="76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98" name="Rectangle 30"/>
            <p:cNvSpPr>
              <a:spLocks noChangeArrowheads="1"/>
            </p:cNvSpPr>
            <p:nvPr/>
          </p:nvSpPr>
          <p:spPr bwMode="auto">
            <a:xfrm>
              <a:off x="1234" y="953"/>
              <a:ext cx="28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799" name="Rectangle 31"/>
            <p:cNvSpPr>
              <a:spLocks noChangeArrowheads="1"/>
            </p:cNvSpPr>
            <p:nvPr/>
          </p:nvSpPr>
          <p:spPr bwMode="auto">
            <a:xfrm>
              <a:off x="3870" y="808"/>
              <a:ext cx="480"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84800" name="Group 32"/>
          <p:cNvGrpSpPr/>
          <p:nvPr/>
        </p:nvGrpSpPr>
        <p:grpSpPr bwMode="auto">
          <a:xfrm>
            <a:off x="5883275" y="1173163"/>
            <a:ext cx="2141538" cy="1466850"/>
            <a:chOff x="4259" y="1385"/>
            <a:chExt cx="1349" cy="924"/>
          </a:xfrm>
        </p:grpSpPr>
        <p:grpSp>
          <p:nvGrpSpPr>
            <p:cNvPr id="1184801" name="Group 33"/>
            <p:cNvGrpSpPr/>
            <p:nvPr/>
          </p:nvGrpSpPr>
          <p:grpSpPr bwMode="auto">
            <a:xfrm>
              <a:off x="4265" y="2049"/>
              <a:ext cx="1342" cy="260"/>
              <a:chOff x="3628" y="1745"/>
              <a:chExt cx="1342" cy="260"/>
            </a:xfrm>
          </p:grpSpPr>
          <p:sp>
            <p:nvSpPr>
              <p:cNvPr id="1184802" name="Rectangle 34"/>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4803" name="Line 35"/>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4804" name="Line 36"/>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05" name="Line 37"/>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06" name="Line 38"/>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4807" name="Group 39"/>
            <p:cNvGrpSpPr/>
            <p:nvPr/>
          </p:nvGrpSpPr>
          <p:grpSpPr bwMode="auto">
            <a:xfrm>
              <a:off x="4266" y="1793"/>
              <a:ext cx="1342" cy="260"/>
              <a:chOff x="3628" y="1745"/>
              <a:chExt cx="1342" cy="260"/>
            </a:xfrm>
          </p:grpSpPr>
          <p:sp>
            <p:nvSpPr>
              <p:cNvPr id="1184808" name="Rectangle 40"/>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B    A    C     8</a:t>
                </a:r>
                <a:endParaRPr lang="en-US" altLang="zh-CN"/>
              </a:p>
            </p:txBody>
          </p:sp>
          <p:sp>
            <p:nvSpPr>
              <p:cNvPr id="1184809" name="Line 41"/>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4810" name="Line 42"/>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11" name="Line 43"/>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12" name="Line 44"/>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4813" name="Group 45"/>
            <p:cNvGrpSpPr/>
            <p:nvPr/>
          </p:nvGrpSpPr>
          <p:grpSpPr bwMode="auto">
            <a:xfrm>
              <a:off x="4259" y="1385"/>
              <a:ext cx="1342" cy="416"/>
              <a:chOff x="4174" y="622"/>
              <a:chExt cx="1342" cy="416"/>
            </a:xfrm>
          </p:grpSpPr>
          <p:grpSp>
            <p:nvGrpSpPr>
              <p:cNvPr id="1184814" name="Group 46"/>
              <p:cNvGrpSpPr/>
              <p:nvPr/>
            </p:nvGrpSpPr>
            <p:grpSpPr bwMode="auto">
              <a:xfrm>
                <a:off x="4174" y="778"/>
                <a:ext cx="1342" cy="260"/>
                <a:chOff x="3628" y="1745"/>
                <a:chExt cx="1342" cy="260"/>
              </a:xfrm>
            </p:grpSpPr>
            <p:sp>
              <p:nvSpPr>
                <p:cNvPr id="1184815" name="Rectangle 47"/>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1    </a:t>
                  </a:r>
                  <a:r>
                    <a:rPr lang="en-US" altLang="zh-CN"/>
                    <a:t>A    B    C    8</a:t>
                  </a:r>
                  <a:endParaRPr lang="en-US" altLang="zh-CN"/>
                </a:p>
              </p:txBody>
            </p:sp>
            <p:sp>
              <p:nvSpPr>
                <p:cNvPr id="1184816" name="Line 48"/>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4817" name="Line 49"/>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18" name="Line 50"/>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19" name="Line 51"/>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4820" name="Line 52"/>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21" name="Line 53"/>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grpSp>
        <p:nvGrpSpPr>
          <p:cNvPr id="1184822" name="Group 54"/>
          <p:cNvGrpSpPr/>
          <p:nvPr/>
        </p:nvGrpSpPr>
        <p:grpSpPr bwMode="auto">
          <a:xfrm>
            <a:off x="5530850" y="2746375"/>
            <a:ext cx="3606800" cy="1135063"/>
            <a:chOff x="786" y="1474"/>
            <a:chExt cx="3984" cy="1549"/>
          </a:xfrm>
        </p:grpSpPr>
        <p:grpSp>
          <p:nvGrpSpPr>
            <p:cNvPr id="1184823" name="Group 55"/>
            <p:cNvGrpSpPr/>
            <p:nvPr/>
          </p:nvGrpSpPr>
          <p:grpSpPr bwMode="auto">
            <a:xfrm>
              <a:off x="786" y="1474"/>
              <a:ext cx="1248" cy="1549"/>
              <a:chOff x="720" y="0"/>
              <a:chExt cx="1248" cy="1549"/>
            </a:xfrm>
          </p:grpSpPr>
          <p:grpSp>
            <p:nvGrpSpPr>
              <p:cNvPr id="1184824" name="Group 56"/>
              <p:cNvGrpSpPr/>
              <p:nvPr/>
            </p:nvGrpSpPr>
            <p:grpSpPr bwMode="auto">
              <a:xfrm>
                <a:off x="720" y="0"/>
                <a:ext cx="1248" cy="1104"/>
                <a:chOff x="720" y="0"/>
                <a:chExt cx="1248" cy="1104"/>
              </a:xfrm>
            </p:grpSpPr>
            <p:sp>
              <p:nvSpPr>
                <p:cNvPr id="1184825" name="Line 57"/>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826" name="Line 58"/>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4827" name="Text Box 59"/>
              <p:cNvSpPr txBox="1">
                <a:spLocks noChangeArrowheads="1"/>
              </p:cNvSpPr>
              <p:nvPr/>
            </p:nvSpPr>
            <p:spPr bwMode="auto">
              <a:xfrm>
                <a:off x="1113" y="1007"/>
                <a:ext cx="407" cy="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A</a:t>
                </a:r>
                <a:endParaRPr lang="en-US" altLang="zh-CN"/>
              </a:p>
            </p:txBody>
          </p:sp>
        </p:grpSp>
        <p:grpSp>
          <p:nvGrpSpPr>
            <p:cNvPr id="1184828" name="Group 60"/>
            <p:cNvGrpSpPr/>
            <p:nvPr/>
          </p:nvGrpSpPr>
          <p:grpSpPr bwMode="auto">
            <a:xfrm>
              <a:off x="2178" y="1474"/>
              <a:ext cx="1248" cy="1549"/>
              <a:chOff x="2112" y="0"/>
              <a:chExt cx="1248" cy="1549"/>
            </a:xfrm>
          </p:grpSpPr>
          <p:grpSp>
            <p:nvGrpSpPr>
              <p:cNvPr id="1184829" name="Group 61"/>
              <p:cNvGrpSpPr/>
              <p:nvPr/>
            </p:nvGrpSpPr>
            <p:grpSpPr bwMode="auto">
              <a:xfrm>
                <a:off x="2112" y="0"/>
                <a:ext cx="1248" cy="1104"/>
                <a:chOff x="720" y="0"/>
                <a:chExt cx="1248" cy="1104"/>
              </a:xfrm>
            </p:grpSpPr>
            <p:sp>
              <p:nvSpPr>
                <p:cNvPr id="1184830" name="Line 62"/>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831" name="Line 63"/>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4832" name="Text Box 64"/>
              <p:cNvSpPr txBox="1">
                <a:spLocks noChangeArrowheads="1"/>
              </p:cNvSpPr>
              <p:nvPr/>
            </p:nvSpPr>
            <p:spPr bwMode="auto">
              <a:xfrm>
                <a:off x="2514" y="1007"/>
                <a:ext cx="391" cy="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B</a:t>
                </a:r>
                <a:endParaRPr lang="en-US" altLang="zh-CN"/>
              </a:p>
            </p:txBody>
          </p:sp>
        </p:grpSp>
        <p:grpSp>
          <p:nvGrpSpPr>
            <p:cNvPr id="1184833" name="Group 65"/>
            <p:cNvGrpSpPr/>
            <p:nvPr/>
          </p:nvGrpSpPr>
          <p:grpSpPr bwMode="auto">
            <a:xfrm>
              <a:off x="3522" y="1474"/>
              <a:ext cx="1248" cy="1549"/>
              <a:chOff x="3456" y="0"/>
              <a:chExt cx="1248" cy="1549"/>
            </a:xfrm>
          </p:grpSpPr>
          <p:grpSp>
            <p:nvGrpSpPr>
              <p:cNvPr id="1184834" name="Group 66"/>
              <p:cNvGrpSpPr/>
              <p:nvPr/>
            </p:nvGrpSpPr>
            <p:grpSpPr bwMode="auto">
              <a:xfrm>
                <a:off x="3456" y="0"/>
                <a:ext cx="1248" cy="1104"/>
                <a:chOff x="720" y="0"/>
                <a:chExt cx="1248" cy="1104"/>
              </a:xfrm>
            </p:grpSpPr>
            <p:sp>
              <p:nvSpPr>
                <p:cNvPr id="1184835" name="Line 67"/>
                <p:cNvSpPr>
                  <a:spLocks noChangeShapeType="1"/>
                </p:cNvSpPr>
                <p:nvPr/>
              </p:nvSpPr>
              <p:spPr bwMode="auto">
                <a:xfrm>
                  <a:off x="720" y="1104"/>
                  <a:ext cx="124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836" name="Line 68"/>
                <p:cNvSpPr>
                  <a:spLocks noChangeShapeType="1"/>
                </p:cNvSpPr>
                <p:nvPr/>
              </p:nvSpPr>
              <p:spPr bwMode="auto">
                <a:xfrm>
                  <a:off x="1296" y="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184837" name="Text Box 69"/>
              <p:cNvSpPr txBox="1">
                <a:spLocks noChangeArrowheads="1"/>
              </p:cNvSpPr>
              <p:nvPr/>
            </p:nvSpPr>
            <p:spPr bwMode="auto">
              <a:xfrm>
                <a:off x="3854" y="1007"/>
                <a:ext cx="391" cy="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r>
                  <a:rPr lang="en-US" altLang="zh-CN"/>
                  <a:t>C</a:t>
                </a:r>
                <a:endParaRPr lang="en-US" altLang="zh-CN"/>
              </a:p>
            </p:txBody>
          </p:sp>
        </p:grpSp>
        <p:sp>
          <p:nvSpPr>
            <p:cNvPr id="1184838" name="Rectangle 70"/>
            <p:cNvSpPr>
              <a:spLocks noChangeArrowheads="1"/>
            </p:cNvSpPr>
            <p:nvPr/>
          </p:nvSpPr>
          <p:spPr bwMode="auto">
            <a:xfrm>
              <a:off x="3726" y="2438"/>
              <a:ext cx="76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839" name="Rectangle 71"/>
            <p:cNvSpPr>
              <a:spLocks noChangeArrowheads="1"/>
            </p:cNvSpPr>
            <p:nvPr/>
          </p:nvSpPr>
          <p:spPr bwMode="auto">
            <a:xfrm>
              <a:off x="3866" y="2293"/>
              <a:ext cx="480"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840" name="Rectangle 72"/>
            <p:cNvSpPr>
              <a:spLocks noChangeArrowheads="1"/>
            </p:cNvSpPr>
            <p:nvPr/>
          </p:nvSpPr>
          <p:spPr bwMode="auto">
            <a:xfrm>
              <a:off x="3969" y="2148"/>
              <a:ext cx="288" cy="14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184841" name="Group 73"/>
          <p:cNvGrpSpPr/>
          <p:nvPr/>
        </p:nvGrpSpPr>
        <p:grpSpPr bwMode="auto">
          <a:xfrm>
            <a:off x="5957888" y="3752850"/>
            <a:ext cx="2132012" cy="1066800"/>
            <a:chOff x="4236" y="608"/>
            <a:chExt cx="1343" cy="672"/>
          </a:xfrm>
        </p:grpSpPr>
        <p:grpSp>
          <p:nvGrpSpPr>
            <p:cNvPr id="1184842" name="Group 74"/>
            <p:cNvGrpSpPr/>
            <p:nvPr/>
          </p:nvGrpSpPr>
          <p:grpSpPr bwMode="auto">
            <a:xfrm>
              <a:off x="4236" y="1020"/>
              <a:ext cx="1342" cy="260"/>
              <a:chOff x="3628" y="1745"/>
              <a:chExt cx="1342" cy="260"/>
            </a:xfrm>
          </p:grpSpPr>
          <p:sp>
            <p:nvSpPr>
              <p:cNvPr id="1184843" name="Rectangle 75"/>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4844" name="Line 76"/>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4845" name="Line 77"/>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46" name="Line 78"/>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47" name="Line 79"/>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4848" name="Group 80"/>
            <p:cNvGrpSpPr/>
            <p:nvPr/>
          </p:nvGrpSpPr>
          <p:grpSpPr bwMode="auto">
            <a:xfrm>
              <a:off x="4237" y="608"/>
              <a:ext cx="1342" cy="416"/>
              <a:chOff x="4174" y="622"/>
              <a:chExt cx="1342" cy="416"/>
            </a:xfrm>
          </p:grpSpPr>
          <p:grpSp>
            <p:nvGrpSpPr>
              <p:cNvPr id="1184849" name="Group 81"/>
              <p:cNvGrpSpPr/>
              <p:nvPr/>
            </p:nvGrpSpPr>
            <p:grpSpPr bwMode="auto">
              <a:xfrm>
                <a:off x="4174" y="778"/>
                <a:ext cx="1342" cy="260"/>
                <a:chOff x="3628" y="1745"/>
                <a:chExt cx="1342" cy="260"/>
              </a:xfrm>
            </p:grpSpPr>
            <p:sp>
              <p:nvSpPr>
                <p:cNvPr id="1184850" name="Rectangle 82"/>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B    A    C     8</a:t>
                  </a:r>
                  <a:endParaRPr lang="en-US" altLang="zh-CN"/>
                </a:p>
              </p:txBody>
            </p:sp>
            <p:sp>
              <p:nvSpPr>
                <p:cNvPr id="1184851" name="Line 83"/>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4852" name="Line 84"/>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53" name="Line 85"/>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54" name="Line 86"/>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4855" name="Line 87"/>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56" name="Line 88"/>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grpSp>
        <p:nvGrpSpPr>
          <p:cNvPr id="1184857" name="Group 89"/>
          <p:cNvGrpSpPr/>
          <p:nvPr/>
        </p:nvGrpSpPr>
        <p:grpSpPr bwMode="auto">
          <a:xfrm>
            <a:off x="5969000" y="4922838"/>
            <a:ext cx="2130425" cy="660400"/>
            <a:chOff x="4174" y="622"/>
            <a:chExt cx="1342" cy="416"/>
          </a:xfrm>
        </p:grpSpPr>
        <p:grpSp>
          <p:nvGrpSpPr>
            <p:cNvPr id="1184858" name="Group 90"/>
            <p:cNvGrpSpPr/>
            <p:nvPr/>
          </p:nvGrpSpPr>
          <p:grpSpPr bwMode="auto">
            <a:xfrm>
              <a:off x="4174" y="778"/>
              <a:ext cx="1342" cy="260"/>
              <a:chOff x="3628" y="1745"/>
              <a:chExt cx="1342" cy="260"/>
            </a:xfrm>
          </p:grpSpPr>
          <p:sp>
            <p:nvSpPr>
              <p:cNvPr id="1184859" name="Rectangle 91"/>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4860" name="Line 92"/>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4861" name="Line 93"/>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62" name="Line 94"/>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63" name="Line 95"/>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4864" name="Line 96"/>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65" name="Line 97"/>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4866" name="Group 98"/>
          <p:cNvGrpSpPr/>
          <p:nvPr/>
        </p:nvGrpSpPr>
        <p:grpSpPr bwMode="auto">
          <a:xfrm>
            <a:off x="5956300" y="5643563"/>
            <a:ext cx="2063750" cy="966787"/>
            <a:chOff x="4245" y="3711"/>
            <a:chExt cx="1300" cy="609"/>
          </a:xfrm>
        </p:grpSpPr>
        <p:grpSp>
          <p:nvGrpSpPr>
            <p:cNvPr id="1184867" name="Group 99"/>
            <p:cNvGrpSpPr/>
            <p:nvPr/>
          </p:nvGrpSpPr>
          <p:grpSpPr bwMode="auto">
            <a:xfrm>
              <a:off x="4245" y="3711"/>
              <a:ext cx="1300" cy="311"/>
              <a:chOff x="4223" y="3744"/>
              <a:chExt cx="1300" cy="311"/>
            </a:xfrm>
          </p:grpSpPr>
          <p:sp>
            <p:nvSpPr>
              <p:cNvPr id="1184868" name="Line 100"/>
              <p:cNvSpPr>
                <a:spLocks noChangeShapeType="1"/>
              </p:cNvSpPr>
              <p:nvPr/>
            </p:nvSpPr>
            <p:spPr bwMode="auto">
              <a:xfrm>
                <a:off x="4223" y="3744"/>
                <a:ext cx="0" cy="31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69" name="Line 101"/>
              <p:cNvSpPr>
                <a:spLocks noChangeShapeType="1"/>
              </p:cNvSpPr>
              <p:nvPr/>
            </p:nvSpPr>
            <p:spPr bwMode="auto">
              <a:xfrm>
                <a:off x="4223" y="4055"/>
                <a:ext cx="13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70" name="Line 102"/>
              <p:cNvSpPr>
                <a:spLocks noChangeShapeType="1"/>
              </p:cNvSpPr>
              <p:nvPr/>
            </p:nvSpPr>
            <p:spPr bwMode="auto">
              <a:xfrm flipV="1">
                <a:off x="5512" y="3766"/>
                <a:ext cx="0" cy="2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4871" name="Text Box 103"/>
            <p:cNvSpPr txBox="1">
              <a:spLocks noChangeArrowheads="1"/>
            </p:cNvSpPr>
            <p:nvPr/>
          </p:nvSpPr>
          <p:spPr bwMode="auto">
            <a:xfrm>
              <a:off x="4615" y="4070"/>
              <a:ext cx="436" cy="25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pPr algn="ctr"/>
              <a:r>
                <a:rPr lang="zh-CN" altLang="en-US"/>
                <a:t>栈空</a:t>
              </a:r>
              <a:endParaRPr lang="zh-CN" altLang="en-US"/>
            </a:p>
          </p:txBody>
        </p:sp>
      </p:grpSp>
      <p:sp>
        <p:nvSpPr>
          <p:cNvPr id="1184872" name="AutoShape 104">
            <a:hlinkClick r:id="" action="ppaction://hlinkshowjump?jump=previousslide" highlightClick="1"/>
          </p:cNvPr>
          <p:cNvSpPr>
            <a:spLocks noChangeArrowheads="1"/>
          </p:cNvSpPr>
          <p:nvPr/>
        </p:nvSpPr>
        <p:spPr bwMode="auto">
          <a:xfrm>
            <a:off x="8105775" y="6296025"/>
            <a:ext cx="390525" cy="334963"/>
          </a:xfrm>
          <a:prstGeom prst="actionButtonBackPrevious">
            <a:avLst/>
          </a:prstGeom>
          <a:noFill/>
          <a:ln w="9525">
            <a:solidFill>
              <a:schemeClr val="tx1"/>
            </a:solidFill>
            <a:miter lim="800000"/>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4873" name="AutoShape 105">
            <a:hlinkClick r:id="" action="ppaction://hlinkshowjump?jump=nextslide" highlightClick="1"/>
          </p:cNvPr>
          <p:cNvSpPr>
            <a:spLocks noChangeArrowheads="1"/>
          </p:cNvSpPr>
          <p:nvPr/>
        </p:nvSpPr>
        <p:spPr bwMode="auto">
          <a:xfrm>
            <a:off x="8478838" y="6296025"/>
            <a:ext cx="423862" cy="334963"/>
          </a:xfrm>
          <a:prstGeom prst="actionButtonForwardNext">
            <a:avLst/>
          </a:prstGeom>
          <a:noFill/>
          <a:ln w="9525">
            <a:solidFill>
              <a:schemeClr val="tx1"/>
            </a:solidFill>
            <a:miter lim="800000"/>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1184874" name="Group 106"/>
          <p:cNvGrpSpPr/>
          <p:nvPr/>
        </p:nvGrpSpPr>
        <p:grpSpPr bwMode="auto">
          <a:xfrm>
            <a:off x="3194050" y="0"/>
            <a:ext cx="2132013" cy="1066800"/>
            <a:chOff x="4236" y="608"/>
            <a:chExt cx="1343" cy="672"/>
          </a:xfrm>
        </p:grpSpPr>
        <p:grpSp>
          <p:nvGrpSpPr>
            <p:cNvPr id="1184875" name="Group 107"/>
            <p:cNvGrpSpPr/>
            <p:nvPr/>
          </p:nvGrpSpPr>
          <p:grpSpPr bwMode="auto">
            <a:xfrm>
              <a:off x="4236" y="1020"/>
              <a:ext cx="1342" cy="260"/>
              <a:chOff x="3628" y="1745"/>
              <a:chExt cx="1342" cy="260"/>
            </a:xfrm>
          </p:grpSpPr>
          <p:sp>
            <p:nvSpPr>
              <p:cNvPr id="1184876" name="Rectangle 108"/>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3    </a:t>
                </a:r>
                <a:r>
                  <a:rPr lang="en-US" altLang="zh-CN"/>
                  <a:t>A    B    C     0</a:t>
                </a:r>
                <a:endParaRPr lang="en-US" altLang="zh-CN"/>
              </a:p>
            </p:txBody>
          </p:sp>
          <p:sp>
            <p:nvSpPr>
              <p:cNvPr id="1184877" name="Line 109"/>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4878" name="Line 110"/>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79" name="Line 111"/>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80" name="Line 112"/>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nvGrpSpPr>
            <p:cNvPr id="1184881" name="Group 113"/>
            <p:cNvGrpSpPr/>
            <p:nvPr/>
          </p:nvGrpSpPr>
          <p:grpSpPr bwMode="auto">
            <a:xfrm>
              <a:off x="4237" y="608"/>
              <a:ext cx="1342" cy="416"/>
              <a:chOff x="4174" y="622"/>
              <a:chExt cx="1342" cy="416"/>
            </a:xfrm>
          </p:grpSpPr>
          <p:grpSp>
            <p:nvGrpSpPr>
              <p:cNvPr id="1184882" name="Group 114"/>
              <p:cNvGrpSpPr/>
              <p:nvPr/>
            </p:nvGrpSpPr>
            <p:grpSpPr bwMode="auto">
              <a:xfrm>
                <a:off x="4174" y="778"/>
                <a:ext cx="1342" cy="260"/>
                <a:chOff x="3628" y="1745"/>
                <a:chExt cx="1342" cy="260"/>
              </a:xfrm>
            </p:grpSpPr>
            <p:sp>
              <p:nvSpPr>
                <p:cNvPr id="1184883" name="Rectangle 115"/>
                <p:cNvSpPr>
                  <a:spLocks noChangeArrowheads="1"/>
                </p:cNvSpPr>
                <p:nvPr/>
              </p:nvSpPr>
              <p:spPr bwMode="auto">
                <a:xfrm>
                  <a:off x="3628" y="1749"/>
                  <a:ext cx="1342" cy="256"/>
                </a:xfrm>
                <a:prstGeom prst="rect">
                  <a:avLst/>
                </a:prstGeom>
                <a:noFill/>
                <a:ln w="9525">
                  <a:solidFill>
                    <a:schemeClr val="tx1"/>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r>
                    <a:rPr lang="zh-CN" altLang="zh-CN"/>
                    <a:t>2    </a:t>
                  </a:r>
                  <a:r>
                    <a:rPr lang="en-US" altLang="zh-CN"/>
                    <a:t>B    A    C     8</a:t>
                  </a:r>
                  <a:endParaRPr lang="en-US" altLang="zh-CN"/>
                </a:p>
              </p:txBody>
            </p:sp>
            <p:sp>
              <p:nvSpPr>
                <p:cNvPr id="1184884" name="Line 116"/>
                <p:cNvSpPr>
                  <a:spLocks noChangeShapeType="1"/>
                </p:cNvSpPr>
                <p:nvPr/>
              </p:nvSpPr>
              <p:spPr bwMode="auto">
                <a:xfrm flipH="1">
                  <a:off x="3867"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anchor="ctr">
                  <a:spAutoFit/>
                </a:bodyPr>
                <a:lstStyle/>
                <a:p>
                  <a:endParaRPr lang="zh-CN" altLang="en-US"/>
                </a:p>
              </p:txBody>
            </p:sp>
            <p:sp>
              <p:nvSpPr>
                <p:cNvPr id="1184885" name="Line 117"/>
                <p:cNvSpPr>
                  <a:spLocks noChangeShapeType="1"/>
                </p:cNvSpPr>
                <p:nvPr/>
              </p:nvSpPr>
              <p:spPr bwMode="auto">
                <a:xfrm>
                  <a:off x="4101"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86" name="Line 118"/>
                <p:cNvSpPr>
                  <a:spLocks noChangeShapeType="1"/>
                </p:cNvSpPr>
                <p:nvPr/>
              </p:nvSpPr>
              <p:spPr bwMode="auto">
                <a:xfrm>
                  <a:off x="4356"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87" name="Line 119"/>
                <p:cNvSpPr>
                  <a:spLocks noChangeShapeType="1"/>
                </p:cNvSpPr>
                <p:nvPr/>
              </p:nvSpPr>
              <p:spPr bwMode="auto">
                <a:xfrm>
                  <a:off x="4634" y="1745"/>
                  <a:ext cx="0" cy="2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sp>
            <p:nvSpPr>
              <p:cNvPr id="1184888" name="Line 120"/>
              <p:cNvSpPr>
                <a:spLocks noChangeShapeType="1"/>
              </p:cNvSpPr>
              <p:nvPr/>
            </p:nvSpPr>
            <p:spPr bwMode="auto">
              <a:xfrm flipV="1">
                <a:off x="4178" y="622"/>
                <a:ext cx="0" cy="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sp>
            <p:nvSpPr>
              <p:cNvPr id="1184889" name="Line 121"/>
              <p:cNvSpPr>
                <a:spLocks noChangeShapeType="1"/>
              </p:cNvSpPr>
              <p:nvPr/>
            </p:nvSpPr>
            <p:spPr bwMode="auto">
              <a:xfrm flipV="1">
                <a:off x="5512" y="644"/>
                <a:ext cx="0" cy="13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anchor="ctr">
                <a:spAutoFit/>
              </a:bodyPr>
              <a:lstStyle/>
              <a:p>
                <a:endParaRPr lang="zh-CN" altLang="en-US"/>
              </a:p>
            </p:txBody>
          </p:sp>
        </p:grpSp>
      </p:grpSp>
      <p:sp>
        <p:nvSpPr>
          <p:cNvPr id="1184890" name="AutoShape 122">
            <a:hlinkClick r:id="rId1" action="ppaction://program" highlightClick="1"/>
          </p:cNvPr>
          <p:cNvSpPr>
            <a:spLocks noChangeArrowheads="1"/>
          </p:cNvSpPr>
          <p:nvPr/>
        </p:nvSpPr>
        <p:spPr bwMode="auto">
          <a:xfrm>
            <a:off x="0" y="6438900"/>
            <a:ext cx="342900" cy="419100"/>
          </a:xfrm>
          <a:prstGeom prst="actionButtonDocument">
            <a:avLst/>
          </a:prstGeom>
          <a:solidFill>
            <a:srgbClr val="00CCFF"/>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1184891" name="Group 123"/>
          <p:cNvGrpSpPr/>
          <p:nvPr/>
        </p:nvGrpSpPr>
        <p:grpSpPr bwMode="auto">
          <a:xfrm>
            <a:off x="381000" y="6461125"/>
            <a:ext cx="4114800" cy="396875"/>
            <a:chOff x="240" y="4070"/>
            <a:chExt cx="2592" cy="250"/>
          </a:xfrm>
        </p:grpSpPr>
        <p:sp>
          <p:nvSpPr>
            <p:cNvPr id="1184892" name="Text Box 124"/>
            <p:cNvSpPr txBox="1">
              <a:spLocks noChangeArrowheads="1"/>
            </p:cNvSpPr>
            <p:nvPr/>
          </p:nvSpPr>
          <p:spPr bwMode="auto">
            <a:xfrm>
              <a:off x="240" y="4070"/>
              <a:ext cx="61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a:t>Hanoi.c</a:t>
              </a:r>
              <a:endParaRPr lang="en-US" altLang="zh-CN"/>
            </a:p>
          </p:txBody>
        </p:sp>
        <p:sp>
          <p:nvSpPr>
            <p:cNvPr id="1184893" name="Text Box 125"/>
            <p:cNvSpPr txBox="1">
              <a:spLocks noChangeArrowheads="1"/>
            </p:cNvSpPr>
            <p:nvPr/>
          </p:nvSpPr>
          <p:spPr bwMode="auto">
            <a:xfrm>
              <a:off x="830" y="4070"/>
              <a:ext cx="200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8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en-US" altLang="zh-CN"/>
                <a:t>D:\fengyi\bkc\power\power.c</a:t>
              </a:r>
              <a:endParaRPr lang="en-US" altLang="zh-C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84781"/>
                                        </p:tgtEl>
                                        <p:attrNameLst>
                                          <p:attrName>style.visibility</p:attrName>
                                        </p:attrNameLst>
                                      </p:cBhvr>
                                      <p:to>
                                        <p:strVal val="visible"/>
                                      </p:to>
                                    </p:set>
                                    <p:animEffect transition="in" filter="box(out)">
                                      <p:cBhvr>
                                        <p:cTn id="7" dur="500"/>
                                        <p:tgtEl>
                                          <p:spTgt spid="118478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84779"/>
                                        </p:tgtEl>
                                        <p:attrNameLst>
                                          <p:attrName>style.visibility</p:attrName>
                                        </p:attrNameLst>
                                      </p:cBhvr>
                                      <p:to>
                                        <p:strVal val="visible"/>
                                      </p:to>
                                    </p:set>
                                  </p:childTnLst>
                                  <p:subTnLst>
                                    <p:set>
                                      <p:cBhvr override="childStyle">
                                        <p:cTn dur="1" fill="hold" display="0" masterRel="nextClick" afterEffect="1"/>
                                        <p:tgtEl>
                                          <p:spTgt spid="1184779"/>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1184800"/>
                                        </p:tgtEl>
                                        <p:attrNameLst>
                                          <p:attrName>style.visibility</p:attrName>
                                        </p:attrNameLst>
                                      </p:cBhvr>
                                      <p:to>
                                        <p:strVal val="visible"/>
                                      </p:to>
                                    </p:set>
                                    <p:animEffect transition="in" filter="box(out)">
                                      <p:cBhvr>
                                        <p:cTn id="16" dur="500"/>
                                        <p:tgtEl>
                                          <p:spTgt spid="1184800"/>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184775"/>
                                        </p:tgtEl>
                                        <p:attrNameLst>
                                          <p:attrName>style.visibility</p:attrName>
                                        </p:attrNameLst>
                                      </p:cBhvr>
                                      <p:to>
                                        <p:strVal val="visible"/>
                                      </p:to>
                                    </p:set>
                                  </p:childTnLst>
                                  <p:subTnLst>
                                    <p:set>
                                      <p:cBhvr override="childStyle">
                                        <p:cTn dur="1" fill="hold" display="0" masterRel="nextClick" afterEffect="1"/>
                                        <p:tgtEl>
                                          <p:spTgt spid="1184775"/>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184776"/>
                                        </p:tgtEl>
                                        <p:attrNameLst>
                                          <p:attrName>style.visibility</p:attrName>
                                        </p:attrNameLst>
                                      </p:cBhvr>
                                      <p:to>
                                        <p:strVal val="visible"/>
                                      </p:to>
                                    </p:set>
                                  </p:childTnLst>
                                  <p:subTnLst>
                                    <p:set>
                                      <p:cBhvr override="childStyle">
                                        <p:cTn dur="1" fill="hold" display="0" masterRel="nextClick" afterEffect="1"/>
                                        <p:tgtEl>
                                          <p:spTgt spid="1184776"/>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184777"/>
                                        </p:tgtEl>
                                        <p:attrNameLst>
                                          <p:attrName>style.visibility</p:attrName>
                                        </p:attrNameLst>
                                      </p:cBhvr>
                                      <p:to>
                                        <p:strVal val="visible"/>
                                      </p:to>
                                    </p:set>
                                  </p:childTnLst>
                                  <p:subTnLst>
                                    <p:set>
                                      <p:cBhvr override="childStyle">
                                        <p:cTn dur="1" fill="hold" display="0" masterRel="nextClick" afterEffect="1"/>
                                        <p:tgtEl>
                                          <p:spTgt spid="1184777"/>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184778"/>
                                        </p:tgtEl>
                                        <p:attrNameLst>
                                          <p:attrName>style.visibility</p:attrName>
                                        </p:attrNameLst>
                                      </p:cBhvr>
                                      <p:to>
                                        <p:strVal val="visible"/>
                                      </p:to>
                                    </p:set>
                                  </p:childTnLst>
                                  <p:subTnLst>
                                    <p:set>
                                      <p:cBhvr override="childStyle">
                                        <p:cTn dur="1" fill="hold" display="0" masterRel="nextClick" afterEffect="1"/>
                                        <p:tgtEl>
                                          <p:spTgt spid="1184778"/>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184822"/>
                                        </p:tgtEl>
                                        <p:attrNameLst>
                                          <p:attrName>style.visibility</p:attrName>
                                        </p:attrNameLst>
                                      </p:cBhvr>
                                      <p:to>
                                        <p:strVal val="visible"/>
                                      </p:to>
                                    </p:set>
                                    <p:animEffect transition="in" filter="box(out)">
                                      <p:cBhvr>
                                        <p:cTn id="37" dur="500"/>
                                        <p:tgtEl>
                                          <p:spTgt spid="1184822"/>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184841"/>
                                        </p:tgtEl>
                                        <p:attrNameLst>
                                          <p:attrName>style.visibility</p:attrName>
                                        </p:attrNameLst>
                                      </p:cBhvr>
                                      <p:to>
                                        <p:strVal val="visible"/>
                                      </p:to>
                                    </p:set>
                                    <p:animEffect transition="in" filter="box(out)">
                                      <p:cBhvr>
                                        <p:cTn id="42" dur="500"/>
                                        <p:tgtEl>
                                          <p:spTgt spid="1184841"/>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184770"/>
                                        </p:tgtEl>
                                        <p:attrNameLst>
                                          <p:attrName>style.visibility</p:attrName>
                                        </p:attrNameLst>
                                      </p:cBhvr>
                                      <p:to>
                                        <p:strVal val="visible"/>
                                      </p:to>
                                    </p:set>
                                  </p:childTnLst>
                                  <p:subTnLst>
                                    <p:set>
                                      <p:cBhvr override="childStyle">
                                        <p:cTn dur="1" fill="hold" display="0" masterRel="nextClick" afterEffect="1"/>
                                        <p:tgtEl>
                                          <p:spTgt spid="1184770"/>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184771"/>
                                        </p:tgtEl>
                                        <p:attrNameLst>
                                          <p:attrName>style.visibility</p:attrName>
                                        </p:attrNameLst>
                                      </p:cBhvr>
                                      <p:to>
                                        <p:strVal val="visible"/>
                                      </p:to>
                                    </p:set>
                                  </p:childTnLst>
                                  <p:subTnLst>
                                    <p:set>
                                      <p:cBhvr override="childStyle">
                                        <p:cTn dur="1" fill="hold" display="0" masterRel="nextClick" afterEffect="1"/>
                                        <p:tgtEl>
                                          <p:spTgt spid="1184771"/>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nodeType="clickEffect">
                                  <p:stCondLst>
                                    <p:cond delay="0"/>
                                  </p:stCondLst>
                                  <p:childTnLst>
                                    <p:set>
                                      <p:cBhvr>
                                        <p:cTn id="54" dur="1" fill="hold">
                                          <p:stCondLst>
                                            <p:cond delay="0"/>
                                          </p:stCondLst>
                                        </p:cTn>
                                        <p:tgtEl>
                                          <p:spTgt spid="1184857"/>
                                        </p:tgtEl>
                                        <p:attrNameLst>
                                          <p:attrName>style.visibility</p:attrName>
                                        </p:attrNameLst>
                                      </p:cBhvr>
                                      <p:to>
                                        <p:strVal val="visible"/>
                                      </p:to>
                                    </p:set>
                                    <p:animEffect transition="in" filter="box(out)">
                                      <p:cBhvr>
                                        <p:cTn id="55" dur="500"/>
                                        <p:tgtEl>
                                          <p:spTgt spid="1184857"/>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1184772"/>
                                        </p:tgtEl>
                                        <p:attrNameLst>
                                          <p:attrName>style.visibility</p:attrName>
                                        </p:attrNameLst>
                                      </p:cBhvr>
                                      <p:to>
                                        <p:strVal val="visible"/>
                                      </p:to>
                                    </p:set>
                                  </p:childTnLst>
                                  <p:subTnLst>
                                    <p:set>
                                      <p:cBhvr override="childStyle">
                                        <p:cTn dur="1" fill="hold" display="0" masterRel="nextClick" afterEffect="1"/>
                                        <p:tgtEl>
                                          <p:spTgt spid="1184772"/>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1184773"/>
                                        </p:tgtEl>
                                        <p:attrNameLst>
                                          <p:attrName>style.visibility</p:attrName>
                                        </p:attrNameLst>
                                      </p:cBhvr>
                                      <p:to>
                                        <p:strVal val="visible"/>
                                      </p:to>
                                    </p:set>
                                  </p:childTnLst>
                                  <p:subTnLst>
                                    <p:set>
                                      <p:cBhvr override="childStyle">
                                        <p:cTn dur="1" fill="hold" display="0" masterRel="nextClick" afterEffect="1"/>
                                        <p:tgtEl>
                                          <p:spTgt spid="1184773"/>
                                        </p:tgtEl>
                                        <p:attrNameLst>
                                          <p:attrName>style.visibility</p:attrName>
                                        </p:attrNameLst>
                                      </p:cBhvr>
                                      <p:to>
                                        <p:strVal val="hidden"/>
                                      </p:to>
                                    </p:set>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nodeType="clickEffect">
                                  <p:stCondLst>
                                    <p:cond delay="0"/>
                                  </p:stCondLst>
                                  <p:childTnLst>
                                    <p:set>
                                      <p:cBhvr>
                                        <p:cTn id="67" dur="1" fill="hold">
                                          <p:stCondLst>
                                            <p:cond delay="0"/>
                                          </p:stCondLst>
                                        </p:cTn>
                                        <p:tgtEl>
                                          <p:spTgt spid="1184866"/>
                                        </p:tgtEl>
                                        <p:attrNameLst>
                                          <p:attrName>style.visibility</p:attrName>
                                        </p:attrNameLst>
                                      </p:cBhvr>
                                      <p:to>
                                        <p:strVal val="visible"/>
                                      </p:to>
                                    </p:set>
                                    <p:animEffect transition="in" filter="box(out)">
                                      <p:cBhvr>
                                        <p:cTn id="68" dur="500"/>
                                        <p:tgtEl>
                                          <p:spTgt spid="1184866"/>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184774"/>
                                        </p:tgtEl>
                                        <p:attrNameLst>
                                          <p:attrName>style.visibility</p:attrName>
                                        </p:attrNameLst>
                                      </p:cBhvr>
                                      <p:to>
                                        <p:strVal val="visible"/>
                                      </p:to>
                                    </p:set>
                                  </p:childTnLst>
                                  <p:subTnLst>
                                    <p:set>
                                      <p:cBhvr override="childStyle">
                                        <p:cTn dur="1" fill="hold" display="0" masterRel="nextClick" afterEffect="1"/>
                                        <p:tgtEl>
                                          <p:spTgt spid="1184774"/>
                                        </p:tgtEl>
                                        <p:attrNameLst>
                                          <p:attrName>style.visibility</p:attrName>
                                        </p:attrNameLst>
                                      </p:cBhvr>
                                      <p:to>
                                        <p:strVal val="hidden"/>
                                      </p:to>
                                    </p:set>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1184890"/>
                                        </p:tgtEl>
                                        <p:attrNameLst>
                                          <p:attrName>style.visibility</p:attrName>
                                        </p:attrNameLst>
                                      </p:cBhvr>
                                      <p:to>
                                        <p:strVal val="visible"/>
                                      </p:to>
                                    </p:set>
                                    <p:animEffect transition="in" filter="box(out)">
                                      <p:cBhvr>
                                        <p:cTn id="77" dur="500"/>
                                        <p:tgtEl>
                                          <p:spTgt spid="1184890"/>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nodeType="clickEffect">
                                  <p:stCondLst>
                                    <p:cond delay="0"/>
                                  </p:stCondLst>
                                  <p:childTnLst>
                                    <p:set>
                                      <p:cBhvr>
                                        <p:cTn id="81" dur="1" fill="hold">
                                          <p:stCondLst>
                                            <p:cond delay="0"/>
                                          </p:stCondLst>
                                        </p:cTn>
                                        <p:tgtEl>
                                          <p:spTgt spid="1184891"/>
                                        </p:tgtEl>
                                        <p:attrNameLst>
                                          <p:attrName>style.visibility</p:attrName>
                                        </p:attrNameLst>
                                      </p:cBhvr>
                                      <p:to>
                                        <p:strVal val="visible"/>
                                      </p:to>
                                    </p:set>
                                    <p:animEffect transition="in" filter="box(out)">
                                      <p:cBhvr>
                                        <p:cTn id="82" dur="500"/>
                                        <p:tgtEl>
                                          <p:spTgt spid="1184891"/>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4770" grpId="0" animBg="1"/>
      <p:bldP spid="1184771" grpId="0" animBg="1"/>
      <p:bldP spid="1184772" grpId="0" animBg="1"/>
      <p:bldP spid="1184773" grpId="0" animBg="1"/>
      <p:bldP spid="1184774" grpId="0" animBg="1"/>
      <p:bldP spid="1184775" grpId="0" animBg="1"/>
      <p:bldP spid="1184776" grpId="0" animBg="1"/>
      <p:bldP spid="1184777" grpId="0" animBg="1"/>
      <p:bldP spid="1184778" grpId="0" animBg="1"/>
      <p:bldP spid="1184779" grpId="0" animBg="1"/>
      <p:bldP spid="118489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Text Box 2"/>
          <p:cNvSpPr txBox="1">
            <a:spLocks noChangeArrowheads="1"/>
          </p:cNvSpPr>
          <p:nvPr/>
        </p:nvSpPr>
        <p:spPr bwMode="auto">
          <a:xfrm>
            <a:off x="-108585" y="1193800"/>
            <a:ext cx="9153525" cy="3883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15000"/>
              </a:lnSpc>
            </a:pPr>
            <a:r>
              <a:rPr lang="zh-CN" altLang="en-US" sz="3600" b="1">
                <a:ea typeface="楷体_GB2312" charset="0"/>
              </a:rPr>
              <a:t> </a:t>
            </a:r>
            <a:r>
              <a:rPr lang="en-US" altLang="zh-CN" sz="3600" b="1">
                <a:ea typeface="楷体_GB2312" charset="0"/>
              </a:rPr>
              <a:t>ADT</a:t>
            </a:r>
            <a:r>
              <a:rPr lang="en-US" altLang="zh-CN" sz="3600">
                <a:ea typeface="楷体_GB2312" charset="0"/>
              </a:rPr>
              <a:t> Queue </a:t>
            </a:r>
            <a:r>
              <a:rPr lang="en-US" altLang="zh-CN" sz="3600" b="1">
                <a:ea typeface="楷体_GB2312" charset="0"/>
              </a:rPr>
              <a:t>{</a:t>
            </a:r>
            <a:endParaRPr lang="en-US" altLang="zh-CN" sz="3600" b="1">
              <a:ea typeface="楷体_GB2312" charset="0"/>
            </a:endParaRPr>
          </a:p>
          <a:p>
            <a:pPr eaLnBrk="0" hangingPunct="0">
              <a:lnSpc>
                <a:spcPct val="115000"/>
              </a:lnSpc>
            </a:pPr>
            <a:r>
              <a:rPr lang="en-US" altLang="zh-CN" sz="3600">
                <a:ea typeface="楷体_GB2312" charset="0"/>
              </a:rPr>
              <a:t>    </a:t>
            </a:r>
            <a:r>
              <a:rPr lang="zh-CN" altLang="en-US" sz="3600" b="1">
                <a:solidFill>
                  <a:srgbClr val="800000"/>
                </a:solidFill>
                <a:ea typeface="楷体_GB2312" charset="0"/>
              </a:rPr>
              <a:t>数据对象：</a:t>
            </a:r>
            <a:endParaRPr lang="zh-CN" altLang="en-US" sz="3600" b="1">
              <a:ea typeface="楷体_GB2312" charset="0"/>
            </a:endParaRPr>
          </a:p>
          <a:p>
            <a:pPr eaLnBrk="0" hangingPunct="0">
              <a:lnSpc>
                <a:spcPct val="115000"/>
              </a:lnSpc>
            </a:pPr>
            <a:r>
              <a:rPr lang="zh-CN" altLang="en-US" sz="3600" b="1">
                <a:ea typeface="楷体_GB2312" charset="0"/>
              </a:rPr>
              <a:t>               </a:t>
            </a:r>
            <a:r>
              <a:rPr lang="en-US" altLang="zh-CN" sz="3600">
                <a:ea typeface="楷体_GB2312" charset="0"/>
              </a:rPr>
              <a:t>D</a:t>
            </a:r>
            <a:r>
              <a:rPr lang="zh-CN" altLang="en-US" sz="3600">
                <a:ea typeface="楷体_GB2312" charset="0"/>
              </a:rPr>
              <a:t>＝</a:t>
            </a:r>
            <a:r>
              <a:rPr lang="en-US" altLang="zh-CN" sz="3600">
                <a:ea typeface="楷体_GB2312" charset="0"/>
              </a:rPr>
              <a:t>{a</a:t>
            </a:r>
            <a:r>
              <a:rPr lang="en-US" altLang="zh-CN" sz="3600" baseline="-25000">
                <a:ea typeface="楷体_GB2312" charset="0"/>
              </a:rPr>
              <a:t>i</a:t>
            </a:r>
            <a:r>
              <a:rPr lang="en-US" altLang="zh-CN" sz="3600">
                <a:ea typeface="楷体_GB2312" charset="0"/>
              </a:rPr>
              <a:t> | a</a:t>
            </a:r>
            <a:r>
              <a:rPr lang="en-US" altLang="zh-CN" sz="3600" baseline="-25000">
                <a:ea typeface="楷体_GB2312" charset="0"/>
              </a:rPr>
              <a:t>i</a:t>
            </a:r>
            <a:r>
              <a:rPr lang="en-US" altLang="zh-CN" sz="3600">
                <a:ea typeface="楷体_GB2312" charset="0"/>
              </a:rPr>
              <a:t>∈ElemSet, i=1,2,...,n, n≥0}</a:t>
            </a:r>
            <a:endParaRPr lang="en-US" altLang="zh-CN" sz="3600">
              <a:ea typeface="楷体_GB2312" charset="0"/>
            </a:endParaRPr>
          </a:p>
          <a:p>
            <a:pPr eaLnBrk="0" hangingPunct="0">
              <a:lnSpc>
                <a:spcPct val="115000"/>
              </a:lnSpc>
            </a:pPr>
            <a:r>
              <a:rPr lang="en-US" altLang="zh-CN" sz="3600">
                <a:ea typeface="楷体_GB2312" charset="0"/>
              </a:rPr>
              <a:t>    </a:t>
            </a:r>
            <a:r>
              <a:rPr lang="zh-CN" altLang="en-US" sz="3600" b="1">
                <a:solidFill>
                  <a:srgbClr val="800000"/>
                </a:solidFill>
                <a:ea typeface="楷体_GB2312" charset="0"/>
              </a:rPr>
              <a:t>数据关系：</a:t>
            </a:r>
            <a:endParaRPr lang="zh-CN" altLang="en-US" sz="3600" b="1">
              <a:ea typeface="楷体_GB2312" charset="0"/>
            </a:endParaRPr>
          </a:p>
          <a:p>
            <a:pPr eaLnBrk="0" hangingPunct="0">
              <a:lnSpc>
                <a:spcPct val="115000"/>
              </a:lnSpc>
            </a:pPr>
            <a:r>
              <a:rPr lang="zh-CN" altLang="en-US" sz="3600" b="1">
                <a:ea typeface="楷体_GB2312" charset="0"/>
              </a:rPr>
              <a:t>               </a:t>
            </a:r>
            <a:r>
              <a:rPr lang="en-US" altLang="zh-CN" sz="3600">
                <a:ea typeface="楷体_GB2312" charset="0"/>
              </a:rPr>
              <a:t>R1</a:t>
            </a:r>
            <a:r>
              <a:rPr lang="zh-CN" altLang="en-US" sz="3600">
                <a:ea typeface="楷体_GB2312" charset="0"/>
              </a:rPr>
              <a:t>＝</a:t>
            </a:r>
            <a:r>
              <a:rPr lang="en-US" altLang="zh-CN" sz="3600">
                <a:ea typeface="楷体_GB2312" charset="0"/>
              </a:rPr>
              <a:t>{ &lt;a </a:t>
            </a:r>
            <a:r>
              <a:rPr lang="en-US" altLang="zh-CN" sz="3600" baseline="-25000">
                <a:ea typeface="楷体_GB2312" charset="0"/>
              </a:rPr>
              <a:t>i-1</a:t>
            </a:r>
            <a:r>
              <a:rPr lang="en-US" altLang="zh-CN" sz="3600">
                <a:ea typeface="楷体_GB2312" charset="0"/>
              </a:rPr>
              <a:t>,a</a:t>
            </a:r>
            <a:r>
              <a:rPr lang="en-US" altLang="zh-CN" sz="3600" baseline="-25000">
                <a:ea typeface="楷体_GB2312" charset="0"/>
              </a:rPr>
              <a:t>i</a:t>
            </a:r>
            <a:r>
              <a:rPr lang="en-US" altLang="zh-CN" sz="3600">
                <a:ea typeface="楷体_GB2312" charset="0"/>
              </a:rPr>
              <a:t> &gt; | a</a:t>
            </a:r>
            <a:r>
              <a:rPr lang="en-US" altLang="zh-CN" sz="3600" baseline="-25000">
                <a:ea typeface="楷体_GB2312" charset="0"/>
              </a:rPr>
              <a:t>i-1</a:t>
            </a:r>
            <a:r>
              <a:rPr lang="en-US" altLang="zh-CN" sz="3600">
                <a:ea typeface="楷体_GB2312" charset="0"/>
              </a:rPr>
              <a:t>, a</a:t>
            </a:r>
            <a:r>
              <a:rPr lang="en-US" altLang="zh-CN" sz="3600" baseline="-25000">
                <a:ea typeface="楷体_GB2312" charset="0"/>
              </a:rPr>
              <a:t>i </a:t>
            </a:r>
            <a:r>
              <a:rPr lang="en-US" altLang="zh-CN" sz="3600">
                <a:ea typeface="楷体_GB2312" charset="0"/>
              </a:rPr>
              <a:t>∈D, i=2,...,n}</a:t>
            </a:r>
            <a:endParaRPr lang="en-US" altLang="zh-CN" sz="3600">
              <a:ea typeface="楷体_GB2312" charset="0"/>
            </a:endParaRPr>
          </a:p>
          <a:p>
            <a:pPr eaLnBrk="0" hangingPunct="0">
              <a:lnSpc>
                <a:spcPct val="115000"/>
              </a:lnSpc>
            </a:pPr>
            <a:r>
              <a:rPr lang="en-US" altLang="zh-CN" sz="3600">
                <a:ea typeface="楷体_GB2312" charset="0"/>
              </a:rPr>
              <a:t>       </a:t>
            </a:r>
            <a:r>
              <a:rPr lang="zh-CN" altLang="en-US" sz="3600">
                <a:ea typeface="楷体_GB2312" charset="0"/>
              </a:rPr>
              <a:t>约定其中</a:t>
            </a:r>
            <a:r>
              <a:rPr lang="en-US" altLang="zh-CN" sz="3600" b="1">
                <a:solidFill>
                  <a:srgbClr val="FF5050"/>
                </a:solidFill>
                <a:ea typeface="楷体_GB2312" charset="0"/>
              </a:rPr>
              <a:t>a</a:t>
            </a:r>
            <a:r>
              <a:rPr lang="en-US" altLang="zh-CN" sz="3600" b="1" baseline="-25000">
                <a:solidFill>
                  <a:srgbClr val="FF5050"/>
                </a:solidFill>
                <a:ea typeface="楷体_GB2312" charset="0"/>
              </a:rPr>
              <a:t>1</a:t>
            </a:r>
            <a:r>
              <a:rPr lang="en-US" altLang="zh-CN" sz="3600">
                <a:solidFill>
                  <a:srgbClr val="FF5050"/>
                </a:solidFill>
                <a:ea typeface="楷体_GB2312" charset="0"/>
              </a:rPr>
              <a:t> </a:t>
            </a:r>
            <a:r>
              <a:rPr lang="zh-CN" altLang="en-US" sz="3600">
                <a:solidFill>
                  <a:srgbClr val="FF5050"/>
                </a:solidFill>
                <a:ea typeface="楷体_GB2312" charset="0"/>
              </a:rPr>
              <a:t>端为</a:t>
            </a:r>
            <a:r>
              <a:rPr lang="zh-CN" altLang="en-US" sz="3600" b="1">
                <a:solidFill>
                  <a:srgbClr val="FF5050"/>
                </a:solidFill>
                <a:ea typeface="楷体_GB2312" charset="0"/>
              </a:rPr>
              <a:t>队列头</a:t>
            </a:r>
            <a:r>
              <a:rPr lang="zh-CN" altLang="en-US" sz="3600">
                <a:ea typeface="楷体_GB2312" charset="0"/>
              </a:rPr>
              <a:t>， </a:t>
            </a:r>
            <a:r>
              <a:rPr lang="en-US" altLang="zh-CN" sz="3600" b="1">
                <a:solidFill>
                  <a:srgbClr val="FF5050"/>
                </a:solidFill>
                <a:ea typeface="楷体_GB2312" charset="0"/>
              </a:rPr>
              <a:t>a</a:t>
            </a:r>
            <a:r>
              <a:rPr lang="en-US" altLang="zh-CN" sz="3600" b="1" baseline="-25000">
                <a:solidFill>
                  <a:srgbClr val="FF5050"/>
                </a:solidFill>
                <a:ea typeface="楷体_GB2312" charset="0"/>
              </a:rPr>
              <a:t>n</a:t>
            </a:r>
            <a:r>
              <a:rPr lang="en-US" altLang="zh-CN" sz="3600">
                <a:solidFill>
                  <a:srgbClr val="FF5050"/>
                </a:solidFill>
                <a:ea typeface="楷体_GB2312" charset="0"/>
              </a:rPr>
              <a:t> </a:t>
            </a:r>
            <a:r>
              <a:rPr lang="zh-CN" altLang="en-US" sz="3600">
                <a:solidFill>
                  <a:srgbClr val="FF5050"/>
                </a:solidFill>
                <a:ea typeface="楷体_GB2312" charset="0"/>
              </a:rPr>
              <a:t>端为</a:t>
            </a:r>
            <a:r>
              <a:rPr lang="zh-CN" altLang="en-US" sz="3600" b="1">
                <a:solidFill>
                  <a:srgbClr val="FF5050"/>
                </a:solidFill>
                <a:ea typeface="楷体_GB2312" charset="0"/>
              </a:rPr>
              <a:t>队列尾</a:t>
            </a:r>
            <a:endParaRPr lang="zh-CN" altLang="en-US" sz="3600">
              <a:ea typeface="楷体_GB2312" charset="0"/>
            </a:endParaRPr>
          </a:p>
        </p:txBody>
      </p:sp>
      <p:sp>
        <p:nvSpPr>
          <p:cNvPr id="1090563" name="Text Box 3">
            <a:hlinkClick r:id="" action="ppaction://hlinkshowjump?jump=nextslide"/>
          </p:cNvPr>
          <p:cNvSpPr txBox="1">
            <a:spLocks noChangeArrowheads="1"/>
          </p:cNvSpPr>
          <p:nvPr/>
        </p:nvSpPr>
        <p:spPr bwMode="auto">
          <a:xfrm>
            <a:off x="485775" y="5149850"/>
            <a:ext cx="24701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3600" b="1" u="sng">
                <a:solidFill>
                  <a:srgbClr val="FF0000"/>
                </a:solidFill>
                <a:ea typeface="楷体_GB2312" charset="0"/>
              </a:rPr>
              <a:t>基本操作：</a:t>
            </a:r>
            <a:endParaRPr lang="zh-CN" altLang="en-US" sz="3600" b="1" u="sng">
              <a:ea typeface="楷体_GB2312" charset="0"/>
            </a:endParaRPr>
          </a:p>
        </p:txBody>
      </p:sp>
      <p:sp>
        <p:nvSpPr>
          <p:cNvPr id="1090564" name="Text Box 4"/>
          <p:cNvSpPr txBox="1">
            <a:spLocks noChangeArrowheads="1"/>
          </p:cNvSpPr>
          <p:nvPr/>
        </p:nvSpPr>
        <p:spPr bwMode="auto">
          <a:xfrm>
            <a:off x="1371600" y="136525"/>
            <a:ext cx="6705600"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6000" b="1">
                <a:solidFill>
                  <a:srgbClr val="996633"/>
                </a:solidFill>
                <a:ea typeface="楷体_GB2312" charset="0"/>
              </a:rPr>
              <a:t>3.4 </a:t>
            </a:r>
            <a:r>
              <a:rPr lang="zh-CN" altLang="en-US" sz="6000" b="1">
                <a:solidFill>
                  <a:srgbClr val="996633"/>
                </a:solidFill>
                <a:ea typeface="隶书" panose="02010509060101010101" charset="-122"/>
              </a:rPr>
              <a:t>队列的类型定义</a:t>
            </a:r>
            <a:endParaRPr lang="zh-CN" altLang="en-US" sz="2400" b="1">
              <a:ea typeface="楷体_GB2312" charset="0"/>
            </a:endParaRPr>
          </a:p>
        </p:txBody>
      </p:sp>
      <p:sp>
        <p:nvSpPr>
          <p:cNvPr id="1090565" name="Text Box 5"/>
          <p:cNvSpPr txBox="1">
            <a:spLocks noChangeArrowheads="1"/>
          </p:cNvSpPr>
          <p:nvPr/>
        </p:nvSpPr>
        <p:spPr bwMode="auto">
          <a:xfrm>
            <a:off x="144463" y="5835650"/>
            <a:ext cx="2751137"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600" b="1">
                <a:ea typeface="楷体_GB2312" charset="0"/>
              </a:rPr>
              <a:t>}</a:t>
            </a:r>
            <a:r>
              <a:rPr lang="en-US" altLang="zh-CN" sz="3600">
                <a:ea typeface="楷体_GB2312" charset="0"/>
              </a:rPr>
              <a:t> </a:t>
            </a:r>
            <a:r>
              <a:rPr lang="en-US" altLang="zh-CN" sz="3600" b="1">
                <a:ea typeface="楷体_GB2312" charset="0"/>
              </a:rPr>
              <a:t>ADT </a:t>
            </a:r>
            <a:r>
              <a:rPr lang="en-US" altLang="zh-CN" sz="3600">
                <a:ea typeface="楷体_GB2312" charset="0"/>
              </a:rPr>
              <a:t>Queue</a:t>
            </a:r>
            <a:endParaRPr lang="en-US" altLang="zh-CN" sz="3600">
              <a:ea typeface="楷体_GB2312" charset="0"/>
            </a:endParaRPr>
          </a:p>
        </p:txBody>
      </p:sp>
      <p:sp>
        <p:nvSpPr>
          <p:cNvPr id="1090566" name="AutoShape 6">
            <a:hlinkClick r:id="rId1" action="ppaction://hlinksldjump" highlightClick="1"/>
          </p:cNvPr>
          <p:cNvSpPr>
            <a:spLocks noChangeArrowheads="1"/>
          </p:cNvSpPr>
          <p:nvPr/>
        </p:nvSpPr>
        <p:spPr bwMode="auto">
          <a:xfrm>
            <a:off x="8153400" y="60960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090562"/>
                                        </p:tgtEl>
                                        <p:attrNameLst>
                                          <p:attrName>style.visibility</p:attrName>
                                        </p:attrNameLst>
                                      </p:cBhvr>
                                      <p:to>
                                        <p:strVal val="visible"/>
                                      </p:to>
                                    </p:set>
                                    <p:anim calcmode="lin" valueType="num">
                                      <p:cBhvr>
                                        <p:cTn id="7" dur="500" fill="hold"/>
                                        <p:tgtEl>
                                          <p:spTgt spid="1090562"/>
                                        </p:tgtEl>
                                        <p:attrNameLst>
                                          <p:attrName>ppt_x</p:attrName>
                                        </p:attrNameLst>
                                      </p:cBhvr>
                                      <p:tavLst>
                                        <p:tav tm="0">
                                          <p:val>
                                            <p:strVal val="#ppt_x"/>
                                          </p:val>
                                        </p:tav>
                                        <p:tav tm="100000">
                                          <p:val>
                                            <p:strVal val="#ppt_x"/>
                                          </p:val>
                                        </p:tav>
                                      </p:tavLst>
                                    </p:anim>
                                    <p:anim calcmode="lin" valueType="num">
                                      <p:cBhvr>
                                        <p:cTn id="8" dur="500" fill="hold"/>
                                        <p:tgtEl>
                                          <p:spTgt spid="1090562"/>
                                        </p:tgtEl>
                                        <p:attrNameLst>
                                          <p:attrName>ppt_y</p:attrName>
                                        </p:attrNameLst>
                                      </p:cBhvr>
                                      <p:tavLst>
                                        <p:tav tm="0">
                                          <p:val>
                                            <p:strVal val="#ppt_y-#ppt_h/2"/>
                                          </p:val>
                                        </p:tav>
                                        <p:tav tm="100000">
                                          <p:val>
                                            <p:strVal val="#ppt_y"/>
                                          </p:val>
                                        </p:tav>
                                      </p:tavLst>
                                    </p:anim>
                                    <p:anim calcmode="lin" valueType="num">
                                      <p:cBhvr>
                                        <p:cTn id="9" dur="500" fill="hold"/>
                                        <p:tgtEl>
                                          <p:spTgt spid="1090562"/>
                                        </p:tgtEl>
                                        <p:attrNameLst>
                                          <p:attrName>ppt_w</p:attrName>
                                        </p:attrNameLst>
                                      </p:cBhvr>
                                      <p:tavLst>
                                        <p:tav tm="0">
                                          <p:val>
                                            <p:strVal val="#ppt_w"/>
                                          </p:val>
                                        </p:tav>
                                        <p:tav tm="100000">
                                          <p:val>
                                            <p:strVal val="#ppt_w"/>
                                          </p:val>
                                        </p:tav>
                                      </p:tavLst>
                                    </p:anim>
                                    <p:anim calcmode="lin" valueType="num">
                                      <p:cBhvr>
                                        <p:cTn id="10" dur="500" fill="hold"/>
                                        <p:tgtEl>
                                          <p:spTgt spid="1090562"/>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109056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90563"/>
                                        </p:tgtEl>
                                        <p:attrNameLst>
                                          <p:attrName>style.visibility</p:attrName>
                                        </p:attrNameLst>
                                      </p:cBhvr>
                                      <p:to>
                                        <p:strVal val="visible"/>
                                      </p:to>
                                    </p:set>
                                    <p:anim calcmode="lin" valueType="num">
                                      <p:cBhvr additive="base">
                                        <p:cTn id="18" dur="500" fill="hold"/>
                                        <p:tgtEl>
                                          <p:spTgt spid="1090563"/>
                                        </p:tgtEl>
                                        <p:attrNameLst>
                                          <p:attrName>ppt_x</p:attrName>
                                        </p:attrNameLst>
                                      </p:cBhvr>
                                      <p:tavLst>
                                        <p:tav tm="0">
                                          <p:val>
                                            <p:strVal val="0-#ppt_w/2"/>
                                          </p:val>
                                        </p:tav>
                                        <p:tav tm="100000">
                                          <p:val>
                                            <p:strVal val="#ppt_x"/>
                                          </p:val>
                                        </p:tav>
                                      </p:tavLst>
                                    </p:anim>
                                    <p:anim calcmode="lin" valueType="num">
                                      <p:cBhvr additive="base">
                                        <p:cTn id="19" dur="500" fill="hold"/>
                                        <p:tgtEl>
                                          <p:spTgt spid="1090563"/>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1090566"/>
                                        </p:tgtEl>
                                        <p:attrNameLst>
                                          <p:attrName>style.visibility</p:attrName>
                                        </p:attrNameLst>
                                      </p:cBhvr>
                                      <p:to>
                                        <p:strVal val="visible"/>
                                      </p:to>
                                    </p:set>
                                    <p:anim calcmode="lin" valueType="num">
                                      <p:cBhvr additive="base">
                                        <p:cTn id="23" dur="500" fill="hold"/>
                                        <p:tgtEl>
                                          <p:spTgt spid="1090566"/>
                                        </p:tgtEl>
                                        <p:attrNameLst>
                                          <p:attrName>ppt_x</p:attrName>
                                        </p:attrNameLst>
                                      </p:cBhvr>
                                      <p:tavLst>
                                        <p:tav tm="0">
                                          <p:val>
                                            <p:strVal val="0-#ppt_w/2"/>
                                          </p:val>
                                        </p:tav>
                                        <p:tav tm="100000">
                                          <p:val>
                                            <p:strVal val="#ppt_x"/>
                                          </p:val>
                                        </p:tav>
                                      </p:tavLst>
                                    </p:anim>
                                    <p:anim calcmode="lin" valueType="num">
                                      <p:cBhvr additive="base">
                                        <p:cTn id="24" dur="500" fill="hold"/>
                                        <p:tgtEl>
                                          <p:spTgt spid="10905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0562" grpId="0" autoUpdateAnimBg="0"/>
      <p:bldP spid="1090563" grpId="0" autoUpdateAnimBg="0"/>
      <p:bldP spid="1090565" grpId="0" autoUpdateAnimBg="0"/>
      <p:bldP spid="109056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Text Box 2"/>
          <p:cNvSpPr txBox="1">
            <a:spLocks noChangeArrowheads="1"/>
          </p:cNvSpPr>
          <p:nvPr/>
        </p:nvSpPr>
        <p:spPr bwMode="auto">
          <a:xfrm>
            <a:off x="1524000" y="228600"/>
            <a:ext cx="466725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400" b="1">
                <a:solidFill>
                  <a:srgbClr val="FF0000"/>
                </a:solidFill>
                <a:ea typeface="楷体_GB2312" charset="0"/>
              </a:rPr>
              <a:t>队列的基本操作：</a:t>
            </a:r>
            <a:endParaRPr lang="zh-CN" altLang="en-US" sz="4400" b="1">
              <a:solidFill>
                <a:srgbClr val="FF0000"/>
              </a:solidFill>
              <a:ea typeface="楷体_GB2312" charset="0"/>
            </a:endParaRPr>
          </a:p>
        </p:txBody>
      </p:sp>
      <p:sp>
        <p:nvSpPr>
          <p:cNvPr id="1091587" name="Text Box 3">
            <a:hlinkClick r:id="" action="ppaction://hlinkshowjump?jump=nextslide"/>
          </p:cNvPr>
          <p:cNvSpPr txBox="1">
            <a:spLocks noChangeArrowheads="1"/>
          </p:cNvSpPr>
          <p:nvPr/>
        </p:nvSpPr>
        <p:spPr bwMode="auto">
          <a:xfrm>
            <a:off x="514350" y="1797050"/>
            <a:ext cx="33210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3600">
                <a:ea typeface="楷体_GB2312" charset="0"/>
              </a:rPr>
              <a:t> </a:t>
            </a:r>
            <a:r>
              <a:rPr lang="en-US" altLang="zh-CN" sz="3600" b="1">
                <a:solidFill>
                  <a:srgbClr val="800000"/>
                </a:solidFill>
                <a:ea typeface="楷体_GB2312" charset="0"/>
              </a:rPr>
              <a:t>InitQueue(&amp;Q)</a:t>
            </a:r>
            <a:endParaRPr lang="en-US" altLang="zh-CN" sz="3600"/>
          </a:p>
        </p:txBody>
      </p:sp>
      <p:sp>
        <p:nvSpPr>
          <p:cNvPr id="1091588" name="Text Box 4">
            <a:hlinkClick r:id="" action="ppaction://hlinkshowjump?jump=nextslide"/>
          </p:cNvPr>
          <p:cNvSpPr txBox="1">
            <a:spLocks noChangeArrowheads="1"/>
          </p:cNvSpPr>
          <p:nvPr/>
        </p:nvSpPr>
        <p:spPr bwMode="auto">
          <a:xfrm>
            <a:off x="4495800" y="1752600"/>
            <a:ext cx="40195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600" b="1">
                <a:solidFill>
                  <a:srgbClr val="800000"/>
                </a:solidFill>
                <a:ea typeface="楷体_GB2312" charset="0"/>
              </a:rPr>
              <a:t>DestroyQueue(&amp;Q)</a:t>
            </a:r>
            <a:endParaRPr lang="en-US" altLang="zh-CN" sz="3600">
              <a:ea typeface="楷体_GB2312" charset="0"/>
            </a:endParaRPr>
          </a:p>
        </p:txBody>
      </p:sp>
      <p:sp>
        <p:nvSpPr>
          <p:cNvPr id="1091589" name="Text Box 5">
            <a:hlinkClick r:id="rId1" action="ppaction://hlinksldjump"/>
          </p:cNvPr>
          <p:cNvSpPr txBox="1">
            <a:spLocks noChangeArrowheads="1"/>
          </p:cNvSpPr>
          <p:nvPr/>
        </p:nvSpPr>
        <p:spPr bwMode="auto">
          <a:xfrm>
            <a:off x="609600" y="2635250"/>
            <a:ext cx="34353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600" b="1">
                <a:solidFill>
                  <a:srgbClr val="800000"/>
                </a:solidFill>
                <a:ea typeface="楷体_GB2312" charset="0"/>
              </a:rPr>
              <a:t>QueueEmpty(Q)</a:t>
            </a:r>
            <a:endParaRPr lang="en-US" altLang="zh-CN" sz="3600" b="1">
              <a:solidFill>
                <a:srgbClr val="800000"/>
              </a:solidFill>
              <a:ea typeface="楷体_GB2312" charset="0"/>
            </a:endParaRPr>
          </a:p>
        </p:txBody>
      </p:sp>
      <p:sp>
        <p:nvSpPr>
          <p:cNvPr id="1091590" name="Text Box 6">
            <a:hlinkClick r:id="rId2" action="ppaction://hlinksldjump"/>
          </p:cNvPr>
          <p:cNvSpPr txBox="1">
            <a:spLocks noChangeArrowheads="1"/>
          </p:cNvSpPr>
          <p:nvPr/>
        </p:nvSpPr>
        <p:spPr bwMode="auto">
          <a:xfrm>
            <a:off x="4556125" y="2635250"/>
            <a:ext cx="35115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600" b="1">
                <a:solidFill>
                  <a:srgbClr val="800000"/>
                </a:solidFill>
                <a:ea typeface="楷体_GB2312" charset="0"/>
              </a:rPr>
              <a:t>QueueLength(Q)</a:t>
            </a:r>
            <a:endParaRPr lang="en-US" altLang="zh-CN" sz="3600" b="1">
              <a:solidFill>
                <a:srgbClr val="800000"/>
              </a:solidFill>
              <a:ea typeface="楷体_GB2312" charset="0"/>
            </a:endParaRPr>
          </a:p>
        </p:txBody>
      </p:sp>
      <p:sp>
        <p:nvSpPr>
          <p:cNvPr id="1091591" name="Text Box 7">
            <a:hlinkClick r:id="rId3" action="ppaction://hlinksldjump"/>
          </p:cNvPr>
          <p:cNvSpPr txBox="1">
            <a:spLocks noChangeArrowheads="1"/>
          </p:cNvSpPr>
          <p:nvPr/>
        </p:nvSpPr>
        <p:spPr bwMode="auto">
          <a:xfrm>
            <a:off x="628650" y="3549650"/>
            <a:ext cx="34099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600" b="1">
                <a:solidFill>
                  <a:srgbClr val="800000"/>
                </a:solidFill>
                <a:ea typeface="楷体_GB2312" charset="0"/>
              </a:rPr>
              <a:t>GetHead(Q, &amp;e)</a:t>
            </a:r>
            <a:endParaRPr lang="en-US" altLang="zh-CN" sz="3600">
              <a:ea typeface="楷体_GB2312" charset="0"/>
            </a:endParaRPr>
          </a:p>
        </p:txBody>
      </p:sp>
      <p:sp>
        <p:nvSpPr>
          <p:cNvPr id="1091592" name="Text Box 8">
            <a:hlinkClick r:id="rId4" action="ppaction://hlinksldjump"/>
          </p:cNvPr>
          <p:cNvSpPr txBox="1">
            <a:spLocks noChangeArrowheads="1"/>
          </p:cNvSpPr>
          <p:nvPr/>
        </p:nvSpPr>
        <p:spPr bwMode="auto">
          <a:xfrm>
            <a:off x="4572000" y="3549650"/>
            <a:ext cx="35877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600" b="1">
                <a:solidFill>
                  <a:srgbClr val="800000"/>
                </a:solidFill>
                <a:ea typeface="楷体_GB2312" charset="0"/>
              </a:rPr>
              <a:t>ClearQueue(&amp;Q)</a:t>
            </a:r>
            <a:endParaRPr lang="en-US" altLang="zh-CN" sz="3600">
              <a:ea typeface="楷体_GB2312" charset="0"/>
            </a:endParaRPr>
          </a:p>
        </p:txBody>
      </p:sp>
      <p:sp>
        <p:nvSpPr>
          <p:cNvPr id="1091593" name="Text Box 9">
            <a:hlinkClick r:id="rId5" action="ppaction://hlinksldjump"/>
          </p:cNvPr>
          <p:cNvSpPr txBox="1">
            <a:spLocks noChangeArrowheads="1"/>
          </p:cNvSpPr>
          <p:nvPr/>
        </p:nvSpPr>
        <p:spPr bwMode="auto">
          <a:xfrm>
            <a:off x="4632325" y="4387850"/>
            <a:ext cx="38417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600" b="1">
                <a:solidFill>
                  <a:srgbClr val="800000"/>
                </a:solidFill>
                <a:ea typeface="楷体_GB2312" charset="0"/>
              </a:rPr>
              <a:t>DeQueue(&amp;Q, &amp;e)</a:t>
            </a:r>
            <a:endParaRPr lang="en-US" altLang="zh-CN" sz="3600">
              <a:ea typeface="楷体_GB2312" charset="0"/>
            </a:endParaRPr>
          </a:p>
        </p:txBody>
      </p:sp>
      <p:sp>
        <p:nvSpPr>
          <p:cNvPr id="1091594" name="Text Box 10">
            <a:hlinkClick r:id="rId6" action="ppaction://hlinksldjump"/>
          </p:cNvPr>
          <p:cNvSpPr txBox="1">
            <a:spLocks noChangeArrowheads="1"/>
          </p:cNvSpPr>
          <p:nvPr/>
        </p:nvSpPr>
        <p:spPr bwMode="auto">
          <a:xfrm>
            <a:off x="704850" y="4387850"/>
            <a:ext cx="34861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600" b="1">
                <a:solidFill>
                  <a:srgbClr val="800000"/>
                </a:solidFill>
                <a:ea typeface="楷体_GB2312" charset="0"/>
              </a:rPr>
              <a:t>EnQueue(&amp;Q, e)</a:t>
            </a:r>
            <a:endParaRPr lang="en-US" altLang="zh-CN" sz="3600">
              <a:ea typeface="楷体_GB2312" charset="0"/>
            </a:endParaRPr>
          </a:p>
        </p:txBody>
      </p:sp>
      <p:sp>
        <p:nvSpPr>
          <p:cNvPr id="1091595" name="AutoShape 11">
            <a:hlinkClick r:id="" action="ppaction://hlinkshowjump?jump=previousslide" highlightClick="1"/>
          </p:cNvPr>
          <p:cNvSpPr>
            <a:spLocks noChangeArrowheads="1"/>
          </p:cNvSpPr>
          <p:nvPr/>
        </p:nvSpPr>
        <p:spPr bwMode="auto">
          <a:xfrm>
            <a:off x="8229600" y="6019800"/>
            <a:ext cx="381000" cy="381000"/>
          </a:xfrm>
          <a:prstGeom prst="actionButtonBackPrevious">
            <a:avLst/>
          </a:prstGeom>
          <a:solidFill>
            <a:srgbClr val="FFCC00"/>
          </a:solidFill>
          <a:ln w="9525">
            <a:solidFill>
              <a:srgbClr val="FF6600"/>
            </a:solidFill>
            <a:miter lim="800000"/>
          </a:ln>
        </p:spPr>
        <p:txBody>
          <a:bodyPr wrap="none" anchor="ctr"/>
          <a:lstStyle/>
          <a:p>
            <a:endParaRPr lang="zh-CN" altLang="en-US"/>
          </a:p>
        </p:txBody>
      </p:sp>
      <p:sp>
        <p:nvSpPr>
          <p:cNvPr id="1091596" name="Text Box 12"/>
          <p:cNvSpPr txBox="1">
            <a:spLocks noChangeArrowheads="1"/>
          </p:cNvSpPr>
          <p:nvPr/>
        </p:nvSpPr>
        <p:spPr bwMode="auto">
          <a:xfrm>
            <a:off x="762000" y="5257800"/>
            <a:ext cx="50101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600" b="1">
                <a:solidFill>
                  <a:srgbClr val="800000"/>
                </a:solidFill>
              </a:rPr>
              <a:t>QueueTravers(Q, visit())</a:t>
            </a:r>
            <a:endParaRPr lang="en-US" altLang="zh-CN" sz="4000"/>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10" name="Rectangle 2"/>
          <p:cNvSpPr>
            <a:spLocks noGrp="1" noChangeArrowheads="1"/>
          </p:cNvSpPr>
          <p:nvPr>
            <p:ph type="title" idx="4294967295"/>
          </p:nvPr>
        </p:nvSpPr>
        <p:spPr>
          <a:xfrm>
            <a:off x="685800" y="3505200"/>
            <a:ext cx="8077200" cy="1143000"/>
          </a:xfrm>
          <a:extLst>
            <a:ext uri="{91240B29-F687-4F45-9708-019B960494DF}">
              <a14:hiddenLine xmlns:a14="http://schemas.microsoft.com/office/drawing/2010/main" w="9525">
                <a:solidFill>
                  <a:srgbClr val="800000"/>
                </a:solidFill>
                <a:miter lim="800000"/>
                <a:headEnd/>
                <a:tailEnd/>
              </a14:hiddenLine>
            </a:ext>
          </a:extLst>
        </p:spPr>
        <p:txBody>
          <a:bodyPr>
            <a:normAutofit fontScale="90000"/>
          </a:bodyPr>
          <a:lstStyle/>
          <a:p>
            <a:pPr>
              <a:lnSpc>
                <a:spcPct val="120000"/>
              </a:lnSpc>
            </a:pPr>
            <a:r>
              <a:rPr lang="en-US" altLang="zh-CN" b="0">
                <a:solidFill>
                  <a:srgbClr val="800000"/>
                </a:solidFill>
                <a:ea typeface="楷体_GB2312" charset="0"/>
              </a:rPr>
              <a:t>InitQueue(&amp;Q)</a:t>
            </a:r>
            <a:br>
              <a:rPr lang="en-US" altLang="zh-CN" b="0">
                <a:solidFill>
                  <a:schemeClr val="tx1"/>
                </a:solidFill>
                <a:ea typeface="楷体_GB2312" charset="0"/>
              </a:rPr>
            </a:br>
            <a:r>
              <a:rPr lang="en-US" altLang="zh-CN">
                <a:solidFill>
                  <a:schemeClr val="tx1"/>
                </a:solidFill>
                <a:ea typeface="楷体_GB2312" charset="0"/>
              </a:rPr>
              <a:t>   </a:t>
            </a:r>
            <a:r>
              <a:rPr lang="zh-CN" altLang="en-US" b="0">
                <a:solidFill>
                  <a:schemeClr val="tx1"/>
                </a:solidFill>
                <a:ea typeface="楷体_GB2312" charset="0"/>
              </a:rPr>
              <a:t>操作结果：</a:t>
            </a:r>
            <a:r>
              <a:rPr lang="zh-CN" altLang="en-US">
                <a:solidFill>
                  <a:schemeClr val="tx1"/>
                </a:solidFill>
                <a:ea typeface="楷体_GB2312" charset="0"/>
              </a:rPr>
              <a:t>构造一个空队列</a:t>
            </a:r>
            <a:r>
              <a:rPr lang="en-US" altLang="zh-CN">
                <a:solidFill>
                  <a:schemeClr val="tx1"/>
                </a:solidFill>
                <a:ea typeface="楷体_GB2312" charset="0"/>
              </a:rPr>
              <a:t>Q</a:t>
            </a:r>
            <a:r>
              <a:rPr lang="zh-CN" altLang="en-US">
                <a:solidFill>
                  <a:schemeClr val="tx1"/>
                </a:solidFill>
                <a:ea typeface="楷体_GB2312" charset="0"/>
              </a:rPr>
              <a:t>。</a:t>
            </a:r>
            <a:br>
              <a:rPr lang="zh-CN" altLang="en-US">
                <a:solidFill>
                  <a:schemeClr val="tx1"/>
                </a:solidFill>
                <a:ea typeface="楷体_GB2312" charset="0"/>
              </a:rPr>
            </a:br>
            <a:br>
              <a:rPr lang="zh-CN" altLang="en-US">
                <a:solidFill>
                  <a:schemeClr val="tx1"/>
                </a:solidFill>
                <a:ea typeface="楷体_GB2312" charset="0"/>
              </a:rPr>
            </a:br>
            <a:r>
              <a:rPr lang="en-US" altLang="zh-CN" b="0">
                <a:solidFill>
                  <a:srgbClr val="800000"/>
                </a:solidFill>
                <a:ea typeface="楷体_GB2312" charset="0"/>
              </a:rPr>
              <a:t>DestroyQueue(&amp;Q)</a:t>
            </a:r>
            <a:br>
              <a:rPr lang="en-US" altLang="zh-CN">
                <a:solidFill>
                  <a:schemeClr val="tx1"/>
                </a:solidFill>
                <a:ea typeface="楷体_GB2312" charset="0"/>
              </a:rPr>
            </a:br>
            <a:r>
              <a:rPr lang="zh-CN" altLang="en-US" b="0">
                <a:solidFill>
                  <a:schemeClr val="tx1"/>
                </a:solidFill>
                <a:ea typeface="楷体_GB2312" charset="0"/>
              </a:rPr>
              <a:t>初始条件：</a:t>
            </a:r>
            <a:r>
              <a:rPr lang="zh-CN" altLang="en-US">
                <a:solidFill>
                  <a:schemeClr val="tx1"/>
                </a:solidFill>
                <a:ea typeface="楷体_GB2312" charset="0"/>
              </a:rPr>
              <a:t>队列</a:t>
            </a:r>
            <a:r>
              <a:rPr lang="en-US" altLang="zh-CN">
                <a:solidFill>
                  <a:schemeClr val="tx1"/>
                </a:solidFill>
                <a:ea typeface="楷体_GB2312" charset="0"/>
              </a:rPr>
              <a:t>Q</a:t>
            </a:r>
            <a:r>
              <a:rPr lang="zh-CN" altLang="en-US">
                <a:solidFill>
                  <a:schemeClr val="tx1"/>
                </a:solidFill>
                <a:ea typeface="楷体_GB2312" charset="0"/>
              </a:rPr>
              <a:t>已存在。</a:t>
            </a:r>
            <a:br>
              <a:rPr lang="zh-CN" altLang="en-US">
                <a:solidFill>
                  <a:schemeClr val="tx1"/>
                </a:solidFill>
                <a:ea typeface="楷体_GB2312" charset="0"/>
              </a:rPr>
            </a:br>
            <a:r>
              <a:rPr lang="zh-CN" altLang="en-US">
                <a:solidFill>
                  <a:schemeClr val="tx1"/>
                </a:solidFill>
                <a:ea typeface="楷体_GB2312" charset="0"/>
              </a:rPr>
              <a:t> </a:t>
            </a:r>
            <a:r>
              <a:rPr lang="zh-CN" altLang="en-US" b="0">
                <a:solidFill>
                  <a:schemeClr val="tx1"/>
                </a:solidFill>
                <a:ea typeface="楷体_GB2312" charset="0"/>
              </a:rPr>
              <a:t>操作结果：</a:t>
            </a:r>
            <a:r>
              <a:rPr lang="zh-CN" altLang="en-US">
                <a:solidFill>
                  <a:schemeClr val="tx1"/>
                </a:solidFill>
                <a:ea typeface="楷体_GB2312" charset="0"/>
              </a:rPr>
              <a:t>队列</a:t>
            </a:r>
            <a:r>
              <a:rPr lang="en-US" altLang="zh-CN">
                <a:solidFill>
                  <a:schemeClr val="tx1"/>
                </a:solidFill>
                <a:ea typeface="楷体_GB2312" charset="0"/>
              </a:rPr>
              <a:t>Q</a:t>
            </a:r>
            <a:r>
              <a:rPr lang="zh-CN" altLang="en-US">
                <a:solidFill>
                  <a:schemeClr val="tx1"/>
                </a:solidFill>
                <a:ea typeface="楷体_GB2312" charset="0"/>
              </a:rPr>
              <a:t>被销毁，</a:t>
            </a:r>
            <a:br>
              <a:rPr lang="zh-CN" altLang="en-US">
                <a:solidFill>
                  <a:schemeClr val="tx1"/>
                </a:solidFill>
                <a:ea typeface="楷体_GB2312" charset="0"/>
              </a:rPr>
            </a:br>
            <a:r>
              <a:rPr lang="zh-CN" altLang="en-US">
                <a:solidFill>
                  <a:schemeClr val="tx1"/>
                </a:solidFill>
                <a:ea typeface="楷体_GB2312" charset="0"/>
              </a:rPr>
              <a:t>          不再存在。</a:t>
            </a:r>
            <a:br>
              <a:rPr lang="zh-CN" altLang="en-US">
                <a:solidFill>
                  <a:schemeClr val="tx1"/>
                </a:solidFill>
                <a:ea typeface="楷体_GB2312" charset="0"/>
              </a:rPr>
            </a:br>
            <a:endParaRPr lang="zh-CN" altLang="en-US">
              <a:solidFill>
                <a:schemeClr val="tx1"/>
              </a:solidFill>
              <a:ea typeface="楷体_GB2312" charset="0"/>
            </a:endParaRPr>
          </a:p>
        </p:txBody>
      </p:sp>
      <p:sp>
        <p:nvSpPr>
          <p:cNvPr id="1092611" name="AutoShape 3">
            <a:hlinkClick r:id="" action="ppaction://hlinkshowjump?jump=lastslideviewed" highlightClick="1"/>
          </p:cNvPr>
          <p:cNvSpPr>
            <a:spLocks noChangeArrowheads="1"/>
          </p:cNvSpPr>
          <p:nvPr/>
        </p:nvSpPr>
        <p:spPr bwMode="auto">
          <a:xfrm>
            <a:off x="8305800" y="6019800"/>
            <a:ext cx="457200" cy="436563"/>
          </a:xfrm>
          <a:prstGeom prst="actionButtonReturn">
            <a:avLst/>
          </a:prstGeom>
          <a:solidFill>
            <a:srgbClr val="FF6600"/>
          </a:solidFill>
          <a:ln w="9525">
            <a:solidFill>
              <a:srgbClr val="A50021"/>
            </a:solidFill>
            <a:miter lim="800000"/>
          </a:ln>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idx="4294967295"/>
          </p:nvPr>
        </p:nvSpPr>
        <p:spPr>
          <a:xfrm>
            <a:off x="457200" y="2667000"/>
            <a:ext cx="7772400" cy="1143000"/>
          </a:xfrm>
          <a:extLst>
            <a:ext uri="{91240B29-F687-4F45-9708-019B960494DF}">
              <a14:hiddenLine xmlns:a14="http://schemas.microsoft.com/office/drawing/2010/main" w="9525">
                <a:solidFill>
                  <a:srgbClr val="800000"/>
                </a:solidFill>
                <a:miter lim="800000"/>
                <a:headEnd/>
                <a:tailEnd/>
              </a14:hiddenLine>
            </a:ext>
          </a:extLst>
        </p:spPr>
        <p:txBody>
          <a:bodyPr>
            <a:normAutofit fontScale="90000"/>
          </a:bodyPr>
          <a:lstStyle/>
          <a:p>
            <a:pPr>
              <a:lnSpc>
                <a:spcPct val="125000"/>
              </a:lnSpc>
            </a:pPr>
            <a:r>
              <a:rPr lang="zh-CN" altLang="en-US">
                <a:solidFill>
                  <a:schemeClr val="tx1"/>
                </a:solidFill>
                <a:ea typeface="楷体_GB2312" charset="0"/>
              </a:rPr>
              <a:t>        </a:t>
            </a:r>
            <a:r>
              <a:rPr lang="en-US" altLang="zh-CN" b="0">
                <a:solidFill>
                  <a:srgbClr val="800000"/>
                </a:solidFill>
                <a:ea typeface="楷体_GB2312" charset="0"/>
              </a:rPr>
              <a:t>QueueEmpty(Q)</a:t>
            </a:r>
            <a:br>
              <a:rPr lang="en-US" altLang="zh-CN">
                <a:solidFill>
                  <a:srgbClr val="800000"/>
                </a:solidFill>
                <a:ea typeface="楷体_GB2312" charset="0"/>
              </a:rPr>
            </a:br>
            <a:br>
              <a:rPr lang="en-US" altLang="zh-CN">
                <a:solidFill>
                  <a:schemeClr val="tx1"/>
                </a:solidFill>
                <a:ea typeface="楷体_GB2312" charset="0"/>
              </a:rPr>
            </a:br>
            <a:r>
              <a:rPr lang="zh-CN" altLang="en-US" b="0">
                <a:solidFill>
                  <a:schemeClr val="tx1"/>
                </a:solidFill>
                <a:ea typeface="楷体_GB2312" charset="0"/>
              </a:rPr>
              <a:t>初始条件：</a:t>
            </a:r>
            <a:r>
              <a:rPr lang="zh-CN" altLang="en-US">
                <a:solidFill>
                  <a:schemeClr val="tx1"/>
                </a:solidFill>
                <a:ea typeface="楷体_GB2312" charset="0"/>
              </a:rPr>
              <a:t>队列</a:t>
            </a:r>
            <a:r>
              <a:rPr lang="en-US" altLang="zh-CN">
                <a:solidFill>
                  <a:schemeClr val="tx1"/>
                </a:solidFill>
                <a:ea typeface="楷体_GB2312" charset="0"/>
              </a:rPr>
              <a:t>Q</a:t>
            </a:r>
            <a:r>
              <a:rPr lang="zh-CN" altLang="en-US">
                <a:solidFill>
                  <a:schemeClr val="tx1"/>
                </a:solidFill>
                <a:ea typeface="楷体_GB2312" charset="0"/>
              </a:rPr>
              <a:t>已存在。</a:t>
            </a:r>
            <a:br>
              <a:rPr lang="zh-CN" altLang="en-US">
                <a:solidFill>
                  <a:schemeClr val="tx1"/>
                </a:solidFill>
                <a:ea typeface="楷体_GB2312" charset="0"/>
              </a:rPr>
            </a:br>
            <a:r>
              <a:rPr lang="zh-CN" altLang="en-US">
                <a:solidFill>
                  <a:schemeClr val="tx1"/>
                </a:solidFill>
                <a:ea typeface="楷体_GB2312" charset="0"/>
              </a:rPr>
              <a:t>   </a:t>
            </a:r>
            <a:r>
              <a:rPr lang="zh-CN" altLang="en-US" b="0">
                <a:solidFill>
                  <a:schemeClr val="tx1"/>
                </a:solidFill>
                <a:ea typeface="楷体_GB2312" charset="0"/>
              </a:rPr>
              <a:t>操作结果：</a:t>
            </a:r>
            <a:r>
              <a:rPr lang="zh-CN" altLang="en-US">
                <a:solidFill>
                  <a:schemeClr val="tx1"/>
                </a:solidFill>
                <a:ea typeface="楷体_GB2312" charset="0"/>
              </a:rPr>
              <a:t>若</a:t>
            </a:r>
            <a:r>
              <a:rPr lang="en-US" altLang="zh-CN">
                <a:solidFill>
                  <a:schemeClr val="tx1"/>
                </a:solidFill>
                <a:ea typeface="楷体_GB2312" charset="0"/>
              </a:rPr>
              <a:t>Q</a:t>
            </a:r>
            <a:r>
              <a:rPr lang="zh-CN" altLang="en-US">
                <a:solidFill>
                  <a:schemeClr val="tx1"/>
                </a:solidFill>
                <a:ea typeface="楷体_GB2312" charset="0"/>
              </a:rPr>
              <a:t>为空队列，则返回</a:t>
            </a:r>
            <a:r>
              <a:rPr lang="en-US" altLang="zh-CN">
                <a:solidFill>
                  <a:schemeClr val="tx1"/>
                </a:solidFill>
                <a:ea typeface="楷体_GB2312" charset="0"/>
              </a:rPr>
              <a:t>TRUE</a:t>
            </a:r>
            <a:r>
              <a:rPr lang="zh-CN" altLang="en-US">
                <a:solidFill>
                  <a:schemeClr val="tx1"/>
                </a:solidFill>
                <a:ea typeface="楷体_GB2312" charset="0"/>
              </a:rPr>
              <a:t>，否则返回</a:t>
            </a:r>
            <a:r>
              <a:rPr lang="en-US" altLang="zh-CN">
                <a:solidFill>
                  <a:schemeClr val="tx1"/>
                </a:solidFill>
                <a:ea typeface="楷体_GB2312" charset="0"/>
              </a:rPr>
              <a:t>FALSE</a:t>
            </a:r>
            <a:r>
              <a:rPr lang="zh-CN" altLang="en-US">
                <a:solidFill>
                  <a:schemeClr val="tx1"/>
                </a:solidFill>
                <a:ea typeface="楷体_GB2312" charset="0"/>
              </a:rPr>
              <a:t>。</a:t>
            </a:r>
            <a:endParaRPr lang="zh-CN" altLang="en-US">
              <a:solidFill>
                <a:schemeClr val="tx1"/>
              </a:solidFill>
              <a:ea typeface="楷体_GB2312" charset="0"/>
            </a:endParaRPr>
          </a:p>
        </p:txBody>
      </p:sp>
      <p:sp>
        <p:nvSpPr>
          <p:cNvPr id="1093635" name="AutoShape 3">
            <a:hlinkClick r:id="" action="ppaction://hlinkshowjump?jump=lastslideviewed" highlightClick="1"/>
          </p:cNvPr>
          <p:cNvSpPr>
            <a:spLocks noChangeArrowheads="1"/>
          </p:cNvSpPr>
          <p:nvPr/>
        </p:nvSpPr>
        <p:spPr bwMode="auto">
          <a:xfrm>
            <a:off x="8229600" y="6019800"/>
            <a:ext cx="457200" cy="436563"/>
          </a:xfrm>
          <a:prstGeom prst="actionButtonReturn">
            <a:avLst/>
          </a:prstGeom>
          <a:solidFill>
            <a:srgbClr val="FF6600"/>
          </a:solidFill>
          <a:ln w="9525">
            <a:solidFill>
              <a:srgbClr val="A50021"/>
            </a:solidFill>
            <a:miter lim="800000"/>
          </a:ln>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4658" name="Rectangle 2"/>
          <p:cNvSpPr>
            <a:spLocks noGrp="1" noChangeArrowheads="1"/>
          </p:cNvSpPr>
          <p:nvPr>
            <p:ph type="title" idx="4294967295"/>
          </p:nvPr>
        </p:nvSpPr>
        <p:spPr>
          <a:xfrm>
            <a:off x="304800" y="2590800"/>
            <a:ext cx="7772400" cy="1143000"/>
          </a:xfrm>
          <a:extLst>
            <a:ext uri="{91240B29-F687-4F45-9708-019B960494DF}">
              <a14:hiddenLine xmlns:a14="http://schemas.microsoft.com/office/drawing/2010/main" w="9525">
                <a:solidFill>
                  <a:srgbClr val="800000"/>
                </a:solidFill>
                <a:miter lim="800000"/>
                <a:headEnd/>
                <a:tailEnd/>
              </a14:hiddenLine>
            </a:ext>
          </a:extLst>
        </p:spPr>
        <p:txBody>
          <a:bodyPr>
            <a:normAutofit fontScale="90000"/>
          </a:bodyPr>
          <a:lstStyle/>
          <a:p>
            <a:pPr>
              <a:lnSpc>
                <a:spcPct val="125000"/>
              </a:lnSpc>
            </a:pPr>
            <a:r>
              <a:rPr lang="zh-CN" altLang="en-US">
                <a:solidFill>
                  <a:schemeClr val="tx1"/>
                </a:solidFill>
                <a:ea typeface="楷体_GB2312" charset="0"/>
              </a:rPr>
              <a:t>        </a:t>
            </a:r>
            <a:r>
              <a:rPr lang="en-US" altLang="zh-CN" b="0">
                <a:solidFill>
                  <a:srgbClr val="800000"/>
                </a:solidFill>
                <a:ea typeface="楷体_GB2312" charset="0"/>
              </a:rPr>
              <a:t>QueueLength(Q)</a:t>
            </a:r>
            <a:br>
              <a:rPr lang="en-US" altLang="zh-CN" b="0">
                <a:solidFill>
                  <a:srgbClr val="800000"/>
                </a:solidFill>
                <a:ea typeface="楷体_GB2312" charset="0"/>
              </a:rPr>
            </a:br>
            <a:br>
              <a:rPr lang="en-US" altLang="zh-CN">
                <a:solidFill>
                  <a:schemeClr val="tx1"/>
                </a:solidFill>
                <a:ea typeface="楷体_GB2312" charset="0"/>
              </a:rPr>
            </a:br>
            <a:r>
              <a:rPr lang="en-US" altLang="zh-CN">
                <a:solidFill>
                  <a:schemeClr val="tx1"/>
                </a:solidFill>
                <a:ea typeface="楷体_GB2312" charset="0"/>
              </a:rPr>
              <a:t>   </a:t>
            </a:r>
            <a:r>
              <a:rPr lang="en-US" altLang="zh-CN" b="0">
                <a:solidFill>
                  <a:schemeClr val="tx1"/>
                </a:solidFill>
                <a:ea typeface="楷体_GB2312" charset="0"/>
              </a:rPr>
              <a:t> </a:t>
            </a:r>
            <a:r>
              <a:rPr lang="zh-CN" altLang="en-US" b="0">
                <a:solidFill>
                  <a:schemeClr val="tx1"/>
                </a:solidFill>
                <a:ea typeface="楷体_GB2312" charset="0"/>
              </a:rPr>
              <a:t>初始条件：</a:t>
            </a:r>
            <a:r>
              <a:rPr lang="zh-CN" altLang="en-US">
                <a:solidFill>
                  <a:schemeClr val="tx1"/>
                </a:solidFill>
                <a:ea typeface="楷体_GB2312" charset="0"/>
              </a:rPr>
              <a:t>队列</a:t>
            </a:r>
            <a:r>
              <a:rPr lang="en-US" altLang="zh-CN">
                <a:solidFill>
                  <a:schemeClr val="tx1"/>
                </a:solidFill>
                <a:ea typeface="楷体_GB2312" charset="0"/>
              </a:rPr>
              <a:t>Q</a:t>
            </a:r>
            <a:r>
              <a:rPr lang="zh-CN" altLang="en-US">
                <a:solidFill>
                  <a:schemeClr val="tx1"/>
                </a:solidFill>
                <a:ea typeface="楷体_GB2312" charset="0"/>
              </a:rPr>
              <a:t>已存在。</a:t>
            </a:r>
            <a:br>
              <a:rPr lang="zh-CN" altLang="en-US">
                <a:solidFill>
                  <a:schemeClr val="tx1"/>
                </a:solidFill>
                <a:ea typeface="楷体_GB2312" charset="0"/>
              </a:rPr>
            </a:br>
            <a:r>
              <a:rPr lang="zh-CN" altLang="en-US">
                <a:solidFill>
                  <a:schemeClr val="tx1"/>
                </a:solidFill>
                <a:ea typeface="楷体_GB2312" charset="0"/>
              </a:rPr>
              <a:t>    </a:t>
            </a:r>
            <a:r>
              <a:rPr lang="zh-CN" altLang="en-US" b="0">
                <a:solidFill>
                  <a:schemeClr val="tx1"/>
                </a:solidFill>
                <a:ea typeface="楷体_GB2312" charset="0"/>
              </a:rPr>
              <a:t>操作结果：</a:t>
            </a:r>
            <a:r>
              <a:rPr lang="zh-CN" altLang="en-US">
                <a:solidFill>
                  <a:schemeClr val="tx1"/>
                </a:solidFill>
                <a:ea typeface="楷体_GB2312" charset="0"/>
              </a:rPr>
              <a:t>返回</a:t>
            </a:r>
            <a:r>
              <a:rPr lang="en-US" altLang="zh-CN">
                <a:solidFill>
                  <a:schemeClr val="tx1"/>
                </a:solidFill>
                <a:ea typeface="楷体_GB2312" charset="0"/>
              </a:rPr>
              <a:t>Q</a:t>
            </a:r>
            <a:r>
              <a:rPr lang="zh-CN" altLang="en-US">
                <a:solidFill>
                  <a:schemeClr val="tx1"/>
                </a:solidFill>
                <a:ea typeface="楷体_GB2312" charset="0"/>
              </a:rPr>
              <a:t>的元素个数，即队列的长度。</a:t>
            </a:r>
            <a:endParaRPr lang="zh-CN" altLang="en-US">
              <a:solidFill>
                <a:schemeClr val="tx1"/>
              </a:solidFill>
              <a:ea typeface="楷体_GB2312" charset="0"/>
            </a:endParaRPr>
          </a:p>
        </p:txBody>
      </p:sp>
      <p:sp>
        <p:nvSpPr>
          <p:cNvPr id="1094659" name="AutoShape 3">
            <a:hlinkClick r:id="" action="ppaction://hlinkshowjump?jump=lastslideviewed" highlightClick="1"/>
          </p:cNvPr>
          <p:cNvSpPr>
            <a:spLocks noChangeArrowheads="1"/>
          </p:cNvSpPr>
          <p:nvPr/>
        </p:nvSpPr>
        <p:spPr bwMode="auto">
          <a:xfrm>
            <a:off x="8097838" y="5888038"/>
            <a:ext cx="436562" cy="436562"/>
          </a:xfrm>
          <a:prstGeom prst="actionButtonReturn">
            <a:avLst/>
          </a:prstGeom>
          <a:solidFill>
            <a:srgbClr val="FF6600"/>
          </a:solidFill>
          <a:ln w="9525">
            <a:solidFill>
              <a:srgbClr val="A50021"/>
            </a:solidFill>
            <a:miter lim="800000"/>
          </a:ln>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82" name="Rectangle 2"/>
          <p:cNvSpPr>
            <a:spLocks noGrp="1" noChangeArrowheads="1"/>
          </p:cNvSpPr>
          <p:nvPr>
            <p:ph type="title" idx="4294967295"/>
          </p:nvPr>
        </p:nvSpPr>
        <p:spPr>
          <a:xfrm>
            <a:off x="381000" y="2286000"/>
            <a:ext cx="8763000" cy="1143000"/>
          </a:xfrm>
          <a:extLst>
            <a:ext uri="{91240B29-F687-4F45-9708-019B960494DF}">
              <a14:hiddenLine xmlns:a14="http://schemas.microsoft.com/office/drawing/2010/main" w="9525">
                <a:solidFill>
                  <a:srgbClr val="800000"/>
                </a:solidFill>
                <a:miter lim="800000"/>
                <a:headEnd/>
                <a:tailEnd/>
              </a14:hiddenLine>
            </a:ext>
          </a:extLst>
        </p:spPr>
        <p:txBody>
          <a:bodyPr>
            <a:normAutofit fontScale="90000"/>
          </a:bodyPr>
          <a:lstStyle/>
          <a:p>
            <a:pPr>
              <a:lnSpc>
                <a:spcPct val="125000"/>
              </a:lnSpc>
            </a:pPr>
            <a:r>
              <a:rPr lang="zh-CN" altLang="en-US">
                <a:solidFill>
                  <a:schemeClr val="tx1"/>
                </a:solidFill>
                <a:ea typeface="楷体_GB2312" charset="0"/>
              </a:rPr>
              <a:t> </a:t>
            </a:r>
            <a:r>
              <a:rPr lang="en-US" altLang="zh-CN" b="0">
                <a:solidFill>
                  <a:srgbClr val="800000"/>
                </a:solidFill>
                <a:ea typeface="楷体_GB2312" charset="0"/>
              </a:rPr>
              <a:t>GetHead(Q, &amp;e)</a:t>
            </a:r>
            <a:br>
              <a:rPr lang="en-US" altLang="zh-CN">
                <a:solidFill>
                  <a:schemeClr val="tx1"/>
                </a:solidFill>
                <a:ea typeface="楷体_GB2312" charset="0"/>
              </a:rPr>
            </a:br>
            <a:r>
              <a:rPr lang="en-US" altLang="zh-CN">
                <a:solidFill>
                  <a:schemeClr val="tx1"/>
                </a:solidFill>
                <a:ea typeface="楷体_GB2312" charset="0"/>
              </a:rPr>
              <a:t>  </a:t>
            </a:r>
            <a:r>
              <a:rPr lang="zh-CN" altLang="en-US" b="0">
                <a:solidFill>
                  <a:schemeClr val="tx1"/>
                </a:solidFill>
                <a:ea typeface="楷体_GB2312" charset="0"/>
              </a:rPr>
              <a:t>初始条件：</a:t>
            </a:r>
            <a:r>
              <a:rPr lang="en-US" altLang="zh-CN">
                <a:solidFill>
                  <a:schemeClr val="tx1"/>
                </a:solidFill>
                <a:ea typeface="楷体_GB2312" charset="0"/>
              </a:rPr>
              <a:t>Q</a:t>
            </a:r>
            <a:r>
              <a:rPr lang="zh-CN" altLang="en-US">
                <a:solidFill>
                  <a:schemeClr val="tx1"/>
                </a:solidFill>
                <a:ea typeface="楷体_GB2312" charset="0"/>
              </a:rPr>
              <a:t>为非空队列。</a:t>
            </a:r>
            <a:br>
              <a:rPr lang="zh-CN" altLang="en-US">
                <a:solidFill>
                  <a:schemeClr val="tx1"/>
                </a:solidFill>
                <a:ea typeface="楷体_GB2312" charset="0"/>
              </a:rPr>
            </a:br>
            <a:r>
              <a:rPr lang="zh-CN" altLang="en-US">
                <a:solidFill>
                  <a:schemeClr val="tx1"/>
                </a:solidFill>
                <a:ea typeface="楷体_GB2312" charset="0"/>
              </a:rPr>
              <a:t>    </a:t>
            </a:r>
            <a:r>
              <a:rPr lang="zh-CN" altLang="en-US" b="0">
                <a:solidFill>
                  <a:schemeClr val="tx1"/>
                </a:solidFill>
                <a:ea typeface="楷体_GB2312" charset="0"/>
              </a:rPr>
              <a:t>操作结果：</a:t>
            </a:r>
            <a:r>
              <a:rPr lang="zh-CN" altLang="en-US">
                <a:solidFill>
                  <a:schemeClr val="tx1"/>
                </a:solidFill>
                <a:ea typeface="楷体_GB2312" charset="0"/>
              </a:rPr>
              <a:t>用</a:t>
            </a:r>
            <a:r>
              <a:rPr lang="en-US" altLang="zh-CN">
                <a:solidFill>
                  <a:schemeClr val="tx1"/>
                </a:solidFill>
                <a:ea typeface="楷体_GB2312" charset="0"/>
              </a:rPr>
              <a:t>e</a:t>
            </a:r>
            <a:r>
              <a:rPr lang="zh-CN" altLang="en-US">
                <a:solidFill>
                  <a:schemeClr val="tx1"/>
                </a:solidFill>
                <a:ea typeface="楷体_GB2312" charset="0"/>
              </a:rPr>
              <a:t>返回</a:t>
            </a:r>
            <a:r>
              <a:rPr lang="en-US" altLang="zh-CN">
                <a:solidFill>
                  <a:schemeClr val="tx1"/>
                </a:solidFill>
                <a:ea typeface="楷体_GB2312" charset="0"/>
              </a:rPr>
              <a:t>Q</a:t>
            </a:r>
            <a:r>
              <a:rPr lang="zh-CN" altLang="en-US">
                <a:solidFill>
                  <a:schemeClr val="tx1"/>
                </a:solidFill>
                <a:ea typeface="楷体_GB2312" charset="0"/>
              </a:rPr>
              <a:t>的队头元素。</a:t>
            </a:r>
            <a:endParaRPr lang="zh-CN" altLang="en-US">
              <a:solidFill>
                <a:schemeClr val="tx1"/>
              </a:solidFill>
              <a:ea typeface="楷体_GB2312" charset="0"/>
            </a:endParaRPr>
          </a:p>
        </p:txBody>
      </p:sp>
      <p:sp>
        <p:nvSpPr>
          <p:cNvPr id="1095683" name="AutoShape 3">
            <a:hlinkClick r:id="" action="ppaction://hlinkshowjump?jump=lastslideviewed" highlightClick="1"/>
          </p:cNvPr>
          <p:cNvSpPr>
            <a:spLocks noChangeArrowheads="1"/>
          </p:cNvSpPr>
          <p:nvPr/>
        </p:nvSpPr>
        <p:spPr bwMode="auto">
          <a:xfrm>
            <a:off x="8077200" y="5867400"/>
            <a:ext cx="533400" cy="457200"/>
          </a:xfrm>
          <a:prstGeom prst="actionButtonReturn">
            <a:avLst/>
          </a:prstGeom>
          <a:solidFill>
            <a:srgbClr val="FF6600"/>
          </a:solidFill>
          <a:ln w="9525">
            <a:solidFill>
              <a:srgbClr val="A50021"/>
            </a:solidFill>
            <a:miter lim="800000"/>
          </a:ln>
        </p:spPr>
        <p:txBody>
          <a:bodyPr wrap="none" anchor="ctr"/>
          <a:lstStyle/>
          <a:p>
            <a:endParaRPr lang="zh-CN" altLang="en-US"/>
          </a:p>
        </p:txBody>
      </p:sp>
      <p:sp>
        <p:nvSpPr>
          <p:cNvPr id="1095684" name="Line 4"/>
          <p:cNvSpPr>
            <a:spLocks noChangeShapeType="1"/>
          </p:cNvSpPr>
          <p:nvPr/>
        </p:nvSpPr>
        <p:spPr bwMode="auto">
          <a:xfrm>
            <a:off x="609600" y="4724400"/>
            <a:ext cx="6019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685" name="Line 5"/>
          <p:cNvSpPr>
            <a:spLocks noChangeShapeType="1"/>
          </p:cNvSpPr>
          <p:nvPr/>
        </p:nvSpPr>
        <p:spPr bwMode="auto">
          <a:xfrm>
            <a:off x="685800" y="5562600"/>
            <a:ext cx="5943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686" name="Text Box 6"/>
          <p:cNvSpPr txBox="1">
            <a:spLocks noChangeArrowheads="1"/>
          </p:cNvSpPr>
          <p:nvPr/>
        </p:nvSpPr>
        <p:spPr bwMode="auto">
          <a:xfrm>
            <a:off x="15430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1</a:t>
            </a:r>
            <a:endParaRPr lang="en-US" altLang="zh-CN" sz="4000"/>
          </a:p>
        </p:txBody>
      </p:sp>
      <p:sp>
        <p:nvSpPr>
          <p:cNvPr id="1095687" name="Text Box 7"/>
          <p:cNvSpPr txBox="1">
            <a:spLocks noChangeArrowheads="1"/>
          </p:cNvSpPr>
          <p:nvPr/>
        </p:nvSpPr>
        <p:spPr bwMode="auto">
          <a:xfrm>
            <a:off x="21526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2</a:t>
            </a:r>
            <a:endParaRPr lang="en-US" altLang="zh-CN" sz="4000"/>
          </a:p>
        </p:txBody>
      </p:sp>
      <p:sp>
        <p:nvSpPr>
          <p:cNvPr id="1095688" name="Text Box 8"/>
          <p:cNvSpPr txBox="1">
            <a:spLocks noChangeArrowheads="1"/>
          </p:cNvSpPr>
          <p:nvPr/>
        </p:nvSpPr>
        <p:spPr bwMode="auto">
          <a:xfrm>
            <a:off x="51244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n</a:t>
            </a:r>
            <a:endParaRPr lang="en-US" altLang="zh-CN" sz="4000"/>
          </a:p>
        </p:txBody>
      </p:sp>
      <p:sp>
        <p:nvSpPr>
          <p:cNvPr id="1095689" name="Line 9"/>
          <p:cNvSpPr>
            <a:spLocks noChangeShapeType="1"/>
          </p:cNvSpPr>
          <p:nvPr/>
        </p:nvSpPr>
        <p:spPr bwMode="auto">
          <a:xfrm flipV="1">
            <a:off x="1828800" y="5486400"/>
            <a:ext cx="0" cy="68580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690" name="Text Box 10"/>
          <p:cNvSpPr txBox="1">
            <a:spLocks noChangeArrowheads="1"/>
          </p:cNvSpPr>
          <p:nvPr/>
        </p:nvSpPr>
        <p:spPr bwMode="auto">
          <a:xfrm>
            <a:off x="3168650" y="4721225"/>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FF0000"/>
                </a:solidFill>
              </a:rPr>
              <a:t>… …</a:t>
            </a:r>
            <a:endParaRPr lang="en-US" altLang="zh-CN" sz="4000"/>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706" name="Rectangle 2"/>
          <p:cNvSpPr>
            <a:spLocks noGrp="1" noChangeArrowheads="1"/>
          </p:cNvSpPr>
          <p:nvPr>
            <p:ph type="title" idx="4294967295"/>
          </p:nvPr>
        </p:nvSpPr>
        <p:spPr>
          <a:xfrm>
            <a:off x="533400" y="2362200"/>
            <a:ext cx="7772400" cy="1143000"/>
          </a:xfrm>
          <a:extLst>
            <a:ext uri="{91240B29-F687-4F45-9708-019B960494DF}">
              <a14:hiddenLine xmlns:a14="http://schemas.microsoft.com/office/drawing/2010/main" w="9525">
                <a:solidFill>
                  <a:srgbClr val="800000"/>
                </a:solidFill>
                <a:miter lim="800000"/>
                <a:headEnd/>
                <a:tailEnd/>
              </a14:hiddenLine>
            </a:ext>
          </a:extLst>
        </p:spPr>
        <p:txBody>
          <a:bodyPr>
            <a:normAutofit fontScale="90000"/>
          </a:bodyPr>
          <a:lstStyle/>
          <a:p>
            <a:r>
              <a:rPr lang="zh-CN" altLang="en-US">
                <a:solidFill>
                  <a:schemeClr val="tx1"/>
                </a:solidFill>
                <a:ea typeface="楷体_GB2312" charset="0"/>
              </a:rPr>
              <a:t> </a:t>
            </a:r>
            <a:r>
              <a:rPr lang="en-US" altLang="zh-CN" b="0">
                <a:solidFill>
                  <a:srgbClr val="800000"/>
                </a:solidFill>
                <a:ea typeface="楷体_GB2312" charset="0"/>
              </a:rPr>
              <a:t>ClearQueue(&amp;Q)</a:t>
            </a:r>
            <a:br>
              <a:rPr lang="en-US" altLang="zh-CN" b="0">
                <a:solidFill>
                  <a:schemeClr val="tx1"/>
                </a:solidFill>
                <a:ea typeface="楷体_GB2312" charset="0"/>
              </a:rPr>
            </a:br>
            <a:br>
              <a:rPr lang="en-US" altLang="zh-CN">
                <a:solidFill>
                  <a:schemeClr val="tx1"/>
                </a:solidFill>
                <a:ea typeface="楷体_GB2312" charset="0"/>
              </a:rPr>
            </a:br>
            <a:r>
              <a:rPr lang="zh-CN" altLang="en-US" b="0">
                <a:solidFill>
                  <a:schemeClr val="tx1"/>
                </a:solidFill>
                <a:ea typeface="楷体_GB2312" charset="0"/>
              </a:rPr>
              <a:t>初始条件：</a:t>
            </a:r>
            <a:r>
              <a:rPr lang="zh-CN" altLang="en-US">
                <a:solidFill>
                  <a:schemeClr val="tx1"/>
                </a:solidFill>
                <a:ea typeface="楷体_GB2312" charset="0"/>
              </a:rPr>
              <a:t>队列</a:t>
            </a:r>
            <a:r>
              <a:rPr lang="en-US" altLang="zh-CN">
                <a:solidFill>
                  <a:schemeClr val="tx1"/>
                </a:solidFill>
                <a:ea typeface="楷体_GB2312" charset="0"/>
              </a:rPr>
              <a:t>Q</a:t>
            </a:r>
            <a:r>
              <a:rPr lang="zh-CN" altLang="en-US">
                <a:solidFill>
                  <a:schemeClr val="tx1"/>
                </a:solidFill>
                <a:ea typeface="楷体_GB2312" charset="0"/>
              </a:rPr>
              <a:t>已存在。</a:t>
            </a:r>
            <a:br>
              <a:rPr lang="zh-CN" altLang="en-US">
                <a:solidFill>
                  <a:schemeClr val="tx1"/>
                </a:solidFill>
                <a:ea typeface="楷体_GB2312" charset="0"/>
              </a:rPr>
            </a:br>
            <a:r>
              <a:rPr lang="zh-CN" altLang="en-US" b="0">
                <a:solidFill>
                  <a:schemeClr val="tx1"/>
                </a:solidFill>
                <a:ea typeface="楷体_GB2312" charset="0"/>
              </a:rPr>
              <a:t>操作结果：</a:t>
            </a:r>
            <a:r>
              <a:rPr lang="zh-CN" altLang="en-US">
                <a:solidFill>
                  <a:schemeClr val="tx1"/>
                </a:solidFill>
                <a:ea typeface="楷体_GB2312" charset="0"/>
              </a:rPr>
              <a:t>将</a:t>
            </a:r>
            <a:r>
              <a:rPr lang="en-US" altLang="zh-CN">
                <a:solidFill>
                  <a:schemeClr val="tx1"/>
                </a:solidFill>
                <a:ea typeface="楷体_GB2312" charset="0"/>
              </a:rPr>
              <a:t>Q</a:t>
            </a:r>
            <a:r>
              <a:rPr lang="zh-CN" altLang="en-US">
                <a:solidFill>
                  <a:schemeClr val="tx1"/>
                </a:solidFill>
                <a:ea typeface="楷体_GB2312" charset="0"/>
              </a:rPr>
              <a:t>清为空队列。</a:t>
            </a:r>
            <a:endParaRPr lang="zh-CN" altLang="en-US">
              <a:solidFill>
                <a:schemeClr val="tx1"/>
              </a:solidFill>
              <a:ea typeface="楷体_GB2312" charset="0"/>
            </a:endParaRPr>
          </a:p>
        </p:txBody>
      </p:sp>
      <p:sp>
        <p:nvSpPr>
          <p:cNvPr id="1096707" name="AutoShape 3">
            <a:hlinkClick r:id="" action="ppaction://hlinkshowjump?jump=lastslideviewed" highlightClick="1"/>
          </p:cNvPr>
          <p:cNvSpPr>
            <a:spLocks noChangeArrowheads="1"/>
          </p:cNvSpPr>
          <p:nvPr/>
        </p:nvSpPr>
        <p:spPr bwMode="auto">
          <a:xfrm>
            <a:off x="8229600" y="5943600"/>
            <a:ext cx="381000" cy="360363"/>
          </a:xfrm>
          <a:prstGeom prst="actionButtonReturn">
            <a:avLst/>
          </a:prstGeom>
          <a:solidFill>
            <a:srgbClr val="FF6600"/>
          </a:solidFill>
          <a:ln w="9525">
            <a:solidFill>
              <a:srgbClr val="A50021"/>
            </a:solidFill>
            <a:miter lim="800000"/>
          </a:ln>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p:cNvSpPr>
            <a:spLocks noGrp="1" noChangeArrowheads="1"/>
          </p:cNvSpPr>
          <p:nvPr>
            <p:ph type="title" idx="4294967295"/>
          </p:nvPr>
        </p:nvSpPr>
        <p:spPr>
          <a:xfrm>
            <a:off x="533400" y="2362200"/>
            <a:ext cx="7772400" cy="1143000"/>
          </a:xfrm>
          <a:extLst>
            <a:ext uri="{91240B29-F687-4F45-9708-019B960494DF}">
              <a14:hiddenLine xmlns:a14="http://schemas.microsoft.com/office/drawing/2010/main" w="9525">
                <a:solidFill>
                  <a:srgbClr val="800000"/>
                </a:solidFill>
                <a:miter lim="800000"/>
                <a:headEnd/>
                <a:tailEnd/>
              </a14:hiddenLine>
            </a:ext>
          </a:extLst>
        </p:spPr>
        <p:txBody>
          <a:bodyPr>
            <a:normAutofit fontScale="90000"/>
          </a:bodyPr>
          <a:lstStyle/>
          <a:p>
            <a:pPr>
              <a:lnSpc>
                <a:spcPct val="125000"/>
              </a:lnSpc>
            </a:pPr>
            <a:r>
              <a:rPr lang="zh-CN" altLang="en-US">
                <a:solidFill>
                  <a:schemeClr val="tx1"/>
                </a:solidFill>
                <a:ea typeface="楷体_GB2312" charset="0"/>
              </a:rPr>
              <a:t> </a:t>
            </a:r>
            <a:r>
              <a:rPr lang="en-US" altLang="zh-CN" b="0">
                <a:solidFill>
                  <a:srgbClr val="800000"/>
                </a:solidFill>
                <a:ea typeface="楷体_GB2312" charset="0"/>
              </a:rPr>
              <a:t>EnQueue(&amp;Q, e)</a:t>
            </a:r>
            <a:br>
              <a:rPr lang="en-US" altLang="zh-CN">
                <a:solidFill>
                  <a:schemeClr val="tx1"/>
                </a:solidFill>
                <a:ea typeface="楷体_GB2312" charset="0"/>
              </a:rPr>
            </a:br>
            <a:r>
              <a:rPr lang="en-US" altLang="zh-CN">
                <a:solidFill>
                  <a:schemeClr val="tx1"/>
                </a:solidFill>
                <a:ea typeface="楷体_GB2312" charset="0"/>
              </a:rPr>
              <a:t>  </a:t>
            </a:r>
            <a:r>
              <a:rPr lang="zh-CN" altLang="en-US" b="0">
                <a:solidFill>
                  <a:schemeClr val="tx1"/>
                </a:solidFill>
                <a:ea typeface="楷体_GB2312" charset="0"/>
              </a:rPr>
              <a:t>初始条件：</a:t>
            </a:r>
            <a:r>
              <a:rPr lang="zh-CN" altLang="en-US">
                <a:solidFill>
                  <a:schemeClr val="tx1"/>
                </a:solidFill>
                <a:ea typeface="楷体_GB2312" charset="0"/>
              </a:rPr>
              <a:t>队列</a:t>
            </a:r>
            <a:r>
              <a:rPr lang="en-US" altLang="zh-CN">
                <a:solidFill>
                  <a:schemeClr val="tx1"/>
                </a:solidFill>
                <a:ea typeface="楷体_GB2312" charset="0"/>
              </a:rPr>
              <a:t>Q</a:t>
            </a:r>
            <a:r>
              <a:rPr lang="zh-CN" altLang="en-US">
                <a:solidFill>
                  <a:schemeClr val="tx1"/>
                </a:solidFill>
                <a:ea typeface="楷体_GB2312" charset="0"/>
              </a:rPr>
              <a:t>已存在。</a:t>
            </a:r>
            <a:br>
              <a:rPr lang="zh-CN" altLang="en-US">
                <a:solidFill>
                  <a:schemeClr val="tx1"/>
                </a:solidFill>
                <a:ea typeface="楷体_GB2312" charset="0"/>
              </a:rPr>
            </a:br>
            <a:r>
              <a:rPr lang="zh-CN" altLang="en-US">
                <a:solidFill>
                  <a:schemeClr val="tx1"/>
                </a:solidFill>
                <a:ea typeface="楷体_GB2312" charset="0"/>
              </a:rPr>
              <a:t>    </a:t>
            </a:r>
            <a:r>
              <a:rPr lang="zh-CN" altLang="en-US" b="0">
                <a:solidFill>
                  <a:schemeClr val="tx1"/>
                </a:solidFill>
                <a:ea typeface="楷体_GB2312" charset="0"/>
              </a:rPr>
              <a:t>操作结果：</a:t>
            </a:r>
            <a:r>
              <a:rPr lang="zh-CN" altLang="en-US">
                <a:solidFill>
                  <a:schemeClr val="tx1"/>
                </a:solidFill>
                <a:ea typeface="楷体_GB2312" charset="0"/>
              </a:rPr>
              <a:t>插入元素</a:t>
            </a:r>
            <a:r>
              <a:rPr lang="en-US" altLang="zh-CN">
                <a:solidFill>
                  <a:schemeClr val="tx1"/>
                </a:solidFill>
                <a:ea typeface="楷体_GB2312" charset="0"/>
              </a:rPr>
              <a:t>e</a:t>
            </a:r>
            <a:r>
              <a:rPr lang="zh-CN" altLang="en-US">
                <a:solidFill>
                  <a:schemeClr val="tx1"/>
                </a:solidFill>
                <a:ea typeface="楷体_GB2312" charset="0"/>
              </a:rPr>
              <a:t>为</a:t>
            </a:r>
            <a:r>
              <a:rPr lang="en-US" altLang="zh-CN">
                <a:solidFill>
                  <a:schemeClr val="tx1"/>
                </a:solidFill>
                <a:ea typeface="楷体_GB2312" charset="0"/>
              </a:rPr>
              <a:t>Q</a:t>
            </a:r>
            <a:r>
              <a:rPr lang="zh-CN" altLang="en-US">
                <a:solidFill>
                  <a:schemeClr val="tx1"/>
                </a:solidFill>
                <a:ea typeface="楷体_GB2312" charset="0"/>
              </a:rPr>
              <a:t>的新的队尾元素。</a:t>
            </a:r>
            <a:endParaRPr lang="zh-CN" altLang="en-US">
              <a:solidFill>
                <a:schemeClr val="tx1"/>
              </a:solidFill>
              <a:ea typeface="楷体_GB2312" charset="0"/>
            </a:endParaRPr>
          </a:p>
        </p:txBody>
      </p:sp>
      <p:sp>
        <p:nvSpPr>
          <p:cNvPr id="1097731" name="AutoShape 3">
            <a:hlinkClick r:id="" action="ppaction://hlinkshowjump?jump=lastslideviewed" highlightClick="1"/>
          </p:cNvPr>
          <p:cNvSpPr>
            <a:spLocks noChangeArrowheads="1"/>
          </p:cNvSpPr>
          <p:nvPr/>
        </p:nvSpPr>
        <p:spPr bwMode="auto">
          <a:xfrm>
            <a:off x="8229600" y="6019800"/>
            <a:ext cx="457200" cy="457200"/>
          </a:xfrm>
          <a:prstGeom prst="actionButtonReturn">
            <a:avLst/>
          </a:prstGeom>
          <a:solidFill>
            <a:srgbClr val="FF6600"/>
          </a:solidFill>
          <a:ln w="9525">
            <a:solidFill>
              <a:srgbClr val="A50021"/>
            </a:solidFill>
            <a:miter lim="800000"/>
          </a:ln>
        </p:spPr>
        <p:txBody>
          <a:bodyPr wrap="none" anchor="ctr"/>
          <a:lstStyle/>
          <a:p>
            <a:endParaRPr lang="zh-CN" altLang="en-US"/>
          </a:p>
        </p:txBody>
      </p:sp>
      <p:sp>
        <p:nvSpPr>
          <p:cNvPr id="1097732" name="Line 4"/>
          <p:cNvSpPr>
            <a:spLocks noChangeShapeType="1"/>
          </p:cNvSpPr>
          <p:nvPr/>
        </p:nvSpPr>
        <p:spPr bwMode="auto">
          <a:xfrm>
            <a:off x="838200" y="4724400"/>
            <a:ext cx="6172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7733" name="Line 5"/>
          <p:cNvSpPr>
            <a:spLocks noChangeShapeType="1"/>
          </p:cNvSpPr>
          <p:nvPr/>
        </p:nvSpPr>
        <p:spPr bwMode="auto">
          <a:xfrm>
            <a:off x="838200" y="5562600"/>
            <a:ext cx="6172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7734" name="Text Box 6"/>
          <p:cNvSpPr txBox="1">
            <a:spLocks noChangeArrowheads="1"/>
          </p:cNvSpPr>
          <p:nvPr/>
        </p:nvSpPr>
        <p:spPr bwMode="auto">
          <a:xfrm>
            <a:off x="14668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1</a:t>
            </a:r>
            <a:endParaRPr lang="en-US" altLang="zh-CN" sz="4000"/>
          </a:p>
        </p:txBody>
      </p:sp>
      <p:sp>
        <p:nvSpPr>
          <p:cNvPr id="1097735" name="Text Box 7"/>
          <p:cNvSpPr txBox="1">
            <a:spLocks noChangeArrowheads="1"/>
          </p:cNvSpPr>
          <p:nvPr/>
        </p:nvSpPr>
        <p:spPr bwMode="auto">
          <a:xfrm>
            <a:off x="20764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2</a:t>
            </a:r>
            <a:endParaRPr lang="en-US" altLang="zh-CN" sz="4000"/>
          </a:p>
        </p:txBody>
      </p:sp>
      <p:sp>
        <p:nvSpPr>
          <p:cNvPr id="1097736" name="Text Box 8"/>
          <p:cNvSpPr txBox="1">
            <a:spLocks noChangeArrowheads="1"/>
          </p:cNvSpPr>
          <p:nvPr/>
        </p:nvSpPr>
        <p:spPr bwMode="auto">
          <a:xfrm>
            <a:off x="504825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n</a:t>
            </a:r>
            <a:endParaRPr lang="en-US" altLang="zh-CN" sz="4000"/>
          </a:p>
        </p:txBody>
      </p:sp>
      <p:sp>
        <p:nvSpPr>
          <p:cNvPr id="1097737" name="Line 9"/>
          <p:cNvSpPr>
            <a:spLocks noChangeShapeType="1"/>
          </p:cNvSpPr>
          <p:nvPr/>
        </p:nvSpPr>
        <p:spPr bwMode="auto">
          <a:xfrm flipV="1">
            <a:off x="5943600" y="5562600"/>
            <a:ext cx="0" cy="68580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7738" name="Text Box 10"/>
          <p:cNvSpPr txBox="1">
            <a:spLocks noChangeArrowheads="1"/>
          </p:cNvSpPr>
          <p:nvPr/>
        </p:nvSpPr>
        <p:spPr bwMode="auto">
          <a:xfrm>
            <a:off x="5673725" y="4775200"/>
            <a:ext cx="54610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e </a:t>
            </a:r>
            <a:endParaRPr lang="en-US" altLang="zh-CN" sz="4000"/>
          </a:p>
        </p:txBody>
      </p:sp>
      <p:sp>
        <p:nvSpPr>
          <p:cNvPr id="1097739" name="Text Box 11"/>
          <p:cNvSpPr txBox="1">
            <a:spLocks noChangeArrowheads="1"/>
          </p:cNvSpPr>
          <p:nvPr/>
        </p:nvSpPr>
        <p:spPr bwMode="auto">
          <a:xfrm>
            <a:off x="3092450" y="4721225"/>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FF0000"/>
                </a:solidFill>
              </a:rPr>
              <a:t>… …</a:t>
            </a:r>
            <a:endParaRPr lang="en-US" altLang="zh-CN"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97738"/>
                                        </p:tgtEl>
                                        <p:attrNameLst>
                                          <p:attrName>style.visibility</p:attrName>
                                        </p:attrNameLst>
                                      </p:cBhvr>
                                      <p:to>
                                        <p:strVal val="visible"/>
                                      </p:to>
                                    </p:set>
                                    <p:anim calcmode="lin" valueType="num">
                                      <p:cBhvr additive="base">
                                        <p:cTn id="7" dur="500" fill="hold"/>
                                        <p:tgtEl>
                                          <p:spTgt spid="1097738"/>
                                        </p:tgtEl>
                                        <p:attrNameLst>
                                          <p:attrName>ppt_x</p:attrName>
                                        </p:attrNameLst>
                                      </p:cBhvr>
                                      <p:tavLst>
                                        <p:tav tm="0">
                                          <p:val>
                                            <p:strVal val="1+#ppt_w/2"/>
                                          </p:val>
                                        </p:tav>
                                        <p:tav tm="100000">
                                          <p:val>
                                            <p:strVal val="#ppt_x"/>
                                          </p:val>
                                        </p:tav>
                                      </p:tavLst>
                                    </p:anim>
                                    <p:anim calcmode="lin" valueType="num">
                                      <p:cBhvr additive="base">
                                        <p:cTn id="8" dur="500" fill="hold"/>
                                        <p:tgtEl>
                                          <p:spTgt spid="109773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097737"/>
                                        </p:tgtEl>
                                        <p:attrNameLst>
                                          <p:attrName>style.visibility</p:attrName>
                                        </p:attrNameLst>
                                      </p:cBhvr>
                                      <p:to>
                                        <p:strVal val="visible"/>
                                      </p:to>
                                    </p:set>
                                    <p:anim calcmode="lin" valueType="num">
                                      <p:cBhvr additive="base">
                                        <p:cTn id="12" dur="500" fill="hold"/>
                                        <p:tgtEl>
                                          <p:spTgt spid="1097737"/>
                                        </p:tgtEl>
                                        <p:attrNameLst>
                                          <p:attrName>ppt_x</p:attrName>
                                        </p:attrNameLst>
                                      </p:cBhvr>
                                      <p:tavLst>
                                        <p:tav tm="0">
                                          <p:val>
                                            <p:strVal val="1+#ppt_w/2"/>
                                          </p:val>
                                        </p:tav>
                                        <p:tav tm="100000">
                                          <p:val>
                                            <p:strVal val="#ppt_x"/>
                                          </p:val>
                                        </p:tav>
                                      </p:tavLst>
                                    </p:anim>
                                    <p:anim calcmode="lin" valueType="num">
                                      <p:cBhvr additive="base">
                                        <p:cTn id="13" dur="500" fill="hold"/>
                                        <p:tgtEl>
                                          <p:spTgt spid="10977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37" grpId="0" animBg="1"/>
      <p:bldP spid="1097738" grpId="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754" name="Rectangle 2"/>
          <p:cNvSpPr>
            <a:spLocks noGrp="1" noChangeArrowheads="1"/>
          </p:cNvSpPr>
          <p:nvPr>
            <p:ph type="title" idx="4294967295"/>
          </p:nvPr>
        </p:nvSpPr>
        <p:spPr>
          <a:xfrm>
            <a:off x="685800" y="2209800"/>
            <a:ext cx="7772400" cy="1143000"/>
          </a:xfrm>
        </p:spPr>
        <p:txBody>
          <a:bodyPr>
            <a:normAutofit fontScale="90000"/>
          </a:bodyPr>
          <a:lstStyle/>
          <a:p>
            <a:pPr>
              <a:lnSpc>
                <a:spcPct val="125000"/>
              </a:lnSpc>
            </a:pPr>
            <a:r>
              <a:rPr lang="zh-CN" altLang="en-US">
                <a:solidFill>
                  <a:schemeClr val="tx1"/>
                </a:solidFill>
                <a:ea typeface="楷体_GB2312" charset="0"/>
              </a:rPr>
              <a:t>  </a:t>
            </a:r>
            <a:r>
              <a:rPr lang="en-US" altLang="zh-CN" b="0">
                <a:solidFill>
                  <a:srgbClr val="800000"/>
                </a:solidFill>
                <a:ea typeface="楷体_GB2312" charset="0"/>
              </a:rPr>
              <a:t>DeQueue(&amp;Q, &amp;e)</a:t>
            </a:r>
            <a:br>
              <a:rPr lang="en-US" altLang="zh-CN">
                <a:solidFill>
                  <a:schemeClr val="tx1"/>
                </a:solidFill>
                <a:ea typeface="楷体_GB2312" charset="0"/>
              </a:rPr>
            </a:br>
            <a:r>
              <a:rPr lang="en-US" altLang="zh-CN">
                <a:solidFill>
                  <a:schemeClr val="tx1"/>
                </a:solidFill>
                <a:ea typeface="楷体_GB2312" charset="0"/>
              </a:rPr>
              <a:t>    </a:t>
            </a:r>
            <a:r>
              <a:rPr lang="zh-CN" altLang="en-US" b="0">
                <a:solidFill>
                  <a:schemeClr val="tx1"/>
                </a:solidFill>
                <a:ea typeface="楷体_GB2312" charset="0"/>
              </a:rPr>
              <a:t>初始条件：</a:t>
            </a:r>
            <a:r>
              <a:rPr lang="en-US" altLang="zh-CN">
                <a:solidFill>
                  <a:schemeClr val="tx1"/>
                </a:solidFill>
                <a:ea typeface="楷体_GB2312" charset="0"/>
              </a:rPr>
              <a:t>Q</a:t>
            </a:r>
            <a:r>
              <a:rPr lang="zh-CN" altLang="en-US">
                <a:solidFill>
                  <a:schemeClr val="tx1"/>
                </a:solidFill>
                <a:ea typeface="楷体_GB2312" charset="0"/>
              </a:rPr>
              <a:t>为非空队列。</a:t>
            </a:r>
            <a:br>
              <a:rPr lang="zh-CN" altLang="en-US">
                <a:solidFill>
                  <a:schemeClr val="tx1"/>
                </a:solidFill>
                <a:ea typeface="楷体_GB2312" charset="0"/>
              </a:rPr>
            </a:br>
            <a:r>
              <a:rPr lang="zh-CN" altLang="en-US">
                <a:solidFill>
                  <a:schemeClr val="tx1"/>
                </a:solidFill>
                <a:ea typeface="楷体_GB2312" charset="0"/>
              </a:rPr>
              <a:t>    </a:t>
            </a:r>
            <a:r>
              <a:rPr lang="zh-CN" altLang="en-US" b="0">
                <a:solidFill>
                  <a:schemeClr val="tx1"/>
                </a:solidFill>
                <a:ea typeface="楷体_GB2312" charset="0"/>
              </a:rPr>
              <a:t>操作结果：</a:t>
            </a:r>
            <a:r>
              <a:rPr lang="zh-CN" altLang="en-US">
                <a:solidFill>
                  <a:schemeClr val="tx1"/>
                </a:solidFill>
                <a:ea typeface="楷体_GB2312" charset="0"/>
              </a:rPr>
              <a:t>删除</a:t>
            </a:r>
            <a:r>
              <a:rPr lang="en-US" altLang="zh-CN">
                <a:solidFill>
                  <a:schemeClr val="tx1"/>
                </a:solidFill>
                <a:ea typeface="楷体_GB2312" charset="0"/>
              </a:rPr>
              <a:t>Q</a:t>
            </a:r>
            <a:r>
              <a:rPr lang="zh-CN" altLang="en-US">
                <a:solidFill>
                  <a:schemeClr val="tx1"/>
                </a:solidFill>
                <a:ea typeface="楷体_GB2312" charset="0"/>
              </a:rPr>
              <a:t>的队头元素，并用</a:t>
            </a:r>
            <a:r>
              <a:rPr lang="en-US" altLang="zh-CN">
                <a:solidFill>
                  <a:schemeClr val="tx1"/>
                </a:solidFill>
                <a:ea typeface="楷体_GB2312" charset="0"/>
              </a:rPr>
              <a:t>e</a:t>
            </a:r>
            <a:r>
              <a:rPr lang="zh-CN" altLang="en-US">
                <a:solidFill>
                  <a:schemeClr val="tx1"/>
                </a:solidFill>
                <a:ea typeface="楷体_GB2312" charset="0"/>
              </a:rPr>
              <a:t>返回其值。</a:t>
            </a:r>
            <a:endParaRPr lang="zh-CN" altLang="en-US">
              <a:solidFill>
                <a:schemeClr val="tx1"/>
              </a:solidFill>
              <a:ea typeface="楷体_GB2312" charset="0"/>
            </a:endParaRPr>
          </a:p>
        </p:txBody>
      </p:sp>
      <p:sp>
        <p:nvSpPr>
          <p:cNvPr id="1098755" name="AutoShape 3">
            <a:hlinkClick r:id="" action="ppaction://hlinkshowjump?jump=lastslideviewed" highlightClick="1"/>
          </p:cNvPr>
          <p:cNvSpPr>
            <a:spLocks noChangeArrowheads="1"/>
          </p:cNvSpPr>
          <p:nvPr/>
        </p:nvSpPr>
        <p:spPr bwMode="auto">
          <a:xfrm>
            <a:off x="8153400" y="5943600"/>
            <a:ext cx="381000" cy="360363"/>
          </a:xfrm>
          <a:prstGeom prst="actionButtonReturn">
            <a:avLst/>
          </a:prstGeom>
          <a:solidFill>
            <a:srgbClr val="FF6600"/>
          </a:solidFill>
          <a:ln w="9525">
            <a:solidFill>
              <a:srgbClr val="A50021"/>
            </a:solidFill>
            <a:miter lim="800000"/>
          </a:ln>
        </p:spPr>
        <p:txBody>
          <a:bodyPr wrap="none" anchor="ctr"/>
          <a:lstStyle/>
          <a:p>
            <a:endParaRPr lang="zh-CN" altLang="en-US"/>
          </a:p>
        </p:txBody>
      </p:sp>
      <p:sp>
        <p:nvSpPr>
          <p:cNvPr id="1098756" name="Line 4"/>
          <p:cNvSpPr>
            <a:spLocks noChangeShapeType="1"/>
          </p:cNvSpPr>
          <p:nvPr/>
        </p:nvSpPr>
        <p:spPr bwMode="auto">
          <a:xfrm>
            <a:off x="1066800" y="4724400"/>
            <a:ext cx="5562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8757" name="Line 5"/>
          <p:cNvSpPr>
            <a:spLocks noChangeShapeType="1"/>
          </p:cNvSpPr>
          <p:nvPr/>
        </p:nvSpPr>
        <p:spPr bwMode="auto">
          <a:xfrm>
            <a:off x="1066800" y="5562600"/>
            <a:ext cx="5562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8758" name="Text Box 6"/>
          <p:cNvSpPr txBox="1">
            <a:spLocks noChangeArrowheads="1"/>
          </p:cNvSpPr>
          <p:nvPr/>
        </p:nvSpPr>
        <p:spPr bwMode="auto">
          <a:xfrm>
            <a:off x="160020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1</a:t>
            </a:r>
            <a:endParaRPr lang="en-US" altLang="zh-CN" sz="4000"/>
          </a:p>
        </p:txBody>
      </p:sp>
      <p:sp>
        <p:nvSpPr>
          <p:cNvPr id="1098759" name="Text Box 7"/>
          <p:cNvSpPr txBox="1">
            <a:spLocks noChangeArrowheads="1"/>
          </p:cNvSpPr>
          <p:nvPr/>
        </p:nvSpPr>
        <p:spPr bwMode="auto">
          <a:xfrm>
            <a:off x="220980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2</a:t>
            </a:r>
            <a:endParaRPr lang="en-US" altLang="zh-CN" sz="4000"/>
          </a:p>
        </p:txBody>
      </p:sp>
      <p:sp>
        <p:nvSpPr>
          <p:cNvPr id="1098760" name="Text Box 8"/>
          <p:cNvSpPr txBox="1">
            <a:spLocks noChangeArrowheads="1"/>
          </p:cNvSpPr>
          <p:nvPr/>
        </p:nvSpPr>
        <p:spPr bwMode="auto">
          <a:xfrm>
            <a:off x="5181600" y="4775200"/>
            <a:ext cx="590550" cy="711200"/>
          </a:xfrm>
          <a:prstGeom prst="rect">
            <a:avLst/>
          </a:prstGeom>
          <a:solidFill>
            <a:srgbClr val="FFFFCC"/>
          </a:solidFill>
          <a:ln w="9525">
            <a:solidFill>
              <a:srgbClr val="800000"/>
            </a:solidFill>
            <a:miter lim="800000"/>
          </a:ln>
        </p:spPr>
        <p:txBody>
          <a:bodyPr wrap="none">
            <a:spAutoFit/>
          </a:bodyPr>
          <a:lstStyle/>
          <a:p>
            <a:r>
              <a:rPr lang="en-US" altLang="zh-CN" sz="4000">
                <a:solidFill>
                  <a:srgbClr val="FF0000"/>
                </a:solidFill>
              </a:rPr>
              <a:t>a</a:t>
            </a:r>
            <a:r>
              <a:rPr lang="en-US" altLang="zh-CN" sz="4000" baseline="-25000">
                <a:solidFill>
                  <a:srgbClr val="FF0000"/>
                </a:solidFill>
              </a:rPr>
              <a:t>n</a:t>
            </a:r>
            <a:endParaRPr lang="en-US" altLang="zh-CN" sz="4000"/>
          </a:p>
        </p:txBody>
      </p:sp>
      <p:sp>
        <p:nvSpPr>
          <p:cNvPr id="1098761" name="Line 9"/>
          <p:cNvSpPr>
            <a:spLocks noChangeShapeType="1"/>
          </p:cNvSpPr>
          <p:nvPr/>
        </p:nvSpPr>
        <p:spPr bwMode="auto">
          <a:xfrm flipV="1">
            <a:off x="2514600" y="5562600"/>
            <a:ext cx="0" cy="68580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8762" name="Text Box 10"/>
          <p:cNvSpPr txBox="1">
            <a:spLocks noChangeArrowheads="1"/>
          </p:cNvSpPr>
          <p:nvPr/>
        </p:nvSpPr>
        <p:spPr bwMode="auto">
          <a:xfrm>
            <a:off x="3225800" y="4721225"/>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4000" b="1">
                <a:solidFill>
                  <a:srgbClr val="FF0000"/>
                </a:solidFill>
              </a:rPr>
              <a:t>… …</a:t>
            </a:r>
            <a:endParaRPr lang="en-US" altLang="zh-CN" sz="4000"/>
          </a:p>
        </p:txBody>
      </p:sp>
      <p:sp useBgFill="1">
        <p:nvSpPr>
          <p:cNvPr id="1098763" name="Text Box 11"/>
          <p:cNvSpPr txBox="1">
            <a:spLocks noChangeArrowheads="1"/>
          </p:cNvSpPr>
          <p:nvPr/>
        </p:nvSpPr>
        <p:spPr bwMode="auto">
          <a:xfrm>
            <a:off x="1600200" y="4775200"/>
            <a:ext cx="574675" cy="711200"/>
          </a:xfrm>
          <a:prstGeom prst="rect">
            <a:avLst/>
          </a:prstGeom>
          <a:ln w="9525">
            <a:solidFill>
              <a:srgbClr val="800000"/>
            </a:solidFill>
            <a:miter lim="800000"/>
          </a:ln>
        </p:spPr>
        <p:txBody>
          <a:bodyPr wrap="none">
            <a:spAutoFit/>
          </a:bodyPr>
          <a:lstStyle/>
          <a:p>
            <a:r>
              <a:rPr lang="zh-CN" altLang="en-US" sz="4000"/>
              <a:t>   </a:t>
            </a:r>
            <a:endParaRPr lang="zh-CN" altLang="en-US"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98763"/>
                                        </p:tgtEl>
                                        <p:attrNameLst>
                                          <p:attrName>style.visibility</p:attrName>
                                        </p:attrNameLst>
                                      </p:cBhvr>
                                      <p:to>
                                        <p:strVal val="visible"/>
                                      </p:to>
                                    </p:set>
                                  </p:childTnLst>
                                </p:cTn>
                              </p:par>
                            </p:childTnLst>
                          </p:cTn>
                        </p:par>
                        <p:par>
                          <p:cTn id="7" fill="hold">
                            <p:stCondLst>
                              <p:cond delay="500"/>
                            </p:stCondLst>
                            <p:childTnLst>
                              <p:par>
                                <p:cTn id="8" presetID="12" presetClass="entr" presetSubtype="8" fill="hold" grpId="0" nodeType="afterEffect">
                                  <p:stCondLst>
                                    <p:cond delay="0"/>
                                  </p:stCondLst>
                                  <p:childTnLst>
                                    <p:set>
                                      <p:cBhvr>
                                        <p:cTn id="9" dur="1" fill="hold">
                                          <p:stCondLst>
                                            <p:cond delay="0"/>
                                          </p:stCondLst>
                                        </p:cTn>
                                        <p:tgtEl>
                                          <p:spTgt spid="1098761"/>
                                        </p:tgtEl>
                                        <p:attrNameLst>
                                          <p:attrName>style.visibility</p:attrName>
                                        </p:attrNameLst>
                                      </p:cBhvr>
                                      <p:to>
                                        <p:strVal val="visible"/>
                                      </p:to>
                                    </p:set>
                                    <p:animEffect transition="in" filter="slide(fromLeft)">
                                      <p:cBhvr>
                                        <p:cTn id="10" dur="500"/>
                                        <p:tgtEl>
                                          <p:spTgt spid="1098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8761" grpId="0" animBg="1"/>
      <p:bldP spid="1098763"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778" name="Text Box 2"/>
          <p:cNvSpPr txBox="1">
            <a:spLocks noChangeArrowheads="1"/>
          </p:cNvSpPr>
          <p:nvPr/>
        </p:nvSpPr>
        <p:spPr bwMode="auto">
          <a:xfrm>
            <a:off x="1295400" y="74613"/>
            <a:ext cx="6873875"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6000" b="1">
                <a:solidFill>
                  <a:srgbClr val="996633"/>
                </a:solidFill>
                <a:ea typeface="楷体_GB2312" charset="0"/>
              </a:rPr>
              <a:t>3.5  </a:t>
            </a:r>
            <a:r>
              <a:rPr lang="zh-CN" altLang="en-US" sz="6000" b="1">
                <a:solidFill>
                  <a:srgbClr val="996633"/>
                </a:solidFill>
                <a:ea typeface="隶书" panose="02010509060101010101" charset="-122"/>
              </a:rPr>
              <a:t>队列类型的实现</a:t>
            </a:r>
            <a:endParaRPr lang="zh-CN" altLang="en-US" sz="4400" b="1">
              <a:solidFill>
                <a:srgbClr val="0000FF"/>
              </a:solidFill>
              <a:ea typeface="楷体_GB2312" charset="0"/>
            </a:endParaRPr>
          </a:p>
        </p:txBody>
      </p:sp>
      <p:sp>
        <p:nvSpPr>
          <p:cNvPr id="1099779" name="Text Box 3">
            <a:hlinkClick r:id="rId1" action="ppaction://hlinksldjump"/>
          </p:cNvPr>
          <p:cNvSpPr txBox="1">
            <a:spLocks noChangeArrowheads="1"/>
          </p:cNvSpPr>
          <p:nvPr/>
        </p:nvSpPr>
        <p:spPr bwMode="auto">
          <a:xfrm>
            <a:off x="1096963" y="2514600"/>
            <a:ext cx="6370637"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5400" b="1">
                <a:solidFill>
                  <a:srgbClr val="800000"/>
                </a:solidFill>
                <a:ea typeface="楷体_GB2312" charset="0"/>
              </a:rPr>
              <a:t>链队列</a:t>
            </a:r>
            <a:r>
              <a:rPr lang="en-US" altLang="zh-CN" sz="5400">
                <a:ea typeface="楷体_GB2312" charset="0"/>
              </a:rPr>
              <a:t>——</a:t>
            </a:r>
            <a:r>
              <a:rPr lang="zh-CN" altLang="en-US" sz="5400">
                <a:ea typeface="楷体_GB2312" charset="0"/>
              </a:rPr>
              <a:t>链式映象</a:t>
            </a:r>
            <a:endParaRPr lang="zh-CN" altLang="en-US" sz="4000">
              <a:ea typeface="楷体_GB2312" charset="0"/>
            </a:endParaRPr>
          </a:p>
        </p:txBody>
      </p:sp>
      <p:sp>
        <p:nvSpPr>
          <p:cNvPr id="1099780" name="Text Box 4">
            <a:hlinkClick r:id="rId2" action="ppaction://hlinksldjump"/>
          </p:cNvPr>
          <p:cNvSpPr txBox="1">
            <a:spLocks noChangeArrowheads="1"/>
          </p:cNvSpPr>
          <p:nvPr/>
        </p:nvSpPr>
        <p:spPr bwMode="auto">
          <a:xfrm>
            <a:off x="1066800" y="4191000"/>
            <a:ext cx="70612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5400" b="1">
                <a:solidFill>
                  <a:srgbClr val="800000"/>
                </a:solidFill>
                <a:ea typeface="楷体_GB2312" charset="0"/>
              </a:rPr>
              <a:t>循环队列</a:t>
            </a:r>
            <a:r>
              <a:rPr lang="en-US" altLang="zh-CN" sz="5400">
                <a:ea typeface="楷体_GB2312" charset="0"/>
              </a:rPr>
              <a:t>——</a:t>
            </a:r>
            <a:r>
              <a:rPr lang="zh-CN" altLang="en-US" sz="5400">
                <a:ea typeface="楷体_GB2312" charset="0"/>
              </a:rPr>
              <a:t>顺序映象</a:t>
            </a:r>
            <a:endParaRPr lang="zh-CN" altLang="en-US" sz="2400">
              <a:ea typeface="楷体_GB2312" charset="0"/>
            </a:endParaRPr>
          </a:p>
        </p:txBody>
      </p:sp>
      <p:sp>
        <p:nvSpPr>
          <p:cNvPr id="1099781" name="AutoShape 5">
            <a:hlinkClick r:id="rId3" action="ppaction://hlinksldjump" highlightClick="1"/>
          </p:cNvPr>
          <p:cNvSpPr>
            <a:spLocks noChangeArrowheads="1"/>
          </p:cNvSpPr>
          <p:nvPr/>
        </p:nvSpPr>
        <p:spPr bwMode="auto">
          <a:xfrm>
            <a:off x="8382000" y="6172200"/>
            <a:ext cx="457200" cy="457200"/>
          </a:xfrm>
          <a:prstGeom prst="actionButtonForwardNext">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9779"/>
                                        </p:tgtEl>
                                        <p:attrNameLst>
                                          <p:attrName>style.visibility</p:attrName>
                                        </p:attrNameLst>
                                      </p:cBhvr>
                                      <p:to>
                                        <p:strVal val="visible"/>
                                      </p:to>
                                    </p:set>
                                    <p:anim calcmode="lin" valueType="num">
                                      <p:cBhvr additive="base">
                                        <p:cTn id="7" dur="500" fill="hold"/>
                                        <p:tgtEl>
                                          <p:spTgt spid="1099779"/>
                                        </p:tgtEl>
                                        <p:attrNameLst>
                                          <p:attrName>ppt_x</p:attrName>
                                        </p:attrNameLst>
                                      </p:cBhvr>
                                      <p:tavLst>
                                        <p:tav tm="0">
                                          <p:val>
                                            <p:strVal val="0-#ppt_w/2"/>
                                          </p:val>
                                        </p:tav>
                                        <p:tav tm="100000">
                                          <p:val>
                                            <p:strVal val="#ppt_x"/>
                                          </p:val>
                                        </p:tav>
                                      </p:tavLst>
                                    </p:anim>
                                    <p:anim calcmode="lin" valueType="num">
                                      <p:cBhvr additive="base">
                                        <p:cTn id="8" dur="500" fill="hold"/>
                                        <p:tgtEl>
                                          <p:spTgt spid="10997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99780"/>
                                        </p:tgtEl>
                                        <p:attrNameLst>
                                          <p:attrName>style.visibility</p:attrName>
                                        </p:attrNameLst>
                                      </p:cBhvr>
                                      <p:to>
                                        <p:strVal val="visible"/>
                                      </p:to>
                                    </p:set>
                                    <p:anim calcmode="lin" valueType="num">
                                      <p:cBhvr additive="base">
                                        <p:cTn id="13" dur="500" fill="hold"/>
                                        <p:tgtEl>
                                          <p:spTgt spid="1099780"/>
                                        </p:tgtEl>
                                        <p:attrNameLst>
                                          <p:attrName>ppt_x</p:attrName>
                                        </p:attrNameLst>
                                      </p:cBhvr>
                                      <p:tavLst>
                                        <p:tav tm="0">
                                          <p:val>
                                            <p:strVal val="0-#ppt_w/2"/>
                                          </p:val>
                                        </p:tav>
                                        <p:tav tm="100000">
                                          <p:val>
                                            <p:strVal val="#ppt_x"/>
                                          </p:val>
                                        </p:tav>
                                      </p:tavLst>
                                    </p:anim>
                                    <p:anim calcmode="lin" valueType="num">
                                      <p:cBhvr additive="base">
                                        <p:cTn id="14" dur="500" fill="hold"/>
                                        <p:tgtEl>
                                          <p:spTgt spid="1099780"/>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6" fill="hold" grpId="0" nodeType="afterEffect">
                                  <p:stCondLst>
                                    <p:cond delay="0"/>
                                  </p:stCondLst>
                                  <p:childTnLst>
                                    <p:set>
                                      <p:cBhvr>
                                        <p:cTn id="17" dur="1" fill="hold">
                                          <p:stCondLst>
                                            <p:cond delay="0"/>
                                          </p:stCondLst>
                                        </p:cTn>
                                        <p:tgtEl>
                                          <p:spTgt spid="1099781"/>
                                        </p:tgtEl>
                                        <p:attrNameLst>
                                          <p:attrName>style.visibility</p:attrName>
                                        </p:attrNameLst>
                                      </p:cBhvr>
                                      <p:to>
                                        <p:strVal val="visible"/>
                                      </p:to>
                                    </p:set>
                                    <p:anim calcmode="lin" valueType="num">
                                      <p:cBhvr additive="base">
                                        <p:cTn id="18" dur="500" fill="hold"/>
                                        <p:tgtEl>
                                          <p:spTgt spid="1099781"/>
                                        </p:tgtEl>
                                        <p:attrNameLst>
                                          <p:attrName>ppt_x</p:attrName>
                                        </p:attrNameLst>
                                      </p:cBhvr>
                                      <p:tavLst>
                                        <p:tav tm="0">
                                          <p:val>
                                            <p:strVal val="1+#ppt_w/2"/>
                                          </p:val>
                                        </p:tav>
                                        <p:tav tm="100000">
                                          <p:val>
                                            <p:strVal val="#ppt_x"/>
                                          </p:val>
                                        </p:tav>
                                      </p:tavLst>
                                    </p:anim>
                                    <p:anim calcmode="lin" valueType="num">
                                      <p:cBhvr additive="base">
                                        <p:cTn id="19" dur="500" fill="hold"/>
                                        <p:tgtEl>
                                          <p:spTgt spid="10997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9779" grpId="0" autoUpdateAnimBg="0"/>
      <p:bldP spid="1099780" grpId="0" autoUpdateAnimBg="0"/>
      <p:bldP spid="109978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802" name="Text Box 2"/>
          <p:cNvSpPr txBox="1">
            <a:spLocks noChangeArrowheads="1"/>
          </p:cNvSpPr>
          <p:nvPr/>
        </p:nvSpPr>
        <p:spPr bwMode="auto">
          <a:xfrm>
            <a:off x="838200" y="1978025"/>
            <a:ext cx="7700963" cy="289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15000"/>
              </a:lnSpc>
            </a:pPr>
            <a:r>
              <a:rPr lang="zh-CN" altLang="en-US" sz="4000"/>
              <a:t> </a:t>
            </a:r>
            <a:r>
              <a:rPr lang="en-US" altLang="zh-CN" sz="4000" b="1"/>
              <a:t>typedef struct </a:t>
            </a:r>
            <a:r>
              <a:rPr lang="en-US" altLang="zh-CN" sz="4000"/>
              <a:t>QNode </a:t>
            </a:r>
            <a:r>
              <a:rPr lang="en-US" altLang="zh-CN" sz="4000" b="1"/>
              <a:t>{</a:t>
            </a:r>
            <a:r>
              <a:rPr lang="en-US" altLang="zh-CN" sz="4000"/>
              <a:t>// </a:t>
            </a:r>
            <a:r>
              <a:rPr lang="zh-CN" altLang="en-US" sz="4000" b="1">
                <a:solidFill>
                  <a:srgbClr val="800000"/>
                </a:solidFill>
                <a:ea typeface="楷体_GB2312" charset="0"/>
              </a:rPr>
              <a:t>结点类型</a:t>
            </a:r>
            <a:endParaRPr lang="zh-CN" altLang="en-US" sz="4000"/>
          </a:p>
          <a:p>
            <a:pPr eaLnBrk="0" hangingPunct="0">
              <a:lnSpc>
                <a:spcPct val="115000"/>
              </a:lnSpc>
            </a:pPr>
            <a:r>
              <a:rPr lang="zh-CN" altLang="en-US" sz="4000"/>
              <a:t>    </a:t>
            </a:r>
            <a:r>
              <a:rPr lang="en-US" altLang="zh-CN" sz="4000" b="1"/>
              <a:t>QElemType</a:t>
            </a:r>
            <a:r>
              <a:rPr lang="en-US" altLang="zh-CN" sz="4000"/>
              <a:t>      data;</a:t>
            </a:r>
            <a:endParaRPr lang="en-US" altLang="zh-CN" sz="4000"/>
          </a:p>
          <a:p>
            <a:pPr eaLnBrk="0" hangingPunct="0">
              <a:lnSpc>
                <a:spcPct val="115000"/>
              </a:lnSpc>
            </a:pPr>
            <a:r>
              <a:rPr lang="en-US" altLang="zh-CN" sz="4000"/>
              <a:t>    </a:t>
            </a:r>
            <a:r>
              <a:rPr lang="en-US" altLang="zh-CN" sz="4000" b="1"/>
              <a:t>struct </a:t>
            </a:r>
            <a:r>
              <a:rPr lang="en-US" altLang="zh-CN" sz="4000"/>
              <a:t>QNode  </a:t>
            </a:r>
            <a:r>
              <a:rPr lang="en-US" altLang="zh-CN" sz="4000" b="1"/>
              <a:t>*</a:t>
            </a:r>
            <a:r>
              <a:rPr lang="en-US" altLang="zh-CN" sz="4000"/>
              <a:t>next;</a:t>
            </a:r>
            <a:endParaRPr lang="en-US" altLang="zh-CN" sz="4000"/>
          </a:p>
          <a:p>
            <a:pPr eaLnBrk="0" hangingPunct="0">
              <a:lnSpc>
                <a:spcPct val="115000"/>
              </a:lnSpc>
            </a:pPr>
            <a:r>
              <a:rPr lang="en-US" altLang="zh-CN" sz="4000"/>
              <a:t>  </a:t>
            </a:r>
            <a:r>
              <a:rPr lang="en-US" altLang="zh-CN" sz="4000" b="1"/>
              <a:t>}</a:t>
            </a:r>
            <a:r>
              <a:rPr lang="en-US" altLang="zh-CN" sz="4000"/>
              <a:t> QNode, </a:t>
            </a:r>
            <a:r>
              <a:rPr lang="en-US" altLang="zh-CN" sz="4000" b="1"/>
              <a:t>*</a:t>
            </a:r>
            <a:r>
              <a:rPr lang="en-US" altLang="zh-CN" sz="4000"/>
              <a:t>QueuePtr;</a:t>
            </a:r>
            <a:endParaRPr lang="en-US" altLang="zh-CN" sz="4000"/>
          </a:p>
        </p:txBody>
      </p:sp>
      <p:sp>
        <p:nvSpPr>
          <p:cNvPr id="1100803" name="Text Box 3"/>
          <p:cNvSpPr txBox="1">
            <a:spLocks noChangeArrowheads="1"/>
          </p:cNvSpPr>
          <p:nvPr/>
        </p:nvSpPr>
        <p:spPr bwMode="auto">
          <a:xfrm>
            <a:off x="1676400" y="228600"/>
            <a:ext cx="4760913"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b="1">
                <a:solidFill>
                  <a:srgbClr val="FF0000"/>
                </a:solidFill>
                <a:ea typeface="楷体_GB2312" charset="0"/>
              </a:rPr>
              <a:t>链队列</a:t>
            </a:r>
            <a:r>
              <a:rPr lang="en-US" altLang="zh-CN" sz="4000">
                <a:solidFill>
                  <a:srgbClr val="FF0000"/>
                </a:solidFill>
                <a:ea typeface="楷体_GB2312" charset="0"/>
              </a:rPr>
              <a:t>——</a:t>
            </a:r>
            <a:r>
              <a:rPr lang="zh-CN" altLang="en-US" sz="4000">
                <a:solidFill>
                  <a:srgbClr val="FF0000"/>
                </a:solidFill>
                <a:ea typeface="楷体_GB2312" charset="0"/>
              </a:rPr>
              <a:t>链式映象</a:t>
            </a:r>
            <a:endParaRPr lang="zh-CN" altLang="en-US" sz="4000">
              <a:solidFill>
                <a:srgbClr val="FF0000"/>
              </a:solidFill>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00802"/>
                                        </p:tgtEl>
                                        <p:attrNameLst>
                                          <p:attrName>style.visibility</p:attrName>
                                        </p:attrNameLst>
                                      </p:cBhvr>
                                      <p:to>
                                        <p:strVal val="visible"/>
                                      </p:to>
                                    </p:set>
                                    <p:animEffect transition="in" filter="box(out)">
                                      <p:cBhvr>
                                        <p:cTn id="7" dur="500"/>
                                        <p:tgtEl>
                                          <p:spTgt spid="1100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802"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6" name="Text Box 2"/>
          <p:cNvSpPr txBox="1">
            <a:spLocks noChangeArrowheads="1"/>
          </p:cNvSpPr>
          <p:nvPr/>
        </p:nvSpPr>
        <p:spPr bwMode="auto">
          <a:xfrm>
            <a:off x="593725" y="227013"/>
            <a:ext cx="6710363" cy="289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15000"/>
              </a:lnSpc>
            </a:pPr>
            <a:r>
              <a:rPr lang="en-US" altLang="zh-CN" sz="4000" b="1"/>
              <a:t>typedef struct { </a:t>
            </a:r>
            <a:r>
              <a:rPr lang="en-US" altLang="zh-CN" sz="4000"/>
              <a:t>// </a:t>
            </a:r>
            <a:r>
              <a:rPr lang="zh-CN" altLang="en-US" sz="4000" b="1">
                <a:solidFill>
                  <a:srgbClr val="800000"/>
                </a:solidFill>
                <a:ea typeface="楷体_GB2312" charset="0"/>
              </a:rPr>
              <a:t>链队列类型</a:t>
            </a:r>
            <a:endParaRPr lang="zh-CN" altLang="en-US" sz="4000" b="1"/>
          </a:p>
          <a:p>
            <a:pPr eaLnBrk="0" hangingPunct="0">
              <a:lnSpc>
                <a:spcPct val="115000"/>
              </a:lnSpc>
            </a:pPr>
            <a:r>
              <a:rPr lang="zh-CN" altLang="en-US" sz="4000"/>
              <a:t>    </a:t>
            </a:r>
            <a:r>
              <a:rPr lang="en-US" altLang="zh-CN" sz="4000"/>
              <a:t>QueuePtr  front;  // </a:t>
            </a:r>
            <a:r>
              <a:rPr lang="zh-CN" altLang="en-US" sz="4000" b="1">
                <a:solidFill>
                  <a:srgbClr val="A50021"/>
                </a:solidFill>
                <a:ea typeface="楷体_GB2312" charset="0"/>
              </a:rPr>
              <a:t>队头指针</a:t>
            </a:r>
            <a:endParaRPr lang="zh-CN" altLang="en-US" sz="4000">
              <a:solidFill>
                <a:srgbClr val="A50021"/>
              </a:solidFill>
            </a:endParaRPr>
          </a:p>
          <a:p>
            <a:pPr eaLnBrk="0" hangingPunct="0">
              <a:lnSpc>
                <a:spcPct val="115000"/>
              </a:lnSpc>
            </a:pPr>
            <a:r>
              <a:rPr lang="zh-CN" altLang="en-US" sz="4000"/>
              <a:t>    </a:t>
            </a:r>
            <a:r>
              <a:rPr lang="en-US" altLang="zh-CN" sz="4000"/>
              <a:t>QueuePtr  rear;   // </a:t>
            </a:r>
            <a:r>
              <a:rPr lang="zh-CN" altLang="en-US" sz="4000" b="1">
                <a:solidFill>
                  <a:srgbClr val="A50021"/>
                </a:solidFill>
                <a:ea typeface="楷体_GB2312" charset="0"/>
              </a:rPr>
              <a:t>队尾指针</a:t>
            </a:r>
            <a:endParaRPr lang="zh-CN" altLang="en-US" sz="4000"/>
          </a:p>
          <a:p>
            <a:pPr eaLnBrk="0" hangingPunct="0">
              <a:lnSpc>
                <a:spcPct val="115000"/>
              </a:lnSpc>
            </a:pPr>
            <a:r>
              <a:rPr lang="en-US" altLang="zh-CN" sz="4000" b="1"/>
              <a:t>}</a:t>
            </a:r>
            <a:r>
              <a:rPr lang="en-US" altLang="zh-CN" sz="4000"/>
              <a:t> LinkQueue;</a:t>
            </a:r>
            <a:endParaRPr lang="en-US" altLang="zh-CN" sz="4000"/>
          </a:p>
        </p:txBody>
      </p:sp>
      <p:sp>
        <p:nvSpPr>
          <p:cNvPr id="1101827" name="Rectangle 3"/>
          <p:cNvSpPr>
            <a:spLocks noChangeArrowheads="1"/>
          </p:cNvSpPr>
          <p:nvPr/>
        </p:nvSpPr>
        <p:spPr bwMode="auto">
          <a:xfrm>
            <a:off x="1524000" y="3733800"/>
            <a:ext cx="304800" cy="609600"/>
          </a:xfrm>
          <a:prstGeom prst="rect">
            <a:avLst/>
          </a:prstGeom>
          <a:solidFill>
            <a:srgbClr val="FFFFCC"/>
          </a:solidFill>
          <a:ln w="9525">
            <a:solidFill>
              <a:schemeClr val="tx1"/>
            </a:solidFill>
            <a:miter lim="800000"/>
          </a:ln>
        </p:spPr>
        <p:txBody>
          <a:bodyPr wrap="none" anchor="ctr"/>
          <a:lstStyle/>
          <a:p>
            <a:endParaRPr lang="zh-CN" altLang="en-US"/>
          </a:p>
        </p:txBody>
      </p:sp>
      <p:sp>
        <p:nvSpPr>
          <p:cNvPr id="1101828" name="Rectangle 4"/>
          <p:cNvSpPr>
            <a:spLocks noChangeArrowheads="1"/>
          </p:cNvSpPr>
          <p:nvPr/>
        </p:nvSpPr>
        <p:spPr bwMode="auto">
          <a:xfrm>
            <a:off x="1524000" y="4343400"/>
            <a:ext cx="304800" cy="609600"/>
          </a:xfrm>
          <a:prstGeom prst="rect">
            <a:avLst/>
          </a:prstGeom>
          <a:solidFill>
            <a:srgbClr val="FFFFCC"/>
          </a:solidFill>
          <a:ln w="9525">
            <a:solidFill>
              <a:schemeClr val="tx1"/>
            </a:solidFill>
            <a:miter lim="800000"/>
          </a:ln>
        </p:spPr>
        <p:txBody>
          <a:bodyPr wrap="none" anchor="ctr"/>
          <a:lstStyle/>
          <a:p>
            <a:endParaRPr lang="zh-CN" altLang="en-US"/>
          </a:p>
        </p:txBody>
      </p:sp>
      <p:sp>
        <p:nvSpPr>
          <p:cNvPr id="1101829" name="Rectangle 5"/>
          <p:cNvSpPr>
            <a:spLocks noChangeArrowheads="1"/>
          </p:cNvSpPr>
          <p:nvPr/>
        </p:nvSpPr>
        <p:spPr bwMode="auto">
          <a:xfrm>
            <a:off x="3124200" y="3733800"/>
            <a:ext cx="304800" cy="609600"/>
          </a:xfrm>
          <a:prstGeom prst="rect">
            <a:avLst/>
          </a:prstGeom>
          <a:noFill/>
          <a:ln w="9525">
            <a:solidFill>
              <a:schemeClr val="tx1"/>
            </a:solidFill>
            <a:miter lim="800000"/>
          </a:ln>
          <a:extLst>
            <a:ext uri="{909E8E84-426E-40DD-AFC4-6F175D3DCCD1}">
              <a14:hiddenFill xmlns:a14="http://schemas.microsoft.com/office/drawing/2010/main">
                <a:solidFill>
                  <a:srgbClr val="FFFFCC"/>
                </a:solidFill>
              </a14:hiddenFill>
            </a:ext>
          </a:extLst>
        </p:spPr>
        <p:txBody>
          <a:bodyPr wrap="none" anchor="ctr"/>
          <a:lstStyle/>
          <a:p>
            <a:endParaRPr lang="zh-CN" altLang="en-US"/>
          </a:p>
        </p:txBody>
      </p:sp>
      <p:sp>
        <p:nvSpPr>
          <p:cNvPr id="1101830" name="Rectangle 6"/>
          <p:cNvSpPr>
            <a:spLocks noChangeArrowheads="1"/>
          </p:cNvSpPr>
          <p:nvPr/>
        </p:nvSpPr>
        <p:spPr bwMode="auto">
          <a:xfrm>
            <a:off x="2438400" y="3733800"/>
            <a:ext cx="685800" cy="609600"/>
          </a:xfrm>
          <a:prstGeom prst="rect">
            <a:avLst/>
          </a:prstGeom>
          <a:solidFill>
            <a:srgbClr val="FFCC99"/>
          </a:solidFill>
          <a:ln w="9525">
            <a:solidFill>
              <a:schemeClr val="tx1"/>
            </a:solidFill>
            <a:miter lim="800000"/>
          </a:ln>
        </p:spPr>
        <p:txBody>
          <a:bodyPr wrap="none" anchor="ctr"/>
          <a:lstStyle/>
          <a:p>
            <a:endParaRPr lang="zh-CN" altLang="en-US"/>
          </a:p>
        </p:txBody>
      </p:sp>
      <p:sp>
        <p:nvSpPr>
          <p:cNvPr id="1101831" name="Rectangle 7"/>
          <p:cNvSpPr>
            <a:spLocks noChangeArrowheads="1"/>
          </p:cNvSpPr>
          <p:nvPr/>
        </p:nvSpPr>
        <p:spPr bwMode="auto">
          <a:xfrm>
            <a:off x="4648200" y="3733800"/>
            <a:ext cx="304800" cy="609600"/>
          </a:xfrm>
          <a:prstGeom prst="rect">
            <a:avLst/>
          </a:prstGeom>
          <a:noFill/>
          <a:ln w="9525">
            <a:solidFill>
              <a:schemeClr val="tx1"/>
            </a:solidFill>
            <a:miter lim="800000"/>
          </a:ln>
          <a:extLst>
            <a:ext uri="{909E8E84-426E-40DD-AFC4-6F175D3DCCD1}">
              <a14:hiddenFill xmlns:a14="http://schemas.microsoft.com/office/drawing/2010/main">
                <a:solidFill>
                  <a:srgbClr val="FFFFCC"/>
                </a:solidFill>
              </a14:hiddenFill>
            </a:ext>
          </a:extLst>
        </p:spPr>
        <p:txBody>
          <a:bodyPr wrap="none" anchor="ctr"/>
          <a:lstStyle/>
          <a:p>
            <a:endParaRPr lang="zh-CN" altLang="en-US"/>
          </a:p>
        </p:txBody>
      </p:sp>
      <p:sp>
        <p:nvSpPr>
          <p:cNvPr id="1101832" name="Rectangle 8"/>
          <p:cNvSpPr>
            <a:spLocks noChangeArrowheads="1"/>
          </p:cNvSpPr>
          <p:nvPr/>
        </p:nvSpPr>
        <p:spPr bwMode="auto">
          <a:xfrm>
            <a:off x="3962400" y="3733800"/>
            <a:ext cx="685800" cy="609600"/>
          </a:xfrm>
          <a:prstGeom prst="rect">
            <a:avLst/>
          </a:prstGeom>
          <a:noFill/>
          <a:ln w="9525">
            <a:solidFill>
              <a:schemeClr val="tx1"/>
            </a:solidFill>
            <a:miter lim="800000"/>
          </a:ln>
          <a:extLst>
            <a:ext uri="{909E8E84-426E-40DD-AFC4-6F175D3DCCD1}">
              <a14:hiddenFill xmlns:a14="http://schemas.microsoft.com/office/drawing/2010/main">
                <a:solidFill>
                  <a:srgbClr val="FFCC99"/>
                </a:solidFill>
              </a14:hiddenFill>
            </a:ext>
          </a:extLst>
        </p:spPr>
        <p:txBody>
          <a:bodyPr wrap="none" anchor="ctr"/>
          <a:lstStyle/>
          <a:p>
            <a:pPr algn="ctr"/>
            <a:r>
              <a:rPr lang="en-US" altLang="zh-CN" sz="4000"/>
              <a:t>a</a:t>
            </a:r>
            <a:r>
              <a:rPr lang="en-US" altLang="zh-CN" sz="4000" baseline="-25000"/>
              <a:t>1</a:t>
            </a:r>
            <a:endParaRPr lang="en-US" altLang="zh-CN" sz="4000"/>
          </a:p>
        </p:txBody>
      </p:sp>
      <p:sp>
        <p:nvSpPr>
          <p:cNvPr id="1101833" name="Rectangle 9"/>
          <p:cNvSpPr>
            <a:spLocks noChangeArrowheads="1"/>
          </p:cNvSpPr>
          <p:nvPr/>
        </p:nvSpPr>
        <p:spPr bwMode="auto">
          <a:xfrm>
            <a:off x="8077200" y="3733800"/>
            <a:ext cx="304800" cy="609600"/>
          </a:xfrm>
          <a:prstGeom prst="rect">
            <a:avLst/>
          </a:prstGeom>
          <a:noFill/>
          <a:ln w="9525">
            <a:solidFill>
              <a:schemeClr val="tx1"/>
            </a:solidFill>
            <a:miter lim="800000"/>
          </a:ln>
          <a:extLst>
            <a:ext uri="{909E8E84-426E-40DD-AFC4-6F175D3DCCD1}">
              <a14:hiddenFill xmlns:a14="http://schemas.microsoft.com/office/drawing/2010/main">
                <a:solidFill>
                  <a:srgbClr val="FFFFCC"/>
                </a:solidFill>
              </a14:hiddenFill>
            </a:ext>
          </a:extLst>
        </p:spPr>
        <p:txBody>
          <a:bodyPr wrap="none" anchor="ctr"/>
          <a:lstStyle/>
          <a:p>
            <a:pPr algn="ctr"/>
            <a:r>
              <a:rPr lang="zh-CN" altLang="en-US" sz="2400"/>
              <a:t>∧</a:t>
            </a:r>
            <a:endParaRPr lang="zh-CN" altLang="en-US" sz="4000"/>
          </a:p>
        </p:txBody>
      </p:sp>
      <p:sp>
        <p:nvSpPr>
          <p:cNvPr id="1101834" name="Rectangle 10"/>
          <p:cNvSpPr>
            <a:spLocks noChangeArrowheads="1"/>
          </p:cNvSpPr>
          <p:nvPr/>
        </p:nvSpPr>
        <p:spPr bwMode="auto">
          <a:xfrm>
            <a:off x="7391400" y="3733800"/>
            <a:ext cx="685800" cy="609600"/>
          </a:xfrm>
          <a:prstGeom prst="rect">
            <a:avLst/>
          </a:prstGeom>
          <a:noFill/>
          <a:ln w="9525">
            <a:solidFill>
              <a:schemeClr val="tx1"/>
            </a:solidFill>
            <a:miter lim="800000"/>
          </a:ln>
          <a:extLst>
            <a:ext uri="{909E8E84-426E-40DD-AFC4-6F175D3DCCD1}">
              <a14:hiddenFill xmlns:a14="http://schemas.microsoft.com/office/drawing/2010/main">
                <a:solidFill>
                  <a:srgbClr val="FFCC99"/>
                </a:solidFill>
              </a14:hiddenFill>
            </a:ext>
          </a:extLst>
        </p:spPr>
        <p:txBody>
          <a:bodyPr wrap="none" anchor="ctr"/>
          <a:lstStyle/>
          <a:p>
            <a:pPr algn="ctr"/>
            <a:r>
              <a:rPr lang="en-US" altLang="zh-CN" sz="4000"/>
              <a:t>a</a:t>
            </a:r>
            <a:r>
              <a:rPr lang="en-US" altLang="zh-CN" sz="4000" baseline="-25000"/>
              <a:t>n</a:t>
            </a:r>
            <a:endParaRPr lang="en-US" altLang="zh-CN" sz="4000"/>
          </a:p>
        </p:txBody>
      </p:sp>
      <p:sp>
        <p:nvSpPr>
          <p:cNvPr id="1101835" name="Line 11"/>
          <p:cNvSpPr>
            <a:spLocks noChangeShapeType="1"/>
          </p:cNvSpPr>
          <p:nvPr/>
        </p:nvSpPr>
        <p:spPr bwMode="auto">
          <a:xfrm>
            <a:off x="1676400" y="4038600"/>
            <a:ext cx="762000" cy="0"/>
          </a:xfrm>
          <a:prstGeom prst="line">
            <a:avLst/>
          </a:prstGeom>
          <a:noFill/>
          <a:ln w="28575">
            <a:solidFill>
              <a:srgbClr val="FF505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836" name="Line 12"/>
          <p:cNvSpPr>
            <a:spLocks noChangeShapeType="1"/>
          </p:cNvSpPr>
          <p:nvPr/>
        </p:nvSpPr>
        <p:spPr bwMode="auto">
          <a:xfrm>
            <a:off x="3276600" y="4038600"/>
            <a:ext cx="762000"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837" name="Line 13"/>
          <p:cNvSpPr>
            <a:spLocks noChangeShapeType="1"/>
          </p:cNvSpPr>
          <p:nvPr/>
        </p:nvSpPr>
        <p:spPr bwMode="auto">
          <a:xfrm>
            <a:off x="4800600" y="4038600"/>
            <a:ext cx="762000"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838" name="Line 14"/>
          <p:cNvSpPr>
            <a:spLocks noChangeShapeType="1"/>
          </p:cNvSpPr>
          <p:nvPr/>
        </p:nvSpPr>
        <p:spPr bwMode="auto">
          <a:xfrm>
            <a:off x="6629400" y="4038600"/>
            <a:ext cx="762000" cy="0"/>
          </a:xfrm>
          <a:prstGeom prst="line">
            <a:avLst/>
          </a:prstGeom>
          <a:noFill/>
          <a:ln w="25400">
            <a:solidFill>
              <a:schemeClr val="tx1"/>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839" name="Text Box 15"/>
          <p:cNvSpPr txBox="1">
            <a:spLocks noChangeArrowheads="1"/>
          </p:cNvSpPr>
          <p:nvPr/>
        </p:nvSpPr>
        <p:spPr bwMode="auto">
          <a:xfrm>
            <a:off x="5791200" y="3565525"/>
            <a:ext cx="8382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zh-CN" sz="4000" b="1"/>
              <a:t>…</a:t>
            </a:r>
            <a:endParaRPr lang="en-US" altLang="zh-CN" sz="4000"/>
          </a:p>
        </p:txBody>
      </p:sp>
      <p:sp>
        <p:nvSpPr>
          <p:cNvPr id="1101840" name="Line 16"/>
          <p:cNvSpPr>
            <a:spLocks noChangeShapeType="1"/>
          </p:cNvSpPr>
          <p:nvPr/>
        </p:nvSpPr>
        <p:spPr bwMode="auto">
          <a:xfrm>
            <a:off x="1676400" y="4648200"/>
            <a:ext cx="6096000" cy="0"/>
          </a:xfrm>
          <a:prstGeom prst="line">
            <a:avLst/>
          </a:prstGeom>
          <a:noFill/>
          <a:ln w="28575">
            <a:solidFill>
              <a:srgbClr val="FF505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841" name="Line 17"/>
          <p:cNvSpPr>
            <a:spLocks noChangeShapeType="1"/>
          </p:cNvSpPr>
          <p:nvPr/>
        </p:nvSpPr>
        <p:spPr bwMode="auto">
          <a:xfrm flipV="1">
            <a:off x="7772400" y="4343400"/>
            <a:ext cx="0" cy="304800"/>
          </a:xfrm>
          <a:prstGeom prst="line">
            <a:avLst/>
          </a:prstGeom>
          <a:noFill/>
          <a:ln w="28575">
            <a:solidFill>
              <a:srgbClr val="FF505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842" name="Text Box 18"/>
          <p:cNvSpPr txBox="1">
            <a:spLocks noChangeArrowheads="1"/>
          </p:cNvSpPr>
          <p:nvPr/>
        </p:nvSpPr>
        <p:spPr bwMode="auto">
          <a:xfrm>
            <a:off x="136525" y="3733800"/>
            <a:ext cx="1368425" cy="116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nSpc>
                <a:spcPct val="110000"/>
              </a:lnSpc>
            </a:pPr>
            <a:r>
              <a:rPr lang="en-US" altLang="zh-CN" sz="3200">
                <a:solidFill>
                  <a:srgbClr val="A50021"/>
                </a:solidFill>
              </a:rPr>
              <a:t>Q.front</a:t>
            </a:r>
            <a:endParaRPr lang="en-US" altLang="zh-CN" sz="3200">
              <a:solidFill>
                <a:srgbClr val="A50021"/>
              </a:solidFill>
            </a:endParaRPr>
          </a:p>
          <a:p>
            <a:pPr>
              <a:lnSpc>
                <a:spcPct val="110000"/>
              </a:lnSpc>
            </a:pPr>
            <a:r>
              <a:rPr lang="en-US" altLang="zh-CN" sz="3200">
                <a:solidFill>
                  <a:srgbClr val="A50021"/>
                </a:solidFill>
              </a:rPr>
              <a:t>Q.rear</a:t>
            </a:r>
            <a:endParaRPr lang="en-US" altLang="zh-CN" sz="3200">
              <a:solidFill>
                <a:srgbClr val="A50021"/>
              </a:solidFill>
            </a:endParaRPr>
          </a:p>
        </p:txBody>
      </p:sp>
      <p:sp>
        <p:nvSpPr>
          <p:cNvPr id="1101843" name="Rectangle 19"/>
          <p:cNvSpPr>
            <a:spLocks noChangeArrowheads="1"/>
          </p:cNvSpPr>
          <p:nvPr/>
        </p:nvSpPr>
        <p:spPr bwMode="auto">
          <a:xfrm>
            <a:off x="3733800" y="5181600"/>
            <a:ext cx="304800" cy="609600"/>
          </a:xfrm>
          <a:prstGeom prst="rect">
            <a:avLst/>
          </a:prstGeom>
          <a:solidFill>
            <a:srgbClr val="FFFFCC"/>
          </a:solidFill>
          <a:ln w="9525">
            <a:solidFill>
              <a:schemeClr val="tx1"/>
            </a:solidFill>
            <a:miter lim="800000"/>
          </a:ln>
        </p:spPr>
        <p:txBody>
          <a:bodyPr wrap="none" anchor="ctr"/>
          <a:lstStyle/>
          <a:p>
            <a:endParaRPr lang="zh-CN" altLang="en-US"/>
          </a:p>
        </p:txBody>
      </p:sp>
      <p:sp>
        <p:nvSpPr>
          <p:cNvPr id="1101844" name="Rectangle 20"/>
          <p:cNvSpPr>
            <a:spLocks noChangeArrowheads="1"/>
          </p:cNvSpPr>
          <p:nvPr/>
        </p:nvSpPr>
        <p:spPr bwMode="auto">
          <a:xfrm>
            <a:off x="3733800" y="5791200"/>
            <a:ext cx="304800" cy="609600"/>
          </a:xfrm>
          <a:prstGeom prst="rect">
            <a:avLst/>
          </a:prstGeom>
          <a:solidFill>
            <a:srgbClr val="FFFFCC"/>
          </a:solidFill>
          <a:ln w="9525">
            <a:solidFill>
              <a:schemeClr val="tx1"/>
            </a:solidFill>
            <a:miter lim="800000"/>
          </a:ln>
        </p:spPr>
        <p:txBody>
          <a:bodyPr wrap="none" anchor="ctr"/>
          <a:lstStyle/>
          <a:p>
            <a:endParaRPr lang="zh-CN" altLang="en-US"/>
          </a:p>
        </p:txBody>
      </p:sp>
      <p:sp>
        <p:nvSpPr>
          <p:cNvPr id="1101845" name="Rectangle 21"/>
          <p:cNvSpPr>
            <a:spLocks noChangeArrowheads="1"/>
          </p:cNvSpPr>
          <p:nvPr/>
        </p:nvSpPr>
        <p:spPr bwMode="auto">
          <a:xfrm>
            <a:off x="5334000" y="5486400"/>
            <a:ext cx="304800" cy="609600"/>
          </a:xfrm>
          <a:prstGeom prst="rect">
            <a:avLst/>
          </a:prstGeom>
          <a:noFill/>
          <a:ln w="9525">
            <a:solidFill>
              <a:schemeClr val="tx1"/>
            </a:solidFill>
            <a:miter lim="800000"/>
          </a:ln>
          <a:extLst>
            <a:ext uri="{909E8E84-426E-40DD-AFC4-6F175D3DCCD1}">
              <a14:hiddenFill xmlns:a14="http://schemas.microsoft.com/office/drawing/2010/main">
                <a:solidFill>
                  <a:srgbClr val="FFFFCC"/>
                </a:solidFill>
              </a14:hiddenFill>
            </a:ext>
          </a:extLst>
        </p:spPr>
        <p:txBody>
          <a:bodyPr wrap="none" anchor="ctr"/>
          <a:lstStyle/>
          <a:p>
            <a:endParaRPr lang="zh-CN" altLang="en-US"/>
          </a:p>
        </p:txBody>
      </p:sp>
      <p:sp>
        <p:nvSpPr>
          <p:cNvPr id="1101846" name="Rectangle 22"/>
          <p:cNvSpPr>
            <a:spLocks noChangeArrowheads="1"/>
          </p:cNvSpPr>
          <p:nvPr/>
        </p:nvSpPr>
        <p:spPr bwMode="auto">
          <a:xfrm>
            <a:off x="4648200" y="5486400"/>
            <a:ext cx="685800" cy="609600"/>
          </a:xfrm>
          <a:prstGeom prst="rect">
            <a:avLst/>
          </a:prstGeom>
          <a:solidFill>
            <a:srgbClr val="FFCC99"/>
          </a:solidFill>
          <a:ln w="9525">
            <a:solidFill>
              <a:schemeClr val="tx1"/>
            </a:solidFill>
            <a:miter lim="800000"/>
          </a:ln>
        </p:spPr>
        <p:txBody>
          <a:bodyPr wrap="none" anchor="ctr"/>
          <a:lstStyle/>
          <a:p>
            <a:endParaRPr lang="zh-CN" altLang="en-US"/>
          </a:p>
        </p:txBody>
      </p:sp>
      <p:sp>
        <p:nvSpPr>
          <p:cNvPr id="1101847" name="Text Box 23"/>
          <p:cNvSpPr txBox="1">
            <a:spLocks noChangeArrowheads="1"/>
          </p:cNvSpPr>
          <p:nvPr/>
        </p:nvSpPr>
        <p:spPr bwMode="auto">
          <a:xfrm>
            <a:off x="2346325" y="5181600"/>
            <a:ext cx="1368425" cy="116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nSpc>
                <a:spcPct val="110000"/>
              </a:lnSpc>
            </a:pPr>
            <a:r>
              <a:rPr lang="en-US" altLang="zh-CN" sz="3200">
                <a:solidFill>
                  <a:srgbClr val="A50021"/>
                </a:solidFill>
              </a:rPr>
              <a:t>Q.front</a:t>
            </a:r>
            <a:endParaRPr lang="en-US" altLang="zh-CN" sz="3200">
              <a:solidFill>
                <a:srgbClr val="A50021"/>
              </a:solidFill>
            </a:endParaRPr>
          </a:p>
          <a:p>
            <a:pPr>
              <a:lnSpc>
                <a:spcPct val="110000"/>
              </a:lnSpc>
            </a:pPr>
            <a:r>
              <a:rPr lang="en-US" altLang="zh-CN" sz="3200">
                <a:solidFill>
                  <a:srgbClr val="A50021"/>
                </a:solidFill>
              </a:rPr>
              <a:t>Q.rear</a:t>
            </a:r>
            <a:endParaRPr lang="en-US" altLang="zh-CN" sz="3200">
              <a:solidFill>
                <a:srgbClr val="A50021"/>
              </a:solidFill>
            </a:endParaRPr>
          </a:p>
        </p:txBody>
      </p:sp>
      <p:sp>
        <p:nvSpPr>
          <p:cNvPr id="1101848" name="Line 24"/>
          <p:cNvSpPr>
            <a:spLocks noChangeShapeType="1"/>
          </p:cNvSpPr>
          <p:nvPr/>
        </p:nvSpPr>
        <p:spPr bwMode="auto">
          <a:xfrm>
            <a:off x="3886200" y="5486400"/>
            <a:ext cx="762000" cy="152400"/>
          </a:xfrm>
          <a:prstGeom prst="line">
            <a:avLst/>
          </a:prstGeom>
          <a:noFill/>
          <a:ln w="28575">
            <a:solidFill>
              <a:srgbClr val="FF505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849" name="Line 25"/>
          <p:cNvSpPr>
            <a:spLocks noChangeShapeType="1"/>
          </p:cNvSpPr>
          <p:nvPr/>
        </p:nvSpPr>
        <p:spPr bwMode="auto">
          <a:xfrm flipV="1">
            <a:off x="3886200" y="5943600"/>
            <a:ext cx="762000" cy="152400"/>
          </a:xfrm>
          <a:prstGeom prst="line">
            <a:avLst/>
          </a:prstGeom>
          <a:noFill/>
          <a:ln w="28575">
            <a:solidFill>
              <a:srgbClr val="FF505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850" name="Rectangle 26"/>
          <p:cNvSpPr>
            <a:spLocks noChangeArrowheads="1"/>
          </p:cNvSpPr>
          <p:nvPr/>
        </p:nvSpPr>
        <p:spPr bwMode="auto">
          <a:xfrm>
            <a:off x="5334000" y="5486400"/>
            <a:ext cx="304800" cy="609600"/>
          </a:xfrm>
          <a:prstGeom prst="rect">
            <a:avLst/>
          </a:prstGeom>
          <a:noFill/>
          <a:ln w="9525">
            <a:solidFill>
              <a:schemeClr val="tx1"/>
            </a:solidFill>
            <a:miter lim="800000"/>
          </a:ln>
          <a:extLst>
            <a:ext uri="{909E8E84-426E-40DD-AFC4-6F175D3DCCD1}">
              <a14:hiddenFill xmlns:a14="http://schemas.microsoft.com/office/drawing/2010/main">
                <a:solidFill>
                  <a:srgbClr val="FFFFCC"/>
                </a:solidFill>
              </a14:hiddenFill>
            </a:ext>
          </a:extLst>
        </p:spPr>
        <p:txBody>
          <a:bodyPr wrap="none" anchor="ctr"/>
          <a:lstStyle/>
          <a:p>
            <a:pPr algn="ctr"/>
            <a:r>
              <a:rPr lang="zh-CN" altLang="en-US" sz="2400"/>
              <a:t>∧</a:t>
            </a:r>
            <a:endParaRPr lang="zh-CN" altLang="en-US" sz="4000"/>
          </a:p>
        </p:txBody>
      </p:sp>
      <p:sp>
        <p:nvSpPr>
          <p:cNvPr id="1101851" name="Text Box 27"/>
          <p:cNvSpPr txBox="1">
            <a:spLocks noChangeArrowheads="1"/>
          </p:cNvSpPr>
          <p:nvPr/>
        </p:nvSpPr>
        <p:spPr bwMode="auto">
          <a:xfrm>
            <a:off x="609600" y="5410200"/>
            <a:ext cx="180657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zh-CN" altLang="en-US" sz="4000" b="1">
                <a:solidFill>
                  <a:srgbClr val="800000"/>
                </a:solidFill>
                <a:ea typeface="隶书" panose="02010509060101010101" charset="-122"/>
              </a:rPr>
              <a:t>空队列</a:t>
            </a:r>
            <a:endParaRPr lang="zh-CN" altLang="en-US"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0183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101829"/>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10183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101832"/>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101831"/>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101837"/>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101839"/>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1101838"/>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1101834"/>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110183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101827"/>
                                        </p:tgtEl>
                                        <p:attrNameLst>
                                          <p:attrName>style.visibility</p:attrName>
                                        </p:attrNameLst>
                                      </p:cBhvr>
                                      <p:to>
                                        <p:strVal val="visible"/>
                                      </p:to>
                                    </p:set>
                                    <p:anim calcmode="lin" valueType="num">
                                      <p:cBhvr additive="base">
                                        <p:cTn id="38" dur="500" fill="hold"/>
                                        <p:tgtEl>
                                          <p:spTgt spid="1101827"/>
                                        </p:tgtEl>
                                        <p:attrNameLst>
                                          <p:attrName>ppt_x</p:attrName>
                                        </p:attrNameLst>
                                      </p:cBhvr>
                                      <p:tavLst>
                                        <p:tav tm="0">
                                          <p:val>
                                            <p:strVal val="0-#ppt_w/2"/>
                                          </p:val>
                                        </p:tav>
                                        <p:tav tm="100000">
                                          <p:val>
                                            <p:strVal val="#ppt_x"/>
                                          </p:val>
                                        </p:tav>
                                      </p:tavLst>
                                    </p:anim>
                                    <p:anim calcmode="lin" valueType="num">
                                      <p:cBhvr additive="base">
                                        <p:cTn id="39" dur="500" fill="hold"/>
                                        <p:tgtEl>
                                          <p:spTgt spid="1101827"/>
                                        </p:tgtEl>
                                        <p:attrNameLst>
                                          <p:attrName>ppt_y</p:attrName>
                                        </p:attrNameLst>
                                      </p:cBhvr>
                                      <p:tavLst>
                                        <p:tav tm="0">
                                          <p:val>
                                            <p:strVal val="#ppt_y"/>
                                          </p:val>
                                        </p:tav>
                                        <p:tav tm="100000">
                                          <p:val>
                                            <p:strVal val="#ppt_y"/>
                                          </p:val>
                                        </p:tav>
                                      </p:tavLst>
                                    </p:anim>
                                  </p:childTnLst>
                                </p:cTn>
                              </p:par>
                            </p:childTnLst>
                          </p:cTn>
                        </p:par>
                        <p:par>
                          <p:cTn id="40" fill="hold">
                            <p:stCondLst>
                              <p:cond delay="500"/>
                            </p:stCondLst>
                            <p:childTnLst>
                              <p:par>
                                <p:cTn id="41" presetID="2" presetClass="entr" presetSubtype="8" fill="hold" grpId="0" nodeType="afterEffect">
                                  <p:stCondLst>
                                    <p:cond delay="0"/>
                                  </p:stCondLst>
                                  <p:childTnLst>
                                    <p:set>
                                      <p:cBhvr>
                                        <p:cTn id="42" dur="1" fill="hold">
                                          <p:stCondLst>
                                            <p:cond delay="0"/>
                                          </p:stCondLst>
                                        </p:cTn>
                                        <p:tgtEl>
                                          <p:spTgt spid="1101828"/>
                                        </p:tgtEl>
                                        <p:attrNameLst>
                                          <p:attrName>style.visibility</p:attrName>
                                        </p:attrNameLst>
                                      </p:cBhvr>
                                      <p:to>
                                        <p:strVal val="visible"/>
                                      </p:to>
                                    </p:set>
                                    <p:anim calcmode="lin" valueType="num">
                                      <p:cBhvr additive="base">
                                        <p:cTn id="43" dur="500" fill="hold"/>
                                        <p:tgtEl>
                                          <p:spTgt spid="1101828"/>
                                        </p:tgtEl>
                                        <p:attrNameLst>
                                          <p:attrName>ppt_x</p:attrName>
                                        </p:attrNameLst>
                                      </p:cBhvr>
                                      <p:tavLst>
                                        <p:tav tm="0">
                                          <p:val>
                                            <p:strVal val="0-#ppt_w/2"/>
                                          </p:val>
                                        </p:tav>
                                        <p:tav tm="100000">
                                          <p:val>
                                            <p:strVal val="#ppt_x"/>
                                          </p:val>
                                        </p:tav>
                                      </p:tavLst>
                                    </p:anim>
                                    <p:anim calcmode="lin" valueType="num">
                                      <p:cBhvr additive="base">
                                        <p:cTn id="44" dur="500" fill="hold"/>
                                        <p:tgtEl>
                                          <p:spTgt spid="1101828"/>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8" fill="hold" grpId="0" nodeType="clickEffect">
                                  <p:stCondLst>
                                    <p:cond delay="0"/>
                                  </p:stCondLst>
                                  <p:childTnLst>
                                    <p:set>
                                      <p:cBhvr>
                                        <p:cTn id="48" dur="1" fill="hold">
                                          <p:stCondLst>
                                            <p:cond delay="0"/>
                                          </p:stCondLst>
                                        </p:cTn>
                                        <p:tgtEl>
                                          <p:spTgt spid="1101835"/>
                                        </p:tgtEl>
                                        <p:attrNameLst>
                                          <p:attrName>style.visibility</p:attrName>
                                        </p:attrNameLst>
                                      </p:cBhvr>
                                      <p:to>
                                        <p:strVal val="visible"/>
                                      </p:to>
                                    </p:set>
                                    <p:anim calcmode="lin" valueType="num">
                                      <p:cBhvr>
                                        <p:cTn id="49" dur="500" fill="hold"/>
                                        <p:tgtEl>
                                          <p:spTgt spid="1101835"/>
                                        </p:tgtEl>
                                        <p:attrNameLst>
                                          <p:attrName>ppt_x</p:attrName>
                                        </p:attrNameLst>
                                      </p:cBhvr>
                                      <p:tavLst>
                                        <p:tav tm="0">
                                          <p:val>
                                            <p:strVal val="#ppt_x-#ppt_w/2"/>
                                          </p:val>
                                        </p:tav>
                                        <p:tav tm="100000">
                                          <p:val>
                                            <p:strVal val="#ppt_x"/>
                                          </p:val>
                                        </p:tav>
                                      </p:tavLst>
                                    </p:anim>
                                    <p:anim calcmode="lin" valueType="num">
                                      <p:cBhvr>
                                        <p:cTn id="50" dur="500" fill="hold"/>
                                        <p:tgtEl>
                                          <p:spTgt spid="1101835"/>
                                        </p:tgtEl>
                                        <p:attrNameLst>
                                          <p:attrName>ppt_y</p:attrName>
                                        </p:attrNameLst>
                                      </p:cBhvr>
                                      <p:tavLst>
                                        <p:tav tm="0">
                                          <p:val>
                                            <p:strVal val="#ppt_y"/>
                                          </p:val>
                                        </p:tav>
                                        <p:tav tm="100000">
                                          <p:val>
                                            <p:strVal val="#ppt_y"/>
                                          </p:val>
                                        </p:tav>
                                      </p:tavLst>
                                    </p:anim>
                                    <p:anim calcmode="lin" valueType="num">
                                      <p:cBhvr>
                                        <p:cTn id="51" dur="500" fill="hold"/>
                                        <p:tgtEl>
                                          <p:spTgt spid="1101835"/>
                                        </p:tgtEl>
                                        <p:attrNameLst>
                                          <p:attrName>ppt_w</p:attrName>
                                        </p:attrNameLst>
                                      </p:cBhvr>
                                      <p:tavLst>
                                        <p:tav tm="0">
                                          <p:val>
                                            <p:fltVal val="0"/>
                                          </p:val>
                                        </p:tav>
                                        <p:tav tm="100000">
                                          <p:val>
                                            <p:strVal val="#ppt_w"/>
                                          </p:val>
                                        </p:tav>
                                      </p:tavLst>
                                    </p:anim>
                                    <p:anim calcmode="lin" valueType="num">
                                      <p:cBhvr>
                                        <p:cTn id="52" dur="500" fill="hold"/>
                                        <p:tgtEl>
                                          <p:spTgt spid="1101835"/>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7" presetClass="entr" presetSubtype="8" fill="hold" grpId="0" nodeType="clickEffect">
                                  <p:stCondLst>
                                    <p:cond delay="0"/>
                                  </p:stCondLst>
                                  <p:childTnLst>
                                    <p:set>
                                      <p:cBhvr>
                                        <p:cTn id="56" dur="1" fill="hold">
                                          <p:stCondLst>
                                            <p:cond delay="0"/>
                                          </p:stCondLst>
                                        </p:cTn>
                                        <p:tgtEl>
                                          <p:spTgt spid="1101840"/>
                                        </p:tgtEl>
                                        <p:attrNameLst>
                                          <p:attrName>style.visibility</p:attrName>
                                        </p:attrNameLst>
                                      </p:cBhvr>
                                      <p:to>
                                        <p:strVal val="visible"/>
                                      </p:to>
                                    </p:set>
                                    <p:anim calcmode="lin" valueType="num">
                                      <p:cBhvr>
                                        <p:cTn id="57" dur="500" fill="hold"/>
                                        <p:tgtEl>
                                          <p:spTgt spid="1101840"/>
                                        </p:tgtEl>
                                        <p:attrNameLst>
                                          <p:attrName>ppt_x</p:attrName>
                                        </p:attrNameLst>
                                      </p:cBhvr>
                                      <p:tavLst>
                                        <p:tav tm="0">
                                          <p:val>
                                            <p:strVal val="#ppt_x-#ppt_w/2"/>
                                          </p:val>
                                        </p:tav>
                                        <p:tav tm="100000">
                                          <p:val>
                                            <p:strVal val="#ppt_x"/>
                                          </p:val>
                                        </p:tav>
                                      </p:tavLst>
                                    </p:anim>
                                    <p:anim calcmode="lin" valueType="num">
                                      <p:cBhvr>
                                        <p:cTn id="58" dur="500" fill="hold"/>
                                        <p:tgtEl>
                                          <p:spTgt spid="1101840"/>
                                        </p:tgtEl>
                                        <p:attrNameLst>
                                          <p:attrName>ppt_y</p:attrName>
                                        </p:attrNameLst>
                                      </p:cBhvr>
                                      <p:tavLst>
                                        <p:tav tm="0">
                                          <p:val>
                                            <p:strVal val="#ppt_y"/>
                                          </p:val>
                                        </p:tav>
                                        <p:tav tm="100000">
                                          <p:val>
                                            <p:strVal val="#ppt_y"/>
                                          </p:val>
                                        </p:tav>
                                      </p:tavLst>
                                    </p:anim>
                                    <p:anim calcmode="lin" valueType="num">
                                      <p:cBhvr>
                                        <p:cTn id="59" dur="500" fill="hold"/>
                                        <p:tgtEl>
                                          <p:spTgt spid="1101840"/>
                                        </p:tgtEl>
                                        <p:attrNameLst>
                                          <p:attrName>ppt_w</p:attrName>
                                        </p:attrNameLst>
                                      </p:cBhvr>
                                      <p:tavLst>
                                        <p:tav tm="0">
                                          <p:val>
                                            <p:fltVal val="0"/>
                                          </p:val>
                                        </p:tav>
                                        <p:tav tm="100000">
                                          <p:val>
                                            <p:strVal val="#ppt_w"/>
                                          </p:val>
                                        </p:tav>
                                      </p:tavLst>
                                    </p:anim>
                                    <p:anim calcmode="lin" valueType="num">
                                      <p:cBhvr>
                                        <p:cTn id="60" dur="500" fill="hold"/>
                                        <p:tgtEl>
                                          <p:spTgt spid="1101840"/>
                                        </p:tgtEl>
                                        <p:attrNameLst>
                                          <p:attrName>ppt_h</p:attrName>
                                        </p:attrNameLst>
                                      </p:cBhvr>
                                      <p:tavLst>
                                        <p:tav tm="0">
                                          <p:val>
                                            <p:strVal val="#ppt_h"/>
                                          </p:val>
                                        </p:tav>
                                        <p:tav tm="100000">
                                          <p:val>
                                            <p:strVal val="#ppt_h"/>
                                          </p:val>
                                        </p:tav>
                                      </p:tavLst>
                                    </p:anim>
                                  </p:childTnLst>
                                </p:cTn>
                              </p:par>
                            </p:childTnLst>
                          </p:cTn>
                        </p:par>
                        <p:par>
                          <p:cTn id="61" fill="hold">
                            <p:stCondLst>
                              <p:cond delay="500"/>
                            </p:stCondLst>
                            <p:childTnLst>
                              <p:par>
                                <p:cTn id="62" presetID="17" presetClass="entr" presetSubtype="4" fill="hold" grpId="0" nodeType="afterEffect">
                                  <p:stCondLst>
                                    <p:cond delay="0"/>
                                  </p:stCondLst>
                                  <p:childTnLst>
                                    <p:set>
                                      <p:cBhvr>
                                        <p:cTn id="63" dur="1" fill="hold">
                                          <p:stCondLst>
                                            <p:cond delay="0"/>
                                          </p:stCondLst>
                                        </p:cTn>
                                        <p:tgtEl>
                                          <p:spTgt spid="1101841"/>
                                        </p:tgtEl>
                                        <p:attrNameLst>
                                          <p:attrName>style.visibility</p:attrName>
                                        </p:attrNameLst>
                                      </p:cBhvr>
                                      <p:to>
                                        <p:strVal val="visible"/>
                                      </p:to>
                                    </p:set>
                                    <p:anim calcmode="lin" valueType="num">
                                      <p:cBhvr>
                                        <p:cTn id="64" dur="500" fill="hold"/>
                                        <p:tgtEl>
                                          <p:spTgt spid="1101841"/>
                                        </p:tgtEl>
                                        <p:attrNameLst>
                                          <p:attrName>ppt_x</p:attrName>
                                        </p:attrNameLst>
                                      </p:cBhvr>
                                      <p:tavLst>
                                        <p:tav tm="0">
                                          <p:val>
                                            <p:strVal val="#ppt_x"/>
                                          </p:val>
                                        </p:tav>
                                        <p:tav tm="100000">
                                          <p:val>
                                            <p:strVal val="#ppt_x"/>
                                          </p:val>
                                        </p:tav>
                                      </p:tavLst>
                                    </p:anim>
                                    <p:anim calcmode="lin" valueType="num">
                                      <p:cBhvr>
                                        <p:cTn id="65" dur="500" fill="hold"/>
                                        <p:tgtEl>
                                          <p:spTgt spid="1101841"/>
                                        </p:tgtEl>
                                        <p:attrNameLst>
                                          <p:attrName>ppt_y</p:attrName>
                                        </p:attrNameLst>
                                      </p:cBhvr>
                                      <p:tavLst>
                                        <p:tav tm="0">
                                          <p:val>
                                            <p:strVal val="#ppt_y+#ppt_h/2"/>
                                          </p:val>
                                        </p:tav>
                                        <p:tav tm="100000">
                                          <p:val>
                                            <p:strVal val="#ppt_y"/>
                                          </p:val>
                                        </p:tav>
                                      </p:tavLst>
                                    </p:anim>
                                    <p:anim calcmode="lin" valueType="num">
                                      <p:cBhvr>
                                        <p:cTn id="66" dur="500" fill="hold"/>
                                        <p:tgtEl>
                                          <p:spTgt spid="1101841"/>
                                        </p:tgtEl>
                                        <p:attrNameLst>
                                          <p:attrName>ppt_w</p:attrName>
                                        </p:attrNameLst>
                                      </p:cBhvr>
                                      <p:tavLst>
                                        <p:tav tm="0">
                                          <p:val>
                                            <p:strVal val="#ppt_w"/>
                                          </p:val>
                                        </p:tav>
                                        <p:tav tm="100000">
                                          <p:val>
                                            <p:strVal val="#ppt_w"/>
                                          </p:val>
                                        </p:tav>
                                      </p:tavLst>
                                    </p:anim>
                                    <p:anim calcmode="lin" valueType="num">
                                      <p:cBhvr>
                                        <p:cTn id="67" dur="500" fill="hold"/>
                                        <p:tgtEl>
                                          <p:spTgt spid="1101841"/>
                                        </p:tgtEl>
                                        <p:attrNameLst>
                                          <p:attrName>ppt_h</p:attrName>
                                        </p:attrNameLst>
                                      </p:cBhvr>
                                      <p:tavLst>
                                        <p:tav tm="0">
                                          <p:val>
                                            <p:fltVal val="0"/>
                                          </p:val>
                                        </p:tav>
                                        <p:tav tm="100000">
                                          <p:val>
                                            <p:strVal val="#ppt_h"/>
                                          </p:val>
                                        </p:tav>
                                      </p:tavLst>
                                    </p:anim>
                                  </p:childTnLst>
                                </p:cTn>
                              </p:par>
                            </p:childTnLst>
                          </p:cTn>
                        </p:par>
                        <p:par>
                          <p:cTn id="68" fill="hold">
                            <p:stCondLst>
                              <p:cond delay="1000"/>
                            </p:stCondLst>
                            <p:childTnLst>
                              <p:par>
                                <p:cTn id="69" presetID="2" presetClass="entr" presetSubtype="8" fill="hold" grpId="0" nodeType="afterEffect">
                                  <p:stCondLst>
                                    <p:cond delay="0"/>
                                  </p:stCondLst>
                                  <p:childTnLst>
                                    <p:set>
                                      <p:cBhvr>
                                        <p:cTn id="70" dur="1" fill="hold">
                                          <p:stCondLst>
                                            <p:cond delay="0"/>
                                          </p:stCondLst>
                                        </p:cTn>
                                        <p:tgtEl>
                                          <p:spTgt spid="1101842"/>
                                        </p:tgtEl>
                                        <p:attrNameLst>
                                          <p:attrName>style.visibility</p:attrName>
                                        </p:attrNameLst>
                                      </p:cBhvr>
                                      <p:to>
                                        <p:strVal val="visible"/>
                                      </p:to>
                                    </p:set>
                                    <p:anim calcmode="lin" valueType="num">
                                      <p:cBhvr additive="base">
                                        <p:cTn id="71" dur="500" fill="hold"/>
                                        <p:tgtEl>
                                          <p:spTgt spid="1101842"/>
                                        </p:tgtEl>
                                        <p:attrNameLst>
                                          <p:attrName>ppt_x</p:attrName>
                                        </p:attrNameLst>
                                      </p:cBhvr>
                                      <p:tavLst>
                                        <p:tav tm="0">
                                          <p:val>
                                            <p:strVal val="0-#ppt_w/2"/>
                                          </p:val>
                                        </p:tav>
                                        <p:tav tm="100000">
                                          <p:val>
                                            <p:strVal val="#ppt_x"/>
                                          </p:val>
                                        </p:tav>
                                      </p:tavLst>
                                    </p:anim>
                                    <p:anim calcmode="lin" valueType="num">
                                      <p:cBhvr additive="base">
                                        <p:cTn id="72" dur="500" fill="hold"/>
                                        <p:tgtEl>
                                          <p:spTgt spid="1101842"/>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101851"/>
                                        </p:tgtEl>
                                        <p:attrNameLst>
                                          <p:attrName>style.visibility</p:attrName>
                                        </p:attrNameLst>
                                      </p:cBhvr>
                                      <p:to>
                                        <p:strVal val="visible"/>
                                      </p:to>
                                    </p:set>
                                    <p:anim calcmode="lin" valueType="num">
                                      <p:cBhvr additive="base">
                                        <p:cTn id="77" dur="500" fill="hold"/>
                                        <p:tgtEl>
                                          <p:spTgt spid="1101851"/>
                                        </p:tgtEl>
                                        <p:attrNameLst>
                                          <p:attrName>ppt_x</p:attrName>
                                        </p:attrNameLst>
                                      </p:cBhvr>
                                      <p:tavLst>
                                        <p:tav tm="0">
                                          <p:val>
                                            <p:strVal val="#ppt_x"/>
                                          </p:val>
                                        </p:tav>
                                        <p:tav tm="100000">
                                          <p:val>
                                            <p:strVal val="#ppt_x"/>
                                          </p:val>
                                        </p:tav>
                                      </p:tavLst>
                                    </p:anim>
                                    <p:anim calcmode="lin" valueType="num">
                                      <p:cBhvr additive="base">
                                        <p:cTn id="78" dur="500" fill="hold"/>
                                        <p:tgtEl>
                                          <p:spTgt spid="1101851"/>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101846"/>
                                        </p:tgtEl>
                                        <p:attrNameLst>
                                          <p:attrName>style.visibility</p:attrName>
                                        </p:attrNameLst>
                                      </p:cBhvr>
                                      <p:to>
                                        <p:strVal val="visible"/>
                                      </p:to>
                                    </p:set>
                                  </p:childTnLst>
                                </p:cTn>
                              </p:par>
                            </p:childTnLst>
                          </p:cTn>
                        </p:par>
                        <p:par>
                          <p:cTn id="83" fill="hold">
                            <p:stCondLst>
                              <p:cond delay="500"/>
                            </p:stCondLst>
                            <p:childTnLst>
                              <p:par>
                                <p:cTn id="84" presetID="1" presetClass="entr" presetSubtype="0" fill="hold" grpId="0" nodeType="afterEffect">
                                  <p:stCondLst>
                                    <p:cond delay="0"/>
                                  </p:stCondLst>
                                  <p:childTnLst>
                                    <p:set>
                                      <p:cBhvr>
                                        <p:cTn id="85" dur="1" fill="hold">
                                          <p:stCondLst>
                                            <p:cond delay="499"/>
                                          </p:stCondLst>
                                        </p:cTn>
                                        <p:tgtEl>
                                          <p:spTgt spid="1101845"/>
                                        </p:tgtEl>
                                        <p:attrNameLst>
                                          <p:attrName>style.visibility</p:attrName>
                                        </p:attrNameLst>
                                      </p:cBhvr>
                                      <p:to>
                                        <p:strVal val="visible"/>
                                      </p:to>
                                    </p:set>
                                  </p:childTnLst>
                                </p:cTn>
                              </p:par>
                            </p:childTnLst>
                          </p:cTn>
                        </p:par>
                        <p:par>
                          <p:cTn id="86" fill="hold">
                            <p:stCondLst>
                              <p:cond delay="1000"/>
                            </p:stCondLst>
                            <p:childTnLst>
                              <p:par>
                                <p:cTn id="87" presetID="1" presetClass="entr" presetSubtype="0" fill="hold" grpId="0" nodeType="afterEffect">
                                  <p:stCondLst>
                                    <p:cond delay="0"/>
                                  </p:stCondLst>
                                  <p:childTnLst>
                                    <p:set>
                                      <p:cBhvr>
                                        <p:cTn id="88" dur="1" fill="hold">
                                          <p:stCondLst>
                                            <p:cond delay="499"/>
                                          </p:stCondLst>
                                        </p:cTn>
                                        <p:tgtEl>
                                          <p:spTgt spid="110185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 presetClass="entr" presetSubtype="8" fill="hold" grpId="0" nodeType="clickEffect">
                                  <p:stCondLst>
                                    <p:cond delay="0"/>
                                  </p:stCondLst>
                                  <p:childTnLst>
                                    <p:set>
                                      <p:cBhvr>
                                        <p:cTn id="92" dur="1" fill="hold">
                                          <p:stCondLst>
                                            <p:cond delay="0"/>
                                          </p:stCondLst>
                                        </p:cTn>
                                        <p:tgtEl>
                                          <p:spTgt spid="1101843"/>
                                        </p:tgtEl>
                                        <p:attrNameLst>
                                          <p:attrName>style.visibility</p:attrName>
                                        </p:attrNameLst>
                                      </p:cBhvr>
                                      <p:to>
                                        <p:strVal val="visible"/>
                                      </p:to>
                                    </p:set>
                                    <p:anim calcmode="lin" valueType="num">
                                      <p:cBhvr additive="base">
                                        <p:cTn id="93" dur="500" fill="hold"/>
                                        <p:tgtEl>
                                          <p:spTgt spid="1101843"/>
                                        </p:tgtEl>
                                        <p:attrNameLst>
                                          <p:attrName>ppt_x</p:attrName>
                                        </p:attrNameLst>
                                      </p:cBhvr>
                                      <p:tavLst>
                                        <p:tav tm="0">
                                          <p:val>
                                            <p:strVal val="0-#ppt_w/2"/>
                                          </p:val>
                                        </p:tav>
                                        <p:tav tm="100000">
                                          <p:val>
                                            <p:strVal val="#ppt_x"/>
                                          </p:val>
                                        </p:tav>
                                      </p:tavLst>
                                    </p:anim>
                                    <p:anim calcmode="lin" valueType="num">
                                      <p:cBhvr additive="base">
                                        <p:cTn id="94" dur="500" fill="hold"/>
                                        <p:tgtEl>
                                          <p:spTgt spid="1101843"/>
                                        </p:tgtEl>
                                        <p:attrNameLst>
                                          <p:attrName>ppt_y</p:attrName>
                                        </p:attrNameLst>
                                      </p:cBhvr>
                                      <p:tavLst>
                                        <p:tav tm="0">
                                          <p:val>
                                            <p:strVal val="#ppt_y"/>
                                          </p:val>
                                        </p:tav>
                                        <p:tav tm="100000">
                                          <p:val>
                                            <p:strVal val="#ppt_y"/>
                                          </p:val>
                                        </p:tav>
                                      </p:tavLst>
                                    </p:anim>
                                  </p:childTnLst>
                                </p:cTn>
                              </p:par>
                            </p:childTnLst>
                          </p:cTn>
                        </p:par>
                        <p:par>
                          <p:cTn id="95" fill="hold">
                            <p:stCondLst>
                              <p:cond delay="500"/>
                            </p:stCondLst>
                            <p:childTnLst>
                              <p:par>
                                <p:cTn id="96" presetID="2" presetClass="entr" presetSubtype="8" fill="hold" grpId="0" nodeType="afterEffect">
                                  <p:stCondLst>
                                    <p:cond delay="0"/>
                                  </p:stCondLst>
                                  <p:childTnLst>
                                    <p:set>
                                      <p:cBhvr>
                                        <p:cTn id="97" dur="1" fill="hold">
                                          <p:stCondLst>
                                            <p:cond delay="0"/>
                                          </p:stCondLst>
                                        </p:cTn>
                                        <p:tgtEl>
                                          <p:spTgt spid="1101844"/>
                                        </p:tgtEl>
                                        <p:attrNameLst>
                                          <p:attrName>style.visibility</p:attrName>
                                        </p:attrNameLst>
                                      </p:cBhvr>
                                      <p:to>
                                        <p:strVal val="visible"/>
                                      </p:to>
                                    </p:set>
                                    <p:anim calcmode="lin" valueType="num">
                                      <p:cBhvr additive="base">
                                        <p:cTn id="98" dur="500" fill="hold"/>
                                        <p:tgtEl>
                                          <p:spTgt spid="1101844"/>
                                        </p:tgtEl>
                                        <p:attrNameLst>
                                          <p:attrName>ppt_x</p:attrName>
                                        </p:attrNameLst>
                                      </p:cBhvr>
                                      <p:tavLst>
                                        <p:tav tm="0">
                                          <p:val>
                                            <p:strVal val="0-#ppt_w/2"/>
                                          </p:val>
                                        </p:tav>
                                        <p:tav tm="100000">
                                          <p:val>
                                            <p:strVal val="#ppt_x"/>
                                          </p:val>
                                        </p:tav>
                                      </p:tavLst>
                                    </p:anim>
                                    <p:anim calcmode="lin" valueType="num">
                                      <p:cBhvr additive="base">
                                        <p:cTn id="99" dur="500" fill="hold"/>
                                        <p:tgtEl>
                                          <p:spTgt spid="1101844"/>
                                        </p:tgtEl>
                                        <p:attrNameLst>
                                          <p:attrName>ppt_y</p:attrName>
                                        </p:attrNameLst>
                                      </p:cBhvr>
                                      <p:tavLst>
                                        <p:tav tm="0">
                                          <p:val>
                                            <p:strVal val="#ppt_y"/>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7" presetClass="entr" presetSubtype="8" fill="hold" grpId="0" nodeType="clickEffect">
                                  <p:stCondLst>
                                    <p:cond delay="0"/>
                                  </p:stCondLst>
                                  <p:childTnLst>
                                    <p:set>
                                      <p:cBhvr>
                                        <p:cTn id="103" dur="1" fill="hold">
                                          <p:stCondLst>
                                            <p:cond delay="0"/>
                                          </p:stCondLst>
                                        </p:cTn>
                                        <p:tgtEl>
                                          <p:spTgt spid="1101848"/>
                                        </p:tgtEl>
                                        <p:attrNameLst>
                                          <p:attrName>style.visibility</p:attrName>
                                        </p:attrNameLst>
                                      </p:cBhvr>
                                      <p:to>
                                        <p:strVal val="visible"/>
                                      </p:to>
                                    </p:set>
                                    <p:anim calcmode="lin" valueType="num">
                                      <p:cBhvr>
                                        <p:cTn id="104" dur="500" fill="hold"/>
                                        <p:tgtEl>
                                          <p:spTgt spid="1101848"/>
                                        </p:tgtEl>
                                        <p:attrNameLst>
                                          <p:attrName>ppt_x</p:attrName>
                                        </p:attrNameLst>
                                      </p:cBhvr>
                                      <p:tavLst>
                                        <p:tav tm="0">
                                          <p:val>
                                            <p:strVal val="#ppt_x-#ppt_w/2"/>
                                          </p:val>
                                        </p:tav>
                                        <p:tav tm="100000">
                                          <p:val>
                                            <p:strVal val="#ppt_x"/>
                                          </p:val>
                                        </p:tav>
                                      </p:tavLst>
                                    </p:anim>
                                    <p:anim calcmode="lin" valueType="num">
                                      <p:cBhvr>
                                        <p:cTn id="105" dur="500" fill="hold"/>
                                        <p:tgtEl>
                                          <p:spTgt spid="1101848"/>
                                        </p:tgtEl>
                                        <p:attrNameLst>
                                          <p:attrName>ppt_y</p:attrName>
                                        </p:attrNameLst>
                                      </p:cBhvr>
                                      <p:tavLst>
                                        <p:tav tm="0">
                                          <p:val>
                                            <p:strVal val="#ppt_y"/>
                                          </p:val>
                                        </p:tav>
                                        <p:tav tm="100000">
                                          <p:val>
                                            <p:strVal val="#ppt_y"/>
                                          </p:val>
                                        </p:tav>
                                      </p:tavLst>
                                    </p:anim>
                                    <p:anim calcmode="lin" valueType="num">
                                      <p:cBhvr>
                                        <p:cTn id="106" dur="500" fill="hold"/>
                                        <p:tgtEl>
                                          <p:spTgt spid="1101848"/>
                                        </p:tgtEl>
                                        <p:attrNameLst>
                                          <p:attrName>ppt_w</p:attrName>
                                        </p:attrNameLst>
                                      </p:cBhvr>
                                      <p:tavLst>
                                        <p:tav tm="0">
                                          <p:val>
                                            <p:fltVal val="0"/>
                                          </p:val>
                                        </p:tav>
                                        <p:tav tm="100000">
                                          <p:val>
                                            <p:strVal val="#ppt_w"/>
                                          </p:val>
                                        </p:tav>
                                      </p:tavLst>
                                    </p:anim>
                                    <p:anim calcmode="lin" valueType="num">
                                      <p:cBhvr>
                                        <p:cTn id="107" dur="500" fill="hold"/>
                                        <p:tgtEl>
                                          <p:spTgt spid="1101848"/>
                                        </p:tgtEl>
                                        <p:attrNameLst>
                                          <p:attrName>ppt_h</p:attrName>
                                        </p:attrNameLst>
                                      </p:cBhvr>
                                      <p:tavLst>
                                        <p:tav tm="0">
                                          <p:val>
                                            <p:strVal val="#ppt_h"/>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17" presetClass="entr" presetSubtype="8" fill="hold" grpId="0" nodeType="clickEffect">
                                  <p:stCondLst>
                                    <p:cond delay="0"/>
                                  </p:stCondLst>
                                  <p:childTnLst>
                                    <p:set>
                                      <p:cBhvr>
                                        <p:cTn id="111" dur="1" fill="hold">
                                          <p:stCondLst>
                                            <p:cond delay="0"/>
                                          </p:stCondLst>
                                        </p:cTn>
                                        <p:tgtEl>
                                          <p:spTgt spid="1101849"/>
                                        </p:tgtEl>
                                        <p:attrNameLst>
                                          <p:attrName>style.visibility</p:attrName>
                                        </p:attrNameLst>
                                      </p:cBhvr>
                                      <p:to>
                                        <p:strVal val="visible"/>
                                      </p:to>
                                    </p:set>
                                    <p:anim calcmode="lin" valueType="num">
                                      <p:cBhvr>
                                        <p:cTn id="112" dur="500" fill="hold"/>
                                        <p:tgtEl>
                                          <p:spTgt spid="1101849"/>
                                        </p:tgtEl>
                                        <p:attrNameLst>
                                          <p:attrName>ppt_x</p:attrName>
                                        </p:attrNameLst>
                                      </p:cBhvr>
                                      <p:tavLst>
                                        <p:tav tm="0">
                                          <p:val>
                                            <p:strVal val="#ppt_x-#ppt_w/2"/>
                                          </p:val>
                                        </p:tav>
                                        <p:tav tm="100000">
                                          <p:val>
                                            <p:strVal val="#ppt_x"/>
                                          </p:val>
                                        </p:tav>
                                      </p:tavLst>
                                    </p:anim>
                                    <p:anim calcmode="lin" valueType="num">
                                      <p:cBhvr>
                                        <p:cTn id="113" dur="500" fill="hold"/>
                                        <p:tgtEl>
                                          <p:spTgt spid="1101849"/>
                                        </p:tgtEl>
                                        <p:attrNameLst>
                                          <p:attrName>ppt_y</p:attrName>
                                        </p:attrNameLst>
                                      </p:cBhvr>
                                      <p:tavLst>
                                        <p:tav tm="0">
                                          <p:val>
                                            <p:strVal val="#ppt_y"/>
                                          </p:val>
                                        </p:tav>
                                        <p:tav tm="100000">
                                          <p:val>
                                            <p:strVal val="#ppt_y"/>
                                          </p:val>
                                        </p:tav>
                                      </p:tavLst>
                                    </p:anim>
                                    <p:anim calcmode="lin" valueType="num">
                                      <p:cBhvr>
                                        <p:cTn id="114" dur="500" fill="hold"/>
                                        <p:tgtEl>
                                          <p:spTgt spid="1101849"/>
                                        </p:tgtEl>
                                        <p:attrNameLst>
                                          <p:attrName>ppt_w</p:attrName>
                                        </p:attrNameLst>
                                      </p:cBhvr>
                                      <p:tavLst>
                                        <p:tav tm="0">
                                          <p:val>
                                            <p:fltVal val="0"/>
                                          </p:val>
                                        </p:tav>
                                        <p:tav tm="100000">
                                          <p:val>
                                            <p:strVal val="#ppt_w"/>
                                          </p:val>
                                        </p:tav>
                                      </p:tavLst>
                                    </p:anim>
                                    <p:anim calcmode="lin" valueType="num">
                                      <p:cBhvr>
                                        <p:cTn id="115" dur="500" fill="hold"/>
                                        <p:tgtEl>
                                          <p:spTgt spid="1101849"/>
                                        </p:tgtEl>
                                        <p:attrNameLst>
                                          <p:attrName>ppt_h</p:attrName>
                                        </p:attrNameLst>
                                      </p:cBhvr>
                                      <p:tavLst>
                                        <p:tav tm="0">
                                          <p:val>
                                            <p:strVal val="#ppt_h"/>
                                          </p:val>
                                        </p:tav>
                                        <p:tav tm="100000">
                                          <p:val>
                                            <p:strVal val="#ppt_h"/>
                                          </p:val>
                                        </p:tav>
                                      </p:tavLst>
                                    </p:anim>
                                  </p:childTnLst>
                                </p:cTn>
                              </p:par>
                            </p:childTnLst>
                          </p:cTn>
                        </p:par>
                        <p:par>
                          <p:cTn id="116" fill="hold">
                            <p:stCondLst>
                              <p:cond delay="500"/>
                            </p:stCondLst>
                            <p:childTnLst>
                              <p:par>
                                <p:cTn id="117" presetID="2" presetClass="entr" presetSubtype="8" fill="hold" grpId="0" nodeType="afterEffect">
                                  <p:stCondLst>
                                    <p:cond delay="0"/>
                                  </p:stCondLst>
                                  <p:childTnLst>
                                    <p:set>
                                      <p:cBhvr>
                                        <p:cTn id="118" dur="1" fill="hold">
                                          <p:stCondLst>
                                            <p:cond delay="0"/>
                                          </p:stCondLst>
                                        </p:cTn>
                                        <p:tgtEl>
                                          <p:spTgt spid="1101847"/>
                                        </p:tgtEl>
                                        <p:attrNameLst>
                                          <p:attrName>style.visibility</p:attrName>
                                        </p:attrNameLst>
                                      </p:cBhvr>
                                      <p:to>
                                        <p:strVal val="visible"/>
                                      </p:to>
                                    </p:set>
                                    <p:anim calcmode="lin" valueType="num">
                                      <p:cBhvr additive="base">
                                        <p:cTn id="119" dur="500" fill="hold"/>
                                        <p:tgtEl>
                                          <p:spTgt spid="1101847"/>
                                        </p:tgtEl>
                                        <p:attrNameLst>
                                          <p:attrName>ppt_x</p:attrName>
                                        </p:attrNameLst>
                                      </p:cBhvr>
                                      <p:tavLst>
                                        <p:tav tm="0">
                                          <p:val>
                                            <p:strVal val="0-#ppt_w/2"/>
                                          </p:val>
                                        </p:tav>
                                        <p:tav tm="100000">
                                          <p:val>
                                            <p:strVal val="#ppt_x"/>
                                          </p:val>
                                        </p:tav>
                                      </p:tavLst>
                                    </p:anim>
                                    <p:anim calcmode="lin" valueType="num">
                                      <p:cBhvr additive="base">
                                        <p:cTn id="120" dur="500" fill="hold"/>
                                        <p:tgtEl>
                                          <p:spTgt spid="11018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27" grpId="0" animBg="1"/>
      <p:bldP spid="1101828" grpId="0" animBg="1"/>
      <p:bldP spid="1101829" grpId="0" animBg="1"/>
      <p:bldP spid="1101830" grpId="0" animBg="1"/>
      <p:bldP spid="1101831" grpId="0" animBg="1"/>
      <p:bldP spid="1101832" grpId="0" animBg="1" autoUpdateAnimBg="0"/>
      <p:bldP spid="1101833" grpId="0" animBg="1" autoUpdateAnimBg="0"/>
      <p:bldP spid="1101834" grpId="0" animBg="1" autoUpdateAnimBg="0"/>
      <p:bldP spid="1101835" grpId="0" animBg="1"/>
      <p:bldP spid="1101836" grpId="0" animBg="1"/>
      <p:bldP spid="1101837" grpId="0" animBg="1"/>
      <p:bldP spid="1101838" grpId="0" animBg="1"/>
      <p:bldP spid="1101839" grpId="0" autoUpdateAnimBg="0"/>
      <p:bldP spid="1101840" grpId="0" animBg="1"/>
      <p:bldP spid="1101841" grpId="0" animBg="1"/>
      <p:bldP spid="1101842" grpId="0" autoUpdateAnimBg="0"/>
      <p:bldP spid="1101843" grpId="0" animBg="1"/>
      <p:bldP spid="1101844" grpId="0" animBg="1"/>
      <p:bldP spid="1101845" grpId="0" animBg="1"/>
      <p:bldP spid="1101846" grpId="0" animBg="1"/>
      <p:bldP spid="1101847" grpId="0" autoUpdateAnimBg="0"/>
      <p:bldP spid="1101848" grpId="0" animBg="1"/>
      <p:bldP spid="1101849" grpId="0" animBg="1"/>
      <p:bldP spid="1101850" grpId="0" animBg="1" autoUpdateAnimBg="0"/>
      <p:bldP spid="1101851"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850" name="Text Box 2"/>
          <p:cNvSpPr txBox="1">
            <a:spLocks noChangeArrowheads="1"/>
          </p:cNvSpPr>
          <p:nvPr/>
        </p:nvSpPr>
        <p:spPr bwMode="auto">
          <a:xfrm>
            <a:off x="304800" y="989013"/>
            <a:ext cx="8778875" cy="6021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2400"/>
              <a:t> </a:t>
            </a:r>
            <a:r>
              <a:rPr lang="en-US" altLang="zh-CN" sz="3600" b="1">
                <a:solidFill>
                  <a:srgbClr val="800000"/>
                </a:solidFill>
                <a:ea typeface="楷体_GB2312" charset="0"/>
              </a:rPr>
              <a:t>Status</a:t>
            </a:r>
            <a:r>
              <a:rPr lang="en-US" altLang="zh-CN" sz="3600">
                <a:solidFill>
                  <a:srgbClr val="800000"/>
                </a:solidFill>
                <a:ea typeface="楷体_GB2312" charset="0"/>
              </a:rPr>
              <a:t> InitQueue (LinkQueue </a:t>
            </a:r>
            <a:r>
              <a:rPr lang="en-US" altLang="zh-CN" sz="3600" b="1">
                <a:solidFill>
                  <a:srgbClr val="800000"/>
                </a:solidFill>
                <a:ea typeface="楷体_GB2312" charset="0"/>
              </a:rPr>
              <a:t>&amp;</a:t>
            </a:r>
            <a:r>
              <a:rPr lang="en-US" altLang="zh-CN" sz="3600">
                <a:solidFill>
                  <a:srgbClr val="800000"/>
                </a:solidFill>
                <a:ea typeface="楷体_GB2312" charset="0"/>
              </a:rPr>
              <a:t>Q) </a:t>
            </a:r>
            <a:r>
              <a:rPr lang="en-US" altLang="zh-CN" sz="3600" b="1">
                <a:solidFill>
                  <a:srgbClr val="800000"/>
                </a:solidFill>
                <a:ea typeface="楷体_GB2312" charset="0"/>
              </a:rPr>
              <a:t>{</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 </a:t>
            </a:r>
            <a:r>
              <a:rPr lang="zh-CN" altLang="en-US" sz="3600">
                <a:solidFill>
                  <a:srgbClr val="800000"/>
                </a:solidFill>
                <a:ea typeface="楷体_GB2312" charset="0"/>
              </a:rPr>
              <a:t>构造一个空队列</a:t>
            </a:r>
            <a:r>
              <a:rPr lang="en-US" altLang="zh-CN" sz="3600">
                <a:solidFill>
                  <a:srgbClr val="800000"/>
                </a:solidFill>
                <a:ea typeface="楷体_GB2312" charset="0"/>
              </a:rPr>
              <a:t>Q</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a:solidFill>
                  <a:srgbClr val="FF5050"/>
                </a:solidFill>
                <a:ea typeface="楷体_GB2312" charset="0"/>
              </a:rPr>
              <a:t>Q.front = Q.rear =</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a:solidFill>
                  <a:srgbClr val="FF5050"/>
                </a:solidFill>
                <a:ea typeface="楷体_GB2312" charset="0"/>
              </a:rPr>
              <a:t>(QueuePtr)</a:t>
            </a:r>
            <a:r>
              <a:rPr lang="en-US" altLang="zh-CN" sz="3600" b="1">
                <a:solidFill>
                  <a:srgbClr val="FF5050"/>
                </a:solidFill>
                <a:ea typeface="楷体_GB2312" charset="0"/>
              </a:rPr>
              <a:t>malloc</a:t>
            </a:r>
            <a:r>
              <a:rPr lang="en-US" altLang="zh-CN" sz="3600">
                <a:solidFill>
                  <a:srgbClr val="FF5050"/>
                </a:solidFill>
                <a:ea typeface="楷体_GB2312" charset="0"/>
              </a:rPr>
              <a:t>(</a:t>
            </a:r>
            <a:r>
              <a:rPr lang="en-US" altLang="zh-CN" sz="3600" b="1">
                <a:solidFill>
                  <a:srgbClr val="FF5050"/>
                </a:solidFill>
                <a:ea typeface="楷体_GB2312" charset="0"/>
              </a:rPr>
              <a:t>sizeof</a:t>
            </a:r>
            <a:r>
              <a:rPr lang="en-US" altLang="zh-CN" sz="3600">
                <a:solidFill>
                  <a:srgbClr val="FF5050"/>
                </a:solidFill>
                <a:ea typeface="楷体_GB2312" charset="0"/>
              </a:rPr>
              <a:t>(QNode));</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b="1">
                <a:solidFill>
                  <a:srgbClr val="800000"/>
                </a:solidFill>
                <a:ea typeface="楷体_GB2312" charset="0"/>
              </a:rPr>
              <a:t>if</a:t>
            </a:r>
            <a:r>
              <a:rPr lang="en-US" altLang="zh-CN" sz="3600">
                <a:solidFill>
                  <a:srgbClr val="800000"/>
                </a:solidFill>
                <a:ea typeface="楷体_GB2312" charset="0"/>
              </a:rPr>
              <a:t> (</a:t>
            </a:r>
            <a:r>
              <a:rPr lang="en-US" altLang="zh-CN" sz="3600" b="1">
                <a:solidFill>
                  <a:srgbClr val="800000"/>
                </a:solidFill>
                <a:ea typeface="楷体_GB2312" charset="0"/>
              </a:rPr>
              <a:t>!</a:t>
            </a:r>
            <a:r>
              <a:rPr lang="en-US" altLang="zh-CN" sz="3600">
                <a:solidFill>
                  <a:srgbClr val="800000"/>
                </a:solidFill>
                <a:ea typeface="楷体_GB2312" charset="0"/>
              </a:rPr>
              <a:t>Q.front) </a:t>
            </a:r>
            <a:r>
              <a:rPr lang="en-US" altLang="zh-CN" sz="3600" b="1">
                <a:solidFill>
                  <a:srgbClr val="800000"/>
                </a:solidFill>
                <a:ea typeface="楷体_GB2312" charset="0"/>
              </a:rPr>
              <a:t>exit </a:t>
            </a:r>
            <a:r>
              <a:rPr lang="en-US" altLang="zh-CN" sz="3600">
                <a:solidFill>
                  <a:srgbClr val="800000"/>
                </a:solidFill>
                <a:ea typeface="楷体_GB2312" charset="0"/>
              </a:rPr>
              <a:t>(OVERFLOW);                   </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zh-CN" altLang="en-US" sz="3600">
                <a:solidFill>
                  <a:srgbClr val="800000"/>
                </a:solidFill>
                <a:ea typeface="楷体_GB2312" charset="0"/>
              </a:rPr>
              <a:t>存储分配失败</a:t>
            </a:r>
            <a:endParaRPr lang="zh-CN" altLang="en-US" sz="3600">
              <a:solidFill>
                <a:srgbClr val="800000"/>
              </a:solidFill>
              <a:ea typeface="楷体_GB2312" charset="0"/>
            </a:endParaRPr>
          </a:p>
          <a:p>
            <a:pPr eaLnBrk="0" hangingPunct="0">
              <a:lnSpc>
                <a:spcPct val="120000"/>
              </a:lnSpc>
            </a:pPr>
            <a:r>
              <a:rPr lang="zh-CN" altLang="en-US" sz="3600">
                <a:solidFill>
                  <a:srgbClr val="800000"/>
                </a:solidFill>
                <a:ea typeface="楷体_GB2312" charset="0"/>
              </a:rPr>
              <a:t>   </a:t>
            </a:r>
            <a:r>
              <a:rPr lang="en-US" altLang="zh-CN" sz="3600">
                <a:solidFill>
                  <a:srgbClr val="FF5050"/>
                </a:solidFill>
                <a:ea typeface="楷体_GB2312" charset="0"/>
              </a:rPr>
              <a:t>Q.front-&gt;next = </a:t>
            </a:r>
            <a:r>
              <a:rPr lang="en-US" altLang="zh-CN" sz="3600" b="1">
                <a:solidFill>
                  <a:srgbClr val="FF5050"/>
                </a:solidFill>
                <a:ea typeface="楷体_GB2312" charset="0"/>
              </a:rPr>
              <a:t>NULL</a:t>
            </a:r>
            <a:r>
              <a:rPr lang="en-US" altLang="zh-CN" sz="3600">
                <a:solidFill>
                  <a:srgbClr val="800000"/>
                </a:solidFill>
                <a:ea typeface="楷体_GB2312" charset="0"/>
              </a:rPr>
              <a:t>;</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b="1">
                <a:solidFill>
                  <a:srgbClr val="800000"/>
                </a:solidFill>
                <a:ea typeface="楷体_GB2312" charset="0"/>
              </a:rPr>
              <a:t>return</a:t>
            </a:r>
            <a:r>
              <a:rPr lang="en-US" altLang="zh-CN" sz="3600">
                <a:solidFill>
                  <a:srgbClr val="800000"/>
                </a:solidFill>
                <a:ea typeface="楷体_GB2312" charset="0"/>
              </a:rPr>
              <a:t> OK;</a:t>
            </a:r>
            <a:endParaRPr lang="en-US" altLang="zh-CN" sz="3600">
              <a:solidFill>
                <a:srgbClr val="800000"/>
              </a:solidFill>
              <a:ea typeface="楷体_GB2312" charset="0"/>
            </a:endParaRPr>
          </a:p>
          <a:p>
            <a:pPr eaLnBrk="0" hangingPunct="0">
              <a:lnSpc>
                <a:spcPct val="120000"/>
              </a:lnSpc>
            </a:pPr>
            <a:r>
              <a:rPr lang="en-US" altLang="zh-CN" sz="3600" b="1">
                <a:solidFill>
                  <a:srgbClr val="800000"/>
                </a:solidFill>
                <a:ea typeface="楷体_GB2312" charset="0"/>
              </a:rPr>
              <a:t>}</a:t>
            </a:r>
            <a:endParaRPr lang="en-US" altLang="zh-CN" sz="4000"/>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874" name="Text Box 2"/>
          <p:cNvSpPr txBox="1">
            <a:spLocks noChangeArrowheads="1"/>
          </p:cNvSpPr>
          <p:nvPr/>
        </p:nvSpPr>
        <p:spPr bwMode="auto">
          <a:xfrm>
            <a:off x="228600" y="912813"/>
            <a:ext cx="8915400" cy="6021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3600">
                <a:ea typeface="楷体_GB2312" charset="0"/>
              </a:rPr>
              <a:t> </a:t>
            </a:r>
            <a:r>
              <a:rPr lang="en-US" altLang="zh-CN" sz="3600" b="1">
                <a:solidFill>
                  <a:srgbClr val="800000"/>
                </a:solidFill>
                <a:ea typeface="楷体_GB2312" charset="0"/>
              </a:rPr>
              <a:t>Status</a:t>
            </a:r>
            <a:r>
              <a:rPr lang="en-US" altLang="zh-CN" sz="3600">
                <a:solidFill>
                  <a:srgbClr val="800000"/>
                </a:solidFill>
                <a:ea typeface="楷体_GB2312" charset="0"/>
              </a:rPr>
              <a:t> EnQueue (LinkQueue </a:t>
            </a:r>
            <a:r>
              <a:rPr lang="en-US" altLang="zh-CN" sz="3600" b="1">
                <a:solidFill>
                  <a:srgbClr val="800000"/>
                </a:solidFill>
                <a:ea typeface="楷体_GB2312" charset="0"/>
              </a:rPr>
              <a:t>&amp;</a:t>
            </a:r>
            <a:r>
              <a:rPr lang="en-US" altLang="zh-CN" sz="3600">
                <a:solidFill>
                  <a:srgbClr val="800000"/>
                </a:solidFill>
                <a:ea typeface="楷体_GB2312" charset="0"/>
              </a:rPr>
              <a:t>Q, </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QElemType e) </a:t>
            </a:r>
            <a:r>
              <a:rPr lang="en-US" altLang="zh-CN" sz="3600" b="1">
                <a:solidFill>
                  <a:srgbClr val="800000"/>
                </a:solidFill>
                <a:ea typeface="楷体_GB2312" charset="0"/>
              </a:rPr>
              <a:t>{</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 </a:t>
            </a:r>
            <a:r>
              <a:rPr lang="zh-CN" altLang="en-US" sz="3600">
                <a:solidFill>
                  <a:srgbClr val="800000"/>
                </a:solidFill>
                <a:ea typeface="楷体_GB2312" charset="0"/>
              </a:rPr>
              <a:t>插入元素</a:t>
            </a:r>
            <a:r>
              <a:rPr lang="en-US" altLang="zh-CN" sz="3600">
                <a:solidFill>
                  <a:srgbClr val="800000"/>
                </a:solidFill>
                <a:ea typeface="楷体_GB2312" charset="0"/>
              </a:rPr>
              <a:t>e</a:t>
            </a:r>
            <a:r>
              <a:rPr lang="zh-CN" altLang="en-US" sz="3600">
                <a:solidFill>
                  <a:srgbClr val="800000"/>
                </a:solidFill>
                <a:ea typeface="楷体_GB2312" charset="0"/>
              </a:rPr>
              <a:t>为</a:t>
            </a:r>
            <a:r>
              <a:rPr lang="en-US" altLang="zh-CN" sz="3600">
                <a:solidFill>
                  <a:srgbClr val="800000"/>
                </a:solidFill>
                <a:ea typeface="楷体_GB2312" charset="0"/>
              </a:rPr>
              <a:t>Q</a:t>
            </a:r>
            <a:r>
              <a:rPr lang="zh-CN" altLang="en-US" sz="3600">
                <a:solidFill>
                  <a:srgbClr val="800000"/>
                </a:solidFill>
                <a:ea typeface="楷体_GB2312" charset="0"/>
              </a:rPr>
              <a:t>的新的队尾元素</a:t>
            </a:r>
            <a:endParaRPr lang="zh-CN" altLang="en-US" sz="3600">
              <a:solidFill>
                <a:srgbClr val="800000"/>
              </a:solidFill>
              <a:ea typeface="楷体_GB2312" charset="0"/>
            </a:endParaRPr>
          </a:p>
          <a:p>
            <a:pPr eaLnBrk="0" hangingPunct="0">
              <a:lnSpc>
                <a:spcPct val="120000"/>
              </a:lnSpc>
            </a:pPr>
            <a:r>
              <a:rPr lang="zh-CN" altLang="en-US" sz="3600">
                <a:solidFill>
                  <a:srgbClr val="800000"/>
                </a:solidFill>
                <a:ea typeface="楷体_GB2312" charset="0"/>
              </a:rPr>
              <a:t>    </a:t>
            </a:r>
            <a:r>
              <a:rPr lang="en-US" altLang="zh-CN" sz="3600">
                <a:solidFill>
                  <a:srgbClr val="FF5050"/>
                </a:solidFill>
                <a:ea typeface="楷体_GB2312" charset="0"/>
              </a:rPr>
              <a:t>p = (QueuePtr) </a:t>
            </a:r>
            <a:r>
              <a:rPr lang="en-US" altLang="zh-CN" sz="3600" b="1">
                <a:solidFill>
                  <a:srgbClr val="FF5050"/>
                </a:solidFill>
                <a:ea typeface="楷体_GB2312" charset="0"/>
              </a:rPr>
              <a:t>malloc</a:t>
            </a:r>
            <a:r>
              <a:rPr lang="en-US" altLang="zh-CN" sz="3600">
                <a:solidFill>
                  <a:srgbClr val="FF5050"/>
                </a:solidFill>
                <a:ea typeface="楷体_GB2312" charset="0"/>
              </a:rPr>
              <a:t> (</a:t>
            </a:r>
            <a:r>
              <a:rPr lang="en-US" altLang="zh-CN" sz="3600" b="1">
                <a:solidFill>
                  <a:srgbClr val="FF5050"/>
                </a:solidFill>
                <a:ea typeface="楷体_GB2312" charset="0"/>
              </a:rPr>
              <a:t>sizeof </a:t>
            </a:r>
            <a:r>
              <a:rPr lang="en-US" altLang="zh-CN" sz="3600">
                <a:solidFill>
                  <a:srgbClr val="FF5050"/>
                </a:solidFill>
                <a:ea typeface="楷体_GB2312" charset="0"/>
              </a:rPr>
              <a:t>(QNode));</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b="1">
                <a:solidFill>
                  <a:srgbClr val="800000"/>
                </a:solidFill>
                <a:ea typeface="楷体_GB2312" charset="0"/>
              </a:rPr>
              <a:t>if</a:t>
            </a:r>
            <a:r>
              <a:rPr lang="en-US" altLang="zh-CN" sz="3600">
                <a:solidFill>
                  <a:srgbClr val="800000"/>
                </a:solidFill>
                <a:ea typeface="楷体_GB2312" charset="0"/>
              </a:rPr>
              <a:t> (</a:t>
            </a:r>
            <a:r>
              <a:rPr lang="en-US" altLang="zh-CN" sz="3600" b="1">
                <a:solidFill>
                  <a:srgbClr val="800000"/>
                </a:solidFill>
                <a:ea typeface="楷体_GB2312" charset="0"/>
              </a:rPr>
              <a:t>!p</a:t>
            </a:r>
            <a:r>
              <a:rPr lang="en-US" altLang="zh-CN" sz="3600">
                <a:solidFill>
                  <a:srgbClr val="800000"/>
                </a:solidFill>
                <a:ea typeface="楷体_GB2312" charset="0"/>
              </a:rPr>
              <a:t>)  </a:t>
            </a:r>
            <a:r>
              <a:rPr lang="en-US" altLang="zh-CN" sz="3600" b="1">
                <a:solidFill>
                  <a:srgbClr val="800000"/>
                </a:solidFill>
                <a:ea typeface="楷体_GB2312" charset="0"/>
              </a:rPr>
              <a:t>exit </a:t>
            </a:r>
            <a:r>
              <a:rPr lang="en-US" altLang="zh-CN" sz="3600">
                <a:solidFill>
                  <a:srgbClr val="800000"/>
                </a:solidFill>
                <a:ea typeface="楷体_GB2312" charset="0"/>
              </a:rPr>
              <a:t>(OVERFLOW);   //</a:t>
            </a:r>
            <a:r>
              <a:rPr lang="zh-CN" altLang="en-US" sz="3200">
                <a:solidFill>
                  <a:srgbClr val="800000"/>
                </a:solidFill>
                <a:ea typeface="楷体_GB2312" charset="0"/>
              </a:rPr>
              <a:t>存储分配失败</a:t>
            </a:r>
            <a:endParaRPr lang="zh-CN" altLang="en-US" sz="3200">
              <a:solidFill>
                <a:srgbClr val="800000"/>
              </a:solidFill>
              <a:ea typeface="楷体_GB2312" charset="0"/>
            </a:endParaRPr>
          </a:p>
          <a:p>
            <a:pPr eaLnBrk="0" hangingPunct="0">
              <a:lnSpc>
                <a:spcPct val="120000"/>
              </a:lnSpc>
            </a:pPr>
            <a:r>
              <a:rPr lang="zh-CN" altLang="en-US" sz="3600">
                <a:solidFill>
                  <a:srgbClr val="800000"/>
                </a:solidFill>
                <a:ea typeface="楷体_GB2312" charset="0"/>
              </a:rPr>
              <a:t>    </a:t>
            </a:r>
            <a:r>
              <a:rPr lang="en-US" altLang="zh-CN" sz="3600">
                <a:solidFill>
                  <a:srgbClr val="800000"/>
                </a:solidFill>
                <a:ea typeface="楷体_GB2312" charset="0"/>
              </a:rPr>
              <a:t>p-&gt;data = e;   p-&gt;next = NULL;</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a:solidFill>
                  <a:srgbClr val="FF5050"/>
                </a:solidFill>
                <a:ea typeface="楷体_GB2312" charset="0"/>
              </a:rPr>
              <a:t>Q.rear-&gt;next = p;    Q.rear = p;</a:t>
            </a:r>
            <a:endParaRPr lang="en-US" altLang="zh-CN" sz="3600">
              <a:solidFill>
                <a:srgbClr val="FF505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b="1">
                <a:solidFill>
                  <a:srgbClr val="800000"/>
                </a:solidFill>
                <a:ea typeface="楷体_GB2312" charset="0"/>
              </a:rPr>
              <a:t>return</a:t>
            </a:r>
            <a:r>
              <a:rPr lang="en-US" altLang="zh-CN" sz="3600">
                <a:solidFill>
                  <a:srgbClr val="800000"/>
                </a:solidFill>
                <a:ea typeface="楷体_GB2312" charset="0"/>
              </a:rPr>
              <a:t> OK;</a:t>
            </a:r>
            <a:endParaRPr lang="en-US" altLang="zh-CN" sz="3600">
              <a:solidFill>
                <a:srgbClr val="800000"/>
              </a:solidFill>
              <a:ea typeface="楷体_GB2312" charset="0"/>
            </a:endParaRPr>
          </a:p>
          <a:p>
            <a:pPr eaLnBrk="0" hangingPunct="0">
              <a:lnSpc>
                <a:spcPct val="120000"/>
              </a:lnSpc>
            </a:pPr>
            <a:r>
              <a:rPr lang="en-US" altLang="zh-CN" sz="3600" b="1">
                <a:solidFill>
                  <a:srgbClr val="800000"/>
                </a:solidFill>
                <a:ea typeface="楷体_GB2312" charset="0"/>
              </a:rPr>
              <a:t>}</a:t>
            </a:r>
            <a:endParaRPr lang="en-US" altLang="zh-CN" sz="3600">
              <a:solidFill>
                <a:srgbClr val="800000"/>
              </a:solidFill>
              <a:ea typeface="楷体_GB2312" charset="0"/>
            </a:endParaRP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898" name="Text Box 2"/>
          <p:cNvSpPr txBox="1">
            <a:spLocks noChangeArrowheads="1"/>
          </p:cNvSpPr>
          <p:nvPr/>
        </p:nvSpPr>
        <p:spPr bwMode="auto">
          <a:xfrm>
            <a:off x="136525" y="327025"/>
            <a:ext cx="9007475" cy="653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2400"/>
              <a:t> </a:t>
            </a:r>
            <a:r>
              <a:rPr lang="en-US" altLang="zh-CN" sz="3600" b="1">
                <a:solidFill>
                  <a:srgbClr val="800000"/>
                </a:solidFill>
                <a:ea typeface="楷体_GB2312" charset="0"/>
              </a:rPr>
              <a:t>Status</a:t>
            </a:r>
            <a:r>
              <a:rPr lang="en-US" altLang="zh-CN" sz="3600">
                <a:solidFill>
                  <a:srgbClr val="800000"/>
                </a:solidFill>
                <a:ea typeface="楷体_GB2312" charset="0"/>
              </a:rPr>
              <a:t> DeQueue (LinkQueue </a:t>
            </a:r>
            <a:r>
              <a:rPr lang="en-US" altLang="zh-CN" sz="3600" b="1">
                <a:solidFill>
                  <a:srgbClr val="800000"/>
                </a:solidFill>
                <a:ea typeface="楷体_GB2312" charset="0"/>
              </a:rPr>
              <a:t>&amp;</a:t>
            </a:r>
            <a:r>
              <a:rPr lang="en-US" altLang="zh-CN" sz="3600">
                <a:solidFill>
                  <a:srgbClr val="800000"/>
                </a:solidFill>
                <a:ea typeface="楷体_GB2312" charset="0"/>
              </a:rPr>
              <a:t>Q, </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QElemType </a:t>
            </a:r>
            <a:r>
              <a:rPr lang="en-US" altLang="zh-CN" sz="3600" b="1">
                <a:solidFill>
                  <a:srgbClr val="800000"/>
                </a:solidFill>
                <a:ea typeface="楷体_GB2312" charset="0"/>
              </a:rPr>
              <a:t>&amp;</a:t>
            </a:r>
            <a:r>
              <a:rPr lang="en-US" altLang="zh-CN" sz="3600">
                <a:solidFill>
                  <a:srgbClr val="800000"/>
                </a:solidFill>
                <a:ea typeface="楷体_GB2312" charset="0"/>
              </a:rPr>
              <a:t>e) </a:t>
            </a:r>
            <a:r>
              <a:rPr lang="en-US" altLang="zh-CN" sz="3600" b="1">
                <a:solidFill>
                  <a:srgbClr val="800000"/>
                </a:solidFill>
                <a:ea typeface="楷体_GB2312" charset="0"/>
              </a:rPr>
              <a:t>{</a:t>
            </a:r>
            <a:endParaRPr lang="en-US" altLang="zh-CN" sz="3600">
              <a:solidFill>
                <a:srgbClr val="800000"/>
              </a:solidFill>
              <a:ea typeface="楷体_GB2312" charset="0"/>
            </a:endParaRPr>
          </a:p>
          <a:p>
            <a:pPr eaLnBrk="0" hangingPunct="0">
              <a:lnSpc>
                <a:spcPct val="120000"/>
              </a:lnSpc>
            </a:pPr>
            <a:r>
              <a:rPr lang="en-US" altLang="zh-CN" sz="3200">
                <a:solidFill>
                  <a:srgbClr val="800000"/>
                </a:solidFill>
                <a:ea typeface="楷体_GB2312" charset="0"/>
              </a:rPr>
              <a:t>  // </a:t>
            </a:r>
            <a:r>
              <a:rPr lang="zh-CN" altLang="en-US" sz="3200">
                <a:solidFill>
                  <a:srgbClr val="800000"/>
                </a:solidFill>
                <a:ea typeface="楷体_GB2312" charset="0"/>
              </a:rPr>
              <a:t>若队列不空，则删除</a:t>
            </a:r>
            <a:r>
              <a:rPr lang="en-US" altLang="zh-CN" sz="3200">
                <a:solidFill>
                  <a:srgbClr val="800000"/>
                </a:solidFill>
                <a:ea typeface="楷体_GB2312" charset="0"/>
              </a:rPr>
              <a:t>Q</a:t>
            </a:r>
            <a:r>
              <a:rPr lang="zh-CN" altLang="en-US" sz="3200">
                <a:solidFill>
                  <a:srgbClr val="800000"/>
                </a:solidFill>
                <a:ea typeface="楷体_GB2312" charset="0"/>
              </a:rPr>
              <a:t>的队头元素，</a:t>
            </a:r>
            <a:endParaRPr lang="zh-CN" altLang="en-US" sz="3200">
              <a:solidFill>
                <a:srgbClr val="800000"/>
              </a:solidFill>
              <a:ea typeface="楷体_GB2312" charset="0"/>
            </a:endParaRPr>
          </a:p>
          <a:p>
            <a:pPr eaLnBrk="0" hangingPunct="0">
              <a:lnSpc>
                <a:spcPct val="120000"/>
              </a:lnSpc>
            </a:pPr>
            <a:r>
              <a:rPr lang="zh-CN" altLang="en-US" sz="3200">
                <a:solidFill>
                  <a:srgbClr val="800000"/>
                </a:solidFill>
                <a:ea typeface="楷体_GB2312" charset="0"/>
              </a:rPr>
              <a:t>  </a:t>
            </a:r>
            <a:r>
              <a:rPr lang="en-US" altLang="zh-CN" sz="3200">
                <a:solidFill>
                  <a:srgbClr val="800000"/>
                </a:solidFill>
                <a:ea typeface="楷体_GB2312" charset="0"/>
              </a:rPr>
              <a:t>//</a:t>
            </a:r>
            <a:r>
              <a:rPr lang="zh-CN" altLang="en-US" sz="3200">
                <a:solidFill>
                  <a:srgbClr val="800000"/>
                </a:solidFill>
                <a:ea typeface="楷体_GB2312" charset="0"/>
              </a:rPr>
              <a:t>用 </a:t>
            </a:r>
            <a:r>
              <a:rPr lang="en-US" altLang="zh-CN" sz="3200">
                <a:solidFill>
                  <a:srgbClr val="800000"/>
                </a:solidFill>
                <a:ea typeface="楷体_GB2312" charset="0"/>
              </a:rPr>
              <a:t>e </a:t>
            </a:r>
            <a:r>
              <a:rPr lang="zh-CN" altLang="en-US" sz="3200">
                <a:solidFill>
                  <a:srgbClr val="800000"/>
                </a:solidFill>
                <a:ea typeface="楷体_GB2312" charset="0"/>
              </a:rPr>
              <a:t>返回其值，并返回</a:t>
            </a:r>
            <a:r>
              <a:rPr lang="en-US" altLang="zh-CN" sz="3200">
                <a:solidFill>
                  <a:srgbClr val="800000"/>
                </a:solidFill>
                <a:ea typeface="楷体_GB2312" charset="0"/>
              </a:rPr>
              <a:t>OK</a:t>
            </a:r>
            <a:r>
              <a:rPr lang="zh-CN" altLang="en-US" sz="3200">
                <a:solidFill>
                  <a:srgbClr val="800000"/>
                </a:solidFill>
                <a:ea typeface="楷体_GB2312" charset="0"/>
              </a:rPr>
              <a:t>；否则返回</a:t>
            </a:r>
            <a:r>
              <a:rPr lang="en-US" altLang="zh-CN" sz="3200">
                <a:solidFill>
                  <a:srgbClr val="800000"/>
                </a:solidFill>
                <a:ea typeface="楷体_GB2312" charset="0"/>
              </a:rPr>
              <a:t>ERROR</a:t>
            </a:r>
            <a:endParaRPr lang="en-US" altLang="zh-CN" sz="32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b="1">
                <a:solidFill>
                  <a:srgbClr val="800000"/>
                </a:solidFill>
                <a:ea typeface="楷体_GB2312" charset="0"/>
              </a:rPr>
              <a:t>if</a:t>
            </a:r>
            <a:r>
              <a:rPr lang="en-US" altLang="zh-CN" sz="3600">
                <a:solidFill>
                  <a:srgbClr val="800000"/>
                </a:solidFill>
                <a:ea typeface="楷体_GB2312" charset="0"/>
              </a:rPr>
              <a:t> (Q.front </a:t>
            </a:r>
            <a:r>
              <a:rPr lang="en-US" altLang="zh-CN" sz="3600" b="1">
                <a:solidFill>
                  <a:srgbClr val="800000"/>
                </a:solidFill>
                <a:ea typeface="楷体_GB2312" charset="0"/>
              </a:rPr>
              <a:t>==</a:t>
            </a:r>
            <a:r>
              <a:rPr lang="en-US" altLang="zh-CN" sz="3600">
                <a:solidFill>
                  <a:srgbClr val="800000"/>
                </a:solidFill>
                <a:ea typeface="楷体_GB2312" charset="0"/>
              </a:rPr>
              <a:t> Q.rear)    </a:t>
            </a:r>
            <a:r>
              <a:rPr lang="en-US" altLang="zh-CN" sz="3600" b="1">
                <a:solidFill>
                  <a:srgbClr val="800000"/>
                </a:solidFill>
                <a:ea typeface="楷体_GB2312" charset="0"/>
              </a:rPr>
              <a:t>return</a:t>
            </a:r>
            <a:r>
              <a:rPr lang="en-US" altLang="zh-CN" sz="3600">
                <a:solidFill>
                  <a:srgbClr val="800000"/>
                </a:solidFill>
                <a:ea typeface="楷体_GB2312" charset="0"/>
              </a:rPr>
              <a:t> ERROR;</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p = Q.front-&gt;next;   e = p-&gt;data;</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a:solidFill>
                  <a:srgbClr val="FF5050"/>
                </a:solidFill>
                <a:ea typeface="楷体_GB2312" charset="0"/>
              </a:rPr>
              <a:t>Q.front-&gt;next = p-&gt;next;</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b="1">
                <a:solidFill>
                  <a:schemeClr val="accent2"/>
                </a:solidFill>
                <a:ea typeface="楷体_GB2312" charset="0"/>
              </a:rPr>
              <a:t>if</a:t>
            </a:r>
            <a:r>
              <a:rPr lang="en-US" altLang="zh-CN" sz="3600">
                <a:solidFill>
                  <a:schemeClr val="accent2"/>
                </a:solidFill>
                <a:ea typeface="楷体_GB2312" charset="0"/>
              </a:rPr>
              <a:t> (Q.rear </a:t>
            </a:r>
            <a:r>
              <a:rPr lang="en-US" altLang="zh-CN" sz="3600" b="1">
                <a:solidFill>
                  <a:schemeClr val="accent2"/>
                </a:solidFill>
                <a:ea typeface="楷体_GB2312" charset="0"/>
              </a:rPr>
              <a:t>==</a:t>
            </a:r>
            <a:r>
              <a:rPr lang="en-US" altLang="zh-CN" sz="3600">
                <a:solidFill>
                  <a:schemeClr val="accent2"/>
                </a:solidFill>
                <a:ea typeface="楷体_GB2312" charset="0"/>
              </a:rPr>
              <a:t> p)  Q.rear = Q.front;</a:t>
            </a:r>
            <a:endParaRPr lang="en-US" altLang="zh-CN" sz="3600">
              <a:solidFill>
                <a:srgbClr val="FF505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b="1">
                <a:solidFill>
                  <a:srgbClr val="FF5050"/>
                </a:solidFill>
                <a:ea typeface="楷体_GB2312" charset="0"/>
              </a:rPr>
              <a:t>free </a:t>
            </a:r>
            <a:r>
              <a:rPr lang="en-US" altLang="zh-CN" sz="3600">
                <a:solidFill>
                  <a:srgbClr val="FF5050"/>
                </a:solidFill>
                <a:ea typeface="楷体_GB2312" charset="0"/>
              </a:rPr>
              <a:t>(p);</a:t>
            </a:r>
            <a:r>
              <a:rPr lang="en-US" altLang="zh-CN" sz="3600">
                <a:solidFill>
                  <a:srgbClr val="800000"/>
                </a:solidFill>
                <a:ea typeface="楷体_GB2312" charset="0"/>
              </a:rPr>
              <a:t>      </a:t>
            </a:r>
            <a:r>
              <a:rPr lang="en-US" altLang="zh-CN" sz="3600" b="1">
                <a:solidFill>
                  <a:srgbClr val="800000"/>
                </a:solidFill>
                <a:ea typeface="楷体_GB2312" charset="0"/>
              </a:rPr>
              <a:t>return</a:t>
            </a:r>
            <a:r>
              <a:rPr lang="en-US" altLang="zh-CN" sz="3600">
                <a:solidFill>
                  <a:srgbClr val="800000"/>
                </a:solidFill>
                <a:ea typeface="楷体_GB2312" charset="0"/>
              </a:rPr>
              <a:t> OK;</a:t>
            </a:r>
            <a:endParaRPr lang="en-US" altLang="zh-CN" sz="3600">
              <a:solidFill>
                <a:srgbClr val="800000"/>
              </a:solidFill>
              <a:ea typeface="楷体_GB2312" charset="0"/>
            </a:endParaRPr>
          </a:p>
          <a:p>
            <a:pPr eaLnBrk="0" hangingPunct="0">
              <a:lnSpc>
                <a:spcPct val="120000"/>
              </a:lnSpc>
            </a:pPr>
            <a:r>
              <a:rPr lang="en-US" altLang="zh-CN" sz="3600" b="1">
                <a:solidFill>
                  <a:srgbClr val="800000"/>
                </a:solidFill>
                <a:ea typeface="楷体_GB2312" charset="0"/>
              </a:rPr>
              <a:t>}</a:t>
            </a:r>
            <a:endParaRPr lang="en-US" altLang="zh-CN" sz="3600" b="1">
              <a:solidFill>
                <a:srgbClr val="800000"/>
              </a:solidFill>
              <a:ea typeface="楷体_GB2312" charset="0"/>
            </a:endParaRPr>
          </a:p>
        </p:txBody>
      </p:sp>
      <p:sp>
        <p:nvSpPr>
          <p:cNvPr id="1104899" name="AutoShape 3">
            <a:hlinkClick r:id="rId1" action="ppaction://hlinksldjump" highlightClick="1"/>
          </p:cNvPr>
          <p:cNvSpPr>
            <a:spLocks noChangeArrowheads="1"/>
          </p:cNvSpPr>
          <p:nvPr/>
        </p:nvSpPr>
        <p:spPr bwMode="auto">
          <a:xfrm>
            <a:off x="8305800" y="6172200"/>
            <a:ext cx="381000" cy="381000"/>
          </a:xfrm>
          <a:prstGeom prst="actionButtonBackPrevious">
            <a:avLst/>
          </a:prstGeom>
          <a:solidFill>
            <a:srgbClr val="A50021"/>
          </a:solidFill>
          <a:ln w="9525">
            <a:solidFill>
              <a:srgbClr val="FF5050"/>
            </a:solidFill>
            <a:miter lim="800000"/>
          </a:ln>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22" name="Text Box 2"/>
          <p:cNvSpPr txBox="1">
            <a:spLocks noChangeArrowheads="1"/>
          </p:cNvSpPr>
          <p:nvPr/>
        </p:nvSpPr>
        <p:spPr bwMode="auto">
          <a:xfrm>
            <a:off x="209550" y="1066800"/>
            <a:ext cx="8782050" cy="536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lnSpc>
                <a:spcPct val="120000"/>
              </a:lnSpc>
            </a:pPr>
            <a:r>
              <a:rPr lang="en-US" altLang="zh-CN" sz="3600" b="1"/>
              <a:t>#define</a:t>
            </a:r>
            <a:r>
              <a:rPr lang="en-US" altLang="zh-CN" sz="3600"/>
              <a:t> MAXQSIZE  100  //</a:t>
            </a:r>
            <a:r>
              <a:rPr lang="zh-CN" altLang="en-US" sz="3600">
                <a:solidFill>
                  <a:srgbClr val="800000"/>
                </a:solidFill>
              </a:rPr>
              <a:t>最大队列长度</a:t>
            </a:r>
            <a:endParaRPr lang="zh-CN" altLang="en-US" sz="3600">
              <a:solidFill>
                <a:srgbClr val="800000"/>
              </a:solidFill>
            </a:endParaRPr>
          </a:p>
          <a:p>
            <a:pPr eaLnBrk="0" hangingPunct="0">
              <a:lnSpc>
                <a:spcPct val="120000"/>
              </a:lnSpc>
            </a:pPr>
            <a:r>
              <a:rPr lang="zh-CN" altLang="en-US" sz="3600"/>
              <a:t>  </a:t>
            </a:r>
            <a:r>
              <a:rPr lang="en-US" altLang="zh-CN" sz="3600" b="1"/>
              <a:t>typedef struct {</a:t>
            </a:r>
            <a:endParaRPr lang="en-US" altLang="zh-CN" sz="3600" b="1"/>
          </a:p>
          <a:p>
            <a:pPr eaLnBrk="0" hangingPunct="0">
              <a:lnSpc>
                <a:spcPct val="120000"/>
              </a:lnSpc>
            </a:pPr>
            <a:r>
              <a:rPr lang="en-US" altLang="zh-CN" sz="3600" b="1"/>
              <a:t>    QElemType  </a:t>
            </a:r>
            <a:r>
              <a:rPr lang="en-US" altLang="zh-CN" sz="3600"/>
              <a:t>*base;  // </a:t>
            </a:r>
            <a:r>
              <a:rPr lang="zh-CN" altLang="en-US" sz="3600"/>
              <a:t>动态分配存储空间</a:t>
            </a:r>
            <a:endParaRPr lang="zh-CN" altLang="en-US" sz="3600"/>
          </a:p>
          <a:p>
            <a:pPr eaLnBrk="0" hangingPunct="0">
              <a:lnSpc>
                <a:spcPct val="120000"/>
              </a:lnSpc>
            </a:pPr>
            <a:r>
              <a:rPr lang="zh-CN" altLang="en-US" sz="3600"/>
              <a:t>    </a:t>
            </a:r>
            <a:r>
              <a:rPr lang="en-US" altLang="zh-CN" sz="3600" b="1"/>
              <a:t>int</a:t>
            </a:r>
            <a:r>
              <a:rPr lang="en-US" altLang="zh-CN" sz="3600"/>
              <a:t>  front;     // </a:t>
            </a:r>
            <a:r>
              <a:rPr lang="zh-CN" altLang="en-US" sz="3600">
                <a:solidFill>
                  <a:srgbClr val="800000"/>
                </a:solidFill>
              </a:rPr>
              <a:t>头指针，若队列不空，</a:t>
            </a:r>
            <a:endParaRPr lang="zh-CN" altLang="en-US" sz="3600"/>
          </a:p>
          <a:p>
            <a:pPr eaLnBrk="0" hangingPunct="0">
              <a:lnSpc>
                <a:spcPct val="120000"/>
              </a:lnSpc>
            </a:pPr>
            <a:r>
              <a:rPr lang="zh-CN" altLang="en-US" sz="3600"/>
              <a:t>                        </a:t>
            </a:r>
            <a:r>
              <a:rPr lang="en-US" altLang="zh-CN" sz="3600"/>
              <a:t>//  </a:t>
            </a:r>
            <a:r>
              <a:rPr lang="zh-CN" altLang="en-US" sz="3600">
                <a:solidFill>
                  <a:srgbClr val="800000"/>
                </a:solidFill>
              </a:rPr>
              <a:t>指向队列头元素</a:t>
            </a:r>
            <a:endParaRPr lang="zh-CN" altLang="en-US" sz="3600"/>
          </a:p>
          <a:p>
            <a:pPr eaLnBrk="0" hangingPunct="0">
              <a:lnSpc>
                <a:spcPct val="120000"/>
              </a:lnSpc>
            </a:pPr>
            <a:r>
              <a:rPr lang="zh-CN" altLang="en-US" sz="3600" b="1"/>
              <a:t>    </a:t>
            </a:r>
            <a:r>
              <a:rPr lang="en-US" altLang="zh-CN" sz="3600" b="1"/>
              <a:t>int</a:t>
            </a:r>
            <a:r>
              <a:rPr lang="en-US" altLang="zh-CN" sz="3600"/>
              <a:t>  rear;      // </a:t>
            </a:r>
            <a:r>
              <a:rPr lang="zh-CN" altLang="en-US" sz="3600">
                <a:solidFill>
                  <a:srgbClr val="800000"/>
                </a:solidFill>
              </a:rPr>
              <a:t>尾指针，若队列不空，指向</a:t>
            </a:r>
            <a:endParaRPr lang="zh-CN" altLang="en-US" sz="3600"/>
          </a:p>
          <a:p>
            <a:pPr eaLnBrk="0" hangingPunct="0">
              <a:lnSpc>
                <a:spcPct val="120000"/>
              </a:lnSpc>
            </a:pPr>
            <a:r>
              <a:rPr lang="zh-CN" altLang="en-US" sz="3600"/>
              <a:t>                        </a:t>
            </a:r>
            <a:r>
              <a:rPr lang="en-US" altLang="zh-CN" sz="3600"/>
              <a:t>// </a:t>
            </a:r>
            <a:r>
              <a:rPr lang="zh-CN" altLang="en-US" sz="3600">
                <a:solidFill>
                  <a:srgbClr val="800000"/>
                </a:solidFill>
              </a:rPr>
              <a:t>队列尾元素 的下一个位置</a:t>
            </a:r>
            <a:endParaRPr lang="zh-CN" altLang="en-US" sz="3600"/>
          </a:p>
          <a:p>
            <a:pPr eaLnBrk="0" hangingPunct="0">
              <a:lnSpc>
                <a:spcPct val="120000"/>
              </a:lnSpc>
            </a:pPr>
            <a:r>
              <a:rPr lang="zh-CN" altLang="en-US" sz="3600"/>
              <a:t>  </a:t>
            </a:r>
            <a:r>
              <a:rPr lang="en-US" altLang="zh-CN" sz="3600" b="1"/>
              <a:t>}</a:t>
            </a:r>
            <a:r>
              <a:rPr lang="en-US" altLang="zh-CN" sz="3600"/>
              <a:t> SqQueue;</a:t>
            </a:r>
            <a:endParaRPr lang="en-US" altLang="zh-CN" sz="3600"/>
          </a:p>
        </p:txBody>
      </p:sp>
      <p:sp>
        <p:nvSpPr>
          <p:cNvPr id="1105923" name="Text Box 3"/>
          <p:cNvSpPr txBox="1">
            <a:spLocks noChangeArrowheads="1"/>
          </p:cNvSpPr>
          <p:nvPr/>
        </p:nvSpPr>
        <p:spPr bwMode="auto">
          <a:xfrm>
            <a:off x="1981200" y="228600"/>
            <a:ext cx="52832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b="1">
                <a:solidFill>
                  <a:srgbClr val="FF0000"/>
                </a:solidFill>
                <a:ea typeface="楷体_GB2312" charset="0"/>
              </a:rPr>
              <a:t>循环队列</a:t>
            </a:r>
            <a:r>
              <a:rPr lang="en-US" altLang="zh-CN" sz="4000">
                <a:solidFill>
                  <a:srgbClr val="FF0000"/>
                </a:solidFill>
                <a:ea typeface="楷体_GB2312" charset="0"/>
              </a:rPr>
              <a:t>——</a:t>
            </a:r>
            <a:r>
              <a:rPr lang="zh-CN" altLang="en-US" sz="4000">
                <a:solidFill>
                  <a:srgbClr val="FF0000"/>
                </a:solidFill>
                <a:ea typeface="楷体_GB2312" charset="0"/>
              </a:rPr>
              <a:t>顺序映象</a:t>
            </a:r>
            <a:endParaRPr lang="zh-CN" altLang="en-US" sz="4000">
              <a:solidFill>
                <a:srgbClr val="FF0000"/>
              </a:solidFill>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05922"/>
                                        </p:tgtEl>
                                        <p:attrNameLst>
                                          <p:attrName>style.visibility</p:attrName>
                                        </p:attrNameLst>
                                      </p:cBhvr>
                                      <p:to>
                                        <p:strVal val="visible"/>
                                      </p:to>
                                    </p:set>
                                    <p:animEffect transition="in" filter="box(out)">
                                      <p:cBhvr>
                                        <p:cTn id="7" dur="500"/>
                                        <p:tgtEl>
                                          <p:spTgt spid="1105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22"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4354" name="Text Box 2"/>
          <p:cNvSpPr txBox="1">
            <a:spLocks noChangeArrowheads="1"/>
          </p:cNvSpPr>
          <p:nvPr/>
        </p:nvSpPr>
        <p:spPr bwMode="auto">
          <a:xfrm>
            <a:off x="836613" y="5634038"/>
            <a:ext cx="6931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800" b="1">
                <a:solidFill>
                  <a:srgbClr val="FF3300"/>
                </a:solidFill>
                <a:effectLst>
                  <a:outerShdw blurRad="38100" dist="38100" dir="2700000" algn="tl">
                    <a:srgbClr val="C0C0C0"/>
                  </a:outerShdw>
                </a:effectLst>
              </a:rPr>
              <a:t>循环队列：</a:t>
            </a:r>
            <a:r>
              <a:rPr kumimoji="0" lang="zh-CN" altLang="en-US" sz="2800" b="1">
                <a:effectLst>
                  <a:outerShdw blurRad="38100" dist="38100" dir="2700000" algn="tl">
                    <a:srgbClr val="C0C0C0"/>
                  </a:outerShdw>
                </a:effectLst>
              </a:rPr>
              <a:t>将存储队列的数组头尾相接。</a:t>
            </a:r>
            <a:endParaRPr kumimoji="0" lang="zh-CN" altLang="en-US" sz="2800" b="1">
              <a:effectLst>
                <a:outerShdw blurRad="38100" dist="38100" dir="2700000" algn="tl">
                  <a:srgbClr val="C0C0C0"/>
                </a:outerShdw>
              </a:effectLst>
            </a:endParaRPr>
          </a:p>
        </p:txBody>
      </p:sp>
      <p:grpSp>
        <p:nvGrpSpPr>
          <p:cNvPr id="1124355" name="Group 3"/>
          <p:cNvGrpSpPr/>
          <p:nvPr/>
        </p:nvGrpSpPr>
        <p:grpSpPr bwMode="auto">
          <a:xfrm>
            <a:off x="611188" y="1854200"/>
            <a:ext cx="6705600" cy="573088"/>
            <a:chOff x="385" y="1168"/>
            <a:chExt cx="4224" cy="361"/>
          </a:xfrm>
        </p:grpSpPr>
        <p:sp>
          <p:nvSpPr>
            <p:cNvPr id="1124356" name="Text Box 4"/>
            <p:cNvSpPr txBox="1">
              <a:spLocks noChangeArrowheads="1"/>
            </p:cNvSpPr>
            <p:nvPr/>
          </p:nvSpPr>
          <p:spPr bwMode="auto">
            <a:xfrm>
              <a:off x="810" y="1177"/>
              <a:ext cx="379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800" b="1">
                  <a:effectLst>
                    <a:outerShdw blurRad="38100" dist="38100" dir="2700000" algn="tl">
                      <a:srgbClr val="C0C0C0"/>
                    </a:outerShdw>
                  </a:effectLst>
                </a:rPr>
                <a:t>如何解决假上溢？</a:t>
              </a:r>
              <a:endParaRPr kumimoji="0" lang="zh-CN" altLang="en-US" sz="2800" b="1">
                <a:effectLst>
                  <a:outerShdw blurRad="38100" dist="38100" dir="2700000" algn="tl">
                    <a:srgbClr val="C0C0C0"/>
                  </a:outerShdw>
                </a:effectLst>
              </a:endParaRPr>
            </a:p>
          </p:txBody>
        </p:sp>
        <p:graphicFrame>
          <p:nvGraphicFramePr>
            <p:cNvPr id="1124357" name="Object 5"/>
            <p:cNvGraphicFramePr>
              <a:graphicFrameLocks noChangeAspect="1"/>
            </p:cNvGraphicFramePr>
            <p:nvPr/>
          </p:nvGraphicFramePr>
          <p:xfrm>
            <a:off x="385" y="1168"/>
            <a:ext cx="368" cy="361"/>
          </p:xfrm>
          <a:graphic>
            <a:graphicData uri="http://schemas.openxmlformats.org/presentationml/2006/ole">
              <mc:AlternateContent xmlns:mc="http://schemas.openxmlformats.org/markup-compatibility/2006">
                <mc:Choice xmlns:v="urn:schemas-microsoft-com:vml" Requires="v">
                  <p:oleObj spid="_x0000_s424961" name="Clip" r:id="rId1" imgW="861060" imgH="845185" progId="MS_ClipArt_Gallery.5">
                    <p:embed/>
                  </p:oleObj>
                </mc:Choice>
                <mc:Fallback>
                  <p:oleObj name="Clip" r:id="rId1" imgW="861060" imgH="845185" progId="MS_ClipArt_Gallery.5">
                    <p:embed/>
                    <p:pic>
                      <p:nvPicPr>
                        <p:cNvPr id="0" name="图片 4249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 y="1168"/>
                          <a:ext cx="36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grpSp>
        <p:nvGrpSpPr>
          <p:cNvPr id="1124358" name="Group 6"/>
          <p:cNvGrpSpPr/>
          <p:nvPr/>
        </p:nvGrpSpPr>
        <p:grpSpPr bwMode="auto">
          <a:xfrm>
            <a:off x="2136775" y="3614738"/>
            <a:ext cx="4572000" cy="681037"/>
            <a:chOff x="720" y="2400"/>
            <a:chExt cx="2880" cy="333"/>
          </a:xfrm>
        </p:grpSpPr>
        <p:sp>
          <p:nvSpPr>
            <p:cNvPr id="1124359" name="Text Box 7"/>
            <p:cNvSpPr txBox="1">
              <a:spLocks noChangeArrowheads="1"/>
            </p:cNvSpPr>
            <p:nvPr/>
          </p:nvSpPr>
          <p:spPr bwMode="auto">
            <a:xfrm>
              <a:off x="720" y="2400"/>
              <a:ext cx="576" cy="333"/>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4360" name="Text Box 8"/>
            <p:cNvSpPr txBox="1">
              <a:spLocks noChangeArrowheads="1"/>
            </p:cNvSpPr>
            <p:nvPr/>
          </p:nvSpPr>
          <p:spPr bwMode="auto">
            <a:xfrm>
              <a:off x="1296"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4361" name="Text Box 9"/>
            <p:cNvSpPr txBox="1">
              <a:spLocks noChangeArrowheads="1"/>
            </p:cNvSpPr>
            <p:nvPr/>
          </p:nvSpPr>
          <p:spPr bwMode="auto">
            <a:xfrm>
              <a:off x="2448"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4362" name="Text Box 10"/>
            <p:cNvSpPr txBox="1">
              <a:spLocks noChangeArrowheads="1"/>
            </p:cNvSpPr>
            <p:nvPr/>
          </p:nvSpPr>
          <p:spPr bwMode="auto">
            <a:xfrm>
              <a:off x="3024"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4363" name="Text Box 11"/>
            <p:cNvSpPr txBox="1">
              <a:spLocks noChangeArrowheads="1"/>
            </p:cNvSpPr>
            <p:nvPr/>
          </p:nvSpPr>
          <p:spPr bwMode="auto">
            <a:xfrm>
              <a:off x="1872"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grpSp>
      <p:sp>
        <p:nvSpPr>
          <p:cNvPr id="1124364" name="Text Box 12"/>
          <p:cNvSpPr txBox="1">
            <a:spLocks noChangeArrowheads="1"/>
          </p:cNvSpPr>
          <p:nvPr/>
        </p:nvSpPr>
        <p:spPr bwMode="auto">
          <a:xfrm>
            <a:off x="2406650" y="3074988"/>
            <a:ext cx="42751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a:t>0        1        2         3        4  </a:t>
            </a:r>
            <a:endParaRPr kumimoji="0" lang="en-US" altLang="zh-CN" sz="2800"/>
          </a:p>
        </p:txBody>
      </p:sp>
      <p:sp>
        <p:nvSpPr>
          <p:cNvPr id="1124365" name="Line 13"/>
          <p:cNvSpPr>
            <a:spLocks noChangeShapeType="1"/>
          </p:cNvSpPr>
          <p:nvPr/>
        </p:nvSpPr>
        <p:spPr bwMode="auto">
          <a:xfrm flipH="1">
            <a:off x="6726238" y="3795713"/>
            <a:ext cx="719137"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4366" name="Text Box 14"/>
          <p:cNvSpPr txBox="1">
            <a:spLocks noChangeArrowheads="1"/>
          </p:cNvSpPr>
          <p:nvPr/>
        </p:nvSpPr>
        <p:spPr bwMode="auto">
          <a:xfrm>
            <a:off x="6770688" y="3254375"/>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入队</a:t>
            </a:r>
            <a:endParaRPr kumimoji="0" lang="zh-CN" altLang="en-US" sz="2400" b="1"/>
          </a:p>
        </p:txBody>
      </p:sp>
      <p:sp>
        <p:nvSpPr>
          <p:cNvPr id="1124367" name="Line 15"/>
          <p:cNvSpPr>
            <a:spLocks noChangeShapeType="1"/>
          </p:cNvSpPr>
          <p:nvPr/>
        </p:nvSpPr>
        <p:spPr bwMode="auto">
          <a:xfrm flipH="1">
            <a:off x="1341438" y="3806825"/>
            <a:ext cx="719137"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4368" name="Text Box 16"/>
          <p:cNvSpPr txBox="1">
            <a:spLocks noChangeArrowheads="1"/>
          </p:cNvSpPr>
          <p:nvPr/>
        </p:nvSpPr>
        <p:spPr bwMode="auto">
          <a:xfrm>
            <a:off x="1243013" y="3270250"/>
            <a:ext cx="912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出队</a:t>
            </a:r>
            <a:endParaRPr kumimoji="0" lang="zh-CN" altLang="en-US" sz="2400" b="1"/>
          </a:p>
        </p:txBody>
      </p:sp>
      <p:sp>
        <p:nvSpPr>
          <p:cNvPr id="1124369" name="Text Box 17"/>
          <p:cNvSpPr txBox="1">
            <a:spLocks noChangeArrowheads="1"/>
          </p:cNvSpPr>
          <p:nvPr/>
        </p:nvSpPr>
        <p:spPr bwMode="auto">
          <a:xfrm>
            <a:off x="4119563" y="3630613"/>
            <a:ext cx="585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3</a:t>
            </a:r>
            <a:endParaRPr kumimoji="0" lang="zh-CN" altLang="en-US" sz="3600" b="1" baseline="-25000"/>
          </a:p>
        </p:txBody>
      </p:sp>
      <p:sp>
        <p:nvSpPr>
          <p:cNvPr id="1124370" name="Text Box 18"/>
          <p:cNvSpPr txBox="1">
            <a:spLocks noChangeArrowheads="1"/>
          </p:cNvSpPr>
          <p:nvPr/>
        </p:nvSpPr>
        <p:spPr bwMode="auto">
          <a:xfrm>
            <a:off x="5064125" y="3630613"/>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4</a:t>
            </a:r>
            <a:endParaRPr kumimoji="0" lang="zh-CN" altLang="en-US" sz="3600" b="1" baseline="-25000"/>
          </a:p>
        </p:txBody>
      </p:sp>
      <p:grpSp>
        <p:nvGrpSpPr>
          <p:cNvPr id="1124371" name="Group 19"/>
          <p:cNvGrpSpPr/>
          <p:nvPr/>
        </p:nvGrpSpPr>
        <p:grpSpPr bwMode="auto">
          <a:xfrm>
            <a:off x="3086100" y="4329113"/>
            <a:ext cx="957263" cy="903287"/>
            <a:chOff x="774" y="2725"/>
            <a:chExt cx="603" cy="569"/>
          </a:xfrm>
        </p:grpSpPr>
        <p:sp>
          <p:nvSpPr>
            <p:cNvPr id="1124372" name="Line 20"/>
            <p:cNvSpPr>
              <a:spLocks noChangeShapeType="1"/>
            </p:cNvSpPr>
            <p:nvPr/>
          </p:nvSpPr>
          <p:spPr bwMode="auto">
            <a:xfrm flipV="1">
              <a:off x="1030" y="2725"/>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4373" name="Text Box 21"/>
            <p:cNvSpPr txBox="1">
              <a:spLocks noChangeArrowheads="1"/>
            </p:cNvSpPr>
            <p:nvPr/>
          </p:nvSpPr>
          <p:spPr bwMode="auto">
            <a:xfrm>
              <a:off x="774" y="2967"/>
              <a:ext cx="6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kumimoji="0" lang="en-US" altLang="zh-CN" sz="2800" b="1"/>
                <a:t>front</a:t>
              </a:r>
              <a:endParaRPr kumimoji="0" lang="en-US" altLang="zh-CN" sz="2800" b="1"/>
            </a:p>
          </p:txBody>
        </p:sp>
      </p:grpSp>
      <p:sp>
        <p:nvSpPr>
          <p:cNvPr id="1124374" name="Text Box 22"/>
          <p:cNvSpPr txBox="1">
            <a:spLocks noChangeArrowheads="1"/>
          </p:cNvSpPr>
          <p:nvPr/>
        </p:nvSpPr>
        <p:spPr bwMode="auto">
          <a:xfrm>
            <a:off x="5967413" y="3608388"/>
            <a:ext cx="585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5</a:t>
            </a:r>
            <a:endParaRPr kumimoji="0" lang="zh-CN" altLang="en-US" sz="3600" b="1" baseline="-25000"/>
          </a:p>
        </p:txBody>
      </p:sp>
      <p:grpSp>
        <p:nvGrpSpPr>
          <p:cNvPr id="1124375" name="Group 23"/>
          <p:cNvGrpSpPr/>
          <p:nvPr/>
        </p:nvGrpSpPr>
        <p:grpSpPr bwMode="auto">
          <a:xfrm>
            <a:off x="5876925" y="4329113"/>
            <a:ext cx="1035050" cy="903287"/>
            <a:chOff x="2567" y="2939"/>
            <a:chExt cx="652" cy="569"/>
          </a:xfrm>
        </p:grpSpPr>
        <p:sp>
          <p:nvSpPr>
            <p:cNvPr id="1124376" name="Line 24"/>
            <p:cNvSpPr>
              <a:spLocks noChangeShapeType="1"/>
            </p:cNvSpPr>
            <p:nvPr/>
          </p:nvSpPr>
          <p:spPr bwMode="auto">
            <a:xfrm flipV="1">
              <a:off x="2823" y="2939"/>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4377" name="Text Box 25"/>
            <p:cNvSpPr txBox="1">
              <a:spLocks noChangeArrowheads="1"/>
            </p:cNvSpPr>
            <p:nvPr/>
          </p:nvSpPr>
          <p:spPr bwMode="auto">
            <a:xfrm>
              <a:off x="2567" y="3181"/>
              <a:ext cx="6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b="1"/>
                <a:t>rear</a:t>
              </a:r>
              <a:endParaRPr kumimoji="0" lang="en-US" altLang="zh-CN" sz="2800" b="1"/>
            </a:p>
          </p:txBody>
        </p:sp>
      </p:grpSp>
      <p:grpSp>
        <p:nvGrpSpPr>
          <p:cNvPr id="1124378" name="Group 26"/>
          <p:cNvGrpSpPr/>
          <p:nvPr/>
        </p:nvGrpSpPr>
        <p:grpSpPr bwMode="auto">
          <a:xfrm>
            <a:off x="1911350" y="3024188"/>
            <a:ext cx="4972050" cy="674687"/>
            <a:chOff x="1204" y="1905"/>
            <a:chExt cx="3132" cy="425"/>
          </a:xfrm>
        </p:grpSpPr>
        <p:sp>
          <p:nvSpPr>
            <p:cNvPr id="1124379" name="Line 27"/>
            <p:cNvSpPr>
              <a:spLocks noChangeShapeType="1"/>
            </p:cNvSpPr>
            <p:nvPr/>
          </p:nvSpPr>
          <p:spPr bwMode="auto">
            <a:xfrm>
              <a:off x="1207" y="1905"/>
              <a:ext cx="3129" cy="0"/>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endParaRPr lang="zh-CN" altLang="en-US"/>
            </a:p>
          </p:txBody>
        </p:sp>
        <p:sp>
          <p:nvSpPr>
            <p:cNvPr id="1124380" name="Line 28"/>
            <p:cNvSpPr>
              <a:spLocks noChangeShapeType="1"/>
            </p:cNvSpPr>
            <p:nvPr/>
          </p:nvSpPr>
          <p:spPr bwMode="auto">
            <a:xfrm>
              <a:off x="4336" y="1905"/>
              <a:ext cx="0" cy="425"/>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1124381" name="Line 29"/>
            <p:cNvSpPr>
              <a:spLocks noChangeShapeType="1"/>
            </p:cNvSpPr>
            <p:nvPr/>
          </p:nvSpPr>
          <p:spPr bwMode="auto">
            <a:xfrm>
              <a:off x="4241" y="2330"/>
              <a:ext cx="91" cy="0"/>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endParaRPr lang="zh-CN" altLang="en-US"/>
            </a:p>
          </p:txBody>
        </p:sp>
        <p:sp>
          <p:nvSpPr>
            <p:cNvPr id="1124382" name="Line 30"/>
            <p:cNvSpPr>
              <a:spLocks noChangeShapeType="1"/>
            </p:cNvSpPr>
            <p:nvPr/>
          </p:nvSpPr>
          <p:spPr bwMode="auto">
            <a:xfrm>
              <a:off x="1204" y="1905"/>
              <a:ext cx="0" cy="425"/>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endParaRPr lang="zh-CN" altLang="en-US"/>
            </a:p>
          </p:txBody>
        </p:sp>
        <p:sp>
          <p:nvSpPr>
            <p:cNvPr id="1124383" name="Line 31"/>
            <p:cNvSpPr>
              <a:spLocks noChangeShapeType="1"/>
            </p:cNvSpPr>
            <p:nvPr/>
          </p:nvSpPr>
          <p:spPr bwMode="auto">
            <a:xfrm>
              <a:off x="1206" y="2330"/>
              <a:ext cx="113" cy="0"/>
            </a:xfrm>
            <a:prstGeom prst="line">
              <a:avLst/>
            </a:prstGeom>
            <a:noFill/>
            <a:ln w="28575">
              <a:solidFill>
                <a:srgbClr val="FF3300"/>
              </a:solidFill>
              <a:roun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endParaRPr lang="zh-CN" altLang="en-US"/>
            </a:p>
          </p:txBody>
        </p:sp>
      </p:grpSp>
      <p:grpSp>
        <p:nvGrpSpPr>
          <p:cNvPr id="1124384" name="Group 32"/>
          <p:cNvGrpSpPr/>
          <p:nvPr/>
        </p:nvGrpSpPr>
        <p:grpSpPr bwMode="auto">
          <a:xfrm>
            <a:off x="2157413" y="4313238"/>
            <a:ext cx="1035050" cy="903287"/>
            <a:chOff x="2567" y="2939"/>
            <a:chExt cx="652" cy="569"/>
          </a:xfrm>
        </p:grpSpPr>
        <p:sp>
          <p:nvSpPr>
            <p:cNvPr id="1124385" name="Line 33"/>
            <p:cNvSpPr>
              <a:spLocks noChangeShapeType="1"/>
            </p:cNvSpPr>
            <p:nvPr/>
          </p:nvSpPr>
          <p:spPr bwMode="auto">
            <a:xfrm flipV="1">
              <a:off x="2823" y="2939"/>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4386" name="Text Box 34"/>
            <p:cNvSpPr txBox="1">
              <a:spLocks noChangeArrowheads="1"/>
            </p:cNvSpPr>
            <p:nvPr/>
          </p:nvSpPr>
          <p:spPr bwMode="auto">
            <a:xfrm>
              <a:off x="2567" y="3181"/>
              <a:ext cx="6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b="1"/>
                <a:t>rear</a:t>
              </a:r>
              <a:endParaRPr kumimoji="0" lang="en-US" altLang="zh-CN" sz="2800" b="1"/>
            </a:p>
          </p:txBody>
        </p:sp>
      </p:grpSp>
      <p:sp>
        <p:nvSpPr>
          <p:cNvPr id="1124387" name="Text Box 35"/>
          <p:cNvSpPr txBox="1">
            <a:spLocks noChangeArrowheads="1"/>
          </p:cNvSpPr>
          <p:nvPr/>
        </p:nvSpPr>
        <p:spPr bwMode="auto">
          <a:xfrm>
            <a:off x="2322513" y="3608388"/>
            <a:ext cx="585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6</a:t>
            </a:r>
            <a:endParaRPr kumimoji="0" lang="zh-CN" altLang="en-US" sz="3600" b="1" baseline="-25000"/>
          </a:p>
        </p:txBody>
      </p:sp>
      <p:sp>
        <p:nvSpPr>
          <p:cNvPr id="1124389" name="Text Box 37"/>
          <p:cNvSpPr txBox="1">
            <a:spLocks noChangeArrowheads="1"/>
          </p:cNvSpPr>
          <p:nvPr/>
        </p:nvSpPr>
        <p:spPr bwMode="auto">
          <a:xfrm>
            <a:off x="522288" y="1133475"/>
            <a:ext cx="7681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3200" b="1">
                <a:solidFill>
                  <a:srgbClr val="FF0000"/>
                </a:solidFill>
                <a:effectLst>
                  <a:outerShdw blurRad="38100" dist="38100" dir="2700000" algn="tl">
                    <a:srgbClr val="C0C0C0"/>
                  </a:outerShdw>
                </a:effectLst>
              </a:rPr>
              <a:t>队列的顺序存储结构及实现（</a:t>
            </a:r>
            <a:r>
              <a:rPr kumimoji="0" lang="zh-CN" altLang="en-US" sz="2800" b="1">
                <a:solidFill>
                  <a:srgbClr val="FF3300"/>
                </a:solidFill>
                <a:effectLst>
                  <a:outerShdw blurRad="38100" dist="38100" dir="2700000" algn="tl">
                    <a:srgbClr val="C0C0C0"/>
                  </a:outerShdw>
                </a:effectLst>
              </a:rPr>
              <a:t>顺序队列）</a:t>
            </a:r>
            <a:endParaRPr kumimoji="0" lang="zh-CN" altLang="en-US" sz="2800" b="1">
              <a:solidFill>
                <a:srgbClr val="FF3300"/>
              </a:solidFill>
              <a:effectLst>
                <a:outerShdw blurRad="38100" dist="38100" dir="2700000" algn="tl">
                  <a:srgbClr val="C0C0C0"/>
                </a:outerShdw>
              </a:effectLst>
            </a:endParaRPr>
          </a:p>
        </p:txBody>
      </p:sp>
      <p:sp>
        <p:nvSpPr>
          <p:cNvPr id="1124390" name="Rectangle 38"/>
          <p:cNvSpPr>
            <a:spLocks noChangeArrowheads="1"/>
          </p:cNvSpPr>
          <p:nvPr/>
        </p:nvSpPr>
        <p:spPr bwMode="auto">
          <a:xfrm>
            <a:off x="5818188" y="4354513"/>
            <a:ext cx="957262" cy="812800"/>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43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43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1124378"/>
                                        </p:tgtEl>
                                        <p:attrNameLst>
                                          <p:attrName>style.visibility</p:attrName>
                                        </p:attrNameLst>
                                      </p:cBhvr>
                                      <p:to>
                                        <p:strVal val="visible"/>
                                      </p:to>
                                    </p:set>
                                    <p:animEffect transition="in" filter="wipe(right)">
                                      <p:cBhvr>
                                        <p:cTn id="15" dur="500"/>
                                        <p:tgtEl>
                                          <p:spTgt spid="112437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124384"/>
                                        </p:tgtEl>
                                        <p:attrNameLst>
                                          <p:attrName>style.visibility</p:attrName>
                                        </p:attrNameLst>
                                      </p:cBhvr>
                                      <p:to>
                                        <p:strVal val="visible"/>
                                      </p:to>
                                    </p:set>
                                    <p:animEffect transition="in" filter="wipe(down)">
                                      <p:cBhvr>
                                        <p:cTn id="20" dur="500"/>
                                        <p:tgtEl>
                                          <p:spTgt spid="1124384"/>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24387"/>
                                        </p:tgtEl>
                                        <p:attrNameLst>
                                          <p:attrName>style.visibility</p:attrName>
                                        </p:attrNameLst>
                                      </p:cBhvr>
                                      <p:to>
                                        <p:strVal val="visible"/>
                                      </p:to>
                                    </p:set>
                                    <p:anim calcmode="lin" valueType="num">
                                      <p:cBhvr additive="base">
                                        <p:cTn id="25" dur="500" fill="hold"/>
                                        <p:tgtEl>
                                          <p:spTgt spid="1124387"/>
                                        </p:tgtEl>
                                        <p:attrNameLst>
                                          <p:attrName>ppt_x</p:attrName>
                                        </p:attrNameLst>
                                      </p:cBhvr>
                                      <p:tavLst>
                                        <p:tav tm="0">
                                          <p:val>
                                            <p:strVal val="1+#ppt_w/2"/>
                                          </p:val>
                                        </p:tav>
                                        <p:tav tm="100000">
                                          <p:val>
                                            <p:strVal val="#ppt_x"/>
                                          </p:val>
                                        </p:tav>
                                      </p:tavLst>
                                    </p:anim>
                                    <p:anim calcmode="lin" valueType="num">
                                      <p:cBhvr additive="base">
                                        <p:cTn id="26" dur="500" fill="hold"/>
                                        <p:tgtEl>
                                          <p:spTgt spid="11243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4354" grpId="0" autoUpdateAnimBg="0"/>
      <p:bldP spid="1124387" grpId="0" autoUpdateAnimBg="0"/>
      <p:bldP spid="112439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378" name="Text Box 2"/>
          <p:cNvSpPr txBox="1">
            <a:spLocks noChangeArrowheads="1"/>
          </p:cNvSpPr>
          <p:nvPr/>
        </p:nvSpPr>
        <p:spPr bwMode="auto">
          <a:xfrm>
            <a:off x="654050" y="5454650"/>
            <a:ext cx="8053388" cy="106045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20000"/>
              </a:spcBef>
            </a:pPr>
            <a:r>
              <a:rPr kumimoji="0" lang="zh-CN" altLang="en-US" sz="2800" b="1">
                <a:effectLst>
                  <a:outerShdw blurRad="38100" dist="38100" dir="2700000" algn="tl">
                    <a:srgbClr val="C0C0C0"/>
                  </a:outerShdw>
                </a:effectLst>
              </a:rPr>
              <a:t>不存在物理的循环结构，但可用软件方法实现。</a:t>
            </a:r>
            <a:endParaRPr kumimoji="0" lang="zh-CN" altLang="en-US" sz="2800" b="1">
              <a:effectLst>
                <a:outerShdw blurRad="38100" dist="38100" dir="2700000" algn="tl">
                  <a:srgbClr val="C0C0C0"/>
                </a:outerShdw>
              </a:effectLst>
            </a:endParaRPr>
          </a:p>
          <a:p>
            <a:pPr eaLnBrk="0" hangingPunct="0">
              <a:spcBef>
                <a:spcPct val="20000"/>
              </a:spcBef>
            </a:pPr>
            <a:r>
              <a:rPr kumimoji="0" lang="zh-CN" altLang="en-US" sz="2800" b="1">
                <a:effectLst>
                  <a:outerShdw blurRad="38100" dist="38100" dir="2700000" algn="tl">
                    <a:srgbClr val="C0C0C0"/>
                  </a:outerShdw>
                </a:effectLst>
              </a:rPr>
              <a:t>求模</a:t>
            </a:r>
            <a:r>
              <a:rPr kumimoji="0" lang="zh-CN" altLang="en-US" sz="2800" b="1">
                <a:effectLst>
                  <a:outerShdw blurRad="38100" dist="38100" dir="2700000" algn="tl">
                    <a:srgbClr val="C0C0C0"/>
                  </a:outerShdw>
                </a:effectLst>
                <a:sym typeface="Wingdings" panose="05000000000000000000" pitchFamily="2" charset="2"/>
              </a:rPr>
              <a:t>：（</a:t>
            </a:r>
            <a:r>
              <a:rPr kumimoji="0" lang="en-US" altLang="zh-CN" sz="2800" b="1">
                <a:effectLst>
                  <a:outerShdw blurRad="38100" dist="38100" dir="2700000" algn="tl">
                    <a:srgbClr val="C0C0C0"/>
                  </a:outerShdw>
                </a:effectLst>
              </a:rPr>
              <a:t>4</a:t>
            </a:r>
            <a:r>
              <a:rPr kumimoji="0" lang="zh-CN" altLang="en-US" sz="2800" b="1">
                <a:effectLst>
                  <a:outerShdw blurRad="38100" dist="38100" dir="2700000" algn="tl">
                    <a:srgbClr val="C0C0C0"/>
                  </a:outerShdw>
                </a:effectLst>
              </a:rPr>
              <a:t>＋</a:t>
            </a:r>
            <a:r>
              <a:rPr kumimoji="0" lang="en-US" altLang="zh-CN" sz="2800" b="1">
                <a:effectLst>
                  <a:outerShdw blurRad="38100" dist="38100" dir="2700000" algn="tl">
                    <a:srgbClr val="C0C0C0"/>
                  </a:outerShdw>
                </a:effectLst>
              </a:rPr>
              <a:t>1</a:t>
            </a:r>
            <a:r>
              <a:rPr kumimoji="0" lang="zh-CN" altLang="en-US" sz="2800" b="1">
                <a:effectLst>
                  <a:outerShdw blurRad="38100" dist="38100" dir="2700000" algn="tl">
                    <a:srgbClr val="C0C0C0"/>
                  </a:outerShdw>
                </a:effectLst>
              </a:rPr>
              <a:t>）</a:t>
            </a:r>
            <a:r>
              <a:rPr kumimoji="0" lang="en-US" altLang="zh-CN" sz="2800" b="1">
                <a:effectLst>
                  <a:outerShdw blurRad="38100" dist="38100" dir="2700000" algn="tl">
                    <a:srgbClr val="C0C0C0"/>
                  </a:outerShdw>
                </a:effectLst>
              </a:rPr>
              <a:t>mod 5</a:t>
            </a:r>
            <a:r>
              <a:rPr kumimoji="0" lang="zh-CN" altLang="en-US" sz="2800" b="1">
                <a:effectLst>
                  <a:outerShdw blurRad="38100" dist="38100" dir="2700000" algn="tl">
                    <a:srgbClr val="C0C0C0"/>
                  </a:outerShdw>
                </a:effectLst>
              </a:rPr>
              <a:t>＝</a:t>
            </a:r>
            <a:r>
              <a:rPr kumimoji="0" lang="en-US" altLang="zh-CN" sz="2800" b="1">
                <a:effectLst>
                  <a:outerShdw blurRad="38100" dist="38100" dir="2700000" algn="tl">
                    <a:srgbClr val="C0C0C0"/>
                  </a:outerShdw>
                </a:effectLst>
              </a:rPr>
              <a:t>0</a:t>
            </a:r>
            <a:endParaRPr kumimoji="0" lang="en-US" altLang="zh-CN" sz="2800" b="1">
              <a:effectLst>
                <a:outerShdw blurRad="38100" dist="38100" dir="2700000" algn="tl">
                  <a:srgbClr val="C0C0C0"/>
                </a:outerShdw>
              </a:effectLst>
            </a:endParaRPr>
          </a:p>
        </p:txBody>
      </p:sp>
      <p:grpSp>
        <p:nvGrpSpPr>
          <p:cNvPr id="1125379" name="Group 3"/>
          <p:cNvGrpSpPr/>
          <p:nvPr/>
        </p:nvGrpSpPr>
        <p:grpSpPr bwMode="auto">
          <a:xfrm>
            <a:off x="611188" y="1854200"/>
            <a:ext cx="6705600" cy="573088"/>
            <a:chOff x="385" y="1168"/>
            <a:chExt cx="4224" cy="361"/>
          </a:xfrm>
        </p:grpSpPr>
        <p:sp>
          <p:nvSpPr>
            <p:cNvPr id="1125380" name="Text Box 4"/>
            <p:cNvSpPr txBox="1">
              <a:spLocks noChangeArrowheads="1"/>
            </p:cNvSpPr>
            <p:nvPr/>
          </p:nvSpPr>
          <p:spPr bwMode="auto">
            <a:xfrm>
              <a:off x="810" y="1177"/>
              <a:ext cx="379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800" b="1">
                  <a:effectLst>
                    <a:outerShdw blurRad="38100" dist="38100" dir="2700000" algn="tl">
                      <a:srgbClr val="C0C0C0"/>
                    </a:outerShdw>
                  </a:effectLst>
                </a:rPr>
                <a:t>如何实现循环队列？</a:t>
              </a:r>
              <a:endParaRPr kumimoji="0" lang="zh-CN" altLang="en-US" sz="2800" b="1">
                <a:effectLst>
                  <a:outerShdw blurRad="38100" dist="38100" dir="2700000" algn="tl">
                    <a:srgbClr val="C0C0C0"/>
                  </a:outerShdw>
                </a:effectLst>
              </a:endParaRPr>
            </a:p>
          </p:txBody>
        </p:sp>
        <p:graphicFrame>
          <p:nvGraphicFramePr>
            <p:cNvPr id="1125381" name="Object 5"/>
            <p:cNvGraphicFramePr>
              <a:graphicFrameLocks noChangeAspect="1"/>
            </p:cNvGraphicFramePr>
            <p:nvPr/>
          </p:nvGraphicFramePr>
          <p:xfrm>
            <a:off x="385" y="1168"/>
            <a:ext cx="368" cy="361"/>
          </p:xfrm>
          <a:graphic>
            <a:graphicData uri="http://schemas.openxmlformats.org/presentationml/2006/ole">
              <mc:AlternateContent xmlns:mc="http://schemas.openxmlformats.org/markup-compatibility/2006">
                <mc:Choice xmlns:v="urn:schemas-microsoft-com:vml" Requires="v">
                  <p:oleObj spid="_x0000_s425985" name="Clip" r:id="rId1" imgW="861060" imgH="845185" progId="MS_ClipArt_Gallery.5">
                    <p:embed/>
                  </p:oleObj>
                </mc:Choice>
                <mc:Fallback>
                  <p:oleObj name="Clip" r:id="rId1" imgW="861060" imgH="845185" progId="MS_ClipArt_Gallery.5">
                    <p:embed/>
                    <p:pic>
                      <p:nvPicPr>
                        <p:cNvPr id="0" name="图片 4259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 y="1168"/>
                          <a:ext cx="36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grpSp>
        <p:nvGrpSpPr>
          <p:cNvPr id="1125382" name="Group 6"/>
          <p:cNvGrpSpPr/>
          <p:nvPr/>
        </p:nvGrpSpPr>
        <p:grpSpPr bwMode="auto">
          <a:xfrm>
            <a:off x="2136775" y="3614738"/>
            <a:ext cx="4572000" cy="681037"/>
            <a:chOff x="720" y="2400"/>
            <a:chExt cx="2880" cy="333"/>
          </a:xfrm>
        </p:grpSpPr>
        <p:sp>
          <p:nvSpPr>
            <p:cNvPr id="1125383" name="Text Box 7"/>
            <p:cNvSpPr txBox="1">
              <a:spLocks noChangeArrowheads="1"/>
            </p:cNvSpPr>
            <p:nvPr/>
          </p:nvSpPr>
          <p:spPr bwMode="auto">
            <a:xfrm>
              <a:off x="720" y="2400"/>
              <a:ext cx="576" cy="333"/>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5384" name="Text Box 8"/>
            <p:cNvSpPr txBox="1">
              <a:spLocks noChangeArrowheads="1"/>
            </p:cNvSpPr>
            <p:nvPr/>
          </p:nvSpPr>
          <p:spPr bwMode="auto">
            <a:xfrm>
              <a:off x="1296"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5385" name="Text Box 9"/>
            <p:cNvSpPr txBox="1">
              <a:spLocks noChangeArrowheads="1"/>
            </p:cNvSpPr>
            <p:nvPr/>
          </p:nvSpPr>
          <p:spPr bwMode="auto">
            <a:xfrm>
              <a:off x="2448"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5386" name="Text Box 10"/>
            <p:cNvSpPr txBox="1">
              <a:spLocks noChangeArrowheads="1"/>
            </p:cNvSpPr>
            <p:nvPr/>
          </p:nvSpPr>
          <p:spPr bwMode="auto">
            <a:xfrm>
              <a:off x="3024"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5387" name="Text Box 11"/>
            <p:cNvSpPr txBox="1">
              <a:spLocks noChangeArrowheads="1"/>
            </p:cNvSpPr>
            <p:nvPr/>
          </p:nvSpPr>
          <p:spPr bwMode="auto">
            <a:xfrm>
              <a:off x="1872"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grpSp>
      <p:sp>
        <p:nvSpPr>
          <p:cNvPr id="1125388" name="Text Box 12"/>
          <p:cNvSpPr txBox="1">
            <a:spLocks noChangeArrowheads="1"/>
          </p:cNvSpPr>
          <p:nvPr/>
        </p:nvSpPr>
        <p:spPr bwMode="auto">
          <a:xfrm>
            <a:off x="2406650" y="3074988"/>
            <a:ext cx="42751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a:t>0        1        2         3        4  </a:t>
            </a:r>
            <a:endParaRPr kumimoji="0" lang="en-US" altLang="zh-CN" sz="2800"/>
          </a:p>
        </p:txBody>
      </p:sp>
      <p:sp>
        <p:nvSpPr>
          <p:cNvPr id="1125389" name="Line 13"/>
          <p:cNvSpPr>
            <a:spLocks noChangeShapeType="1"/>
          </p:cNvSpPr>
          <p:nvPr/>
        </p:nvSpPr>
        <p:spPr bwMode="auto">
          <a:xfrm flipH="1">
            <a:off x="6726238" y="3795713"/>
            <a:ext cx="719137"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5390" name="Text Box 14"/>
          <p:cNvSpPr txBox="1">
            <a:spLocks noChangeArrowheads="1"/>
          </p:cNvSpPr>
          <p:nvPr/>
        </p:nvSpPr>
        <p:spPr bwMode="auto">
          <a:xfrm>
            <a:off x="6770688" y="3254375"/>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入队</a:t>
            </a:r>
            <a:endParaRPr kumimoji="0" lang="zh-CN" altLang="en-US" sz="2400" b="1"/>
          </a:p>
        </p:txBody>
      </p:sp>
      <p:sp>
        <p:nvSpPr>
          <p:cNvPr id="1125391" name="Line 15"/>
          <p:cNvSpPr>
            <a:spLocks noChangeShapeType="1"/>
          </p:cNvSpPr>
          <p:nvPr/>
        </p:nvSpPr>
        <p:spPr bwMode="auto">
          <a:xfrm flipH="1">
            <a:off x="1341438" y="3806825"/>
            <a:ext cx="719137"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5392" name="Text Box 16"/>
          <p:cNvSpPr txBox="1">
            <a:spLocks noChangeArrowheads="1"/>
          </p:cNvSpPr>
          <p:nvPr/>
        </p:nvSpPr>
        <p:spPr bwMode="auto">
          <a:xfrm>
            <a:off x="1243013" y="3270250"/>
            <a:ext cx="912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出队</a:t>
            </a:r>
            <a:endParaRPr kumimoji="0" lang="zh-CN" altLang="en-US" sz="2400" b="1"/>
          </a:p>
        </p:txBody>
      </p:sp>
      <p:sp>
        <p:nvSpPr>
          <p:cNvPr id="1125393" name="Text Box 17"/>
          <p:cNvSpPr txBox="1">
            <a:spLocks noChangeArrowheads="1"/>
          </p:cNvSpPr>
          <p:nvPr/>
        </p:nvSpPr>
        <p:spPr bwMode="auto">
          <a:xfrm>
            <a:off x="4119563" y="3630613"/>
            <a:ext cx="585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3</a:t>
            </a:r>
            <a:endParaRPr kumimoji="0" lang="zh-CN" altLang="en-US" sz="3600" b="1" baseline="-25000"/>
          </a:p>
        </p:txBody>
      </p:sp>
      <p:sp>
        <p:nvSpPr>
          <p:cNvPr id="1125394" name="Text Box 18"/>
          <p:cNvSpPr txBox="1">
            <a:spLocks noChangeArrowheads="1"/>
          </p:cNvSpPr>
          <p:nvPr/>
        </p:nvSpPr>
        <p:spPr bwMode="auto">
          <a:xfrm>
            <a:off x="5064125" y="3630613"/>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4</a:t>
            </a:r>
            <a:endParaRPr kumimoji="0" lang="zh-CN" altLang="en-US" sz="3600" b="1" baseline="-25000"/>
          </a:p>
        </p:txBody>
      </p:sp>
      <p:grpSp>
        <p:nvGrpSpPr>
          <p:cNvPr id="1125395" name="Group 19"/>
          <p:cNvGrpSpPr/>
          <p:nvPr/>
        </p:nvGrpSpPr>
        <p:grpSpPr bwMode="auto">
          <a:xfrm>
            <a:off x="3086100" y="4329113"/>
            <a:ext cx="957263" cy="903287"/>
            <a:chOff x="774" y="2725"/>
            <a:chExt cx="603" cy="569"/>
          </a:xfrm>
        </p:grpSpPr>
        <p:sp>
          <p:nvSpPr>
            <p:cNvPr id="1125396" name="Line 20"/>
            <p:cNvSpPr>
              <a:spLocks noChangeShapeType="1"/>
            </p:cNvSpPr>
            <p:nvPr/>
          </p:nvSpPr>
          <p:spPr bwMode="auto">
            <a:xfrm flipV="1">
              <a:off x="1030" y="2725"/>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5397" name="Text Box 21"/>
            <p:cNvSpPr txBox="1">
              <a:spLocks noChangeArrowheads="1"/>
            </p:cNvSpPr>
            <p:nvPr/>
          </p:nvSpPr>
          <p:spPr bwMode="auto">
            <a:xfrm>
              <a:off x="774" y="2967"/>
              <a:ext cx="6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kumimoji="0" lang="en-US" altLang="zh-CN" sz="2800" b="1"/>
                <a:t>front</a:t>
              </a:r>
              <a:endParaRPr kumimoji="0" lang="en-US" altLang="zh-CN" sz="2800" b="1"/>
            </a:p>
          </p:txBody>
        </p:sp>
      </p:grpSp>
      <p:grpSp>
        <p:nvGrpSpPr>
          <p:cNvPr id="1125398" name="Group 22"/>
          <p:cNvGrpSpPr/>
          <p:nvPr/>
        </p:nvGrpSpPr>
        <p:grpSpPr bwMode="auto">
          <a:xfrm>
            <a:off x="2162175" y="4333875"/>
            <a:ext cx="1035050" cy="903288"/>
            <a:chOff x="2567" y="2939"/>
            <a:chExt cx="652" cy="569"/>
          </a:xfrm>
        </p:grpSpPr>
        <p:sp>
          <p:nvSpPr>
            <p:cNvPr id="1125399" name="Line 23"/>
            <p:cNvSpPr>
              <a:spLocks noChangeShapeType="1"/>
            </p:cNvSpPr>
            <p:nvPr/>
          </p:nvSpPr>
          <p:spPr bwMode="auto">
            <a:xfrm flipV="1">
              <a:off x="2823" y="2939"/>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5400" name="Text Box 24"/>
            <p:cNvSpPr txBox="1">
              <a:spLocks noChangeArrowheads="1"/>
            </p:cNvSpPr>
            <p:nvPr/>
          </p:nvSpPr>
          <p:spPr bwMode="auto">
            <a:xfrm>
              <a:off x="2567" y="3181"/>
              <a:ext cx="6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b="1"/>
                <a:t>rear</a:t>
              </a:r>
              <a:endParaRPr kumimoji="0" lang="en-US" altLang="zh-CN" sz="2800" b="1"/>
            </a:p>
          </p:txBody>
        </p:sp>
      </p:grpSp>
      <p:sp>
        <p:nvSpPr>
          <p:cNvPr id="1125401" name="Text Box 25"/>
          <p:cNvSpPr txBox="1">
            <a:spLocks noChangeArrowheads="1"/>
          </p:cNvSpPr>
          <p:nvPr/>
        </p:nvSpPr>
        <p:spPr bwMode="auto">
          <a:xfrm>
            <a:off x="2327275" y="3629025"/>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6</a:t>
            </a:r>
            <a:endParaRPr kumimoji="0" lang="zh-CN" altLang="en-US" sz="3600" b="1" baseline="-25000"/>
          </a:p>
        </p:txBody>
      </p:sp>
      <p:sp>
        <p:nvSpPr>
          <p:cNvPr id="1125403" name="Text Box 27"/>
          <p:cNvSpPr txBox="1">
            <a:spLocks noChangeArrowheads="1"/>
          </p:cNvSpPr>
          <p:nvPr/>
        </p:nvSpPr>
        <p:spPr bwMode="auto">
          <a:xfrm>
            <a:off x="522288" y="1133475"/>
            <a:ext cx="7681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3200" b="1">
                <a:solidFill>
                  <a:srgbClr val="FF0000"/>
                </a:solidFill>
                <a:effectLst>
                  <a:outerShdw blurRad="38100" dist="38100" dir="2700000" algn="tl">
                    <a:srgbClr val="C0C0C0"/>
                  </a:outerShdw>
                </a:effectLst>
              </a:rPr>
              <a:t>队列的顺序存储结构及实现（</a:t>
            </a:r>
            <a:r>
              <a:rPr kumimoji="0" lang="zh-CN" altLang="en-US" sz="2800" b="1">
                <a:solidFill>
                  <a:srgbClr val="FF3300"/>
                </a:solidFill>
                <a:effectLst>
                  <a:outerShdw blurRad="38100" dist="38100" dir="2700000" algn="tl">
                    <a:srgbClr val="C0C0C0"/>
                  </a:outerShdw>
                </a:effectLst>
              </a:rPr>
              <a:t>顺序队列）</a:t>
            </a:r>
            <a:endParaRPr kumimoji="0" lang="zh-CN" altLang="en-US" sz="2800" b="1">
              <a:solidFill>
                <a:srgbClr val="FF33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53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5378" grpId="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402" name="Group 2"/>
          <p:cNvGrpSpPr/>
          <p:nvPr/>
        </p:nvGrpSpPr>
        <p:grpSpPr bwMode="auto">
          <a:xfrm>
            <a:off x="566738" y="1763713"/>
            <a:ext cx="7062787" cy="533400"/>
            <a:chOff x="528" y="768"/>
            <a:chExt cx="4449" cy="336"/>
          </a:xfrm>
        </p:grpSpPr>
        <p:graphicFrame>
          <p:nvGraphicFramePr>
            <p:cNvPr id="1126403" name="Object 3"/>
            <p:cNvGraphicFramePr>
              <a:graphicFrameLocks noChangeAspect="1"/>
            </p:cNvGraphicFramePr>
            <p:nvPr/>
          </p:nvGraphicFramePr>
          <p:xfrm>
            <a:off x="528" y="768"/>
            <a:ext cx="339" cy="336"/>
          </p:xfrm>
          <a:graphic>
            <a:graphicData uri="http://schemas.openxmlformats.org/presentationml/2006/ole">
              <mc:AlternateContent xmlns:mc="http://schemas.openxmlformats.org/markup-compatibility/2006">
                <mc:Choice xmlns:v="urn:schemas-microsoft-com:vml" Requires="v">
                  <p:oleObj spid="_x0000_s427009" name="Clip" r:id="rId1" imgW="861060" imgH="845185" progId="MS_ClipArt_Gallery.5">
                    <p:embed/>
                  </p:oleObj>
                </mc:Choice>
                <mc:Fallback>
                  <p:oleObj name="Clip" r:id="rId1" imgW="861060" imgH="845185" progId="MS_ClipArt_Gallery.5">
                    <p:embed/>
                    <p:pic>
                      <p:nvPicPr>
                        <p:cNvPr id="0" name="图片 4270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768"/>
                          <a:ext cx="339"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126404" name="Text Box 4"/>
            <p:cNvSpPr txBox="1">
              <a:spLocks noChangeArrowheads="1"/>
            </p:cNvSpPr>
            <p:nvPr/>
          </p:nvSpPr>
          <p:spPr bwMode="auto">
            <a:xfrm>
              <a:off x="1009" y="771"/>
              <a:ext cx="39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800" b="1">
                  <a:effectLst>
                    <a:outerShdw blurRad="38100" dist="38100" dir="2700000" algn="tl">
                      <a:srgbClr val="C0C0C0"/>
                    </a:outerShdw>
                  </a:effectLst>
                </a:rPr>
                <a:t>如何判断循环队列队空？</a:t>
              </a:r>
              <a:endParaRPr kumimoji="0" lang="zh-CN" altLang="en-US" sz="2800" b="1">
                <a:effectLst>
                  <a:outerShdw blurRad="38100" dist="38100" dir="2700000" algn="tl">
                    <a:srgbClr val="C0C0C0"/>
                  </a:outerShdw>
                </a:effectLst>
              </a:endParaRPr>
            </a:p>
          </p:txBody>
        </p:sp>
      </p:grpSp>
      <p:sp>
        <p:nvSpPr>
          <p:cNvPr id="1126405" name="Text Box 5"/>
          <p:cNvSpPr txBox="1">
            <a:spLocks noChangeArrowheads="1"/>
          </p:cNvSpPr>
          <p:nvPr/>
        </p:nvSpPr>
        <p:spPr bwMode="auto">
          <a:xfrm>
            <a:off x="566738" y="2438400"/>
            <a:ext cx="2744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effectLst>
                  <a:outerShdw blurRad="38100" dist="38100" dir="2700000" algn="tl">
                    <a:srgbClr val="C0C0C0"/>
                  </a:outerShdw>
                </a:effectLst>
              </a:rPr>
              <a:t>队空的临界状态</a:t>
            </a:r>
            <a:endParaRPr kumimoji="0" lang="zh-CN" altLang="en-US" sz="2800" b="1">
              <a:effectLst>
                <a:outerShdw blurRad="38100" dist="38100" dir="2700000" algn="tl">
                  <a:srgbClr val="C0C0C0"/>
                </a:outerShdw>
              </a:effectLst>
            </a:endParaRPr>
          </a:p>
        </p:txBody>
      </p:sp>
      <p:grpSp>
        <p:nvGrpSpPr>
          <p:cNvPr id="1126406" name="Group 6"/>
          <p:cNvGrpSpPr/>
          <p:nvPr/>
        </p:nvGrpSpPr>
        <p:grpSpPr bwMode="auto">
          <a:xfrm>
            <a:off x="2052638" y="3833813"/>
            <a:ext cx="4572000" cy="681037"/>
            <a:chOff x="720" y="2400"/>
            <a:chExt cx="2880" cy="333"/>
          </a:xfrm>
        </p:grpSpPr>
        <p:sp>
          <p:nvSpPr>
            <p:cNvPr id="1126407" name="Text Box 7"/>
            <p:cNvSpPr txBox="1">
              <a:spLocks noChangeArrowheads="1"/>
            </p:cNvSpPr>
            <p:nvPr/>
          </p:nvSpPr>
          <p:spPr bwMode="auto">
            <a:xfrm>
              <a:off x="720" y="2400"/>
              <a:ext cx="576" cy="333"/>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6408" name="Text Box 8"/>
            <p:cNvSpPr txBox="1">
              <a:spLocks noChangeArrowheads="1"/>
            </p:cNvSpPr>
            <p:nvPr/>
          </p:nvSpPr>
          <p:spPr bwMode="auto">
            <a:xfrm>
              <a:off x="1296"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6409" name="Text Box 9"/>
            <p:cNvSpPr txBox="1">
              <a:spLocks noChangeArrowheads="1"/>
            </p:cNvSpPr>
            <p:nvPr/>
          </p:nvSpPr>
          <p:spPr bwMode="auto">
            <a:xfrm>
              <a:off x="2448"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6410" name="Text Box 10"/>
            <p:cNvSpPr txBox="1">
              <a:spLocks noChangeArrowheads="1"/>
            </p:cNvSpPr>
            <p:nvPr/>
          </p:nvSpPr>
          <p:spPr bwMode="auto">
            <a:xfrm>
              <a:off x="3024"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6411" name="Text Box 11"/>
            <p:cNvSpPr txBox="1">
              <a:spLocks noChangeArrowheads="1"/>
            </p:cNvSpPr>
            <p:nvPr/>
          </p:nvSpPr>
          <p:spPr bwMode="auto">
            <a:xfrm>
              <a:off x="1872"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grpSp>
      <p:sp>
        <p:nvSpPr>
          <p:cNvPr id="1126412" name="Text Box 12"/>
          <p:cNvSpPr txBox="1">
            <a:spLocks noChangeArrowheads="1"/>
          </p:cNvSpPr>
          <p:nvPr/>
        </p:nvSpPr>
        <p:spPr bwMode="auto">
          <a:xfrm>
            <a:off x="2322513" y="3294063"/>
            <a:ext cx="42751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a:t>0        1        2         3        4  </a:t>
            </a:r>
            <a:endParaRPr kumimoji="0" lang="en-US" altLang="zh-CN" sz="2800"/>
          </a:p>
        </p:txBody>
      </p:sp>
      <p:sp>
        <p:nvSpPr>
          <p:cNvPr id="1126413" name="Line 13"/>
          <p:cNvSpPr>
            <a:spLocks noChangeShapeType="1"/>
          </p:cNvSpPr>
          <p:nvPr/>
        </p:nvSpPr>
        <p:spPr bwMode="auto">
          <a:xfrm flipH="1">
            <a:off x="6642100" y="4014788"/>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6414" name="Text Box 14"/>
          <p:cNvSpPr txBox="1">
            <a:spLocks noChangeArrowheads="1"/>
          </p:cNvSpPr>
          <p:nvPr/>
        </p:nvSpPr>
        <p:spPr bwMode="auto">
          <a:xfrm>
            <a:off x="6686550" y="347345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入队</a:t>
            </a:r>
            <a:endParaRPr kumimoji="0" lang="zh-CN" altLang="en-US" sz="2400" b="1"/>
          </a:p>
        </p:txBody>
      </p:sp>
      <p:sp>
        <p:nvSpPr>
          <p:cNvPr id="1126415" name="Line 15"/>
          <p:cNvSpPr>
            <a:spLocks noChangeShapeType="1"/>
          </p:cNvSpPr>
          <p:nvPr/>
        </p:nvSpPr>
        <p:spPr bwMode="auto">
          <a:xfrm flipH="1">
            <a:off x="1257300" y="4025900"/>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6416" name="Text Box 16"/>
          <p:cNvSpPr txBox="1">
            <a:spLocks noChangeArrowheads="1"/>
          </p:cNvSpPr>
          <p:nvPr/>
        </p:nvSpPr>
        <p:spPr bwMode="auto">
          <a:xfrm>
            <a:off x="1158875" y="3489325"/>
            <a:ext cx="912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出队</a:t>
            </a:r>
            <a:endParaRPr kumimoji="0" lang="zh-CN" altLang="en-US" sz="2400" b="1"/>
          </a:p>
        </p:txBody>
      </p:sp>
      <p:sp>
        <p:nvSpPr>
          <p:cNvPr id="1126417" name="Text Box 17"/>
          <p:cNvSpPr txBox="1">
            <a:spLocks noChangeArrowheads="1"/>
          </p:cNvSpPr>
          <p:nvPr/>
        </p:nvSpPr>
        <p:spPr bwMode="auto">
          <a:xfrm>
            <a:off x="4035425" y="3849688"/>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3</a:t>
            </a:r>
            <a:endParaRPr kumimoji="0" lang="zh-CN" altLang="en-US" sz="3600" b="1" baseline="-25000"/>
          </a:p>
        </p:txBody>
      </p:sp>
      <p:grpSp>
        <p:nvGrpSpPr>
          <p:cNvPr id="1126418" name="Group 18"/>
          <p:cNvGrpSpPr/>
          <p:nvPr/>
        </p:nvGrpSpPr>
        <p:grpSpPr bwMode="auto">
          <a:xfrm>
            <a:off x="4276725" y="4554538"/>
            <a:ext cx="1035050" cy="903287"/>
            <a:chOff x="2694" y="2869"/>
            <a:chExt cx="652" cy="569"/>
          </a:xfrm>
        </p:grpSpPr>
        <p:sp>
          <p:nvSpPr>
            <p:cNvPr id="1126419" name="Line 19"/>
            <p:cNvSpPr>
              <a:spLocks noChangeShapeType="1"/>
            </p:cNvSpPr>
            <p:nvPr/>
          </p:nvSpPr>
          <p:spPr bwMode="auto">
            <a:xfrm flipV="1">
              <a:off x="2840" y="2869"/>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6420" name="Text Box 20"/>
            <p:cNvSpPr txBox="1">
              <a:spLocks noChangeArrowheads="1"/>
            </p:cNvSpPr>
            <p:nvPr/>
          </p:nvSpPr>
          <p:spPr bwMode="auto">
            <a:xfrm>
              <a:off x="2694" y="3111"/>
              <a:ext cx="6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b="1"/>
                <a:t>rear</a:t>
              </a:r>
              <a:endParaRPr kumimoji="0" lang="en-US" altLang="zh-CN" sz="2800" b="1"/>
            </a:p>
          </p:txBody>
        </p:sp>
      </p:grpSp>
      <p:grpSp>
        <p:nvGrpSpPr>
          <p:cNvPr id="1126421" name="Group 21"/>
          <p:cNvGrpSpPr/>
          <p:nvPr/>
        </p:nvGrpSpPr>
        <p:grpSpPr bwMode="auto">
          <a:xfrm>
            <a:off x="2490788" y="4559300"/>
            <a:ext cx="957262" cy="903288"/>
            <a:chOff x="2141" y="2865"/>
            <a:chExt cx="603" cy="569"/>
          </a:xfrm>
        </p:grpSpPr>
        <p:sp>
          <p:nvSpPr>
            <p:cNvPr id="1126422" name="Line 22"/>
            <p:cNvSpPr>
              <a:spLocks noChangeShapeType="1"/>
            </p:cNvSpPr>
            <p:nvPr/>
          </p:nvSpPr>
          <p:spPr bwMode="auto">
            <a:xfrm flipV="1">
              <a:off x="2607" y="2865"/>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6423" name="Text Box 23"/>
            <p:cNvSpPr txBox="1">
              <a:spLocks noChangeArrowheads="1"/>
            </p:cNvSpPr>
            <p:nvPr/>
          </p:nvSpPr>
          <p:spPr bwMode="auto">
            <a:xfrm>
              <a:off x="2141" y="3107"/>
              <a:ext cx="6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kumimoji="0" lang="en-US" altLang="zh-CN" sz="2800" b="1"/>
                <a:t>front</a:t>
              </a:r>
              <a:endParaRPr kumimoji="0" lang="en-US" altLang="zh-CN" sz="2800" b="1"/>
            </a:p>
          </p:txBody>
        </p:sp>
      </p:grpSp>
      <p:sp>
        <p:nvSpPr>
          <p:cNvPr id="1126425" name="Text Box 25"/>
          <p:cNvSpPr txBox="1">
            <a:spLocks noChangeArrowheads="1"/>
          </p:cNvSpPr>
          <p:nvPr/>
        </p:nvSpPr>
        <p:spPr bwMode="auto">
          <a:xfrm>
            <a:off x="522288" y="1133475"/>
            <a:ext cx="7681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3200" b="1">
                <a:solidFill>
                  <a:srgbClr val="FF0000"/>
                </a:solidFill>
                <a:effectLst>
                  <a:outerShdw blurRad="38100" dist="38100" dir="2700000" algn="tl">
                    <a:srgbClr val="C0C0C0"/>
                  </a:outerShdw>
                </a:effectLst>
              </a:rPr>
              <a:t>队列的顺序存储结构及实现（</a:t>
            </a:r>
            <a:r>
              <a:rPr kumimoji="0" lang="zh-CN" altLang="en-US" sz="2800" b="1">
                <a:solidFill>
                  <a:srgbClr val="FF3300"/>
                </a:solidFill>
                <a:effectLst>
                  <a:outerShdw blurRad="38100" dist="38100" dir="2700000" algn="tl">
                    <a:srgbClr val="C0C0C0"/>
                  </a:outerShdw>
                </a:effectLst>
              </a:rPr>
              <a:t>顺序队列）</a:t>
            </a:r>
            <a:endParaRPr kumimoji="0" lang="zh-CN" altLang="en-US" sz="2800" b="1">
              <a:solidFill>
                <a:srgbClr val="FF3300"/>
              </a:solidFill>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7426" name="Group 2"/>
          <p:cNvGrpSpPr/>
          <p:nvPr/>
        </p:nvGrpSpPr>
        <p:grpSpPr bwMode="auto">
          <a:xfrm>
            <a:off x="566738" y="1763713"/>
            <a:ext cx="7062787" cy="533400"/>
            <a:chOff x="528" y="768"/>
            <a:chExt cx="4449" cy="336"/>
          </a:xfrm>
        </p:grpSpPr>
        <p:graphicFrame>
          <p:nvGraphicFramePr>
            <p:cNvPr id="1127427" name="Object 3"/>
            <p:cNvGraphicFramePr>
              <a:graphicFrameLocks noChangeAspect="1"/>
            </p:cNvGraphicFramePr>
            <p:nvPr/>
          </p:nvGraphicFramePr>
          <p:xfrm>
            <a:off x="528" y="768"/>
            <a:ext cx="339" cy="336"/>
          </p:xfrm>
          <a:graphic>
            <a:graphicData uri="http://schemas.openxmlformats.org/presentationml/2006/ole">
              <mc:AlternateContent xmlns:mc="http://schemas.openxmlformats.org/markup-compatibility/2006">
                <mc:Choice xmlns:v="urn:schemas-microsoft-com:vml" Requires="v">
                  <p:oleObj spid="_x0000_s428033" name="Clip" r:id="rId1" imgW="861060" imgH="845185" progId="MS_ClipArt_Gallery.5">
                    <p:embed/>
                  </p:oleObj>
                </mc:Choice>
                <mc:Fallback>
                  <p:oleObj name="Clip" r:id="rId1" imgW="861060" imgH="845185" progId="MS_ClipArt_Gallery.5">
                    <p:embed/>
                    <p:pic>
                      <p:nvPicPr>
                        <p:cNvPr id="0" name="图片 4280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768"/>
                          <a:ext cx="339"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127428" name="Text Box 4"/>
            <p:cNvSpPr txBox="1">
              <a:spLocks noChangeArrowheads="1"/>
            </p:cNvSpPr>
            <p:nvPr/>
          </p:nvSpPr>
          <p:spPr bwMode="auto">
            <a:xfrm>
              <a:off x="1009" y="771"/>
              <a:ext cx="39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800" b="1">
                  <a:effectLst>
                    <a:outerShdw blurRad="38100" dist="38100" dir="2700000" algn="tl">
                      <a:srgbClr val="C0C0C0"/>
                    </a:outerShdw>
                  </a:effectLst>
                </a:rPr>
                <a:t>如何判断循环队列队空？</a:t>
              </a:r>
              <a:endParaRPr kumimoji="0" lang="zh-CN" altLang="en-US" sz="2800" b="1">
                <a:effectLst>
                  <a:outerShdw blurRad="38100" dist="38100" dir="2700000" algn="tl">
                    <a:srgbClr val="C0C0C0"/>
                  </a:outerShdw>
                </a:effectLst>
              </a:endParaRPr>
            </a:p>
          </p:txBody>
        </p:sp>
      </p:grpSp>
      <p:sp>
        <p:nvSpPr>
          <p:cNvPr id="1127429" name="Text Box 5"/>
          <p:cNvSpPr txBox="1">
            <a:spLocks noChangeArrowheads="1"/>
          </p:cNvSpPr>
          <p:nvPr/>
        </p:nvSpPr>
        <p:spPr bwMode="auto">
          <a:xfrm>
            <a:off x="566738" y="2438400"/>
            <a:ext cx="2744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effectLst>
                  <a:outerShdw blurRad="38100" dist="38100" dir="2700000" algn="tl">
                    <a:srgbClr val="C0C0C0"/>
                  </a:outerShdw>
                </a:effectLst>
              </a:rPr>
              <a:t>执行出队操作</a:t>
            </a:r>
            <a:endParaRPr kumimoji="0" lang="zh-CN" altLang="en-US" sz="2800" b="1">
              <a:effectLst>
                <a:outerShdw blurRad="38100" dist="38100" dir="2700000" algn="tl">
                  <a:srgbClr val="C0C0C0"/>
                </a:outerShdw>
              </a:effectLst>
            </a:endParaRPr>
          </a:p>
        </p:txBody>
      </p:sp>
      <p:grpSp>
        <p:nvGrpSpPr>
          <p:cNvPr id="1127430" name="Group 6"/>
          <p:cNvGrpSpPr/>
          <p:nvPr/>
        </p:nvGrpSpPr>
        <p:grpSpPr bwMode="auto">
          <a:xfrm>
            <a:off x="2052638" y="3833813"/>
            <a:ext cx="4572000" cy="681037"/>
            <a:chOff x="720" y="2400"/>
            <a:chExt cx="2880" cy="333"/>
          </a:xfrm>
        </p:grpSpPr>
        <p:sp>
          <p:nvSpPr>
            <p:cNvPr id="1127431" name="Text Box 7"/>
            <p:cNvSpPr txBox="1">
              <a:spLocks noChangeArrowheads="1"/>
            </p:cNvSpPr>
            <p:nvPr/>
          </p:nvSpPr>
          <p:spPr bwMode="auto">
            <a:xfrm>
              <a:off x="720" y="2400"/>
              <a:ext cx="576" cy="333"/>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7432" name="Text Box 8"/>
            <p:cNvSpPr txBox="1">
              <a:spLocks noChangeArrowheads="1"/>
            </p:cNvSpPr>
            <p:nvPr/>
          </p:nvSpPr>
          <p:spPr bwMode="auto">
            <a:xfrm>
              <a:off x="1296"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7433" name="Text Box 9"/>
            <p:cNvSpPr txBox="1">
              <a:spLocks noChangeArrowheads="1"/>
            </p:cNvSpPr>
            <p:nvPr/>
          </p:nvSpPr>
          <p:spPr bwMode="auto">
            <a:xfrm>
              <a:off x="2448"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7434" name="Text Box 10"/>
            <p:cNvSpPr txBox="1">
              <a:spLocks noChangeArrowheads="1"/>
            </p:cNvSpPr>
            <p:nvPr/>
          </p:nvSpPr>
          <p:spPr bwMode="auto">
            <a:xfrm>
              <a:off x="3024"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7435" name="Text Box 11"/>
            <p:cNvSpPr txBox="1">
              <a:spLocks noChangeArrowheads="1"/>
            </p:cNvSpPr>
            <p:nvPr/>
          </p:nvSpPr>
          <p:spPr bwMode="auto">
            <a:xfrm>
              <a:off x="1872"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grpSp>
      <p:sp>
        <p:nvSpPr>
          <p:cNvPr id="1127436" name="Text Box 12"/>
          <p:cNvSpPr txBox="1">
            <a:spLocks noChangeArrowheads="1"/>
          </p:cNvSpPr>
          <p:nvPr/>
        </p:nvSpPr>
        <p:spPr bwMode="auto">
          <a:xfrm>
            <a:off x="2322513" y="3294063"/>
            <a:ext cx="42751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a:t>0        1        2         3        4  </a:t>
            </a:r>
            <a:endParaRPr kumimoji="0" lang="en-US" altLang="zh-CN" sz="2800"/>
          </a:p>
        </p:txBody>
      </p:sp>
      <p:sp>
        <p:nvSpPr>
          <p:cNvPr id="1127437" name="Line 13"/>
          <p:cNvSpPr>
            <a:spLocks noChangeShapeType="1"/>
          </p:cNvSpPr>
          <p:nvPr/>
        </p:nvSpPr>
        <p:spPr bwMode="auto">
          <a:xfrm flipH="1">
            <a:off x="6642100" y="4014788"/>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7438" name="Text Box 14"/>
          <p:cNvSpPr txBox="1">
            <a:spLocks noChangeArrowheads="1"/>
          </p:cNvSpPr>
          <p:nvPr/>
        </p:nvSpPr>
        <p:spPr bwMode="auto">
          <a:xfrm>
            <a:off x="6686550" y="347345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入队</a:t>
            </a:r>
            <a:endParaRPr kumimoji="0" lang="zh-CN" altLang="en-US" sz="2400" b="1"/>
          </a:p>
        </p:txBody>
      </p:sp>
      <p:sp>
        <p:nvSpPr>
          <p:cNvPr id="1127439" name="Line 15"/>
          <p:cNvSpPr>
            <a:spLocks noChangeShapeType="1"/>
          </p:cNvSpPr>
          <p:nvPr/>
        </p:nvSpPr>
        <p:spPr bwMode="auto">
          <a:xfrm flipH="1">
            <a:off x="1257300" y="4025900"/>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7440" name="Text Box 16"/>
          <p:cNvSpPr txBox="1">
            <a:spLocks noChangeArrowheads="1"/>
          </p:cNvSpPr>
          <p:nvPr/>
        </p:nvSpPr>
        <p:spPr bwMode="auto">
          <a:xfrm>
            <a:off x="1158875" y="3489325"/>
            <a:ext cx="912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出队</a:t>
            </a:r>
            <a:endParaRPr kumimoji="0" lang="zh-CN" altLang="en-US" sz="2400" b="1"/>
          </a:p>
        </p:txBody>
      </p:sp>
      <p:sp>
        <p:nvSpPr>
          <p:cNvPr id="1127441" name="Text Box 17"/>
          <p:cNvSpPr txBox="1">
            <a:spLocks noChangeArrowheads="1"/>
          </p:cNvSpPr>
          <p:nvPr/>
        </p:nvSpPr>
        <p:spPr bwMode="auto">
          <a:xfrm>
            <a:off x="4035425" y="3849688"/>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3</a:t>
            </a:r>
            <a:endParaRPr kumimoji="0" lang="zh-CN" altLang="en-US" sz="3600" b="1" baseline="-25000"/>
          </a:p>
        </p:txBody>
      </p:sp>
      <p:grpSp>
        <p:nvGrpSpPr>
          <p:cNvPr id="1127442" name="Group 18"/>
          <p:cNvGrpSpPr/>
          <p:nvPr/>
        </p:nvGrpSpPr>
        <p:grpSpPr bwMode="auto">
          <a:xfrm>
            <a:off x="4276725" y="4554538"/>
            <a:ext cx="1035050" cy="903287"/>
            <a:chOff x="2694" y="2869"/>
            <a:chExt cx="652" cy="569"/>
          </a:xfrm>
        </p:grpSpPr>
        <p:sp>
          <p:nvSpPr>
            <p:cNvPr id="1127443" name="Line 19"/>
            <p:cNvSpPr>
              <a:spLocks noChangeShapeType="1"/>
            </p:cNvSpPr>
            <p:nvPr/>
          </p:nvSpPr>
          <p:spPr bwMode="auto">
            <a:xfrm flipV="1">
              <a:off x="2840" y="2869"/>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7444" name="Text Box 20"/>
            <p:cNvSpPr txBox="1">
              <a:spLocks noChangeArrowheads="1"/>
            </p:cNvSpPr>
            <p:nvPr/>
          </p:nvSpPr>
          <p:spPr bwMode="auto">
            <a:xfrm>
              <a:off x="2694" y="3111"/>
              <a:ext cx="6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b="1"/>
                <a:t>rear</a:t>
              </a:r>
              <a:endParaRPr kumimoji="0" lang="en-US" altLang="zh-CN" sz="2800" b="1"/>
            </a:p>
          </p:txBody>
        </p:sp>
      </p:grpSp>
      <p:grpSp>
        <p:nvGrpSpPr>
          <p:cNvPr id="1127445" name="Group 21"/>
          <p:cNvGrpSpPr/>
          <p:nvPr/>
        </p:nvGrpSpPr>
        <p:grpSpPr bwMode="auto">
          <a:xfrm>
            <a:off x="2490788" y="4559300"/>
            <a:ext cx="957262" cy="903288"/>
            <a:chOff x="2141" y="2865"/>
            <a:chExt cx="603" cy="569"/>
          </a:xfrm>
        </p:grpSpPr>
        <p:sp>
          <p:nvSpPr>
            <p:cNvPr id="1127446" name="Line 22"/>
            <p:cNvSpPr>
              <a:spLocks noChangeShapeType="1"/>
            </p:cNvSpPr>
            <p:nvPr/>
          </p:nvSpPr>
          <p:spPr bwMode="auto">
            <a:xfrm flipV="1">
              <a:off x="2607" y="2865"/>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7447" name="Text Box 23"/>
            <p:cNvSpPr txBox="1">
              <a:spLocks noChangeArrowheads="1"/>
            </p:cNvSpPr>
            <p:nvPr/>
          </p:nvSpPr>
          <p:spPr bwMode="auto">
            <a:xfrm>
              <a:off x="2141" y="3107"/>
              <a:ext cx="6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kumimoji="0" lang="en-US" altLang="zh-CN" sz="2800" b="1"/>
                <a:t>front</a:t>
              </a:r>
              <a:endParaRPr kumimoji="0" lang="en-US" altLang="zh-CN" sz="2800" b="1"/>
            </a:p>
          </p:txBody>
        </p:sp>
      </p:grpSp>
      <p:sp>
        <p:nvSpPr>
          <p:cNvPr id="1127449" name="Text Box 25"/>
          <p:cNvSpPr txBox="1">
            <a:spLocks noChangeArrowheads="1"/>
          </p:cNvSpPr>
          <p:nvPr/>
        </p:nvSpPr>
        <p:spPr bwMode="auto">
          <a:xfrm>
            <a:off x="522288" y="1133475"/>
            <a:ext cx="7681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3200" b="1">
                <a:solidFill>
                  <a:srgbClr val="FF0000"/>
                </a:solidFill>
                <a:effectLst>
                  <a:outerShdw blurRad="38100" dist="38100" dir="2700000" algn="tl">
                    <a:srgbClr val="C0C0C0"/>
                  </a:outerShdw>
                </a:effectLst>
              </a:rPr>
              <a:t>队列的顺序存储结构及实现（</a:t>
            </a:r>
            <a:r>
              <a:rPr kumimoji="0" lang="zh-CN" altLang="en-US" sz="2800" b="1">
                <a:solidFill>
                  <a:srgbClr val="FF3300"/>
                </a:solidFill>
                <a:effectLst>
                  <a:outerShdw blurRad="38100" dist="38100" dir="2700000" algn="tl">
                    <a:srgbClr val="C0C0C0"/>
                  </a:outerShdw>
                </a:effectLst>
              </a:rPr>
              <a:t>顺序队列）</a:t>
            </a:r>
            <a:endParaRPr kumimoji="0" lang="zh-CN" altLang="en-US" sz="2800" b="1">
              <a:solidFill>
                <a:srgbClr val="FF33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8450" name="Group 2"/>
          <p:cNvGrpSpPr/>
          <p:nvPr/>
        </p:nvGrpSpPr>
        <p:grpSpPr bwMode="auto">
          <a:xfrm>
            <a:off x="566738" y="1763713"/>
            <a:ext cx="7062787" cy="533400"/>
            <a:chOff x="528" y="768"/>
            <a:chExt cx="4449" cy="336"/>
          </a:xfrm>
        </p:grpSpPr>
        <p:graphicFrame>
          <p:nvGraphicFramePr>
            <p:cNvPr id="1128451" name="Object 3"/>
            <p:cNvGraphicFramePr>
              <a:graphicFrameLocks noChangeAspect="1"/>
            </p:cNvGraphicFramePr>
            <p:nvPr/>
          </p:nvGraphicFramePr>
          <p:xfrm>
            <a:off x="528" y="768"/>
            <a:ext cx="339" cy="336"/>
          </p:xfrm>
          <a:graphic>
            <a:graphicData uri="http://schemas.openxmlformats.org/presentationml/2006/ole">
              <mc:AlternateContent xmlns:mc="http://schemas.openxmlformats.org/markup-compatibility/2006">
                <mc:Choice xmlns:v="urn:schemas-microsoft-com:vml" Requires="v">
                  <p:oleObj spid="_x0000_s429057" name="Clip" r:id="rId1" imgW="861060" imgH="845185" progId="MS_ClipArt_Gallery.5">
                    <p:embed/>
                  </p:oleObj>
                </mc:Choice>
                <mc:Fallback>
                  <p:oleObj name="Clip" r:id="rId1" imgW="861060" imgH="845185" progId="MS_ClipArt_Gallery.5">
                    <p:embed/>
                    <p:pic>
                      <p:nvPicPr>
                        <p:cNvPr id="0" name="图片 4290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768"/>
                          <a:ext cx="339"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128452" name="Text Box 4"/>
            <p:cNvSpPr txBox="1">
              <a:spLocks noChangeArrowheads="1"/>
            </p:cNvSpPr>
            <p:nvPr/>
          </p:nvSpPr>
          <p:spPr bwMode="auto">
            <a:xfrm>
              <a:off x="1009" y="771"/>
              <a:ext cx="39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800" b="1">
                  <a:effectLst>
                    <a:outerShdw blurRad="38100" dist="38100" dir="2700000" algn="tl">
                      <a:srgbClr val="C0C0C0"/>
                    </a:outerShdw>
                  </a:effectLst>
                </a:rPr>
                <a:t>如何判断循环队列队空？</a:t>
              </a:r>
              <a:endParaRPr kumimoji="0" lang="zh-CN" altLang="en-US" sz="2800" b="1">
                <a:effectLst>
                  <a:outerShdw blurRad="38100" dist="38100" dir="2700000" algn="tl">
                    <a:srgbClr val="C0C0C0"/>
                  </a:outerShdw>
                </a:effectLst>
              </a:endParaRPr>
            </a:p>
          </p:txBody>
        </p:sp>
      </p:grpSp>
      <p:sp>
        <p:nvSpPr>
          <p:cNvPr id="1128453" name="Text Box 5"/>
          <p:cNvSpPr txBox="1">
            <a:spLocks noChangeArrowheads="1"/>
          </p:cNvSpPr>
          <p:nvPr/>
        </p:nvSpPr>
        <p:spPr bwMode="auto">
          <a:xfrm>
            <a:off x="566738" y="2438400"/>
            <a:ext cx="2744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effectLst>
                  <a:outerShdw blurRad="38100" dist="38100" dir="2700000" algn="tl">
                    <a:srgbClr val="C0C0C0"/>
                  </a:outerShdw>
                </a:effectLst>
              </a:rPr>
              <a:t>执行出队操作</a:t>
            </a:r>
            <a:endParaRPr kumimoji="0" lang="zh-CN" altLang="en-US" sz="2800" b="1">
              <a:effectLst>
                <a:outerShdw blurRad="38100" dist="38100" dir="2700000" algn="tl">
                  <a:srgbClr val="C0C0C0"/>
                </a:outerShdw>
              </a:effectLst>
            </a:endParaRPr>
          </a:p>
        </p:txBody>
      </p:sp>
      <p:sp>
        <p:nvSpPr>
          <p:cNvPr id="1128454" name="Text Box 6"/>
          <p:cNvSpPr txBox="1">
            <a:spLocks noChangeArrowheads="1"/>
          </p:cNvSpPr>
          <p:nvPr/>
        </p:nvSpPr>
        <p:spPr bwMode="auto">
          <a:xfrm>
            <a:off x="746125" y="5815013"/>
            <a:ext cx="3016250" cy="547687"/>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t>队空：</a:t>
            </a:r>
            <a:r>
              <a:rPr kumimoji="0" lang="en-US" altLang="zh-CN" sz="2800" b="1"/>
              <a:t>front=rear</a:t>
            </a:r>
            <a:endParaRPr kumimoji="0" lang="zh-CN" altLang="en-US" sz="2800" b="1"/>
          </a:p>
        </p:txBody>
      </p:sp>
      <p:grpSp>
        <p:nvGrpSpPr>
          <p:cNvPr id="1128455" name="Group 7"/>
          <p:cNvGrpSpPr/>
          <p:nvPr/>
        </p:nvGrpSpPr>
        <p:grpSpPr bwMode="auto">
          <a:xfrm>
            <a:off x="2052638" y="3833813"/>
            <a:ext cx="4572000" cy="681037"/>
            <a:chOff x="720" y="2400"/>
            <a:chExt cx="2880" cy="333"/>
          </a:xfrm>
        </p:grpSpPr>
        <p:sp>
          <p:nvSpPr>
            <p:cNvPr id="1128456" name="Text Box 8"/>
            <p:cNvSpPr txBox="1">
              <a:spLocks noChangeArrowheads="1"/>
            </p:cNvSpPr>
            <p:nvPr/>
          </p:nvSpPr>
          <p:spPr bwMode="auto">
            <a:xfrm>
              <a:off x="720" y="2400"/>
              <a:ext cx="576" cy="333"/>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8457" name="Text Box 9"/>
            <p:cNvSpPr txBox="1">
              <a:spLocks noChangeArrowheads="1"/>
            </p:cNvSpPr>
            <p:nvPr/>
          </p:nvSpPr>
          <p:spPr bwMode="auto">
            <a:xfrm>
              <a:off x="1296"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8458" name="Text Box 10"/>
            <p:cNvSpPr txBox="1">
              <a:spLocks noChangeArrowheads="1"/>
            </p:cNvSpPr>
            <p:nvPr/>
          </p:nvSpPr>
          <p:spPr bwMode="auto">
            <a:xfrm>
              <a:off x="2448"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8459" name="Text Box 11"/>
            <p:cNvSpPr txBox="1">
              <a:spLocks noChangeArrowheads="1"/>
            </p:cNvSpPr>
            <p:nvPr/>
          </p:nvSpPr>
          <p:spPr bwMode="auto">
            <a:xfrm>
              <a:off x="3024"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8460" name="Text Box 12"/>
            <p:cNvSpPr txBox="1">
              <a:spLocks noChangeArrowheads="1"/>
            </p:cNvSpPr>
            <p:nvPr/>
          </p:nvSpPr>
          <p:spPr bwMode="auto">
            <a:xfrm>
              <a:off x="1872"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grpSp>
      <p:sp>
        <p:nvSpPr>
          <p:cNvPr id="1128461" name="Text Box 13"/>
          <p:cNvSpPr txBox="1">
            <a:spLocks noChangeArrowheads="1"/>
          </p:cNvSpPr>
          <p:nvPr/>
        </p:nvSpPr>
        <p:spPr bwMode="auto">
          <a:xfrm>
            <a:off x="2322513" y="3294063"/>
            <a:ext cx="42751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a:t>0        1        2         3        4  </a:t>
            </a:r>
            <a:endParaRPr kumimoji="0" lang="en-US" altLang="zh-CN" sz="2800"/>
          </a:p>
        </p:txBody>
      </p:sp>
      <p:sp>
        <p:nvSpPr>
          <p:cNvPr id="1128462" name="Line 14"/>
          <p:cNvSpPr>
            <a:spLocks noChangeShapeType="1"/>
          </p:cNvSpPr>
          <p:nvPr/>
        </p:nvSpPr>
        <p:spPr bwMode="auto">
          <a:xfrm flipH="1">
            <a:off x="6642100" y="4014788"/>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8463" name="Text Box 15"/>
          <p:cNvSpPr txBox="1">
            <a:spLocks noChangeArrowheads="1"/>
          </p:cNvSpPr>
          <p:nvPr/>
        </p:nvSpPr>
        <p:spPr bwMode="auto">
          <a:xfrm>
            <a:off x="6686550" y="347345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入队</a:t>
            </a:r>
            <a:endParaRPr kumimoji="0" lang="zh-CN" altLang="en-US" sz="2400" b="1"/>
          </a:p>
        </p:txBody>
      </p:sp>
      <p:sp>
        <p:nvSpPr>
          <p:cNvPr id="1128464" name="Line 16"/>
          <p:cNvSpPr>
            <a:spLocks noChangeShapeType="1"/>
          </p:cNvSpPr>
          <p:nvPr/>
        </p:nvSpPr>
        <p:spPr bwMode="auto">
          <a:xfrm flipH="1">
            <a:off x="1257300" y="4025900"/>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8465" name="Text Box 17"/>
          <p:cNvSpPr txBox="1">
            <a:spLocks noChangeArrowheads="1"/>
          </p:cNvSpPr>
          <p:nvPr/>
        </p:nvSpPr>
        <p:spPr bwMode="auto">
          <a:xfrm>
            <a:off x="1158875" y="3489325"/>
            <a:ext cx="912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出队</a:t>
            </a:r>
            <a:endParaRPr kumimoji="0" lang="zh-CN" altLang="en-US" sz="2400" b="1"/>
          </a:p>
        </p:txBody>
      </p:sp>
      <p:sp>
        <p:nvSpPr>
          <p:cNvPr id="1128466" name="Text Box 18"/>
          <p:cNvSpPr txBox="1">
            <a:spLocks noChangeArrowheads="1"/>
          </p:cNvSpPr>
          <p:nvPr/>
        </p:nvSpPr>
        <p:spPr bwMode="auto">
          <a:xfrm>
            <a:off x="4035425" y="3849688"/>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3</a:t>
            </a:r>
            <a:endParaRPr kumimoji="0" lang="zh-CN" altLang="en-US" sz="3600" b="1" baseline="-25000"/>
          </a:p>
        </p:txBody>
      </p:sp>
      <p:grpSp>
        <p:nvGrpSpPr>
          <p:cNvPr id="1128467" name="Group 19"/>
          <p:cNvGrpSpPr/>
          <p:nvPr/>
        </p:nvGrpSpPr>
        <p:grpSpPr bwMode="auto">
          <a:xfrm>
            <a:off x="3398838" y="4548188"/>
            <a:ext cx="957262" cy="903287"/>
            <a:chOff x="2141" y="2865"/>
            <a:chExt cx="603" cy="569"/>
          </a:xfrm>
        </p:grpSpPr>
        <p:sp>
          <p:nvSpPr>
            <p:cNvPr id="1128468" name="Line 20"/>
            <p:cNvSpPr>
              <a:spLocks noChangeShapeType="1"/>
            </p:cNvSpPr>
            <p:nvPr/>
          </p:nvSpPr>
          <p:spPr bwMode="auto">
            <a:xfrm flipV="1">
              <a:off x="2607" y="2865"/>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8469" name="Text Box 21"/>
            <p:cNvSpPr txBox="1">
              <a:spLocks noChangeArrowheads="1"/>
            </p:cNvSpPr>
            <p:nvPr/>
          </p:nvSpPr>
          <p:spPr bwMode="auto">
            <a:xfrm>
              <a:off x="2141" y="3107"/>
              <a:ext cx="6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kumimoji="0" lang="en-US" altLang="zh-CN" sz="2800" b="1"/>
                <a:t>front</a:t>
              </a:r>
              <a:endParaRPr kumimoji="0" lang="en-US" altLang="zh-CN" sz="2800" b="1"/>
            </a:p>
          </p:txBody>
        </p:sp>
      </p:grpSp>
      <p:grpSp>
        <p:nvGrpSpPr>
          <p:cNvPr id="1128470" name="Group 22"/>
          <p:cNvGrpSpPr/>
          <p:nvPr/>
        </p:nvGrpSpPr>
        <p:grpSpPr bwMode="auto">
          <a:xfrm>
            <a:off x="4276725" y="4554538"/>
            <a:ext cx="1035050" cy="903287"/>
            <a:chOff x="2694" y="2869"/>
            <a:chExt cx="652" cy="569"/>
          </a:xfrm>
        </p:grpSpPr>
        <p:sp>
          <p:nvSpPr>
            <p:cNvPr id="1128471" name="Line 23"/>
            <p:cNvSpPr>
              <a:spLocks noChangeShapeType="1"/>
            </p:cNvSpPr>
            <p:nvPr/>
          </p:nvSpPr>
          <p:spPr bwMode="auto">
            <a:xfrm flipV="1">
              <a:off x="2840" y="2869"/>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8472" name="Text Box 24"/>
            <p:cNvSpPr txBox="1">
              <a:spLocks noChangeArrowheads="1"/>
            </p:cNvSpPr>
            <p:nvPr/>
          </p:nvSpPr>
          <p:spPr bwMode="auto">
            <a:xfrm>
              <a:off x="2694" y="3111"/>
              <a:ext cx="6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b="1"/>
                <a:t>rear</a:t>
              </a:r>
              <a:endParaRPr kumimoji="0" lang="en-US" altLang="zh-CN" sz="2800" b="1"/>
            </a:p>
          </p:txBody>
        </p:sp>
      </p:grpSp>
      <p:sp>
        <p:nvSpPr>
          <p:cNvPr id="1128474" name="Text Box 26"/>
          <p:cNvSpPr txBox="1">
            <a:spLocks noChangeArrowheads="1"/>
          </p:cNvSpPr>
          <p:nvPr/>
        </p:nvSpPr>
        <p:spPr bwMode="auto">
          <a:xfrm>
            <a:off x="522288" y="1133475"/>
            <a:ext cx="7681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3200" b="1">
                <a:solidFill>
                  <a:srgbClr val="FF0000"/>
                </a:solidFill>
                <a:effectLst>
                  <a:outerShdw blurRad="38100" dist="38100" dir="2700000" algn="tl">
                    <a:srgbClr val="C0C0C0"/>
                  </a:outerShdw>
                </a:effectLst>
              </a:rPr>
              <a:t>队列的顺序存储结构及实现（</a:t>
            </a:r>
            <a:r>
              <a:rPr kumimoji="0" lang="zh-CN" altLang="en-US" sz="2800" b="1">
                <a:solidFill>
                  <a:srgbClr val="FF3300"/>
                </a:solidFill>
                <a:effectLst>
                  <a:outerShdw blurRad="38100" dist="38100" dir="2700000" algn="tl">
                    <a:srgbClr val="C0C0C0"/>
                  </a:outerShdw>
                </a:effectLst>
              </a:rPr>
              <a:t>顺序队列）</a:t>
            </a:r>
            <a:endParaRPr kumimoji="0" lang="zh-CN" altLang="en-US" sz="2800" b="1">
              <a:solidFill>
                <a:srgbClr val="FF33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28467"/>
                                        </p:tgtEl>
                                        <p:attrNameLst>
                                          <p:attrName>style.visibility</p:attrName>
                                        </p:attrNameLst>
                                      </p:cBhvr>
                                      <p:to>
                                        <p:strVal val="visible"/>
                                      </p:to>
                                    </p:set>
                                    <p:animEffect transition="in" filter="wipe(down)">
                                      <p:cBhvr>
                                        <p:cTn id="7" dur="500"/>
                                        <p:tgtEl>
                                          <p:spTgt spid="11284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28454"/>
                                        </p:tgtEl>
                                        <p:attrNameLst>
                                          <p:attrName>style.visibility</p:attrName>
                                        </p:attrNameLst>
                                      </p:cBhvr>
                                      <p:to>
                                        <p:strVal val="visible"/>
                                      </p:to>
                                    </p:set>
                                    <p:animEffect transition="in" filter="wipe(down)">
                                      <p:cBhvr>
                                        <p:cTn id="12" dur="500"/>
                                        <p:tgtEl>
                                          <p:spTgt spid="1128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454"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9474" name="Group 2"/>
          <p:cNvGrpSpPr/>
          <p:nvPr/>
        </p:nvGrpSpPr>
        <p:grpSpPr bwMode="auto">
          <a:xfrm>
            <a:off x="611188" y="1763713"/>
            <a:ext cx="7062787" cy="533400"/>
            <a:chOff x="528" y="768"/>
            <a:chExt cx="4449" cy="336"/>
          </a:xfrm>
        </p:grpSpPr>
        <p:graphicFrame>
          <p:nvGraphicFramePr>
            <p:cNvPr id="1129475" name="Object 3"/>
            <p:cNvGraphicFramePr>
              <a:graphicFrameLocks noChangeAspect="1"/>
            </p:cNvGraphicFramePr>
            <p:nvPr/>
          </p:nvGraphicFramePr>
          <p:xfrm>
            <a:off x="528" y="768"/>
            <a:ext cx="339" cy="336"/>
          </p:xfrm>
          <a:graphic>
            <a:graphicData uri="http://schemas.openxmlformats.org/presentationml/2006/ole">
              <mc:AlternateContent xmlns:mc="http://schemas.openxmlformats.org/markup-compatibility/2006">
                <mc:Choice xmlns:v="urn:schemas-microsoft-com:vml" Requires="v">
                  <p:oleObj spid="_x0000_s430081" name="Clip" r:id="rId1" imgW="861060" imgH="845185" progId="MS_ClipArt_Gallery.5">
                    <p:embed/>
                  </p:oleObj>
                </mc:Choice>
                <mc:Fallback>
                  <p:oleObj name="Clip" r:id="rId1" imgW="861060" imgH="845185" progId="MS_ClipArt_Gallery.5">
                    <p:embed/>
                    <p:pic>
                      <p:nvPicPr>
                        <p:cNvPr id="0" name="图片 4300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768"/>
                          <a:ext cx="339"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129476" name="Text Box 4"/>
            <p:cNvSpPr txBox="1">
              <a:spLocks noChangeArrowheads="1"/>
            </p:cNvSpPr>
            <p:nvPr/>
          </p:nvSpPr>
          <p:spPr bwMode="auto">
            <a:xfrm>
              <a:off x="1009" y="771"/>
              <a:ext cx="39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800" b="1">
                  <a:effectLst>
                    <a:outerShdw blurRad="38100" dist="38100" dir="2700000" algn="tl">
                      <a:srgbClr val="C0C0C0"/>
                    </a:outerShdw>
                  </a:effectLst>
                </a:rPr>
                <a:t>如何判断循环队列队满？</a:t>
              </a:r>
              <a:endParaRPr kumimoji="0" lang="zh-CN" altLang="en-US" sz="2800" b="1">
                <a:effectLst>
                  <a:outerShdw blurRad="38100" dist="38100" dir="2700000" algn="tl">
                    <a:srgbClr val="C0C0C0"/>
                  </a:outerShdw>
                </a:effectLst>
              </a:endParaRPr>
            </a:p>
          </p:txBody>
        </p:sp>
      </p:grpSp>
      <p:sp>
        <p:nvSpPr>
          <p:cNvPr id="1129477" name="Text Box 5"/>
          <p:cNvSpPr txBox="1">
            <a:spLocks noChangeArrowheads="1"/>
          </p:cNvSpPr>
          <p:nvPr/>
        </p:nvSpPr>
        <p:spPr bwMode="auto">
          <a:xfrm>
            <a:off x="566738" y="2484438"/>
            <a:ext cx="3105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effectLst>
                  <a:outerShdw blurRad="38100" dist="38100" dir="2700000" algn="tl">
                    <a:srgbClr val="C0C0C0"/>
                  </a:outerShdw>
                </a:effectLst>
              </a:rPr>
              <a:t>队满的临界状态</a:t>
            </a:r>
            <a:endParaRPr kumimoji="0" lang="zh-CN" altLang="en-US" sz="2800" b="1">
              <a:effectLst>
                <a:outerShdw blurRad="38100" dist="38100" dir="2700000" algn="tl">
                  <a:srgbClr val="C0C0C0"/>
                </a:outerShdw>
              </a:effectLst>
            </a:endParaRPr>
          </a:p>
        </p:txBody>
      </p:sp>
      <p:grpSp>
        <p:nvGrpSpPr>
          <p:cNvPr id="1129478" name="Group 6"/>
          <p:cNvGrpSpPr/>
          <p:nvPr/>
        </p:nvGrpSpPr>
        <p:grpSpPr bwMode="auto">
          <a:xfrm>
            <a:off x="2316163" y="3794125"/>
            <a:ext cx="4572000" cy="681038"/>
            <a:chOff x="720" y="2400"/>
            <a:chExt cx="2880" cy="333"/>
          </a:xfrm>
        </p:grpSpPr>
        <p:sp>
          <p:nvSpPr>
            <p:cNvPr id="1129479" name="Text Box 7"/>
            <p:cNvSpPr txBox="1">
              <a:spLocks noChangeArrowheads="1"/>
            </p:cNvSpPr>
            <p:nvPr/>
          </p:nvSpPr>
          <p:spPr bwMode="auto">
            <a:xfrm>
              <a:off x="720" y="2400"/>
              <a:ext cx="576" cy="333"/>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9480" name="Text Box 8"/>
            <p:cNvSpPr txBox="1">
              <a:spLocks noChangeArrowheads="1"/>
            </p:cNvSpPr>
            <p:nvPr/>
          </p:nvSpPr>
          <p:spPr bwMode="auto">
            <a:xfrm>
              <a:off x="1296"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9481" name="Text Box 9"/>
            <p:cNvSpPr txBox="1">
              <a:spLocks noChangeArrowheads="1"/>
            </p:cNvSpPr>
            <p:nvPr/>
          </p:nvSpPr>
          <p:spPr bwMode="auto">
            <a:xfrm>
              <a:off x="2448"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9482" name="Text Box 10"/>
            <p:cNvSpPr txBox="1">
              <a:spLocks noChangeArrowheads="1"/>
            </p:cNvSpPr>
            <p:nvPr/>
          </p:nvSpPr>
          <p:spPr bwMode="auto">
            <a:xfrm>
              <a:off x="3024"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29483" name="Text Box 11"/>
            <p:cNvSpPr txBox="1">
              <a:spLocks noChangeArrowheads="1"/>
            </p:cNvSpPr>
            <p:nvPr/>
          </p:nvSpPr>
          <p:spPr bwMode="auto">
            <a:xfrm>
              <a:off x="1872"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grpSp>
      <p:sp>
        <p:nvSpPr>
          <p:cNvPr id="1129484" name="Text Box 12"/>
          <p:cNvSpPr txBox="1">
            <a:spLocks noChangeArrowheads="1"/>
          </p:cNvSpPr>
          <p:nvPr/>
        </p:nvSpPr>
        <p:spPr bwMode="auto">
          <a:xfrm>
            <a:off x="2586038" y="3254375"/>
            <a:ext cx="42751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a:t>0        1        2         3        4  </a:t>
            </a:r>
            <a:endParaRPr kumimoji="0" lang="en-US" altLang="zh-CN" sz="2800"/>
          </a:p>
        </p:txBody>
      </p:sp>
      <p:sp>
        <p:nvSpPr>
          <p:cNvPr id="1129485" name="Line 13"/>
          <p:cNvSpPr>
            <a:spLocks noChangeShapeType="1"/>
          </p:cNvSpPr>
          <p:nvPr/>
        </p:nvSpPr>
        <p:spPr bwMode="auto">
          <a:xfrm flipH="1">
            <a:off x="6905625" y="3975100"/>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9486" name="Text Box 14"/>
          <p:cNvSpPr txBox="1">
            <a:spLocks noChangeArrowheads="1"/>
          </p:cNvSpPr>
          <p:nvPr/>
        </p:nvSpPr>
        <p:spPr bwMode="auto">
          <a:xfrm>
            <a:off x="6950075" y="3433763"/>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入队</a:t>
            </a:r>
            <a:endParaRPr kumimoji="0" lang="zh-CN" altLang="en-US" sz="2400" b="1"/>
          </a:p>
        </p:txBody>
      </p:sp>
      <p:sp>
        <p:nvSpPr>
          <p:cNvPr id="1129487" name="Line 15"/>
          <p:cNvSpPr>
            <a:spLocks noChangeShapeType="1"/>
          </p:cNvSpPr>
          <p:nvPr/>
        </p:nvSpPr>
        <p:spPr bwMode="auto">
          <a:xfrm flipH="1">
            <a:off x="1520825" y="3986213"/>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9488" name="Text Box 16"/>
          <p:cNvSpPr txBox="1">
            <a:spLocks noChangeArrowheads="1"/>
          </p:cNvSpPr>
          <p:nvPr/>
        </p:nvSpPr>
        <p:spPr bwMode="auto">
          <a:xfrm>
            <a:off x="1422400" y="3449638"/>
            <a:ext cx="912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出队</a:t>
            </a:r>
            <a:endParaRPr kumimoji="0" lang="zh-CN" altLang="en-US" sz="2400" b="1"/>
          </a:p>
        </p:txBody>
      </p:sp>
      <p:sp>
        <p:nvSpPr>
          <p:cNvPr id="1129489" name="Text Box 17"/>
          <p:cNvSpPr txBox="1">
            <a:spLocks noChangeArrowheads="1"/>
          </p:cNvSpPr>
          <p:nvPr/>
        </p:nvSpPr>
        <p:spPr bwMode="auto">
          <a:xfrm>
            <a:off x="4298950" y="3810000"/>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3</a:t>
            </a:r>
            <a:endParaRPr kumimoji="0" lang="zh-CN" altLang="en-US" sz="3600" b="1" baseline="-25000"/>
          </a:p>
        </p:txBody>
      </p:sp>
      <p:sp>
        <p:nvSpPr>
          <p:cNvPr id="1129490" name="Text Box 18"/>
          <p:cNvSpPr txBox="1">
            <a:spLocks noChangeArrowheads="1"/>
          </p:cNvSpPr>
          <p:nvPr/>
        </p:nvSpPr>
        <p:spPr bwMode="auto">
          <a:xfrm>
            <a:off x="5243513" y="3810000"/>
            <a:ext cx="585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4</a:t>
            </a:r>
            <a:endParaRPr kumimoji="0" lang="zh-CN" altLang="en-US" sz="3600" b="1" baseline="-25000"/>
          </a:p>
        </p:txBody>
      </p:sp>
      <p:grpSp>
        <p:nvGrpSpPr>
          <p:cNvPr id="1129491" name="Group 19"/>
          <p:cNvGrpSpPr/>
          <p:nvPr/>
        </p:nvGrpSpPr>
        <p:grpSpPr bwMode="auto">
          <a:xfrm>
            <a:off x="3630613" y="4508500"/>
            <a:ext cx="957262" cy="903288"/>
            <a:chOff x="2287" y="2840"/>
            <a:chExt cx="603" cy="569"/>
          </a:xfrm>
        </p:grpSpPr>
        <p:sp>
          <p:nvSpPr>
            <p:cNvPr id="1129492" name="Line 20"/>
            <p:cNvSpPr>
              <a:spLocks noChangeShapeType="1"/>
            </p:cNvSpPr>
            <p:nvPr/>
          </p:nvSpPr>
          <p:spPr bwMode="auto">
            <a:xfrm flipV="1">
              <a:off x="2463" y="2840"/>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9493" name="Text Box 21"/>
            <p:cNvSpPr txBox="1">
              <a:spLocks noChangeArrowheads="1"/>
            </p:cNvSpPr>
            <p:nvPr/>
          </p:nvSpPr>
          <p:spPr bwMode="auto">
            <a:xfrm>
              <a:off x="2287" y="3082"/>
              <a:ext cx="6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kumimoji="0" lang="en-US" altLang="zh-CN" sz="2800" b="1"/>
                <a:t>front</a:t>
              </a:r>
              <a:endParaRPr kumimoji="0" lang="en-US" altLang="zh-CN" sz="2800" b="1"/>
            </a:p>
          </p:txBody>
        </p:sp>
      </p:grpSp>
      <p:sp>
        <p:nvSpPr>
          <p:cNvPr id="1129494" name="Text Box 22"/>
          <p:cNvSpPr txBox="1">
            <a:spLocks noChangeArrowheads="1"/>
          </p:cNvSpPr>
          <p:nvPr/>
        </p:nvSpPr>
        <p:spPr bwMode="auto">
          <a:xfrm>
            <a:off x="6146800" y="3787775"/>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5</a:t>
            </a:r>
            <a:endParaRPr kumimoji="0" lang="zh-CN" altLang="en-US" sz="3600" b="1" baseline="-25000"/>
          </a:p>
        </p:txBody>
      </p:sp>
      <p:grpSp>
        <p:nvGrpSpPr>
          <p:cNvPr id="1129495" name="Group 23"/>
          <p:cNvGrpSpPr/>
          <p:nvPr/>
        </p:nvGrpSpPr>
        <p:grpSpPr bwMode="auto">
          <a:xfrm>
            <a:off x="2051050" y="4508500"/>
            <a:ext cx="885825" cy="887413"/>
            <a:chOff x="1832" y="2840"/>
            <a:chExt cx="558" cy="559"/>
          </a:xfrm>
        </p:grpSpPr>
        <p:sp>
          <p:nvSpPr>
            <p:cNvPr id="1129496" name="Line 24"/>
            <p:cNvSpPr>
              <a:spLocks noChangeShapeType="1"/>
            </p:cNvSpPr>
            <p:nvPr/>
          </p:nvSpPr>
          <p:spPr bwMode="auto">
            <a:xfrm flipV="1">
              <a:off x="2200" y="2840"/>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29497" name="Text Box 25"/>
            <p:cNvSpPr txBox="1">
              <a:spLocks noChangeArrowheads="1"/>
            </p:cNvSpPr>
            <p:nvPr/>
          </p:nvSpPr>
          <p:spPr bwMode="auto">
            <a:xfrm>
              <a:off x="1832" y="3072"/>
              <a:ext cx="55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b="1"/>
                <a:t>rear</a:t>
              </a:r>
              <a:endParaRPr kumimoji="0" lang="en-US" altLang="zh-CN" sz="2800" b="1"/>
            </a:p>
          </p:txBody>
        </p:sp>
      </p:grpSp>
      <p:sp>
        <p:nvSpPr>
          <p:cNvPr id="1129498" name="Text Box 26"/>
          <p:cNvSpPr txBox="1">
            <a:spLocks noChangeArrowheads="1"/>
          </p:cNvSpPr>
          <p:nvPr/>
        </p:nvSpPr>
        <p:spPr bwMode="auto">
          <a:xfrm>
            <a:off x="2501900" y="3787775"/>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6</a:t>
            </a:r>
            <a:endParaRPr kumimoji="0" lang="zh-CN" altLang="en-US" sz="3600" b="1" baseline="-25000"/>
          </a:p>
        </p:txBody>
      </p:sp>
      <p:sp>
        <p:nvSpPr>
          <p:cNvPr id="1129500" name="Text Box 28"/>
          <p:cNvSpPr txBox="1">
            <a:spLocks noChangeArrowheads="1"/>
          </p:cNvSpPr>
          <p:nvPr/>
        </p:nvSpPr>
        <p:spPr bwMode="auto">
          <a:xfrm>
            <a:off x="522288" y="1133475"/>
            <a:ext cx="7681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3200" b="1">
                <a:solidFill>
                  <a:srgbClr val="FF0000"/>
                </a:solidFill>
                <a:effectLst>
                  <a:outerShdw blurRad="38100" dist="38100" dir="2700000" algn="tl">
                    <a:srgbClr val="C0C0C0"/>
                  </a:outerShdw>
                </a:effectLst>
              </a:rPr>
              <a:t>队列的顺序存储结构及实现（</a:t>
            </a:r>
            <a:r>
              <a:rPr kumimoji="0" lang="zh-CN" altLang="en-US" sz="2800" b="1">
                <a:solidFill>
                  <a:srgbClr val="FF3300"/>
                </a:solidFill>
                <a:effectLst>
                  <a:outerShdw blurRad="38100" dist="38100" dir="2700000" algn="tl">
                    <a:srgbClr val="C0C0C0"/>
                  </a:outerShdw>
                </a:effectLst>
              </a:rPr>
              <a:t>顺序队列）</a:t>
            </a:r>
            <a:endParaRPr kumimoji="0" lang="zh-CN" altLang="en-US" sz="2800" b="1">
              <a:solidFill>
                <a:srgbClr val="FF33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0498" name="Group 2"/>
          <p:cNvGrpSpPr/>
          <p:nvPr/>
        </p:nvGrpSpPr>
        <p:grpSpPr bwMode="auto">
          <a:xfrm>
            <a:off x="598488" y="1754188"/>
            <a:ext cx="7062787" cy="533400"/>
            <a:chOff x="528" y="768"/>
            <a:chExt cx="4449" cy="336"/>
          </a:xfrm>
        </p:grpSpPr>
        <p:graphicFrame>
          <p:nvGraphicFramePr>
            <p:cNvPr id="1130499" name="Object 3"/>
            <p:cNvGraphicFramePr>
              <a:graphicFrameLocks noChangeAspect="1"/>
            </p:cNvGraphicFramePr>
            <p:nvPr/>
          </p:nvGraphicFramePr>
          <p:xfrm>
            <a:off x="528" y="768"/>
            <a:ext cx="339" cy="336"/>
          </p:xfrm>
          <a:graphic>
            <a:graphicData uri="http://schemas.openxmlformats.org/presentationml/2006/ole">
              <mc:AlternateContent xmlns:mc="http://schemas.openxmlformats.org/markup-compatibility/2006">
                <mc:Choice xmlns:v="urn:schemas-microsoft-com:vml" Requires="v">
                  <p:oleObj spid="_x0000_s431105" name="Clip" r:id="rId1" imgW="861060" imgH="845185" progId="MS_ClipArt_Gallery.5">
                    <p:embed/>
                  </p:oleObj>
                </mc:Choice>
                <mc:Fallback>
                  <p:oleObj name="Clip" r:id="rId1" imgW="861060" imgH="845185" progId="MS_ClipArt_Gallery.5">
                    <p:embed/>
                    <p:pic>
                      <p:nvPicPr>
                        <p:cNvPr id="0" name="图片 4311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768"/>
                          <a:ext cx="339"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130500" name="Text Box 4"/>
            <p:cNvSpPr txBox="1">
              <a:spLocks noChangeArrowheads="1"/>
            </p:cNvSpPr>
            <p:nvPr/>
          </p:nvSpPr>
          <p:spPr bwMode="auto">
            <a:xfrm>
              <a:off x="1009" y="771"/>
              <a:ext cx="39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800" b="1">
                  <a:effectLst>
                    <a:outerShdw blurRad="38100" dist="38100" dir="2700000" algn="tl">
                      <a:srgbClr val="C0C0C0"/>
                    </a:outerShdw>
                  </a:effectLst>
                </a:rPr>
                <a:t>如何判断循环队列队满？</a:t>
              </a:r>
              <a:endParaRPr kumimoji="0" lang="zh-CN" altLang="en-US" sz="2800" b="1">
                <a:effectLst>
                  <a:outerShdw blurRad="38100" dist="38100" dir="2700000" algn="tl">
                    <a:srgbClr val="C0C0C0"/>
                  </a:outerShdw>
                </a:effectLst>
              </a:endParaRPr>
            </a:p>
          </p:txBody>
        </p:sp>
      </p:grpSp>
      <p:sp>
        <p:nvSpPr>
          <p:cNvPr id="1130501" name="Text Box 5"/>
          <p:cNvSpPr txBox="1">
            <a:spLocks noChangeArrowheads="1"/>
          </p:cNvSpPr>
          <p:nvPr/>
        </p:nvSpPr>
        <p:spPr bwMode="auto">
          <a:xfrm>
            <a:off x="554038" y="2474913"/>
            <a:ext cx="3105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effectLst>
                  <a:outerShdw blurRad="38100" dist="38100" dir="2700000" algn="tl">
                    <a:srgbClr val="C0C0C0"/>
                  </a:outerShdw>
                </a:effectLst>
              </a:rPr>
              <a:t>执行入队操作</a:t>
            </a:r>
            <a:endParaRPr kumimoji="0" lang="zh-CN" altLang="en-US" sz="2800" b="1">
              <a:effectLst>
                <a:outerShdw blurRad="38100" dist="38100" dir="2700000" algn="tl">
                  <a:srgbClr val="C0C0C0"/>
                </a:outerShdw>
              </a:effectLst>
            </a:endParaRPr>
          </a:p>
        </p:txBody>
      </p:sp>
      <p:grpSp>
        <p:nvGrpSpPr>
          <p:cNvPr id="1130502" name="Group 6"/>
          <p:cNvGrpSpPr/>
          <p:nvPr/>
        </p:nvGrpSpPr>
        <p:grpSpPr bwMode="auto">
          <a:xfrm>
            <a:off x="2303463" y="3784600"/>
            <a:ext cx="4572000" cy="681038"/>
            <a:chOff x="720" y="2400"/>
            <a:chExt cx="2880" cy="333"/>
          </a:xfrm>
        </p:grpSpPr>
        <p:sp>
          <p:nvSpPr>
            <p:cNvPr id="1130503" name="Text Box 7"/>
            <p:cNvSpPr txBox="1">
              <a:spLocks noChangeArrowheads="1"/>
            </p:cNvSpPr>
            <p:nvPr/>
          </p:nvSpPr>
          <p:spPr bwMode="auto">
            <a:xfrm>
              <a:off x="720" y="2400"/>
              <a:ext cx="576" cy="333"/>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30504" name="Text Box 8"/>
            <p:cNvSpPr txBox="1">
              <a:spLocks noChangeArrowheads="1"/>
            </p:cNvSpPr>
            <p:nvPr/>
          </p:nvSpPr>
          <p:spPr bwMode="auto">
            <a:xfrm>
              <a:off x="1296"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30505" name="Text Box 9"/>
            <p:cNvSpPr txBox="1">
              <a:spLocks noChangeArrowheads="1"/>
            </p:cNvSpPr>
            <p:nvPr/>
          </p:nvSpPr>
          <p:spPr bwMode="auto">
            <a:xfrm>
              <a:off x="2448"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30506" name="Text Box 10"/>
            <p:cNvSpPr txBox="1">
              <a:spLocks noChangeArrowheads="1"/>
            </p:cNvSpPr>
            <p:nvPr/>
          </p:nvSpPr>
          <p:spPr bwMode="auto">
            <a:xfrm>
              <a:off x="3024"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30507" name="Text Box 11"/>
            <p:cNvSpPr txBox="1">
              <a:spLocks noChangeArrowheads="1"/>
            </p:cNvSpPr>
            <p:nvPr/>
          </p:nvSpPr>
          <p:spPr bwMode="auto">
            <a:xfrm>
              <a:off x="1872"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grpSp>
      <p:sp>
        <p:nvSpPr>
          <p:cNvPr id="1130508" name="Text Box 12"/>
          <p:cNvSpPr txBox="1">
            <a:spLocks noChangeArrowheads="1"/>
          </p:cNvSpPr>
          <p:nvPr/>
        </p:nvSpPr>
        <p:spPr bwMode="auto">
          <a:xfrm>
            <a:off x="2573338" y="3244850"/>
            <a:ext cx="42751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a:t>0        1        2         3        4  </a:t>
            </a:r>
            <a:endParaRPr kumimoji="0" lang="en-US" altLang="zh-CN" sz="2800"/>
          </a:p>
        </p:txBody>
      </p:sp>
      <p:sp>
        <p:nvSpPr>
          <p:cNvPr id="1130509" name="Line 13"/>
          <p:cNvSpPr>
            <a:spLocks noChangeShapeType="1"/>
          </p:cNvSpPr>
          <p:nvPr/>
        </p:nvSpPr>
        <p:spPr bwMode="auto">
          <a:xfrm flipH="1">
            <a:off x="6892925" y="3965575"/>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30510" name="Text Box 14"/>
          <p:cNvSpPr txBox="1">
            <a:spLocks noChangeArrowheads="1"/>
          </p:cNvSpPr>
          <p:nvPr/>
        </p:nvSpPr>
        <p:spPr bwMode="auto">
          <a:xfrm>
            <a:off x="6937375" y="3424238"/>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入队</a:t>
            </a:r>
            <a:endParaRPr kumimoji="0" lang="zh-CN" altLang="en-US" sz="2400" b="1"/>
          </a:p>
        </p:txBody>
      </p:sp>
      <p:sp>
        <p:nvSpPr>
          <p:cNvPr id="1130511" name="Line 15"/>
          <p:cNvSpPr>
            <a:spLocks noChangeShapeType="1"/>
          </p:cNvSpPr>
          <p:nvPr/>
        </p:nvSpPr>
        <p:spPr bwMode="auto">
          <a:xfrm flipH="1">
            <a:off x="1508125" y="3976688"/>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30512" name="Text Box 16"/>
          <p:cNvSpPr txBox="1">
            <a:spLocks noChangeArrowheads="1"/>
          </p:cNvSpPr>
          <p:nvPr/>
        </p:nvSpPr>
        <p:spPr bwMode="auto">
          <a:xfrm>
            <a:off x="1409700" y="3440113"/>
            <a:ext cx="912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出队</a:t>
            </a:r>
            <a:endParaRPr kumimoji="0" lang="zh-CN" altLang="en-US" sz="2400" b="1"/>
          </a:p>
        </p:txBody>
      </p:sp>
      <p:sp>
        <p:nvSpPr>
          <p:cNvPr id="1130513" name="Text Box 17"/>
          <p:cNvSpPr txBox="1">
            <a:spLocks noChangeArrowheads="1"/>
          </p:cNvSpPr>
          <p:nvPr/>
        </p:nvSpPr>
        <p:spPr bwMode="auto">
          <a:xfrm>
            <a:off x="4286250" y="3800475"/>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3</a:t>
            </a:r>
            <a:endParaRPr kumimoji="0" lang="zh-CN" altLang="en-US" sz="3600" b="1" baseline="-25000"/>
          </a:p>
        </p:txBody>
      </p:sp>
      <p:sp>
        <p:nvSpPr>
          <p:cNvPr id="1130514" name="Text Box 18"/>
          <p:cNvSpPr txBox="1">
            <a:spLocks noChangeArrowheads="1"/>
          </p:cNvSpPr>
          <p:nvPr/>
        </p:nvSpPr>
        <p:spPr bwMode="auto">
          <a:xfrm>
            <a:off x="5230813" y="3800475"/>
            <a:ext cx="585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4</a:t>
            </a:r>
            <a:endParaRPr kumimoji="0" lang="zh-CN" altLang="en-US" sz="3600" b="1" baseline="-25000"/>
          </a:p>
        </p:txBody>
      </p:sp>
      <p:grpSp>
        <p:nvGrpSpPr>
          <p:cNvPr id="1130515" name="Group 19"/>
          <p:cNvGrpSpPr/>
          <p:nvPr/>
        </p:nvGrpSpPr>
        <p:grpSpPr bwMode="auto">
          <a:xfrm>
            <a:off x="3617913" y="4498975"/>
            <a:ext cx="957262" cy="903288"/>
            <a:chOff x="2287" y="2840"/>
            <a:chExt cx="603" cy="569"/>
          </a:xfrm>
        </p:grpSpPr>
        <p:sp>
          <p:nvSpPr>
            <p:cNvPr id="1130516" name="Line 20"/>
            <p:cNvSpPr>
              <a:spLocks noChangeShapeType="1"/>
            </p:cNvSpPr>
            <p:nvPr/>
          </p:nvSpPr>
          <p:spPr bwMode="auto">
            <a:xfrm flipV="1">
              <a:off x="2463" y="2840"/>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30517" name="Text Box 21"/>
            <p:cNvSpPr txBox="1">
              <a:spLocks noChangeArrowheads="1"/>
            </p:cNvSpPr>
            <p:nvPr/>
          </p:nvSpPr>
          <p:spPr bwMode="auto">
            <a:xfrm>
              <a:off x="2287" y="3082"/>
              <a:ext cx="6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kumimoji="0" lang="en-US" altLang="zh-CN" sz="2800" b="1"/>
                <a:t>front</a:t>
              </a:r>
              <a:endParaRPr kumimoji="0" lang="en-US" altLang="zh-CN" sz="2800" b="1"/>
            </a:p>
          </p:txBody>
        </p:sp>
      </p:grpSp>
      <p:sp>
        <p:nvSpPr>
          <p:cNvPr id="1130518" name="Text Box 22"/>
          <p:cNvSpPr txBox="1">
            <a:spLocks noChangeArrowheads="1"/>
          </p:cNvSpPr>
          <p:nvPr/>
        </p:nvSpPr>
        <p:spPr bwMode="auto">
          <a:xfrm>
            <a:off x="6134100" y="3778250"/>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5</a:t>
            </a:r>
            <a:endParaRPr kumimoji="0" lang="zh-CN" altLang="en-US" sz="3600" b="1" baseline="-25000"/>
          </a:p>
        </p:txBody>
      </p:sp>
      <p:grpSp>
        <p:nvGrpSpPr>
          <p:cNvPr id="1130519" name="Group 23"/>
          <p:cNvGrpSpPr/>
          <p:nvPr/>
        </p:nvGrpSpPr>
        <p:grpSpPr bwMode="auto">
          <a:xfrm>
            <a:off x="2038350" y="4498975"/>
            <a:ext cx="885825" cy="887413"/>
            <a:chOff x="1832" y="2840"/>
            <a:chExt cx="558" cy="559"/>
          </a:xfrm>
        </p:grpSpPr>
        <p:sp>
          <p:nvSpPr>
            <p:cNvPr id="1130520" name="Line 24"/>
            <p:cNvSpPr>
              <a:spLocks noChangeShapeType="1"/>
            </p:cNvSpPr>
            <p:nvPr/>
          </p:nvSpPr>
          <p:spPr bwMode="auto">
            <a:xfrm flipV="1">
              <a:off x="2200" y="2840"/>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30521" name="Text Box 25"/>
            <p:cNvSpPr txBox="1">
              <a:spLocks noChangeArrowheads="1"/>
            </p:cNvSpPr>
            <p:nvPr/>
          </p:nvSpPr>
          <p:spPr bwMode="auto">
            <a:xfrm>
              <a:off x="1832" y="3072"/>
              <a:ext cx="55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b="1"/>
                <a:t>rear</a:t>
              </a:r>
              <a:endParaRPr kumimoji="0" lang="en-US" altLang="zh-CN" sz="2800" b="1"/>
            </a:p>
          </p:txBody>
        </p:sp>
      </p:grpSp>
      <p:sp>
        <p:nvSpPr>
          <p:cNvPr id="1130522" name="Text Box 26"/>
          <p:cNvSpPr txBox="1">
            <a:spLocks noChangeArrowheads="1"/>
          </p:cNvSpPr>
          <p:nvPr/>
        </p:nvSpPr>
        <p:spPr bwMode="auto">
          <a:xfrm>
            <a:off x="2489200" y="3778250"/>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6</a:t>
            </a:r>
            <a:endParaRPr kumimoji="0" lang="zh-CN" altLang="en-US" sz="3600" b="1" baseline="-25000"/>
          </a:p>
        </p:txBody>
      </p:sp>
      <p:sp>
        <p:nvSpPr>
          <p:cNvPr id="1130524" name="Text Box 28"/>
          <p:cNvSpPr txBox="1">
            <a:spLocks noChangeArrowheads="1"/>
          </p:cNvSpPr>
          <p:nvPr/>
        </p:nvSpPr>
        <p:spPr bwMode="auto">
          <a:xfrm>
            <a:off x="522288" y="1133475"/>
            <a:ext cx="7681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3200" b="1">
                <a:solidFill>
                  <a:srgbClr val="FF0000"/>
                </a:solidFill>
                <a:effectLst>
                  <a:outerShdw blurRad="38100" dist="38100" dir="2700000" algn="tl">
                    <a:srgbClr val="C0C0C0"/>
                  </a:outerShdw>
                </a:effectLst>
              </a:rPr>
              <a:t>队列的顺序存储结构及实现（</a:t>
            </a:r>
            <a:r>
              <a:rPr kumimoji="0" lang="zh-CN" altLang="en-US" sz="2800" b="1">
                <a:solidFill>
                  <a:srgbClr val="FF3300"/>
                </a:solidFill>
                <a:effectLst>
                  <a:outerShdw blurRad="38100" dist="38100" dir="2700000" algn="tl">
                    <a:srgbClr val="C0C0C0"/>
                  </a:outerShdw>
                </a:effectLst>
              </a:rPr>
              <a:t>顺序队列）</a:t>
            </a:r>
            <a:endParaRPr kumimoji="0" lang="zh-CN" altLang="en-US" sz="2800" b="1">
              <a:solidFill>
                <a:srgbClr val="FF33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1522" name="Group 2"/>
          <p:cNvGrpSpPr/>
          <p:nvPr/>
        </p:nvGrpSpPr>
        <p:grpSpPr bwMode="auto">
          <a:xfrm>
            <a:off x="598488" y="1754188"/>
            <a:ext cx="7062787" cy="533400"/>
            <a:chOff x="528" y="768"/>
            <a:chExt cx="4449" cy="336"/>
          </a:xfrm>
        </p:grpSpPr>
        <p:graphicFrame>
          <p:nvGraphicFramePr>
            <p:cNvPr id="1131523" name="Object 3"/>
            <p:cNvGraphicFramePr>
              <a:graphicFrameLocks noChangeAspect="1"/>
            </p:cNvGraphicFramePr>
            <p:nvPr/>
          </p:nvGraphicFramePr>
          <p:xfrm>
            <a:off x="528" y="768"/>
            <a:ext cx="339" cy="336"/>
          </p:xfrm>
          <a:graphic>
            <a:graphicData uri="http://schemas.openxmlformats.org/presentationml/2006/ole">
              <mc:AlternateContent xmlns:mc="http://schemas.openxmlformats.org/markup-compatibility/2006">
                <mc:Choice xmlns:v="urn:schemas-microsoft-com:vml" Requires="v">
                  <p:oleObj spid="_x0000_s432129" name="Clip" r:id="rId1" imgW="861060" imgH="845185" progId="MS_ClipArt_Gallery.5">
                    <p:embed/>
                  </p:oleObj>
                </mc:Choice>
                <mc:Fallback>
                  <p:oleObj name="Clip" r:id="rId1" imgW="861060" imgH="845185" progId="MS_ClipArt_Gallery.5">
                    <p:embed/>
                    <p:pic>
                      <p:nvPicPr>
                        <p:cNvPr id="0" name="图片 432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768"/>
                          <a:ext cx="339"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131524" name="Text Box 4"/>
            <p:cNvSpPr txBox="1">
              <a:spLocks noChangeArrowheads="1"/>
            </p:cNvSpPr>
            <p:nvPr/>
          </p:nvSpPr>
          <p:spPr bwMode="auto">
            <a:xfrm>
              <a:off x="1009" y="771"/>
              <a:ext cx="39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800" b="1">
                  <a:effectLst>
                    <a:outerShdw blurRad="38100" dist="38100" dir="2700000" algn="tl">
                      <a:srgbClr val="C0C0C0"/>
                    </a:outerShdw>
                  </a:effectLst>
                </a:rPr>
                <a:t>如何判断循环队列队满？</a:t>
              </a:r>
              <a:endParaRPr kumimoji="0" lang="zh-CN" altLang="en-US" sz="2800" b="1">
                <a:effectLst>
                  <a:outerShdw blurRad="38100" dist="38100" dir="2700000" algn="tl">
                    <a:srgbClr val="C0C0C0"/>
                  </a:outerShdw>
                </a:effectLst>
              </a:endParaRPr>
            </a:p>
          </p:txBody>
        </p:sp>
      </p:grpSp>
      <p:sp>
        <p:nvSpPr>
          <p:cNvPr id="1131525" name="Text Box 5"/>
          <p:cNvSpPr txBox="1">
            <a:spLocks noChangeArrowheads="1"/>
          </p:cNvSpPr>
          <p:nvPr/>
        </p:nvSpPr>
        <p:spPr bwMode="auto">
          <a:xfrm>
            <a:off x="554038" y="2474913"/>
            <a:ext cx="3105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effectLst>
                  <a:outerShdw blurRad="38100" dist="38100" dir="2700000" algn="tl">
                    <a:srgbClr val="C0C0C0"/>
                  </a:outerShdw>
                </a:effectLst>
              </a:rPr>
              <a:t>执行入队操作</a:t>
            </a:r>
            <a:endParaRPr kumimoji="0" lang="zh-CN" altLang="en-US" sz="2800" b="1">
              <a:effectLst>
                <a:outerShdw blurRad="38100" dist="38100" dir="2700000" algn="tl">
                  <a:srgbClr val="C0C0C0"/>
                </a:outerShdw>
              </a:effectLst>
            </a:endParaRPr>
          </a:p>
        </p:txBody>
      </p:sp>
      <p:sp>
        <p:nvSpPr>
          <p:cNvPr id="1131526" name="Text Box 6"/>
          <p:cNvSpPr txBox="1">
            <a:spLocks noChangeArrowheads="1"/>
          </p:cNvSpPr>
          <p:nvPr/>
        </p:nvSpPr>
        <p:spPr bwMode="auto">
          <a:xfrm>
            <a:off x="4524375" y="5849938"/>
            <a:ext cx="3013075" cy="547687"/>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zh-CN" altLang="en-US" sz="2800" b="1"/>
              <a:t>队满：</a:t>
            </a:r>
            <a:r>
              <a:rPr kumimoji="0" lang="en-US" altLang="zh-CN" sz="2800" b="1"/>
              <a:t>front=rear</a:t>
            </a:r>
            <a:endParaRPr kumimoji="0" lang="zh-CN" altLang="en-US" sz="2800" b="1"/>
          </a:p>
        </p:txBody>
      </p:sp>
      <p:grpSp>
        <p:nvGrpSpPr>
          <p:cNvPr id="1131527" name="Group 7"/>
          <p:cNvGrpSpPr/>
          <p:nvPr/>
        </p:nvGrpSpPr>
        <p:grpSpPr bwMode="auto">
          <a:xfrm>
            <a:off x="2303463" y="3784600"/>
            <a:ext cx="4572000" cy="681038"/>
            <a:chOff x="720" y="2400"/>
            <a:chExt cx="2880" cy="333"/>
          </a:xfrm>
        </p:grpSpPr>
        <p:sp>
          <p:nvSpPr>
            <p:cNvPr id="1131528" name="Text Box 8"/>
            <p:cNvSpPr txBox="1">
              <a:spLocks noChangeArrowheads="1"/>
            </p:cNvSpPr>
            <p:nvPr/>
          </p:nvSpPr>
          <p:spPr bwMode="auto">
            <a:xfrm>
              <a:off x="720" y="2400"/>
              <a:ext cx="576" cy="333"/>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31529" name="Text Box 9"/>
            <p:cNvSpPr txBox="1">
              <a:spLocks noChangeArrowheads="1"/>
            </p:cNvSpPr>
            <p:nvPr/>
          </p:nvSpPr>
          <p:spPr bwMode="auto">
            <a:xfrm>
              <a:off x="1296"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31530" name="Text Box 10"/>
            <p:cNvSpPr txBox="1">
              <a:spLocks noChangeArrowheads="1"/>
            </p:cNvSpPr>
            <p:nvPr/>
          </p:nvSpPr>
          <p:spPr bwMode="auto">
            <a:xfrm>
              <a:off x="2448"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31531" name="Text Box 11"/>
            <p:cNvSpPr txBox="1">
              <a:spLocks noChangeArrowheads="1"/>
            </p:cNvSpPr>
            <p:nvPr/>
          </p:nvSpPr>
          <p:spPr bwMode="auto">
            <a:xfrm>
              <a:off x="3024"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sp>
          <p:nvSpPr>
            <p:cNvPr id="1131532" name="Text Box 12"/>
            <p:cNvSpPr txBox="1">
              <a:spLocks noChangeArrowheads="1"/>
            </p:cNvSpPr>
            <p:nvPr/>
          </p:nvSpPr>
          <p:spPr bwMode="auto">
            <a:xfrm>
              <a:off x="1872" y="2400"/>
              <a:ext cx="576" cy="332"/>
            </a:xfrm>
            <a:prstGeom prst="rect">
              <a:avLst/>
            </a:prstGeom>
            <a:solidFill>
              <a:schemeClr val="hlink"/>
            </a:solidFill>
            <a:ln w="38100">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kumimoji="0" lang="zh-CN" altLang="en-US" sz="3600" b="1"/>
            </a:p>
          </p:txBody>
        </p:sp>
      </p:grpSp>
      <p:sp>
        <p:nvSpPr>
          <p:cNvPr id="1131533" name="Text Box 13"/>
          <p:cNvSpPr txBox="1">
            <a:spLocks noChangeArrowheads="1"/>
          </p:cNvSpPr>
          <p:nvPr/>
        </p:nvSpPr>
        <p:spPr bwMode="auto">
          <a:xfrm>
            <a:off x="2573338" y="3244850"/>
            <a:ext cx="42751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a:t>0        1        2         3        4  </a:t>
            </a:r>
            <a:endParaRPr kumimoji="0" lang="en-US" altLang="zh-CN" sz="2800"/>
          </a:p>
        </p:txBody>
      </p:sp>
      <p:sp>
        <p:nvSpPr>
          <p:cNvPr id="1131534" name="Line 14"/>
          <p:cNvSpPr>
            <a:spLocks noChangeShapeType="1"/>
          </p:cNvSpPr>
          <p:nvPr/>
        </p:nvSpPr>
        <p:spPr bwMode="auto">
          <a:xfrm flipH="1">
            <a:off x="6892925" y="3965575"/>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31535" name="Text Box 15"/>
          <p:cNvSpPr txBox="1">
            <a:spLocks noChangeArrowheads="1"/>
          </p:cNvSpPr>
          <p:nvPr/>
        </p:nvSpPr>
        <p:spPr bwMode="auto">
          <a:xfrm>
            <a:off x="6937375" y="3424238"/>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入队</a:t>
            </a:r>
            <a:endParaRPr kumimoji="0" lang="zh-CN" altLang="en-US" sz="2400" b="1"/>
          </a:p>
        </p:txBody>
      </p:sp>
      <p:sp>
        <p:nvSpPr>
          <p:cNvPr id="1131536" name="Line 16"/>
          <p:cNvSpPr>
            <a:spLocks noChangeShapeType="1"/>
          </p:cNvSpPr>
          <p:nvPr/>
        </p:nvSpPr>
        <p:spPr bwMode="auto">
          <a:xfrm flipH="1">
            <a:off x="1508125" y="3976688"/>
            <a:ext cx="719138" cy="0"/>
          </a:xfrm>
          <a:prstGeom prst="line">
            <a:avLst/>
          </a:prstGeom>
          <a:noFill/>
          <a:ln w="28575">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31537" name="Text Box 17"/>
          <p:cNvSpPr txBox="1">
            <a:spLocks noChangeArrowheads="1"/>
          </p:cNvSpPr>
          <p:nvPr/>
        </p:nvSpPr>
        <p:spPr bwMode="auto">
          <a:xfrm>
            <a:off x="1409700" y="3440113"/>
            <a:ext cx="912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2400" b="1"/>
              <a:t>出队</a:t>
            </a:r>
            <a:endParaRPr kumimoji="0" lang="zh-CN" altLang="en-US" sz="2400" b="1"/>
          </a:p>
        </p:txBody>
      </p:sp>
      <p:sp>
        <p:nvSpPr>
          <p:cNvPr id="1131538" name="Text Box 18"/>
          <p:cNvSpPr txBox="1">
            <a:spLocks noChangeArrowheads="1"/>
          </p:cNvSpPr>
          <p:nvPr/>
        </p:nvSpPr>
        <p:spPr bwMode="auto">
          <a:xfrm>
            <a:off x="4286250" y="3800475"/>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3</a:t>
            </a:r>
            <a:endParaRPr kumimoji="0" lang="zh-CN" altLang="en-US" sz="3600" b="1" baseline="-25000"/>
          </a:p>
        </p:txBody>
      </p:sp>
      <p:sp>
        <p:nvSpPr>
          <p:cNvPr id="1131539" name="Text Box 19"/>
          <p:cNvSpPr txBox="1">
            <a:spLocks noChangeArrowheads="1"/>
          </p:cNvSpPr>
          <p:nvPr/>
        </p:nvSpPr>
        <p:spPr bwMode="auto">
          <a:xfrm>
            <a:off x="5230813" y="3800475"/>
            <a:ext cx="585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4</a:t>
            </a:r>
            <a:endParaRPr kumimoji="0" lang="zh-CN" altLang="en-US" sz="3600" b="1" baseline="-25000"/>
          </a:p>
        </p:txBody>
      </p:sp>
      <p:grpSp>
        <p:nvGrpSpPr>
          <p:cNvPr id="1131540" name="Group 20"/>
          <p:cNvGrpSpPr/>
          <p:nvPr/>
        </p:nvGrpSpPr>
        <p:grpSpPr bwMode="auto">
          <a:xfrm>
            <a:off x="3617913" y="4498975"/>
            <a:ext cx="957262" cy="903288"/>
            <a:chOff x="2287" y="2840"/>
            <a:chExt cx="603" cy="569"/>
          </a:xfrm>
        </p:grpSpPr>
        <p:sp>
          <p:nvSpPr>
            <p:cNvPr id="1131541" name="Line 21"/>
            <p:cNvSpPr>
              <a:spLocks noChangeShapeType="1"/>
            </p:cNvSpPr>
            <p:nvPr/>
          </p:nvSpPr>
          <p:spPr bwMode="auto">
            <a:xfrm flipV="1">
              <a:off x="2463" y="2840"/>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31542" name="Text Box 22"/>
            <p:cNvSpPr txBox="1">
              <a:spLocks noChangeArrowheads="1"/>
            </p:cNvSpPr>
            <p:nvPr/>
          </p:nvSpPr>
          <p:spPr bwMode="auto">
            <a:xfrm>
              <a:off x="2287" y="3082"/>
              <a:ext cx="6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kumimoji="0" lang="en-US" altLang="zh-CN" sz="2800" b="1"/>
                <a:t>front</a:t>
              </a:r>
              <a:endParaRPr kumimoji="0" lang="en-US" altLang="zh-CN" sz="2800" b="1"/>
            </a:p>
          </p:txBody>
        </p:sp>
      </p:grpSp>
      <p:sp>
        <p:nvSpPr>
          <p:cNvPr id="1131543" name="Text Box 23"/>
          <p:cNvSpPr txBox="1">
            <a:spLocks noChangeArrowheads="1"/>
          </p:cNvSpPr>
          <p:nvPr/>
        </p:nvSpPr>
        <p:spPr bwMode="auto">
          <a:xfrm>
            <a:off x="6134100" y="3778250"/>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5</a:t>
            </a:r>
            <a:endParaRPr kumimoji="0" lang="zh-CN" altLang="en-US" sz="3600" b="1" baseline="-25000"/>
          </a:p>
        </p:txBody>
      </p:sp>
      <p:sp>
        <p:nvSpPr>
          <p:cNvPr id="1131544" name="Text Box 24"/>
          <p:cNvSpPr txBox="1">
            <a:spLocks noChangeArrowheads="1"/>
          </p:cNvSpPr>
          <p:nvPr/>
        </p:nvSpPr>
        <p:spPr bwMode="auto">
          <a:xfrm>
            <a:off x="2489200" y="3778250"/>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6</a:t>
            </a:r>
            <a:endParaRPr kumimoji="0" lang="zh-CN" altLang="en-US" sz="3600" b="1" baseline="-25000"/>
          </a:p>
        </p:txBody>
      </p:sp>
      <p:grpSp>
        <p:nvGrpSpPr>
          <p:cNvPr id="1131545" name="Group 25"/>
          <p:cNvGrpSpPr/>
          <p:nvPr/>
        </p:nvGrpSpPr>
        <p:grpSpPr bwMode="auto">
          <a:xfrm>
            <a:off x="2846388" y="4508500"/>
            <a:ext cx="885825" cy="887413"/>
            <a:chOff x="1832" y="2840"/>
            <a:chExt cx="558" cy="559"/>
          </a:xfrm>
        </p:grpSpPr>
        <p:sp>
          <p:nvSpPr>
            <p:cNvPr id="1131546" name="Line 26"/>
            <p:cNvSpPr>
              <a:spLocks noChangeShapeType="1"/>
            </p:cNvSpPr>
            <p:nvPr/>
          </p:nvSpPr>
          <p:spPr bwMode="auto">
            <a:xfrm flipV="1">
              <a:off x="2200" y="2840"/>
              <a:ext cx="0" cy="312"/>
            </a:xfrm>
            <a:prstGeom prst="line">
              <a:avLst/>
            </a:prstGeom>
            <a:noFill/>
            <a:ln w="38100">
              <a:solidFill>
                <a:srgbClr val="006666"/>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zh-CN" altLang="en-US"/>
            </a:p>
          </p:txBody>
        </p:sp>
        <p:sp>
          <p:nvSpPr>
            <p:cNvPr id="1131547" name="Text Box 27"/>
            <p:cNvSpPr txBox="1">
              <a:spLocks noChangeArrowheads="1"/>
            </p:cNvSpPr>
            <p:nvPr/>
          </p:nvSpPr>
          <p:spPr bwMode="auto">
            <a:xfrm>
              <a:off x="1832" y="3072"/>
              <a:ext cx="55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2800" b="1"/>
                <a:t>rear</a:t>
              </a:r>
              <a:endParaRPr kumimoji="0" lang="en-US" altLang="zh-CN" sz="2800" b="1"/>
            </a:p>
          </p:txBody>
        </p:sp>
      </p:grpSp>
      <p:sp>
        <p:nvSpPr>
          <p:cNvPr id="1131548" name="Text Box 28"/>
          <p:cNvSpPr txBox="1">
            <a:spLocks noChangeArrowheads="1"/>
          </p:cNvSpPr>
          <p:nvPr/>
        </p:nvSpPr>
        <p:spPr bwMode="auto">
          <a:xfrm>
            <a:off x="3403600" y="3794125"/>
            <a:ext cx="585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kumimoji="0" lang="en-US" altLang="zh-CN" sz="3600" b="1" i="1"/>
              <a:t>a</a:t>
            </a:r>
            <a:r>
              <a:rPr kumimoji="0" lang="en-US" altLang="zh-CN" sz="3600" b="1" baseline="-25000"/>
              <a:t>7</a:t>
            </a:r>
            <a:endParaRPr kumimoji="0" lang="zh-CN" altLang="en-US" sz="3600" b="1" baseline="-25000"/>
          </a:p>
        </p:txBody>
      </p:sp>
      <p:sp>
        <p:nvSpPr>
          <p:cNvPr id="1131550" name="Text Box 30"/>
          <p:cNvSpPr txBox="1">
            <a:spLocks noChangeArrowheads="1"/>
          </p:cNvSpPr>
          <p:nvPr/>
        </p:nvSpPr>
        <p:spPr bwMode="auto">
          <a:xfrm>
            <a:off x="522288" y="1133475"/>
            <a:ext cx="7681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3200" b="1">
                <a:solidFill>
                  <a:srgbClr val="FF0000"/>
                </a:solidFill>
                <a:effectLst>
                  <a:outerShdw blurRad="38100" dist="38100" dir="2700000" algn="tl">
                    <a:srgbClr val="C0C0C0"/>
                  </a:outerShdw>
                </a:effectLst>
              </a:rPr>
              <a:t>队列的顺序存储结构及实现（</a:t>
            </a:r>
            <a:r>
              <a:rPr kumimoji="0" lang="zh-CN" altLang="en-US" sz="2800" b="1">
                <a:solidFill>
                  <a:srgbClr val="FF3300"/>
                </a:solidFill>
                <a:effectLst>
                  <a:outerShdw blurRad="38100" dist="38100" dir="2700000" algn="tl">
                    <a:srgbClr val="C0C0C0"/>
                  </a:outerShdw>
                </a:effectLst>
              </a:rPr>
              <a:t>顺序队列）</a:t>
            </a:r>
            <a:endParaRPr kumimoji="0" lang="zh-CN" altLang="en-US" sz="2800" b="1">
              <a:solidFill>
                <a:srgbClr val="FF33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31545"/>
                                        </p:tgtEl>
                                        <p:attrNameLst>
                                          <p:attrName>style.visibility</p:attrName>
                                        </p:attrNameLst>
                                      </p:cBhvr>
                                      <p:to>
                                        <p:strVal val="visible"/>
                                      </p:to>
                                    </p:set>
                                    <p:animEffect transition="in" filter="wipe(down)">
                                      <p:cBhvr>
                                        <p:cTn id="7" dur="500"/>
                                        <p:tgtEl>
                                          <p:spTgt spid="11315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131548"/>
                                        </p:tgtEl>
                                        <p:attrNameLst>
                                          <p:attrName>style.visibility</p:attrName>
                                        </p:attrNameLst>
                                      </p:cBhvr>
                                      <p:to>
                                        <p:strVal val="visible"/>
                                      </p:to>
                                    </p:set>
                                    <p:anim calcmode="lin" valueType="num">
                                      <p:cBhvr additive="base">
                                        <p:cTn id="12" dur="500" fill="hold"/>
                                        <p:tgtEl>
                                          <p:spTgt spid="1131548"/>
                                        </p:tgtEl>
                                        <p:attrNameLst>
                                          <p:attrName>ppt_x</p:attrName>
                                        </p:attrNameLst>
                                      </p:cBhvr>
                                      <p:tavLst>
                                        <p:tav tm="0">
                                          <p:val>
                                            <p:strVal val="1+#ppt_w/2"/>
                                          </p:val>
                                        </p:tav>
                                        <p:tav tm="100000">
                                          <p:val>
                                            <p:strVal val="#ppt_x"/>
                                          </p:val>
                                        </p:tav>
                                      </p:tavLst>
                                    </p:anim>
                                    <p:anim calcmode="lin" valueType="num">
                                      <p:cBhvr additive="base">
                                        <p:cTn id="13" dur="500" fill="hold"/>
                                        <p:tgtEl>
                                          <p:spTgt spid="113154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11315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526" grpId="0" animBg="1" autoUpdateAnimBg="0"/>
      <p:bldP spid="1131548"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546" name="Text Box 2"/>
          <p:cNvSpPr txBox="1">
            <a:spLocks noChangeArrowheads="1"/>
          </p:cNvSpPr>
          <p:nvPr/>
        </p:nvSpPr>
        <p:spPr bwMode="auto">
          <a:xfrm>
            <a:off x="493713" y="4348163"/>
            <a:ext cx="8310562"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pPr>
              <a:lnSpc>
                <a:spcPct val="110000"/>
              </a:lnSpc>
            </a:pPr>
            <a:r>
              <a:rPr kumimoji="0" lang="zh-CN" altLang="en-US" sz="2800" b="1">
                <a:solidFill>
                  <a:srgbClr val="FF3300"/>
                </a:solidFill>
                <a:effectLst>
                  <a:outerShdw blurRad="38100" dist="38100" dir="2700000" algn="tl">
                    <a:srgbClr val="C0C0C0"/>
                  </a:outerShdw>
                </a:effectLst>
              </a:rPr>
              <a:t>方法二：</a:t>
            </a:r>
            <a:r>
              <a:rPr kumimoji="0" lang="zh-CN" altLang="en-US" sz="2800" b="1">
                <a:effectLst>
                  <a:outerShdw blurRad="38100" dist="38100" dir="2700000" algn="tl">
                    <a:srgbClr val="C0C0C0"/>
                  </a:outerShdw>
                </a:effectLst>
              </a:rPr>
              <a:t>附设一个存储队列中元素个数的变量</a:t>
            </a:r>
            <a:r>
              <a:rPr kumimoji="0" lang="en-US" altLang="zh-CN" sz="2800" b="1">
                <a:effectLst>
                  <a:outerShdw blurRad="38100" dist="38100" dir="2700000" algn="tl">
                    <a:srgbClr val="C0C0C0"/>
                  </a:outerShdw>
                </a:effectLst>
              </a:rPr>
              <a:t>num，</a:t>
            </a:r>
            <a:r>
              <a:rPr kumimoji="0" lang="zh-CN" altLang="en-US" sz="2800" b="1">
                <a:effectLst>
                  <a:outerShdw blurRad="38100" dist="38100" dir="2700000" algn="tl">
                    <a:srgbClr val="C0C0C0"/>
                  </a:outerShdw>
                </a:effectLst>
              </a:rPr>
              <a:t>当</a:t>
            </a:r>
            <a:r>
              <a:rPr kumimoji="0" lang="en-US" altLang="zh-CN" sz="2800" b="1">
                <a:effectLst>
                  <a:outerShdw blurRad="38100" dist="38100" dir="2700000" algn="tl">
                    <a:srgbClr val="C0C0C0"/>
                  </a:outerShdw>
                </a:effectLst>
              </a:rPr>
              <a:t>num=0</a:t>
            </a:r>
            <a:r>
              <a:rPr kumimoji="0" lang="zh-CN" altLang="en-US" sz="2800" b="1">
                <a:effectLst>
                  <a:outerShdw blurRad="38100" dist="38100" dir="2700000" algn="tl">
                    <a:srgbClr val="C0C0C0"/>
                  </a:outerShdw>
                </a:effectLst>
              </a:rPr>
              <a:t>时队空，当</a:t>
            </a:r>
            <a:r>
              <a:rPr kumimoji="0" lang="en-US" altLang="zh-CN" sz="2800" b="1">
                <a:effectLst>
                  <a:outerShdw blurRad="38100" dist="38100" dir="2700000" algn="tl">
                    <a:srgbClr val="C0C0C0"/>
                  </a:outerShdw>
                </a:effectLst>
              </a:rPr>
              <a:t>num=QueueSize</a:t>
            </a:r>
            <a:r>
              <a:rPr kumimoji="0" lang="zh-CN" altLang="en-US" sz="2800" b="1">
                <a:effectLst>
                  <a:outerShdw blurRad="38100" dist="38100" dir="2700000" algn="tl">
                    <a:srgbClr val="C0C0C0"/>
                  </a:outerShdw>
                </a:effectLst>
              </a:rPr>
              <a:t>时为队满；</a:t>
            </a:r>
            <a:endParaRPr kumimoji="0" lang="zh-CN" altLang="en-US" sz="2800" b="1">
              <a:effectLst>
                <a:outerShdw blurRad="38100" dist="38100" dir="2700000" algn="tl">
                  <a:srgbClr val="C0C0C0"/>
                </a:outerShdw>
              </a:effectLst>
            </a:endParaRPr>
          </a:p>
        </p:txBody>
      </p:sp>
      <p:grpSp>
        <p:nvGrpSpPr>
          <p:cNvPr id="1132547" name="Group 3"/>
          <p:cNvGrpSpPr/>
          <p:nvPr/>
        </p:nvGrpSpPr>
        <p:grpSpPr bwMode="auto">
          <a:xfrm>
            <a:off x="558800" y="1943100"/>
            <a:ext cx="7470775" cy="946150"/>
            <a:chOff x="640" y="1539"/>
            <a:chExt cx="4706" cy="596"/>
          </a:xfrm>
        </p:grpSpPr>
        <p:graphicFrame>
          <p:nvGraphicFramePr>
            <p:cNvPr id="1132548" name="Object 4"/>
            <p:cNvGraphicFramePr>
              <a:graphicFrameLocks noChangeAspect="1"/>
            </p:cNvGraphicFramePr>
            <p:nvPr/>
          </p:nvGraphicFramePr>
          <p:xfrm>
            <a:off x="640" y="1706"/>
            <a:ext cx="339" cy="336"/>
          </p:xfrm>
          <a:graphic>
            <a:graphicData uri="http://schemas.openxmlformats.org/presentationml/2006/ole">
              <mc:AlternateContent xmlns:mc="http://schemas.openxmlformats.org/markup-compatibility/2006">
                <mc:Choice xmlns:v="urn:schemas-microsoft-com:vml" Requires="v">
                  <p:oleObj spid="_x0000_s433153" name="Clip" r:id="rId1" imgW="861060" imgH="845185" progId="MS_ClipArt_Gallery.5">
                    <p:embed/>
                  </p:oleObj>
                </mc:Choice>
                <mc:Fallback>
                  <p:oleObj name="Clip" r:id="rId1" imgW="861060" imgH="845185" progId="MS_ClipArt_Gallery.5">
                    <p:embed/>
                    <p:pic>
                      <p:nvPicPr>
                        <p:cNvPr id="0" name="图片 4331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 y="1706"/>
                          <a:ext cx="339"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132549" name="Text Box 5"/>
            <p:cNvSpPr txBox="1">
              <a:spLocks noChangeArrowheads="1"/>
            </p:cNvSpPr>
            <p:nvPr/>
          </p:nvSpPr>
          <p:spPr bwMode="auto">
            <a:xfrm>
              <a:off x="1036" y="1539"/>
              <a:ext cx="4310"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0" lang="zh-CN" altLang="en-US" sz="2800" b="1">
                  <a:effectLst>
                    <a:outerShdw blurRad="38100" dist="38100" dir="2700000" algn="tl">
                      <a:srgbClr val="C0C0C0"/>
                    </a:outerShdw>
                  </a:effectLst>
                </a:rPr>
                <a:t>队空、队满的判定条件出现二义性。</a:t>
              </a:r>
              <a:endParaRPr kumimoji="0" lang="zh-CN" altLang="en-US" sz="2800" b="1">
                <a:effectLst>
                  <a:outerShdw blurRad="38100" dist="38100" dir="2700000" algn="tl">
                    <a:srgbClr val="C0C0C0"/>
                  </a:outerShdw>
                </a:effectLst>
              </a:endParaRPr>
            </a:p>
            <a:p>
              <a:r>
                <a:rPr kumimoji="0" lang="zh-CN" altLang="en-US" sz="2800" b="1">
                  <a:effectLst>
                    <a:outerShdw blurRad="38100" dist="38100" dir="2700000" algn="tl">
                      <a:srgbClr val="C0C0C0"/>
                    </a:outerShdw>
                  </a:effectLst>
                </a:rPr>
                <a:t>如何将队空和队满的判定条件分开？</a:t>
              </a:r>
              <a:endParaRPr kumimoji="0" lang="zh-CN" altLang="en-US" sz="2800" b="1">
                <a:effectLst>
                  <a:outerShdw blurRad="38100" dist="38100" dir="2700000" algn="tl">
                    <a:srgbClr val="C0C0C0"/>
                  </a:outerShdw>
                </a:effectLst>
              </a:endParaRPr>
            </a:p>
          </p:txBody>
        </p:sp>
      </p:grpSp>
      <p:sp>
        <p:nvSpPr>
          <p:cNvPr id="1132551" name="Text Box 7"/>
          <p:cNvSpPr txBox="1">
            <a:spLocks noChangeArrowheads="1"/>
          </p:cNvSpPr>
          <p:nvPr/>
        </p:nvSpPr>
        <p:spPr bwMode="auto">
          <a:xfrm>
            <a:off x="522288" y="1133475"/>
            <a:ext cx="7681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0" lang="zh-CN" altLang="en-US" sz="3200" b="1">
                <a:solidFill>
                  <a:srgbClr val="FF0000"/>
                </a:solidFill>
                <a:effectLst>
                  <a:outerShdw blurRad="38100" dist="38100" dir="2700000" algn="tl">
                    <a:srgbClr val="C0C0C0"/>
                  </a:outerShdw>
                </a:effectLst>
              </a:rPr>
              <a:t>队列的顺序存储结构及实现（</a:t>
            </a:r>
            <a:r>
              <a:rPr kumimoji="0" lang="zh-CN" altLang="en-US" sz="2800" b="1">
                <a:solidFill>
                  <a:srgbClr val="FF3300"/>
                </a:solidFill>
                <a:effectLst>
                  <a:outerShdw blurRad="38100" dist="38100" dir="2700000" algn="tl">
                    <a:srgbClr val="C0C0C0"/>
                  </a:outerShdw>
                </a:effectLst>
              </a:rPr>
              <a:t>顺序队列）</a:t>
            </a:r>
            <a:endParaRPr kumimoji="0" lang="zh-CN" altLang="en-US" sz="2800" b="1">
              <a:solidFill>
                <a:srgbClr val="FF3300"/>
              </a:solidFill>
              <a:effectLst>
                <a:outerShdw blurRad="38100" dist="38100" dir="2700000" algn="tl">
                  <a:srgbClr val="C0C0C0"/>
                </a:outerShdw>
              </a:effectLst>
            </a:endParaRPr>
          </a:p>
        </p:txBody>
      </p:sp>
      <p:sp>
        <p:nvSpPr>
          <p:cNvPr id="1132552" name="Text Box 8"/>
          <p:cNvSpPr txBox="1">
            <a:spLocks noChangeArrowheads="1"/>
          </p:cNvSpPr>
          <p:nvPr/>
        </p:nvSpPr>
        <p:spPr bwMode="auto">
          <a:xfrm>
            <a:off x="528638" y="3167063"/>
            <a:ext cx="8310562"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pPr algn="just" eaLnBrk="0" hangingPunct="0">
              <a:lnSpc>
                <a:spcPct val="110000"/>
              </a:lnSpc>
            </a:pPr>
            <a:r>
              <a:rPr kumimoji="0" lang="zh-CN" altLang="en-US" sz="2800" b="1">
                <a:solidFill>
                  <a:srgbClr val="FF3300"/>
                </a:solidFill>
                <a:effectLst>
                  <a:outerShdw blurRad="38100" dist="38100" dir="2700000" algn="tl">
                    <a:srgbClr val="C0C0C0"/>
                  </a:outerShdw>
                </a:effectLst>
                <a:latin typeface="宋体" panose="02010600030101010101" pitchFamily="2" charset="-122"/>
              </a:rPr>
              <a:t>方法一：</a:t>
            </a:r>
            <a:r>
              <a:rPr kumimoji="0" lang="zh-CN" altLang="en-US" sz="2800" b="1">
                <a:effectLst>
                  <a:outerShdw blurRad="38100" dist="38100" dir="2700000" algn="tl">
                    <a:srgbClr val="C0C0C0"/>
                  </a:outerShdw>
                </a:effectLst>
                <a:latin typeface="宋体" panose="02010600030101010101" pitchFamily="2" charset="-122"/>
              </a:rPr>
              <a:t>修改队满条件，浪费一个元素空间，队满时数组中还有一个空闲单元</a:t>
            </a:r>
            <a:r>
              <a:rPr kumimoji="0" lang="zh-CN" altLang="en-US" sz="2800" b="1">
                <a:effectLst>
                  <a:outerShdw blurRad="38100" dist="38100" dir="2700000" algn="tl">
                    <a:srgbClr val="C0C0C0"/>
                  </a:outerShdw>
                </a:effectLst>
              </a:rPr>
              <a:t>；</a:t>
            </a:r>
            <a:endParaRPr kumimoji="0" lang="zh-CN" altLang="en-US" sz="2800" b="1">
              <a:effectLst>
                <a:outerShdw blurRad="38100" dist="38100" dir="2700000" algn="tl">
                  <a:srgbClr val="C0C0C0"/>
                </a:outerShdw>
              </a:effectLst>
            </a:endParaRPr>
          </a:p>
        </p:txBody>
      </p:sp>
      <p:sp>
        <p:nvSpPr>
          <p:cNvPr id="1132553" name="Text Box 9"/>
          <p:cNvSpPr txBox="1">
            <a:spLocks noChangeArrowheads="1"/>
          </p:cNvSpPr>
          <p:nvPr/>
        </p:nvSpPr>
        <p:spPr bwMode="auto">
          <a:xfrm>
            <a:off x="522288" y="5480050"/>
            <a:ext cx="8310562"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pPr algn="just" eaLnBrk="0" hangingPunct="0">
              <a:lnSpc>
                <a:spcPct val="110000"/>
              </a:lnSpc>
            </a:pPr>
            <a:r>
              <a:rPr kumimoji="0" lang="zh-CN" altLang="en-US" sz="2800" b="1">
                <a:solidFill>
                  <a:srgbClr val="FF3300"/>
                </a:solidFill>
                <a:effectLst>
                  <a:outerShdw blurRad="38100" dist="38100" dir="2700000" algn="tl">
                    <a:srgbClr val="C0C0C0"/>
                  </a:outerShdw>
                </a:effectLst>
              </a:rPr>
              <a:t>方法三：</a:t>
            </a:r>
            <a:r>
              <a:rPr kumimoji="0" lang="zh-CN" altLang="en-US" sz="2800" b="1">
                <a:effectLst>
                  <a:outerShdw blurRad="38100" dist="38100" dir="2700000" algn="tl">
                    <a:srgbClr val="C0C0C0"/>
                  </a:outerShdw>
                </a:effectLst>
              </a:rPr>
              <a:t>设置标志</a:t>
            </a:r>
            <a:r>
              <a:rPr kumimoji="0" lang="en-US" altLang="zh-CN" sz="2800" b="1">
                <a:effectLst>
                  <a:outerShdw blurRad="38100" dist="38100" dir="2700000" algn="tl">
                    <a:srgbClr val="C0C0C0"/>
                  </a:outerShdw>
                </a:effectLst>
              </a:rPr>
              <a:t>flag，</a:t>
            </a:r>
            <a:r>
              <a:rPr kumimoji="0" lang="zh-CN" altLang="en-US" sz="2800" b="1">
                <a:effectLst>
                  <a:outerShdw blurRad="38100" dist="38100" dir="2700000" algn="tl">
                    <a:srgbClr val="C0C0C0"/>
                  </a:outerShdw>
                </a:effectLst>
              </a:rPr>
              <a:t>当</a:t>
            </a:r>
            <a:r>
              <a:rPr kumimoji="0" lang="en-US" altLang="zh-CN" sz="2800" b="1">
                <a:effectLst>
                  <a:outerShdw blurRad="38100" dist="38100" dir="2700000" algn="tl">
                    <a:srgbClr val="C0C0C0"/>
                  </a:outerShdw>
                </a:effectLst>
              </a:rPr>
              <a:t>front=rear</a:t>
            </a:r>
            <a:r>
              <a:rPr kumimoji="0" lang="zh-CN" altLang="en-US" sz="2800" b="1">
                <a:effectLst>
                  <a:outerShdw blurRad="38100" dist="38100" dir="2700000" algn="tl">
                    <a:srgbClr val="C0C0C0"/>
                  </a:outerShdw>
                </a:effectLst>
              </a:rPr>
              <a:t>且</a:t>
            </a:r>
            <a:r>
              <a:rPr kumimoji="0" lang="en-US" altLang="zh-CN" sz="2800" b="1">
                <a:effectLst>
                  <a:outerShdw blurRad="38100" dist="38100" dir="2700000" algn="tl">
                    <a:srgbClr val="C0C0C0"/>
                  </a:outerShdw>
                </a:effectLst>
              </a:rPr>
              <a:t>flag=0</a:t>
            </a:r>
            <a:r>
              <a:rPr kumimoji="0" lang="zh-CN" altLang="en-US" sz="2800" b="1">
                <a:effectLst>
                  <a:outerShdw blurRad="38100" dist="38100" dir="2700000" algn="tl">
                    <a:srgbClr val="C0C0C0"/>
                  </a:outerShdw>
                </a:effectLst>
              </a:rPr>
              <a:t>时为队空，当</a:t>
            </a:r>
            <a:r>
              <a:rPr kumimoji="0" lang="en-US" altLang="zh-CN" sz="2800" b="1">
                <a:effectLst>
                  <a:outerShdw blurRad="38100" dist="38100" dir="2700000" algn="tl">
                    <a:srgbClr val="C0C0C0"/>
                  </a:outerShdw>
                </a:effectLst>
              </a:rPr>
              <a:t>front=rear</a:t>
            </a:r>
            <a:r>
              <a:rPr kumimoji="0" lang="zh-CN" altLang="en-US" sz="2800" b="1">
                <a:effectLst>
                  <a:outerShdw blurRad="38100" dist="38100" dir="2700000" algn="tl">
                    <a:srgbClr val="C0C0C0"/>
                  </a:outerShdw>
                </a:effectLst>
              </a:rPr>
              <a:t>且</a:t>
            </a:r>
            <a:r>
              <a:rPr kumimoji="0" lang="en-US" altLang="zh-CN" sz="2800" b="1">
                <a:effectLst>
                  <a:outerShdw blurRad="38100" dist="38100" dir="2700000" algn="tl">
                    <a:srgbClr val="C0C0C0"/>
                  </a:outerShdw>
                </a:effectLst>
              </a:rPr>
              <a:t>flag=1</a:t>
            </a:r>
            <a:r>
              <a:rPr kumimoji="0" lang="zh-CN" altLang="en-US" sz="2800" b="1">
                <a:effectLst>
                  <a:outerShdw blurRad="38100" dist="38100" dir="2700000" algn="tl">
                    <a:srgbClr val="C0C0C0"/>
                  </a:outerShdw>
                </a:effectLst>
              </a:rPr>
              <a:t>时为队满。</a:t>
            </a:r>
            <a:endParaRPr kumimoji="0" lang="zh-CN" altLang="en-US" sz="2800" b="1">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Text Box 2"/>
          <p:cNvSpPr txBox="1">
            <a:spLocks noChangeArrowheads="1"/>
          </p:cNvSpPr>
          <p:nvPr/>
        </p:nvSpPr>
        <p:spPr bwMode="auto">
          <a:xfrm>
            <a:off x="381000" y="1066800"/>
            <a:ext cx="8382000" cy="6021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2400"/>
              <a:t> </a:t>
            </a:r>
            <a:r>
              <a:rPr lang="en-US" altLang="zh-CN" sz="3600" b="1">
                <a:solidFill>
                  <a:srgbClr val="800000"/>
                </a:solidFill>
              </a:rPr>
              <a:t>Status</a:t>
            </a:r>
            <a:r>
              <a:rPr lang="en-US" altLang="zh-CN" sz="3600">
                <a:solidFill>
                  <a:srgbClr val="800000"/>
                </a:solidFill>
              </a:rPr>
              <a:t> InitQueue (SqQueue </a:t>
            </a:r>
            <a:r>
              <a:rPr lang="en-US" altLang="zh-CN" sz="3600" b="1">
                <a:solidFill>
                  <a:srgbClr val="800000"/>
                </a:solidFill>
              </a:rPr>
              <a:t>&amp;</a:t>
            </a:r>
            <a:r>
              <a:rPr lang="en-US" altLang="zh-CN" sz="3600">
                <a:solidFill>
                  <a:srgbClr val="800000"/>
                </a:solidFill>
              </a:rPr>
              <a:t>Q) </a:t>
            </a:r>
            <a:r>
              <a:rPr lang="en-US" altLang="zh-CN" sz="3600" b="1">
                <a:solidFill>
                  <a:srgbClr val="800000"/>
                </a:solidFill>
              </a:rPr>
              <a:t>{</a:t>
            </a:r>
            <a:endParaRPr lang="en-US" altLang="zh-CN" sz="3600">
              <a:solidFill>
                <a:srgbClr val="800000"/>
              </a:solidFill>
            </a:endParaRPr>
          </a:p>
          <a:p>
            <a:pPr eaLnBrk="0" hangingPunct="0">
              <a:lnSpc>
                <a:spcPct val="120000"/>
              </a:lnSpc>
            </a:pPr>
            <a:r>
              <a:rPr lang="en-US" altLang="zh-CN" sz="3600">
                <a:solidFill>
                  <a:srgbClr val="800000"/>
                </a:solidFill>
              </a:rPr>
              <a:t>   // </a:t>
            </a:r>
            <a:r>
              <a:rPr lang="zh-CN" altLang="en-US" sz="3600">
                <a:solidFill>
                  <a:srgbClr val="800000"/>
                </a:solidFill>
                <a:ea typeface="楷体_GB2312" charset="0"/>
              </a:rPr>
              <a:t>构造一个空队列</a:t>
            </a:r>
            <a:r>
              <a:rPr lang="en-US" altLang="zh-CN" sz="3600">
                <a:solidFill>
                  <a:srgbClr val="800000"/>
                </a:solidFill>
              </a:rPr>
              <a:t>Q</a:t>
            </a:r>
            <a:endParaRPr lang="en-US" altLang="zh-CN" sz="3600">
              <a:solidFill>
                <a:srgbClr val="800000"/>
              </a:solidFill>
            </a:endParaRPr>
          </a:p>
          <a:p>
            <a:pPr eaLnBrk="0" hangingPunct="0">
              <a:lnSpc>
                <a:spcPct val="120000"/>
              </a:lnSpc>
            </a:pPr>
            <a:r>
              <a:rPr lang="en-US" altLang="zh-CN" sz="3600">
                <a:solidFill>
                  <a:srgbClr val="800000"/>
                </a:solidFill>
              </a:rPr>
              <a:t>   Q.base = (ElemType </a:t>
            </a:r>
            <a:r>
              <a:rPr lang="en-US" altLang="zh-CN" sz="3600" b="1">
                <a:solidFill>
                  <a:srgbClr val="800000"/>
                </a:solidFill>
              </a:rPr>
              <a:t>*</a:t>
            </a:r>
            <a:r>
              <a:rPr lang="en-US" altLang="zh-CN" sz="3600">
                <a:solidFill>
                  <a:srgbClr val="800000"/>
                </a:solidFill>
              </a:rPr>
              <a:t>) </a:t>
            </a:r>
            <a:r>
              <a:rPr lang="en-US" altLang="zh-CN" sz="3600" b="1">
                <a:solidFill>
                  <a:srgbClr val="800000"/>
                </a:solidFill>
              </a:rPr>
              <a:t>malloc </a:t>
            </a:r>
            <a:endParaRPr lang="en-US" altLang="zh-CN" sz="3600" b="1">
              <a:solidFill>
                <a:srgbClr val="800000"/>
              </a:solidFill>
            </a:endParaRPr>
          </a:p>
          <a:p>
            <a:pPr eaLnBrk="0" hangingPunct="0">
              <a:lnSpc>
                <a:spcPct val="120000"/>
              </a:lnSpc>
            </a:pPr>
            <a:r>
              <a:rPr lang="en-US" altLang="zh-CN" sz="3600" b="1">
                <a:solidFill>
                  <a:srgbClr val="800000"/>
                </a:solidFill>
              </a:rPr>
              <a:t>            </a:t>
            </a:r>
            <a:r>
              <a:rPr lang="en-US" altLang="zh-CN" sz="3600">
                <a:solidFill>
                  <a:srgbClr val="800000"/>
                </a:solidFill>
              </a:rPr>
              <a:t>(MAXQSIZE *</a:t>
            </a:r>
            <a:r>
              <a:rPr lang="en-US" altLang="zh-CN" sz="3600" b="1">
                <a:solidFill>
                  <a:srgbClr val="800000"/>
                </a:solidFill>
              </a:rPr>
              <a:t>sizeof </a:t>
            </a:r>
            <a:r>
              <a:rPr lang="en-US" altLang="zh-CN" sz="3600">
                <a:solidFill>
                  <a:srgbClr val="800000"/>
                </a:solidFill>
              </a:rPr>
              <a:t>(ElemType));</a:t>
            </a:r>
            <a:endParaRPr lang="en-US" altLang="zh-CN" sz="3600">
              <a:solidFill>
                <a:srgbClr val="800000"/>
              </a:solidFill>
            </a:endParaRPr>
          </a:p>
          <a:p>
            <a:pPr eaLnBrk="0" hangingPunct="0">
              <a:lnSpc>
                <a:spcPct val="120000"/>
              </a:lnSpc>
            </a:pPr>
            <a:r>
              <a:rPr lang="en-US" altLang="zh-CN" sz="3600">
                <a:solidFill>
                  <a:srgbClr val="800000"/>
                </a:solidFill>
              </a:rPr>
              <a:t>    </a:t>
            </a:r>
            <a:r>
              <a:rPr lang="en-US" altLang="zh-CN" sz="3600" b="1">
                <a:solidFill>
                  <a:srgbClr val="800000"/>
                </a:solidFill>
              </a:rPr>
              <a:t>if</a:t>
            </a:r>
            <a:r>
              <a:rPr lang="en-US" altLang="zh-CN" sz="3600">
                <a:solidFill>
                  <a:srgbClr val="800000"/>
                </a:solidFill>
              </a:rPr>
              <a:t> (</a:t>
            </a:r>
            <a:r>
              <a:rPr lang="en-US" altLang="zh-CN" sz="3600" b="1">
                <a:solidFill>
                  <a:srgbClr val="800000"/>
                </a:solidFill>
              </a:rPr>
              <a:t>!</a:t>
            </a:r>
            <a:r>
              <a:rPr lang="en-US" altLang="zh-CN" sz="3600">
                <a:solidFill>
                  <a:srgbClr val="800000"/>
                </a:solidFill>
              </a:rPr>
              <a:t>Q.base) </a:t>
            </a:r>
            <a:r>
              <a:rPr lang="en-US" altLang="zh-CN" sz="3600" b="1">
                <a:solidFill>
                  <a:srgbClr val="800000"/>
                </a:solidFill>
              </a:rPr>
              <a:t>exit</a:t>
            </a:r>
            <a:r>
              <a:rPr lang="en-US" altLang="zh-CN" sz="3600">
                <a:solidFill>
                  <a:srgbClr val="800000"/>
                </a:solidFill>
              </a:rPr>
              <a:t> (OVERFLOW);  </a:t>
            </a:r>
            <a:endParaRPr lang="en-US" altLang="zh-CN" sz="3600">
              <a:solidFill>
                <a:srgbClr val="800000"/>
              </a:solidFill>
            </a:endParaRPr>
          </a:p>
          <a:p>
            <a:pPr eaLnBrk="0" hangingPunct="0">
              <a:lnSpc>
                <a:spcPct val="120000"/>
              </a:lnSpc>
            </a:pPr>
            <a:r>
              <a:rPr lang="en-US" altLang="zh-CN" sz="3600">
                <a:solidFill>
                  <a:srgbClr val="800000"/>
                </a:solidFill>
              </a:rPr>
              <a:t>                                           // </a:t>
            </a:r>
            <a:r>
              <a:rPr lang="zh-CN" altLang="en-US" sz="3600">
                <a:solidFill>
                  <a:srgbClr val="800000"/>
                </a:solidFill>
                <a:ea typeface="楷体_GB2312" charset="0"/>
              </a:rPr>
              <a:t>存储分配失败</a:t>
            </a:r>
            <a:endParaRPr lang="zh-CN" altLang="en-US" sz="3600">
              <a:solidFill>
                <a:srgbClr val="800000"/>
              </a:solidFill>
            </a:endParaRPr>
          </a:p>
          <a:p>
            <a:pPr eaLnBrk="0" hangingPunct="0">
              <a:lnSpc>
                <a:spcPct val="120000"/>
              </a:lnSpc>
            </a:pPr>
            <a:r>
              <a:rPr lang="zh-CN" altLang="en-US" sz="3600">
                <a:solidFill>
                  <a:srgbClr val="800000"/>
                </a:solidFill>
              </a:rPr>
              <a:t>    </a:t>
            </a:r>
            <a:r>
              <a:rPr lang="en-US" altLang="zh-CN" sz="3600">
                <a:solidFill>
                  <a:srgbClr val="800000"/>
                </a:solidFill>
              </a:rPr>
              <a:t>Q.front = Q.rear = 0;</a:t>
            </a:r>
            <a:endParaRPr lang="en-US" altLang="zh-CN" sz="3600">
              <a:solidFill>
                <a:srgbClr val="800000"/>
              </a:solidFill>
            </a:endParaRPr>
          </a:p>
          <a:p>
            <a:pPr eaLnBrk="0" hangingPunct="0">
              <a:lnSpc>
                <a:spcPct val="120000"/>
              </a:lnSpc>
            </a:pPr>
            <a:r>
              <a:rPr lang="en-US" altLang="zh-CN" sz="3600">
                <a:solidFill>
                  <a:srgbClr val="800000"/>
                </a:solidFill>
              </a:rPr>
              <a:t>     </a:t>
            </a:r>
            <a:r>
              <a:rPr lang="en-US" altLang="zh-CN" sz="3600" b="1">
                <a:solidFill>
                  <a:srgbClr val="800000"/>
                </a:solidFill>
              </a:rPr>
              <a:t>return</a:t>
            </a:r>
            <a:r>
              <a:rPr lang="en-US" altLang="zh-CN" sz="3600">
                <a:solidFill>
                  <a:srgbClr val="800000"/>
                </a:solidFill>
              </a:rPr>
              <a:t> OK;</a:t>
            </a:r>
            <a:endParaRPr lang="en-US" altLang="zh-CN" sz="3600">
              <a:solidFill>
                <a:srgbClr val="800000"/>
              </a:solidFill>
            </a:endParaRPr>
          </a:p>
          <a:p>
            <a:pPr eaLnBrk="0" hangingPunct="0">
              <a:lnSpc>
                <a:spcPct val="120000"/>
              </a:lnSpc>
            </a:pPr>
            <a:r>
              <a:rPr lang="en-US" altLang="zh-CN" sz="3600">
                <a:solidFill>
                  <a:srgbClr val="800000"/>
                </a:solidFill>
              </a:rPr>
              <a:t> </a:t>
            </a:r>
            <a:r>
              <a:rPr lang="en-US" altLang="zh-CN" sz="3600" b="1">
                <a:solidFill>
                  <a:srgbClr val="800000"/>
                </a:solidFill>
              </a:rPr>
              <a:t>}</a:t>
            </a:r>
            <a:endParaRPr lang="en-US" altLang="zh-CN" sz="3600">
              <a:solidFill>
                <a:srgbClr val="800000"/>
              </a:solidFill>
            </a:endParaRP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2066" name="Text Box 2"/>
          <p:cNvSpPr txBox="1">
            <a:spLocks noChangeArrowheads="1"/>
          </p:cNvSpPr>
          <p:nvPr/>
        </p:nvSpPr>
        <p:spPr bwMode="auto">
          <a:xfrm>
            <a:off x="304800" y="1066800"/>
            <a:ext cx="8839200" cy="536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en-US" altLang="zh-CN" sz="3600" b="1">
                <a:solidFill>
                  <a:srgbClr val="800000"/>
                </a:solidFill>
              </a:rPr>
              <a:t>Status</a:t>
            </a:r>
            <a:r>
              <a:rPr lang="en-US" altLang="zh-CN" sz="3600">
                <a:solidFill>
                  <a:srgbClr val="800000"/>
                </a:solidFill>
              </a:rPr>
              <a:t> EnQueue (SqQueue </a:t>
            </a:r>
            <a:r>
              <a:rPr lang="en-US" altLang="zh-CN" sz="3600" b="1">
                <a:solidFill>
                  <a:srgbClr val="800000"/>
                </a:solidFill>
              </a:rPr>
              <a:t>&amp;</a:t>
            </a:r>
            <a:r>
              <a:rPr lang="en-US" altLang="zh-CN" sz="3600">
                <a:solidFill>
                  <a:srgbClr val="800000"/>
                </a:solidFill>
              </a:rPr>
              <a:t>Q, ElemType e) </a:t>
            </a:r>
            <a:r>
              <a:rPr lang="en-US" altLang="zh-CN" sz="3600" b="1">
                <a:solidFill>
                  <a:srgbClr val="800000"/>
                </a:solidFill>
              </a:rPr>
              <a:t>{</a:t>
            </a:r>
            <a:r>
              <a:rPr lang="en-US" altLang="zh-CN" sz="3600">
                <a:solidFill>
                  <a:srgbClr val="800000"/>
                </a:solidFill>
              </a:rPr>
              <a:t>   // </a:t>
            </a:r>
            <a:r>
              <a:rPr lang="zh-CN" altLang="en-US" sz="3600">
                <a:solidFill>
                  <a:srgbClr val="800000"/>
                </a:solidFill>
                <a:ea typeface="楷体_GB2312" charset="0"/>
              </a:rPr>
              <a:t>插入元素</a:t>
            </a:r>
            <a:r>
              <a:rPr lang="en-US" altLang="zh-CN" sz="3600">
                <a:solidFill>
                  <a:srgbClr val="800000"/>
                </a:solidFill>
                <a:ea typeface="楷体_GB2312" charset="0"/>
              </a:rPr>
              <a:t>e</a:t>
            </a:r>
            <a:r>
              <a:rPr lang="zh-CN" altLang="en-US" sz="3600">
                <a:solidFill>
                  <a:srgbClr val="800000"/>
                </a:solidFill>
                <a:ea typeface="楷体_GB2312" charset="0"/>
              </a:rPr>
              <a:t>为</a:t>
            </a:r>
            <a:r>
              <a:rPr lang="en-US" altLang="zh-CN" sz="3600">
                <a:solidFill>
                  <a:srgbClr val="800000"/>
                </a:solidFill>
                <a:ea typeface="楷体_GB2312" charset="0"/>
              </a:rPr>
              <a:t>Q</a:t>
            </a:r>
            <a:r>
              <a:rPr lang="zh-CN" altLang="en-US" sz="3600">
                <a:solidFill>
                  <a:srgbClr val="800000"/>
                </a:solidFill>
                <a:ea typeface="楷体_GB2312" charset="0"/>
              </a:rPr>
              <a:t>的新的队尾元素</a:t>
            </a:r>
            <a:endParaRPr lang="zh-CN" altLang="en-US" sz="3600">
              <a:solidFill>
                <a:srgbClr val="800000"/>
              </a:solidFill>
            </a:endParaRPr>
          </a:p>
          <a:p>
            <a:pPr eaLnBrk="0" hangingPunct="0">
              <a:lnSpc>
                <a:spcPct val="120000"/>
              </a:lnSpc>
            </a:pPr>
            <a:r>
              <a:rPr lang="zh-CN" altLang="en-US" sz="3600">
                <a:solidFill>
                  <a:srgbClr val="800000"/>
                </a:solidFill>
              </a:rPr>
              <a:t>    </a:t>
            </a:r>
            <a:r>
              <a:rPr lang="en-US" altLang="zh-CN" sz="3600" b="1">
                <a:solidFill>
                  <a:srgbClr val="800000"/>
                </a:solidFill>
              </a:rPr>
              <a:t>if</a:t>
            </a:r>
            <a:r>
              <a:rPr lang="en-US" altLang="zh-CN" sz="3600">
                <a:solidFill>
                  <a:srgbClr val="800000"/>
                </a:solidFill>
              </a:rPr>
              <a:t> ((Q.rear+1) </a:t>
            </a:r>
            <a:r>
              <a:rPr lang="en-US" altLang="zh-CN" sz="3600" b="1">
                <a:solidFill>
                  <a:srgbClr val="800000"/>
                </a:solidFill>
              </a:rPr>
              <a:t>%</a:t>
            </a:r>
            <a:r>
              <a:rPr lang="en-US" altLang="zh-CN" sz="3600">
                <a:solidFill>
                  <a:srgbClr val="800000"/>
                </a:solidFill>
              </a:rPr>
              <a:t> MAXQSIZE </a:t>
            </a:r>
            <a:r>
              <a:rPr lang="en-US" altLang="zh-CN" sz="3600" b="1">
                <a:solidFill>
                  <a:srgbClr val="800000"/>
                </a:solidFill>
              </a:rPr>
              <a:t>==</a:t>
            </a:r>
            <a:r>
              <a:rPr lang="en-US" altLang="zh-CN" sz="3600">
                <a:solidFill>
                  <a:srgbClr val="800000"/>
                </a:solidFill>
              </a:rPr>
              <a:t> Q.front) </a:t>
            </a:r>
            <a:endParaRPr lang="en-US" altLang="zh-CN" sz="3600">
              <a:solidFill>
                <a:srgbClr val="800000"/>
              </a:solidFill>
            </a:endParaRPr>
          </a:p>
          <a:p>
            <a:pPr eaLnBrk="0" hangingPunct="0">
              <a:lnSpc>
                <a:spcPct val="120000"/>
              </a:lnSpc>
            </a:pPr>
            <a:r>
              <a:rPr lang="en-US" altLang="zh-CN" sz="3600">
                <a:solidFill>
                  <a:srgbClr val="800000"/>
                </a:solidFill>
              </a:rPr>
              <a:t>        </a:t>
            </a:r>
            <a:r>
              <a:rPr lang="en-US" altLang="zh-CN" sz="3600" b="1">
                <a:solidFill>
                  <a:srgbClr val="800000"/>
                </a:solidFill>
              </a:rPr>
              <a:t>return</a:t>
            </a:r>
            <a:r>
              <a:rPr lang="en-US" altLang="zh-CN" sz="3600">
                <a:solidFill>
                  <a:srgbClr val="800000"/>
                </a:solidFill>
              </a:rPr>
              <a:t> ERROR; //</a:t>
            </a:r>
            <a:r>
              <a:rPr lang="zh-CN" altLang="en-US" sz="3600">
                <a:solidFill>
                  <a:srgbClr val="800000"/>
                </a:solidFill>
              </a:rPr>
              <a:t>队列满</a:t>
            </a:r>
            <a:endParaRPr lang="zh-CN" altLang="en-US" sz="3600">
              <a:solidFill>
                <a:srgbClr val="800000"/>
              </a:solidFill>
            </a:endParaRPr>
          </a:p>
          <a:p>
            <a:pPr eaLnBrk="0" hangingPunct="0">
              <a:lnSpc>
                <a:spcPct val="120000"/>
              </a:lnSpc>
            </a:pPr>
            <a:r>
              <a:rPr lang="zh-CN" altLang="en-US" sz="3600">
                <a:solidFill>
                  <a:srgbClr val="800000"/>
                </a:solidFill>
              </a:rPr>
              <a:t>    </a:t>
            </a:r>
            <a:r>
              <a:rPr lang="en-US" altLang="zh-CN" sz="3600">
                <a:solidFill>
                  <a:srgbClr val="800000"/>
                </a:solidFill>
              </a:rPr>
              <a:t>Q.base[Q.rear] = e;</a:t>
            </a:r>
            <a:endParaRPr lang="en-US" altLang="zh-CN" sz="3600">
              <a:solidFill>
                <a:srgbClr val="800000"/>
              </a:solidFill>
            </a:endParaRPr>
          </a:p>
          <a:p>
            <a:pPr eaLnBrk="0" hangingPunct="0">
              <a:lnSpc>
                <a:spcPct val="120000"/>
              </a:lnSpc>
            </a:pPr>
            <a:r>
              <a:rPr lang="en-US" altLang="zh-CN" sz="3600">
                <a:solidFill>
                  <a:srgbClr val="800000"/>
                </a:solidFill>
              </a:rPr>
              <a:t>    Q.rear = (Q.rear+1) </a:t>
            </a:r>
            <a:r>
              <a:rPr lang="en-US" altLang="zh-CN" sz="3600" b="1">
                <a:solidFill>
                  <a:srgbClr val="800000"/>
                </a:solidFill>
              </a:rPr>
              <a:t>%</a:t>
            </a:r>
            <a:r>
              <a:rPr lang="en-US" altLang="zh-CN" sz="3600">
                <a:solidFill>
                  <a:srgbClr val="800000"/>
                </a:solidFill>
              </a:rPr>
              <a:t> MAXQSIZE;</a:t>
            </a:r>
            <a:endParaRPr lang="en-US" altLang="zh-CN" sz="3600">
              <a:solidFill>
                <a:srgbClr val="800000"/>
              </a:solidFill>
            </a:endParaRPr>
          </a:p>
          <a:p>
            <a:pPr eaLnBrk="0" hangingPunct="0">
              <a:lnSpc>
                <a:spcPct val="120000"/>
              </a:lnSpc>
            </a:pPr>
            <a:r>
              <a:rPr lang="en-US" altLang="zh-CN" sz="3600">
                <a:solidFill>
                  <a:srgbClr val="800000"/>
                </a:solidFill>
              </a:rPr>
              <a:t>    </a:t>
            </a:r>
            <a:r>
              <a:rPr lang="en-US" altLang="zh-CN" sz="3600" b="1">
                <a:solidFill>
                  <a:srgbClr val="800000"/>
                </a:solidFill>
              </a:rPr>
              <a:t>return</a:t>
            </a:r>
            <a:r>
              <a:rPr lang="en-US" altLang="zh-CN" sz="3600">
                <a:solidFill>
                  <a:srgbClr val="800000"/>
                </a:solidFill>
              </a:rPr>
              <a:t> OK;</a:t>
            </a:r>
            <a:endParaRPr lang="en-US" altLang="zh-CN" sz="3600">
              <a:solidFill>
                <a:srgbClr val="800000"/>
              </a:solidFill>
            </a:endParaRPr>
          </a:p>
          <a:p>
            <a:pPr eaLnBrk="0" hangingPunct="0">
              <a:lnSpc>
                <a:spcPct val="120000"/>
              </a:lnSpc>
            </a:pPr>
            <a:r>
              <a:rPr lang="en-US" altLang="zh-CN" sz="3600" b="1">
                <a:solidFill>
                  <a:srgbClr val="800000"/>
                </a:solidFill>
              </a:rPr>
              <a:t>}</a:t>
            </a:r>
            <a:endParaRPr lang="en-US" altLang="zh-CN" sz="4000"/>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90" name="Text Box 2"/>
          <p:cNvSpPr txBox="1">
            <a:spLocks noChangeArrowheads="1"/>
          </p:cNvSpPr>
          <p:nvPr/>
        </p:nvSpPr>
        <p:spPr bwMode="auto">
          <a:xfrm>
            <a:off x="0" y="1295400"/>
            <a:ext cx="9274175" cy="5287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20000"/>
              </a:lnSpc>
            </a:pPr>
            <a:r>
              <a:rPr lang="zh-CN" altLang="en-US" sz="2400"/>
              <a:t> </a:t>
            </a:r>
            <a:r>
              <a:rPr lang="en-US" altLang="zh-CN" sz="3600" b="1">
                <a:solidFill>
                  <a:srgbClr val="800000"/>
                </a:solidFill>
                <a:ea typeface="楷体_GB2312" charset="0"/>
              </a:rPr>
              <a:t>Status</a:t>
            </a:r>
            <a:r>
              <a:rPr lang="en-US" altLang="zh-CN" sz="3600">
                <a:solidFill>
                  <a:srgbClr val="800000"/>
                </a:solidFill>
                <a:ea typeface="楷体_GB2312" charset="0"/>
              </a:rPr>
              <a:t> DeQueue (SqQueue </a:t>
            </a:r>
            <a:r>
              <a:rPr lang="en-US" altLang="zh-CN" sz="3600" b="1">
                <a:solidFill>
                  <a:srgbClr val="800000"/>
                </a:solidFill>
                <a:ea typeface="楷体_GB2312" charset="0"/>
              </a:rPr>
              <a:t>&amp;</a:t>
            </a:r>
            <a:r>
              <a:rPr lang="en-US" altLang="zh-CN" sz="3600">
                <a:solidFill>
                  <a:srgbClr val="800000"/>
                </a:solidFill>
                <a:ea typeface="楷体_GB2312" charset="0"/>
              </a:rPr>
              <a:t>Q, ElemType </a:t>
            </a:r>
            <a:r>
              <a:rPr lang="en-US" altLang="zh-CN" sz="3600" b="1">
                <a:solidFill>
                  <a:srgbClr val="800000"/>
                </a:solidFill>
                <a:ea typeface="楷体_GB2312" charset="0"/>
              </a:rPr>
              <a:t>&amp;</a:t>
            </a:r>
            <a:r>
              <a:rPr lang="en-US" altLang="zh-CN" sz="3600">
                <a:solidFill>
                  <a:srgbClr val="800000"/>
                </a:solidFill>
                <a:ea typeface="楷体_GB2312" charset="0"/>
              </a:rPr>
              <a:t>e) </a:t>
            </a:r>
            <a:r>
              <a:rPr lang="en-US" altLang="zh-CN" sz="3600" b="1">
                <a:solidFill>
                  <a:srgbClr val="800000"/>
                </a:solidFill>
                <a:ea typeface="楷体_GB2312" charset="0"/>
              </a:rPr>
              <a:t>{</a:t>
            </a:r>
            <a:r>
              <a:rPr lang="en-US" altLang="zh-CN" sz="3600">
                <a:solidFill>
                  <a:srgbClr val="800000"/>
                </a:solidFill>
                <a:ea typeface="楷体_GB2312" charset="0"/>
              </a:rPr>
              <a:t>  </a:t>
            </a:r>
            <a:r>
              <a:rPr lang="en-US" altLang="zh-CN" sz="3200">
                <a:solidFill>
                  <a:srgbClr val="800000"/>
                </a:solidFill>
                <a:ea typeface="楷体_GB2312" charset="0"/>
              </a:rPr>
              <a:t>// </a:t>
            </a:r>
            <a:r>
              <a:rPr lang="zh-CN" altLang="en-US" sz="3200">
                <a:solidFill>
                  <a:srgbClr val="800000"/>
                </a:solidFill>
                <a:ea typeface="楷体_GB2312" charset="0"/>
              </a:rPr>
              <a:t>若队列不空，则删除</a:t>
            </a:r>
            <a:r>
              <a:rPr lang="en-US" altLang="zh-CN" sz="3200">
                <a:solidFill>
                  <a:srgbClr val="800000"/>
                </a:solidFill>
                <a:ea typeface="楷体_GB2312" charset="0"/>
              </a:rPr>
              <a:t>Q</a:t>
            </a:r>
            <a:r>
              <a:rPr lang="zh-CN" altLang="en-US" sz="3200">
                <a:solidFill>
                  <a:srgbClr val="800000"/>
                </a:solidFill>
                <a:ea typeface="楷体_GB2312" charset="0"/>
              </a:rPr>
              <a:t>的队头元素，</a:t>
            </a:r>
            <a:endParaRPr lang="zh-CN" altLang="en-US" sz="3200">
              <a:solidFill>
                <a:srgbClr val="800000"/>
              </a:solidFill>
              <a:ea typeface="楷体_GB2312" charset="0"/>
            </a:endParaRPr>
          </a:p>
          <a:p>
            <a:pPr eaLnBrk="0" hangingPunct="0">
              <a:lnSpc>
                <a:spcPct val="120000"/>
              </a:lnSpc>
            </a:pPr>
            <a:r>
              <a:rPr lang="zh-CN" altLang="en-US" sz="3200">
                <a:solidFill>
                  <a:srgbClr val="800000"/>
                </a:solidFill>
                <a:ea typeface="楷体_GB2312" charset="0"/>
              </a:rPr>
              <a:t>   </a:t>
            </a:r>
            <a:r>
              <a:rPr lang="en-US" altLang="zh-CN" sz="3200">
                <a:solidFill>
                  <a:srgbClr val="800000"/>
                </a:solidFill>
                <a:ea typeface="楷体_GB2312" charset="0"/>
              </a:rPr>
              <a:t>// </a:t>
            </a:r>
            <a:r>
              <a:rPr lang="zh-CN" altLang="en-US" sz="3200">
                <a:solidFill>
                  <a:srgbClr val="800000"/>
                </a:solidFill>
                <a:ea typeface="楷体_GB2312" charset="0"/>
              </a:rPr>
              <a:t>用</a:t>
            </a:r>
            <a:r>
              <a:rPr lang="en-US" altLang="zh-CN" sz="3200">
                <a:solidFill>
                  <a:srgbClr val="800000"/>
                </a:solidFill>
                <a:ea typeface="楷体_GB2312" charset="0"/>
              </a:rPr>
              <a:t>e</a:t>
            </a:r>
            <a:r>
              <a:rPr lang="zh-CN" altLang="en-US" sz="3200">
                <a:solidFill>
                  <a:srgbClr val="800000"/>
                </a:solidFill>
                <a:ea typeface="楷体_GB2312" charset="0"/>
              </a:rPr>
              <a:t>返回其值，并返回</a:t>
            </a:r>
            <a:r>
              <a:rPr lang="en-US" altLang="zh-CN" sz="3200">
                <a:solidFill>
                  <a:srgbClr val="800000"/>
                </a:solidFill>
                <a:ea typeface="楷体_GB2312" charset="0"/>
              </a:rPr>
              <a:t>OK;  </a:t>
            </a:r>
            <a:r>
              <a:rPr lang="zh-CN" altLang="en-US" sz="3200">
                <a:solidFill>
                  <a:srgbClr val="800000"/>
                </a:solidFill>
                <a:ea typeface="楷体_GB2312" charset="0"/>
              </a:rPr>
              <a:t>否则返回</a:t>
            </a:r>
            <a:r>
              <a:rPr lang="en-US" altLang="zh-CN" sz="3200">
                <a:solidFill>
                  <a:srgbClr val="800000"/>
                </a:solidFill>
                <a:ea typeface="楷体_GB2312" charset="0"/>
              </a:rPr>
              <a:t>ERROR</a:t>
            </a:r>
            <a:endParaRPr lang="en-US" altLang="zh-CN" sz="3600">
              <a:solidFill>
                <a:srgbClr val="800000"/>
              </a:solidFill>
              <a:ea typeface="楷体_GB2312" charset="0"/>
            </a:endParaRPr>
          </a:p>
          <a:p>
            <a:pPr eaLnBrk="0" hangingPunct="0">
              <a:lnSpc>
                <a:spcPct val="120000"/>
              </a:lnSpc>
            </a:pPr>
            <a:r>
              <a:rPr lang="en-US" altLang="zh-CN" sz="3600" b="1">
                <a:solidFill>
                  <a:srgbClr val="800000"/>
                </a:solidFill>
                <a:ea typeface="楷体_GB2312" charset="0"/>
              </a:rPr>
              <a:t>    if</a:t>
            </a:r>
            <a:r>
              <a:rPr lang="en-US" altLang="zh-CN" sz="3600">
                <a:solidFill>
                  <a:srgbClr val="800000"/>
                </a:solidFill>
                <a:ea typeface="楷体_GB2312" charset="0"/>
              </a:rPr>
              <a:t> (Q.front </a:t>
            </a:r>
            <a:r>
              <a:rPr lang="en-US" altLang="zh-CN" sz="3600" b="1">
                <a:solidFill>
                  <a:srgbClr val="800000"/>
                </a:solidFill>
                <a:ea typeface="楷体_GB2312" charset="0"/>
              </a:rPr>
              <a:t>==</a:t>
            </a:r>
            <a:r>
              <a:rPr lang="en-US" altLang="zh-CN" sz="3600">
                <a:solidFill>
                  <a:srgbClr val="800000"/>
                </a:solidFill>
                <a:ea typeface="楷体_GB2312" charset="0"/>
              </a:rPr>
              <a:t> Q.rear)  </a:t>
            </a:r>
            <a:r>
              <a:rPr lang="en-US" altLang="zh-CN" sz="3600" b="1">
                <a:solidFill>
                  <a:srgbClr val="800000"/>
                </a:solidFill>
                <a:ea typeface="楷体_GB2312" charset="0"/>
              </a:rPr>
              <a:t>return</a:t>
            </a:r>
            <a:r>
              <a:rPr lang="en-US" altLang="zh-CN" sz="3600">
                <a:solidFill>
                  <a:srgbClr val="800000"/>
                </a:solidFill>
                <a:ea typeface="楷体_GB2312" charset="0"/>
              </a:rPr>
              <a:t> ERROR;</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e = Q.base[Q.front];</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b="1">
                <a:solidFill>
                  <a:srgbClr val="800000"/>
                </a:solidFill>
                <a:ea typeface="楷体_GB2312" charset="0"/>
              </a:rPr>
              <a:t>Q.front = (Q.front+1) % MAXQSIZE;</a:t>
            </a:r>
            <a:endParaRPr lang="en-US" altLang="zh-CN" sz="3600">
              <a:solidFill>
                <a:srgbClr val="800000"/>
              </a:solidFill>
              <a:ea typeface="楷体_GB2312" charset="0"/>
            </a:endParaRPr>
          </a:p>
          <a:p>
            <a:pPr eaLnBrk="0" hangingPunct="0">
              <a:lnSpc>
                <a:spcPct val="120000"/>
              </a:lnSpc>
            </a:pPr>
            <a:r>
              <a:rPr lang="en-US" altLang="zh-CN" sz="3600">
                <a:solidFill>
                  <a:srgbClr val="800000"/>
                </a:solidFill>
                <a:ea typeface="楷体_GB2312" charset="0"/>
              </a:rPr>
              <a:t>    </a:t>
            </a:r>
            <a:r>
              <a:rPr lang="en-US" altLang="zh-CN" sz="3600" b="1">
                <a:solidFill>
                  <a:srgbClr val="800000"/>
                </a:solidFill>
                <a:ea typeface="楷体_GB2312" charset="0"/>
              </a:rPr>
              <a:t>return</a:t>
            </a:r>
            <a:r>
              <a:rPr lang="en-US" altLang="zh-CN" sz="3600">
                <a:solidFill>
                  <a:srgbClr val="800000"/>
                </a:solidFill>
                <a:ea typeface="楷体_GB2312" charset="0"/>
              </a:rPr>
              <a:t> OK;</a:t>
            </a:r>
            <a:endParaRPr lang="en-US" altLang="zh-CN" sz="3600">
              <a:solidFill>
                <a:srgbClr val="800000"/>
              </a:solidFill>
              <a:ea typeface="楷体_GB2312" charset="0"/>
            </a:endParaRPr>
          </a:p>
          <a:p>
            <a:pPr eaLnBrk="0" hangingPunct="0">
              <a:lnSpc>
                <a:spcPct val="120000"/>
              </a:lnSpc>
            </a:pPr>
            <a:r>
              <a:rPr lang="en-US" altLang="zh-CN" sz="3600" b="1">
                <a:solidFill>
                  <a:srgbClr val="800000"/>
                </a:solidFill>
                <a:ea typeface="楷体_GB2312" charset="0"/>
              </a:rPr>
              <a:t>}</a:t>
            </a:r>
            <a:endParaRPr lang="en-US" altLang="zh-CN" sz="4000"/>
          </a:p>
        </p:txBody>
      </p:sp>
      <p:sp>
        <p:nvSpPr>
          <p:cNvPr id="1113091" name="AutoShape 3">
            <a:hlinkClick r:id="rId1" action="ppaction://hlinksldjump" highlightClick="1"/>
          </p:cNvPr>
          <p:cNvSpPr>
            <a:spLocks noChangeArrowheads="1"/>
          </p:cNvSpPr>
          <p:nvPr/>
        </p:nvSpPr>
        <p:spPr bwMode="auto">
          <a:xfrm>
            <a:off x="8305800" y="6172200"/>
            <a:ext cx="381000" cy="381000"/>
          </a:xfrm>
          <a:prstGeom prst="actionButtonBackPrevious">
            <a:avLst/>
          </a:prstGeom>
          <a:solidFill>
            <a:srgbClr val="A50021"/>
          </a:solidFill>
          <a:ln w="9525">
            <a:solidFill>
              <a:srgbClr val="FF5050"/>
            </a:solidFill>
            <a:miter lim="800000"/>
          </a:ln>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835" name="Rectangle 3"/>
          <p:cNvSpPr>
            <a:spLocks noGrp="1" noChangeArrowheads="1"/>
          </p:cNvSpPr>
          <p:nvPr>
            <p:ph type="body" idx="1"/>
          </p:nvPr>
        </p:nvSpPr>
        <p:spPr>
          <a:xfrm>
            <a:off x="579438" y="1452563"/>
            <a:ext cx="8259762" cy="5481637"/>
          </a:xfrm>
        </p:spPr>
        <p:txBody>
          <a:bodyPr/>
          <a:lstStyle/>
          <a:p>
            <a:r>
              <a:rPr lang="en-US" altLang="zh-CN">
                <a:latin typeface="楷体_GB2312" charset="0"/>
                <a:ea typeface="楷体_GB2312" charset="0"/>
              </a:rPr>
              <a:t>CPU</a:t>
            </a:r>
            <a:r>
              <a:rPr lang="zh-CN" altLang="en-US">
                <a:latin typeface="楷体_GB2312" charset="0"/>
                <a:ea typeface="楷体_GB2312" charset="0"/>
              </a:rPr>
              <a:t>资源的竞争问题。</a:t>
            </a:r>
            <a:endParaRPr lang="zh-CN" altLang="en-US">
              <a:latin typeface="楷体_GB2312" charset="0"/>
              <a:ea typeface="楷体_GB2312" charset="0"/>
            </a:endParaRPr>
          </a:p>
          <a:p>
            <a:r>
              <a:rPr lang="zh-CN" altLang="en-US">
                <a:latin typeface="楷体_GB2312" charset="0"/>
                <a:ea typeface="楷体_GB2312" charset="0"/>
              </a:rPr>
              <a:t>主机与外部设备之间速度不匹配的问题（例如主机和打印机）</a:t>
            </a:r>
            <a:endParaRPr lang="zh-CN" altLang="en-US">
              <a:latin typeface="楷体_GB2312" charset="0"/>
              <a:ea typeface="楷体_GB2312" charset="0"/>
            </a:endParaRPr>
          </a:p>
          <a:p>
            <a:r>
              <a:rPr lang="zh-CN" altLang="en-US">
                <a:latin typeface="楷体_GB2312" charset="0"/>
                <a:ea typeface="楷体_GB2312" charset="0"/>
              </a:rPr>
              <a:t>打印杨辉三角</a:t>
            </a:r>
            <a:endParaRPr lang="zh-CN" altLang="en-US">
              <a:latin typeface="楷体_GB2312" charset="0"/>
              <a:ea typeface="楷体_GB2312" charset="0"/>
            </a:endParaRPr>
          </a:p>
          <a:p>
            <a:r>
              <a:rPr lang="zh-CN" altLang="en-US">
                <a:latin typeface="楷体_GB2312" charset="0"/>
                <a:ea typeface="楷体_GB2312" charset="0"/>
              </a:rPr>
              <a:t>划分子集问题</a:t>
            </a:r>
            <a:endParaRPr lang="zh-CN" altLang="en-US">
              <a:latin typeface="楷体_GB2312" charset="0"/>
              <a:ea typeface="楷体_GB2312" charset="0"/>
            </a:endParaRPr>
          </a:p>
        </p:txBody>
      </p:sp>
      <p:sp>
        <p:nvSpPr>
          <p:cNvPr id="1144836" name="Text Box 4"/>
          <p:cNvSpPr txBox="1">
            <a:spLocks noChangeArrowheads="1"/>
          </p:cNvSpPr>
          <p:nvPr/>
        </p:nvSpPr>
        <p:spPr bwMode="auto">
          <a:xfrm>
            <a:off x="1295400" y="74613"/>
            <a:ext cx="6108700"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6000" b="1">
                <a:solidFill>
                  <a:srgbClr val="996633"/>
                </a:solidFill>
                <a:ea typeface="楷体_GB2312" charset="0"/>
              </a:rPr>
              <a:t>3.6  </a:t>
            </a:r>
            <a:r>
              <a:rPr lang="zh-CN" altLang="en-US" sz="6000" b="1">
                <a:solidFill>
                  <a:srgbClr val="996633"/>
                </a:solidFill>
                <a:ea typeface="隶书" panose="02010509060101010101" charset="-122"/>
              </a:rPr>
              <a:t>队列应用举例</a:t>
            </a:r>
            <a:endParaRPr lang="en-US" altLang="zh-CN" sz="4400" b="1">
              <a:solidFill>
                <a:srgbClr val="0000FF"/>
              </a:solidFill>
              <a:ea typeface="楷体_GB2312" charset="0"/>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114" name="Text Box 2"/>
          <p:cNvSpPr txBox="1">
            <a:spLocks noChangeArrowheads="1"/>
          </p:cNvSpPr>
          <p:nvPr/>
        </p:nvSpPr>
        <p:spPr bwMode="auto">
          <a:xfrm>
            <a:off x="1447800" y="990600"/>
            <a:ext cx="5772150" cy="3478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nSpc>
                <a:spcPct val="150000"/>
              </a:lnSpc>
            </a:pPr>
            <a:r>
              <a:rPr lang="zh-CN" altLang="en-US" sz="3600"/>
              <a:t>第 </a:t>
            </a:r>
            <a:r>
              <a:rPr lang="en-US" altLang="zh-CN" sz="3600"/>
              <a:t>1 </a:t>
            </a:r>
            <a:r>
              <a:rPr lang="zh-CN" altLang="en-US" sz="3600"/>
              <a:t>行                </a:t>
            </a:r>
            <a:r>
              <a:rPr lang="en-US" altLang="zh-CN" sz="3600"/>
              <a:t>1     1</a:t>
            </a:r>
            <a:endParaRPr lang="en-US" altLang="zh-CN" sz="3600"/>
          </a:p>
          <a:p>
            <a:pPr>
              <a:lnSpc>
                <a:spcPct val="150000"/>
              </a:lnSpc>
            </a:pPr>
            <a:r>
              <a:rPr lang="zh-CN" altLang="en-US" sz="3600"/>
              <a:t>第 </a:t>
            </a:r>
            <a:r>
              <a:rPr lang="en-US" altLang="zh-CN" sz="3600"/>
              <a:t>2 </a:t>
            </a:r>
            <a:r>
              <a:rPr lang="zh-CN" altLang="en-US" sz="3600"/>
              <a:t>行             </a:t>
            </a:r>
            <a:r>
              <a:rPr lang="en-US" altLang="zh-CN" sz="3600"/>
              <a:t>1    2     1  </a:t>
            </a:r>
            <a:endParaRPr lang="en-US" altLang="zh-CN" sz="3600"/>
          </a:p>
          <a:p>
            <a:pPr>
              <a:lnSpc>
                <a:spcPct val="150000"/>
              </a:lnSpc>
            </a:pPr>
            <a:r>
              <a:rPr lang="zh-CN" altLang="en-US" sz="3600"/>
              <a:t>第 </a:t>
            </a:r>
            <a:r>
              <a:rPr lang="en-US" altLang="zh-CN" sz="3600"/>
              <a:t>3 </a:t>
            </a:r>
            <a:r>
              <a:rPr lang="zh-CN" altLang="en-US" sz="3600"/>
              <a:t>行         </a:t>
            </a:r>
            <a:r>
              <a:rPr lang="en-US" altLang="zh-CN" sz="3600"/>
              <a:t>1     3     3     1</a:t>
            </a:r>
            <a:endParaRPr lang="en-US" altLang="zh-CN" sz="3600"/>
          </a:p>
          <a:p>
            <a:pPr>
              <a:lnSpc>
                <a:spcPct val="150000"/>
              </a:lnSpc>
            </a:pPr>
            <a:r>
              <a:rPr lang="zh-CN" altLang="en-US" sz="3600"/>
              <a:t>第 </a:t>
            </a:r>
            <a:r>
              <a:rPr lang="en-US" altLang="zh-CN" sz="3600"/>
              <a:t>4 </a:t>
            </a:r>
            <a:r>
              <a:rPr lang="zh-CN" altLang="en-US" sz="3600"/>
              <a:t>行     </a:t>
            </a:r>
            <a:r>
              <a:rPr lang="en-US" altLang="zh-CN" sz="3600"/>
              <a:t>1     4     6     4</a:t>
            </a:r>
            <a:r>
              <a:rPr lang="en-US" altLang="zh-CN" sz="4000"/>
              <a:t>      1</a:t>
            </a:r>
            <a:endParaRPr lang="en-US" altLang="zh-CN" sz="4000"/>
          </a:p>
        </p:txBody>
      </p:sp>
      <p:sp>
        <p:nvSpPr>
          <p:cNvPr id="1114115" name="Text Box 3"/>
          <p:cNvSpPr txBox="1">
            <a:spLocks noChangeArrowheads="1"/>
          </p:cNvSpPr>
          <p:nvPr/>
        </p:nvSpPr>
        <p:spPr bwMode="auto">
          <a:xfrm>
            <a:off x="1447800" y="228600"/>
            <a:ext cx="6280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a:t>二项式系数值（杨辉三角）</a:t>
            </a:r>
            <a:endParaRPr lang="zh-CN" altLang="en-US" sz="4000"/>
          </a:p>
        </p:txBody>
      </p:sp>
      <p:sp>
        <p:nvSpPr>
          <p:cNvPr id="1114116" name="Text Box 4"/>
          <p:cNvSpPr txBox="1">
            <a:spLocks noChangeArrowheads="1"/>
          </p:cNvSpPr>
          <p:nvPr/>
        </p:nvSpPr>
        <p:spPr bwMode="auto">
          <a:xfrm>
            <a:off x="152400" y="4700588"/>
            <a:ext cx="8820150" cy="1466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nSpc>
                <a:spcPct val="125000"/>
              </a:lnSpc>
            </a:pPr>
            <a:r>
              <a:rPr lang="zh-CN" altLang="en-US" sz="3600">
                <a:ea typeface="楷体_GB2312" charset="0"/>
              </a:rPr>
              <a:t>设第 </a:t>
            </a:r>
            <a:r>
              <a:rPr lang="en-US" altLang="zh-CN" sz="3600">
                <a:ea typeface="楷体_GB2312" charset="0"/>
              </a:rPr>
              <a:t>i-1</a:t>
            </a:r>
            <a:r>
              <a:rPr lang="zh-CN" altLang="en-US" sz="3600">
                <a:ea typeface="楷体_GB2312" charset="0"/>
              </a:rPr>
              <a:t>行的值</a:t>
            </a:r>
            <a:r>
              <a:rPr lang="zh-CN" altLang="en-US" sz="3600"/>
              <a:t>：</a:t>
            </a:r>
            <a:r>
              <a:rPr lang="en-US" altLang="zh-CN" sz="3600"/>
              <a:t>(a[0]=0) a[1]..a[i] (a[i+1]=0)</a:t>
            </a:r>
            <a:endParaRPr lang="en-US" altLang="zh-CN" sz="3600"/>
          </a:p>
          <a:p>
            <a:pPr>
              <a:lnSpc>
                <a:spcPct val="125000"/>
              </a:lnSpc>
            </a:pPr>
            <a:r>
              <a:rPr lang="zh-CN" altLang="en-US" sz="3600">
                <a:ea typeface="楷体_GB2312" charset="0"/>
              </a:rPr>
              <a:t>则第 </a:t>
            </a:r>
            <a:r>
              <a:rPr lang="en-US" altLang="zh-CN" sz="3600">
                <a:ea typeface="楷体_GB2312" charset="0"/>
              </a:rPr>
              <a:t>i </a:t>
            </a:r>
            <a:r>
              <a:rPr lang="zh-CN" altLang="en-US" sz="3600">
                <a:ea typeface="楷体_GB2312" charset="0"/>
              </a:rPr>
              <a:t>行的值</a:t>
            </a:r>
            <a:r>
              <a:rPr lang="zh-CN" altLang="en-US" sz="3600"/>
              <a:t>：</a:t>
            </a:r>
            <a:r>
              <a:rPr lang="en-US" altLang="zh-CN" sz="3600"/>
              <a:t>b[j] = a[j-1]+a[j], j=1,2,…,i+1</a:t>
            </a:r>
            <a:endParaRPr lang="en-US" altLang="zh-CN" sz="3600"/>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138" name="Text Box 2"/>
          <p:cNvSpPr txBox="1">
            <a:spLocks noChangeArrowheads="1"/>
          </p:cNvSpPr>
          <p:nvPr/>
        </p:nvSpPr>
        <p:spPr bwMode="auto">
          <a:xfrm>
            <a:off x="1339850" y="136525"/>
            <a:ext cx="7804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a:solidFill>
                  <a:srgbClr val="800000"/>
                </a:solidFill>
              </a:rPr>
              <a:t>利用循环队列计算二项式的过程：</a:t>
            </a:r>
            <a:endParaRPr lang="zh-CN" altLang="en-US" sz="4000"/>
          </a:p>
        </p:txBody>
      </p:sp>
      <p:sp>
        <p:nvSpPr>
          <p:cNvPr id="1115139" name="Text Box 3"/>
          <p:cNvSpPr txBox="1">
            <a:spLocks noChangeArrowheads="1"/>
          </p:cNvSpPr>
          <p:nvPr/>
        </p:nvSpPr>
        <p:spPr bwMode="auto">
          <a:xfrm>
            <a:off x="387350" y="1066800"/>
            <a:ext cx="87566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3600"/>
              <a:t>假设只计算三行，则队列的最大容量为 </a:t>
            </a:r>
            <a:r>
              <a:rPr lang="en-US" altLang="zh-CN" sz="3600"/>
              <a:t>5</a:t>
            </a:r>
            <a:r>
              <a:rPr lang="zh-CN" altLang="en-US" sz="3600"/>
              <a:t>。</a:t>
            </a:r>
            <a:endParaRPr lang="zh-CN" altLang="en-US" sz="4000"/>
          </a:p>
        </p:txBody>
      </p:sp>
      <p:sp>
        <p:nvSpPr>
          <p:cNvPr id="1115140" name="Rectangle 4"/>
          <p:cNvSpPr>
            <a:spLocks noChangeArrowheads="1"/>
          </p:cNvSpPr>
          <p:nvPr/>
        </p:nvSpPr>
        <p:spPr bwMode="auto">
          <a:xfrm>
            <a:off x="1066800" y="19812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5141" name="Rectangle 5"/>
          <p:cNvSpPr>
            <a:spLocks noChangeArrowheads="1"/>
          </p:cNvSpPr>
          <p:nvPr/>
        </p:nvSpPr>
        <p:spPr bwMode="auto">
          <a:xfrm>
            <a:off x="1600200" y="19812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5142" name="Rectangle 6"/>
          <p:cNvSpPr>
            <a:spLocks noChangeArrowheads="1"/>
          </p:cNvSpPr>
          <p:nvPr/>
        </p:nvSpPr>
        <p:spPr bwMode="auto">
          <a:xfrm>
            <a:off x="2133600" y="19812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5050"/>
                </a:solidFill>
              </a:rPr>
              <a:t>0</a:t>
            </a:r>
            <a:endParaRPr lang="en-US" altLang="zh-CN" sz="4000"/>
          </a:p>
        </p:txBody>
      </p:sp>
      <p:sp>
        <p:nvSpPr>
          <p:cNvPr id="1115143" name="Rectangle 7"/>
          <p:cNvSpPr>
            <a:spLocks noChangeArrowheads="1"/>
          </p:cNvSpPr>
          <p:nvPr/>
        </p:nvSpPr>
        <p:spPr bwMode="auto">
          <a:xfrm>
            <a:off x="533400" y="19812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5050"/>
                </a:solidFill>
              </a:rPr>
              <a:t>0</a:t>
            </a:r>
            <a:endParaRPr lang="en-US" altLang="zh-CN" sz="4000"/>
          </a:p>
        </p:txBody>
      </p:sp>
      <p:sp>
        <p:nvSpPr>
          <p:cNvPr id="1115144" name="Rectangle 8"/>
          <p:cNvSpPr>
            <a:spLocks noChangeArrowheads="1"/>
          </p:cNvSpPr>
          <p:nvPr/>
        </p:nvSpPr>
        <p:spPr bwMode="auto">
          <a:xfrm>
            <a:off x="2667000" y="1981200"/>
            <a:ext cx="533400" cy="533400"/>
          </a:xfrm>
          <a:prstGeom prst="rect">
            <a:avLst/>
          </a:prstGeom>
          <a:solidFill>
            <a:srgbClr val="FFFFCC"/>
          </a:solidFill>
          <a:ln w="9525">
            <a:solidFill>
              <a:schemeClr val="tx1"/>
            </a:solidFill>
            <a:miter lim="800000"/>
          </a:ln>
        </p:spPr>
        <p:txBody>
          <a:bodyPr wrap="none" anchor="ctr"/>
          <a:lstStyle/>
          <a:p>
            <a:pPr algn="ctr"/>
            <a:endParaRPr lang="zh-CN" altLang="en-US"/>
          </a:p>
        </p:txBody>
      </p:sp>
      <p:sp>
        <p:nvSpPr>
          <p:cNvPr id="1115145" name="Line 9"/>
          <p:cNvSpPr>
            <a:spLocks noChangeShapeType="1"/>
          </p:cNvSpPr>
          <p:nvPr/>
        </p:nvSpPr>
        <p:spPr bwMode="auto">
          <a:xfrm flipV="1">
            <a:off x="838200" y="24384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46" name="Line 10"/>
          <p:cNvSpPr>
            <a:spLocks noChangeShapeType="1"/>
          </p:cNvSpPr>
          <p:nvPr/>
        </p:nvSpPr>
        <p:spPr bwMode="auto">
          <a:xfrm flipV="1">
            <a:off x="2895600" y="2438400"/>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47" name="Text Box 11"/>
          <p:cNvSpPr txBox="1">
            <a:spLocks noChangeArrowheads="1"/>
          </p:cNvSpPr>
          <p:nvPr/>
        </p:nvSpPr>
        <p:spPr bwMode="auto">
          <a:xfrm>
            <a:off x="533400" y="25908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chemeClr val="accent2"/>
                </a:solidFill>
              </a:rPr>
              <a:t>q.front</a:t>
            </a:r>
            <a:endParaRPr lang="en-US" altLang="zh-CN" sz="4000">
              <a:solidFill>
                <a:schemeClr val="accent2"/>
              </a:solidFill>
            </a:endParaRPr>
          </a:p>
        </p:txBody>
      </p:sp>
      <p:sp>
        <p:nvSpPr>
          <p:cNvPr id="1115148" name="Text Box 12"/>
          <p:cNvSpPr txBox="1">
            <a:spLocks noChangeArrowheads="1"/>
          </p:cNvSpPr>
          <p:nvPr/>
        </p:nvSpPr>
        <p:spPr bwMode="auto">
          <a:xfrm>
            <a:off x="2590800" y="2590800"/>
            <a:ext cx="10033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5149" name="Rectangle 13"/>
          <p:cNvSpPr>
            <a:spLocks noChangeArrowheads="1"/>
          </p:cNvSpPr>
          <p:nvPr/>
        </p:nvSpPr>
        <p:spPr bwMode="auto">
          <a:xfrm>
            <a:off x="5715000" y="1905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chemeClr val="accent2"/>
                </a:solidFill>
              </a:rPr>
              <a:t>1</a:t>
            </a:r>
            <a:endParaRPr lang="en-US" altLang="zh-CN" sz="4000"/>
          </a:p>
        </p:txBody>
      </p:sp>
      <p:sp>
        <p:nvSpPr>
          <p:cNvPr id="1115150" name="Rectangle 14"/>
          <p:cNvSpPr>
            <a:spLocks noChangeArrowheads="1"/>
          </p:cNvSpPr>
          <p:nvPr/>
        </p:nvSpPr>
        <p:spPr bwMode="auto">
          <a:xfrm>
            <a:off x="6248400" y="1905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5151" name="Rectangle 15"/>
          <p:cNvSpPr>
            <a:spLocks noChangeArrowheads="1"/>
          </p:cNvSpPr>
          <p:nvPr/>
        </p:nvSpPr>
        <p:spPr bwMode="auto">
          <a:xfrm>
            <a:off x="6781800" y="1905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5050"/>
                </a:solidFill>
              </a:rPr>
              <a:t>0</a:t>
            </a:r>
            <a:endParaRPr lang="en-US" altLang="zh-CN" sz="4000"/>
          </a:p>
        </p:txBody>
      </p:sp>
      <p:sp>
        <p:nvSpPr>
          <p:cNvPr id="1115152" name="Rectangle 16"/>
          <p:cNvSpPr>
            <a:spLocks noChangeArrowheads="1"/>
          </p:cNvSpPr>
          <p:nvPr/>
        </p:nvSpPr>
        <p:spPr bwMode="auto">
          <a:xfrm>
            <a:off x="5181600" y="1905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CC99"/>
                </a:solidFill>
              </a:rPr>
              <a:t>0</a:t>
            </a:r>
            <a:endParaRPr lang="en-US" altLang="zh-CN" sz="4000">
              <a:solidFill>
                <a:srgbClr val="FFCC99"/>
              </a:solidFill>
            </a:endParaRPr>
          </a:p>
        </p:txBody>
      </p:sp>
      <p:sp>
        <p:nvSpPr>
          <p:cNvPr id="1115153" name="Rectangle 17"/>
          <p:cNvSpPr>
            <a:spLocks noChangeArrowheads="1"/>
          </p:cNvSpPr>
          <p:nvPr/>
        </p:nvSpPr>
        <p:spPr bwMode="auto">
          <a:xfrm>
            <a:off x="7315200" y="1905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1</a:t>
            </a:r>
            <a:endParaRPr lang="en-US" altLang="zh-CN" sz="4000"/>
          </a:p>
        </p:txBody>
      </p:sp>
      <p:sp>
        <p:nvSpPr>
          <p:cNvPr id="1115154" name="Line 18"/>
          <p:cNvSpPr>
            <a:spLocks noChangeShapeType="1"/>
          </p:cNvSpPr>
          <p:nvPr/>
        </p:nvSpPr>
        <p:spPr bwMode="auto">
          <a:xfrm flipV="1">
            <a:off x="5943600" y="24384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55" name="Line 19"/>
          <p:cNvSpPr>
            <a:spLocks noChangeShapeType="1"/>
          </p:cNvSpPr>
          <p:nvPr/>
        </p:nvSpPr>
        <p:spPr bwMode="auto">
          <a:xfrm flipV="1">
            <a:off x="8077200" y="2362200"/>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56" name="Text Box 20"/>
          <p:cNvSpPr txBox="1">
            <a:spLocks noChangeArrowheads="1"/>
          </p:cNvSpPr>
          <p:nvPr/>
        </p:nvSpPr>
        <p:spPr bwMode="auto">
          <a:xfrm>
            <a:off x="5867400" y="25146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chemeClr val="accent2"/>
                </a:solidFill>
              </a:rPr>
              <a:t>q.front</a:t>
            </a:r>
            <a:endParaRPr lang="en-US" altLang="zh-CN" sz="4000">
              <a:solidFill>
                <a:schemeClr val="accent2"/>
              </a:solidFill>
            </a:endParaRPr>
          </a:p>
        </p:txBody>
      </p:sp>
      <p:sp>
        <p:nvSpPr>
          <p:cNvPr id="1115157" name="Text Box 21"/>
          <p:cNvSpPr txBox="1">
            <a:spLocks noChangeArrowheads="1"/>
          </p:cNvSpPr>
          <p:nvPr/>
        </p:nvSpPr>
        <p:spPr bwMode="auto">
          <a:xfrm>
            <a:off x="7696200" y="2514600"/>
            <a:ext cx="10033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5158" name="Rectangle 22"/>
          <p:cNvSpPr>
            <a:spLocks noChangeArrowheads="1"/>
          </p:cNvSpPr>
          <p:nvPr/>
        </p:nvSpPr>
        <p:spPr bwMode="auto">
          <a:xfrm>
            <a:off x="57150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CC99"/>
                </a:solidFill>
              </a:rPr>
              <a:t>1</a:t>
            </a:r>
            <a:endParaRPr lang="en-US" altLang="zh-CN" sz="4000"/>
          </a:p>
        </p:txBody>
      </p:sp>
      <p:sp>
        <p:nvSpPr>
          <p:cNvPr id="1115159" name="Rectangle 23"/>
          <p:cNvSpPr>
            <a:spLocks noChangeArrowheads="1"/>
          </p:cNvSpPr>
          <p:nvPr/>
        </p:nvSpPr>
        <p:spPr bwMode="auto">
          <a:xfrm>
            <a:off x="62484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chemeClr val="accent2"/>
                </a:solidFill>
              </a:rPr>
              <a:t>1</a:t>
            </a:r>
            <a:endParaRPr lang="en-US" altLang="zh-CN" sz="4000"/>
          </a:p>
        </p:txBody>
      </p:sp>
      <p:sp>
        <p:nvSpPr>
          <p:cNvPr id="1115160" name="Rectangle 24"/>
          <p:cNvSpPr>
            <a:spLocks noChangeArrowheads="1"/>
          </p:cNvSpPr>
          <p:nvPr/>
        </p:nvSpPr>
        <p:spPr bwMode="auto">
          <a:xfrm>
            <a:off x="67818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5050"/>
                </a:solidFill>
              </a:rPr>
              <a:t>0</a:t>
            </a:r>
            <a:endParaRPr lang="en-US" altLang="zh-CN" sz="4000"/>
          </a:p>
        </p:txBody>
      </p:sp>
      <p:sp>
        <p:nvSpPr>
          <p:cNvPr id="1115161" name="Rectangle 25"/>
          <p:cNvSpPr>
            <a:spLocks noChangeArrowheads="1"/>
          </p:cNvSpPr>
          <p:nvPr/>
        </p:nvSpPr>
        <p:spPr bwMode="auto">
          <a:xfrm>
            <a:off x="51816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CC99"/>
                </a:solidFill>
              </a:rPr>
              <a:t>0</a:t>
            </a:r>
            <a:endParaRPr lang="en-US" altLang="zh-CN" sz="4000">
              <a:solidFill>
                <a:srgbClr val="FFCC99"/>
              </a:solidFill>
            </a:endParaRPr>
          </a:p>
        </p:txBody>
      </p:sp>
      <p:sp>
        <p:nvSpPr>
          <p:cNvPr id="1115162" name="Rectangle 26"/>
          <p:cNvSpPr>
            <a:spLocks noChangeArrowheads="1"/>
          </p:cNvSpPr>
          <p:nvPr/>
        </p:nvSpPr>
        <p:spPr bwMode="auto">
          <a:xfrm>
            <a:off x="73152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5163" name="Line 27"/>
          <p:cNvSpPr>
            <a:spLocks noChangeShapeType="1"/>
          </p:cNvSpPr>
          <p:nvPr/>
        </p:nvSpPr>
        <p:spPr bwMode="auto">
          <a:xfrm flipV="1">
            <a:off x="6553200" y="41148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64" name="Line 28"/>
          <p:cNvSpPr>
            <a:spLocks noChangeShapeType="1"/>
          </p:cNvSpPr>
          <p:nvPr/>
        </p:nvSpPr>
        <p:spPr bwMode="auto">
          <a:xfrm flipV="1">
            <a:off x="5422900" y="4114800"/>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65" name="Text Box 29"/>
          <p:cNvSpPr txBox="1">
            <a:spLocks noChangeArrowheads="1"/>
          </p:cNvSpPr>
          <p:nvPr/>
        </p:nvSpPr>
        <p:spPr bwMode="auto">
          <a:xfrm>
            <a:off x="6477000" y="41910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chemeClr val="accent2"/>
                </a:solidFill>
              </a:rPr>
              <a:t>q.front</a:t>
            </a:r>
            <a:endParaRPr lang="en-US" altLang="zh-CN" sz="4000">
              <a:solidFill>
                <a:schemeClr val="accent2"/>
              </a:solidFill>
            </a:endParaRPr>
          </a:p>
        </p:txBody>
      </p:sp>
      <p:sp>
        <p:nvSpPr>
          <p:cNvPr id="1115166" name="Text Box 30"/>
          <p:cNvSpPr txBox="1">
            <a:spLocks noChangeArrowheads="1"/>
          </p:cNvSpPr>
          <p:nvPr/>
        </p:nvSpPr>
        <p:spPr bwMode="auto">
          <a:xfrm>
            <a:off x="5092700" y="4205288"/>
            <a:ext cx="10033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5167" name="Rectangle 31"/>
          <p:cNvSpPr>
            <a:spLocks noChangeArrowheads="1"/>
          </p:cNvSpPr>
          <p:nvPr/>
        </p:nvSpPr>
        <p:spPr bwMode="auto">
          <a:xfrm>
            <a:off x="57912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CC99"/>
                </a:solidFill>
              </a:rPr>
              <a:t>1</a:t>
            </a:r>
            <a:r>
              <a:rPr lang="en-US" altLang="zh-CN" sz="4000" b="1">
                <a:solidFill>
                  <a:srgbClr val="CC00CC"/>
                </a:solidFill>
              </a:rPr>
              <a:t> </a:t>
            </a:r>
            <a:endParaRPr lang="en-US" altLang="zh-CN" sz="4000" b="1">
              <a:solidFill>
                <a:srgbClr val="CC00CC"/>
              </a:solidFill>
            </a:endParaRPr>
          </a:p>
        </p:txBody>
      </p:sp>
      <p:sp>
        <p:nvSpPr>
          <p:cNvPr id="1115168" name="Rectangle 32"/>
          <p:cNvSpPr>
            <a:spLocks noChangeArrowheads="1"/>
          </p:cNvSpPr>
          <p:nvPr/>
        </p:nvSpPr>
        <p:spPr bwMode="auto">
          <a:xfrm>
            <a:off x="63246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CC99"/>
                </a:solidFill>
              </a:rPr>
              <a:t>1</a:t>
            </a:r>
            <a:endParaRPr lang="en-US" altLang="zh-CN" sz="4000"/>
          </a:p>
        </p:txBody>
      </p:sp>
      <p:sp>
        <p:nvSpPr>
          <p:cNvPr id="1115169" name="Rectangle 33"/>
          <p:cNvSpPr>
            <a:spLocks noChangeArrowheads="1"/>
          </p:cNvSpPr>
          <p:nvPr/>
        </p:nvSpPr>
        <p:spPr bwMode="auto">
          <a:xfrm>
            <a:off x="68580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5050"/>
                </a:solidFill>
              </a:rPr>
              <a:t>0</a:t>
            </a:r>
            <a:endParaRPr lang="en-US" altLang="zh-CN" sz="4000"/>
          </a:p>
        </p:txBody>
      </p:sp>
      <p:sp>
        <p:nvSpPr>
          <p:cNvPr id="1115170" name="Rectangle 34"/>
          <p:cNvSpPr>
            <a:spLocks noChangeArrowheads="1"/>
          </p:cNvSpPr>
          <p:nvPr/>
        </p:nvSpPr>
        <p:spPr bwMode="auto">
          <a:xfrm>
            <a:off x="52578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5172" name="Line 36"/>
          <p:cNvSpPr>
            <a:spLocks noChangeShapeType="1"/>
          </p:cNvSpPr>
          <p:nvPr/>
        </p:nvSpPr>
        <p:spPr bwMode="auto">
          <a:xfrm flipV="1">
            <a:off x="7162800" y="58674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73" name="Line 37"/>
          <p:cNvSpPr>
            <a:spLocks noChangeShapeType="1"/>
          </p:cNvSpPr>
          <p:nvPr/>
        </p:nvSpPr>
        <p:spPr bwMode="auto">
          <a:xfrm flipV="1">
            <a:off x="6032500" y="5867400"/>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74" name="Text Box 38"/>
          <p:cNvSpPr txBox="1">
            <a:spLocks noChangeArrowheads="1"/>
          </p:cNvSpPr>
          <p:nvPr/>
        </p:nvSpPr>
        <p:spPr bwMode="auto">
          <a:xfrm>
            <a:off x="7086600" y="59436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chemeClr val="accent2"/>
                </a:solidFill>
              </a:rPr>
              <a:t>q.front</a:t>
            </a:r>
            <a:endParaRPr lang="en-US" altLang="zh-CN" sz="4000">
              <a:solidFill>
                <a:schemeClr val="accent2"/>
              </a:solidFill>
            </a:endParaRPr>
          </a:p>
        </p:txBody>
      </p:sp>
      <p:sp>
        <p:nvSpPr>
          <p:cNvPr id="1115175" name="Text Box 39"/>
          <p:cNvSpPr txBox="1">
            <a:spLocks noChangeArrowheads="1"/>
          </p:cNvSpPr>
          <p:nvPr/>
        </p:nvSpPr>
        <p:spPr bwMode="auto">
          <a:xfrm>
            <a:off x="5702300" y="5957888"/>
            <a:ext cx="10033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5176" name="Rectangle 40"/>
          <p:cNvSpPr>
            <a:spLocks noChangeArrowheads="1"/>
          </p:cNvSpPr>
          <p:nvPr/>
        </p:nvSpPr>
        <p:spPr bwMode="auto">
          <a:xfrm>
            <a:off x="13716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0</a:t>
            </a:r>
            <a:endParaRPr lang="en-US" altLang="zh-CN" sz="4000" b="1">
              <a:solidFill>
                <a:srgbClr val="CC00CC"/>
              </a:solidFill>
            </a:endParaRPr>
          </a:p>
        </p:txBody>
      </p:sp>
      <p:sp>
        <p:nvSpPr>
          <p:cNvPr id="1115177" name="Rectangle 41"/>
          <p:cNvSpPr>
            <a:spLocks noChangeArrowheads="1"/>
          </p:cNvSpPr>
          <p:nvPr/>
        </p:nvSpPr>
        <p:spPr bwMode="auto">
          <a:xfrm>
            <a:off x="19050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CC99"/>
                </a:solidFill>
              </a:rPr>
              <a:t>1</a:t>
            </a:r>
            <a:endParaRPr lang="en-US" altLang="zh-CN" sz="4000">
              <a:solidFill>
                <a:srgbClr val="FFCC99"/>
              </a:solidFill>
            </a:endParaRPr>
          </a:p>
        </p:txBody>
      </p:sp>
      <p:sp>
        <p:nvSpPr>
          <p:cNvPr id="1115178" name="Rectangle 42"/>
          <p:cNvSpPr>
            <a:spLocks noChangeArrowheads="1"/>
          </p:cNvSpPr>
          <p:nvPr/>
        </p:nvSpPr>
        <p:spPr bwMode="auto">
          <a:xfrm>
            <a:off x="24384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5050"/>
                </a:solidFill>
              </a:rPr>
              <a:t>0</a:t>
            </a:r>
            <a:endParaRPr lang="en-US" altLang="zh-CN" sz="4000"/>
          </a:p>
        </p:txBody>
      </p:sp>
      <p:sp>
        <p:nvSpPr>
          <p:cNvPr id="1115179" name="Rectangle 43"/>
          <p:cNvSpPr>
            <a:spLocks noChangeArrowheads="1"/>
          </p:cNvSpPr>
          <p:nvPr/>
        </p:nvSpPr>
        <p:spPr bwMode="auto">
          <a:xfrm>
            <a:off x="8382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5180" name="Rectangle 44"/>
          <p:cNvSpPr>
            <a:spLocks noChangeArrowheads="1"/>
          </p:cNvSpPr>
          <p:nvPr/>
        </p:nvSpPr>
        <p:spPr bwMode="auto">
          <a:xfrm>
            <a:off x="29718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5181" name="Line 45"/>
          <p:cNvSpPr>
            <a:spLocks noChangeShapeType="1"/>
          </p:cNvSpPr>
          <p:nvPr/>
        </p:nvSpPr>
        <p:spPr bwMode="auto">
          <a:xfrm flipV="1">
            <a:off x="2209800" y="5867400"/>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82" name="Text Box 46"/>
          <p:cNvSpPr txBox="1">
            <a:spLocks noChangeArrowheads="1"/>
          </p:cNvSpPr>
          <p:nvPr/>
        </p:nvSpPr>
        <p:spPr bwMode="auto">
          <a:xfrm>
            <a:off x="2438400" y="59436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chemeClr val="accent2"/>
                </a:solidFill>
              </a:rPr>
              <a:t>q.front</a:t>
            </a:r>
            <a:endParaRPr lang="en-US" altLang="zh-CN" sz="4000">
              <a:solidFill>
                <a:schemeClr val="accent2"/>
              </a:solidFill>
            </a:endParaRPr>
          </a:p>
        </p:txBody>
      </p:sp>
      <p:sp>
        <p:nvSpPr>
          <p:cNvPr id="1115183" name="Text Box 47"/>
          <p:cNvSpPr txBox="1">
            <a:spLocks noChangeArrowheads="1"/>
          </p:cNvSpPr>
          <p:nvPr/>
        </p:nvSpPr>
        <p:spPr bwMode="auto">
          <a:xfrm>
            <a:off x="1295400" y="5957888"/>
            <a:ext cx="10033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5184" name="Rectangle 48"/>
          <p:cNvSpPr>
            <a:spLocks noChangeArrowheads="1"/>
          </p:cNvSpPr>
          <p:nvPr/>
        </p:nvSpPr>
        <p:spPr bwMode="auto">
          <a:xfrm>
            <a:off x="12954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0</a:t>
            </a:r>
            <a:endParaRPr lang="en-US" altLang="zh-CN" sz="4000" b="1">
              <a:solidFill>
                <a:srgbClr val="CC00CC"/>
              </a:solidFill>
            </a:endParaRPr>
          </a:p>
        </p:txBody>
      </p:sp>
      <p:sp>
        <p:nvSpPr>
          <p:cNvPr id="1115185" name="Rectangle 49"/>
          <p:cNvSpPr>
            <a:spLocks noChangeArrowheads="1"/>
          </p:cNvSpPr>
          <p:nvPr/>
        </p:nvSpPr>
        <p:spPr bwMode="auto">
          <a:xfrm>
            <a:off x="18415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1</a:t>
            </a:r>
            <a:endParaRPr lang="en-US" altLang="zh-CN" sz="4000" b="1">
              <a:solidFill>
                <a:srgbClr val="CC00CC"/>
              </a:solidFill>
            </a:endParaRPr>
          </a:p>
        </p:txBody>
      </p:sp>
      <p:sp>
        <p:nvSpPr>
          <p:cNvPr id="1115186" name="Rectangle 50"/>
          <p:cNvSpPr>
            <a:spLocks noChangeArrowheads="1"/>
          </p:cNvSpPr>
          <p:nvPr/>
        </p:nvSpPr>
        <p:spPr bwMode="auto">
          <a:xfrm>
            <a:off x="23749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5050"/>
                </a:solidFill>
              </a:rPr>
              <a:t>0</a:t>
            </a:r>
            <a:endParaRPr lang="en-US" altLang="zh-CN" sz="4000">
              <a:solidFill>
                <a:srgbClr val="FF5050"/>
              </a:solidFill>
            </a:endParaRPr>
          </a:p>
        </p:txBody>
      </p:sp>
      <p:sp>
        <p:nvSpPr>
          <p:cNvPr id="1115187" name="Rectangle 51"/>
          <p:cNvSpPr>
            <a:spLocks noChangeArrowheads="1"/>
          </p:cNvSpPr>
          <p:nvPr/>
        </p:nvSpPr>
        <p:spPr bwMode="auto">
          <a:xfrm>
            <a:off x="7747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5189" name="Line 53"/>
          <p:cNvSpPr>
            <a:spLocks noChangeShapeType="1"/>
          </p:cNvSpPr>
          <p:nvPr/>
        </p:nvSpPr>
        <p:spPr bwMode="auto">
          <a:xfrm flipV="1">
            <a:off x="3276600" y="41148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90" name="Line 54"/>
          <p:cNvSpPr>
            <a:spLocks noChangeShapeType="1"/>
          </p:cNvSpPr>
          <p:nvPr/>
        </p:nvSpPr>
        <p:spPr bwMode="auto">
          <a:xfrm flipV="1">
            <a:off x="2590800" y="4114800"/>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91" name="Text Box 55"/>
          <p:cNvSpPr txBox="1">
            <a:spLocks noChangeArrowheads="1"/>
          </p:cNvSpPr>
          <p:nvPr/>
        </p:nvSpPr>
        <p:spPr bwMode="auto">
          <a:xfrm>
            <a:off x="2971800" y="41910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chemeClr val="accent2"/>
                </a:solidFill>
              </a:rPr>
              <a:t>q.front</a:t>
            </a:r>
            <a:endParaRPr lang="en-US" altLang="zh-CN" sz="4000">
              <a:solidFill>
                <a:schemeClr val="accent2"/>
              </a:solidFill>
            </a:endParaRPr>
          </a:p>
        </p:txBody>
      </p:sp>
      <p:sp>
        <p:nvSpPr>
          <p:cNvPr id="1115192" name="Text Box 56"/>
          <p:cNvSpPr txBox="1">
            <a:spLocks noChangeArrowheads="1"/>
          </p:cNvSpPr>
          <p:nvPr/>
        </p:nvSpPr>
        <p:spPr bwMode="auto">
          <a:xfrm>
            <a:off x="2120900" y="4343400"/>
            <a:ext cx="10033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5193" name="Line 57"/>
          <p:cNvSpPr>
            <a:spLocks noChangeShapeType="1"/>
          </p:cNvSpPr>
          <p:nvPr/>
        </p:nvSpPr>
        <p:spPr bwMode="auto">
          <a:xfrm flipV="1">
            <a:off x="2743200" y="58674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194" name="AutoShape 58"/>
          <p:cNvSpPr>
            <a:spLocks noChangeArrowheads="1"/>
          </p:cNvSpPr>
          <p:nvPr/>
        </p:nvSpPr>
        <p:spPr bwMode="auto">
          <a:xfrm>
            <a:off x="3657600" y="1676400"/>
            <a:ext cx="1371600" cy="304800"/>
          </a:xfrm>
          <a:prstGeom prst="curvedDownArrow">
            <a:avLst>
              <a:gd name="adj1" fmla="val 50521"/>
              <a:gd name="adj2" fmla="val 151563"/>
              <a:gd name="adj3" fmla="val 33333"/>
            </a:avLst>
          </a:prstGeom>
          <a:solidFill>
            <a:srgbClr val="FFCC99"/>
          </a:solidFill>
          <a:ln w="9525">
            <a:solidFill>
              <a:schemeClr val="tx1"/>
            </a:solidFill>
            <a:miter lim="800000"/>
          </a:ln>
        </p:spPr>
        <p:txBody>
          <a:bodyPr wrap="none" anchor="ctr"/>
          <a:lstStyle/>
          <a:p>
            <a:pPr algn="ctr"/>
            <a:endParaRPr lang="zh-CN" altLang="en-US"/>
          </a:p>
        </p:txBody>
      </p:sp>
      <p:sp>
        <p:nvSpPr>
          <p:cNvPr id="1115195" name="AutoShape 59"/>
          <p:cNvSpPr>
            <a:spLocks noChangeArrowheads="1"/>
          </p:cNvSpPr>
          <p:nvPr/>
        </p:nvSpPr>
        <p:spPr bwMode="auto">
          <a:xfrm>
            <a:off x="8534400" y="2438400"/>
            <a:ext cx="609600" cy="1295400"/>
          </a:xfrm>
          <a:prstGeom prst="curvedLeftArrow">
            <a:avLst>
              <a:gd name="adj1" fmla="val 24949"/>
              <a:gd name="adj2" fmla="val 67449"/>
              <a:gd name="adj3" fmla="val 33333"/>
            </a:avLst>
          </a:prstGeom>
          <a:solidFill>
            <a:srgbClr val="FFCC99"/>
          </a:solidFill>
          <a:ln w="9525">
            <a:solidFill>
              <a:schemeClr val="tx1"/>
            </a:solidFill>
            <a:miter lim="800000"/>
          </a:ln>
        </p:spPr>
        <p:txBody>
          <a:bodyPr wrap="none" anchor="ctr"/>
          <a:lstStyle/>
          <a:p>
            <a:pPr algn="ctr"/>
            <a:endParaRPr lang="zh-CN" altLang="en-US"/>
          </a:p>
        </p:txBody>
      </p:sp>
      <p:sp>
        <p:nvSpPr>
          <p:cNvPr id="1115196" name="AutoShape 60"/>
          <p:cNvSpPr>
            <a:spLocks noChangeArrowheads="1"/>
          </p:cNvSpPr>
          <p:nvPr/>
        </p:nvSpPr>
        <p:spPr bwMode="auto">
          <a:xfrm rot="-10942741">
            <a:off x="304800" y="3884613"/>
            <a:ext cx="454025" cy="1524000"/>
          </a:xfrm>
          <a:prstGeom prst="curvedLeftArrow">
            <a:avLst>
              <a:gd name="adj1" fmla="val 39409"/>
              <a:gd name="adj2" fmla="val 106542"/>
              <a:gd name="adj3" fmla="val 33333"/>
            </a:avLst>
          </a:prstGeom>
          <a:solidFill>
            <a:srgbClr val="FFCC99"/>
          </a:solidFill>
          <a:ln w="9525">
            <a:solidFill>
              <a:schemeClr val="tx1"/>
            </a:solidFill>
            <a:miter lim="800000"/>
          </a:ln>
        </p:spPr>
        <p:txBody>
          <a:bodyPr rot="10800000" wrap="none" anchor="ctr"/>
          <a:lstStyle/>
          <a:p>
            <a:pPr algn="ctr"/>
            <a:endParaRPr lang="zh-CN" altLang="en-US"/>
          </a:p>
        </p:txBody>
      </p:sp>
      <p:sp>
        <p:nvSpPr>
          <p:cNvPr id="1115197" name="AutoShape 61"/>
          <p:cNvSpPr>
            <a:spLocks noChangeArrowheads="1"/>
          </p:cNvSpPr>
          <p:nvPr/>
        </p:nvSpPr>
        <p:spPr bwMode="auto">
          <a:xfrm rot="-16370087">
            <a:off x="4337050" y="5638800"/>
            <a:ext cx="381000" cy="1295400"/>
          </a:xfrm>
          <a:prstGeom prst="curvedLeftArrow">
            <a:avLst>
              <a:gd name="adj1" fmla="val 39919"/>
              <a:gd name="adj2" fmla="val 107919"/>
              <a:gd name="adj3" fmla="val 33333"/>
            </a:avLst>
          </a:prstGeom>
          <a:solidFill>
            <a:srgbClr val="FFCC99"/>
          </a:solidFill>
          <a:ln w="9525">
            <a:solidFill>
              <a:schemeClr val="tx1"/>
            </a:solidFill>
            <a:miter lim="800000"/>
          </a:ln>
        </p:spPr>
        <p:txBody>
          <a:bodyPr rot="10800000" vert="eaVert" wrap="none" anchor="ctr"/>
          <a:lstStyle/>
          <a:p>
            <a:pPr algn="ctr"/>
            <a:endParaRPr lang="zh-CN" altLang="en-US"/>
          </a:p>
        </p:txBody>
      </p:sp>
      <p:sp>
        <p:nvSpPr>
          <p:cNvPr id="1115198" name="AutoShape 62"/>
          <p:cNvSpPr>
            <a:spLocks noChangeArrowheads="1"/>
          </p:cNvSpPr>
          <p:nvPr/>
        </p:nvSpPr>
        <p:spPr bwMode="auto">
          <a:xfrm>
            <a:off x="8610600" y="4038600"/>
            <a:ext cx="533400" cy="1524000"/>
          </a:xfrm>
          <a:prstGeom prst="curvedLeftArrow">
            <a:avLst>
              <a:gd name="adj1" fmla="val 33545"/>
              <a:gd name="adj2" fmla="val 90688"/>
              <a:gd name="adj3" fmla="val 33333"/>
            </a:avLst>
          </a:prstGeom>
          <a:solidFill>
            <a:srgbClr val="FFCC99"/>
          </a:solidFill>
          <a:ln w="9525">
            <a:solidFill>
              <a:schemeClr val="tx1"/>
            </a:solidFill>
            <a:miter lim="800000"/>
          </a:ln>
        </p:spPr>
        <p:txBody>
          <a:bodyPr wrap="none" anchor="ctr"/>
          <a:lstStyle/>
          <a:p>
            <a:pPr algn="ctr"/>
            <a:endParaRPr lang="zh-CN" altLang="en-US"/>
          </a:p>
        </p:txBody>
      </p:sp>
      <p:sp>
        <p:nvSpPr>
          <p:cNvPr id="1115199" name="Rectangle 63"/>
          <p:cNvSpPr>
            <a:spLocks noChangeArrowheads="1"/>
          </p:cNvSpPr>
          <p:nvPr/>
        </p:nvSpPr>
        <p:spPr bwMode="auto">
          <a:xfrm>
            <a:off x="3200400" y="1981200"/>
            <a:ext cx="533400" cy="533400"/>
          </a:xfrm>
          <a:prstGeom prst="rect">
            <a:avLst/>
          </a:prstGeom>
          <a:solidFill>
            <a:srgbClr val="FFFFCC"/>
          </a:solidFill>
          <a:ln w="9525">
            <a:solidFill>
              <a:schemeClr val="tx1"/>
            </a:solidFill>
            <a:miter lim="800000"/>
          </a:ln>
        </p:spPr>
        <p:txBody>
          <a:bodyPr wrap="none" anchor="ctr"/>
          <a:lstStyle/>
          <a:p>
            <a:pPr algn="ctr"/>
            <a:endParaRPr lang="en-US" altLang="zh-CN" sz="4000"/>
          </a:p>
        </p:txBody>
      </p:sp>
      <p:sp>
        <p:nvSpPr>
          <p:cNvPr id="1115202" name="Rectangle 66"/>
          <p:cNvSpPr>
            <a:spLocks noChangeArrowheads="1"/>
          </p:cNvSpPr>
          <p:nvPr/>
        </p:nvSpPr>
        <p:spPr bwMode="auto">
          <a:xfrm>
            <a:off x="7848600" y="1905000"/>
            <a:ext cx="533400" cy="533400"/>
          </a:xfrm>
          <a:prstGeom prst="rect">
            <a:avLst/>
          </a:prstGeom>
          <a:solidFill>
            <a:srgbClr val="FFFFCC"/>
          </a:solidFill>
          <a:ln w="9525">
            <a:solidFill>
              <a:schemeClr val="tx1"/>
            </a:solidFill>
            <a:miter lim="800000"/>
          </a:ln>
        </p:spPr>
        <p:txBody>
          <a:bodyPr wrap="none" anchor="ctr"/>
          <a:lstStyle/>
          <a:p>
            <a:pPr algn="ctr"/>
            <a:endParaRPr lang="en-US" altLang="zh-CN" sz="4000"/>
          </a:p>
        </p:txBody>
      </p:sp>
      <p:sp>
        <p:nvSpPr>
          <p:cNvPr id="1115203" name="Rectangle 67"/>
          <p:cNvSpPr>
            <a:spLocks noChangeArrowheads="1"/>
          </p:cNvSpPr>
          <p:nvPr/>
        </p:nvSpPr>
        <p:spPr bwMode="auto">
          <a:xfrm>
            <a:off x="78486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2</a:t>
            </a:r>
            <a:endParaRPr lang="en-US" altLang="zh-CN" sz="4000"/>
          </a:p>
        </p:txBody>
      </p:sp>
      <p:sp>
        <p:nvSpPr>
          <p:cNvPr id="1115205" name="Rectangle 69"/>
          <p:cNvSpPr>
            <a:spLocks noChangeArrowheads="1"/>
          </p:cNvSpPr>
          <p:nvPr/>
        </p:nvSpPr>
        <p:spPr bwMode="auto">
          <a:xfrm>
            <a:off x="79248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2</a:t>
            </a:r>
            <a:endParaRPr lang="en-US" altLang="zh-CN" sz="4000"/>
          </a:p>
        </p:txBody>
      </p:sp>
      <p:sp>
        <p:nvSpPr>
          <p:cNvPr id="1115206" name="Rectangle 70"/>
          <p:cNvSpPr>
            <a:spLocks noChangeArrowheads="1"/>
          </p:cNvSpPr>
          <p:nvPr/>
        </p:nvSpPr>
        <p:spPr bwMode="auto">
          <a:xfrm>
            <a:off x="73914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1</a:t>
            </a:r>
            <a:endParaRPr lang="en-US" altLang="zh-CN" sz="4000"/>
          </a:p>
        </p:txBody>
      </p:sp>
      <p:sp>
        <p:nvSpPr>
          <p:cNvPr id="1115208" name="Rectangle 72"/>
          <p:cNvSpPr>
            <a:spLocks noChangeArrowheads="1"/>
          </p:cNvSpPr>
          <p:nvPr/>
        </p:nvSpPr>
        <p:spPr bwMode="auto">
          <a:xfrm>
            <a:off x="3505200" y="5334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2</a:t>
            </a:r>
            <a:endParaRPr lang="en-US" altLang="zh-CN" sz="4000"/>
          </a:p>
        </p:txBody>
      </p:sp>
      <p:sp>
        <p:nvSpPr>
          <p:cNvPr id="1115209" name="Rectangle 73"/>
          <p:cNvSpPr>
            <a:spLocks noChangeArrowheads="1"/>
          </p:cNvSpPr>
          <p:nvPr/>
        </p:nvSpPr>
        <p:spPr bwMode="auto">
          <a:xfrm>
            <a:off x="28956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r>
              <a:rPr lang="en-US" altLang="zh-CN" sz="4000" b="1">
                <a:solidFill>
                  <a:srgbClr val="CC00CC"/>
                </a:solidFill>
              </a:rPr>
              <a:t> </a:t>
            </a:r>
            <a:endParaRPr lang="en-US" altLang="zh-CN" sz="4000" b="1">
              <a:solidFill>
                <a:srgbClr val="CC00CC"/>
              </a:solidFill>
            </a:endParaRPr>
          </a:p>
        </p:txBody>
      </p:sp>
      <p:sp>
        <p:nvSpPr>
          <p:cNvPr id="1115210" name="Rectangle 74"/>
          <p:cNvSpPr>
            <a:spLocks noChangeArrowheads="1"/>
          </p:cNvSpPr>
          <p:nvPr/>
        </p:nvSpPr>
        <p:spPr bwMode="auto">
          <a:xfrm>
            <a:off x="3429000" y="3581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2</a:t>
            </a:r>
            <a:endParaRPr lang="en-US" altLang="zh-CN"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15140"/>
                                        </p:tgtEl>
                                        <p:attrNameLst>
                                          <p:attrName>style.visibility</p:attrName>
                                        </p:attrNameLst>
                                      </p:cBhvr>
                                      <p:to>
                                        <p:strVal val="visible"/>
                                      </p:to>
                                    </p:set>
                                    <p:animEffect transition="in" filter="box(in)">
                                      <p:cBhvr>
                                        <p:cTn id="7" dur="500"/>
                                        <p:tgtEl>
                                          <p:spTgt spid="111514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115141"/>
                                        </p:tgtEl>
                                        <p:attrNameLst>
                                          <p:attrName>style.visibility</p:attrName>
                                        </p:attrNameLst>
                                      </p:cBhvr>
                                      <p:to>
                                        <p:strVal val="visible"/>
                                      </p:to>
                                    </p:set>
                                    <p:animEffect transition="in" filter="box(in)">
                                      <p:cBhvr>
                                        <p:cTn id="10" dur="500"/>
                                        <p:tgtEl>
                                          <p:spTgt spid="1115141"/>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115142"/>
                                        </p:tgtEl>
                                        <p:attrNameLst>
                                          <p:attrName>style.visibility</p:attrName>
                                        </p:attrNameLst>
                                      </p:cBhvr>
                                      <p:to>
                                        <p:strVal val="visible"/>
                                      </p:to>
                                    </p:set>
                                    <p:animEffect transition="in" filter="box(in)">
                                      <p:cBhvr>
                                        <p:cTn id="13" dur="500"/>
                                        <p:tgtEl>
                                          <p:spTgt spid="1115142"/>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115143"/>
                                        </p:tgtEl>
                                        <p:attrNameLst>
                                          <p:attrName>style.visibility</p:attrName>
                                        </p:attrNameLst>
                                      </p:cBhvr>
                                      <p:to>
                                        <p:strVal val="visible"/>
                                      </p:to>
                                    </p:set>
                                    <p:animEffect transition="in" filter="box(in)">
                                      <p:cBhvr>
                                        <p:cTn id="16" dur="500"/>
                                        <p:tgtEl>
                                          <p:spTgt spid="1115143"/>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115144"/>
                                        </p:tgtEl>
                                        <p:attrNameLst>
                                          <p:attrName>style.visibility</p:attrName>
                                        </p:attrNameLst>
                                      </p:cBhvr>
                                      <p:to>
                                        <p:strVal val="visible"/>
                                      </p:to>
                                    </p:set>
                                    <p:animEffect transition="in" filter="box(in)">
                                      <p:cBhvr>
                                        <p:cTn id="19" dur="500"/>
                                        <p:tgtEl>
                                          <p:spTgt spid="1115144"/>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1115199"/>
                                        </p:tgtEl>
                                        <p:attrNameLst>
                                          <p:attrName>style.visibility</p:attrName>
                                        </p:attrNameLst>
                                      </p:cBhvr>
                                      <p:to>
                                        <p:strVal val="visible"/>
                                      </p:to>
                                    </p:set>
                                    <p:animEffect transition="in" filter="box(in)">
                                      <p:cBhvr>
                                        <p:cTn id="22" dur="500"/>
                                        <p:tgtEl>
                                          <p:spTgt spid="111519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115145"/>
                                        </p:tgtEl>
                                        <p:attrNameLst>
                                          <p:attrName>style.visibility</p:attrName>
                                        </p:attrNameLst>
                                      </p:cBhvr>
                                      <p:to>
                                        <p:strVal val="visible"/>
                                      </p:to>
                                    </p:set>
                                    <p:animEffect transition="in" filter="box(in)">
                                      <p:cBhvr>
                                        <p:cTn id="27" dur="500"/>
                                        <p:tgtEl>
                                          <p:spTgt spid="1115145"/>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1115147"/>
                                        </p:tgtEl>
                                        <p:attrNameLst>
                                          <p:attrName>style.visibility</p:attrName>
                                        </p:attrNameLst>
                                      </p:cBhvr>
                                      <p:to>
                                        <p:strVal val="visible"/>
                                      </p:to>
                                    </p:set>
                                    <p:animEffect transition="in" filter="box(in)">
                                      <p:cBhvr>
                                        <p:cTn id="30" dur="500"/>
                                        <p:tgtEl>
                                          <p:spTgt spid="1115147"/>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115146"/>
                                        </p:tgtEl>
                                        <p:attrNameLst>
                                          <p:attrName>style.visibility</p:attrName>
                                        </p:attrNameLst>
                                      </p:cBhvr>
                                      <p:to>
                                        <p:strVal val="visible"/>
                                      </p:to>
                                    </p:set>
                                    <p:animEffect transition="in" filter="box(in)">
                                      <p:cBhvr>
                                        <p:cTn id="35" dur="500"/>
                                        <p:tgtEl>
                                          <p:spTgt spid="1115146"/>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1115148"/>
                                        </p:tgtEl>
                                        <p:attrNameLst>
                                          <p:attrName>style.visibility</p:attrName>
                                        </p:attrNameLst>
                                      </p:cBhvr>
                                      <p:to>
                                        <p:strVal val="visible"/>
                                      </p:to>
                                    </p:set>
                                    <p:animEffect transition="in" filter="box(in)">
                                      <p:cBhvr>
                                        <p:cTn id="38" dur="500"/>
                                        <p:tgtEl>
                                          <p:spTgt spid="1115148"/>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1115194"/>
                                        </p:tgtEl>
                                        <p:attrNameLst>
                                          <p:attrName>style.visibility</p:attrName>
                                        </p:attrNameLst>
                                      </p:cBhvr>
                                      <p:to>
                                        <p:strVal val="visible"/>
                                      </p:to>
                                    </p:set>
                                    <p:animEffect transition="in" filter="box(in)">
                                      <p:cBhvr>
                                        <p:cTn id="43" dur="500"/>
                                        <p:tgtEl>
                                          <p:spTgt spid="1115194"/>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1115149"/>
                                        </p:tgtEl>
                                        <p:attrNameLst>
                                          <p:attrName>style.visibility</p:attrName>
                                        </p:attrNameLst>
                                      </p:cBhvr>
                                      <p:to>
                                        <p:strVal val="visible"/>
                                      </p:to>
                                    </p:set>
                                    <p:animEffect transition="in" filter="box(in)">
                                      <p:cBhvr>
                                        <p:cTn id="48" dur="500"/>
                                        <p:tgtEl>
                                          <p:spTgt spid="1115149"/>
                                        </p:tgtEl>
                                      </p:cBhvr>
                                    </p:animEffect>
                                  </p:childTnLst>
                                </p:cTn>
                              </p:par>
                              <p:par>
                                <p:cTn id="49" presetID="4" presetClass="entr" presetSubtype="16" fill="hold" grpId="0" nodeType="withEffect">
                                  <p:stCondLst>
                                    <p:cond delay="0"/>
                                  </p:stCondLst>
                                  <p:childTnLst>
                                    <p:set>
                                      <p:cBhvr>
                                        <p:cTn id="50" dur="1" fill="hold">
                                          <p:stCondLst>
                                            <p:cond delay="0"/>
                                          </p:stCondLst>
                                        </p:cTn>
                                        <p:tgtEl>
                                          <p:spTgt spid="1115150"/>
                                        </p:tgtEl>
                                        <p:attrNameLst>
                                          <p:attrName>style.visibility</p:attrName>
                                        </p:attrNameLst>
                                      </p:cBhvr>
                                      <p:to>
                                        <p:strVal val="visible"/>
                                      </p:to>
                                    </p:set>
                                    <p:animEffect transition="in" filter="box(in)">
                                      <p:cBhvr>
                                        <p:cTn id="51" dur="500"/>
                                        <p:tgtEl>
                                          <p:spTgt spid="1115150"/>
                                        </p:tgtEl>
                                      </p:cBhvr>
                                    </p:animEffect>
                                  </p:childTnLst>
                                </p:cTn>
                              </p:par>
                              <p:par>
                                <p:cTn id="52" presetID="4" presetClass="entr" presetSubtype="16" fill="hold" grpId="0" nodeType="withEffect">
                                  <p:stCondLst>
                                    <p:cond delay="0"/>
                                  </p:stCondLst>
                                  <p:childTnLst>
                                    <p:set>
                                      <p:cBhvr>
                                        <p:cTn id="53" dur="1" fill="hold">
                                          <p:stCondLst>
                                            <p:cond delay="0"/>
                                          </p:stCondLst>
                                        </p:cTn>
                                        <p:tgtEl>
                                          <p:spTgt spid="1115151"/>
                                        </p:tgtEl>
                                        <p:attrNameLst>
                                          <p:attrName>style.visibility</p:attrName>
                                        </p:attrNameLst>
                                      </p:cBhvr>
                                      <p:to>
                                        <p:strVal val="visible"/>
                                      </p:to>
                                    </p:set>
                                    <p:animEffect transition="in" filter="box(in)">
                                      <p:cBhvr>
                                        <p:cTn id="54" dur="500"/>
                                        <p:tgtEl>
                                          <p:spTgt spid="1115151"/>
                                        </p:tgtEl>
                                      </p:cBhvr>
                                    </p:animEffect>
                                  </p:childTnLst>
                                </p:cTn>
                              </p:par>
                              <p:par>
                                <p:cTn id="55" presetID="4" presetClass="entr" presetSubtype="16" fill="hold" grpId="0" nodeType="withEffect">
                                  <p:stCondLst>
                                    <p:cond delay="0"/>
                                  </p:stCondLst>
                                  <p:childTnLst>
                                    <p:set>
                                      <p:cBhvr>
                                        <p:cTn id="56" dur="1" fill="hold">
                                          <p:stCondLst>
                                            <p:cond delay="0"/>
                                          </p:stCondLst>
                                        </p:cTn>
                                        <p:tgtEl>
                                          <p:spTgt spid="1115152"/>
                                        </p:tgtEl>
                                        <p:attrNameLst>
                                          <p:attrName>style.visibility</p:attrName>
                                        </p:attrNameLst>
                                      </p:cBhvr>
                                      <p:to>
                                        <p:strVal val="visible"/>
                                      </p:to>
                                    </p:set>
                                    <p:animEffect transition="in" filter="box(in)">
                                      <p:cBhvr>
                                        <p:cTn id="57" dur="500"/>
                                        <p:tgtEl>
                                          <p:spTgt spid="1115152"/>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1115153"/>
                                        </p:tgtEl>
                                        <p:attrNameLst>
                                          <p:attrName>style.visibility</p:attrName>
                                        </p:attrNameLst>
                                      </p:cBhvr>
                                      <p:to>
                                        <p:strVal val="visible"/>
                                      </p:to>
                                    </p:set>
                                    <p:animEffect transition="in" filter="box(in)">
                                      <p:cBhvr>
                                        <p:cTn id="60" dur="500"/>
                                        <p:tgtEl>
                                          <p:spTgt spid="1115153"/>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1115202"/>
                                        </p:tgtEl>
                                        <p:attrNameLst>
                                          <p:attrName>style.visibility</p:attrName>
                                        </p:attrNameLst>
                                      </p:cBhvr>
                                      <p:to>
                                        <p:strVal val="visible"/>
                                      </p:to>
                                    </p:set>
                                    <p:animEffect transition="in" filter="box(in)">
                                      <p:cBhvr>
                                        <p:cTn id="63" dur="500"/>
                                        <p:tgtEl>
                                          <p:spTgt spid="1115202"/>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16" fill="hold" grpId="0" nodeType="clickEffect">
                                  <p:stCondLst>
                                    <p:cond delay="0"/>
                                  </p:stCondLst>
                                  <p:childTnLst>
                                    <p:set>
                                      <p:cBhvr>
                                        <p:cTn id="67" dur="1" fill="hold">
                                          <p:stCondLst>
                                            <p:cond delay="0"/>
                                          </p:stCondLst>
                                        </p:cTn>
                                        <p:tgtEl>
                                          <p:spTgt spid="1115154"/>
                                        </p:tgtEl>
                                        <p:attrNameLst>
                                          <p:attrName>style.visibility</p:attrName>
                                        </p:attrNameLst>
                                      </p:cBhvr>
                                      <p:to>
                                        <p:strVal val="visible"/>
                                      </p:to>
                                    </p:set>
                                    <p:animEffect transition="in" filter="box(in)">
                                      <p:cBhvr>
                                        <p:cTn id="68" dur="500"/>
                                        <p:tgtEl>
                                          <p:spTgt spid="1115154"/>
                                        </p:tgtEl>
                                      </p:cBhvr>
                                    </p:animEffect>
                                  </p:childTnLst>
                                </p:cTn>
                              </p:par>
                              <p:par>
                                <p:cTn id="69" presetID="4" presetClass="entr" presetSubtype="16" fill="hold" grpId="0" nodeType="withEffect">
                                  <p:stCondLst>
                                    <p:cond delay="0"/>
                                  </p:stCondLst>
                                  <p:childTnLst>
                                    <p:set>
                                      <p:cBhvr>
                                        <p:cTn id="70" dur="1" fill="hold">
                                          <p:stCondLst>
                                            <p:cond delay="0"/>
                                          </p:stCondLst>
                                        </p:cTn>
                                        <p:tgtEl>
                                          <p:spTgt spid="1115156"/>
                                        </p:tgtEl>
                                        <p:attrNameLst>
                                          <p:attrName>style.visibility</p:attrName>
                                        </p:attrNameLst>
                                      </p:cBhvr>
                                      <p:to>
                                        <p:strVal val="visible"/>
                                      </p:to>
                                    </p:set>
                                    <p:animEffect transition="in" filter="box(in)">
                                      <p:cBhvr>
                                        <p:cTn id="71" dur="500"/>
                                        <p:tgtEl>
                                          <p:spTgt spid="1115156"/>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1115155"/>
                                        </p:tgtEl>
                                        <p:attrNameLst>
                                          <p:attrName>style.visibility</p:attrName>
                                        </p:attrNameLst>
                                      </p:cBhvr>
                                      <p:to>
                                        <p:strVal val="visible"/>
                                      </p:to>
                                    </p:set>
                                    <p:animEffect transition="in" filter="box(in)">
                                      <p:cBhvr>
                                        <p:cTn id="76" dur="500"/>
                                        <p:tgtEl>
                                          <p:spTgt spid="1115155"/>
                                        </p:tgtEl>
                                      </p:cBhvr>
                                    </p:animEffect>
                                  </p:childTnLst>
                                </p:cTn>
                              </p:par>
                              <p:par>
                                <p:cTn id="77" presetID="4" presetClass="entr" presetSubtype="16" fill="hold" grpId="0" nodeType="withEffect">
                                  <p:stCondLst>
                                    <p:cond delay="0"/>
                                  </p:stCondLst>
                                  <p:childTnLst>
                                    <p:set>
                                      <p:cBhvr>
                                        <p:cTn id="78" dur="1" fill="hold">
                                          <p:stCondLst>
                                            <p:cond delay="0"/>
                                          </p:stCondLst>
                                        </p:cTn>
                                        <p:tgtEl>
                                          <p:spTgt spid="1115157"/>
                                        </p:tgtEl>
                                        <p:attrNameLst>
                                          <p:attrName>style.visibility</p:attrName>
                                        </p:attrNameLst>
                                      </p:cBhvr>
                                      <p:to>
                                        <p:strVal val="visible"/>
                                      </p:to>
                                    </p:set>
                                    <p:animEffect transition="in" filter="box(in)">
                                      <p:cBhvr>
                                        <p:cTn id="79" dur="500"/>
                                        <p:tgtEl>
                                          <p:spTgt spid="1115157"/>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16" fill="hold" grpId="0" nodeType="clickEffect">
                                  <p:stCondLst>
                                    <p:cond delay="0"/>
                                  </p:stCondLst>
                                  <p:childTnLst>
                                    <p:set>
                                      <p:cBhvr>
                                        <p:cTn id="83" dur="1" fill="hold">
                                          <p:stCondLst>
                                            <p:cond delay="0"/>
                                          </p:stCondLst>
                                        </p:cTn>
                                        <p:tgtEl>
                                          <p:spTgt spid="1115195"/>
                                        </p:tgtEl>
                                        <p:attrNameLst>
                                          <p:attrName>style.visibility</p:attrName>
                                        </p:attrNameLst>
                                      </p:cBhvr>
                                      <p:to>
                                        <p:strVal val="visible"/>
                                      </p:to>
                                    </p:set>
                                    <p:animEffect transition="in" filter="box(in)">
                                      <p:cBhvr>
                                        <p:cTn id="84" dur="500"/>
                                        <p:tgtEl>
                                          <p:spTgt spid="1115195"/>
                                        </p:tgtEl>
                                      </p:cBhvr>
                                    </p:animEffect>
                                  </p:childTnLst>
                                </p:cTn>
                              </p:par>
                            </p:childTnLst>
                          </p:cTn>
                        </p:par>
                      </p:childTnLst>
                    </p:cTn>
                  </p:par>
                  <p:par>
                    <p:cTn id="85" fill="hold">
                      <p:stCondLst>
                        <p:cond delay="indefinite"/>
                      </p:stCondLst>
                      <p:childTnLst>
                        <p:par>
                          <p:cTn id="86" fill="hold">
                            <p:stCondLst>
                              <p:cond delay="0"/>
                            </p:stCondLst>
                            <p:childTnLst>
                              <p:par>
                                <p:cTn id="87" presetID="4" presetClass="entr" presetSubtype="16" fill="hold" grpId="0" nodeType="clickEffect">
                                  <p:stCondLst>
                                    <p:cond delay="0"/>
                                  </p:stCondLst>
                                  <p:childTnLst>
                                    <p:set>
                                      <p:cBhvr>
                                        <p:cTn id="88" dur="1" fill="hold">
                                          <p:stCondLst>
                                            <p:cond delay="0"/>
                                          </p:stCondLst>
                                        </p:cTn>
                                        <p:tgtEl>
                                          <p:spTgt spid="1115158"/>
                                        </p:tgtEl>
                                        <p:attrNameLst>
                                          <p:attrName>style.visibility</p:attrName>
                                        </p:attrNameLst>
                                      </p:cBhvr>
                                      <p:to>
                                        <p:strVal val="visible"/>
                                      </p:to>
                                    </p:set>
                                    <p:animEffect transition="in" filter="box(in)">
                                      <p:cBhvr>
                                        <p:cTn id="89" dur="500"/>
                                        <p:tgtEl>
                                          <p:spTgt spid="1115158"/>
                                        </p:tgtEl>
                                      </p:cBhvr>
                                    </p:animEffect>
                                  </p:childTnLst>
                                </p:cTn>
                              </p:par>
                              <p:par>
                                <p:cTn id="90" presetID="4" presetClass="entr" presetSubtype="16" fill="hold" grpId="0" nodeType="withEffect">
                                  <p:stCondLst>
                                    <p:cond delay="0"/>
                                  </p:stCondLst>
                                  <p:childTnLst>
                                    <p:set>
                                      <p:cBhvr>
                                        <p:cTn id="91" dur="1" fill="hold">
                                          <p:stCondLst>
                                            <p:cond delay="0"/>
                                          </p:stCondLst>
                                        </p:cTn>
                                        <p:tgtEl>
                                          <p:spTgt spid="1115159"/>
                                        </p:tgtEl>
                                        <p:attrNameLst>
                                          <p:attrName>style.visibility</p:attrName>
                                        </p:attrNameLst>
                                      </p:cBhvr>
                                      <p:to>
                                        <p:strVal val="visible"/>
                                      </p:to>
                                    </p:set>
                                    <p:animEffect transition="in" filter="box(in)">
                                      <p:cBhvr>
                                        <p:cTn id="92" dur="500"/>
                                        <p:tgtEl>
                                          <p:spTgt spid="1115159"/>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1115160"/>
                                        </p:tgtEl>
                                        <p:attrNameLst>
                                          <p:attrName>style.visibility</p:attrName>
                                        </p:attrNameLst>
                                      </p:cBhvr>
                                      <p:to>
                                        <p:strVal val="visible"/>
                                      </p:to>
                                    </p:set>
                                    <p:animEffect transition="in" filter="box(in)">
                                      <p:cBhvr>
                                        <p:cTn id="95" dur="500"/>
                                        <p:tgtEl>
                                          <p:spTgt spid="1115160"/>
                                        </p:tgtEl>
                                      </p:cBhvr>
                                    </p:animEffect>
                                  </p:childTnLst>
                                </p:cTn>
                              </p:par>
                              <p:par>
                                <p:cTn id="96" presetID="4" presetClass="entr" presetSubtype="16" fill="hold" grpId="0" nodeType="withEffect">
                                  <p:stCondLst>
                                    <p:cond delay="0"/>
                                  </p:stCondLst>
                                  <p:childTnLst>
                                    <p:set>
                                      <p:cBhvr>
                                        <p:cTn id="97" dur="1" fill="hold">
                                          <p:stCondLst>
                                            <p:cond delay="0"/>
                                          </p:stCondLst>
                                        </p:cTn>
                                        <p:tgtEl>
                                          <p:spTgt spid="1115161"/>
                                        </p:tgtEl>
                                        <p:attrNameLst>
                                          <p:attrName>style.visibility</p:attrName>
                                        </p:attrNameLst>
                                      </p:cBhvr>
                                      <p:to>
                                        <p:strVal val="visible"/>
                                      </p:to>
                                    </p:set>
                                    <p:animEffect transition="in" filter="box(in)">
                                      <p:cBhvr>
                                        <p:cTn id="98" dur="500"/>
                                        <p:tgtEl>
                                          <p:spTgt spid="1115161"/>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1115162"/>
                                        </p:tgtEl>
                                        <p:attrNameLst>
                                          <p:attrName>style.visibility</p:attrName>
                                        </p:attrNameLst>
                                      </p:cBhvr>
                                      <p:to>
                                        <p:strVal val="visible"/>
                                      </p:to>
                                    </p:set>
                                    <p:animEffect transition="in" filter="box(in)">
                                      <p:cBhvr>
                                        <p:cTn id="101" dur="500"/>
                                        <p:tgtEl>
                                          <p:spTgt spid="1115162"/>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1115203"/>
                                        </p:tgtEl>
                                        <p:attrNameLst>
                                          <p:attrName>style.visibility</p:attrName>
                                        </p:attrNameLst>
                                      </p:cBhvr>
                                      <p:to>
                                        <p:strVal val="visible"/>
                                      </p:to>
                                    </p:set>
                                    <p:animEffect transition="in" filter="box(in)">
                                      <p:cBhvr>
                                        <p:cTn id="104" dur="500"/>
                                        <p:tgtEl>
                                          <p:spTgt spid="1115203"/>
                                        </p:tgtEl>
                                      </p:cBhvr>
                                    </p:animEffect>
                                  </p:childTnLst>
                                </p:cTn>
                              </p:par>
                            </p:childTnLst>
                          </p:cTn>
                        </p:par>
                      </p:childTnLst>
                    </p:cTn>
                  </p:par>
                  <p:par>
                    <p:cTn id="105" fill="hold">
                      <p:stCondLst>
                        <p:cond delay="indefinite"/>
                      </p:stCondLst>
                      <p:childTnLst>
                        <p:par>
                          <p:cTn id="106" fill="hold">
                            <p:stCondLst>
                              <p:cond delay="0"/>
                            </p:stCondLst>
                            <p:childTnLst>
                              <p:par>
                                <p:cTn id="107" presetID="4" presetClass="entr" presetSubtype="16" fill="hold" grpId="0" nodeType="clickEffect">
                                  <p:stCondLst>
                                    <p:cond delay="0"/>
                                  </p:stCondLst>
                                  <p:childTnLst>
                                    <p:set>
                                      <p:cBhvr>
                                        <p:cTn id="108" dur="1" fill="hold">
                                          <p:stCondLst>
                                            <p:cond delay="0"/>
                                          </p:stCondLst>
                                        </p:cTn>
                                        <p:tgtEl>
                                          <p:spTgt spid="1115163"/>
                                        </p:tgtEl>
                                        <p:attrNameLst>
                                          <p:attrName>style.visibility</p:attrName>
                                        </p:attrNameLst>
                                      </p:cBhvr>
                                      <p:to>
                                        <p:strVal val="visible"/>
                                      </p:to>
                                    </p:set>
                                    <p:animEffect transition="in" filter="box(in)">
                                      <p:cBhvr>
                                        <p:cTn id="109" dur="500"/>
                                        <p:tgtEl>
                                          <p:spTgt spid="1115163"/>
                                        </p:tgtEl>
                                      </p:cBhvr>
                                    </p:animEffect>
                                  </p:childTnLst>
                                </p:cTn>
                              </p:par>
                              <p:par>
                                <p:cTn id="110" presetID="4" presetClass="entr" presetSubtype="16" fill="hold" grpId="0" nodeType="withEffect">
                                  <p:stCondLst>
                                    <p:cond delay="0"/>
                                  </p:stCondLst>
                                  <p:childTnLst>
                                    <p:set>
                                      <p:cBhvr>
                                        <p:cTn id="111" dur="1" fill="hold">
                                          <p:stCondLst>
                                            <p:cond delay="0"/>
                                          </p:stCondLst>
                                        </p:cTn>
                                        <p:tgtEl>
                                          <p:spTgt spid="1115165"/>
                                        </p:tgtEl>
                                        <p:attrNameLst>
                                          <p:attrName>style.visibility</p:attrName>
                                        </p:attrNameLst>
                                      </p:cBhvr>
                                      <p:to>
                                        <p:strVal val="visible"/>
                                      </p:to>
                                    </p:set>
                                    <p:animEffect transition="in" filter="box(in)">
                                      <p:cBhvr>
                                        <p:cTn id="112" dur="500"/>
                                        <p:tgtEl>
                                          <p:spTgt spid="1115165"/>
                                        </p:tgtEl>
                                      </p:cBhvr>
                                    </p:animEffect>
                                  </p:childTnLst>
                                </p:cTn>
                              </p:par>
                            </p:childTnLst>
                          </p:cTn>
                        </p:par>
                      </p:childTnLst>
                    </p:cTn>
                  </p:par>
                  <p:par>
                    <p:cTn id="113" fill="hold">
                      <p:stCondLst>
                        <p:cond delay="indefinite"/>
                      </p:stCondLst>
                      <p:childTnLst>
                        <p:par>
                          <p:cTn id="114" fill="hold">
                            <p:stCondLst>
                              <p:cond delay="0"/>
                            </p:stCondLst>
                            <p:childTnLst>
                              <p:par>
                                <p:cTn id="115" presetID="4" presetClass="entr" presetSubtype="16" fill="hold" grpId="0" nodeType="clickEffect">
                                  <p:stCondLst>
                                    <p:cond delay="0"/>
                                  </p:stCondLst>
                                  <p:childTnLst>
                                    <p:set>
                                      <p:cBhvr>
                                        <p:cTn id="116" dur="1" fill="hold">
                                          <p:stCondLst>
                                            <p:cond delay="0"/>
                                          </p:stCondLst>
                                        </p:cTn>
                                        <p:tgtEl>
                                          <p:spTgt spid="1115164"/>
                                        </p:tgtEl>
                                        <p:attrNameLst>
                                          <p:attrName>style.visibility</p:attrName>
                                        </p:attrNameLst>
                                      </p:cBhvr>
                                      <p:to>
                                        <p:strVal val="visible"/>
                                      </p:to>
                                    </p:set>
                                    <p:animEffect transition="in" filter="box(in)">
                                      <p:cBhvr>
                                        <p:cTn id="117" dur="500"/>
                                        <p:tgtEl>
                                          <p:spTgt spid="1115164"/>
                                        </p:tgtEl>
                                      </p:cBhvr>
                                    </p:animEffect>
                                  </p:childTnLst>
                                </p:cTn>
                              </p:par>
                              <p:par>
                                <p:cTn id="118" presetID="4" presetClass="entr" presetSubtype="16" fill="hold" grpId="0" nodeType="withEffect">
                                  <p:stCondLst>
                                    <p:cond delay="0"/>
                                  </p:stCondLst>
                                  <p:childTnLst>
                                    <p:set>
                                      <p:cBhvr>
                                        <p:cTn id="119" dur="1" fill="hold">
                                          <p:stCondLst>
                                            <p:cond delay="0"/>
                                          </p:stCondLst>
                                        </p:cTn>
                                        <p:tgtEl>
                                          <p:spTgt spid="1115166"/>
                                        </p:tgtEl>
                                        <p:attrNameLst>
                                          <p:attrName>style.visibility</p:attrName>
                                        </p:attrNameLst>
                                      </p:cBhvr>
                                      <p:to>
                                        <p:strVal val="visible"/>
                                      </p:to>
                                    </p:set>
                                    <p:animEffect transition="in" filter="box(in)">
                                      <p:cBhvr>
                                        <p:cTn id="120" dur="500"/>
                                        <p:tgtEl>
                                          <p:spTgt spid="1115166"/>
                                        </p:tgtEl>
                                      </p:cBhvr>
                                    </p:animEffect>
                                  </p:childTnLst>
                                </p:cTn>
                              </p:par>
                            </p:childTnLst>
                          </p:cTn>
                        </p:par>
                      </p:childTnLst>
                    </p:cTn>
                  </p:par>
                  <p:par>
                    <p:cTn id="121" fill="hold">
                      <p:stCondLst>
                        <p:cond delay="indefinite"/>
                      </p:stCondLst>
                      <p:childTnLst>
                        <p:par>
                          <p:cTn id="122" fill="hold">
                            <p:stCondLst>
                              <p:cond delay="0"/>
                            </p:stCondLst>
                            <p:childTnLst>
                              <p:par>
                                <p:cTn id="123" presetID="4" presetClass="entr" presetSubtype="16" fill="hold" grpId="0" nodeType="clickEffect">
                                  <p:stCondLst>
                                    <p:cond delay="0"/>
                                  </p:stCondLst>
                                  <p:childTnLst>
                                    <p:set>
                                      <p:cBhvr>
                                        <p:cTn id="124" dur="1" fill="hold">
                                          <p:stCondLst>
                                            <p:cond delay="0"/>
                                          </p:stCondLst>
                                        </p:cTn>
                                        <p:tgtEl>
                                          <p:spTgt spid="1115198"/>
                                        </p:tgtEl>
                                        <p:attrNameLst>
                                          <p:attrName>style.visibility</p:attrName>
                                        </p:attrNameLst>
                                      </p:cBhvr>
                                      <p:to>
                                        <p:strVal val="visible"/>
                                      </p:to>
                                    </p:set>
                                    <p:animEffect transition="in" filter="box(in)">
                                      <p:cBhvr>
                                        <p:cTn id="125" dur="500"/>
                                        <p:tgtEl>
                                          <p:spTgt spid="1115198"/>
                                        </p:tgtEl>
                                      </p:cBhvr>
                                    </p:animEffect>
                                  </p:childTnLst>
                                </p:cTn>
                              </p:par>
                            </p:childTnLst>
                          </p:cTn>
                        </p:par>
                      </p:childTnLst>
                    </p:cTn>
                  </p:par>
                  <p:par>
                    <p:cTn id="126" fill="hold">
                      <p:stCondLst>
                        <p:cond delay="indefinite"/>
                      </p:stCondLst>
                      <p:childTnLst>
                        <p:par>
                          <p:cTn id="127" fill="hold">
                            <p:stCondLst>
                              <p:cond delay="0"/>
                            </p:stCondLst>
                            <p:childTnLst>
                              <p:par>
                                <p:cTn id="128" presetID="4" presetClass="entr" presetSubtype="16" fill="hold" grpId="0" nodeType="clickEffect">
                                  <p:stCondLst>
                                    <p:cond delay="0"/>
                                  </p:stCondLst>
                                  <p:childTnLst>
                                    <p:set>
                                      <p:cBhvr>
                                        <p:cTn id="129" dur="1" fill="hold">
                                          <p:stCondLst>
                                            <p:cond delay="0"/>
                                          </p:stCondLst>
                                        </p:cTn>
                                        <p:tgtEl>
                                          <p:spTgt spid="1115167"/>
                                        </p:tgtEl>
                                        <p:attrNameLst>
                                          <p:attrName>style.visibility</p:attrName>
                                        </p:attrNameLst>
                                      </p:cBhvr>
                                      <p:to>
                                        <p:strVal val="visible"/>
                                      </p:to>
                                    </p:set>
                                    <p:animEffect transition="in" filter="box(in)">
                                      <p:cBhvr>
                                        <p:cTn id="130" dur="500"/>
                                        <p:tgtEl>
                                          <p:spTgt spid="1115167"/>
                                        </p:tgtEl>
                                      </p:cBhvr>
                                    </p:animEffect>
                                  </p:childTnLst>
                                </p:cTn>
                              </p:par>
                              <p:par>
                                <p:cTn id="131" presetID="4" presetClass="entr" presetSubtype="16" fill="hold" grpId="0" nodeType="withEffect">
                                  <p:stCondLst>
                                    <p:cond delay="0"/>
                                  </p:stCondLst>
                                  <p:childTnLst>
                                    <p:set>
                                      <p:cBhvr>
                                        <p:cTn id="132" dur="1" fill="hold">
                                          <p:stCondLst>
                                            <p:cond delay="0"/>
                                          </p:stCondLst>
                                        </p:cTn>
                                        <p:tgtEl>
                                          <p:spTgt spid="1115168"/>
                                        </p:tgtEl>
                                        <p:attrNameLst>
                                          <p:attrName>style.visibility</p:attrName>
                                        </p:attrNameLst>
                                      </p:cBhvr>
                                      <p:to>
                                        <p:strVal val="visible"/>
                                      </p:to>
                                    </p:set>
                                    <p:animEffect transition="in" filter="box(in)">
                                      <p:cBhvr>
                                        <p:cTn id="133" dur="500"/>
                                        <p:tgtEl>
                                          <p:spTgt spid="1115168"/>
                                        </p:tgtEl>
                                      </p:cBhvr>
                                    </p:animEffect>
                                  </p:childTnLst>
                                </p:cTn>
                              </p:par>
                              <p:par>
                                <p:cTn id="134" presetID="4" presetClass="entr" presetSubtype="16" fill="hold" grpId="0" nodeType="withEffect">
                                  <p:stCondLst>
                                    <p:cond delay="0"/>
                                  </p:stCondLst>
                                  <p:childTnLst>
                                    <p:set>
                                      <p:cBhvr>
                                        <p:cTn id="135" dur="1" fill="hold">
                                          <p:stCondLst>
                                            <p:cond delay="0"/>
                                          </p:stCondLst>
                                        </p:cTn>
                                        <p:tgtEl>
                                          <p:spTgt spid="1115169"/>
                                        </p:tgtEl>
                                        <p:attrNameLst>
                                          <p:attrName>style.visibility</p:attrName>
                                        </p:attrNameLst>
                                      </p:cBhvr>
                                      <p:to>
                                        <p:strVal val="visible"/>
                                      </p:to>
                                    </p:set>
                                    <p:animEffect transition="in" filter="box(in)">
                                      <p:cBhvr>
                                        <p:cTn id="136" dur="500"/>
                                        <p:tgtEl>
                                          <p:spTgt spid="1115169"/>
                                        </p:tgtEl>
                                      </p:cBhvr>
                                    </p:animEffect>
                                  </p:childTnLst>
                                </p:cTn>
                              </p:par>
                              <p:par>
                                <p:cTn id="137" presetID="4" presetClass="entr" presetSubtype="16" fill="hold" grpId="0" nodeType="withEffect">
                                  <p:stCondLst>
                                    <p:cond delay="0"/>
                                  </p:stCondLst>
                                  <p:childTnLst>
                                    <p:set>
                                      <p:cBhvr>
                                        <p:cTn id="138" dur="1" fill="hold">
                                          <p:stCondLst>
                                            <p:cond delay="0"/>
                                          </p:stCondLst>
                                        </p:cTn>
                                        <p:tgtEl>
                                          <p:spTgt spid="1115170"/>
                                        </p:tgtEl>
                                        <p:attrNameLst>
                                          <p:attrName>style.visibility</p:attrName>
                                        </p:attrNameLst>
                                      </p:cBhvr>
                                      <p:to>
                                        <p:strVal val="visible"/>
                                      </p:to>
                                    </p:set>
                                    <p:animEffect transition="in" filter="box(in)">
                                      <p:cBhvr>
                                        <p:cTn id="139" dur="500"/>
                                        <p:tgtEl>
                                          <p:spTgt spid="1115170"/>
                                        </p:tgtEl>
                                      </p:cBhvr>
                                    </p:animEffect>
                                  </p:childTnLst>
                                </p:cTn>
                              </p:par>
                              <p:par>
                                <p:cTn id="140" presetID="4" presetClass="entr" presetSubtype="16" fill="hold" grpId="0" nodeType="withEffect">
                                  <p:stCondLst>
                                    <p:cond delay="0"/>
                                  </p:stCondLst>
                                  <p:childTnLst>
                                    <p:set>
                                      <p:cBhvr>
                                        <p:cTn id="141" dur="1" fill="hold">
                                          <p:stCondLst>
                                            <p:cond delay="0"/>
                                          </p:stCondLst>
                                        </p:cTn>
                                        <p:tgtEl>
                                          <p:spTgt spid="1115205"/>
                                        </p:tgtEl>
                                        <p:attrNameLst>
                                          <p:attrName>style.visibility</p:attrName>
                                        </p:attrNameLst>
                                      </p:cBhvr>
                                      <p:to>
                                        <p:strVal val="visible"/>
                                      </p:to>
                                    </p:set>
                                    <p:animEffect transition="in" filter="box(in)">
                                      <p:cBhvr>
                                        <p:cTn id="142" dur="500"/>
                                        <p:tgtEl>
                                          <p:spTgt spid="1115205"/>
                                        </p:tgtEl>
                                      </p:cBhvr>
                                    </p:animEffect>
                                  </p:childTnLst>
                                </p:cTn>
                              </p:par>
                              <p:par>
                                <p:cTn id="143" presetID="4" presetClass="entr" presetSubtype="16" fill="hold" grpId="0" nodeType="withEffect">
                                  <p:stCondLst>
                                    <p:cond delay="0"/>
                                  </p:stCondLst>
                                  <p:childTnLst>
                                    <p:set>
                                      <p:cBhvr>
                                        <p:cTn id="144" dur="1" fill="hold">
                                          <p:stCondLst>
                                            <p:cond delay="0"/>
                                          </p:stCondLst>
                                        </p:cTn>
                                        <p:tgtEl>
                                          <p:spTgt spid="1115206"/>
                                        </p:tgtEl>
                                        <p:attrNameLst>
                                          <p:attrName>style.visibility</p:attrName>
                                        </p:attrNameLst>
                                      </p:cBhvr>
                                      <p:to>
                                        <p:strVal val="visible"/>
                                      </p:to>
                                    </p:set>
                                    <p:animEffect transition="in" filter="box(in)">
                                      <p:cBhvr>
                                        <p:cTn id="145" dur="500"/>
                                        <p:tgtEl>
                                          <p:spTgt spid="1115206"/>
                                        </p:tgtEl>
                                      </p:cBhvr>
                                    </p:animEffect>
                                  </p:childTnLst>
                                </p:cTn>
                              </p:par>
                            </p:childTnLst>
                          </p:cTn>
                        </p:par>
                      </p:childTnLst>
                    </p:cTn>
                  </p:par>
                  <p:par>
                    <p:cTn id="146" fill="hold">
                      <p:stCondLst>
                        <p:cond delay="indefinite"/>
                      </p:stCondLst>
                      <p:childTnLst>
                        <p:par>
                          <p:cTn id="147" fill="hold">
                            <p:stCondLst>
                              <p:cond delay="0"/>
                            </p:stCondLst>
                            <p:childTnLst>
                              <p:par>
                                <p:cTn id="148" presetID="4" presetClass="entr" presetSubtype="16" fill="hold" grpId="0" nodeType="clickEffect">
                                  <p:stCondLst>
                                    <p:cond delay="0"/>
                                  </p:stCondLst>
                                  <p:childTnLst>
                                    <p:set>
                                      <p:cBhvr>
                                        <p:cTn id="149" dur="1" fill="hold">
                                          <p:stCondLst>
                                            <p:cond delay="0"/>
                                          </p:stCondLst>
                                        </p:cTn>
                                        <p:tgtEl>
                                          <p:spTgt spid="1115172"/>
                                        </p:tgtEl>
                                        <p:attrNameLst>
                                          <p:attrName>style.visibility</p:attrName>
                                        </p:attrNameLst>
                                      </p:cBhvr>
                                      <p:to>
                                        <p:strVal val="visible"/>
                                      </p:to>
                                    </p:set>
                                    <p:animEffect transition="in" filter="box(in)">
                                      <p:cBhvr>
                                        <p:cTn id="150" dur="500"/>
                                        <p:tgtEl>
                                          <p:spTgt spid="1115172"/>
                                        </p:tgtEl>
                                      </p:cBhvr>
                                    </p:animEffect>
                                  </p:childTnLst>
                                </p:cTn>
                              </p:par>
                              <p:par>
                                <p:cTn id="151" presetID="4" presetClass="entr" presetSubtype="16" fill="hold" grpId="0" nodeType="withEffect">
                                  <p:stCondLst>
                                    <p:cond delay="0"/>
                                  </p:stCondLst>
                                  <p:childTnLst>
                                    <p:set>
                                      <p:cBhvr>
                                        <p:cTn id="152" dur="1" fill="hold">
                                          <p:stCondLst>
                                            <p:cond delay="0"/>
                                          </p:stCondLst>
                                        </p:cTn>
                                        <p:tgtEl>
                                          <p:spTgt spid="1115174"/>
                                        </p:tgtEl>
                                        <p:attrNameLst>
                                          <p:attrName>style.visibility</p:attrName>
                                        </p:attrNameLst>
                                      </p:cBhvr>
                                      <p:to>
                                        <p:strVal val="visible"/>
                                      </p:to>
                                    </p:set>
                                    <p:animEffect transition="in" filter="box(in)">
                                      <p:cBhvr>
                                        <p:cTn id="153" dur="500"/>
                                        <p:tgtEl>
                                          <p:spTgt spid="1115174"/>
                                        </p:tgtEl>
                                      </p:cBhvr>
                                    </p:animEffect>
                                  </p:childTnLst>
                                </p:cTn>
                              </p:par>
                            </p:childTnLst>
                          </p:cTn>
                        </p:par>
                      </p:childTnLst>
                    </p:cTn>
                  </p:par>
                  <p:par>
                    <p:cTn id="154" fill="hold">
                      <p:stCondLst>
                        <p:cond delay="indefinite"/>
                      </p:stCondLst>
                      <p:childTnLst>
                        <p:par>
                          <p:cTn id="155" fill="hold">
                            <p:stCondLst>
                              <p:cond delay="0"/>
                            </p:stCondLst>
                            <p:childTnLst>
                              <p:par>
                                <p:cTn id="156" presetID="4" presetClass="entr" presetSubtype="16" fill="hold" grpId="0" nodeType="clickEffect">
                                  <p:stCondLst>
                                    <p:cond delay="0"/>
                                  </p:stCondLst>
                                  <p:childTnLst>
                                    <p:set>
                                      <p:cBhvr>
                                        <p:cTn id="157" dur="1" fill="hold">
                                          <p:stCondLst>
                                            <p:cond delay="0"/>
                                          </p:stCondLst>
                                        </p:cTn>
                                        <p:tgtEl>
                                          <p:spTgt spid="1115173"/>
                                        </p:tgtEl>
                                        <p:attrNameLst>
                                          <p:attrName>style.visibility</p:attrName>
                                        </p:attrNameLst>
                                      </p:cBhvr>
                                      <p:to>
                                        <p:strVal val="visible"/>
                                      </p:to>
                                    </p:set>
                                    <p:animEffect transition="in" filter="box(in)">
                                      <p:cBhvr>
                                        <p:cTn id="158" dur="500"/>
                                        <p:tgtEl>
                                          <p:spTgt spid="1115173"/>
                                        </p:tgtEl>
                                      </p:cBhvr>
                                    </p:animEffect>
                                  </p:childTnLst>
                                </p:cTn>
                              </p:par>
                              <p:par>
                                <p:cTn id="159" presetID="4" presetClass="entr" presetSubtype="16" fill="hold" grpId="0" nodeType="withEffect">
                                  <p:stCondLst>
                                    <p:cond delay="0"/>
                                  </p:stCondLst>
                                  <p:childTnLst>
                                    <p:set>
                                      <p:cBhvr>
                                        <p:cTn id="160" dur="1" fill="hold">
                                          <p:stCondLst>
                                            <p:cond delay="0"/>
                                          </p:stCondLst>
                                        </p:cTn>
                                        <p:tgtEl>
                                          <p:spTgt spid="1115175"/>
                                        </p:tgtEl>
                                        <p:attrNameLst>
                                          <p:attrName>style.visibility</p:attrName>
                                        </p:attrNameLst>
                                      </p:cBhvr>
                                      <p:to>
                                        <p:strVal val="visible"/>
                                      </p:to>
                                    </p:set>
                                    <p:animEffect transition="in" filter="box(in)">
                                      <p:cBhvr>
                                        <p:cTn id="161" dur="500"/>
                                        <p:tgtEl>
                                          <p:spTgt spid="1115175"/>
                                        </p:tgtEl>
                                      </p:cBhvr>
                                    </p:animEffect>
                                  </p:childTnLst>
                                </p:cTn>
                              </p:par>
                            </p:childTnLst>
                          </p:cTn>
                        </p:par>
                      </p:childTnLst>
                    </p:cTn>
                  </p:par>
                  <p:par>
                    <p:cTn id="162" fill="hold">
                      <p:stCondLst>
                        <p:cond delay="indefinite"/>
                      </p:stCondLst>
                      <p:childTnLst>
                        <p:par>
                          <p:cTn id="163" fill="hold">
                            <p:stCondLst>
                              <p:cond delay="0"/>
                            </p:stCondLst>
                            <p:childTnLst>
                              <p:par>
                                <p:cTn id="164" presetID="4" presetClass="entr" presetSubtype="16" fill="hold" grpId="0" nodeType="clickEffect">
                                  <p:stCondLst>
                                    <p:cond delay="0"/>
                                  </p:stCondLst>
                                  <p:childTnLst>
                                    <p:set>
                                      <p:cBhvr>
                                        <p:cTn id="165" dur="1" fill="hold">
                                          <p:stCondLst>
                                            <p:cond delay="0"/>
                                          </p:stCondLst>
                                        </p:cTn>
                                        <p:tgtEl>
                                          <p:spTgt spid="1115197"/>
                                        </p:tgtEl>
                                        <p:attrNameLst>
                                          <p:attrName>style.visibility</p:attrName>
                                        </p:attrNameLst>
                                      </p:cBhvr>
                                      <p:to>
                                        <p:strVal val="visible"/>
                                      </p:to>
                                    </p:set>
                                    <p:animEffect transition="in" filter="box(in)">
                                      <p:cBhvr>
                                        <p:cTn id="166" dur="500"/>
                                        <p:tgtEl>
                                          <p:spTgt spid="1115197"/>
                                        </p:tgtEl>
                                      </p:cBhvr>
                                    </p:animEffect>
                                  </p:childTnLst>
                                </p:cTn>
                              </p:par>
                            </p:childTnLst>
                          </p:cTn>
                        </p:par>
                      </p:childTnLst>
                    </p:cTn>
                  </p:par>
                  <p:par>
                    <p:cTn id="167" fill="hold">
                      <p:stCondLst>
                        <p:cond delay="indefinite"/>
                      </p:stCondLst>
                      <p:childTnLst>
                        <p:par>
                          <p:cTn id="168" fill="hold">
                            <p:stCondLst>
                              <p:cond delay="0"/>
                            </p:stCondLst>
                            <p:childTnLst>
                              <p:par>
                                <p:cTn id="169" presetID="4" presetClass="entr" presetSubtype="16" fill="hold" grpId="0" nodeType="clickEffect">
                                  <p:stCondLst>
                                    <p:cond delay="0"/>
                                  </p:stCondLst>
                                  <p:childTnLst>
                                    <p:set>
                                      <p:cBhvr>
                                        <p:cTn id="170" dur="1" fill="hold">
                                          <p:stCondLst>
                                            <p:cond delay="0"/>
                                          </p:stCondLst>
                                        </p:cTn>
                                        <p:tgtEl>
                                          <p:spTgt spid="1115176"/>
                                        </p:tgtEl>
                                        <p:attrNameLst>
                                          <p:attrName>style.visibility</p:attrName>
                                        </p:attrNameLst>
                                      </p:cBhvr>
                                      <p:to>
                                        <p:strVal val="visible"/>
                                      </p:to>
                                    </p:set>
                                    <p:animEffect transition="in" filter="box(in)">
                                      <p:cBhvr>
                                        <p:cTn id="171" dur="500"/>
                                        <p:tgtEl>
                                          <p:spTgt spid="1115176"/>
                                        </p:tgtEl>
                                      </p:cBhvr>
                                    </p:animEffect>
                                  </p:childTnLst>
                                </p:cTn>
                              </p:par>
                              <p:par>
                                <p:cTn id="172" presetID="4" presetClass="entr" presetSubtype="16" fill="hold" grpId="0" nodeType="withEffect">
                                  <p:stCondLst>
                                    <p:cond delay="0"/>
                                  </p:stCondLst>
                                  <p:childTnLst>
                                    <p:set>
                                      <p:cBhvr>
                                        <p:cTn id="173" dur="1" fill="hold">
                                          <p:stCondLst>
                                            <p:cond delay="0"/>
                                          </p:stCondLst>
                                        </p:cTn>
                                        <p:tgtEl>
                                          <p:spTgt spid="1115177"/>
                                        </p:tgtEl>
                                        <p:attrNameLst>
                                          <p:attrName>style.visibility</p:attrName>
                                        </p:attrNameLst>
                                      </p:cBhvr>
                                      <p:to>
                                        <p:strVal val="visible"/>
                                      </p:to>
                                    </p:set>
                                    <p:animEffect transition="in" filter="box(in)">
                                      <p:cBhvr>
                                        <p:cTn id="174" dur="500"/>
                                        <p:tgtEl>
                                          <p:spTgt spid="1115177"/>
                                        </p:tgtEl>
                                      </p:cBhvr>
                                    </p:animEffect>
                                  </p:childTnLst>
                                </p:cTn>
                              </p:par>
                              <p:par>
                                <p:cTn id="175" presetID="4" presetClass="entr" presetSubtype="16" fill="hold" grpId="0" nodeType="withEffect">
                                  <p:stCondLst>
                                    <p:cond delay="0"/>
                                  </p:stCondLst>
                                  <p:childTnLst>
                                    <p:set>
                                      <p:cBhvr>
                                        <p:cTn id="176" dur="1" fill="hold">
                                          <p:stCondLst>
                                            <p:cond delay="0"/>
                                          </p:stCondLst>
                                        </p:cTn>
                                        <p:tgtEl>
                                          <p:spTgt spid="1115178"/>
                                        </p:tgtEl>
                                        <p:attrNameLst>
                                          <p:attrName>style.visibility</p:attrName>
                                        </p:attrNameLst>
                                      </p:cBhvr>
                                      <p:to>
                                        <p:strVal val="visible"/>
                                      </p:to>
                                    </p:set>
                                    <p:animEffect transition="in" filter="box(in)">
                                      <p:cBhvr>
                                        <p:cTn id="177" dur="500"/>
                                        <p:tgtEl>
                                          <p:spTgt spid="1115178"/>
                                        </p:tgtEl>
                                      </p:cBhvr>
                                    </p:animEffect>
                                  </p:childTnLst>
                                </p:cTn>
                              </p:par>
                              <p:par>
                                <p:cTn id="178" presetID="4" presetClass="entr" presetSubtype="16" fill="hold" grpId="0" nodeType="withEffect">
                                  <p:stCondLst>
                                    <p:cond delay="0"/>
                                  </p:stCondLst>
                                  <p:childTnLst>
                                    <p:set>
                                      <p:cBhvr>
                                        <p:cTn id="179" dur="1" fill="hold">
                                          <p:stCondLst>
                                            <p:cond delay="0"/>
                                          </p:stCondLst>
                                        </p:cTn>
                                        <p:tgtEl>
                                          <p:spTgt spid="1115179"/>
                                        </p:tgtEl>
                                        <p:attrNameLst>
                                          <p:attrName>style.visibility</p:attrName>
                                        </p:attrNameLst>
                                      </p:cBhvr>
                                      <p:to>
                                        <p:strVal val="visible"/>
                                      </p:to>
                                    </p:set>
                                    <p:animEffect transition="in" filter="box(in)">
                                      <p:cBhvr>
                                        <p:cTn id="180" dur="500"/>
                                        <p:tgtEl>
                                          <p:spTgt spid="1115179"/>
                                        </p:tgtEl>
                                      </p:cBhvr>
                                    </p:animEffect>
                                  </p:childTnLst>
                                </p:cTn>
                              </p:par>
                              <p:par>
                                <p:cTn id="181" presetID="4" presetClass="entr" presetSubtype="16" fill="hold" grpId="0" nodeType="withEffect">
                                  <p:stCondLst>
                                    <p:cond delay="0"/>
                                  </p:stCondLst>
                                  <p:childTnLst>
                                    <p:set>
                                      <p:cBhvr>
                                        <p:cTn id="182" dur="1" fill="hold">
                                          <p:stCondLst>
                                            <p:cond delay="0"/>
                                          </p:stCondLst>
                                        </p:cTn>
                                        <p:tgtEl>
                                          <p:spTgt spid="1115180"/>
                                        </p:tgtEl>
                                        <p:attrNameLst>
                                          <p:attrName>style.visibility</p:attrName>
                                        </p:attrNameLst>
                                      </p:cBhvr>
                                      <p:to>
                                        <p:strVal val="visible"/>
                                      </p:to>
                                    </p:set>
                                    <p:animEffect transition="in" filter="box(in)">
                                      <p:cBhvr>
                                        <p:cTn id="183" dur="500"/>
                                        <p:tgtEl>
                                          <p:spTgt spid="1115180"/>
                                        </p:tgtEl>
                                      </p:cBhvr>
                                    </p:animEffect>
                                  </p:childTnLst>
                                </p:cTn>
                              </p:par>
                              <p:par>
                                <p:cTn id="184" presetID="4" presetClass="entr" presetSubtype="16" fill="hold" grpId="0" nodeType="withEffect">
                                  <p:stCondLst>
                                    <p:cond delay="0"/>
                                  </p:stCondLst>
                                  <p:childTnLst>
                                    <p:set>
                                      <p:cBhvr>
                                        <p:cTn id="185" dur="1" fill="hold">
                                          <p:stCondLst>
                                            <p:cond delay="0"/>
                                          </p:stCondLst>
                                        </p:cTn>
                                        <p:tgtEl>
                                          <p:spTgt spid="1115208"/>
                                        </p:tgtEl>
                                        <p:attrNameLst>
                                          <p:attrName>style.visibility</p:attrName>
                                        </p:attrNameLst>
                                      </p:cBhvr>
                                      <p:to>
                                        <p:strVal val="visible"/>
                                      </p:to>
                                    </p:set>
                                    <p:animEffect transition="in" filter="box(in)">
                                      <p:cBhvr>
                                        <p:cTn id="186" dur="500"/>
                                        <p:tgtEl>
                                          <p:spTgt spid="1115208"/>
                                        </p:tgtEl>
                                      </p:cBhvr>
                                    </p:animEffect>
                                  </p:childTnLst>
                                </p:cTn>
                              </p:par>
                            </p:childTnLst>
                          </p:cTn>
                        </p:par>
                      </p:childTnLst>
                    </p:cTn>
                  </p:par>
                  <p:par>
                    <p:cTn id="187" fill="hold">
                      <p:stCondLst>
                        <p:cond delay="indefinite"/>
                      </p:stCondLst>
                      <p:childTnLst>
                        <p:par>
                          <p:cTn id="188" fill="hold">
                            <p:stCondLst>
                              <p:cond delay="0"/>
                            </p:stCondLst>
                            <p:childTnLst>
                              <p:par>
                                <p:cTn id="189" presetID="4" presetClass="entr" presetSubtype="16" fill="hold" grpId="0" nodeType="clickEffect">
                                  <p:stCondLst>
                                    <p:cond delay="0"/>
                                  </p:stCondLst>
                                  <p:childTnLst>
                                    <p:set>
                                      <p:cBhvr>
                                        <p:cTn id="190" dur="1" fill="hold">
                                          <p:stCondLst>
                                            <p:cond delay="0"/>
                                          </p:stCondLst>
                                        </p:cTn>
                                        <p:tgtEl>
                                          <p:spTgt spid="1115182"/>
                                        </p:tgtEl>
                                        <p:attrNameLst>
                                          <p:attrName>style.visibility</p:attrName>
                                        </p:attrNameLst>
                                      </p:cBhvr>
                                      <p:to>
                                        <p:strVal val="visible"/>
                                      </p:to>
                                    </p:set>
                                    <p:animEffect transition="in" filter="box(in)">
                                      <p:cBhvr>
                                        <p:cTn id="191" dur="500"/>
                                        <p:tgtEl>
                                          <p:spTgt spid="1115182"/>
                                        </p:tgtEl>
                                      </p:cBhvr>
                                    </p:animEffect>
                                  </p:childTnLst>
                                </p:cTn>
                              </p:par>
                              <p:par>
                                <p:cTn id="192" presetID="4" presetClass="entr" presetSubtype="16" fill="hold" grpId="0" nodeType="withEffect">
                                  <p:stCondLst>
                                    <p:cond delay="0"/>
                                  </p:stCondLst>
                                  <p:childTnLst>
                                    <p:set>
                                      <p:cBhvr>
                                        <p:cTn id="193" dur="1" fill="hold">
                                          <p:stCondLst>
                                            <p:cond delay="0"/>
                                          </p:stCondLst>
                                        </p:cTn>
                                        <p:tgtEl>
                                          <p:spTgt spid="1115193"/>
                                        </p:tgtEl>
                                        <p:attrNameLst>
                                          <p:attrName>style.visibility</p:attrName>
                                        </p:attrNameLst>
                                      </p:cBhvr>
                                      <p:to>
                                        <p:strVal val="visible"/>
                                      </p:to>
                                    </p:set>
                                    <p:animEffect transition="in" filter="box(in)">
                                      <p:cBhvr>
                                        <p:cTn id="194" dur="500"/>
                                        <p:tgtEl>
                                          <p:spTgt spid="1115193"/>
                                        </p:tgtEl>
                                      </p:cBhvr>
                                    </p:animEffect>
                                  </p:childTnLst>
                                </p:cTn>
                              </p:par>
                            </p:childTnLst>
                          </p:cTn>
                        </p:par>
                      </p:childTnLst>
                    </p:cTn>
                  </p:par>
                  <p:par>
                    <p:cTn id="195" fill="hold">
                      <p:stCondLst>
                        <p:cond delay="indefinite"/>
                      </p:stCondLst>
                      <p:childTnLst>
                        <p:par>
                          <p:cTn id="196" fill="hold">
                            <p:stCondLst>
                              <p:cond delay="0"/>
                            </p:stCondLst>
                            <p:childTnLst>
                              <p:par>
                                <p:cTn id="197" presetID="4" presetClass="entr" presetSubtype="16" fill="hold" grpId="0" nodeType="clickEffect">
                                  <p:stCondLst>
                                    <p:cond delay="0"/>
                                  </p:stCondLst>
                                  <p:childTnLst>
                                    <p:set>
                                      <p:cBhvr>
                                        <p:cTn id="198" dur="1" fill="hold">
                                          <p:stCondLst>
                                            <p:cond delay="0"/>
                                          </p:stCondLst>
                                        </p:cTn>
                                        <p:tgtEl>
                                          <p:spTgt spid="1115181"/>
                                        </p:tgtEl>
                                        <p:attrNameLst>
                                          <p:attrName>style.visibility</p:attrName>
                                        </p:attrNameLst>
                                      </p:cBhvr>
                                      <p:to>
                                        <p:strVal val="visible"/>
                                      </p:to>
                                    </p:set>
                                    <p:animEffect transition="in" filter="box(in)">
                                      <p:cBhvr>
                                        <p:cTn id="199" dur="500"/>
                                        <p:tgtEl>
                                          <p:spTgt spid="1115181"/>
                                        </p:tgtEl>
                                      </p:cBhvr>
                                    </p:animEffect>
                                  </p:childTnLst>
                                </p:cTn>
                              </p:par>
                              <p:par>
                                <p:cTn id="200" presetID="4" presetClass="entr" presetSubtype="16" fill="hold" grpId="0" nodeType="withEffect">
                                  <p:stCondLst>
                                    <p:cond delay="0"/>
                                  </p:stCondLst>
                                  <p:childTnLst>
                                    <p:set>
                                      <p:cBhvr>
                                        <p:cTn id="201" dur="1" fill="hold">
                                          <p:stCondLst>
                                            <p:cond delay="0"/>
                                          </p:stCondLst>
                                        </p:cTn>
                                        <p:tgtEl>
                                          <p:spTgt spid="1115183"/>
                                        </p:tgtEl>
                                        <p:attrNameLst>
                                          <p:attrName>style.visibility</p:attrName>
                                        </p:attrNameLst>
                                      </p:cBhvr>
                                      <p:to>
                                        <p:strVal val="visible"/>
                                      </p:to>
                                    </p:set>
                                    <p:animEffect transition="in" filter="box(in)">
                                      <p:cBhvr>
                                        <p:cTn id="202" dur="500"/>
                                        <p:tgtEl>
                                          <p:spTgt spid="1115183"/>
                                        </p:tgtEl>
                                      </p:cBhvr>
                                    </p:animEffect>
                                  </p:childTnLst>
                                </p:cTn>
                              </p:par>
                            </p:childTnLst>
                          </p:cTn>
                        </p:par>
                      </p:childTnLst>
                    </p:cTn>
                  </p:par>
                  <p:par>
                    <p:cTn id="203" fill="hold">
                      <p:stCondLst>
                        <p:cond delay="indefinite"/>
                      </p:stCondLst>
                      <p:childTnLst>
                        <p:par>
                          <p:cTn id="204" fill="hold">
                            <p:stCondLst>
                              <p:cond delay="0"/>
                            </p:stCondLst>
                            <p:childTnLst>
                              <p:par>
                                <p:cTn id="205" presetID="4" presetClass="entr" presetSubtype="16" fill="hold" grpId="0" nodeType="clickEffect">
                                  <p:stCondLst>
                                    <p:cond delay="0"/>
                                  </p:stCondLst>
                                  <p:childTnLst>
                                    <p:set>
                                      <p:cBhvr>
                                        <p:cTn id="206" dur="1" fill="hold">
                                          <p:stCondLst>
                                            <p:cond delay="0"/>
                                          </p:stCondLst>
                                        </p:cTn>
                                        <p:tgtEl>
                                          <p:spTgt spid="1115196"/>
                                        </p:tgtEl>
                                        <p:attrNameLst>
                                          <p:attrName>style.visibility</p:attrName>
                                        </p:attrNameLst>
                                      </p:cBhvr>
                                      <p:to>
                                        <p:strVal val="visible"/>
                                      </p:to>
                                    </p:set>
                                    <p:animEffect transition="in" filter="box(in)">
                                      <p:cBhvr>
                                        <p:cTn id="207" dur="500"/>
                                        <p:tgtEl>
                                          <p:spTgt spid="1115196"/>
                                        </p:tgtEl>
                                      </p:cBhvr>
                                    </p:animEffect>
                                  </p:childTnLst>
                                </p:cTn>
                              </p:par>
                            </p:childTnLst>
                          </p:cTn>
                        </p:par>
                      </p:childTnLst>
                    </p:cTn>
                  </p:par>
                  <p:par>
                    <p:cTn id="208" fill="hold">
                      <p:stCondLst>
                        <p:cond delay="indefinite"/>
                      </p:stCondLst>
                      <p:childTnLst>
                        <p:par>
                          <p:cTn id="209" fill="hold">
                            <p:stCondLst>
                              <p:cond delay="0"/>
                            </p:stCondLst>
                            <p:childTnLst>
                              <p:par>
                                <p:cTn id="210" presetID="4" presetClass="entr" presetSubtype="16" fill="hold" grpId="0" nodeType="clickEffect">
                                  <p:stCondLst>
                                    <p:cond delay="0"/>
                                  </p:stCondLst>
                                  <p:childTnLst>
                                    <p:set>
                                      <p:cBhvr>
                                        <p:cTn id="211" dur="1" fill="hold">
                                          <p:stCondLst>
                                            <p:cond delay="0"/>
                                          </p:stCondLst>
                                        </p:cTn>
                                        <p:tgtEl>
                                          <p:spTgt spid="1115184"/>
                                        </p:tgtEl>
                                        <p:attrNameLst>
                                          <p:attrName>style.visibility</p:attrName>
                                        </p:attrNameLst>
                                      </p:cBhvr>
                                      <p:to>
                                        <p:strVal val="visible"/>
                                      </p:to>
                                    </p:set>
                                    <p:animEffect transition="in" filter="box(in)">
                                      <p:cBhvr>
                                        <p:cTn id="212" dur="500"/>
                                        <p:tgtEl>
                                          <p:spTgt spid="1115184"/>
                                        </p:tgtEl>
                                      </p:cBhvr>
                                    </p:animEffect>
                                  </p:childTnLst>
                                </p:cTn>
                              </p:par>
                              <p:par>
                                <p:cTn id="213" presetID="4" presetClass="entr" presetSubtype="16" fill="hold" grpId="0" nodeType="withEffect">
                                  <p:stCondLst>
                                    <p:cond delay="0"/>
                                  </p:stCondLst>
                                  <p:childTnLst>
                                    <p:set>
                                      <p:cBhvr>
                                        <p:cTn id="214" dur="1" fill="hold">
                                          <p:stCondLst>
                                            <p:cond delay="0"/>
                                          </p:stCondLst>
                                        </p:cTn>
                                        <p:tgtEl>
                                          <p:spTgt spid="1115185"/>
                                        </p:tgtEl>
                                        <p:attrNameLst>
                                          <p:attrName>style.visibility</p:attrName>
                                        </p:attrNameLst>
                                      </p:cBhvr>
                                      <p:to>
                                        <p:strVal val="visible"/>
                                      </p:to>
                                    </p:set>
                                    <p:animEffect transition="in" filter="box(in)">
                                      <p:cBhvr>
                                        <p:cTn id="215" dur="500"/>
                                        <p:tgtEl>
                                          <p:spTgt spid="1115185"/>
                                        </p:tgtEl>
                                      </p:cBhvr>
                                    </p:animEffect>
                                  </p:childTnLst>
                                </p:cTn>
                              </p:par>
                              <p:par>
                                <p:cTn id="216" presetID="4" presetClass="entr" presetSubtype="16" fill="hold" grpId="0" nodeType="withEffect">
                                  <p:stCondLst>
                                    <p:cond delay="0"/>
                                  </p:stCondLst>
                                  <p:childTnLst>
                                    <p:set>
                                      <p:cBhvr>
                                        <p:cTn id="217" dur="1" fill="hold">
                                          <p:stCondLst>
                                            <p:cond delay="0"/>
                                          </p:stCondLst>
                                        </p:cTn>
                                        <p:tgtEl>
                                          <p:spTgt spid="1115186"/>
                                        </p:tgtEl>
                                        <p:attrNameLst>
                                          <p:attrName>style.visibility</p:attrName>
                                        </p:attrNameLst>
                                      </p:cBhvr>
                                      <p:to>
                                        <p:strVal val="visible"/>
                                      </p:to>
                                    </p:set>
                                    <p:animEffect transition="in" filter="box(in)">
                                      <p:cBhvr>
                                        <p:cTn id="218" dur="500"/>
                                        <p:tgtEl>
                                          <p:spTgt spid="1115186"/>
                                        </p:tgtEl>
                                      </p:cBhvr>
                                    </p:animEffect>
                                  </p:childTnLst>
                                </p:cTn>
                              </p:par>
                              <p:par>
                                <p:cTn id="219" presetID="4" presetClass="entr" presetSubtype="16" fill="hold" grpId="0" nodeType="withEffect">
                                  <p:stCondLst>
                                    <p:cond delay="0"/>
                                  </p:stCondLst>
                                  <p:childTnLst>
                                    <p:set>
                                      <p:cBhvr>
                                        <p:cTn id="220" dur="1" fill="hold">
                                          <p:stCondLst>
                                            <p:cond delay="0"/>
                                          </p:stCondLst>
                                        </p:cTn>
                                        <p:tgtEl>
                                          <p:spTgt spid="1115187"/>
                                        </p:tgtEl>
                                        <p:attrNameLst>
                                          <p:attrName>style.visibility</p:attrName>
                                        </p:attrNameLst>
                                      </p:cBhvr>
                                      <p:to>
                                        <p:strVal val="visible"/>
                                      </p:to>
                                    </p:set>
                                    <p:animEffect transition="in" filter="box(in)">
                                      <p:cBhvr>
                                        <p:cTn id="221" dur="500"/>
                                        <p:tgtEl>
                                          <p:spTgt spid="1115187"/>
                                        </p:tgtEl>
                                      </p:cBhvr>
                                    </p:animEffect>
                                  </p:childTnLst>
                                </p:cTn>
                              </p:par>
                              <p:par>
                                <p:cTn id="222" presetID="4" presetClass="entr" presetSubtype="16" fill="hold" grpId="0" nodeType="withEffect">
                                  <p:stCondLst>
                                    <p:cond delay="0"/>
                                  </p:stCondLst>
                                  <p:childTnLst>
                                    <p:set>
                                      <p:cBhvr>
                                        <p:cTn id="223" dur="1" fill="hold">
                                          <p:stCondLst>
                                            <p:cond delay="0"/>
                                          </p:stCondLst>
                                        </p:cTn>
                                        <p:tgtEl>
                                          <p:spTgt spid="1115209"/>
                                        </p:tgtEl>
                                        <p:attrNameLst>
                                          <p:attrName>style.visibility</p:attrName>
                                        </p:attrNameLst>
                                      </p:cBhvr>
                                      <p:to>
                                        <p:strVal val="visible"/>
                                      </p:to>
                                    </p:set>
                                    <p:animEffect transition="in" filter="box(in)">
                                      <p:cBhvr>
                                        <p:cTn id="224" dur="500"/>
                                        <p:tgtEl>
                                          <p:spTgt spid="1115209"/>
                                        </p:tgtEl>
                                      </p:cBhvr>
                                    </p:animEffect>
                                  </p:childTnLst>
                                </p:cTn>
                              </p:par>
                              <p:par>
                                <p:cTn id="225" presetID="4" presetClass="entr" presetSubtype="16" fill="hold" grpId="0" nodeType="withEffect">
                                  <p:stCondLst>
                                    <p:cond delay="0"/>
                                  </p:stCondLst>
                                  <p:childTnLst>
                                    <p:set>
                                      <p:cBhvr>
                                        <p:cTn id="226" dur="1" fill="hold">
                                          <p:stCondLst>
                                            <p:cond delay="0"/>
                                          </p:stCondLst>
                                        </p:cTn>
                                        <p:tgtEl>
                                          <p:spTgt spid="1115210"/>
                                        </p:tgtEl>
                                        <p:attrNameLst>
                                          <p:attrName>style.visibility</p:attrName>
                                        </p:attrNameLst>
                                      </p:cBhvr>
                                      <p:to>
                                        <p:strVal val="visible"/>
                                      </p:to>
                                    </p:set>
                                    <p:animEffect transition="in" filter="box(in)">
                                      <p:cBhvr>
                                        <p:cTn id="227" dur="500"/>
                                        <p:tgtEl>
                                          <p:spTgt spid="1115210"/>
                                        </p:tgtEl>
                                      </p:cBhvr>
                                    </p:animEffect>
                                  </p:childTnLst>
                                </p:cTn>
                              </p:par>
                            </p:childTnLst>
                          </p:cTn>
                        </p:par>
                      </p:childTnLst>
                    </p:cTn>
                  </p:par>
                  <p:par>
                    <p:cTn id="228" fill="hold">
                      <p:stCondLst>
                        <p:cond delay="indefinite"/>
                      </p:stCondLst>
                      <p:childTnLst>
                        <p:par>
                          <p:cTn id="229" fill="hold">
                            <p:stCondLst>
                              <p:cond delay="0"/>
                            </p:stCondLst>
                            <p:childTnLst>
                              <p:par>
                                <p:cTn id="230" presetID="4" presetClass="entr" presetSubtype="16" fill="hold" grpId="0" nodeType="clickEffect">
                                  <p:stCondLst>
                                    <p:cond delay="0"/>
                                  </p:stCondLst>
                                  <p:childTnLst>
                                    <p:set>
                                      <p:cBhvr>
                                        <p:cTn id="231" dur="1" fill="hold">
                                          <p:stCondLst>
                                            <p:cond delay="0"/>
                                          </p:stCondLst>
                                        </p:cTn>
                                        <p:tgtEl>
                                          <p:spTgt spid="1115189"/>
                                        </p:tgtEl>
                                        <p:attrNameLst>
                                          <p:attrName>style.visibility</p:attrName>
                                        </p:attrNameLst>
                                      </p:cBhvr>
                                      <p:to>
                                        <p:strVal val="visible"/>
                                      </p:to>
                                    </p:set>
                                    <p:animEffect transition="in" filter="box(in)">
                                      <p:cBhvr>
                                        <p:cTn id="232" dur="500"/>
                                        <p:tgtEl>
                                          <p:spTgt spid="1115189"/>
                                        </p:tgtEl>
                                      </p:cBhvr>
                                    </p:animEffect>
                                  </p:childTnLst>
                                </p:cTn>
                              </p:par>
                              <p:par>
                                <p:cTn id="233" presetID="4" presetClass="entr" presetSubtype="16" fill="hold" grpId="0" nodeType="withEffect">
                                  <p:stCondLst>
                                    <p:cond delay="0"/>
                                  </p:stCondLst>
                                  <p:childTnLst>
                                    <p:set>
                                      <p:cBhvr>
                                        <p:cTn id="234" dur="1" fill="hold">
                                          <p:stCondLst>
                                            <p:cond delay="0"/>
                                          </p:stCondLst>
                                        </p:cTn>
                                        <p:tgtEl>
                                          <p:spTgt spid="1115191"/>
                                        </p:tgtEl>
                                        <p:attrNameLst>
                                          <p:attrName>style.visibility</p:attrName>
                                        </p:attrNameLst>
                                      </p:cBhvr>
                                      <p:to>
                                        <p:strVal val="visible"/>
                                      </p:to>
                                    </p:set>
                                    <p:animEffect transition="in" filter="box(in)">
                                      <p:cBhvr>
                                        <p:cTn id="235" dur="500"/>
                                        <p:tgtEl>
                                          <p:spTgt spid="1115191"/>
                                        </p:tgtEl>
                                      </p:cBhvr>
                                    </p:animEffect>
                                  </p:childTnLst>
                                </p:cTn>
                              </p:par>
                            </p:childTnLst>
                          </p:cTn>
                        </p:par>
                      </p:childTnLst>
                    </p:cTn>
                  </p:par>
                  <p:par>
                    <p:cTn id="236" fill="hold">
                      <p:stCondLst>
                        <p:cond delay="indefinite"/>
                      </p:stCondLst>
                      <p:childTnLst>
                        <p:par>
                          <p:cTn id="237" fill="hold">
                            <p:stCondLst>
                              <p:cond delay="0"/>
                            </p:stCondLst>
                            <p:childTnLst>
                              <p:par>
                                <p:cTn id="238" presetID="4" presetClass="entr" presetSubtype="16" fill="hold" grpId="0" nodeType="clickEffect">
                                  <p:stCondLst>
                                    <p:cond delay="0"/>
                                  </p:stCondLst>
                                  <p:childTnLst>
                                    <p:set>
                                      <p:cBhvr>
                                        <p:cTn id="239" dur="1" fill="hold">
                                          <p:stCondLst>
                                            <p:cond delay="0"/>
                                          </p:stCondLst>
                                        </p:cTn>
                                        <p:tgtEl>
                                          <p:spTgt spid="1115190"/>
                                        </p:tgtEl>
                                        <p:attrNameLst>
                                          <p:attrName>style.visibility</p:attrName>
                                        </p:attrNameLst>
                                      </p:cBhvr>
                                      <p:to>
                                        <p:strVal val="visible"/>
                                      </p:to>
                                    </p:set>
                                    <p:animEffect transition="in" filter="box(in)">
                                      <p:cBhvr>
                                        <p:cTn id="240" dur="500"/>
                                        <p:tgtEl>
                                          <p:spTgt spid="1115190"/>
                                        </p:tgtEl>
                                      </p:cBhvr>
                                    </p:animEffect>
                                  </p:childTnLst>
                                </p:cTn>
                              </p:par>
                              <p:par>
                                <p:cTn id="241" presetID="4" presetClass="entr" presetSubtype="16" fill="hold" grpId="0" nodeType="withEffect">
                                  <p:stCondLst>
                                    <p:cond delay="0"/>
                                  </p:stCondLst>
                                  <p:childTnLst>
                                    <p:set>
                                      <p:cBhvr>
                                        <p:cTn id="242" dur="1" fill="hold">
                                          <p:stCondLst>
                                            <p:cond delay="0"/>
                                          </p:stCondLst>
                                        </p:cTn>
                                        <p:tgtEl>
                                          <p:spTgt spid="1115192"/>
                                        </p:tgtEl>
                                        <p:attrNameLst>
                                          <p:attrName>style.visibility</p:attrName>
                                        </p:attrNameLst>
                                      </p:cBhvr>
                                      <p:to>
                                        <p:strVal val="visible"/>
                                      </p:to>
                                    </p:set>
                                    <p:animEffect transition="in" filter="box(in)">
                                      <p:cBhvr>
                                        <p:cTn id="243" dur="500"/>
                                        <p:tgtEl>
                                          <p:spTgt spid="1115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5140" grpId="0" animBg="1"/>
      <p:bldP spid="1115141" grpId="0" animBg="1"/>
      <p:bldP spid="1115142" grpId="0" animBg="1"/>
      <p:bldP spid="1115143" grpId="0" animBg="1"/>
      <p:bldP spid="1115144" grpId="0" animBg="1"/>
      <p:bldP spid="1115145" grpId="0" animBg="1"/>
      <p:bldP spid="1115146" grpId="0" animBg="1"/>
      <p:bldP spid="1115147" grpId="0"/>
      <p:bldP spid="1115148" grpId="0"/>
      <p:bldP spid="1115149" grpId="0" animBg="1"/>
      <p:bldP spid="1115150" grpId="0" animBg="1"/>
      <p:bldP spid="1115151" grpId="0" animBg="1"/>
      <p:bldP spid="1115152" grpId="0" animBg="1"/>
      <p:bldP spid="1115153" grpId="0" animBg="1"/>
      <p:bldP spid="1115154" grpId="0" animBg="1"/>
      <p:bldP spid="1115155" grpId="0" animBg="1"/>
      <p:bldP spid="1115156" grpId="0"/>
      <p:bldP spid="1115157" grpId="0"/>
      <p:bldP spid="1115158" grpId="0" animBg="1"/>
      <p:bldP spid="1115159" grpId="0" animBg="1"/>
      <p:bldP spid="1115160" grpId="0" animBg="1"/>
      <p:bldP spid="1115161" grpId="0" animBg="1"/>
      <p:bldP spid="1115162" grpId="0" animBg="1"/>
      <p:bldP spid="1115163" grpId="0" animBg="1"/>
      <p:bldP spid="1115164" grpId="0" animBg="1"/>
      <p:bldP spid="1115165" grpId="0"/>
      <p:bldP spid="1115166" grpId="0"/>
      <p:bldP spid="1115167" grpId="0" animBg="1"/>
      <p:bldP spid="1115168" grpId="0" animBg="1"/>
      <p:bldP spid="1115169" grpId="0" animBg="1"/>
      <p:bldP spid="1115170" grpId="0" animBg="1"/>
      <p:bldP spid="1115172" grpId="0" animBg="1"/>
      <p:bldP spid="1115173" grpId="0" animBg="1"/>
      <p:bldP spid="1115174" grpId="0"/>
      <p:bldP spid="1115175" grpId="0"/>
      <p:bldP spid="1115176" grpId="0" animBg="1"/>
      <p:bldP spid="1115177" grpId="0" animBg="1"/>
      <p:bldP spid="1115178" grpId="0" animBg="1"/>
      <p:bldP spid="1115179" grpId="0" animBg="1"/>
      <p:bldP spid="1115180" grpId="0" animBg="1"/>
      <p:bldP spid="1115181" grpId="0" animBg="1"/>
      <p:bldP spid="1115182" grpId="0"/>
      <p:bldP spid="1115183" grpId="0"/>
      <p:bldP spid="1115184" grpId="0" animBg="1"/>
      <p:bldP spid="1115185" grpId="0" animBg="1"/>
      <p:bldP spid="1115186" grpId="0" animBg="1"/>
      <p:bldP spid="1115187" grpId="0" animBg="1"/>
      <p:bldP spid="1115189" grpId="0" animBg="1"/>
      <p:bldP spid="1115190" grpId="0" animBg="1"/>
      <p:bldP spid="1115191" grpId="0"/>
      <p:bldP spid="1115192" grpId="0"/>
      <p:bldP spid="1115193" grpId="0" animBg="1"/>
      <p:bldP spid="1115194" grpId="0" animBg="1"/>
      <p:bldP spid="1115195" grpId="0" animBg="1"/>
      <p:bldP spid="1115196" grpId="0" animBg="1"/>
      <p:bldP spid="1115197" grpId="0" animBg="1"/>
      <p:bldP spid="1115198" grpId="0" animBg="1"/>
      <p:bldP spid="1115199" grpId="0" animBg="1"/>
      <p:bldP spid="1115202" grpId="0" animBg="1"/>
      <p:bldP spid="1115203" grpId="0" animBg="1"/>
      <p:bldP spid="1115205" grpId="0" animBg="1"/>
      <p:bldP spid="1115206" grpId="0" animBg="1"/>
      <p:bldP spid="1115208" grpId="0" animBg="1"/>
      <p:bldP spid="1115209" grpId="0" animBg="1"/>
      <p:bldP spid="1115210"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6" name="Line 16"/>
          <p:cNvSpPr>
            <a:spLocks noChangeShapeType="1"/>
          </p:cNvSpPr>
          <p:nvPr/>
        </p:nvSpPr>
        <p:spPr bwMode="auto">
          <a:xfrm flipV="1">
            <a:off x="3429000" y="34290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177" name="Line 17"/>
          <p:cNvSpPr>
            <a:spLocks noChangeShapeType="1"/>
          </p:cNvSpPr>
          <p:nvPr/>
        </p:nvSpPr>
        <p:spPr bwMode="auto">
          <a:xfrm flipV="1">
            <a:off x="2984500" y="3338513"/>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178" name="Text Box 18"/>
          <p:cNvSpPr txBox="1">
            <a:spLocks noChangeArrowheads="1"/>
          </p:cNvSpPr>
          <p:nvPr/>
        </p:nvSpPr>
        <p:spPr bwMode="auto">
          <a:xfrm>
            <a:off x="3048000" y="35052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chemeClr val="accent2"/>
                </a:solidFill>
              </a:rPr>
              <a:t>q.front</a:t>
            </a:r>
            <a:endParaRPr lang="en-US" altLang="zh-CN" sz="4000">
              <a:solidFill>
                <a:schemeClr val="accent2"/>
              </a:solidFill>
            </a:endParaRPr>
          </a:p>
        </p:txBody>
      </p:sp>
      <p:sp>
        <p:nvSpPr>
          <p:cNvPr id="1116179" name="Text Box 19"/>
          <p:cNvSpPr txBox="1">
            <a:spLocks noChangeArrowheads="1"/>
          </p:cNvSpPr>
          <p:nvPr/>
        </p:nvSpPr>
        <p:spPr bwMode="auto">
          <a:xfrm>
            <a:off x="2057400" y="3429000"/>
            <a:ext cx="10033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6185" name="Line 25"/>
          <p:cNvSpPr>
            <a:spLocks noChangeShapeType="1"/>
          </p:cNvSpPr>
          <p:nvPr/>
        </p:nvSpPr>
        <p:spPr bwMode="auto">
          <a:xfrm flipV="1">
            <a:off x="685800" y="55626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186" name="Line 26"/>
          <p:cNvSpPr>
            <a:spLocks noChangeShapeType="1"/>
          </p:cNvSpPr>
          <p:nvPr/>
        </p:nvSpPr>
        <p:spPr bwMode="auto">
          <a:xfrm flipV="1">
            <a:off x="3517900" y="5472113"/>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187" name="Text Box 27"/>
          <p:cNvSpPr txBox="1">
            <a:spLocks noChangeArrowheads="1"/>
          </p:cNvSpPr>
          <p:nvPr/>
        </p:nvSpPr>
        <p:spPr bwMode="auto">
          <a:xfrm>
            <a:off x="304800" y="56388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chemeClr val="accent2"/>
                </a:solidFill>
              </a:rPr>
              <a:t>q.front</a:t>
            </a:r>
            <a:endParaRPr lang="en-US" altLang="zh-CN" sz="4000">
              <a:solidFill>
                <a:schemeClr val="accent2"/>
              </a:solidFill>
            </a:endParaRPr>
          </a:p>
        </p:txBody>
      </p:sp>
      <p:sp>
        <p:nvSpPr>
          <p:cNvPr id="1116188" name="Text Box 28"/>
          <p:cNvSpPr txBox="1">
            <a:spLocks noChangeArrowheads="1"/>
          </p:cNvSpPr>
          <p:nvPr/>
        </p:nvSpPr>
        <p:spPr bwMode="auto">
          <a:xfrm>
            <a:off x="2590800" y="5562600"/>
            <a:ext cx="10033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6194" name="Line 34"/>
          <p:cNvSpPr>
            <a:spLocks noChangeShapeType="1"/>
          </p:cNvSpPr>
          <p:nvPr/>
        </p:nvSpPr>
        <p:spPr bwMode="auto">
          <a:xfrm flipV="1">
            <a:off x="5867400" y="54864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195" name="Line 35"/>
          <p:cNvSpPr>
            <a:spLocks noChangeShapeType="1"/>
          </p:cNvSpPr>
          <p:nvPr/>
        </p:nvSpPr>
        <p:spPr bwMode="auto">
          <a:xfrm flipV="1">
            <a:off x="5270500" y="5472113"/>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196" name="Text Box 36"/>
          <p:cNvSpPr txBox="1">
            <a:spLocks noChangeArrowheads="1"/>
          </p:cNvSpPr>
          <p:nvPr/>
        </p:nvSpPr>
        <p:spPr bwMode="auto">
          <a:xfrm>
            <a:off x="5486400" y="56388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sz="2800">
                <a:solidFill>
                  <a:schemeClr val="accent2"/>
                </a:solidFill>
              </a:rPr>
              <a:t>q.front</a:t>
            </a:r>
            <a:endParaRPr lang="en-US" altLang="zh-CN" sz="4000">
              <a:solidFill>
                <a:schemeClr val="accent2"/>
              </a:solidFill>
            </a:endParaRPr>
          </a:p>
        </p:txBody>
      </p:sp>
      <p:sp>
        <p:nvSpPr>
          <p:cNvPr id="1116197" name="Text Box 37"/>
          <p:cNvSpPr txBox="1">
            <a:spLocks noChangeArrowheads="1"/>
          </p:cNvSpPr>
          <p:nvPr/>
        </p:nvSpPr>
        <p:spPr bwMode="auto">
          <a:xfrm>
            <a:off x="4343400" y="5562600"/>
            <a:ext cx="10033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6198" name="AutoShape 38"/>
          <p:cNvSpPr>
            <a:spLocks noChangeArrowheads="1"/>
          </p:cNvSpPr>
          <p:nvPr/>
        </p:nvSpPr>
        <p:spPr bwMode="auto">
          <a:xfrm>
            <a:off x="-152400" y="1600200"/>
            <a:ext cx="533400" cy="1676400"/>
          </a:xfrm>
          <a:prstGeom prst="curvedRightArrow">
            <a:avLst>
              <a:gd name="adj1" fmla="val 27762"/>
              <a:gd name="adj2" fmla="val 90619"/>
              <a:gd name="adj3" fmla="val 33333"/>
            </a:avLst>
          </a:prstGeom>
          <a:solidFill>
            <a:srgbClr val="FFCC99"/>
          </a:solidFill>
          <a:ln w="9525">
            <a:solidFill>
              <a:schemeClr val="tx1"/>
            </a:solidFill>
            <a:miter lim="800000"/>
          </a:ln>
        </p:spPr>
        <p:txBody>
          <a:bodyPr wrap="none" anchor="ctr"/>
          <a:lstStyle/>
          <a:p>
            <a:pPr algn="ctr"/>
            <a:endParaRPr lang="zh-CN" altLang="en-US"/>
          </a:p>
        </p:txBody>
      </p:sp>
      <p:sp>
        <p:nvSpPr>
          <p:cNvPr id="1116199" name="AutoShape 39"/>
          <p:cNvSpPr>
            <a:spLocks noChangeArrowheads="1"/>
          </p:cNvSpPr>
          <p:nvPr/>
        </p:nvSpPr>
        <p:spPr bwMode="auto">
          <a:xfrm>
            <a:off x="-152400" y="3581400"/>
            <a:ext cx="533400" cy="1752600"/>
          </a:xfrm>
          <a:prstGeom prst="curvedRightArrow">
            <a:avLst>
              <a:gd name="adj1" fmla="val 29024"/>
              <a:gd name="adj2" fmla="val 94738"/>
              <a:gd name="adj3" fmla="val 33333"/>
            </a:avLst>
          </a:prstGeom>
          <a:solidFill>
            <a:srgbClr val="FFCC99"/>
          </a:solidFill>
          <a:ln w="9525">
            <a:solidFill>
              <a:schemeClr val="tx1"/>
            </a:solidFill>
            <a:miter lim="800000"/>
          </a:ln>
        </p:spPr>
        <p:txBody>
          <a:bodyPr wrap="none" anchor="ctr"/>
          <a:lstStyle/>
          <a:p>
            <a:pPr algn="ctr"/>
            <a:endParaRPr lang="zh-CN" altLang="en-US"/>
          </a:p>
        </p:txBody>
      </p:sp>
      <p:sp>
        <p:nvSpPr>
          <p:cNvPr id="1116200" name="AutoShape 40"/>
          <p:cNvSpPr>
            <a:spLocks noChangeArrowheads="1"/>
          </p:cNvSpPr>
          <p:nvPr/>
        </p:nvSpPr>
        <p:spPr bwMode="auto">
          <a:xfrm>
            <a:off x="3886200" y="5562600"/>
            <a:ext cx="1752600" cy="533400"/>
          </a:xfrm>
          <a:prstGeom prst="curvedUpArrow">
            <a:avLst>
              <a:gd name="adj1" fmla="val 22970"/>
              <a:gd name="adj2" fmla="val 88684"/>
              <a:gd name="adj3" fmla="val 33333"/>
            </a:avLst>
          </a:prstGeom>
          <a:solidFill>
            <a:srgbClr val="FFCC99"/>
          </a:solidFill>
          <a:ln w="9525">
            <a:solidFill>
              <a:schemeClr val="tx1"/>
            </a:solidFill>
            <a:miter lim="800000"/>
          </a:ln>
        </p:spPr>
        <p:txBody>
          <a:bodyPr wrap="none" anchor="ctr"/>
          <a:lstStyle/>
          <a:p>
            <a:pPr algn="ctr"/>
            <a:endParaRPr lang="zh-CN" altLang="en-US"/>
          </a:p>
        </p:txBody>
      </p:sp>
      <p:sp>
        <p:nvSpPr>
          <p:cNvPr id="1116201" name="Text Box 41"/>
          <p:cNvSpPr txBox="1">
            <a:spLocks noChangeArrowheads="1"/>
          </p:cNvSpPr>
          <p:nvPr/>
        </p:nvSpPr>
        <p:spPr bwMode="auto">
          <a:xfrm>
            <a:off x="4343400" y="304800"/>
            <a:ext cx="4800600" cy="3943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90000"/>
              </a:lnSpc>
              <a:spcBef>
                <a:spcPct val="50000"/>
              </a:spcBef>
            </a:pPr>
            <a:r>
              <a:rPr lang="en-US" altLang="zh-CN" sz="3200" b="1">
                <a:solidFill>
                  <a:srgbClr val="800000"/>
                </a:solidFill>
              </a:rPr>
              <a:t>do {</a:t>
            </a:r>
            <a:endParaRPr lang="en-US" altLang="zh-CN" sz="3200">
              <a:solidFill>
                <a:srgbClr val="800000"/>
              </a:solidFill>
            </a:endParaRPr>
          </a:p>
          <a:p>
            <a:pPr>
              <a:lnSpc>
                <a:spcPct val="90000"/>
              </a:lnSpc>
              <a:spcBef>
                <a:spcPct val="50000"/>
              </a:spcBef>
            </a:pPr>
            <a:r>
              <a:rPr lang="en-US" altLang="zh-CN" sz="3200">
                <a:solidFill>
                  <a:srgbClr val="800000"/>
                </a:solidFill>
              </a:rPr>
              <a:t>  DeQueue(Q, s);</a:t>
            </a:r>
            <a:endParaRPr lang="en-US" altLang="zh-CN" sz="3200">
              <a:solidFill>
                <a:srgbClr val="800000"/>
              </a:solidFill>
            </a:endParaRPr>
          </a:p>
          <a:p>
            <a:pPr>
              <a:lnSpc>
                <a:spcPct val="90000"/>
              </a:lnSpc>
              <a:spcBef>
                <a:spcPct val="50000"/>
              </a:spcBef>
            </a:pPr>
            <a:r>
              <a:rPr lang="en-US" altLang="zh-CN" sz="3200">
                <a:solidFill>
                  <a:srgbClr val="800000"/>
                </a:solidFill>
              </a:rPr>
              <a:t>  GetHead(Q, e);</a:t>
            </a:r>
            <a:endParaRPr lang="en-US" altLang="zh-CN" sz="3200">
              <a:solidFill>
                <a:srgbClr val="800000"/>
              </a:solidFill>
            </a:endParaRPr>
          </a:p>
          <a:p>
            <a:pPr>
              <a:lnSpc>
                <a:spcPct val="90000"/>
              </a:lnSpc>
              <a:spcBef>
                <a:spcPct val="50000"/>
              </a:spcBef>
            </a:pPr>
            <a:r>
              <a:rPr lang="en-US" altLang="zh-CN" sz="3200" b="1">
                <a:solidFill>
                  <a:srgbClr val="800000"/>
                </a:solidFill>
              </a:rPr>
              <a:t>  if</a:t>
            </a:r>
            <a:r>
              <a:rPr lang="en-US" altLang="zh-CN" sz="3200">
                <a:solidFill>
                  <a:srgbClr val="800000"/>
                </a:solidFill>
              </a:rPr>
              <a:t> (e!=0) </a:t>
            </a:r>
            <a:r>
              <a:rPr lang="en-US" altLang="zh-CN" sz="3200" b="1">
                <a:solidFill>
                  <a:srgbClr val="800000"/>
                </a:solidFill>
              </a:rPr>
              <a:t>printf</a:t>
            </a:r>
            <a:r>
              <a:rPr lang="en-US" altLang="zh-CN" sz="3200">
                <a:solidFill>
                  <a:srgbClr val="800000"/>
                </a:solidFill>
              </a:rPr>
              <a:t> (“%d”, e);</a:t>
            </a:r>
            <a:endParaRPr lang="en-US" altLang="zh-CN" sz="3200">
              <a:solidFill>
                <a:srgbClr val="800000"/>
              </a:solidFill>
            </a:endParaRPr>
          </a:p>
          <a:p>
            <a:pPr>
              <a:lnSpc>
                <a:spcPct val="90000"/>
              </a:lnSpc>
              <a:spcBef>
                <a:spcPct val="50000"/>
              </a:spcBef>
            </a:pPr>
            <a:r>
              <a:rPr lang="en-US" altLang="zh-CN" sz="3200">
                <a:solidFill>
                  <a:srgbClr val="800000"/>
                </a:solidFill>
              </a:rPr>
              <a:t>  EnQueue(Q, s+e);</a:t>
            </a:r>
            <a:endParaRPr lang="en-US" altLang="zh-CN" sz="3200">
              <a:solidFill>
                <a:srgbClr val="800000"/>
              </a:solidFill>
            </a:endParaRPr>
          </a:p>
          <a:p>
            <a:pPr>
              <a:lnSpc>
                <a:spcPct val="90000"/>
              </a:lnSpc>
              <a:spcBef>
                <a:spcPct val="50000"/>
              </a:spcBef>
            </a:pPr>
            <a:r>
              <a:rPr lang="en-US" altLang="zh-CN" sz="3200" b="1">
                <a:solidFill>
                  <a:srgbClr val="800000"/>
                </a:solidFill>
              </a:rPr>
              <a:t>} while</a:t>
            </a:r>
            <a:r>
              <a:rPr lang="en-US" altLang="zh-CN" sz="3200">
                <a:solidFill>
                  <a:srgbClr val="800000"/>
                </a:solidFill>
              </a:rPr>
              <a:t> (e!=0);</a:t>
            </a:r>
            <a:endParaRPr lang="en-US" altLang="zh-CN" sz="3200">
              <a:solidFill>
                <a:srgbClr val="800000"/>
              </a:solidFill>
            </a:endParaRPr>
          </a:p>
        </p:txBody>
      </p:sp>
      <p:sp>
        <p:nvSpPr>
          <p:cNvPr id="1116209" name="Rectangle 49"/>
          <p:cNvSpPr>
            <a:spLocks noChangeArrowheads="1"/>
          </p:cNvSpPr>
          <p:nvPr/>
        </p:nvSpPr>
        <p:spPr bwMode="auto">
          <a:xfrm>
            <a:off x="990600" y="762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0</a:t>
            </a:r>
            <a:endParaRPr lang="en-US" altLang="zh-CN" sz="4000" b="1">
              <a:solidFill>
                <a:srgbClr val="CC00CC"/>
              </a:solidFill>
            </a:endParaRPr>
          </a:p>
        </p:txBody>
      </p:sp>
      <p:sp>
        <p:nvSpPr>
          <p:cNvPr id="1116210" name="Rectangle 50"/>
          <p:cNvSpPr>
            <a:spLocks noChangeArrowheads="1"/>
          </p:cNvSpPr>
          <p:nvPr/>
        </p:nvSpPr>
        <p:spPr bwMode="auto">
          <a:xfrm>
            <a:off x="1536700" y="762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1</a:t>
            </a:r>
            <a:endParaRPr lang="en-US" altLang="zh-CN" sz="4000" b="1">
              <a:solidFill>
                <a:srgbClr val="CC00CC"/>
              </a:solidFill>
            </a:endParaRPr>
          </a:p>
        </p:txBody>
      </p:sp>
      <p:sp>
        <p:nvSpPr>
          <p:cNvPr id="1116211" name="Rectangle 51"/>
          <p:cNvSpPr>
            <a:spLocks noChangeArrowheads="1"/>
          </p:cNvSpPr>
          <p:nvPr/>
        </p:nvSpPr>
        <p:spPr bwMode="auto">
          <a:xfrm>
            <a:off x="2070100" y="762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FF5050"/>
                </a:solidFill>
              </a:rPr>
              <a:t>0</a:t>
            </a:r>
            <a:endParaRPr lang="en-US" altLang="zh-CN" sz="4000">
              <a:solidFill>
                <a:srgbClr val="FF5050"/>
              </a:solidFill>
            </a:endParaRPr>
          </a:p>
        </p:txBody>
      </p:sp>
      <p:sp>
        <p:nvSpPr>
          <p:cNvPr id="1116212" name="Rectangle 52"/>
          <p:cNvSpPr>
            <a:spLocks noChangeArrowheads="1"/>
          </p:cNvSpPr>
          <p:nvPr/>
        </p:nvSpPr>
        <p:spPr bwMode="auto">
          <a:xfrm>
            <a:off x="469900" y="762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6213" name="Line 53"/>
          <p:cNvSpPr>
            <a:spLocks noChangeShapeType="1"/>
          </p:cNvSpPr>
          <p:nvPr/>
        </p:nvSpPr>
        <p:spPr bwMode="auto">
          <a:xfrm flipV="1">
            <a:off x="2971800" y="1295400"/>
            <a:ext cx="0" cy="76200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14" name="Line 54"/>
          <p:cNvSpPr>
            <a:spLocks noChangeShapeType="1"/>
          </p:cNvSpPr>
          <p:nvPr/>
        </p:nvSpPr>
        <p:spPr bwMode="auto">
          <a:xfrm flipV="1">
            <a:off x="2286000" y="1295400"/>
            <a:ext cx="0" cy="762000"/>
          </a:xfrm>
          <a:prstGeom prst="line">
            <a:avLst/>
          </a:prstGeom>
          <a:noFill/>
          <a:ln w="25400">
            <a:solidFill>
              <a:srgbClr val="CC00CC"/>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15" name="Text Box 55"/>
          <p:cNvSpPr txBox="1">
            <a:spLocks noChangeArrowheads="1"/>
          </p:cNvSpPr>
          <p:nvPr/>
        </p:nvSpPr>
        <p:spPr bwMode="auto">
          <a:xfrm>
            <a:off x="2667000" y="1371600"/>
            <a:ext cx="1143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chemeClr val="accent2"/>
                </a:solidFill>
              </a:rPr>
              <a:t>q.front</a:t>
            </a:r>
            <a:endParaRPr lang="en-US" altLang="zh-CN" sz="4000">
              <a:solidFill>
                <a:schemeClr val="accent2"/>
              </a:solidFill>
            </a:endParaRPr>
          </a:p>
        </p:txBody>
      </p:sp>
      <p:sp>
        <p:nvSpPr>
          <p:cNvPr id="1116216" name="Text Box 56"/>
          <p:cNvSpPr txBox="1">
            <a:spLocks noChangeArrowheads="1"/>
          </p:cNvSpPr>
          <p:nvPr/>
        </p:nvSpPr>
        <p:spPr bwMode="auto">
          <a:xfrm>
            <a:off x="1816100" y="1524000"/>
            <a:ext cx="10033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800">
                <a:solidFill>
                  <a:srgbClr val="CC00CC"/>
                </a:solidFill>
              </a:rPr>
              <a:t>q.rear</a:t>
            </a:r>
            <a:endParaRPr lang="en-US" altLang="zh-CN" sz="4000">
              <a:solidFill>
                <a:srgbClr val="CC00CC"/>
              </a:solidFill>
            </a:endParaRPr>
          </a:p>
        </p:txBody>
      </p:sp>
      <p:sp>
        <p:nvSpPr>
          <p:cNvPr id="1116217" name="Rectangle 57"/>
          <p:cNvSpPr>
            <a:spLocks noChangeArrowheads="1"/>
          </p:cNvSpPr>
          <p:nvPr/>
        </p:nvSpPr>
        <p:spPr bwMode="auto">
          <a:xfrm>
            <a:off x="2590800" y="762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r>
              <a:rPr lang="en-US" altLang="zh-CN" sz="4000" b="1">
                <a:solidFill>
                  <a:srgbClr val="CC00CC"/>
                </a:solidFill>
              </a:rPr>
              <a:t> </a:t>
            </a:r>
            <a:endParaRPr lang="en-US" altLang="zh-CN" sz="4000" b="1">
              <a:solidFill>
                <a:srgbClr val="CC00CC"/>
              </a:solidFill>
            </a:endParaRPr>
          </a:p>
        </p:txBody>
      </p:sp>
      <p:sp>
        <p:nvSpPr>
          <p:cNvPr id="1116218" name="Rectangle 58"/>
          <p:cNvSpPr>
            <a:spLocks noChangeArrowheads="1"/>
          </p:cNvSpPr>
          <p:nvPr/>
        </p:nvSpPr>
        <p:spPr bwMode="auto">
          <a:xfrm>
            <a:off x="3124200" y="7620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2</a:t>
            </a:r>
            <a:endParaRPr lang="en-US" altLang="zh-CN" sz="4000"/>
          </a:p>
        </p:txBody>
      </p:sp>
      <p:sp>
        <p:nvSpPr>
          <p:cNvPr id="1116219" name="Rectangle 59"/>
          <p:cNvSpPr>
            <a:spLocks noChangeArrowheads="1"/>
          </p:cNvSpPr>
          <p:nvPr/>
        </p:nvSpPr>
        <p:spPr bwMode="auto">
          <a:xfrm>
            <a:off x="1143000" y="2819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0</a:t>
            </a:r>
            <a:endParaRPr lang="en-US" altLang="zh-CN" sz="4000" b="1">
              <a:solidFill>
                <a:srgbClr val="CC00CC"/>
              </a:solidFill>
            </a:endParaRPr>
          </a:p>
        </p:txBody>
      </p:sp>
      <p:sp>
        <p:nvSpPr>
          <p:cNvPr id="1116220" name="Rectangle 60"/>
          <p:cNvSpPr>
            <a:spLocks noChangeArrowheads="1"/>
          </p:cNvSpPr>
          <p:nvPr/>
        </p:nvSpPr>
        <p:spPr bwMode="auto">
          <a:xfrm>
            <a:off x="1689100" y="2819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1</a:t>
            </a:r>
            <a:endParaRPr lang="en-US" altLang="zh-CN" sz="4000" b="1">
              <a:solidFill>
                <a:srgbClr val="CC00CC"/>
              </a:solidFill>
            </a:endParaRPr>
          </a:p>
        </p:txBody>
      </p:sp>
      <p:sp>
        <p:nvSpPr>
          <p:cNvPr id="1116221" name="Rectangle 61"/>
          <p:cNvSpPr>
            <a:spLocks noChangeArrowheads="1"/>
          </p:cNvSpPr>
          <p:nvPr/>
        </p:nvSpPr>
        <p:spPr bwMode="auto">
          <a:xfrm>
            <a:off x="2222500" y="2819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3</a:t>
            </a:r>
            <a:endParaRPr lang="en-US" altLang="zh-CN" sz="4000" b="1">
              <a:solidFill>
                <a:srgbClr val="CC00CC"/>
              </a:solidFill>
            </a:endParaRPr>
          </a:p>
        </p:txBody>
      </p:sp>
      <p:sp>
        <p:nvSpPr>
          <p:cNvPr id="1116222" name="Rectangle 62"/>
          <p:cNvSpPr>
            <a:spLocks noChangeArrowheads="1"/>
          </p:cNvSpPr>
          <p:nvPr/>
        </p:nvSpPr>
        <p:spPr bwMode="auto">
          <a:xfrm>
            <a:off x="622300" y="2819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6223" name="Rectangle 63"/>
          <p:cNvSpPr>
            <a:spLocks noChangeArrowheads="1"/>
          </p:cNvSpPr>
          <p:nvPr/>
        </p:nvSpPr>
        <p:spPr bwMode="auto">
          <a:xfrm>
            <a:off x="2743200" y="2819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r>
              <a:rPr lang="en-US" altLang="zh-CN" sz="4000" b="1">
                <a:solidFill>
                  <a:srgbClr val="CC00CC"/>
                </a:solidFill>
              </a:rPr>
              <a:t> </a:t>
            </a:r>
            <a:endParaRPr lang="en-US" altLang="zh-CN" sz="4000" b="1">
              <a:solidFill>
                <a:srgbClr val="CC00CC"/>
              </a:solidFill>
            </a:endParaRPr>
          </a:p>
        </p:txBody>
      </p:sp>
      <p:sp>
        <p:nvSpPr>
          <p:cNvPr id="1116224" name="Rectangle 64"/>
          <p:cNvSpPr>
            <a:spLocks noChangeArrowheads="1"/>
          </p:cNvSpPr>
          <p:nvPr/>
        </p:nvSpPr>
        <p:spPr bwMode="auto">
          <a:xfrm>
            <a:off x="3276600" y="28194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2</a:t>
            </a:r>
            <a:endParaRPr lang="en-US" altLang="zh-CN" sz="4000"/>
          </a:p>
        </p:txBody>
      </p:sp>
      <p:sp>
        <p:nvSpPr>
          <p:cNvPr id="1116229" name="Rectangle 69"/>
          <p:cNvSpPr>
            <a:spLocks noChangeArrowheads="1"/>
          </p:cNvSpPr>
          <p:nvPr/>
        </p:nvSpPr>
        <p:spPr bwMode="auto">
          <a:xfrm>
            <a:off x="10541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0</a:t>
            </a:r>
            <a:endParaRPr lang="en-US" altLang="zh-CN" sz="4000" b="1">
              <a:solidFill>
                <a:srgbClr val="CC00CC"/>
              </a:solidFill>
            </a:endParaRPr>
          </a:p>
        </p:txBody>
      </p:sp>
      <p:sp>
        <p:nvSpPr>
          <p:cNvPr id="1116230" name="Rectangle 70"/>
          <p:cNvSpPr>
            <a:spLocks noChangeArrowheads="1"/>
          </p:cNvSpPr>
          <p:nvPr/>
        </p:nvSpPr>
        <p:spPr bwMode="auto">
          <a:xfrm>
            <a:off x="16002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1</a:t>
            </a:r>
            <a:endParaRPr lang="en-US" altLang="zh-CN" sz="4000" b="1">
              <a:solidFill>
                <a:srgbClr val="CC00CC"/>
              </a:solidFill>
            </a:endParaRPr>
          </a:p>
        </p:txBody>
      </p:sp>
      <p:sp>
        <p:nvSpPr>
          <p:cNvPr id="1116231" name="Rectangle 71"/>
          <p:cNvSpPr>
            <a:spLocks noChangeArrowheads="1"/>
          </p:cNvSpPr>
          <p:nvPr/>
        </p:nvSpPr>
        <p:spPr bwMode="auto">
          <a:xfrm>
            <a:off x="21336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3</a:t>
            </a:r>
            <a:endParaRPr lang="en-US" altLang="zh-CN" sz="4000" b="1">
              <a:solidFill>
                <a:srgbClr val="CC00CC"/>
              </a:solidFill>
            </a:endParaRPr>
          </a:p>
        </p:txBody>
      </p:sp>
      <p:sp>
        <p:nvSpPr>
          <p:cNvPr id="1116232" name="Rectangle 72"/>
          <p:cNvSpPr>
            <a:spLocks noChangeArrowheads="1"/>
          </p:cNvSpPr>
          <p:nvPr/>
        </p:nvSpPr>
        <p:spPr bwMode="auto">
          <a:xfrm>
            <a:off x="5334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6233" name="Rectangle 73"/>
          <p:cNvSpPr>
            <a:spLocks noChangeArrowheads="1"/>
          </p:cNvSpPr>
          <p:nvPr/>
        </p:nvSpPr>
        <p:spPr bwMode="auto">
          <a:xfrm>
            <a:off x="26543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3 </a:t>
            </a:r>
            <a:endParaRPr lang="en-US" altLang="zh-CN" sz="4000" b="1">
              <a:solidFill>
                <a:srgbClr val="CC00CC"/>
              </a:solidFill>
            </a:endParaRPr>
          </a:p>
        </p:txBody>
      </p:sp>
      <p:sp>
        <p:nvSpPr>
          <p:cNvPr id="1116234" name="Rectangle 74"/>
          <p:cNvSpPr>
            <a:spLocks noChangeArrowheads="1"/>
          </p:cNvSpPr>
          <p:nvPr/>
        </p:nvSpPr>
        <p:spPr bwMode="auto">
          <a:xfrm>
            <a:off x="31877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2</a:t>
            </a:r>
            <a:endParaRPr lang="en-US" altLang="zh-CN" sz="4000"/>
          </a:p>
        </p:txBody>
      </p:sp>
      <p:sp>
        <p:nvSpPr>
          <p:cNvPr id="1116235" name="Rectangle 75"/>
          <p:cNvSpPr>
            <a:spLocks noChangeArrowheads="1"/>
          </p:cNvSpPr>
          <p:nvPr/>
        </p:nvSpPr>
        <p:spPr bwMode="auto">
          <a:xfrm>
            <a:off x="55626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0</a:t>
            </a:r>
            <a:endParaRPr lang="en-US" altLang="zh-CN" sz="4000" b="1">
              <a:solidFill>
                <a:srgbClr val="CC00CC"/>
              </a:solidFill>
            </a:endParaRPr>
          </a:p>
        </p:txBody>
      </p:sp>
      <p:sp>
        <p:nvSpPr>
          <p:cNvPr id="1116236" name="Rectangle 76"/>
          <p:cNvSpPr>
            <a:spLocks noChangeArrowheads="1"/>
          </p:cNvSpPr>
          <p:nvPr/>
        </p:nvSpPr>
        <p:spPr bwMode="auto">
          <a:xfrm>
            <a:off x="61087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1</a:t>
            </a:r>
            <a:endParaRPr lang="en-US" altLang="zh-CN" sz="4000" b="1">
              <a:solidFill>
                <a:srgbClr val="CC00CC"/>
              </a:solidFill>
            </a:endParaRPr>
          </a:p>
        </p:txBody>
      </p:sp>
      <p:sp>
        <p:nvSpPr>
          <p:cNvPr id="1116237" name="Rectangle 77"/>
          <p:cNvSpPr>
            <a:spLocks noChangeArrowheads="1"/>
          </p:cNvSpPr>
          <p:nvPr/>
        </p:nvSpPr>
        <p:spPr bwMode="auto">
          <a:xfrm>
            <a:off x="66421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3</a:t>
            </a:r>
            <a:endParaRPr lang="en-US" altLang="zh-CN" sz="4000" b="1">
              <a:solidFill>
                <a:srgbClr val="CC00CC"/>
              </a:solidFill>
            </a:endParaRPr>
          </a:p>
        </p:txBody>
      </p:sp>
      <p:sp>
        <p:nvSpPr>
          <p:cNvPr id="1116238" name="Rectangle 78"/>
          <p:cNvSpPr>
            <a:spLocks noChangeArrowheads="1"/>
          </p:cNvSpPr>
          <p:nvPr/>
        </p:nvSpPr>
        <p:spPr bwMode="auto">
          <a:xfrm>
            <a:off x="50419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a:solidFill>
                  <a:srgbClr val="800000"/>
                </a:solidFill>
              </a:rPr>
              <a:t>1</a:t>
            </a:r>
            <a:endParaRPr lang="en-US" altLang="zh-CN" sz="4000"/>
          </a:p>
        </p:txBody>
      </p:sp>
      <p:sp>
        <p:nvSpPr>
          <p:cNvPr id="1116239" name="Rectangle 79"/>
          <p:cNvSpPr>
            <a:spLocks noChangeArrowheads="1"/>
          </p:cNvSpPr>
          <p:nvPr/>
        </p:nvSpPr>
        <p:spPr bwMode="auto">
          <a:xfrm>
            <a:off x="71628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3 </a:t>
            </a:r>
            <a:endParaRPr lang="en-US" altLang="zh-CN" sz="4000" b="1">
              <a:solidFill>
                <a:srgbClr val="CC00CC"/>
              </a:solidFill>
            </a:endParaRPr>
          </a:p>
        </p:txBody>
      </p:sp>
      <p:sp>
        <p:nvSpPr>
          <p:cNvPr id="1116240" name="Rectangle 80"/>
          <p:cNvSpPr>
            <a:spLocks noChangeArrowheads="1"/>
          </p:cNvSpPr>
          <p:nvPr/>
        </p:nvSpPr>
        <p:spPr bwMode="auto">
          <a:xfrm>
            <a:off x="7696200" y="4876800"/>
            <a:ext cx="533400" cy="533400"/>
          </a:xfrm>
          <a:prstGeom prst="rect">
            <a:avLst/>
          </a:prstGeom>
          <a:solidFill>
            <a:srgbClr val="FFFFCC"/>
          </a:solidFill>
          <a:ln w="9525">
            <a:solidFill>
              <a:schemeClr val="tx1"/>
            </a:solidFill>
            <a:miter lim="800000"/>
          </a:ln>
        </p:spPr>
        <p:txBody>
          <a:bodyPr wrap="none" anchor="ctr"/>
          <a:lstStyle/>
          <a:p>
            <a:pPr algn="ctr"/>
            <a:r>
              <a:rPr lang="en-US" altLang="zh-CN" sz="4000" b="1">
                <a:solidFill>
                  <a:srgbClr val="CC00CC"/>
                </a:solidFill>
              </a:rPr>
              <a:t>1</a:t>
            </a:r>
            <a:endParaRPr lang="en-US" altLang="zh-CN" sz="4000" b="1">
              <a:solidFill>
                <a:srgbClr val="CC00CC"/>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16209"/>
                                        </p:tgtEl>
                                        <p:attrNameLst>
                                          <p:attrName>style.visibility</p:attrName>
                                        </p:attrNameLst>
                                      </p:cBhvr>
                                      <p:to>
                                        <p:strVal val="visible"/>
                                      </p:to>
                                    </p:set>
                                    <p:animEffect transition="in" filter="box(in)">
                                      <p:cBhvr>
                                        <p:cTn id="7" dur="500"/>
                                        <p:tgtEl>
                                          <p:spTgt spid="1116209"/>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116210"/>
                                        </p:tgtEl>
                                        <p:attrNameLst>
                                          <p:attrName>style.visibility</p:attrName>
                                        </p:attrNameLst>
                                      </p:cBhvr>
                                      <p:to>
                                        <p:strVal val="visible"/>
                                      </p:to>
                                    </p:set>
                                    <p:animEffect transition="in" filter="box(in)">
                                      <p:cBhvr>
                                        <p:cTn id="10" dur="500"/>
                                        <p:tgtEl>
                                          <p:spTgt spid="1116210"/>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116211"/>
                                        </p:tgtEl>
                                        <p:attrNameLst>
                                          <p:attrName>style.visibility</p:attrName>
                                        </p:attrNameLst>
                                      </p:cBhvr>
                                      <p:to>
                                        <p:strVal val="visible"/>
                                      </p:to>
                                    </p:set>
                                    <p:animEffect transition="in" filter="box(in)">
                                      <p:cBhvr>
                                        <p:cTn id="13" dur="500"/>
                                        <p:tgtEl>
                                          <p:spTgt spid="1116211"/>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116212"/>
                                        </p:tgtEl>
                                        <p:attrNameLst>
                                          <p:attrName>style.visibility</p:attrName>
                                        </p:attrNameLst>
                                      </p:cBhvr>
                                      <p:to>
                                        <p:strVal val="visible"/>
                                      </p:to>
                                    </p:set>
                                    <p:animEffect transition="in" filter="box(in)">
                                      <p:cBhvr>
                                        <p:cTn id="16" dur="500"/>
                                        <p:tgtEl>
                                          <p:spTgt spid="1116212"/>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116217"/>
                                        </p:tgtEl>
                                        <p:attrNameLst>
                                          <p:attrName>style.visibility</p:attrName>
                                        </p:attrNameLst>
                                      </p:cBhvr>
                                      <p:to>
                                        <p:strVal val="visible"/>
                                      </p:to>
                                    </p:set>
                                    <p:animEffect transition="in" filter="box(in)">
                                      <p:cBhvr>
                                        <p:cTn id="19" dur="500"/>
                                        <p:tgtEl>
                                          <p:spTgt spid="1116217"/>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1116218"/>
                                        </p:tgtEl>
                                        <p:attrNameLst>
                                          <p:attrName>style.visibility</p:attrName>
                                        </p:attrNameLst>
                                      </p:cBhvr>
                                      <p:to>
                                        <p:strVal val="visible"/>
                                      </p:to>
                                    </p:set>
                                    <p:animEffect transition="in" filter="box(in)">
                                      <p:cBhvr>
                                        <p:cTn id="22" dur="500"/>
                                        <p:tgtEl>
                                          <p:spTgt spid="11162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116213"/>
                                        </p:tgtEl>
                                        <p:attrNameLst>
                                          <p:attrName>style.visibility</p:attrName>
                                        </p:attrNameLst>
                                      </p:cBhvr>
                                      <p:to>
                                        <p:strVal val="visible"/>
                                      </p:to>
                                    </p:set>
                                    <p:animEffect transition="in" filter="box(in)">
                                      <p:cBhvr>
                                        <p:cTn id="27" dur="500"/>
                                        <p:tgtEl>
                                          <p:spTgt spid="1116213"/>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1116215"/>
                                        </p:tgtEl>
                                        <p:attrNameLst>
                                          <p:attrName>style.visibility</p:attrName>
                                        </p:attrNameLst>
                                      </p:cBhvr>
                                      <p:to>
                                        <p:strVal val="visible"/>
                                      </p:to>
                                    </p:set>
                                    <p:animEffect transition="in" filter="box(in)">
                                      <p:cBhvr>
                                        <p:cTn id="30" dur="500"/>
                                        <p:tgtEl>
                                          <p:spTgt spid="1116215"/>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116214"/>
                                        </p:tgtEl>
                                        <p:attrNameLst>
                                          <p:attrName>style.visibility</p:attrName>
                                        </p:attrNameLst>
                                      </p:cBhvr>
                                      <p:to>
                                        <p:strVal val="visible"/>
                                      </p:to>
                                    </p:set>
                                    <p:animEffect transition="in" filter="box(in)">
                                      <p:cBhvr>
                                        <p:cTn id="35" dur="500"/>
                                        <p:tgtEl>
                                          <p:spTgt spid="1116214"/>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1116216"/>
                                        </p:tgtEl>
                                        <p:attrNameLst>
                                          <p:attrName>style.visibility</p:attrName>
                                        </p:attrNameLst>
                                      </p:cBhvr>
                                      <p:to>
                                        <p:strVal val="visible"/>
                                      </p:to>
                                    </p:set>
                                    <p:animEffect transition="in" filter="box(in)">
                                      <p:cBhvr>
                                        <p:cTn id="38" dur="500"/>
                                        <p:tgtEl>
                                          <p:spTgt spid="1116216"/>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1116198"/>
                                        </p:tgtEl>
                                        <p:attrNameLst>
                                          <p:attrName>style.visibility</p:attrName>
                                        </p:attrNameLst>
                                      </p:cBhvr>
                                      <p:to>
                                        <p:strVal val="visible"/>
                                      </p:to>
                                    </p:set>
                                    <p:animEffect transition="in" filter="box(in)">
                                      <p:cBhvr>
                                        <p:cTn id="43" dur="500"/>
                                        <p:tgtEl>
                                          <p:spTgt spid="1116198"/>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1116219"/>
                                        </p:tgtEl>
                                        <p:attrNameLst>
                                          <p:attrName>style.visibility</p:attrName>
                                        </p:attrNameLst>
                                      </p:cBhvr>
                                      <p:to>
                                        <p:strVal val="visible"/>
                                      </p:to>
                                    </p:set>
                                    <p:animEffect transition="in" filter="box(in)">
                                      <p:cBhvr>
                                        <p:cTn id="48" dur="500"/>
                                        <p:tgtEl>
                                          <p:spTgt spid="1116219"/>
                                        </p:tgtEl>
                                      </p:cBhvr>
                                    </p:animEffect>
                                  </p:childTnLst>
                                </p:cTn>
                              </p:par>
                              <p:par>
                                <p:cTn id="49" presetID="4" presetClass="entr" presetSubtype="16" fill="hold" grpId="0" nodeType="withEffect">
                                  <p:stCondLst>
                                    <p:cond delay="0"/>
                                  </p:stCondLst>
                                  <p:childTnLst>
                                    <p:set>
                                      <p:cBhvr>
                                        <p:cTn id="50" dur="1" fill="hold">
                                          <p:stCondLst>
                                            <p:cond delay="0"/>
                                          </p:stCondLst>
                                        </p:cTn>
                                        <p:tgtEl>
                                          <p:spTgt spid="1116220"/>
                                        </p:tgtEl>
                                        <p:attrNameLst>
                                          <p:attrName>style.visibility</p:attrName>
                                        </p:attrNameLst>
                                      </p:cBhvr>
                                      <p:to>
                                        <p:strVal val="visible"/>
                                      </p:to>
                                    </p:set>
                                    <p:animEffect transition="in" filter="box(in)">
                                      <p:cBhvr>
                                        <p:cTn id="51" dur="500"/>
                                        <p:tgtEl>
                                          <p:spTgt spid="1116220"/>
                                        </p:tgtEl>
                                      </p:cBhvr>
                                    </p:animEffect>
                                  </p:childTnLst>
                                </p:cTn>
                              </p:par>
                              <p:par>
                                <p:cTn id="52" presetID="4" presetClass="entr" presetSubtype="16" fill="hold" grpId="0" nodeType="withEffect">
                                  <p:stCondLst>
                                    <p:cond delay="0"/>
                                  </p:stCondLst>
                                  <p:childTnLst>
                                    <p:set>
                                      <p:cBhvr>
                                        <p:cTn id="53" dur="1" fill="hold">
                                          <p:stCondLst>
                                            <p:cond delay="0"/>
                                          </p:stCondLst>
                                        </p:cTn>
                                        <p:tgtEl>
                                          <p:spTgt spid="1116221"/>
                                        </p:tgtEl>
                                        <p:attrNameLst>
                                          <p:attrName>style.visibility</p:attrName>
                                        </p:attrNameLst>
                                      </p:cBhvr>
                                      <p:to>
                                        <p:strVal val="visible"/>
                                      </p:to>
                                    </p:set>
                                    <p:animEffect transition="in" filter="box(in)">
                                      <p:cBhvr>
                                        <p:cTn id="54" dur="500"/>
                                        <p:tgtEl>
                                          <p:spTgt spid="1116221"/>
                                        </p:tgtEl>
                                      </p:cBhvr>
                                    </p:animEffect>
                                  </p:childTnLst>
                                </p:cTn>
                              </p:par>
                              <p:par>
                                <p:cTn id="55" presetID="4" presetClass="entr" presetSubtype="16" fill="hold" grpId="0" nodeType="withEffect">
                                  <p:stCondLst>
                                    <p:cond delay="0"/>
                                  </p:stCondLst>
                                  <p:childTnLst>
                                    <p:set>
                                      <p:cBhvr>
                                        <p:cTn id="56" dur="1" fill="hold">
                                          <p:stCondLst>
                                            <p:cond delay="0"/>
                                          </p:stCondLst>
                                        </p:cTn>
                                        <p:tgtEl>
                                          <p:spTgt spid="1116222"/>
                                        </p:tgtEl>
                                        <p:attrNameLst>
                                          <p:attrName>style.visibility</p:attrName>
                                        </p:attrNameLst>
                                      </p:cBhvr>
                                      <p:to>
                                        <p:strVal val="visible"/>
                                      </p:to>
                                    </p:set>
                                    <p:animEffect transition="in" filter="box(in)">
                                      <p:cBhvr>
                                        <p:cTn id="57" dur="500"/>
                                        <p:tgtEl>
                                          <p:spTgt spid="1116222"/>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1116223"/>
                                        </p:tgtEl>
                                        <p:attrNameLst>
                                          <p:attrName>style.visibility</p:attrName>
                                        </p:attrNameLst>
                                      </p:cBhvr>
                                      <p:to>
                                        <p:strVal val="visible"/>
                                      </p:to>
                                    </p:set>
                                    <p:animEffect transition="in" filter="box(in)">
                                      <p:cBhvr>
                                        <p:cTn id="60" dur="500"/>
                                        <p:tgtEl>
                                          <p:spTgt spid="1116223"/>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1116224"/>
                                        </p:tgtEl>
                                        <p:attrNameLst>
                                          <p:attrName>style.visibility</p:attrName>
                                        </p:attrNameLst>
                                      </p:cBhvr>
                                      <p:to>
                                        <p:strVal val="visible"/>
                                      </p:to>
                                    </p:set>
                                    <p:animEffect transition="in" filter="box(in)">
                                      <p:cBhvr>
                                        <p:cTn id="63" dur="500"/>
                                        <p:tgtEl>
                                          <p:spTgt spid="1116224"/>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16" fill="hold" grpId="0" nodeType="clickEffect">
                                  <p:stCondLst>
                                    <p:cond delay="0"/>
                                  </p:stCondLst>
                                  <p:childTnLst>
                                    <p:set>
                                      <p:cBhvr>
                                        <p:cTn id="67" dur="1" fill="hold">
                                          <p:stCondLst>
                                            <p:cond delay="0"/>
                                          </p:stCondLst>
                                        </p:cTn>
                                        <p:tgtEl>
                                          <p:spTgt spid="1116176"/>
                                        </p:tgtEl>
                                        <p:attrNameLst>
                                          <p:attrName>style.visibility</p:attrName>
                                        </p:attrNameLst>
                                      </p:cBhvr>
                                      <p:to>
                                        <p:strVal val="visible"/>
                                      </p:to>
                                    </p:set>
                                    <p:animEffect transition="in" filter="box(in)">
                                      <p:cBhvr>
                                        <p:cTn id="68" dur="500"/>
                                        <p:tgtEl>
                                          <p:spTgt spid="1116176"/>
                                        </p:tgtEl>
                                      </p:cBhvr>
                                    </p:animEffect>
                                  </p:childTnLst>
                                </p:cTn>
                              </p:par>
                              <p:par>
                                <p:cTn id="69" presetID="4" presetClass="entr" presetSubtype="16" fill="hold" grpId="0" nodeType="withEffect">
                                  <p:stCondLst>
                                    <p:cond delay="0"/>
                                  </p:stCondLst>
                                  <p:childTnLst>
                                    <p:set>
                                      <p:cBhvr>
                                        <p:cTn id="70" dur="1" fill="hold">
                                          <p:stCondLst>
                                            <p:cond delay="0"/>
                                          </p:stCondLst>
                                        </p:cTn>
                                        <p:tgtEl>
                                          <p:spTgt spid="1116178"/>
                                        </p:tgtEl>
                                        <p:attrNameLst>
                                          <p:attrName>style.visibility</p:attrName>
                                        </p:attrNameLst>
                                      </p:cBhvr>
                                      <p:to>
                                        <p:strVal val="visible"/>
                                      </p:to>
                                    </p:set>
                                    <p:animEffect transition="in" filter="box(in)">
                                      <p:cBhvr>
                                        <p:cTn id="71" dur="500"/>
                                        <p:tgtEl>
                                          <p:spTgt spid="1116178"/>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1116177"/>
                                        </p:tgtEl>
                                        <p:attrNameLst>
                                          <p:attrName>style.visibility</p:attrName>
                                        </p:attrNameLst>
                                      </p:cBhvr>
                                      <p:to>
                                        <p:strVal val="visible"/>
                                      </p:to>
                                    </p:set>
                                    <p:animEffect transition="in" filter="box(in)">
                                      <p:cBhvr>
                                        <p:cTn id="76" dur="500"/>
                                        <p:tgtEl>
                                          <p:spTgt spid="1116177"/>
                                        </p:tgtEl>
                                      </p:cBhvr>
                                    </p:animEffect>
                                  </p:childTnLst>
                                </p:cTn>
                              </p:par>
                              <p:par>
                                <p:cTn id="77" presetID="4" presetClass="entr" presetSubtype="16" fill="hold" grpId="0" nodeType="withEffect">
                                  <p:stCondLst>
                                    <p:cond delay="0"/>
                                  </p:stCondLst>
                                  <p:childTnLst>
                                    <p:set>
                                      <p:cBhvr>
                                        <p:cTn id="78" dur="1" fill="hold">
                                          <p:stCondLst>
                                            <p:cond delay="0"/>
                                          </p:stCondLst>
                                        </p:cTn>
                                        <p:tgtEl>
                                          <p:spTgt spid="1116179"/>
                                        </p:tgtEl>
                                        <p:attrNameLst>
                                          <p:attrName>style.visibility</p:attrName>
                                        </p:attrNameLst>
                                      </p:cBhvr>
                                      <p:to>
                                        <p:strVal val="visible"/>
                                      </p:to>
                                    </p:set>
                                    <p:animEffect transition="in" filter="box(in)">
                                      <p:cBhvr>
                                        <p:cTn id="79" dur="500"/>
                                        <p:tgtEl>
                                          <p:spTgt spid="1116179"/>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16" fill="hold" grpId="0" nodeType="clickEffect">
                                  <p:stCondLst>
                                    <p:cond delay="0"/>
                                  </p:stCondLst>
                                  <p:childTnLst>
                                    <p:set>
                                      <p:cBhvr>
                                        <p:cTn id="83" dur="1" fill="hold">
                                          <p:stCondLst>
                                            <p:cond delay="0"/>
                                          </p:stCondLst>
                                        </p:cTn>
                                        <p:tgtEl>
                                          <p:spTgt spid="1116199"/>
                                        </p:tgtEl>
                                        <p:attrNameLst>
                                          <p:attrName>style.visibility</p:attrName>
                                        </p:attrNameLst>
                                      </p:cBhvr>
                                      <p:to>
                                        <p:strVal val="visible"/>
                                      </p:to>
                                    </p:set>
                                    <p:animEffect transition="in" filter="box(in)">
                                      <p:cBhvr>
                                        <p:cTn id="84" dur="500"/>
                                        <p:tgtEl>
                                          <p:spTgt spid="1116199"/>
                                        </p:tgtEl>
                                      </p:cBhvr>
                                    </p:animEffect>
                                  </p:childTnLst>
                                </p:cTn>
                              </p:par>
                            </p:childTnLst>
                          </p:cTn>
                        </p:par>
                      </p:childTnLst>
                    </p:cTn>
                  </p:par>
                  <p:par>
                    <p:cTn id="85" fill="hold">
                      <p:stCondLst>
                        <p:cond delay="indefinite"/>
                      </p:stCondLst>
                      <p:childTnLst>
                        <p:par>
                          <p:cTn id="86" fill="hold">
                            <p:stCondLst>
                              <p:cond delay="0"/>
                            </p:stCondLst>
                            <p:childTnLst>
                              <p:par>
                                <p:cTn id="87" presetID="4" presetClass="entr" presetSubtype="16" fill="hold" grpId="0" nodeType="clickEffect">
                                  <p:stCondLst>
                                    <p:cond delay="0"/>
                                  </p:stCondLst>
                                  <p:childTnLst>
                                    <p:set>
                                      <p:cBhvr>
                                        <p:cTn id="88" dur="1" fill="hold">
                                          <p:stCondLst>
                                            <p:cond delay="0"/>
                                          </p:stCondLst>
                                        </p:cTn>
                                        <p:tgtEl>
                                          <p:spTgt spid="1116229"/>
                                        </p:tgtEl>
                                        <p:attrNameLst>
                                          <p:attrName>style.visibility</p:attrName>
                                        </p:attrNameLst>
                                      </p:cBhvr>
                                      <p:to>
                                        <p:strVal val="visible"/>
                                      </p:to>
                                    </p:set>
                                    <p:animEffect transition="in" filter="box(in)">
                                      <p:cBhvr>
                                        <p:cTn id="89" dur="500"/>
                                        <p:tgtEl>
                                          <p:spTgt spid="1116229"/>
                                        </p:tgtEl>
                                      </p:cBhvr>
                                    </p:animEffect>
                                  </p:childTnLst>
                                </p:cTn>
                              </p:par>
                              <p:par>
                                <p:cTn id="90" presetID="4" presetClass="entr" presetSubtype="16" fill="hold" grpId="0" nodeType="withEffect">
                                  <p:stCondLst>
                                    <p:cond delay="0"/>
                                  </p:stCondLst>
                                  <p:childTnLst>
                                    <p:set>
                                      <p:cBhvr>
                                        <p:cTn id="91" dur="1" fill="hold">
                                          <p:stCondLst>
                                            <p:cond delay="0"/>
                                          </p:stCondLst>
                                        </p:cTn>
                                        <p:tgtEl>
                                          <p:spTgt spid="1116230"/>
                                        </p:tgtEl>
                                        <p:attrNameLst>
                                          <p:attrName>style.visibility</p:attrName>
                                        </p:attrNameLst>
                                      </p:cBhvr>
                                      <p:to>
                                        <p:strVal val="visible"/>
                                      </p:to>
                                    </p:set>
                                    <p:animEffect transition="in" filter="box(in)">
                                      <p:cBhvr>
                                        <p:cTn id="92" dur="500"/>
                                        <p:tgtEl>
                                          <p:spTgt spid="1116230"/>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1116231"/>
                                        </p:tgtEl>
                                        <p:attrNameLst>
                                          <p:attrName>style.visibility</p:attrName>
                                        </p:attrNameLst>
                                      </p:cBhvr>
                                      <p:to>
                                        <p:strVal val="visible"/>
                                      </p:to>
                                    </p:set>
                                    <p:animEffect transition="in" filter="box(in)">
                                      <p:cBhvr>
                                        <p:cTn id="95" dur="500"/>
                                        <p:tgtEl>
                                          <p:spTgt spid="1116231"/>
                                        </p:tgtEl>
                                      </p:cBhvr>
                                    </p:animEffect>
                                  </p:childTnLst>
                                </p:cTn>
                              </p:par>
                              <p:par>
                                <p:cTn id="96" presetID="4" presetClass="entr" presetSubtype="16" fill="hold" grpId="0" nodeType="withEffect">
                                  <p:stCondLst>
                                    <p:cond delay="0"/>
                                  </p:stCondLst>
                                  <p:childTnLst>
                                    <p:set>
                                      <p:cBhvr>
                                        <p:cTn id="97" dur="1" fill="hold">
                                          <p:stCondLst>
                                            <p:cond delay="0"/>
                                          </p:stCondLst>
                                        </p:cTn>
                                        <p:tgtEl>
                                          <p:spTgt spid="1116232"/>
                                        </p:tgtEl>
                                        <p:attrNameLst>
                                          <p:attrName>style.visibility</p:attrName>
                                        </p:attrNameLst>
                                      </p:cBhvr>
                                      <p:to>
                                        <p:strVal val="visible"/>
                                      </p:to>
                                    </p:set>
                                    <p:animEffect transition="in" filter="box(in)">
                                      <p:cBhvr>
                                        <p:cTn id="98" dur="500"/>
                                        <p:tgtEl>
                                          <p:spTgt spid="1116232"/>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1116233"/>
                                        </p:tgtEl>
                                        <p:attrNameLst>
                                          <p:attrName>style.visibility</p:attrName>
                                        </p:attrNameLst>
                                      </p:cBhvr>
                                      <p:to>
                                        <p:strVal val="visible"/>
                                      </p:to>
                                    </p:set>
                                    <p:animEffect transition="in" filter="box(in)">
                                      <p:cBhvr>
                                        <p:cTn id="101" dur="500"/>
                                        <p:tgtEl>
                                          <p:spTgt spid="1116233"/>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1116234"/>
                                        </p:tgtEl>
                                        <p:attrNameLst>
                                          <p:attrName>style.visibility</p:attrName>
                                        </p:attrNameLst>
                                      </p:cBhvr>
                                      <p:to>
                                        <p:strVal val="visible"/>
                                      </p:to>
                                    </p:set>
                                    <p:animEffect transition="in" filter="box(in)">
                                      <p:cBhvr>
                                        <p:cTn id="104" dur="500"/>
                                        <p:tgtEl>
                                          <p:spTgt spid="1116234"/>
                                        </p:tgtEl>
                                      </p:cBhvr>
                                    </p:animEffect>
                                  </p:childTnLst>
                                </p:cTn>
                              </p:par>
                            </p:childTnLst>
                          </p:cTn>
                        </p:par>
                      </p:childTnLst>
                    </p:cTn>
                  </p:par>
                  <p:par>
                    <p:cTn id="105" fill="hold">
                      <p:stCondLst>
                        <p:cond delay="indefinite"/>
                      </p:stCondLst>
                      <p:childTnLst>
                        <p:par>
                          <p:cTn id="106" fill="hold">
                            <p:stCondLst>
                              <p:cond delay="0"/>
                            </p:stCondLst>
                            <p:childTnLst>
                              <p:par>
                                <p:cTn id="107" presetID="4" presetClass="entr" presetSubtype="16" fill="hold" grpId="0" nodeType="clickEffect">
                                  <p:stCondLst>
                                    <p:cond delay="0"/>
                                  </p:stCondLst>
                                  <p:childTnLst>
                                    <p:set>
                                      <p:cBhvr>
                                        <p:cTn id="108" dur="1" fill="hold">
                                          <p:stCondLst>
                                            <p:cond delay="0"/>
                                          </p:stCondLst>
                                        </p:cTn>
                                        <p:tgtEl>
                                          <p:spTgt spid="1116185"/>
                                        </p:tgtEl>
                                        <p:attrNameLst>
                                          <p:attrName>style.visibility</p:attrName>
                                        </p:attrNameLst>
                                      </p:cBhvr>
                                      <p:to>
                                        <p:strVal val="visible"/>
                                      </p:to>
                                    </p:set>
                                    <p:animEffect transition="in" filter="box(in)">
                                      <p:cBhvr>
                                        <p:cTn id="109" dur="500"/>
                                        <p:tgtEl>
                                          <p:spTgt spid="1116185"/>
                                        </p:tgtEl>
                                      </p:cBhvr>
                                    </p:animEffect>
                                  </p:childTnLst>
                                </p:cTn>
                              </p:par>
                              <p:par>
                                <p:cTn id="110" presetID="4" presetClass="entr" presetSubtype="16" fill="hold" grpId="0" nodeType="withEffect">
                                  <p:stCondLst>
                                    <p:cond delay="0"/>
                                  </p:stCondLst>
                                  <p:childTnLst>
                                    <p:set>
                                      <p:cBhvr>
                                        <p:cTn id="111" dur="1" fill="hold">
                                          <p:stCondLst>
                                            <p:cond delay="0"/>
                                          </p:stCondLst>
                                        </p:cTn>
                                        <p:tgtEl>
                                          <p:spTgt spid="1116187"/>
                                        </p:tgtEl>
                                        <p:attrNameLst>
                                          <p:attrName>style.visibility</p:attrName>
                                        </p:attrNameLst>
                                      </p:cBhvr>
                                      <p:to>
                                        <p:strVal val="visible"/>
                                      </p:to>
                                    </p:set>
                                    <p:animEffect transition="in" filter="box(in)">
                                      <p:cBhvr>
                                        <p:cTn id="112" dur="500"/>
                                        <p:tgtEl>
                                          <p:spTgt spid="1116187"/>
                                        </p:tgtEl>
                                      </p:cBhvr>
                                    </p:animEffect>
                                  </p:childTnLst>
                                </p:cTn>
                              </p:par>
                            </p:childTnLst>
                          </p:cTn>
                        </p:par>
                      </p:childTnLst>
                    </p:cTn>
                  </p:par>
                  <p:par>
                    <p:cTn id="113" fill="hold">
                      <p:stCondLst>
                        <p:cond delay="indefinite"/>
                      </p:stCondLst>
                      <p:childTnLst>
                        <p:par>
                          <p:cTn id="114" fill="hold">
                            <p:stCondLst>
                              <p:cond delay="0"/>
                            </p:stCondLst>
                            <p:childTnLst>
                              <p:par>
                                <p:cTn id="115" presetID="4" presetClass="entr" presetSubtype="16" fill="hold" grpId="0" nodeType="clickEffect">
                                  <p:stCondLst>
                                    <p:cond delay="0"/>
                                  </p:stCondLst>
                                  <p:childTnLst>
                                    <p:set>
                                      <p:cBhvr>
                                        <p:cTn id="116" dur="1" fill="hold">
                                          <p:stCondLst>
                                            <p:cond delay="0"/>
                                          </p:stCondLst>
                                        </p:cTn>
                                        <p:tgtEl>
                                          <p:spTgt spid="1116186"/>
                                        </p:tgtEl>
                                        <p:attrNameLst>
                                          <p:attrName>style.visibility</p:attrName>
                                        </p:attrNameLst>
                                      </p:cBhvr>
                                      <p:to>
                                        <p:strVal val="visible"/>
                                      </p:to>
                                    </p:set>
                                    <p:animEffect transition="in" filter="box(in)">
                                      <p:cBhvr>
                                        <p:cTn id="117" dur="500"/>
                                        <p:tgtEl>
                                          <p:spTgt spid="1116186"/>
                                        </p:tgtEl>
                                      </p:cBhvr>
                                    </p:animEffect>
                                  </p:childTnLst>
                                </p:cTn>
                              </p:par>
                              <p:par>
                                <p:cTn id="118" presetID="4" presetClass="entr" presetSubtype="16" fill="hold" grpId="0" nodeType="withEffect">
                                  <p:stCondLst>
                                    <p:cond delay="0"/>
                                  </p:stCondLst>
                                  <p:childTnLst>
                                    <p:set>
                                      <p:cBhvr>
                                        <p:cTn id="119" dur="1" fill="hold">
                                          <p:stCondLst>
                                            <p:cond delay="0"/>
                                          </p:stCondLst>
                                        </p:cTn>
                                        <p:tgtEl>
                                          <p:spTgt spid="1116188"/>
                                        </p:tgtEl>
                                        <p:attrNameLst>
                                          <p:attrName>style.visibility</p:attrName>
                                        </p:attrNameLst>
                                      </p:cBhvr>
                                      <p:to>
                                        <p:strVal val="visible"/>
                                      </p:to>
                                    </p:set>
                                    <p:animEffect transition="in" filter="box(in)">
                                      <p:cBhvr>
                                        <p:cTn id="120" dur="500"/>
                                        <p:tgtEl>
                                          <p:spTgt spid="1116188"/>
                                        </p:tgtEl>
                                      </p:cBhvr>
                                    </p:animEffect>
                                  </p:childTnLst>
                                </p:cTn>
                              </p:par>
                            </p:childTnLst>
                          </p:cTn>
                        </p:par>
                      </p:childTnLst>
                    </p:cTn>
                  </p:par>
                  <p:par>
                    <p:cTn id="121" fill="hold">
                      <p:stCondLst>
                        <p:cond delay="indefinite"/>
                      </p:stCondLst>
                      <p:childTnLst>
                        <p:par>
                          <p:cTn id="122" fill="hold">
                            <p:stCondLst>
                              <p:cond delay="0"/>
                            </p:stCondLst>
                            <p:childTnLst>
                              <p:par>
                                <p:cTn id="123" presetID="4" presetClass="entr" presetSubtype="16" fill="hold" grpId="0" nodeType="clickEffect">
                                  <p:stCondLst>
                                    <p:cond delay="0"/>
                                  </p:stCondLst>
                                  <p:childTnLst>
                                    <p:set>
                                      <p:cBhvr>
                                        <p:cTn id="124" dur="1" fill="hold">
                                          <p:stCondLst>
                                            <p:cond delay="0"/>
                                          </p:stCondLst>
                                        </p:cTn>
                                        <p:tgtEl>
                                          <p:spTgt spid="1116200"/>
                                        </p:tgtEl>
                                        <p:attrNameLst>
                                          <p:attrName>style.visibility</p:attrName>
                                        </p:attrNameLst>
                                      </p:cBhvr>
                                      <p:to>
                                        <p:strVal val="visible"/>
                                      </p:to>
                                    </p:set>
                                    <p:animEffect transition="in" filter="box(in)">
                                      <p:cBhvr>
                                        <p:cTn id="125" dur="500"/>
                                        <p:tgtEl>
                                          <p:spTgt spid="1116200"/>
                                        </p:tgtEl>
                                      </p:cBhvr>
                                    </p:animEffect>
                                  </p:childTnLst>
                                </p:cTn>
                              </p:par>
                            </p:childTnLst>
                          </p:cTn>
                        </p:par>
                      </p:childTnLst>
                    </p:cTn>
                  </p:par>
                  <p:par>
                    <p:cTn id="126" fill="hold">
                      <p:stCondLst>
                        <p:cond delay="indefinite"/>
                      </p:stCondLst>
                      <p:childTnLst>
                        <p:par>
                          <p:cTn id="127" fill="hold">
                            <p:stCondLst>
                              <p:cond delay="0"/>
                            </p:stCondLst>
                            <p:childTnLst>
                              <p:par>
                                <p:cTn id="128" presetID="4" presetClass="entr" presetSubtype="16" fill="hold" grpId="0" nodeType="clickEffect">
                                  <p:stCondLst>
                                    <p:cond delay="0"/>
                                  </p:stCondLst>
                                  <p:childTnLst>
                                    <p:set>
                                      <p:cBhvr>
                                        <p:cTn id="129" dur="1" fill="hold">
                                          <p:stCondLst>
                                            <p:cond delay="0"/>
                                          </p:stCondLst>
                                        </p:cTn>
                                        <p:tgtEl>
                                          <p:spTgt spid="1116235"/>
                                        </p:tgtEl>
                                        <p:attrNameLst>
                                          <p:attrName>style.visibility</p:attrName>
                                        </p:attrNameLst>
                                      </p:cBhvr>
                                      <p:to>
                                        <p:strVal val="visible"/>
                                      </p:to>
                                    </p:set>
                                    <p:animEffect transition="in" filter="box(in)">
                                      <p:cBhvr>
                                        <p:cTn id="130" dur="500"/>
                                        <p:tgtEl>
                                          <p:spTgt spid="1116235"/>
                                        </p:tgtEl>
                                      </p:cBhvr>
                                    </p:animEffect>
                                  </p:childTnLst>
                                </p:cTn>
                              </p:par>
                              <p:par>
                                <p:cTn id="131" presetID="4" presetClass="entr" presetSubtype="16" fill="hold" grpId="0" nodeType="withEffect">
                                  <p:stCondLst>
                                    <p:cond delay="0"/>
                                  </p:stCondLst>
                                  <p:childTnLst>
                                    <p:set>
                                      <p:cBhvr>
                                        <p:cTn id="132" dur="1" fill="hold">
                                          <p:stCondLst>
                                            <p:cond delay="0"/>
                                          </p:stCondLst>
                                        </p:cTn>
                                        <p:tgtEl>
                                          <p:spTgt spid="1116236"/>
                                        </p:tgtEl>
                                        <p:attrNameLst>
                                          <p:attrName>style.visibility</p:attrName>
                                        </p:attrNameLst>
                                      </p:cBhvr>
                                      <p:to>
                                        <p:strVal val="visible"/>
                                      </p:to>
                                    </p:set>
                                    <p:animEffect transition="in" filter="box(in)">
                                      <p:cBhvr>
                                        <p:cTn id="133" dur="500"/>
                                        <p:tgtEl>
                                          <p:spTgt spid="1116236"/>
                                        </p:tgtEl>
                                      </p:cBhvr>
                                    </p:animEffect>
                                  </p:childTnLst>
                                </p:cTn>
                              </p:par>
                              <p:par>
                                <p:cTn id="134" presetID="4" presetClass="entr" presetSubtype="16" fill="hold" grpId="0" nodeType="withEffect">
                                  <p:stCondLst>
                                    <p:cond delay="0"/>
                                  </p:stCondLst>
                                  <p:childTnLst>
                                    <p:set>
                                      <p:cBhvr>
                                        <p:cTn id="135" dur="1" fill="hold">
                                          <p:stCondLst>
                                            <p:cond delay="0"/>
                                          </p:stCondLst>
                                        </p:cTn>
                                        <p:tgtEl>
                                          <p:spTgt spid="1116237"/>
                                        </p:tgtEl>
                                        <p:attrNameLst>
                                          <p:attrName>style.visibility</p:attrName>
                                        </p:attrNameLst>
                                      </p:cBhvr>
                                      <p:to>
                                        <p:strVal val="visible"/>
                                      </p:to>
                                    </p:set>
                                    <p:animEffect transition="in" filter="box(in)">
                                      <p:cBhvr>
                                        <p:cTn id="136" dur="500"/>
                                        <p:tgtEl>
                                          <p:spTgt spid="1116237"/>
                                        </p:tgtEl>
                                      </p:cBhvr>
                                    </p:animEffect>
                                  </p:childTnLst>
                                </p:cTn>
                              </p:par>
                              <p:par>
                                <p:cTn id="137" presetID="4" presetClass="entr" presetSubtype="16" fill="hold" grpId="0" nodeType="withEffect">
                                  <p:stCondLst>
                                    <p:cond delay="0"/>
                                  </p:stCondLst>
                                  <p:childTnLst>
                                    <p:set>
                                      <p:cBhvr>
                                        <p:cTn id="138" dur="1" fill="hold">
                                          <p:stCondLst>
                                            <p:cond delay="0"/>
                                          </p:stCondLst>
                                        </p:cTn>
                                        <p:tgtEl>
                                          <p:spTgt spid="1116238"/>
                                        </p:tgtEl>
                                        <p:attrNameLst>
                                          <p:attrName>style.visibility</p:attrName>
                                        </p:attrNameLst>
                                      </p:cBhvr>
                                      <p:to>
                                        <p:strVal val="visible"/>
                                      </p:to>
                                    </p:set>
                                    <p:animEffect transition="in" filter="box(in)">
                                      <p:cBhvr>
                                        <p:cTn id="139" dur="500"/>
                                        <p:tgtEl>
                                          <p:spTgt spid="1116238"/>
                                        </p:tgtEl>
                                      </p:cBhvr>
                                    </p:animEffect>
                                  </p:childTnLst>
                                </p:cTn>
                              </p:par>
                              <p:par>
                                <p:cTn id="140" presetID="4" presetClass="entr" presetSubtype="16" fill="hold" grpId="0" nodeType="withEffect">
                                  <p:stCondLst>
                                    <p:cond delay="0"/>
                                  </p:stCondLst>
                                  <p:childTnLst>
                                    <p:set>
                                      <p:cBhvr>
                                        <p:cTn id="141" dur="1" fill="hold">
                                          <p:stCondLst>
                                            <p:cond delay="0"/>
                                          </p:stCondLst>
                                        </p:cTn>
                                        <p:tgtEl>
                                          <p:spTgt spid="1116239"/>
                                        </p:tgtEl>
                                        <p:attrNameLst>
                                          <p:attrName>style.visibility</p:attrName>
                                        </p:attrNameLst>
                                      </p:cBhvr>
                                      <p:to>
                                        <p:strVal val="visible"/>
                                      </p:to>
                                    </p:set>
                                    <p:animEffect transition="in" filter="box(in)">
                                      <p:cBhvr>
                                        <p:cTn id="142" dur="500"/>
                                        <p:tgtEl>
                                          <p:spTgt spid="1116239"/>
                                        </p:tgtEl>
                                      </p:cBhvr>
                                    </p:animEffect>
                                  </p:childTnLst>
                                </p:cTn>
                              </p:par>
                              <p:par>
                                <p:cTn id="143" presetID="4" presetClass="entr" presetSubtype="16" fill="hold" grpId="0" nodeType="withEffect">
                                  <p:stCondLst>
                                    <p:cond delay="0"/>
                                  </p:stCondLst>
                                  <p:childTnLst>
                                    <p:set>
                                      <p:cBhvr>
                                        <p:cTn id="144" dur="1" fill="hold">
                                          <p:stCondLst>
                                            <p:cond delay="0"/>
                                          </p:stCondLst>
                                        </p:cTn>
                                        <p:tgtEl>
                                          <p:spTgt spid="1116240"/>
                                        </p:tgtEl>
                                        <p:attrNameLst>
                                          <p:attrName>style.visibility</p:attrName>
                                        </p:attrNameLst>
                                      </p:cBhvr>
                                      <p:to>
                                        <p:strVal val="visible"/>
                                      </p:to>
                                    </p:set>
                                    <p:animEffect transition="in" filter="box(in)">
                                      <p:cBhvr>
                                        <p:cTn id="145" dur="500"/>
                                        <p:tgtEl>
                                          <p:spTgt spid="1116240"/>
                                        </p:tgtEl>
                                      </p:cBhvr>
                                    </p:animEffect>
                                  </p:childTnLst>
                                </p:cTn>
                              </p:par>
                            </p:childTnLst>
                          </p:cTn>
                        </p:par>
                      </p:childTnLst>
                    </p:cTn>
                  </p:par>
                  <p:par>
                    <p:cTn id="146" fill="hold">
                      <p:stCondLst>
                        <p:cond delay="indefinite"/>
                      </p:stCondLst>
                      <p:childTnLst>
                        <p:par>
                          <p:cTn id="147" fill="hold">
                            <p:stCondLst>
                              <p:cond delay="0"/>
                            </p:stCondLst>
                            <p:childTnLst>
                              <p:par>
                                <p:cTn id="148" presetID="4" presetClass="entr" presetSubtype="16" fill="hold" grpId="0" nodeType="clickEffect">
                                  <p:stCondLst>
                                    <p:cond delay="0"/>
                                  </p:stCondLst>
                                  <p:childTnLst>
                                    <p:set>
                                      <p:cBhvr>
                                        <p:cTn id="149" dur="1" fill="hold">
                                          <p:stCondLst>
                                            <p:cond delay="0"/>
                                          </p:stCondLst>
                                        </p:cTn>
                                        <p:tgtEl>
                                          <p:spTgt spid="1116194"/>
                                        </p:tgtEl>
                                        <p:attrNameLst>
                                          <p:attrName>style.visibility</p:attrName>
                                        </p:attrNameLst>
                                      </p:cBhvr>
                                      <p:to>
                                        <p:strVal val="visible"/>
                                      </p:to>
                                    </p:set>
                                    <p:animEffect transition="in" filter="box(in)">
                                      <p:cBhvr>
                                        <p:cTn id="150" dur="500"/>
                                        <p:tgtEl>
                                          <p:spTgt spid="1116194"/>
                                        </p:tgtEl>
                                      </p:cBhvr>
                                    </p:animEffect>
                                  </p:childTnLst>
                                </p:cTn>
                              </p:par>
                              <p:par>
                                <p:cTn id="151" presetID="4" presetClass="entr" presetSubtype="16" fill="hold" grpId="0" nodeType="withEffect">
                                  <p:stCondLst>
                                    <p:cond delay="0"/>
                                  </p:stCondLst>
                                  <p:childTnLst>
                                    <p:set>
                                      <p:cBhvr>
                                        <p:cTn id="152" dur="1" fill="hold">
                                          <p:stCondLst>
                                            <p:cond delay="0"/>
                                          </p:stCondLst>
                                        </p:cTn>
                                        <p:tgtEl>
                                          <p:spTgt spid="1116196"/>
                                        </p:tgtEl>
                                        <p:attrNameLst>
                                          <p:attrName>style.visibility</p:attrName>
                                        </p:attrNameLst>
                                      </p:cBhvr>
                                      <p:to>
                                        <p:strVal val="visible"/>
                                      </p:to>
                                    </p:set>
                                    <p:animEffect transition="in" filter="box(in)">
                                      <p:cBhvr>
                                        <p:cTn id="153" dur="500"/>
                                        <p:tgtEl>
                                          <p:spTgt spid="1116196"/>
                                        </p:tgtEl>
                                      </p:cBhvr>
                                    </p:animEffect>
                                  </p:childTnLst>
                                </p:cTn>
                              </p:par>
                            </p:childTnLst>
                          </p:cTn>
                        </p:par>
                      </p:childTnLst>
                    </p:cTn>
                  </p:par>
                  <p:par>
                    <p:cTn id="154" fill="hold">
                      <p:stCondLst>
                        <p:cond delay="indefinite"/>
                      </p:stCondLst>
                      <p:childTnLst>
                        <p:par>
                          <p:cTn id="155" fill="hold">
                            <p:stCondLst>
                              <p:cond delay="0"/>
                            </p:stCondLst>
                            <p:childTnLst>
                              <p:par>
                                <p:cTn id="156" presetID="4" presetClass="entr" presetSubtype="16" fill="hold" grpId="0" nodeType="clickEffect">
                                  <p:stCondLst>
                                    <p:cond delay="0"/>
                                  </p:stCondLst>
                                  <p:childTnLst>
                                    <p:set>
                                      <p:cBhvr>
                                        <p:cTn id="157" dur="1" fill="hold">
                                          <p:stCondLst>
                                            <p:cond delay="0"/>
                                          </p:stCondLst>
                                        </p:cTn>
                                        <p:tgtEl>
                                          <p:spTgt spid="1116195"/>
                                        </p:tgtEl>
                                        <p:attrNameLst>
                                          <p:attrName>style.visibility</p:attrName>
                                        </p:attrNameLst>
                                      </p:cBhvr>
                                      <p:to>
                                        <p:strVal val="visible"/>
                                      </p:to>
                                    </p:set>
                                    <p:animEffect transition="in" filter="box(in)">
                                      <p:cBhvr>
                                        <p:cTn id="158" dur="500"/>
                                        <p:tgtEl>
                                          <p:spTgt spid="1116195"/>
                                        </p:tgtEl>
                                      </p:cBhvr>
                                    </p:animEffect>
                                  </p:childTnLst>
                                </p:cTn>
                              </p:par>
                              <p:par>
                                <p:cTn id="159" presetID="4" presetClass="entr" presetSubtype="16" fill="hold" grpId="0" nodeType="withEffect">
                                  <p:stCondLst>
                                    <p:cond delay="0"/>
                                  </p:stCondLst>
                                  <p:childTnLst>
                                    <p:set>
                                      <p:cBhvr>
                                        <p:cTn id="160" dur="1" fill="hold">
                                          <p:stCondLst>
                                            <p:cond delay="0"/>
                                          </p:stCondLst>
                                        </p:cTn>
                                        <p:tgtEl>
                                          <p:spTgt spid="1116197"/>
                                        </p:tgtEl>
                                        <p:attrNameLst>
                                          <p:attrName>style.visibility</p:attrName>
                                        </p:attrNameLst>
                                      </p:cBhvr>
                                      <p:to>
                                        <p:strVal val="visible"/>
                                      </p:to>
                                    </p:set>
                                    <p:animEffect transition="in" filter="box(in)">
                                      <p:cBhvr>
                                        <p:cTn id="161" dur="500"/>
                                        <p:tgtEl>
                                          <p:spTgt spid="1116197"/>
                                        </p:tgtEl>
                                      </p:cBhvr>
                                    </p:animEffect>
                                  </p:childTnLst>
                                </p:cTn>
                              </p:par>
                            </p:childTnLst>
                          </p:cTn>
                        </p:par>
                      </p:childTnLst>
                    </p:cTn>
                  </p:par>
                  <p:par>
                    <p:cTn id="162" fill="hold">
                      <p:stCondLst>
                        <p:cond delay="indefinite"/>
                      </p:stCondLst>
                      <p:childTnLst>
                        <p:par>
                          <p:cTn id="163" fill="hold">
                            <p:stCondLst>
                              <p:cond delay="0"/>
                            </p:stCondLst>
                            <p:childTnLst>
                              <p:par>
                                <p:cTn id="164" presetID="5" presetClass="entr" presetSubtype="10" fill="hold" grpId="0" nodeType="clickEffect">
                                  <p:stCondLst>
                                    <p:cond delay="0"/>
                                  </p:stCondLst>
                                  <p:childTnLst>
                                    <p:set>
                                      <p:cBhvr>
                                        <p:cTn id="165" dur="1" fill="hold">
                                          <p:stCondLst>
                                            <p:cond delay="0"/>
                                          </p:stCondLst>
                                        </p:cTn>
                                        <p:tgtEl>
                                          <p:spTgt spid="1116201"/>
                                        </p:tgtEl>
                                        <p:attrNameLst>
                                          <p:attrName>style.visibility</p:attrName>
                                        </p:attrNameLst>
                                      </p:cBhvr>
                                      <p:to>
                                        <p:strVal val="visible"/>
                                      </p:to>
                                    </p:set>
                                    <p:animEffect transition="in" filter="checkerboard(across)">
                                      <p:cBhvr>
                                        <p:cTn id="166" dur="500"/>
                                        <p:tgtEl>
                                          <p:spTgt spid="1116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76" grpId="0" animBg="1"/>
      <p:bldP spid="1116177" grpId="0" animBg="1"/>
      <p:bldP spid="1116178" grpId="0"/>
      <p:bldP spid="1116179" grpId="0"/>
      <p:bldP spid="1116185" grpId="0" animBg="1"/>
      <p:bldP spid="1116186" grpId="0" animBg="1"/>
      <p:bldP spid="1116187" grpId="0"/>
      <p:bldP spid="1116188" grpId="0"/>
      <p:bldP spid="1116194" grpId="0" animBg="1"/>
      <p:bldP spid="1116195" grpId="0" animBg="1"/>
      <p:bldP spid="1116196" grpId="0"/>
      <p:bldP spid="1116197" grpId="0"/>
      <p:bldP spid="1116198" grpId="0" animBg="1"/>
      <p:bldP spid="1116199" grpId="0" animBg="1"/>
      <p:bldP spid="1116200" grpId="0" animBg="1"/>
      <p:bldP spid="1116201" grpId="0"/>
      <p:bldP spid="1116209" grpId="0" animBg="1"/>
      <p:bldP spid="1116210" grpId="0" animBg="1"/>
      <p:bldP spid="1116211" grpId="0" animBg="1"/>
      <p:bldP spid="1116212" grpId="0" animBg="1"/>
      <p:bldP spid="1116213" grpId="0" animBg="1"/>
      <p:bldP spid="1116214" grpId="0" animBg="1"/>
      <p:bldP spid="1116215" grpId="0"/>
      <p:bldP spid="1116216" grpId="0"/>
      <p:bldP spid="1116217" grpId="0" animBg="1"/>
      <p:bldP spid="1116218" grpId="0" animBg="1"/>
      <p:bldP spid="1116219" grpId="0" animBg="1"/>
      <p:bldP spid="1116220" grpId="0" animBg="1"/>
      <p:bldP spid="1116221" grpId="0" animBg="1"/>
      <p:bldP spid="1116222" grpId="0" animBg="1"/>
      <p:bldP spid="1116223" grpId="0" animBg="1"/>
      <p:bldP spid="1116224" grpId="0" animBg="1"/>
      <p:bldP spid="1116229" grpId="0" animBg="1"/>
      <p:bldP spid="1116230" grpId="0" animBg="1"/>
      <p:bldP spid="1116231" grpId="0" animBg="1"/>
      <p:bldP spid="1116232" grpId="0" animBg="1"/>
      <p:bldP spid="1116233" grpId="0" animBg="1"/>
      <p:bldP spid="1116234" grpId="0" animBg="1"/>
      <p:bldP spid="1116235" grpId="0" animBg="1"/>
      <p:bldP spid="1116236" grpId="0" animBg="1"/>
      <p:bldP spid="1116237" grpId="0" animBg="1"/>
      <p:bldP spid="1116238" grpId="0" animBg="1"/>
      <p:bldP spid="1116239" grpId="0" animBg="1"/>
      <p:bldP spid="1116240"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866" name="Text Box 2"/>
          <p:cNvSpPr txBox="1">
            <a:spLocks noChangeArrowheads="1"/>
          </p:cNvSpPr>
          <p:nvPr/>
        </p:nvSpPr>
        <p:spPr bwMode="auto">
          <a:xfrm>
            <a:off x="1371600" y="487363"/>
            <a:ext cx="8153400" cy="576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zh-CN" altLang="en-US" sz="3200">
                <a:solidFill>
                  <a:schemeClr val="tx2"/>
                </a:solidFill>
                <a:latin typeface="宋体" panose="02010600030101010101" pitchFamily="2" charset="-122"/>
              </a:rPr>
              <a:t>程序如下</a:t>
            </a:r>
            <a:r>
              <a:rPr lang="en-US" altLang="zh-CN" sz="3200">
                <a:solidFill>
                  <a:schemeClr val="tx2"/>
                </a:solidFill>
                <a:latin typeface="宋体" panose="02010600030101010101" pitchFamily="2" charset="-122"/>
              </a:rPr>
              <a:t>: (n≤7)</a:t>
            </a:r>
            <a:endParaRPr lang="en-US" altLang="zh-CN" sz="3200">
              <a:solidFill>
                <a:schemeClr val="tx2"/>
              </a:solidFill>
              <a:latin typeface="宋体" panose="02010600030101010101" pitchFamily="2" charset="-122"/>
            </a:endParaRPr>
          </a:p>
          <a:p>
            <a:r>
              <a:rPr lang="en-US" altLang="zh-CN">
                <a:solidFill>
                  <a:srgbClr val="000000"/>
                </a:solidFill>
              </a:rPr>
              <a:t>#define MAXSIZE 10  /*</a:t>
            </a:r>
            <a:r>
              <a:rPr lang="zh-CN" altLang="en-US">
                <a:solidFill>
                  <a:srgbClr val="000000"/>
                </a:solidFill>
              </a:rPr>
              <a:t>定义队列的最大长度*</a:t>
            </a:r>
            <a:r>
              <a:rPr lang="en-US" altLang="zh-CN">
                <a:solidFill>
                  <a:srgbClr val="000000"/>
                </a:solidFill>
              </a:rPr>
              <a:t>/</a:t>
            </a:r>
            <a:endParaRPr lang="en-US" altLang="zh-CN">
              <a:solidFill>
                <a:srgbClr val="000000"/>
              </a:solidFill>
            </a:endParaRPr>
          </a:p>
          <a:p>
            <a:r>
              <a:rPr lang="en-US" altLang="zh-CN">
                <a:solidFill>
                  <a:srgbClr val="000000"/>
                </a:solidFill>
              </a:rPr>
              <a:t>#include &lt;stdio.h&gt;</a:t>
            </a:r>
            <a:endParaRPr lang="en-US" altLang="zh-CN">
              <a:solidFill>
                <a:srgbClr val="000000"/>
              </a:solidFill>
            </a:endParaRPr>
          </a:p>
          <a:p>
            <a:r>
              <a:rPr lang="en-US" altLang="zh-CN">
                <a:solidFill>
                  <a:srgbClr val="000000"/>
                </a:solidFill>
              </a:rPr>
              <a:t>#include &lt;malloc.h&gt;</a:t>
            </a:r>
            <a:endParaRPr lang="en-US" altLang="zh-CN">
              <a:solidFill>
                <a:srgbClr val="000000"/>
              </a:solidFill>
            </a:endParaRPr>
          </a:p>
          <a:p>
            <a:r>
              <a:rPr lang="en-US" altLang="zh-CN">
                <a:solidFill>
                  <a:srgbClr val="000000"/>
                </a:solidFill>
              </a:rPr>
              <a:t>typedef int datatype;</a:t>
            </a:r>
            <a:endParaRPr lang="en-US" altLang="zh-CN">
              <a:solidFill>
                <a:srgbClr val="000000"/>
              </a:solidFill>
            </a:endParaRPr>
          </a:p>
          <a:p>
            <a:r>
              <a:rPr lang="en-US" altLang="zh-CN">
                <a:solidFill>
                  <a:srgbClr val="000000"/>
                </a:solidFill>
              </a:rPr>
              <a:t>typedef struct</a:t>
            </a:r>
            <a:endParaRPr lang="en-US" altLang="zh-CN">
              <a:solidFill>
                <a:srgbClr val="000000"/>
              </a:solidFill>
            </a:endParaRPr>
          </a:p>
          <a:p>
            <a:r>
              <a:rPr lang="en-US" altLang="zh-CN">
                <a:solidFill>
                  <a:srgbClr val="000000"/>
                </a:solidFill>
              </a:rPr>
              <a:t>{	int data[MAXSIZE];</a:t>
            </a:r>
            <a:endParaRPr lang="en-US" altLang="zh-CN">
              <a:solidFill>
                <a:srgbClr val="000000"/>
              </a:solidFill>
            </a:endParaRPr>
          </a:p>
          <a:p>
            <a:r>
              <a:rPr lang="en-US" altLang="zh-CN">
                <a:solidFill>
                  <a:srgbClr val="000000"/>
                </a:solidFill>
              </a:rPr>
              <a:t> 	int front;</a:t>
            </a:r>
            <a:endParaRPr lang="en-US" altLang="zh-CN">
              <a:solidFill>
                <a:srgbClr val="000000"/>
              </a:solidFill>
            </a:endParaRPr>
          </a:p>
          <a:p>
            <a:r>
              <a:rPr lang="en-US" altLang="zh-CN">
                <a:solidFill>
                  <a:srgbClr val="000000"/>
                </a:solidFill>
              </a:rPr>
              <a:t> 	int rear;</a:t>
            </a:r>
            <a:endParaRPr lang="en-US" altLang="zh-CN">
              <a:solidFill>
                <a:srgbClr val="000000"/>
              </a:solidFill>
            </a:endParaRPr>
          </a:p>
          <a:p>
            <a:r>
              <a:rPr lang="en-US" altLang="zh-CN">
                <a:solidFill>
                  <a:srgbClr val="000000"/>
                </a:solidFill>
              </a:rPr>
              <a:t>}SeqQueue;</a:t>
            </a:r>
            <a:endParaRPr lang="en-US" altLang="zh-CN">
              <a:solidFill>
                <a:srgbClr val="000000"/>
              </a:solidFill>
            </a:endParaRPr>
          </a:p>
          <a:p>
            <a:endParaRPr lang="en-US" altLang="zh-CN">
              <a:solidFill>
                <a:srgbClr val="000000"/>
              </a:solidFill>
            </a:endParaRPr>
          </a:p>
          <a:p>
            <a:r>
              <a:rPr lang="en-US" altLang="zh-CN">
                <a:solidFill>
                  <a:srgbClr val="000000"/>
                </a:solidFill>
              </a:rPr>
              <a:t>SeqQueue *InitQueue()  </a:t>
            </a:r>
            <a:r>
              <a:rPr lang="en-US" altLang="zh-CN"/>
              <a:t>/*</a:t>
            </a:r>
            <a:r>
              <a:rPr lang="zh-CN" altLang="en-US"/>
              <a:t>队列初始化*</a:t>
            </a:r>
            <a:r>
              <a:rPr lang="en-US" altLang="zh-CN"/>
              <a:t>/</a:t>
            </a:r>
            <a:endParaRPr lang="en-US" altLang="zh-CN"/>
          </a:p>
          <a:p>
            <a:r>
              <a:rPr lang="en-US" altLang="zh-CN">
                <a:solidFill>
                  <a:srgbClr val="000000"/>
                </a:solidFill>
              </a:rPr>
              <a:t>{ SeqQueue  *q;</a:t>
            </a:r>
            <a:endParaRPr lang="en-US" altLang="zh-CN">
              <a:solidFill>
                <a:srgbClr val="000000"/>
              </a:solidFill>
            </a:endParaRPr>
          </a:p>
          <a:p>
            <a:r>
              <a:rPr lang="en-US" altLang="zh-CN">
                <a:solidFill>
                  <a:srgbClr val="000000"/>
                </a:solidFill>
              </a:rPr>
              <a:t>q=(SeqQueue*)malloc(sizeof(SeqQueue));</a:t>
            </a:r>
            <a:endParaRPr lang="en-US" altLang="zh-CN">
              <a:solidFill>
                <a:srgbClr val="000000"/>
              </a:solidFill>
            </a:endParaRPr>
          </a:p>
          <a:p>
            <a:r>
              <a:rPr lang="en-US" altLang="zh-CN">
                <a:solidFill>
                  <a:srgbClr val="000000"/>
                </a:solidFill>
              </a:rPr>
              <a:t>q-&gt;front = q-&gt;rear = 0;</a:t>
            </a:r>
            <a:endParaRPr lang="en-US" altLang="zh-CN">
              <a:solidFill>
                <a:srgbClr val="000000"/>
              </a:solidFill>
            </a:endParaRPr>
          </a:p>
          <a:p>
            <a:r>
              <a:rPr lang="en-US" altLang="zh-CN">
                <a:solidFill>
                  <a:srgbClr val="000000"/>
                </a:solidFill>
              </a:rPr>
              <a:t>return q;</a:t>
            </a:r>
            <a:endParaRPr lang="en-US" altLang="zh-CN">
              <a:solidFill>
                <a:srgbClr val="000000"/>
              </a:solidFill>
            </a:endParaRPr>
          </a:p>
          <a:p>
            <a:r>
              <a:rPr lang="en-US" altLang="zh-CN">
                <a:solidFill>
                  <a:srgbClr val="000000"/>
                </a:solidFill>
              </a:rPr>
              <a:t>}</a:t>
            </a:r>
            <a:endParaRPr lang="en-US" altLang="zh-CN">
              <a:solidFill>
                <a:srgbClr val="000000"/>
              </a:solidFill>
            </a:endParaRPr>
          </a:p>
          <a:p>
            <a:endParaRPr lang="zh-CN" altLang="en-US">
              <a:solidFill>
                <a:srgbClr val="000000"/>
              </a:solidFill>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890" name="Text Box 2"/>
          <p:cNvSpPr txBox="1">
            <a:spLocks noChangeArrowheads="1"/>
          </p:cNvSpPr>
          <p:nvPr/>
        </p:nvSpPr>
        <p:spPr bwMode="auto">
          <a:xfrm>
            <a:off x="1143000" y="1203325"/>
            <a:ext cx="8153400"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a:solidFill>
                  <a:srgbClr val="000000"/>
                </a:solidFill>
              </a:rPr>
              <a:t>void EnQueue(SeqQueue *q, datatype x)   </a:t>
            </a:r>
            <a:r>
              <a:rPr lang="en-US" altLang="zh-CN"/>
              <a:t>/*</a:t>
            </a:r>
            <a:r>
              <a:rPr lang="zh-CN" altLang="en-US"/>
              <a:t>入队列*</a:t>
            </a:r>
            <a:r>
              <a:rPr lang="en-US" altLang="zh-CN"/>
              <a:t>/</a:t>
            </a:r>
            <a:endParaRPr lang="en-US" altLang="zh-CN">
              <a:solidFill>
                <a:srgbClr val="000000"/>
              </a:solidFill>
            </a:endParaRPr>
          </a:p>
          <a:p>
            <a:r>
              <a:rPr lang="en-US" altLang="zh-CN">
                <a:solidFill>
                  <a:srgbClr val="000000"/>
                </a:solidFill>
              </a:rPr>
              <a:t>{ if((q-&gt;rear+1)%MAXSIZE==q-&gt;front)</a:t>
            </a:r>
            <a:endParaRPr lang="en-US" altLang="zh-CN">
              <a:solidFill>
                <a:srgbClr val="000000"/>
              </a:solidFill>
            </a:endParaRPr>
          </a:p>
          <a:p>
            <a:r>
              <a:rPr lang="en-US" altLang="zh-CN">
                <a:solidFill>
                  <a:srgbClr val="000000"/>
                </a:solidFill>
              </a:rPr>
              <a:t>    {printf("\n</a:t>
            </a:r>
            <a:r>
              <a:rPr lang="zh-CN" altLang="en-US">
                <a:solidFill>
                  <a:srgbClr val="000000"/>
                </a:solidFill>
              </a:rPr>
              <a:t>顺序循环队列是满的</a:t>
            </a:r>
            <a:r>
              <a:rPr lang="en-US" altLang="zh-CN">
                <a:solidFill>
                  <a:srgbClr val="000000"/>
                </a:solidFill>
              </a:rPr>
              <a:t>!");}</a:t>
            </a:r>
            <a:endParaRPr lang="en-US" altLang="zh-CN">
              <a:solidFill>
                <a:srgbClr val="000000"/>
              </a:solidFill>
            </a:endParaRPr>
          </a:p>
          <a:p>
            <a:r>
              <a:rPr lang="en-US" altLang="zh-CN">
                <a:solidFill>
                  <a:srgbClr val="000000"/>
                </a:solidFill>
              </a:rPr>
              <a:t>  else</a:t>
            </a:r>
            <a:endParaRPr lang="en-US" altLang="zh-CN">
              <a:solidFill>
                <a:srgbClr val="000000"/>
              </a:solidFill>
            </a:endParaRPr>
          </a:p>
          <a:p>
            <a:r>
              <a:rPr lang="en-US" altLang="zh-CN">
                <a:solidFill>
                  <a:srgbClr val="000000"/>
                </a:solidFill>
              </a:rPr>
              <a:t>    {q-&gt;data[q-&gt;rear] = x;</a:t>
            </a:r>
            <a:endParaRPr lang="en-US" altLang="zh-CN">
              <a:solidFill>
                <a:srgbClr val="000000"/>
              </a:solidFill>
            </a:endParaRPr>
          </a:p>
          <a:p>
            <a:r>
              <a:rPr lang="en-US" altLang="zh-CN">
                <a:solidFill>
                  <a:srgbClr val="000000"/>
                </a:solidFill>
              </a:rPr>
              <a:t>     q-&gt;rear = (q-&gt;rear+1)%MAXSIZE;</a:t>
            </a:r>
            <a:endParaRPr lang="en-US" altLang="zh-CN">
              <a:solidFill>
                <a:srgbClr val="000000"/>
              </a:solidFill>
            </a:endParaRPr>
          </a:p>
          <a:p>
            <a:r>
              <a:rPr lang="en-US" altLang="zh-CN">
                <a:solidFill>
                  <a:srgbClr val="000000"/>
                </a:solidFill>
              </a:rPr>
              <a:t>    }</a:t>
            </a:r>
            <a:endParaRPr lang="en-US" altLang="zh-CN">
              <a:solidFill>
                <a:srgbClr val="000000"/>
              </a:solidFill>
            </a:endParaRPr>
          </a:p>
          <a:p>
            <a:r>
              <a:rPr lang="en-US" altLang="zh-CN">
                <a:solidFill>
                  <a:srgbClr val="000000"/>
                </a:solidFill>
              </a:rPr>
              <a:t>}</a:t>
            </a:r>
            <a:endParaRPr lang="en-US" altLang="zh-CN">
              <a:solidFill>
                <a:srgbClr val="000000"/>
              </a:solidFill>
            </a:endParaRPr>
          </a:p>
          <a:p>
            <a:endParaRPr lang="en-US" altLang="zh-CN">
              <a:solidFill>
                <a:srgbClr val="000000"/>
              </a:solidFill>
            </a:endParaRPr>
          </a:p>
          <a:p>
            <a:r>
              <a:rPr lang="en-US" altLang="zh-CN">
                <a:solidFill>
                  <a:srgbClr val="000000"/>
                </a:solidFill>
              </a:rPr>
              <a:t>datatype DeQueue (SeqQueue *q)    </a:t>
            </a:r>
            <a:r>
              <a:rPr lang="en-US" altLang="zh-CN"/>
              <a:t>/*</a:t>
            </a:r>
            <a:r>
              <a:rPr lang="zh-CN" altLang="en-US"/>
              <a:t>出队列*</a:t>
            </a:r>
            <a:r>
              <a:rPr lang="en-US" altLang="zh-CN"/>
              <a:t>/</a:t>
            </a:r>
            <a:endParaRPr lang="en-US" altLang="zh-CN">
              <a:solidFill>
                <a:srgbClr val="000000"/>
              </a:solidFill>
            </a:endParaRPr>
          </a:p>
          <a:p>
            <a:r>
              <a:rPr lang="en-US" altLang="zh-CN">
                <a:solidFill>
                  <a:srgbClr val="000000"/>
                </a:solidFill>
              </a:rPr>
              <a:t>{datatype x;</a:t>
            </a:r>
            <a:endParaRPr lang="en-US" altLang="zh-CN">
              <a:solidFill>
                <a:srgbClr val="000000"/>
              </a:solidFill>
            </a:endParaRPr>
          </a:p>
          <a:p>
            <a:r>
              <a:rPr lang="en-US" altLang="zh-CN">
                <a:solidFill>
                  <a:srgbClr val="000000"/>
                </a:solidFill>
              </a:rPr>
              <a:t> if(q-&gt;front==q-&gt;rear)</a:t>
            </a:r>
            <a:endParaRPr lang="en-US" altLang="zh-CN">
              <a:solidFill>
                <a:srgbClr val="000000"/>
              </a:solidFill>
            </a:endParaRPr>
          </a:p>
          <a:p>
            <a:r>
              <a:rPr lang="en-US" altLang="zh-CN">
                <a:solidFill>
                  <a:srgbClr val="000000"/>
                </a:solidFill>
              </a:rPr>
              <a:t>     { printf("\n</a:t>
            </a:r>
            <a:r>
              <a:rPr lang="zh-CN" altLang="en-US">
                <a:solidFill>
                  <a:srgbClr val="000000"/>
                </a:solidFill>
              </a:rPr>
              <a:t>顺序队列是空的！不能做删除操作！</a:t>
            </a:r>
            <a:r>
              <a:rPr lang="en-US" altLang="zh-CN">
                <a:solidFill>
                  <a:srgbClr val="000000"/>
                </a:solidFill>
              </a:rPr>
              <a:t>"); return 0;}</a:t>
            </a:r>
            <a:endParaRPr lang="en-US" altLang="zh-CN">
              <a:solidFill>
                <a:srgbClr val="000000"/>
              </a:solidFill>
            </a:endParaRPr>
          </a:p>
          <a:p>
            <a:r>
              <a:rPr lang="en-US" altLang="zh-CN">
                <a:solidFill>
                  <a:srgbClr val="000000"/>
                </a:solidFill>
              </a:rPr>
              <a:t> x = q-&gt;data[q-&gt;front];</a:t>
            </a:r>
            <a:endParaRPr lang="en-US" altLang="zh-CN">
              <a:solidFill>
                <a:srgbClr val="000000"/>
              </a:solidFill>
            </a:endParaRPr>
          </a:p>
          <a:p>
            <a:r>
              <a:rPr lang="en-US" altLang="zh-CN">
                <a:solidFill>
                  <a:srgbClr val="000000"/>
                </a:solidFill>
              </a:rPr>
              <a:t> q-&gt;front = (q-&gt;front+1)%MAXSIZE;</a:t>
            </a:r>
            <a:endParaRPr lang="en-US" altLang="zh-CN">
              <a:solidFill>
                <a:srgbClr val="000000"/>
              </a:solidFill>
            </a:endParaRPr>
          </a:p>
          <a:p>
            <a:r>
              <a:rPr lang="en-US" altLang="zh-CN">
                <a:solidFill>
                  <a:srgbClr val="000000"/>
                </a:solidFill>
              </a:rPr>
              <a:t> return x;</a:t>
            </a:r>
            <a:endParaRPr lang="en-US" altLang="zh-CN">
              <a:solidFill>
                <a:srgbClr val="000000"/>
              </a:solidFill>
            </a:endParaRPr>
          </a:p>
          <a:p>
            <a:r>
              <a:rPr lang="en-US" altLang="zh-CN">
                <a:solidFill>
                  <a:srgbClr val="000000"/>
                </a:solidFill>
              </a:rPr>
              <a:t>} </a:t>
            </a:r>
            <a:endParaRPr lang="en-US" altLang="zh-CN">
              <a:solidFill>
                <a:srgbClr val="000000"/>
              </a:solidFill>
            </a:endParaRPr>
          </a:p>
          <a:p>
            <a:endParaRPr lang="zh-CN" altLang="en-US">
              <a:solidFill>
                <a:srgbClr val="000000"/>
              </a:solidFill>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0914" name="Text Box 2"/>
          <p:cNvSpPr txBox="1">
            <a:spLocks noChangeArrowheads="1"/>
          </p:cNvSpPr>
          <p:nvPr/>
        </p:nvSpPr>
        <p:spPr bwMode="auto">
          <a:xfrm>
            <a:off x="1524000" y="136525"/>
            <a:ext cx="7620000" cy="649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a:solidFill>
                  <a:srgbClr val="000000"/>
                </a:solidFill>
              </a:rPr>
              <a:t>int QueueEmpty(SeqQueue *q)   </a:t>
            </a:r>
            <a:r>
              <a:rPr lang="en-US" altLang="zh-CN"/>
              <a:t>/*</a:t>
            </a:r>
            <a:r>
              <a:rPr lang="zh-CN" altLang="en-US"/>
              <a:t>判队空*</a:t>
            </a:r>
            <a:r>
              <a:rPr lang="en-US" altLang="zh-CN"/>
              <a:t>/</a:t>
            </a:r>
            <a:endParaRPr lang="en-US" altLang="zh-CN">
              <a:solidFill>
                <a:srgbClr val="000000"/>
              </a:solidFill>
            </a:endParaRPr>
          </a:p>
          <a:p>
            <a:r>
              <a:rPr lang="en-US" altLang="zh-CN">
                <a:solidFill>
                  <a:srgbClr val="000000"/>
                </a:solidFill>
              </a:rPr>
              <a:t>{ return(q-&gt;front==q-&gt;rear);</a:t>
            </a:r>
            <a:endParaRPr lang="en-US" altLang="zh-CN">
              <a:solidFill>
                <a:srgbClr val="000000"/>
              </a:solidFill>
            </a:endParaRPr>
          </a:p>
          <a:p>
            <a:r>
              <a:rPr lang="en-US" altLang="zh-CN">
                <a:solidFill>
                  <a:srgbClr val="000000"/>
                </a:solidFill>
              </a:rPr>
              <a:t>}</a:t>
            </a:r>
            <a:endParaRPr lang="en-US" altLang="zh-CN">
              <a:solidFill>
                <a:srgbClr val="000000"/>
              </a:solidFill>
            </a:endParaRPr>
          </a:p>
          <a:p>
            <a:endParaRPr lang="en-US" altLang="zh-CN">
              <a:solidFill>
                <a:srgbClr val="000000"/>
              </a:solidFill>
            </a:endParaRPr>
          </a:p>
          <a:p>
            <a:r>
              <a:rPr lang="en-US" altLang="zh-CN">
                <a:solidFill>
                  <a:srgbClr val="000000"/>
                </a:solidFill>
              </a:rPr>
              <a:t>int GetHead(SeqQueue *q)   </a:t>
            </a:r>
            <a:r>
              <a:rPr lang="en-US" altLang="zh-CN"/>
              <a:t>/*</a:t>
            </a:r>
            <a:r>
              <a:rPr lang="zh-CN" altLang="en-US"/>
              <a:t>取队头元素*</a:t>
            </a:r>
            <a:r>
              <a:rPr lang="en-US" altLang="zh-CN"/>
              <a:t>/</a:t>
            </a:r>
            <a:endParaRPr lang="en-US" altLang="zh-CN">
              <a:solidFill>
                <a:srgbClr val="000000"/>
              </a:solidFill>
            </a:endParaRPr>
          </a:p>
          <a:p>
            <a:r>
              <a:rPr lang="en-US" altLang="zh-CN">
                <a:solidFill>
                  <a:srgbClr val="000000"/>
                </a:solidFill>
              </a:rPr>
              <a:t>{int e;</a:t>
            </a:r>
            <a:endParaRPr lang="en-US" altLang="zh-CN">
              <a:solidFill>
                <a:srgbClr val="000000"/>
              </a:solidFill>
            </a:endParaRPr>
          </a:p>
          <a:p>
            <a:r>
              <a:rPr lang="en-US" altLang="zh-CN">
                <a:solidFill>
                  <a:srgbClr val="000000"/>
                </a:solidFill>
              </a:rPr>
              <a:t>  if(q-&gt;front==q-&gt;rear)    e=0;</a:t>
            </a:r>
            <a:endParaRPr lang="en-US" altLang="zh-CN">
              <a:solidFill>
                <a:srgbClr val="000000"/>
              </a:solidFill>
            </a:endParaRPr>
          </a:p>
          <a:p>
            <a:r>
              <a:rPr lang="en-US" altLang="zh-CN">
                <a:solidFill>
                  <a:srgbClr val="000000"/>
                </a:solidFill>
              </a:rPr>
              <a:t>  else   e=q-&gt;data[q-&gt;front];</a:t>
            </a:r>
            <a:endParaRPr lang="en-US" altLang="zh-CN">
              <a:solidFill>
                <a:srgbClr val="000000"/>
              </a:solidFill>
            </a:endParaRPr>
          </a:p>
          <a:p>
            <a:r>
              <a:rPr lang="en-US" altLang="zh-CN">
                <a:solidFill>
                  <a:srgbClr val="000000"/>
                </a:solidFill>
              </a:rPr>
              <a:t>  return e;</a:t>
            </a:r>
            <a:endParaRPr lang="en-US" altLang="zh-CN">
              <a:solidFill>
                <a:srgbClr val="000000"/>
              </a:solidFill>
            </a:endParaRPr>
          </a:p>
          <a:p>
            <a:r>
              <a:rPr lang="en-US" altLang="zh-CN">
                <a:solidFill>
                  <a:srgbClr val="000000"/>
                </a:solidFill>
              </a:rPr>
              <a:t>}</a:t>
            </a:r>
            <a:endParaRPr lang="en-US" altLang="zh-CN">
              <a:solidFill>
                <a:srgbClr val="000000"/>
              </a:solidFill>
            </a:endParaRPr>
          </a:p>
          <a:p>
            <a:endParaRPr lang="en-US" altLang="zh-CN">
              <a:solidFill>
                <a:srgbClr val="000000"/>
              </a:solidFill>
            </a:endParaRPr>
          </a:p>
          <a:p>
            <a:r>
              <a:rPr lang="en-US" altLang="zh-CN">
                <a:solidFill>
                  <a:srgbClr val="000000"/>
                </a:solidFill>
              </a:rPr>
              <a:t>void YangHui( int n )     /*</a:t>
            </a:r>
            <a:r>
              <a:rPr lang="zh-CN" altLang="en-US"/>
              <a:t>打印杨辉三角形的前</a:t>
            </a:r>
            <a:r>
              <a:rPr lang="en-US" altLang="zh-CN"/>
              <a:t>n</a:t>
            </a:r>
            <a:r>
              <a:rPr lang="zh-CN" altLang="en-US"/>
              <a:t>行</a:t>
            </a:r>
            <a:r>
              <a:rPr lang="en-US" altLang="zh-CN"/>
              <a:t>, n≤7</a:t>
            </a:r>
            <a:r>
              <a:rPr lang="en-US" altLang="zh-CN">
                <a:solidFill>
                  <a:srgbClr val="000000"/>
                </a:solidFill>
              </a:rPr>
              <a:t>*/</a:t>
            </a:r>
            <a:endParaRPr lang="en-US" altLang="zh-CN">
              <a:solidFill>
                <a:srgbClr val="000000"/>
              </a:solidFill>
            </a:endParaRPr>
          </a:p>
          <a:p>
            <a:r>
              <a:rPr lang="en-US" altLang="zh-CN">
                <a:solidFill>
                  <a:srgbClr val="000000"/>
                </a:solidFill>
              </a:rPr>
              <a:t>{ SeqQueue  *q;</a:t>
            </a:r>
            <a:endParaRPr lang="en-US" altLang="zh-CN">
              <a:solidFill>
                <a:srgbClr val="000000"/>
              </a:solidFill>
            </a:endParaRPr>
          </a:p>
          <a:p>
            <a:r>
              <a:rPr lang="en-US" altLang="zh-CN">
                <a:solidFill>
                  <a:srgbClr val="000000"/>
                </a:solidFill>
              </a:rPr>
              <a:t>int i, j,s,t;</a:t>
            </a:r>
            <a:endParaRPr lang="en-US" altLang="zh-CN">
              <a:solidFill>
                <a:srgbClr val="000000"/>
              </a:solidFill>
            </a:endParaRPr>
          </a:p>
          <a:p>
            <a:r>
              <a:rPr lang="en-US" altLang="zh-CN">
                <a:solidFill>
                  <a:srgbClr val="000000"/>
                </a:solidFill>
              </a:rPr>
              <a:t>for(i=1;i&lt;=n;i++)</a:t>
            </a:r>
            <a:endParaRPr lang="en-US" altLang="zh-CN">
              <a:solidFill>
                <a:srgbClr val="000000"/>
              </a:solidFill>
            </a:endParaRPr>
          </a:p>
          <a:p>
            <a:r>
              <a:rPr lang="en-US" altLang="zh-CN">
                <a:solidFill>
                  <a:srgbClr val="000000"/>
                </a:solidFill>
              </a:rPr>
              <a:t>printf("   ");</a:t>
            </a:r>
            <a:endParaRPr lang="en-US" altLang="zh-CN">
              <a:solidFill>
                <a:srgbClr val="000000"/>
              </a:solidFill>
            </a:endParaRPr>
          </a:p>
          <a:p>
            <a:r>
              <a:rPr lang="en-US" altLang="zh-CN">
                <a:solidFill>
                  <a:srgbClr val="000000"/>
                </a:solidFill>
              </a:rPr>
              <a:t>printf(“1\n”);     /*</a:t>
            </a:r>
            <a:r>
              <a:rPr lang="zh-CN" altLang="en-US">
                <a:solidFill>
                  <a:srgbClr val="000000"/>
                </a:solidFill>
              </a:rPr>
              <a:t>在中心位置输出杨辉三角最顶端的</a:t>
            </a:r>
            <a:r>
              <a:rPr lang="en-US" altLang="zh-CN">
                <a:solidFill>
                  <a:srgbClr val="000000"/>
                </a:solidFill>
              </a:rPr>
              <a:t>1(</a:t>
            </a:r>
            <a:r>
              <a:rPr lang="zh-CN" altLang="en-US"/>
              <a:t>第</a:t>
            </a:r>
            <a:r>
              <a:rPr lang="en-US" altLang="zh-CN"/>
              <a:t>0</a:t>
            </a:r>
            <a:r>
              <a:rPr lang="zh-CN" altLang="en-US"/>
              <a:t>行</a:t>
            </a:r>
            <a:r>
              <a:rPr lang="en-US" altLang="zh-CN">
                <a:solidFill>
                  <a:srgbClr val="000000"/>
                </a:solidFill>
              </a:rPr>
              <a:t>)*/</a:t>
            </a:r>
            <a:endParaRPr lang="en-US" altLang="zh-CN">
              <a:solidFill>
                <a:srgbClr val="000000"/>
              </a:solidFill>
            </a:endParaRPr>
          </a:p>
          <a:p>
            <a:r>
              <a:rPr lang="en-US" altLang="zh-CN">
                <a:solidFill>
                  <a:srgbClr val="000000"/>
                </a:solidFill>
              </a:rPr>
              <a:t>q=InitQueue();     /*</a:t>
            </a:r>
            <a:r>
              <a:rPr lang="zh-CN" altLang="en-US">
                <a:solidFill>
                  <a:srgbClr val="000000"/>
                </a:solidFill>
              </a:rPr>
              <a:t>设置容量为</a:t>
            </a:r>
            <a:r>
              <a:rPr lang="en-US" altLang="zh-CN">
                <a:solidFill>
                  <a:srgbClr val="000000"/>
                </a:solidFill>
              </a:rPr>
              <a:t>n+2</a:t>
            </a:r>
            <a:r>
              <a:rPr lang="zh-CN" altLang="en-US">
                <a:solidFill>
                  <a:srgbClr val="000000"/>
                </a:solidFill>
              </a:rPr>
              <a:t>的空队列*</a:t>
            </a:r>
            <a:r>
              <a:rPr lang="en-US" altLang="zh-CN">
                <a:solidFill>
                  <a:srgbClr val="000000"/>
                </a:solidFill>
              </a:rPr>
              <a:t>/</a:t>
            </a:r>
            <a:endParaRPr lang="en-US" altLang="zh-CN">
              <a:solidFill>
                <a:srgbClr val="000000"/>
              </a:solidFill>
            </a:endParaRPr>
          </a:p>
          <a:p>
            <a:r>
              <a:rPr lang="en-US" altLang="zh-CN">
                <a:solidFill>
                  <a:srgbClr val="000000"/>
                </a:solidFill>
              </a:rPr>
              <a:t>EnQueue(q,0);     /*</a:t>
            </a:r>
            <a:r>
              <a:rPr lang="zh-CN" altLang="en-US">
                <a:solidFill>
                  <a:srgbClr val="000000"/>
                </a:solidFill>
              </a:rPr>
              <a:t>添加行分隔符*</a:t>
            </a:r>
            <a:r>
              <a:rPr lang="en-US" altLang="zh-CN">
                <a:solidFill>
                  <a:srgbClr val="000000"/>
                </a:solidFill>
              </a:rPr>
              <a:t>/</a:t>
            </a:r>
            <a:endParaRPr lang="en-US" altLang="zh-CN">
              <a:solidFill>
                <a:srgbClr val="000000"/>
              </a:solidFill>
            </a:endParaRPr>
          </a:p>
          <a:p>
            <a:r>
              <a:rPr lang="en-US" altLang="zh-CN">
                <a:solidFill>
                  <a:srgbClr val="000000"/>
                </a:solidFill>
              </a:rPr>
              <a:t>EnQueue(q,1);EnQueue(q,1);     /*</a:t>
            </a:r>
            <a:r>
              <a:rPr lang="zh-CN" altLang="en-US">
                <a:solidFill>
                  <a:srgbClr val="000000"/>
                </a:solidFill>
              </a:rPr>
              <a:t>第</a:t>
            </a:r>
            <a:r>
              <a:rPr lang="en-US" altLang="zh-CN">
                <a:solidFill>
                  <a:srgbClr val="000000"/>
                </a:solidFill>
              </a:rPr>
              <a:t>1</a:t>
            </a:r>
            <a:r>
              <a:rPr lang="zh-CN" altLang="en-US">
                <a:solidFill>
                  <a:srgbClr val="000000"/>
                </a:solidFill>
              </a:rPr>
              <a:t>行的值入队*</a:t>
            </a:r>
            <a:r>
              <a:rPr lang="en-US" altLang="zh-CN">
                <a:solidFill>
                  <a:srgbClr val="000000"/>
                </a:solidFill>
              </a:rPr>
              <a:t>/</a:t>
            </a:r>
            <a:endParaRPr lang="en-US" altLang="zh-CN">
              <a:solidFill>
                <a:srgbClr val="000000"/>
              </a:solidFill>
            </a:endParaRPr>
          </a:p>
          <a:p>
            <a:endParaRPr lang="zh-CN" altLang="en-US">
              <a:solidFill>
                <a:srgbClr val="000000"/>
              </a:solidFill>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1938" name="Text Box 2"/>
          <p:cNvSpPr txBox="1">
            <a:spLocks noChangeArrowheads="1"/>
          </p:cNvSpPr>
          <p:nvPr/>
        </p:nvSpPr>
        <p:spPr bwMode="auto">
          <a:xfrm>
            <a:off x="685800" y="990600"/>
            <a:ext cx="8153400" cy="588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a:solidFill>
                  <a:srgbClr val="000000"/>
                </a:solidFill>
              </a:rPr>
              <a:t>for(j=1;j&lt;n;j++)     /*</a:t>
            </a:r>
            <a:r>
              <a:rPr lang="zh-CN" altLang="en-US">
                <a:solidFill>
                  <a:srgbClr val="000000"/>
                </a:solidFill>
              </a:rPr>
              <a:t>利用循环队列输出前</a:t>
            </a:r>
            <a:r>
              <a:rPr lang="en-US" altLang="zh-CN">
                <a:solidFill>
                  <a:srgbClr val="000000"/>
                </a:solidFill>
              </a:rPr>
              <a:t>n-1</a:t>
            </a:r>
            <a:r>
              <a:rPr lang="zh-CN" altLang="en-US">
                <a:solidFill>
                  <a:srgbClr val="000000"/>
                </a:solidFill>
              </a:rPr>
              <a:t>行的值*</a:t>
            </a:r>
            <a:r>
              <a:rPr lang="en-US" altLang="zh-CN">
                <a:solidFill>
                  <a:srgbClr val="000000"/>
                </a:solidFill>
              </a:rPr>
              <a:t>/</a:t>
            </a:r>
            <a:endParaRPr lang="en-US" altLang="zh-CN">
              <a:solidFill>
                <a:srgbClr val="000000"/>
              </a:solidFill>
            </a:endParaRPr>
          </a:p>
          <a:p>
            <a:r>
              <a:rPr lang="en-US" altLang="zh-CN">
                <a:solidFill>
                  <a:srgbClr val="000000"/>
                </a:solidFill>
              </a:rPr>
              <a:t>{ for(i=1;i&lt;n-j;i++)     /*</a:t>
            </a:r>
            <a:r>
              <a:rPr lang="zh-CN" altLang="en-US">
                <a:solidFill>
                  <a:srgbClr val="000000"/>
                </a:solidFill>
              </a:rPr>
              <a:t>在输出第</a:t>
            </a:r>
            <a:r>
              <a:rPr lang="en-US" altLang="zh-CN">
                <a:solidFill>
                  <a:srgbClr val="000000"/>
                </a:solidFill>
              </a:rPr>
              <a:t>j</a:t>
            </a:r>
            <a:r>
              <a:rPr lang="zh-CN" altLang="en-US">
                <a:solidFill>
                  <a:srgbClr val="000000"/>
                </a:solidFill>
              </a:rPr>
              <a:t>行的首元素之间输出</a:t>
            </a:r>
            <a:r>
              <a:rPr lang="en-US" altLang="zh-CN">
                <a:solidFill>
                  <a:srgbClr val="000000"/>
                </a:solidFill>
              </a:rPr>
              <a:t>n-j</a:t>
            </a:r>
            <a:r>
              <a:rPr lang="zh-CN" altLang="en-US">
                <a:solidFill>
                  <a:srgbClr val="000000"/>
                </a:solidFill>
              </a:rPr>
              <a:t>个空格*</a:t>
            </a:r>
            <a:r>
              <a:rPr lang="en-US" altLang="zh-CN">
                <a:solidFill>
                  <a:srgbClr val="000000"/>
                </a:solidFill>
              </a:rPr>
              <a:t>/</a:t>
            </a:r>
            <a:endParaRPr lang="en-US" altLang="zh-CN">
              <a:solidFill>
                <a:srgbClr val="000000"/>
              </a:solidFill>
            </a:endParaRPr>
          </a:p>
          <a:p>
            <a:r>
              <a:rPr lang="en-US" altLang="zh-CN">
                <a:solidFill>
                  <a:srgbClr val="000000"/>
                </a:solidFill>
              </a:rPr>
              <a:t>     printf("   ");</a:t>
            </a:r>
            <a:endParaRPr lang="en-US" altLang="zh-CN">
              <a:solidFill>
                <a:srgbClr val="000000"/>
              </a:solidFill>
            </a:endParaRPr>
          </a:p>
          <a:p>
            <a:r>
              <a:rPr lang="en-US" altLang="zh-CN">
                <a:solidFill>
                  <a:srgbClr val="000000"/>
                </a:solidFill>
              </a:rPr>
              <a:t>  EnQueue(q,0);     /*</a:t>
            </a:r>
            <a:r>
              <a:rPr lang="zh-CN" altLang="en-US">
                <a:solidFill>
                  <a:srgbClr val="000000"/>
                </a:solidFill>
              </a:rPr>
              <a:t>行分隔符</a:t>
            </a:r>
            <a:r>
              <a:rPr lang="en-US" altLang="zh-CN">
                <a:solidFill>
                  <a:srgbClr val="000000"/>
                </a:solidFill>
              </a:rPr>
              <a:t>0</a:t>
            </a:r>
            <a:r>
              <a:rPr lang="zh-CN" altLang="en-US">
                <a:solidFill>
                  <a:srgbClr val="000000"/>
                </a:solidFill>
              </a:rPr>
              <a:t>入队*</a:t>
            </a:r>
            <a:r>
              <a:rPr lang="en-US" altLang="zh-CN">
                <a:solidFill>
                  <a:srgbClr val="000000"/>
                </a:solidFill>
              </a:rPr>
              <a:t>/</a:t>
            </a:r>
            <a:endParaRPr lang="en-US" altLang="zh-CN">
              <a:solidFill>
                <a:srgbClr val="000000"/>
              </a:solidFill>
            </a:endParaRPr>
          </a:p>
          <a:p>
            <a:r>
              <a:rPr lang="en-US" altLang="zh-CN">
                <a:solidFill>
                  <a:srgbClr val="000000"/>
                </a:solidFill>
              </a:rPr>
              <a:t>  do                /*</a:t>
            </a:r>
            <a:r>
              <a:rPr lang="zh-CN" altLang="en-US">
                <a:solidFill>
                  <a:srgbClr val="000000"/>
                </a:solidFill>
              </a:rPr>
              <a:t>输出第</a:t>
            </a:r>
            <a:r>
              <a:rPr lang="en-US" altLang="zh-CN">
                <a:solidFill>
                  <a:srgbClr val="000000"/>
                </a:solidFill>
              </a:rPr>
              <a:t>j</a:t>
            </a:r>
            <a:r>
              <a:rPr lang="zh-CN" altLang="en-US">
                <a:solidFill>
                  <a:srgbClr val="000000"/>
                </a:solidFill>
              </a:rPr>
              <a:t>行并计算第</a:t>
            </a:r>
            <a:r>
              <a:rPr lang="en-US" altLang="zh-CN">
                <a:solidFill>
                  <a:srgbClr val="000000"/>
                </a:solidFill>
              </a:rPr>
              <a:t>j+1</a:t>
            </a:r>
            <a:r>
              <a:rPr lang="zh-CN" altLang="en-US">
                <a:solidFill>
                  <a:srgbClr val="000000"/>
                </a:solidFill>
              </a:rPr>
              <a:t>行*</a:t>
            </a:r>
            <a:r>
              <a:rPr lang="en-US" altLang="zh-CN">
                <a:solidFill>
                  <a:srgbClr val="000000"/>
                </a:solidFill>
              </a:rPr>
              <a:t>/</a:t>
            </a:r>
            <a:endParaRPr lang="en-US" altLang="zh-CN">
              <a:solidFill>
                <a:srgbClr val="000000"/>
              </a:solidFill>
            </a:endParaRPr>
          </a:p>
          <a:p>
            <a:r>
              <a:rPr lang="en-US" altLang="zh-CN">
                <a:solidFill>
                  <a:srgbClr val="000000"/>
                </a:solidFill>
              </a:rPr>
              <a:t>     {s=DeQueue(q);     /*</a:t>
            </a:r>
            <a:r>
              <a:rPr lang="zh-CN" altLang="en-US">
                <a:solidFill>
                  <a:srgbClr val="000000"/>
                </a:solidFill>
              </a:rPr>
              <a:t>删除队头元素并赋给</a:t>
            </a:r>
            <a:r>
              <a:rPr lang="en-US" altLang="zh-CN">
                <a:solidFill>
                  <a:srgbClr val="000000"/>
                </a:solidFill>
              </a:rPr>
              <a:t>s*/</a:t>
            </a:r>
            <a:endParaRPr lang="en-US" altLang="zh-CN">
              <a:solidFill>
                <a:srgbClr val="000000"/>
              </a:solidFill>
            </a:endParaRPr>
          </a:p>
          <a:p>
            <a:r>
              <a:rPr lang="en-US" altLang="zh-CN">
                <a:solidFill>
                  <a:srgbClr val="000000"/>
                </a:solidFill>
              </a:rPr>
              <a:t>      t=GetHead(q);    /*</a:t>
            </a:r>
            <a:r>
              <a:rPr lang="zh-CN" altLang="en-US">
                <a:solidFill>
                  <a:srgbClr val="000000"/>
                </a:solidFill>
              </a:rPr>
              <a:t>取队头元素给</a:t>
            </a:r>
            <a:r>
              <a:rPr lang="en-US" altLang="zh-CN">
                <a:solidFill>
                  <a:srgbClr val="000000"/>
                </a:solidFill>
              </a:rPr>
              <a:t>t*/</a:t>
            </a:r>
            <a:endParaRPr lang="en-US" altLang="zh-CN">
              <a:solidFill>
                <a:srgbClr val="000000"/>
              </a:solidFill>
            </a:endParaRPr>
          </a:p>
          <a:p>
            <a:r>
              <a:rPr lang="en-US" altLang="zh-CN">
                <a:solidFill>
                  <a:srgbClr val="000000"/>
                </a:solidFill>
              </a:rPr>
              <a:t>      if(t) printf("%5d",t);     /*</a:t>
            </a:r>
            <a:r>
              <a:rPr lang="zh-CN" altLang="en-US">
                <a:solidFill>
                  <a:srgbClr val="000000"/>
                </a:solidFill>
              </a:rPr>
              <a:t>若不到行分隔符则输出</a:t>
            </a:r>
            <a:r>
              <a:rPr lang="en-US" altLang="zh-CN">
                <a:solidFill>
                  <a:srgbClr val="000000"/>
                </a:solidFill>
              </a:rPr>
              <a:t>t</a:t>
            </a:r>
            <a:r>
              <a:rPr lang="zh-CN" altLang="en-US">
                <a:solidFill>
                  <a:srgbClr val="000000"/>
                </a:solidFill>
              </a:rPr>
              <a:t>，再输出一个空格*</a:t>
            </a:r>
            <a:r>
              <a:rPr lang="en-US" altLang="zh-CN">
                <a:solidFill>
                  <a:srgbClr val="000000"/>
                </a:solidFill>
              </a:rPr>
              <a:t>/</a:t>
            </a:r>
            <a:endParaRPr lang="en-US" altLang="zh-CN">
              <a:solidFill>
                <a:srgbClr val="000000"/>
              </a:solidFill>
            </a:endParaRPr>
          </a:p>
          <a:p>
            <a:r>
              <a:rPr lang="en-US" altLang="zh-CN">
                <a:solidFill>
                  <a:srgbClr val="000000"/>
                </a:solidFill>
              </a:rPr>
              <a:t>       else printf("\n");     /*</a:t>
            </a:r>
            <a:r>
              <a:rPr lang="zh-CN" altLang="en-US">
                <a:solidFill>
                  <a:srgbClr val="000000"/>
                </a:solidFill>
              </a:rPr>
              <a:t>否则输出一个换行符*</a:t>
            </a:r>
            <a:r>
              <a:rPr lang="en-US" altLang="zh-CN">
                <a:solidFill>
                  <a:srgbClr val="000000"/>
                </a:solidFill>
              </a:rPr>
              <a:t>/</a:t>
            </a:r>
            <a:endParaRPr lang="en-US" altLang="zh-CN">
              <a:solidFill>
                <a:srgbClr val="000000"/>
              </a:solidFill>
            </a:endParaRPr>
          </a:p>
          <a:p>
            <a:r>
              <a:rPr lang="en-US" altLang="zh-CN">
                <a:solidFill>
                  <a:srgbClr val="000000"/>
                </a:solidFill>
              </a:rPr>
              <a:t>      EnQueue(q,s+t);     /*</a:t>
            </a:r>
            <a:r>
              <a:rPr lang="zh-CN" altLang="en-US">
                <a:solidFill>
                  <a:srgbClr val="000000"/>
                </a:solidFill>
              </a:rPr>
              <a:t>将第</a:t>
            </a:r>
            <a:r>
              <a:rPr lang="en-US" altLang="zh-CN">
                <a:solidFill>
                  <a:srgbClr val="000000"/>
                </a:solidFill>
              </a:rPr>
              <a:t>j+1</a:t>
            </a:r>
            <a:r>
              <a:rPr lang="zh-CN" altLang="en-US">
                <a:solidFill>
                  <a:srgbClr val="000000"/>
                </a:solidFill>
              </a:rPr>
              <a:t>行的对应元素</a:t>
            </a:r>
            <a:r>
              <a:rPr lang="en-US" altLang="zh-CN">
                <a:solidFill>
                  <a:srgbClr val="000000"/>
                </a:solidFill>
              </a:rPr>
              <a:t>s+t</a:t>
            </a:r>
            <a:r>
              <a:rPr lang="zh-CN" altLang="en-US">
                <a:solidFill>
                  <a:srgbClr val="000000"/>
                </a:solidFill>
              </a:rPr>
              <a:t>入队*</a:t>
            </a:r>
            <a:r>
              <a:rPr lang="en-US" altLang="zh-CN">
                <a:solidFill>
                  <a:srgbClr val="000000"/>
                </a:solidFill>
              </a:rPr>
              <a:t>/</a:t>
            </a:r>
            <a:endParaRPr lang="en-US" altLang="zh-CN">
              <a:solidFill>
                <a:srgbClr val="000000"/>
              </a:solidFill>
            </a:endParaRPr>
          </a:p>
          <a:p>
            <a:r>
              <a:rPr lang="en-US" altLang="zh-CN">
                <a:solidFill>
                  <a:srgbClr val="000000"/>
                </a:solidFill>
              </a:rPr>
              <a:t>     }while(t!=0);</a:t>
            </a:r>
            <a:endParaRPr lang="en-US" altLang="zh-CN">
              <a:solidFill>
                <a:srgbClr val="000000"/>
              </a:solidFill>
            </a:endParaRPr>
          </a:p>
          <a:p>
            <a:r>
              <a:rPr lang="en-US" altLang="zh-CN">
                <a:solidFill>
                  <a:srgbClr val="000000"/>
                </a:solidFill>
              </a:rPr>
              <a:t>   }</a:t>
            </a:r>
            <a:endParaRPr lang="en-US" altLang="zh-CN">
              <a:solidFill>
                <a:srgbClr val="000000"/>
              </a:solidFill>
            </a:endParaRPr>
          </a:p>
          <a:p>
            <a:r>
              <a:rPr lang="en-US" altLang="zh-CN">
                <a:solidFill>
                  <a:srgbClr val="000000"/>
                </a:solidFill>
              </a:rPr>
              <a:t>  DeQueue(q);     /* </a:t>
            </a:r>
            <a:r>
              <a:rPr lang="zh-CN" altLang="en-US">
                <a:solidFill>
                  <a:srgbClr val="000000"/>
                </a:solidFill>
              </a:rPr>
              <a:t>删除行分隔符 *</a:t>
            </a:r>
            <a:r>
              <a:rPr lang="en-US" altLang="zh-CN">
                <a:solidFill>
                  <a:srgbClr val="000000"/>
                </a:solidFill>
              </a:rPr>
              <a:t>/</a:t>
            </a:r>
            <a:endParaRPr lang="en-US" altLang="zh-CN">
              <a:solidFill>
                <a:srgbClr val="000000"/>
              </a:solidFill>
            </a:endParaRPr>
          </a:p>
          <a:p>
            <a:r>
              <a:rPr lang="en-US" altLang="zh-CN">
                <a:solidFill>
                  <a:srgbClr val="000000"/>
                </a:solidFill>
              </a:rPr>
              <a:t>  printf("%3d",DeQueue(q)); /* </a:t>
            </a:r>
            <a:r>
              <a:rPr lang="zh-CN" altLang="en-US">
                <a:solidFill>
                  <a:srgbClr val="000000"/>
                </a:solidFill>
              </a:rPr>
              <a:t>输出第</a:t>
            </a:r>
            <a:r>
              <a:rPr lang="en-US" altLang="zh-CN">
                <a:solidFill>
                  <a:srgbClr val="000000"/>
                </a:solidFill>
              </a:rPr>
              <a:t>n</a:t>
            </a:r>
            <a:r>
              <a:rPr lang="zh-CN" altLang="en-US">
                <a:solidFill>
                  <a:srgbClr val="000000"/>
                </a:solidFill>
              </a:rPr>
              <a:t>行的第一个元素 *</a:t>
            </a:r>
            <a:r>
              <a:rPr lang="en-US" altLang="zh-CN">
                <a:solidFill>
                  <a:srgbClr val="000000"/>
                </a:solidFill>
              </a:rPr>
              <a:t>/</a:t>
            </a:r>
            <a:endParaRPr lang="en-US" altLang="zh-CN">
              <a:solidFill>
                <a:srgbClr val="000000"/>
              </a:solidFill>
            </a:endParaRPr>
          </a:p>
          <a:p>
            <a:r>
              <a:rPr lang="en-US" altLang="zh-CN">
                <a:solidFill>
                  <a:srgbClr val="000000"/>
                </a:solidFill>
              </a:rPr>
              <a:t>  while(!QueueEmpty(q))     /* </a:t>
            </a:r>
            <a:r>
              <a:rPr lang="zh-CN" altLang="en-US">
                <a:solidFill>
                  <a:srgbClr val="000000"/>
                </a:solidFill>
              </a:rPr>
              <a:t>输出第</a:t>
            </a:r>
            <a:r>
              <a:rPr lang="en-US" altLang="zh-CN">
                <a:solidFill>
                  <a:srgbClr val="000000"/>
                </a:solidFill>
              </a:rPr>
              <a:t>n</a:t>
            </a:r>
            <a:r>
              <a:rPr lang="zh-CN" altLang="en-US">
                <a:solidFill>
                  <a:srgbClr val="000000"/>
                </a:solidFill>
              </a:rPr>
              <a:t>行的其余元素 *</a:t>
            </a:r>
            <a:r>
              <a:rPr lang="en-US" altLang="zh-CN">
                <a:solidFill>
                  <a:srgbClr val="000000"/>
                </a:solidFill>
              </a:rPr>
              <a:t>/</a:t>
            </a:r>
            <a:endParaRPr lang="en-US" altLang="zh-CN">
              <a:solidFill>
                <a:srgbClr val="000000"/>
              </a:solidFill>
            </a:endParaRPr>
          </a:p>
          <a:p>
            <a:r>
              <a:rPr lang="en-US" altLang="zh-CN">
                <a:solidFill>
                  <a:srgbClr val="000000"/>
                </a:solidFill>
              </a:rPr>
              <a:t>    {t=DeQueue(q);</a:t>
            </a:r>
            <a:endParaRPr lang="en-US" altLang="zh-CN">
              <a:solidFill>
                <a:srgbClr val="000000"/>
              </a:solidFill>
            </a:endParaRPr>
          </a:p>
          <a:p>
            <a:r>
              <a:rPr lang="en-US" altLang="zh-CN">
                <a:solidFill>
                  <a:srgbClr val="000000"/>
                </a:solidFill>
              </a:rPr>
              <a:t>     printf("%5d",t);</a:t>
            </a:r>
            <a:endParaRPr lang="en-US" altLang="zh-CN">
              <a:solidFill>
                <a:srgbClr val="000000"/>
              </a:solidFill>
            </a:endParaRPr>
          </a:p>
          <a:p>
            <a:r>
              <a:rPr lang="en-US" altLang="zh-CN">
                <a:solidFill>
                  <a:srgbClr val="000000"/>
                </a:solidFill>
              </a:rPr>
              <a:t>    }</a:t>
            </a:r>
            <a:endParaRPr lang="en-US" altLang="zh-CN">
              <a:solidFill>
                <a:srgbClr val="000000"/>
              </a:solidFill>
            </a:endParaRPr>
          </a:p>
          <a:p>
            <a:r>
              <a:rPr lang="en-US" altLang="zh-CN">
                <a:solidFill>
                  <a:srgbClr val="000000"/>
                </a:solidFill>
              </a:rPr>
              <a:t>}</a:t>
            </a:r>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2962" name="Text Box 2"/>
          <p:cNvSpPr txBox="1">
            <a:spLocks noChangeArrowheads="1"/>
          </p:cNvSpPr>
          <p:nvPr/>
        </p:nvSpPr>
        <p:spPr bwMode="auto">
          <a:xfrm>
            <a:off x="1447800" y="914400"/>
            <a:ext cx="746760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a:solidFill>
                  <a:srgbClr val="000000"/>
                </a:solidFill>
              </a:rPr>
              <a:t>void main()</a:t>
            </a:r>
            <a:endParaRPr lang="en-US" altLang="zh-CN">
              <a:solidFill>
                <a:srgbClr val="000000"/>
              </a:solidFill>
            </a:endParaRPr>
          </a:p>
          <a:p>
            <a:r>
              <a:rPr lang="en-US" altLang="zh-CN">
                <a:solidFill>
                  <a:srgbClr val="000000"/>
                </a:solidFill>
              </a:rPr>
              <a:t>{int n;</a:t>
            </a:r>
            <a:endParaRPr lang="en-US" altLang="zh-CN">
              <a:solidFill>
                <a:srgbClr val="000000"/>
              </a:solidFill>
            </a:endParaRPr>
          </a:p>
          <a:p>
            <a:r>
              <a:rPr lang="en-US" altLang="zh-CN">
                <a:solidFill>
                  <a:srgbClr val="000000"/>
                </a:solidFill>
              </a:rPr>
              <a:t> printf("\n</a:t>
            </a:r>
            <a:r>
              <a:rPr lang="zh-CN" altLang="en-US">
                <a:solidFill>
                  <a:srgbClr val="000000"/>
                </a:solidFill>
              </a:rPr>
              <a:t>请输入杨辉三角形的行数</a:t>
            </a:r>
            <a:r>
              <a:rPr lang="en-US" altLang="zh-CN">
                <a:solidFill>
                  <a:srgbClr val="000000"/>
                </a:solidFill>
              </a:rPr>
              <a:t>:\n");</a:t>
            </a:r>
            <a:endParaRPr lang="en-US" altLang="zh-CN">
              <a:solidFill>
                <a:srgbClr val="000000"/>
              </a:solidFill>
            </a:endParaRPr>
          </a:p>
          <a:p>
            <a:r>
              <a:rPr lang="en-US" altLang="zh-CN">
                <a:solidFill>
                  <a:srgbClr val="000000"/>
                </a:solidFill>
              </a:rPr>
              <a:t> scanf("%d",&amp;n);</a:t>
            </a:r>
            <a:endParaRPr lang="en-US" altLang="zh-CN">
              <a:solidFill>
                <a:srgbClr val="000000"/>
              </a:solidFill>
            </a:endParaRPr>
          </a:p>
          <a:p>
            <a:r>
              <a:rPr lang="en-US" altLang="zh-CN">
                <a:solidFill>
                  <a:srgbClr val="000000"/>
                </a:solidFill>
              </a:rPr>
              <a:t> YangHui(n);</a:t>
            </a:r>
            <a:endParaRPr lang="en-US" altLang="zh-CN">
              <a:solidFill>
                <a:srgbClr val="000000"/>
              </a:solidFill>
            </a:endParaRPr>
          </a:p>
          <a:p>
            <a:r>
              <a:rPr lang="en-US" altLang="zh-CN">
                <a:solidFill>
                  <a:srgbClr val="000000"/>
                </a:solidFill>
              </a:rPr>
              <a:t>}	</a:t>
            </a:r>
            <a:endParaRPr lang="en-US" altLang="zh-CN">
              <a:solidFill>
                <a:srgbClr val="000000"/>
              </a:solidFill>
            </a:endParaRPr>
          </a:p>
          <a:p>
            <a:r>
              <a:rPr lang="zh-CN" altLang="en-US">
                <a:solidFill>
                  <a:srgbClr val="000000"/>
                </a:solidFill>
              </a:rPr>
              <a:t>运行情况</a:t>
            </a:r>
            <a:r>
              <a:rPr lang="en-US" altLang="zh-CN">
                <a:solidFill>
                  <a:srgbClr val="000000"/>
                </a:solidFill>
              </a:rPr>
              <a:t>:</a:t>
            </a:r>
            <a:endParaRPr lang="en-US" altLang="zh-CN">
              <a:solidFill>
                <a:srgbClr val="000000"/>
              </a:solidFill>
            </a:endParaRPr>
          </a:p>
          <a:p>
            <a:r>
              <a:rPr lang="zh-CN" altLang="en-US">
                <a:solidFill>
                  <a:srgbClr val="000000"/>
                </a:solidFill>
              </a:rPr>
              <a:t>请输入杨辉三角形的行数</a:t>
            </a:r>
            <a:r>
              <a:rPr lang="en-US" altLang="zh-CN">
                <a:solidFill>
                  <a:srgbClr val="000000"/>
                </a:solidFill>
              </a:rPr>
              <a:t>: </a:t>
            </a:r>
            <a:r>
              <a:rPr lang="en-US" altLang="zh-CN">
                <a:solidFill>
                  <a:schemeClr val="tx2"/>
                </a:solidFill>
              </a:rPr>
              <a:t>7</a:t>
            </a:r>
            <a:r>
              <a:rPr lang="en-US" altLang="zh-CN">
                <a:solidFill>
                  <a:srgbClr val="000000"/>
                </a:solidFill>
              </a:rPr>
              <a:t>↓</a:t>
            </a:r>
            <a:endParaRPr lang="en-US" altLang="zh-CN">
              <a:solidFill>
                <a:srgbClr val="000000"/>
              </a:solidFill>
            </a:endParaRPr>
          </a:p>
          <a:p>
            <a:r>
              <a:rPr lang="zh-CN" altLang="en-US">
                <a:solidFill>
                  <a:srgbClr val="000000"/>
                </a:solidFill>
              </a:rPr>
              <a:t>输出结果</a:t>
            </a:r>
            <a:r>
              <a:rPr lang="en-US" altLang="zh-CN">
                <a:solidFill>
                  <a:srgbClr val="000000"/>
                </a:solidFill>
              </a:rPr>
              <a:t>:</a:t>
            </a:r>
            <a:endParaRPr lang="en-US" altLang="zh-CN">
              <a:solidFill>
                <a:srgbClr val="000000"/>
              </a:solidFill>
            </a:endParaRPr>
          </a:p>
          <a:p>
            <a:endParaRPr lang="zh-CN" altLang="en-US">
              <a:solidFill>
                <a:srgbClr val="000000"/>
              </a:solidFill>
            </a:endParaRPr>
          </a:p>
        </p:txBody>
      </p:sp>
      <p:pic>
        <p:nvPicPr>
          <p:cNvPr id="1192963" name="Picture 3" descr="图3_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3911600"/>
            <a:ext cx="6858000" cy="2717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82" name="Rectangle 2"/>
          <p:cNvSpPr>
            <a:spLocks noGrp="1" noChangeArrowheads="1"/>
          </p:cNvSpPr>
          <p:nvPr>
            <p:ph type="title"/>
          </p:nvPr>
        </p:nvSpPr>
        <p:spPr/>
        <p:txBody>
          <a:bodyPr/>
          <a:lstStyle/>
          <a:p>
            <a:r>
              <a:rPr lang="zh-CN" altLang="en-US"/>
              <a:t>队列的其他应用</a:t>
            </a:r>
            <a:endParaRPr lang="zh-CN" altLang="en-US"/>
          </a:p>
        </p:txBody>
      </p:sp>
      <p:sp>
        <p:nvSpPr>
          <p:cNvPr id="1146883" name="Rectangle 3"/>
          <p:cNvSpPr>
            <a:spLocks noGrp="1" noChangeArrowheads="1"/>
          </p:cNvSpPr>
          <p:nvPr>
            <p:ph type="body" idx="1"/>
          </p:nvPr>
        </p:nvSpPr>
        <p:spPr>
          <a:xfrm>
            <a:off x="228600" y="1524000"/>
            <a:ext cx="8648700" cy="4719638"/>
          </a:xfrm>
        </p:spPr>
        <p:txBody>
          <a:bodyPr/>
          <a:lstStyle/>
          <a:p>
            <a:r>
              <a:rPr lang="zh-CN" altLang="en-US">
                <a:latin typeface="楷体_GB2312" charset="0"/>
                <a:ea typeface="楷体_GB2312" charset="0"/>
              </a:rPr>
              <a:t>优先级队列</a:t>
            </a:r>
            <a:endParaRPr lang="zh-CN" altLang="en-US">
              <a:latin typeface="楷体_GB2312" charset="0"/>
              <a:ea typeface="楷体_GB2312" charset="0"/>
            </a:endParaRPr>
          </a:p>
          <a:p>
            <a:r>
              <a:rPr lang="zh-CN" altLang="en-US">
                <a:latin typeface="楷体_GB2312" charset="0"/>
                <a:ea typeface="楷体_GB2312" charset="0"/>
              </a:rPr>
              <a:t>离散时间模拟</a:t>
            </a:r>
            <a:endParaRPr lang="zh-CN" altLang="en-US">
              <a:latin typeface="楷体_GB2312" charset="0"/>
              <a:ea typeface="楷体_GB2312" charset="0"/>
            </a:endParaRPr>
          </a:p>
          <a:p>
            <a:r>
              <a:rPr lang="zh-CN" altLang="en-US">
                <a:latin typeface="楷体_GB2312" charset="0"/>
                <a:ea typeface="楷体_GB2312" charset="0"/>
              </a:rPr>
              <a:t>图的广度优先遍历</a:t>
            </a:r>
            <a:endParaRPr lang="zh-CN" altLang="en-US">
              <a:latin typeface="楷体_GB2312" charset="0"/>
              <a:ea typeface="楷体_GB2312" charset="0"/>
            </a:endParaRPr>
          </a:p>
          <a:p>
            <a:r>
              <a:rPr lang="zh-CN" altLang="en-US">
                <a:latin typeface="楷体_GB2312" charset="0"/>
                <a:ea typeface="楷体_GB2312" charset="0"/>
              </a:rPr>
              <a:t>基数排序</a:t>
            </a:r>
            <a:endParaRPr lang="zh-CN" altLang="en-US">
              <a:latin typeface="楷体_GB2312" charset="0"/>
              <a:ea typeface="楷体_GB2312" charset="0"/>
            </a:endParaRPr>
          </a:p>
          <a:p>
            <a:endParaRPr lang="zh-CN" altLang="en-US"/>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186" name="Text Box 2"/>
          <p:cNvSpPr txBox="1">
            <a:spLocks noChangeArrowheads="1"/>
          </p:cNvSpPr>
          <p:nvPr/>
        </p:nvSpPr>
        <p:spPr bwMode="auto">
          <a:xfrm>
            <a:off x="479425" y="987425"/>
            <a:ext cx="8207375" cy="1284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just" eaLnBrk="0" hangingPunct="0">
              <a:lnSpc>
                <a:spcPct val="115000"/>
              </a:lnSpc>
            </a:pPr>
            <a:r>
              <a:rPr lang="zh-CN" altLang="en-US" sz="3600" b="1">
                <a:solidFill>
                  <a:srgbClr val="660033"/>
                </a:solidFill>
              </a:rPr>
              <a:t>   </a:t>
            </a:r>
            <a:r>
              <a:rPr lang="en-US" altLang="zh-CN" sz="3200" b="1">
                <a:solidFill>
                  <a:srgbClr val="660033"/>
                </a:solidFill>
              </a:rPr>
              <a:t>1. </a:t>
            </a:r>
            <a:r>
              <a:rPr lang="zh-CN" altLang="en-US" sz="3200" b="1">
                <a:solidFill>
                  <a:srgbClr val="660033"/>
                </a:solidFill>
              </a:rPr>
              <a:t>掌握栈和队列类型的特点，并能在相应的应用问题中正确选用它们。</a:t>
            </a:r>
            <a:endParaRPr lang="zh-CN" altLang="en-US" sz="3200" b="1">
              <a:solidFill>
                <a:srgbClr val="660033"/>
              </a:solidFill>
            </a:endParaRPr>
          </a:p>
        </p:txBody>
      </p:sp>
      <p:pic>
        <p:nvPicPr>
          <p:cNvPr id="1117187" name="Picture 3" descr="doorin">
            <a:hlinkClick r:id="" action="ppaction://hlinkshowjump?jump=endshow" highlightClick="1"/>
          </p:cNvP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435975" y="6019800"/>
            <a:ext cx="555625" cy="685800"/>
          </a:xfrm>
          <a:prstGeom prst="rect">
            <a:avLst/>
          </a:prstGeom>
          <a:noFill/>
          <a:extLst>
            <a:ext uri="{909E8E84-426E-40DD-AFC4-6F175D3DCCD1}">
              <a14:hiddenFill xmlns:a14="http://schemas.microsoft.com/office/drawing/2010/main">
                <a:solidFill>
                  <a:srgbClr val="FFFFFF"/>
                </a:solidFill>
              </a14:hiddenFill>
            </a:ext>
          </a:extLst>
        </p:spPr>
      </p:pic>
      <p:sp>
        <p:nvSpPr>
          <p:cNvPr id="1117188" name="Rectangle 4"/>
          <p:cNvSpPr>
            <a:spLocks noChangeArrowheads="1"/>
          </p:cNvSpPr>
          <p:nvPr/>
        </p:nvSpPr>
        <p:spPr bwMode="auto">
          <a:xfrm>
            <a:off x="457200" y="2424113"/>
            <a:ext cx="8458200" cy="121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15000"/>
              </a:lnSpc>
            </a:pPr>
            <a:r>
              <a:rPr lang="zh-CN" altLang="en-US" sz="3200" b="1">
                <a:solidFill>
                  <a:srgbClr val="660033"/>
                </a:solidFill>
              </a:rPr>
              <a:t>　</a:t>
            </a:r>
            <a:r>
              <a:rPr lang="en-US" altLang="zh-CN" sz="3200" b="1">
                <a:solidFill>
                  <a:srgbClr val="660033"/>
                </a:solidFill>
              </a:rPr>
              <a:t>2. </a:t>
            </a:r>
            <a:r>
              <a:rPr lang="zh-CN" altLang="en-US" sz="3200" b="1">
                <a:solidFill>
                  <a:srgbClr val="660033"/>
                </a:solidFill>
              </a:rPr>
              <a:t>熟练掌握栈类型的两种实现方法，特别应注意栈满和栈空的条件以及它们的描述方法。</a:t>
            </a:r>
            <a:endParaRPr lang="zh-CN" altLang="en-US" sz="3200" b="1">
              <a:solidFill>
                <a:srgbClr val="660033"/>
              </a:solidFill>
            </a:endParaRPr>
          </a:p>
        </p:txBody>
      </p:sp>
      <p:sp>
        <p:nvSpPr>
          <p:cNvPr id="1117189" name="Rectangle 5"/>
          <p:cNvSpPr>
            <a:spLocks noChangeArrowheads="1"/>
          </p:cNvSpPr>
          <p:nvPr/>
        </p:nvSpPr>
        <p:spPr bwMode="auto">
          <a:xfrm>
            <a:off x="457200" y="3816350"/>
            <a:ext cx="8686800" cy="121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15000"/>
              </a:lnSpc>
            </a:pPr>
            <a:r>
              <a:rPr lang="zh-CN" altLang="en-US" sz="3200" b="1">
                <a:solidFill>
                  <a:srgbClr val="660033"/>
                </a:solidFill>
              </a:rPr>
              <a:t>　</a:t>
            </a:r>
            <a:r>
              <a:rPr lang="en-US" altLang="zh-CN" sz="3200" b="1">
                <a:solidFill>
                  <a:srgbClr val="660033"/>
                </a:solidFill>
              </a:rPr>
              <a:t>3. </a:t>
            </a:r>
            <a:r>
              <a:rPr lang="zh-CN" altLang="en-US" sz="3200" b="1">
                <a:solidFill>
                  <a:srgbClr val="660033"/>
                </a:solidFill>
              </a:rPr>
              <a:t>熟练掌握循环队列和链队列的基本操作实现算法，特别注意队满和队空的描述方法。</a:t>
            </a:r>
            <a:endParaRPr lang="zh-CN" altLang="en-US" sz="3200" b="1">
              <a:solidFill>
                <a:srgbClr val="660033"/>
              </a:solidFill>
            </a:endParaRPr>
          </a:p>
        </p:txBody>
      </p:sp>
      <p:sp>
        <p:nvSpPr>
          <p:cNvPr id="1117190" name="Rectangle 6"/>
          <p:cNvSpPr>
            <a:spLocks noChangeArrowheads="1"/>
          </p:cNvSpPr>
          <p:nvPr/>
        </p:nvSpPr>
        <p:spPr bwMode="auto">
          <a:xfrm>
            <a:off x="457200" y="5187950"/>
            <a:ext cx="8686800" cy="121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15000"/>
              </a:lnSpc>
            </a:pPr>
            <a:r>
              <a:rPr lang="zh-CN" altLang="en-US" sz="3200" b="1">
                <a:solidFill>
                  <a:srgbClr val="660033"/>
                </a:solidFill>
              </a:rPr>
              <a:t>    </a:t>
            </a:r>
            <a:r>
              <a:rPr lang="en-US" altLang="zh-CN" sz="3200" b="1">
                <a:solidFill>
                  <a:srgbClr val="660033"/>
                </a:solidFill>
              </a:rPr>
              <a:t>4. </a:t>
            </a:r>
            <a:r>
              <a:rPr lang="zh-CN" altLang="en-US" sz="3200" b="1">
                <a:solidFill>
                  <a:srgbClr val="660033"/>
                </a:solidFill>
              </a:rPr>
              <a:t>理解递归算法执行过程中栈的状态变化过程。</a:t>
            </a:r>
            <a:endParaRPr lang="zh-CN" altLang="en-US" sz="3200" b="1">
              <a:solidFill>
                <a:srgbClr val="660033"/>
              </a:solidFill>
            </a:endParaRPr>
          </a:p>
        </p:txBody>
      </p:sp>
      <p:sp>
        <p:nvSpPr>
          <p:cNvPr id="1117191" name="Text Box 7"/>
          <p:cNvSpPr txBox="1">
            <a:spLocks noChangeArrowheads="1"/>
          </p:cNvSpPr>
          <p:nvPr/>
        </p:nvSpPr>
        <p:spPr bwMode="auto">
          <a:xfrm>
            <a:off x="2940050" y="152400"/>
            <a:ext cx="326072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4000" b="1">
                <a:solidFill>
                  <a:srgbClr val="FF6600"/>
                </a:solidFill>
                <a:ea typeface="隶书" panose="02010509060101010101" charset="-122"/>
              </a:rPr>
              <a:t>本章学习要点</a:t>
            </a:r>
            <a:endParaRPr lang="zh-CN" altLang="en-US" sz="4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117186"/>
                                        </p:tgtEl>
                                        <p:attrNameLst>
                                          <p:attrName>style.visibility</p:attrName>
                                        </p:attrNameLst>
                                      </p:cBhvr>
                                      <p:to>
                                        <p:strVal val="visible"/>
                                      </p:to>
                                    </p:set>
                                    <p:animEffect transition="in" filter="strips(downRight)">
                                      <p:cBhvr>
                                        <p:cTn id="7" dur="500"/>
                                        <p:tgtEl>
                                          <p:spTgt spid="111718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17188"/>
                                        </p:tgtEl>
                                        <p:attrNameLst>
                                          <p:attrName>style.visibility</p:attrName>
                                        </p:attrNameLst>
                                      </p:cBhvr>
                                      <p:to>
                                        <p:strVal val="visible"/>
                                      </p:to>
                                    </p:set>
                                    <p:animEffect transition="in" filter="strips(downRight)">
                                      <p:cBhvr>
                                        <p:cTn id="12" dur="500"/>
                                        <p:tgtEl>
                                          <p:spTgt spid="111718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117189"/>
                                        </p:tgtEl>
                                        <p:attrNameLst>
                                          <p:attrName>style.visibility</p:attrName>
                                        </p:attrNameLst>
                                      </p:cBhvr>
                                      <p:to>
                                        <p:strVal val="visible"/>
                                      </p:to>
                                    </p:set>
                                    <p:animEffect transition="in" filter="strips(downRight)">
                                      <p:cBhvr>
                                        <p:cTn id="17" dur="500"/>
                                        <p:tgtEl>
                                          <p:spTgt spid="111718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117190"/>
                                        </p:tgtEl>
                                        <p:attrNameLst>
                                          <p:attrName>style.visibility</p:attrName>
                                        </p:attrNameLst>
                                      </p:cBhvr>
                                      <p:to>
                                        <p:strVal val="visible"/>
                                      </p:to>
                                    </p:set>
                                    <p:animEffect transition="in" filter="strips(downRight)">
                                      <p:cBhvr>
                                        <p:cTn id="22" dur="500"/>
                                        <p:tgtEl>
                                          <p:spTgt spid="1117190"/>
                                        </p:tgtEl>
                                      </p:cBhvr>
                                    </p:animEffect>
                                  </p:childTnLst>
                                </p:cTn>
                              </p:par>
                            </p:childTnLst>
                          </p:cTn>
                        </p:par>
                        <p:par>
                          <p:cTn id="23" fill="hold">
                            <p:stCondLst>
                              <p:cond delay="500"/>
                            </p:stCondLst>
                            <p:childTnLst>
                              <p:par>
                                <p:cTn id="24" presetID="2" presetClass="entr" presetSubtype="6" fill="hold" nodeType="afterEffect">
                                  <p:stCondLst>
                                    <p:cond delay="0"/>
                                  </p:stCondLst>
                                  <p:childTnLst>
                                    <p:set>
                                      <p:cBhvr>
                                        <p:cTn id="25" dur="1" fill="hold">
                                          <p:stCondLst>
                                            <p:cond delay="0"/>
                                          </p:stCondLst>
                                        </p:cTn>
                                        <p:tgtEl>
                                          <p:spTgt spid="1117187"/>
                                        </p:tgtEl>
                                        <p:attrNameLst>
                                          <p:attrName>style.visibility</p:attrName>
                                        </p:attrNameLst>
                                      </p:cBhvr>
                                      <p:to>
                                        <p:strVal val="visible"/>
                                      </p:to>
                                    </p:set>
                                    <p:anim calcmode="lin" valueType="num">
                                      <p:cBhvr additive="base">
                                        <p:cTn id="26" dur="500" fill="hold"/>
                                        <p:tgtEl>
                                          <p:spTgt spid="1117187"/>
                                        </p:tgtEl>
                                        <p:attrNameLst>
                                          <p:attrName>ppt_x</p:attrName>
                                        </p:attrNameLst>
                                      </p:cBhvr>
                                      <p:tavLst>
                                        <p:tav tm="0">
                                          <p:val>
                                            <p:strVal val="1+#ppt_w/2"/>
                                          </p:val>
                                        </p:tav>
                                        <p:tav tm="100000">
                                          <p:val>
                                            <p:strVal val="#ppt_x"/>
                                          </p:val>
                                        </p:tav>
                                      </p:tavLst>
                                    </p:anim>
                                    <p:anim calcmode="lin" valueType="num">
                                      <p:cBhvr additive="base">
                                        <p:cTn id="27" dur="500" fill="hold"/>
                                        <p:tgtEl>
                                          <p:spTgt spid="11171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7186" grpId="0" autoUpdateAnimBg="0"/>
      <p:bldP spid="1117188" grpId="0" autoUpdateAnimBg="0"/>
      <p:bldP spid="1117189" grpId="0" autoUpdateAnimBg="0"/>
      <p:bldP spid="1117190" grpId="0"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TM03457496[[fn=视差]]</Template>
  <TotalTime>0</TotalTime>
  <Words>18394</Words>
  <Application>WPS 演示</Application>
  <PresentationFormat>全屏显示(4:3)</PresentationFormat>
  <Paragraphs>1848</Paragraphs>
  <Slides>106</Slides>
  <Notes>7</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10</vt:i4>
      </vt:variant>
      <vt:variant>
        <vt:lpstr>幻灯片标题</vt:lpstr>
      </vt:variant>
      <vt:variant>
        <vt:i4>106</vt:i4>
      </vt:variant>
    </vt:vector>
  </HeadingPairs>
  <TitlesOfParts>
    <vt:vector size="140" baseType="lpstr">
      <vt:lpstr>Arial</vt:lpstr>
      <vt:lpstr>宋体</vt:lpstr>
      <vt:lpstr>Wingdings</vt:lpstr>
      <vt:lpstr>Wingdings 3</vt:lpstr>
      <vt:lpstr>Verdana</vt:lpstr>
      <vt:lpstr>Wingdings 2</vt:lpstr>
      <vt:lpstr>华文楷体</vt:lpstr>
      <vt:lpstr>Times New Roman</vt:lpstr>
      <vt:lpstr>楷体_GB2312</vt:lpstr>
      <vt:lpstr>新宋体</vt:lpstr>
      <vt:lpstr>隶书</vt:lpstr>
      <vt:lpstr>Lucida Sans Unicode</vt:lpstr>
      <vt:lpstr>微软雅黑</vt:lpstr>
      <vt:lpstr>Arial Unicode MS</vt:lpstr>
      <vt:lpstr>黑体</vt:lpstr>
      <vt:lpstr>Calibri</vt:lpstr>
      <vt:lpstr>VW媩$婫`婡p瑙</vt:lpstr>
      <vt:lpstr>Segoe Print</vt:lpstr>
      <vt:lpstr>Symbol</vt:lpstr>
      <vt:lpstr>幼圆</vt:lpstr>
      <vt:lpstr></vt:lpstr>
      <vt:lpstr>仿宋_GB2312</vt:lpstr>
      <vt:lpstr>仿宋</vt:lpstr>
      <vt:lpstr>聚合</vt:lpstr>
      <vt:lpstr>Equation.3</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PowerPoint 演示文稿</vt:lpstr>
      <vt:lpstr>PowerPoint 演示文稿</vt:lpstr>
      <vt:lpstr>PowerPoint 演示文稿</vt:lpstr>
      <vt:lpstr>PowerPoint 演示文稿</vt:lpstr>
      <vt:lpstr>PowerPoint 演示文稿</vt:lpstr>
      <vt:lpstr>    InitStack(&amp;S)     操作结果：构造一个空栈 S。            DestroyStack(&amp;S)     初始条件：栈 S 已存在。     操作结果：栈 S 被销毁。</vt:lpstr>
      <vt:lpstr> StackEmpty(S) 初始条件：栈 S 已存在。      操作结果：若栈 S 为空栈，则返回 TRUE，否则 FALSE。</vt:lpstr>
      <vt:lpstr> StackLength(S) 初始条件：栈 S 已存在。      操作结果：返回 S 的元素个数，即栈的长度。</vt:lpstr>
      <vt:lpstr>   GetTop(S, &amp;e)   初始条件：栈 S 已存在且非空。操作结果：用 e 返回 S 的栈顶元素。</vt:lpstr>
      <vt:lpstr>  ClearStack(&amp;S) 初始条件：栈 S 已存在。     操作结果：将 S 清为空栈。 </vt:lpstr>
      <vt:lpstr>Push(&amp;S, e)  初始条件：栈 S 已存在。      操作结果：插入元素 e 为新的栈顶元素。 </vt:lpstr>
      <vt:lpstr>Pop(&amp;S, &amp;e)   初始条件：栈 S 已存在且非空。   操作结果：删除 S 的栈顶元素，并用 e 返回其值。</vt:lpstr>
      <vt:lpstr>3.2 栈类型的实现</vt:lpstr>
      <vt:lpstr>顺序栈的表示与实现</vt:lpstr>
      <vt:lpstr>PowerPoint 演示文稿</vt:lpstr>
      <vt:lpstr>PowerPoint 演示文稿</vt:lpstr>
      <vt:lpstr>PowerPoint 演示文稿</vt:lpstr>
      <vt:lpstr>PowerPoint 演示文稿</vt:lpstr>
      <vt:lpstr>链栈</vt:lpstr>
      <vt:lpstr>PowerPoint 演示文稿</vt:lpstr>
      <vt:lpstr>PowerPoint 演示文稿</vt:lpstr>
      <vt:lpstr>PowerPoint 演示文稿</vt:lpstr>
      <vt:lpstr>PowerPoint 演示文稿</vt:lpstr>
      <vt:lpstr>  例一、 数制转换    算法基于原理：      N = (N div d)×d + N mod d   </vt:lpstr>
      <vt:lpstr> 例如：（1348)10 = (2504)8 ，其运算过程如下：    N     N div 8    N mod 8 1348      168         4    168        21         0       21         2         5        2          0         2</vt:lpstr>
      <vt:lpstr>PowerPoint 演示文稿</vt:lpstr>
      <vt:lpstr>回文游戏</vt:lpstr>
      <vt:lpstr>PowerPoint 演示文稿</vt:lpstr>
      <vt:lpstr>分析可能出现的不匹配的情况:</vt:lpstr>
      <vt:lpstr>PowerPoint 演示文稿</vt:lpstr>
      <vt:lpstr>PowerPoint 演示文稿</vt:lpstr>
      <vt:lpstr>PowerPoint 演示文稿</vt:lpstr>
      <vt:lpstr>PowerPoint 演示文稿</vt:lpstr>
      <vt:lpstr>PowerPoint 演示文稿</vt:lpstr>
      <vt:lpstr>PowerPoint 演示文稿</vt:lpstr>
      <vt:lpstr>例四、  迷宫求解</vt:lpstr>
      <vt:lpstr>求迷宫路径算法的基本思想是：</vt:lpstr>
      <vt:lpstr>PowerPoint 演示文稿</vt:lpstr>
      <vt:lpstr>PowerPoint 演示文稿</vt:lpstr>
      <vt:lpstr>PowerPoint 演示文稿</vt:lpstr>
      <vt:lpstr>PowerPoint 演示文稿</vt:lpstr>
      <vt:lpstr>PowerPoint 演示文稿</vt:lpstr>
      <vt:lpstr>PowerPoint 演示文稿</vt:lpstr>
      <vt:lpstr>如何从后缀式求值？</vt:lpstr>
      <vt:lpstr>PowerPoint 演示文稿</vt:lpstr>
      <vt:lpstr>PowerPoint 演示文稿</vt:lpstr>
      <vt:lpstr>PowerPoint 演示文稿</vt:lpstr>
      <vt:lpstr>PowerPoint 演示文稿</vt:lpstr>
      <vt:lpstr>PowerPoint 演示文稿</vt:lpstr>
      <vt:lpstr>PowerPoint 演示文稿</vt:lpstr>
      <vt:lpstr>例六、实现递归</vt:lpstr>
      <vt:lpstr>PowerPoint 演示文稿</vt:lpstr>
      <vt:lpstr>PowerPoint 演示文稿</vt:lpstr>
      <vt:lpstr>栈与递归的实现</vt:lpstr>
      <vt:lpstr>递归的应用</vt:lpstr>
      <vt:lpstr>栈与递归的实现–阶乘函数</vt:lpstr>
      <vt:lpstr>栈与递归的实现–阶乘函数</vt:lpstr>
      <vt:lpstr>栈与递归的实现–数据结构是递归的</vt:lpstr>
      <vt:lpstr>栈与递归的实现–问题求解是递归的</vt:lpstr>
      <vt:lpstr>栈与递归的实现–递归实现</vt:lpstr>
      <vt:lpstr>栈与递归的实现–递归实现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InitQueue(&amp;Q)    操作结果：构造一个空队列Q。  DestroyQueue(&amp;Q) 初始条件：队列Q已存在。  操作结果：队列Q被销毁，           不再存在。 </vt:lpstr>
      <vt:lpstr>        QueueEmpty(Q)  初始条件：队列Q已存在。    操作结果：若Q为空队列，则返回TRUE，否则返回FALSE。</vt:lpstr>
      <vt:lpstr>        QueueLength(Q)      初始条件：队列Q已存在。     操作结果：返回Q的元素个数，即队列的长度。</vt:lpstr>
      <vt:lpstr> GetHead(Q, &amp;e)   初始条件：Q为非空队列。     操作结果：用e返回Q的队头元素。</vt:lpstr>
      <vt:lpstr> ClearQueue(&amp;Q)  初始条件：队列Q已存在。 操作结果：将Q清为空队列。</vt:lpstr>
      <vt:lpstr> EnQueue(&amp;Q, e)   初始条件：队列Q已存在。     操作结果：插入元素e为Q的新的队尾元素。</vt:lpstr>
      <vt:lpstr>  DeQueue(&amp;Q, &amp;e)     初始条件：Q为非空队列。     操作结果：删除Q的队头元素，并用e返回其值。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队列的其他应用</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in C</dc:title>
  <dc:creator>zl</dc:creator>
  <cp:lastModifiedBy>鲍建华</cp:lastModifiedBy>
  <cp:revision>72</cp:revision>
  <dcterms:created xsi:type="dcterms:W3CDTF">2021-09-07T07:00:00Z</dcterms:created>
  <dcterms:modified xsi:type="dcterms:W3CDTF">2026-10-14T07:00:26Z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CADF6424C67F4878824CBAFDDE4F69C5</vt:lpwstr>
  </property>
  <property fmtid="{D5CDD505-2E9C-101B-9397-08002B2CF9AE}" pid="3" name="KSOProductBuildVer">
    <vt:lpwstr>2052-12.1.0.22175</vt:lpwstr>
  </property>
</Properties>
</file>