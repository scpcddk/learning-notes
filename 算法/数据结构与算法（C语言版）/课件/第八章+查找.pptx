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emf" ContentType="image/x-emf"/>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audio1.bin" ContentType="audio/unknown"/>
  <Override PartName="/ppt/media/audio2.bin" ContentType="audio/unknown"/>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7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8"/>
  </p:normalViewPr>
  <p:slideViewPr>
    <p:cSldViewPr>
      <p:cViewPr varScale="1">
        <p:scale>
          <a:sx n="121" d="100"/>
          <a:sy n="121" d="100"/>
        </p:scale>
        <p:origin x="1360" y="184"/>
      </p:cViewPr>
      <p:guideLst>
        <p:guide orient="horz" pos="2160"/>
        <p:guide pos="28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80"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notesMaster" Target="notesMasters/notesMaster1.xml"/><Relationship Id="rId177" Type="http://schemas.openxmlformats.org/officeDocument/2006/relationships/presProps" Target="presProps.xml"/><Relationship Id="rId178" Type="http://schemas.openxmlformats.org/officeDocument/2006/relationships/viewProps" Target="viewProps.xml"/><Relationship Id="rId179" Type="http://schemas.openxmlformats.org/officeDocument/2006/relationships/theme" Target="theme/theme1.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40" Type="http://schemas.openxmlformats.org/officeDocument/2006/relationships/slide" Target="slides/slide139.xml"/><Relationship Id="rId141" Type="http://schemas.openxmlformats.org/officeDocument/2006/relationships/slide" Target="slides/slide1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 Id="rId2"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 Id="rId2"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wmf"/><Relationship Id="rId2" Type="http://schemas.openxmlformats.org/officeDocument/2006/relationships/image" Target="../media/image1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wmf"/><Relationship Id="rId2" Type="http://schemas.openxmlformats.org/officeDocument/2006/relationships/image" Target="../media/image1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5.wmf"/><Relationship Id="rId2" Type="http://schemas.openxmlformats.org/officeDocument/2006/relationships/image" Target="../media/image16.wmf"/><Relationship Id="rId3" Type="http://schemas.openxmlformats.org/officeDocument/2006/relationships/image" Target="../media/image1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1.wmf"/><Relationship Id="rId2" Type="http://schemas.openxmlformats.org/officeDocument/2006/relationships/image" Target="../media/image22.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4.wmf"/><Relationship Id="rId2" Type="http://schemas.openxmlformats.org/officeDocument/2006/relationships/image" Target="../media/image25.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6.wmf"/><Relationship Id="rId2" Type="http://schemas.openxmlformats.org/officeDocument/2006/relationships/image" Target="../media/image27.wmf"/><Relationship Id="rId3" Type="http://schemas.openxmlformats.org/officeDocument/2006/relationships/image" Target="../media/image28.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9.wmf"/><Relationship Id="rId2" Type="http://schemas.openxmlformats.org/officeDocument/2006/relationships/image" Target="../media/image30.wmf"/><Relationship Id="rId3" Type="http://schemas.openxmlformats.org/officeDocument/2006/relationships/image" Target="../media/image31.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2.wmf"/><Relationship Id="rId2" Type="http://schemas.openxmlformats.org/officeDocument/2006/relationships/image" Target="../media/image43.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5.wmf"/><Relationship Id="rId2" Type="http://schemas.openxmlformats.org/officeDocument/2006/relationships/image" Target="../media/image46.wmf"/><Relationship Id="rId3" Type="http://schemas.openxmlformats.org/officeDocument/2006/relationships/image" Target="../media/image4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FC51EC-6FD5-4863-83B5-92D981B3290E}" type="datetimeFigureOut">
              <a:rPr lang="zh-CN" altLang="en-US" smtClean="0"/>
              <a:t>2021/9/12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E40C3E-DC0F-454B-B64E-DAEF5FEB767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86E59F-CE1E-1540-A6EE-76E5AB0CF344}" type="slidenum">
              <a:rPr lang="en-US" altLang="zh-CN"/>
              <a:pPr/>
              <a:t>53</a:t>
            </a:fld>
            <a:endParaRPr lang="en-US" altLang="zh-CN"/>
          </a:p>
        </p:txBody>
      </p:sp>
      <p:sp>
        <p:nvSpPr>
          <p:cNvPr id="252930" name="Rectangle 2"/>
          <p:cNvSpPr>
            <a:spLocks noRot="1" noChangeArrowheads="1" noTextEdit="1"/>
          </p:cNvSpPr>
          <p:nvPr>
            <p:ph type="sldImg"/>
          </p:nvPr>
        </p:nvSpPr>
        <p:spPr>
          <a:ln/>
        </p:spPr>
      </p:sp>
      <p:sp>
        <p:nvSpPr>
          <p:cNvPr id="252931" name="Rectangle 3"/>
          <p:cNvSpPr>
            <a:spLocks noGrp="1" noChangeArrowheads="1"/>
          </p:cNvSpPr>
          <p:nvPr>
            <p:ph type="body" idx="1"/>
          </p:nvPr>
        </p:nvSpPr>
        <p:spPr/>
        <p:txBody>
          <a:bodyPr/>
          <a:lstStyle/>
          <a:p>
            <a:r>
              <a:rPr lang="zh-CN" altLang="en-US"/>
              <a:t>静态查找树的插入和删除的时间复杂度是重新构造静态查找的时间效率。是</a:t>
            </a:r>
            <a:r>
              <a:rPr lang="zh-CN" altLang="en-US">
                <a:solidFill>
                  <a:srgbClr val="A50021"/>
                </a:solidFill>
                <a:sym typeface="Symbol" charset="2"/>
              </a:rPr>
              <a:t></a:t>
            </a:r>
            <a:r>
              <a:rPr lang="en-US" altLang="zh-CN">
                <a:solidFill>
                  <a:srgbClr val="A50021"/>
                </a:solidFill>
              </a:rPr>
              <a:t>(nlogn)</a:t>
            </a:r>
          </a:p>
        </p:txBody>
      </p:sp>
    </p:spTree>
    <p:extLst>
      <p:ext uri="{BB962C8B-B14F-4D97-AF65-F5344CB8AC3E}">
        <p14:creationId xmlns:p14="http://schemas.microsoft.com/office/powerpoint/2010/main" val="1317135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NUL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NUL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直角三角形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grpSp>
        <p:nvGrpSpPr>
          <p:cNvPr id="2" name="组合 1"/>
          <p:cNvGrpSpPr/>
          <p:nvPr userDrawn="1"/>
        </p:nvGrpSpPr>
        <p:grpSpPr>
          <a:xfrm>
            <a:off x="-3765" y="4953000"/>
            <a:ext cx="9147765" cy="1912088"/>
            <a:chOff x="-3765" y="4832896"/>
            <a:chExt cx="9147765" cy="2032192"/>
          </a:xfrm>
        </p:grpSpPr>
        <p:sp>
          <p:nvSpPr>
            <p:cNvPr id="7" name="任意多边形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p:nvPr userDrawn="1"/>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lstStyle>
          <a:p>
            <a:fld id="{C85226CB-B0C2-4344-A5A0-B57BD90EDBDF}" type="datetimeFigureOut">
              <a:rPr lang="zh-CN" altLang="en-US" smtClean="0"/>
              <a:t>2021/9/12</a:t>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lstStyle>
          <a:p>
            <a:fld id="{6E1C0148-8E4B-4B2F-95CE-20B4709700AE}"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spcAft>
                <a:spcPts val="1000"/>
              </a:spcAft>
              <a:defRPr>
                <a:solidFill>
                  <a:schemeClr val="tx2">
                    <a:lumMod val="75000"/>
                  </a:schemeClr>
                </a:solidFill>
                <a:latin typeface="华文楷体" panose="02010600040101010101" charset="-122"/>
                <a:ea typeface="华文楷体" panose="02010600040101010101" charset="-122"/>
              </a:defRPr>
            </a:lvl1pPr>
            <a:lvl2pPr>
              <a:spcAft>
                <a:spcPts val="1000"/>
              </a:spcAft>
              <a:defRPr>
                <a:solidFill>
                  <a:schemeClr val="tx2">
                    <a:lumMod val="75000"/>
                  </a:schemeClr>
                </a:solidFill>
                <a:latin typeface="华文楷体" panose="02010600040101010101" charset="-122"/>
                <a:ea typeface="华文楷体" panose="02010600040101010101" charset="-122"/>
              </a:defRPr>
            </a:lvl2pPr>
            <a:lvl3pPr>
              <a:spcAft>
                <a:spcPts val="1000"/>
              </a:spcAft>
              <a:defRPr>
                <a:solidFill>
                  <a:schemeClr val="tx2">
                    <a:lumMod val="75000"/>
                  </a:schemeClr>
                </a:solidFill>
                <a:latin typeface="华文楷体" panose="02010600040101010101" charset="-122"/>
                <a:ea typeface="华文楷体" panose="02010600040101010101" charset="-122"/>
              </a:defRPr>
            </a:lvl3pPr>
          </a:lstStyle>
          <a:p>
            <a:pPr lvl="0" eaLnBrk="1" latinLnBrk="0" hangingPunct="1"/>
            <a:r>
              <a:rPr lang="zh-CN" altLang="en-US" dirty="0" smtClean="0"/>
              <a:t>单击此处编辑母版文本样式</a:t>
            </a:r>
          </a:p>
          <a:p>
            <a:pPr lvl="1" eaLnBrk="1" latinLnBrk="0" hangingPunct="1"/>
            <a:r>
              <a:rPr lang="zh-CN" altLang="en-US" dirty="0" smtClean="0"/>
              <a:t>第二级</a:t>
            </a:r>
          </a:p>
          <a:p>
            <a:pPr lvl="2" eaLnBrk="1" latinLnBrk="0" hangingPunct="1"/>
            <a:r>
              <a:rPr lang="zh-CN" altLang="en-US" smtClean="0"/>
              <a:t>第三级</a:t>
            </a:r>
            <a:endParaRPr lang="zh-CN" altLang="en-US" dirty="0" smtClean="0"/>
          </a:p>
        </p:txBody>
      </p:sp>
      <p:sp>
        <p:nvSpPr>
          <p:cNvPr id="4" name="日期占位符 3"/>
          <p:cNvSpPr>
            <a:spLocks noGrp="1"/>
          </p:cNvSpPr>
          <p:nvPr>
            <p:ph type="dt" sz="half" idx="10"/>
          </p:nvPr>
        </p:nvSpPr>
        <p:spPr>
          <a:xfrm>
            <a:off x="6164422" y="6407309"/>
            <a:ext cx="1920240" cy="365760"/>
          </a:xfrm>
        </p:spPr>
        <p:txBody>
          <a:bodyPr/>
          <a:lstStyle/>
          <a:p>
            <a:fld id="{C85226CB-B0C2-4344-A5A0-B57BD90EDBDF}" type="datetimeFigureOut">
              <a:rPr lang="zh-CN" altLang="en-US" smtClean="0"/>
              <a:t>2021/9/12</a:t>
            </a:fld>
            <a:endParaRPr lang="zh-CN" altLang="en-US"/>
          </a:p>
        </p:txBody>
      </p:sp>
      <p:sp>
        <p:nvSpPr>
          <p:cNvPr id="5" name="页脚占位符 4"/>
          <p:cNvSpPr>
            <a:spLocks noGrp="1"/>
          </p:cNvSpPr>
          <p:nvPr>
            <p:ph type="ftr" sz="quarter" idx="11"/>
          </p:nvPr>
        </p:nvSpPr>
        <p:spPr>
          <a:xfrm>
            <a:off x="3570447" y="6408579"/>
            <a:ext cx="2350681" cy="365125"/>
          </a:xfrm>
        </p:spPr>
        <p:txBody>
          <a:bodyPr/>
          <a:lstStyle/>
          <a:p>
            <a:endParaRPr lang="zh-CN" altLang="en-US"/>
          </a:p>
        </p:txBody>
      </p:sp>
      <p:sp>
        <p:nvSpPr>
          <p:cNvPr id="6" name="灯片编号占位符 5"/>
          <p:cNvSpPr>
            <a:spLocks noGrp="1"/>
          </p:cNvSpPr>
          <p:nvPr>
            <p:ph type="sldNum" sz="quarter" idx="12"/>
          </p:nvPr>
        </p:nvSpPr>
        <p:spPr>
          <a:xfrm>
            <a:off x="8084185" y="6407785"/>
            <a:ext cx="929005" cy="365125"/>
          </a:xfrm>
        </p:spPr>
        <p:txBody>
          <a:bodyPr/>
          <a:lstStyle/>
          <a:p>
            <a:fld id="{6E1C0148-8E4B-4B2F-95CE-20B4709700AE}" type="slidenum">
              <a:rPr lang="zh-CN" altLang="en-US" smtClean="0"/>
              <a:t>‹#›</a:t>
            </a:fld>
            <a:endParaRPr lang="zh-CN" altLang="en-US" dirty="0"/>
          </a:p>
        </p:txBody>
      </p:sp>
      <p:sp>
        <p:nvSpPr>
          <p:cNvPr id="7" name="标题 6"/>
          <p:cNvSpPr>
            <a:spLocks noGrp="1"/>
          </p:cNvSpPr>
          <p:nvPr>
            <p:ph type="title"/>
          </p:nvPr>
        </p:nvSpPr>
        <p:spPr/>
        <p:txBody>
          <a:bodyPr rtlCol="0"/>
          <a:lstStyle/>
          <a:p>
            <a:r>
              <a:rPr kumimoji="0" lang="zh-CN" altLang="en-US" smtClean="0"/>
              <a:t>单击此处编辑母版标题样式</a:t>
            </a:r>
            <a:endParaRPr kumimoji="0"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t>‹#›</a:t>
            </a:fld>
            <a:endParaRPr lang="zh-CN" altLang="en-US"/>
          </a:p>
        </p:txBody>
      </p:sp>
      <p:sp>
        <p:nvSpPr>
          <p:cNvPr id="7" name="燕尾形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燕尾形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t>‹#›</a:t>
            </a:fld>
            <a:endParaRPr lang="zh-CN" altLang="en-US"/>
          </a:p>
        </p:txBody>
      </p:sp>
      <p:sp>
        <p:nvSpPr>
          <p:cNvPr id="8" name="标题 7"/>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t>‹#›</a:t>
            </a:fld>
            <a:endParaRPr lang="zh-CN" altLang="en-US"/>
          </a:p>
        </p:txBody>
      </p:sp>
      <p:sp>
        <p:nvSpPr>
          <p:cNvPr id="6" name="标题 5"/>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a:xfrm>
            <a:off x="6727032" y="6407944"/>
            <a:ext cx="1920240" cy="365760"/>
          </a:xfrm>
        </p:spPr>
        <p:txBody>
          <a:bodyPr/>
          <a:lstStyle/>
          <a:p>
            <a:fld id="{C85226CB-B0C2-4344-A5A0-B57BD90EDBDF}" type="datetimeFigureOut">
              <a:rPr lang="zh-CN" altLang="en-US" smtClean="0"/>
              <a:t>2021/9/12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1"/>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zh-CN" altLang="en-US" smtClean="0"/>
              <a:t>单击图标添加图片</a:t>
            </a:r>
            <a:endParaRPr kumimoji="0" lang="en-US" dirty="0"/>
          </a:p>
        </p:txBody>
      </p:sp>
      <p:sp>
        <p:nvSpPr>
          <p:cNvPr id="5" name="日期占位符 4"/>
          <p:cNvSpPr>
            <a:spLocks noGrp="1"/>
          </p:cNvSpPr>
          <p:nvPr>
            <p:ph type="dt" sz="half" idx="10"/>
          </p:nvPr>
        </p:nvSpPr>
        <p:spPr/>
        <p:txBody>
          <a:bodyPr/>
          <a:lstStyle>
            <a:lvl1pPr>
              <a:defRPr>
                <a:solidFill>
                  <a:schemeClr val="tx1"/>
                </a:solidFill>
              </a:defRPr>
            </a:lvl1pPr>
          </a:lstStyle>
          <a:p>
            <a:fld id="{C85226CB-B0C2-4344-A5A0-B57BD90EDBDF}" type="datetimeFigureOut">
              <a:rPr lang="zh-CN" altLang="en-US" smtClean="0"/>
              <a:t>2021/9/12</a:t>
            </a:fld>
            <a:endParaRPr lang="zh-CN" altLang="en-US"/>
          </a:p>
        </p:txBody>
      </p:sp>
      <p:sp>
        <p:nvSpPr>
          <p:cNvPr id="6" name="页脚占位符 5"/>
          <p:cNvSpPr>
            <a:spLocks noGrp="1"/>
          </p:cNvSpPr>
          <p:nvPr>
            <p:ph type="ftr" sz="quarter" idx="11"/>
          </p:nvPr>
        </p:nvSpPr>
        <p:spPr>
          <a:xfrm>
            <a:off x="4380072" y="6407944"/>
            <a:ext cx="2350681" cy="365125"/>
          </a:xfrm>
        </p:spPr>
        <p:txBody>
          <a:bodyPr/>
          <a:lstStyle>
            <a:lvl1pPr>
              <a:defRPr>
                <a:solidFill>
                  <a:schemeClr val="tx1"/>
                </a:solidFill>
              </a:defRPr>
            </a:lvl1pPr>
          </a:lstStyle>
          <a:p>
            <a:endParaRPr lang="zh-CN" altLang="en-US"/>
          </a:p>
        </p:txBody>
      </p:sp>
      <p:sp>
        <p:nvSpPr>
          <p:cNvPr id="7" name="灯片编号占位符 6"/>
          <p:cNvSpPr>
            <a:spLocks noGrp="1"/>
          </p:cNvSpPr>
          <p:nvPr>
            <p:ph type="sldNum" sz="quarter" idx="12"/>
          </p:nvPr>
        </p:nvSpPr>
        <p:spPr/>
        <p:txBody>
          <a:bodyPr/>
          <a:lstStyle>
            <a:lvl1pPr>
              <a:defRPr>
                <a:solidFill>
                  <a:schemeClr val="tx1"/>
                </a:solidFill>
              </a:defRPr>
            </a:lvl1pPr>
          </a:lstStyle>
          <a:p>
            <a:fld id="{6E1C0148-8E4B-4B2F-95CE-20B4709700AE}" type="slidenum">
              <a:rPr lang="zh-CN" altLang="en-US" smtClean="0"/>
              <a:t>‹#›</a:t>
            </a:fld>
            <a:endParaRPr lang="zh-CN" altLang="en-US"/>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zh-CN" altLang="en-US" smtClean="0"/>
              <a:t>单击此处编辑母版标题样式</a:t>
            </a:r>
            <a:endParaRPr kumimoji="0" lang="en-US"/>
          </a:p>
        </p:txBody>
      </p:sp>
      <p:sp>
        <p:nvSpPr>
          <p:cNvPr id="8" name="任意多边形 7"/>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任意多边形 8"/>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直角三角形 9"/>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直接连接符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燕尾形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燕尾形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1481329"/>
            <a:ext cx="8229600" cy="4386071"/>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41"/>
            <a:ext cx="6324600" cy="5592760"/>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p:nvPr userDrawn="1"/>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p:nvPr userDrawn="1"/>
        </p:nvSpPr>
        <p:spPr bwMode="auto">
          <a:xfrm>
            <a:off x="557472"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cxnSp>
        <p:nvCxnSpPr>
          <p:cNvPr id="15" name="直接连接符 14"/>
          <p:cNvCxnSpPr/>
          <p:nvPr userDrawn="1"/>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smtClean="0"/>
              <a:t>单击此处编辑母版标题样式</a:t>
            </a:r>
            <a:endParaRPr kumimoji="0" lang="en-US"/>
          </a:p>
        </p:txBody>
      </p:sp>
      <p:sp>
        <p:nvSpPr>
          <p:cNvPr id="30" name="文本占位符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0" name="日期占位符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fld id="{C85226CB-B0C2-4344-A5A0-B57BD90EDBDF}" type="datetimeFigureOut">
              <a:rPr lang="zh-CN" altLang="en-US" smtClean="0"/>
              <a:t>2021/9/12</a:t>
            </a:fld>
            <a:endParaRPr lang="zh-CN" altLang="en-US"/>
          </a:p>
        </p:txBody>
      </p:sp>
      <p:sp>
        <p:nvSpPr>
          <p:cNvPr id="22" name="页脚占位符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endParaRPr lang="zh-CN" altLang="en-US"/>
          </a:p>
        </p:txBody>
      </p:sp>
      <p:sp>
        <p:nvSpPr>
          <p:cNvPr id="18" name="灯片编号占位符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fld id="{6E1C0148-8E4B-4B2F-95CE-20B4709700A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25968;&#25454;&#32467;&#26500;&#35838;&#20214;/chap008.pps#-1,1,&#27809;&#26377;&#24187;&#28783;&#29255;&#26631;&#39064;"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 Target="slide130.xml"/><Relationship Id="rId4" Type="http://schemas.openxmlformats.org/officeDocument/2006/relationships/slide" Target="slide173.xml"/><Relationship Id="rId1" Type="http://schemas.openxmlformats.org/officeDocument/2006/relationships/slideLayout" Target="../slideLayouts/slideLayout7.xml"/><Relationship Id="rId2" Type="http://schemas.openxmlformats.org/officeDocument/2006/relationships/slide" Target="slide44.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2.wmf"/><Relationship Id="rId1" Type="http://schemas.openxmlformats.org/officeDocument/2006/relationships/vmlDrawing" Target="../drawings/vmlDrawing1.vml"/><Relationship Id="rId2"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 Target="slide14.xml"/><Relationship Id="rId4" Type="http://schemas.openxmlformats.org/officeDocument/2006/relationships/slide" Target="slide15.xml"/><Relationship Id="rId5" Type="http://schemas.openxmlformats.org/officeDocument/2006/relationships/slide" Target="slide16.xml"/><Relationship Id="rId1" Type="http://schemas.openxmlformats.org/officeDocument/2006/relationships/slideLayout" Target="../slideLayouts/slideLayout7.xml"/><Relationship Id="rId2" Type="http://schemas.openxmlformats.org/officeDocument/2006/relationships/slide" Target="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 Target="slide32.xml"/><Relationship Id="rId4" Type="http://schemas.openxmlformats.org/officeDocument/2006/relationships/slide" Target="slide22.xml"/><Relationship Id="rId5" Type="http://schemas.openxmlformats.org/officeDocument/2006/relationships/slide" Target="slide8.xml"/><Relationship Id="rId6" Type="http://schemas.openxmlformats.org/officeDocument/2006/relationships/image" Target="../media/image3.wmf"/><Relationship Id="rId1" Type="http://schemas.openxmlformats.org/officeDocument/2006/relationships/slideLayout" Target="../slideLayouts/slideLayout7.xml"/><Relationship Id="rId2" Type="http://schemas.openxmlformats.org/officeDocument/2006/relationships/slide" Target="slide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image" Target="../media/image4.wmf"/><Relationship Id="rId1" Type="http://schemas.openxmlformats.org/officeDocument/2006/relationships/vmlDrawing" Target="../drawings/vmlDrawing2.vml"/><Relationship Id="rId2"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4" Type="http://schemas.openxmlformats.org/officeDocument/2006/relationships/image" Target="../media/image4.wmf"/><Relationship Id="rId5" Type="http://schemas.openxmlformats.org/officeDocument/2006/relationships/oleObject" Target="../embeddings/oleObject4.bin"/><Relationship Id="rId1" Type="http://schemas.openxmlformats.org/officeDocument/2006/relationships/vmlDrawing" Target="../drawings/vmlDrawing3.vml"/><Relationship Id="rId2"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4" Type="http://schemas.openxmlformats.org/officeDocument/2006/relationships/image" Target="../media/image5.wmf"/><Relationship Id="rId5" Type="http://schemas.openxmlformats.org/officeDocument/2006/relationships/oleObject" Target="../embeddings/oleObject6.bin"/><Relationship Id="rId6" Type="http://schemas.openxmlformats.org/officeDocument/2006/relationships/image" Target="../media/image6.wmf"/><Relationship Id="rId1" Type="http://schemas.openxmlformats.org/officeDocument/2006/relationships/vmlDrawing" Target="../drawings/vmlDrawing4.vml"/><Relationship Id="rId2"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7.bin"/><Relationship Id="rId4" Type="http://schemas.openxmlformats.org/officeDocument/2006/relationships/image" Target="../media/image7.wmf"/><Relationship Id="rId5" Type="http://schemas.openxmlformats.org/officeDocument/2006/relationships/oleObject" Target="../embeddings/oleObject8.bin"/><Relationship Id="rId6" Type="http://schemas.openxmlformats.org/officeDocument/2006/relationships/image" Target="../media/image8.wmf"/><Relationship Id="rId1" Type="http://schemas.openxmlformats.org/officeDocument/2006/relationships/vmlDrawing" Target="../drawings/vmlDrawing5.vml"/><Relationship Id="rId2"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9.bin"/><Relationship Id="rId4" Type="http://schemas.openxmlformats.org/officeDocument/2006/relationships/image" Target="../media/image9.wmf"/><Relationship Id="rId1" Type="http://schemas.openxmlformats.org/officeDocument/2006/relationships/vmlDrawing" Target="../drawings/vmlDrawing6.vml"/><Relationship Id="rId2"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0.bin"/><Relationship Id="rId4" Type="http://schemas.openxmlformats.org/officeDocument/2006/relationships/image" Target="../media/image10.wmf"/><Relationship Id="rId1" Type="http://schemas.openxmlformats.org/officeDocument/2006/relationships/vmlDrawing" Target="../drawings/vmlDrawing7.vml"/><Relationship Id="rId2"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1.bin"/><Relationship Id="rId4" Type="http://schemas.openxmlformats.org/officeDocument/2006/relationships/image" Target="../media/image11.wmf"/><Relationship Id="rId5" Type="http://schemas.openxmlformats.org/officeDocument/2006/relationships/oleObject" Target="../embeddings/oleObject12.bin"/><Relationship Id="rId6" Type="http://schemas.openxmlformats.org/officeDocument/2006/relationships/image" Target="../media/image12.wmf"/><Relationship Id="rId7" Type="http://schemas.openxmlformats.org/officeDocument/2006/relationships/slide" Target="slide18.xml"/><Relationship Id="rId1" Type="http://schemas.openxmlformats.org/officeDocument/2006/relationships/vmlDrawing" Target="../drawings/vmlDrawing8.vml"/><Relationship Id="rId2"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3.bin"/><Relationship Id="rId4" Type="http://schemas.openxmlformats.org/officeDocument/2006/relationships/image" Target="../media/image13.wmf"/><Relationship Id="rId5" Type="http://schemas.openxmlformats.org/officeDocument/2006/relationships/oleObject" Target="../embeddings/oleObject14.bin"/><Relationship Id="rId6" Type="http://schemas.openxmlformats.org/officeDocument/2006/relationships/image" Target="../media/image14.wmf"/><Relationship Id="rId1" Type="http://schemas.openxmlformats.org/officeDocument/2006/relationships/vmlDrawing" Target="../drawings/vmlDrawing9.vml"/><Relationship Id="rId2"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5.bin"/><Relationship Id="rId4" Type="http://schemas.openxmlformats.org/officeDocument/2006/relationships/image" Target="../media/image15.wmf"/><Relationship Id="rId5" Type="http://schemas.openxmlformats.org/officeDocument/2006/relationships/oleObject" Target="../embeddings/oleObject16.bin"/><Relationship Id="rId6" Type="http://schemas.openxmlformats.org/officeDocument/2006/relationships/image" Target="../media/image16.wmf"/><Relationship Id="rId7" Type="http://schemas.openxmlformats.org/officeDocument/2006/relationships/oleObject" Target="../embeddings/oleObject17.bin"/><Relationship Id="rId8" Type="http://schemas.openxmlformats.org/officeDocument/2006/relationships/image" Target="../media/image17.wmf"/><Relationship Id="rId1" Type="http://schemas.openxmlformats.org/officeDocument/2006/relationships/vmlDrawing" Target="../drawings/vmlDrawing10.vml"/><Relationship Id="rId2"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8.bin"/><Relationship Id="rId4" Type="http://schemas.openxmlformats.org/officeDocument/2006/relationships/image" Target="../media/image18.wmf"/><Relationship Id="rId1" Type="http://schemas.openxmlformats.org/officeDocument/2006/relationships/vmlDrawing" Target="../drawings/vmlDrawing11.vml"/><Relationship Id="rId2"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9.bin"/><Relationship Id="rId4" Type="http://schemas.openxmlformats.org/officeDocument/2006/relationships/image" Target="../media/image20.png"/><Relationship Id="rId1" Type="http://schemas.openxmlformats.org/officeDocument/2006/relationships/vmlDrawing" Target="../drawings/vmlDrawing12.vml"/><Relationship Id="rId2"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slide" Target="slide48.xml"/><Relationship Id="rId4" Type="http://schemas.openxmlformats.org/officeDocument/2006/relationships/slide" Target="slide49.xml"/><Relationship Id="rId5" Type="http://schemas.openxmlformats.org/officeDocument/2006/relationships/slide" Target="slide50.xml"/><Relationship Id="rId6" Type="http://schemas.openxmlformats.org/officeDocument/2006/relationships/slide" Target="slide51.xml"/><Relationship Id="rId7" Type="http://schemas.openxmlformats.org/officeDocument/2006/relationships/slide" Target="slide52.xml"/><Relationship Id="rId1" Type="http://schemas.openxmlformats.org/officeDocument/2006/relationships/slideLayout" Target="../slideLayouts/slideLayout7.xml"/><Relationship Id="rId2" Type="http://schemas.openxmlformats.org/officeDocument/2006/relationships/slide" Target="slide4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0.bin"/><Relationship Id="rId4" Type="http://schemas.openxmlformats.org/officeDocument/2006/relationships/image" Target="../media/image21.wmf"/><Relationship Id="rId5" Type="http://schemas.openxmlformats.org/officeDocument/2006/relationships/oleObject" Target="../embeddings/oleObject21.bin"/><Relationship Id="rId6" Type="http://schemas.openxmlformats.org/officeDocument/2006/relationships/image" Target="../media/image22.wmf"/><Relationship Id="rId1" Type="http://schemas.openxmlformats.org/officeDocument/2006/relationships/vmlDrawing" Target="../drawings/vmlDrawing13.vml"/><Relationship Id="rId2"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slide" Target="slide85.xml"/><Relationship Id="rId4" Type="http://schemas.openxmlformats.org/officeDocument/2006/relationships/slide" Target="slide106.xml"/><Relationship Id="rId5" Type="http://schemas.openxmlformats.org/officeDocument/2006/relationships/slide" Target="slide124.xml"/><Relationship Id="rId6" Type="http://schemas.openxmlformats.org/officeDocument/2006/relationships/slide" Target="slide94.xml"/><Relationship Id="rId7" Type="http://schemas.openxmlformats.org/officeDocument/2006/relationships/slide" Target="slide8.xml"/><Relationship Id="rId8" Type="http://schemas.openxmlformats.org/officeDocument/2006/relationships/image" Target="../media/image3.wmf"/><Relationship Id="rId1" Type="http://schemas.openxmlformats.org/officeDocument/2006/relationships/slideLayout" Target="../slideLayouts/slideLayout7.xml"/><Relationship Id="rId2" Type="http://schemas.openxmlformats.org/officeDocument/2006/relationships/slide" Target="slide56.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2.bin"/><Relationship Id="rId4" Type="http://schemas.openxmlformats.org/officeDocument/2006/relationships/image" Target="../media/image23.wmf"/><Relationship Id="rId5" Type="http://schemas.openxmlformats.org/officeDocument/2006/relationships/slide" Target="slide60.xml"/><Relationship Id="rId6" Type="http://schemas.openxmlformats.org/officeDocument/2006/relationships/slide" Target="slide66.xml"/><Relationship Id="rId7" Type="http://schemas.openxmlformats.org/officeDocument/2006/relationships/slide" Target="slide69.xml"/><Relationship Id="rId8" Type="http://schemas.openxmlformats.org/officeDocument/2006/relationships/slide" Target="slide79.xml"/><Relationship Id="rId1" Type="http://schemas.openxmlformats.org/officeDocument/2006/relationships/vmlDrawing" Target="../drawings/vmlDrawing14.vml"/><Relationship Id="rId2"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7.xml"/><Relationship Id="rId3" Type="http://schemas.openxmlformats.org/officeDocument/2006/relationships/slide" Target="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audio" Target="../media/audio1.bin"/><Relationship Id="rId3" Type="http://schemas.openxmlformats.org/officeDocument/2006/relationships/audio" Target="../media/audio2.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 Id="rId3" Type="http://schemas.openxmlformats.org/officeDocument/2006/relationships/slide" Target="slide5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7.xml"/><Relationship Id="rId3" Type="http://schemas.openxmlformats.org/officeDocument/2006/relationships/slide" Target="slide7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23.bin"/><Relationship Id="rId4" Type="http://schemas.openxmlformats.org/officeDocument/2006/relationships/image" Target="../media/image24.wmf"/><Relationship Id="rId5" Type="http://schemas.openxmlformats.org/officeDocument/2006/relationships/oleObject" Target="../embeddings/oleObject24.bin"/><Relationship Id="rId6" Type="http://schemas.openxmlformats.org/officeDocument/2006/relationships/image" Target="../media/image25.wmf"/><Relationship Id="rId1" Type="http://schemas.openxmlformats.org/officeDocument/2006/relationships/vmlDrawing" Target="../drawings/vmlDrawing15.vml"/><Relationship Id="rId2"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25.bin"/><Relationship Id="rId4" Type="http://schemas.openxmlformats.org/officeDocument/2006/relationships/image" Target="../media/image26.wmf"/><Relationship Id="rId5" Type="http://schemas.openxmlformats.org/officeDocument/2006/relationships/oleObject" Target="../embeddings/oleObject26.bin"/><Relationship Id="rId6" Type="http://schemas.openxmlformats.org/officeDocument/2006/relationships/image" Target="../media/image27.wmf"/><Relationship Id="rId7" Type="http://schemas.openxmlformats.org/officeDocument/2006/relationships/oleObject" Target="../embeddings/oleObject27.bin"/><Relationship Id="rId8" Type="http://schemas.openxmlformats.org/officeDocument/2006/relationships/image" Target="../media/image28.wmf"/><Relationship Id="rId1" Type="http://schemas.openxmlformats.org/officeDocument/2006/relationships/vmlDrawing" Target="../drawings/vmlDrawing16.vml"/><Relationship Id="rId2"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28.bin"/><Relationship Id="rId4" Type="http://schemas.openxmlformats.org/officeDocument/2006/relationships/image" Target="../media/image29.wmf"/><Relationship Id="rId5" Type="http://schemas.openxmlformats.org/officeDocument/2006/relationships/oleObject" Target="../embeddings/oleObject29.bin"/><Relationship Id="rId6" Type="http://schemas.openxmlformats.org/officeDocument/2006/relationships/image" Target="../media/image30.wmf"/><Relationship Id="rId7" Type="http://schemas.openxmlformats.org/officeDocument/2006/relationships/oleObject" Target="../embeddings/oleObject30.bin"/><Relationship Id="rId8" Type="http://schemas.openxmlformats.org/officeDocument/2006/relationships/image" Target="../media/image31.wmf"/><Relationship Id="rId9" Type="http://schemas.openxmlformats.org/officeDocument/2006/relationships/slide" Target="slide56.xml"/><Relationship Id="rId1" Type="http://schemas.openxmlformats.org/officeDocument/2006/relationships/vmlDrawing" Target="../drawings/vmlDrawing17.vml"/><Relationship Id="rId2"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slide" Target="slide102.xml"/><Relationship Id="rId4" Type="http://schemas.openxmlformats.org/officeDocument/2006/relationships/slide" Target="slide55.xml"/><Relationship Id="rId1" Type="http://schemas.openxmlformats.org/officeDocument/2006/relationships/slideLayout" Target="../slideLayouts/slideLayout2.xml"/><Relationship Id="rId2" Type="http://schemas.openxmlformats.org/officeDocument/2006/relationships/slide" Target="slide87.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31.bin"/><Relationship Id="rId4" Type="http://schemas.openxmlformats.org/officeDocument/2006/relationships/image" Target="../media/image32.wmf"/><Relationship Id="rId5" Type="http://schemas.openxmlformats.org/officeDocument/2006/relationships/slide" Target="slide85.xml"/><Relationship Id="rId1" Type="http://schemas.openxmlformats.org/officeDocument/2006/relationships/vmlDrawing" Target="../drawings/vmlDrawing18.vml"/><Relationship Id="rId2"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e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jpe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jpe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e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5.xml"/></Relationships>
</file>

<file path=ppt/slides/_rels/slide106.xml.rels><?xml version="1.0" encoding="UTF-8" standalone="yes"?>
<Relationships xmlns="http://schemas.openxmlformats.org/package/2006/relationships"><Relationship Id="rId3" Type="http://schemas.openxmlformats.org/officeDocument/2006/relationships/slide" Target="slide116.xml"/><Relationship Id="rId4" Type="http://schemas.openxmlformats.org/officeDocument/2006/relationships/slide" Target="slide119.xml"/><Relationship Id="rId5" Type="http://schemas.openxmlformats.org/officeDocument/2006/relationships/slide" Target="slide120.xml"/><Relationship Id="rId6" Type="http://schemas.openxmlformats.org/officeDocument/2006/relationships/slide" Target="slide55.xml"/><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07.xml.rels><?xml version="1.0" encoding="UTF-8" standalone="yes"?>
<Relationships xmlns="http://schemas.openxmlformats.org/package/2006/relationships"><Relationship Id="rId3" Type="http://schemas.openxmlformats.org/officeDocument/2006/relationships/slide" Target="slide110.xml"/><Relationship Id="rId4" Type="http://schemas.openxmlformats.org/officeDocument/2006/relationships/slide" Target="slide111.xml"/><Relationship Id="rId5" Type="http://schemas.openxmlformats.org/officeDocument/2006/relationships/oleObject" Target="../embeddings/oleObject32.bin"/><Relationship Id="rId6" Type="http://schemas.openxmlformats.org/officeDocument/2006/relationships/image" Target="../media/image34.wmf"/><Relationship Id="rId7" Type="http://schemas.openxmlformats.org/officeDocument/2006/relationships/slide" Target="slide106.xml"/><Relationship Id="rId1" Type="http://schemas.openxmlformats.org/officeDocument/2006/relationships/vmlDrawing" Target="../drawings/vmlDrawing19.vml"/><Relationship Id="rId2"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0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0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0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8.xml"/><Relationship Id="rId3" Type="http://schemas.openxmlformats.org/officeDocument/2006/relationships/slide" Target="slide10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0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0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9.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slide" Target="slide146.xml"/><Relationship Id="rId4" Type="http://schemas.openxmlformats.org/officeDocument/2006/relationships/slide" Target="slide156.xml"/><Relationship Id="rId5" Type="http://schemas.openxmlformats.org/officeDocument/2006/relationships/slide" Target="slide163.xml"/><Relationship Id="rId6" Type="http://schemas.openxmlformats.org/officeDocument/2006/relationships/slide" Target="slide171.xml"/><Relationship Id="rId7" Type="http://schemas.openxmlformats.org/officeDocument/2006/relationships/slide" Target="slide172.xml"/><Relationship Id="rId8" Type="http://schemas.openxmlformats.org/officeDocument/2006/relationships/slide" Target="slide173.xml"/><Relationship Id="rId1" Type="http://schemas.openxmlformats.org/officeDocument/2006/relationships/slideLayout" Target="../slideLayouts/slideLayout7.xml"/><Relationship Id="rId2" Type="http://schemas.openxmlformats.org/officeDocument/2006/relationships/slide" Target="slide10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oleObject" Target="../embeddings/oleObject33.bin"/><Relationship Id="rId4" Type="http://schemas.openxmlformats.org/officeDocument/2006/relationships/image" Target="../media/image35.wmf"/><Relationship Id="rId1" Type="http://schemas.openxmlformats.org/officeDocument/2006/relationships/vmlDrawing" Target="../drawings/vmlDrawing20.vml"/><Relationship Id="rId2"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0.xml"/></Relationships>
</file>

<file path=ppt/slides/_rels/slide146.xml.rels><?xml version="1.0" encoding="UTF-8" standalone="yes"?>
<Relationships xmlns="http://schemas.openxmlformats.org/package/2006/relationships"><Relationship Id="rId3" Type="http://schemas.openxmlformats.org/officeDocument/2006/relationships/slide" Target="slide152.xml"/><Relationship Id="rId4" Type="http://schemas.openxmlformats.org/officeDocument/2006/relationships/slide" Target="slide151.xml"/><Relationship Id="rId5" Type="http://schemas.openxmlformats.org/officeDocument/2006/relationships/slide" Target="slide154.xml"/><Relationship Id="rId6" Type="http://schemas.openxmlformats.org/officeDocument/2006/relationships/slide" Target="slide148.xml"/><Relationship Id="rId7" Type="http://schemas.openxmlformats.org/officeDocument/2006/relationships/slide" Target="slide130.xml"/><Relationship Id="rId8" Type="http://schemas.openxmlformats.org/officeDocument/2006/relationships/slide" Target="slide155.xml"/><Relationship Id="rId1" Type="http://schemas.openxmlformats.org/officeDocument/2006/relationships/slideLayout" Target="../slideLayouts/slideLayout7.xml"/><Relationship Id="rId2" Type="http://schemas.openxmlformats.org/officeDocument/2006/relationships/slide" Target="slide149.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slide" Target="slide146.xml"/></Relationships>
</file>

<file path=ppt/slides/_rels/slide148.xml.rels><?xml version="1.0" encoding="UTF-8" standalone="yes"?>
<Relationships xmlns="http://schemas.openxmlformats.org/package/2006/relationships"><Relationship Id="rId3" Type="http://schemas.openxmlformats.org/officeDocument/2006/relationships/image" Target="../media/image36.png"/><Relationship Id="rId4" Type="http://schemas.openxmlformats.org/officeDocument/2006/relationships/slide" Target="slide146.xml"/><Relationship Id="rId1" Type="http://schemas.openxmlformats.org/officeDocument/2006/relationships/slideLayout" Target="../slideLayouts/slideLayout7.xml"/><Relationship Id="rId2" Type="http://schemas.openxmlformats.org/officeDocument/2006/relationships/slide" Target="slide14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2.xml"/><Relationship Id="rId3" Type="http://schemas.openxmlformats.org/officeDocument/2006/relationships/image" Target="../media/image36.png"/></Relationships>
</file>

<file path=ppt/slides/_rels/slide150.xml.rels><?xml version="1.0" encoding="UTF-8" standalone="yes"?>
<Relationships xmlns="http://schemas.openxmlformats.org/package/2006/relationships"><Relationship Id="rId3" Type="http://schemas.openxmlformats.org/officeDocument/2006/relationships/image" Target="../media/image36.png"/><Relationship Id="rId4" Type="http://schemas.openxmlformats.org/officeDocument/2006/relationships/slide" Target="slide146.xml"/><Relationship Id="rId1" Type="http://schemas.openxmlformats.org/officeDocument/2006/relationships/slideLayout" Target="../slideLayouts/slideLayout7.xml"/><Relationship Id="rId2" Type="http://schemas.openxmlformats.org/officeDocument/2006/relationships/slide" Target="slide142.xml"/></Relationships>
</file>

<file path=ppt/slides/_rels/slide151.xml.rels><?xml version="1.0" encoding="UTF-8" standalone="yes"?>
<Relationships xmlns="http://schemas.openxmlformats.org/package/2006/relationships"><Relationship Id="rId3" Type="http://schemas.openxmlformats.org/officeDocument/2006/relationships/image" Target="../media/image36.png"/><Relationship Id="rId4" Type="http://schemas.openxmlformats.org/officeDocument/2006/relationships/slide" Target="slide146.xml"/><Relationship Id="rId5" Type="http://schemas.openxmlformats.org/officeDocument/2006/relationships/image" Target="../media/image37.emf"/><Relationship Id="rId6" Type="http://schemas.openxmlformats.org/officeDocument/2006/relationships/image" Target="../media/image38.emf"/><Relationship Id="rId7" Type="http://schemas.openxmlformats.org/officeDocument/2006/relationships/image" Target="../media/image39.emf"/><Relationship Id="rId8" Type="http://schemas.openxmlformats.org/officeDocument/2006/relationships/image" Target="../media/image40.emf"/><Relationship Id="rId9" Type="http://schemas.openxmlformats.org/officeDocument/2006/relationships/image" Target="../media/image41.emf"/><Relationship Id="rId1" Type="http://schemas.openxmlformats.org/officeDocument/2006/relationships/slideLayout" Target="../slideLayouts/slideLayout7.xml"/><Relationship Id="rId2" Type="http://schemas.openxmlformats.org/officeDocument/2006/relationships/slide" Target="slide14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2.xml"/><Relationship Id="rId3" Type="http://schemas.openxmlformats.org/officeDocument/2006/relationships/image" Target="../media/image36.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6.xml"/></Relationships>
</file>

<file path=ppt/slides/_rels/slide154.xml.rels><?xml version="1.0" encoding="UTF-8" standalone="yes"?>
<Relationships xmlns="http://schemas.openxmlformats.org/package/2006/relationships"><Relationship Id="rId3" Type="http://schemas.openxmlformats.org/officeDocument/2006/relationships/image" Target="../media/image36.png"/><Relationship Id="rId4" Type="http://schemas.openxmlformats.org/officeDocument/2006/relationships/slide" Target="slide146.xml"/><Relationship Id="rId1" Type="http://schemas.openxmlformats.org/officeDocument/2006/relationships/slideLayout" Target="../slideLayouts/slideLayout7.xml"/><Relationship Id="rId2" Type="http://schemas.openxmlformats.org/officeDocument/2006/relationships/slide" Target="slide14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2.xml"/><Relationship Id="rId3" Type="http://schemas.openxmlformats.org/officeDocument/2006/relationships/slide" Target="slide13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0.xml"/><Relationship Id="rId3" Type="http://schemas.openxmlformats.org/officeDocument/2006/relationships/slide" Target="slide16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56.xml"/></Relationships>
</file>

<file path=ppt/slides/_rels/slide160.xml.rels><?xml version="1.0" encoding="UTF-8" standalone="yes"?>
<Relationships xmlns="http://schemas.openxmlformats.org/package/2006/relationships"><Relationship Id="rId3" Type="http://schemas.openxmlformats.org/officeDocument/2006/relationships/oleObject" Target="../embeddings/oleObject34.bin"/><Relationship Id="rId4" Type="http://schemas.openxmlformats.org/officeDocument/2006/relationships/image" Target="../media/image42.wmf"/><Relationship Id="rId5" Type="http://schemas.openxmlformats.org/officeDocument/2006/relationships/oleObject" Target="../embeddings/oleObject35.bin"/><Relationship Id="rId6" Type="http://schemas.openxmlformats.org/officeDocument/2006/relationships/image" Target="../media/image43.wmf"/><Relationship Id="rId7" Type="http://schemas.openxmlformats.org/officeDocument/2006/relationships/slide" Target="slide158.xml"/><Relationship Id="rId1" Type="http://schemas.openxmlformats.org/officeDocument/2006/relationships/vmlDrawing" Target="../drawings/vmlDrawing21.vml"/><Relationship Id="rId2"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oleObject" Target="../embeddings/oleObject36.bin"/><Relationship Id="rId4" Type="http://schemas.openxmlformats.org/officeDocument/2006/relationships/image" Target="../media/image44.wmf"/><Relationship Id="rId5" Type="http://schemas.openxmlformats.org/officeDocument/2006/relationships/slide" Target="slide158.xml"/><Relationship Id="rId1" Type="http://schemas.openxmlformats.org/officeDocument/2006/relationships/vmlDrawing" Target="../drawings/vmlDrawing22.vml"/><Relationship Id="rId2"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56.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slide" Target="slide161.xml"/><Relationship Id="rId4" Type="http://schemas.openxmlformats.org/officeDocument/2006/relationships/slide" Target="slide162.xml"/><Relationship Id="rId1" Type="http://schemas.openxmlformats.org/officeDocument/2006/relationships/slideLayout" Target="../slideLayouts/slideLayout7.xml"/><Relationship Id="rId2" Type="http://schemas.openxmlformats.org/officeDocument/2006/relationships/slide" Target="slide160.xml"/></Relationships>
</file>

<file path=ppt/slides/_rels/slide169.xml.rels><?xml version="1.0" encoding="UTF-8" standalone="yes"?>
<Relationships xmlns="http://schemas.openxmlformats.org/package/2006/relationships"><Relationship Id="rId3" Type="http://schemas.openxmlformats.org/officeDocument/2006/relationships/oleObject" Target="../embeddings/oleObject37.bin"/><Relationship Id="rId4" Type="http://schemas.openxmlformats.org/officeDocument/2006/relationships/image" Target="../media/image45.wmf"/><Relationship Id="rId5" Type="http://schemas.openxmlformats.org/officeDocument/2006/relationships/oleObject" Target="../embeddings/oleObject38.bin"/><Relationship Id="rId6" Type="http://schemas.openxmlformats.org/officeDocument/2006/relationships/image" Target="../media/image46.wmf"/><Relationship Id="rId7" Type="http://schemas.openxmlformats.org/officeDocument/2006/relationships/oleObject" Target="../embeddings/oleObject39.bin"/><Relationship Id="rId8" Type="http://schemas.openxmlformats.org/officeDocument/2006/relationships/image" Target="../media/image47.wmf"/><Relationship Id="rId1" Type="http://schemas.openxmlformats.org/officeDocument/2006/relationships/vmlDrawing" Target="../drawings/vmlDrawing23.vml"/><Relationship Id="rId2"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0.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0.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Text Box 2">
            <a:hlinkClick r:id="rId2" action="ppaction://hlinkpres?slideindex=1&amp;slidetitle=没有幻灯片标题"/>
          </p:cNvPr>
          <p:cNvSpPr txBox="1">
            <a:spLocks noChangeArrowheads="1"/>
          </p:cNvSpPr>
          <p:nvPr/>
        </p:nvSpPr>
        <p:spPr bwMode="auto">
          <a:xfrm>
            <a:off x="0" y="304800"/>
            <a:ext cx="9144000" cy="6065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endParaRPr lang="en-US" altLang="zh-CN" sz="3200" b="1" dirty="0">
              <a:solidFill>
                <a:srgbClr val="663300"/>
              </a:solidFill>
              <a:latin typeface="隶书" charset="0"/>
              <a:ea typeface="隶书" charset="0"/>
            </a:endParaRPr>
          </a:p>
          <a:p>
            <a:pPr algn="ctr"/>
            <a:r>
              <a:rPr lang="zh-CN" altLang="en-US" sz="16000" b="1" smtClean="0">
                <a:solidFill>
                  <a:srgbClr val="663300"/>
                </a:solidFill>
                <a:latin typeface="隶书" charset="0"/>
                <a:ea typeface="隶书" charset="0"/>
              </a:rPr>
              <a:t>第八章</a:t>
            </a:r>
            <a:endParaRPr lang="zh-CN" altLang="en-US" sz="16000" b="1" dirty="0">
              <a:solidFill>
                <a:srgbClr val="663300"/>
              </a:solidFill>
              <a:latin typeface="隶书" charset="0"/>
              <a:ea typeface="隶书" charset="0"/>
            </a:endParaRPr>
          </a:p>
          <a:p>
            <a:pPr algn="ctr"/>
            <a:r>
              <a:rPr lang="zh-CN" altLang="en-US" sz="16000" b="1" dirty="0">
                <a:solidFill>
                  <a:srgbClr val="663300"/>
                </a:solidFill>
                <a:latin typeface="隶书" charset="0"/>
                <a:ea typeface="隶书" charset="0"/>
              </a:rPr>
              <a:t>查 找</a:t>
            </a:r>
          </a:p>
          <a:p>
            <a:pPr algn="ctr"/>
            <a:endParaRPr lang="zh-CN" altLang="en-US" sz="4000" b="1" dirty="0">
              <a:solidFill>
                <a:srgbClr val="A50021"/>
              </a:solidFill>
              <a:latin typeface="隶书" charset="0"/>
              <a:ea typeface="隶书" charset="0"/>
            </a:endParaRPr>
          </a:p>
        </p:txBody>
      </p:sp>
    </p:spTree>
    <p:extLst>
      <p:ext uri="{BB962C8B-B14F-4D97-AF65-F5344CB8AC3E}">
        <p14:creationId xmlns:p14="http://schemas.microsoft.com/office/powerpoint/2010/main" val="58712218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2"/>
          <p:cNvSpPr txBox="1">
            <a:spLocks noChangeArrowheads="1"/>
          </p:cNvSpPr>
          <p:nvPr/>
        </p:nvSpPr>
        <p:spPr bwMode="auto">
          <a:xfrm>
            <a:off x="990600" y="706438"/>
            <a:ext cx="36417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FF00FF"/>
                </a:solidFill>
                <a:ea typeface="楷体_GB2312" charset="0"/>
              </a:rPr>
              <a:t>何谓查找表</a:t>
            </a:r>
            <a:r>
              <a:rPr lang="zh-CN" altLang="en-US" sz="4000" b="1">
                <a:solidFill>
                  <a:srgbClr val="FF00FF"/>
                </a:solidFill>
                <a:ea typeface="楷体_GB2312" charset="0"/>
              </a:rPr>
              <a:t> ？</a:t>
            </a:r>
            <a:endParaRPr lang="zh-CN" altLang="en-US" sz="4000"/>
          </a:p>
        </p:txBody>
      </p:sp>
      <p:sp>
        <p:nvSpPr>
          <p:cNvPr id="2052" name="Rectangle 4"/>
          <p:cNvSpPr>
            <a:spLocks noChangeArrowheads="1"/>
          </p:cNvSpPr>
          <p:nvPr/>
        </p:nvSpPr>
        <p:spPr bwMode="auto">
          <a:xfrm>
            <a:off x="609600" y="1752600"/>
            <a:ext cx="7924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lang="en-US" altLang="zh-CN" sz="4000">
                <a:solidFill>
                  <a:srgbClr val="660033"/>
                </a:solidFill>
                <a:ea typeface="楷体_GB2312" charset="0"/>
              </a:rPr>
              <a:t>   </a:t>
            </a:r>
            <a:r>
              <a:rPr lang="zh-CN" altLang="en-US" sz="4000">
                <a:solidFill>
                  <a:srgbClr val="660033"/>
                </a:solidFill>
                <a:ea typeface="楷体_GB2312" charset="0"/>
              </a:rPr>
              <a:t>查找表是由</a:t>
            </a:r>
            <a:r>
              <a:rPr lang="zh-CN" altLang="en-US" sz="4000" b="1">
                <a:solidFill>
                  <a:srgbClr val="660033"/>
                </a:solidFill>
                <a:ea typeface="楷体_GB2312" charset="0"/>
              </a:rPr>
              <a:t>同一类型</a:t>
            </a:r>
            <a:r>
              <a:rPr lang="zh-CN" altLang="en-US" sz="4000">
                <a:solidFill>
                  <a:srgbClr val="660033"/>
                </a:solidFill>
                <a:ea typeface="楷体_GB2312" charset="0"/>
              </a:rPr>
              <a:t>的数据元素</a:t>
            </a:r>
            <a:r>
              <a:rPr lang="en-US" altLang="zh-CN" sz="4000">
                <a:solidFill>
                  <a:srgbClr val="660033"/>
                </a:solidFill>
                <a:ea typeface="楷体_GB2312" charset="0"/>
              </a:rPr>
              <a:t>(</a:t>
            </a:r>
            <a:r>
              <a:rPr lang="zh-CN" altLang="en-US" sz="4000">
                <a:solidFill>
                  <a:srgbClr val="660033"/>
                </a:solidFill>
                <a:ea typeface="楷体_GB2312" charset="0"/>
              </a:rPr>
              <a:t>或记录</a:t>
            </a:r>
            <a:r>
              <a:rPr lang="en-US" altLang="zh-CN" sz="4000">
                <a:solidFill>
                  <a:srgbClr val="660033"/>
                </a:solidFill>
                <a:ea typeface="楷体_GB2312" charset="0"/>
              </a:rPr>
              <a:t>)</a:t>
            </a:r>
            <a:r>
              <a:rPr lang="zh-CN" altLang="en-US" sz="4000">
                <a:solidFill>
                  <a:srgbClr val="660033"/>
                </a:solidFill>
                <a:ea typeface="楷体_GB2312" charset="0"/>
              </a:rPr>
              <a:t>构成的</a:t>
            </a:r>
            <a:r>
              <a:rPr lang="zh-CN" altLang="en-US" sz="4000" b="1">
                <a:solidFill>
                  <a:srgbClr val="660033"/>
                </a:solidFill>
                <a:ea typeface="楷体_GB2312" charset="0"/>
              </a:rPr>
              <a:t>集合</a:t>
            </a:r>
            <a:r>
              <a:rPr lang="zh-CN" altLang="en-US" sz="4000">
                <a:solidFill>
                  <a:srgbClr val="660033"/>
                </a:solidFill>
                <a:ea typeface="楷体_GB2312" charset="0"/>
              </a:rPr>
              <a:t>。</a:t>
            </a:r>
          </a:p>
        </p:txBody>
      </p:sp>
      <p:sp>
        <p:nvSpPr>
          <p:cNvPr id="2053" name="Rectangle 5"/>
          <p:cNvSpPr>
            <a:spLocks noChangeArrowheads="1"/>
          </p:cNvSpPr>
          <p:nvPr/>
        </p:nvSpPr>
        <p:spPr bwMode="auto">
          <a:xfrm>
            <a:off x="609600" y="3810000"/>
            <a:ext cx="8077200" cy="248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lang="en-US" altLang="zh-CN" sz="4000">
                <a:solidFill>
                  <a:srgbClr val="660033"/>
                </a:solidFill>
                <a:ea typeface="楷体_GB2312" charset="0"/>
              </a:rPr>
              <a:t>   </a:t>
            </a:r>
            <a:r>
              <a:rPr lang="zh-CN" altLang="en-US" sz="3600">
                <a:solidFill>
                  <a:srgbClr val="660033"/>
                </a:solidFill>
                <a:ea typeface="楷体_GB2312" charset="0"/>
              </a:rPr>
              <a:t>由于“集合”中的数据元素之间存在着松散的关系，因此查找表是一种应用灵便的结构。</a:t>
            </a:r>
          </a:p>
        </p:txBody>
      </p:sp>
    </p:spTree>
    <p:extLst>
      <p:ext uri="{BB962C8B-B14F-4D97-AF65-F5344CB8AC3E}">
        <p14:creationId xmlns:p14="http://schemas.microsoft.com/office/powerpoint/2010/main" val="752389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linds(horizontal)">
                                      <p:cBhvr>
                                        <p:cTn id="7" dur="500"/>
                                        <p:tgtEl>
                                          <p:spTgt spid="2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checkerboard(across)">
                                      <p:cBhvr>
                                        <p:cTn id="12" dur="500"/>
                                        <p:tgtEl>
                                          <p:spTgt spid="20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053"/>
                                        </p:tgtEl>
                                        <p:attrNameLst>
                                          <p:attrName>style.visibility</p:attrName>
                                        </p:attrNameLst>
                                      </p:cBhvr>
                                      <p:to>
                                        <p:strVal val="visible"/>
                                      </p:to>
                                    </p:set>
                                    <p:animEffect transition="in" filter="checkerboard(across)">
                                      <p:cBhvr>
                                        <p:cTn id="17" dur="500"/>
                                        <p:tgtEl>
                                          <p:spTgt spid="2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autoUpdateAnimBg="0"/>
      <p:bldP spid="2052" grpId="0" autoUpdateAnimBg="0"/>
      <p:bldP spid="205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685800" y="381000"/>
            <a:ext cx="7772400" cy="1143000"/>
          </a:xfrm>
        </p:spPr>
        <p:txBody>
          <a:bodyPr/>
          <a:lstStyle/>
          <a:p>
            <a:pPr algn="just"/>
            <a:r>
              <a:rPr lang="zh-CN" altLang="en-US" b="1">
                <a:solidFill>
                  <a:srgbClr val="660033"/>
                </a:solidFill>
                <a:ea typeface="楷体_GB2312" charset="0"/>
              </a:rPr>
              <a:t>对查找表经常进行的</a:t>
            </a:r>
            <a:r>
              <a:rPr lang="zh-CN" altLang="en-US" b="1">
                <a:solidFill>
                  <a:srgbClr val="0000FF"/>
                </a:solidFill>
                <a:ea typeface="楷体_GB2312" charset="0"/>
              </a:rPr>
              <a:t>操作</a:t>
            </a:r>
            <a:r>
              <a:rPr lang="en-US" altLang="zh-CN" b="1">
                <a:solidFill>
                  <a:schemeClr val="tx1"/>
                </a:solidFill>
                <a:ea typeface="楷体_GB2312" charset="0"/>
              </a:rPr>
              <a:t>:</a:t>
            </a:r>
          </a:p>
        </p:txBody>
      </p:sp>
      <p:sp>
        <p:nvSpPr>
          <p:cNvPr id="17411" name="Rectangle 3"/>
          <p:cNvSpPr>
            <a:spLocks noGrp="1" noChangeArrowheads="1"/>
          </p:cNvSpPr>
          <p:nvPr>
            <p:ph type="body" idx="4294967295"/>
          </p:nvPr>
        </p:nvSpPr>
        <p:spPr>
          <a:xfrm>
            <a:off x="685800" y="1676400"/>
            <a:ext cx="7772400" cy="4495800"/>
          </a:xfrm>
        </p:spPr>
        <p:txBody>
          <a:bodyPr/>
          <a:lstStyle/>
          <a:p>
            <a:pPr algn="just">
              <a:lnSpc>
                <a:spcPct val="125000"/>
              </a:lnSpc>
            </a:pPr>
            <a:r>
              <a:rPr lang="en-US" altLang="zh-CN" sz="3600">
                <a:ea typeface="楷体_GB2312" charset="0"/>
              </a:rPr>
              <a:t>1</a:t>
            </a:r>
            <a:r>
              <a:rPr lang="zh-CN" altLang="en-US" sz="3600">
                <a:ea typeface="楷体_GB2312" charset="0"/>
              </a:rPr>
              <a:t>）</a:t>
            </a:r>
            <a:r>
              <a:rPr lang="zh-CN" altLang="en-US" sz="3600" b="1">
                <a:solidFill>
                  <a:srgbClr val="0000FF"/>
                </a:solidFill>
                <a:ea typeface="楷体_GB2312" charset="0"/>
              </a:rPr>
              <a:t>查询</a:t>
            </a:r>
            <a:r>
              <a:rPr lang="zh-CN" altLang="en-US" sz="3600">
                <a:ea typeface="楷体_GB2312" charset="0"/>
              </a:rPr>
              <a:t>某个</a:t>
            </a:r>
            <a:r>
              <a:rPr lang="zh-CN" altLang="en-US" sz="3600">
                <a:solidFill>
                  <a:srgbClr val="FF0000"/>
                </a:solidFill>
                <a:ea typeface="楷体_GB2312" charset="0"/>
              </a:rPr>
              <a:t>“特定的”</a:t>
            </a:r>
            <a:r>
              <a:rPr lang="zh-CN" altLang="en-US" sz="3600">
                <a:ea typeface="楷体_GB2312" charset="0"/>
              </a:rPr>
              <a:t>数据元素是否在查找表中；</a:t>
            </a:r>
          </a:p>
          <a:p>
            <a:pPr algn="just">
              <a:lnSpc>
                <a:spcPct val="125000"/>
              </a:lnSpc>
            </a:pPr>
            <a:r>
              <a:rPr lang="en-US" altLang="zh-CN" sz="3600">
                <a:ea typeface="楷体_GB2312" charset="0"/>
              </a:rPr>
              <a:t>2</a:t>
            </a:r>
            <a:r>
              <a:rPr lang="zh-CN" altLang="en-US" sz="3600">
                <a:ea typeface="楷体_GB2312" charset="0"/>
              </a:rPr>
              <a:t>）</a:t>
            </a:r>
            <a:r>
              <a:rPr lang="zh-CN" altLang="en-US" sz="3600" b="1">
                <a:solidFill>
                  <a:srgbClr val="0000FF"/>
                </a:solidFill>
                <a:ea typeface="楷体_GB2312" charset="0"/>
              </a:rPr>
              <a:t>检索</a:t>
            </a:r>
            <a:r>
              <a:rPr lang="zh-CN" altLang="en-US" sz="3600">
                <a:ea typeface="楷体_GB2312" charset="0"/>
              </a:rPr>
              <a:t>某个</a:t>
            </a:r>
            <a:r>
              <a:rPr lang="zh-CN" altLang="en-US" sz="3600">
                <a:solidFill>
                  <a:srgbClr val="FF0000"/>
                </a:solidFill>
                <a:ea typeface="楷体_GB2312" charset="0"/>
              </a:rPr>
              <a:t>“特定的”</a:t>
            </a:r>
            <a:r>
              <a:rPr lang="zh-CN" altLang="en-US" sz="3600">
                <a:ea typeface="楷体_GB2312" charset="0"/>
              </a:rPr>
              <a:t>数据元素的各种属性；</a:t>
            </a:r>
          </a:p>
          <a:p>
            <a:pPr algn="just">
              <a:lnSpc>
                <a:spcPct val="125000"/>
              </a:lnSpc>
            </a:pPr>
            <a:r>
              <a:rPr lang="en-US" altLang="zh-CN" sz="3600">
                <a:ea typeface="楷体_GB2312" charset="0"/>
              </a:rPr>
              <a:t>3</a:t>
            </a:r>
            <a:r>
              <a:rPr lang="zh-CN" altLang="en-US" sz="3600">
                <a:ea typeface="楷体_GB2312" charset="0"/>
              </a:rPr>
              <a:t>）在查找表中</a:t>
            </a:r>
            <a:r>
              <a:rPr lang="zh-CN" altLang="en-US" sz="3600" b="1">
                <a:solidFill>
                  <a:srgbClr val="0000FF"/>
                </a:solidFill>
                <a:ea typeface="楷体_GB2312" charset="0"/>
              </a:rPr>
              <a:t>插入</a:t>
            </a:r>
            <a:r>
              <a:rPr lang="zh-CN" altLang="en-US" sz="3600">
                <a:ea typeface="楷体_GB2312" charset="0"/>
              </a:rPr>
              <a:t>一个数据元素；</a:t>
            </a:r>
          </a:p>
          <a:p>
            <a:pPr algn="just">
              <a:lnSpc>
                <a:spcPct val="125000"/>
              </a:lnSpc>
            </a:pPr>
            <a:r>
              <a:rPr lang="en-US" altLang="zh-CN" sz="3600">
                <a:ea typeface="楷体_GB2312" charset="0"/>
              </a:rPr>
              <a:t>4</a:t>
            </a:r>
            <a:r>
              <a:rPr lang="zh-CN" altLang="en-US" sz="3600">
                <a:ea typeface="楷体_GB2312" charset="0"/>
              </a:rPr>
              <a:t>）从查找表中</a:t>
            </a:r>
            <a:r>
              <a:rPr lang="zh-CN" altLang="en-US" sz="3600" b="1">
                <a:solidFill>
                  <a:srgbClr val="0000FF"/>
                </a:solidFill>
                <a:ea typeface="楷体_GB2312" charset="0"/>
              </a:rPr>
              <a:t>删去</a:t>
            </a:r>
            <a:r>
              <a:rPr lang="zh-CN" altLang="en-US" sz="3600">
                <a:ea typeface="楷体_GB2312" charset="0"/>
              </a:rPr>
              <a:t>某个数据元素。</a:t>
            </a:r>
          </a:p>
        </p:txBody>
      </p:sp>
    </p:spTree>
    <p:extLst>
      <p:ext uri="{BB962C8B-B14F-4D97-AF65-F5344CB8AC3E}">
        <p14:creationId xmlns:p14="http://schemas.microsoft.com/office/powerpoint/2010/main" val="5926787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 calcmode="lin" valueType="num">
                                      <p:cBhvr>
                                        <p:cTn id="7" dur="500" fill="hold"/>
                                        <p:tgtEl>
                                          <p:spTgt spid="17410"/>
                                        </p:tgtEl>
                                        <p:attrNameLst>
                                          <p:attrName>ppt_w</p:attrName>
                                        </p:attrNameLst>
                                      </p:cBhvr>
                                      <p:tavLst>
                                        <p:tav tm="0">
                                          <p:val>
                                            <p:fltVal val="0"/>
                                          </p:val>
                                        </p:tav>
                                        <p:tav tm="100000">
                                          <p:val>
                                            <p:strVal val="#ppt_w"/>
                                          </p:val>
                                        </p:tav>
                                      </p:tavLst>
                                    </p:anim>
                                    <p:anim calcmode="lin" valueType="num">
                                      <p:cBhvr>
                                        <p:cTn id="8" dur="500" fill="hold"/>
                                        <p:tgtEl>
                                          <p:spTgt spid="1741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7411">
                                            <p:txEl>
                                              <p:pRg st="0" end="0"/>
                                            </p:txEl>
                                          </p:spTgt>
                                        </p:tgtEl>
                                        <p:attrNameLst>
                                          <p:attrName>style.visibility</p:attrName>
                                        </p:attrNameLst>
                                      </p:cBhvr>
                                      <p:to>
                                        <p:strVal val="visible"/>
                                      </p:to>
                                    </p:set>
                                    <p:animEffect transition="in" filter="wipe(left)">
                                      <p:cBhvr>
                                        <p:cTn id="13" dur="500"/>
                                        <p:tgtEl>
                                          <p:spTgt spid="17411">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7411">
                                            <p:txEl>
                                              <p:pRg st="1" end="1"/>
                                            </p:txEl>
                                          </p:spTgt>
                                        </p:tgtEl>
                                        <p:attrNameLst>
                                          <p:attrName>style.visibility</p:attrName>
                                        </p:attrNameLst>
                                      </p:cBhvr>
                                      <p:to>
                                        <p:strVal val="visible"/>
                                      </p:to>
                                    </p:set>
                                    <p:animEffect transition="in" filter="wipe(left)">
                                      <p:cBhvr>
                                        <p:cTn id="18" dur="500"/>
                                        <p:tgtEl>
                                          <p:spTgt spid="17411">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7411">
                                            <p:txEl>
                                              <p:pRg st="2" end="2"/>
                                            </p:txEl>
                                          </p:spTgt>
                                        </p:tgtEl>
                                        <p:attrNameLst>
                                          <p:attrName>style.visibility</p:attrName>
                                        </p:attrNameLst>
                                      </p:cBhvr>
                                      <p:to>
                                        <p:strVal val="visible"/>
                                      </p:to>
                                    </p:set>
                                    <p:animEffect transition="in" filter="wipe(left)">
                                      <p:cBhvr>
                                        <p:cTn id="23" dur="500"/>
                                        <p:tgtEl>
                                          <p:spTgt spid="17411">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411">
                                            <p:txEl>
                                              <p:pRg st="3" end="3"/>
                                            </p:txEl>
                                          </p:spTgt>
                                        </p:tgtEl>
                                        <p:attrNameLst>
                                          <p:attrName>style.visibility</p:attrName>
                                        </p:attrNameLst>
                                      </p:cBhvr>
                                      <p:to>
                                        <p:strVal val="visible"/>
                                      </p:to>
                                    </p:set>
                                    <p:animEffect transition="in" filter="wipe(left)">
                                      <p:cBhvr>
                                        <p:cTn id="28" dur="500"/>
                                        <p:tgtEl>
                                          <p:spTgt spid="174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utoUpdateAnimBg="0"/>
      <p:bldP spid="17411"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762000" y="1949450"/>
            <a:ext cx="6584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ea typeface="楷体_GB2312" charset="0"/>
              </a:rPr>
              <a:t>仅作</a:t>
            </a:r>
            <a:r>
              <a:rPr lang="zh-CN" altLang="en-US" sz="3600">
                <a:solidFill>
                  <a:schemeClr val="accent2"/>
                </a:solidFill>
                <a:ea typeface="楷体_GB2312" charset="0"/>
              </a:rPr>
              <a:t>查询</a:t>
            </a:r>
            <a:r>
              <a:rPr lang="zh-CN" altLang="en-US" sz="3600">
                <a:ea typeface="楷体_GB2312" charset="0"/>
              </a:rPr>
              <a:t>和</a:t>
            </a:r>
            <a:r>
              <a:rPr lang="zh-CN" altLang="en-US" sz="3600">
                <a:solidFill>
                  <a:schemeClr val="accent2"/>
                </a:solidFill>
                <a:ea typeface="楷体_GB2312" charset="0"/>
              </a:rPr>
              <a:t>检索</a:t>
            </a:r>
            <a:r>
              <a:rPr lang="zh-CN" altLang="en-US" sz="3600">
                <a:ea typeface="楷体_GB2312" charset="0"/>
              </a:rPr>
              <a:t>操作的查找表。</a:t>
            </a:r>
            <a:endParaRPr lang="zh-CN" altLang="en-US"/>
          </a:p>
        </p:txBody>
      </p:sp>
      <p:sp>
        <p:nvSpPr>
          <p:cNvPr id="18435" name="Text Box 3"/>
          <p:cNvSpPr txBox="1">
            <a:spLocks noChangeArrowheads="1"/>
          </p:cNvSpPr>
          <p:nvPr/>
        </p:nvSpPr>
        <p:spPr bwMode="auto">
          <a:xfrm>
            <a:off x="884238" y="1066800"/>
            <a:ext cx="3001962"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FF00FF"/>
                </a:solidFill>
                <a:ea typeface="楷体_GB2312" charset="0"/>
              </a:rPr>
              <a:t>静态查找表</a:t>
            </a:r>
            <a:endParaRPr lang="zh-CN" altLang="en-US"/>
          </a:p>
        </p:txBody>
      </p:sp>
      <p:sp>
        <p:nvSpPr>
          <p:cNvPr id="18436" name="Text Box 4"/>
          <p:cNvSpPr txBox="1">
            <a:spLocks noChangeArrowheads="1"/>
          </p:cNvSpPr>
          <p:nvPr/>
        </p:nvSpPr>
        <p:spPr bwMode="auto">
          <a:xfrm>
            <a:off x="533400" y="3749675"/>
            <a:ext cx="8305800" cy="272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zh-CN" altLang="en-US" sz="3600">
                <a:ea typeface="楷体_GB2312" charset="0"/>
              </a:rPr>
              <a:t>有时在查询之后，还需要将“查询”结果为“</a:t>
            </a:r>
            <a:r>
              <a:rPr lang="zh-CN" altLang="en-US" sz="3600">
                <a:solidFill>
                  <a:srgbClr val="006600"/>
                </a:solidFill>
                <a:ea typeface="楷体_GB2312" charset="0"/>
              </a:rPr>
              <a:t>不在查找表中</a:t>
            </a:r>
            <a:r>
              <a:rPr lang="zh-CN" altLang="en-US" sz="3600">
                <a:ea typeface="楷体_GB2312" charset="0"/>
              </a:rPr>
              <a:t>”的数据元素</a:t>
            </a:r>
            <a:r>
              <a:rPr lang="zh-CN" altLang="en-US" sz="3600">
                <a:solidFill>
                  <a:srgbClr val="006600"/>
                </a:solidFill>
                <a:ea typeface="楷体_GB2312" charset="0"/>
              </a:rPr>
              <a:t>插入到</a:t>
            </a:r>
            <a:r>
              <a:rPr lang="zh-CN" altLang="en-US" sz="3600">
                <a:ea typeface="楷体_GB2312" charset="0"/>
              </a:rPr>
              <a:t>查找表中；或者，从查找表中</a:t>
            </a:r>
            <a:r>
              <a:rPr lang="zh-CN" altLang="en-US" sz="3600">
                <a:solidFill>
                  <a:srgbClr val="9900CC"/>
                </a:solidFill>
                <a:ea typeface="楷体_GB2312" charset="0"/>
              </a:rPr>
              <a:t>删除</a:t>
            </a:r>
            <a:r>
              <a:rPr lang="zh-CN" altLang="en-US" sz="3600">
                <a:ea typeface="楷体_GB2312" charset="0"/>
              </a:rPr>
              <a:t>其“查询”结果为“</a:t>
            </a:r>
            <a:r>
              <a:rPr lang="zh-CN" altLang="en-US" sz="3600">
                <a:solidFill>
                  <a:srgbClr val="9900CC"/>
                </a:solidFill>
                <a:ea typeface="楷体_GB2312" charset="0"/>
              </a:rPr>
              <a:t>在查找表中</a:t>
            </a:r>
            <a:r>
              <a:rPr lang="zh-CN" altLang="en-US" sz="3600">
                <a:ea typeface="楷体_GB2312" charset="0"/>
              </a:rPr>
              <a:t>”的数据元素。</a:t>
            </a:r>
            <a:endParaRPr lang="zh-CN" altLang="en-US" sz="4000"/>
          </a:p>
        </p:txBody>
      </p:sp>
      <p:sp>
        <p:nvSpPr>
          <p:cNvPr id="18437" name="Text Box 5"/>
          <p:cNvSpPr txBox="1">
            <a:spLocks noChangeArrowheads="1"/>
          </p:cNvSpPr>
          <p:nvPr/>
        </p:nvSpPr>
        <p:spPr bwMode="auto">
          <a:xfrm>
            <a:off x="884238" y="2895600"/>
            <a:ext cx="3001962"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FF00FF"/>
                </a:solidFill>
                <a:ea typeface="楷体_GB2312" charset="0"/>
              </a:rPr>
              <a:t>动态查找表</a:t>
            </a:r>
            <a:endParaRPr lang="zh-CN" altLang="en-US"/>
          </a:p>
        </p:txBody>
      </p:sp>
      <p:pic>
        <p:nvPicPr>
          <p:cNvPr id="18440" name="Picture 8" descr="Pebb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109663"/>
            <a:ext cx="381000" cy="361950"/>
          </a:xfrm>
          <a:prstGeom prst="rect">
            <a:avLst/>
          </a:prstGeom>
          <a:noFill/>
          <a:extLst>
            <a:ext uri="{909E8E84-426E-40DD-AFC4-6F175D3DCCD1}">
              <a14:hiddenFill xmlns:a14="http://schemas.microsoft.com/office/drawing/2010/main">
                <a:solidFill>
                  <a:srgbClr val="FFFFFF"/>
                </a:solidFill>
              </a14:hiddenFill>
            </a:ext>
          </a:extLst>
        </p:spPr>
      </p:pic>
      <p:pic>
        <p:nvPicPr>
          <p:cNvPr id="18441" name="Picture 9" descr="Pebb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914650"/>
            <a:ext cx="381000" cy="361950"/>
          </a:xfrm>
          <a:prstGeom prst="rect">
            <a:avLst/>
          </a:prstGeom>
          <a:noFill/>
          <a:extLst>
            <a:ext uri="{909E8E84-426E-40DD-AFC4-6F175D3DCCD1}">
              <a14:hiddenFill xmlns:a14="http://schemas.microsoft.com/office/drawing/2010/main">
                <a:solidFill>
                  <a:srgbClr val="FFFFFF"/>
                </a:solidFill>
              </a14:hiddenFill>
            </a:ext>
          </a:extLst>
        </p:spPr>
      </p:pic>
      <p:sp>
        <p:nvSpPr>
          <p:cNvPr id="18442" name="Text Box 10"/>
          <p:cNvSpPr txBox="1">
            <a:spLocks noChangeArrowheads="1"/>
          </p:cNvSpPr>
          <p:nvPr/>
        </p:nvSpPr>
        <p:spPr bwMode="auto">
          <a:xfrm>
            <a:off x="457200" y="196850"/>
            <a:ext cx="4019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660033"/>
                </a:solidFill>
                <a:ea typeface="隶书" charset="0"/>
              </a:rPr>
              <a:t>查找表可分为两类</a:t>
            </a:r>
            <a:r>
              <a:rPr lang="en-US" altLang="zh-CN" sz="3600" b="1">
                <a:solidFill>
                  <a:srgbClr val="660033"/>
                </a:solidFill>
                <a:ea typeface="隶书" charset="0"/>
              </a:rPr>
              <a:t>:</a:t>
            </a:r>
            <a:endParaRPr lang="en-US" altLang="zh-CN" sz="3600">
              <a:ea typeface="隶书" charset="0"/>
            </a:endParaRPr>
          </a:p>
        </p:txBody>
      </p:sp>
    </p:spTree>
    <p:extLst>
      <p:ext uri="{BB962C8B-B14F-4D97-AF65-F5344CB8AC3E}">
        <p14:creationId xmlns:p14="http://schemas.microsoft.com/office/powerpoint/2010/main" val="12699810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442"/>
                                        </p:tgtEl>
                                        <p:attrNameLst>
                                          <p:attrName>style.visibility</p:attrName>
                                        </p:attrNameLst>
                                      </p:cBhvr>
                                      <p:to>
                                        <p:strVal val="visible"/>
                                      </p:to>
                                    </p:set>
                                    <p:anim calcmode="lin" valueType="num">
                                      <p:cBhvr additive="base">
                                        <p:cTn id="7" dur="500" fill="hold"/>
                                        <p:tgtEl>
                                          <p:spTgt spid="18442"/>
                                        </p:tgtEl>
                                        <p:attrNameLst>
                                          <p:attrName>ppt_x</p:attrName>
                                        </p:attrNameLst>
                                      </p:cBhvr>
                                      <p:tavLst>
                                        <p:tav tm="0">
                                          <p:val>
                                            <p:strVal val="0-#ppt_w/2"/>
                                          </p:val>
                                        </p:tav>
                                        <p:tav tm="100000">
                                          <p:val>
                                            <p:strVal val="#ppt_x"/>
                                          </p:val>
                                        </p:tav>
                                      </p:tavLst>
                                    </p:anim>
                                    <p:anim calcmode="lin" valueType="num">
                                      <p:cBhvr additive="base">
                                        <p:cTn id="8" dur="500" fill="hold"/>
                                        <p:tgtEl>
                                          <p:spTgt spid="1844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18440"/>
                                        </p:tgtEl>
                                        <p:attrNameLst>
                                          <p:attrName>style.visibility</p:attrName>
                                        </p:attrNameLst>
                                      </p:cBhvr>
                                      <p:to>
                                        <p:strVal val="visible"/>
                                      </p:to>
                                    </p:se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8435"/>
                                        </p:tgtEl>
                                        <p:attrNameLst>
                                          <p:attrName>style.visibility</p:attrName>
                                        </p:attrNameLst>
                                      </p:cBhvr>
                                      <p:to>
                                        <p:strVal val="visible"/>
                                      </p:to>
                                    </p:set>
                                    <p:animEffect transition="in" filter="wipe(left)">
                                      <p:cBhvr>
                                        <p:cTn id="16" dur="500"/>
                                        <p:tgtEl>
                                          <p:spTgt spid="1843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18441"/>
                                        </p:tgtEl>
                                        <p:attrNameLst>
                                          <p:attrName>style.visibility</p:attrName>
                                        </p:attrNameLst>
                                      </p:cBhvr>
                                      <p:to>
                                        <p:strVal val="visible"/>
                                      </p:to>
                                    </p:set>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8437"/>
                                        </p:tgtEl>
                                        <p:attrNameLst>
                                          <p:attrName>style.visibility</p:attrName>
                                        </p:attrNameLst>
                                      </p:cBhvr>
                                      <p:to>
                                        <p:strVal val="visible"/>
                                      </p:to>
                                    </p:set>
                                    <p:animEffect transition="in" filter="wipe(left)">
                                      <p:cBhvr>
                                        <p:cTn id="24" dur="500"/>
                                        <p:tgtEl>
                                          <p:spTgt spid="1843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8434"/>
                                        </p:tgtEl>
                                        <p:attrNameLst>
                                          <p:attrName>style.visibility</p:attrName>
                                        </p:attrNameLst>
                                      </p:cBhvr>
                                      <p:to>
                                        <p:strVal val="visible"/>
                                      </p:to>
                                    </p:set>
                                    <p:animEffect transition="in" filter="wipe(left)">
                                      <p:cBhvr>
                                        <p:cTn id="29" dur="500"/>
                                        <p:tgtEl>
                                          <p:spTgt spid="1843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18436"/>
                                        </p:tgtEl>
                                        <p:attrNameLst>
                                          <p:attrName>style.visibility</p:attrName>
                                        </p:attrNameLst>
                                      </p:cBhvr>
                                      <p:to>
                                        <p:strVal val="visible"/>
                                      </p:to>
                                    </p:set>
                                    <p:animEffect transition="in" filter="slide(fromBottom)">
                                      <p:cBhvr>
                                        <p:cTn id="34" dur="500"/>
                                        <p:tgtEl>
                                          <p:spTgt spid="18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5" grpId="0" autoUpdateAnimBg="0"/>
      <p:bldP spid="18436" grpId="0" autoUpdateAnimBg="0"/>
      <p:bldP spid="18437" grpId="0" autoUpdateAnimBg="0"/>
      <p:bldP spid="18442"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609600" y="1127125"/>
            <a:ext cx="7543800" cy="206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zh-CN" altLang="en-US" sz="3600">
                <a:ea typeface="楷体_GB2312" charset="0"/>
              </a:rPr>
              <a:t>是数据元素（或记录）中某个</a:t>
            </a:r>
            <a:r>
              <a:rPr lang="zh-CN" altLang="en-US" sz="3600" b="1">
                <a:solidFill>
                  <a:srgbClr val="660033"/>
                </a:solidFill>
                <a:ea typeface="楷体_GB2312" charset="0"/>
              </a:rPr>
              <a:t>数据项</a:t>
            </a:r>
            <a:r>
              <a:rPr lang="zh-CN" altLang="en-US" sz="3600">
                <a:ea typeface="楷体_GB2312" charset="0"/>
              </a:rPr>
              <a:t>的值，用以</a:t>
            </a:r>
            <a:r>
              <a:rPr lang="zh-CN" altLang="en-US" sz="3600" b="1">
                <a:solidFill>
                  <a:srgbClr val="660033"/>
                </a:solidFill>
                <a:ea typeface="楷体_GB2312" charset="0"/>
              </a:rPr>
              <a:t>标识</a:t>
            </a:r>
            <a:r>
              <a:rPr lang="zh-CN" altLang="en-US" sz="3600">
                <a:ea typeface="楷体_GB2312" charset="0"/>
              </a:rPr>
              <a:t>（识别）一个数据元素（或记录）。</a:t>
            </a:r>
            <a:endParaRPr lang="zh-CN" altLang="en-US" sz="4000"/>
          </a:p>
        </p:txBody>
      </p:sp>
      <p:sp>
        <p:nvSpPr>
          <p:cNvPr id="19459" name="Text Box 3"/>
          <p:cNvSpPr txBox="1">
            <a:spLocks noChangeArrowheads="1"/>
          </p:cNvSpPr>
          <p:nvPr/>
        </p:nvSpPr>
        <p:spPr bwMode="auto">
          <a:xfrm>
            <a:off x="457200" y="152400"/>
            <a:ext cx="2027238"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800" b="1">
                <a:solidFill>
                  <a:srgbClr val="FF00FF"/>
                </a:solidFill>
                <a:ea typeface="楷体_GB2312" charset="0"/>
              </a:rPr>
              <a:t>关键字</a:t>
            </a:r>
            <a:endParaRPr lang="zh-CN" altLang="en-US"/>
          </a:p>
        </p:txBody>
      </p:sp>
      <p:sp>
        <p:nvSpPr>
          <p:cNvPr id="19460" name="Text Box 4"/>
          <p:cNvSpPr txBox="1">
            <a:spLocks noChangeArrowheads="1"/>
          </p:cNvSpPr>
          <p:nvPr/>
        </p:nvSpPr>
        <p:spPr bwMode="auto">
          <a:xfrm>
            <a:off x="609600" y="3429000"/>
            <a:ext cx="79248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3600">
                <a:ea typeface="楷体_GB2312" charset="0"/>
              </a:rPr>
              <a:t>    </a:t>
            </a:r>
            <a:r>
              <a:rPr lang="zh-CN" altLang="en-US" sz="3600">
                <a:ea typeface="楷体_GB2312" charset="0"/>
              </a:rPr>
              <a:t>若此关键字可以识别</a:t>
            </a:r>
            <a:r>
              <a:rPr lang="zh-CN" altLang="en-US" sz="3600" b="1">
                <a:solidFill>
                  <a:srgbClr val="660033"/>
                </a:solidFill>
                <a:ea typeface="楷体_GB2312" charset="0"/>
              </a:rPr>
              <a:t>唯一的</a:t>
            </a:r>
            <a:r>
              <a:rPr lang="zh-CN" altLang="en-US" sz="3600">
                <a:ea typeface="楷体_GB2312" charset="0"/>
              </a:rPr>
              <a:t>一个记录，则称之谓</a:t>
            </a:r>
            <a:r>
              <a:rPr lang="zh-CN" altLang="en-US" sz="3600">
                <a:solidFill>
                  <a:srgbClr val="FF00FF"/>
                </a:solidFill>
                <a:ea typeface="楷体_GB2312" charset="0"/>
              </a:rPr>
              <a:t>“</a:t>
            </a:r>
            <a:r>
              <a:rPr lang="zh-CN" altLang="en-US" sz="3600" b="1">
                <a:solidFill>
                  <a:srgbClr val="FF00FF"/>
                </a:solidFill>
                <a:ea typeface="楷体_GB2312" charset="0"/>
              </a:rPr>
              <a:t>主关键字</a:t>
            </a:r>
            <a:r>
              <a:rPr lang="zh-CN" altLang="en-US" sz="3600">
                <a:solidFill>
                  <a:srgbClr val="FF00FF"/>
                </a:solidFill>
                <a:ea typeface="楷体_GB2312" charset="0"/>
              </a:rPr>
              <a:t>”。</a:t>
            </a:r>
            <a:endParaRPr lang="zh-CN" altLang="en-US"/>
          </a:p>
        </p:txBody>
      </p:sp>
      <p:sp>
        <p:nvSpPr>
          <p:cNvPr id="19462" name="Text Box 6"/>
          <p:cNvSpPr txBox="1">
            <a:spLocks noChangeArrowheads="1"/>
          </p:cNvSpPr>
          <p:nvPr/>
        </p:nvSpPr>
        <p:spPr bwMode="auto">
          <a:xfrm>
            <a:off x="609600" y="5075238"/>
            <a:ext cx="7505700" cy="148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lang="en-US" altLang="zh-CN" sz="3600">
                <a:ea typeface="楷体_GB2312" charset="0"/>
              </a:rPr>
              <a:t>    </a:t>
            </a:r>
            <a:r>
              <a:rPr lang="zh-CN" altLang="en-US" sz="3600">
                <a:ea typeface="楷体_GB2312" charset="0"/>
              </a:rPr>
              <a:t>若此关键字能识别</a:t>
            </a:r>
            <a:r>
              <a:rPr lang="zh-CN" altLang="en-US" sz="3600" b="1">
                <a:solidFill>
                  <a:srgbClr val="660033"/>
                </a:solidFill>
                <a:ea typeface="楷体_GB2312" charset="0"/>
              </a:rPr>
              <a:t>若干</a:t>
            </a:r>
            <a:r>
              <a:rPr lang="zh-CN" altLang="en-US" sz="3600">
                <a:ea typeface="楷体_GB2312" charset="0"/>
              </a:rPr>
              <a:t>记录，则称</a:t>
            </a:r>
          </a:p>
          <a:p>
            <a:pPr>
              <a:lnSpc>
                <a:spcPct val="120000"/>
              </a:lnSpc>
            </a:pPr>
            <a:r>
              <a:rPr lang="zh-CN" altLang="en-US" sz="3600">
                <a:ea typeface="楷体_GB2312" charset="0"/>
              </a:rPr>
              <a:t>之谓</a:t>
            </a:r>
            <a:r>
              <a:rPr lang="zh-CN" altLang="en-US" sz="3600">
                <a:solidFill>
                  <a:srgbClr val="FF00FF"/>
                </a:solidFill>
                <a:ea typeface="楷体_GB2312" charset="0"/>
              </a:rPr>
              <a:t>“</a:t>
            </a:r>
            <a:r>
              <a:rPr lang="zh-CN" altLang="en-US" sz="3600" b="1">
                <a:solidFill>
                  <a:srgbClr val="FF00FF"/>
                </a:solidFill>
                <a:ea typeface="楷体_GB2312" charset="0"/>
              </a:rPr>
              <a:t>次关键字</a:t>
            </a:r>
            <a:r>
              <a:rPr lang="zh-CN" altLang="en-US" sz="3600">
                <a:solidFill>
                  <a:srgbClr val="FF00FF"/>
                </a:solidFill>
                <a:ea typeface="楷体_GB2312" charset="0"/>
              </a:rPr>
              <a:t>”</a:t>
            </a:r>
            <a:r>
              <a:rPr lang="zh-CN" altLang="en-US" sz="4000" b="1">
                <a:solidFill>
                  <a:srgbClr val="FF00FF"/>
                </a:solidFill>
                <a:ea typeface="楷体_GB2312" charset="0"/>
              </a:rPr>
              <a:t>。</a:t>
            </a:r>
            <a:endParaRPr lang="zh-CN" altLang="en-US"/>
          </a:p>
        </p:txBody>
      </p:sp>
    </p:spTree>
    <p:extLst>
      <p:ext uri="{BB962C8B-B14F-4D97-AF65-F5344CB8AC3E}">
        <p14:creationId xmlns:p14="http://schemas.microsoft.com/office/powerpoint/2010/main" val="5114063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19459"/>
                                        </p:tgtEl>
                                        <p:attrNameLst>
                                          <p:attrName>style.visibility</p:attrName>
                                        </p:attrNameLst>
                                      </p:cBhvr>
                                      <p:to>
                                        <p:strVal val="visible"/>
                                      </p:to>
                                    </p:set>
                                    <p:anim calcmode="lin" valueType="num">
                                      <p:cBhvr>
                                        <p:cTn id="7" dur="500" fill="hold"/>
                                        <p:tgtEl>
                                          <p:spTgt spid="19459"/>
                                        </p:tgtEl>
                                        <p:attrNameLst>
                                          <p:attrName>ppt_x</p:attrName>
                                        </p:attrNameLst>
                                      </p:cBhvr>
                                      <p:tavLst>
                                        <p:tav tm="0">
                                          <p:val>
                                            <p:strVal val="#ppt_x"/>
                                          </p:val>
                                        </p:tav>
                                        <p:tav tm="100000">
                                          <p:val>
                                            <p:strVal val="#ppt_x"/>
                                          </p:val>
                                        </p:tav>
                                      </p:tavLst>
                                    </p:anim>
                                    <p:anim calcmode="lin" valueType="num">
                                      <p:cBhvr>
                                        <p:cTn id="8" dur="500" fill="hold"/>
                                        <p:tgtEl>
                                          <p:spTgt spid="19459"/>
                                        </p:tgtEl>
                                        <p:attrNameLst>
                                          <p:attrName>ppt_y</p:attrName>
                                        </p:attrNameLst>
                                      </p:cBhvr>
                                      <p:tavLst>
                                        <p:tav tm="0">
                                          <p:val>
                                            <p:strVal val="#ppt_y-#ppt_h/2"/>
                                          </p:val>
                                        </p:tav>
                                        <p:tav tm="100000">
                                          <p:val>
                                            <p:strVal val="#ppt_y"/>
                                          </p:val>
                                        </p:tav>
                                      </p:tavLst>
                                    </p:anim>
                                    <p:anim calcmode="lin" valueType="num">
                                      <p:cBhvr>
                                        <p:cTn id="9" dur="500" fill="hold"/>
                                        <p:tgtEl>
                                          <p:spTgt spid="19459"/>
                                        </p:tgtEl>
                                        <p:attrNameLst>
                                          <p:attrName>ppt_w</p:attrName>
                                        </p:attrNameLst>
                                      </p:cBhvr>
                                      <p:tavLst>
                                        <p:tav tm="0">
                                          <p:val>
                                            <p:strVal val="#ppt_w"/>
                                          </p:val>
                                        </p:tav>
                                        <p:tav tm="100000">
                                          <p:val>
                                            <p:strVal val="#ppt_w"/>
                                          </p:val>
                                        </p:tav>
                                      </p:tavLst>
                                    </p:anim>
                                    <p:anim calcmode="lin" valueType="num">
                                      <p:cBhvr>
                                        <p:cTn id="10" dur="500" fill="hold"/>
                                        <p:tgtEl>
                                          <p:spTgt spid="19459"/>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2" fill="hold" grpId="0" nodeType="clickEffect">
                                  <p:stCondLst>
                                    <p:cond delay="0"/>
                                  </p:stCondLst>
                                  <p:childTnLst>
                                    <p:set>
                                      <p:cBhvr>
                                        <p:cTn id="14" dur="1" fill="hold">
                                          <p:stCondLst>
                                            <p:cond delay="0"/>
                                          </p:stCondLst>
                                        </p:cTn>
                                        <p:tgtEl>
                                          <p:spTgt spid="19458"/>
                                        </p:tgtEl>
                                        <p:attrNameLst>
                                          <p:attrName>style.visibility</p:attrName>
                                        </p:attrNameLst>
                                      </p:cBhvr>
                                      <p:to>
                                        <p:strVal val="visible"/>
                                      </p:to>
                                    </p:set>
                                    <p:anim calcmode="lin" valueType="num">
                                      <p:cBhvr additive="base">
                                        <p:cTn id="15" dur="500" fill="hold"/>
                                        <p:tgtEl>
                                          <p:spTgt spid="19458"/>
                                        </p:tgtEl>
                                        <p:attrNameLst>
                                          <p:attrName>ppt_x</p:attrName>
                                        </p:attrNameLst>
                                      </p:cBhvr>
                                      <p:tavLst>
                                        <p:tav tm="0">
                                          <p:val>
                                            <p:strVal val="1+#ppt_w/2"/>
                                          </p:val>
                                        </p:tav>
                                        <p:tav tm="100000">
                                          <p:val>
                                            <p:strVal val="#ppt_x"/>
                                          </p:val>
                                        </p:tav>
                                      </p:tavLst>
                                    </p:anim>
                                    <p:anim calcmode="lin" valueType="num">
                                      <p:cBhvr additive="base">
                                        <p:cTn id="16" dur="500" fill="hold"/>
                                        <p:tgtEl>
                                          <p:spTgt spid="19458"/>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7" presetClass="entr" presetSubtype="4" fill="hold" grpId="0" nodeType="clickEffect">
                                  <p:stCondLst>
                                    <p:cond delay="0"/>
                                  </p:stCondLst>
                                  <p:childTnLst>
                                    <p:set>
                                      <p:cBhvr>
                                        <p:cTn id="20" dur="1" fill="hold">
                                          <p:stCondLst>
                                            <p:cond delay="0"/>
                                          </p:stCondLst>
                                        </p:cTn>
                                        <p:tgtEl>
                                          <p:spTgt spid="19460"/>
                                        </p:tgtEl>
                                        <p:attrNameLst>
                                          <p:attrName>style.visibility</p:attrName>
                                        </p:attrNameLst>
                                      </p:cBhvr>
                                      <p:to>
                                        <p:strVal val="visible"/>
                                      </p:to>
                                    </p:set>
                                    <p:anim calcmode="lin" valueType="num">
                                      <p:cBhvr>
                                        <p:cTn id="21" dur="500" fill="hold"/>
                                        <p:tgtEl>
                                          <p:spTgt spid="19460"/>
                                        </p:tgtEl>
                                        <p:attrNameLst>
                                          <p:attrName>ppt_x</p:attrName>
                                        </p:attrNameLst>
                                      </p:cBhvr>
                                      <p:tavLst>
                                        <p:tav tm="0">
                                          <p:val>
                                            <p:strVal val="#ppt_x"/>
                                          </p:val>
                                        </p:tav>
                                        <p:tav tm="100000">
                                          <p:val>
                                            <p:strVal val="#ppt_x"/>
                                          </p:val>
                                        </p:tav>
                                      </p:tavLst>
                                    </p:anim>
                                    <p:anim calcmode="lin" valueType="num">
                                      <p:cBhvr>
                                        <p:cTn id="22" dur="500" fill="hold"/>
                                        <p:tgtEl>
                                          <p:spTgt spid="19460"/>
                                        </p:tgtEl>
                                        <p:attrNameLst>
                                          <p:attrName>ppt_y</p:attrName>
                                        </p:attrNameLst>
                                      </p:cBhvr>
                                      <p:tavLst>
                                        <p:tav tm="0">
                                          <p:val>
                                            <p:strVal val="#ppt_y+#ppt_h/2"/>
                                          </p:val>
                                        </p:tav>
                                        <p:tav tm="100000">
                                          <p:val>
                                            <p:strVal val="#ppt_y"/>
                                          </p:val>
                                        </p:tav>
                                      </p:tavLst>
                                    </p:anim>
                                    <p:anim calcmode="lin" valueType="num">
                                      <p:cBhvr>
                                        <p:cTn id="23" dur="500" fill="hold"/>
                                        <p:tgtEl>
                                          <p:spTgt spid="19460"/>
                                        </p:tgtEl>
                                        <p:attrNameLst>
                                          <p:attrName>ppt_w</p:attrName>
                                        </p:attrNameLst>
                                      </p:cBhvr>
                                      <p:tavLst>
                                        <p:tav tm="0">
                                          <p:val>
                                            <p:strVal val="#ppt_w"/>
                                          </p:val>
                                        </p:tav>
                                        <p:tav tm="100000">
                                          <p:val>
                                            <p:strVal val="#ppt_w"/>
                                          </p:val>
                                        </p:tav>
                                      </p:tavLst>
                                    </p:anim>
                                    <p:anim calcmode="lin" valueType="num">
                                      <p:cBhvr>
                                        <p:cTn id="24" dur="500" fill="hold"/>
                                        <p:tgtEl>
                                          <p:spTgt spid="19460"/>
                                        </p:tgtEl>
                                        <p:attrNameLst>
                                          <p:attrName>ppt_h</p:attrName>
                                        </p:attrNameLst>
                                      </p:cBhvr>
                                      <p:tavLst>
                                        <p:tav tm="0">
                                          <p:val>
                                            <p:fltVal val="0"/>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4" fill="hold" grpId="0" nodeType="clickEffect">
                                  <p:stCondLst>
                                    <p:cond delay="0"/>
                                  </p:stCondLst>
                                  <p:childTnLst>
                                    <p:set>
                                      <p:cBhvr>
                                        <p:cTn id="28" dur="1" fill="hold">
                                          <p:stCondLst>
                                            <p:cond delay="0"/>
                                          </p:stCondLst>
                                        </p:cTn>
                                        <p:tgtEl>
                                          <p:spTgt spid="19462"/>
                                        </p:tgtEl>
                                        <p:attrNameLst>
                                          <p:attrName>style.visibility</p:attrName>
                                        </p:attrNameLst>
                                      </p:cBhvr>
                                      <p:to>
                                        <p:strVal val="visible"/>
                                      </p:to>
                                    </p:set>
                                    <p:anim calcmode="lin" valueType="num">
                                      <p:cBhvr>
                                        <p:cTn id="29" dur="500" fill="hold"/>
                                        <p:tgtEl>
                                          <p:spTgt spid="19462"/>
                                        </p:tgtEl>
                                        <p:attrNameLst>
                                          <p:attrName>ppt_x</p:attrName>
                                        </p:attrNameLst>
                                      </p:cBhvr>
                                      <p:tavLst>
                                        <p:tav tm="0">
                                          <p:val>
                                            <p:strVal val="#ppt_x"/>
                                          </p:val>
                                        </p:tav>
                                        <p:tav tm="100000">
                                          <p:val>
                                            <p:strVal val="#ppt_x"/>
                                          </p:val>
                                        </p:tav>
                                      </p:tavLst>
                                    </p:anim>
                                    <p:anim calcmode="lin" valueType="num">
                                      <p:cBhvr>
                                        <p:cTn id="30" dur="500" fill="hold"/>
                                        <p:tgtEl>
                                          <p:spTgt spid="19462"/>
                                        </p:tgtEl>
                                        <p:attrNameLst>
                                          <p:attrName>ppt_y</p:attrName>
                                        </p:attrNameLst>
                                      </p:cBhvr>
                                      <p:tavLst>
                                        <p:tav tm="0">
                                          <p:val>
                                            <p:strVal val="#ppt_y+#ppt_h/2"/>
                                          </p:val>
                                        </p:tav>
                                        <p:tav tm="100000">
                                          <p:val>
                                            <p:strVal val="#ppt_y"/>
                                          </p:val>
                                        </p:tav>
                                      </p:tavLst>
                                    </p:anim>
                                    <p:anim calcmode="lin" valueType="num">
                                      <p:cBhvr>
                                        <p:cTn id="31" dur="500" fill="hold"/>
                                        <p:tgtEl>
                                          <p:spTgt spid="19462"/>
                                        </p:tgtEl>
                                        <p:attrNameLst>
                                          <p:attrName>ppt_w</p:attrName>
                                        </p:attrNameLst>
                                      </p:cBhvr>
                                      <p:tavLst>
                                        <p:tav tm="0">
                                          <p:val>
                                            <p:strVal val="#ppt_w"/>
                                          </p:val>
                                        </p:tav>
                                        <p:tav tm="100000">
                                          <p:val>
                                            <p:strVal val="#ppt_w"/>
                                          </p:val>
                                        </p:tav>
                                      </p:tavLst>
                                    </p:anim>
                                    <p:anim calcmode="lin" valueType="num">
                                      <p:cBhvr>
                                        <p:cTn id="32" dur="500" fill="hold"/>
                                        <p:tgtEl>
                                          <p:spTgt spid="1946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utoUpdateAnimBg="0"/>
      <p:bldP spid="19459" grpId="0" autoUpdateAnimBg="0"/>
      <p:bldP spid="19460" grpId="0" autoUpdateAnimBg="0"/>
      <p:bldP spid="19462"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228600" y="990600"/>
            <a:ext cx="89154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3600">
                <a:ea typeface="楷体_GB2312" charset="0"/>
              </a:rPr>
              <a:t> </a:t>
            </a:r>
            <a:r>
              <a:rPr lang="zh-CN" altLang="en-US" sz="3600">
                <a:ea typeface="楷体_GB2312" charset="0"/>
              </a:rPr>
              <a:t>根据给定的某个值，在查找表中</a:t>
            </a:r>
            <a:r>
              <a:rPr lang="zh-CN" altLang="en-US" sz="3600">
                <a:solidFill>
                  <a:srgbClr val="0000FF"/>
                </a:solidFill>
                <a:ea typeface="楷体_GB2312" charset="0"/>
              </a:rPr>
              <a:t>确定一个其关键字等于给定值的数据元素或（记录）。</a:t>
            </a:r>
            <a:r>
              <a:rPr lang="zh-CN" altLang="en-US" sz="3600">
                <a:ea typeface="楷体_GB2312" charset="0"/>
              </a:rPr>
              <a:t>  </a:t>
            </a:r>
          </a:p>
        </p:txBody>
      </p:sp>
      <p:sp>
        <p:nvSpPr>
          <p:cNvPr id="20483" name="Text Box 3"/>
          <p:cNvSpPr txBox="1">
            <a:spLocks noChangeArrowheads="1"/>
          </p:cNvSpPr>
          <p:nvPr/>
        </p:nvSpPr>
        <p:spPr bwMode="auto">
          <a:xfrm>
            <a:off x="304800" y="228600"/>
            <a:ext cx="13112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FF00FF"/>
                </a:solidFill>
                <a:ea typeface="楷体_GB2312" charset="0"/>
              </a:rPr>
              <a:t>查找</a:t>
            </a:r>
            <a:endParaRPr lang="zh-CN" altLang="en-US" b="1"/>
          </a:p>
        </p:txBody>
      </p:sp>
      <p:sp>
        <p:nvSpPr>
          <p:cNvPr id="20484" name="Text Box 4"/>
          <p:cNvSpPr txBox="1">
            <a:spLocks noChangeArrowheads="1"/>
          </p:cNvSpPr>
          <p:nvPr/>
        </p:nvSpPr>
        <p:spPr bwMode="auto">
          <a:xfrm>
            <a:off x="304800" y="2667000"/>
            <a:ext cx="8458200" cy="379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35000"/>
              </a:lnSpc>
            </a:pPr>
            <a:r>
              <a:rPr lang="en-US" altLang="zh-CN" sz="3600">
                <a:ea typeface="楷体_GB2312" charset="0"/>
              </a:rPr>
              <a:t>   </a:t>
            </a:r>
            <a:r>
              <a:rPr lang="zh-CN" altLang="en-US" sz="3600">
                <a:ea typeface="楷体_GB2312" charset="0"/>
              </a:rPr>
              <a:t>若查找表中存在这样一个记录，则称“</a:t>
            </a:r>
            <a:r>
              <a:rPr lang="zh-CN" altLang="en-US" sz="3600" b="1">
                <a:solidFill>
                  <a:srgbClr val="FF00FF"/>
                </a:solidFill>
                <a:ea typeface="楷体_GB2312" charset="0"/>
              </a:rPr>
              <a:t>查找成功</a:t>
            </a:r>
            <a:r>
              <a:rPr lang="zh-CN" altLang="en-US" sz="3600">
                <a:ea typeface="楷体_GB2312" charset="0"/>
              </a:rPr>
              <a:t>”。查找结果</a:t>
            </a:r>
            <a:r>
              <a:rPr lang="zh-CN" altLang="en-US" sz="3600">
                <a:solidFill>
                  <a:srgbClr val="660033"/>
                </a:solidFill>
                <a:ea typeface="楷体_GB2312" charset="0"/>
              </a:rPr>
              <a:t>给出整个记录的信息，或指示该记录在查找表中的位置</a:t>
            </a:r>
            <a:r>
              <a:rPr lang="zh-CN" altLang="en-US" sz="3600">
                <a:ea typeface="楷体_GB2312" charset="0"/>
              </a:rPr>
              <a:t>；</a:t>
            </a:r>
          </a:p>
          <a:p>
            <a:pPr>
              <a:lnSpc>
                <a:spcPct val="135000"/>
              </a:lnSpc>
            </a:pPr>
            <a:r>
              <a:rPr lang="zh-CN" altLang="en-US" sz="3600">
                <a:ea typeface="楷体_GB2312" charset="0"/>
              </a:rPr>
              <a:t>    否则称“</a:t>
            </a:r>
            <a:r>
              <a:rPr lang="zh-CN" altLang="en-US" sz="3600" b="1">
                <a:solidFill>
                  <a:srgbClr val="FF00FF"/>
                </a:solidFill>
                <a:ea typeface="楷体_GB2312" charset="0"/>
              </a:rPr>
              <a:t>查找不成功</a:t>
            </a:r>
            <a:r>
              <a:rPr lang="zh-CN" altLang="en-US" sz="3600">
                <a:ea typeface="楷体_GB2312" charset="0"/>
              </a:rPr>
              <a:t>”。查找结果</a:t>
            </a:r>
            <a:r>
              <a:rPr lang="zh-CN" altLang="en-US" sz="3600">
                <a:solidFill>
                  <a:srgbClr val="660033"/>
                </a:solidFill>
                <a:ea typeface="楷体_GB2312" charset="0"/>
              </a:rPr>
              <a:t>给出</a:t>
            </a:r>
          </a:p>
          <a:p>
            <a:pPr>
              <a:lnSpc>
                <a:spcPct val="135000"/>
              </a:lnSpc>
            </a:pPr>
            <a:r>
              <a:rPr lang="zh-CN" altLang="en-US" sz="3600">
                <a:solidFill>
                  <a:srgbClr val="660033"/>
                </a:solidFill>
                <a:ea typeface="楷体_GB2312" charset="0"/>
              </a:rPr>
              <a:t>“空记录”或“空指针”。</a:t>
            </a:r>
            <a:endParaRPr lang="zh-CN" altLang="en-US"/>
          </a:p>
        </p:txBody>
      </p:sp>
    </p:spTree>
    <p:extLst>
      <p:ext uri="{BB962C8B-B14F-4D97-AF65-F5344CB8AC3E}">
        <p14:creationId xmlns:p14="http://schemas.microsoft.com/office/powerpoint/2010/main" val="1888443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additive="base">
                                        <p:cTn id="7" dur="500" fill="hold"/>
                                        <p:tgtEl>
                                          <p:spTgt spid="20483"/>
                                        </p:tgtEl>
                                        <p:attrNameLst>
                                          <p:attrName>ppt_x</p:attrName>
                                        </p:attrNameLst>
                                      </p:cBhvr>
                                      <p:tavLst>
                                        <p:tav tm="0">
                                          <p:val>
                                            <p:strVal val="#ppt_x"/>
                                          </p:val>
                                        </p:tav>
                                        <p:tav tm="100000">
                                          <p:val>
                                            <p:strVal val="#ppt_x"/>
                                          </p:val>
                                        </p:tav>
                                      </p:tavLst>
                                    </p:anim>
                                    <p:anim calcmode="lin" valueType="num">
                                      <p:cBhvr additive="base">
                                        <p:cTn id="8" dur="500" fill="hold"/>
                                        <p:tgtEl>
                                          <p:spTgt spid="20483"/>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8" fill="hold" grpId="0" nodeType="clickEffect">
                                  <p:stCondLst>
                                    <p:cond delay="0"/>
                                  </p:stCondLst>
                                  <p:childTnLst>
                                    <p:set>
                                      <p:cBhvr>
                                        <p:cTn id="12" dur="1" fill="hold">
                                          <p:stCondLst>
                                            <p:cond delay="0"/>
                                          </p:stCondLst>
                                        </p:cTn>
                                        <p:tgtEl>
                                          <p:spTgt spid="20482"/>
                                        </p:tgtEl>
                                        <p:attrNameLst>
                                          <p:attrName>style.visibility</p:attrName>
                                        </p:attrNameLst>
                                      </p:cBhvr>
                                      <p:to>
                                        <p:strVal val="visible"/>
                                      </p:to>
                                    </p:set>
                                    <p:anim calcmode="lin" valueType="num">
                                      <p:cBhvr>
                                        <p:cTn id="13" dur="500" fill="hold"/>
                                        <p:tgtEl>
                                          <p:spTgt spid="20482"/>
                                        </p:tgtEl>
                                        <p:attrNameLst>
                                          <p:attrName>ppt_x</p:attrName>
                                        </p:attrNameLst>
                                      </p:cBhvr>
                                      <p:tavLst>
                                        <p:tav tm="0">
                                          <p:val>
                                            <p:strVal val="#ppt_x-#ppt_w/2"/>
                                          </p:val>
                                        </p:tav>
                                        <p:tav tm="100000">
                                          <p:val>
                                            <p:strVal val="#ppt_x"/>
                                          </p:val>
                                        </p:tav>
                                      </p:tavLst>
                                    </p:anim>
                                    <p:anim calcmode="lin" valueType="num">
                                      <p:cBhvr>
                                        <p:cTn id="14" dur="500" fill="hold"/>
                                        <p:tgtEl>
                                          <p:spTgt spid="20482"/>
                                        </p:tgtEl>
                                        <p:attrNameLst>
                                          <p:attrName>ppt_y</p:attrName>
                                        </p:attrNameLst>
                                      </p:cBhvr>
                                      <p:tavLst>
                                        <p:tav tm="0">
                                          <p:val>
                                            <p:strVal val="#ppt_y"/>
                                          </p:val>
                                        </p:tav>
                                        <p:tav tm="100000">
                                          <p:val>
                                            <p:strVal val="#ppt_y"/>
                                          </p:val>
                                        </p:tav>
                                      </p:tavLst>
                                    </p:anim>
                                    <p:anim calcmode="lin" valueType="num">
                                      <p:cBhvr>
                                        <p:cTn id="15" dur="500" fill="hold"/>
                                        <p:tgtEl>
                                          <p:spTgt spid="20482"/>
                                        </p:tgtEl>
                                        <p:attrNameLst>
                                          <p:attrName>ppt_w</p:attrName>
                                        </p:attrNameLst>
                                      </p:cBhvr>
                                      <p:tavLst>
                                        <p:tav tm="0">
                                          <p:val>
                                            <p:fltVal val="0"/>
                                          </p:val>
                                        </p:tav>
                                        <p:tav tm="100000">
                                          <p:val>
                                            <p:strVal val="#ppt_w"/>
                                          </p:val>
                                        </p:tav>
                                      </p:tavLst>
                                    </p:anim>
                                    <p:anim calcmode="lin" valueType="num">
                                      <p:cBhvr>
                                        <p:cTn id="16" dur="500" fill="hold"/>
                                        <p:tgtEl>
                                          <p:spTgt spid="20482"/>
                                        </p:tgtEl>
                                        <p:attrNameLst>
                                          <p:attrName>ppt_h</p:attrName>
                                        </p:attrNameLst>
                                      </p:cBhvr>
                                      <p:tavLst>
                                        <p:tav tm="0">
                                          <p:val>
                                            <p:strVal val="#ppt_h"/>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20484"/>
                                        </p:tgtEl>
                                        <p:attrNameLst>
                                          <p:attrName>style.visibility</p:attrName>
                                        </p:attrNameLst>
                                      </p:cBhvr>
                                      <p:to>
                                        <p:strVal val="visible"/>
                                      </p:to>
                                    </p:set>
                                    <p:animEffect transition="in" filter="strips(downRight)">
                                      <p:cBhvr>
                                        <p:cTn id="21" dur="500"/>
                                        <p:tgtEl>
                                          <p:spTgt spid="20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utoUpdateAnimBg="0"/>
      <p:bldP spid="20484"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228600" y="2286000"/>
            <a:ext cx="8686800" cy="387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35000"/>
              </a:lnSpc>
            </a:pPr>
            <a:r>
              <a:rPr lang="en-US" altLang="zh-CN" sz="4000">
                <a:ea typeface="楷体_GB2312" charset="0"/>
              </a:rPr>
              <a:t>     </a:t>
            </a:r>
            <a:r>
              <a:rPr lang="zh-CN" altLang="en-US" sz="3600">
                <a:solidFill>
                  <a:srgbClr val="A50021"/>
                </a:solidFill>
                <a:ea typeface="楷体_GB2312" charset="0"/>
              </a:rPr>
              <a:t>由于查找表中的数据元素之间不存在明显的组织规律，因此不便于查找。</a:t>
            </a:r>
          </a:p>
          <a:p>
            <a:pPr>
              <a:lnSpc>
                <a:spcPct val="135000"/>
              </a:lnSpc>
            </a:pPr>
            <a:r>
              <a:rPr lang="zh-CN" altLang="en-US" sz="3600">
                <a:solidFill>
                  <a:srgbClr val="A50021"/>
                </a:solidFill>
                <a:ea typeface="楷体_GB2312" charset="0"/>
              </a:rPr>
              <a:t>     为了提高查找的效率， 需要在查找表中的元素之间人为地 附加某种确定的关系，换句话说</a:t>
            </a:r>
            <a:r>
              <a:rPr lang="en-US" altLang="zh-CN" sz="3600">
                <a:solidFill>
                  <a:srgbClr val="A50021"/>
                </a:solidFill>
                <a:ea typeface="楷体_GB2312" charset="0"/>
              </a:rPr>
              <a:t>,</a:t>
            </a:r>
            <a:r>
              <a:rPr lang="zh-CN" altLang="en-US" sz="3600" b="1">
                <a:solidFill>
                  <a:schemeClr val="accent2"/>
                </a:solidFill>
                <a:ea typeface="楷体_GB2312" charset="0"/>
              </a:rPr>
              <a:t>用另外一种结构来表示查找表</a:t>
            </a:r>
            <a:r>
              <a:rPr lang="zh-CN" altLang="en-US" sz="3600">
                <a:ea typeface="楷体_GB2312" charset="0"/>
              </a:rPr>
              <a:t>。</a:t>
            </a:r>
          </a:p>
        </p:txBody>
      </p:sp>
      <p:sp>
        <p:nvSpPr>
          <p:cNvPr id="21507" name="Text Box 3"/>
          <p:cNvSpPr txBox="1">
            <a:spLocks noChangeArrowheads="1"/>
          </p:cNvSpPr>
          <p:nvPr/>
        </p:nvSpPr>
        <p:spPr bwMode="auto">
          <a:xfrm>
            <a:off x="457200" y="457200"/>
            <a:ext cx="41290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0000FF"/>
                </a:solidFill>
                <a:ea typeface="楷体_GB2312" charset="0"/>
              </a:rPr>
              <a:t>如何进行查找？</a:t>
            </a:r>
            <a:endParaRPr lang="zh-CN" altLang="en-US">
              <a:solidFill>
                <a:srgbClr val="0000FF"/>
              </a:solidFill>
              <a:ea typeface="楷体_GB2312" charset="0"/>
            </a:endParaRPr>
          </a:p>
        </p:txBody>
      </p:sp>
      <p:sp>
        <p:nvSpPr>
          <p:cNvPr id="21509" name="Text Box 5"/>
          <p:cNvSpPr txBox="1">
            <a:spLocks noChangeArrowheads="1"/>
          </p:cNvSpPr>
          <p:nvPr/>
        </p:nvSpPr>
        <p:spPr bwMode="auto">
          <a:xfrm>
            <a:off x="987425" y="1492250"/>
            <a:ext cx="70897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660033"/>
                </a:solidFill>
                <a:ea typeface="楷体_GB2312" charset="0"/>
              </a:rPr>
              <a:t>查找的方法取决于查找表的结构。</a:t>
            </a:r>
            <a:endParaRPr lang="zh-CN" altLang="en-US" sz="3600">
              <a:ea typeface="楷体_GB2312" charset="0"/>
            </a:endParaRPr>
          </a:p>
        </p:txBody>
      </p:sp>
    </p:spTree>
    <p:extLst>
      <p:ext uri="{BB962C8B-B14F-4D97-AF65-F5344CB8AC3E}">
        <p14:creationId xmlns:p14="http://schemas.microsoft.com/office/powerpoint/2010/main" val="39327613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additive="base">
                                        <p:cTn id="7" dur="500" fill="hold"/>
                                        <p:tgtEl>
                                          <p:spTgt spid="21507"/>
                                        </p:tgtEl>
                                        <p:attrNameLst>
                                          <p:attrName>ppt_x</p:attrName>
                                        </p:attrNameLst>
                                      </p:cBhvr>
                                      <p:tavLst>
                                        <p:tav tm="0">
                                          <p:val>
                                            <p:strVal val="#ppt_x"/>
                                          </p:val>
                                        </p:tav>
                                        <p:tav tm="100000">
                                          <p:val>
                                            <p:strVal val="#ppt_x"/>
                                          </p:val>
                                        </p:tav>
                                      </p:tavLst>
                                    </p:anim>
                                    <p:anim calcmode="lin" valueType="num">
                                      <p:cBhvr additive="base">
                                        <p:cTn id="8" dur="500" fill="hold"/>
                                        <p:tgtEl>
                                          <p:spTgt spid="21507"/>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iterate type="wd">
                                    <p:tmPct val="100000"/>
                                  </p:iterate>
                                  <p:childTnLst>
                                    <p:set>
                                      <p:cBhvr>
                                        <p:cTn id="12" dur="1" fill="hold">
                                          <p:stCondLst>
                                            <p:cond delay="0"/>
                                          </p:stCondLst>
                                        </p:cTn>
                                        <p:tgtEl>
                                          <p:spTgt spid="21509"/>
                                        </p:tgtEl>
                                        <p:attrNameLst>
                                          <p:attrName>style.visibility</p:attrName>
                                        </p:attrNameLst>
                                      </p:cBhvr>
                                      <p:to>
                                        <p:strVal val="visible"/>
                                      </p:to>
                                    </p:set>
                                    <p:animEffect transition="in" filter="wipe(left)">
                                      <p:cBhvr>
                                        <p:cTn id="13" dur="300"/>
                                        <p:tgtEl>
                                          <p:spTgt spid="2150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9" fill="hold" grpId="0" nodeType="clickEffect">
                                  <p:stCondLst>
                                    <p:cond delay="0"/>
                                  </p:stCondLst>
                                  <p:childTnLst>
                                    <p:set>
                                      <p:cBhvr>
                                        <p:cTn id="17" dur="1" fill="hold">
                                          <p:stCondLst>
                                            <p:cond delay="0"/>
                                          </p:stCondLst>
                                        </p:cTn>
                                        <p:tgtEl>
                                          <p:spTgt spid="21506"/>
                                        </p:tgtEl>
                                        <p:attrNameLst>
                                          <p:attrName>style.visibility</p:attrName>
                                        </p:attrNameLst>
                                      </p:cBhvr>
                                      <p:to>
                                        <p:strVal val="visible"/>
                                      </p:to>
                                    </p:set>
                                    <p:animEffect transition="in" filter="strips(upLeft)">
                                      <p:cBhvr>
                                        <p:cTn id="18" dur="500"/>
                                        <p:tgtEl>
                                          <p:spTgt spid="21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p:bldP spid="21507" grpId="0" autoUpdateAnimBg="0"/>
      <p:bldP spid="21509"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a:hlinkClick r:id="" action="ppaction://hlinkshowjump?jump=nextslide" highlightClick="1"/>
          </p:cNvPr>
          <p:cNvSpPr txBox="1">
            <a:spLocks noChangeArrowheads="1"/>
          </p:cNvSpPr>
          <p:nvPr/>
        </p:nvSpPr>
        <p:spPr bwMode="auto">
          <a:xfrm>
            <a:off x="1676400" y="1371600"/>
            <a:ext cx="432276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800" b="1">
                <a:solidFill>
                  <a:srgbClr val="800000"/>
                </a:solidFill>
                <a:ea typeface="楷体_GB2312" charset="0"/>
              </a:rPr>
              <a:t>9.1  </a:t>
            </a:r>
            <a:r>
              <a:rPr lang="zh-CN" altLang="en-US" sz="4800" b="1">
                <a:solidFill>
                  <a:srgbClr val="800000"/>
                </a:solidFill>
                <a:ea typeface="楷体_GB2312" charset="0"/>
              </a:rPr>
              <a:t>静态查找表</a:t>
            </a:r>
            <a:endParaRPr lang="zh-CN" altLang="en-US"/>
          </a:p>
        </p:txBody>
      </p:sp>
      <p:sp>
        <p:nvSpPr>
          <p:cNvPr id="22531" name="Text Box 3">
            <a:hlinkClick r:id="rId2" action="ppaction://hlinksldjump" highlightClick="1"/>
          </p:cNvPr>
          <p:cNvSpPr txBox="1">
            <a:spLocks noChangeArrowheads="1"/>
          </p:cNvSpPr>
          <p:nvPr/>
        </p:nvSpPr>
        <p:spPr bwMode="auto">
          <a:xfrm>
            <a:off x="1676400" y="2971800"/>
            <a:ext cx="49371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800" b="1">
                <a:solidFill>
                  <a:srgbClr val="006600"/>
                </a:solidFill>
                <a:ea typeface="楷体_GB2312" charset="0"/>
              </a:rPr>
              <a:t>9.2  </a:t>
            </a:r>
            <a:r>
              <a:rPr lang="zh-CN" altLang="en-US" sz="4800" b="1">
                <a:solidFill>
                  <a:srgbClr val="006600"/>
                </a:solidFill>
                <a:ea typeface="楷体_GB2312" charset="0"/>
              </a:rPr>
              <a:t>动态查找树表</a:t>
            </a:r>
            <a:endParaRPr lang="zh-CN" altLang="en-US" b="1">
              <a:ea typeface="楷体_GB2312" charset="0"/>
            </a:endParaRPr>
          </a:p>
        </p:txBody>
      </p:sp>
      <p:sp>
        <p:nvSpPr>
          <p:cNvPr id="22532" name="Text Box 4">
            <a:hlinkClick r:id="rId3" action="ppaction://hlinksldjump" highlightClick="1"/>
          </p:cNvPr>
          <p:cNvSpPr txBox="1">
            <a:spLocks noChangeArrowheads="1"/>
          </p:cNvSpPr>
          <p:nvPr/>
        </p:nvSpPr>
        <p:spPr bwMode="auto">
          <a:xfrm>
            <a:off x="1676400" y="4495800"/>
            <a:ext cx="3094038"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800" b="1">
                <a:solidFill>
                  <a:schemeClr val="accent2"/>
                </a:solidFill>
                <a:ea typeface="楷体_GB2312" charset="0"/>
              </a:rPr>
              <a:t>9.3  </a:t>
            </a:r>
            <a:r>
              <a:rPr lang="zh-CN" altLang="en-US" sz="4800" b="1">
                <a:solidFill>
                  <a:schemeClr val="accent2"/>
                </a:solidFill>
                <a:ea typeface="楷体_GB2312" charset="0"/>
              </a:rPr>
              <a:t>哈希表</a:t>
            </a:r>
          </a:p>
        </p:txBody>
      </p:sp>
      <p:sp>
        <p:nvSpPr>
          <p:cNvPr id="22537" name="AutoShape 9">
            <a:hlinkClick r:id="rId4" action="ppaction://hlinksldjump" highlightClick="1"/>
          </p:cNvPr>
          <p:cNvSpPr>
            <a:spLocks noChangeArrowheads="1"/>
          </p:cNvSpPr>
          <p:nvPr/>
        </p:nvSpPr>
        <p:spPr bwMode="auto">
          <a:xfrm>
            <a:off x="8001000" y="6172200"/>
            <a:ext cx="685800" cy="381000"/>
          </a:xfrm>
          <a:prstGeom prst="actionButtonEnd">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183183869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blinds(vertical)">
                                      <p:cBhvr>
                                        <p:cTn id="7" dur="500"/>
                                        <p:tgtEl>
                                          <p:spTgt spid="22530"/>
                                        </p:tgtEl>
                                      </p:cBhvr>
                                    </p:animEffect>
                                  </p:childTnLst>
                                </p:cTn>
                              </p:par>
                            </p:childTnLst>
                          </p:cTn>
                        </p:par>
                        <p:par>
                          <p:cTn id="8" fill="hold" nodeType="afterGroup">
                            <p:stCondLst>
                              <p:cond delay="500"/>
                            </p:stCondLst>
                            <p:childTnLst>
                              <p:par>
                                <p:cTn id="9" presetID="3" presetClass="entr" presetSubtype="5" fill="hold" grpId="0" nodeType="afterEffect">
                                  <p:stCondLst>
                                    <p:cond delay="0"/>
                                  </p:stCondLst>
                                  <p:childTnLst>
                                    <p:set>
                                      <p:cBhvr>
                                        <p:cTn id="10" dur="1" fill="hold">
                                          <p:stCondLst>
                                            <p:cond delay="0"/>
                                          </p:stCondLst>
                                        </p:cTn>
                                        <p:tgtEl>
                                          <p:spTgt spid="22531"/>
                                        </p:tgtEl>
                                        <p:attrNameLst>
                                          <p:attrName>style.visibility</p:attrName>
                                        </p:attrNameLst>
                                      </p:cBhvr>
                                      <p:to>
                                        <p:strVal val="visible"/>
                                      </p:to>
                                    </p:set>
                                    <p:animEffect transition="in" filter="blinds(vertical)">
                                      <p:cBhvr>
                                        <p:cTn id="11" dur="500"/>
                                        <p:tgtEl>
                                          <p:spTgt spid="22531"/>
                                        </p:tgtEl>
                                      </p:cBhvr>
                                    </p:animEffect>
                                  </p:childTnLst>
                                </p:cTn>
                              </p:par>
                            </p:childTnLst>
                          </p:cTn>
                        </p:par>
                        <p:par>
                          <p:cTn id="12" fill="hold" nodeType="afterGroup">
                            <p:stCondLst>
                              <p:cond delay="1000"/>
                            </p:stCondLst>
                            <p:childTnLst>
                              <p:par>
                                <p:cTn id="13" presetID="3" presetClass="entr" presetSubtype="5" fill="hold" grpId="0" nodeType="afterEffect">
                                  <p:stCondLst>
                                    <p:cond delay="0"/>
                                  </p:stCondLst>
                                  <p:childTnLst>
                                    <p:set>
                                      <p:cBhvr>
                                        <p:cTn id="14" dur="1" fill="hold">
                                          <p:stCondLst>
                                            <p:cond delay="0"/>
                                          </p:stCondLst>
                                        </p:cTn>
                                        <p:tgtEl>
                                          <p:spTgt spid="22532"/>
                                        </p:tgtEl>
                                        <p:attrNameLst>
                                          <p:attrName>style.visibility</p:attrName>
                                        </p:attrNameLst>
                                      </p:cBhvr>
                                      <p:to>
                                        <p:strVal val="visible"/>
                                      </p:to>
                                    </p:set>
                                    <p:animEffect transition="in" filter="blinds(vertical)">
                                      <p:cBhvr>
                                        <p:cTn id="15" dur="500"/>
                                        <p:tgtEl>
                                          <p:spTgt spid="22532"/>
                                        </p:tgtEl>
                                      </p:cBhvr>
                                    </p:animEffect>
                                  </p:childTnLst>
                                </p:cTn>
                              </p:par>
                            </p:childTnLst>
                          </p:cTn>
                        </p:par>
                        <p:par>
                          <p:cTn id="16" fill="hold" nodeType="afterGroup">
                            <p:stCondLst>
                              <p:cond delay="1500"/>
                            </p:stCondLst>
                            <p:childTnLst>
                              <p:par>
                                <p:cTn id="17" presetID="2" presetClass="entr" presetSubtype="8" fill="hold" grpId="0" nodeType="afterEffect">
                                  <p:stCondLst>
                                    <p:cond delay="0"/>
                                  </p:stCondLst>
                                  <p:childTnLst>
                                    <p:set>
                                      <p:cBhvr>
                                        <p:cTn id="18" dur="1" fill="hold">
                                          <p:stCondLst>
                                            <p:cond delay="0"/>
                                          </p:stCondLst>
                                        </p:cTn>
                                        <p:tgtEl>
                                          <p:spTgt spid="22537"/>
                                        </p:tgtEl>
                                        <p:attrNameLst>
                                          <p:attrName>style.visibility</p:attrName>
                                        </p:attrNameLst>
                                      </p:cBhvr>
                                      <p:to>
                                        <p:strVal val="visible"/>
                                      </p:to>
                                    </p:set>
                                    <p:anim calcmode="lin" valueType="num">
                                      <p:cBhvr additive="base">
                                        <p:cTn id="19" dur="500" fill="hold"/>
                                        <p:tgtEl>
                                          <p:spTgt spid="22537"/>
                                        </p:tgtEl>
                                        <p:attrNameLst>
                                          <p:attrName>ppt_x</p:attrName>
                                        </p:attrNameLst>
                                      </p:cBhvr>
                                      <p:tavLst>
                                        <p:tav tm="0">
                                          <p:val>
                                            <p:strVal val="0-#ppt_w/2"/>
                                          </p:val>
                                        </p:tav>
                                        <p:tav tm="100000">
                                          <p:val>
                                            <p:strVal val="#ppt_x"/>
                                          </p:val>
                                        </p:tav>
                                      </p:tavLst>
                                    </p:anim>
                                    <p:anim calcmode="lin" valueType="num">
                                      <p:cBhvr additive="base">
                                        <p:cTn id="20" dur="500" fill="hold"/>
                                        <p:tgtEl>
                                          <p:spTgt spid="225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utoUpdateAnimBg="0"/>
      <p:bldP spid="22531" grpId="0" autoUpdateAnimBg="0"/>
      <p:bldP spid="22532" grpId="0" autoUpdateAnimBg="0"/>
      <p:bldP spid="2253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1993900" y="1676400"/>
            <a:ext cx="5245100" cy="311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lnSpc>
                <a:spcPct val="150000"/>
              </a:lnSpc>
            </a:pPr>
            <a:r>
              <a:rPr lang="en-US" altLang="zh-CN" sz="6600" b="1">
                <a:solidFill>
                  <a:srgbClr val="800000"/>
                </a:solidFill>
                <a:ea typeface="楷体_GB2312" charset="0"/>
              </a:rPr>
              <a:t>9.1  </a:t>
            </a:r>
          </a:p>
          <a:p>
            <a:pPr algn="ctr">
              <a:lnSpc>
                <a:spcPct val="150000"/>
              </a:lnSpc>
            </a:pPr>
            <a:r>
              <a:rPr lang="zh-CN" altLang="en-US" sz="6600" b="1">
                <a:solidFill>
                  <a:srgbClr val="800000"/>
                </a:solidFill>
                <a:ea typeface="楷体_GB2312" charset="0"/>
              </a:rPr>
              <a:t>静 态 查 找 表</a:t>
            </a:r>
            <a:endParaRPr lang="zh-CN" altLang="en-US" b="1">
              <a:solidFill>
                <a:srgbClr val="800000"/>
              </a:solidFill>
              <a:ea typeface="楷体_GB2312" charset="0"/>
            </a:endParaRPr>
          </a:p>
        </p:txBody>
      </p:sp>
      <p:graphicFrame>
        <p:nvGraphicFramePr>
          <p:cNvPr id="24579" name="Object 3"/>
          <p:cNvGraphicFramePr>
            <a:graphicFrameLocks noChangeAspect="1"/>
          </p:cNvGraphicFramePr>
          <p:nvPr/>
        </p:nvGraphicFramePr>
        <p:xfrm>
          <a:off x="609600" y="533400"/>
          <a:ext cx="1393825" cy="1676400"/>
        </p:xfrm>
        <a:graphic>
          <a:graphicData uri="http://schemas.openxmlformats.org/presentationml/2006/ole">
            <mc:AlternateContent xmlns:mc="http://schemas.openxmlformats.org/markup-compatibility/2006">
              <mc:Choice xmlns:v="urn:schemas-microsoft-com:vml" Requires="v">
                <p:oleObj spid="_x0000_s1288194" name="剪辑" r:id="rId3" imgW="3681360" imgH="4426920" progId="MS_ClipArt_Gallery.2">
                  <p:embed/>
                </p:oleObj>
              </mc:Choice>
              <mc:Fallback>
                <p:oleObj name="剪辑" r:id="rId3" imgW="3681360" imgH="442692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533400"/>
                        <a:ext cx="1393825" cy="167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62197279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nodeType="after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additive="base">
                                        <p:cTn id="7" dur="500" fill="hold"/>
                                        <p:tgtEl>
                                          <p:spTgt spid="24579"/>
                                        </p:tgtEl>
                                        <p:attrNameLst>
                                          <p:attrName>ppt_x</p:attrName>
                                        </p:attrNameLst>
                                      </p:cBhvr>
                                      <p:tavLst>
                                        <p:tav tm="0">
                                          <p:val>
                                            <p:strVal val="0-#ppt_w/2"/>
                                          </p:val>
                                        </p:tav>
                                        <p:tav tm="100000">
                                          <p:val>
                                            <p:strVal val="#ppt_x"/>
                                          </p:val>
                                        </p:tav>
                                      </p:tavLst>
                                    </p:anim>
                                    <p:anim calcmode="lin" valueType="num">
                                      <p:cBhvr additive="base">
                                        <p:cTn id="8" dur="500" fill="hold"/>
                                        <p:tgtEl>
                                          <p:spTgt spid="24579"/>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24578"/>
                                        </p:tgtEl>
                                        <p:attrNameLst>
                                          <p:attrName>style.visibility</p:attrName>
                                        </p:attrNameLst>
                                      </p:cBhvr>
                                      <p:to>
                                        <p:strVal val="visible"/>
                                      </p:to>
                                    </p:set>
                                    <p:animEffect transition="in" filter="dissolve">
                                      <p:cBhvr>
                                        <p:cTn id="12" dur="500"/>
                                        <p:tgtEl>
                                          <p:spTgt spid="24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Text Box 4"/>
          <p:cNvSpPr txBox="1">
            <a:spLocks noChangeArrowheads="1"/>
          </p:cNvSpPr>
          <p:nvPr/>
        </p:nvSpPr>
        <p:spPr bwMode="auto">
          <a:xfrm>
            <a:off x="304800" y="1600200"/>
            <a:ext cx="34004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990033"/>
                </a:solidFill>
                <a:ea typeface="楷体_GB2312" charset="0"/>
              </a:rPr>
              <a:t>数据对象</a:t>
            </a:r>
            <a:r>
              <a:rPr lang="en-US" altLang="zh-CN" sz="4400" b="1">
                <a:solidFill>
                  <a:srgbClr val="990033"/>
                </a:solidFill>
                <a:ea typeface="楷体_GB2312" charset="0"/>
              </a:rPr>
              <a:t>D</a:t>
            </a:r>
            <a:r>
              <a:rPr lang="zh-CN" altLang="en-US" sz="4400">
                <a:solidFill>
                  <a:srgbClr val="990033"/>
                </a:solidFill>
                <a:ea typeface="楷体_GB2312" charset="0"/>
              </a:rPr>
              <a:t>：</a:t>
            </a:r>
            <a:endParaRPr lang="zh-CN" altLang="en-US" sz="4400">
              <a:ea typeface="楷体_GB2312" charset="0"/>
            </a:endParaRPr>
          </a:p>
        </p:txBody>
      </p:sp>
      <p:sp>
        <p:nvSpPr>
          <p:cNvPr id="23557" name="Text Box 5"/>
          <p:cNvSpPr txBox="1">
            <a:spLocks noChangeArrowheads="1"/>
          </p:cNvSpPr>
          <p:nvPr/>
        </p:nvSpPr>
        <p:spPr bwMode="auto">
          <a:xfrm>
            <a:off x="381000" y="5257800"/>
            <a:ext cx="34004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990033"/>
                </a:solidFill>
                <a:ea typeface="楷体_GB2312" charset="0"/>
              </a:rPr>
              <a:t>数据关系</a:t>
            </a:r>
            <a:r>
              <a:rPr lang="en-US" altLang="zh-CN" sz="4400" b="1">
                <a:solidFill>
                  <a:srgbClr val="990033"/>
                </a:solidFill>
                <a:ea typeface="楷体_GB2312" charset="0"/>
              </a:rPr>
              <a:t>R</a:t>
            </a:r>
            <a:r>
              <a:rPr lang="zh-CN" altLang="en-US" sz="4400">
                <a:solidFill>
                  <a:srgbClr val="990033"/>
                </a:solidFill>
                <a:ea typeface="楷体_GB2312" charset="0"/>
              </a:rPr>
              <a:t>：</a:t>
            </a:r>
            <a:endParaRPr lang="zh-CN" altLang="en-US" sz="4000">
              <a:ea typeface="楷体_GB2312" charset="0"/>
            </a:endParaRPr>
          </a:p>
        </p:txBody>
      </p:sp>
      <p:sp>
        <p:nvSpPr>
          <p:cNvPr id="23558" name="Text Box 6"/>
          <p:cNvSpPr txBox="1">
            <a:spLocks noChangeArrowheads="1"/>
          </p:cNvSpPr>
          <p:nvPr/>
        </p:nvSpPr>
        <p:spPr bwMode="auto">
          <a:xfrm>
            <a:off x="3505200" y="1524000"/>
            <a:ext cx="5311775"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lang="en-US" altLang="zh-CN" sz="4000">
                <a:ea typeface="楷体_GB2312" charset="0"/>
              </a:rPr>
              <a:t>D</a:t>
            </a:r>
            <a:r>
              <a:rPr lang="zh-CN" altLang="en-US" sz="4000">
                <a:ea typeface="楷体_GB2312" charset="0"/>
              </a:rPr>
              <a:t>是具有相同特性的数</a:t>
            </a:r>
          </a:p>
          <a:p>
            <a:pPr>
              <a:lnSpc>
                <a:spcPct val="115000"/>
              </a:lnSpc>
            </a:pPr>
            <a:r>
              <a:rPr lang="zh-CN" altLang="en-US" sz="4000">
                <a:ea typeface="楷体_GB2312" charset="0"/>
              </a:rPr>
              <a:t>据元素的集合。</a:t>
            </a:r>
            <a:r>
              <a:rPr lang="zh-CN" altLang="en-US" sz="4000" b="1">
                <a:solidFill>
                  <a:srgbClr val="6600CC"/>
                </a:solidFill>
                <a:ea typeface="楷体_GB2312" charset="0"/>
              </a:rPr>
              <a:t>每个数</a:t>
            </a:r>
          </a:p>
          <a:p>
            <a:pPr>
              <a:lnSpc>
                <a:spcPct val="115000"/>
              </a:lnSpc>
            </a:pPr>
            <a:r>
              <a:rPr lang="zh-CN" altLang="en-US" sz="4000" b="1">
                <a:solidFill>
                  <a:srgbClr val="6600CC"/>
                </a:solidFill>
                <a:ea typeface="楷体_GB2312" charset="0"/>
              </a:rPr>
              <a:t>据元素含有类型相同的</a:t>
            </a:r>
          </a:p>
          <a:p>
            <a:pPr>
              <a:lnSpc>
                <a:spcPct val="115000"/>
              </a:lnSpc>
            </a:pPr>
            <a:r>
              <a:rPr lang="zh-CN" altLang="en-US" sz="4000" b="1">
                <a:solidFill>
                  <a:srgbClr val="6600CC"/>
                </a:solidFill>
                <a:ea typeface="楷体_GB2312" charset="0"/>
              </a:rPr>
              <a:t>关键字</a:t>
            </a:r>
            <a:r>
              <a:rPr lang="zh-CN" altLang="en-US" sz="4000">
                <a:solidFill>
                  <a:srgbClr val="6600CC"/>
                </a:solidFill>
                <a:ea typeface="楷体_GB2312" charset="0"/>
              </a:rPr>
              <a:t>，可唯一标识数</a:t>
            </a:r>
          </a:p>
          <a:p>
            <a:pPr>
              <a:lnSpc>
                <a:spcPct val="115000"/>
              </a:lnSpc>
            </a:pPr>
            <a:r>
              <a:rPr lang="zh-CN" altLang="en-US" sz="4000">
                <a:solidFill>
                  <a:srgbClr val="6600CC"/>
                </a:solidFill>
                <a:ea typeface="楷体_GB2312" charset="0"/>
              </a:rPr>
              <a:t>据元素。</a:t>
            </a:r>
            <a:r>
              <a:rPr lang="zh-CN" altLang="en-US" sz="4000">
                <a:ea typeface="楷体_GB2312" charset="0"/>
              </a:rPr>
              <a:t>         </a:t>
            </a:r>
            <a:endParaRPr lang="zh-CN" altLang="en-US"/>
          </a:p>
        </p:txBody>
      </p:sp>
      <p:sp>
        <p:nvSpPr>
          <p:cNvPr id="23560" name="Rectangle 8"/>
          <p:cNvSpPr>
            <a:spLocks noChangeArrowheads="1"/>
          </p:cNvSpPr>
          <p:nvPr/>
        </p:nvSpPr>
        <p:spPr bwMode="auto">
          <a:xfrm>
            <a:off x="3448050" y="5318125"/>
            <a:ext cx="577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a:ea typeface="楷体_GB2312" charset="0"/>
              </a:rPr>
              <a:t>数据元素同属一个集合。</a:t>
            </a:r>
          </a:p>
        </p:txBody>
      </p:sp>
      <p:sp>
        <p:nvSpPr>
          <p:cNvPr id="23562" name="Text Box 10"/>
          <p:cNvSpPr txBox="1">
            <a:spLocks noChangeArrowheads="1"/>
          </p:cNvSpPr>
          <p:nvPr/>
        </p:nvSpPr>
        <p:spPr bwMode="auto">
          <a:xfrm>
            <a:off x="254000" y="381000"/>
            <a:ext cx="62404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400" b="1"/>
              <a:t>ADT StaticSearchTable {</a:t>
            </a:r>
            <a:endParaRPr lang="en-US" altLang="zh-CN" sz="4000"/>
          </a:p>
        </p:txBody>
      </p:sp>
    </p:spTree>
    <p:extLst>
      <p:ext uri="{BB962C8B-B14F-4D97-AF65-F5344CB8AC3E}">
        <p14:creationId xmlns:p14="http://schemas.microsoft.com/office/powerpoint/2010/main" val="6746255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3562"/>
                                        </p:tgtEl>
                                        <p:attrNameLst>
                                          <p:attrName>style.visibility</p:attrName>
                                        </p:attrNameLst>
                                      </p:cBhvr>
                                      <p:to>
                                        <p:strVal val="visible"/>
                                      </p:to>
                                    </p:set>
                                    <p:anim calcmode="lin" valueType="num">
                                      <p:cBhvr additive="base">
                                        <p:cTn id="7" dur="500" fill="hold"/>
                                        <p:tgtEl>
                                          <p:spTgt spid="23562"/>
                                        </p:tgtEl>
                                        <p:attrNameLst>
                                          <p:attrName>ppt_x</p:attrName>
                                        </p:attrNameLst>
                                      </p:cBhvr>
                                      <p:tavLst>
                                        <p:tav tm="0">
                                          <p:val>
                                            <p:strVal val="#ppt_x"/>
                                          </p:val>
                                        </p:tav>
                                        <p:tav tm="100000">
                                          <p:val>
                                            <p:strVal val="#ppt_x"/>
                                          </p:val>
                                        </p:tav>
                                      </p:tavLst>
                                    </p:anim>
                                    <p:anim calcmode="lin" valueType="num">
                                      <p:cBhvr additive="base">
                                        <p:cTn id="8" dur="500" fill="hold"/>
                                        <p:tgtEl>
                                          <p:spTgt spid="2356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23556"/>
                                        </p:tgtEl>
                                        <p:attrNameLst>
                                          <p:attrName>style.visibility</p:attrName>
                                        </p:attrNameLst>
                                      </p:cBhvr>
                                      <p:to>
                                        <p:strVal val="visible"/>
                                      </p:to>
                                    </p:set>
                                    <p:animEffect transition="in" filter="box(out)">
                                      <p:cBhvr>
                                        <p:cTn id="13" dur="500"/>
                                        <p:tgtEl>
                                          <p:spTgt spid="2355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12" fill="hold" grpId="0" nodeType="clickEffect">
                                  <p:stCondLst>
                                    <p:cond delay="0"/>
                                  </p:stCondLst>
                                  <p:childTnLst>
                                    <p:set>
                                      <p:cBhvr>
                                        <p:cTn id="17" dur="1" fill="hold">
                                          <p:stCondLst>
                                            <p:cond delay="0"/>
                                          </p:stCondLst>
                                        </p:cTn>
                                        <p:tgtEl>
                                          <p:spTgt spid="23558"/>
                                        </p:tgtEl>
                                        <p:attrNameLst>
                                          <p:attrName>style.visibility</p:attrName>
                                        </p:attrNameLst>
                                      </p:cBhvr>
                                      <p:to>
                                        <p:strVal val="visible"/>
                                      </p:to>
                                    </p:set>
                                    <p:animEffect transition="in" filter="strips(downLeft)">
                                      <p:cBhvr>
                                        <p:cTn id="18" dur="500"/>
                                        <p:tgtEl>
                                          <p:spTgt spid="2355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12" fill="hold" grpId="0" nodeType="clickEffect">
                                  <p:stCondLst>
                                    <p:cond delay="0"/>
                                  </p:stCondLst>
                                  <p:childTnLst>
                                    <p:set>
                                      <p:cBhvr>
                                        <p:cTn id="22" dur="1" fill="hold">
                                          <p:stCondLst>
                                            <p:cond delay="0"/>
                                          </p:stCondLst>
                                        </p:cTn>
                                        <p:tgtEl>
                                          <p:spTgt spid="23557"/>
                                        </p:tgtEl>
                                        <p:attrNameLst>
                                          <p:attrName>style.visibility</p:attrName>
                                        </p:attrNameLst>
                                      </p:cBhvr>
                                      <p:to>
                                        <p:strVal val="visible"/>
                                      </p:to>
                                    </p:set>
                                    <p:anim calcmode="lin" valueType="num">
                                      <p:cBhvr additive="base">
                                        <p:cTn id="23" dur="500" fill="hold"/>
                                        <p:tgtEl>
                                          <p:spTgt spid="23557"/>
                                        </p:tgtEl>
                                        <p:attrNameLst>
                                          <p:attrName>ppt_x</p:attrName>
                                        </p:attrNameLst>
                                      </p:cBhvr>
                                      <p:tavLst>
                                        <p:tav tm="0">
                                          <p:val>
                                            <p:strVal val="0-#ppt_w/2"/>
                                          </p:val>
                                        </p:tav>
                                        <p:tav tm="100000">
                                          <p:val>
                                            <p:strVal val="#ppt_x"/>
                                          </p:val>
                                        </p:tav>
                                      </p:tavLst>
                                    </p:anim>
                                    <p:anim calcmode="lin" valueType="num">
                                      <p:cBhvr additive="base">
                                        <p:cTn id="24" dur="500" fill="hold"/>
                                        <p:tgtEl>
                                          <p:spTgt spid="23557"/>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23560"/>
                                        </p:tgtEl>
                                        <p:attrNameLst>
                                          <p:attrName>style.visibility</p:attrName>
                                        </p:attrNameLst>
                                      </p:cBhvr>
                                      <p:to>
                                        <p:strVal val="visible"/>
                                      </p:to>
                                    </p:set>
                                    <p:anim calcmode="lin" valueType="num">
                                      <p:cBhvr additive="base">
                                        <p:cTn id="29" dur="500" fill="hold"/>
                                        <p:tgtEl>
                                          <p:spTgt spid="23560"/>
                                        </p:tgtEl>
                                        <p:attrNameLst>
                                          <p:attrName>ppt_x</p:attrName>
                                        </p:attrNameLst>
                                      </p:cBhvr>
                                      <p:tavLst>
                                        <p:tav tm="0">
                                          <p:val>
                                            <p:strVal val="1+#ppt_w/2"/>
                                          </p:val>
                                        </p:tav>
                                        <p:tav tm="100000">
                                          <p:val>
                                            <p:strVal val="#ppt_x"/>
                                          </p:val>
                                        </p:tav>
                                      </p:tavLst>
                                    </p:anim>
                                    <p:anim calcmode="lin" valueType="num">
                                      <p:cBhvr additive="base">
                                        <p:cTn id="30" dur="500" fill="hold"/>
                                        <p:tgtEl>
                                          <p:spTgt spid="235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autoUpdateAnimBg="0"/>
      <p:bldP spid="23557" grpId="0" autoUpdateAnimBg="0"/>
      <p:bldP spid="23558" grpId="0" autoUpdateAnimBg="0"/>
      <p:bldP spid="23560" grpId="0" autoUpdateAnimBg="0"/>
      <p:bldP spid="23562"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a:hlinkClick r:id="" action="ppaction://hlinkshowjump?jump=nextslide" highlightClick="1"/>
          </p:cNvPr>
          <p:cNvSpPr txBox="1">
            <a:spLocks noChangeArrowheads="1"/>
          </p:cNvSpPr>
          <p:nvPr/>
        </p:nvSpPr>
        <p:spPr bwMode="auto">
          <a:xfrm>
            <a:off x="685800" y="1584325"/>
            <a:ext cx="38798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a:solidFill>
                  <a:srgbClr val="0000FF"/>
                </a:solidFill>
                <a:ea typeface="楷体_GB2312" charset="0"/>
              </a:rPr>
              <a:t> </a:t>
            </a:r>
            <a:r>
              <a:rPr lang="en-US" altLang="zh-CN" sz="4000">
                <a:solidFill>
                  <a:srgbClr val="0000FF"/>
                </a:solidFill>
                <a:ea typeface="楷体_GB2312" charset="0"/>
              </a:rPr>
              <a:t>Create(</a:t>
            </a:r>
            <a:r>
              <a:rPr lang="en-US" altLang="zh-CN" sz="4000" b="1">
                <a:solidFill>
                  <a:srgbClr val="0000FF"/>
                </a:solidFill>
                <a:ea typeface="楷体_GB2312" charset="0"/>
              </a:rPr>
              <a:t>&amp;</a:t>
            </a:r>
            <a:r>
              <a:rPr lang="en-US" altLang="zh-CN" sz="4000">
                <a:solidFill>
                  <a:srgbClr val="0000FF"/>
                </a:solidFill>
                <a:ea typeface="楷体_GB2312" charset="0"/>
              </a:rPr>
              <a:t>ST, n);</a:t>
            </a:r>
            <a:endParaRPr lang="en-US" altLang="zh-CN" sz="4000"/>
          </a:p>
        </p:txBody>
      </p:sp>
      <p:sp>
        <p:nvSpPr>
          <p:cNvPr id="25603" name="Text Box 3">
            <a:hlinkClick r:id="rId2" action="ppaction://hlinksldjump" highlightClick="1"/>
          </p:cNvPr>
          <p:cNvSpPr txBox="1">
            <a:spLocks noChangeArrowheads="1"/>
          </p:cNvSpPr>
          <p:nvPr/>
        </p:nvSpPr>
        <p:spPr bwMode="auto">
          <a:xfrm>
            <a:off x="3810000" y="2590800"/>
            <a:ext cx="32908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0000FF"/>
                </a:solidFill>
                <a:ea typeface="楷体_GB2312" charset="0"/>
              </a:rPr>
              <a:t>Destroy(</a:t>
            </a:r>
            <a:r>
              <a:rPr lang="en-US" altLang="zh-CN" sz="4000" b="1">
                <a:solidFill>
                  <a:srgbClr val="0000FF"/>
                </a:solidFill>
                <a:ea typeface="楷体_GB2312" charset="0"/>
              </a:rPr>
              <a:t>&amp;</a:t>
            </a:r>
            <a:r>
              <a:rPr lang="en-US" altLang="zh-CN" sz="4000">
                <a:solidFill>
                  <a:srgbClr val="0000FF"/>
                </a:solidFill>
                <a:ea typeface="楷体_GB2312" charset="0"/>
              </a:rPr>
              <a:t>ST);</a:t>
            </a:r>
            <a:endParaRPr lang="en-US" altLang="zh-CN"/>
          </a:p>
        </p:txBody>
      </p:sp>
      <p:sp>
        <p:nvSpPr>
          <p:cNvPr id="25604" name="Text Box 4">
            <a:hlinkClick r:id="rId3" action="ppaction://hlinksldjump" highlightClick="1"/>
          </p:cNvPr>
          <p:cNvSpPr txBox="1">
            <a:spLocks noChangeArrowheads="1"/>
          </p:cNvSpPr>
          <p:nvPr/>
        </p:nvSpPr>
        <p:spPr bwMode="auto">
          <a:xfrm>
            <a:off x="838200" y="3581400"/>
            <a:ext cx="36274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0000FF"/>
                </a:solidFill>
                <a:ea typeface="楷体_GB2312" charset="0"/>
              </a:rPr>
              <a:t>Search(ST, key);</a:t>
            </a:r>
            <a:endParaRPr lang="en-US" altLang="zh-CN"/>
          </a:p>
        </p:txBody>
      </p:sp>
      <p:sp>
        <p:nvSpPr>
          <p:cNvPr id="25605" name="Text Box 5">
            <a:hlinkClick r:id="rId4" action="ppaction://hlinksldjump" highlightClick="1"/>
          </p:cNvPr>
          <p:cNvSpPr txBox="1">
            <a:spLocks noChangeArrowheads="1"/>
          </p:cNvSpPr>
          <p:nvPr/>
        </p:nvSpPr>
        <p:spPr bwMode="auto">
          <a:xfrm>
            <a:off x="3810000" y="4572000"/>
            <a:ext cx="46180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0000FF"/>
                </a:solidFill>
                <a:ea typeface="楷体_GB2312" charset="0"/>
              </a:rPr>
              <a:t>Traverse(ST, Visit());</a:t>
            </a:r>
            <a:endParaRPr lang="en-US" altLang="zh-CN"/>
          </a:p>
        </p:txBody>
      </p:sp>
      <p:sp>
        <p:nvSpPr>
          <p:cNvPr id="25606" name="Text Box 6"/>
          <p:cNvSpPr txBox="1">
            <a:spLocks noChangeArrowheads="1"/>
          </p:cNvSpPr>
          <p:nvPr/>
        </p:nvSpPr>
        <p:spPr bwMode="auto">
          <a:xfrm>
            <a:off x="914400" y="457200"/>
            <a:ext cx="377666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800" b="1">
                <a:solidFill>
                  <a:srgbClr val="CC6600"/>
                </a:solidFill>
                <a:ea typeface="楷体_GB2312" charset="0"/>
              </a:rPr>
              <a:t>基本操作 </a:t>
            </a:r>
            <a:r>
              <a:rPr lang="en-US" altLang="zh-CN" sz="4800" b="1">
                <a:solidFill>
                  <a:srgbClr val="CC6600"/>
                </a:solidFill>
                <a:ea typeface="楷体_GB2312" charset="0"/>
              </a:rPr>
              <a:t>P</a:t>
            </a:r>
            <a:r>
              <a:rPr lang="zh-CN" altLang="en-US" sz="4800">
                <a:solidFill>
                  <a:srgbClr val="CC6600"/>
                </a:solidFill>
                <a:ea typeface="楷体_GB2312" charset="0"/>
              </a:rPr>
              <a:t>：</a:t>
            </a:r>
            <a:endParaRPr lang="zh-CN" altLang="en-US">
              <a:ea typeface="楷体_GB2312" charset="0"/>
            </a:endParaRPr>
          </a:p>
        </p:txBody>
      </p:sp>
      <p:sp>
        <p:nvSpPr>
          <p:cNvPr id="25609" name="Text Box 9"/>
          <p:cNvSpPr txBox="1">
            <a:spLocks noChangeArrowheads="1"/>
          </p:cNvSpPr>
          <p:nvPr/>
        </p:nvSpPr>
        <p:spPr bwMode="auto">
          <a:xfrm>
            <a:off x="381000" y="5616575"/>
            <a:ext cx="5689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ea typeface="楷体_GB2312" charset="0"/>
              </a:rPr>
              <a:t>} ADT StaticSearchTable</a:t>
            </a:r>
            <a:endParaRPr lang="en-US" altLang="zh-CN" sz="3200" b="1">
              <a:ea typeface="楷体_GB2312" charset="0"/>
            </a:endParaRPr>
          </a:p>
        </p:txBody>
      </p:sp>
      <p:sp>
        <p:nvSpPr>
          <p:cNvPr id="25610" name="AutoShape 10">
            <a:hlinkClick r:id="rId5" action="ppaction://hlinksldjump" highlightClick="1"/>
          </p:cNvPr>
          <p:cNvSpPr>
            <a:spLocks noChangeArrowheads="1"/>
          </p:cNvSpPr>
          <p:nvPr/>
        </p:nvSpPr>
        <p:spPr bwMode="auto">
          <a:xfrm>
            <a:off x="8382000" y="6248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9956748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5606"/>
                                        </p:tgtEl>
                                        <p:attrNameLst>
                                          <p:attrName>style.visibility</p:attrName>
                                        </p:attrNameLst>
                                      </p:cBhvr>
                                      <p:to>
                                        <p:strVal val="visible"/>
                                      </p:to>
                                    </p:set>
                                    <p:anim calcmode="lin" valueType="num">
                                      <p:cBhvr additive="base">
                                        <p:cTn id="7" dur="500" fill="hold"/>
                                        <p:tgtEl>
                                          <p:spTgt spid="25606"/>
                                        </p:tgtEl>
                                        <p:attrNameLst>
                                          <p:attrName>ppt_x</p:attrName>
                                        </p:attrNameLst>
                                      </p:cBhvr>
                                      <p:tavLst>
                                        <p:tav tm="0">
                                          <p:val>
                                            <p:strVal val="#ppt_x"/>
                                          </p:val>
                                        </p:tav>
                                        <p:tav tm="100000">
                                          <p:val>
                                            <p:strVal val="#ppt_x"/>
                                          </p:val>
                                        </p:tav>
                                      </p:tavLst>
                                    </p:anim>
                                    <p:anim calcmode="lin" valueType="num">
                                      <p:cBhvr additive="base">
                                        <p:cTn id="8" dur="500" fill="hold"/>
                                        <p:tgtEl>
                                          <p:spTgt spid="25606"/>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25602"/>
                                        </p:tgtEl>
                                        <p:attrNameLst>
                                          <p:attrName>style.visibility</p:attrName>
                                        </p:attrNameLst>
                                      </p:cBhvr>
                                      <p:to>
                                        <p:strVal val="visible"/>
                                      </p:to>
                                    </p:set>
                                    <p:animEffect transition="in" filter="randombar(vertical)">
                                      <p:cBhvr>
                                        <p:cTn id="13" dur="500"/>
                                        <p:tgtEl>
                                          <p:spTgt spid="2560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25603"/>
                                        </p:tgtEl>
                                        <p:attrNameLst>
                                          <p:attrName>style.visibility</p:attrName>
                                        </p:attrNameLst>
                                      </p:cBhvr>
                                      <p:to>
                                        <p:strVal val="visible"/>
                                      </p:to>
                                    </p:set>
                                    <p:animEffect transition="in" filter="randombar(horizontal)">
                                      <p:cBhvr>
                                        <p:cTn id="18" dur="500"/>
                                        <p:tgtEl>
                                          <p:spTgt spid="2560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4" presetClass="entr" presetSubtype="5" fill="hold" grpId="0" nodeType="clickEffect">
                                  <p:stCondLst>
                                    <p:cond delay="0"/>
                                  </p:stCondLst>
                                  <p:childTnLst>
                                    <p:set>
                                      <p:cBhvr>
                                        <p:cTn id="22" dur="1" fill="hold">
                                          <p:stCondLst>
                                            <p:cond delay="0"/>
                                          </p:stCondLst>
                                        </p:cTn>
                                        <p:tgtEl>
                                          <p:spTgt spid="25604"/>
                                        </p:tgtEl>
                                        <p:attrNameLst>
                                          <p:attrName>style.visibility</p:attrName>
                                        </p:attrNameLst>
                                      </p:cBhvr>
                                      <p:to>
                                        <p:strVal val="visible"/>
                                      </p:to>
                                    </p:set>
                                    <p:animEffect transition="in" filter="randombar(vertical)">
                                      <p:cBhvr>
                                        <p:cTn id="23" dur="500"/>
                                        <p:tgtEl>
                                          <p:spTgt spid="2560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25605"/>
                                        </p:tgtEl>
                                        <p:attrNameLst>
                                          <p:attrName>style.visibility</p:attrName>
                                        </p:attrNameLst>
                                      </p:cBhvr>
                                      <p:to>
                                        <p:strVal val="visible"/>
                                      </p:to>
                                    </p:set>
                                    <p:animEffect transition="in" filter="randombar(horizontal)">
                                      <p:cBhvr>
                                        <p:cTn id="28" dur="500"/>
                                        <p:tgtEl>
                                          <p:spTgt spid="25605"/>
                                        </p:tgtEl>
                                      </p:cBhvr>
                                    </p:animEffect>
                                  </p:childTnLst>
                                </p:cTn>
                              </p:par>
                            </p:childTnLst>
                          </p:cTn>
                        </p:par>
                        <p:par>
                          <p:cTn id="29" fill="hold" nodeType="afterGroup">
                            <p:stCondLst>
                              <p:cond delay="500"/>
                            </p:stCondLst>
                            <p:childTnLst>
                              <p:par>
                                <p:cTn id="30" presetID="1" presetClass="entr" presetSubtype="0" fill="hold" grpId="0" nodeType="afterEffect">
                                  <p:stCondLst>
                                    <p:cond delay="0"/>
                                  </p:stCondLst>
                                  <p:childTnLst>
                                    <p:set>
                                      <p:cBhvr>
                                        <p:cTn id="31" dur="1" fill="hold">
                                          <p:stCondLst>
                                            <p:cond delay="499"/>
                                          </p:stCondLst>
                                        </p:cTn>
                                        <p:tgtEl>
                                          <p:spTgt spid="25609"/>
                                        </p:tgtEl>
                                        <p:attrNameLst>
                                          <p:attrName>style.visibility</p:attrName>
                                        </p:attrNameLst>
                                      </p:cBhvr>
                                      <p:to>
                                        <p:strVal val="visible"/>
                                      </p:to>
                                    </p:set>
                                  </p:childTnLst>
                                </p:cTn>
                              </p:par>
                            </p:childTnLst>
                          </p:cTn>
                        </p:par>
                        <p:par>
                          <p:cTn id="32" fill="hold" nodeType="afterGroup">
                            <p:stCondLst>
                              <p:cond delay="1000"/>
                            </p:stCondLst>
                            <p:childTnLst>
                              <p:par>
                                <p:cTn id="33" presetID="2" presetClass="entr" presetSubtype="6" fill="hold" grpId="0" nodeType="afterEffect">
                                  <p:stCondLst>
                                    <p:cond delay="0"/>
                                  </p:stCondLst>
                                  <p:childTnLst>
                                    <p:set>
                                      <p:cBhvr>
                                        <p:cTn id="34" dur="1" fill="hold">
                                          <p:stCondLst>
                                            <p:cond delay="0"/>
                                          </p:stCondLst>
                                        </p:cTn>
                                        <p:tgtEl>
                                          <p:spTgt spid="25610"/>
                                        </p:tgtEl>
                                        <p:attrNameLst>
                                          <p:attrName>style.visibility</p:attrName>
                                        </p:attrNameLst>
                                      </p:cBhvr>
                                      <p:to>
                                        <p:strVal val="visible"/>
                                      </p:to>
                                    </p:set>
                                    <p:anim calcmode="lin" valueType="num">
                                      <p:cBhvr additive="base">
                                        <p:cTn id="35" dur="500" fill="hold"/>
                                        <p:tgtEl>
                                          <p:spTgt spid="25610"/>
                                        </p:tgtEl>
                                        <p:attrNameLst>
                                          <p:attrName>ppt_x</p:attrName>
                                        </p:attrNameLst>
                                      </p:cBhvr>
                                      <p:tavLst>
                                        <p:tav tm="0">
                                          <p:val>
                                            <p:strVal val="1+#ppt_w/2"/>
                                          </p:val>
                                        </p:tav>
                                        <p:tav tm="100000">
                                          <p:val>
                                            <p:strVal val="#ppt_x"/>
                                          </p:val>
                                        </p:tav>
                                      </p:tavLst>
                                    </p:anim>
                                    <p:anim calcmode="lin" valueType="num">
                                      <p:cBhvr additive="base">
                                        <p:cTn id="36" dur="500" fill="hold"/>
                                        <p:tgtEl>
                                          <p:spTgt spid="256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utoUpdateAnimBg="0"/>
      <p:bldP spid="25604" grpId="0" autoUpdateAnimBg="0"/>
      <p:bldP spid="25605" grpId="0" autoUpdateAnimBg="0"/>
      <p:bldP spid="25606" grpId="0" autoUpdateAnimBg="0"/>
      <p:bldP spid="25609" grpId="0" autoUpdateAnimBg="0"/>
      <p:bldP spid="256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a:hlinkClick r:id="" action="ppaction://hlinkshowjump?jump=previousslide"/>
          </p:cNvPr>
          <p:cNvSpPr txBox="1">
            <a:spLocks noChangeArrowheads="1"/>
          </p:cNvSpPr>
          <p:nvPr/>
        </p:nvSpPr>
        <p:spPr bwMode="auto">
          <a:xfrm>
            <a:off x="3276600" y="2667000"/>
            <a:ext cx="5518150" cy="256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endParaRPr lang="en-US" altLang="zh-CN">
              <a:solidFill>
                <a:srgbClr val="0000FF"/>
              </a:solidFill>
              <a:ea typeface="楷体_GB2312" charset="0"/>
            </a:endParaRPr>
          </a:p>
          <a:p>
            <a:pPr>
              <a:lnSpc>
                <a:spcPct val="115000"/>
              </a:lnSpc>
            </a:pPr>
            <a:r>
              <a:rPr lang="zh-CN" altLang="en-US" sz="4000">
                <a:ea typeface="楷体_GB2312" charset="0"/>
              </a:rPr>
              <a:t>构造一个含</a:t>
            </a:r>
            <a:r>
              <a:rPr lang="en-US" altLang="zh-CN" sz="4000">
                <a:ea typeface="楷体_GB2312" charset="0"/>
              </a:rPr>
              <a:t>n</a:t>
            </a:r>
            <a:r>
              <a:rPr lang="zh-CN" altLang="en-US" sz="4000">
                <a:ea typeface="楷体_GB2312" charset="0"/>
              </a:rPr>
              <a:t>个数据元素</a:t>
            </a:r>
          </a:p>
          <a:p>
            <a:pPr>
              <a:lnSpc>
                <a:spcPct val="115000"/>
              </a:lnSpc>
            </a:pPr>
            <a:r>
              <a:rPr lang="zh-CN" altLang="en-US" sz="4000">
                <a:ea typeface="楷体_GB2312" charset="0"/>
              </a:rPr>
              <a:t>的静态查找表</a:t>
            </a:r>
            <a:r>
              <a:rPr lang="en-US" altLang="zh-CN" sz="4000">
                <a:ea typeface="楷体_GB2312" charset="0"/>
              </a:rPr>
              <a:t>ST</a:t>
            </a:r>
            <a:r>
              <a:rPr lang="zh-CN" altLang="en-US" sz="4000">
                <a:ea typeface="楷体_GB2312" charset="0"/>
              </a:rPr>
              <a:t>。</a:t>
            </a:r>
          </a:p>
          <a:p>
            <a:pPr>
              <a:lnSpc>
                <a:spcPct val="115000"/>
              </a:lnSpc>
            </a:pPr>
            <a:r>
              <a:rPr lang="zh-CN" altLang="en-US" sz="4000">
                <a:ea typeface="楷体_GB2312" charset="0"/>
              </a:rPr>
              <a:t>   </a:t>
            </a:r>
            <a:r>
              <a:rPr lang="zh-CN" altLang="en-US" sz="4000">
                <a:solidFill>
                  <a:srgbClr val="0000FF"/>
                </a:solidFill>
                <a:ea typeface="楷体_GB2312" charset="0"/>
              </a:rPr>
              <a:t> </a:t>
            </a:r>
            <a:endParaRPr lang="zh-CN" altLang="en-US" sz="4000"/>
          </a:p>
        </p:txBody>
      </p:sp>
      <p:sp>
        <p:nvSpPr>
          <p:cNvPr id="26627" name="Text Box 3"/>
          <p:cNvSpPr txBox="1">
            <a:spLocks noChangeArrowheads="1"/>
          </p:cNvSpPr>
          <p:nvPr/>
        </p:nvSpPr>
        <p:spPr bwMode="auto">
          <a:xfrm>
            <a:off x="2362200" y="1447800"/>
            <a:ext cx="4179888"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800">
                <a:solidFill>
                  <a:srgbClr val="0000FF"/>
                </a:solidFill>
                <a:ea typeface="楷体_GB2312" charset="0"/>
              </a:rPr>
              <a:t>Create(</a:t>
            </a:r>
            <a:r>
              <a:rPr lang="en-US" altLang="zh-CN" sz="4800" b="1">
                <a:solidFill>
                  <a:srgbClr val="0000FF"/>
                </a:solidFill>
                <a:ea typeface="楷体_GB2312" charset="0"/>
              </a:rPr>
              <a:t>&amp;</a:t>
            </a:r>
            <a:r>
              <a:rPr lang="en-US" altLang="zh-CN" sz="4800">
                <a:solidFill>
                  <a:srgbClr val="0000FF"/>
                </a:solidFill>
                <a:ea typeface="楷体_GB2312" charset="0"/>
              </a:rPr>
              <a:t>ST, n);</a:t>
            </a:r>
          </a:p>
        </p:txBody>
      </p:sp>
      <p:sp>
        <p:nvSpPr>
          <p:cNvPr id="26628" name="Text Box 4"/>
          <p:cNvSpPr txBox="1">
            <a:spLocks noChangeArrowheads="1"/>
          </p:cNvSpPr>
          <p:nvPr/>
        </p:nvSpPr>
        <p:spPr bwMode="auto">
          <a:xfrm>
            <a:off x="533400" y="3048000"/>
            <a:ext cx="2978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a:solidFill>
                  <a:srgbClr val="990033"/>
                </a:solidFill>
                <a:ea typeface="楷体_GB2312" charset="0"/>
              </a:rPr>
              <a:t>操作结果：</a:t>
            </a:r>
            <a:endParaRPr lang="zh-CN" altLang="en-US">
              <a:ea typeface="楷体_GB2312" charset="0"/>
            </a:endParaRPr>
          </a:p>
        </p:txBody>
      </p:sp>
      <p:sp>
        <p:nvSpPr>
          <p:cNvPr id="26631" name="AutoShape 7">
            <a:hlinkClick r:id="" action="ppaction://hlinkshowjump?jump=previousslide" highlightClick="1"/>
          </p:cNvPr>
          <p:cNvSpPr>
            <a:spLocks noChangeArrowheads="1"/>
          </p:cNvSpPr>
          <p:nvPr/>
        </p:nvSpPr>
        <p:spPr bwMode="auto">
          <a:xfrm>
            <a:off x="8305800" y="60960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19976214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6627"/>
                                        </p:tgtEl>
                                        <p:attrNameLst>
                                          <p:attrName>style.visibility</p:attrName>
                                        </p:attrNameLst>
                                      </p:cBhvr>
                                      <p:to>
                                        <p:strVal val="visible"/>
                                      </p:to>
                                    </p:set>
                                    <p:anim calcmode="lin" valueType="num">
                                      <p:cBhvr additive="base">
                                        <p:cTn id="7" dur="500" fill="hold"/>
                                        <p:tgtEl>
                                          <p:spTgt spid="26627"/>
                                        </p:tgtEl>
                                        <p:attrNameLst>
                                          <p:attrName>ppt_x</p:attrName>
                                        </p:attrNameLst>
                                      </p:cBhvr>
                                      <p:tavLst>
                                        <p:tav tm="0">
                                          <p:val>
                                            <p:strVal val="0-#ppt_w/2"/>
                                          </p:val>
                                        </p:tav>
                                        <p:tav tm="100000">
                                          <p:val>
                                            <p:strVal val="#ppt_x"/>
                                          </p:val>
                                        </p:tav>
                                      </p:tavLst>
                                    </p:anim>
                                    <p:anim calcmode="lin" valueType="num">
                                      <p:cBhvr additive="base">
                                        <p:cTn id="8" dur="500" fill="hold"/>
                                        <p:tgtEl>
                                          <p:spTgt spid="2662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272" fill="hold" grpId="0" nodeType="clickEffect">
                                  <p:stCondLst>
                                    <p:cond delay="0"/>
                                  </p:stCondLst>
                                  <p:childTnLst>
                                    <p:set>
                                      <p:cBhvr>
                                        <p:cTn id="12" dur="1" fill="hold">
                                          <p:stCondLst>
                                            <p:cond delay="0"/>
                                          </p:stCondLst>
                                        </p:cTn>
                                        <p:tgtEl>
                                          <p:spTgt spid="26628"/>
                                        </p:tgtEl>
                                        <p:attrNameLst>
                                          <p:attrName>style.visibility</p:attrName>
                                        </p:attrNameLst>
                                      </p:cBhvr>
                                      <p:to>
                                        <p:strVal val="visible"/>
                                      </p:to>
                                    </p:set>
                                    <p:anim calcmode="lin" valueType="num">
                                      <p:cBhvr>
                                        <p:cTn id="13" dur="500" fill="hold"/>
                                        <p:tgtEl>
                                          <p:spTgt spid="26628"/>
                                        </p:tgtEl>
                                        <p:attrNameLst>
                                          <p:attrName>ppt_w</p:attrName>
                                        </p:attrNameLst>
                                      </p:cBhvr>
                                      <p:tavLst>
                                        <p:tav tm="0">
                                          <p:val>
                                            <p:strVal val="2/3*#ppt_w"/>
                                          </p:val>
                                        </p:tav>
                                        <p:tav tm="100000">
                                          <p:val>
                                            <p:strVal val="#ppt_w"/>
                                          </p:val>
                                        </p:tav>
                                      </p:tavLst>
                                    </p:anim>
                                    <p:anim calcmode="lin" valueType="num">
                                      <p:cBhvr>
                                        <p:cTn id="14" dur="500" fill="hold"/>
                                        <p:tgtEl>
                                          <p:spTgt spid="26628"/>
                                        </p:tgtEl>
                                        <p:attrNameLst>
                                          <p:attrName>ppt_h</p:attrName>
                                        </p:attrNameLst>
                                      </p:cBhvr>
                                      <p:tavLst>
                                        <p:tav tm="0">
                                          <p:val>
                                            <p:strVal val="2/3*#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6626"/>
                                        </p:tgtEl>
                                        <p:attrNameLst>
                                          <p:attrName>style.visibility</p:attrName>
                                        </p:attrNameLst>
                                      </p:cBhvr>
                                      <p:to>
                                        <p:strVal val="visible"/>
                                      </p:to>
                                    </p:set>
                                    <p:animEffect transition="in" filter="wipe(left)">
                                      <p:cBhvr>
                                        <p:cTn id="19" dur="500"/>
                                        <p:tgtEl>
                                          <p:spTgt spid="26626"/>
                                        </p:tgtEl>
                                      </p:cBhvr>
                                    </p:animEffect>
                                  </p:childTnLst>
                                </p:cTn>
                              </p:par>
                            </p:childTnLst>
                          </p:cTn>
                        </p:par>
                        <p:par>
                          <p:cTn id="20" fill="hold" nodeType="afterGroup">
                            <p:stCondLst>
                              <p:cond delay="500"/>
                            </p:stCondLst>
                            <p:childTnLst>
                              <p:par>
                                <p:cTn id="21" presetID="2" presetClass="entr" presetSubtype="6" fill="hold" grpId="0" nodeType="afterEffect">
                                  <p:stCondLst>
                                    <p:cond delay="0"/>
                                  </p:stCondLst>
                                  <p:childTnLst>
                                    <p:set>
                                      <p:cBhvr>
                                        <p:cTn id="22" dur="1" fill="hold">
                                          <p:stCondLst>
                                            <p:cond delay="0"/>
                                          </p:stCondLst>
                                        </p:cTn>
                                        <p:tgtEl>
                                          <p:spTgt spid="26631"/>
                                        </p:tgtEl>
                                        <p:attrNameLst>
                                          <p:attrName>style.visibility</p:attrName>
                                        </p:attrNameLst>
                                      </p:cBhvr>
                                      <p:to>
                                        <p:strVal val="visible"/>
                                      </p:to>
                                    </p:set>
                                    <p:anim calcmode="lin" valueType="num">
                                      <p:cBhvr additive="base">
                                        <p:cTn id="23" dur="500" fill="hold"/>
                                        <p:tgtEl>
                                          <p:spTgt spid="26631"/>
                                        </p:tgtEl>
                                        <p:attrNameLst>
                                          <p:attrName>ppt_x</p:attrName>
                                        </p:attrNameLst>
                                      </p:cBhvr>
                                      <p:tavLst>
                                        <p:tav tm="0">
                                          <p:val>
                                            <p:strVal val="1+#ppt_w/2"/>
                                          </p:val>
                                        </p:tav>
                                        <p:tav tm="100000">
                                          <p:val>
                                            <p:strVal val="#ppt_x"/>
                                          </p:val>
                                        </p:tav>
                                      </p:tavLst>
                                    </p:anim>
                                    <p:anim calcmode="lin" valueType="num">
                                      <p:cBhvr additive="base">
                                        <p:cTn id="24" dur="500" fill="hold"/>
                                        <p:tgtEl>
                                          <p:spTgt spid="266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utoUpdateAnimBg="0"/>
      <p:bldP spid="26627" grpId="0" autoUpdateAnimBg="0"/>
      <p:bldP spid="26628" grpId="0" autoUpdateAnimBg="0"/>
      <p:bldP spid="266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3657600" y="4267200"/>
            <a:ext cx="28082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a:ea typeface="楷体_GB2312" charset="0"/>
              </a:rPr>
              <a:t>销毁表</a:t>
            </a:r>
            <a:r>
              <a:rPr lang="en-US" altLang="zh-CN" sz="4000">
                <a:ea typeface="楷体_GB2312" charset="0"/>
              </a:rPr>
              <a:t>ST</a:t>
            </a:r>
            <a:r>
              <a:rPr lang="zh-CN" altLang="en-US" sz="4000">
                <a:ea typeface="楷体_GB2312" charset="0"/>
              </a:rPr>
              <a:t>。</a:t>
            </a:r>
            <a:endParaRPr lang="zh-CN" altLang="en-US"/>
          </a:p>
        </p:txBody>
      </p:sp>
      <p:sp>
        <p:nvSpPr>
          <p:cNvPr id="27651" name="Text Box 3"/>
          <p:cNvSpPr txBox="1">
            <a:spLocks noChangeArrowheads="1"/>
          </p:cNvSpPr>
          <p:nvPr/>
        </p:nvSpPr>
        <p:spPr bwMode="auto">
          <a:xfrm>
            <a:off x="990600" y="1371600"/>
            <a:ext cx="37512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400" b="1">
                <a:solidFill>
                  <a:srgbClr val="0000FF"/>
                </a:solidFill>
                <a:ea typeface="楷体_GB2312" charset="0"/>
              </a:rPr>
              <a:t>Destroy(&amp;ST);</a:t>
            </a:r>
            <a:endParaRPr lang="en-US" altLang="zh-CN"/>
          </a:p>
        </p:txBody>
      </p:sp>
      <p:sp>
        <p:nvSpPr>
          <p:cNvPr id="27652" name="Text Box 4"/>
          <p:cNvSpPr txBox="1">
            <a:spLocks noChangeArrowheads="1"/>
          </p:cNvSpPr>
          <p:nvPr/>
        </p:nvSpPr>
        <p:spPr bwMode="auto">
          <a:xfrm>
            <a:off x="914400" y="2819400"/>
            <a:ext cx="2978150"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a:solidFill>
                  <a:srgbClr val="990033"/>
                </a:solidFill>
                <a:ea typeface="楷体_GB2312" charset="0"/>
              </a:rPr>
              <a:t>初始条件：</a:t>
            </a:r>
          </a:p>
          <a:p>
            <a:endParaRPr lang="zh-CN" altLang="en-US" sz="4400">
              <a:solidFill>
                <a:srgbClr val="990033"/>
              </a:solidFill>
              <a:ea typeface="楷体_GB2312" charset="0"/>
            </a:endParaRPr>
          </a:p>
          <a:p>
            <a:r>
              <a:rPr lang="zh-CN" altLang="en-US" sz="4400">
                <a:solidFill>
                  <a:srgbClr val="990033"/>
                </a:solidFill>
                <a:ea typeface="楷体_GB2312" charset="0"/>
              </a:rPr>
              <a:t>操作结果：</a:t>
            </a:r>
            <a:endParaRPr lang="zh-CN" altLang="en-US">
              <a:ea typeface="楷体_GB2312" charset="0"/>
            </a:endParaRPr>
          </a:p>
        </p:txBody>
      </p:sp>
      <p:sp>
        <p:nvSpPr>
          <p:cNvPr id="27654" name="Text Box 6"/>
          <p:cNvSpPr txBox="1">
            <a:spLocks noChangeArrowheads="1"/>
          </p:cNvSpPr>
          <p:nvPr/>
        </p:nvSpPr>
        <p:spPr bwMode="auto">
          <a:xfrm>
            <a:off x="3684588" y="2895600"/>
            <a:ext cx="5307012"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a:ea typeface="楷体_GB2312" charset="0"/>
              </a:rPr>
              <a:t>静态查找表</a:t>
            </a:r>
            <a:r>
              <a:rPr lang="en-US" altLang="zh-CN" sz="4400">
                <a:ea typeface="楷体_GB2312" charset="0"/>
              </a:rPr>
              <a:t>ST</a:t>
            </a:r>
            <a:r>
              <a:rPr lang="zh-CN" altLang="en-US" sz="4400">
                <a:ea typeface="楷体_GB2312" charset="0"/>
              </a:rPr>
              <a:t>存在；</a:t>
            </a:r>
            <a:endParaRPr lang="zh-CN" altLang="en-US" sz="4400"/>
          </a:p>
        </p:txBody>
      </p:sp>
      <p:sp>
        <p:nvSpPr>
          <p:cNvPr id="27656" name="AutoShape 8">
            <a:hlinkClick r:id="rId2" action="ppaction://hlinksldjump" highlightClick="1"/>
          </p:cNvPr>
          <p:cNvSpPr>
            <a:spLocks noChangeArrowheads="1"/>
          </p:cNvSpPr>
          <p:nvPr/>
        </p:nvSpPr>
        <p:spPr bwMode="auto">
          <a:xfrm>
            <a:off x="83058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06512425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additive="base">
                                        <p:cTn id="7" dur="500" fill="hold"/>
                                        <p:tgtEl>
                                          <p:spTgt spid="27651"/>
                                        </p:tgtEl>
                                        <p:attrNameLst>
                                          <p:attrName>ppt_x</p:attrName>
                                        </p:attrNameLst>
                                      </p:cBhvr>
                                      <p:tavLst>
                                        <p:tav tm="0">
                                          <p:val>
                                            <p:strVal val="0-#ppt_w/2"/>
                                          </p:val>
                                        </p:tav>
                                        <p:tav tm="100000">
                                          <p:val>
                                            <p:strVal val="#ppt_x"/>
                                          </p:val>
                                        </p:tav>
                                      </p:tavLst>
                                    </p:anim>
                                    <p:anim calcmode="lin" valueType="num">
                                      <p:cBhvr additive="base">
                                        <p:cTn id="8" dur="500" fill="hold"/>
                                        <p:tgtEl>
                                          <p:spTgt spid="2765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42" fill="hold" grpId="0" nodeType="clickEffect">
                                  <p:stCondLst>
                                    <p:cond delay="0"/>
                                  </p:stCondLst>
                                  <p:childTnLst>
                                    <p:set>
                                      <p:cBhvr>
                                        <p:cTn id="12" dur="1" fill="hold">
                                          <p:stCondLst>
                                            <p:cond delay="0"/>
                                          </p:stCondLst>
                                        </p:cTn>
                                        <p:tgtEl>
                                          <p:spTgt spid="27652"/>
                                        </p:tgtEl>
                                        <p:attrNameLst>
                                          <p:attrName>style.visibility</p:attrName>
                                        </p:attrNameLst>
                                      </p:cBhvr>
                                      <p:to>
                                        <p:strVal val="visible"/>
                                      </p:to>
                                    </p:set>
                                    <p:animEffect transition="in" filter="barn(outHorizontal)">
                                      <p:cBhvr>
                                        <p:cTn id="13" dur="500"/>
                                        <p:tgtEl>
                                          <p:spTgt spid="2765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7654"/>
                                        </p:tgtEl>
                                        <p:attrNameLst>
                                          <p:attrName>style.visibility</p:attrName>
                                        </p:attrNameLst>
                                      </p:cBhvr>
                                      <p:to>
                                        <p:strVal val="visible"/>
                                      </p:to>
                                    </p:set>
                                    <p:animEffect transition="in" filter="wipe(left)">
                                      <p:cBhvr>
                                        <p:cTn id="18" dur="500"/>
                                        <p:tgtEl>
                                          <p:spTgt spid="2765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7650"/>
                                        </p:tgtEl>
                                        <p:attrNameLst>
                                          <p:attrName>style.visibility</p:attrName>
                                        </p:attrNameLst>
                                      </p:cBhvr>
                                      <p:to>
                                        <p:strVal val="visible"/>
                                      </p:to>
                                    </p:set>
                                    <p:animEffect transition="in" filter="wipe(left)">
                                      <p:cBhvr>
                                        <p:cTn id="23" dur="500"/>
                                        <p:tgtEl>
                                          <p:spTgt spid="27650"/>
                                        </p:tgtEl>
                                      </p:cBhvr>
                                    </p:animEffect>
                                  </p:childTnLst>
                                </p:cTn>
                              </p:par>
                            </p:childTnLst>
                          </p:cTn>
                        </p:par>
                        <p:par>
                          <p:cTn id="24" fill="hold" nodeType="afterGroup">
                            <p:stCondLst>
                              <p:cond delay="500"/>
                            </p:stCondLst>
                            <p:childTnLst>
                              <p:par>
                                <p:cTn id="25" presetID="2" presetClass="entr" presetSubtype="6" fill="hold" grpId="0" nodeType="afterEffect">
                                  <p:stCondLst>
                                    <p:cond delay="0"/>
                                  </p:stCondLst>
                                  <p:childTnLst>
                                    <p:set>
                                      <p:cBhvr>
                                        <p:cTn id="26" dur="1" fill="hold">
                                          <p:stCondLst>
                                            <p:cond delay="0"/>
                                          </p:stCondLst>
                                        </p:cTn>
                                        <p:tgtEl>
                                          <p:spTgt spid="27656"/>
                                        </p:tgtEl>
                                        <p:attrNameLst>
                                          <p:attrName>style.visibility</p:attrName>
                                        </p:attrNameLst>
                                      </p:cBhvr>
                                      <p:to>
                                        <p:strVal val="visible"/>
                                      </p:to>
                                    </p:set>
                                    <p:anim calcmode="lin" valueType="num">
                                      <p:cBhvr additive="base">
                                        <p:cTn id="27" dur="500" fill="hold"/>
                                        <p:tgtEl>
                                          <p:spTgt spid="27656"/>
                                        </p:tgtEl>
                                        <p:attrNameLst>
                                          <p:attrName>ppt_x</p:attrName>
                                        </p:attrNameLst>
                                      </p:cBhvr>
                                      <p:tavLst>
                                        <p:tav tm="0">
                                          <p:val>
                                            <p:strVal val="1+#ppt_w/2"/>
                                          </p:val>
                                        </p:tav>
                                        <p:tav tm="100000">
                                          <p:val>
                                            <p:strVal val="#ppt_x"/>
                                          </p:val>
                                        </p:tav>
                                      </p:tavLst>
                                    </p:anim>
                                    <p:anim calcmode="lin" valueType="num">
                                      <p:cBhvr additive="base">
                                        <p:cTn id="28" dur="500" fill="hold"/>
                                        <p:tgtEl>
                                          <p:spTgt spid="276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autoUpdateAnimBg="0"/>
      <p:bldP spid="27651" grpId="0" autoUpdateAnimBg="0"/>
      <p:bldP spid="27652" grpId="0" autoUpdateAnimBg="0"/>
      <p:bldP spid="27654" grpId="0" autoUpdateAnimBg="0"/>
      <p:bldP spid="2765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3048000" y="3784600"/>
            <a:ext cx="5867400" cy="272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zh-CN" altLang="en-US" sz="3600">
                <a:ea typeface="楷体_GB2312" charset="0"/>
              </a:rPr>
              <a:t>若 </a:t>
            </a:r>
            <a:r>
              <a:rPr lang="en-US" altLang="zh-CN" sz="3600">
                <a:ea typeface="楷体_GB2312" charset="0"/>
              </a:rPr>
              <a:t>ST </a:t>
            </a:r>
            <a:r>
              <a:rPr lang="zh-CN" altLang="en-US" sz="3600">
                <a:ea typeface="楷体_GB2312" charset="0"/>
              </a:rPr>
              <a:t>中存在其关键字等于</a:t>
            </a:r>
          </a:p>
          <a:p>
            <a:pPr>
              <a:lnSpc>
                <a:spcPct val="120000"/>
              </a:lnSpc>
            </a:pPr>
            <a:r>
              <a:rPr lang="zh-CN" altLang="en-US" sz="3600">
                <a:ea typeface="楷体_GB2312" charset="0"/>
              </a:rPr>
              <a:t> </a:t>
            </a:r>
            <a:r>
              <a:rPr lang="en-US" altLang="zh-CN" sz="3600">
                <a:ea typeface="楷体_GB2312" charset="0"/>
              </a:rPr>
              <a:t>key </a:t>
            </a:r>
            <a:r>
              <a:rPr lang="zh-CN" altLang="en-US" sz="3600">
                <a:ea typeface="楷体_GB2312" charset="0"/>
              </a:rPr>
              <a:t>的数据元素，则函数值为该元素的值或在表中的位置，否则为“空”。</a:t>
            </a:r>
            <a:r>
              <a:rPr lang="zh-CN" altLang="en-US" sz="4000">
                <a:ea typeface="楷体_GB2312" charset="0"/>
              </a:rPr>
              <a:t>   </a:t>
            </a:r>
            <a:r>
              <a:rPr lang="zh-CN" altLang="en-US" sz="4000">
                <a:solidFill>
                  <a:srgbClr val="0000FF"/>
                </a:solidFill>
                <a:ea typeface="楷体_GB2312" charset="0"/>
              </a:rPr>
              <a:t> </a:t>
            </a:r>
            <a:endParaRPr lang="zh-CN" altLang="en-US" sz="4000"/>
          </a:p>
        </p:txBody>
      </p:sp>
      <p:sp>
        <p:nvSpPr>
          <p:cNvPr id="28675" name="Text Box 3"/>
          <p:cNvSpPr txBox="1">
            <a:spLocks noChangeArrowheads="1"/>
          </p:cNvSpPr>
          <p:nvPr/>
        </p:nvSpPr>
        <p:spPr bwMode="auto">
          <a:xfrm>
            <a:off x="1095375" y="304800"/>
            <a:ext cx="43148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800">
                <a:solidFill>
                  <a:srgbClr val="0000FF"/>
                </a:solidFill>
                <a:ea typeface="楷体_GB2312" charset="0"/>
              </a:rPr>
              <a:t>Search(ST, key);</a:t>
            </a:r>
            <a:endParaRPr lang="en-US" altLang="zh-CN"/>
          </a:p>
        </p:txBody>
      </p:sp>
      <p:sp>
        <p:nvSpPr>
          <p:cNvPr id="28676" name="Text Box 4"/>
          <p:cNvSpPr txBox="1">
            <a:spLocks noChangeArrowheads="1"/>
          </p:cNvSpPr>
          <p:nvPr/>
        </p:nvSpPr>
        <p:spPr bwMode="auto">
          <a:xfrm>
            <a:off x="457200" y="1371600"/>
            <a:ext cx="2978150" cy="317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lang="zh-CN" altLang="en-US" sz="4400">
                <a:solidFill>
                  <a:srgbClr val="990033"/>
                </a:solidFill>
                <a:ea typeface="楷体_GB2312" charset="0"/>
              </a:rPr>
              <a:t>初始条件：</a:t>
            </a:r>
          </a:p>
          <a:p>
            <a:pPr>
              <a:lnSpc>
                <a:spcPct val="115000"/>
              </a:lnSpc>
            </a:pPr>
            <a:endParaRPr lang="zh-CN" altLang="en-US" sz="4400">
              <a:solidFill>
                <a:srgbClr val="990033"/>
              </a:solidFill>
              <a:ea typeface="楷体_GB2312" charset="0"/>
            </a:endParaRPr>
          </a:p>
          <a:p>
            <a:pPr>
              <a:lnSpc>
                <a:spcPct val="115000"/>
              </a:lnSpc>
            </a:pPr>
            <a:endParaRPr lang="zh-CN" altLang="en-US" sz="4400">
              <a:solidFill>
                <a:srgbClr val="990033"/>
              </a:solidFill>
              <a:ea typeface="楷体_GB2312" charset="0"/>
            </a:endParaRPr>
          </a:p>
          <a:p>
            <a:pPr>
              <a:lnSpc>
                <a:spcPct val="115000"/>
              </a:lnSpc>
            </a:pPr>
            <a:r>
              <a:rPr lang="zh-CN" altLang="en-US" sz="4400">
                <a:solidFill>
                  <a:srgbClr val="990033"/>
                </a:solidFill>
                <a:ea typeface="楷体_GB2312" charset="0"/>
              </a:rPr>
              <a:t>操作结果：</a:t>
            </a:r>
            <a:endParaRPr lang="zh-CN" altLang="en-US">
              <a:ea typeface="楷体_GB2312" charset="0"/>
            </a:endParaRPr>
          </a:p>
        </p:txBody>
      </p:sp>
      <p:sp>
        <p:nvSpPr>
          <p:cNvPr id="28677" name="Text Box 5"/>
          <p:cNvSpPr txBox="1">
            <a:spLocks noChangeArrowheads="1"/>
          </p:cNvSpPr>
          <p:nvPr/>
        </p:nvSpPr>
        <p:spPr bwMode="auto">
          <a:xfrm>
            <a:off x="3048000" y="1503363"/>
            <a:ext cx="5715000" cy="198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5000"/>
              </a:lnSpc>
            </a:pPr>
            <a:r>
              <a:rPr lang="zh-CN" altLang="en-US" sz="3600">
                <a:ea typeface="楷体_GB2312" charset="0"/>
              </a:rPr>
              <a:t>静态查找表</a:t>
            </a:r>
            <a:r>
              <a:rPr lang="en-US" altLang="zh-CN" sz="3600">
                <a:ea typeface="楷体_GB2312" charset="0"/>
              </a:rPr>
              <a:t>ST</a:t>
            </a:r>
            <a:r>
              <a:rPr lang="zh-CN" altLang="en-US" sz="3600">
                <a:ea typeface="楷体_GB2312" charset="0"/>
              </a:rPr>
              <a:t>存在，</a:t>
            </a:r>
            <a:r>
              <a:rPr lang="en-US" altLang="zh-CN" sz="3600">
                <a:ea typeface="楷体_GB2312" charset="0"/>
              </a:rPr>
              <a:t>key </a:t>
            </a:r>
            <a:r>
              <a:rPr lang="zh-CN" altLang="en-US" sz="3600">
                <a:ea typeface="楷体_GB2312" charset="0"/>
              </a:rPr>
              <a:t>为和查找表中元素的关键字类型相同的给定值；</a:t>
            </a:r>
            <a:endParaRPr lang="zh-CN" altLang="en-US"/>
          </a:p>
        </p:txBody>
      </p:sp>
      <p:sp>
        <p:nvSpPr>
          <p:cNvPr id="28679" name="AutoShape 7">
            <a:hlinkClick r:id="rId2" action="ppaction://hlinksldjump" highlightClick="1"/>
          </p:cNvPr>
          <p:cNvSpPr>
            <a:spLocks noChangeArrowheads="1"/>
          </p:cNvSpPr>
          <p:nvPr/>
        </p:nvSpPr>
        <p:spPr bwMode="auto">
          <a:xfrm>
            <a:off x="83058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20439969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8675"/>
                                        </p:tgtEl>
                                        <p:attrNameLst>
                                          <p:attrName>style.visibility</p:attrName>
                                        </p:attrNameLst>
                                      </p:cBhvr>
                                      <p:to>
                                        <p:strVal val="visible"/>
                                      </p:to>
                                    </p:set>
                                    <p:anim calcmode="lin" valueType="num">
                                      <p:cBhvr additive="base">
                                        <p:cTn id="7" dur="500" fill="hold"/>
                                        <p:tgtEl>
                                          <p:spTgt spid="28675"/>
                                        </p:tgtEl>
                                        <p:attrNameLst>
                                          <p:attrName>ppt_x</p:attrName>
                                        </p:attrNameLst>
                                      </p:cBhvr>
                                      <p:tavLst>
                                        <p:tav tm="0">
                                          <p:val>
                                            <p:strVal val="0-#ppt_w/2"/>
                                          </p:val>
                                        </p:tav>
                                        <p:tav tm="100000">
                                          <p:val>
                                            <p:strVal val="#ppt_x"/>
                                          </p:val>
                                        </p:tav>
                                      </p:tavLst>
                                    </p:anim>
                                    <p:anim calcmode="lin" valueType="num">
                                      <p:cBhvr additive="base">
                                        <p:cTn id="8" dur="500" fill="hold"/>
                                        <p:tgtEl>
                                          <p:spTgt spid="2867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42" fill="hold" grpId="0" nodeType="clickEffect">
                                  <p:stCondLst>
                                    <p:cond delay="0"/>
                                  </p:stCondLst>
                                  <p:childTnLst>
                                    <p:set>
                                      <p:cBhvr>
                                        <p:cTn id="12" dur="1" fill="hold">
                                          <p:stCondLst>
                                            <p:cond delay="0"/>
                                          </p:stCondLst>
                                        </p:cTn>
                                        <p:tgtEl>
                                          <p:spTgt spid="28676"/>
                                        </p:tgtEl>
                                        <p:attrNameLst>
                                          <p:attrName>style.visibility</p:attrName>
                                        </p:attrNameLst>
                                      </p:cBhvr>
                                      <p:to>
                                        <p:strVal val="visible"/>
                                      </p:to>
                                    </p:set>
                                    <p:animEffect transition="in" filter="barn(outHorizontal)">
                                      <p:cBhvr>
                                        <p:cTn id="13" dur="500"/>
                                        <p:tgtEl>
                                          <p:spTgt spid="2867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12" fill="hold" grpId="0" nodeType="clickEffect">
                                  <p:stCondLst>
                                    <p:cond delay="0"/>
                                  </p:stCondLst>
                                  <p:childTnLst>
                                    <p:set>
                                      <p:cBhvr>
                                        <p:cTn id="17" dur="1" fill="hold">
                                          <p:stCondLst>
                                            <p:cond delay="0"/>
                                          </p:stCondLst>
                                        </p:cTn>
                                        <p:tgtEl>
                                          <p:spTgt spid="28677"/>
                                        </p:tgtEl>
                                        <p:attrNameLst>
                                          <p:attrName>style.visibility</p:attrName>
                                        </p:attrNameLst>
                                      </p:cBhvr>
                                      <p:to>
                                        <p:strVal val="visible"/>
                                      </p:to>
                                    </p:set>
                                    <p:animEffect transition="in" filter="strips(downLeft)">
                                      <p:cBhvr>
                                        <p:cTn id="18" dur="500"/>
                                        <p:tgtEl>
                                          <p:spTgt spid="2867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12" fill="hold" grpId="0" nodeType="clickEffect">
                                  <p:stCondLst>
                                    <p:cond delay="0"/>
                                  </p:stCondLst>
                                  <p:childTnLst>
                                    <p:set>
                                      <p:cBhvr>
                                        <p:cTn id="22" dur="1" fill="hold">
                                          <p:stCondLst>
                                            <p:cond delay="0"/>
                                          </p:stCondLst>
                                        </p:cTn>
                                        <p:tgtEl>
                                          <p:spTgt spid="28674"/>
                                        </p:tgtEl>
                                        <p:attrNameLst>
                                          <p:attrName>style.visibility</p:attrName>
                                        </p:attrNameLst>
                                      </p:cBhvr>
                                      <p:to>
                                        <p:strVal val="visible"/>
                                      </p:to>
                                    </p:set>
                                    <p:animEffect transition="in" filter="strips(downLeft)">
                                      <p:cBhvr>
                                        <p:cTn id="23" dur="500"/>
                                        <p:tgtEl>
                                          <p:spTgt spid="28674"/>
                                        </p:tgtEl>
                                      </p:cBhvr>
                                    </p:animEffect>
                                  </p:childTnLst>
                                </p:cTn>
                              </p:par>
                            </p:childTnLst>
                          </p:cTn>
                        </p:par>
                        <p:par>
                          <p:cTn id="24" fill="hold" nodeType="afterGroup">
                            <p:stCondLst>
                              <p:cond delay="500"/>
                            </p:stCondLst>
                            <p:childTnLst>
                              <p:par>
                                <p:cTn id="25" presetID="2" presetClass="entr" presetSubtype="6" fill="hold" grpId="0" nodeType="afterEffect">
                                  <p:stCondLst>
                                    <p:cond delay="0"/>
                                  </p:stCondLst>
                                  <p:childTnLst>
                                    <p:set>
                                      <p:cBhvr>
                                        <p:cTn id="26" dur="1" fill="hold">
                                          <p:stCondLst>
                                            <p:cond delay="0"/>
                                          </p:stCondLst>
                                        </p:cTn>
                                        <p:tgtEl>
                                          <p:spTgt spid="28679"/>
                                        </p:tgtEl>
                                        <p:attrNameLst>
                                          <p:attrName>style.visibility</p:attrName>
                                        </p:attrNameLst>
                                      </p:cBhvr>
                                      <p:to>
                                        <p:strVal val="visible"/>
                                      </p:to>
                                    </p:set>
                                    <p:anim calcmode="lin" valueType="num">
                                      <p:cBhvr additive="base">
                                        <p:cTn id="27" dur="500" fill="hold"/>
                                        <p:tgtEl>
                                          <p:spTgt spid="28679"/>
                                        </p:tgtEl>
                                        <p:attrNameLst>
                                          <p:attrName>ppt_x</p:attrName>
                                        </p:attrNameLst>
                                      </p:cBhvr>
                                      <p:tavLst>
                                        <p:tav tm="0">
                                          <p:val>
                                            <p:strVal val="1+#ppt_w/2"/>
                                          </p:val>
                                        </p:tav>
                                        <p:tav tm="100000">
                                          <p:val>
                                            <p:strVal val="#ppt_x"/>
                                          </p:val>
                                        </p:tav>
                                      </p:tavLst>
                                    </p:anim>
                                    <p:anim calcmode="lin" valueType="num">
                                      <p:cBhvr additive="base">
                                        <p:cTn id="28" dur="500" fill="hold"/>
                                        <p:tgtEl>
                                          <p:spTgt spid="286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utoUpdateAnimBg="0"/>
      <p:bldP spid="28675" grpId="0" autoUpdateAnimBg="0"/>
      <p:bldP spid="28676" grpId="0" autoUpdateAnimBg="0"/>
      <p:bldP spid="28677" grpId="0" autoUpdateAnimBg="0"/>
      <p:bldP spid="2867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3124200" y="2946400"/>
            <a:ext cx="5562600" cy="272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zh-CN" altLang="en-US" sz="3600">
                <a:ea typeface="楷体_GB2312" charset="0"/>
              </a:rPr>
              <a:t>按某种次序对</a:t>
            </a:r>
            <a:r>
              <a:rPr lang="en-US" altLang="zh-CN" sz="3600">
                <a:ea typeface="楷体_GB2312" charset="0"/>
              </a:rPr>
              <a:t>ST</a:t>
            </a:r>
            <a:r>
              <a:rPr lang="zh-CN" altLang="en-US" sz="3600">
                <a:ea typeface="楷体_GB2312" charset="0"/>
              </a:rPr>
              <a:t>的每个元素调用函数</a:t>
            </a:r>
            <a:r>
              <a:rPr lang="en-US" altLang="zh-CN" sz="3600">
                <a:ea typeface="楷体_GB2312" charset="0"/>
              </a:rPr>
              <a:t>Visit()</a:t>
            </a:r>
            <a:r>
              <a:rPr lang="zh-CN" altLang="en-US" sz="3600">
                <a:ea typeface="楷体_GB2312" charset="0"/>
              </a:rPr>
              <a:t>一次且仅一次，一旦</a:t>
            </a:r>
            <a:r>
              <a:rPr lang="en-US" altLang="zh-CN" sz="3600">
                <a:ea typeface="楷体_GB2312" charset="0"/>
              </a:rPr>
              <a:t>Visit()</a:t>
            </a:r>
            <a:r>
              <a:rPr lang="zh-CN" altLang="en-US" sz="3600">
                <a:ea typeface="楷体_GB2312" charset="0"/>
              </a:rPr>
              <a:t>失败，则操作失败。</a:t>
            </a:r>
            <a:endParaRPr lang="zh-CN" altLang="en-US" sz="3600"/>
          </a:p>
        </p:txBody>
      </p:sp>
      <p:sp>
        <p:nvSpPr>
          <p:cNvPr id="29699" name="Text Box 3"/>
          <p:cNvSpPr txBox="1">
            <a:spLocks noChangeArrowheads="1"/>
          </p:cNvSpPr>
          <p:nvPr/>
        </p:nvSpPr>
        <p:spPr bwMode="auto">
          <a:xfrm>
            <a:off x="762000" y="228600"/>
            <a:ext cx="5500688"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800">
                <a:solidFill>
                  <a:srgbClr val="0000FF"/>
                </a:solidFill>
                <a:ea typeface="楷体_GB2312" charset="0"/>
              </a:rPr>
              <a:t>Traverse(ST, Visit());</a:t>
            </a:r>
            <a:endParaRPr lang="en-US" altLang="zh-CN" sz="4800"/>
          </a:p>
        </p:txBody>
      </p:sp>
      <p:sp>
        <p:nvSpPr>
          <p:cNvPr id="29700" name="Text Box 4"/>
          <p:cNvSpPr txBox="1">
            <a:spLocks noChangeArrowheads="1"/>
          </p:cNvSpPr>
          <p:nvPr/>
        </p:nvSpPr>
        <p:spPr bwMode="auto">
          <a:xfrm>
            <a:off x="381000" y="1219200"/>
            <a:ext cx="2978150" cy="2401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lang="zh-CN" altLang="en-US" sz="4400">
                <a:solidFill>
                  <a:srgbClr val="990033"/>
                </a:solidFill>
                <a:ea typeface="楷体_GB2312" charset="0"/>
              </a:rPr>
              <a:t>初始条件：</a:t>
            </a:r>
          </a:p>
          <a:p>
            <a:pPr>
              <a:lnSpc>
                <a:spcPct val="115000"/>
              </a:lnSpc>
            </a:pPr>
            <a:endParaRPr lang="zh-CN" altLang="en-US" sz="4400">
              <a:solidFill>
                <a:srgbClr val="990033"/>
              </a:solidFill>
              <a:ea typeface="楷体_GB2312" charset="0"/>
            </a:endParaRPr>
          </a:p>
          <a:p>
            <a:pPr>
              <a:lnSpc>
                <a:spcPct val="115000"/>
              </a:lnSpc>
            </a:pPr>
            <a:r>
              <a:rPr lang="zh-CN" altLang="en-US" sz="4400">
                <a:solidFill>
                  <a:srgbClr val="990033"/>
                </a:solidFill>
                <a:ea typeface="楷体_GB2312" charset="0"/>
              </a:rPr>
              <a:t>操作结果：</a:t>
            </a:r>
            <a:endParaRPr lang="zh-CN" altLang="en-US">
              <a:ea typeface="楷体_GB2312" charset="0"/>
            </a:endParaRPr>
          </a:p>
        </p:txBody>
      </p:sp>
      <p:sp>
        <p:nvSpPr>
          <p:cNvPr id="29701" name="Text Box 5"/>
          <p:cNvSpPr txBox="1">
            <a:spLocks noChangeArrowheads="1"/>
          </p:cNvSpPr>
          <p:nvPr/>
        </p:nvSpPr>
        <p:spPr bwMode="auto">
          <a:xfrm>
            <a:off x="3048000" y="1331913"/>
            <a:ext cx="56705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lang="zh-CN" altLang="en-US" sz="3600">
                <a:ea typeface="楷体_GB2312" charset="0"/>
              </a:rPr>
              <a:t>静态查找表</a:t>
            </a:r>
            <a:r>
              <a:rPr lang="en-US" altLang="zh-CN" sz="3600">
                <a:ea typeface="楷体_GB2312" charset="0"/>
              </a:rPr>
              <a:t>ST</a:t>
            </a:r>
            <a:r>
              <a:rPr lang="zh-CN" altLang="en-US" sz="3600">
                <a:ea typeface="楷体_GB2312" charset="0"/>
              </a:rPr>
              <a:t>存在，</a:t>
            </a:r>
            <a:r>
              <a:rPr lang="en-US" altLang="zh-CN" sz="3600">
                <a:ea typeface="楷体_GB2312" charset="0"/>
              </a:rPr>
              <a:t>Visit</a:t>
            </a:r>
          </a:p>
          <a:p>
            <a:pPr>
              <a:lnSpc>
                <a:spcPct val="120000"/>
              </a:lnSpc>
            </a:pPr>
            <a:r>
              <a:rPr lang="zh-CN" altLang="en-US" sz="3600">
                <a:ea typeface="楷体_GB2312" charset="0"/>
              </a:rPr>
              <a:t>是对元素操作的应用函数；</a:t>
            </a:r>
            <a:endParaRPr lang="zh-CN" altLang="en-US" sz="4000"/>
          </a:p>
        </p:txBody>
      </p:sp>
      <p:sp>
        <p:nvSpPr>
          <p:cNvPr id="29704" name="AutoShape 8">
            <a:hlinkClick r:id="rId2" action="ppaction://hlinksldjump" highlightClick="1"/>
          </p:cNvPr>
          <p:cNvSpPr>
            <a:spLocks noChangeArrowheads="1"/>
          </p:cNvSpPr>
          <p:nvPr/>
        </p:nvSpPr>
        <p:spPr bwMode="auto">
          <a:xfrm>
            <a:off x="83058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6731695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9699"/>
                                        </p:tgtEl>
                                        <p:attrNameLst>
                                          <p:attrName>style.visibility</p:attrName>
                                        </p:attrNameLst>
                                      </p:cBhvr>
                                      <p:to>
                                        <p:strVal val="visible"/>
                                      </p:to>
                                    </p:set>
                                    <p:anim calcmode="lin" valueType="num">
                                      <p:cBhvr additive="base">
                                        <p:cTn id="7" dur="500" fill="hold"/>
                                        <p:tgtEl>
                                          <p:spTgt spid="29699"/>
                                        </p:tgtEl>
                                        <p:attrNameLst>
                                          <p:attrName>ppt_x</p:attrName>
                                        </p:attrNameLst>
                                      </p:cBhvr>
                                      <p:tavLst>
                                        <p:tav tm="0">
                                          <p:val>
                                            <p:strVal val="0-#ppt_w/2"/>
                                          </p:val>
                                        </p:tav>
                                        <p:tav tm="100000">
                                          <p:val>
                                            <p:strVal val="#ppt_x"/>
                                          </p:val>
                                        </p:tav>
                                      </p:tavLst>
                                    </p:anim>
                                    <p:anim calcmode="lin" valueType="num">
                                      <p:cBhvr additive="base">
                                        <p:cTn id="8" dur="500" fill="hold"/>
                                        <p:tgtEl>
                                          <p:spTgt spid="296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42" fill="hold" grpId="0" nodeType="clickEffect">
                                  <p:stCondLst>
                                    <p:cond delay="0"/>
                                  </p:stCondLst>
                                  <p:childTnLst>
                                    <p:set>
                                      <p:cBhvr>
                                        <p:cTn id="12" dur="1" fill="hold">
                                          <p:stCondLst>
                                            <p:cond delay="0"/>
                                          </p:stCondLst>
                                        </p:cTn>
                                        <p:tgtEl>
                                          <p:spTgt spid="29700"/>
                                        </p:tgtEl>
                                        <p:attrNameLst>
                                          <p:attrName>style.visibility</p:attrName>
                                        </p:attrNameLst>
                                      </p:cBhvr>
                                      <p:to>
                                        <p:strVal val="visible"/>
                                      </p:to>
                                    </p:set>
                                    <p:animEffect transition="in" filter="barn(outHorizontal)">
                                      <p:cBhvr>
                                        <p:cTn id="13" dur="500"/>
                                        <p:tgtEl>
                                          <p:spTgt spid="2970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29701"/>
                                        </p:tgtEl>
                                        <p:attrNameLst>
                                          <p:attrName>style.visibility</p:attrName>
                                        </p:attrNameLst>
                                      </p:cBhvr>
                                      <p:to>
                                        <p:strVal val="visible"/>
                                      </p:to>
                                    </p:set>
                                    <p:animEffect transition="in" filter="strips(downRight)">
                                      <p:cBhvr>
                                        <p:cTn id="18" dur="500"/>
                                        <p:tgtEl>
                                          <p:spTgt spid="2970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29698"/>
                                        </p:tgtEl>
                                        <p:attrNameLst>
                                          <p:attrName>style.visibility</p:attrName>
                                        </p:attrNameLst>
                                      </p:cBhvr>
                                      <p:to>
                                        <p:strVal val="visible"/>
                                      </p:to>
                                    </p:set>
                                    <p:animEffect transition="in" filter="strips(downRight)">
                                      <p:cBhvr>
                                        <p:cTn id="23" dur="500"/>
                                        <p:tgtEl>
                                          <p:spTgt spid="29698"/>
                                        </p:tgtEl>
                                      </p:cBhvr>
                                    </p:animEffect>
                                  </p:childTnLst>
                                </p:cTn>
                              </p:par>
                            </p:childTnLst>
                          </p:cTn>
                        </p:par>
                        <p:par>
                          <p:cTn id="24" fill="hold" nodeType="afterGroup">
                            <p:stCondLst>
                              <p:cond delay="500"/>
                            </p:stCondLst>
                            <p:childTnLst>
                              <p:par>
                                <p:cTn id="25" presetID="2" presetClass="entr" presetSubtype="6" fill="hold" grpId="0" nodeType="afterEffect">
                                  <p:stCondLst>
                                    <p:cond delay="0"/>
                                  </p:stCondLst>
                                  <p:childTnLst>
                                    <p:set>
                                      <p:cBhvr>
                                        <p:cTn id="26" dur="1" fill="hold">
                                          <p:stCondLst>
                                            <p:cond delay="0"/>
                                          </p:stCondLst>
                                        </p:cTn>
                                        <p:tgtEl>
                                          <p:spTgt spid="29704"/>
                                        </p:tgtEl>
                                        <p:attrNameLst>
                                          <p:attrName>style.visibility</p:attrName>
                                        </p:attrNameLst>
                                      </p:cBhvr>
                                      <p:to>
                                        <p:strVal val="visible"/>
                                      </p:to>
                                    </p:set>
                                    <p:anim calcmode="lin" valueType="num">
                                      <p:cBhvr additive="base">
                                        <p:cTn id="27" dur="500" fill="hold"/>
                                        <p:tgtEl>
                                          <p:spTgt spid="29704"/>
                                        </p:tgtEl>
                                        <p:attrNameLst>
                                          <p:attrName>ppt_x</p:attrName>
                                        </p:attrNameLst>
                                      </p:cBhvr>
                                      <p:tavLst>
                                        <p:tav tm="0">
                                          <p:val>
                                            <p:strVal val="1+#ppt_w/2"/>
                                          </p:val>
                                        </p:tav>
                                        <p:tav tm="100000">
                                          <p:val>
                                            <p:strVal val="#ppt_x"/>
                                          </p:val>
                                        </p:tav>
                                      </p:tavLst>
                                    </p:anim>
                                    <p:anim calcmode="lin" valueType="num">
                                      <p:cBhvr additive="base">
                                        <p:cTn id="28" dur="500" fill="hold"/>
                                        <p:tgtEl>
                                          <p:spTgt spid="297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autoUpdateAnimBg="0"/>
      <p:bldP spid="29699" grpId="0" autoUpdateAnimBg="0"/>
      <p:bldP spid="29700" grpId="0" autoUpdateAnimBg="0"/>
      <p:bldP spid="29701" grpId="0" autoUpdateAnimBg="0"/>
      <p:bldP spid="2970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762000" y="1295400"/>
            <a:ext cx="7842250" cy="513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lang="en-US" altLang="zh-CN" sz="4000" b="1">
                <a:ea typeface="楷体_GB2312" charset="0"/>
              </a:rPr>
              <a:t>typedef  struct {</a:t>
            </a:r>
            <a:endParaRPr lang="en-US" altLang="zh-CN" sz="4000">
              <a:ea typeface="楷体_GB2312" charset="0"/>
            </a:endParaRPr>
          </a:p>
          <a:p>
            <a:pPr>
              <a:lnSpc>
                <a:spcPct val="140000"/>
              </a:lnSpc>
            </a:pPr>
            <a:r>
              <a:rPr lang="en-US" altLang="zh-CN" sz="4000">
                <a:ea typeface="楷体_GB2312" charset="0"/>
              </a:rPr>
              <a:t>   </a:t>
            </a:r>
          </a:p>
          <a:p>
            <a:pPr>
              <a:lnSpc>
                <a:spcPct val="140000"/>
              </a:lnSpc>
            </a:pPr>
            <a:r>
              <a:rPr lang="en-US" altLang="zh-CN" sz="4000">
                <a:ea typeface="楷体_GB2312" charset="0"/>
              </a:rPr>
              <a:t>       </a:t>
            </a:r>
            <a:r>
              <a:rPr lang="en-US" altLang="zh-CN" sz="3600">
                <a:ea typeface="楷体_GB2312" charset="0"/>
              </a:rPr>
              <a:t>// </a:t>
            </a:r>
            <a:r>
              <a:rPr lang="zh-CN" altLang="en-US" sz="3600">
                <a:ea typeface="楷体_GB2312" charset="0"/>
              </a:rPr>
              <a:t>数据元素存储空间基址，建表时</a:t>
            </a:r>
          </a:p>
          <a:p>
            <a:pPr>
              <a:lnSpc>
                <a:spcPct val="140000"/>
              </a:lnSpc>
            </a:pPr>
            <a:r>
              <a:rPr lang="zh-CN" altLang="en-US" sz="3600">
                <a:ea typeface="楷体_GB2312" charset="0"/>
              </a:rPr>
              <a:t>       </a:t>
            </a:r>
            <a:r>
              <a:rPr lang="en-US" altLang="zh-CN" sz="3600">
                <a:ea typeface="楷体_GB2312" charset="0"/>
              </a:rPr>
              <a:t>// </a:t>
            </a:r>
            <a:r>
              <a:rPr lang="zh-CN" altLang="en-US" sz="3600">
                <a:ea typeface="楷体_GB2312" charset="0"/>
              </a:rPr>
              <a:t>按实际长度分配，</a:t>
            </a:r>
            <a:r>
              <a:rPr lang="en-US" altLang="zh-CN" sz="3600">
                <a:ea typeface="楷体_GB2312" charset="0"/>
              </a:rPr>
              <a:t>0</a:t>
            </a:r>
            <a:r>
              <a:rPr lang="zh-CN" altLang="en-US" sz="3600">
                <a:ea typeface="楷体_GB2312" charset="0"/>
              </a:rPr>
              <a:t>号单元留空</a:t>
            </a:r>
            <a:endParaRPr lang="zh-CN" altLang="en-US" sz="4000">
              <a:ea typeface="楷体_GB2312" charset="0"/>
            </a:endParaRPr>
          </a:p>
          <a:p>
            <a:pPr>
              <a:lnSpc>
                <a:spcPct val="140000"/>
              </a:lnSpc>
            </a:pPr>
            <a:r>
              <a:rPr lang="zh-CN" altLang="en-US" sz="4000">
                <a:ea typeface="楷体_GB2312" charset="0"/>
              </a:rPr>
              <a:t>   </a:t>
            </a:r>
            <a:r>
              <a:rPr lang="en-US" altLang="zh-CN" sz="4000" b="1">
                <a:ea typeface="楷体_GB2312" charset="0"/>
              </a:rPr>
              <a:t>int</a:t>
            </a:r>
            <a:r>
              <a:rPr lang="en-US" altLang="zh-CN" sz="4000">
                <a:ea typeface="楷体_GB2312" charset="0"/>
              </a:rPr>
              <a:t>       </a:t>
            </a:r>
            <a:r>
              <a:rPr lang="en-US" altLang="zh-CN" sz="4000">
                <a:solidFill>
                  <a:srgbClr val="CC0000"/>
                </a:solidFill>
                <a:ea typeface="楷体_GB2312" charset="0"/>
              </a:rPr>
              <a:t>length</a:t>
            </a:r>
            <a:r>
              <a:rPr lang="en-US" altLang="zh-CN" sz="4000">
                <a:ea typeface="楷体_GB2312" charset="0"/>
              </a:rPr>
              <a:t>;    // </a:t>
            </a:r>
            <a:r>
              <a:rPr lang="zh-CN" altLang="en-US" sz="4000">
                <a:ea typeface="楷体_GB2312" charset="0"/>
              </a:rPr>
              <a:t>表的长度</a:t>
            </a:r>
          </a:p>
          <a:p>
            <a:pPr>
              <a:lnSpc>
                <a:spcPct val="140000"/>
              </a:lnSpc>
            </a:pPr>
            <a:r>
              <a:rPr lang="en-US" altLang="zh-CN" sz="4000" b="1">
                <a:ea typeface="楷体_GB2312" charset="0"/>
              </a:rPr>
              <a:t>}</a:t>
            </a:r>
            <a:r>
              <a:rPr lang="en-US" altLang="zh-CN" sz="4000">
                <a:ea typeface="楷体_GB2312" charset="0"/>
              </a:rPr>
              <a:t> SSTable;</a:t>
            </a:r>
            <a:endParaRPr lang="en-US" altLang="zh-CN"/>
          </a:p>
        </p:txBody>
      </p:sp>
      <p:sp>
        <p:nvSpPr>
          <p:cNvPr id="30723" name="Text Box 3"/>
          <p:cNvSpPr txBox="1">
            <a:spLocks noChangeArrowheads="1"/>
          </p:cNvSpPr>
          <p:nvPr/>
        </p:nvSpPr>
        <p:spPr bwMode="auto">
          <a:xfrm>
            <a:off x="381000" y="457200"/>
            <a:ext cx="86185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a:ea typeface="楷体_GB2312" charset="0"/>
              </a:rPr>
              <a:t>假设</a:t>
            </a:r>
            <a:r>
              <a:rPr lang="zh-CN" altLang="en-US" sz="4400" b="1">
                <a:ea typeface="楷体_GB2312" charset="0"/>
              </a:rPr>
              <a:t>静态查找表</a:t>
            </a:r>
            <a:r>
              <a:rPr lang="zh-CN" altLang="en-US" sz="4400">
                <a:ea typeface="楷体_GB2312" charset="0"/>
              </a:rPr>
              <a:t>的</a:t>
            </a:r>
            <a:r>
              <a:rPr lang="zh-CN" altLang="en-US" sz="4400" b="1">
                <a:solidFill>
                  <a:srgbClr val="990033"/>
                </a:solidFill>
                <a:ea typeface="楷体_GB2312" charset="0"/>
              </a:rPr>
              <a:t>顺序存储结构</a:t>
            </a:r>
            <a:r>
              <a:rPr lang="zh-CN" altLang="en-US" sz="4400">
                <a:ea typeface="楷体_GB2312" charset="0"/>
              </a:rPr>
              <a:t>为</a:t>
            </a:r>
            <a:endParaRPr lang="zh-CN" altLang="en-US"/>
          </a:p>
        </p:txBody>
      </p:sp>
      <p:sp>
        <p:nvSpPr>
          <p:cNvPr id="30724" name="Rectangle 4">
            <a:hlinkClick r:id="" action="ppaction://hlinkshowjump?jump=nextslide" highlightClick="1"/>
          </p:cNvPr>
          <p:cNvSpPr>
            <a:spLocks noChangeArrowheads="1"/>
          </p:cNvSpPr>
          <p:nvPr/>
        </p:nvSpPr>
        <p:spPr bwMode="auto">
          <a:xfrm>
            <a:off x="1144588" y="2395538"/>
            <a:ext cx="38084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FF00FF"/>
                </a:solidFill>
                <a:ea typeface="楷体_GB2312" charset="0"/>
              </a:rPr>
              <a:t>ElemType</a:t>
            </a:r>
            <a:r>
              <a:rPr lang="en-US" altLang="zh-CN" sz="4000">
                <a:ea typeface="楷体_GB2312" charset="0"/>
              </a:rPr>
              <a:t> </a:t>
            </a:r>
            <a:r>
              <a:rPr lang="en-US" altLang="zh-CN" sz="4000" b="1">
                <a:solidFill>
                  <a:srgbClr val="CC0000"/>
                </a:solidFill>
                <a:ea typeface="楷体_GB2312" charset="0"/>
              </a:rPr>
              <a:t>*</a:t>
            </a:r>
            <a:r>
              <a:rPr lang="en-US" altLang="zh-CN" sz="4000">
                <a:solidFill>
                  <a:srgbClr val="CC0000"/>
                </a:solidFill>
                <a:ea typeface="楷体_GB2312" charset="0"/>
              </a:rPr>
              <a:t>elem</a:t>
            </a:r>
            <a:r>
              <a:rPr lang="en-US" altLang="zh-CN" sz="4000">
                <a:ea typeface="楷体_GB2312" charset="0"/>
              </a:rPr>
              <a:t>;</a:t>
            </a:r>
          </a:p>
        </p:txBody>
      </p:sp>
      <p:sp>
        <p:nvSpPr>
          <p:cNvPr id="30726" name="AutoShape 6">
            <a:hlinkClick r:id="rId2" action="ppaction://hlinksldjump" highlightClick="1"/>
          </p:cNvPr>
          <p:cNvSpPr>
            <a:spLocks noChangeArrowheads="1"/>
          </p:cNvSpPr>
          <p:nvPr/>
        </p:nvSpPr>
        <p:spPr bwMode="auto">
          <a:xfrm>
            <a:off x="8382000" y="6248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446619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30726"/>
                                        </p:tgtEl>
                                        <p:attrNameLst>
                                          <p:attrName>style.visibility</p:attrName>
                                        </p:attrNameLst>
                                      </p:cBhvr>
                                      <p:to>
                                        <p:strVal val="visible"/>
                                      </p:to>
                                    </p:set>
                                    <p:anim calcmode="lin" valueType="num">
                                      <p:cBhvr additive="base">
                                        <p:cTn id="7" dur="500" fill="hold"/>
                                        <p:tgtEl>
                                          <p:spTgt spid="30726"/>
                                        </p:tgtEl>
                                        <p:attrNameLst>
                                          <p:attrName>ppt_x</p:attrName>
                                        </p:attrNameLst>
                                      </p:cBhvr>
                                      <p:tavLst>
                                        <p:tav tm="0">
                                          <p:val>
                                            <p:strVal val="1+#ppt_w/2"/>
                                          </p:val>
                                        </p:tav>
                                        <p:tav tm="100000">
                                          <p:val>
                                            <p:strVal val="#ppt_x"/>
                                          </p:val>
                                        </p:tav>
                                      </p:tavLst>
                                    </p:anim>
                                    <p:anim calcmode="lin" valueType="num">
                                      <p:cBhvr additive="base">
                                        <p:cTn id="8" dur="500" fill="hold"/>
                                        <p:tgtEl>
                                          <p:spTgt spid="307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Text Box 2"/>
          <p:cNvSpPr txBox="1">
            <a:spLocks noChangeArrowheads="1"/>
          </p:cNvSpPr>
          <p:nvPr/>
        </p:nvSpPr>
        <p:spPr bwMode="auto">
          <a:xfrm>
            <a:off x="593725" y="914400"/>
            <a:ext cx="60055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A50021"/>
                </a:solidFill>
                <a:ea typeface="楷体_GB2312" charset="0"/>
              </a:rPr>
              <a:t>数据元素类型的定义为</a:t>
            </a:r>
            <a:r>
              <a:rPr lang="en-US" altLang="zh-CN" sz="4400" b="1">
                <a:solidFill>
                  <a:srgbClr val="A50021"/>
                </a:solidFill>
                <a:ea typeface="楷体_GB2312" charset="0"/>
              </a:rPr>
              <a:t>:</a:t>
            </a:r>
          </a:p>
        </p:txBody>
      </p:sp>
      <p:sp>
        <p:nvSpPr>
          <p:cNvPr id="207875" name="Text Box 3"/>
          <p:cNvSpPr txBox="1">
            <a:spLocks noChangeArrowheads="1"/>
          </p:cNvSpPr>
          <p:nvPr/>
        </p:nvSpPr>
        <p:spPr bwMode="auto">
          <a:xfrm>
            <a:off x="1127125" y="2117725"/>
            <a:ext cx="7045325" cy="329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4000" b="1">
                <a:solidFill>
                  <a:srgbClr val="FF00FF"/>
                </a:solidFill>
              </a:rPr>
              <a:t>typedef struct {</a:t>
            </a:r>
            <a:endParaRPr lang="en-US" altLang="zh-CN" sz="4000">
              <a:solidFill>
                <a:srgbClr val="FF00FF"/>
              </a:solidFill>
            </a:endParaRPr>
          </a:p>
          <a:p>
            <a:pPr>
              <a:lnSpc>
                <a:spcPct val="125000"/>
              </a:lnSpc>
            </a:pPr>
            <a:r>
              <a:rPr lang="en-US" altLang="zh-CN" sz="4000">
                <a:solidFill>
                  <a:srgbClr val="FF00FF"/>
                </a:solidFill>
              </a:rPr>
              <a:t>    </a:t>
            </a:r>
            <a:r>
              <a:rPr lang="en-US" altLang="zh-CN" sz="4000">
                <a:solidFill>
                  <a:srgbClr val="3333FF"/>
                </a:solidFill>
              </a:rPr>
              <a:t>keyType key;    // </a:t>
            </a:r>
            <a:r>
              <a:rPr lang="zh-CN" altLang="en-US" sz="4000">
                <a:solidFill>
                  <a:srgbClr val="3333FF"/>
                </a:solidFill>
              </a:rPr>
              <a:t>关键字域</a:t>
            </a:r>
            <a:endParaRPr lang="en-US" altLang="en-US" sz="4000">
              <a:solidFill>
                <a:srgbClr val="FF00FF"/>
              </a:solidFill>
            </a:endParaRPr>
          </a:p>
          <a:p>
            <a:pPr>
              <a:lnSpc>
                <a:spcPct val="125000"/>
              </a:lnSpc>
            </a:pPr>
            <a:r>
              <a:rPr lang="en-US" altLang="en-US" sz="4000">
                <a:solidFill>
                  <a:srgbClr val="FF00FF"/>
                </a:solidFill>
              </a:rPr>
              <a:t>       </a:t>
            </a:r>
            <a:r>
              <a:rPr lang="en-US" altLang="en-US" sz="4800" b="1">
                <a:solidFill>
                  <a:srgbClr val="FF00FF"/>
                </a:solidFill>
              </a:rPr>
              <a:t>… …</a:t>
            </a:r>
            <a:r>
              <a:rPr lang="en-US" altLang="en-US" sz="4000" b="1">
                <a:solidFill>
                  <a:srgbClr val="FF00FF"/>
                </a:solidFill>
              </a:rPr>
              <a:t> </a:t>
            </a:r>
            <a:r>
              <a:rPr lang="en-US" altLang="en-US" sz="4000">
                <a:solidFill>
                  <a:srgbClr val="FF00FF"/>
                </a:solidFill>
              </a:rPr>
              <a:t>            </a:t>
            </a:r>
            <a:r>
              <a:rPr lang="en-US" altLang="zh-CN" sz="4000">
                <a:solidFill>
                  <a:srgbClr val="FF00FF"/>
                </a:solidFill>
              </a:rPr>
              <a:t>// </a:t>
            </a:r>
            <a:r>
              <a:rPr lang="zh-CN" altLang="en-US" sz="4000">
                <a:solidFill>
                  <a:srgbClr val="FF00FF"/>
                </a:solidFill>
              </a:rPr>
              <a:t>其它属性域</a:t>
            </a:r>
            <a:endParaRPr lang="en-US" altLang="en-US" sz="4000">
              <a:solidFill>
                <a:srgbClr val="FF00FF"/>
              </a:solidFill>
            </a:endParaRPr>
          </a:p>
          <a:p>
            <a:pPr>
              <a:lnSpc>
                <a:spcPct val="125000"/>
              </a:lnSpc>
            </a:pPr>
            <a:r>
              <a:rPr lang="en-US" altLang="en-US" sz="4000" b="1">
                <a:solidFill>
                  <a:srgbClr val="FF00FF"/>
                </a:solidFill>
              </a:rPr>
              <a:t>}</a:t>
            </a:r>
            <a:r>
              <a:rPr lang="en-US" altLang="en-US" sz="4000">
                <a:solidFill>
                  <a:srgbClr val="FF00FF"/>
                </a:solidFill>
              </a:rPr>
              <a:t> </a:t>
            </a:r>
            <a:r>
              <a:rPr lang="en-US" altLang="zh-CN" sz="4000">
                <a:solidFill>
                  <a:srgbClr val="FF00FF"/>
                </a:solidFill>
              </a:rPr>
              <a:t>ElemType ;</a:t>
            </a:r>
          </a:p>
        </p:txBody>
      </p:sp>
      <p:sp>
        <p:nvSpPr>
          <p:cNvPr id="207876" name="AutoShape 4">
            <a:hlinkClick r:id="" action="ppaction://hlinkshowjump?jump=lastslideviewed" highlightClick="1"/>
          </p:cNvPr>
          <p:cNvSpPr>
            <a:spLocks noChangeArrowheads="1"/>
          </p:cNvSpPr>
          <p:nvPr/>
        </p:nvSpPr>
        <p:spPr bwMode="auto">
          <a:xfrm>
            <a:off x="8382000" y="6172200"/>
            <a:ext cx="381000" cy="381000"/>
          </a:xfrm>
          <a:prstGeom prst="actionButtonReturn">
            <a:avLst/>
          </a:prstGeom>
          <a:solidFill>
            <a:srgbClr val="A5002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207877" name="Text Box 5"/>
          <p:cNvSpPr txBox="1">
            <a:spLocks noChangeArrowheads="1"/>
          </p:cNvSpPr>
          <p:nvPr/>
        </p:nvSpPr>
        <p:spPr bwMode="auto">
          <a:xfrm>
            <a:off x="3641725" y="4708525"/>
            <a:ext cx="3257550" cy="701675"/>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A50021"/>
                </a:solidFill>
              </a:rPr>
              <a:t> , TElemType ;</a:t>
            </a:r>
            <a:endParaRPr lang="en-US" altLang="zh-CN" sz="4000"/>
          </a:p>
        </p:txBody>
      </p:sp>
    </p:spTree>
    <p:extLst>
      <p:ext uri="{BB962C8B-B14F-4D97-AF65-F5344CB8AC3E}">
        <p14:creationId xmlns:p14="http://schemas.microsoft.com/office/powerpoint/2010/main" val="2909491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7874"/>
                                        </p:tgtEl>
                                        <p:attrNameLst>
                                          <p:attrName>style.visibility</p:attrName>
                                        </p:attrNameLst>
                                      </p:cBhvr>
                                      <p:to>
                                        <p:strVal val="visible"/>
                                      </p:to>
                                    </p:set>
                                    <p:anim calcmode="lin" valueType="num">
                                      <p:cBhvr additive="base">
                                        <p:cTn id="7" dur="500" fill="hold"/>
                                        <p:tgtEl>
                                          <p:spTgt spid="207874"/>
                                        </p:tgtEl>
                                        <p:attrNameLst>
                                          <p:attrName>ppt_x</p:attrName>
                                        </p:attrNameLst>
                                      </p:cBhvr>
                                      <p:tavLst>
                                        <p:tav tm="0">
                                          <p:val>
                                            <p:strVal val="0-#ppt_w/2"/>
                                          </p:val>
                                        </p:tav>
                                        <p:tav tm="100000">
                                          <p:val>
                                            <p:strVal val="#ppt_x"/>
                                          </p:val>
                                        </p:tav>
                                      </p:tavLst>
                                    </p:anim>
                                    <p:anim calcmode="lin" valueType="num">
                                      <p:cBhvr additive="base">
                                        <p:cTn id="8" dur="500" fill="hold"/>
                                        <p:tgtEl>
                                          <p:spTgt spid="20787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207875"/>
                                        </p:tgtEl>
                                        <p:attrNameLst>
                                          <p:attrName>style.visibility</p:attrName>
                                        </p:attrNameLst>
                                      </p:cBhvr>
                                      <p:to>
                                        <p:strVal val="visible"/>
                                      </p:to>
                                    </p:set>
                                    <p:animEffect transition="in" filter="strips(downRight)">
                                      <p:cBhvr>
                                        <p:cTn id="13" dur="500"/>
                                        <p:tgtEl>
                                          <p:spTgt spid="207875"/>
                                        </p:tgtEl>
                                      </p:cBhvr>
                                    </p:animEffect>
                                  </p:childTnLst>
                                </p:cTn>
                              </p:par>
                            </p:childTnLst>
                          </p:cTn>
                        </p:par>
                        <p:par>
                          <p:cTn id="14" fill="hold" nodeType="afterGroup">
                            <p:stCondLst>
                              <p:cond delay="500"/>
                            </p:stCondLst>
                            <p:childTnLst>
                              <p:par>
                                <p:cTn id="15" presetID="2" presetClass="entr" presetSubtype="6" fill="hold" grpId="0" nodeType="afterEffect">
                                  <p:stCondLst>
                                    <p:cond delay="0"/>
                                  </p:stCondLst>
                                  <p:childTnLst>
                                    <p:set>
                                      <p:cBhvr>
                                        <p:cTn id="16" dur="1" fill="hold">
                                          <p:stCondLst>
                                            <p:cond delay="0"/>
                                          </p:stCondLst>
                                        </p:cTn>
                                        <p:tgtEl>
                                          <p:spTgt spid="207876"/>
                                        </p:tgtEl>
                                        <p:attrNameLst>
                                          <p:attrName>style.visibility</p:attrName>
                                        </p:attrNameLst>
                                      </p:cBhvr>
                                      <p:to>
                                        <p:strVal val="visible"/>
                                      </p:to>
                                    </p:set>
                                    <p:anim calcmode="lin" valueType="num">
                                      <p:cBhvr additive="base">
                                        <p:cTn id="17" dur="500" fill="hold"/>
                                        <p:tgtEl>
                                          <p:spTgt spid="207876"/>
                                        </p:tgtEl>
                                        <p:attrNameLst>
                                          <p:attrName>ppt_x</p:attrName>
                                        </p:attrNameLst>
                                      </p:cBhvr>
                                      <p:tavLst>
                                        <p:tav tm="0">
                                          <p:val>
                                            <p:strVal val="1+#ppt_w/2"/>
                                          </p:val>
                                        </p:tav>
                                        <p:tav tm="100000">
                                          <p:val>
                                            <p:strVal val="#ppt_x"/>
                                          </p:val>
                                        </p:tav>
                                      </p:tavLst>
                                    </p:anim>
                                    <p:anim calcmode="lin" valueType="num">
                                      <p:cBhvr additive="base">
                                        <p:cTn id="18" dur="500" fill="hold"/>
                                        <p:tgtEl>
                                          <p:spTgt spid="207876"/>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07877"/>
                                        </p:tgtEl>
                                        <p:attrNameLst>
                                          <p:attrName>style.visibility</p:attrName>
                                        </p:attrNameLst>
                                      </p:cBhvr>
                                      <p:to>
                                        <p:strVal val="visible"/>
                                      </p:to>
                                    </p:set>
                                    <p:animEffect transition="in" filter="wipe(left)">
                                      <p:cBhvr>
                                        <p:cTn id="23" dur="500"/>
                                        <p:tgtEl>
                                          <p:spTgt spid="207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4" grpId="0" autoUpdateAnimBg="0"/>
      <p:bldP spid="207875" grpId="0" autoUpdateAnimBg="0"/>
      <p:bldP spid="207876" grpId="0" animBg="1"/>
      <p:bldP spid="207877"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a:hlinkClick r:id="" action="ppaction://hlinkshowjump?jump=nextslide" highlightClick="1"/>
          </p:cNvPr>
          <p:cNvSpPr txBox="1">
            <a:spLocks noChangeArrowheads="1"/>
          </p:cNvSpPr>
          <p:nvPr/>
        </p:nvSpPr>
        <p:spPr bwMode="auto">
          <a:xfrm>
            <a:off x="914400" y="838200"/>
            <a:ext cx="41290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990033"/>
                </a:solidFill>
                <a:ea typeface="楷体_GB2312" charset="0"/>
              </a:rPr>
              <a:t>一、顺序查找表</a:t>
            </a:r>
            <a:endParaRPr lang="zh-CN" altLang="en-US"/>
          </a:p>
        </p:txBody>
      </p:sp>
      <p:sp>
        <p:nvSpPr>
          <p:cNvPr id="31747" name="Text Box 3">
            <a:hlinkClick r:id="rId2" action="ppaction://hlinksldjump" highlightClick="1"/>
          </p:cNvPr>
          <p:cNvSpPr txBox="1">
            <a:spLocks noChangeArrowheads="1"/>
          </p:cNvSpPr>
          <p:nvPr/>
        </p:nvSpPr>
        <p:spPr bwMode="auto">
          <a:xfrm>
            <a:off x="3276600" y="1981200"/>
            <a:ext cx="41290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CC6600"/>
                </a:solidFill>
                <a:ea typeface="楷体_GB2312" charset="0"/>
              </a:rPr>
              <a:t>二、有序查找表</a:t>
            </a:r>
            <a:endParaRPr lang="zh-CN" altLang="en-US"/>
          </a:p>
        </p:txBody>
      </p:sp>
      <p:sp>
        <p:nvSpPr>
          <p:cNvPr id="31748" name="Text Box 4">
            <a:hlinkClick r:id="rId3" action="ppaction://hlinksldjump" highlightClick="1"/>
          </p:cNvPr>
          <p:cNvSpPr txBox="1">
            <a:spLocks noChangeArrowheads="1"/>
          </p:cNvSpPr>
          <p:nvPr/>
        </p:nvSpPr>
        <p:spPr bwMode="auto">
          <a:xfrm>
            <a:off x="914400" y="3048000"/>
            <a:ext cx="46926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006600"/>
                </a:solidFill>
                <a:ea typeface="楷体_GB2312" charset="0"/>
              </a:rPr>
              <a:t>三、静态查找树表</a:t>
            </a:r>
            <a:endParaRPr lang="zh-CN" altLang="en-US" sz="4400" b="1">
              <a:ea typeface="楷体_GB2312" charset="0"/>
            </a:endParaRPr>
          </a:p>
        </p:txBody>
      </p:sp>
      <p:sp>
        <p:nvSpPr>
          <p:cNvPr id="31749" name="Text Box 5">
            <a:hlinkClick r:id="rId4" action="ppaction://hlinksldjump" highlightClick="1"/>
          </p:cNvPr>
          <p:cNvSpPr txBox="1">
            <a:spLocks noChangeArrowheads="1"/>
          </p:cNvSpPr>
          <p:nvPr/>
        </p:nvSpPr>
        <p:spPr bwMode="auto">
          <a:xfrm>
            <a:off x="3276600" y="4267200"/>
            <a:ext cx="41290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chemeClr val="accent2"/>
                </a:solidFill>
                <a:ea typeface="楷体_GB2312" charset="0"/>
              </a:rPr>
              <a:t>四、索引顺序表</a:t>
            </a:r>
            <a:endParaRPr lang="zh-CN" altLang="en-US"/>
          </a:p>
        </p:txBody>
      </p:sp>
      <p:pic>
        <p:nvPicPr>
          <p:cNvPr id="31750" name="Picture 6" descr="MEETING">
            <a:hlinkClick r:id="rId5" action="ppaction://hlinksldjump" highlightClick="1"/>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4876800"/>
            <a:ext cx="2286000" cy="1630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95890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wipe(left)">
                                      <p:cBhvr>
                                        <p:cTn id="7" dur="500"/>
                                        <p:tgtEl>
                                          <p:spTgt spid="3174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747"/>
                                        </p:tgtEl>
                                        <p:attrNameLst>
                                          <p:attrName>style.visibility</p:attrName>
                                        </p:attrNameLst>
                                      </p:cBhvr>
                                      <p:to>
                                        <p:strVal val="visible"/>
                                      </p:to>
                                    </p:set>
                                    <p:animEffect transition="in" filter="wipe(left)">
                                      <p:cBhvr>
                                        <p:cTn id="11" dur="500"/>
                                        <p:tgtEl>
                                          <p:spTgt spid="31747"/>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1748"/>
                                        </p:tgtEl>
                                        <p:attrNameLst>
                                          <p:attrName>style.visibility</p:attrName>
                                        </p:attrNameLst>
                                      </p:cBhvr>
                                      <p:to>
                                        <p:strVal val="visible"/>
                                      </p:to>
                                    </p:set>
                                    <p:animEffect transition="in" filter="wipe(left)">
                                      <p:cBhvr>
                                        <p:cTn id="15" dur="500"/>
                                        <p:tgtEl>
                                          <p:spTgt spid="31748"/>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1749"/>
                                        </p:tgtEl>
                                        <p:attrNameLst>
                                          <p:attrName>style.visibility</p:attrName>
                                        </p:attrNameLst>
                                      </p:cBhvr>
                                      <p:to>
                                        <p:strVal val="visible"/>
                                      </p:to>
                                    </p:set>
                                    <p:animEffect transition="in" filter="wipe(left)">
                                      <p:cBhvr>
                                        <p:cTn id="19" dur="500"/>
                                        <p:tgtEl>
                                          <p:spTgt spid="31749"/>
                                        </p:tgtEl>
                                      </p:cBhvr>
                                    </p:animEffect>
                                  </p:childTnLst>
                                </p:cTn>
                              </p:par>
                            </p:childTnLst>
                          </p:cTn>
                        </p:par>
                        <p:par>
                          <p:cTn id="20" fill="hold" nodeType="afterGroup">
                            <p:stCondLst>
                              <p:cond delay="2000"/>
                            </p:stCondLst>
                            <p:childTnLst>
                              <p:par>
                                <p:cTn id="21" presetID="2" presetClass="entr" presetSubtype="8" fill="hold" nodeType="afterEffect">
                                  <p:stCondLst>
                                    <p:cond delay="0"/>
                                  </p:stCondLst>
                                  <p:childTnLst>
                                    <p:set>
                                      <p:cBhvr>
                                        <p:cTn id="22" dur="1" fill="hold">
                                          <p:stCondLst>
                                            <p:cond delay="0"/>
                                          </p:stCondLst>
                                        </p:cTn>
                                        <p:tgtEl>
                                          <p:spTgt spid="31750"/>
                                        </p:tgtEl>
                                        <p:attrNameLst>
                                          <p:attrName>style.visibility</p:attrName>
                                        </p:attrNameLst>
                                      </p:cBhvr>
                                      <p:to>
                                        <p:strVal val="visible"/>
                                      </p:to>
                                    </p:set>
                                    <p:anim calcmode="lin" valueType="num">
                                      <p:cBhvr additive="base">
                                        <p:cTn id="23" dur="500" fill="hold"/>
                                        <p:tgtEl>
                                          <p:spTgt spid="31750"/>
                                        </p:tgtEl>
                                        <p:attrNameLst>
                                          <p:attrName>ppt_x</p:attrName>
                                        </p:attrNameLst>
                                      </p:cBhvr>
                                      <p:tavLst>
                                        <p:tav tm="0">
                                          <p:val>
                                            <p:strVal val="0-#ppt_w/2"/>
                                          </p:val>
                                        </p:tav>
                                        <p:tav tm="100000">
                                          <p:val>
                                            <p:strVal val="#ppt_x"/>
                                          </p:val>
                                        </p:tav>
                                      </p:tavLst>
                                    </p:anim>
                                    <p:anim calcmode="lin" valueType="num">
                                      <p:cBhvr additive="base">
                                        <p:cTn id="24" dur="500" fill="hold"/>
                                        <p:tgtEl>
                                          <p:spTgt spid="317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autoUpdateAnimBg="0"/>
      <p:bldP spid="31747" grpId="0" autoUpdateAnimBg="0"/>
      <p:bldP spid="31748" grpId="0" autoUpdateAnimBg="0"/>
      <p:bldP spid="31749"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1219200" y="2895600"/>
            <a:ext cx="6705600" cy="213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lang="en-US" altLang="zh-CN" sz="4800">
                <a:solidFill>
                  <a:srgbClr val="0000FF"/>
                </a:solidFill>
                <a:ea typeface="楷体_GB2312" charset="0"/>
              </a:rPr>
              <a:t>     </a:t>
            </a:r>
            <a:r>
              <a:rPr lang="zh-CN" altLang="en-US" sz="4800">
                <a:solidFill>
                  <a:srgbClr val="0000FF"/>
                </a:solidFill>
                <a:ea typeface="楷体_GB2312" charset="0"/>
              </a:rPr>
              <a:t>以顺序表或线性链表表示静态查找表</a:t>
            </a:r>
            <a:endParaRPr lang="zh-CN" altLang="en-US"/>
          </a:p>
        </p:txBody>
      </p:sp>
      <p:sp>
        <p:nvSpPr>
          <p:cNvPr id="32771" name="Text Box 3"/>
          <p:cNvSpPr txBox="1">
            <a:spLocks noChangeArrowheads="1"/>
          </p:cNvSpPr>
          <p:nvPr/>
        </p:nvSpPr>
        <p:spPr bwMode="auto">
          <a:xfrm>
            <a:off x="1239838" y="914400"/>
            <a:ext cx="500856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5400">
                <a:solidFill>
                  <a:srgbClr val="990033"/>
                </a:solidFill>
                <a:ea typeface="楷体_GB2312" charset="0"/>
              </a:rPr>
              <a:t>一、</a:t>
            </a:r>
            <a:r>
              <a:rPr lang="zh-CN" altLang="en-US" sz="5400" b="1">
                <a:solidFill>
                  <a:srgbClr val="990033"/>
                </a:solidFill>
                <a:ea typeface="楷体_GB2312" charset="0"/>
              </a:rPr>
              <a:t>顺序查找表</a:t>
            </a:r>
            <a:endParaRPr lang="zh-CN" altLang="en-US"/>
          </a:p>
        </p:txBody>
      </p:sp>
    </p:spTree>
    <p:extLst>
      <p:ext uri="{BB962C8B-B14F-4D97-AF65-F5344CB8AC3E}">
        <p14:creationId xmlns:p14="http://schemas.microsoft.com/office/powerpoint/2010/main" val="144922843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32771"/>
                                        </p:tgtEl>
                                        <p:attrNameLst>
                                          <p:attrName>style.visibility</p:attrName>
                                        </p:attrNameLst>
                                      </p:cBhvr>
                                      <p:to>
                                        <p:strVal val="visible"/>
                                      </p:to>
                                    </p:set>
                                    <p:animEffect transition="in" filter="strips(downRight)">
                                      <p:cBhvr>
                                        <p:cTn id="7" dur="500"/>
                                        <p:tgtEl>
                                          <p:spTgt spid="327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528" fill="hold" grpId="0" nodeType="clickEffect">
                                  <p:stCondLst>
                                    <p:cond delay="0"/>
                                  </p:stCondLst>
                                  <p:childTnLst>
                                    <p:set>
                                      <p:cBhvr>
                                        <p:cTn id="11" dur="1" fill="hold">
                                          <p:stCondLst>
                                            <p:cond delay="0"/>
                                          </p:stCondLst>
                                        </p:cTn>
                                        <p:tgtEl>
                                          <p:spTgt spid="32770"/>
                                        </p:tgtEl>
                                        <p:attrNameLst>
                                          <p:attrName>style.visibility</p:attrName>
                                        </p:attrNameLst>
                                      </p:cBhvr>
                                      <p:to>
                                        <p:strVal val="visible"/>
                                      </p:to>
                                    </p:set>
                                    <p:anim calcmode="lin" valueType="num">
                                      <p:cBhvr>
                                        <p:cTn id="12" dur="500" fill="hold"/>
                                        <p:tgtEl>
                                          <p:spTgt spid="32770"/>
                                        </p:tgtEl>
                                        <p:attrNameLst>
                                          <p:attrName>ppt_w</p:attrName>
                                        </p:attrNameLst>
                                      </p:cBhvr>
                                      <p:tavLst>
                                        <p:tav tm="0">
                                          <p:val>
                                            <p:fltVal val="0"/>
                                          </p:val>
                                        </p:tav>
                                        <p:tav tm="100000">
                                          <p:val>
                                            <p:strVal val="#ppt_w"/>
                                          </p:val>
                                        </p:tav>
                                      </p:tavLst>
                                    </p:anim>
                                    <p:anim calcmode="lin" valueType="num">
                                      <p:cBhvr>
                                        <p:cTn id="13" dur="500" fill="hold"/>
                                        <p:tgtEl>
                                          <p:spTgt spid="32770"/>
                                        </p:tgtEl>
                                        <p:attrNameLst>
                                          <p:attrName>ppt_h</p:attrName>
                                        </p:attrNameLst>
                                      </p:cBhvr>
                                      <p:tavLst>
                                        <p:tav tm="0">
                                          <p:val>
                                            <p:fltVal val="0"/>
                                          </p:val>
                                        </p:tav>
                                        <p:tav tm="100000">
                                          <p:val>
                                            <p:strVal val="#ppt_h"/>
                                          </p:val>
                                        </p:tav>
                                      </p:tavLst>
                                    </p:anim>
                                    <p:anim calcmode="lin" valueType="num">
                                      <p:cBhvr>
                                        <p:cTn id="14" dur="500" fill="hold"/>
                                        <p:tgtEl>
                                          <p:spTgt spid="32770"/>
                                        </p:tgtEl>
                                        <p:attrNameLst>
                                          <p:attrName>ppt_x</p:attrName>
                                        </p:attrNameLst>
                                      </p:cBhvr>
                                      <p:tavLst>
                                        <p:tav tm="0">
                                          <p:val>
                                            <p:fltVal val="0.5"/>
                                          </p:val>
                                        </p:tav>
                                        <p:tav tm="100000">
                                          <p:val>
                                            <p:strVal val="#ppt_x"/>
                                          </p:val>
                                        </p:tav>
                                      </p:tavLst>
                                    </p:anim>
                                    <p:anim calcmode="lin" valueType="num">
                                      <p:cBhvr>
                                        <p:cTn id="15" dur="500" fill="hold"/>
                                        <p:tgtEl>
                                          <p:spTgt spid="32770"/>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utoUpdateAnimBg="0"/>
      <p:bldP spid="32771"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9202" name="Object 1026"/>
          <p:cNvGraphicFramePr>
            <a:graphicFrameLocks noChangeAspect="1"/>
          </p:cNvGraphicFramePr>
          <p:nvPr/>
        </p:nvGraphicFramePr>
        <p:xfrm>
          <a:off x="735013" y="2617788"/>
          <a:ext cx="8188325" cy="1725612"/>
        </p:xfrm>
        <a:graphic>
          <a:graphicData uri="http://schemas.openxmlformats.org/presentationml/2006/ole">
            <mc:AlternateContent xmlns:mc="http://schemas.openxmlformats.org/markup-compatibility/2006">
              <mc:Choice xmlns:v="urn:schemas-microsoft-com:vml" Requires="v">
                <p:oleObj spid="_x0000_s1299458" name="文档" r:id="rId3" imgW="8187120" imgH="1726560" progId="Word.Document.8">
                  <p:embed/>
                </p:oleObj>
              </mc:Choice>
              <mc:Fallback>
                <p:oleObj name="文档" r:id="rId3" imgW="8187120" imgH="172656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13" y="2617788"/>
                        <a:ext cx="8188325" cy="172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79203" name="Text Box 1027"/>
          <p:cNvSpPr txBox="1">
            <a:spLocks noChangeArrowheads="1"/>
          </p:cNvSpPr>
          <p:nvPr/>
        </p:nvSpPr>
        <p:spPr bwMode="auto">
          <a:xfrm>
            <a:off x="69850" y="2070100"/>
            <a:ext cx="1377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t>ST.elem</a:t>
            </a:r>
            <a:endParaRPr lang="en-US" altLang="zh-CN"/>
          </a:p>
        </p:txBody>
      </p:sp>
      <p:sp>
        <p:nvSpPr>
          <p:cNvPr id="179204" name="Line 1028"/>
          <p:cNvSpPr>
            <a:spLocks noChangeShapeType="1"/>
          </p:cNvSpPr>
          <p:nvPr/>
        </p:nvSpPr>
        <p:spPr bwMode="auto">
          <a:xfrm>
            <a:off x="1600200" y="1698625"/>
            <a:ext cx="0" cy="9144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79205" name="Line 1029"/>
          <p:cNvSpPr>
            <a:spLocks noChangeShapeType="1"/>
          </p:cNvSpPr>
          <p:nvPr/>
        </p:nvSpPr>
        <p:spPr bwMode="auto">
          <a:xfrm>
            <a:off x="5410200" y="1698625"/>
            <a:ext cx="0" cy="9144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79207" name="Text Box 1031"/>
          <p:cNvSpPr txBox="1">
            <a:spLocks noChangeArrowheads="1"/>
          </p:cNvSpPr>
          <p:nvPr/>
        </p:nvSpPr>
        <p:spPr bwMode="auto">
          <a:xfrm>
            <a:off x="298450" y="304800"/>
            <a:ext cx="63833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660033"/>
                </a:solidFill>
                <a:ea typeface="楷体_GB2312" charset="0"/>
              </a:rPr>
              <a:t>回顾顺序表的查找过程：</a:t>
            </a:r>
            <a:endParaRPr lang="zh-CN" altLang="en-US" sz="4400">
              <a:solidFill>
                <a:srgbClr val="CC6600"/>
              </a:solidFill>
              <a:ea typeface="楷体_GB2312" charset="0"/>
            </a:endParaRPr>
          </a:p>
        </p:txBody>
      </p:sp>
      <p:sp>
        <p:nvSpPr>
          <p:cNvPr id="179208" name="Text Box 1032"/>
          <p:cNvSpPr txBox="1">
            <a:spLocks noChangeArrowheads="1"/>
          </p:cNvSpPr>
          <p:nvPr/>
        </p:nvSpPr>
        <p:spPr bwMode="auto">
          <a:xfrm>
            <a:off x="574675" y="4327525"/>
            <a:ext cx="6442075"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zh-CN" altLang="en-US" sz="4000">
                <a:solidFill>
                  <a:srgbClr val="FF00FF"/>
                </a:solidFill>
                <a:ea typeface="楷体_GB2312" charset="0"/>
              </a:rPr>
              <a:t>假设给定值 </a:t>
            </a:r>
            <a:r>
              <a:rPr lang="en-US" altLang="zh-CN" sz="4000">
                <a:solidFill>
                  <a:srgbClr val="FF00FF"/>
                </a:solidFill>
                <a:ea typeface="楷体_GB2312" charset="0"/>
              </a:rPr>
              <a:t>e=64,</a:t>
            </a:r>
          </a:p>
          <a:p>
            <a:pPr>
              <a:lnSpc>
                <a:spcPct val="125000"/>
              </a:lnSpc>
            </a:pPr>
            <a:r>
              <a:rPr lang="zh-CN" altLang="en-US" sz="4000">
                <a:solidFill>
                  <a:srgbClr val="FF00FF"/>
                </a:solidFill>
                <a:ea typeface="楷体_GB2312" charset="0"/>
              </a:rPr>
              <a:t>要求 </a:t>
            </a:r>
            <a:r>
              <a:rPr lang="en-US" altLang="zh-CN" sz="4000">
                <a:solidFill>
                  <a:srgbClr val="FF00FF"/>
                </a:solidFill>
                <a:ea typeface="楷体_GB2312" charset="0"/>
              </a:rPr>
              <a:t>ST.elem[k] = e, </a:t>
            </a:r>
            <a:r>
              <a:rPr lang="zh-CN" altLang="en-US" sz="4000">
                <a:solidFill>
                  <a:srgbClr val="FF00FF"/>
                </a:solidFill>
                <a:ea typeface="楷体_GB2312" charset="0"/>
              </a:rPr>
              <a:t>问</a:t>
            </a:r>
            <a:r>
              <a:rPr lang="en-US" altLang="zh-CN" sz="4000">
                <a:solidFill>
                  <a:srgbClr val="FF00FF"/>
                </a:solidFill>
                <a:ea typeface="楷体_GB2312" charset="0"/>
              </a:rPr>
              <a:t>: k = ?</a:t>
            </a:r>
            <a:endParaRPr lang="en-US" altLang="zh-CN">
              <a:ea typeface="楷体_GB2312" charset="0"/>
            </a:endParaRPr>
          </a:p>
        </p:txBody>
      </p:sp>
      <p:sp>
        <p:nvSpPr>
          <p:cNvPr id="179210" name="Rectangle 1034"/>
          <p:cNvSpPr>
            <a:spLocks noChangeArrowheads="1"/>
          </p:cNvSpPr>
          <p:nvPr/>
        </p:nvSpPr>
        <p:spPr bwMode="auto">
          <a:xfrm>
            <a:off x="1695450" y="1447800"/>
            <a:ext cx="43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FF00FF"/>
                </a:solidFill>
                <a:ea typeface="楷体_GB2312" charset="0"/>
              </a:rPr>
              <a:t>k</a:t>
            </a:r>
          </a:p>
        </p:txBody>
      </p:sp>
      <p:sp>
        <p:nvSpPr>
          <p:cNvPr id="179211" name="Rectangle 1035"/>
          <p:cNvSpPr>
            <a:spLocks noChangeArrowheads="1"/>
          </p:cNvSpPr>
          <p:nvPr/>
        </p:nvSpPr>
        <p:spPr bwMode="auto">
          <a:xfrm>
            <a:off x="5486400" y="1447800"/>
            <a:ext cx="43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FF00FF"/>
                </a:solidFill>
                <a:ea typeface="楷体_GB2312" charset="0"/>
              </a:rPr>
              <a:t>k</a:t>
            </a:r>
          </a:p>
        </p:txBody>
      </p:sp>
    </p:spTree>
    <p:extLst>
      <p:ext uri="{BB962C8B-B14F-4D97-AF65-F5344CB8AC3E}">
        <p14:creationId xmlns:p14="http://schemas.microsoft.com/office/powerpoint/2010/main" val="11595498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9207"/>
                                        </p:tgtEl>
                                        <p:attrNameLst>
                                          <p:attrName>style.visibility</p:attrName>
                                        </p:attrNameLst>
                                      </p:cBhvr>
                                      <p:to>
                                        <p:strVal val="visible"/>
                                      </p:to>
                                    </p:set>
                                    <p:anim calcmode="lin" valueType="num">
                                      <p:cBhvr additive="base">
                                        <p:cTn id="7" dur="500" fill="hold"/>
                                        <p:tgtEl>
                                          <p:spTgt spid="179207"/>
                                        </p:tgtEl>
                                        <p:attrNameLst>
                                          <p:attrName>ppt_x</p:attrName>
                                        </p:attrNameLst>
                                      </p:cBhvr>
                                      <p:tavLst>
                                        <p:tav tm="0">
                                          <p:val>
                                            <p:strVal val="0-#ppt_w/2"/>
                                          </p:val>
                                        </p:tav>
                                        <p:tav tm="100000">
                                          <p:val>
                                            <p:strVal val="#ppt_x"/>
                                          </p:val>
                                        </p:tav>
                                      </p:tavLst>
                                    </p:anim>
                                    <p:anim calcmode="lin" valueType="num">
                                      <p:cBhvr additive="base">
                                        <p:cTn id="8" dur="500" fill="hold"/>
                                        <p:tgtEl>
                                          <p:spTgt spid="17920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179202"/>
                                        </p:tgtEl>
                                        <p:attrNameLst>
                                          <p:attrName>style.visibility</p:attrName>
                                        </p:attrNameLst>
                                      </p:cBhvr>
                                      <p:to>
                                        <p:strVal val="visible"/>
                                      </p:to>
                                    </p:set>
                                    <p:animEffect transition="in" filter="wipe(up)">
                                      <p:cBhvr>
                                        <p:cTn id="13" dur="500"/>
                                        <p:tgtEl>
                                          <p:spTgt spid="179202"/>
                                        </p:tgtEl>
                                      </p:cBhvr>
                                    </p:animEffect>
                                  </p:childTnLst>
                                </p:cTn>
                              </p:par>
                            </p:childTnLst>
                          </p:cTn>
                        </p:par>
                        <p:par>
                          <p:cTn id="14" fill="hold" nodeType="afterGroup">
                            <p:stCondLst>
                              <p:cond delay="500"/>
                            </p:stCondLst>
                            <p:childTnLst>
                              <p:par>
                                <p:cTn id="15" presetID="2" presetClass="entr" presetSubtype="8" fill="hold" grpId="0" nodeType="afterEffect">
                                  <p:stCondLst>
                                    <p:cond delay="0"/>
                                  </p:stCondLst>
                                  <p:childTnLst>
                                    <p:set>
                                      <p:cBhvr>
                                        <p:cTn id="16" dur="1" fill="hold">
                                          <p:stCondLst>
                                            <p:cond delay="0"/>
                                          </p:stCondLst>
                                        </p:cTn>
                                        <p:tgtEl>
                                          <p:spTgt spid="179203"/>
                                        </p:tgtEl>
                                        <p:attrNameLst>
                                          <p:attrName>style.visibility</p:attrName>
                                        </p:attrNameLst>
                                      </p:cBhvr>
                                      <p:to>
                                        <p:strVal val="visible"/>
                                      </p:to>
                                    </p:set>
                                    <p:anim calcmode="lin" valueType="num">
                                      <p:cBhvr additive="base">
                                        <p:cTn id="17" dur="500" fill="hold"/>
                                        <p:tgtEl>
                                          <p:spTgt spid="179203"/>
                                        </p:tgtEl>
                                        <p:attrNameLst>
                                          <p:attrName>ppt_x</p:attrName>
                                        </p:attrNameLst>
                                      </p:cBhvr>
                                      <p:tavLst>
                                        <p:tav tm="0">
                                          <p:val>
                                            <p:strVal val="0-#ppt_w/2"/>
                                          </p:val>
                                        </p:tav>
                                        <p:tav tm="100000">
                                          <p:val>
                                            <p:strVal val="#ppt_x"/>
                                          </p:val>
                                        </p:tav>
                                      </p:tavLst>
                                    </p:anim>
                                    <p:anim calcmode="lin" valueType="num">
                                      <p:cBhvr additive="base">
                                        <p:cTn id="18" dur="500" fill="hold"/>
                                        <p:tgtEl>
                                          <p:spTgt spid="179203"/>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79208"/>
                                        </p:tgtEl>
                                        <p:attrNameLst>
                                          <p:attrName>style.visibility</p:attrName>
                                        </p:attrNameLst>
                                      </p:cBhvr>
                                      <p:to>
                                        <p:strVal val="visible"/>
                                      </p:to>
                                    </p:set>
                                    <p:anim calcmode="lin" valueType="num">
                                      <p:cBhvr additive="base">
                                        <p:cTn id="23" dur="500" fill="hold"/>
                                        <p:tgtEl>
                                          <p:spTgt spid="179208"/>
                                        </p:tgtEl>
                                        <p:attrNameLst>
                                          <p:attrName>ppt_x</p:attrName>
                                        </p:attrNameLst>
                                      </p:cBhvr>
                                      <p:tavLst>
                                        <p:tav tm="0">
                                          <p:val>
                                            <p:strVal val="#ppt_x"/>
                                          </p:val>
                                        </p:tav>
                                        <p:tav tm="100000">
                                          <p:val>
                                            <p:strVal val="#ppt_x"/>
                                          </p:val>
                                        </p:tav>
                                      </p:tavLst>
                                    </p:anim>
                                    <p:anim calcmode="lin" valueType="num">
                                      <p:cBhvr additive="base">
                                        <p:cTn id="24" dur="500" fill="hold"/>
                                        <p:tgtEl>
                                          <p:spTgt spid="179208"/>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79204"/>
                                        </p:tgtEl>
                                        <p:attrNameLst>
                                          <p:attrName>style.visibility</p:attrName>
                                        </p:attrNameLst>
                                      </p:cBhvr>
                                      <p:to>
                                        <p:strVal val="visible"/>
                                      </p:to>
                                    </p:set>
                                    <p:animEffect transition="in" filter="wipe(up)">
                                      <p:cBhvr>
                                        <p:cTn id="29" dur="500"/>
                                        <p:tgtEl>
                                          <p:spTgt spid="179204"/>
                                        </p:tgtEl>
                                      </p:cBhvr>
                                    </p:animEffect>
                                  </p:childTnLst>
                                  <p:subTnLst>
                                    <p:set>
                                      <p:cBhvr override="childStyle">
                                        <p:cTn dur="1" fill="hold" display="0" masterRel="nextClick" afterEffect="1"/>
                                        <p:tgtEl>
                                          <p:spTgt spid="179204"/>
                                        </p:tgtEl>
                                        <p:attrNameLst>
                                          <p:attrName>style.visibility</p:attrName>
                                        </p:attrNameLst>
                                      </p:cBhvr>
                                      <p:to>
                                        <p:strVal val="hidden"/>
                                      </p:to>
                                    </p:set>
                                  </p:subTnLst>
                                </p:cTn>
                              </p:par>
                            </p:childTnLst>
                          </p:cTn>
                        </p:par>
                        <p:par>
                          <p:cTn id="30" fill="hold" nodeType="afterGroup">
                            <p:stCondLst>
                              <p:cond delay="500"/>
                            </p:stCondLst>
                            <p:childTnLst>
                              <p:par>
                                <p:cTn id="31" presetID="22" presetClass="entr" presetSubtype="1" fill="hold" grpId="0" nodeType="afterEffect">
                                  <p:stCondLst>
                                    <p:cond delay="0"/>
                                  </p:stCondLst>
                                  <p:childTnLst>
                                    <p:set>
                                      <p:cBhvr>
                                        <p:cTn id="32" dur="1" fill="hold">
                                          <p:stCondLst>
                                            <p:cond delay="0"/>
                                          </p:stCondLst>
                                        </p:cTn>
                                        <p:tgtEl>
                                          <p:spTgt spid="179210"/>
                                        </p:tgtEl>
                                        <p:attrNameLst>
                                          <p:attrName>style.visibility</p:attrName>
                                        </p:attrNameLst>
                                      </p:cBhvr>
                                      <p:to>
                                        <p:strVal val="visible"/>
                                      </p:to>
                                    </p:set>
                                    <p:animEffect transition="in" filter="wipe(up)">
                                      <p:cBhvr>
                                        <p:cTn id="33" dur="500"/>
                                        <p:tgtEl>
                                          <p:spTgt spid="179210"/>
                                        </p:tgtEl>
                                      </p:cBhvr>
                                    </p:animEffect>
                                  </p:childTnLst>
                                  <p:subTnLst>
                                    <p:set>
                                      <p:cBhvr override="childStyle">
                                        <p:cTn dur="1" fill="hold" display="0" masterRel="nextClick" afterEffect="1"/>
                                        <p:tgtEl>
                                          <p:spTgt spid="179210"/>
                                        </p:tgtEl>
                                        <p:attrNameLst>
                                          <p:attrName>style.visibility</p:attrName>
                                        </p:attrNameLst>
                                      </p:cBhvr>
                                      <p:to>
                                        <p:strVal val="hidden"/>
                                      </p:to>
                                    </p:set>
                                  </p:sub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79205"/>
                                        </p:tgtEl>
                                        <p:attrNameLst>
                                          <p:attrName>style.visibility</p:attrName>
                                        </p:attrNameLst>
                                      </p:cBhvr>
                                      <p:to>
                                        <p:strVal val="visible"/>
                                      </p:to>
                                    </p:set>
                                    <p:animEffect transition="in" filter="wipe(up)">
                                      <p:cBhvr>
                                        <p:cTn id="38" dur="500"/>
                                        <p:tgtEl>
                                          <p:spTgt spid="179205"/>
                                        </p:tgtEl>
                                      </p:cBhvr>
                                    </p:animEffect>
                                  </p:childTnLst>
                                </p:cTn>
                              </p:par>
                            </p:childTnLst>
                          </p:cTn>
                        </p:par>
                        <p:par>
                          <p:cTn id="39" fill="hold" nodeType="afterGroup">
                            <p:stCondLst>
                              <p:cond delay="500"/>
                            </p:stCondLst>
                            <p:childTnLst>
                              <p:par>
                                <p:cTn id="40" presetID="22" presetClass="entr" presetSubtype="1" fill="hold" grpId="0" nodeType="afterEffect">
                                  <p:stCondLst>
                                    <p:cond delay="0"/>
                                  </p:stCondLst>
                                  <p:childTnLst>
                                    <p:set>
                                      <p:cBhvr>
                                        <p:cTn id="41" dur="1" fill="hold">
                                          <p:stCondLst>
                                            <p:cond delay="0"/>
                                          </p:stCondLst>
                                        </p:cTn>
                                        <p:tgtEl>
                                          <p:spTgt spid="179211"/>
                                        </p:tgtEl>
                                        <p:attrNameLst>
                                          <p:attrName>style.visibility</p:attrName>
                                        </p:attrNameLst>
                                      </p:cBhvr>
                                      <p:to>
                                        <p:strVal val="visible"/>
                                      </p:to>
                                    </p:set>
                                    <p:animEffect transition="in" filter="wipe(up)">
                                      <p:cBhvr>
                                        <p:cTn id="42" dur="500"/>
                                        <p:tgtEl>
                                          <p:spTgt spid="179211"/>
                                        </p:tgtEl>
                                      </p:cBhvr>
                                    </p:animEffect>
                                  </p:childTnLst>
                                  <p:subTnLst>
                                    <p:set>
                                      <p:cBhvr override="childStyle">
                                        <p:cTn dur="1" fill="hold" display="0" masterRel="nextClick" afterEffect="1"/>
                                        <p:tgtEl>
                                          <p:spTgt spid="17921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3" grpId="0" autoUpdateAnimBg="0"/>
      <p:bldP spid="179204" grpId="0" animBg="1"/>
      <p:bldP spid="179205" grpId="0" animBg="1"/>
      <p:bldP spid="179207" grpId="0" autoUpdateAnimBg="0"/>
      <p:bldP spid="179208" grpId="0" autoUpdateAnimBg="0"/>
      <p:bldP spid="179210" grpId="0" autoUpdateAnimBg="0"/>
      <p:bldP spid="179211"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238125" y="228600"/>
            <a:ext cx="8905875" cy="612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400" b="1"/>
              <a:t>int</a:t>
            </a:r>
            <a:r>
              <a:rPr lang="en-US" altLang="zh-CN" sz="4400"/>
              <a:t> location( </a:t>
            </a:r>
            <a:r>
              <a:rPr lang="en-US" altLang="zh-CN" sz="3200"/>
              <a:t>SqList L, ElemType</a:t>
            </a:r>
            <a:r>
              <a:rPr lang="en-US" altLang="zh-CN" sz="3200" b="1"/>
              <a:t>&amp; </a:t>
            </a:r>
            <a:r>
              <a:rPr lang="en-US" altLang="zh-CN" sz="3200"/>
              <a:t>e,</a:t>
            </a:r>
            <a:endParaRPr lang="en-US" altLang="zh-CN" sz="4400"/>
          </a:p>
          <a:p>
            <a:r>
              <a:rPr lang="en-US" altLang="zh-CN" sz="4400"/>
              <a:t>      </a:t>
            </a:r>
            <a:r>
              <a:rPr lang="en-US" altLang="zh-CN" sz="3200"/>
              <a:t>Status (*compare)(ElemType, ElemType</a:t>
            </a:r>
            <a:r>
              <a:rPr lang="en-US" altLang="zh-CN" sz="4400"/>
              <a:t>)) </a:t>
            </a:r>
            <a:r>
              <a:rPr lang="en-US" altLang="zh-CN" sz="4400" b="1">
                <a:latin typeface="宋体" charset="-122"/>
              </a:rPr>
              <a:t>{</a:t>
            </a:r>
            <a:endParaRPr lang="en-US" altLang="zh-CN" sz="4400">
              <a:latin typeface="宋体" charset="-122"/>
            </a:endParaRPr>
          </a:p>
          <a:p>
            <a:r>
              <a:rPr lang="en-US" altLang="zh-CN" sz="4400"/>
              <a:t>  k = 1;</a:t>
            </a:r>
          </a:p>
          <a:p>
            <a:r>
              <a:rPr lang="en-US" altLang="zh-CN" sz="4400"/>
              <a:t>  p = L.elem;</a:t>
            </a:r>
          </a:p>
          <a:p>
            <a:r>
              <a:rPr lang="en-US" altLang="zh-CN" sz="4400"/>
              <a:t>  </a:t>
            </a:r>
            <a:r>
              <a:rPr lang="en-US" altLang="zh-CN" sz="4400" b="1"/>
              <a:t>while</a:t>
            </a:r>
            <a:r>
              <a:rPr lang="en-US" altLang="zh-CN" sz="4400"/>
              <a:t> ( </a:t>
            </a:r>
            <a:r>
              <a:rPr lang="en-US" altLang="zh-CN" sz="4400" b="1">
                <a:solidFill>
                  <a:srgbClr val="006600"/>
                </a:solidFill>
                <a:ea typeface="楷体_GB2312" charset="0"/>
              </a:rPr>
              <a:t>k&lt;=L.length</a:t>
            </a:r>
            <a:r>
              <a:rPr lang="en-US" altLang="zh-CN" sz="4400"/>
              <a:t> </a:t>
            </a:r>
            <a:r>
              <a:rPr lang="en-US" altLang="zh-CN" sz="4400" b="1"/>
              <a:t>&amp;&amp;</a:t>
            </a:r>
          </a:p>
          <a:p>
            <a:r>
              <a:rPr lang="en-US" altLang="zh-CN" sz="4400" b="1"/>
              <a:t>              </a:t>
            </a:r>
            <a:r>
              <a:rPr lang="en-US" altLang="zh-CN" sz="4400"/>
              <a:t> </a:t>
            </a:r>
            <a:r>
              <a:rPr lang="en-US" altLang="zh-CN" sz="4400" b="1">
                <a:solidFill>
                  <a:schemeClr val="accent2"/>
                </a:solidFill>
              </a:rPr>
              <a:t>!(*compare)(*p++,e)</a:t>
            </a:r>
            <a:r>
              <a:rPr lang="en-US" altLang="zh-CN" sz="4400" b="1"/>
              <a:t>)) </a:t>
            </a:r>
            <a:r>
              <a:rPr lang="en-US" altLang="zh-CN" sz="4400"/>
              <a:t>k</a:t>
            </a:r>
            <a:r>
              <a:rPr lang="en-US" altLang="zh-CN" sz="4400" b="1"/>
              <a:t>++</a:t>
            </a:r>
            <a:r>
              <a:rPr lang="en-US" altLang="zh-CN" sz="4400"/>
              <a:t>; </a:t>
            </a:r>
          </a:p>
          <a:p>
            <a:r>
              <a:rPr lang="en-US" altLang="zh-CN" sz="4400" b="1"/>
              <a:t>  if</a:t>
            </a:r>
            <a:r>
              <a:rPr lang="en-US" altLang="zh-CN" sz="4400"/>
              <a:t> ( k&lt;= L.length)  </a:t>
            </a:r>
            <a:r>
              <a:rPr lang="en-US" altLang="zh-CN" sz="4400" b="1"/>
              <a:t>return</a:t>
            </a:r>
            <a:r>
              <a:rPr lang="en-US" altLang="zh-CN" sz="4400"/>
              <a:t> k; </a:t>
            </a:r>
          </a:p>
          <a:p>
            <a:r>
              <a:rPr lang="en-US" altLang="zh-CN" sz="4400"/>
              <a:t>  </a:t>
            </a:r>
            <a:r>
              <a:rPr lang="en-US" altLang="zh-CN" sz="4400" b="1"/>
              <a:t>else  return</a:t>
            </a:r>
            <a:r>
              <a:rPr lang="en-US" altLang="zh-CN" sz="4400"/>
              <a:t> 0;</a:t>
            </a:r>
          </a:p>
          <a:p>
            <a:r>
              <a:rPr lang="en-US" altLang="zh-CN" sz="4400" b="1"/>
              <a:t>}</a:t>
            </a:r>
            <a:r>
              <a:rPr lang="en-US" altLang="zh-CN" sz="4400"/>
              <a:t> //location</a:t>
            </a:r>
          </a:p>
        </p:txBody>
      </p:sp>
    </p:spTree>
    <p:extLst>
      <p:ext uri="{BB962C8B-B14F-4D97-AF65-F5344CB8AC3E}">
        <p14:creationId xmlns:p14="http://schemas.microsoft.com/office/powerpoint/2010/main" val="104868736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strips(downLeft)">
                                      <p:cBhvr>
                                        <p:cTn id="7" dur="500"/>
                                        <p:tgtEl>
                                          <p:spTgt spid="34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0226" name="Object 1026"/>
          <p:cNvGraphicFramePr>
            <a:graphicFrameLocks noChangeAspect="1"/>
          </p:cNvGraphicFramePr>
          <p:nvPr/>
        </p:nvGraphicFramePr>
        <p:xfrm>
          <a:off x="735013" y="1452563"/>
          <a:ext cx="8188325" cy="1725612"/>
        </p:xfrm>
        <a:graphic>
          <a:graphicData uri="http://schemas.openxmlformats.org/presentationml/2006/ole">
            <mc:AlternateContent xmlns:mc="http://schemas.openxmlformats.org/markup-compatibility/2006">
              <mc:Choice xmlns:v="urn:schemas-microsoft-com:vml" Requires="v">
                <p:oleObj spid="_x0000_s1301507" name="文档" r:id="rId3" imgW="8187120" imgH="1726560" progId="Word.Document.8">
                  <p:embed/>
                </p:oleObj>
              </mc:Choice>
              <mc:Fallback>
                <p:oleObj name="文档" r:id="rId3" imgW="8187120" imgH="172656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13" y="1452563"/>
                        <a:ext cx="8188325" cy="172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80227" name="Text Box 1027"/>
          <p:cNvSpPr txBox="1">
            <a:spLocks noChangeArrowheads="1"/>
          </p:cNvSpPr>
          <p:nvPr/>
        </p:nvSpPr>
        <p:spPr bwMode="auto">
          <a:xfrm>
            <a:off x="69850" y="914400"/>
            <a:ext cx="1377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t>ST.elem</a:t>
            </a:r>
            <a:endParaRPr lang="en-US" altLang="zh-CN"/>
          </a:p>
        </p:txBody>
      </p:sp>
      <p:sp>
        <p:nvSpPr>
          <p:cNvPr id="180228" name="Line 1028"/>
          <p:cNvSpPr>
            <a:spLocks noChangeShapeType="1"/>
          </p:cNvSpPr>
          <p:nvPr/>
        </p:nvSpPr>
        <p:spPr bwMode="auto">
          <a:xfrm>
            <a:off x="7924800" y="457200"/>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0229" name="Line 1029"/>
          <p:cNvSpPr>
            <a:spLocks noChangeShapeType="1"/>
          </p:cNvSpPr>
          <p:nvPr/>
        </p:nvSpPr>
        <p:spPr bwMode="auto">
          <a:xfrm>
            <a:off x="5410200" y="457200"/>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0230" name="Text Box 1030"/>
          <p:cNvSpPr txBox="1">
            <a:spLocks noChangeArrowheads="1"/>
          </p:cNvSpPr>
          <p:nvPr/>
        </p:nvSpPr>
        <p:spPr bwMode="auto">
          <a:xfrm>
            <a:off x="5418138" y="639763"/>
            <a:ext cx="2968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a:solidFill>
                  <a:srgbClr val="990000"/>
                </a:solidFill>
              </a:rPr>
              <a:t>i</a:t>
            </a:r>
            <a:endParaRPr lang="en-US" altLang="zh-CN"/>
          </a:p>
        </p:txBody>
      </p:sp>
      <p:graphicFrame>
        <p:nvGraphicFramePr>
          <p:cNvPr id="180231" name="Object 1031"/>
          <p:cNvGraphicFramePr>
            <a:graphicFrameLocks noChangeAspect="1"/>
          </p:cNvGraphicFramePr>
          <p:nvPr/>
        </p:nvGraphicFramePr>
        <p:xfrm>
          <a:off x="762000" y="4572000"/>
          <a:ext cx="8188325" cy="1725613"/>
        </p:xfrm>
        <a:graphic>
          <a:graphicData uri="http://schemas.openxmlformats.org/presentationml/2006/ole">
            <mc:AlternateContent xmlns:mc="http://schemas.openxmlformats.org/markup-compatibility/2006">
              <mc:Choice xmlns:v="urn:schemas-microsoft-com:vml" Requires="v">
                <p:oleObj spid="_x0000_s1301508" name="文档" r:id="rId5" imgW="8187120" imgH="1726560" progId="Word.Document.8">
                  <p:embed/>
                </p:oleObj>
              </mc:Choice>
              <mc:Fallback>
                <p:oleObj name="文档" r:id="rId5" imgW="8187120" imgH="172656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4572000"/>
                        <a:ext cx="8188325" cy="172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80232" name="Text Box 1032"/>
          <p:cNvSpPr txBox="1">
            <a:spLocks noChangeArrowheads="1"/>
          </p:cNvSpPr>
          <p:nvPr/>
        </p:nvSpPr>
        <p:spPr bwMode="auto">
          <a:xfrm>
            <a:off x="290513" y="4033838"/>
            <a:ext cx="1377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t>ST.elem</a:t>
            </a:r>
            <a:endParaRPr lang="en-US" altLang="zh-CN"/>
          </a:p>
        </p:txBody>
      </p:sp>
      <p:sp>
        <p:nvSpPr>
          <p:cNvPr id="180233" name="Line 1033"/>
          <p:cNvSpPr>
            <a:spLocks noChangeShapeType="1"/>
          </p:cNvSpPr>
          <p:nvPr/>
        </p:nvSpPr>
        <p:spPr bwMode="auto">
          <a:xfrm>
            <a:off x="8001000" y="3576638"/>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0234" name="Line 1034"/>
          <p:cNvSpPr>
            <a:spLocks noChangeShapeType="1"/>
          </p:cNvSpPr>
          <p:nvPr/>
        </p:nvSpPr>
        <p:spPr bwMode="auto">
          <a:xfrm>
            <a:off x="1219200" y="3576638"/>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0235" name="Text Box 1035"/>
          <p:cNvSpPr txBox="1">
            <a:spLocks noChangeArrowheads="1"/>
          </p:cNvSpPr>
          <p:nvPr/>
        </p:nvSpPr>
        <p:spPr bwMode="auto">
          <a:xfrm>
            <a:off x="1219200" y="3505200"/>
            <a:ext cx="2968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a:solidFill>
                  <a:srgbClr val="990000"/>
                </a:solidFill>
              </a:rPr>
              <a:t>i</a:t>
            </a:r>
            <a:endParaRPr lang="en-US" altLang="zh-CN"/>
          </a:p>
        </p:txBody>
      </p:sp>
      <p:sp>
        <p:nvSpPr>
          <p:cNvPr id="180236" name="Text Box 1036"/>
          <p:cNvSpPr txBox="1">
            <a:spLocks noChangeArrowheads="1"/>
          </p:cNvSpPr>
          <p:nvPr/>
        </p:nvSpPr>
        <p:spPr bwMode="auto">
          <a:xfrm>
            <a:off x="762000" y="44958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CC0000"/>
                </a:solidFill>
              </a:rPr>
              <a:t>60</a:t>
            </a:r>
            <a:endParaRPr lang="en-US" altLang="zh-CN"/>
          </a:p>
        </p:txBody>
      </p:sp>
      <p:sp>
        <p:nvSpPr>
          <p:cNvPr id="180237" name="Text Box 1037"/>
          <p:cNvSpPr txBox="1">
            <a:spLocks noChangeArrowheads="1"/>
          </p:cNvSpPr>
          <p:nvPr/>
        </p:nvSpPr>
        <p:spPr bwMode="auto">
          <a:xfrm>
            <a:off x="8008938" y="533400"/>
            <a:ext cx="2968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a:solidFill>
                  <a:srgbClr val="990000"/>
                </a:solidFill>
              </a:rPr>
              <a:t>i</a:t>
            </a:r>
            <a:endParaRPr lang="en-US" altLang="zh-CN"/>
          </a:p>
        </p:txBody>
      </p:sp>
      <p:sp>
        <p:nvSpPr>
          <p:cNvPr id="180239" name="Text Box 1039"/>
          <p:cNvSpPr txBox="1">
            <a:spLocks noChangeArrowheads="1"/>
          </p:cNvSpPr>
          <p:nvPr/>
        </p:nvSpPr>
        <p:spPr bwMode="auto">
          <a:xfrm>
            <a:off x="2270125" y="2609850"/>
            <a:ext cx="14065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a:solidFill>
                  <a:srgbClr val="CC0000"/>
                </a:solidFill>
              </a:rPr>
              <a:t>key=64</a:t>
            </a:r>
            <a:endParaRPr lang="en-US" altLang="zh-CN"/>
          </a:p>
        </p:txBody>
      </p:sp>
      <p:sp>
        <p:nvSpPr>
          <p:cNvPr id="180240" name="Text Box 1040"/>
          <p:cNvSpPr txBox="1">
            <a:spLocks noChangeArrowheads="1"/>
          </p:cNvSpPr>
          <p:nvPr/>
        </p:nvSpPr>
        <p:spPr bwMode="auto">
          <a:xfrm>
            <a:off x="2286000" y="5821363"/>
            <a:ext cx="14065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a:solidFill>
                  <a:srgbClr val="CC0000"/>
                </a:solidFill>
              </a:rPr>
              <a:t>key=60</a:t>
            </a:r>
            <a:endParaRPr lang="en-US" altLang="zh-CN"/>
          </a:p>
        </p:txBody>
      </p:sp>
      <p:sp>
        <p:nvSpPr>
          <p:cNvPr id="180241" name="Text Box 1041"/>
          <p:cNvSpPr txBox="1">
            <a:spLocks noChangeArrowheads="1"/>
          </p:cNvSpPr>
          <p:nvPr/>
        </p:nvSpPr>
        <p:spPr bwMode="auto">
          <a:xfrm>
            <a:off x="8153400" y="3581400"/>
            <a:ext cx="2968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a:solidFill>
                  <a:srgbClr val="990000"/>
                </a:solidFill>
              </a:rPr>
              <a:t>i</a:t>
            </a:r>
            <a:endParaRPr lang="en-US" altLang="zh-CN"/>
          </a:p>
        </p:txBody>
      </p:sp>
      <p:sp>
        <p:nvSpPr>
          <p:cNvPr id="180243" name="Text Box 1043"/>
          <p:cNvSpPr txBox="1">
            <a:spLocks noChangeArrowheads="1"/>
          </p:cNvSpPr>
          <p:nvPr/>
        </p:nvSpPr>
        <p:spPr bwMode="auto">
          <a:xfrm>
            <a:off x="730250" y="13716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CC0000"/>
                </a:solidFill>
              </a:rPr>
              <a:t>64</a:t>
            </a:r>
            <a:endParaRPr lang="en-US" altLang="zh-CN"/>
          </a:p>
        </p:txBody>
      </p:sp>
    </p:spTree>
    <p:extLst>
      <p:ext uri="{BB962C8B-B14F-4D97-AF65-F5344CB8AC3E}">
        <p14:creationId xmlns:p14="http://schemas.microsoft.com/office/powerpoint/2010/main" val="10989078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80226"/>
                                        </p:tgtEl>
                                        <p:attrNameLst>
                                          <p:attrName>style.visibility</p:attrName>
                                        </p:attrNameLst>
                                      </p:cBhvr>
                                      <p:to>
                                        <p:strVal val="visible"/>
                                      </p:to>
                                    </p:set>
                                    <p:animEffect transition="in" filter="wipe(up)">
                                      <p:cBhvr>
                                        <p:cTn id="7" dur="500"/>
                                        <p:tgtEl>
                                          <p:spTgt spid="180226"/>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180227"/>
                                        </p:tgtEl>
                                        <p:attrNameLst>
                                          <p:attrName>style.visibility</p:attrName>
                                        </p:attrNameLst>
                                      </p:cBhvr>
                                      <p:to>
                                        <p:strVal val="visible"/>
                                      </p:to>
                                    </p:set>
                                    <p:anim calcmode="lin" valueType="num">
                                      <p:cBhvr additive="base">
                                        <p:cTn id="11" dur="500" fill="hold"/>
                                        <p:tgtEl>
                                          <p:spTgt spid="180227"/>
                                        </p:tgtEl>
                                        <p:attrNameLst>
                                          <p:attrName>ppt_x</p:attrName>
                                        </p:attrNameLst>
                                      </p:cBhvr>
                                      <p:tavLst>
                                        <p:tav tm="0">
                                          <p:val>
                                            <p:strVal val="0-#ppt_w/2"/>
                                          </p:val>
                                        </p:tav>
                                        <p:tav tm="100000">
                                          <p:val>
                                            <p:strVal val="#ppt_x"/>
                                          </p:val>
                                        </p:tav>
                                      </p:tavLst>
                                    </p:anim>
                                    <p:anim calcmode="lin" valueType="num">
                                      <p:cBhvr additive="base">
                                        <p:cTn id="12" dur="500" fill="hold"/>
                                        <p:tgtEl>
                                          <p:spTgt spid="180227"/>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0239"/>
                                        </p:tgtEl>
                                        <p:attrNameLst>
                                          <p:attrName>style.visibility</p:attrName>
                                        </p:attrNameLst>
                                      </p:cBhvr>
                                      <p:to>
                                        <p:strVal val="visible"/>
                                      </p:to>
                                    </p:set>
                                    <p:animEffect transition="in" filter="wipe(left)">
                                      <p:cBhvr>
                                        <p:cTn id="17" dur="500"/>
                                        <p:tgtEl>
                                          <p:spTgt spid="1802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0243"/>
                                        </p:tgtEl>
                                        <p:attrNameLst>
                                          <p:attrName>style.visibility</p:attrName>
                                        </p:attrNameLst>
                                      </p:cBhvr>
                                      <p:to>
                                        <p:strVal val="visible"/>
                                      </p:to>
                                    </p:set>
                                    <p:animEffect transition="in" filter="wipe(left)">
                                      <p:cBhvr>
                                        <p:cTn id="22" dur="500"/>
                                        <p:tgtEl>
                                          <p:spTgt spid="1802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80228"/>
                                        </p:tgtEl>
                                        <p:attrNameLst>
                                          <p:attrName>style.visibility</p:attrName>
                                        </p:attrNameLst>
                                      </p:cBhvr>
                                      <p:to>
                                        <p:strVal val="visible"/>
                                      </p:to>
                                    </p:set>
                                    <p:anim calcmode="lin" valueType="num">
                                      <p:cBhvr additive="base">
                                        <p:cTn id="27" dur="500" fill="hold"/>
                                        <p:tgtEl>
                                          <p:spTgt spid="180228"/>
                                        </p:tgtEl>
                                        <p:attrNameLst>
                                          <p:attrName>ppt_x</p:attrName>
                                        </p:attrNameLst>
                                      </p:cBhvr>
                                      <p:tavLst>
                                        <p:tav tm="0">
                                          <p:val>
                                            <p:strVal val="1+#ppt_w/2"/>
                                          </p:val>
                                        </p:tav>
                                        <p:tav tm="100000">
                                          <p:val>
                                            <p:strVal val="#ppt_x"/>
                                          </p:val>
                                        </p:tav>
                                      </p:tavLst>
                                    </p:anim>
                                    <p:anim calcmode="lin" valueType="num">
                                      <p:cBhvr additive="base">
                                        <p:cTn id="28" dur="500" fill="hold"/>
                                        <p:tgtEl>
                                          <p:spTgt spid="18022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80228"/>
                                        </p:tgtEl>
                                        <p:attrNameLst>
                                          <p:attrName>style.visibility</p:attrName>
                                        </p:attrNameLst>
                                      </p:cBhvr>
                                      <p:to>
                                        <p:strVal val="hidden"/>
                                      </p:to>
                                    </p:set>
                                  </p:subTnLst>
                                </p:cTn>
                              </p:par>
                            </p:childTnLst>
                          </p:cTn>
                        </p:par>
                        <p:par>
                          <p:cTn id="29" fill="hold" nodeType="afterGroup">
                            <p:stCondLst>
                              <p:cond delay="500"/>
                            </p:stCondLst>
                            <p:childTnLst>
                              <p:par>
                                <p:cTn id="30" presetID="2" presetClass="entr" presetSubtype="1" fill="hold" grpId="0" nodeType="afterEffect">
                                  <p:stCondLst>
                                    <p:cond delay="0"/>
                                  </p:stCondLst>
                                  <p:childTnLst>
                                    <p:set>
                                      <p:cBhvr>
                                        <p:cTn id="31" dur="1" fill="hold">
                                          <p:stCondLst>
                                            <p:cond delay="0"/>
                                          </p:stCondLst>
                                        </p:cTn>
                                        <p:tgtEl>
                                          <p:spTgt spid="180237"/>
                                        </p:tgtEl>
                                        <p:attrNameLst>
                                          <p:attrName>style.visibility</p:attrName>
                                        </p:attrNameLst>
                                      </p:cBhvr>
                                      <p:to>
                                        <p:strVal val="visible"/>
                                      </p:to>
                                    </p:set>
                                    <p:anim calcmode="lin" valueType="num">
                                      <p:cBhvr additive="base">
                                        <p:cTn id="32" dur="500" fill="hold"/>
                                        <p:tgtEl>
                                          <p:spTgt spid="180237"/>
                                        </p:tgtEl>
                                        <p:attrNameLst>
                                          <p:attrName>ppt_x</p:attrName>
                                        </p:attrNameLst>
                                      </p:cBhvr>
                                      <p:tavLst>
                                        <p:tav tm="0">
                                          <p:val>
                                            <p:strVal val="#ppt_x"/>
                                          </p:val>
                                        </p:tav>
                                        <p:tav tm="100000">
                                          <p:val>
                                            <p:strVal val="#ppt_x"/>
                                          </p:val>
                                        </p:tav>
                                      </p:tavLst>
                                    </p:anim>
                                    <p:anim calcmode="lin" valueType="num">
                                      <p:cBhvr additive="base">
                                        <p:cTn id="33" dur="500" fill="hold"/>
                                        <p:tgtEl>
                                          <p:spTgt spid="180237"/>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80237"/>
                                        </p:tgtEl>
                                        <p:attrNameLst>
                                          <p:attrName>style.visibility</p:attrName>
                                        </p:attrNameLst>
                                      </p:cBhvr>
                                      <p:to>
                                        <p:strVal val="hidden"/>
                                      </p:to>
                                    </p:set>
                                  </p:sub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2" fill="hold" grpId="0" nodeType="clickEffect">
                                  <p:stCondLst>
                                    <p:cond delay="0"/>
                                  </p:stCondLst>
                                  <p:childTnLst>
                                    <p:set>
                                      <p:cBhvr>
                                        <p:cTn id="37" dur="1" fill="hold">
                                          <p:stCondLst>
                                            <p:cond delay="0"/>
                                          </p:stCondLst>
                                        </p:cTn>
                                        <p:tgtEl>
                                          <p:spTgt spid="180229"/>
                                        </p:tgtEl>
                                        <p:attrNameLst>
                                          <p:attrName>style.visibility</p:attrName>
                                        </p:attrNameLst>
                                      </p:cBhvr>
                                      <p:to>
                                        <p:strVal val="visible"/>
                                      </p:to>
                                    </p:set>
                                    <p:animEffect transition="in" filter="slide(fromRight)">
                                      <p:cBhvr>
                                        <p:cTn id="38" dur="500"/>
                                        <p:tgtEl>
                                          <p:spTgt spid="180229"/>
                                        </p:tgtEl>
                                      </p:cBhvr>
                                    </p:animEffect>
                                  </p:childTnLst>
                                </p:cTn>
                              </p:par>
                            </p:childTnLst>
                          </p:cTn>
                        </p:par>
                        <p:par>
                          <p:cTn id="39" fill="hold" nodeType="afterGroup">
                            <p:stCondLst>
                              <p:cond delay="500"/>
                            </p:stCondLst>
                            <p:childTnLst>
                              <p:par>
                                <p:cTn id="40" presetID="2" presetClass="entr" presetSubtype="1" fill="hold" grpId="0" nodeType="afterEffect">
                                  <p:stCondLst>
                                    <p:cond delay="0"/>
                                  </p:stCondLst>
                                  <p:childTnLst>
                                    <p:set>
                                      <p:cBhvr>
                                        <p:cTn id="41" dur="1" fill="hold">
                                          <p:stCondLst>
                                            <p:cond delay="0"/>
                                          </p:stCondLst>
                                        </p:cTn>
                                        <p:tgtEl>
                                          <p:spTgt spid="180230"/>
                                        </p:tgtEl>
                                        <p:attrNameLst>
                                          <p:attrName>style.visibility</p:attrName>
                                        </p:attrNameLst>
                                      </p:cBhvr>
                                      <p:to>
                                        <p:strVal val="visible"/>
                                      </p:to>
                                    </p:set>
                                    <p:anim calcmode="lin" valueType="num">
                                      <p:cBhvr additive="base">
                                        <p:cTn id="42" dur="500" fill="hold"/>
                                        <p:tgtEl>
                                          <p:spTgt spid="180230"/>
                                        </p:tgtEl>
                                        <p:attrNameLst>
                                          <p:attrName>ppt_x</p:attrName>
                                        </p:attrNameLst>
                                      </p:cBhvr>
                                      <p:tavLst>
                                        <p:tav tm="0">
                                          <p:val>
                                            <p:strVal val="#ppt_x"/>
                                          </p:val>
                                        </p:tav>
                                        <p:tav tm="100000">
                                          <p:val>
                                            <p:strVal val="#ppt_x"/>
                                          </p:val>
                                        </p:tav>
                                      </p:tavLst>
                                    </p:anim>
                                    <p:anim calcmode="lin" valueType="num">
                                      <p:cBhvr additive="base">
                                        <p:cTn id="43" dur="500" fill="hold"/>
                                        <p:tgtEl>
                                          <p:spTgt spid="180230"/>
                                        </p:tgtEl>
                                        <p:attrNameLst>
                                          <p:attrName>ppt_y</p:attrName>
                                        </p:attrNameLst>
                                      </p:cBhvr>
                                      <p:tavLst>
                                        <p:tav tm="0">
                                          <p:val>
                                            <p:strVal val="0-#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nodeType="clickEffect">
                                  <p:stCondLst>
                                    <p:cond delay="0"/>
                                  </p:stCondLst>
                                  <p:childTnLst>
                                    <p:set>
                                      <p:cBhvr>
                                        <p:cTn id="47" dur="1" fill="hold">
                                          <p:stCondLst>
                                            <p:cond delay="0"/>
                                          </p:stCondLst>
                                        </p:cTn>
                                        <p:tgtEl>
                                          <p:spTgt spid="180231"/>
                                        </p:tgtEl>
                                        <p:attrNameLst>
                                          <p:attrName>style.visibility</p:attrName>
                                        </p:attrNameLst>
                                      </p:cBhvr>
                                      <p:to>
                                        <p:strVal val="visible"/>
                                      </p:to>
                                    </p:set>
                                    <p:anim calcmode="lin" valueType="num">
                                      <p:cBhvr additive="base">
                                        <p:cTn id="48" dur="500" fill="hold"/>
                                        <p:tgtEl>
                                          <p:spTgt spid="180231"/>
                                        </p:tgtEl>
                                        <p:attrNameLst>
                                          <p:attrName>ppt_x</p:attrName>
                                        </p:attrNameLst>
                                      </p:cBhvr>
                                      <p:tavLst>
                                        <p:tav tm="0">
                                          <p:val>
                                            <p:strVal val="#ppt_x"/>
                                          </p:val>
                                        </p:tav>
                                        <p:tav tm="100000">
                                          <p:val>
                                            <p:strVal val="#ppt_x"/>
                                          </p:val>
                                        </p:tav>
                                      </p:tavLst>
                                    </p:anim>
                                    <p:anim calcmode="lin" valueType="num">
                                      <p:cBhvr additive="base">
                                        <p:cTn id="49" dur="500" fill="hold"/>
                                        <p:tgtEl>
                                          <p:spTgt spid="180231"/>
                                        </p:tgtEl>
                                        <p:attrNameLst>
                                          <p:attrName>ppt_y</p:attrName>
                                        </p:attrNameLst>
                                      </p:cBhvr>
                                      <p:tavLst>
                                        <p:tav tm="0">
                                          <p:val>
                                            <p:strVal val="1+#ppt_h/2"/>
                                          </p:val>
                                        </p:tav>
                                        <p:tav tm="100000">
                                          <p:val>
                                            <p:strVal val="#ppt_y"/>
                                          </p:val>
                                        </p:tav>
                                      </p:tavLst>
                                    </p:anim>
                                  </p:childTnLst>
                                </p:cTn>
                              </p:par>
                            </p:childTnLst>
                          </p:cTn>
                        </p:par>
                        <p:par>
                          <p:cTn id="50" fill="hold" nodeType="afterGroup">
                            <p:stCondLst>
                              <p:cond delay="500"/>
                            </p:stCondLst>
                            <p:childTnLst>
                              <p:par>
                                <p:cTn id="51" presetID="2" presetClass="entr" presetSubtype="8" fill="hold" grpId="0" nodeType="afterEffect">
                                  <p:stCondLst>
                                    <p:cond delay="0"/>
                                  </p:stCondLst>
                                  <p:childTnLst>
                                    <p:set>
                                      <p:cBhvr>
                                        <p:cTn id="52" dur="1" fill="hold">
                                          <p:stCondLst>
                                            <p:cond delay="0"/>
                                          </p:stCondLst>
                                        </p:cTn>
                                        <p:tgtEl>
                                          <p:spTgt spid="180232"/>
                                        </p:tgtEl>
                                        <p:attrNameLst>
                                          <p:attrName>style.visibility</p:attrName>
                                        </p:attrNameLst>
                                      </p:cBhvr>
                                      <p:to>
                                        <p:strVal val="visible"/>
                                      </p:to>
                                    </p:set>
                                    <p:anim calcmode="lin" valueType="num">
                                      <p:cBhvr additive="base">
                                        <p:cTn id="53" dur="500" fill="hold"/>
                                        <p:tgtEl>
                                          <p:spTgt spid="180232"/>
                                        </p:tgtEl>
                                        <p:attrNameLst>
                                          <p:attrName>ppt_x</p:attrName>
                                        </p:attrNameLst>
                                      </p:cBhvr>
                                      <p:tavLst>
                                        <p:tav tm="0">
                                          <p:val>
                                            <p:strVal val="0-#ppt_w/2"/>
                                          </p:val>
                                        </p:tav>
                                        <p:tav tm="100000">
                                          <p:val>
                                            <p:strVal val="#ppt_x"/>
                                          </p:val>
                                        </p:tav>
                                      </p:tavLst>
                                    </p:anim>
                                    <p:anim calcmode="lin" valueType="num">
                                      <p:cBhvr additive="base">
                                        <p:cTn id="54" dur="500" fill="hold"/>
                                        <p:tgtEl>
                                          <p:spTgt spid="180232"/>
                                        </p:tgtEl>
                                        <p:attrNameLst>
                                          <p:attrName>ppt_y</p:attrName>
                                        </p:attrNameLst>
                                      </p:cBhvr>
                                      <p:tavLst>
                                        <p:tav tm="0">
                                          <p:val>
                                            <p:strVal val="#ppt_y"/>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80240"/>
                                        </p:tgtEl>
                                        <p:attrNameLst>
                                          <p:attrName>style.visibility</p:attrName>
                                        </p:attrNameLst>
                                      </p:cBhvr>
                                      <p:to>
                                        <p:strVal val="visible"/>
                                      </p:to>
                                    </p:set>
                                    <p:animEffect transition="in" filter="wipe(left)">
                                      <p:cBhvr>
                                        <p:cTn id="59" dur="500"/>
                                        <p:tgtEl>
                                          <p:spTgt spid="180240"/>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80236"/>
                                        </p:tgtEl>
                                        <p:attrNameLst>
                                          <p:attrName>style.visibility</p:attrName>
                                        </p:attrNameLst>
                                      </p:cBhvr>
                                      <p:to>
                                        <p:strVal val="visible"/>
                                      </p:to>
                                    </p:set>
                                    <p:animEffect transition="in" filter="wipe(left)">
                                      <p:cBhvr>
                                        <p:cTn id="64" dur="500"/>
                                        <p:tgtEl>
                                          <p:spTgt spid="180236"/>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2" fill="hold" grpId="0" nodeType="clickEffect">
                                  <p:stCondLst>
                                    <p:cond delay="0"/>
                                  </p:stCondLst>
                                  <p:childTnLst>
                                    <p:set>
                                      <p:cBhvr>
                                        <p:cTn id="68" dur="1" fill="hold">
                                          <p:stCondLst>
                                            <p:cond delay="0"/>
                                          </p:stCondLst>
                                        </p:cTn>
                                        <p:tgtEl>
                                          <p:spTgt spid="180233"/>
                                        </p:tgtEl>
                                        <p:attrNameLst>
                                          <p:attrName>style.visibility</p:attrName>
                                        </p:attrNameLst>
                                      </p:cBhvr>
                                      <p:to>
                                        <p:strVal val="visible"/>
                                      </p:to>
                                    </p:set>
                                    <p:anim calcmode="lin" valueType="num">
                                      <p:cBhvr additive="base">
                                        <p:cTn id="69" dur="500" fill="hold"/>
                                        <p:tgtEl>
                                          <p:spTgt spid="180233"/>
                                        </p:tgtEl>
                                        <p:attrNameLst>
                                          <p:attrName>ppt_x</p:attrName>
                                        </p:attrNameLst>
                                      </p:cBhvr>
                                      <p:tavLst>
                                        <p:tav tm="0">
                                          <p:val>
                                            <p:strVal val="1+#ppt_w/2"/>
                                          </p:val>
                                        </p:tav>
                                        <p:tav tm="100000">
                                          <p:val>
                                            <p:strVal val="#ppt_x"/>
                                          </p:val>
                                        </p:tav>
                                      </p:tavLst>
                                    </p:anim>
                                    <p:anim calcmode="lin" valueType="num">
                                      <p:cBhvr additive="base">
                                        <p:cTn id="70" dur="500" fill="hold"/>
                                        <p:tgtEl>
                                          <p:spTgt spid="18023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80233"/>
                                        </p:tgtEl>
                                        <p:attrNameLst>
                                          <p:attrName>style.visibility</p:attrName>
                                        </p:attrNameLst>
                                      </p:cBhvr>
                                      <p:to>
                                        <p:strVal val="hidden"/>
                                      </p:to>
                                    </p:set>
                                  </p:subTnLst>
                                </p:cTn>
                              </p:par>
                            </p:childTnLst>
                          </p:cTn>
                        </p:par>
                        <p:par>
                          <p:cTn id="71" fill="hold" nodeType="afterGroup">
                            <p:stCondLst>
                              <p:cond delay="500"/>
                            </p:stCondLst>
                            <p:childTnLst>
                              <p:par>
                                <p:cTn id="72" presetID="2" presetClass="entr" presetSubtype="2" fill="hold" grpId="0" nodeType="afterEffect">
                                  <p:stCondLst>
                                    <p:cond delay="0"/>
                                  </p:stCondLst>
                                  <p:childTnLst>
                                    <p:set>
                                      <p:cBhvr>
                                        <p:cTn id="73" dur="1" fill="hold">
                                          <p:stCondLst>
                                            <p:cond delay="0"/>
                                          </p:stCondLst>
                                        </p:cTn>
                                        <p:tgtEl>
                                          <p:spTgt spid="180241"/>
                                        </p:tgtEl>
                                        <p:attrNameLst>
                                          <p:attrName>style.visibility</p:attrName>
                                        </p:attrNameLst>
                                      </p:cBhvr>
                                      <p:to>
                                        <p:strVal val="visible"/>
                                      </p:to>
                                    </p:set>
                                    <p:anim calcmode="lin" valueType="num">
                                      <p:cBhvr additive="base">
                                        <p:cTn id="74" dur="500" fill="hold"/>
                                        <p:tgtEl>
                                          <p:spTgt spid="180241"/>
                                        </p:tgtEl>
                                        <p:attrNameLst>
                                          <p:attrName>ppt_x</p:attrName>
                                        </p:attrNameLst>
                                      </p:cBhvr>
                                      <p:tavLst>
                                        <p:tav tm="0">
                                          <p:val>
                                            <p:strVal val="1+#ppt_w/2"/>
                                          </p:val>
                                        </p:tav>
                                        <p:tav tm="100000">
                                          <p:val>
                                            <p:strVal val="#ppt_x"/>
                                          </p:val>
                                        </p:tav>
                                      </p:tavLst>
                                    </p:anim>
                                    <p:anim calcmode="lin" valueType="num">
                                      <p:cBhvr additive="base">
                                        <p:cTn id="75" dur="500" fill="hold"/>
                                        <p:tgtEl>
                                          <p:spTgt spid="180241"/>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80241"/>
                                        </p:tgtEl>
                                        <p:attrNameLst>
                                          <p:attrName>style.visibility</p:attrName>
                                        </p:attrNameLst>
                                      </p:cBhvr>
                                      <p:to>
                                        <p:strVal val="hidden"/>
                                      </p:to>
                                    </p:set>
                                  </p:subTnLst>
                                </p:cTn>
                              </p:par>
                            </p:childTnLst>
                          </p:cTn>
                        </p:par>
                      </p:childTnLst>
                    </p:cTn>
                  </p:par>
                  <p:par>
                    <p:cTn id="76" fill="hold" nodeType="clickPar">
                      <p:stCondLst>
                        <p:cond delay="indefinite"/>
                      </p:stCondLst>
                      <p:childTnLst>
                        <p:par>
                          <p:cTn id="77" fill="hold" nodeType="withGroup">
                            <p:stCondLst>
                              <p:cond delay="0"/>
                            </p:stCondLst>
                            <p:childTnLst>
                              <p:par>
                                <p:cTn id="78" presetID="12" presetClass="entr" presetSubtype="2" fill="hold" grpId="0" nodeType="clickEffect">
                                  <p:stCondLst>
                                    <p:cond delay="0"/>
                                  </p:stCondLst>
                                  <p:childTnLst>
                                    <p:set>
                                      <p:cBhvr>
                                        <p:cTn id="79" dur="1" fill="hold">
                                          <p:stCondLst>
                                            <p:cond delay="0"/>
                                          </p:stCondLst>
                                        </p:cTn>
                                        <p:tgtEl>
                                          <p:spTgt spid="180234"/>
                                        </p:tgtEl>
                                        <p:attrNameLst>
                                          <p:attrName>style.visibility</p:attrName>
                                        </p:attrNameLst>
                                      </p:cBhvr>
                                      <p:to>
                                        <p:strVal val="visible"/>
                                      </p:to>
                                    </p:set>
                                    <p:animEffect transition="in" filter="slide(fromRight)">
                                      <p:cBhvr>
                                        <p:cTn id="80" dur="500"/>
                                        <p:tgtEl>
                                          <p:spTgt spid="180234"/>
                                        </p:tgtEl>
                                      </p:cBhvr>
                                    </p:animEffect>
                                  </p:childTnLst>
                                </p:cTn>
                              </p:par>
                            </p:childTnLst>
                          </p:cTn>
                        </p:par>
                        <p:par>
                          <p:cTn id="81" fill="hold" nodeType="afterGroup">
                            <p:stCondLst>
                              <p:cond delay="500"/>
                            </p:stCondLst>
                            <p:childTnLst>
                              <p:par>
                                <p:cTn id="82" presetID="12" presetClass="entr" presetSubtype="2" fill="hold" grpId="0" nodeType="afterEffect">
                                  <p:stCondLst>
                                    <p:cond delay="0"/>
                                  </p:stCondLst>
                                  <p:childTnLst>
                                    <p:set>
                                      <p:cBhvr>
                                        <p:cTn id="83" dur="1" fill="hold">
                                          <p:stCondLst>
                                            <p:cond delay="0"/>
                                          </p:stCondLst>
                                        </p:cTn>
                                        <p:tgtEl>
                                          <p:spTgt spid="180235"/>
                                        </p:tgtEl>
                                        <p:attrNameLst>
                                          <p:attrName>style.visibility</p:attrName>
                                        </p:attrNameLst>
                                      </p:cBhvr>
                                      <p:to>
                                        <p:strVal val="visible"/>
                                      </p:to>
                                    </p:set>
                                    <p:animEffect transition="in" filter="slide(fromRight)">
                                      <p:cBhvr>
                                        <p:cTn id="84" dur="500"/>
                                        <p:tgtEl>
                                          <p:spTgt spid="180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7" grpId="0" autoUpdateAnimBg="0"/>
      <p:bldP spid="180228" grpId="0" animBg="1"/>
      <p:bldP spid="180229" grpId="0" animBg="1"/>
      <p:bldP spid="180230" grpId="0" autoUpdateAnimBg="0"/>
      <p:bldP spid="180232" grpId="0" autoUpdateAnimBg="0"/>
      <p:bldP spid="180233" grpId="0" animBg="1"/>
      <p:bldP spid="180234" grpId="0" animBg="1"/>
      <p:bldP spid="180235" grpId="0" autoUpdateAnimBg="0"/>
      <p:bldP spid="180236" grpId="0" autoUpdateAnimBg="0"/>
      <p:bldP spid="180237" grpId="0" autoUpdateAnimBg="0"/>
      <p:bldP spid="180239" grpId="0" autoUpdateAnimBg="0"/>
      <p:bldP spid="180240" grpId="0" autoUpdateAnimBg="0"/>
      <p:bldP spid="180241" grpId="0" autoUpdateAnimBg="0"/>
      <p:bldP spid="180243"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ext Box 3"/>
          <p:cNvSpPr txBox="1">
            <a:spLocks noChangeArrowheads="1"/>
          </p:cNvSpPr>
          <p:nvPr/>
        </p:nvSpPr>
        <p:spPr bwMode="auto">
          <a:xfrm>
            <a:off x="304800" y="201613"/>
            <a:ext cx="8434388" cy="624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ea typeface="楷体_GB2312" charset="0"/>
              </a:rPr>
              <a:t>int</a:t>
            </a:r>
            <a:r>
              <a:rPr lang="en-US" altLang="zh-CN" sz="4000">
                <a:ea typeface="楷体_GB2312" charset="0"/>
              </a:rPr>
              <a:t> Search_Seq(SSTable ST, </a:t>
            </a:r>
          </a:p>
          <a:p>
            <a:r>
              <a:rPr lang="en-US" altLang="zh-CN" sz="4000">
                <a:ea typeface="楷体_GB2312" charset="0"/>
              </a:rPr>
              <a:t>                                      KeyType key) </a:t>
            </a:r>
            <a:r>
              <a:rPr lang="en-US" altLang="zh-CN" sz="4000" b="1">
                <a:ea typeface="楷体_GB2312" charset="0"/>
              </a:rPr>
              <a:t>{</a:t>
            </a:r>
            <a:endParaRPr lang="en-US" altLang="zh-CN" sz="4000">
              <a:ea typeface="楷体_GB2312" charset="0"/>
            </a:endParaRPr>
          </a:p>
          <a:p>
            <a:r>
              <a:rPr lang="en-US" altLang="zh-CN" sz="4400">
                <a:ea typeface="楷体_GB2312" charset="0"/>
              </a:rPr>
              <a:t>   </a:t>
            </a:r>
            <a:r>
              <a:rPr lang="en-US" altLang="zh-CN" sz="3200">
                <a:ea typeface="楷体_GB2312" charset="0"/>
              </a:rPr>
              <a:t>// </a:t>
            </a:r>
            <a:r>
              <a:rPr lang="zh-CN" altLang="en-US" sz="3200">
                <a:ea typeface="楷体_GB2312" charset="0"/>
              </a:rPr>
              <a:t>在顺序表</a:t>
            </a:r>
            <a:r>
              <a:rPr lang="en-US" altLang="zh-CN" sz="3200">
                <a:ea typeface="楷体_GB2312" charset="0"/>
              </a:rPr>
              <a:t>ST</a:t>
            </a:r>
            <a:r>
              <a:rPr lang="zh-CN" altLang="en-US" sz="3200">
                <a:ea typeface="楷体_GB2312" charset="0"/>
              </a:rPr>
              <a:t>中顺序查找其关键字等于</a:t>
            </a:r>
          </a:p>
          <a:p>
            <a:r>
              <a:rPr lang="zh-CN" altLang="en-US" sz="3200">
                <a:ea typeface="楷体_GB2312" charset="0"/>
              </a:rPr>
              <a:t>    </a:t>
            </a:r>
            <a:r>
              <a:rPr lang="en-US" altLang="zh-CN" sz="3200">
                <a:ea typeface="楷体_GB2312" charset="0"/>
              </a:rPr>
              <a:t>//  key</a:t>
            </a:r>
            <a:r>
              <a:rPr lang="zh-CN" altLang="en-US" sz="3200">
                <a:ea typeface="楷体_GB2312" charset="0"/>
              </a:rPr>
              <a:t>的数据元素。若找到，则函数值为</a:t>
            </a:r>
          </a:p>
          <a:p>
            <a:r>
              <a:rPr lang="zh-CN" altLang="en-US" sz="3200">
                <a:ea typeface="楷体_GB2312" charset="0"/>
              </a:rPr>
              <a:t>    </a:t>
            </a:r>
            <a:r>
              <a:rPr lang="en-US" altLang="zh-CN" sz="3200">
                <a:ea typeface="楷体_GB2312" charset="0"/>
              </a:rPr>
              <a:t>// </a:t>
            </a:r>
            <a:r>
              <a:rPr lang="zh-CN" altLang="en-US" sz="3200">
                <a:ea typeface="楷体_GB2312" charset="0"/>
              </a:rPr>
              <a:t>该元素在表中的位置，否则为</a:t>
            </a:r>
            <a:r>
              <a:rPr lang="en-US" altLang="zh-CN" sz="3200">
                <a:ea typeface="楷体_GB2312" charset="0"/>
              </a:rPr>
              <a:t>0</a:t>
            </a:r>
            <a:r>
              <a:rPr lang="zh-CN" altLang="en-US" sz="3200">
                <a:ea typeface="楷体_GB2312" charset="0"/>
              </a:rPr>
              <a:t>。</a:t>
            </a:r>
          </a:p>
          <a:p>
            <a:r>
              <a:rPr lang="zh-CN" altLang="en-US" sz="4400">
                <a:ea typeface="楷体_GB2312" charset="0"/>
              </a:rPr>
              <a:t>   </a:t>
            </a:r>
            <a:r>
              <a:rPr lang="en-US" altLang="zh-CN" sz="4000">
                <a:solidFill>
                  <a:schemeClr val="accent2"/>
                </a:solidFill>
                <a:ea typeface="楷体_GB2312" charset="0"/>
              </a:rPr>
              <a:t>ST.elem[0].key = key;</a:t>
            </a:r>
            <a:r>
              <a:rPr lang="en-US" altLang="zh-CN" sz="4400">
                <a:solidFill>
                  <a:schemeClr val="accent2"/>
                </a:solidFill>
                <a:ea typeface="楷体_GB2312" charset="0"/>
              </a:rPr>
              <a:t>      </a:t>
            </a:r>
            <a:r>
              <a:rPr lang="en-US" altLang="zh-CN" sz="3600">
                <a:solidFill>
                  <a:schemeClr val="accent2"/>
                </a:solidFill>
                <a:ea typeface="楷体_GB2312" charset="0"/>
              </a:rPr>
              <a:t>// “</a:t>
            </a:r>
            <a:r>
              <a:rPr lang="zh-CN" altLang="en-US" sz="3600">
                <a:solidFill>
                  <a:schemeClr val="accent2"/>
                </a:solidFill>
                <a:ea typeface="楷体_GB2312" charset="0"/>
              </a:rPr>
              <a:t>哨兵”</a:t>
            </a:r>
            <a:endParaRPr lang="zh-CN" altLang="en-US" sz="4400">
              <a:solidFill>
                <a:schemeClr val="accent2"/>
              </a:solidFill>
              <a:ea typeface="楷体_GB2312" charset="0"/>
            </a:endParaRPr>
          </a:p>
          <a:p>
            <a:r>
              <a:rPr lang="zh-CN" altLang="en-US" sz="4400">
                <a:ea typeface="楷体_GB2312" charset="0"/>
              </a:rPr>
              <a:t>   </a:t>
            </a:r>
            <a:r>
              <a:rPr lang="en-US" altLang="zh-CN" sz="4000" b="1">
                <a:ea typeface="楷体_GB2312" charset="0"/>
              </a:rPr>
              <a:t>for</a:t>
            </a:r>
            <a:r>
              <a:rPr lang="en-US" altLang="zh-CN" sz="4400">
                <a:ea typeface="楷体_GB2312" charset="0"/>
              </a:rPr>
              <a:t> (</a:t>
            </a:r>
            <a:r>
              <a:rPr lang="en-US" altLang="zh-CN" sz="3200">
                <a:ea typeface="楷体_GB2312" charset="0"/>
              </a:rPr>
              <a:t>i=ST.length; </a:t>
            </a:r>
            <a:r>
              <a:rPr lang="en-US" altLang="zh-CN" sz="3200">
                <a:solidFill>
                  <a:srgbClr val="CC0000"/>
                </a:solidFill>
                <a:ea typeface="楷体_GB2312" charset="0"/>
              </a:rPr>
              <a:t>ST.elem[i].key</a:t>
            </a:r>
            <a:r>
              <a:rPr lang="en-US" altLang="zh-CN" sz="3200" b="1">
                <a:solidFill>
                  <a:srgbClr val="CC0000"/>
                </a:solidFill>
                <a:ea typeface="楷体_GB2312" charset="0"/>
              </a:rPr>
              <a:t>!=</a:t>
            </a:r>
            <a:r>
              <a:rPr lang="en-US" altLang="zh-CN" sz="3200">
                <a:solidFill>
                  <a:srgbClr val="CC0000"/>
                </a:solidFill>
                <a:ea typeface="楷体_GB2312" charset="0"/>
              </a:rPr>
              <a:t>key;</a:t>
            </a:r>
            <a:r>
              <a:rPr lang="en-US" altLang="zh-CN" sz="3200">
                <a:ea typeface="楷体_GB2312" charset="0"/>
              </a:rPr>
              <a:t>  </a:t>
            </a:r>
            <a:r>
              <a:rPr lang="en-US" altLang="zh-CN" sz="3200" b="1">
                <a:ea typeface="楷体_GB2312" charset="0"/>
              </a:rPr>
              <a:t>--</a:t>
            </a:r>
            <a:r>
              <a:rPr lang="en-US" altLang="zh-CN" sz="3200">
                <a:ea typeface="楷体_GB2312" charset="0"/>
              </a:rPr>
              <a:t>i</a:t>
            </a:r>
            <a:r>
              <a:rPr lang="en-US" altLang="zh-CN" sz="4400">
                <a:ea typeface="楷体_GB2312" charset="0"/>
              </a:rPr>
              <a:t>);  </a:t>
            </a:r>
          </a:p>
          <a:p>
            <a:r>
              <a:rPr lang="en-US" altLang="zh-CN" sz="4400">
                <a:ea typeface="楷体_GB2312" charset="0"/>
              </a:rPr>
              <a:t>                              </a:t>
            </a:r>
            <a:r>
              <a:rPr lang="en-US" altLang="zh-CN" sz="3600">
                <a:ea typeface="楷体_GB2312" charset="0"/>
              </a:rPr>
              <a:t>// </a:t>
            </a:r>
            <a:r>
              <a:rPr lang="zh-CN" altLang="en-US" sz="3600">
                <a:ea typeface="楷体_GB2312" charset="0"/>
              </a:rPr>
              <a:t>从后往前找</a:t>
            </a:r>
            <a:endParaRPr lang="zh-CN" altLang="en-US" sz="4400">
              <a:ea typeface="楷体_GB2312" charset="0"/>
            </a:endParaRPr>
          </a:p>
          <a:p>
            <a:r>
              <a:rPr lang="zh-CN" altLang="en-US" sz="4400">
                <a:ea typeface="楷体_GB2312" charset="0"/>
              </a:rPr>
              <a:t>   </a:t>
            </a:r>
            <a:r>
              <a:rPr lang="en-US" altLang="zh-CN" sz="4000" b="1">
                <a:ea typeface="楷体_GB2312" charset="0"/>
              </a:rPr>
              <a:t>return</a:t>
            </a:r>
            <a:r>
              <a:rPr lang="en-US" altLang="zh-CN" sz="4000">
                <a:ea typeface="楷体_GB2312" charset="0"/>
              </a:rPr>
              <a:t> i;</a:t>
            </a:r>
            <a:r>
              <a:rPr lang="en-US" altLang="zh-CN" sz="4400">
                <a:ea typeface="楷体_GB2312" charset="0"/>
              </a:rPr>
              <a:t>            </a:t>
            </a:r>
            <a:r>
              <a:rPr lang="en-US" altLang="zh-CN" sz="3600">
                <a:ea typeface="楷体_GB2312" charset="0"/>
              </a:rPr>
              <a:t>// </a:t>
            </a:r>
            <a:r>
              <a:rPr lang="zh-CN" altLang="en-US" sz="3600">
                <a:ea typeface="楷体_GB2312" charset="0"/>
              </a:rPr>
              <a:t>找不到时，</a:t>
            </a:r>
            <a:r>
              <a:rPr lang="en-US" altLang="zh-CN" sz="3600">
                <a:ea typeface="楷体_GB2312" charset="0"/>
              </a:rPr>
              <a:t>i</a:t>
            </a:r>
            <a:r>
              <a:rPr lang="zh-CN" altLang="en-US" sz="3600">
                <a:ea typeface="楷体_GB2312" charset="0"/>
              </a:rPr>
              <a:t>为</a:t>
            </a:r>
            <a:r>
              <a:rPr lang="en-US" altLang="zh-CN" sz="3600">
                <a:ea typeface="楷体_GB2312" charset="0"/>
              </a:rPr>
              <a:t>0</a:t>
            </a:r>
            <a:endParaRPr lang="en-US" altLang="zh-CN" sz="4400">
              <a:ea typeface="楷体_GB2312" charset="0"/>
            </a:endParaRPr>
          </a:p>
          <a:p>
            <a:r>
              <a:rPr lang="en-US" altLang="zh-CN" sz="4000" b="1">
                <a:ea typeface="楷体_GB2312" charset="0"/>
              </a:rPr>
              <a:t>}</a:t>
            </a:r>
            <a:r>
              <a:rPr lang="en-US" altLang="zh-CN" sz="4000">
                <a:ea typeface="楷体_GB2312" charset="0"/>
              </a:rPr>
              <a:t> // Search_Seq</a:t>
            </a:r>
            <a:endParaRPr lang="en-US" altLang="zh-CN"/>
          </a:p>
        </p:txBody>
      </p:sp>
    </p:spTree>
    <p:extLst>
      <p:ext uri="{BB962C8B-B14F-4D97-AF65-F5344CB8AC3E}">
        <p14:creationId xmlns:p14="http://schemas.microsoft.com/office/powerpoint/2010/main" val="1879355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strips(downLeft)">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6350" y="842963"/>
            <a:ext cx="9137650" cy="572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lang="en-US" altLang="zh-CN" b="1">
                <a:ea typeface="楷体_GB2312" charset="0"/>
              </a:rPr>
              <a:t>     </a:t>
            </a:r>
            <a:r>
              <a:rPr lang="zh-CN" altLang="en-US" sz="4000" b="1">
                <a:solidFill>
                  <a:srgbClr val="CC6600"/>
                </a:solidFill>
                <a:ea typeface="楷体_GB2312" charset="0"/>
              </a:rPr>
              <a:t>定义：</a:t>
            </a:r>
            <a:r>
              <a:rPr lang="zh-CN" altLang="en-US" sz="4400" b="1">
                <a:ea typeface="楷体_GB2312" charset="0"/>
              </a:rPr>
              <a:t> </a:t>
            </a:r>
            <a:r>
              <a:rPr lang="zh-CN" altLang="en-US" sz="3200">
                <a:ea typeface="楷体_GB2312" charset="0"/>
              </a:rPr>
              <a:t>查找算法的</a:t>
            </a:r>
            <a:r>
              <a:rPr lang="zh-CN" altLang="en-US" sz="3600" b="1">
                <a:solidFill>
                  <a:srgbClr val="0000FF"/>
                </a:solidFill>
                <a:ea typeface="楷体_GB2312" charset="0"/>
              </a:rPr>
              <a:t>平均查找长度</a:t>
            </a:r>
          </a:p>
          <a:p>
            <a:pPr>
              <a:lnSpc>
                <a:spcPct val="120000"/>
              </a:lnSpc>
            </a:pPr>
            <a:r>
              <a:rPr lang="zh-CN" altLang="en-US" sz="3600" b="1">
                <a:solidFill>
                  <a:srgbClr val="0000FF"/>
                </a:solidFill>
                <a:ea typeface="楷体_GB2312" charset="0"/>
              </a:rPr>
              <a:t>                  </a:t>
            </a:r>
            <a:r>
              <a:rPr lang="en-US" altLang="zh-CN" sz="3600">
                <a:ea typeface="楷体_GB2312" charset="0"/>
              </a:rPr>
              <a:t>(</a:t>
            </a:r>
            <a:r>
              <a:rPr lang="en-US" altLang="zh-CN" sz="3600" b="1">
                <a:solidFill>
                  <a:srgbClr val="0000FF"/>
                </a:solidFill>
                <a:ea typeface="楷体_GB2312" charset="0"/>
              </a:rPr>
              <a:t>A</a:t>
            </a:r>
            <a:r>
              <a:rPr lang="en-US" altLang="zh-CN" sz="3600">
                <a:ea typeface="楷体_GB2312" charset="0"/>
              </a:rPr>
              <a:t>verage </a:t>
            </a:r>
            <a:r>
              <a:rPr lang="en-US" altLang="zh-CN" sz="3600" b="1">
                <a:solidFill>
                  <a:srgbClr val="0000FF"/>
                </a:solidFill>
                <a:ea typeface="楷体_GB2312" charset="0"/>
              </a:rPr>
              <a:t>S</a:t>
            </a:r>
            <a:r>
              <a:rPr lang="en-US" altLang="zh-CN" sz="3600">
                <a:ea typeface="楷体_GB2312" charset="0"/>
              </a:rPr>
              <a:t>earch </a:t>
            </a:r>
            <a:r>
              <a:rPr lang="en-US" altLang="zh-CN" sz="3600" b="1">
                <a:solidFill>
                  <a:srgbClr val="0000FF"/>
                </a:solidFill>
                <a:ea typeface="楷体_GB2312" charset="0"/>
              </a:rPr>
              <a:t>L</a:t>
            </a:r>
            <a:r>
              <a:rPr lang="en-US" altLang="zh-CN" sz="3600">
                <a:ea typeface="楷体_GB2312" charset="0"/>
              </a:rPr>
              <a:t>ength)</a:t>
            </a:r>
            <a:r>
              <a:rPr lang="en-US" altLang="zh-CN" sz="3200">
                <a:ea typeface="楷体_GB2312" charset="0"/>
              </a:rPr>
              <a:t> </a:t>
            </a:r>
          </a:p>
          <a:p>
            <a:pPr>
              <a:lnSpc>
                <a:spcPct val="120000"/>
              </a:lnSpc>
            </a:pPr>
            <a:r>
              <a:rPr lang="en-US" altLang="zh-CN" sz="3200">
                <a:ea typeface="楷体_GB2312" charset="0"/>
              </a:rPr>
              <a:t>       </a:t>
            </a:r>
            <a:r>
              <a:rPr lang="zh-CN" altLang="en-US" sz="3200">
                <a:ea typeface="楷体_GB2312" charset="0"/>
              </a:rPr>
              <a:t>为确定记录在查找表中的位置，需和给定值</a:t>
            </a:r>
          </a:p>
          <a:p>
            <a:pPr>
              <a:lnSpc>
                <a:spcPct val="120000"/>
              </a:lnSpc>
            </a:pPr>
            <a:r>
              <a:rPr lang="zh-CN" altLang="en-US" sz="3200">
                <a:ea typeface="楷体_GB2312" charset="0"/>
              </a:rPr>
              <a:t>   </a:t>
            </a:r>
            <a:r>
              <a:rPr lang="zh-CN" altLang="en-US" sz="3600">
                <a:solidFill>
                  <a:srgbClr val="0000FF"/>
                </a:solidFill>
                <a:ea typeface="楷体_GB2312" charset="0"/>
              </a:rPr>
              <a:t>进行比较的关键字个数的期望值</a:t>
            </a:r>
            <a:endParaRPr lang="zh-CN" altLang="en-US" sz="3200">
              <a:solidFill>
                <a:srgbClr val="0000FF"/>
              </a:solidFill>
              <a:ea typeface="楷体_GB2312" charset="0"/>
            </a:endParaRPr>
          </a:p>
          <a:p>
            <a:pPr>
              <a:lnSpc>
                <a:spcPct val="120000"/>
              </a:lnSpc>
            </a:pPr>
            <a:r>
              <a:rPr lang="zh-CN" altLang="en-US" b="1">
                <a:ea typeface="楷体_GB2312" charset="0"/>
              </a:rPr>
              <a:t>    </a:t>
            </a:r>
          </a:p>
          <a:p>
            <a:pPr>
              <a:lnSpc>
                <a:spcPct val="120000"/>
              </a:lnSpc>
            </a:pPr>
            <a:endParaRPr lang="zh-CN" altLang="en-US" sz="3600">
              <a:ea typeface="楷体_GB2312" charset="0"/>
            </a:endParaRPr>
          </a:p>
          <a:p>
            <a:pPr>
              <a:lnSpc>
                <a:spcPct val="120000"/>
              </a:lnSpc>
            </a:pPr>
            <a:r>
              <a:rPr lang="zh-CN" altLang="en-US" sz="3600">
                <a:ea typeface="楷体_GB2312" charset="0"/>
              </a:rPr>
              <a:t>其中</a:t>
            </a:r>
            <a:r>
              <a:rPr lang="en-US" altLang="zh-CN" sz="3600" b="1">
                <a:ea typeface="楷体_GB2312" charset="0"/>
              </a:rPr>
              <a:t>: </a:t>
            </a:r>
            <a:r>
              <a:rPr lang="en-US" altLang="zh-CN" sz="3200" b="1" i="1">
                <a:ea typeface="楷体_GB2312" charset="0"/>
              </a:rPr>
              <a:t>n</a:t>
            </a:r>
            <a:r>
              <a:rPr lang="en-US" altLang="zh-CN" sz="3200" i="1">
                <a:ea typeface="楷体_GB2312" charset="0"/>
              </a:rPr>
              <a:t> </a:t>
            </a:r>
            <a:r>
              <a:rPr lang="zh-CN" altLang="en-US" sz="3200">
                <a:ea typeface="楷体_GB2312" charset="0"/>
              </a:rPr>
              <a:t>为表长，</a:t>
            </a:r>
            <a:r>
              <a:rPr lang="en-US" altLang="zh-CN" sz="3200" b="1" i="1">
                <a:ea typeface="楷体_GB2312" charset="0"/>
              </a:rPr>
              <a:t>P</a:t>
            </a:r>
            <a:r>
              <a:rPr lang="en-US" altLang="zh-CN" sz="3200" b="1" i="1" baseline="-25000">
                <a:ea typeface="楷体_GB2312" charset="0"/>
              </a:rPr>
              <a:t>i</a:t>
            </a:r>
            <a:r>
              <a:rPr lang="en-US" altLang="zh-CN" sz="3200" b="1">
                <a:ea typeface="楷体_GB2312" charset="0"/>
              </a:rPr>
              <a:t> </a:t>
            </a:r>
            <a:r>
              <a:rPr lang="zh-CN" altLang="en-US" sz="3200">
                <a:ea typeface="楷体_GB2312" charset="0"/>
              </a:rPr>
              <a:t>为查找表中第</a:t>
            </a:r>
            <a:r>
              <a:rPr lang="en-US" altLang="zh-CN" sz="3200">
                <a:ea typeface="楷体_GB2312" charset="0"/>
              </a:rPr>
              <a:t>i</a:t>
            </a:r>
            <a:r>
              <a:rPr lang="zh-CN" altLang="en-US" sz="3200">
                <a:ea typeface="楷体_GB2312" charset="0"/>
              </a:rPr>
              <a:t>个记录的概率，</a:t>
            </a:r>
          </a:p>
          <a:p>
            <a:pPr>
              <a:lnSpc>
                <a:spcPct val="120000"/>
              </a:lnSpc>
            </a:pPr>
            <a:r>
              <a:rPr lang="zh-CN" altLang="en-US" sz="3200">
                <a:ea typeface="楷体_GB2312" charset="0"/>
              </a:rPr>
              <a:t>           且  　         ， </a:t>
            </a:r>
            <a:r>
              <a:rPr lang="en-US" altLang="zh-CN" sz="3200" b="1" i="1">
                <a:ea typeface="楷体_GB2312" charset="0"/>
              </a:rPr>
              <a:t>C</a:t>
            </a:r>
            <a:r>
              <a:rPr lang="en-US" altLang="zh-CN" sz="3200" i="1" baseline="-25000">
                <a:ea typeface="楷体_GB2312" charset="0"/>
              </a:rPr>
              <a:t>i</a:t>
            </a:r>
            <a:r>
              <a:rPr lang="zh-CN" altLang="en-US" sz="3200">
                <a:ea typeface="楷体_GB2312" charset="0"/>
              </a:rPr>
              <a:t>为找到该记录时，曾</a:t>
            </a:r>
            <a:r>
              <a:rPr lang="zh-CN" altLang="en-US" sz="3200">
                <a:solidFill>
                  <a:srgbClr val="0000FF"/>
                </a:solidFill>
                <a:ea typeface="楷体_GB2312" charset="0"/>
              </a:rPr>
              <a:t>和给定</a:t>
            </a:r>
          </a:p>
          <a:p>
            <a:pPr>
              <a:lnSpc>
                <a:spcPct val="120000"/>
              </a:lnSpc>
            </a:pPr>
            <a:r>
              <a:rPr lang="zh-CN" altLang="en-US" sz="3200">
                <a:solidFill>
                  <a:srgbClr val="0000FF"/>
                </a:solidFill>
                <a:ea typeface="楷体_GB2312" charset="0"/>
              </a:rPr>
              <a:t>				值比较过的关键字的个数。</a:t>
            </a:r>
            <a:endParaRPr lang="zh-CN" altLang="en-US" b="1">
              <a:ea typeface="楷体_GB2312" charset="0"/>
            </a:endParaRPr>
          </a:p>
        </p:txBody>
      </p:sp>
      <p:sp>
        <p:nvSpPr>
          <p:cNvPr id="35843" name="Text Box 3"/>
          <p:cNvSpPr txBox="1">
            <a:spLocks noChangeArrowheads="1"/>
          </p:cNvSpPr>
          <p:nvPr/>
        </p:nvSpPr>
        <p:spPr bwMode="auto">
          <a:xfrm>
            <a:off x="1416050" y="212725"/>
            <a:ext cx="577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a:solidFill>
                  <a:srgbClr val="990033"/>
                </a:solidFill>
                <a:ea typeface="楷体_GB2312" charset="0"/>
              </a:rPr>
              <a:t>分析顺序查找的时间性能</a:t>
            </a:r>
            <a:endParaRPr lang="zh-CN" altLang="en-US" sz="4000"/>
          </a:p>
        </p:txBody>
      </p:sp>
      <p:graphicFrame>
        <p:nvGraphicFramePr>
          <p:cNvPr id="35844" name="Object 4"/>
          <p:cNvGraphicFramePr>
            <a:graphicFrameLocks noChangeAspect="1"/>
          </p:cNvGraphicFramePr>
          <p:nvPr/>
        </p:nvGraphicFramePr>
        <p:xfrm>
          <a:off x="2743200" y="3429000"/>
          <a:ext cx="2971800" cy="1436688"/>
        </p:xfrm>
        <a:graphic>
          <a:graphicData uri="http://schemas.openxmlformats.org/presentationml/2006/ole">
            <mc:AlternateContent xmlns:mc="http://schemas.openxmlformats.org/markup-compatibility/2006">
              <mc:Choice xmlns:v="urn:schemas-microsoft-com:vml" Requires="v">
                <p:oleObj spid="_x0000_s1303555" name="公式" r:id="rId3" imgW="888840" imgH="431640" progId="Equation.3">
                  <p:embed/>
                </p:oleObj>
              </mc:Choice>
              <mc:Fallback>
                <p:oleObj name="公式" r:id="rId3" imgW="88884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3429000"/>
                        <a:ext cx="2971800" cy="1436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35845" name="Object 5"/>
          <p:cNvGraphicFramePr>
            <a:graphicFrameLocks noChangeAspect="1"/>
          </p:cNvGraphicFramePr>
          <p:nvPr/>
        </p:nvGraphicFramePr>
        <p:xfrm>
          <a:off x="1828800" y="5181600"/>
          <a:ext cx="1219200" cy="963613"/>
        </p:xfrm>
        <a:graphic>
          <a:graphicData uri="http://schemas.openxmlformats.org/presentationml/2006/ole">
            <mc:AlternateContent xmlns:mc="http://schemas.openxmlformats.org/markup-compatibility/2006">
              <mc:Choice xmlns:v="urn:schemas-microsoft-com:vml" Requires="v">
                <p:oleObj spid="_x0000_s1303556" name="公式" r:id="rId5" imgW="545760" imgH="431640" progId="Equation.3">
                  <p:embed/>
                </p:oleObj>
              </mc:Choice>
              <mc:Fallback>
                <p:oleObj name="公式" r:id="rId5" imgW="54576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5181600"/>
                        <a:ext cx="1219200" cy="96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4949926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5843"/>
                                        </p:tgtEl>
                                        <p:attrNameLst>
                                          <p:attrName>style.visibility</p:attrName>
                                        </p:attrNameLst>
                                      </p:cBhvr>
                                      <p:to>
                                        <p:strVal val="visible"/>
                                      </p:to>
                                    </p:set>
                                    <p:animEffect transition="in" filter="slide(fromTop)">
                                      <p:cBhvr>
                                        <p:cTn id="7" dur="500"/>
                                        <p:tgtEl>
                                          <p:spTgt spid="358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35842"/>
                                        </p:tgtEl>
                                        <p:attrNameLst>
                                          <p:attrName>style.visibility</p:attrName>
                                        </p:attrNameLst>
                                      </p:cBhvr>
                                      <p:to>
                                        <p:strVal val="visible"/>
                                      </p:to>
                                    </p:set>
                                    <p:animEffect transition="in" filter="strips(upRight)">
                                      <p:cBhvr>
                                        <p:cTn id="12" dur="500"/>
                                        <p:tgtEl>
                                          <p:spTgt spid="35842"/>
                                        </p:tgtEl>
                                      </p:cBhvr>
                                    </p:animEffect>
                                  </p:childTnLst>
                                </p:cTn>
                              </p:par>
                            </p:childTnLst>
                          </p:cTn>
                        </p:par>
                        <p:par>
                          <p:cTn id="13" fill="hold" nodeType="afterGroup">
                            <p:stCondLst>
                              <p:cond delay="500"/>
                            </p:stCondLst>
                            <p:childTnLst>
                              <p:par>
                                <p:cTn id="14" presetID="1" presetClass="entr" presetSubtype="0" fill="hold" nodeType="afterEffect">
                                  <p:stCondLst>
                                    <p:cond delay="0"/>
                                  </p:stCondLst>
                                  <p:childTnLst>
                                    <p:set>
                                      <p:cBhvr>
                                        <p:cTn id="15" dur="1" fill="hold">
                                          <p:stCondLst>
                                            <p:cond delay="499"/>
                                          </p:stCondLst>
                                        </p:cTn>
                                        <p:tgtEl>
                                          <p:spTgt spid="35844"/>
                                        </p:tgtEl>
                                        <p:attrNameLst>
                                          <p:attrName>style.visibility</p:attrName>
                                        </p:attrNameLst>
                                      </p:cBhvr>
                                      <p:to>
                                        <p:strVal val="visible"/>
                                      </p:to>
                                    </p:set>
                                  </p:childTnLst>
                                </p:cTn>
                              </p:par>
                            </p:childTnLst>
                          </p:cTn>
                        </p:par>
                        <p:par>
                          <p:cTn id="16" fill="hold" nodeType="afterGroup">
                            <p:stCondLst>
                              <p:cond delay="1000"/>
                            </p:stCondLst>
                            <p:childTnLst>
                              <p:par>
                                <p:cTn id="17" presetID="1" presetClass="entr" presetSubtype="0" fill="hold" nodeType="afterEffect">
                                  <p:stCondLst>
                                    <p:cond delay="0"/>
                                  </p:stCondLst>
                                  <p:childTnLst>
                                    <p:set>
                                      <p:cBhvr>
                                        <p:cTn id="18" dur="1" fill="hold">
                                          <p:stCondLst>
                                            <p:cond delay="499"/>
                                          </p:stCondLst>
                                        </p:cTn>
                                        <p:tgtEl>
                                          <p:spTgt spid="358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autoUpdateAnimBg="0"/>
      <p:bldP spid="35843"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381000" y="2438400"/>
            <a:ext cx="8007350" cy="295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endParaRPr lang="en-US" altLang="zh-CN" i="1" baseline="-25000">
              <a:ea typeface="楷体_GB2312" charset="0"/>
            </a:endParaRPr>
          </a:p>
          <a:p>
            <a:endParaRPr lang="en-US" altLang="zh-CN" i="1" baseline="-25000">
              <a:ea typeface="楷体_GB2312" charset="0"/>
            </a:endParaRPr>
          </a:p>
          <a:p>
            <a:r>
              <a:rPr lang="zh-CN" altLang="en-US" sz="4400">
                <a:ea typeface="楷体_GB2312" charset="0"/>
              </a:rPr>
              <a:t>在</a:t>
            </a:r>
            <a:r>
              <a:rPr lang="zh-CN" altLang="en-US" sz="4400">
                <a:solidFill>
                  <a:srgbClr val="0000FF"/>
                </a:solidFill>
                <a:ea typeface="楷体_GB2312" charset="0"/>
              </a:rPr>
              <a:t>等概率</a:t>
            </a:r>
            <a:r>
              <a:rPr lang="zh-CN" altLang="en-US" sz="4400">
                <a:ea typeface="楷体_GB2312" charset="0"/>
              </a:rPr>
              <a:t>查找的情况下，</a:t>
            </a:r>
          </a:p>
          <a:p>
            <a:r>
              <a:rPr lang="zh-CN" altLang="en-US" sz="4400">
                <a:ea typeface="楷体_GB2312" charset="0"/>
              </a:rPr>
              <a:t>       </a:t>
            </a:r>
          </a:p>
          <a:p>
            <a:r>
              <a:rPr lang="zh-CN" altLang="en-US" sz="4400">
                <a:solidFill>
                  <a:srgbClr val="0000FF"/>
                </a:solidFill>
                <a:ea typeface="楷体_GB2312" charset="0"/>
              </a:rPr>
              <a:t>顺序表查找的平均查找长度</a:t>
            </a:r>
            <a:r>
              <a:rPr lang="zh-CN" altLang="en-US" sz="4400">
                <a:ea typeface="楷体_GB2312" charset="0"/>
              </a:rPr>
              <a:t>为：</a:t>
            </a:r>
          </a:p>
          <a:p>
            <a:endParaRPr lang="zh-CN" altLang="en-US">
              <a:ea typeface="楷体_GB2312" charset="0"/>
            </a:endParaRPr>
          </a:p>
        </p:txBody>
      </p:sp>
      <p:sp>
        <p:nvSpPr>
          <p:cNvPr id="37891" name="Text Box 3"/>
          <p:cNvSpPr txBox="1">
            <a:spLocks noChangeArrowheads="1"/>
          </p:cNvSpPr>
          <p:nvPr/>
        </p:nvSpPr>
        <p:spPr bwMode="auto">
          <a:xfrm>
            <a:off x="381000" y="457200"/>
            <a:ext cx="64341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a:ea typeface="楷体_GB2312" charset="0"/>
              </a:rPr>
              <a:t>对</a:t>
            </a:r>
            <a:r>
              <a:rPr lang="zh-CN" altLang="en-US" sz="4400" b="1">
                <a:solidFill>
                  <a:srgbClr val="660033"/>
                </a:solidFill>
                <a:ea typeface="楷体_GB2312" charset="0"/>
              </a:rPr>
              <a:t>顺序表</a:t>
            </a:r>
            <a:r>
              <a:rPr lang="zh-CN" altLang="en-US" sz="4400">
                <a:ea typeface="楷体_GB2312" charset="0"/>
              </a:rPr>
              <a:t>而言，</a:t>
            </a:r>
            <a:r>
              <a:rPr lang="en-US" altLang="zh-CN" sz="4400" b="1" i="1">
                <a:solidFill>
                  <a:srgbClr val="660033"/>
                </a:solidFill>
                <a:ea typeface="楷体_GB2312" charset="0"/>
              </a:rPr>
              <a:t>C</a:t>
            </a:r>
            <a:r>
              <a:rPr lang="en-US" altLang="zh-CN" sz="4400" b="1" i="1" baseline="-25000">
                <a:solidFill>
                  <a:srgbClr val="660033"/>
                </a:solidFill>
                <a:ea typeface="楷体_GB2312" charset="0"/>
              </a:rPr>
              <a:t>i</a:t>
            </a:r>
            <a:r>
              <a:rPr lang="en-US" altLang="zh-CN" sz="4400" b="1" i="1">
                <a:solidFill>
                  <a:srgbClr val="660033"/>
                </a:solidFill>
                <a:ea typeface="楷体_GB2312" charset="0"/>
              </a:rPr>
              <a:t> = n-i+1</a:t>
            </a:r>
            <a:endParaRPr lang="en-US" altLang="zh-CN" i="1" baseline="-25000">
              <a:ea typeface="楷体_GB2312" charset="0"/>
            </a:endParaRPr>
          </a:p>
        </p:txBody>
      </p:sp>
      <p:graphicFrame>
        <p:nvGraphicFramePr>
          <p:cNvPr id="37892" name="Object 4"/>
          <p:cNvGraphicFramePr>
            <a:graphicFrameLocks noChangeAspect="1"/>
          </p:cNvGraphicFramePr>
          <p:nvPr/>
        </p:nvGraphicFramePr>
        <p:xfrm>
          <a:off x="6400800" y="2590800"/>
          <a:ext cx="1676400" cy="1570038"/>
        </p:xfrm>
        <a:graphic>
          <a:graphicData uri="http://schemas.openxmlformats.org/presentationml/2006/ole">
            <mc:AlternateContent xmlns:mc="http://schemas.openxmlformats.org/markup-compatibility/2006">
              <mc:Choice xmlns:v="urn:schemas-microsoft-com:vml" Requires="v">
                <p:oleObj spid="_x0000_s1304579" name="公式" r:id="rId3" imgW="419040" imgH="393480" progId="Equation.3">
                  <p:embed/>
                </p:oleObj>
              </mc:Choice>
              <mc:Fallback>
                <p:oleObj name="公式" r:id="rId3" imgW="41904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2590800"/>
                        <a:ext cx="167640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37894" name="Object 6"/>
          <p:cNvGraphicFramePr>
            <a:graphicFrameLocks noChangeAspect="1"/>
          </p:cNvGraphicFramePr>
          <p:nvPr/>
        </p:nvGraphicFramePr>
        <p:xfrm>
          <a:off x="1676400" y="5092700"/>
          <a:ext cx="5715000" cy="1308100"/>
        </p:xfrm>
        <a:graphic>
          <a:graphicData uri="http://schemas.openxmlformats.org/presentationml/2006/ole">
            <mc:AlternateContent xmlns:mc="http://schemas.openxmlformats.org/markup-compatibility/2006">
              <mc:Choice xmlns:v="urn:schemas-microsoft-com:vml" Requires="v">
                <p:oleObj spid="_x0000_s1304580" name="公式" r:id="rId5" imgW="1879560" imgH="431640" progId="Equation.3">
                  <p:embed/>
                </p:oleObj>
              </mc:Choice>
              <mc:Fallback>
                <p:oleObj name="公式" r:id="rId5" imgW="187956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5092700"/>
                        <a:ext cx="5715000" cy="13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37895" name="Rectangle 7"/>
          <p:cNvSpPr>
            <a:spLocks noChangeArrowheads="1"/>
          </p:cNvSpPr>
          <p:nvPr/>
        </p:nvSpPr>
        <p:spPr bwMode="auto">
          <a:xfrm>
            <a:off x="685800" y="1447800"/>
            <a:ext cx="76914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400" b="1" i="1">
                <a:solidFill>
                  <a:srgbClr val="CC0000"/>
                </a:solidFill>
                <a:ea typeface="楷体_GB2312" charset="0"/>
              </a:rPr>
              <a:t>ASL = nP</a:t>
            </a:r>
            <a:r>
              <a:rPr lang="en-US" altLang="zh-CN" sz="4400" b="1" i="1" baseline="-25000">
                <a:solidFill>
                  <a:srgbClr val="CC0000"/>
                </a:solidFill>
                <a:ea typeface="楷体_GB2312" charset="0"/>
              </a:rPr>
              <a:t>1</a:t>
            </a:r>
            <a:r>
              <a:rPr lang="en-US" altLang="zh-CN" sz="4400" b="1" i="1">
                <a:solidFill>
                  <a:srgbClr val="CC0000"/>
                </a:solidFill>
                <a:ea typeface="楷体_GB2312" charset="0"/>
              </a:rPr>
              <a:t> +(n-1)P</a:t>
            </a:r>
            <a:r>
              <a:rPr lang="en-US" altLang="zh-CN" sz="4400" b="1" i="1" baseline="-25000">
                <a:solidFill>
                  <a:srgbClr val="CC0000"/>
                </a:solidFill>
                <a:ea typeface="楷体_GB2312" charset="0"/>
              </a:rPr>
              <a:t>2</a:t>
            </a:r>
            <a:r>
              <a:rPr lang="en-US" altLang="zh-CN" sz="4400" b="1" i="1">
                <a:solidFill>
                  <a:srgbClr val="CC0000"/>
                </a:solidFill>
                <a:ea typeface="楷体_GB2312" charset="0"/>
              </a:rPr>
              <a:t> + +2P</a:t>
            </a:r>
            <a:r>
              <a:rPr lang="en-US" altLang="zh-CN" sz="4400" b="1" i="1" baseline="-25000">
                <a:solidFill>
                  <a:srgbClr val="CC0000"/>
                </a:solidFill>
                <a:ea typeface="楷体_GB2312" charset="0"/>
              </a:rPr>
              <a:t>n-1</a:t>
            </a:r>
            <a:r>
              <a:rPr lang="en-US" altLang="zh-CN" sz="4400" b="1" i="1">
                <a:solidFill>
                  <a:srgbClr val="CC0000"/>
                </a:solidFill>
                <a:ea typeface="楷体_GB2312" charset="0"/>
              </a:rPr>
              <a:t>+P</a:t>
            </a:r>
            <a:r>
              <a:rPr lang="en-US" altLang="zh-CN" sz="4400" b="1" i="1" baseline="-25000">
                <a:solidFill>
                  <a:srgbClr val="CC0000"/>
                </a:solidFill>
                <a:ea typeface="楷体_GB2312" charset="0"/>
              </a:rPr>
              <a:t>n</a:t>
            </a:r>
          </a:p>
        </p:txBody>
      </p:sp>
    </p:spTree>
    <p:extLst>
      <p:ext uri="{BB962C8B-B14F-4D97-AF65-F5344CB8AC3E}">
        <p14:creationId xmlns:p14="http://schemas.microsoft.com/office/powerpoint/2010/main" val="7294229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strips(downRight)">
                                      <p:cBhvr>
                                        <p:cTn id="7" dur="500"/>
                                        <p:tgtEl>
                                          <p:spTgt spid="378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895"/>
                                        </p:tgtEl>
                                        <p:attrNameLst>
                                          <p:attrName>style.visibility</p:attrName>
                                        </p:attrNameLst>
                                      </p:cBhvr>
                                      <p:to>
                                        <p:strVal val="visible"/>
                                      </p:to>
                                    </p:set>
                                    <p:animEffect transition="in" filter="wipe(left)">
                                      <p:cBhvr>
                                        <p:cTn id="12" dur="500"/>
                                        <p:tgtEl>
                                          <p:spTgt spid="378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890"/>
                                        </p:tgtEl>
                                        <p:attrNameLst>
                                          <p:attrName>style.visibility</p:attrName>
                                        </p:attrNameLst>
                                      </p:cBhvr>
                                      <p:to>
                                        <p:strVal val="visible"/>
                                      </p:to>
                                    </p:set>
                                    <p:animEffect transition="in" filter="wipe(left)">
                                      <p:cBhvr>
                                        <p:cTn id="17" dur="500"/>
                                        <p:tgtEl>
                                          <p:spTgt spid="37890"/>
                                        </p:tgtEl>
                                      </p:cBhvr>
                                    </p:animEffect>
                                  </p:childTnLst>
                                </p:cTn>
                              </p:par>
                            </p:childTnLst>
                          </p:cTn>
                        </p:par>
                        <p:par>
                          <p:cTn id="18" fill="hold" nodeType="afterGroup">
                            <p:stCondLst>
                              <p:cond delay="500"/>
                            </p:stCondLst>
                            <p:childTnLst>
                              <p:par>
                                <p:cTn id="19" presetID="1" presetClass="entr" presetSubtype="0" fill="hold" nodeType="afterEffect">
                                  <p:stCondLst>
                                    <p:cond delay="0"/>
                                  </p:stCondLst>
                                  <p:childTnLst>
                                    <p:set>
                                      <p:cBhvr>
                                        <p:cTn id="20" dur="1" fill="hold">
                                          <p:stCondLst>
                                            <p:cond delay="499"/>
                                          </p:stCondLst>
                                        </p:cTn>
                                        <p:tgtEl>
                                          <p:spTgt spid="37892"/>
                                        </p:tgtEl>
                                        <p:attrNameLst>
                                          <p:attrName>style.visibility</p:attrName>
                                        </p:attrNameLst>
                                      </p:cBhvr>
                                      <p:to>
                                        <p:strVal val="visible"/>
                                      </p:to>
                                    </p:set>
                                  </p:childTnLst>
                                </p:cTn>
                              </p:par>
                            </p:childTnLst>
                          </p:cTn>
                        </p:par>
                        <p:par>
                          <p:cTn id="21" fill="hold" nodeType="afterGroup">
                            <p:stCondLst>
                              <p:cond delay="1000"/>
                            </p:stCondLst>
                            <p:childTnLst>
                              <p:par>
                                <p:cTn id="22" presetID="1" presetClass="entr" presetSubtype="0" fill="hold" nodeType="afterEffect">
                                  <p:stCondLst>
                                    <p:cond delay="0"/>
                                  </p:stCondLst>
                                  <p:childTnLst>
                                    <p:set>
                                      <p:cBhvr>
                                        <p:cTn id="23" dur="1" fill="hold">
                                          <p:stCondLst>
                                            <p:cond delay="499"/>
                                          </p:stCondLst>
                                        </p:cTn>
                                        <p:tgtEl>
                                          <p:spTgt spid="378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autoUpdateAnimBg="0"/>
      <p:bldP spid="37891" grpId="0" autoUpdateAnimBg="0"/>
      <p:bldP spid="3789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457200" y="3352800"/>
            <a:ext cx="8077200" cy="268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5000"/>
              </a:lnSpc>
            </a:pPr>
            <a:r>
              <a:rPr lang="en-US" altLang="zh-CN" sz="4000">
                <a:ea typeface="楷体_GB2312" charset="0"/>
              </a:rPr>
              <a:t>        </a:t>
            </a:r>
            <a:r>
              <a:rPr lang="zh-CN" altLang="en-US" sz="3600">
                <a:ea typeface="楷体_GB2312" charset="0"/>
              </a:rPr>
              <a:t>若查找概率无法事先测定，则查找过程采取的改进办法是，</a:t>
            </a:r>
            <a:r>
              <a:rPr lang="zh-CN" altLang="en-US" sz="3600">
                <a:solidFill>
                  <a:srgbClr val="CC0000"/>
                </a:solidFill>
                <a:ea typeface="楷体_GB2312" charset="0"/>
              </a:rPr>
              <a:t>在每次查找之后，将刚刚查找到的记录直接移至表尾的位置上</a:t>
            </a:r>
            <a:r>
              <a:rPr lang="zh-CN" altLang="en-US" sz="3600">
                <a:ea typeface="楷体_GB2312" charset="0"/>
              </a:rPr>
              <a:t>。</a:t>
            </a:r>
            <a:endParaRPr lang="zh-CN" altLang="en-US" sz="3600"/>
          </a:p>
        </p:txBody>
      </p:sp>
      <p:sp>
        <p:nvSpPr>
          <p:cNvPr id="38915" name="Text Box 3"/>
          <p:cNvSpPr txBox="1">
            <a:spLocks noChangeArrowheads="1"/>
          </p:cNvSpPr>
          <p:nvPr/>
        </p:nvSpPr>
        <p:spPr bwMode="auto">
          <a:xfrm>
            <a:off x="457200" y="487363"/>
            <a:ext cx="807085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lang="zh-CN" altLang="en-US" sz="4000">
                <a:ea typeface="楷体_GB2312" charset="0"/>
              </a:rPr>
              <a:t>在</a:t>
            </a:r>
            <a:r>
              <a:rPr lang="zh-CN" altLang="en-US" sz="4000">
                <a:solidFill>
                  <a:srgbClr val="CC0000"/>
                </a:solidFill>
                <a:ea typeface="楷体_GB2312" charset="0"/>
              </a:rPr>
              <a:t>不等概率查找</a:t>
            </a:r>
            <a:r>
              <a:rPr lang="zh-CN" altLang="en-US" sz="4000">
                <a:ea typeface="楷体_GB2312" charset="0"/>
              </a:rPr>
              <a:t>的情况下，</a:t>
            </a:r>
            <a:r>
              <a:rPr lang="en-US" altLang="zh-CN" sz="4000" b="1" i="1">
                <a:solidFill>
                  <a:srgbClr val="CC0000"/>
                </a:solidFill>
                <a:ea typeface="楷体_GB2312" charset="0"/>
              </a:rPr>
              <a:t>ASL</a:t>
            </a:r>
            <a:r>
              <a:rPr lang="en-US" altLang="zh-CN" sz="4000" b="1" i="1" baseline="-25000">
                <a:solidFill>
                  <a:srgbClr val="CC0000"/>
                </a:solidFill>
                <a:ea typeface="楷体_GB2312" charset="0"/>
              </a:rPr>
              <a:t>ss</a:t>
            </a:r>
            <a:r>
              <a:rPr lang="en-US" altLang="zh-CN" sz="4000" i="1" baseline="-25000">
                <a:ea typeface="楷体_GB2312" charset="0"/>
              </a:rPr>
              <a:t> </a:t>
            </a:r>
            <a:r>
              <a:rPr lang="zh-CN" altLang="en-US" sz="4000">
                <a:ea typeface="楷体_GB2312" charset="0"/>
              </a:rPr>
              <a:t>在</a:t>
            </a:r>
          </a:p>
          <a:p>
            <a:pPr>
              <a:lnSpc>
                <a:spcPct val="140000"/>
              </a:lnSpc>
            </a:pPr>
            <a:r>
              <a:rPr lang="zh-CN" altLang="en-US" sz="4000">
                <a:ea typeface="楷体_GB2312" charset="0"/>
              </a:rPr>
              <a:t>      </a:t>
            </a:r>
            <a:r>
              <a:rPr lang="en-US" altLang="zh-CN" sz="4000" b="1" i="1">
                <a:solidFill>
                  <a:srgbClr val="660033"/>
                </a:solidFill>
                <a:ea typeface="楷体_GB2312" charset="0"/>
              </a:rPr>
              <a:t>P</a:t>
            </a:r>
            <a:r>
              <a:rPr lang="en-US" altLang="zh-CN" sz="4000" b="1" i="1" baseline="-25000">
                <a:solidFill>
                  <a:srgbClr val="660033"/>
                </a:solidFill>
                <a:ea typeface="楷体_GB2312" charset="0"/>
              </a:rPr>
              <a:t>n</a:t>
            </a:r>
            <a:r>
              <a:rPr lang="en-US" altLang="zh-CN" sz="4000" b="1" i="1">
                <a:solidFill>
                  <a:srgbClr val="660033"/>
                </a:solidFill>
                <a:latin typeface="楷体_GB2312" charset="0"/>
                <a:ea typeface="楷体_GB2312" charset="0"/>
              </a:rPr>
              <a:t>≥</a:t>
            </a:r>
            <a:r>
              <a:rPr lang="en-US" altLang="zh-CN" sz="4000" b="1" i="1">
                <a:solidFill>
                  <a:srgbClr val="660033"/>
                </a:solidFill>
                <a:ea typeface="楷体_GB2312" charset="0"/>
              </a:rPr>
              <a:t>P</a:t>
            </a:r>
            <a:r>
              <a:rPr lang="en-US" altLang="zh-CN" sz="4000" b="1" i="1" baseline="-25000">
                <a:solidFill>
                  <a:srgbClr val="660033"/>
                </a:solidFill>
                <a:ea typeface="楷体_GB2312" charset="0"/>
              </a:rPr>
              <a:t>n-1</a:t>
            </a:r>
            <a:r>
              <a:rPr lang="en-US" altLang="zh-CN" sz="4000" b="1" i="1">
                <a:solidFill>
                  <a:srgbClr val="660033"/>
                </a:solidFill>
                <a:latin typeface="楷体_GB2312" charset="0"/>
                <a:ea typeface="楷体_GB2312" charset="0"/>
              </a:rPr>
              <a:t>≥</a:t>
            </a:r>
            <a:r>
              <a:rPr lang="en-US" altLang="zh-CN" sz="4000" b="1" i="1">
                <a:solidFill>
                  <a:srgbClr val="660033"/>
                </a:solidFill>
                <a:ea typeface="楷体_GB2312" charset="0"/>
              </a:rPr>
              <a:t>···</a:t>
            </a:r>
            <a:r>
              <a:rPr lang="en-US" altLang="zh-CN" sz="4000" b="1" i="1">
                <a:solidFill>
                  <a:srgbClr val="660033"/>
                </a:solidFill>
                <a:latin typeface="楷体_GB2312" charset="0"/>
                <a:ea typeface="楷体_GB2312" charset="0"/>
              </a:rPr>
              <a:t>≥</a:t>
            </a:r>
            <a:r>
              <a:rPr lang="en-US" altLang="zh-CN" sz="4000" b="1" i="1">
                <a:solidFill>
                  <a:srgbClr val="660033"/>
                </a:solidFill>
                <a:ea typeface="楷体_GB2312" charset="0"/>
              </a:rPr>
              <a:t>P</a:t>
            </a:r>
            <a:r>
              <a:rPr lang="en-US" altLang="zh-CN" sz="4000" b="1" i="1" baseline="-25000">
                <a:solidFill>
                  <a:srgbClr val="660033"/>
                </a:solidFill>
                <a:ea typeface="楷体_GB2312" charset="0"/>
              </a:rPr>
              <a:t>2</a:t>
            </a:r>
            <a:r>
              <a:rPr lang="en-US" altLang="zh-CN" sz="4000" b="1" i="1">
                <a:solidFill>
                  <a:srgbClr val="660033"/>
                </a:solidFill>
                <a:latin typeface="楷体_GB2312" charset="0"/>
                <a:ea typeface="楷体_GB2312" charset="0"/>
              </a:rPr>
              <a:t>≥</a:t>
            </a:r>
            <a:r>
              <a:rPr lang="en-US" altLang="zh-CN" sz="4000" b="1" i="1">
                <a:solidFill>
                  <a:srgbClr val="660033"/>
                </a:solidFill>
                <a:ea typeface="楷体_GB2312" charset="0"/>
              </a:rPr>
              <a:t>P</a:t>
            </a:r>
            <a:r>
              <a:rPr lang="en-US" altLang="zh-CN" sz="4000" b="1" i="1" baseline="-25000">
                <a:solidFill>
                  <a:srgbClr val="660033"/>
                </a:solidFill>
                <a:ea typeface="楷体_GB2312" charset="0"/>
              </a:rPr>
              <a:t>1</a:t>
            </a:r>
            <a:endParaRPr lang="en-US" altLang="zh-CN" sz="4000" b="1" i="1">
              <a:solidFill>
                <a:srgbClr val="660033"/>
              </a:solidFill>
              <a:ea typeface="楷体_GB2312" charset="0"/>
            </a:endParaRPr>
          </a:p>
          <a:p>
            <a:pPr>
              <a:lnSpc>
                <a:spcPct val="140000"/>
              </a:lnSpc>
            </a:pPr>
            <a:r>
              <a:rPr lang="zh-CN" altLang="en-US" sz="4000">
                <a:ea typeface="楷体_GB2312" charset="0"/>
              </a:rPr>
              <a:t>时</a:t>
            </a:r>
            <a:r>
              <a:rPr lang="zh-CN" altLang="en-US" sz="4000">
                <a:solidFill>
                  <a:srgbClr val="CC0000"/>
                </a:solidFill>
                <a:ea typeface="楷体_GB2312" charset="0"/>
              </a:rPr>
              <a:t>取极小值</a:t>
            </a:r>
            <a:endParaRPr lang="zh-CN" altLang="en-US" sz="4000">
              <a:ea typeface="楷体_GB2312" charset="0"/>
            </a:endParaRPr>
          </a:p>
        </p:txBody>
      </p:sp>
      <p:sp>
        <p:nvSpPr>
          <p:cNvPr id="38918" name="AutoShape 6">
            <a:hlinkClick r:id="rId2" action="ppaction://hlinksldjump" highlightClick="1"/>
          </p:cNvPr>
          <p:cNvSpPr>
            <a:spLocks noChangeArrowheads="1"/>
          </p:cNvSpPr>
          <p:nvPr/>
        </p:nvSpPr>
        <p:spPr bwMode="auto">
          <a:xfrm>
            <a:off x="83820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06161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8915"/>
                                        </p:tgtEl>
                                        <p:attrNameLst>
                                          <p:attrName>style.visibility</p:attrName>
                                        </p:attrNameLst>
                                      </p:cBhvr>
                                      <p:to>
                                        <p:strVal val="visible"/>
                                      </p:to>
                                    </p:set>
                                    <p:anim calcmode="lin" valueType="num">
                                      <p:cBhvr additive="base">
                                        <p:cTn id="7" dur="500" fill="hold"/>
                                        <p:tgtEl>
                                          <p:spTgt spid="38915"/>
                                        </p:tgtEl>
                                        <p:attrNameLst>
                                          <p:attrName>ppt_x</p:attrName>
                                        </p:attrNameLst>
                                      </p:cBhvr>
                                      <p:tavLst>
                                        <p:tav tm="0">
                                          <p:val>
                                            <p:strVal val="#ppt_x"/>
                                          </p:val>
                                        </p:tav>
                                        <p:tav tm="100000">
                                          <p:val>
                                            <p:strVal val="#ppt_x"/>
                                          </p:val>
                                        </p:tav>
                                      </p:tavLst>
                                    </p:anim>
                                    <p:anim calcmode="lin" valueType="num">
                                      <p:cBhvr additive="base">
                                        <p:cTn id="8" dur="500" fill="hold"/>
                                        <p:tgtEl>
                                          <p:spTgt spid="38915"/>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8914"/>
                                        </p:tgtEl>
                                        <p:attrNameLst>
                                          <p:attrName>style.visibility</p:attrName>
                                        </p:attrNameLst>
                                      </p:cBhvr>
                                      <p:to>
                                        <p:strVal val="visible"/>
                                      </p:to>
                                    </p:set>
                                    <p:anim calcmode="lin" valueType="num">
                                      <p:cBhvr additive="base">
                                        <p:cTn id="13" dur="500" fill="hold"/>
                                        <p:tgtEl>
                                          <p:spTgt spid="38914"/>
                                        </p:tgtEl>
                                        <p:attrNameLst>
                                          <p:attrName>ppt_x</p:attrName>
                                        </p:attrNameLst>
                                      </p:cBhvr>
                                      <p:tavLst>
                                        <p:tav tm="0">
                                          <p:val>
                                            <p:strVal val="#ppt_x"/>
                                          </p:val>
                                        </p:tav>
                                        <p:tav tm="100000">
                                          <p:val>
                                            <p:strVal val="#ppt_x"/>
                                          </p:val>
                                        </p:tav>
                                      </p:tavLst>
                                    </p:anim>
                                    <p:anim calcmode="lin" valueType="num">
                                      <p:cBhvr additive="base">
                                        <p:cTn id="14" dur="500" fill="hold"/>
                                        <p:tgtEl>
                                          <p:spTgt spid="38914"/>
                                        </p:tgtEl>
                                        <p:attrNameLst>
                                          <p:attrName>ppt_y</p:attrName>
                                        </p:attrNameLst>
                                      </p:cBhvr>
                                      <p:tavLst>
                                        <p:tav tm="0">
                                          <p:val>
                                            <p:strVal val="1+#ppt_h/2"/>
                                          </p:val>
                                        </p:tav>
                                        <p:tav tm="100000">
                                          <p:val>
                                            <p:strVal val="#ppt_y"/>
                                          </p:val>
                                        </p:tav>
                                      </p:tavLst>
                                    </p:anim>
                                  </p:childTnLst>
                                </p:cTn>
                              </p:par>
                            </p:childTnLst>
                          </p:cTn>
                        </p:par>
                        <p:par>
                          <p:cTn id="15" fill="hold" nodeType="afterGroup">
                            <p:stCondLst>
                              <p:cond delay="500"/>
                            </p:stCondLst>
                            <p:childTnLst>
                              <p:par>
                                <p:cTn id="16" presetID="2" presetClass="entr" presetSubtype="6" fill="hold" grpId="0" nodeType="afterEffect">
                                  <p:stCondLst>
                                    <p:cond delay="0"/>
                                  </p:stCondLst>
                                  <p:childTnLst>
                                    <p:set>
                                      <p:cBhvr>
                                        <p:cTn id="17" dur="1" fill="hold">
                                          <p:stCondLst>
                                            <p:cond delay="0"/>
                                          </p:stCondLst>
                                        </p:cTn>
                                        <p:tgtEl>
                                          <p:spTgt spid="38918"/>
                                        </p:tgtEl>
                                        <p:attrNameLst>
                                          <p:attrName>style.visibility</p:attrName>
                                        </p:attrNameLst>
                                      </p:cBhvr>
                                      <p:to>
                                        <p:strVal val="visible"/>
                                      </p:to>
                                    </p:set>
                                    <p:anim calcmode="lin" valueType="num">
                                      <p:cBhvr additive="base">
                                        <p:cTn id="18" dur="500" fill="hold"/>
                                        <p:tgtEl>
                                          <p:spTgt spid="38918"/>
                                        </p:tgtEl>
                                        <p:attrNameLst>
                                          <p:attrName>ppt_x</p:attrName>
                                        </p:attrNameLst>
                                      </p:cBhvr>
                                      <p:tavLst>
                                        <p:tav tm="0">
                                          <p:val>
                                            <p:strVal val="1+#ppt_w/2"/>
                                          </p:val>
                                        </p:tav>
                                        <p:tav tm="100000">
                                          <p:val>
                                            <p:strVal val="#ppt_x"/>
                                          </p:val>
                                        </p:tav>
                                      </p:tavLst>
                                    </p:anim>
                                    <p:anim calcmode="lin" valueType="num">
                                      <p:cBhvr additive="base">
                                        <p:cTn id="19" dur="500" fill="hold"/>
                                        <p:tgtEl>
                                          <p:spTgt spid="389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autoUpdateAnimBg="0"/>
      <p:bldP spid="38915" grpId="0" autoUpdateAnimBg="0"/>
      <p:bldP spid="3891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381000" y="1600200"/>
            <a:ext cx="841375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lang="en-US" altLang="zh-CN">
                <a:ea typeface="楷体_GB2312" charset="0"/>
              </a:rPr>
              <a:t>       </a:t>
            </a:r>
            <a:r>
              <a:rPr lang="zh-CN" altLang="en-US" sz="4000">
                <a:ea typeface="楷体_GB2312" charset="0"/>
              </a:rPr>
              <a:t>上述顺序查找表的查找算法简单，</a:t>
            </a:r>
          </a:p>
          <a:p>
            <a:pPr>
              <a:lnSpc>
                <a:spcPct val="140000"/>
              </a:lnSpc>
            </a:pPr>
            <a:r>
              <a:rPr lang="zh-CN" altLang="en-US" sz="4000">
                <a:ea typeface="楷体_GB2312" charset="0"/>
              </a:rPr>
              <a:t> 但平均查找长度较大，特别不适用于表长较大的查找表。</a:t>
            </a:r>
            <a:endParaRPr lang="zh-CN" altLang="en-US" sz="4000">
              <a:solidFill>
                <a:schemeClr val="accent2"/>
              </a:solidFill>
            </a:endParaRPr>
          </a:p>
        </p:txBody>
      </p:sp>
      <p:sp>
        <p:nvSpPr>
          <p:cNvPr id="39939" name="Text Box 3"/>
          <p:cNvSpPr txBox="1">
            <a:spLocks noChangeArrowheads="1"/>
          </p:cNvSpPr>
          <p:nvPr/>
        </p:nvSpPr>
        <p:spPr bwMode="auto">
          <a:xfrm>
            <a:off x="457200" y="609600"/>
            <a:ext cx="4484688"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800" b="1">
                <a:solidFill>
                  <a:srgbClr val="CC6600"/>
                </a:solidFill>
                <a:ea typeface="隶书" charset="0"/>
              </a:rPr>
              <a:t>二、有序查找表</a:t>
            </a:r>
            <a:endParaRPr lang="zh-CN" altLang="en-US"/>
          </a:p>
        </p:txBody>
      </p:sp>
      <p:sp>
        <p:nvSpPr>
          <p:cNvPr id="39940" name="Text Box 4"/>
          <p:cNvSpPr txBox="1">
            <a:spLocks noChangeArrowheads="1"/>
          </p:cNvSpPr>
          <p:nvPr/>
        </p:nvSpPr>
        <p:spPr bwMode="auto">
          <a:xfrm>
            <a:off x="539750" y="4572000"/>
            <a:ext cx="8147050" cy="169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4400">
                <a:solidFill>
                  <a:schemeClr val="accent2"/>
                </a:solidFill>
                <a:ea typeface="楷体_GB2312" charset="0"/>
              </a:rPr>
              <a:t>      </a:t>
            </a:r>
            <a:r>
              <a:rPr lang="zh-CN" altLang="en-US" sz="4000">
                <a:solidFill>
                  <a:schemeClr val="accent2"/>
                </a:solidFill>
                <a:ea typeface="楷体_GB2312" charset="0"/>
              </a:rPr>
              <a:t>若以</a:t>
            </a:r>
            <a:r>
              <a:rPr lang="zh-CN" altLang="en-US" sz="4000" b="1">
                <a:solidFill>
                  <a:srgbClr val="CC0000"/>
                </a:solidFill>
                <a:ea typeface="楷体_GB2312" charset="0"/>
              </a:rPr>
              <a:t>有序表</a:t>
            </a:r>
            <a:r>
              <a:rPr lang="zh-CN" altLang="en-US" sz="4000">
                <a:solidFill>
                  <a:schemeClr val="accent2"/>
                </a:solidFill>
                <a:ea typeface="楷体_GB2312" charset="0"/>
              </a:rPr>
              <a:t>表示静态查找表，则查找过程可以基于“</a:t>
            </a:r>
            <a:r>
              <a:rPr lang="zh-CN" altLang="en-US" sz="4000" b="1">
                <a:solidFill>
                  <a:srgbClr val="CC0000"/>
                </a:solidFill>
                <a:ea typeface="楷体_GB2312" charset="0"/>
              </a:rPr>
              <a:t>折半</a:t>
            </a:r>
            <a:r>
              <a:rPr lang="zh-CN" altLang="en-US" sz="4000">
                <a:solidFill>
                  <a:schemeClr val="accent2"/>
                </a:solidFill>
                <a:ea typeface="楷体_GB2312" charset="0"/>
              </a:rPr>
              <a:t>”进行。</a:t>
            </a:r>
            <a:endParaRPr lang="zh-CN" altLang="en-US" sz="4400">
              <a:solidFill>
                <a:schemeClr val="accent2"/>
              </a:solidFill>
              <a:ea typeface="楷体_GB2312" charset="0"/>
            </a:endParaRPr>
          </a:p>
        </p:txBody>
      </p:sp>
    </p:spTree>
    <p:extLst>
      <p:ext uri="{BB962C8B-B14F-4D97-AF65-F5344CB8AC3E}">
        <p14:creationId xmlns:p14="http://schemas.microsoft.com/office/powerpoint/2010/main" val="15649255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9939"/>
                                        </p:tgtEl>
                                        <p:attrNameLst>
                                          <p:attrName>style.visibility</p:attrName>
                                        </p:attrNameLst>
                                      </p:cBhvr>
                                      <p:to>
                                        <p:strVal val="visible"/>
                                      </p:to>
                                    </p:set>
                                    <p:animEffect transition="in" filter="wipe(left)">
                                      <p:cBhvr>
                                        <p:cTn id="7" dur="500"/>
                                        <p:tgtEl>
                                          <p:spTgt spid="399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9938"/>
                                        </p:tgtEl>
                                        <p:attrNameLst>
                                          <p:attrName>style.visibility</p:attrName>
                                        </p:attrNameLst>
                                      </p:cBhvr>
                                      <p:to>
                                        <p:strVal val="visible"/>
                                      </p:to>
                                    </p:set>
                                    <p:animEffect transition="in" filter="strips(downRight)">
                                      <p:cBhvr>
                                        <p:cTn id="12" dur="500"/>
                                        <p:tgtEl>
                                          <p:spTgt spid="399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12" fill="hold" grpId="0" nodeType="clickEffect">
                                  <p:stCondLst>
                                    <p:cond delay="0"/>
                                  </p:stCondLst>
                                  <p:childTnLst>
                                    <p:set>
                                      <p:cBhvr>
                                        <p:cTn id="16" dur="1" fill="hold">
                                          <p:stCondLst>
                                            <p:cond delay="0"/>
                                          </p:stCondLst>
                                        </p:cTn>
                                        <p:tgtEl>
                                          <p:spTgt spid="39940"/>
                                        </p:tgtEl>
                                        <p:attrNameLst>
                                          <p:attrName>style.visibility</p:attrName>
                                        </p:attrNameLst>
                                      </p:cBhvr>
                                      <p:to>
                                        <p:strVal val="visible"/>
                                      </p:to>
                                    </p:set>
                                    <p:anim calcmode="lin" valueType="num">
                                      <p:cBhvr additive="base">
                                        <p:cTn id="17" dur="500" fill="hold"/>
                                        <p:tgtEl>
                                          <p:spTgt spid="39940"/>
                                        </p:tgtEl>
                                        <p:attrNameLst>
                                          <p:attrName>ppt_x</p:attrName>
                                        </p:attrNameLst>
                                      </p:cBhvr>
                                      <p:tavLst>
                                        <p:tav tm="0">
                                          <p:val>
                                            <p:strVal val="0-#ppt_w/2"/>
                                          </p:val>
                                        </p:tav>
                                        <p:tav tm="100000">
                                          <p:val>
                                            <p:strVal val="#ppt_x"/>
                                          </p:val>
                                        </p:tav>
                                      </p:tavLst>
                                    </p:anim>
                                    <p:anim calcmode="lin" valueType="num">
                                      <p:cBhvr additive="base">
                                        <p:cTn id="18" dur="500" fill="hold"/>
                                        <p:tgtEl>
                                          <p:spTgt spid="399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utoUpdateAnimBg="0"/>
      <p:bldP spid="39939" grpId="0" autoUpdateAnimBg="0"/>
      <p:bldP spid="39940"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7394" name="Object 2050"/>
          <p:cNvGraphicFramePr>
            <a:graphicFrameLocks noChangeAspect="1"/>
          </p:cNvGraphicFramePr>
          <p:nvPr/>
        </p:nvGraphicFramePr>
        <p:xfrm>
          <a:off x="247650" y="1752600"/>
          <a:ext cx="8401050" cy="1981200"/>
        </p:xfrm>
        <a:graphic>
          <a:graphicData uri="http://schemas.openxmlformats.org/presentationml/2006/ole">
            <mc:AlternateContent xmlns:mc="http://schemas.openxmlformats.org/markup-compatibility/2006">
              <mc:Choice xmlns:v="urn:schemas-microsoft-com:vml" Requires="v">
                <p:oleObj spid="_x0000_s1307650" name="文档" r:id="rId3" imgW="8418960" imgH="1980720" progId="Word.Document.8">
                  <p:embed/>
                </p:oleObj>
              </mc:Choice>
              <mc:Fallback>
                <p:oleObj name="文档" r:id="rId3" imgW="8418960" imgH="198072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650" y="1752600"/>
                        <a:ext cx="8401050"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87395" name="Text Box 2051"/>
          <p:cNvSpPr txBox="1">
            <a:spLocks noChangeArrowheads="1"/>
          </p:cNvSpPr>
          <p:nvPr/>
        </p:nvSpPr>
        <p:spPr bwMode="auto">
          <a:xfrm>
            <a:off x="0" y="1214438"/>
            <a:ext cx="14176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t>ST.elem</a:t>
            </a:r>
            <a:endParaRPr lang="en-US" altLang="zh-CN"/>
          </a:p>
        </p:txBody>
      </p:sp>
      <p:sp>
        <p:nvSpPr>
          <p:cNvPr id="187396" name="Line 2052"/>
          <p:cNvSpPr>
            <a:spLocks noChangeShapeType="1"/>
          </p:cNvSpPr>
          <p:nvPr/>
        </p:nvSpPr>
        <p:spPr bwMode="auto">
          <a:xfrm>
            <a:off x="7543800" y="819150"/>
            <a:ext cx="0" cy="914400"/>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7397" name="Text Box 2053"/>
          <p:cNvSpPr txBox="1">
            <a:spLocks noChangeArrowheads="1"/>
          </p:cNvSpPr>
          <p:nvPr/>
        </p:nvSpPr>
        <p:spPr bwMode="auto">
          <a:xfrm>
            <a:off x="7527925" y="809625"/>
            <a:ext cx="1657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t>ST.length</a:t>
            </a:r>
            <a:endParaRPr lang="en-US" altLang="zh-CN"/>
          </a:p>
        </p:txBody>
      </p:sp>
      <p:sp>
        <p:nvSpPr>
          <p:cNvPr id="187398" name="Text Box 2054"/>
          <p:cNvSpPr txBox="1">
            <a:spLocks noChangeArrowheads="1"/>
          </p:cNvSpPr>
          <p:nvPr/>
        </p:nvSpPr>
        <p:spPr bwMode="auto">
          <a:xfrm>
            <a:off x="365125" y="136525"/>
            <a:ext cx="72564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660033"/>
                </a:solidFill>
                <a:ea typeface="隶书" charset="0"/>
              </a:rPr>
              <a:t>例如</a:t>
            </a:r>
            <a:r>
              <a:rPr lang="en-US" altLang="zh-CN" sz="4000" b="1">
                <a:solidFill>
                  <a:srgbClr val="660033"/>
                </a:solidFill>
                <a:ea typeface="隶书" charset="0"/>
              </a:rPr>
              <a:t>: </a:t>
            </a:r>
            <a:r>
              <a:rPr lang="en-US" altLang="zh-CN" sz="4000" b="1">
                <a:solidFill>
                  <a:srgbClr val="CC0000"/>
                </a:solidFill>
                <a:ea typeface="隶书" charset="0"/>
              </a:rPr>
              <a:t>key=64</a:t>
            </a:r>
            <a:r>
              <a:rPr lang="en-US" altLang="zh-CN" sz="4000">
                <a:solidFill>
                  <a:srgbClr val="660033"/>
                </a:solidFill>
                <a:ea typeface="隶书" charset="0"/>
              </a:rPr>
              <a:t> </a:t>
            </a:r>
            <a:r>
              <a:rPr lang="zh-CN" altLang="en-US" sz="4000">
                <a:solidFill>
                  <a:srgbClr val="660033"/>
                </a:solidFill>
                <a:ea typeface="隶书" charset="0"/>
              </a:rPr>
              <a:t>的查找过程如下：</a:t>
            </a:r>
            <a:endParaRPr lang="zh-CN" altLang="en-US" sz="4000">
              <a:ea typeface="隶书" charset="0"/>
            </a:endParaRPr>
          </a:p>
        </p:txBody>
      </p:sp>
      <p:sp>
        <p:nvSpPr>
          <p:cNvPr id="187399" name="AutoShape 2055"/>
          <p:cNvSpPr>
            <a:spLocks noChangeArrowheads="1"/>
          </p:cNvSpPr>
          <p:nvPr/>
        </p:nvSpPr>
        <p:spPr bwMode="auto">
          <a:xfrm>
            <a:off x="1143000" y="2895600"/>
            <a:ext cx="152400" cy="838200"/>
          </a:xfrm>
          <a:prstGeom prst="upArrow">
            <a:avLst>
              <a:gd name="adj1" fmla="val 50000"/>
              <a:gd name="adj2" fmla="val 137500"/>
            </a:avLst>
          </a:prstGeom>
          <a:solidFill>
            <a:srgbClr val="00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87400" name="AutoShape 2056"/>
          <p:cNvSpPr>
            <a:spLocks noChangeArrowheads="1"/>
          </p:cNvSpPr>
          <p:nvPr/>
        </p:nvSpPr>
        <p:spPr bwMode="auto">
          <a:xfrm>
            <a:off x="4267200" y="2819400"/>
            <a:ext cx="152400" cy="914400"/>
          </a:xfrm>
          <a:prstGeom prst="upArrow">
            <a:avLst>
              <a:gd name="adj1" fmla="val 50000"/>
              <a:gd name="adj2" fmla="val 150000"/>
            </a:avLst>
          </a:prstGeom>
          <a:solidFill>
            <a:srgbClr val="8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87401" name="AutoShape 2057"/>
          <p:cNvSpPr>
            <a:spLocks noChangeArrowheads="1"/>
          </p:cNvSpPr>
          <p:nvPr/>
        </p:nvSpPr>
        <p:spPr bwMode="auto">
          <a:xfrm>
            <a:off x="7467600" y="2895600"/>
            <a:ext cx="152400" cy="838200"/>
          </a:xfrm>
          <a:prstGeom prst="upArrow">
            <a:avLst>
              <a:gd name="adj1" fmla="val 50000"/>
              <a:gd name="adj2" fmla="val 137500"/>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87402" name="Text Box 2058"/>
          <p:cNvSpPr txBox="1">
            <a:spLocks noChangeArrowheads="1"/>
          </p:cNvSpPr>
          <p:nvPr/>
        </p:nvSpPr>
        <p:spPr bwMode="auto">
          <a:xfrm>
            <a:off x="1339850" y="3419475"/>
            <a:ext cx="717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006600"/>
                </a:solidFill>
              </a:rPr>
              <a:t>low</a:t>
            </a:r>
            <a:endParaRPr lang="en-US" altLang="zh-CN" sz="2800"/>
          </a:p>
        </p:txBody>
      </p:sp>
      <p:sp>
        <p:nvSpPr>
          <p:cNvPr id="187403" name="Text Box 2059"/>
          <p:cNvSpPr txBox="1">
            <a:spLocks noChangeArrowheads="1"/>
          </p:cNvSpPr>
          <p:nvPr/>
        </p:nvSpPr>
        <p:spPr bwMode="auto">
          <a:xfrm>
            <a:off x="7664450" y="3429000"/>
            <a:ext cx="81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chemeClr val="accent2"/>
                </a:solidFill>
              </a:rPr>
              <a:t>high</a:t>
            </a:r>
            <a:endParaRPr lang="en-US" altLang="zh-CN" sz="2800"/>
          </a:p>
        </p:txBody>
      </p:sp>
      <p:sp>
        <p:nvSpPr>
          <p:cNvPr id="187404" name="Text Box 2060"/>
          <p:cNvSpPr txBox="1">
            <a:spLocks noChangeArrowheads="1"/>
          </p:cNvSpPr>
          <p:nvPr/>
        </p:nvSpPr>
        <p:spPr bwMode="auto">
          <a:xfrm>
            <a:off x="3962400" y="3824288"/>
            <a:ext cx="736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800000"/>
                </a:solidFill>
              </a:rPr>
              <a:t>mid</a:t>
            </a:r>
            <a:endParaRPr lang="en-US" altLang="zh-CN" sz="2800"/>
          </a:p>
        </p:txBody>
      </p:sp>
      <p:sp>
        <p:nvSpPr>
          <p:cNvPr id="187405" name="AutoShape 2061"/>
          <p:cNvSpPr>
            <a:spLocks noChangeArrowheads="1"/>
          </p:cNvSpPr>
          <p:nvPr/>
        </p:nvSpPr>
        <p:spPr bwMode="auto">
          <a:xfrm>
            <a:off x="4876800" y="2895600"/>
            <a:ext cx="152400" cy="838200"/>
          </a:xfrm>
          <a:prstGeom prst="upArrow">
            <a:avLst>
              <a:gd name="adj1" fmla="val 50000"/>
              <a:gd name="adj2" fmla="val 137500"/>
            </a:avLst>
          </a:prstGeom>
          <a:solidFill>
            <a:srgbClr val="00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87406" name="Text Box 2062"/>
          <p:cNvSpPr txBox="1">
            <a:spLocks noChangeArrowheads="1"/>
          </p:cNvSpPr>
          <p:nvPr/>
        </p:nvSpPr>
        <p:spPr bwMode="auto">
          <a:xfrm>
            <a:off x="5073650" y="3419475"/>
            <a:ext cx="717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006600"/>
                </a:solidFill>
              </a:rPr>
              <a:t>low</a:t>
            </a:r>
            <a:endParaRPr lang="en-US" altLang="zh-CN" sz="2800"/>
          </a:p>
        </p:txBody>
      </p:sp>
      <p:sp useBgFill="1">
        <p:nvSpPr>
          <p:cNvPr id="187407" name="AutoShape 2063"/>
          <p:cNvSpPr>
            <a:spLocks noChangeArrowheads="1"/>
          </p:cNvSpPr>
          <p:nvPr/>
        </p:nvSpPr>
        <p:spPr bwMode="auto">
          <a:xfrm>
            <a:off x="1143000" y="2895600"/>
            <a:ext cx="152400" cy="838200"/>
          </a:xfrm>
          <a:prstGeom prst="upArrow">
            <a:avLst>
              <a:gd name="adj1" fmla="val 50000"/>
              <a:gd name="adj2" fmla="val 137500"/>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useBgFill="1">
        <p:nvSpPr>
          <p:cNvPr id="187408" name="Text Box 2064"/>
          <p:cNvSpPr txBox="1">
            <a:spLocks noChangeArrowheads="1"/>
          </p:cNvSpPr>
          <p:nvPr/>
        </p:nvSpPr>
        <p:spPr bwMode="auto">
          <a:xfrm>
            <a:off x="1339850" y="3419475"/>
            <a:ext cx="717550" cy="519113"/>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006600"/>
                </a:solidFill>
              </a:rPr>
              <a:t>      </a:t>
            </a:r>
            <a:endParaRPr lang="en-US" altLang="zh-CN" sz="2800"/>
          </a:p>
        </p:txBody>
      </p:sp>
      <p:sp>
        <p:nvSpPr>
          <p:cNvPr id="187409" name="AutoShape 2065"/>
          <p:cNvSpPr>
            <a:spLocks noChangeArrowheads="1"/>
          </p:cNvSpPr>
          <p:nvPr/>
        </p:nvSpPr>
        <p:spPr bwMode="auto">
          <a:xfrm>
            <a:off x="6153150" y="2819400"/>
            <a:ext cx="152400" cy="914400"/>
          </a:xfrm>
          <a:prstGeom prst="upArrow">
            <a:avLst>
              <a:gd name="adj1" fmla="val 50000"/>
              <a:gd name="adj2" fmla="val 150000"/>
            </a:avLst>
          </a:prstGeom>
          <a:solidFill>
            <a:srgbClr val="8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87410" name="Text Box 2066"/>
          <p:cNvSpPr txBox="1">
            <a:spLocks noChangeArrowheads="1"/>
          </p:cNvSpPr>
          <p:nvPr/>
        </p:nvSpPr>
        <p:spPr bwMode="auto">
          <a:xfrm>
            <a:off x="5867400" y="3824288"/>
            <a:ext cx="736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800000"/>
                </a:solidFill>
              </a:rPr>
              <a:t>mid</a:t>
            </a:r>
            <a:endParaRPr lang="en-US" altLang="zh-CN" sz="2800"/>
          </a:p>
        </p:txBody>
      </p:sp>
      <p:sp useBgFill="1">
        <p:nvSpPr>
          <p:cNvPr id="187411" name="AutoShape 2067"/>
          <p:cNvSpPr>
            <a:spLocks noChangeArrowheads="1"/>
          </p:cNvSpPr>
          <p:nvPr/>
        </p:nvSpPr>
        <p:spPr bwMode="auto">
          <a:xfrm>
            <a:off x="4267200" y="2819400"/>
            <a:ext cx="152400" cy="914400"/>
          </a:xfrm>
          <a:prstGeom prst="upArrow">
            <a:avLst>
              <a:gd name="adj1" fmla="val 50000"/>
              <a:gd name="adj2" fmla="val 150000"/>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useBgFill="1">
        <p:nvSpPr>
          <p:cNvPr id="187413" name="Text Box 2069"/>
          <p:cNvSpPr txBox="1">
            <a:spLocks noChangeArrowheads="1"/>
          </p:cNvSpPr>
          <p:nvPr/>
        </p:nvSpPr>
        <p:spPr bwMode="auto">
          <a:xfrm>
            <a:off x="3962400" y="3810000"/>
            <a:ext cx="717550" cy="519113"/>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800000"/>
                </a:solidFill>
              </a:rPr>
              <a:t>      </a:t>
            </a:r>
            <a:endParaRPr lang="en-US" altLang="zh-CN" sz="2800"/>
          </a:p>
        </p:txBody>
      </p:sp>
      <p:sp useBgFill="1">
        <p:nvSpPr>
          <p:cNvPr id="187414" name="AutoShape 2070"/>
          <p:cNvSpPr>
            <a:spLocks noChangeArrowheads="1"/>
          </p:cNvSpPr>
          <p:nvPr/>
        </p:nvSpPr>
        <p:spPr bwMode="auto">
          <a:xfrm>
            <a:off x="7467600" y="2895600"/>
            <a:ext cx="152400" cy="838200"/>
          </a:xfrm>
          <a:prstGeom prst="upArrow">
            <a:avLst>
              <a:gd name="adj1" fmla="val 50000"/>
              <a:gd name="adj2" fmla="val 137500"/>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useBgFill="1">
        <p:nvSpPr>
          <p:cNvPr id="187415" name="Text Box 2071"/>
          <p:cNvSpPr txBox="1">
            <a:spLocks noChangeArrowheads="1"/>
          </p:cNvSpPr>
          <p:nvPr/>
        </p:nvSpPr>
        <p:spPr bwMode="auto">
          <a:xfrm>
            <a:off x="7664450" y="3429000"/>
            <a:ext cx="806450" cy="519113"/>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t>       </a:t>
            </a:r>
          </a:p>
        </p:txBody>
      </p:sp>
      <p:sp>
        <p:nvSpPr>
          <p:cNvPr id="187416" name="AutoShape 2072"/>
          <p:cNvSpPr>
            <a:spLocks noChangeArrowheads="1"/>
          </p:cNvSpPr>
          <p:nvPr/>
        </p:nvSpPr>
        <p:spPr bwMode="auto">
          <a:xfrm>
            <a:off x="5486400" y="2895600"/>
            <a:ext cx="152400" cy="838200"/>
          </a:xfrm>
          <a:prstGeom prst="upArrow">
            <a:avLst>
              <a:gd name="adj1" fmla="val 50000"/>
              <a:gd name="adj2" fmla="val 137500"/>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87417" name="Text Box 2073"/>
          <p:cNvSpPr txBox="1">
            <a:spLocks noChangeArrowheads="1"/>
          </p:cNvSpPr>
          <p:nvPr/>
        </p:nvSpPr>
        <p:spPr bwMode="auto">
          <a:xfrm>
            <a:off x="5683250" y="3429000"/>
            <a:ext cx="81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chemeClr val="accent2"/>
                </a:solidFill>
              </a:rPr>
              <a:t>high</a:t>
            </a:r>
            <a:endParaRPr lang="en-US" altLang="zh-CN" sz="2800"/>
          </a:p>
        </p:txBody>
      </p:sp>
      <p:sp useBgFill="1">
        <p:nvSpPr>
          <p:cNvPr id="187418" name="AutoShape 2074"/>
          <p:cNvSpPr>
            <a:spLocks noChangeArrowheads="1"/>
          </p:cNvSpPr>
          <p:nvPr/>
        </p:nvSpPr>
        <p:spPr bwMode="auto">
          <a:xfrm>
            <a:off x="6153150" y="2819400"/>
            <a:ext cx="152400" cy="914400"/>
          </a:xfrm>
          <a:prstGeom prst="upArrow">
            <a:avLst>
              <a:gd name="adj1" fmla="val 50000"/>
              <a:gd name="adj2" fmla="val 150000"/>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useBgFill="1">
        <p:nvSpPr>
          <p:cNvPr id="187419" name="Text Box 2075"/>
          <p:cNvSpPr txBox="1">
            <a:spLocks noChangeArrowheads="1"/>
          </p:cNvSpPr>
          <p:nvPr/>
        </p:nvSpPr>
        <p:spPr bwMode="auto">
          <a:xfrm>
            <a:off x="5867400" y="3824288"/>
            <a:ext cx="717550" cy="519112"/>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t>      </a:t>
            </a:r>
          </a:p>
        </p:txBody>
      </p:sp>
      <p:sp>
        <p:nvSpPr>
          <p:cNvPr id="187420" name="AutoShape 2076"/>
          <p:cNvSpPr>
            <a:spLocks noChangeArrowheads="1"/>
          </p:cNvSpPr>
          <p:nvPr/>
        </p:nvSpPr>
        <p:spPr bwMode="auto">
          <a:xfrm>
            <a:off x="5010150" y="2895600"/>
            <a:ext cx="152400" cy="914400"/>
          </a:xfrm>
          <a:prstGeom prst="upArrow">
            <a:avLst>
              <a:gd name="adj1" fmla="val 50000"/>
              <a:gd name="adj2" fmla="val 150000"/>
            </a:avLst>
          </a:prstGeom>
          <a:solidFill>
            <a:srgbClr val="8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87421" name="Text Box 2077"/>
          <p:cNvSpPr txBox="1">
            <a:spLocks noChangeArrowheads="1"/>
          </p:cNvSpPr>
          <p:nvPr/>
        </p:nvSpPr>
        <p:spPr bwMode="auto">
          <a:xfrm>
            <a:off x="4724400" y="3824288"/>
            <a:ext cx="736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800000"/>
                </a:solidFill>
              </a:rPr>
              <a:t>mid</a:t>
            </a:r>
            <a:endParaRPr lang="en-US" altLang="zh-CN" sz="2800"/>
          </a:p>
        </p:txBody>
      </p:sp>
      <p:sp>
        <p:nvSpPr>
          <p:cNvPr id="187422" name="Text Box 2078"/>
          <p:cNvSpPr txBox="1">
            <a:spLocks noChangeArrowheads="1"/>
          </p:cNvSpPr>
          <p:nvPr/>
        </p:nvSpPr>
        <p:spPr bwMode="auto">
          <a:xfrm>
            <a:off x="831850" y="4572000"/>
            <a:ext cx="5391150" cy="206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lang="en-US" altLang="zh-CN" sz="3600" b="1">
                <a:solidFill>
                  <a:srgbClr val="006600"/>
                </a:solidFill>
                <a:ea typeface="隶书" charset="0"/>
              </a:rPr>
              <a:t>low</a:t>
            </a:r>
            <a:r>
              <a:rPr lang="en-US" altLang="zh-CN" sz="3600">
                <a:solidFill>
                  <a:srgbClr val="800000"/>
                </a:solidFill>
                <a:latin typeface="隶书" charset="0"/>
                <a:ea typeface="隶书" charset="0"/>
              </a:rPr>
              <a:t> </a:t>
            </a:r>
            <a:r>
              <a:rPr lang="zh-CN" altLang="en-US" sz="3600">
                <a:solidFill>
                  <a:srgbClr val="800000"/>
                </a:solidFill>
                <a:latin typeface="隶书" charset="0"/>
                <a:ea typeface="隶书" charset="0"/>
              </a:rPr>
              <a:t>指示查找区间的下界</a:t>
            </a:r>
          </a:p>
          <a:p>
            <a:pPr>
              <a:lnSpc>
                <a:spcPct val="120000"/>
              </a:lnSpc>
            </a:pPr>
            <a:r>
              <a:rPr lang="en-US" altLang="zh-CN" sz="3600" b="1">
                <a:solidFill>
                  <a:schemeClr val="accent2"/>
                </a:solidFill>
                <a:ea typeface="隶书" charset="0"/>
              </a:rPr>
              <a:t>high</a:t>
            </a:r>
            <a:r>
              <a:rPr lang="en-US" altLang="zh-CN" sz="3600">
                <a:solidFill>
                  <a:srgbClr val="800000"/>
                </a:solidFill>
                <a:latin typeface="隶书" charset="0"/>
                <a:ea typeface="隶书" charset="0"/>
              </a:rPr>
              <a:t> </a:t>
            </a:r>
            <a:r>
              <a:rPr lang="zh-CN" altLang="en-US" sz="3600">
                <a:solidFill>
                  <a:srgbClr val="800000"/>
                </a:solidFill>
                <a:latin typeface="隶书" charset="0"/>
                <a:ea typeface="隶书" charset="0"/>
              </a:rPr>
              <a:t>指示查找区间的上界</a:t>
            </a:r>
          </a:p>
          <a:p>
            <a:pPr>
              <a:lnSpc>
                <a:spcPct val="120000"/>
              </a:lnSpc>
            </a:pPr>
            <a:r>
              <a:rPr lang="en-US" altLang="zh-CN" sz="3600" b="1">
                <a:solidFill>
                  <a:srgbClr val="CC0000"/>
                </a:solidFill>
                <a:ea typeface="隶书" charset="0"/>
              </a:rPr>
              <a:t>mid</a:t>
            </a:r>
            <a:r>
              <a:rPr lang="en-US" altLang="zh-CN" sz="3600">
                <a:solidFill>
                  <a:srgbClr val="800000"/>
                </a:solidFill>
                <a:ea typeface="隶书" charset="0"/>
              </a:rPr>
              <a:t> = (low+high)/2</a:t>
            </a:r>
            <a:endParaRPr lang="en-US" altLang="zh-CN" sz="3600">
              <a:latin typeface="隶书" charset="0"/>
              <a:ea typeface="隶书" charset="0"/>
            </a:endParaRPr>
          </a:p>
        </p:txBody>
      </p:sp>
    </p:spTree>
    <p:extLst>
      <p:ext uri="{BB962C8B-B14F-4D97-AF65-F5344CB8AC3E}">
        <p14:creationId xmlns:p14="http://schemas.microsoft.com/office/powerpoint/2010/main" val="160486931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87398"/>
                                        </p:tgtEl>
                                        <p:attrNameLst>
                                          <p:attrName>style.visibility</p:attrName>
                                        </p:attrNameLst>
                                      </p:cBhvr>
                                      <p:to>
                                        <p:strVal val="visible"/>
                                      </p:to>
                                    </p:set>
                                    <p:anim calcmode="lin" valueType="num">
                                      <p:cBhvr additive="base">
                                        <p:cTn id="7" dur="500" fill="hold"/>
                                        <p:tgtEl>
                                          <p:spTgt spid="187398"/>
                                        </p:tgtEl>
                                        <p:attrNameLst>
                                          <p:attrName>ppt_x</p:attrName>
                                        </p:attrNameLst>
                                      </p:cBhvr>
                                      <p:tavLst>
                                        <p:tav tm="0">
                                          <p:val>
                                            <p:strVal val="#ppt_x"/>
                                          </p:val>
                                        </p:tav>
                                        <p:tav tm="100000">
                                          <p:val>
                                            <p:strVal val="#ppt_x"/>
                                          </p:val>
                                        </p:tav>
                                      </p:tavLst>
                                    </p:anim>
                                    <p:anim calcmode="lin" valueType="num">
                                      <p:cBhvr additive="base">
                                        <p:cTn id="8" dur="500" fill="hold"/>
                                        <p:tgtEl>
                                          <p:spTgt spid="18739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7394"/>
                                        </p:tgtEl>
                                        <p:attrNameLst>
                                          <p:attrName>style.visibility</p:attrName>
                                        </p:attrNameLst>
                                      </p:cBhvr>
                                      <p:to>
                                        <p:strVal val="visible"/>
                                      </p:to>
                                    </p:set>
                                    <p:anim calcmode="lin" valueType="num">
                                      <p:cBhvr additive="base">
                                        <p:cTn id="13" dur="500" fill="hold"/>
                                        <p:tgtEl>
                                          <p:spTgt spid="187394"/>
                                        </p:tgtEl>
                                        <p:attrNameLst>
                                          <p:attrName>ppt_x</p:attrName>
                                        </p:attrNameLst>
                                      </p:cBhvr>
                                      <p:tavLst>
                                        <p:tav tm="0">
                                          <p:val>
                                            <p:strVal val="#ppt_x"/>
                                          </p:val>
                                        </p:tav>
                                        <p:tav tm="100000">
                                          <p:val>
                                            <p:strVal val="#ppt_x"/>
                                          </p:val>
                                        </p:tav>
                                      </p:tavLst>
                                    </p:anim>
                                    <p:anim calcmode="lin" valueType="num">
                                      <p:cBhvr additive="base">
                                        <p:cTn id="14" dur="500" fill="hold"/>
                                        <p:tgtEl>
                                          <p:spTgt spid="187394"/>
                                        </p:tgtEl>
                                        <p:attrNameLst>
                                          <p:attrName>ppt_y</p:attrName>
                                        </p:attrNameLst>
                                      </p:cBhvr>
                                      <p:tavLst>
                                        <p:tav tm="0">
                                          <p:val>
                                            <p:strVal val="1+#ppt_h/2"/>
                                          </p:val>
                                        </p:tav>
                                        <p:tav tm="100000">
                                          <p:val>
                                            <p:strVal val="#ppt_y"/>
                                          </p:val>
                                        </p:tav>
                                      </p:tavLst>
                                    </p:anim>
                                  </p:childTnLst>
                                </p:cTn>
                              </p:par>
                            </p:childTnLst>
                          </p:cTn>
                        </p:par>
                        <p:par>
                          <p:cTn id="15" fill="hold" nodeType="afterGroup">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187395"/>
                                        </p:tgtEl>
                                        <p:attrNameLst>
                                          <p:attrName>style.visibility</p:attrName>
                                        </p:attrNameLst>
                                      </p:cBhvr>
                                      <p:to>
                                        <p:strVal val="visible"/>
                                      </p:to>
                                    </p:set>
                                    <p:anim calcmode="lin" valueType="num">
                                      <p:cBhvr additive="base">
                                        <p:cTn id="18" dur="500" fill="hold"/>
                                        <p:tgtEl>
                                          <p:spTgt spid="187395"/>
                                        </p:tgtEl>
                                        <p:attrNameLst>
                                          <p:attrName>ppt_x</p:attrName>
                                        </p:attrNameLst>
                                      </p:cBhvr>
                                      <p:tavLst>
                                        <p:tav tm="0">
                                          <p:val>
                                            <p:strVal val="0-#ppt_w/2"/>
                                          </p:val>
                                        </p:tav>
                                        <p:tav tm="100000">
                                          <p:val>
                                            <p:strVal val="#ppt_x"/>
                                          </p:val>
                                        </p:tav>
                                      </p:tavLst>
                                    </p:anim>
                                    <p:anim calcmode="lin" valueType="num">
                                      <p:cBhvr additive="base">
                                        <p:cTn id="19" dur="500" fill="hold"/>
                                        <p:tgtEl>
                                          <p:spTgt spid="187395"/>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1000"/>
                            </p:stCondLst>
                            <p:childTnLst>
                              <p:par>
                                <p:cTn id="21" presetID="2" presetClass="entr" presetSubtype="1" fill="hold" grpId="0" nodeType="afterEffect">
                                  <p:stCondLst>
                                    <p:cond delay="0"/>
                                  </p:stCondLst>
                                  <p:childTnLst>
                                    <p:set>
                                      <p:cBhvr>
                                        <p:cTn id="22" dur="1" fill="hold">
                                          <p:stCondLst>
                                            <p:cond delay="0"/>
                                          </p:stCondLst>
                                        </p:cTn>
                                        <p:tgtEl>
                                          <p:spTgt spid="187396"/>
                                        </p:tgtEl>
                                        <p:attrNameLst>
                                          <p:attrName>style.visibility</p:attrName>
                                        </p:attrNameLst>
                                      </p:cBhvr>
                                      <p:to>
                                        <p:strVal val="visible"/>
                                      </p:to>
                                    </p:set>
                                    <p:anim calcmode="lin" valueType="num">
                                      <p:cBhvr additive="base">
                                        <p:cTn id="23" dur="500" fill="hold"/>
                                        <p:tgtEl>
                                          <p:spTgt spid="187396"/>
                                        </p:tgtEl>
                                        <p:attrNameLst>
                                          <p:attrName>ppt_x</p:attrName>
                                        </p:attrNameLst>
                                      </p:cBhvr>
                                      <p:tavLst>
                                        <p:tav tm="0">
                                          <p:val>
                                            <p:strVal val="#ppt_x"/>
                                          </p:val>
                                        </p:tav>
                                        <p:tav tm="100000">
                                          <p:val>
                                            <p:strVal val="#ppt_x"/>
                                          </p:val>
                                        </p:tav>
                                      </p:tavLst>
                                    </p:anim>
                                    <p:anim calcmode="lin" valueType="num">
                                      <p:cBhvr additive="base">
                                        <p:cTn id="24" dur="500" fill="hold"/>
                                        <p:tgtEl>
                                          <p:spTgt spid="187396"/>
                                        </p:tgtEl>
                                        <p:attrNameLst>
                                          <p:attrName>ppt_y</p:attrName>
                                        </p:attrNameLst>
                                      </p:cBhvr>
                                      <p:tavLst>
                                        <p:tav tm="0">
                                          <p:val>
                                            <p:strVal val="0-#ppt_h/2"/>
                                          </p:val>
                                        </p:tav>
                                        <p:tav tm="100000">
                                          <p:val>
                                            <p:strVal val="#ppt_y"/>
                                          </p:val>
                                        </p:tav>
                                      </p:tavLst>
                                    </p:anim>
                                  </p:childTnLst>
                                </p:cTn>
                              </p:par>
                            </p:childTnLst>
                          </p:cTn>
                        </p:par>
                        <p:par>
                          <p:cTn id="25" fill="hold" nodeType="afterGroup">
                            <p:stCondLst>
                              <p:cond delay="1500"/>
                            </p:stCondLst>
                            <p:childTnLst>
                              <p:par>
                                <p:cTn id="26" presetID="2" presetClass="entr" presetSubtype="1" fill="hold" grpId="0" nodeType="afterEffect">
                                  <p:stCondLst>
                                    <p:cond delay="0"/>
                                  </p:stCondLst>
                                  <p:childTnLst>
                                    <p:set>
                                      <p:cBhvr>
                                        <p:cTn id="27" dur="1" fill="hold">
                                          <p:stCondLst>
                                            <p:cond delay="0"/>
                                          </p:stCondLst>
                                        </p:cTn>
                                        <p:tgtEl>
                                          <p:spTgt spid="187397"/>
                                        </p:tgtEl>
                                        <p:attrNameLst>
                                          <p:attrName>style.visibility</p:attrName>
                                        </p:attrNameLst>
                                      </p:cBhvr>
                                      <p:to>
                                        <p:strVal val="visible"/>
                                      </p:to>
                                    </p:set>
                                    <p:anim calcmode="lin" valueType="num">
                                      <p:cBhvr additive="base">
                                        <p:cTn id="28" dur="500" fill="hold"/>
                                        <p:tgtEl>
                                          <p:spTgt spid="187397"/>
                                        </p:tgtEl>
                                        <p:attrNameLst>
                                          <p:attrName>ppt_x</p:attrName>
                                        </p:attrNameLst>
                                      </p:cBhvr>
                                      <p:tavLst>
                                        <p:tav tm="0">
                                          <p:val>
                                            <p:strVal val="#ppt_x"/>
                                          </p:val>
                                        </p:tav>
                                        <p:tav tm="100000">
                                          <p:val>
                                            <p:strVal val="#ppt_x"/>
                                          </p:val>
                                        </p:tav>
                                      </p:tavLst>
                                    </p:anim>
                                    <p:anim calcmode="lin" valueType="num">
                                      <p:cBhvr additive="base">
                                        <p:cTn id="29" dur="500" fill="hold"/>
                                        <p:tgtEl>
                                          <p:spTgt spid="187397"/>
                                        </p:tgtEl>
                                        <p:attrNameLst>
                                          <p:attrName>ppt_y</p:attrName>
                                        </p:attrNameLst>
                                      </p:cBhvr>
                                      <p:tavLst>
                                        <p:tav tm="0">
                                          <p:val>
                                            <p:strVal val="0-#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8" presetClass="entr" presetSubtype="6" fill="hold" grpId="0" nodeType="clickEffect">
                                  <p:stCondLst>
                                    <p:cond delay="0"/>
                                  </p:stCondLst>
                                  <p:childTnLst>
                                    <p:set>
                                      <p:cBhvr>
                                        <p:cTn id="33" dur="1" fill="hold">
                                          <p:stCondLst>
                                            <p:cond delay="0"/>
                                          </p:stCondLst>
                                        </p:cTn>
                                        <p:tgtEl>
                                          <p:spTgt spid="187422"/>
                                        </p:tgtEl>
                                        <p:attrNameLst>
                                          <p:attrName>style.visibility</p:attrName>
                                        </p:attrNameLst>
                                      </p:cBhvr>
                                      <p:to>
                                        <p:strVal val="visible"/>
                                      </p:to>
                                    </p:set>
                                    <p:animEffect transition="in" filter="strips(downRight)">
                                      <p:cBhvr>
                                        <p:cTn id="34" dur="500"/>
                                        <p:tgtEl>
                                          <p:spTgt spid="18742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87399"/>
                                        </p:tgtEl>
                                        <p:attrNameLst>
                                          <p:attrName>style.visibility</p:attrName>
                                        </p:attrNameLst>
                                      </p:cBhvr>
                                      <p:to>
                                        <p:strVal val="visible"/>
                                      </p:to>
                                    </p:set>
                                    <p:animEffect transition="in" filter="wipe(left)">
                                      <p:cBhvr>
                                        <p:cTn id="39" dur="500"/>
                                        <p:tgtEl>
                                          <p:spTgt spid="187399"/>
                                        </p:tgtEl>
                                      </p:cBhvr>
                                    </p:animEffect>
                                  </p:childTnLst>
                                </p:cTn>
                              </p:par>
                            </p:childTnLst>
                          </p:cTn>
                        </p:par>
                        <p:par>
                          <p:cTn id="40" fill="hold" nodeType="afterGroup">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187402"/>
                                        </p:tgtEl>
                                        <p:attrNameLst>
                                          <p:attrName>style.visibility</p:attrName>
                                        </p:attrNameLst>
                                      </p:cBhvr>
                                      <p:to>
                                        <p:strVal val="visible"/>
                                      </p:to>
                                    </p:set>
                                    <p:animEffect transition="in" filter="wipe(left)">
                                      <p:cBhvr>
                                        <p:cTn id="43" dur="500"/>
                                        <p:tgtEl>
                                          <p:spTgt spid="18740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87401"/>
                                        </p:tgtEl>
                                        <p:attrNameLst>
                                          <p:attrName>style.visibility</p:attrName>
                                        </p:attrNameLst>
                                      </p:cBhvr>
                                      <p:to>
                                        <p:strVal val="visible"/>
                                      </p:to>
                                    </p:set>
                                    <p:animEffect transition="in" filter="wipe(left)">
                                      <p:cBhvr>
                                        <p:cTn id="48" dur="500"/>
                                        <p:tgtEl>
                                          <p:spTgt spid="187401"/>
                                        </p:tgtEl>
                                      </p:cBhvr>
                                    </p:animEffect>
                                  </p:childTnLst>
                                </p:cTn>
                              </p:par>
                            </p:childTnLst>
                          </p:cTn>
                        </p:par>
                        <p:par>
                          <p:cTn id="49" fill="hold" nodeType="afterGroup">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87403"/>
                                        </p:tgtEl>
                                        <p:attrNameLst>
                                          <p:attrName>style.visibility</p:attrName>
                                        </p:attrNameLst>
                                      </p:cBhvr>
                                      <p:to>
                                        <p:strVal val="visible"/>
                                      </p:to>
                                    </p:set>
                                    <p:animEffect transition="in" filter="wipe(left)">
                                      <p:cBhvr>
                                        <p:cTn id="52" dur="500"/>
                                        <p:tgtEl>
                                          <p:spTgt spid="18740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7400"/>
                                        </p:tgtEl>
                                        <p:attrNameLst>
                                          <p:attrName>style.visibility</p:attrName>
                                        </p:attrNameLst>
                                      </p:cBhvr>
                                      <p:to>
                                        <p:strVal val="visible"/>
                                      </p:to>
                                    </p:set>
                                    <p:animEffect transition="in" filter="wipe(left)">
                                      <p:cBhvr>
                                        <p:cTn id="57" dur="500"/>
                                        <p:tgtEl>
                                          <p:spTgt spid="187400"/>
                                        </p:tgtEl>
                                      </p:cBhvr>
                                    </p:animEffect>
                                  </p:childTnLst>
                                </p:cTn>
                              </p:par>
                            </p:childTnLst>
                          </p:cTn>
                        </p:par>
                        <p:par>
                          <p:cTn id="58" fill="hold" nodeType="afterGroup">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187404"/>
                                        </p:tgtEl>
                                        <p:attrNameLst>
                                          <p:attrName>style.visibility</p:attrName>
                                        </p:attrNameLst>
                                      </p:cBhvr>
                                      <p:to>
                                        <p:strVal val="visible"/>
                                      </p:to>
                                    </p:set>
                                    <p:animEffect transition="in" filter="wipe(left)">
                                      <p:cBhvr>
                                        <p:cTn id="61" dur="500"/>
                                        <p:tgtEl>
                                          <p:spTgt spid="18740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87407"/>
                                        </p:tgtEl>
                                        <p:attrNameLst>
                                          <p:attrName>style.visibility</p:attrName>
                                        </p:attrNameLst>
                                      </p:cBhvr>
                                      <p:to>
                                        <p:strVal val="visible"/>
                                      </p:to>
                                    </p:set>
                                    <p:animEffect transition="in" filter="wipe(left)">
                                      <p:cBhvr>
                                        <p:cTn id="66" dur="500"/>
                                        <p:tgtEl>
                                          <p:spTgt spid="187407"/>
                                        </p:tgtEl>
                                      </p:cBhvr>
                                    </p:animEffect>
                                  </p:childTnLst>
                                </p:cTn>
                              </p:par>
                            </p:childTnLst>
                          </p:cTn>
                        </p:par>
                        <p:par>
                          <p:cTn id="67" fill="hold" nodeType="afterGroup">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187408"/>
                                        </p:tgtEl>
                                        <p:attrNameLst>
                                          <p:attrName>style.visibility</p:attrName>
                                        </p:attrNameLst>
                                      </p:cBhvr>
                                      <p:to>
                                        <p:strVal val="visible"/>
                                      </p:to>
                                    </p:set>
                                    <p:animEffect transition="in" filter="wipe(left)">
                                      <p:cBhvr>
                                        <p:cTn id="70" dur="500"/>
                                        <p:tgtEl>
                                          <p:spTgt spid="187408"/>
                                        </p:tgtEl>
                                      </p:cBhvr>
                                    </p:animEffect>
                                  </p:childTnLst>
                                </p:cTn>
                              </p:par>
                            </p:childTnLst>
                          </p:cTn>
                        </p:par>
                        <p:par>
                          <p:cTn id="71" fill="hold" nodeType="afterGroup">
                            <p:stCondLst>
                              <p:cond delay="1000"/>
                            </p:stCondLst>
                            <p:childTnLst>
                              <p:par>
                                <p:cTn id="72" presetID="22" presetClass="entr" presetSubtype="8" fill="hold" grpId="0" nodeType="afterEffect">
                                  <p:stCondLst>
                                    <p:cond delay="0"/>
                                  </p:stCondLst>
                                  <p:childTnLst>
                                    <p:set>
                                      <p:cBhvr>
                                        <p:cTn id="73" dur="1" fill="hold">
                                          <p:stCondLst>
                                            <p:cond delay="0"/>
                                          </p:stCondLst>
                                        </p:cTn>
                                        <p:tgtEl>
                                          <p:spTgt spid="187405"/>
                                        </p:tgtEl>
                                        <p:attrNameLst>
                                          <p:attrName>style.visibility</p:attrName>
                                        </p:attrNameLst>
                                      </p:cBhvr>
                                      <p:to>
                                        <p:strVal val="visible"/>
                                      </p:to>
                                    </p:set>
                                    <p:animEffect transition="in" filter="wipe(left)">
                                      <p:cBhvr>
                                        <p:cTn id="74" dur="500"/>
                                        <p:tgtEl>
                                          <p:spTgt spid="187405"/>
                                        </p:tgtEl>
                                      </p:cBhvr>
                                    </p:animEffect>
                                  </p:childTnLst>
                                </p:cTn>
                              </p:par>
                            </p:childTnLst>
                          </p:cTn>
                        </p:par>
                        <p:par>
                          <p:cTn id="75" fill="hold" nodeType="afterGroup">
                            <p:stCondLst>
                              <p:cond delay="1500"/>
                            </p:stCondLst>
                            <p:childTnLst>
                              <p:par>
                                <p:cTn id="76" presetID="22" presetClass="entr" presetSubtype="8" fill="hold" grpId="0" nodeType="afterEffect">
                                  <p:stCondLst>
                                    <p:cond delay="0"/>
                                  </p:stCondLst>
                                  <p:childTnLst>
                                    <p:set>
                                      <p:cBhvr>
                                        <p:cTn id="77" dur="1" fill="hold">
                                          <p:stCondLst>
                                            <p:cond delay="0"/>
                                          </p:stCondLst>
                                        </p:cTn>
                                        <p:tgtEl>
                                          <p:spTgt spid="187406"/>
                                        </p:tgtEl>
                                        <p:attrNameLst>
                                          <p:attrName>style.visibility</p:attrName>
                                        </p:attrNameLst>
                                      </p:cBhvr>
                                      <p:to>
                                        <p:strVal val="visible"/>
                                      </p:to>
                                    </p:set>
                                    <p:animEffect transition="in" filter="wipe(left)">
                                      <p:cBhvr>
                                        <p:cTn id="78" dur="500"/>
                                        <p:tgtEl>
                                          <p:spTgt spid="187406"/>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87411"/>
                                        </p:tgtEl>
                                        <p:attrNameLst>
                                          <p:attrName>style.visibility</p:attrName>
                                        </p:attrNameLst>
                                      </p:cBhvr>
                                      <p:to>
                                        <p:strVal val="visible"/>
                                      </p:to>
                                    </p:set>
                                    <p:animEffect transition="in" filter="wipe(left)">
                                      <p:cBhvr>
                                        <p:cTn id="83" dur="500"/>
                                        <p:tgtEl>
                                          <p:spTgt spid="187411"/>
                                        </p:tgtEl>
                                      </p:cBhvr>
                                    </p:animEffect>
                                  </p:childTnLst>
                                </p:cTn>
                              </p:par>
                            </p:childTnLst>
                          </p:cTn>
                        </p:par>
                        <p:par>
                          <p:cTn id="84" fill="hold" nodeType="afterGroup">
                            <p:stCondLst>
                              <p:cond delay="500"/>
                            </p:stCondLst>
                            <p:childTnLst>
                              <p:par>
                                <p:cTn id="85" presetID="22" presetClass="entr" presetSubtype="8" fill="hold" grpId="0" nodeType="afterEffect">
                                  <p:stCondLst>
                                    <p:cond delay="0"/>
                                  </p:stCondLst>
                                  <p:childTnLst>
                                    <p:set>
                                      <p:cBhvr>
                                        <p:cTn id="86" dur="1" fill="hold">
                                          <p:stCondLst>
                                            <p:cond delay="0"/>
                                          </p:stCondLst>
                                        </p:cTn>
                                        <p:tgtEl>
                                          <p:spTgt spid="187413"/>
                                        </p:tgtEl>
                                        <p:attrNameLst>
                                          <p:attrName>style.visibility</p:attrName>
                                        </p:attrNameLst>
                                      </p:cBhvr>
                                      <p:to>
                                        <p:strVal val="visible"/>
                                      </p:to>
                                    </p:set>
                                    <p:animEffect transition="in" filter="wipe(left)">
                                      <p:cBhvr>
                                        <p:cTn id="87" dur="500"/>
                                        <p:tgtEl>
                                          <p:spTgt spid="187413"/>
                                        </p:tgtEl>
                                      </p:cBhvr>
                                    </p:animEffect>
                                  </p:childTnLst>
                                </p:cTn>
                              </p:par>
                            </p:childTnLst>
                          </p:cTn>
                        </p:par>
                        <p:par>
                          <p:cTn id="88" fill="hold" nodeType="afterGroup">
                            <p:stCondLst>
                              <p:cond delay="1000"/>
                            </p:stCondLst>
                            <p:childTnLst>
                              <p:par>
                                <p:cTn id="89" presetID="22" presetClass="entr" presetSubtype="8" fill="hold" grpId="0" nodeType="afterEffect">
                                  <p:stCondLst>
                                    <p:cond delay="0"/>
                                  </p:stCondLst>
                                  <p:childTnLst>
                                    <p:set>
                                      <p:cBhvr>
                                        <p:cTn id="90" dur="1" fill="hold">
                                          <p:stCondLst>
                                            <p:cond delay="0"/>
                                          </p:stCondLst>
                                        </p:cTn>
                                        <p:tgtEl>
                                          <p:spTgt spid="187409"/>
                                        </p:tgtEl>
                                        <p:attrNameLst>
                                          <p:attrName>style.visibility</p:attrName>
                                        </p:attrNameLst>
                                      </p:cBhvr>
                                      <p:to>
                                        <p:strVal val="visible"/>
                                      </p:to>
                                    </p:set>
                                    <p:animEffect transition="in" filter="wipe(left)">
                                      <p:cBhvr>
                                        <p:cTn id="91" dur="500"/>
                                        <p:tgtEl>
                                          <p:spTgt spid="187409"/>
                                        </p:tgtEl>
                                      </p:cBhvr>
                                    </p:animEffect>
                                  </p:childTnLst>
                                </p:cTn>
                              </p:par>
                            </p:childTnLst>
                          </p:cTn>
                        </p:par>
                        <p:par>
                          <p:cTn id="92" fill="hold" nodeType="afterGroup">
                            <p:stCondLst>
                              <p:cond delay="1500"/>
                            </p:stCondLst>
                            <p:childTnLst>
                              <p:par>
                                <p:cTn id="93" presetID="22" presetClass="entr" presetSubtype="8" fill="hold" grpId="0" nodeType="afterEffect">
                                  <p:stCondLst>
                                    <p:cond delay="0"/>
                                  </p:stCondLst>
                                  <p:childTnLst>
                                    <p:set>
                                      <p:cBhvr>
                                        <p:cTn id="94" dur="1" fill="hold">
                                          <p:stCondLst>
                                            <p:cond delay="0"/>
                                          </p:stCondLst>
                                        </p:cTn>
                                        <p:tgtEl>
                                          <p:spTgt spid="187410"/>
                                        </p:tgtEl>
                                        <p:attrNameLst>
                                          <p:attrName>style.visibility</p:attrName>
                                        </p:attrNameLst>
                                      </p:cBhvr>
                                      <p:to>
                                        <p:strVal val="visible"/>
                                      </p:to>
                                    </p:set>
                                    <p:animEffect transition="in" filter="wipe(left)">
                                      <p:cBhvr>
                                        <p:cTn id="95" dur="500"/>
                                        <p:tgtEl>
                                          <p:spTgt spid="187410"/>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187414"/>
                                        </p:tgtEl>
                                        <p:attrNameLst>
                                          <p:attrName>style.visibility</p:attrName>
                                        </p:attrNameLst>
                                      </p:cBhvr>
                                      <p:to>
                                        <p:strVal val="visible"/>
                                      </p:to>
                                    </p:set>
                                    <p:animEffect transition="in" filter="wipe(left)">
                                      <p:cBhvr>
                                        <p:cTn id="100" dur="500"/>
                                        <p:tgtEl>
                                          <p:spTgt spid="187414"/>
                                        </p:tgtEl>
                                      </p:cBhvr>
                                    </p:animEffect>
                                  </p:childTnLst>
                                </p:cTn>
                              </p:par>
                            </p:childTnLst>
                          </p:cTn>
                        </p:par>
                        <p:par>
                          <p:cTn id="101" fill="hold" nodeType="afterGroup">
                            <p:stCondLst>
                              <p:cond delay="500"/>
                            </p:stCondLst>
                            <p:childTnLst>
                              <p:par>
                                <p:cTn id="102" presetID="22" presetClass="entr" presetSubtype="8" fill="hold" grpId="0" nodeType="afterEffect">
                                  <p:stCondLst>
                                    <p:cond delay="0"/>
                                  </p:stCondLst>
                                  <p:childTnLst>
                                    <p:set>
                                      <p:cBhvr>
                                        <p:cTn id="103" dur="1" fill="hold">
                                          <p:stCondLst>
                                            <p:cond delay="0"/>
                                          </p:stCondLst>
                                        </p:cTn>
                                        <p:tgtEl>
                                          <p:spTgt spid="187415"/>
                                        </p:tgtEl>
                                        <p:attrNameLst>
                                          <p:attrName>style.visibility</p:attrName>
                                        </p:attrNameLst>
                                      </p:cBhvr>
                                      <p:to>
                                        <p:strVal val="visible"/>
                                      </p:to>
                                    </p:set>
                                    <p:animEffect transition="in" filter="wipe(left)">
                                      <p:cBhvr>
                                        <p:cTn id="104" dur="500"/>
                                        <p:tgtEl>
                                          <p:spTgt spid="187415"/>
                                        </p:tgtEl>
                                      </p:cBhvr>
                                    </p:animEffect>
                                  </p:childTnLst>
                                </p:cTn>
                              </p:par>
                            </p:childTnLst>
                          </p:cTn>
                        </p:par>
                        <p:par>
                          <p:cTn id="105" fill="hold" nodeType="afterGroup">
                            <p:stCondLst>
                              <p:cond delay="1000"/>
                            </p:stCondLst>
                            <p:childTnLst>
                              <p:par>
                                <p:cTn id="106" presetID="22" presetClass="entr" presetSubtype="8" fill="hold" grpId="0" nodeType="afterEffect">
                                  <p:stCondLst>
                                    <p:cond delay="0"/>
                                  </p:stCondLst>
                                  <p:childTnLst>
                                    <p:set>
                                      <p:cBhvr>
                                        <p:cTn id="107" dur="1" fill="hold">
                                          <p:stCondLst>
                                            <p:cond delay="0"/>
                                          </p:stCondLst>
                                        </p:cTn>
                                        <p:tgtEl>
                                          <p:spTgt spid="187416"/>
                                        </p:tgtEl>
                                        <p:attrNameLst>
                                          <p:attrName>style.visibility</p:attrName>
                                        </p:attrNameLst>
                                      </p:cBhvr>
                                      <p:to>
                                        <p:strVal val="visible"/>
                                      </p:to>
                                    </p:set>
                                    <p:animEffect transition="in" filter="wipe(left)">
                                      <p:cBhvr>
                                        <p:cTn id="108" dur="500"/>
                                        <p:tgtEl>
                                          <p:spTgt spid="187416"/>
                                        </p:tgtEl>
                                      </p:cBhvr>
                                    </p:animEffect>
                                  </p:childTnLst>
                                </p:cTn>
                              </p:par>
                            </p:childTnLst>
                          </p:cTn>
                        </p:par>
                        <p:par>
                          <p:cTn id="109" fill="hold" nodeType="afterGroup">
                            <p:stCondLst>
                              <p:cond delay="1500"/>
                            </p:stCondLst>
                            <p:childTnLst>
                              <p:par>
                                <p:cTn id="110" presetID="22" presetClass="entr" presetSubtype="8" fill="hold" grpId="0" nodeType="afterEffect">
                                  <p:stCondLst>
                                    <p:cond delay="0"/>
                                  </p:stCondLst>
                                  <p:childTnLst>
                                    <p:set>
                                      <p:cBhvr>
                                        <p:cTn id="111" dur="1" fill="hold">
                                          <p:stCondLst>
                                            <p:cond delay="0"/>
                                          </p:stCondLst>
                                        </p:cTn>
                                        <p:tgtEl>
                                          <p:spTgt spid="187417"/>
                                        </p:tgtEl>
                                        <p:attrNameLst>
                                          <p:attrName>style.visibility</p:attrName>
                                        </p:attrNameLst>
                                      </p:cBhvr>
                                      <p:to>
                                        <p:strVal val="visible"/>
                                      </p:to>
                                    </p:set>
                                    <p:animEffect transition="in" filter="wipe(left)">
                                      <p:cBhvr>
                                        <p:cTn id="112" dur="500"/>
                                        <p:tgtEl>
                                          <p:spTgt spid="187417"/>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87418"/>
                                        </p:tgtEl>
                                        <p:attrNameLst>
                                          <p:attrName>style.visibility</p:attrName>
                                        </p:attrNameLst>
                                      </p:cBhvr>
                                      <p:to>
                                        <p:strVal val="visible"/>
                                      </p:to>
                                    </p:set>
                                    <p:animEffect transition="in" filter="wipe(left)">
                                      <p:cBhvr>
                                        <p:cTn id="117" dur="500"/>
                                        <p:tgtEl>
                                          <p:spTgt spid="187418"/>
                                        </p:tgtEl>
                                      </p:cBhvr>
                                    </p:animEffect>
                                  </p:childTnLst>
                                </p:cTn>
                              </p:par>
                            </p:childTnLst>
                          </p:cTn>
                        </p:par>
                        <p:par>
                          <p:cTn id="118" fill="hold" nodeType="afterGroup">
                            <p:stCondLst>
                              <p:cond delay="500"/>
                            </p:stCondLst>
                            <p:childTnLst>
                              <p:par>
                                <p:cTn id="119" presetID="22" presetClass="entr" presetSubtype="8" fill="hold" grpId="0" nodeType="afterEffect">
                                  <p:stCondLst>
                                    <p:cond delay="0"/>
                                  </p:stCondLst>
                                  <p:childTnLst>
                                    <p:set>
                                      <p:cBhvr>
                                        <p:cTn id="120" dur="1" fill="hold">
                                          <p:stCondLst>
                                            <p:cond delay="0"/>
                                          </p:stCondLst>
                                        </p:cTn>
                                        <p:tgtEl>
                                          <p:spTgt spid="187419"/>
                                        </p:tgtEl>
                                        <p:attrNameLst>
                                          <p:attrName>style.visibility</p:attrName>
                                        </p:attrNameLst>
                                      </p:cBhvr>
                                      <p:to>
                                        <p:strVal val="visible"/>
                                      </p:to>
                                    </p:set>
                                    <p:animEffect transition="in" filter="wipe(left)">
                                      <p:cBhvr>
                                        <p:cTn id="121" dur="500"/>
                                        <p:tgtEl>
                                          <p:spTgt spid="187419"/>
                                        </p:tgtEl>
                                      </p:cBhvr>
                                    </p:animEffect>
                                  </p:childTnLst>
                                </p:cTn>
                              </p:par>
                            </p:childTnLst>
                          </p:cTn>
                        </p:par>
                        <p:par>
                          <p:cTn id="122" fill="hold" nodeType="afterGroup">
                            <p:stCondLst>
                              <p:cond delay="1000"/>
                            </p:stCondLst>
                            <p:childTnLst>
                              <p:par>
                                <p:cTn id="123" presetID="22" presetClass="entr" presetSubtype="8" fill="hold" grpId="0" nodeType="afterEffect">
                                  <p:stCondLst>
                                    <p:cond delay="0"/>
                                  </p:stCondLst>
                                  <p:childTnLst>
                                    <p:set>
                                      <p:cBhvr>
                                        <p:cTn id="124" dur="1" fill="hold">
                                          <p:stCondLst>
                                            <p:cond delay="0"/>
                                          </p:stCondLst>
                                        </p:cTn>
                                        <p:tgtEl>
                                          <p:spTgt spid="187420"/>
                                        </p:tgtEl>
                                        <p:attrNameLst>
                                          <p:attrName>style.visibility</p:attrName>
                                        </p:attrNameLst>
                                      </p:cBhvr>
                                      <p:to>
                                        <p:strVal val="visible"/>
                                      </p:to>
                                    </p:set>
                                    <p:animEffect transition="in" filter="wipe(left)">
                                      <p:cBhvr>
                                        <p:cTn id="125" dur="500"/>
                                        <p:tgtEl>
                                          <p:spTgt spid="187420"/>
                                        </p:tgtEl>
                                      </p:cBhvr>
                                    </p:animEffect>
                                  </p:childTnLst>
                                </p:cTn>
                              </p:par>
                            </p:childTnLst>
                          </p:cTn>
                        </p:par>
                        <p:par>
                          <p:cTn id="126" fill="hold" nodeType="afterGroup">
                            <p:stCondLst>
                              <p:cond delay="1500"/>
                            </p:stCondLst>
                            <p:childTnLst>
                              <p:par>
                                <p:cTn id="127" presetID="22" presetClass="entr" presetSubtype="8" fill="hold" grpId="0" nodeType="afterEffect">
                                  <p:stCondLst>
                                    <p:cond delay="0"/>
                                  </p:stCondLst>
                                  <p:childTnLst>
                                    <p:set>
                                      <p:cBhvr>
                                        <p:cTn id="128" dur="1" fill="hold">
                                          <p:stCondLst>
                                            <p:cond delay="0"/>
                                          </p:stCondLst>
                                        </p:cTn>
                                        <p:tgtEl>
                                          <p:spTgt spid="187421"/>
                                        </p:tgtEl>
                                        <p:attrNameLst>
                                          <p:attrName>style.visibility</p:attrName>
                                        </p:attrNameLst>
                                      </p:cBhvr>
                                      <p:to>
                                        <p:strVal val="visible"/>
                                      </p:to>
                                    </p:set>
                                    <p:animEffect transition="in" filter="wipe(left)">
                                      <p:cBhvr>
                                        <p:cTn id="129" dur="500"/>
                                        <p:tgtEl>
                                          <p:spTgt spid="187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5" grpId="0" autoUpdateAnimBg="0"/>
      <p:bldP spid="187396" grpId="0" animBg="1"/>
      <p:bldP spid="187397" grpId="0" autoUpdateAnimBg="0"/>
      <p:bldP spid="187398" grpId="0" autoUpdateAnimBg="0"/>
      <p:bldP spid="187399" grpId="0" animBg="1"/>
      <p:bldP spid="187400" grpId="0" animBg="1"/>
      <p:bldP spid="187401" grpId="0" animBg="1"/>
      <p:bldP spid="187402" grpId="0" autoUpdateAnimBg="0"/>
      <p:bldP spid="187403" grpId="0" autoUpdateAnimBg="0"/>
      <p:bldP spid="187404" grpId="0" autoUpdateAnimBg="0"/>
      <p:bldP spid="187405" grpId="0" animBg="1"/>
      <p:bldP spid="187406" grpId="0" autoUpdateAnimBg="0"/>
      <p:bldP spid="187407" grpId="0" animBg="1"/>
      <p:bldP spid="187408" grpId="0" animBg="1" autoUpdateAnimBg="0"/>
      <p:bldP spid="187409" grpId="0" animBg="1"/>
      <p:bldP spid="187410" grpId="0" autoUpdateAnimBg="0"/>
      <p:bldP spid="187411" grpId="0" animBg="1"/>
      <p:bldP spid="187413" grpId="0" animBg="1" autoUpdateAnimBg="0"/>
      <p:bldP spid="187414" grpId="0" animBg="1"/>
      <p:bldP spid="187415" grpId="0" animBg="1" autoUpdateAnimBg="0"/>
      <p:bldP spid="187416" grpId="0" animBg="1"/>
      <p:bldP spid="187417" grpId="0" autoUpdateAnimBg="0"/>
      <p:bldP spid="187418" grpId="0" animBg="1"/>
      <p:bldP spid="187419" grpId="0" animBg="1" autoUpdateAnimBg="0"/>
      <p:bldP spid="187420" grpId="0" animBg="1"/>
      <p:bldP spid="187421" grpId="0" autoUpdateAnimBg="0"/>
      <p:bldP spid="187422"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228600" y="228600"/>
            <a:ext cx="8874125" cy="6561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800000"/>
                </a:solidFill>
                <a:ea typeface="楷体_GB2312" charset="0"/>
              </a:rPr>
              <a:t>int</a:t>
            </a:r>
            <a:r>
              <a:rPr lang="en-US" altLang="zh-CN" sz="3600">
                <a:solidFill>
                  <a:srgbClr val="800000"/>
                </a:solidFill>
                <a:ea typeface="楷体_GB2312" charset="0"/>
              </a:rPr>
              <a:t> Search_Bin ( SSTable ST, KeyType key ) </a:t>
            </a:r>
            <a:r>
              <a:rPr lang="en-US" altLang="zh-CN" sz="3600" b="1">
                <a:solidFill>
                  <a:srgbClr val="800000"/>
                </a:solidFill>
                <a:ea typeface="楷体_GB2312" charset="0"/>
              </a:rPr>
              <a:t>{</a:t>
            </a:r>
            <a:endParaRPr lang="en-US" altLang="zh-CN" sz="3600">
              <a:solidFill>
                <a:srgbClr val="800000"/>
              </a:solidFill>
              <a:ea typeface="楷体_GB2312" charset="0"/>
            </a:endParaRPr>
          </a:p>
          <a:p>
            <a:r>
              <a:rPr lang="en-US" altLang="zh-CN" sz="3600">
                <a:solidFill>
                  <a:srgbClr val="800000"/>
                </a:solidFill>
                <a:ea typeface="楷体_GB2312" charset="0"/>
              </a:rPr>
              <a:t>   </a:t>
            </a:r>
            <a:r>
              <a:rPr lang="en-US" altLang="zh-CN" sz="3600">
                <a:solidFill>
                  <a:srgbClr val="006600"/>
                </a:solidFill>
                <a:ea typeface="楷体_GB2312" charset="0"/>
              </a:rPr>
              <a:t>low = 1</a:t>
            </a:r>
            <a:r>
              <a:rPr lang="en-US" altLang="zh-CN" sz="3600">
                <a:solidFill>
                  <a:srgbClr val="800000"/>
                </a:solidFill>
                <a:ea typeface="楷体_GB2312" charset="0"/>
              </a:rPr>
              <a:t>;  </a:t>
            </a:r>
            <a:r>
              <a:rPr lang="en-US" altLang="zh-CN" sz="3600">
                <a:solidFill>
                  <a:schemeClr val="accent2"/>
                </a:solidFill>
                <a:ea typeface="楷体_GB2312" charset="0"/>
              </a:rPr>
              <a:t>high = ST.length</a:t>
            </a:r>
            <a:r>
              <a:rPr lang="en-US" altLang="zh-CN" sz="3600">
                <a:solidFill>
                  <a:srgbClr val="800000"/>
                </a:solidFill>
                <a:ea typeface="楷体_GB2312" charset="0"/>
              </a:rPr>
              <a:t>;     </a:t>
            </a:r>
            <a:r>
              <a:rPr lang="en-US" altLang="zh-CN" sz="2800">
                <a:solidFill>
                  <a:srgbClr val="800000"/>
                </a:solidFill>
                <a:ea typeface="楷体_GB2312" charset="0"/>
              </a:rPr>
              <a:t>// </a:t>
            </a:r>
            <a:r>
              <a:rPr lang="zh-CN" altLang="en-US" sz="2800">
                <a:solidFill>
                  <a:srgbClr val="800000"/>
                </a:solidFill>
                <a:ea typeface="楷体_GB2312" charset="0"/>
              </a:rPr>
              <a:t>置区间初值</a:t>
            </a:r>
            <a:endParaRPr lang="zh-CN" altLang="en-US" sz="3600">
              <a:solidFill>
                <a:srgbClr val="800000"/>
              </a:solidFill>
              <a:ea typeface="楷体_GB2312" charset="0"/>
            </a:endParaRPr>
          </a:p>
          <a:p>
            <a:r>
              <a:rPr lang="zh-CN" altLang="en-US" sz="3600">
                <a:solidFill>
                  <a:srgbClr val="800000"/>
                </a:solidFill>
                <a:ea typeface="楷体_GB2312" charset="0"/>
              </a:rPr>
              <a:t>   </a:t>
            </a:r>
            <a:r>
              <a:rPr lang="en-US" altLang="zh-CN" sz="3600" b="1">
                <a:solidFill>
                  <a:srgbClr val="800000"/>
                </a:solidFill>
                <a:ea typeface="楷体_GB2312" charset="0"/>
              </a:rPr>
              <a:t>while</a:t>
            </a:r>
            <a:r>
              <a:rPr lang="en-US" altLang="zh-CN" sz="3600">
                <a:solidFill>
                  <a:srgbClr val="800000"/>
                </a:solidFill>
                <a:ea typeface="楷体_GB2312" charset="0"/>
              </a:rPr>
              <a:t> (low &lt;= high) </a:t>
            </a:r>
            <a:r>
              <a:rPr lang="en-US" altLang="zh-CN" sz="3600" b="1">
                <a:solidFill>
                  <a:srgbClr val="800000"/>
                </a:solidFill>
                <a:ea typeface="楷体_GB2312" charset="0"/>
              </a:rPr>
              <a:t>{</a:t>
            </a:r>
            <a:endParaRPr lang="en-US" altLang="zh-CN" sz="3600">
              <a:solidFill>
                <a:srgbClr val="800000"/>
              </a:solidFill>
              <a:ea typeface="楷体_GB2312" charset="0"/>
            </a:endParaRPr>
          </a:p>
          <a:p>
            <a:r>
              <a:rPr lang="en-US" altLang="zh-CN" sz="3600">
                <a:solidFill>
                  <a:srgbClr val="800000"/>
                </a:solidFill>
                <a:ea typeface="楷体_GB2312" charset="0"/>
              </a:rPr>
              <a:t>      mid = (low + high) / 2;</a:t>
            </a:r>
          </a:p>
          <a:p>
            <a:r>
              <a:rPr lang="en-US" altLang="zh-CN" sz="3600">
                <a:solidFill>
                  <a:srgbClr val="800000"/>
                </a:solidFill>
                <a:ea typeface="楷体_GB2312" charset="0"/>
              </a:rPr>
              <a:t>      </a:t>
            </a:r>
            <a:r>
              <a:rPr lang="en-US" altLang="zh-CN" sz="3600" b="1">
                <a:solidFill>
                  <a:srgbClr val="CC0000"/>
                </a:solidFill>
                <a:ea typeface="楷体_GB2312" charset="0"/>
              </a:rPr>
              <a:t>if </a:t>
            </a:r>
            <a:r>
              <a:rPr lang="zh-CN" altLang="en-US" sz="3600">
                <a:solidFill>
                  <a:srgbClr val="CC0000"/>
                </a:solidFill>
                <a:ea typeface="楷体_GB2312" charset="0"/>
              </a:rPr>
              <a:t>（</a:t>
            </a:r>
            <a:r>
              <a:rPr lang="en-US" altLang="zh-CN" sz="3600">
                <a:solidFill>
                  <a:srgbClr val="CC0000"/>
                </a:solidFill>
                <a:ea typeface="楷体_GB2312" charset="0"/>
              </a:rPr>
              <a:t>EQ (key , ST.elem[mid].key) )</a:t>
            </a:r>
          </a:p>
          <a:p>
            <a:r>
              <a:rPr lang="en-US" altLang="zh-CN" sz="3600">
                <a:solidFill>
                  <a:srgbClr val="CC0000"/>
                </a:solidFill>
                <a:ea typeface="楷体_GB2312" charset="0"/>
              </a:rPr>
              <a:t>        </a:t>
            </a:r>
            <a:r>
              <a:rPr lang="en-US" altLang="zh-CN" sz="3600" b="1">
                <a:solidFill>
                  <a:srgbClr val="CC0000"/>
                </a:solidFill>
                <a:ea typeface="楷体_GB2312" charset="0"/>
              </a:rPr>
              <a:t>return </a:t>
            </a:r>
            <a:r>
              <a:rPr lang="en-US" altLang="zh-CN" sz="3600">
                <a:solidFill>
                  <a:srgbClr val="CC0000"/>
                </a:solidFill>
                <a:ea typeface="楷体_GB2312" charset="0"/>
              </a:rPr>
              <a:t> mid;        </a:t>
            </a:r>
            <a:r>
              <a:rPr lang="en-US" altLang="zh-CN" sz="2800">
                <a:solidFill>
                  <a:srgbClr val="CC0000"/>
                </a:solidFill>
                <a:ea typeface="楷体_GB2312" charset="0"/>
              </a:rPr>
              <a:t>// </a:t>
            </a:r>
            <a:r>
              <a:rPr lang="zh-CN" altLang="en-US" sz="2800">
                <a:solidFill>
                  <a:srgbClr val="CC0000"/>
                </a:solidFill>
                <a:ea typeface="楷体_GB2312" charset="0"/>
              </a:rPr>
              <a:t>找到待查元素</a:t>
            </a:r>
            <a:endParaRPr lang="zh-CN" altLang="en-US" sz="2800">
              <a:solidFill>
                <a:srgbClr val="800000"/>
              </a:solidFill>
              <a:ea typeface="楷体_GB2312" charset="0"/>
            </a:endParaRPr>
          </a:p>
          <a:p>
            <a:r>
              <a:rPr lang="zh-CN" altLang="en-US" sz="3600">
                <a:solidFill>
                  <a:srgbClr val="800000"/>
                </a:solidFill>
                <a:ea typeface="楷体_GB2312" charset="0"/>
              </a:rPr>
              <a:t>      </a:t>
            </a:r>
            <a:r>
              <a:rPr lang="en-US" altLang="zh-CN" sz="3600" b="1">
                <a:solidFill>
                  <a:srgbClr val="800000"/>
                </a:solidFill>
                <a:ea typeface="楷体_GB2312" charset="0"/>
              </a:rPr>
              <a:t>else  if</a:t>
            </a:r>
            <a:r>
              <a:rPr lang="en-US" altLang="zh-CN" sz="3600">
                <a:solidFill>
                  <a:srgbClr val="800000"/>
                </a:solidFill>
                <a:ea typeface="楷体_GB2312" charset="0"/>
              </a:rPr>
              <a:t> ( LT (key , ST.elem[mid].key) )</a:t>
            </a:r>
          </a:p>
          <a:p>
            <a:r>
              <a:rPr lang="en-US" altLang="zh-CN" sz="3600">
                <a:solidFill>
                  <a:srgbClr val="800000"/>
                </a:solidFill>
                <a:ea typeface="楷体_GB2312" charset="0"/>
              </a:rPr>
              <a:t>        </a:t>
            </a:r>
            <a:r>
              <a:rPr lang="en-US" altLang="zh-CN" sz="3600">
                <a:solidFill>
                  <a:schemeClr val="accent2"/>
                </a:solidFill>
                <a:ea typeface="楷体_GB2312" charset="0"/>
              </a:rPr>
              <a:t>high = mid - 1</a:t>
            </a:r>
            <a:r>
              <a:rPr lang="en-US" altLang="zh-CN" sz="3600">
                <a:solidFill>
                  <a:srgbClr val="800000"/>
                </a:solidFill>
                <a:ea typeface="楷体_GB2312" charset="0"/>
              </a:rPr>
              <a:t>;       </a:t>
            </a:r>
            <a:r>
              <a:rPr lang="en-US" altLang="zh-CN" sz="2800">
                <a:solidFill>
                  <a:srgbClr val="800000"/>
                </a:solidFill>
                <a:ea typeface="楷体_GB2312" charset="0"/>
              </a:rPr>
              <a:t>// </a:t>
            </a:r>
            <a:r>
              <a:rPr lang="zh-CN" altLang="en-US" sz="2800">
                <a:solidFill>
                  <a:srgbClr val="800000"/>
                </a:solidFill>
                <a:ea typeface="楷体_GB2312" charset="0"/>
              </a:rPr>
              <a:t>继续在前半区间进行查找</a:t>
            </a:r>
            <a:endParaRPr lang="zh-CN" altLang="en-US" sz="3600">
              <a:solidFill>
                <a:srgbClr val="800000"/>
              </a:solidFill>
              <a:ea typeface="楷体_GB2312" charset="0"/>
            </a:endParaRPr>
          </a:p>
          <a:p>
            <a:r>
              <a:rPr lang="zh-CN" altLang="en-US" sz="3600">
                <a:solidFill>
                  <a:srgbClr val="800000"/>
                </a:solidFill>
                <a:ea typeface="楷体_GB2312" charset="0"/>
              </a:rPr>
              <a:t>      </a:t>
            </a:r>
            <a:r>
              <a:rPr lang="en-US" altLang="zh-CN" sz="3600" b="1">
                <a:solidFill>
                  <a:srgbClr val="800000"/>
                </a:solidFill>
                <a:ea typeface="楷体_GB2312" charset="0"/>
              </a:rPr>
              <a:t>else</a:t>
            </a:r>
            <a:r>
              <a:rPr lang="en-US" altLang="zh-CN" sz="3600">
                <a:solidFill>
                  <a:srgbClr val="800000"/>
                </a:solidFill>
                <a:ea typeface="楷体_GB2312" charset="0"/>
              </a:rPr>
              <a:t>  </a:t>
            </a:r>
            <a:r>
              <a:rPr lang="en-US" altLang="zh-CN" sz="3600">
                <a:solidFill>
                  <a:srgbClr val="006600"/>
                </a:solidFill>
                <a:ea typeface="楷体_GB2312" charset="0"/>
              </a:rPr>
              <a:t>low = mid + 1</a:t>
            </a:r>
            <a:r>
              <a:rPr lang="en-US" altLang="zh-CN" sz="3600">
                <a:solidFill>
                  <a:srgbClr val="800000"/>
                </a:solidFill>
                <a:ea typeface="楷体_GB2312" charset="0"/>
              </a:rPr>
              <a:t>; /</a:t>
            </a:r>
            <a:r>
              <a:rPr lang="en-US" altLang="zh-CN" sz="2800">
                <a:solidFill>
                  <a:srgbClr val="800000"/>
                </a:solidFill>
                <a:ea typeface="楷体_GB2312" charset="0"/>
              </a:rPr>
              <a:t>/ </a:t>
            </a:r>
            <a:r>
              <a:rPr lang="zh-CN" altLang="en-US" sz="2800">
                <a:solidFill>
                  <a:srgbClr val="800000"/>
                </a:solidFill>
                <a:ea typeface="楷体_GB2312" charset="0"/>
              </a:rPr>
              <a:t>继续在后半区间进行查找</a:t>
            </a:r>
            <a:endParaRPr lang="zh-CN" altLang="en-US" sz="3600">
              <a:solidFill>
                <a:srgbClr val="800000"/>
              </a:solidFill>
              <a:ea typeface="楷体_GB2312" charset="0"/>
            </a:endParaRPr>
          </a:p>
          <a:p>
            <a:r>
              <a:rPr lang="zh-CN" altLang="en-US" sz="3600">
                <a:solidFill>
                  <a:srgbClr val="800000"/>
                </a:solidFill>
                <a:ea typeface="楷体_GB2312" charset="0"/>
              </a:rPr>
              <a:t>   </a:t>
            </a:r>
            <a:r>
              <a:rPr lang="en-US" altLang="zh-CN" sz="3600" b="1">
                <a:solidFill>
                  <a:srgbClr val="800000"/>
                </a:solidFill>
                <a:ea typeface="楷体_GB2312" charset="0"/>
              </a:rPr>
              <a:t>}</a:t>
            </a:r>
          </a:p>
          <a:p>
            <a:r>
              <a:rPr lang="en-US" altLang="zh-CN" sz="3600" b="1">
                <a:solidFill>
                  <a:srgbClr val="800000"/>
                </a:solidFill>
                <a:ea typeface="楷体_GB2312" charset="0"/>
              </a:rPr>
              <a:t>   return</a:t>
            </a:r>
            <a:r>
              <a:rPr lang="en-US" altLang="zh-CN" sz="3600">
                <a:solidFill>
                  <a:srgbClr val="800000"/>
                </a:solidFill>
                <a:ea typeface="楷体_GB2312" charset="0"/>
              </a:rPr>
              <a:t> 0;                 </a:t>
            </a:r>
            <a:r>
              <a:rPr lang="en-US" altLang="zh-CN" sz="2800">
                <a:solidFill>
                  <a:srgbClr val="800000"/>
                </a:solidFill>
                <a:ea typeface="楷体_GB2312" charset="0"/>
              </a:rPr>
              <a:t>// </a:t>
            </a:r>
            <a:r>
              <a:rPr lang="zh-CN" altLang="en-US" sz="2800">
                <a:solidFill>
                  <a:srgbClr val="800000"/>
                </a:solidFill>
                <a:ea typeface="楷体_GB2312" charset="0"/>
              </a:rPr>
              <a:t>顺序表中不存在待查元素</a:t>
            </a:r>
            <a:endParaRPr lang="zh-CN" altLang="en-US" sz="3600">
              <a:solidFill>
                <a:srgbClr val="800000"/>
              </a:solidFill>
              <a:ea typeface="楷体_GB2312" charset="0"/>
            </a:endParaRPr>
          </a:p>
          <a:p>
            <a:r>
              <a:rPr lang="en-US" altLang="zh-CN" sz="2800" b="1">
                <a:solidFill>
                  <a:srgbClr val="800000"/>
                </a:solidFill>
                <a:ea typeface="楷体_GB2312" charset="0"/>
              </a:rPr>
              <a:t>}</a:t>
            </a:r>
            <a:r>
              <a:rPr lang="en-US" altLang="zh-CN" sz="2800">
                <a:solidFill>
                  <a:srgbClr val="800000"/>
                </a:solidFill>
                <a:ea typeface="楷体_GB2312" charset="0"/>
              </a:rPr>
              <a:t> // Search_Bin</a:t>
            </a:r>
            <a:endParaRPr lang="en-US" altLang="zh-CN" sz="3600"/>
          </a:p>
        </p:txBody>
      </p:sp>
    </p:spTree>
    <p:extLst>
      <p:ext uri="{BB962C8B-B14F-4D97-AF65-F5344CB8AC3E}">
        <p14:creationId xmlns:p14="http://schemas.microsoft.com/office/powerpoint/2010/main" val="12011412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40962"/>
                                        </p:tgtEl>
                                        <p:attrNameLst>
                                          <p:attrName>style.visibility</p:attrName>
                                        </p:attrNameLst>
                                      </p:cBhvr>
                                      <p:to>
                                        <p:strVal val="visible"/>
                                      </p:to>
                                    </p:set>
                                    <p:animEffect transition="in" filter="strips(upRight)">
                                      <p:cBhvr>
                                        <p:cTn id="7" dur="500"/>
                                        <p:tgtEl>
                                          <p:spTgt spid="40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228600" y="304800"/>
            <a:ext cx="7070725"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en-US" altLang="zh-CN">
              <a:ea typeface="楷体_GB2312" charset="0"/>
            </a:endParaRPr>
          </a:p>
          <a:p>
            <a:endParaRPr lang="en-US" altLang="zh-CN">
              <a:ea typeface="楷体_GB2312" charset="0"/>
            </a:endParaRPr>
          </a:p>
          <a:p>
            <a:r>
              <a:rPr lang="zh-CN" altLang="en-US" sz="3600">
                <a:ea typeface="楷体_GB2312" charset="0"/>
              </a:rPr>
              <a:t>先看一个具体的情况，假设：</a:t>
            </a:r>
            <a:r>
              <a:rPr lang="en-US" altLang="zh-CN" sz="3600">
                <a:ea typeface="楷体_GB2312" charset="0"/>
              </a:rPr>
              <a:t>n=11</a:t>
            </a:r>
            <a:endParaRPr lang="en-US" altLang="zh-CN" sz="3600"/>
          </a:p>
        </p:txBody>
      </p:sp>
      <p:sp>
        <p:nvSpPr>
          <p:cNvPr id="41987" name="Text Box 3"/>
          <p:cNvSpPr txBox="1">
            <a:spLocks noChangeArrowheads="1"/>
          </p:cNvSpPr>
          <p:nvPr/>
        </p:nvSpPr>
        <p:spPr bwMode="auto">
          <a:xfrm>
            <a:off x="228600" y="228600"/>
            <a:ext cx="6807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a:solidFill>
                  <a:schemeClr val="accent2"/>
                </a:solidFill>
                <a:ea typeface="楷体_GB2312" charset="0"/>
              </a:rPr>
              <a:t>分析</a:t>
            </a:r>
            <a:r>
              <a:rPr lang="zh-CN" altLang="en-US" sz="4000" b="1">
                <a:solidFill>
                  <a:srgbClr val="6600CC"/>
                </a:solidFill>
                <a:ea typeface="楷体_GB2312" charset="0"/>
              </a:rPr>
              <a:t>折半查找</a:t>
            </a:r>
            <a:r>
              <a:rPr lang="zh-CN" altLang="en-US" sz="4000">
                <a:solidFill>
                  <a:schemeClr val="accent2"/>
                </a:solidFill>
                <a:ea typeface="楷体_GB2312" charset="0"/>
              </a:rPr>
              <a:t>的平均查找长度</a:t>
            </a:r>
            <a:endParaRPr lang="zh-CN" altLang="en-US">
              <a:ea typeface="楷体_GB2312" charset="0"/>
            </a:endParaRPr>
          </a:p>
        </p:txBody>
      </p:sp>
      <p:sp>
        <p:nvSpPr>
          <p:cNvPr id="42012" name="Oval 28"/>
          <p:cNvSpPr>
            <a:spLocks noChangeArrowheads="1"/>
          </p:cNvSpPr>
          <p:nvPr/>
        </p:nvSpPr>
        <p:spPr bwMode="auto">
          <a:xfrm>
            <a:off x="4267200" y="3352800"/>
            <a:ext cx="609600" cy="533400"/>
          </a:xfrm>
          <a:prstGeom prst="ellipse">
            <a:avLst/>
          </a:prstGeom>
          <a:solidFill>
            <a:srgbClr val="CCFFCC"/>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006600"/>
                </a:solidFill>
              </a:rPr>
              <a:t>6</a:t>
            </a:r>
            <a:endParaRPr lang="en-US" altLang="zh-CN"/>
          </a:p>
        </p:txBody>
      </p:sp>
      <p:sp>
        <p:nvSpPr>
          <p:cNvPr id="42014" name="Oval 30"/>
          <p:cNvSpPr>
            <a:spLocks noChangeArrowheads="1"/>
          </p:cNvSpPr>
          <p:nvPr/>
        </p:nvSpPr>
        <p:spPr bwMode="auto">
          <a:xfrm>
            <a:off x="1295400" y="3810000"/>
            <a:ext cx="609600" cy="533400"/>
          </a:xfrm>
          <a:prstGeom prst="ellipse">
            <a:avLst/>
          </a:prstGeom>
          <a:solidFill>
            <a:srgbClr val="99CC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chemeClr val="accent2"/>
                </a:solidFill>
              </a:rPr>
              <a:t>3</a:t>
            </a:r>
            <a:endParaRPr lang="en-US" altLang="zh-CN"/>
          </a:p>
        </p:txBody>
      </p:sp>
      <p:sp>
        <p:nvSpPr>
          <p:cNvPr id="42015" name="Oval 31"/>
          <p:cNvSpPr>
            <a:spLocks noChangeArrowheads="1"/>
          </p:cNvSpPr>
          <p:nvPr/>
        </p:nvSpPr>
        <p:spPr bwMode="auto">
          <a:xfrm>
            <a:off x="6400800" y="3810000"/>
            <a:ext cx="609600" cy="533400"/>
          </a:xfrm>
          <a:prstGeom prst="ellipse">
            <a:avLst/>
          </a:prstGeom>
          <a:solidFill>
            <a:srgbClr val="99CC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chemeClr val="accent2"/>
                </a:solidFill>
              </a:rPr>
              <a:t>9</a:t>
            </a:r>
            <a:endParaRPr lang="en-US" altLang="zh-CN" b="1"/>
          </a:p>
        </p:txBody>
      </p:sp>
      <p:sp>
        <p:nvSpPr>
          <p:cNvPr id="42016" name="Oval 32"/>
          <p:cNvSpPr>
            <a:spLocks noChangeArrowheads="1"/>
          </p:cNvSpPr>
          <p:nvPr/>
        </p:nvSpPr>
        <p:spPr bwMode="auto">
          <a:xfrm>
            <a:off x="381000" y="4419600"/>
            <a:ext cx="609600" cy="533400"/>
          </a:xfrm>
          <a:prstGeom prst="ellipse">
            <a:avLst/>
          </a:prstGeom>
          <a:solidFill>
            <a:srgbClr val="FF99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FF00FF"/>
                </a:solidFill>
              </a:rPr>
              <a:t>1</a:t>
            </a:r>
            <a:endParaRPr lang="en-US" altLang="zh-CN"/>
          </a:p>
        </p:txBody>
      </p:sp>
      <p:sp>
        <p:nvSpPr>
          <p:cNvPr id="42017" name="Oval 33"/>
          <p:cNvSpPr>
            <a:spLocks noChangeArrowheads="1"/>
          </p:cNvSpPr>
          <p:nvPr/>
        </p:nvSpPr>
        <p:spPr bwMode="auto">
          <a:xfrm>
            <a:off x="2286000" y="4343400"/>
            <a:ext cx="609600" cy="533400"/>
          </a:xfrm>
          <a:prstGeom prst="ellipse">
            <a:avLst/>
          </a:prstGeom>
          <a:solidFill>
            <a:srgbClr val="FF99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FF00FF"/>
                </a:solidFill>
              </a:rPr>
              <a:t>4</a:t>
            </a:r>
            <a:endParaRPr lang="en-US" altLang="zh-CN"/>
          </a:p>
        </p:txBody>
      </p:sp>
      <p:sp>
        <p:nvSpPr>
          <p:cNvPr id="42018" name="Rectangle 34"/>
          <p:cNvSpPr>
            <a:spLocks noChangeArrowheads="1"/>
          </p:cNvSpPr>
          <p:nvPr/>
        </p:nvSpPr>
        <p:spPr bwMode="auto">
          <a:xfrm>
            <a:off x="228600" y="5486400"/>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20" name="Rectangle 36"/>
          <p:cNvSpPr>
            <a:spLocks noChangeArrowheads="1"/>
          </p:cNvSpPr>
          <p:nvPr/>
        </p:nvSpPr>
        <p:spPr bwMode="auto">
          <a:xfrm>
            <a:off x="1066800" y="5943600"/>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21" name="Rectangle 37"/>
          <p:cNvSpPr>
            <a:spLocks noChangeArrowheads="1"/>
          </p:cNvSpPr>
          <p:nvPr/>
        </p:nvSpPr>
        <p:spPr bwMode="auto">
          <a:xfrm>
            <a:off x="1828800" y="5943600"/>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22" name="Rectangle 38"/>
          <p:cNvSpPr>
            <a:spLocks noChangeArrowheads="1"/>
          </p:cNvSpPr>
          <p:nvPr/>
        </p:nvSpPr>
        <p:spPr bwMode="auto">
          <a:xfrm>
            <a:off x="2362200" y="5257800"/>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23" name="Rectangle 39"/>
          <p:cNvSpPr>
            <a:spLocks noChangeArrowheads="1"/>
          </p:cNvSpPr>
          <p:nvPr/>
        </p:nvSpPr>
        <p:spPr bwMode="auto">
          <a:xfrm>
            <a:off x="3124200" y="5943600"/>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24" name="Rectangle 40"/>
          <p:cNvSpPr>
            <a:spLocks noChangeArrowheads="1"/>
          </p:cNvSpPr>
          <p:nvPr/>
        </p:nvSpPr>
        <p:spPr bwMode="auto">
          <a:xfrm>
            <a:off x="3886200" y="5943600"/>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25" name="Rectangle 41"/>
          <p:cNvSpPr>
            <a:spLocks noChangeArrowheads="1"/>
          </p:cNvSpPr>
          <p:nvPr/>
        </p:nvSpPr>
        <p:spPr bwMode="auto">
          <a:xfrm>
            <a:off x="4572000" y="5257800"/>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26" name="Rectangle 42"/>
          <p:cNvSpPr>
            <a:spLocks noChangeArrowheads="1"/>
          </p:cNvSpPr>
          <p:nvPr/>
        </p:nvSpPr>
        <p:spPr bwMode="auto">
          <a:xfrm>
            <a:off x="5410200" y="5943600"/>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27" name="Rectangle 43"/>
          <p:cNvSpPr>
            <a:spLocks noChangeArrowheads="1"/>
          </p:cNvSpPr>
          <p:nvPr/>
        </p:nvSpPr>
        <p:spPr bwMode="auto">
          <a:xfrm>
            <a:off x="6172200" y="5943600"/>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28" name="Rectangle 44"/>
          <p:cNvSpPr>
            <a:spLocks noChangeArrowheads="1"/>
          </p:cNvSpPr>
          <p:nvPr/>
        </p:nvSpPr>
        <p:spPr bwMode="auto">
          <a:xfrm>
            <a:off x="6934200" y="5257800"/>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29" name="Rectangle 45"/>
          <p:cNvSpPr>
            <a:spLocks noChangeArrowheads="1"/>
          </p:cNvSpPr>
          <p:nvPr/>
        </p:nvSpPr>
        <p:spPr bwMode="auto">
          <a:xfrm>
            <a:off x="7848600" y="5943600"/>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30" name="Rectangle 46"/>
          <p:cNvSpPr>
            <a:spLocks noChangeArrowheads="1"/>
          </p:cNvSpPr>
          <p:nvPr/>
        </p:nvSpPr>
        <p:spPr bwMode="auto">
          <a:xfrm>
            <a:off x="8534400" y="5943600"/>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31" name="Oval 47"/>
          <p:cNvSpPr>
            <a:spLocks noChangeArrowheads="1"/>
          </p:cNvSpPr>
          <p:nvPr/>
        </p:nvSpPr>
        <p:spPr bwMode="auto">
          <a:xfrm>
            <a:off x="1295400" y="5105400"/>
            <a:ext cx="609600" cy="533400"/>
          </a:xfrm>
          <a:prstGeom prst="ellipse">
            <a:avLst/>
          </a:prstGeom>
          <a:solidFill>
            <a:srgbClr val="9D9D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6600CC"/>
                </a:solidFill>
              </a:rPr>
              <a:t>2</a:t>
            </a:r>
            <a:endParaRPr lang="en-US" altLang="zh-CN"/>
          </a:p>
        </p:txBody>
      </p:sp>
      <p:sp>
        <p:nvSpPr>
          <p:cNvPr id="42032" name="Oval 48"/>
          <p:cNvSpPr>
            <a:spLocks noChangeArrowheads="1"/>
          </p:cNvSpPr>
          <p:nvPr/>
        </p:nvSpPr>
        <p:spPr bwMode="auto">
          <a:xfrm>
            <a:off x="3352800" y="5029200"/>
            <a:ext cx="609600" cy="533400"/>
          </a:xfrm>
          <a:prstGeom prst="ellipse">
            <a:avLst/>
          </a:prstGeom>
          <a:solidFill>
            <a:srgbClr val="9D9D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6600CC"/>
                </a:solidFill>
              </a:rPr>
              <a:t>5</a:t>
            </a:r>
            <a:endParaRPr lang="en-US" altLang="zh-CN"/>
          </a:p>
        </p:txBody>
      </p:sp>
      <p:sp>
        <p:nvSpPr>
          <p:cNvPr id="42033" name="Oval 49"/>
          <p:cNvSpPr>
            <a:spLocks noChangeArrowheads="1"/>
          </p:cNvSpPr>
          <p:nvPr/>
        </p:nvSpPr>
        <p:spPr bwMode="auto">
          <a:xfrm>
            <a:off x="4953000" y="4343400"/>
            <a:ext cx="609600" cy="533400"/>
          </a:xfrm>
          <a:prstGeom prst="ellipse">
            <a:avLst/>
          </a:prstGeom>
          <a:solidFill>
            <a:srgbClr val="FF99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FF00FF"/>
                </a:solidFill>
              </a:rPr>
              <a:t>7</a:t>
            </a:r>
            <a:endParaRPr lang="en-US" altLang="zh-CN"/>
          </a:p>
        </p:txBody>
      </p:sp>
      <p:sp>
        <p:nvSpPr>
          <p:cNvPr id="42034" name="Oval 50"/>
          <p:cNvSpPr>
            <a:spLocks noChangeArrowheads="1"/>
          </p:cNvSpPr>
          <p:nvPr/>
        </p:nvSpPr>
        <p:spPr bwMode="auto">
          <a:xfrm>
            <a:off x="5638800" y="5029200"/>
            <a:ext cx="609600" cy="533400"/>
          </a:xfrm>
          <a:prstGeom prst="ellipse">
            <a:avLst/>
          </a:prstGeom>
          <a:solidFill>
            <a:srgbClr val="9D9D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6600CC"/>
                </a:solidFill>
              </a:rPr>
              <a:t>8</a:t>
            </a:r>
            <a:endParaRPr lang="en-US" altLang="zh-CN"/>
          </a:p>
        </p:txBody>
      </p:sp>
      <p:sp>
        <p:nvSpPr>
          <p:cNvPr id="42035" name="Oval 51"/>
          <p:cNvSpPr>
            <a:spLocks noChangeArrowheads="1"/>
          </p:cNvSpPr>
          <p:nvPr/>
        </p:nvSpPr>
        <p:spPr bwMode="auto">
          <a:xfrm>
            <a:off x="7315200" y="4419600"/>
            <a:ext cx="609600" cy="533400"/>
          </a:xfrm>
          <a:prstGeom prst="ellipse">
            <a:avLst/>
          </a:prstGeom>
          <a:solidFill>
            <a:srgbClr val="FF99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FF00FF"/>
                </a:solidFill>
              </a:rPr>
              <a:t>10</a:t>
            </a:r>
            <a:endParaRPr lang="en-US" altLang="zh-CN"/>
          </a:p>
        </p:txBody>
      </p:sp>
      <p:sp>
        <p:nvSpPr>
          <p:cNvPr id="42036" name="Oval 52"/>
          <p:cNvSpPr>
            <a:spLocks noChangeArrowheads="1"/>
          </p:cNvSpPr>
          <p:nvPr/>
        </p:nvSpPr>
        <p:spPr bwMode="auto">
          <a:xfrm>
            <a:off x="8001000" y="5105400"/>
            <a:ext cx="609600" cy="533400"/>
          </a:xfrm>
          <a:prstGeom prst="ellipse">
            <a:avLst/>
          </a:prstGeom>
          <a:solidFill>
            <a:srgbClr val="9D9D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6600CC"/>
                </a:solidFill>
              </a:rPr>
              <a:t>11</a:t>
            </a:r>
            <a:endParaRPr lang="en-US" altLang="zh-CN"/>
          </a:p>
        </p:txBody>
      </p:sp>
      <p:sp>
        <p:nvSpPr>
          <p:cNvPr id="42037" name="Line 53"/>
          <p:cNvSpPr>
            <a:spLocks noChangeShapeType="1"/>
          </p:cNvSpPr>
          <p:nvPr/>
        </p:nvSpPr>
        <p:spPr bwMode="auto">
          <a:xfrm flipH="1">
            <a:off x="1905000" y="3657600"/>
            <a:ext cx="2286000" cy="3810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38" name="Line 54"/>
          <p:cNvSpPr>
            <a:spLocks noChangeShapeType="1"/>
          </p:cNvSpPr>
          <p:nvPr/>
        </p:nvSpPr>
        <p:spPr bwMode="auto">
          <a:xfrm>
            <a:off x="4953000" y="3657600"/>
            <a:ext cx="1524000" cy="2286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39" name="Line 55"/>
          <p:cNvSpPr>
            <a:spLocks noChangeShapeType="1"/>
          </p:cNvSpPr>
          <p:nvPr/>
        </p:nvSpPr>
        <p:spPr bwMode="auto">
          <a:xfrm flipH="1">
            <a:off x="914400" y="4267200"/>
            <a:ext cx="381000" cy="228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40" name="Line 56"/>
          <p:cNvSpPr>
            <a:spLocks noChangeShapeType="1"/>
          </p:cNvSpPr>
          <p:nvPr/>
        </p:nvSpPr>
        <p:spPr bwMode="auto">
          <a:xfrm flipH="1">
            <a:off x="381000" y="4953000"/>
            <a:ext cx="152400" cy="5334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42" name="Line 58"/>
          <p:cNvSpPr>
            <a:spLocks noChangeShapeType="1"/>
          </p:cNvSpPr>
          <p:nvPr/>
        </p:nvSpPr>
        <p:spPr bwMode="auto">
          <a:xfrm>
            <a:off x="990600" y="4800600"/>
            <a:ext cx="381000" cy="3810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43" name="Line 59"/>
          <p:cNvSpPr>
            <a:spLocks noChangeShapeType="1"/>
          </p:cNvSpPr>
          <p:nvPr/>
        </p:nvSpPr>
        <p:spPr bwMode="auto">
          <a:xfrm flipH="1">
            <a:off x="1219200" y="5562600"/>
            <a:ext cx="152400" cy="3810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44" name="Line 60"/>
          <p:cNvSpPr>
            <a:spLocks noChangeShapeType="1"/>
          </p:cNvSpPr>
          <p:nvPr/>
        </p:nvSpPr>
        <p:spPr bwMode="auto">
          <a:xfrm>
            <a:off x="1828800" y="5562600"/>
            <a:ext cx="152400" cy="3810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45" name="Line 61"/>
          <p:cNvSpPr>
            <a:spLocks noChangeShapeType="1"/>
          </p:cNvSpPr>
          <p:nvPr/>
        </p:nvSpPr>
        <p:spPr bwMode="auto">
          <a:xfrm>
            <a:off x="1828800" y="4267200"/>
            <a:ext cx="457200" cy="1524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46" name="Line 62"/>
          <p:cNvSpPr>
            <a:spLocks noChangeShapeType="1"/>
          </p:cNvSpPr>
          <p:nvPr/>
        </p:nvSpPr>
        <p:spPr bwMode="auto">
          <a:xfrm>
            <a:off x="2514600" y="4876800"/>
            <a:ext cx="0" cy="3810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47" name="Line 63"/>
          <p:cNvSpPr>
            <a:spLocks noChangeShapeType="1"/>
          </p:cNvSpPr>
          <p:nvPr/>
        </p:nvSpPr>
        <p:spPr bwMode="auto">
          <a:xfrm>
            <a:off x="3810000" y="5486400"/>
            <a:ext cx="228600" cy="4572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48" name="Line 64"/>
          <p:cNvSpPr>
            <a:spLocks noChangeShapeType="1"/>
          </p:cNvSpPr>
          <p:nvPr/>
        </p:nvSpPr>
        <p:spPr bwMode="auto">
          <a:xfrm>
            <a:off x="2895600" y="4724400"/>
            <a:ext cx="533400" cy="3810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49" name="Line 65"/>
          <p:cNvSpPr>
            <a:spLocks noChangeShapeType="1"/>
          </p:cNvSpPr>
          <p:nvPr/>
        </p:nvSpPr>
        <p:spPr bwMode="auto">
          <a:xfrm flipH="1">
            <a:off x="3276600" y="5486400"/>
            <a:ext cx="152400" cy="4572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51" name="Line 67"/>
          <p:cNvSpPr>
            <a:spLocks noChangeShapeType="1"/>
          </p:cNvSpPr>
          <p:nvPr/>
        </p:nvSpPr>
        <p:spPr bwMode="auto">
          <a:xfrm flipH="1">
            <a:off x="5486400" y="4038600"/>
            <a:ext cx="914400" cy="4572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52" name="Line 68"/>
          <p:cNvSpPr>
            <a:spLocks noChangeShapeType="1"/>
          </p:cNvSpPr>
          <p:nvPr/>
        </p:nvSpPr>
        <p:spPr bwMode="auto">
          <a:xfrm flipH="1">
            <a:off x="4724400" y="4800600"/>
            <a:ext cx="304800" cy="4572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53" name="Line 69"/>
          <p:cNvSpPr>
            <a:spLocks noChangeShapeType="1"/>
          </p:cNvSpPr>
          <p:nvPr/>
        </p:nvSpPr>
        <p:spPr bwMode="auto">
          <a:xfrm>
            <a:off x="5486400" y="4800600"/>
            <a:ext cx="304800" cy="228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54" name="Line 70"/>
          <p:cNvSpPr>
            <a:spLocks noChangeShapeType="1"/>
          </p:cNvSpPr>
          <p:nvPr/>
        </p:nvSpPr>
        <p:spPr bwMode="auto">
          <a:xfrm flipH="1">
            <a:off x="5638800" y="5562600"/>
            <a:ext cx="152400" cy="3810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56" name="Line 72"/>
          <p:cNvSpPr>
            <a:spLocks noChangeShapeType="1"/>
          </p:cNvSpPr>
          <p:nvPr/>
        </p:nvSpPr>
        <p:spPr bwMode="auto">
          <a:xfrm>
            <a:off x="6096000" y="5562600"/>
            <a:ext cx="228600" cy="3810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57" name="Line 73"/>
          <p:cNvSpPr>
            <a:spLocks noChangeShapeType="1"/>
          </p:cNvSpPr>
          <p:nvPr/>
        </p:nvSpPr>
        <p:spPr bwMode="auto">
          <a:xfrm>
            <a:off x="7010400" y="4114800"/>
            <a:ext cx="533400" cy="304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58" name="Line 74"/>
          <p:cNvSpPr>
            <a:spLocks noChangeShapeType="1"/>
          </p:cNvSpPr>
          <p:nvPr/>
        </p:nvSpPr>
        <p:spPr bwMode="auto">
          <a:xfrm flipH="1">
            <a:off x="7086600" y="4876800"/>
            <a:ext cx="304800" cy="3810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59" name="Line 75"/>
          <p:cNvSpPr>
            <a:spLocks noChangeShapeType="1"/>
          </p:cNvSpPr>
          <p:nvPr/>
        </p:nvSpPr>
        <p:spPr bwMode="auto">
          <a:xfrm>
            <a:off x="7924800" y="4800600"/>
            <a:ext cx="304800" cy="304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60" name="Line 76"/>
          <p:cNvSpPr>
            <a:spLocks noChangeShapeType="1"/>
          </p:cNvSpPr>
          <p:nvPr/>
        </p:nvSpPr>
        <p:spPr bwMode="auto">
          <a:xfrm flipH="1">
            <a:off x="8001000" y="5638800"/>
            <a:ext cx="152400" cy="304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61" name="Line 77"/>
          <p:cNvSpPr>
            <a:spLocks noChangeShapeType="1"/>
          </p:cNvSpPr>
          <p:nvPr/>
        </p:nvSpPr>
        <p:spPr bwMode="auto">
          <a:xfrm>
            <a:off x="8458200" y="5638800"/>
            <a:ext cx="152400" cy="304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2062" name="Text Box 78"/>
          <p:cNvSpPr txBox="1">
            <a:spLocks noChangeArrowheads="1"/>
          </p:cNvSpPr>
          <p:nvPr/>
        </p:nvSpPr>
        <p:spPr bwMode="auto">
          <a:xfrm>
            <a:off x="228600" y="3124200"/>
            <a:ext cx="1555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00006C"/>
                </a:solidFill>
                <a:ea typeface="隶书" charset="0"/>
              </a:rPr>
              <a:t>判定树</a:t>
            </a:r>
            <a:endParaRPr lang="zh-CN" altLang="en-US" sz="3600">
              <a:ea typeface="隶书" charset="0"/>
            </a:endParaRPr>
          </a:p>
        </p:txBody>
      </p:sp>
      <p:graphicFrame>
        <p:nvGraphicFramePr>
          <p:cNvPr id="42063" name="Object 79"/>
          <p:cNvGraphicFramePr>
            <a:graphicFrameLocks noChangeAspect="1"/>
          </p:cNvGraphicFramePr>
          <p:nvPr/>
        </p:nvGraphicFramePr>
        <p:xfrm>
          <a:off x="414338" y="1785938"/>
          <a:ext cx="8505825" cy="1266825"/>
        </p:xfrm>
        <a:graphic>
          <a:graphicData uri="http://schemas.openxmlformats.org/presentationml/2006/ole">
            <mc:AlternateContent xmlns:mc="http://schemas.openxmlformats.org/markup-compatibility/2006">
              <mc:Choice xmlns:v="urn:schemas-microsoft-com:vml" Requires="v">
                <p:oleObj spid="_x0000_s1309698" name="文档" r:id="rId3" imgW="8503920" imgH="1267920" progId="Word.Document.8">
                  <p:embed/>
                </p:oleObj>
              </mc:Choice>
              <mc:Fallback>
                <p:oleObj name="文档" r:id="rId3" imgW="8503920" imgH="126792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338" y="1785938"/>
                        <a:ext cx="8505825" cy="1266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42064" name="Text Box 80"/>
          <p:cNvSpPr txBox="1">
            <a:spLocks noChangeArrowheads="1"/>
          </p:cNvSpPr>
          <p:nvPr/>
        </p:nvSpPr>
        <p:spPr bwMode="auto">
          <a:xfrm>
            <a:off x="4692650" y="22542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chemeClr val="accent1"/>
                </a:solidFill>
              </a:rPr>
              <a:t>1</a:t>
            </a:r>
            <a:endParaRPr lang="en-US" altLang="zh-CN"/>
          </a:p>
        </p:txBody>
      </p:sp>
      <p:sp>
        <p:nvSpPr>
          <p:cNvPr id="42065" name="Text Box 81"/>
          <p:cNvSpPr txBox="1">
            <a:spLocks noChangeArrowheads="1"/>
          </p:cNvSpPr>
          <p:nvPr/>
        </p:nvSpPr>
        <p:spPr bwMode="auto">
          <a:xfrm>
            <a:off x="2635250" y="22542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chemeClr val="accent2"/>
                </a:solidFill>
              </a:rPr>
              <a:t>2</a:t>
            </a:r>
            <a:endParaRPr lang="en-US" altLang="zh-CN"/>
          </a:p>
        </p:txBody>
      </p:sp>
      <p:sp>
        <p:nvSpPr>
          <p:cNvPr id="42066" name="Text Box 82"/>
          <p:cNvSpPr txBox="1">
            <a:spLocks noChangeArrowheads="1"/>
          </p:cNvSpPr>
          <p:nvPr/>
        </p:nvSpPr>
        <p:spPr bwMode="auto">
          <a:xfrm>
            <a:off x="6781800" y="22542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chemeClr val="accent2"/>
                </a:solidFill>
              </a:rPr>
              <a:t>2</a:t>
            </a:r>
            <a:endParaRPr lang="en-US" altLang="zh-CN"/>
          </a:p>
        </p:txBody>
      </p:sp>
      <p:sp>
        <p:nvSpPr>
          <p:cNvPr id="42067" name="Text Box 83"/>
          <p:cNvSpPr txBox="1">
            <a:spLocks noChangeArrowheads="1"/>
          </p:cNvSpPr>
          <p:nvPr/>
        </p:nvSpPr>
        <p:spPr bwMode="auto">
          <a:xfrm>
            <a:off x="1263650" y="22542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FF00FF"/>
                </a:solidFill>
              </a:rPr>
              <a:t>3</a:t>
            </a:r>
            <a:endParaRPr lang="en-US" altLang="zh-CN"/>
          </a:p>
        </p:txBody>
      </p:sp>
      <p:sp>
        <p:nvSpPr>
          <p:cNvPr id="42068" name="Text Box 84"/>
          <p:cNvSpPr txBox="1">
            <a:spLocks noChangeArrowheads="1"/>
          </p:cNvSpPr>
          <p:nvPr/>
        </p:nvSpPr>
        <p:spPr bwMode="auto">
          <a:xfrm>
            <a:off x="3321050" y="22542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FF00FF"/>
                </a:solidFill>
              </a:rPr>
              <a:t>3</a:t>
            </a:r>
            <a:endParaRPr lang="en-US" altLang="zh-CN"/>
          </a:p>
        </p:txBody>
      </p:sp>
      <p:sp>
        <p:nvSpPr>
          <p:cNvPr id="42069" name="Text Box 85"/>
          <p:cNvSpPr txBox="1">
            <a:spLocks noChangeArrowheads="1"/>
          </p:cNvSpPr>
          <p:nvPr/>
        </p:nvSpPr>
        <p:spPr bwMode="auto">
          <a:xfrm>
            <a:off x="5410200" y="22542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FF00FF"/>
                </a:solidFill>
              </a:rPr>
              <a:t>3</a:t>
            </a:r>
            <a:endParaRPr lang="en-US" altLang="zh-CN"/>
          </a:p>
        </p:txBody>
      </p:sp>
      <p:sp>
        <p:nvSpPr>
          <p:cNvPr id="42070" name="Text Box 86"/>
          <p:cNvSpPr txBox="1">
            <a:spLocks noChangeArrowheads="1"/>
          </p:cNvSpPr>
          <p:nvPr/>
        </p:nvSpPr>
        <p:spPr bwMode="auto">
          <a:xfrm>
            <a:off x="7467600" y="22542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FF00FF"/>
                </a:solidFill>
              </a:rPr>
              <a:t>3</a:t>
            </a:r>
            <a:endParaRPr lang="en-US" altLang="zh-CN"/>
          </a:p>
        </p:txBody>
      </p:sp>
      <p:sp>
        <p:nvSpPr>
          <p:cNvPr id="42071" name="Text Box 87"/>
          <p:cNvSpPr txBox="1">
            <a:spLocks noChangeArrowheads="1"/>
          </p:cNvSpPr>
          <p:nvPr/>
        </p:nvSpPr>
        <p:spPr bwMode="auto">
          <a:xfrm>
            <a:off x="1965325" y="22542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9D9DFF"/>
                </a:solidFill>
              </a:rPr>
              <a:t>4</a:t>
            </a:r>
            <a:endParaRPr lang="en-US" altLang="zh-CN"/>
          </a:p>
        </p:txBody>
      </p:sp>
      <p:sp>
        <p:nvSpPr>
          <p:cNvPr id="42072" name="Text Box 88"/>
          <p:cNvSpPr txBox="1">
            <a:spLocks noChangeArrowheads="1"/>
          </p:cNvSpPr>
          <p:nvPr/>
        </p:nvSpPr>
        <p:spPr bwMode="auto">
          <a:xfrm>
            <a:off x="4006850" y="22542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9D9DFF"/>
                </a:solidFill>
              </a:rPr>
              <a:t>4</a:t>
            </a:r>
            <a:endParaRPr lang="en-US" altLang="zh-CN"/>
          </a:p>
        </p:txBody>
      </p:sp>
      <p:sp>
        <p:nvSpPr>
          <p:cNvPr id="42073" name="Text Box 89"/>
          <p:cNvSpPr txBox="1">
            <a:spLocks noChangeArrowheads="1"/>
          </p:cNvSpPr>
          <p:nvPr/>
        </p:nvSpPr>
        <p:spPr bwMode="auto">
          <a:xfrm>
            <a:off x="6080125" y="22542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9D9DFF"/>
                </a:solidFill>
              </a:rPr>
              <a:t>4</a:t>
            </a:r>
            <a:endParaRPr lang="en-US" altLang="zh-CN"/>
          </a:p>
        </p:txBody>
      </p:sp>
      <p:sp>
        <p:nvSpPr>
          <p:cNvPr id="42074" name="Text Box 90"/>
          <p:cNvSpPr txBox="1">
            <a:spLocks noChangeArrowheads="1"/>
          </p:cNvSpPr>
          <p:nvPr/>
        </p:nvSpPr>
        <p:spPr bwMode="auto">
          <a:xfrm>
            <a:off x="8137525" y="22542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9D9DFF"/>
                </a:solidFill>
              </a:rPr>
              <a:t>4</a:t>
            </a:r>
            <a:endParaRPr lang="en-US" altLang="zh-CN"/>
          </a:p>
        </p:txBody>
      </p:sp>
    </p:spTree>
    <p:extLst>
      <p:ext uri="{BB962C8B-B14F-4D97-AF65-F5344CB8AC3E}">
        <p14:creationId xmlns:p14="http://schemas.microsoft.com/office/powerpoint/2010/main" val="14360122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1987"/>
                                        </p:tgtEl>
                                        <p:attrNameLst>
                                          <p:attrName>style.visibility</p:attrName>
                                        </p:attrNameLst>
                                      </p:cBhvr>
                                      <p:to>
                                        <p:strVal val="visible"/>
                                      </p:to>
                                    </p:set>
                                    <p:anim calcmode="lin" valueType="num">
                                      <p:cBhvr additive="base">
                                        <p:cTn id="7" dur="500" fill="hold"/>
                                        <p:tgtEl>
                                          <p:spTgt spid="41987"/>
                                        </p:tgtEl>
                                        <p:attrNameLst>
                                          <p:attrName>ppt_x</p:attrName>
                                        </p:attrNameLst>
                                      </p:cBhvr>
                                      <p:tavLst>
                                        <p:tav tm="0">
                                          <p:val>
                                            <p:strVal val="0-#ppt_w/2"/>
                                          </p:val>
                                        </p:tav>
                                        <p:tav tm="100000">
                                          <p:val>
                                            <p:strVal val="#ppt_x"/>
                                          </p:val>
                                        </p:tav>
                                      </p:tavLst>
                                    </p:anim>
                                    <p:anim calcmode="lin" valueType="num">
                                      <p:cBhvr additive="base">
                                        <p:cTn id="8" dur="500" fill="hold"/>
                                        <p:tgtEl>
                                          <p:spTgt spid="4198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1986"/>
                                        </p:tgtEl>
                                        <p:attrNameLst>
                                          <p:attrName>style.visibility</p:attrName>
                                        </p:attrNameLst>
                                      </p:cBhvr>
                                      <p:to>
                                        <p:strVal val="visible"/>
                                      </p:to>
                                    </p:set>
                                    <p:animEffect transition="in" filter="blinds(horizontal)">
                                      <p:cBhvr>
                                        <p:cTn id="13" dur="500"/>
                                        <p:tgtEl>
                                          <p:spTgt spid="4198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42063"/>
                                        </p:tgtEl>
                                        <p:attrNameLst>
                                          <p:attrName>style.visibility</p:attrName>
                                        </p:attrNameLst>
                                      </p:cBhvr>
                                      <p:to>
                                        <p:strVal val="visible"/>
                                      </p:to>
                                    </p:set>
                                    <p:animEffect transition="in" filter="dissolve">
                                      <p:cBhvr>
                                        <p:cTn id="18" dur="500"/>
                                        <p:tgtEl>
                                          <p:spTgt spid="4206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206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206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206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4206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4206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4206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4207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42071"/>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42072"/>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42073"/>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4207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42012"/>
                                        </p:tgtEl>
                                        <p:attrNameLst>
                                          <p:attrName>style.visibility</p:attrName>
                                        </p:attrNameLst>
                                      </p:cBhvr>
                                      <p:to>
                                        <p:strVal val="visible"/>
                                      </p:to>
                                    </p:set>
                                  </p:childTnLst>
                                </p:cTn>
                              </p:par>
                            </p:childTnLst>
                          </p:cTn>
                        </p:par>
                        <p:par>
                          <p:cTn id="67" fill="hold" nodeType="afterGroup">
                            <p:stCondLst>
                              <p:cond delay="500"/>
                            </p:stCondLst>
                            <p:childTnLst>
                              <p:par>
                                <p:cTn id="68" presetID="1" presetClass="entr" presetSubtype="0" fill="hold" grpId="0" nodeType="afterEffect">
                                  <p:stCondLst>
                                    <p:cond delay="0"/>
                                  </p:stCondLst>
                                  <p:childTnLst>
                                    <p:set>
                                      <p:cBhvr>
                                        <p:cTn id="69" dur="1" fill="hold">
                                          <p:stCondLst>
                                            <p:cond delay="499"/>
                                          </p:stCondLst>
                                        </p:cTn>
                                        <p:tgtEl>
                                          <p:spTgt spid="42037"/>
                                        </p:tgtEl>
                                        <p:attrNameLst>
                                          <p:attrName>style.visibility</p:attrName>
                                        </p:attrNameLst>
                                      </p:cBhvr>
                                      <p:to>
                                        <p:strVal val="visible"/>
                                      </p:to>
                                    </p:set>
                                  </p:childTnLst>
                                </p:cTn>
                              </p:par>
                            </p:childTnLst>
                          </p:cTn>
                        </p:par>
                        <p:par>
                          <p:cTn id="70" fill="hold" nodeType="afterGroup">
                            <p:stCondLst>
                              <p:cond delay="1000"/>
                            </p:stCondLst>
                            <p:childTnLst>
                              <p:par>
                                <p:cTn id="71" presetID="1" presetClass="entr" presetSubtype="0" fill="hold" grpId="0" nodeType="afterEffect">
                                  <p:stCondLst>
                                    <p:cond delay="0"/>
                                  </p:stCondLst>
                                  <p:childTnLst>
                                    <p:set>
                                      <p:cBhvr>
                                        <p:cTn id="72" dur="1" fill="hold">
                                          <p:stCondLst>
                                            <p:cond delay="499"/>
                                          </p:stCondLst>
                                        </p:cTn>
                                        <p:tgtEl>
                                          <p:spTgt spid="42014"/>
                                        </p:tgtEl>
                                        <p:attrNameLst>
                                          <p:attrName>style.visibility</p:attrName>
                                        </p:attrNameLst>
                                      </p:cBhvr>
                                      <p:to>
                                        <p:strVal val="visible"/>
                                      </p:to>
                                    </p:set>
                                  </p:childTnLst>
                                </p:cTn>
                              </p:par>
                            </p:childTnLst>
                          </p:cTn>
                        </p:par>
                        <p:par>
                          <p:cTn id="73" fill="hold" nodeType="afterGroup">
                            <p:stCondLst>
                              <p:cond delay="1500"/>
                            </p:stCondLst>
                            <p:childTnLst>
                              <p:par>
                                <p:cTn id="74" presetID="1" presetClass="entr" presetSubtype="0" fill="hold" grpId="0" nodeType="afterEffect">
                                  <p:stCondLst>
                                    <p:cond delay="0"/>
                                  </p:stCondLst>
                                  <p:childTnLst>
                                    <p:set>
                                      <p:cBhvr>
                                        <p:cTn id="75" dur="1" fill="hold">
                                          <p:stCondLst>
                                            <p:cond delay="499"/>
                                          </p:stCondLst>
                                        </p:cTn>
                                        <p:tgtEl>
                                          <p:spTgt spid="42038"/>
                                        </p:tgtEl>
                                        <p:attrNameLst>
                                          <p:attrName>style.visibility</p:attrName>
                                        </p:attrNameLst>
                                      </p:cBhvr>
                                      <p:to>
                                        <p:strVal val="visible"/>
                                      </p:to>
                                    </p:set>
                                  </p:childTnLst>
                                </p:cTn>
                              </p:par>
                            </p:childTnLst>
                          </p:cTn>
                        </p:par>
                        <p:par>
                          <p:cTn id="76" fill="hold" nodeType="afterGroup">
                            <p:stCondLst>
                              <p:cond delay="2000"/>
                            </p:stCondLst>
                            <p:childTnLst>
                              <p:par>
                                <p:cTn id="77" presetID="1" presetClass="entr" presetSubtype="0" fill="hold" grpId="0" nodeType="afterEffect">
                                  <p:stCondLst>
                                    <p:cond delay="0"/>
                                  </p:stCondLst>
                                  <p:childTnLst>
                                    <p:set>
                                      <p:cBhvr>
                                        <p:cTn id="78" dur="1" fill="hold">
                                          <p:stCondLst>
                                            <p:cond delay="499"/>
                                          </p:stCondLst>
                                        </p:cTn>
                                        <p:tgtEl>
                                          <p:spTgt spid="42015"/>
                                        </p:tgtEl>
                                        <p:attrNameLst>
                                          <p:attrName>style.visibility</p:attrName>
                                        </p:attrNameLst>
                                      </p:cBhvr>
                                      <p:to>
                                        <p:strVal val="visible"/>
                                      </p:to>
                                    </p:set>
                                  </p:childTnLst>
                                </p:cTn>
                              </p:par>
                            </p:childTnLst>
                          </p:cTn>
                        </p:par>
                        <p:par>
                          <p:cTn id="79" fill="hold" nodeType="afterGroup">
                            <p:stCondLst>
                              <p:cond delay="2500"/>
                            </p:stCondLst>
                            <p:childTnLst>
                              <p:par>
                                <p:cTn id="80" presetID="1" presetClass="entr" presetSubtype="0" fill="hold" grpId="0" nodeType="afterEffect">
                                  <p:stCondLst>
                                    <p:cond delay="0"/>
                                  </p:stCondLst>
                                  <p:childTnLst>
                                    <p:set>
                                      <p:cBhvr>
                                        <p:cTn id="81" dur="1" fill="hold">
                                          <p:stCondLst>
                                            <p:cond delay="499"/>
                                          </p:stCondLst>
                                        </p:cTn>
                                        <p:tgtEl>
                                          <p:spTgt spid="42039"/>
                                        </p:tgtEl>
                                        <p:attrNameLst>
                                          <p:attrName>style.visibility</p:attrName>
                                        </p:attrNameLst>
                                      </p:cBhvr>
                                      <p:to>
                                        <p:strVal val="visible"/>
                                      </p:to>
                                    </p:set>
                                  </p:childTnLst>
                                </p:cTn>
                              </p:par>
                            </p:childTnLst>
                          </p:cTn>
                        </p:par>
                        <p:par>
                          <p:cTn id="82" fill="hold" nodeType="afterGroup">
                            <p:stCondLst>
                              <p:cond delay="3000"/>
                            </p:stCondLst>
                            <p:childTnLst>
                              <p:par>
                                <p:cTn id="83" presetID="1" presetClass="entr" presetSubtype="0" fill="hold" grpId="0" nodeType="afterEffect">
                                  <p:stCondLst>
                                    <p:cond delay="0"/>
                                  </p:stCondLst>
                                  <p:childTnLst>
                                    <p:set>
                                      <p:cBhvr>
                                        <p:cTn id="84" dur="1" fill="hold">
                                          <p:stCondLst>
                                            <p:cond delay="499"/>
                                          </p:stCondLst>
                                        </p:cTn>
                                        <p:tgtEl>
                                          <p:spTgt spid="42016"/>
                                        </p:tgtEl>
                                        <p:attrNameLst>
                                          <p:attrName>style.visibility</p:attrName>
                                        </p:attrNameLst>
                                      </p:cBhvr>
                                      <p:to>
                                        <p:strVal val="visible"/>
                                      </p:to>
                                    </p:set>
                                  </p:childTnLst>
                                </p:cTn>
                              </p:par>
                            </p:childTnLst>
                          </p:cTn>
                        </p:par>
                        <p:par>
                          <p:cTn id="85" fill="hold" nodeType="afterGroup">
                            <p:stCondLst>
                              <p:cond delay="3500"/>
                            </p:stCondLst>
                            <p:childTnLst>
                              <p:par>
                                <p:cTn id="86" presetID="1" presetClass="entr" presetSubtype="0" fill="hold" grpId="0" nodeType="afterEffect">
                                  <p:stCondLst>
                                    <p:cond delay="0"/>
                                  </p:stCondLst>
                                  <p:childTnLst>
                                    <p:set>
                                      <p:cBhvr>
                                        <p:cTn id="87" dur="1" fill="hold">
                                          <p:stCondLst>
                                            <p:cond delay="499"/>
                                          </p:stCondLst>
                                        </p:cTn>
                                        <p:tgtEl>
                                          <p:spTgt spid="42045"/>
                                        </p:tgtEl>
                                        <p:attrNameLst>
                                          <p:attrName>style.visibility</p:attrName>
                                        </p:attrNameLst>
                                      </p:cBhvr>
                                      <p:to>
                                        <p:strVal val="visible"/>
                                      </p:to>
                                    </p:set>
                                  </p:childTnLst>
                                </p:cTn>
                              </p:par>
                            </p:childTnLst>
                          </p:cTn>
                        </p:par>
                        <p:par>
                          <p:cTn id="88" fill="hold" nodeType="afterGroup">
                            <p:stCondLst>
                              <p:cond delay="4000"/>
                            </p:stCondLst>
                            <p:childTnLst>
                              <p:par>
                                <p:cTn id="89" presetID="1" presetClass="entr" presetSubtype="0" fill="hold" grpId="0" nodeType="afterEffect">
                                  <p:stCondLst>
                                    <p:cond delay="0"/>
                                  </p:stCondLst>
                                  <p:childTnLst>
                                    <p:set>
                                      <p:cBhvr>
                                        <p:cTn id="90" dur="1" fill="hold">
                                          <p:stCondLst>
                                            <p:cond delay="499"/>
                                          </p:stCondLst>
                                        </p:cTn>
                                        <p:tgtEl>
                                          <p:spTgt spid="42017"/>
                                        </p:tgtEl>
                                        <p:attrNameLst>
                                          <p:attrName>style.visibility</p:attrName>
                                        </p:attrNameLst>
                                      </p:cBhvr>
                                      <p:to>
                                        <p:strVal val="visible"/>
                                      </p:to>
                                    </p:set>
                                  </p:childTnLst>
                                </p:cTn>
                              </p:par>
                            </p:childTnLst>
                          </p:cTn>
                        </p:par>
                        <p:par>
                          <p:cTn id="91" fill="hold" nodeType="afterGroup">
                            <p:stCondLst>
                              <p:cond delay="4500"/>
                            </p:stCondLst>
                            <p:childTnLst>
                              <p:par>
                                <p:cTn id="92" presetID="1" presetClass="entr" presetSubtype="0" fill="hold" grpId="0" nodeType="afterEffect">
                                  <p:stCondLst>
                                    <p:cond delay="0"/>
                                  </p:stCondLst>
                                  <p:childTnLst>
                                    <p:set>
                                      <p:cBhvr>
                                        <p:cTn id="93" dur="1" fill="hold">
                                          <p:stCondLst>
                                            <p:cond delay="499"/>
                                          </p:stCondLst>
                                        </p:cTn>
                                        <p:tgtEl>
                                          <p:spTgt spid="42051"/>
                                        </p:tgtEl>
                                        <p:attrNameLst>
                                          <p:attrName>style.visibility</p:attrName>
                                        </p:attrNameLst>
                                      </p:cBhvr>
                                      <p:to>
                                        <p:strVal val="visible"/>
                                      </p:to>
                                    </p:set>
                                  </p:childTnLst>
                                </p:cTn>
                              </p:par>
                            </p:childTnLst>
                          </p:cTn>
                        </p:par>
                        <p:par>
                          <p:cTn id="94" fill="hold" nodeType="afterGroup">
                            <p:stCondLst>
                              <p:cond delay="5000"/>
                            </p:stCondLst>
                            <p:childTnLst>
                              <p:par>
                                <p:cTn id="95" presetID="1" presetClass="entr" presetSubtype="0" fill="hold" grpId="0" nodeType="afterEffect">
                                  <p:stCondLst>
                                    <p:cond delay="0"/>
                                  </p:stCondLst>
                                  <p:childTnLst>
                                    <p:set>
                                      <p:cBhvr>
                                        <p:cTn id="96" dur="1" fill="hold">
                                          <p:stCondLst>
                                            <p:cond delay="499"/>
                                          </p:stCondLst>
                                        </p:cTn>
                                        <p:tgtEl>
                                          <p:spTgt spid="42033"/>
                                        </p:tgtEl>
                                        <p:attrNameLst>
                                          <p:attrName>style.visibility</p:attrName>
                                        </p:attrNameLst>
                                      </p:cBhvr>
                                      <p:to>
                                        <p:strVal val="visible"/>
                                      </p:to>
                                    </p:set>
                                  </p:childTnLst>
                                </p:cTn>
                              </p:par>
                            </p:childTnLst>
                          </p:cTn>
                        </p:par>
                        <p:par>
                          <p:cTn id="97" fill="hold" nodeType="afterGroup">
                            <p:stCondLst>
                              <p:cond delay="5500"/>
                            </p:stCondLst>
                            <p:childTnLst>
                              <p:par>
                                <p:cTn id="98" presetID="1" presetClass="entr" presetSubtype="0" fill="hold" grpId="0" nodeType="afterEffect">
                                  <p:stCondLst>
                                    <p:cond delay="0"/>
                                  </p:stCondLst>
                                  <p:childTnLst>
                                    <p:set>
                                      <p:cBhvr>
                                        <p:cTn id="99" dur="1" fill="hold">
                                          <p:stCondLst>
                                            <p:cond delay="499"/>
                                          </p:stCondLst>
                                        </p:cTn>
                                        <p:tgtEl>
                                          <p:spTgt spid="42057"/>
                                        </p:tgtEl>
                                        <p:attrNameLst>
                                          <p:attrName>style.visibility</p:attrName>
                                        </p:attrNameLst>
                                      </p:cBhvr>
                                      <p:to>
                                        <p:strVal val="visible"/>
                                      </p:to>
                                    </p:set>
                                  </p:childTnLst>
                                </p:cTn>
                              </p:par>
                            </p:childTnLst>
                          </p:cTn>
                        </p:par>
                        <p:par>
                          <p:cTn id="100" fill="hold" nodeType="afterGroup">
                            <p:stCondLst>
                              <p:cond delay="6000"/>
                            </p:stCondLst>
                            <p:childTnLst>
                              <p:par>
                                <p:cTn id="101" presetID="1" presetClass="entr" presetSubtype="0" fill="hold" grpId="0" nodeType="afterEffect">
                                  <p:stCondLst>
                                    <p:cond delay="0"/>
                                  </p:stCondLst>
                                  <p:childTnLst>
                                    <p:set>
                                      <p:cBhvr>
                                        <p:cTn id="102" dur="1" fill="hold">
                                          <p:stCondLst>
                                            <p:cond delay="499"/>
                                          </p:stCondLst>
                                        </p:cTn>
                                        <p:tgtEl>
                                          <p:spTgt spid="42035"/>
                                        </p:tgtEl>
                                        <p:attrNameLst>
                                          <p:attrName>style.visibility</p:attrName>
                                        </p:attrNameLst>
                                      </p:cBhvr>
                                      <p:to>
                                        <p:strVal val="visible"/>
                                      </p:to>
                                    </p:set>
                                  </p:childTnLst>
                                </p:cTn>
                              </p:par>
                            </p:childTnLst>
                          </p:cTn>
                        </p:par>
                        <p:par>
                          <p:cTn id="103" fill="hold" nodeType="afterGroup">
                            <p:stCondLst>
                              <p:cond delay="6500"/>
                            </p:stCondLst>
                            <p:childTnLst>
                              <p:par>
                                <p:cTn id="104" presetID="1" presetClass="entr" presetSubtype="0" fill="hold" grpId="0" nodeType="afterEffect">
                                  <p:stCondLst>
                                    <p:cond delay="0"/>
                                  </p:stCondLst>
                                  <p:childTnLst>
                                    <p:set>
                                      <p:cBhvr>
                                        <p:cTn id="105" dur="1" fill="hold">
                                          <p:stCondLst>
                                            <p:cond delay="499"/>
                                          </p:stCondLst>
                                        </p:cTn>
                                        <p:tgtEl>
                                          <p:spTgt spid="42040"/>
                                        </p:tgtEl>
                                        <p:attrNameLst>
                                          <p:attrName>style.visibility</p:attrName>
                                        </p:attrNameLst>
                                      </p:cBhvr>
                                      <p:to>
                                        <p:strVal val="visible"/>
                                      </p:to>
                                    </p:set>
                                  </p:childTnLst>
                                </p:cTn>
                              </p:par>
                            </p:childTnLst>
                          </p:cTn>
                        </p:par>
                        <p:par>
                          <p:cTn id="106" fill="hold" nodeType="afterGroup">
                            <p:stCondLst>
                              <p:cond delay="7000"/>
                            </p:stCondLst>
                            <p:childTnLst>
                              <p:par>
                                <p:cTn id="107" presetID="1" presetClass="entr" presetSubtype="0" fill="hold" grpId="0" nodeType="afterEffect">
                                  <p:stCondLst>
                                    <p:cond delay="0"/>
                                  </p:stCondLst>
                                  <p:childTnLst>
                                    <p:set>
                                      <p:cBhvr>
                                        <p:cTn id="108" dur="1" fill="hold">
                                          <p:stCondLst>
                                            <p:cond delay="499"/>
                                          </p:stCondLst>
                                        </p:cTn>
                                        <p:tgtEl>
                                          <p:spTgt spid="42042"/>
                                        </p:tgtEl>
                                        <p:attrNameLst>
                                          <p:attrName>style.visibility</p:attrName>
                                        </p:attrNameLst>
                                      </p:cBhvr>
                                      <p:to>
                                        <p:strVal val="visible"/>
                                      </p:to>
                                    </p:set>
                                  </p:childTnLst>
                                </p:cTn>
                              </p:par>
                            </p:childTnLst>
                          </p:cTn>
                        </p:par>
                        <p:par>
                          <p:cTn id="109" fill="hold" nodeType="afterGroup">
                            <p:stCondLst>
                              <p:cond delay="7500"/>
                            </p:stCondLst>
                            <p:childTnLst>
                              <p:par>
                                <p:cTn id="110" presetID="1" presetClass="entr" presetSubtype="0" fill="hold" grpId="0" nodeType="afterEffect">
                                  <p:stCondLst>
                                    <p:cond delay="0"/>
                                  </p:stCondLst>
                                  <p:childTnLst>
                                    <p:set>
                                      <p:cBhvr>
                                        <p:cTn id="111" dur="1" fill="hold">
                                          <p:stCondLst>
                                            <p:cond delay="499"/>
                                          </p:stCondLst>
                                        </p:cTn>
                                        <p:tgtEl>
                                          <p:spTgt spid="42031"/>
                                        </p:tgtEl>
                                        <p:attrNameLst>
                                          <p:attrName>style.visibility</p:attrName>
                                        </p:attrNameLst>
                                      </p:cBhvr>
                                      <p:to>
                                        <p:strVal val="visible"/>
                                      </p:to>
                                    </p:set>
                                  </p:childTnLst>
                                </p:cTn>
                              </p:par>
                            </p:childTnLst>
                          </p:cTn>
                        </p:par>
                        <p:par>
                          <p:cTn id="112" fill="hold" nodeType="afterGroup">
                            <p:stCondLst>
                              <p:cond delay="8000"/>
                            </p:stCondLst>
                            <p:childTnLst>
                              <p:par>
                                <p:cTn id="113" presetID="1" presetClass="entr" presetSubtype="0" fill="hold" grpId="0" nodeType="afterEffect">
                                  <p:stCondLst>
                                    <p:cond delay="0"/>
                                  </p:stCondLst>
                                  <p:childTnLst>
                                    <p:set>
                                      <p:cBhvr>
                                        <p:cTn id="114" dur="1" fill="hold">
                                          <p:stCondLst>
                                            <p:cond delay="499"/>
                                          </p:stCondLst>
                                        </p:cTn>
                                        <p:tgtEl>
                                          <p:spTgt spid="42046"/>
                                        </p:tgtEl>
                                        <p:attrNameLst>
                                          <p:attrName>style.visibility</p:attrName>
                                        </p:attrNameLst>
                                      </p:cBhvr>
                                      <p:to>
                                        <p:strVal val="visible"/>
                                      </p:to>
                                    </p:set>
                                  </p:childTnLst>
                                </p:cTn>
                              </p:par>
                            </p:childTnLst>
                          </p:cTn>
                        </p:par>
                        <p:par>
                          <p:cTn id="115" fill="hold" nodeType="afterGroup">
                            <p:stCondLst>
                              <p:cond delay="8500"/>
                            </p:stCondLst>
                            <p:childTnLst>
                              <p:par>
                                <p:cTn id="116" presetID="1" presetClass="entr" presetSubtype="0" fill="hold" grpId="0" nodeType="afterEffect">
                                  <p:stCondLst>
                                    <p:cond delay="0"/>
                                  </p:stCondLst>
                                  <p:childTnLst>
                                    <p:set>
                                      <p:cBhvr>
                                        <p:cTn id="117" dur="1" fill="hold">
                                          <p:stCondLst>
                                            <p:cond delay="499"/>
                                          </p:stCondLst>
                                        </p:cTn>
                                        <p:tgtEl>
                                          <p:spTgt spid="42048"/>
                                        </p:tgtEl>
                                        <p:attrNameLst>
                                          <p:attrName>style.visibility</p:attrName>
                                        </p:attrNameLst>
                                      </p:cBhvr>
                                      <p:to>
                                        <p:strVal val="visible"/>
                                      </p:to>
                                    </p:set>
                                  </p:childTnLst>
                                </p:cTn>
                              </p:par>
                            </p:childTnLst>
                          </p:cTn>
                        </p:par>
                        <p:par>
                          <p:cTn id="118" fill="hold" nodeType="afterGroup">
                            <p:stCondLst>
                              <p:cond delay="9000"/>
                            </p:stCondLst>
                            <p:childTnLst>
                              <p:par>
                                <p:cTn id="119" presetID="1" presetClass="entr" presetSubtype="0" fill="hold" grpId="0" nodeType="afterEffect">
                                  <p:stCondLst>
                                    <p:cond delay="0"/>
                                  </p:stCondLst>
                                  <p:childTnLst>
                                    <p:set>
                                      <p:cBhvr>
                                        <p:cTn id="120" dur="1" fill="hold">
                                          <p:stCondLst>
                                            <p:cond delay="499"/>
                                          </p:stCondLst>
                                        </p:cTn>
                                        <p:tgtEl>
                                          <p:spTgt spid="42032"/>
                                        </p:tgtEl>
                                        <p:attrNameLst>
                                          <p:attrName>style.visibility</p:attrName>
                                        </p:attrNameLst>
                                      </p:cBhvr>
                                      <p:to>
                                        <p:strVal val="visible"/>
                                      </p:to>
                                    </p:set>
                                  </p:childTnLst>
                                </p:cTn>
                              </p:par>
                            </p:childTnLst>
                          </p:cTn>
                        </p:par>
                        <p:par>
                          <p:cTn id="121" fill="hold" nodeType="afterGroup">
                            <p:stCondLst>
                              <p:cond delay="9500"/>
                            </p:stCondLst>
                            <p:childTnLst>
                              <p:par>
                                <p:cTn id="122" presetID="1" presetClass="entr" presetSubtype="0" fill="hold" grpId="0" nodeType="afterEffect">
                                  <p:stCondLst>
                                    <p:cond delay="0"/>
                                  </p:stCondLst>
                                  <p:childTnLst>
                                    <p:set>
                                      <p:cBhvr>
                                        <p:cTn id="123" dur="1" fill="hold">
                                          <p:stCondLst>
                                            <p:cond delay="499"/>
                                          </p:stCondLst>
                                        </p:cTn>
                                        <p:tgtEl>
                                          <p:spTgt spid="42052"/>
                                        </p:tgtEl>
                                        <p:attrNameLst>
                                          <p:attrName>style.visibility</p:attrName>
                                        </p:attrNameLst>
                                      </p:cBhvr>
                                      <p:to>
                                        <p:strVal val="visible"/>
                                      </p:to>
                                    </p:set>
                                  </p:childTnLst>
                                </p:cTn>
                              </p:par>
                            </p:childTnLst>
                          </p:cTn>
                        </p:par>
                        <p:par>
                          <p:cTn id="124" fill="hold" nodeType="afterGroup">
                            <p:stCondLst>
                              <p:cond delay="10000"/>
                            </p:stCondLst>
                            <p:childTnLst>
                              <p:par>
                                <p:cTn id="125" presetID="1" presetClass="entr" presetSubtype="0" fill="hold" grpId="0" nodeType="afterEffect">
                                  <p:stCondLst>
                                    <p:cond delay="0"/>
                                  </p:stCondLst>
                                  <p:childTnLst>
                                    <p:set>
                                      <p:cBhvr>
                                        <p:cTn id="126" dur="1" fill="hold">
                                          <p:stCondLst>
                                            <p:cond delay="499"/>
                                          </p:stCondLst>
                                        </p:cTn>
                                        <p:tgtEl>
                                          <p:spTgt spid="42053"/>
                                        </p:tgtEl>
                                        <p:attrNameLst>
                                          <p:attrName>style.visibility</p:attrName>
                                        </p:attrNameLst>
                                      </p:cBhvr>
                                      <p:to>
                                        <p:strVal val="visible"/>
                                      </p:to>
                                    </p:set>
                                  </p:childTnLst>
                                </p:cTn>
                              </p:par>
                            </p:childTnLst>
                          </p:cTn>
                        </p:par>
                        <p:par>
                          <p:cTn id="127" fill="hold" nodeType="afterGroup">
                            <p:stCondLst>
                              <p:cond delay="10500"/>
                            </p:stCondLst>
                            <p:childTnLst>
                              <p:par>
                                <p:cTn id="128" presetID="1" presetClass="entr" presetSubtype="0" fill="hold" grpId="0" nodeType="afterEffect">
                                  <p:stCondLst>
                                    <p:cond delay="0"/>
                                  </p:stCondLst>
                                  <p:childTnLst>
                                    <p:set>
                                      <p:cBhvr>
                                        <p:cTn id="129" dur="1" fill="hold">
                                          <p:stCondLst>
                                            <p:cond delay="499"/>
                                          </p:stCondLst>
                                        </p:cTn>
                                        <p:tgtEl>
                                          <p:spTgt spid="42034"/>
                                        </p:tgtEl>
                                        <p:attrNameLst>
                                          <p:attrName>style.visibility</p:attrName>
                                        </p:attrNameLst>
                                      </p:cBhvr>
                                      <p:to>
                                        <p:strVal val="visible"/>
                                      </p:to>
                                    </p:set>
                                  </p:childTnLst>
                                </p:cTn>
                              </p:par>
                            </p:childTnLst>
                          </p:cTn>
                        </p:par>
                        <p:par>
                          <p:cTn id="130" fill="hold" nodeType="afterGroup">
                            <p:stCondLst>
                              <p:cond delay="11000"/>
                            </p:stCondLst>
                            <p:childTnLst>
                              <p:par>
                                <p:cTn id="131" presetID="1" presetClass="entr" presetSubtype="0" fill="hold" grpId="0" nodeType="afterEffect">
                                  <p:stCondLst>
                                    <p:cond delay="0"/>
                                  </p:stCondLst>
                                  <p:childTnLst>
                                    <p:set>
                                      <p:cBhvr>
                                        <p:cTn id="132" dur="1" fill="hold">
                                          <p:stCondLst>
                                            <p:cond delay="499"/>
                                          </p:stCondLst>
                                        </p:cTn>
                                        <p:tgtEl>
                                          <p:spTgt spid="42058"/>
                                        </p:tgtEl>
                                        <p:attrNameLst>
                                          <p:attrName>style.visibility</p:attrName>
                                        </p:attrNameLst>
                                      </p:cBhvr>
                                      <p:to>
                                        <p:strVal val="visible"/>
                                      </p:to>
                                    </p:set>
                                  </p:childTnLst>
                                </p:cTn>
                              </p:par>
                            </p:childTnLst>
                          </p:cTn>
                        </p:par>
                        <p:par>
                          <p:cTn id="133" fill="hold" nodeType="afterGroup">
                            <p:stCondLst>
                              <p:cond delay="11500"/>
                            </p:stCondLst>
                            <p:childTnLst>
                              <p:par>
                                <p:cTn id="134" presetID="1" presetClass="entr" presetSubtype="0" fill="hold" grpId="0" nodeType="afterEffect">
                                  <p:stCondLst>
                                    <p:cond delay="0"/>
                                  </p:stCondLst>
                                  <p:childTnLst>
                                    <p:set>
                                      <p:cBhvr>
                                        <p:cTn id="135" dur="1" fill="hold">
                                          <p:stCondLst>
                                            <p:cond delay="499"/>
                                          </p:stCondLst>
                                        </p:cTn>
                                        <p:tgtEl>
                                          <p:spTgt spid="42059"/>
                                        </p:tgtEl>
                                        <p:attrNameLst>
                                          <p:attrName>style.visibility</p:attrName>
                                        </p:attrNameLst>
                                      </p:cBhvr>
                                      <p:to>
                                        <p:strVal val="visible"/>
                                      </p:to>
                                    </p:set>
                                  </p:childTnLst>
                                </p:cTn>
                              </p:par>
                            </p:childTnLst>
                          </p:cTn>
                        </p:par>
                        <p:par>
                          <p:cTn id="136" fill="hold" nodeType="afterGroup">
                            <p:stCondLst>
                              <p:cond delay="12000"/>
                            </p:stCondLst>
                            <p:childTnLst>
                              <p:par>
                                <p:cTn id="137" presetID="1" presetClass="entr" presetSubtype="0" fill="hold" grpId="0" nodeType="afterEffect">
                                  <p:stCondLst>
                                    <p:cond delay="0"/>
                                  </p:stCondLst>
                                  <p:childTnLst>
                                    <p:set>
                                      <p:cBhvr>
                                        <p:cTn id="138" dur="1" fill="hold">
                                          <p:stCondLst>
                                            <p:cond delay="499"/>
                                          </p:stCondLst>
                                        </p:cTn>
                                        <p:tgtEl>
                                          <p:spTgt spid="42036"/>
                                        </p:tgtEl>
                                        <p:attrNameLst>
                                          <p:attrName>style.visibility</p:attrName>
                                        </p:attrNameLst>
                                      </p:cBhvr>
                                      <p:to>
                                        <p:strVal val="visible"/>
                                      </p:to>
                                    </p:set>
                                  </p:childTnLst>
                                </p:cTn>
                              </p:par>
                            </p:childTnLst>
                          </p:cTn>
                        </p:par>
                        <p:par>
                          <p:cTn id="139" fill="hold" nodeType="afterGroup">
                            <p:stCondLst>
                              <p:cond delay="12500"/>
                            </p:stCondLst>
                            <p:childTnLst>
                              <p:par>
                                <p:cTn id="140" presetID="1" presetClass="entr" presetSubtype="0" fill="hold" grpId="0" nodeType="afterEffect">
                                  <p:stCondLst>
                                    <p:cond delay="0"/>
                                  </p:stCondLst>
                                  <p:childTnLst>
                                    <p:set>
                                      <p:cBhvr>
                                        <p:cTn id="141" dur="1" fill="hold">
                                          <p:stCondLst>
                                            <p:cond delay="499"/>
                                          </p:stCondLst>
                                        </p:cTn>
                                        <p:tgtEl>
                                          <p:spTgt spid="42043"/>
                                        </p:tgtEl>
                                        <p:attrNameLst>
                                          <p:attrName>style.visibility</p:attrName>
                                        </p:attrNameLst>
                                      </p:cBhvr>
                                      <p:to>
                                        <p:strVal val="visible"/>
                                      </p:to>
                                    </p:set>
                                  </p:childTnLst>
                                </p:cTn>
                              </p:par>
                            </p:childTnLst>
                          </p:cTn>
                        </p:par>
                        <p:par>
                          <p:cTn id="142" fill="hold" nodeType="afterGroup">
                            <p:stCondLst>
                              <p:cond delay="13000"/>
                            </p:stCondLst>
                            <p:childTnLst>
                              <p:par>
                                <p:cTn id="143" presetID="1" presetClass="entr" presetSubtype="0" fill="hold" grpId="0" nodeType="afterEffect">
                                  <p:stCondLst>
                                    <p:cond delay="0"/>
                                  </p:stCondLst>
                                  <p:childTnLst>
                                    <p:set>
                                      <p:cBhvr>
                                        <p:cTn id="144" dur="1" fill="hold">
                                          <p:stCondLst>
                                            <p:cond delay="499"/>
                                          </p:stCondLst>
                                        </p:cTn>
                                        <p:tgtEl>
                                          <p:spTgt spid="42044"/>
                                        </p:tgtEl>
                                        <p:attrNameLst>
                                          <p:attrName>style.visibility</p:attrName>
                                        </p:attrNameLst>
                                      </p:cBhvr>
                                      <p:to>
                                        <p:strVal val="visible"/>
                                      </p:to>
                                    </p:set>
                                  </p:childTnLst>
                                </p:cTn>
                              </p:par>
                            </p:childTnLst>
                          </p:cTn>
                        </p:par>
                        <p:par>
                          <p:cTn id="145" fill="hold" nodeType="afterGroup">
                            <p:stCondLst>
                              <p:cond delay="13500"/>
                            </p:stCondLst>
                            <p:childTnLst>
                              <p:par>
                                <p:cTn id="146" presetID="1" presetClass="entr" presetSubtype="0" fill="hold" grpId="0" nodeType="afterEffect">
                                  <p:stCondLst>
                                    <p:cond delay="0"/>
                                  </p:stCondLst>
                                  <p:childTnLst>
                                    <p:set>
                                      <p:cBhvr>
                                        <p:cTn id="147" dur="1" fill="hold">
                                          <p:stCondLst>
                                            <p:cond delay="499"/>
                                          </p:stCondLst>
                                        </p:cTn>
                                        <p:tgtEl>
                                          <p:spTgt spid="42049"/>
                                        </p:tgtEl>
                                        <p:attrNameLst>
                                          <p:attrName>style.visibility</p:attrName>
                                        </p:attrNameLst>
                                      </p:cBhvr>
                                      <p:to>
                                        <p:strVal val="visible"/>
                                      </p:to>
                                    </p:set>
                                  </p:childTnLst>
                                </p:cTn>
                              </p:par>
                            </p:childTnLst>
                          </p:cTn>
                        </p:par>
                        <p:par>
                          <p:cTn id="148" fill="hold" nodeType="afterGroup">
                            <p:stCondLst>
                              <p:cond delay="14000"/>
                            </p:stCondLst>
                            <p:childTnLst>
                              <p:par>
                                <p:cTn id="149" presetID="1" presetClass="entr" presetSubtype="0" fill="hold" grpId="0" nodeType="afterEffect">
                                  <p:stCondLst>
                                    <p:cond delay="0"/>
                                  </p:stCondLst>
                                  <p:childTnLst>
                                    <p:set>
                                      <p:cBhvr>
                                        <p:cTn id="150" dur="1" fill="hold">
                                          <p:stCondLst>
                                            <p:cond delay="499"/>
                                          </p:stCondLst>
                                        </p:cTn>
                                        <p:tgtEl>
                                          <p:spTgt spid="42047"/>
                                        </p:tgtEl>
                                        <p:attrNameLst>
                                          <p:attrName>style.visibility</p:attrName>
                                        </p:attrNameLst>
                                      </p:cBhvr>
                                      <p:to>
                                        <p:strVal val="visible"/>
                                      </p:to>
                                    </p:set>
                                  </p:childTnLst>
                                </p:cTn>
                              </p:par>
                            </p:childTnLst>
                          </p:cTn>
                        </p:par>
                        <p:par>
                          <p:cTn id="151" fill="hold" nodeType="afterGroup">
                            <p:stCondLst>
                              <p:cond delay="14500"/>
                            </p:stCondLst>
                            <p:childTnLst>
                              <p:par>
                                <p:cTn id="152" presetID="1" presetClass="entr" presetSubtype="0" fill="hold" grpId="0" nodeType="afterEffect">
                                  <p:stCondLst>
                                    <p:cond delay="0"/>
                                  </p:stCondLst>
                                  <p:childTnLst>
                                    <p:set>
                                      <p:cBhvr>
                                        <p:cTn id="153" dur="1" fill="hold">
                                          <p:stCondLst>
                                            <p:cond delay="499"/>
                                          </p:stCondLst>
                                        </p:cTn>
                                        <p:tgtEl>
                                          <p:spTgt spid="42054"/>
                                        </p:tgtEl>
                                        <p:attrNameLst>
                                          <p:attrName>style.visibility</p:attrName>
                                        </p:attrNameLst>
                                      </p:cBhvr>
                                      <p:to>
                                        <p:strVal val="visible"/>
                                      </p:to>
                                    </p:set>
                                  </p:childTnLst>
                                </p:cTn>
                              </p:par>
                            </p:childTnLst>
                          </p:cTn>
                        </p:par>
                        <p:par>
                          <p:cTn id="154" fill="hold" nodeType="afterGroup">
                            <p:stCondLst>
                              <p:cond delay="15000"/>
                            </p:stCondLst>
                            <p:childTnLst>
                              <p:par>
                                <p:cTn id="155" presetID="1" presetClass="entr" presetSubtype="0" fill="hold" grpId="0" nodeType="afterEffect">
                                  <p:stCondLst>
                                    <p:cond delay="0"/>
                                  </p:stCondLst>
                                  <p:childTnLst>
                                    <p:set>
                                      <p:cBhvr>
                                        <p:cTn id="156" dur="1" fill="hold">
                                          <p:stCondLst>
                                            <p:cond delay="499"/>
                                          </p:stCondLst>
                                        </p:cTn>
                                        <p:tgtEl>
                                          <p:spTgt spid="42056"/>
                                        </p:tgtEl>
                                        <p:attrNameLst>
                                          <p:attrName>style.visibility</p:attrName>
                                        </p:attrNameLst>
                                      </p:cBhvr>
                                      <p:to>
                                        <p:strVal val="visible"/>
                                      </p:to>
                                    </p:set>
                                  </p:childTnLst>
                                </p:cTn>
                              </p:par>
                            </p:childTnLst>
                          </p:cTn>
                        </p:par>
                        <p:par>
                          <p:cTn id="157" fill="hold" nodeType="afterGroup">
                            <p:stCondLst>
                              <p:cond delay="15500"/>
                            </p:stCondLst>
                            <p:childTnLst>
                              <p:par>
                                <p:cTn id="158" presetID="1" presetClass="entr" presetSubtype="0" fill="hold" grpId="0" nodeType="afterEffect">
                                  <p:stCondLst>
                                    <p:cond delay="0"/>
                                  </p:stCondLst>
                                  <p:childTnLst>
                                    <p:set>
                                      <p:cBhvr>
                                        <p:cTn id="159" dur="1" fill="hold">
                                          <p:stCondLst>
                                            <p:cond delay="499"/>
                                          </p:stCondLst>
                                        </p:cTn>
                                        <p:tgtEl>
                                          <p:spTgt spid="42060"/>
                                        </p:tgtEl>
                                        <p:attrNameLst>
                                          <p:attrName>style.visibility</p:attrName>
                                        </p:attrNameLst>
                                      </p:cBhvr>
                                      <p:to>
                                        <p:strVal val="visible"/>
                                      </p:to>
                                    </p:set>
                                  </p:childTnLst>
                                </p:cTn>
                              </p:par>
                            </p:childTnLst>
                          </p:cTn>
                        </p:par>
                        <p:par>
                          <p:cTn id="160" fill="hold" nodeType="afterGroup">
                            <p:stCondLst>
                              <p:cond delay="16000"/>
                            </p:stCondLst>
                            <p:childTnLst>
                              <p:par>
                                <p:cTn id="161" presetID="1" presetClass="entr" presetSubtype="0" fill="hold" grpId="0" nodeType="afterEffect">
                                  <p:stCondLst>
                                    <p:cond delay="0"/>
                                  </p:stCondLst>
                                  <p:childTnLst>
                                    <p:set>
                                      <p:cBhvr>
                                        <p:cTn id="162" dur="1" fill="hold">
                                          <p:stCondLst>
                                            <p:cond delay="499"/>
                                          </p:stCondLst>
                                        </p:cTn>
                                        <p:tgtEl>
                                          <p:spTgt spid="42061"/>
                                        </p:tgtEl>
                                        <p:attrNameLst>
                                          <p:attrName>style.visibility</p:attrName>
                                        </p:attrNameLst>
                                      </p:cBhvr>
                                      <p:to>
                                        <p:strVal val="visible"/>
                                      </p:to>
                                    </p:se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 presetClass="entr" presetSubtype="4" fill="hold" grpId="0" nodeType="clickEffect">
                                  <p:stCondLst>
                                    <p:cond delay="0"/>
                                  </p:stCondLst>
                                  <p:childTnLst>
                                    <p:set>
                                      <p:cBhvr>
                                        <p:cTn id="166" dur="1" fill="hold">
                                          <p:stCondLst>
                                            <p:cond delay="0"/>
                                          </p:stCondLst>
                                        </p:cTn>
                                        <p:tgtEl>
                                          <p:spTgt spid="42018"/>
                                        </p:tgtEl>
                                        <p:attrNameLst>
                                          <p:attrName>style.visibility</p:attrName>
                                        </p:attrNameLst>
                                      </p:cBhvr>
                                      <p:to>
                                        <p:strVal val="visible"/>
                                      </p:to>
                                    </p:set>
                                    <p:anim calcmode="lin" valueType="num">
                                      <p:cBhvr additive="base">
                                        <p:cTn id="167" dur="500" fill="hold"/>
                                        <p:tgtEl>
                                          <p:spTgt spid="42018"/>
                                        </p:tgtEl>
                                        <p:attrNameLst>
                                          <p:attrName>ppt_x</p:attrName>
                                        </p:attrNameLst>
                                      </p:cBhvr>
                                      <p:tavLst>
                                        <p:tav tm="0">
                                          <p:val>
                                            <p:strVal val="#ppt_x"/>
                                          </p:val>
                                        </p:tav>
                                        <p:tav tm="100000">
                                          <p:val>
                                            <p:strVal val="#ppt_x"/>
                                          </p:val>
                                        </p:tav>
                                      </p:tavLst>
                                    </p:anim>
                                    <p:anim calcmode="lin" valueType="num">
                                      <p:cBhvr additive="base">
                                        <p:cTn id="168" dur="500" fill="hold"/>
                                        <p:tgtEl>
                                          <p:spTgt spid="42018"/>
                                        </p:tgtEl>
                                        <p:attrNameLst>
                                          <p:attrName>ppt_y</p:attrName>
                                        </p:attrNameLst>
                                      </p:cBhvr>
                                      <p:tavLst>
                                        <p:tav tm="0">
                                          <p:val>
                                            <p:strVal val="1+#ppt_h/2"/>
                                          </p:val>
                                        </p:tav>
                                        <p:tav tm="100000">
                                          <p:val>
                                            <p:strVal val="#ppt_y"/>
                                          </p:val>
                                        </p:tav>
                                      </p:tavLst>
                                    </p:anim>
                                  </p:childTnLst>
                                </p:cTn>
                              </p:par>
                            </p:childTnLst>
                          </p:cTn>
                        </p:par>
                        <p:par>
                          <p:cTn id="169" fill="hold" nodeType="afterGroup">
                            <p:stCondLst>
                              <p:cond delay="500"/>
                            </p:stCondLst>
                            <p:childTnLst>
                              <p:par>
                                <p:cTn id="170" presetID="2" presetClass="entr" presetSubtype="4" fill="hold" grpId="0" nodeType="afterEffect">
                                  <p:stCondLst>
                                    <p:cond delay="0"/>
                                  </p:stCondLst>
                                  <p:childTnLst>
                                    <p:set>
                                      <p:cBhvr>
                                        <p:cTn id="171" dur="1" fill="hold">
                                          <p:stCondLst>
                                            <p:cond delay="0"/>
                                          </p:stCondLst>
                                        </p:cTn>
                                        <p:tgtEl>
                                          <p:spTgt spid="42020"/>
                                        </p:tgtEl>
                                        <p:attrNameLst>
                                          <p:attrName>style.visibility</p:attrName>
                                        </p:attrNameLst>
                                      </p:cBhvr>
                                      <p:to>
                                        <p:strVal val="visible"/>
                                      </p:to>
                                    </p:set>
                                    <p:anim calcmode="lin" valueType="num">
                                      <p:cBhvr additive="base">
                                        <p:cTn id="172" dur="500" fill="hold"/>
                                        <p:tgtEl>
                                          <p:spTgt spid="42020"/>
                                        </p:tgtEl>
                                        <p:attrNameLst>
                                          <p:attrName>ppt_x</p:attrName>
                                        </p:attrNameLst>
                                      </p:cBhvr>
                                      <p:tavLst>
                                        <p:tav tm="0">
                                          <p:val>
                                            <p:strVal val="#ppt_x"/>
                                          </p:val>
                                        </p:tav>
                                        <p:tav tm="100000">
                                          <p:val>
                                            <p:strVal val="#ppt_x"/>
                                          </p:val>
                                        </p:tav>
                                      </p:tavLst>
                                    </p:anim>
                                    <p:anim calcmode="lin" valueType="num">
                                      <p:cBhvr additive="base">
                                        <p:cTn id="173" dur="500" fill="hold"/>
                                        <p:tgtEl>
                                          <p:spTgt spid="42020"/>
                                        </p:tgtEl>
                                        <p:attrNameLst>
                                          <p:attrName>ppt_y</p:attrName>
                                        </p:attrNameLst>
                                      </p:cBhvr>
                                      <p:tavLst>
                                        <p:tav tm="0">
                                          <p:val>
                                            <p:strVal val="1+#ppt_h/2"/>
                                          </p:val>
                                        </p:tav>
                                        <p:tav tm="100000">
                                          <p:val>
                                            <p:strVal val="#ppt_y"/>
                                          </p:val>
                                        </p:tav>
                                      </p:tavLst>
                                    </p:anim>
                                  </p:childTnLst>
                                </p:cTn>
                              </p:par>
                            </p:childTnLst>
                          </p:cTn>
                        </p:par>
                        <p:par>
                          <p:cTn id="174" fill="hold" nodeType="afterGroup">
                            <p:stCondLst>
                              <p:cond delay="1000"/>
                            </p:stCondLst>
                            <p:childTnLst>
                              <p:par>
                                <p:cTn id="175" presetID="2" presetClass="entr" presetSubtype="4" fill="hold" grpId="0" nodeType="afterEffect">
                                  <p:stCondLst>
                                    <p:cond delay="0"/>
                                  </p:stCondLst>
                                  <p:childTnLst>
                                    <p:set>
                                      <p:cBhvr>
                                        <p:cTn id="176" dur="1" fill="hold">
                                          <p:stCondLst>
                                            <p:cond delay="0"/>
                                          </p:stCondLst>
                                        </p:cTn>
                                        <p:tgtEl>
                                          <p:spTgt spid="42021"/>
                                        </p:tgtEl>
                                        <p:attrNameLst>
                                          <p:attrName>style.visibility</p:attrName>
                                        </p:attrNameLst>
                                      </p:cBhvr>
                                      <p:to>
                                        <p:strVal val="visible"/>
                                      </p:to>
                                    </p:set>
                                    <p:anim calcmode="lin" valueType="num">
                                      <p:cBhvr additive="base">
                                        <p:cTn id="177" dur="500" fill="hold"/>
                                        <p:tgtEl>
                                          <p:spTgt spid="42021"/>
                                        </p:tgtEl>
                                        <p:attrNameLst>
                                          <p:attrName>ppt_x</p:attrName>
                                        </p:attrNameLst>
                                      </p:cBhvr>
                                      <p:tavLst>
                                        <p:tav tm="0">
                                          <p:val>
                                            <p:strVal val="#ppt_x"/>
                                          </p:val>
                                        </p:tav>
                                        <p:tav tm="100000">
                                          <p:val>
                                            <p:strVal val="#ppt_x"/>
                                          </p:val>
                                        </p:tav>
                                      </p:tavLst>
                                    </p:anim>
                                    <p:anim calcmode="lin" valueType="num">
                                      <p:cBhvr additive="base">
                                        <p:cTn id="178" dur="500" fill="hold"/>
                                        <p:tgtEl>
                                          <p:spTgt spid="42021"/>
                                        </p:tgtEl>
                                        <p:attrNameLst>
                                          <p:attrName>ppt_y</p:attrName>
                                        </p:attrNameLst>
                                      </p:cBhvr>
                                      <p:tavLst>
                                        <p:tav tm="0">
                                          <p:val>
                                            <p:strVal val="1+#ppt_h/2"/>
                                          </p:val>
                                        </p:tav>
                                        <p:tav tm="100000">
                                          <p:val>
                                            <p:strVal val="#ppt_y"/>
                                          </p:val>
                                        </p:tav>
                                      </p:tavLst>
                                    </p:anim>
                                  </p:childTnLst>
                                </p:cTn>
                              </p:par>
                            </p:childTnLst>
                          </p:cTn>
                        </p:par>
                        <p:par>
                          <p:cTn id="179" fill="hold" nodeType="afterGroup">
                            <p:stCondLst>
                              <p:cond delay="1500"/>
                            </p:stCondLst>
                            <p:childTnLst>
                              <p:par>
                                <p:cTn id="180" presetID="2" presetClass="entr" presetSubtype="4" fill="hold" grpId="0" nodeType="afterEffect">
                                  <p:stCondLst>
                                    <p:cond delay="0"/>
                                  </p:stCondLst>
                                  <p:childTnLst>
                                    <p:set>
                                      <p:cBhvr>
                                        <p:cTn id="181" dur="1" fill="hold">
                                          <p:stCondLst>
                                            <p:cond delay="0"/>
                                          </p:stCondLst>
                                        </p:cTn>
                                        <p:tgtEl>
                                          <p:spTgt spid="42022"/>
                                        </p:tgtEl>
                                        <p:attrNameLst>
                                          <p:attrName>style.visibility</p:attrName>
                                        </p:attrNameLst>
                                      </p:cBhvr>
                                      <p:to>
                                        <p:strVal val="visible"/>
                                      </p:to>
                                    </p:set>
                                    <p:anim calcmode="lin" valueType="num">
                                      <p:cBhvr additive="base">
                                        <p:cTn id="182" dur="500" fill="hold"/>
                                        <p:tgtEl>
                                          <p:spTgt spid="42022"/>
                                        </p:tgtEl>
                                        <p:attrNameLst>
                                          <p:attrName>ppt_x</p:attrName>
                                        </p:attrNameLst>
                                      </p:cBhvr>
                                      <p:tavLst>
                                        <p:tav tm="0">
                                          <p:val>
                                            <p:strVal val="#ppt_x"/>
                                          </p:val>
                                        </p:tav>
                                        <p:tav tm="100000">
                                          <p:val>
                                            <p:strVal val="#ppt_x"/>
                                          </p:val>
                                        </p:tav>
                                      </p:tavLst>
                                    </p:anim>
                                    <p:anim calcmode="lin" valueType="num">
                                      <p:cBhvr additive="base">
                                        <p:cTn id="183" dur="500" fill="hold"/>
                                        <p:tgtEl>
                                          <p:spTgt spid="42022"/>
                                        </p:tgtEl>
                                        <p:attrNameLst>
                                          <p:attrName>ppt_y</p:attrName>
                                        </p:attrNameLst>
                                      </p:cBhvr>
                                      <p:tavLst>
                                        <p:tav tm="0">
                                          <p:val>
                                            <p:strVal val="1+#ppt_h/2"/>
                                          </p:val>
                                        </p:tav>
                                        <p:tav tm="100000">
                                          <p:val>
                                            <p:strVal val="#ppt_y"/>
                                          </p:val>
                                        </p:tav>
                                      </p:tavLst>
                                    </p:anim>
                                  </p:childTnLst>
                                </p:cTn>
                              </p:par>
                            </p:childTnLst>
                          </p:cTn>
                        </p:par>
                        <p:par>
                          <p:cTn id="184" fill="hold" nodeType="afterGroup">
                            <p:stCondLst>
                              <p:cond delay="2000"/>
                            </p:stCondLst>
                            <p:childTnLst>
                              <p:par>
                                <p:cTn id="185" presetID="2" presetClass="entr" presetSubtype="4" fill="hold" grpId="0" nodeType="afterEffect">
                                  <p:stCondLst>
                                    <p:cond delay="0"/>
                                  </p:stCondLst>
                                  <p:childTnLst>
                                    <p:set>
                                      <p:cBhvr>
                                        <p:cTn id="186" dur="1" fill="hold">
                                          <p:stCondLst>
                                            <p:cond delay="0"/>
                                          </p:stCondLst>
                                        </p:cTn>
                                        <p:tgtEl>
                                          <p:spTgt spid="42023"/>
                                        </p:tgtEl>
                                        <p:attrNameLst>
                                          <p:attrName>style.visibility</p:attrName>
                                        </p:attrNameLst>
                                      </p:cBhvr>
                                      <p:to>
                                        <p:strVal val="visible"/>
                                      </p:to>
                                    </p:set>
                                    <p:anim calcmode="lin" valueType="num">
                                      <p:cBhvr additive="base">
                                        <p:cTn id="187" dur="500" fill="hold"/>
                                        <p:tgtEl>
                                          <p:spTgt spid="42023"/>
                                        </p:tgtEl>
                                        <p:attrNameLst>
                                          <p:attrName>ppt_x</p:attrName>
                                        </p:attrNameLst>
                                      </p:cBhvr>
                                      <p:tavLst>
                                        <p:tav tm="0">
                                          <p:val>
                                            <p:strVal val="#ppt_x"/>
                                          </p:val>
                                        </p:tav>
                                        <p:tav tm="100000">
                                          <p:val>
                                            <p:strVal val="#ppt_x"/>
                                          </p:val>
                                        </p:tav>
                                      </p:tavLst>
                                    </p:anim>
                                    <p:anim calcmode="lin" valueType="num">
                                      <p:cBhvr additive="base">
                                        <p:cTn id="188" dur="500" fill="hold"/>
                                        <p:tgtEl>
                                          <p:spTgt spid="42023"/>
                                        </p:tgtEl>
                                        <p:attrNameLst>
                                          <p:attrName>ppt_y</p:attrName>
                                        </p:attrNameLst>
                                      </p:cBhvr>
                                      <p:tavLst>
                                        <p:tav tm="0">
                                          <p:val>
                                            <p:strVal val="1+#ppt_h/2"/>
                                          </p:val>
                                        </p:tav>
                                        <p:tav tm="100000">
                                          <p:val>
                                            <p:strVal val="#ppt_y"/>
                                          </p:val>
                                        </p:tav>
                                      </p:tavLst>
                                    </p:anim>
                                  </p:childTnLst>
                                </p:cTn>
                              </p:par>
                            </p:childTnLst>
                          </p:cTn>
                        </p:par>
                        <p:par>
                          <p:cTn id="189" fill="hold" nodeType="afterGroup">
                            <p:stCondLst>
                              <p:cond delay="2500"/>
                            </p:stCondLst>
                            <p:childTnLst>
                              <p:par>
                                <p:cTn id="190" presetID="2" presetClass="entr" presetSubtype="4" fill="hold" grpId="0" nodeType="afterEffect">
                                  <p:stCondLst>
                                    <p:cond delay="0"/>
                                  </p:stCondLst>
                                  <p:childTnLst>
                                    <p:set>
                                      <p:cBhvr>
                                        <p:cTn id="191" dur="1" fill="hold">
                                          <p:stCondLst>
                                            <p:cond delay="0"/>
                                          </p:stCondLst>
                                        </p:cTn>
                                        <p:tgtEl>
                                          <p:spTgt spid="42024"/>
                                        </p:tgtEl>
                                        <p:attrNameLst>
                                          <p:attrName>style.visibility</p:attrName>
                                        </p:attrNameLst>
                                      </p:cBhvr>
                                      <p:to>
                                        <p:strVal val="visible"/>
                                      </p:to>
                                    </p:set>
                                    <p:anim calcmode="lin" valueType="num">
                                      <p:cBhvr additive="base">
                                        <p:cTn id="192" dur="500" fill="hold"/>
                                        <p:tgtEl>
                                          <p:spTgt spid="42024"/>
                                        </p:tgtEl>
                                        <p:attrNameLst>
                                          <p:attrName>ppt_x</p:attrName>
                                        </p:attrNameLst>
                                      </p:cBhvr>
                                      <p:tavLst>
                                        <p:tav tm="0">
                                          <p:val>
                                            <p:strVal val="#ppt_x"/>
                                          </p:val>
                                        </p:tav>
                                        <p:tav tm="100000">
                                          <p:val>
                                            <p:strVal val="#ppt_x"/>
                                          </p:val>
                                        </p:tav>
                                      </p:tavLst>
                                    </p:anim>
                                    <p:anim calcmode="lin" valueType="num">
                                      <p:cBhvr additive="base">
                                        <p:cTn id="193" dur="500" fill="hold"/>
                                        <p:tgtEl>
                                          <p:spTgt spid="42024"/>
                                        </p:tgtEl>
                                        <p:attrNameLst>
                                          <p:attrName>ppt_y</p:attrName>
                                        </p:attrNameLst>
                                      </p:cBhvr>
                                      <p:tavLst>
                                        <p:tav tm="0">
                                          <p:val>
                                            <p:strVal val="1+#ppt_h/2"/>
                                          </p:val>
                                        </p:tav>
                                        <p:tav tm="100000">
                                          <p:val>
                                            <p:strVal val="#ppt_y"/>
                                          </p:val>
                                        </p:tav>
                                      </p:tavLst>
                                    </p:anim>
                                  </p:childTnLst>
                                </p:cTn>
                              </p:par>
                            </p:childTnLst>
                          </p:cTn>
                        </p:par>
                        <p:par>
                          <p:cTn id="194" fill="hold" nodeType="afterGroup">
                            <p:stCondLst>
                              <p:cond delay="3000"/>
                            </p:stCondLst>
                            <p:childTnLst>
                              <p:par>
                                <p:cTn id="195" presetID="2" presetClass="entr" presetSubtype="4" fill="hold" grpId="0" nodeType="afterEffect">
                                  <p:stCondLst>
                                    <p:cond delay="0"/>
                                  </p:stCondLst>
                                  <p:childTnLst>
                                    <p:set>
                                      <p:cBhvr>
                                        <p:cTn id="196" dur="1" fill="hold">
                                          <p:stCondLst>
                                            <p:cond delay="0"/>
                                          </p:stCondLst>
                                        </p:cTn>
                                        <p:tgtEl>
                                          <p:spTgt spid="42025"/>
                                        </p:tgtEl>
                                        <p:attrNameLst>
                                          <p:attrName>style.visibility</p:attrName>
                                        </p:attrNameLst>
                                      </p:cBhvr>
                                      <p:to>
                                        <p:strVal val="visible"/>
                                      </p:to>
                                    </p:set>
                                    <p:anim calcmode="lin" valueType="num">
                                      <p:cBhvr additive="base">
                                        <p:cTn id="197" dur="500" fill="hold"/>
                                        <p:tgtEl>
                                          <p:spTgt spid="42025"/>
                                        </p:tgtEl>
                                        <p:attrNameLst>
                                          <p:attrName>ppt_x</p:attrName>
                                        </p:attrNameLst>
                                      </p:cBhvr>
                                      <p:tavLst>
                                        <p:tav tm="0">
                                          <p:val>
                                            <p:strVal val="#ppt_x"/>
                                          </p:val>
                                        </p:tav>
                                        <p:tav tm="100000">
                                          <p:val>
                                            <p:strVal val="#ppt_x"/>
                                          </p:val>
                                        </p:tav>
                                      </p:tavLst>
                                    </p:anim>
                                    <p:anim calcmode="lin" valueType="num">
                                      <p:cBhvr additive="base">
                                        <p:cTn id="198" dur="500" fill="hold"/>
                                        <p:tgtEl>
                                          <p:spTgt spid="42025"/>
                                        </p:tgtEl>
                                        <p:attrNameLst>
                                          <p:attrName>ppt_y</p:attrName>
                                        </p:attrNameLst>
                                      </p:cBhvr>
                                      <p:tavLst>
                                        <p:tav tm="0">
                                          <p:val>
                                            <p:strVal val="1+#ppt_h/2"/>
                                          </p:val>
                                        </p:tav>
                                        <p:tav tm="100000">
                                          <p:val>
                                            <p:strVal val="#ppt_y"/>
                                          </p:val>
                                        </p:tav>
                                      </p:tavLst>
                                    </p:anim>
                                  </p:childTnLst>
                                </p:cTn>
                              </p:par>
                            </p:childTnLst>
                          </p:cTn>
                        </p:par>
                        <p:par>
                          <p:cTn id="199" fill="hold" nodeType="afterGroup">
                            <p:stCondLst>
                              <p:cond delay="3500"/>
                            </p:stCondLst>
                            <p:childTnLst>
                              <p:par>
                                <p:cTn id="200" presetID="2" presetClass="entr" presetSubtype="4" fill="hold" grpId="0" nodeType="afterEffect">
                                  <p:stCondLst>
                                    <p:cond delay="0"/>
                                  </p:stCondLst>
                                  <p:childTnLst>
                                    <p:set>
                                      <p:cBhvr>
                                        <p:cTn id="201" dur="1" fill="hold">
                                          <p:stCondLst>
                                            <p:cond delay="0"/>
                                          </p:stCondLst>
                                        </p:cTn>
                                        <p:tgtEl>
                                          <p:spTgt spid="42026"/>
                                        </p:tgtEl>
                                        <p:attrNameLst>
                                          <p:attrName>style.visibility</p:attrName>
                                        </p:attrNameLst>
                                      </p:cBhvr>
                                      <p:to>
                                        <p:strVal val="visible"/>
                                      </p:to>
                                    </p:set>
                                    <p:anim calcmode="lin" valueType="num">
                                      <p:cBhvr additive="base">
                                        <p:cTn id="202" dur="500" fill="hold"/>
                                        <p:tgtEl>
                                          <p:spTgt spid="42026"/>
                                        </p:tgtEl>
                                        <p:attrNameLst>
                                          <p:attrName>ppt_x</p:attrName>
                                        </p:attrNameLst>
                                      </p:cBhvr>
                                      <p:tavLst>
                                        <p:tav tm="0">
                                          <p:val>
                                            <p:strVal val="#ppt_x"/>
                                          </p:val>
                                        </p:tav>
                                        <p:tav tm="100000">
                                          <p:val>
                                            <p:strVal val="#ppt_x"/>
                                          </p:val>
                                        </p:tav>
                                      </p:tavLst>
                                    </p:anim>
                                    <p:anim calcmode="lin" valueType="num">
                                      <p:cBhvr additive="base">
                                        <p:cTn id="203" dur="500" fill="hold"/>
                                        <p:tgtEl>
                                          <p:spTgt spid="42026"/>
                                        </p:tgtEl>
                                        <p:attrNameLst>
                                          <p:attrName>ppt_y</p:attrName>
                                        </p:attrNameLst>
                                      </p:cBhvr>
                                      <p:tavLst>
                                        <p:tav tm="0">
                                          <p:val>
                                            <p:strVal val="1+#ppt_h/2"/>
                                          </p:val>
                                        </p:tav>
                                        <p:tav tm="100000">
                                          <p:val>
                                            <p:strVal val="#ppt_y"/>
                                          </p:val>
                                        </p:tav>
                                      </p:tavLst>
                                    </p:anim>
                                  </p:childTnLst>
                                </p:cTn>
                              </p:par>
                            </p:childTnLst>
                          </p:cTn>
                        </p:par>
                        <p:par>
                          <p:cTn id="204" fill="hold" nodeType="afterGroup">
                            <p:stCondLst>
                              <p:cond delay="4000"/>
                            </p:stCondLst>
                            <p:childTnLst>
                              <p:par>
                                <p:cTn id="205" presetID="2" presetClass="entr" presetSubtype="4" fill="hold" grpId="0" nodeType="afterEffect">
                                  <p:stCondLst>
                                    <p:cond delay="0"/>
                                  </p:stCondLst>
                                  <p:childTnLst>
                                    <p:set>
                                      <p:cBhvr>
                                        <p:cTn id="206" dur="1" fill="hold">
                                          <p:stCondLst>
                                            <p:cond delay="0"/>
                                          </p:stCondLst>
                                        </p:cTn>
                                        <p:tgtEl>
                                          <p:spTgt spid="42027"/>
                                        </p:tgtEl>
                                        <p:attrNameLst>
                                          <p:attrName>style.visibility</p:attrName>
                                        </p:attrNameLst>
                                      </p:cBhvr>
                                      <p:to>
                                        <p:strVal val="visible"/>
                                      </p:to>
                                    </p:set>
                                    <p:anim calcmode="lin" valueType="num">
                                      <p:cBhvr additive="base">
                                        <p:cTn id="207" dur="500" fill="hold"/>
                                        <p:tgtEl>
                                          <p:spTgt spid="42027"/>
                                        </p:tgtEl>
                                        <p:attrNameLst>
                                          <p:attrName>ppt_x</p:attrName>
                                        </p:attrNameLst>
                                      </p:cBhvr>
                                      <p:tavLst>
                                        <p:tav tm="0">
                                          <p:val>
                                            <p:strVal val="#ppt_x"/>
                                          </p:val>
                                        </p:tav>
                                        <p:tav tm="100000">
                                          <p:val>
                                            <p:strVal val="#ppt_x"/>
                                          </p:val>
                                        </p:tav>
                                      </p:tavLst>
                                    </p:anim>
                                    <p:anim calcmode="lin" valueType="num">
                                      <p:cBhvr additive="base">
                                        <p:cTn id="208" dur="500" fill="hold"/>
                                        <p:tgtEl>
                                          <p:spTgt spid="42027"/>
                                        </p:tgtEl>
                                        <p:attrNameLst>
                                          <p:attrName>ppt_y</p:attrName>
                                        </p:attrNameLst>
                                      </p:cBhvr>
                                      <p:tavLst>
                                        <p:tav tm="0">
                                          <p:val>
                                            <p:strVal val="1+#ppt_h/2"/>
                                          </p:val>
                                        </p:tav>
                                        <p:tav tm="100000">
                                          <p:val>
                                            <p:strVal val="#ppt_y"/>
                                          </p:val>
                                        </p:tav>
                                      </p:tavLst>
                                    </p:anim>
                                  </p:childTnLst>
                                </p:cTn>
                              </p:par>
                            </p:childTnLst>
                          </p:cTn>
                        </p:par>
                        <p:par>
                          <p:cTn id="209" fill="hold" nodeType="afterGroup">
                            <p:stCondLst>
                              <p:cond delay="4500"/>
                            </p:stCondLst>
                            <p:childTnLst>
                              <p:par>
                                <p:cTn id="210" presetID="2" presetClass="entr" presetSubtype="4" fill="hold" grpId="0" nodeType="afterEffect">
                                  <p:stCondLst>
                                    <p:cond delay="0"/>
                                  </p:stCondLst>
                                  <p:childTnLst>
                                    <p:set>
                                      <p:cBhvr>
                                        <p:cTn id="211" dur="1" fill="hold">
                                          <p:stCondLst>
                                            <p:cond delay="0"/>
                                          </p:stCondLst>
                                        </p:cTn>
                                        <p:tgtEl>
                                          <p:spTgt spid="42028"/>
                                        </p:tgtEl>
                                        <p:attrNameLst>
                                          <p:attrName>style.visibility</p:attrName>
                                        </p:attrNameLst>
                                      </p:cBhvr>
                                      <p:to>
                                        <p:strVal val="visible"/>
                                      </p:to>
                                    </p:set>
                                    <p:anim calcmode="lin" valueType="num">
                                      <p:cBhvr additive="base">
                                        <p:cTn id="212" dur="500" fill="hold"/>
                                        <p:tgtEl>
                                          <p:spTgt spid="42028"/>
                                        </p:tgtEl>
                                        <p:attrNameLst>
                                          <p:attrName>ppt_x</p:attrName>
                                        </p:attrNameLst>
                                      </p:cBhvr>
                                      <p:tavLst>
                                        <p:tav tm="0">
                                          <p:val>
                                            <p:strVal val="#ppt_x"/>
                                          </p:val>
                                        </p:tav>
                                        <p:tav tm="100000">
                                          <p:val>
                                            <p:strVal val="#ppt_x"/>
                                          </p:val>
                                        </p:tav>
                                      </p:tavLst>
                                    </p:anim>
                                    <p:anim calcmode="lin" valueType="num">
                                      <p:cBhvr additive="base">
                                        <p:cTn id="213" dur="500" fill="hold"/>
                                        <p:tgtEl>
                                          <p:spTgt spid="42028"/>
                                        </p:tgtEl>
                                        <p:attrNameLst>
                                          <p:attrName>ppt_y</p:attrName>
                                        </p:attrNameLst>
                                      </p:cBhvr>
                                      <p:tavLst>
                                        <p:tav tm="0">
                                          <p:val>
                                            <p:strVal val="1+#ppt_h/2"/>
                                          </p:val>
                                        </p:tav>
                                        <p:tav tm="100000">
                                          <p:val>
                                            <p:strVal val="#ppt_y"/>
                                          </p:val>
                                        </p:tav>
                                      </p:tavLst>
                                    </p:anim>
                                  </p:childTnLst>
                                </p:cTn>
                              </p:par>
                            </p:childTnLst>
                          </p:cTn>
                        </p:par>
                        <p:par>
                          <p:cTn id="214" fill="hold" nodeType="afterGroup">
                            <p:stCondLst>
                              <p:cond delay="5000"/>
                            </p:stCondLst>
                            <p:childTnLst>
                              <p:par>
                                <p:cTn id="215" presetID="2" presetClass="entr" presetSubtype="4" fill="hold" grpId="0" nodeType="afterEffect">
                                  <p:stCondLst>
                                    <p:cond delay="0"/>
                                  </p:stCondLst>
                                  <p:childTnLst>
                                    <p:set>
                                      <p:cBhvr>
                                        <p:cTn id="216" dur="1" fill="hold">
                                          <p:stCondLst>
                                            <p:cond delay="0"/>
                                          </p:stCondLst>
                                        </p:cTn>
                                        <p:tgtEl>
                                          <p:spTgt spid="42029"/>
                                        </p:tgtEl>
                                        <p:attrNameLst>
                                          <p:attrName>style.visibility</p:attrName>
                                        </p:attrNameLst>
                                      </p:cBhvr>
                                      <p:to>
                                        <p:strVal val="visible"/>
                                      </p:to>
                                    </p:set>
                                    <p:anim calcmode="lin" valueType="num">
                                      <p:cBhvr additive="base">
                                        <p:cTn id="217" dur="500" fill="hold"/>
                                        <p:tgtEl>
                                          <p:spTgt spid="42029"/>
                                        </p:tgtEl>
                                        <p:attrNameLst>
                                          <p:attrName>ppt_x</p:attrName>
                                        </p:attrNameLst>
                                      </p:cBhvr>
                                      <p:tavLst>
                                        <p:tav tm="0">
                                          <p:val>
                                            <p:strVal val="#ppt_x"/>
                                          </p:val>
                                        </p:tav>
                                        <p:tav tm="100000">
                                          <p:val>
                                            <p:strVal val="#ppt_x"/>
                                          </p:val>
                                        </p:tav>
                                      </p:tavLst>
                                    </p:anim>
                                    <p:anim calcmode="lin" valueType="num">
                                      <p:cBhvr additive="base">
                                        <p:cTn id="218" dur="500" fill="hold"/>
                                        <p:tgtEl>
                                          <p:spTgt spid="42029"/>
                                        </p:tgtEl>
                                        <p:attrNameLst>
                                          <p:attrName>ppt_y</p:attrName>
                                        </p:attrNameLst>
                                      </p:cBhvr>
                                      <p:tavLst>
                                        <p:tav tm="0">
                                          <p:val>
                                            <p:strVal val="1+#ppt_h/2"/>
                                          </p:val>
                                        </p:tav>
                                        <p:tav tm="100000">
                                          <p:val>
                                            <p:strVal val="#ppt_y"/>
                                          </p:val>
                                        </p:tav>
                                      </p:tavLst>
                                    </p:anim>
                                  </p:childTnLst>
                                </p:cTn>
                              </p:par>
                            </p:childTnLst>
                          </p:cTn>
                        </p:par>
                        <p:par>
                          <p:cTn id="219" fill="hold" nodeType="afterGroup">
                            <p:stCondLst>
                              <p:cond delay="5500"/>
                            </p:stCondLst>
                            <p:childTnLst>
                              <p:par>
                                <p:cTn id="220" presetID="2" presetClass="entr" presetSubtype="4" fill="hold" grpId="0" nodeType="afterEffect">
                                  <p:stCondLst>
                                    <p:cond delay="0"/>
                                  </p:stCondLst>
                                  <p:childTnLst>
                                    <p:set>
                                      <p:cBhvr>
                                        <p:cTn id="221" dur="1" fill="hold">
                                          <p:stCondLst>
                                            <p:cond delay="0"/>
                                          </p:stCondLst>
                                        </p:cTn>
                                        <p:tgtEl>
                                          <p:spTgt spid="42030"/>
                                        </p:tgtEl>
                                        <p:attrNameLst>
                                          <p:attrName>style.visibility</p:attrName>
                                        </p:attrNameLst>
                                      </p:cBhvr>
                                      <p:to>
                                        <p:strVal val="visible"/>
                                      </p:to>
                                    </p:set>
                                    <p:anim calcmode="lin" valueType="num">
                                      <p:cBhvr additive="base">
                                        <p:cTn id="222" dur="500" fill="hold"/>
                                        <p:tgtEl>
                                          <p:spTgt spid="42030"/>
                                        </p:tgtEl>
                                        <p:attrNameLst>
                                          <p:attrName>ppt_x</p:attrName>
                                        </p:attrNameLst>
                                      </p:cBhvr>
                                      <p:tavLst>
                                        <p:tav tm="0">
                                          <p:val>
                                            <p:strVal val="#ppt_x"/>
                                          </p:val>
                                        </p:tav>
                                        <p:tav tm="100000">
                                          <p:val>
                                            <p:strVal val="#ppt_x"/>
                                          </p:val>
                                        </p:tav>
                                      </p:tavLst>
                                    </p:anim>
                                    <p:anim calcmode="lin" valueType="num">
                                      <p:cBhvr additive="base">
                                        <p:cTn id="223" dur="500" fill="hold"/>
                                        <p:tgtEl>
                                          <p:spTgt spid="42030"/>
                                        </p:tgtEl>
                                        <p:attrNameLst>
                                          <p:attrName>ppt_y</p:attrName>
                                        </p:attrNameLst>
                                      </p:cBhvr>
                                      <p:tavLst>
                                        <p:tav tm="0">
                                          <p:val>
                                            <p:strVal val="1+#ppt_h/2"/>
                                          </p:val>
                                        </p:tav>
                                        <p:tav tm="100000">
                                          <p:val>
                                            <p:strVal val="#ppt_y"/>
                                          </p:val>
                                        </p:tav>
                                      </p:tavLst>
                                    </p:anim>
                                  </p:childTnLst>
                                </p:cTn>
                              </p:par>
                            </p:childTnLst>
                          </p:cTn>
                        </p:par>
                      </p:childTnLst>
                    </p:cTn>
                  </p:par>
                  <p:par>
                    <p:cTn id="224" fill="hold" nodeType="clickPar">
                      <p:stCondLst>
                        <p:cond delay="indefinite"/>
                      </p:stCondLst>
                      <p:childTnLst>
                        <p:par>
                          <p:cTn id="225" fill="hold" nodeType="withGroup">
                            <p:stCondLst>
                              <p:cond delay="0"/>
                            </p:stCondLst>
                            <p:childTnLst>
                              <p:par>
                                <p:cTn id="226" presetID="2" presetClass="entr" presetSubtype="8" fill="hold" grpId="0" nodeType="clickEffect">
                                  <p:stCondLst>
                                    <p:cond delay="0"/>
                                  </p:stCondLst>
                                  <p:childTnLst>
                                    <p:set>
                                      <p:cBhvr>
                                        <p:cTn id="227" dur="1" fill="hold">
                                          <p:stCondLst>
                                            <p:cond delay="0"/>
                                          </p:stCondLst>
                                        </p:cTn>
                                        <p:tgtEl>
                                          <p:spTgt spid="42062"/>
                                        </p:tgtEl>
                                        <p:attrNameLst>
                                          <p:attrName>style.visibility</p:attrName>
                                        </p:attrNameLst>
                                      </p:cBhvr>
                                      <p:to>
                                        <p:strVal val="visible"/>
                                      </p:to>
                                    </p:set>
                                    <p:anim calcmode="lin" valueType="num">
                                      <p:cBhvr additive="base">
                                        <p:cTn id="228" dur="500" fill="hold"/>
                                        <p:tgtEl>
                                          <p:spTgt spid="42062"/>
                                        </p:tgtEl>
                                        <p:attrNameLst>
                                          <p:attrName>ppt_x</p:attrName>
                                        </p:attrNameLst>
                                      </p:cBhvr>
                                      <p:tavLst>
                                        <p:tav tm="0">
                                          <p:val>
                                            <p:strVal val="0-#ppt_w/2"/>
                                          </p:val>
                                        </p:tav>
                                        <p:tav tm="100000">
                                          <p:val>
                                            <p:strVal val="#ppt_x"/>
                                          </p:val>
                                        </p:tav>
                                      </p:tavLst>
                                    </p:anim>
                                    <p:anim calcmode="lin" valueType="num">
                                      <p:cBhvr additive="base">
                                        <p:cTn id="229" dur="500" fill="hold"/>
                                        <p:tgtEl>
                                          <p:spTgt spid="420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autoUpdateAnimBg="0"/>
      <p:bldP spid="41987" grpId="0" autoUpdateAnimBg="0"/>
      <p:bldP spid="42012" grpId="0" animBg="1" autoUpdateAnimBg="0"/>
      <p:bldP spid="42014" grpId="0" animBg="1" autoUpdateAnimBg="0"/>
      <p:bldP spid="42015" grpId="0" animBg="1" autoUpdateAnimBg="0"/>
      <p:bldP spid="42016" grpId="0" animBg="1" autoUpdateAnimBg="0"/>
      <p:bldP spid="42017" grpId="0" animBg="1" autoUpdateAnimBg="0"/>
      <p:bldP spid="42018" grpId="0" animBg="1"/>
      <p:bldP spid="42020" grpId="0" animBg="1"/>
      <p:bldP spid="42021" grpId="0" animBg="1"/>
      <p:bldP spid="42022" grpId="0" animBg="1"/>
      <p:bldP spid="42023" grpId="0" animBg="1"/>
      <p:bldP spid="42024" grpId="0" animBg="1"/>
      <p:bldP spid="42025" grpId="0" animBg="1"/>
      <p:bldP spid="42026" grpId="0" animBg="1"/>
      <p:bldP spid="42027" grpId="0" animBg="1"/>
      <p:bldP spid="42028" grpId="0" animBg="1"/>
      <p:bldP spid="42029" grpId="0" animBg="1"/>
      <p:bldP spid="42030" grpId="0" animBg="1"/>
      <p:bldP spid="42031" grpId="0" animBg="1" autoUpdateAnimBg="0"/>
      <p:bldP spid="42032" grpId="0" animBg="1" autoUpdateAnimBg="0"/>
      <p:bldP spid="42033" grpId="0" animBg="1" autoUpdateAnimBg="0"/>
      <p:bldP spid="42034" grpId="0" animBg="1" autoUpdateAnimBg="0"/>
      <p:bldP spid="42035" grpId="0" animBg="1" autoUpdateAnimBg="0"/>
      <p:bldP spid="42036" grpId="0" animBg="1" autoUpdateAnimBg="0"/>
      <p:bldP spid="42037" grpId="0" animBg="1"/>
      <p:bldP spid="42038" grpId="0" animBg="1"/>
      <p:bldP spid="42039" grpId="0" animBg="1"/>
      <p:bldP spid="42040" grpId="0" animBg="1"/>
      <p:bldP spid="42042" grpId="0" animBg="1"/>
      <p:bldP spid="42043" grpId="0" animBg="1"/>
      <p:bldP spid="42044" grpId="0" animBg="1"/>
      <p:bldP spid="42045" grpId="0" animBg="1"/>
      <p:bldP spid="42046" grpId="0" animBg="1"/>
      <p:bldP spid="42047" grpId="0" animBg="1"/>
      <p:bldP spid="42048" grpId="0" animBg="1"/>
      <p:bldP spid="42049" grpId="0" animBg="1"/>
      <p:bldP spid="42051" grpId="0" animBg="1"/>
      <p:bldP spid="42052" grpId="0" animBg="1"/>
      <p:bldP spid="42053" grpId="0" animBg="1"/>
      <p:bldP spid="42054" grpId="0" animBg="1"/>
      <p:bldP spid="42056" grpId="0" animBg="1"/>
      <p:bldP spid="42057" grpId="0" animBg="1"/>
      <p:bldP spid="42058" grpId="0" animBg="1"/>
      <p:bldP spid="42059" grpId="0" animBg="1"/>
      <p:bldP spid="42060" grpId="0" animBg="1"/>
      <p:bldP spid="42061" grpId="0" animBg="1"/>
      <p:bldP spid="42062" grpId="0" autoUpdateAnimBg="0"/>
      <p:bldP spid="42064" grpId="0" autoUpdateAnimBg="0"/>
      <p:bldP spid="42065" grpId="0" autoUpdateAnimBg="0"/>
      <p:bldP spid="42066" grpId="0" autoUpdateAnimBg="0"/>
      <p:bldP spid="42067" grpId="0" autoUpdateAnimBg="0"/>
      <p:bldP spid="42068" grpId="0" autoUpdateAnimBg="0"/>
      <p:bldP spid="42069" grpId="0" autoUpdateAnimBg="0"/>
      <p:bldP spid="42070" grpId="0" autoUpdateAnimBg="0"/>
      <p:bldP spid="42071" grpId="0" autoUpdateAnimBg="0"/>
      <p:bldP spid="42072" grpId="0" autoUpdateAnimBg="0"/>
      <p:bldP spid="42073" grpId="0" autoUpdateAnimBg="0"/>
      <p:bldP spid="42074"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381000" y="2514600"/>
            <a:ext cx="6232525" cy="307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50000"/>
              </a:lnSpc>
            </a:pPr>
            <a:r>
              <a:rPr lang="zh-CN" altLang="en-US" sz="3600">
                <a:solidFill>
                  <a:srgbClr val="990033"/>
                </a:solidFill>
                <a:ea typeface="楷体_GB2312" charset="0"/>
              </a:rPr>
              <a:t>假设 </a:t>
            </a:r>
            <a:r>
              <a:rPr lang="en-US" altLang="zh-CN" sz="3600">
                <a:solidFill>
                  <a:srgbClr val="990033"/>
                </a:solidFill>
                <a:ea typeface="楷体_GB2312" charset="0"/>
              </a:rPr>
              <a:t>n=2</a:t>
            </a:r>
            <a:r>
              <a:rPr lang="en-US" altLang="zh-CN" sz="3600" baseline="30000">
                <a:solidFill>
                  <a:srgbClr val="990033"/>
                </a:solidFill>
                <a:ea typeface="楷体_GB2312" charset="0"/>
              </a:rPr>
              <a:t>h</a:t>
            </a:r>
            <a:r>
              <a:rPr lang="en-US" altLang="zh-CN" sz="3600">
                <a:solidFill>
                  <a:srgbClr val="990033"/>
                </a:solidFill>
                <a:ea typeface="楷体_GB2312" charset="0"/>
              </a:rPr>
              <a:t>-1 </a:t>
            </a:r>
            <a:r>
              <a:rPr lang="zh-CN" altLang="en-US" sz="3600">
                <a:solidFill>
                  <a:srgbClr val="990033"/>
                </a:solidFill>
                <a:ea typeface="楷体_GB2312" charset="0"/>
              </a:rPr>
              <a:t>并且查找概率相等</a:t>
            </a:r>
          </a:p>
          <a:p>
            <a:pPr>
              <a:lnSpc>
                <a:spcPct val="150000"/>
              </a:lnSpc>
            </a:pPr>
            <a:r>
              <a:rPr lang="zh-CN" altLang="en-US" sz="3600">
                <a:solidFill>
                  <a:srgbClr val="990033"/>
                </a:solidFill>
                <a:ea typeface="楷体_GB2312" charset="0"/>
              </a:rPr>
              <a:t>则  </a:t>
            </a:r>
          </a:p>
          <a:p>
            <a:pPr>
              <a:lnSpc>
                <a:spcPct val="115000"/>
              </a:lnSpc>
            </a:pPr>
            <a:r>
              <a:rPr lang="zh-CN" altLang="en-US" sz="3600">
                <a:solidFill>
                  <a:srgbClr val="990033"/>
                </a:solidFill>
                <a:ea typeface="楷体_GB2312" charset="0"/>
              </a:rPr>
              <a:t>  </a:t>
            </a:r>
          </a:p>
          <a:p>
            <a:pPr>
              <a:lnSpc>
                <a:spcPct val="115000"/>
              </a:lnSpc>
            </a:pPr>
            <a:r>
              <a:rPr lang="zh-CN" altLang="en-US" sz="3600">
                <a:solidFill>
                  <a:srgbClr val="990033"/>
                </a:solidFill>
                <a:ea typeface="楷体_GB2312" charset="0"/>
              </a:rPr>
              <a:t>在</a:t>
            </a:r>
            <a:r>
              <a:rPr lang="en-US" altLang="zh-CN" sz="3600">
                <a:solidFill>
                  <a:srgbClr val="990033"/>
                </a:solidFill>
                <a:ea typeface="楷体_GB2312" charset="0"/>
              </a:rPr>
              <a:t>n&gt;50</a:t>
            </a:r>
            <a:r>
              <a:rPr lang="zh-CN" altLang="en-US" sz="3600">
                <a:solidFill>
                  <a:srgbClr val="990033"/>
                </a:solidFill>
                <a:ea typeface="楷体_GB2312" charset="0"/>
              </a:rPr>
              <a:t>时，可得近似结果</a:t>
            </a:r>
            <a:r>
              <a:rPr lang="zh-CN" altLang="en-US" sz="4000">
                <a:solidFill>
                  <a:srgbClr val="990033"/>
                </a:solidFill>
                <a:ea typeface="楷体_GB2312" charset="0"/>
              </a:rPr>
              <a:t> </a:t>
            </a:r>
          </a:p>
        </p:txBody>
      </p:sp>
      <p:sp>
        <p:nvSpPr>
          <p:cNvPr id="43011" name="Text Box 3"/>
          <p:cNvSpPr txBox="1">
            <a:spLocks noChangeArrowheads="1"/>
          </p:cNvSpPr>
          <p:nvPr/>
        </p:nvSpPr>
        <p:spPr bwMode="auto">
          <a:xfrm>
            <a:off x="609600" y="152400"/>
            <a:ext cx="8229600"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4400">
                <a:ea typeface="楷体_GB2312" charset="0"/>
              </a:rPr>
              <a:t>       </a:t>
            </a:r>
            <a:r>
              <a:rPr lang="zh-CN" altLang="en-US" sz="3600">
                <a:solidFill>
                  <a:schemeClr val="accent2"/>
                </a:solidFill>
                <a:ea typeface="楷体_GB2312" charset="0"/>
              </a:rPr>
              <a:t>一般情况下，表长为 </a:t>
            </a:r>
            <a:r>
              <a:rPr lang="en-US" altLang="zh-CN" sz="3600">
                <a:solidFill>
                  <a:schemeClr val="accent2"/>
                </a:solidFill>
                <a:ea typeface="楷体_GB2312" charset="0"/>
              </a:rPr>
              <a:t>n </a:t>
            </a:r>
            <a:r>
              <a:rPr lang="zh-CN" altLang="en-US" sz="3600">
                <a:solidFill>
                  <a:schemeClr val="accent2"/>
                </a:solidFill>
                <a:ea typeface="楷体_GB2312" charset="0"/>
              </a:rPr>
              <a:t>的折半查找的判定树的深度和含有 </a:t>
            </a:r>
            <a:r>
              <a:rPr lang="en-US" altLang="zh-CN" sz="3600">
                <a:solidFill>
                  <a:schemeClr val="accent2"/>
                </a:solidFill>
                <a:ea typeface="楷体_GB2312" charset="0"/>
              </a:rPr>
              <a:t>n </a:t>
            </a:r>
            <a:r>
              <a:rPr lang="zh-CN" altLang="en-US" sz="3600">
                <a:solidFill>
                  <a:schemeClr val="accent2"/>
                </a:solidFill>
                <a:ea typeface="楷体_GB2312" charset="0"/>
              </a:rPr>
              <a:t>个结点的完全二叉树的深度相同。</a:t>
            </a:r>
            <a:endParaRPr lang="zh-CN" altLang="en-US"/>
          </a:p>
        </p:txBody>
      </p:sp>
      <p:graphicFrame>
        <p:nvGraphicFramePr>
          <p:cNvPr id="43012" name="Object 4"/>
          <p:cNvGraphicFramePr>
            <a:graphicFrameLocks noChangeAspect="1"/>
          </p:cNvGraphicFramePr>
          <p:nvPr/>
        </p:nvGraphicFramePr>
        <p:xfrm>
          <a:off x="1066800" y="3505200"/>
          <a:ext cx="7924800" cy="1270000"/>
        </p:xfrm>
        <a:graphic>
          <a:graphicData uri="http://schemas.openxmlformats.org/presentationml/2006/ole">
            <mc:AlternateContent xmlns:mc="http://schemas.openxmlformats.org/markup-compatibility/2006">
              <mc:Choice xmlns:v="urn:schemas-microsoft-com:vml" Requires="v">
                <p:oleObj spid="_x0000_s1310723" name="公式" r:id="rId3" imgW="3314520" imgH="482400" progId="Equation.3">
                  <p:embed/>
                </p:oleObj>
              </mc:Choice>
              <mc:Fallback>
                <p:oleObj name="公式" r:id="rId3" imgW="3314520" imgH="482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505200"/>
                        <a:ext cx="7924800" cy="127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3013" name="Object 5"/>
          <p:cNvGraphicFramePr>
            <a:graphicFrameLocks noChangeAspect="1"/>
          </p:cNvGraphicFramePr>
          <p:nvPr/>
        </p:nvGraphicFramePr>
        <p:xfrm>
          <a:off x="1295400" y="5705475"/>
          <a:ext cx="4572000" cy="771525"/>
        </p:xfrm>
        <a:graphic>
          <a:graphicData uri="http://schemas.openxmlformats.org/presentationml/2006/ole">
            <mc:AlternateContent xmlns:mc="http://schemas.openxmlformats.org/markup-compatibility/2006">
              <mc:Choice xmlns:v="urn:schemas-microsoft-com:vml" Requires="v">
                <p:oleObj spid="_x0000_s1310724" name="公式" r:id="rId5" imgW="1384200" imgH="228600" progId="Equation.3">
                  <p:embed/>
                </p:oleObj>
              </mc:Choice>
              <mc:Fallback>
                <p:oleObj name="公式" r:id="rId5" imgW="13842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5705475"/>
                        <a:ext cx="4572000"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43019" name="AutoShape 11">
            <a:hlinkClick r:id="rId7" action="ppaction://hlinksldjump" highlightClick="1"/>
          </p:cNvPr>
          <p:cNvSpPr>
            <a:spLocks noChangeArrowheads="1"/>
          </p:cNvSpPr>
          <p:nvPr/>
        </p:nvSpPr>
        <p:spPr bwMode="auto">
          <a:xfrm>
            <a:off x="83820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02880909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3011"/>
                                        </p:tgtEl>
                                        <p:attrNameLst>
                                          <p:attrName>style.visibility</p:attrName>
                                        </p:attrNameLst>
                                      </p:cBhvr>
                                      <p:to>
                                        <p:strVal val="visible"/>
                                      </p:to>
                                    </p:set>
                                    <p:anim calcmode="lin" valueType="num">
                                      <p:cBhvr additive="base">
                                        <p:cTn id="7" dur="500" fill="hold"/>
                                        <p:tgtEl>
                                          <p:spTgt spid="43011"/>
                                        </p:tgtEl>
                                        <p:attrNameLst>
                                          <p:attrName>ppt_x</p:attrName>
                                        </p:attrNameLst>
                                      </p:cBhvr>
                                      <p:tavLst>
                                        <p:tav tm="0">
                                          <p:val>
                                            <p:strVal val="#ppt_x"/>
                                          </p:val>
                                        </p:tav>
                                        <p:tav tm="100000">
                                          <p:val>
                                            <p:strVal val="#ppt_x"/>
                                          </p:val>
                                        </p:tav>
                                      </p:tavLst>
                                    </p:anim>
                                    <p:anim calcmode="lin" valueType="num">
                                      <p:cBhvr additive="base">
                                        <p:cTn id="8" dur="500" fill="hold"/>
                                        <p:tgtEl>
                                          <p:spTgt spid="43011"/>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3010"/>
                                        </p:tgtEl>
                                        <p:attrNameLst>
                                          <p:attrName>style.visibility</p:attrName>
                                        </p:attrNameLst>
                                      </p:cBhvr>
                                      <p:to>
                                        <p:strVal val="visible"/>
                                      </p:to>
                                    </p:set>
                                    <p:animEffect transition="in" filter="wipe(left)">
                                      <p:cBhvr>
                                        <p:cTn id="13" dur="500"/>
                                        <p:tgtEl>
                                          <p:spTgt spid="43010"/>
                                        </p:tgtEl>
                                      </p:cBhvr>
                                    </p:animEffect>
                                  </p:childTnLst>
                                </p:cTn>
                              </p:par>
                            </p:childTnLst>
                          </p:cTn>
                        </p:par>
                        <p:par>
                          <p:cTn id="14" fill="hold" nodeType="afterGroup">
                            <p:stCondLst>
                              <p:cond delay="500"/>
                            </p:stCondLst>
                            <p:childTnLst>
                              <p:par>
                                <p:cTn id="15" presetID="1" presetClass="entr" presetSubtype="0" fill="hold" nodeType="afterEffect">
                                  <p:stCondLst>
                                    <p:cond delay="0"/>
                                  </p:stCondLst>
                                  <p:childTnLst>
                                    <p:set>
                                      <p:cBhvr>
                                        <p:cTn id="16" dur="1" fill="hold">
                                          <p:stCondLst>
                                            <p:cond delay="499"/>
                                          </p:stCondLst>
                                        </p:cTn>
                                        <p:tgtEl>
                                          <p:spTgt spid="43012"/>
                                        </p:tgtEl>
                                        <p:attrNameLst>
                                          <p:attrName>style.visibility</p:attrName>
                                        </p:attrNameLst>
                                      </p:cBhvr>
                                      <p:to>
                                        <p:strVal val="visible"/>
                                      </p:to>
                                    </p:set>
                                  </p:childTnLst>
                                </p:cTn>
                              </p:par>
                            </p:childTnLst>
                          </p:cTn>
                        </p:par>
                        <p:par>
                          <p:cTn id="17" fill="hold" nodeType="afterGroup">
                            <p:stCondLst>
                              <p:cond delay="1000"/>
                            </p:stCondLst>
                            <p:childTnLst>
                              <p:par>
                                <p:cTn id="18" presetID="1" presetClass="entr" presetSubtype="0" fill="hold" nodeType="afterEffect">
                                  <p:stCondLst>
                                    <p:cond delay="0"/>
                                  </p:stCondLst>
                                  <p:childTnLst>
                                    <p:set>
                                      <p:cBhvr>
                                        <p:cTn id="19" dur="1" fill="hold">
                                          <p:stCondLst>
                                            <p:cond delay="499"/>
                                          </p:stCondLst>
                                        </p:cTn>
                                        <p:tgtEl>
                                          <p:spTgt spid="43013"/>
                                        </p:tgtEl>
                                        <p:attrNameLst>
                                          <p:attrName>style.visibility</p:attrName>
                                        </p:attrNameLst>
                                      </p:cBhvr>
                                      <p:to>
                                        <p:strVal val="visible"/>
                                      </p:to>
                                    </p:set>
                                  </p:childTnLst>
                                </p:cTn>
                              </p:par>
                            </p:childTnLst>
                          </p:cTn>
                        </p:par>
                        <p:par>
                          <p:cTn id="20" fill="hold" nodeType="afterGroup">
                            <p:stCondLst>
                              <p:cond delay="1500"/>
                            </p:stCondLst>
                            <p:childTnLst>
                              <p:par>
                                <p:cTn id="21" presetID="2" presetClass="entr" presetSubtype="6" fill="hold" grpId="0" nodeType="afterEffect">
                                  <p:stCondLst>
                                    <p:cond delay="0"/>
                                  </p:stCondLst>
                                  <p:childTnLst>
                                    <p:set>
                                      <p:cBhvr>
                                        <p:cTn id="22" dur="1" fill="hold">
                                          <p:stCondLst>
                                            <p:cond delay="0"/>
                                          </p:stCondLst>
                                        </p:cTn>
                                        <p:tgtEl>
                                          <p:spTgt spid="43019"/>
                                        </p:tgtEl>
                                        <p:attrNameLst>
                                          <p:attrName>style.visibility</p:attrName>
                                        </p:attrNameLst>
                                      </p:cBhvr>
                                      <p:to>
                                        <p:strVal val="visible"/>
                                      </p:to>
                                    </p:set>
                                    <p:anim calcmode="lin" valueType="num">
                                      <p:cBhvr additive="base">
                                        <p:cTn id="23" dur="500" fill="hold"/>
                                        <p:tgtEl>
                                          <p:spTgt spid="43019"/>
                                        </p:tgtEl>
                                        <p:attrNameLst>
                                          <p:attrName>ppt_x</p:attrName>
                                        </p:attrNameLst>
                                      </p:cBhvr>
                                      <p:tavLst>
                                        <p:tav tm="0">
                                          <p:val>
                                            <p:strVal val="1+#ppt_w/2"/>
                                          </p:val>
                                        </p:tav>
                                        <p:tav tm="100000">
                                          <p:val>
                                            <p:strVal val="#ppt_x"/>
                                          </p:val>
                                        </p:tav>
                                      </p:tavLst>
                                    </p:anim>
                                    <p:anim calcmode="lin" valueType="num">
                                      <p:cBhvr additive="base">
                                        <p:cTn id="24" dur="500" fill="hold"/>
                                        <p:tgtEl>
                                          <p:spTgt spid="430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autoUpdateAnimBg="0"/>
      <p:bldP spid="43011" grpId="0" autoUpdateAnimBg="0"/>
      <p:bldP spid="4301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1447800" y="2514600"/>
            <a:ext cx="7343775" cy="206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zh-CN" altLang="en-US" sz="3600">
                <a:ea typeface="楷体_GB2312" charset="0"/>
              </a:rPr>
              <a:t>关键字</a:t>
            </a:r>
            <a:r>
              <a:rPr lang="en-US" altLang="zh-CN" sz="3600">
                <a:ea typeface="楷体_GB2312" charset="0"/>
              </a:rPr>
              <a:t>:    </a:t>
            </a:r>
            <a:r>
              <a:rPr lang="en-US" altLang="zh-CN" sz="3600">
                <a:solidFill>
                  <a:srgbClr val="008000"/>
                </a:solidFill>
                <a:ea typeface="楷体_GB2312" charset="0"/>
              </a:rPr>
              <a:t>A     B     C      D      E</a:t>
            </a:r>
          </a:p>
          <a:p>
            <a:pPr>
              <a:lnSpc>
                <a:spcPct val="120000"/>
              </a:lnSpc>
            </a:pPr>
            <a:r>
              <a:rPr lang="en-US" altLang="zh-CN" sz="3600">
                <a:ea typeface="楷体_GB2312" charset="0"/>
              </a:rPr>
              <a:t>  Pi:         </a:t>
            </a:r>
            <a:r>
              <a:rPr lang="en-US" altLang="zh-CN" sz="3600">
                <a:solidFill>
                  <a:srgbClr val="0033CC"/>
                </a:solidFill>
                <a:ea typeface="楷体_GB2312" charset="0"/>
              </a:rPr>
              <a:t>0.2   0.3  0.05   0.3   0.15</a:t>
            </a:r>
            <a:r>
              <a:rPr lang="en-US" altLang="zh-CN" sz="3600">
                <a:ea typeface="楷体_GB2312" charset="0"/>
              </a:rPr>
              <a:t>  </a:t>
            </a:r>
          </a:p>
          <a:p>
            <a:pPr>
              <a:lnSpc>
                <a:spcPct val="120000"/>
              </a:lnSpc>
            </a:pPr>
            <a:r>
              <a:rPr lang="en-US" altLang="zh-CN" sz="3600">
                <a:ea typeface="楷体_GB2312" charset="0"/>
              </a:rPr>
              <a:t>  Ci:          </a:t>
            </a:r>
            <a:r>
              <a:rPr lang="en-US" altLang="zh-CN" sz="3600" b="1">
                <a:solidFill>
                  <a:srgbClr val="6600CC"/>
                </a:solidFill>
                <a:ea typeface="楷体_GB2312" charset="0"/>
              </a:rPr>
              <a:t>2      3      1       2       3</a:t>
            </a:r>
            <a:endParaRPr lang="en-US" altLang="zh-CN" sz="3600">
              <a:solidFill>
                <a:srgbClr val="6600CC"/>
              </a:solidFill>
            </a:endParaRPr>
          </a:p>
        </p:txBody>
      </p:sp>
      <p:sp>
        <p:nvSpPr>
          <p:cNvPr id="44035" name="Text Box 3"/>
          <p:cNvSpPr txBox="1">
            <a:spLocks noChangeArrowheads="1"/>
          </p:cNvSpPr>
          <p:nvPr/>
        </p:nvSpPr>
        <p:spPr bwMode="auto">
          <a:xfrm>
            <a:off x="533400" y="152400"/>
            <a:ext cx="47529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zh-CN" altLang="en-US" sz="4400" b="1">
                <a:solidFill>
                  <a:srgbClr val="006600"/>
                </a:solidFill>
                <a:ea typeface="隶书" charset="0"/>
              </a:rPr>
              <a:t>三、静态查找树表</a:t>
            </a:r>
          </a:p>
        </p:txBody>
      </p:sp>
      <p:sp>
        <p:nvSpPr>
          <p:cNvPr id="44036" name="Text Box 4"/>
          <p:cNvSpPr txBox="1">
            <a:spLocks noChangeArrowheads="1"/>
          </p:cNvSpPr>
          <p:nvPr/>
        </p:nvSpPr>
        <p:spPr bwMode="auto">
          <a:xfrm>
            <a:off x="457200" y="1025525"/>
            <a:ext cx="80010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3600">
                <a:solidFill>
                  <a:srgbClr val="800000"/>
                </a:solidFill>
                <a:ea typeface="楷体_GB2312" charset="0"/>
              </a:rPr>
              <a:t>   </a:t>
            </a:r>
            <a:r>
              <a:rPr lang="zh-CN" altLang="en-US" sz="3600">
                <a:solidFill>
                  <a:srgbClr val="800000"/>
                </a:solidFill>
                <a:ea typeface="楷体_GB2312" charset="0"/>
              </a:rPr>
              <a:t>在</a:t>
            </a:r>
            <a:r>
              <a:rPr lang="zh-CN" altLang="en-US" sz="3600" b="1">
                <a:solidFill>
                  <a:srgbClr val="800000"/>
                </a:solidFill>
                <a:ea typeface="楷体_GB2312" charset="0"/>
              </a:rPr>
              <a:t>不等概率查找</a:t>
            </a:r>
            <a:r>
              <a:rPr lang="zh-CN" altLang="en-US" sz="3600">
                <a:solidFill>
                  <a:srgbClr val="CC6600"/>
                </a:solidFill>
                <a:ea typeface="楷体_GB2312" charset="0"/>
              </a:rPr>
              <a:t>的情况下，</a:t>
            </a:r>
            <a:r>
              <a:rPr lang="zh-CN" altLang="en-US" sz="3600" b="1">
                <a:solidFill>
                  <a:srgbClr val="CC6600"/>
                </a:solidFill>
                <a:ea typeface="楷体_GB2312" charset="0"/>
              </a:rPr>
              <a:t>折半查找</a:t>
            </a:r>
            <a:r>
              <a:rPr lang="zh-CN" altLang="en-US" sz="3600" b="1">
                <a:solidFill>
                  <a:srgbClr val="800000"/>
                </a:solidFill>
                <a:ea typeface="楷体_GB2312" charset="0"/>
              </a:rPr>
              <a:t>不是</a:t>
            </a:r>
            <a:r>
              <a:rPr lang="zh-CN" altLang="en-US" sz="3600">
                <a:solidFill>
                  <a:srgbClr val="CC6600"/>
                </a:solidFill>
                <a:ea typeface="楷体_GB2312" charset="0"/>
              </a:rPr>
              <a:t>有序表最好的查找方法。</a:t>
            </a:r>
          </a:p>
        </p:txBody>
      </p:sp>
      <p:sp>
        <p:nvSpPr>
          <p:cNvPr id="44037" name="Text Box 5"/>
          <p:cNvSpPr txBox="1">
            <a:spLocks noChangeArrowheads="1"/>
          </p:cNvSpPr>
          <p:nvPr/>
        </p:nvSpPr>
        <p:spPr bwMode="auto">
          <a:xfrm>
            <a:off x="76200" y="2471738"/>
            <a:ext cx="1379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FF3300"/>
                </a:solidFill>
                <a:ea typeface="楷体_GB2312" charset="0"/>
              </a:rPr>
              <a:t>例如</a:t>
            </a:r>
            <a:r>
              <a:rPr lang="en-US" altLang="zh-CN" sz="4000" b="1">
                <a:solidFill>
                  <a:srgbClr val="FF3300"/>
                </a:solidFill>
                <a:ea typeface="楷体_GB2312" charset="0"/>
              </a:rPr>
              <a:t>:</a:t>
            </a:r>
            <a:endParaRPr lang="en-US" altLang="zh-CN">
              <a:solidFill>
                <a:srgbClr val="CC0000"/>
              </a:solidFill>
            </a:endParaRPr>
          </a:p>
        </p:txBody>
      </p:sp>
      <p:sp>
        <p:nvSpPr>
          <p:cNvPr id="44038" name="Text Box 6"/>
          <p:cNvSpPr txBox="1">
            <a:spLocks noChangeArrowheads="1"/>
          </p:cNvSpPr>
          <p:nvPr/>
        </p:nvSpPr>
        <p:spPr bwMode="auto">
          <a:xfrm>
            <a:off x="76200" y="4343400"/>
            <a:ext cx="89535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200">
                <a:ea typeface="楷体_GB2312" charset="0"/>
              </a:rPr>
              <a:t>此时 </a:t>
            </a:r>
            <a:r>
              <a:rPr lang="en-US" altLang="zh-CN" sz="3200">
                <a:solidFill>
                  <a:srgbClr val="990033"/>
                </a:solidFill>
                <a:ea typeface="楷体_GB2312" charset="0"/>
              </a:rPr>
              <a:t>ASL=2</a:t>
            </a:r>
            <a:r>
              <a:rPr lang="en-US" altLang="zh-CN" sz="3200">
                <a:solidFill>
                  <a:srgbClr val="990033"/>
                </a:solidFill>
                <a:ea typeface="楷体_GB2312" charset="0"/>
                <a:sym typeface="Symbol" charset="2"/>
              </a:rPr>
              <a:t>0.2+30.3+10.05+20.3+30.15=</a:t>
            </a:r>
            <a:r>
              <a:rPr lang="en-US" altLang="zh-CN" sz="4000" b="1">
                <a:solidFill>
                  <a:srgbClr val="990033"/>
                </a:solidFill>
                <a:ea typeface="楷体_GB2312" charset="0"/>
              </a:rPr>
              <a:t>2.4</a:t>
            </a:r>
            <a:endParaRPr lang="en-US" altLang="zh-CN"/>
          </a:p>
        </p:txBody>
      </p:sp>
      <p:sp>
        <p:nvSpPr>
          <p:cNvPr id="44039" name="Text Box 7"/>
          <p:cNvSpPr txBox="1">
            <a:spLocks noChangeArrowheads="1"/>
          </p:cNvSpPr>
          <p:nvPr/>
        </p:nvSpPr>
        <p:spPr bwMode="auto">
          <a:xfrm>
            <a:off x="212725" y="5149850"/>
            <a:ext cx="7473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ea typeface="楷体_GB2312" charset="0"/>
              </a:rPr>
              <a:t>若改变</a:t>
            </a:r>
            <a:r>
              <a:rPr lang="en-US" altLang="zh-CN" sz="3600">
                <a:ea typeface="楷体_GB2312" charset="0"/>
              </a:rPr>
              <a:t>Ci</a:t>
            </a:r>
            <a:r>
              <a:rPr lang="zh-CN" altLang="en-US" sz="3600">
                <a:ea typeface="楷体_GB2312" charset="0"/>
              </a:rPr>
              <a:t>的值    </a:t>
            </a:r>
            <a:r>
              <a:rPr lang="en-US" altLang="zh-CN" sz="3600" b="1">
                <a:solidFill>
                  <a:srgbClr val="6600CC"/>
                </a:solidFill>
                <a:ea typeface="楷体_GB2312" charset="0"/>
              </a:rPr>
              <a:t>2      1      3        2      3</a:t>
            </a:r>
            <a:endParaRPr lang="en-US" altLang="zh-CN"/>
          </a:p>
        </p:txBody>
      </p:sp>
      <p:sp>
        <p:nvSpPr>
          <p:cNvPr id="44040" name="Text Box 8"/>
          <p:cNvSpPr txBox="1">
            <a:spLocks noChangeArrowheads="1"/>
          </p:cNvSpPr>
          <p:nvPr/>
        </p:nvSpPr>
        <p:spPr bwMode="auto">
          <a:xfrm>
            <a:off x="228600" y="5867400"/>
            <a:ext cx="85471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200">
                <a:ea typeface="楷体_GB2312" charset="0"/>
              </a:rPr>
              <a:t>则 </a:t>
            </a:r>
            <a:r>
              <a:rPr lang="en-US" altLang="zh-CN" sz="3200">
                <a:solidFill>
                  <a:srgbClr val="990033"/>
                </a:solidFill>
                <a:ea typeface="楷体_GB2312" charset="0"/>
              </a:rPr>
              <a:t>ASL=2</a:t>
            </a:r>
            <a:r>
              <a:rPr lang="en-US" altLang="zh-CN" sz="3200">
                <a:solidFill>
                  <a:srgbClr val="990033"/>
                </a:solidFill>
                <a:ea typeface="楷体_GB2312" charset="0"/>
                <a:sym typeface="Symbol" charset="2"/>
              </a:rPr>
              <a:t>0.2+10.3+30.05+20.3+30.15=</a:t>
            </a:r>
            <a:r>
              <a:rPr lang="en-US" altLang="zh-CN" sz="4000" b="1">
                <a:solidFill>
                  <a:srgbClr val="990033"/>
                </a:solidFill>
                <a:ea typeface="楷体_GB2312" charset="0"/>
              </a:rPr>
              <a:t>1.9</a:t>
            </a:r>
            <a:endParaRPr lang="en-US" altLang="zh-CN"/>
          </a:p>
        </p:txBody>
      </p:sp>
    </p:spTree>
    <p:extLst>
      <p:ext uri="{BB962C8B-B14F-4D97-AF65-F5344CB8AC3E}">
        <p14:creationId xmlns:p14="http://schemas.microsoft.com/office/powerpoint/2010/main" val="5080839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36"/>
                                        </p:tgtEl>
                                        <p:attrNameLst>
                                          <p:attrName>style.visibility</p:attrName>
                                        </p:attrNameLst>
                                      </p:cBhvr>
                                      <p:to>
                                        <p:strVal val="visible"/>
                                      </p:to>
                                    </p:set>
                                    <p:animEffect transition="in" filter="wipe(left)">
                                      <p:cBhvr>
                                        <p:cTn id="7" dur="500"/>
                                        <p:tgtEl>
                                          <p:spTgt spid="440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4037"/>
                                        </p:tgtEl>
                                        <p:attrNameLst>
                                          <p:attrName>style.visibility</p:attrName>
                                        </p:attrNameLst>
                                      </p:cBhvr>
                                      <p:to>
                                        <p:strVal val="visible"/>
                                      </p:to>
                                    </p:set>
                                    <p:animEffect transition="in" filter="barn(inVertical)">
                                      <p:cBhvr>
                                        <p:cTn id="12" dur="500"/>
                                        <p:tgtEl>
                                          <p:spTgt spid="440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9" fill="hold" grpId="0" nodeType="clickEffect">
                                  <p:stCondLst>
                                    <p:cond delay="0"/>
                                  </p:stCondLst>
                                  <p:childTnLst>
                                    <p:set>
                                      <p:cBhvr>
                                        <p:cTn id="16" dur="1" fill="hold">
                                          <p:stCondLst>
                                            <p:cond delay="0"/>
                                          </p:stCondLst>
                                        </p:cTn>
                                        <p:tgtEl>
                                          <p:spTgt spid="44034"/>
                                        </p:tgtEl>
                                        <p:attrNameLst>
                                          <p:attrName>style.visibility</p:attrName>
                                        </p:attrNameLst>
                                      </p:cBhvr>
                                      <p:to>
                                        <p:strVal val="visible"/>
                                      </p:to>
                                    </p:set>
                                    <p:animEffect transition="in" filter="strips(upLeft)">
                                      <p:cBhvr>
                                        <p:cTn id="17" dur="500"/>
                                        <p:tgtEl>
                                          <p:spTgt spid="440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4038"/>
                                        </p:tgtEl>
                                        <p:attrNameLst>
                                          <p:attrName>style.visibility</p:attrName>
                                        </p:attrNameLst>
                                      </p:cBhvr>
                                      <p:to>
                                        <p:strVal val="visible"/>
                                      </p:to>
                                    </p:set>
                                    <p:animEffect transition="in" filter="wipe(left)">
                                      <p:cBhvr>
                                        <p:cTn id="22" dur="500"/>
                                        <p:tgtEl>
                                          <p:spTgt spid="440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37" fill="hold" grpId="0" nodeType="clickEffect">
                                  <p:stCondLst>
                                    <p:cond delay="0"/>
                                  </p:stCondLst>
                                  <p:childTnLst>
                                    <p:set>
                                      <p:cBhvr>
                                        <p:cTn id="26" dur="1" fill="hold">
                                          <p:stCondLst>
                                            <p:cond delay="0"/>
                                          </p:stCondLst>
                                        </p:cTn>
                                        <p:tgtEl>
                                          <p:spTgt spid="44039"/>
                                        </p:tgtEl>
                                        <p:attrNameLst>
                                          <p:attrName>style.visibility</p:attrName>
                                        </p:attrNameLst>
                                      </p:cBhvr>
                                      <p:to>
                                        <p:strVal val="visible"/>
                                      </p:to>
                                    </p:set>
                                    <p:animEffect transition="in" filter="barn(outVertical)">
                                      <p:cBhvr>
                                        <p:cTn id="27" dur="500"/>
                                        <p:tgtEl>
                                          <p:spTgt spid="440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4040"/>
                                        </p:tgtEl>
                                        <p:attrNameLst>
                                          <p:attrName>style.visibility</p:attrName>
                                        </p:attrNameLst>
                                      </p:cBhvr>
                                      <p:to>
                                        <p:strVal val="visible"/>
                                      </p:to>
                                    </p:set>
                                    <p:animEffect transition="in" filter="wipe(left)">
                                      <p:cBhvr>
                                        <p:cTn id="32" dur="500"/>
                                        <p:tgtEl>
                                          <p:spTgt spid="44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autoUpdateAnimBg="0"/>
      <p:bldP spid="44036" grpId="0" autoUpdateAnimBg="0"/>
      <p:bldP spid="44037" grpId="0" autoUpdateAnimBg="0"/>
      <p:bldP spid="44038" grpId="0" autoUpdateAnimBg="0"/>
      <p:bldP spid="44039" grpId="0" autoUpdateAnimBg="0"/>
      <p:bldP spid="44040"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304800" y="884238"/>
            <a:ext cx="7804150" cy="525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220000"/>
              </a:lnSpc>
            </a:pPr>
            <a:r>
              <a:rPr lang="en-US" altLang="zh-CN" sz="4400">
                <a:ea typeface="楷体_GB2312" charset="0"/>
              </a:rPr>
              <a:t> </a:t>
            </a:r>
            <a:r>
              <a:rPr lang="zh-CN" altLang="en-US" sz="4400">
                <a:solidFill>
                  <a:schemeClr val="accent2"/>
                </a:solidFill>
                <a:ea typeface="楷体_GB2312" charset="0"/>
              </a:rPr>
              <a:t>使   </a:t>
            </a:r>
          </a:p>
          <a:p>
            <a:pPr>
              <a:lnSpc>
                <a:spcPct val="220000"/>
              </a:lnSpc>
            </a:pPr>
            <a:r>
              <a:rPr lang="zh-CN" altLang="en-US" sz="4000">
                <a:solidFill>
                  <a:schemeClr val="accent2"/>
                </a:solidFill>
                <a:ea typeface="楷体_GB2312" charset="0"/>
              </a:rPr>
              <a:t>达最小的判定树称为</a:t>
            </a:r>
            <a:r>
              <a:rPr lang="zh-CN" altLang="en-US" sz="4000">
                <a:solidFill>
                  <a:srgbClr val="FF00FF"/>
                </a:solidFill>
                <a:ea typeface="楷体_GB2312" charset="0"/>
              </a:rPr>
              <a:t>最优二叉树</a:t>
            </a:r>
            <a:r>
              <a:rPr lang="zh-CN" altLang="en-US" sz="4000">
                <a:ea typeface="楷体_GB2312" charset="0"/>
              </a:rPr>
              <a:t>，</a:t>
            </a:r>
            <a:endParaRPr lang="zh-CN" altLang="en-US" sz="4400">
              <a:ea typeface="楷体_GB2312" charset="0"/>
            </a:endParaRPr>
          </a:p>
          <a:p>
            <a:pPr>
              <a:lnSpc>
                <a:spcPct val="220000"/>
              </a:lnSpc>
            </a:pPr>
            <a:r>
              <a:rPr lang="zh-CN" altLang="en-US" sz="4400">
                <a:solidFill>
                  <a:schemeClr val="accent2"/>
                </a:solidFill>
                <a:ea typeface="楷体_GB2312" charset="0"/>
              </a:rPr>
              <a:t>其中</a:t>
            </a:r>
            <a:r>
              <a:rPr lang="en-US" altLang="zh-CN" sz="4400">
                <a:solidFill>
                  <a:schemeClr val="accent2"/>
                </a:solidFill>
                <a:ea typeface="楷体_GB2312" charset="0"/>
              </a:rPr>
              <a:t>:</a:t>
            </a:r>
            <a:r>
              <a:rPr lang="en-US" altLang="zh-CN" sz="4400">
                <a:ea typeface="楷体_GB2312" charset="0"/>
              </a:rPr>
              <a:t>   </a:t>
            </a:r>
          </a:p>
          <a:p>
            <a:pPr>
              <a:lnSpc>
                <a:spcPct val="130000"/>
              </a:lnSpc>
            </a:pPr>
            <a:endParaRPr lang="en-US" altLang="zh-CN" sz="4400"/>
          </a:p>
        </p:txBody>
      </p:sp>
      <p:graphicFrame>
        <p:nvGraphicFramePr>
          <p:cNvPr id="45059" name="Object 3"/>
          <p:cNvGraphicFramePr>
            <a:graphicFrameLocks noChangeAspect="1"/>
          </p:cNvGraphicFramePr>
          <p:nvPr/>
        </p:nvGraphicFramePr>
        <p:xfrm>
          <a:off x="1295400" y="1066800"/>
          <a:ext cx="7539038" cy="1854200"/>
        </p:xfrm>
        <a:graphic>
          <a:graphicData uri="http://schemas.openxmlformats.org/presentationml/2006/ole">
            <mc:AlternateContent xmlns:mc="http://schemas.openxmlformats.org/markup-compatibility/2006">
              <mc:Choice xmlns:v="urn:schemas-microsoft-com:vml" Requires="v">
                <p:oleObj spid="_x0000_s1312771" name="公式" r:id="rId3" imgW="2273040" imgH="634680" progId="Equation.3">
                  <p:embed/>
                </p:oleObj>
              </mc:Choice>
              <mc:Fallback>
                <p:oleObj name="公式" r:id="rId3" imgW="2273040" imgH="6346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066800"/>
                        <a:ext cx="7539038" cy="185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5060" name="Object 4"/>
          <p:cNvGraphicFramePr>
            <a:graphicFrameLocks noChangeAspect="1"/>
          </p:cNvGraphicFramePr>
          <p:nvPr/>
        </p:nvGraphicFramePr>
        <p:xfrm>
          <a:off x="1768475" y="3962400"/>
          <a:ext cx="5456238" cy="1517650"/>
        </p:xfrm>
        <a:graphic>
          <a:graphicData uri="http://schemas.openxmlformats.org/presentationml/2006/ole">
            <mc:AlternateContent xmlns:mc="http://schemas.openxmlformats.org/markup-compatibility/2006">
              <mc:Choice xmlns:v="urn:schemas-microsoft-com:vml" Requires="v">
                <p:oleObj spid="_x0000_s1312772" name="公式" r:id="rId5" imgW="1269720" imgH="533160" progId="Equation.3">
                  <p:embed/>
                </p:oleObj>
              </mc:Choice>
              <mc:Fallback>
                <p:oleObj name="公式" r:id="rId5" imgW="1269720" imgH="5331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8475" y="3962400"/>
                        <a:ext cx="5456238" cy="151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45061" name="Text Box 5"/>
          <p:cNvSpPr txBox="1">
            <a:spLocks noChangeArrowheads="1"/>
          </p:cNvSpPr>
          <p:nvPr/>
        </p:nvSpPr>
        <p:spPr bwMode="auto">
          <a:xfrm>
            <a:off x="533400" y="457200"/>
            <a:ext cx="14970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CC0000"/>
                </a:solidFill>
                <a:ea typeface="楷体_GB2312" charset="0"/>
              </a:rPr>
              <a:t>定义</a:t>
            </a:r>
            <a:r>
              <a:rPr lang="en-US" altLang="zh-CN" sz="4400" b="1">
                <a:solidFill>
                  <a:srgbClr val="CC0000"/>
                </a:solidFill>
                <a:ea typeface="楷体_GB2312" charset="0"/>
              </a:rPr>
              <a:t>:</a:t>
            </a:r>
          </a:p>
        </p:txBody>
      </p:sp>
    </p:spTree>
    <p:extLst>
      <p:ext uri="{BB962C8B-B14F-4D97-AF65-F5344CB8AC3E}">
        <p14:creationId xmlns:p14="http://schemas.microsoft.com/office/powerpoint/2010/main" val="17358798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grpId="0" nodeType="clickEffect">
                                  <p:stCondLst>
                                    <p:cond delay="0"/>
                                  </p:stCondLst>
                                  <p:childTnLst>
                                    <p:set>
                                      <p:cBhvr>
                                        <p:cTn id="6" dur="1" fill="hold">
                                          <p:stCondLst>
                                            <p:cond delay="0"/>
                                          </p:stCondLst>
                                        </p:cTn>
                                        <p:tgtEl>
                                          <p:spTgt spid="45061"/>
                                        </p:tgtEl>
                                        <p:attrNameLst>
                                          <p:attrName>style.visibility</p:attrName>
                                        </p:attrNameLst>
                                      </p:cBhvr>
                                      <p:to>
                                        <p:strVal val="visible"/>
                                      </p:to>
                                    </p:set>
                                    <p:anim calcmode="lin" valueType="num">
                                      <p:cBhvr additive="base">
                                        <p:cTn id="7" dur="500" fill="hold"/>
                                        <p:tgtEl>
                                          <p:spTgt spid="45061"/>
                                        </p:tgtEl>
                                        <p:attrNameLst>
                                          <p:attrName>ppt_x</p:attrName>
                                        </p:attrNameLst>
                                      </p:cBhvr>
                                      <p:tavLst>
                                        <p:tav tm="0">
                                          <p:val>
                                            <p:strVal val="0-#ppt_w/2"/>
                                          </p:val>
                                        </p:tav>
                                        <p:tav tm="100000">
                                          <p:val>
                                            <p:strVal val="#ppt_x"/>
                                          </p:val>
                                        </p:tav>
                                      </p:tavLst>
                                    </p:anim>
                                    <p:anim calcmode="lin" valueType="num">
                                      <p:cBhvr additive="base">
                                        <p:cTn id="8" dur="500" fill="hold"/>
                                        <p:tgtEl>
                                          <p:spTgt spid="45061"/>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5058"/>
                                        </p:tgtEl>
                                        <p:attrNameLst>
                                          <p:attrName>style.visibility</p:attrName>
                                        </p:attrNameLst>
                                      </p:cBhvr>
                                      <p:to>
                                        <p:strVal val="visible"/>
                                      </p:to>
                                    </p:set>
                                    <p:animEffect transition="in" filter="wipe(left)">
                                      <p:cBhvr>
                                        <p:cTn id="13" dur="500"/>
                                        <p:tgtEl>
                                          <p:spTgt spid="45058"/>
                                        </p:tgtEl>
                                      </p:cBhvr>
                                    </p:animEffect>
                                  </p:childTnLst>
                                </p:cTn>
                              </p:par>
                            </p:childTnLst>
                          </p:cTn>
                        </p:par>
                        <p:par>
                          <p:cTn id="14" fill="hold" nodeType="afterGroup">
                            <p:stCondLst>
                              <p:cond delay="500"/>
                            </p:stCondLst>
                            <p:childTnLst>
                              <p:par>
                                <p:cTn id="15" presetID="1" presetClass="entr" presetSubtype="0" fill="hold" nodeType="afterEffect">
                                  <p:stCondLst>
                                    <p:cond delay="0"/>
                                  </p:stCondLst>
                                  <p:childTnLst>
                                    <p:set>
                                      <p:cBhvr>
                                        <p:cTn id="16" dur="1" fill="hold">
                                          <p:stCondLst>
                                            <p:cond delay="499"/>
                                          </p:stCondLst>
                                        </p:cTn>
                                        <p:tgtEl>
                                          <p:spTgt spid="45059"/>
                                        </p:tgtEl>
                                        <p:attrNameLst>
                                          <p:attrName>style.visibility</p:attrName>
                                        </p:attrNameLst>
                                      </p:cBhvr>
                                      <p:to>
                                        <p:strVal val="visible"/>
                                      </p:to>
                                    </p:set>
                                  </p:childTnLst>
                                </p:cTn>
                              </p:par>
                            </p:childTnLst>
                          </p:cTn>
                        </p:par>
                        <p:par>
                          <p:cTn id="17" fill="hold" nodeType="afterGroup">
                            <p:stCondLst>
                              <p:cond delay="1000"/>
                            </p:stCondLst>
                            <p:childTnLst>
                              <p:par>
                                <p:cTn id="18" presetID="1" presetClass="entr" presetSubtype="0" fill="hold" nodeType="afterEffect">
                                  <p:stCondLst>
                                    <p:cond delay="0"/>
                                  </p:stCondLst>
                                  <p:childTnLst>
                                    <p:set>
                                      <p:cBhvr>
                                        <p:cTn id="19" dur="1" fill="hold">
                                          <p:stCondLst>
                                            <p:cond delay="499"/>
                                          </p:stCondLst>
                                        </p:cTn>
                                        <p:tgtEl>
                                          <p:spTgt spid="450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autoUpdateAnimBg="0"/>
      <p:bldP spid="45061"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533400" y="1319213"/>
            <a:ext cx="8401050" cy="2592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ea typeface="楷体_GB2312" charset="0"/>
              </a:rPr>
              <a:t>为计算方便，令 </a:t>
            </a:r>
            <a:r>
              <a:rPr lang="en-US" altLang="zh-CN" sz="3600">
                <a:ea typeface="楷体_GB2312" charset="0"/>
              </a:rPr>
              <a:t>w</a:t>
            </a:r>
            <a:r>
              <a:rPr lang="en-US" altLang="zh-CN" sz="3600" baseline="-25000">
                <a:ea typeface="楷体_GB2312" charset="0"/>
              </a:rPr>
              <a:t>i</a:t>
            </a:r>
            <a:r>
              <a:rPr lang="en-US" altLang="zh-CN" sz="3600">
                <a:ea typeface="楷体_GB2312" charset="0"/>
              </a:rPr>
              <a:t> = </a:t>
            </a:r>
            <a:r>
              <a:rPr lang="en-US" altLang="zh-CN" sz="3600">
                <a:ea typeface="楷体_GB2312" charset="0"/>
                <a:sym typeface="Symbol" charset="2"/>
              </a:rPr>
              <a:t></a:t>
            </a:r>
            <a:r>
              <a:rPr lang="en-US" altLang="zh-CN" sz="3600">
                <a:ea typeface="楷体_GB2312" charset="0"/>
              </a:rPr>
              <a:t>p</a:t>
            </a:r>
            <a:r>
              <a:rPr lang="en-US" altLang="zh-CN" sz="3600" baseline="-25000">
                <a:ea typeface="楷体_GB2312" charset="0"/>
              </a:rPr>
              <a:t>i</a:t>
            </a:r>
          </a:p>
          <a:p>
            <a:pPr>
              <a:lnSpc>
                <a:spcPct val="130000"/>
              </a:lnSpc>
            </a:pPr>
            <a:r>
              <a:rPr lang="zh-CN" altLang="en-US" sz="3600">
                <a:ea typeface="楷体_GB2312" charset="0"/>
              </a:rPr>
              <a:t>选择二叉树的根结点，</a:t>
            </a:r>
          </a:p>
          <a:p>
            <a:pPr>
              <a:lnSpc>
                <a:spcPct val="130000"/>
              </a:lnSpc>
            </a:pPr>
            <a:r>
              <a:rPr lang="zh-CN" altLang="en-US" sz="3600">
                <a:ea typeface="楷体_GB2312" charset="0"/>
              </a:rPr>
              <a:t>使                                                   达最小</a:t>
            </a:r>
            <a:r>
              <a:rPr lang="zh-CN" altLang="en-US" sz="4400">
                <a:ea typeface="楷体_GB2312" charset="0"/>
              </a:rPr>
              <a:t>    </a:t>
            </a:r>
          </a:p>
          <a:p>
            <a:endParaRPr lang="zh-CN" altLang="en-US"/>
          </a:p>
        </p:txBody>
      </p:sp>
      <p:graphicFrame>
        <p:nvGraphicFramePr>
          <p:cNvPr id="46083" name="Object 3"/>
          <p:cNvGraphicFramePr>
            <a:graphicFrameLocks noChangeAspect="1"/>
          </p:cNvGraphicFramePr>
          <p:nvPr/>
        </p:nvGraphicFramePr>
        <p:xfrm>
          <a:off x="1524000" y="2705100"/>
          <a:ext cx="4953000" cy="1104900"/>
        </p:xfrm>
        <a:graphic>
          <a:graphicData uri="http://schemas.openxmlformats.org/presentationml/2006/ole">
            <mc:AlternateContent xmlns:mc="http://schemas.openxmlformats.org/markup-compatibility/2006">
              <mc:Choice xmlns:v="urn:schemas-microsoft-com:vml" Requires="v">
                <p:oleObj spid="_x0000_s1313796" name="公式" r:id="rId3" imgW="1295280" imgH="482400" progId="Equation.3">
                  <p:embed/>
                </p:oleObj>
              </mc:Choice>
              <mc:Fallback>
                <p:oleObj name="公式" r:id="rId3" imgW="1295280" imgH="482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705100"/>
                        <a:ext cx="4953000"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6084" name="Object 4"/>
          <p:cNvGraphicFramePr>
            <a:graphicFrameLocks noChangeAspect="1"/>
          </p:cNvGraphicFramePr>
          <p:nvPr/>
        </p:nvGraphicFramePr>
        <p:xfrm>
          <a:off x="2971800" y="5867400"/>
          <a:ext cx="5181600" cy="762000"/>
        </p:xfrm>
        <a:graphic>
          <a:graphicData uri="http://schemas.openxmlformats.org/presentationml/2006/ole">
            <mc:AlternateContent xmlns:mc="http://schemas.openxmlformats.org/markup-compatibility/2006">
              <mc:Choice xmlns:v="urn:schemas-microsoft-com:vml" Requires="v">
                <p:oleObj spid="_x0000_s1313797" name="公式" r:id="rId5" imgW="1968480" imgH="253800" progId="Equation.3">
                  <p:embed/>
                </p:oleObj>
              </mc:Choice>
              <mc:Fallback>
                <p:oleObj name="公式" r:id="rId5" imgW="1968480" imgH="253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5867400"/>
                        <a:ext cx="5181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46085" name="Text Box 5"/>
          <p:cNvSpPr txBox="1">
            <a:spLocks noChangeArrowheads="1"/>
          </p:cNvSpPr>
          <p:nvPr/>
        </p:nvSpPr>
        <p:spPr bwMode="auto">
          <a:xfrm>
            <a:off x="381000" y="346075"/>
            <a:ext cx="8566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a:ea typeface="楷体_GB2312" charset="0"/>
              </a:rPr>
              <a:t>介绍一种</a:t>
            </a:r>
            <a:r>
              <a:rPr lang="zh-CN" altLang="en-US" sz="4400">
                <a:solidFill>
                  <a:srgbClr val="FF00FF"/>
                </a:solidFill>
                <a:ea typeface="楷体_GB2312" charset="0"/>
              </a:rPr>
              <a:t>次优二叉树</a:t>
            </a:r>
            <a:r>
              <a:rPr lang="zh-CN" altLang="en-US" sz="4400">
                <a:ea typeface="楷体_GB2312" charset="0"/>
              </a:rPr>
              <a:t>的构造方法：</a:t>
            </a:r>
          </a:p>
        </p:txBody>
      </p:sp>
      <p:sp>
        <p:nvSpPr>
          <p:cNvPr id="46086" name="Text Box 6"/>
          <p:cNvSpPr txBox="1">
            <a:spLocks noChangeArrowheads="1"/>
          </p:cNvSpPr>
          <p:nvPr/>
        </p:nvSpPr>
        <p:spPr bwMode="auto">
          <a:xfrm>
            <a:off x="304800" y="4000500"/>
            <a:ext cx="617220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50000"/>
              </a:lnSpc>
            </a:pPr>
            <a:r>
              <a:rPr lang="zh-CN" altLang="en-US" sz="3600">
                <a:solidFill>
                  <a:srgbClr val="A50021"/>
                </a:solidFill>
                <a:ea typeface="楷体_GB2312" charset="0"/>
              </a:rPr>
              <a:t>为便于计算，引入累计权值和   </a:t>
            </a:r>
          </a:p>
          <a:p>
            <a:pPr>
              <a:lnSpc>
                <a:spcPct val="150000"/>
              </a:lnSpc>
            </a:pPr>
            <a:r>
              <a:rPr lang="zh-CN" altLang="en-US" sz="3600">
                <a:solidFill>
                  <a:srgbClr val="A50021"/>
                </a:solidFill>
                <a:ea typeface="楷体_GB2312" charset="0"/>
              </a:rPr>
              <a:t>并设 </a:t>
            </a:r>
            <a:r>
              <a:rPr lang="en-US" altLang="zh-CN" sz="3600">
                <a:solidFill>
                  <a:srgbClr val="A50021"/>
                </a:solidFill>
                <a:ea typeface="楷体_GB2312" charset="0"/>
              </a:rPr>
              <a:t>w</a:t>
            </a:r>
            <a:r>
              <a:rPr lang="en-US" altLang="zh-CN" sz="3600" i="1" baseline="-25000">
                <a:solidFill>
                  <a:srgbClr val="A50021"/>
                </a:solidFill>
                <a:ea typeface="楷体_GB2312" charset="0"/>
              </a:rPr>
              <a:t>l</a:t>
            </a:r>
            <a:r>
              <a:rPr lang="en-US" altLang="zh-CN" sz="3600" baseline="-25000">
                <a:solidFill>
                  <a:srgbClr val="A50021"/>
                </a:solidFill>
                <a:ea typeface="楷体_GB2312" charset="0"/>
              </a:rPr>
              <a:t>-1 </a:t>
            </a:r>
            <a:r>
              <a:rPr lang="en-US" altLang="zh-CN" sz="3600">
                <a:solidFill>
                  <a:srgbClr val="A50021"/>
                </a:solidFill>
                <a:ea typeface="楷体_GB2312" charset="0"/>
              </a:rPr>
              <a:t>= 0 </a:t>
            </a:r>
            <a:r>
              <a:rPr lang="zh-CN" altLang="en-US" sz="3600">
                <a:solidFill>
                  <a:srgbClr val="A50021"/>
                </a:solidFill>
                <a:ea typeface="楷体_GB2312" charset="0"/>
              </a:rPr>
              <a:t>和 </a:t>
            </a:r>
            <a:r>
              <a:rPr lang="en-US" altLang="zh-CN" sz="3600">
                <a:solidFill>
                  <a:srgbClr val="A50021"/>
                </a:solidFill>
                <a:ea typeface="楷体_GB2312" charset="0"/>
              </a:rPr>
              <a:t>sw</a:t>
            </a:r>
            <a:r>
              <a:rPr lang="en-US" altLang="zh-CN" sz="3600" i="1" baseline="-25000">
                <a:solidFill>
                  <a:srgbClr val="A50021"/>
                </a:solidFill>
                <a:ea typeface="楷体_GB2312" charset="0"/>
              </a:rPr>
              <a:t>l</a:t>
            </a:r>
            <a:r>
              <a:rPr lang="en-US" altLang="zh-CN" sz="3600" baseline="-25000">
                <a:solidFill>
                  <a:srgbClr val="A50021"/>
                </a:solidFill>
                <a:ea typeface="楷体_GB2312" charset="0"/>
              </a:rPr>
              <a:t>-1</a:t>
            </a:r>
            <a:r>
              <a:rPr lang="en-US" altLang="zh-CN" sz="3600">
                <a:solidFill>
                  <a:srgbClr val="A50021"/>
                </a:solidFill>
                <a:ea typeface="楷体_GB2312" charset="0"/>
              </a:rPr>
              <a:t> = 0</a:t>
            </a:r>
            <a:r>
              <a:rPr lang="zh-CN" altLang="en-US" sz="3600">
                <a:solidFill>
                  <a:srgbClr val="A50021"/>
                </a:solidFill>
                <a:ea typeface="楷体_GB2312" charset="0"/>
              </a:rPr>
              <a:t>，</a:t>
            </a:r>
          </a:p>
          <a:p>
            <a:pPr>
              <a:lnSpc>
                <a:spcPct val="150000"/>
              </a:lnSpc>
            </a:pPr>
            <a:r>
              <a:rPr lang="zh-CN" altLang="en-US" sz="3600">
                <a:solidFill>
                  <a:srgbClr val="A50021"/>
                </a:solidFill>
                <a:ea typeface="楷体_GB2312" charset="0"/>
              </a:rPr>
              <a:t>则推导可得</a:t>
            </a:r>
            <a:endParaRPr lang="zh-CN" altLang="en-US" sz="4400">
              <a:ea typeface="楷体_GB2312" charset="0"/>
            </a:endParaRPr>
          </a:p>
        </p:txBody>
      </p:sp>
      <p:graphicFrame>
        <p:nvGraphicFramePr>
          <p:cNvPr id="46087" name="Object 7"/>
          <p:cNvGraphicFramePr>
            <a:graphicFrameLocks noChangeAspect="1"/>
          </p:cNvGraphicFramePr>
          <p:nvPr/>
        </p:nvGraphicFramePr>
        <p:xfrm>
          <a:off x="6659563" y="4076700"/>
          <a:ext cx="1800225" cy="1068388"/>
        </p:xfrm>
        <a:graphic>
          <a:graphicData uri="http://schemas.openxmlformats.org/presentationml/2006/ole">
            <mc:AlternateContent xmlns:mc="http://schemas.openxmlformats.org/markup-compatibility/2006">
              <mc:Choice xmlns:v="urn:schemas-microsoft-com:vml" Requires="v">
                <p:oleObj spid="_x0000_s1313798" name="公式" r:id="rId7" imgW="749160" imgH="444240" progId="Equation.3">
                  <p:embed/>
                </p:oleObj>
              </mc:Choice>
              <mc:Fallback>
                <p:oleObj name="公式" r:id="rId7" imgW="749160" imgH="4442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59563" y="4076700"/>
                        <a:ext cx="1800225" cy="1068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3007504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6085"/>
                                        </p:tgtEl>
                                        <p:attrNameLst>
                                          <p:attrName>style.visibility</p:attrName>
                                        </p:attrNameLst>
                                      </p:cBhvr>
                                      <p:to>
                                        <p:strVal val="visible"/>
                                      </p:to>
                                    </p:set>
                                    <p:anim calcmode="lin" valueType="num">
                                      <p:cBhvr additive="base">
                                        <p:cTn id="7" dur="500" fill="hold"/>
                                        <p:tgtEl>
                                          <p:spTgt spid="46085"/>
                                        </p:tgtEl>
                                        <p:attrNameLst>
                                          <p:attrName>ppt_x</p:attrName>
                                        </p:attrNameLst>
                                      </p:cBhvr>
                                      <p:tavLst>
                                        <p:tav tm="0">
                                          <p:val>
                                            <p:strVal val="0-#ppt_w/2"/>
                                          </p:val>
                                        </p:tav>
                                        <p:tav tm="100000">
                                          <p:val>
                                            <p:strVal val="#ppt_x"/>
                                          </p:val>
                                        </p:tav>
                                      </p:tavLst>
                                    </p:anim>
                                    <p:anim calcmode="lin" valueType="num">
                                      <p:cBhvr additive="base">
                                        <p:cTn id="8" dur="500" fill="hold"/>
                                        <p:tgtEl>
                                          <p:spTgt spid="4608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42" fill="hold" grpId="0" nodeType="clickEffect">
                                  <p:stCondLst>
                                    <p:cond delay="0"/>
                                  </p:stCondLst>
                                  <p:childTnLst>
                                    <p:set>
                                      <p:cBhvr>
                                        <p:cTn id="12" dur="1" fill="hold">
                                          <p:stCondLst>
                                            <p:cond delay="0"/>
                                          </p:stCondLst>
                                        </p:cTn>
                                        <p:tgtEl>
                                          <p:spTgt spid="46082"/>
                                        </p:tgtEl>
                                        <p:attrNameLst>
                                          <p:attrName>style.visibility</p:attrName>
                                        </p:attrNameLst>
                                      </p:cBhvr>
                                      <p:to>
                                        <p:strVal val="visible"/>
                                      </p:to>
                                    </p:set>
                                    <p:animEffect transition="in" filter="barn(outHorizontal)">
                                      <p:cBhvr>
                                        <p:cTn id="13" dur="500"/>
                                        <p:tgtEl>
                                          <p:spTgt spid="46082"/>
                                        </p:tgtEl>
                                      </p:cBhvr>
                                    </p:animEffect>
                                  </p:childTnLst>
                                </p:cTn>
                              </p:par>
                            </p:childTnLst>
                          </p:cTn>
                        </p:par>
                        <p:par>
                          <p:cTn id="14" fill="hold" nodeType="afterGroup">
                            <p:stCondLst>
                              <p:cond delay="500"/>
                            </p:stCondLst>
                            <p:childTnLst>
                              <p:par>
                                <p:cTn id="15" presetID="1" presetClass="entr" presetSubtype="0" fill="hold" nodeType="afterEffect">
                                  <p:stCondLst>
                                    <p:cond delay="0"/>
                                  </p:stCondLst>
                                  <p:childTnLst>
                                    <p:set>
                                      <p:cBhvr>
                                        <p:cTn id="16" dur="1" fill="hold">
                                          <p:stCondLst>
                                            <p:cond delay="499"/>
                                          </p:stCondLst>
                                        </p:cTn>
                                        <p:tgtEl>
                                          <p:spTgt spid="4608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46086"/>
                                        </p:tgtEl>
                                        <p:attrNameLst>
                                          <p:attrName>style.visibility</p:attrName>
                                        </p:attrNameLst>
                                      </p:cBhvr>
                                      <p:to>
                                        <p:strVal val="visible"/>
                                      </p:to>
                                    </p:set>
                                    <p:anim calcmode="lin" valueType="num">
                                      <p:cBhvr additive="base">
                                        <p:cTn id="21" dur="500" fill="hold"/>
                                        <p:tgtEl>
                                          <p:spTgt spid="46086"/>
                                        </p:tgtEl>
                                        <p:attrNameLst>
                                          <p:attrName>ppt_x</p:attrName>
                                        </p:attrNameLst>
                                      </p:cBhvr>
                                      <p:tavLst>
                                        <p:tav tm="0">
                                          <p:val>
                                            <p:strVal val="0-#ppt_w/2"/>
                                          </p:val>
                                        </p:tav>
                                        <p:tav tm="100000">
                                          <p:val>
                                            <p:strVal val="#ppt_x"/>
                                          </p:val>
                                        </p:tav>
                                      </p:tavLst>
                                    </p:anim>
                                    <p:anim calcmode="lin" valueType="num">
                                      <p:cBhvr additive="base">
                                        <p:cTn id="22" dur="500" fill="hold"/>
                                        <p:tgtEl>
                                          <p:spTgt spid="46086"/>
                                        </p:tgtEl>
                                        <p:attrNameLst>
                                          <p:attrName>ppt_y</p:attrName>
                                        </p:attrNameLst>
                                      </p:cBhvr>
                                      <p:tavLst>
                                        <p:tav tm="0">
                                          <p:val>
                                            <p:strVal val="#ppt_y"/>
                                          </p:val>
                                        </p:tav>
                                        <p:tav tm="100000">
                                          <p:val>
                                            <p:strVal val="#ppt_y"/>
                                          </p:val>
                                        </p:tav>
                                      </p:tavLst>
                                    </p:anim>
                                  </p:childTnLst>
                                </p:cTn>
                              </p:par>
                            </p:childTnLst>
                          </p:cTn>
                        </p:par>
                        <p:par>
                          <p:cTn id="23" fill="hold" nodeType="afterGroup">
                            <p:stCondLst>
                              <p:cond delay="500"/>
                            </p:stCondLst>
                            <p:childTnLst>
                              <p:par>
                                <p:cTn id="24" presetID="2" presetClass="entr" presetSubtype="4" fill="hold" nodeType="afterEffect">
                                  <p:stCondLst>
                                    <p:cond delay="0"/>
                                  </p:stCondLst>
                                  <p:childTnLst>
                                    <p:set>
                                      <p:cBhvr>
                                        <p:cTn id="25" dur="1" fill="hold">
                                          <p:stCondLst>
                                            <p:cond delay="0"/>
                                          </p:stCondLst>
                                        </p:cTn>
                                        <p:tgtEl>
                                          <p:spTgt spid="46084"/>
                                        </p:tgtEl>
                                        <p:attrNameLst>
                                          <p:attrName>style.visibility</p:attrName>
                                        </p:attrNameLst>
                                      </p:cBhvr>
                                      <p:to>
                                        <p:strVal val="visible"/>
                                      </p:to>
                                    </p:set>
                                    <p:anim calcmode="lin" valueType="num">
                                      <p:cBhvr additive="base">
                                        <p:cTn id="26" dur="500" fill="hold"/>
                                        <p:tgtEl>
                                          <p:spTgt spid="46084"/>
                                        </p:tgtEl>
                                        <p:attrNameLst>
                                          <p:attrName>ppt_x</p:attrName>
                                        </p:attrNameLst>
                                      </p:cBhvr>
                                      <p:tavLst>
                                        <p:tav tm="0">
                                          <p:val>
                                            <p:strVal val="#ppt_x"/>
                                          </p:val>
                                        </p:tav>
                                        <p:tav tm="100000">
                                          <p:val>
                                            <p:strVal val="#ppt_x"/>
                                          </p:val>
                                        </p:tav>
                                      </p:tavLst>
                                    </p:anim>
                                    <p:anim calcmode="lin" valueType="num">
                                      <p:cBhvr additive="base">
                                        <p:cTn id="27" dur="500" fill="hold"/>
                                        <p:tgtEl>
                                          <p:spTgt spid="460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autoUpdateAnimBg="0"/>
      <p:bldP spid="46085" grpId="0" autoUpdateAnimBg="0"/>
      <p:bldP spid="46086"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9442" name="Object 2"/>
          <p:cNvGraphicFramePr>
            <a:graphicFrameLocks noChangeAspect="1"/>
          </p:cNvGraphicFramePr>
          <p:nvPr/>
        </p:nvGraphicFramePr>
        <p:xfrm>
          <a:off x="533400" y="1295400"/>
          <a:ext cx="8077200" cy="5181600"/>
        </p:xfrm>
        <a:graphic>
          <a:graphicData uri="http://schemas.openxmlformats.org/presentationml/2006/ole">
            <mc:AlternateContent xmlns:mc="http://schemas.openxmlformats.org/markup-compatibility/2006">
              <mc:Choice xmlns:v="urn:schemas-microsoft-com:vml" Requires="v">
                <p:oleObj spid="_x0000_s1314818" name="文档" r:id="rId3" imgW="5406480" imgH="4001400" progId="Word.Document.8">
                  <p:embed/>
                </p:oleObj>
              </mc:Choice>
              <mc:Fallback>
                <p:oleObj name="文档" r:id="rId3" imgW="5406480" imgH="400140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295400"/>
                        <a:ext cx="8077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89443" name="Line 3"/>
          <p:cNvSpPr>
            <a:spLocks noChangeShapeType="1"/>
          </p:cNvSpPr>
          <p:nvPr/>
        </p:nvSpPr>
        <p:spPr bwMode="auto">
          <a:xfrm>
            <a:off x="533400" y="6248400"/>
            <a:ext cx="807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9444" name="Line 4"/>
          <p:cNvSpPr>
            <a:spLocks noChangeShapeType="1"/>
          </p:cNvSpPr>
          <p:nvPr/>
        </p:nvSpPr>
        <p:spPr bwMode="auto">
          <a:xfrm>
            <a:off x="8610600" y="1219200"/>
            <a:ext cx="0" cy="502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9445" name="Text Box 5"/>
          <p:cNvSpPr txBox="1">
            <a:spLocks noChangeArrowheads="1"/>
          </p:cNvSpPr>
          <p:nvPr/>
        </p:nvSpPr>
        <p:spPr bwMode="auto">
          <a:xfrm>
            <a:off x="2178050" y="2727325"/>
            <a:ext cx="43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6600CC"/>
                </a:solidFill>
              </a:rPr>
              <a:t>0</a:t>
            </a:r>
            <a:endParaRPr lang="en-US" altLang="zh-CN"/>
          </a:p>
        </p:txBody>
      </p:sp>
      <p:sp>
        <p:nvSpPr>
          <p:cNvPr id="189447" name="Text Box 7"/>
          <p:cNvSpPr txBox="1">
            <a:spLocks noChangeArrowheads="1"/>
          </p:cNvSpPr>
          <p:nvPr/>
        </p:nvSpPr>
        <p:spPr bwMode="auto">
          <a:xfrm>
            <a:off x="2990850" y="2727325"/>
            <a:ext cx="43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6600CC"/>
                </a:solidFill>
              </a:rPr>
              <a:t>2</a:t>
            </a:r>
            <a:endParaRPr lang="en-US" altLang="zh-CN"/>
          </a:p>
        </p:txBody>
      </p:sp>
      <p:sp>
        <p:nvSpPr>
          <p:cNvPr id="189448" name="Text Box 8"/>
          <p:cNvSpPr txBox="1">
            <a:spLocks noChangeArrowheads="1"/>
          </p:cNvSpPr>
          <p:nvPr/>
        </p:nvSpPr>
        <p:spPr bwMode="auto">
          <a:xfrm>
            <a:off x="3829050" y="2727325"/>
            <a:ext cx="43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6600CC"/>
                </a:solidFill>
              </a:rPr>
              <a:t>3</a:t>
            </a:r>
            <a:endParaRPr lang="en-US" altLang="zh-CN"/>
          </a:p>
        </p:txBody>
      </p:sp>
      <p:sp>
        <p:nvSpPr>
          <p:cNvPr id="189449" name="Text Box 9"/>
          <p:cNvSpPr txBox="1">
            <a:spLocks noChangeArrowheads="1"/>
          </p:cNvSpPr>
          <p:nvPr/>
        </p:nvSpPr>
        <p:spPr bwMode="auto">
          <a:xfrm>
            <a:off x="4667250" y="2727325"/>
            <a:ext cx="43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6600CC"/>
                </a:solidFill>
              </a:rPr>
              <a:t>8</a:t>
            </a:r>
            <a:endParaRPr lang="en-US" altLang="zh-CN"/>
          </a:p>
        </p:txBody>
      </p:sp>
      <p:sp>
        <p:nvSpPr>
          <p:cNvPr id="189450" name="Text Box 10"/>
          <p:cNvSpPr txBox="1">
            <a:spLocks noChangeArrowheads="1"/>
          </p:cNvSpPr>
          <p:nvPr/>
        </p:nvSpPr>
        <p:spPr bwMode="auto">
          <a:xfrm>
            <a:off x="5334000" y="2727325"/>
            <a:ext cx="69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6600CC"/>
                </a:solidFill>
              </a:rPr>
              <a:t>11</a:t>
            </a:r>
            <a:endParaRPr lang="en-US" altLang="zh-CN"/>
          </a:p>
        </p:txBody>
      </p:sp>
      <p:sp>
        <p:nvSpPr>
          <p:cNvPr id="189451" name="Text Box 11"/>
          <p:cNvSpPr txBox="1">
            <a:spLocks noChangeArrowheads="1"/>
          </p:cNvSpPr>
          <p:nvPr/>
        </p:nvSpPr>
        <p:spPr bwMode="auto">
          <a:xfrm>
            <a:off x="6165850" y="2727325"/>
            <a:ext cx="69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6600CC"/>
                </a:solidFill>
              </a:rPr>
              <a:t>15</a:t>
            </a:r>
            <a:endParaRPr lang="en-US" altLang="zh-CN"/>
          </a:p>
        </p:txBody>
      </p:sp>
      <p:sp>
        <p:nvSpPr>
          <p:cNvPr id="189452" name="Text Box 12"/>
          <p:cNvSpPr txBox="1">
            <a:spLocks noChangeArrowheads="1"/>
          </p:cNvSpPr>
          <p:nvPr/>
        </p:nvSpPr>
        <p:spPr bwMode="auto">
          <a:xfrm>
            <a:off x="7029450" y="2727325"/>
            <a:ext cx="69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6600CC"/>
                </a:solidFill>
              </a:rPr>
              <a:t>18</a:t>
            </a:r>
            <a:endParaRPr lang="en-US" altLang="zh-CN"/>
          </a:p>
        </p:txBody>
      </p:sp>
      <p:sp>
        <p:nvSpPr>
          <p:cNvPr id="189453" name="Text Box 13"/>
          <p:cNvSpPr txBox="1">
            <a:spLocks noChangeArrowheads="1"/>
          </p:cNvSpPr>
          <p:nvPr/>
        </p:nvSpPr>
        <p:spPr bwMode="auto">
          <a:xfrm>
            <a:off x="7842250" y="2727325"/>
            <a:ext cx="69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6600CC"/>
                </a:solidFill>
              </a:rPr>
              <a:t>23</a:t>
            </a:r>
            <a:endParaRPr lang="en-US" altLang="zh-CN"/>
          </a:p>
        </p:txBody>
      </p:sp>
      <p:sp>
        <p:nvSpPr>
          <p:cNvPr id="189454" name="Text Box 14"/>
          <p:cNvSpPr txBox="1">
            <a:spLocks noChangeArrowheads="1"/>
          </p:cNvSpPr>
          <p:nvPr/>
        </p:nvSpPr>
        <p:spPr bwMode="auto">
          <a:xfrm>
            <a:off x="365125" y="288925"/>
            <a:ext cx="1379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A50021"/>
                </a:solidFill>
                <a:ea typeface="楷体_GB2312" charset="0"/>
              </a:rPr>
              <a:t>例如</a:t>
            </a:r>
            <a:r>
              <a:rPr lang="en-US" altLang="zh-CN" sz="4000" b="1">
                <a:solidFill>
                  <a:srgbClr val="A50021"/>
                </a:solidFill>
                <a:ea typeface="楷体_GB2312" charset="0"/>
              </a:rPr>
              <a:t>:</a:t>
            </a:r>
            <a:endParaRPr lang="en-US" altLang="zh-CN" sz="4000">
              <a:ea typeface="楷体_GB2312" charset="0"/>
            </a:endParaRPr>
          </a:p>
        </p:txBody>
      </p:sp>
      <p:sp>
        <p:nvSpPr>
          <p:cNvPr id="189455" name="AutoShape 15"/>
          <p:cNvSpPr>
            <a:spLocks noChangeArrowheads="1"/>
          </p:cNvSpPr>
          <p:nvPr/>
        </p:nvSpPr>
        <p:spPr bwMode="auto">
          <a:xfrm>
            <a:off x="3124200" y="381000"/>
            <a:ext cx="152400" cy="838200"/>
          </a:xfrm>
          <a:prstGeom prst="downArrow">
            <a:avLst>
              <a:gd name="adj1" fmla="val 50000"/>
              <a:gd name="adj2" fmla="val 137500"/>
            </a:avLst>
          </a:prstGeom>
          <a:solidFill>
            <a:srgbClr val="99CCFF"/>
          </a:solidFill>
          <a:ln w="9525">
            <a:solidFill>
              <a:srgbClr val="99CC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89456" name="Text Box 16"/>
          <p:cNvSpPr txBox="1">
            <a:spLocks noChangeArrowheads="1"/>
          </p:cNvSpPr>
          <p:nvPr/>
        </p:nvSpPr>
        <p:spPr bwMode="auto">
          <a:xfrm>
            <a:off x="3284538" y="247650"/>
            <a:ext cx="2968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CCFF"/>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i="1">
                <a:solidFill>
                  <a:srgbClr val="6600CC"/>
                </a:solidFill>
              </a:rPr>
              <a:t>l</a:t>
            </a:r>
            <a:endParaRPr lang="en-US" altLang="zh-CN">
              <a:solidFill>
                <a:srgbClr val="99CCFF"/>
              </a:solidFill>
            </a:endParaRPr>
          </a:p>
        </p:txBody>
      </p:sp>
      <p:sp>
        <p:nvSpPr>
          <p:cNvPr id="189457" name="AutoShape 17"/>
          <p:cNvSpPr>
            <a:spLocks noChangeArrowheads="1"/>
          </p:cNvSpPr>
          <p:nvPr/>
        </p:nvSpPr>
        <p:spPr bwMode="auto">
          <a:xfrm>
            <a:off x="8001000" y="381000"/>
            <a:ext cx="152400" cy="838200"/>
          </a:xfrm>
          <a:prstGeom prst="downArrow">
            <a:avLst>
              <a:gd name="adj1" fmla="val 50000"/>
              <a:gd name="adj2" fmla="val 137500"/>
            </a:avLst>
          </a:prstGeom>
          <a:solidFill>
            <a:srgbClr val="FF99FF"/>
          </a:solidFill>
          <a:ln w="9525">
            <a:solidFill>
              <a:srgbClr val="FF99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89458" name="Text Box 18"/>
          <p:cNvSpPr txBox="1">
            <a:spLocks noChangeArrowheads="1"/>
          </p:cNvSpPr>
          <p:nvPr/>
        </p:nvSpPr>
        <p:spPr bwMode="auto">
          <a:xfrm>
            <a:off x="8161338" y="228600"/>
            <a:ext cx="4095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CCFF"/>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i="1">
                <a:solidFill>
                  <a:srgbClr val="FF00FF"/>
                </a:solidFill>
              </a:rPr>
              <a:t>h</a:t>
            </a:r>
            <a:endParaRPr lang="en-US" altLang="zh-CN">
              <a:solidFill>
                <a:srgbClr val="99CCFF"/>
              </a:solidFill>
            </a:endParaRPr>
          </a:p>
        </p:txBody>
      </p:sp>
      <p:sp>
        <p:nvSpPr>
          <p:cNvPr id="189459" name="Text Box 19"/>
          <p:cNvSpPr txBox="1">
            <a:spLocks noChangeArrowheads="1"/>
          </p:cNvSpPr>
          <p:nvPr/>
        </p:nvSpPr>
        <p:spPr bwMode="auto">
          <a:xfrm>
            <a:off x="2889250" y="3429000"/>
            <a:ext cx="69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A50021"/>
                </a:solidFill>
              </a:rPr>
              <a:t>21</a:t>
            </a:r>
            <a:endParaRPr lang="en-US" altLang="zh-CN" sz="4000"/>
          </a:p>
        </p:txBody>
      </p:sp>
      <p:sp>
        <p:nvSpPr>
          <p:cNvPr id="189460" name="Text Box 20"/>
          <p:cNvSpPr txBox="1">
            <a:spLocks noChangeArrowheads="1"/>
          </p:cNvSpPr>
          <p:nvPr/>
        </p:nvSpPr>
        <p:spPr bwMode="auto">
          <a:xfrm>
            <a:off x="3727450" y="3429000"/>
            <a:ext cx="69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A50021"/>
                </a:solidFill>
              </a:rPr>
              <a:t>18</a:t>
            </a:r>
            <a:endParaRPr lang="en-US" altLang="zh-CN" sz="4000"/>
          </a:p>
        </p:txBody>
      </p:sp>
      <p:sp>
        <p:nvSpPr>
          <p:cNvPr id="189461" name="Text Box 21"/>
          <p:cNvSpPr txBox="1">
            <a:spLocks noChangeArrowheads="1"/>
          </p:cNvSpPr>
          <p:nvPr/>
        </p:nvSpPr>
        <p:spPr bwMode="auto">
          <a:xfrm>
            <a:off x="4565650" y="3429000"/>
            <a:ext cx="69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A50021"/>
                </a:solidFill>
              </a:rPr>
              <a:t>12</a:t>
            </a:r>
            <a:endParaRPr lang="en-US" altLang="zh-CN" sz="4000"/>
          </a:p>
        </p:txBody>
      </p:sp>
      <p:sp>
        <p:nvSpPr>
          <p:cNvPr id="189462" name="Text Box 22"/>
          <p:cNvSpPr txBox="1">
            <a:spLocks noChangeArrowheads="1"/>
          </p:cNvSpPr>
          <p:nvPr/>
        </p:nvSpPr>
        <p:spPr bwMode="auto">
          <a:xfrm>
            <a:off x="5486400" y="3429000"/>
            <a:ext cx="43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A50021"/>
                </a:solidFill>
              </a:rPr>
              <a:t>4</a:t>
            </a:r>
            <a:endParaRPr lang="en-US" altLang="zh-CN" sz="4000"/>
          </a:p>
        </p:txBody>
      </p:sp>
      <p:sp>
        <p:nvSpPr>
          <p:cNvPr id="189463" name="Text Box 23"/>
          <p:cNvSpPr txBox="1">
            <a:spLocks noChangeArrowheads="1"/>
          </p:cNvSpPr>
          <p:nvPr/>
        </p:nvSpPr>
        <p:spPr bwMode="auto">
          <a:xfrm>
            <a:off x="6172200" y="3429000"/>
            <a:ext cx="685800" cy="70167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4000">
                <a:solidFill>
                  <a:srgbClr val="A50021"/>
                </a:solidFill>
              </a:rPr>
              <a:t>3</a:t>
            </a:r>
            <a:endParaRPr lang="en-US" altLang="zh-CN" sz="4000"/>
          </a:p>
        </p:txBody>
      </p:sp>
      <p:sp>
        <p:nvSpPr>
          <p:cNvPr id="189464" name="Text Box 24"/>
          <p:cNvSpPr txBox="1">
            <a:spLocks noChangeArrowheads="1"/>
          </p:cNvSpPr>
          <p:nvPr/>
        </p:nvSpPr>
        <p:spPr bwMode="auto">
          <a:xfrm>
            <a:off x="7010400" y="3429000"/>
            <a:ext cx="69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A50021"/>
                </a:solidFill>
              </a:rPr>
              <a:t>10</a:t>
            </a:r>
            <a:endParaRPr lang="en-US" altLang="zh-CN" sz="4000"/>
          </a:p>
        </p:txBody>
      </p:sp>
      <p:sp>
        <p:nvSpPr>
          <p:cNvPr id="189465" name="Text Box 25"/>
          <p:cNvSpPr txBox="1">
            <a:spLocks noChangeArrowheads="1"/>
          </p:cNvSpPr>
          <p:nvPr/>
        </p:nvSpPr>
        <p:spPr bwMode="auto">
          <a:xfrm>
            <a:off x="7842250" y="3429000"/>
            <a:ext cx="69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A50021"/>
                </a:solidFill>
              </a:rPr>
              <a:t>18</a:t>
            </a:r>
            <a:endParaRPr lang="en-US" altLang="zh-CN" sz="4000"/>
          </a:p>
        </p:txBody>
      </p:sp>
      <p:sp>
        <p:nvSpPr>
          <p:cNvPr id="189466" name="AutoShape 26"/>
          <p:cNvSpPr>
            <a:spLocks noChangeArrowheads="1"/>
          </p:cNvSpPr>
          <p:nvPr/>
        </p:nvSpPr>
        <p:spPr bwMode="auto">
          <a:xfrm>
            <a:off x="5638800" y="381000"/>
            <a:ext cx="152400" cy="838200"/>
          </a:xfrm>
          <a:prstGeom prst="downArrow">
            <a:avLst>
              <a:gd name="adj1" fmla="val 50000"/>
              <a:gd name="adj2" fmla="val 137500"/>
            </a:avLst>
          </a:prstGeom>
          <a:solidFill>
            <a:srgbClr val="FF99FF"/>
          </a:solidFill>
          <a:ln w="9525">
            <a:solidFill>
              <a:srgbClr val="FF99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89467" name="Text Box 27"/>
          <p:cNvSpPr txBox="1">
            <a:spLocks noChangeArrowheads="1"/>
          </p:cNvSpPr>
          <p:nvPr/>
        </p:nvSpPr>
        <p:spPr bwMode="auto">
          <a:xfrm>
            <a:off x="5799138" y="228600"/>
            <a:ext cx="4095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CCFF"/>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i="1">
                <a:solidFill>
                  <a:srgbClr val="FF00FF"/>
                </a:solidFill>
              </a:rPr>
              <a:t>h</a:t>
            </a:r>
            <a:endParaRPr lang="en-US" altLang="zh-CN">
              <a:solidFill>
                <a:srgbClr val="99CCFF"/>
              </a:solidFill>
            </a:endParaRPr>
          </a:p>
        </p:txBody>
      </p:sp>
      <p:sp useBgFill="1">
        <p:nvSpPr>
          <p:cNvPr id="189468" name="Rectangle 28"/>
          <p:cNvSpPr>
            <a:spLocks noChangeArrowheads="1"/>
          </p:cNvSpPr>
          <p:nvPr/>
        </p:nvSpPr>
        <p:spPr bwMode="auto">
          <a:xfrm>
            <a:off x="7848600" y="228600"/>
            <a:ext cx="762000" cy="1066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9469" name="Text Box 29"/>
          <p:cNvSpPr txBox="1">
            <a:spLocks noChangeArrowheads="1"/>
          </p:cNvSpPr>
          <p:nvPr/>
        </p:nvSpPr>
        <p:spPr bwMode="auto">
          <a:xfrm>
            <a:off x="2990850" y="4114800"/>
            <a:ext cx="43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A50021"/>
                </a:solidFill>
              </a:rPr>
              <a:t>9</a:t>
            </a:r>
            <a:endParaRPr lang="en-US" altLang="zh-CN" sz="4000"/>
          </a:p>
        </p:txBody>
      </p:sp>
      <p:sp>
        <p:nvSpPr>
          <p:cNvPr id="189470" name="Text Box 30"/>
          <p:cNvSpPr txBox="1">
            <a:spLocks noChangeArrowheads="1"/>
          </p:cNvSpPr>
          <p:nvPr/>
        </p:nvSpPr>
        <p:spPr bwMode="auto">
          <a:xfrm>
            <a:off x="3829050" y="4114800"/>
            <a:ext cx="43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A50021"/>
                </a:solidFill>
              </a:rPr>
              <a:t>6</a:t>
            </a:r>
            <a:endParaRPr lang="en-US" altLang="zh-CN" sz="4000"/>
          </a:p>
        </p:txBody>
      </p:sp>
      <p:sp>
        <p:nvSpPr>
          <p:cNvPr id="189471" name="Text Box 31"/>
          <p:cNvSpPr txBox="1">
            <a:spLocks noChangeArrowheads="1"/>
          </p:cNvSpPr>
          <p:nvPr/>
        </p:nvSpPr>
        <p:spPr bwMode="auto">
          <a:xfrm>
            <a:off x="4572000" y="4191000"/>
            <a:ext cx="685800" cy="70167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4000">
                <a:solidFill>
                  <a:srgbClr val="A50021"/>
                </a:solidFill>
              </a:rPr>
              <a:t>0</a:t>
            </a:r>
            <a:endParaRPr lang="en-US" altLang="zh-CN" sz="4000"/>
          </a:p>
        </p:txBody>
      </p:sp>
      <p:sp>
        <p:nvSpPr>
          <p:cNvPr id="189472" name="Text Box 32"/>
          <p:cNvSpPr txBox="1">
            <a:spLocks noChangeArrowheads="1"/>
          </p:cNvSpPr>
          <p:nvPr/>
        </p:nvSpPr>
        <p:spPr bwMode="auto">
          <a:xfrm>
            <a:off x="5505450" y="4114800"/>
            <a:ext cx="43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A50021"/>
                </a:solidFill>
              </a:rPr>
              <a:t>8</a:t>
            </a:r>
            <a:endParaRPr lang="en-US" altLang="zh-CN" sz="4000"/>
          </a:p>
        </p:txBody>
      </p:sp>
      <p:sp>
        <p:nvSpPr>
          <p:cNvPr id="189473" name="Text Box 33"/>
          <p:cNvSpPr txBox="1">
            <a:spLocks noChangeArrowheads="1"/>
          </p:cNvSpPr>
          <p:nvPr/>
        </p:nvSpPr>
        <p:spPr bwMode="auto">
          <a:xfrm>
            <a:off x="6172200" y="5546725"/>
            <a:ext cx="762000" cy="701675"/>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4000" b="1">
                <a:solidFill>
                  <a:srgbClr val="006600"/>
                </a:solidFill>
              </a:rPr>
              <a:t>E</a:t>
            </a:r>
            <a:endParaRPr lang="en-US" altLang="zh-CN" sz="4000"/>
          </a:p>
        </p:txBody>
      </p:sp>
      <p:sp>
        <p:nvSpPr>
          <p:cNvPr id="189474" name="Text Box 34"/>
          <p:cNvSpPr txBox="1">
            <a:spLocks noChangeArrowheads="1"/>
          </p:cNvSpPr>
          <p:nvPr/>
        </p:nvSpPr>
        <p:spPr bwMode="auto">
          <a:xfrm>
            <a:off x="4495800" y="5546725"/>
            <a:ext cx="762000" cy="701675"/>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4000" b="1">
                <a:solidFill>
                  <a:srgbClr val="006600"/>
                </a:solidFill>
              </a:rPr>
              <a:t>C</a:t>
            </a:r>
            <a:endParaRPr lang="en-US" altLang="zh-CN" sz="4000"/>
          </a:p>
        </p:txBody>
      </p:sp>
      <p:sp>
        <p:nvSpPr>
          <p:cNvPr id="189475" name="Text Box 35"/>
          <p:cNvSpPr txBox="1">
            <a:spLocks noChangeArrowheads="1"/>
          </p:cNvSpPr>
          <p:nvPr/>
        </p:nvSpPr>
        <p:spPr bwMode="auto">
          <a:xfrm>
            <a:off x="3829050" y="4860925"/>
            <a:ext cx="43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A50021"/>
                </a:solidFill>
              </a:rPr>
              <a:t>2</a:t>
            </a:r>
            <a:endParaRPr lang="en-US" altLang="zh-CN" sz="4000"/>
          </a:p>
        </p:txBody>
      </p:sp>
      <p:sp>
        <p:nvSpPr>
          <p:cNvPr id="189476" name="Text Box 36"/>
          <p:cNvSpPr txBox="1">
            <a:spLocks noChangeArrowheads="1"/>
          </p:cNvSpPr>
          <p:nvPr/>
        </p:nvSpPr>
        <p:spPr bwMode="auto">
          <a:xfrm>
            <a:off x="2895600" y="4860925"/>
            <a:ext cx="685800" cy="70167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4000">
                <a:solidFill>
                  <a:srgbClr val="A50021"/>
                </a:solidFill>
              </a:rPr>
              <a:t>1</a:t>
            </a:r>
            <a:endParaRPr lang="en-US" altLang="zh-CN" sz="4000"/>
          </a:p>
        </p:txBody>
      </p:sp>
      <p:sp>
        <p:nvSpPr>
          <p:cNvPr id="189477" name="Text Box 37"/>
          <p:cNvSpPr txBox="1">
            <a:spLocks noChangeArrowheads="1"/>
          </p:cNvSpPr>
          <p:nvPr/>
        </p:nvSpPr>
        <p:spPr bwMode="auto">
          <a:xfrm>
            <a:off x="2895600" y="5546725"/>
            <a:ext cx="685800" cy="701675"/>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4000" b="1">
                <a:solidFill>
                  <a:srgbClr val="006600"/>
                </a:solidFill>
              </a:rPr>
              <a:t>A</a:t>
            </a:r>
            <a:endParaRPr lang="en-US" altLang="zh-CN" sz="4000"/>
          </a:p>
        </p:txBody>
      </p:sp>
      <p:sp>
        <p:nvSpPr>
          <p:cNvPr id="189478" name="AutoShape 38"/>
          <p:cNvSpPr>
            <a:spLocks noChangeArrowheads="1"/>
          </p:cNvSpPr>
          <p:nvPr/>
        </p:nvSpPr>
        <p:spPr bwMode="auto">
          <a:xfrm>
            <a:off x="3962400" y="381000"/>
            <a:ext cx="152400" cy="838200"/>
          </a:xfrm>
          <a:prstGeom prst="downArrow">
            <a:avLst>
              <a:gd name="adj1" fmla="val 50000"/>
              <a:gd name="adj2" fmla="val 137500"/>
            </a:avLst>
          </a:prstGeom>
          <a:solidFill>
            <a:srgbClr val="FF99FF"/>
          </a:solidFill>
          <a:ln w="9525">
            <a:solidFill>
              <a:srgbClr val="FF99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89479" name="Text Box 39"/>
          <p:cNvSpPr txBox="1">
            <a:spLocks noChangeArrowheads="1"/>
          </p:cNvSpPr>
          <p:nvPr/>
        </p:nvSpPr>
        <p:spPr bwMode="auto">
          <a:xfrm>
            <a:off x="4122738" y="228600"/>
            <a:ext cx="4095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CCFF"/>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i="1">
                <a:solidFill>
                  <a:srgbClr val="FF00FF"/>
                </a:solidFill>
              </a:rPr>
              <a:t>h</a:t>
            </a:r>
            <a:endParaRPr lang="en-US" altLang="zh-CN">
              <a:solidFill>
                <a:srgbClr val="99CCFF"/>
              </a:solidFill>
            </a:endParaRPr>
          </a:p>
        </p:txBody>
      </p:sp>
      <p:sp useBgFill="1">
        <p:nvSpPr>
          <p:cNvPr id="189480" name="Rectangle 40"/>
          <p:cNvSpPr>
            <a:spLocks noChangeArrowheads="1"/>
          </p:cNvSpPr>
          <p:nvPr/>
        </p:nvSpPr>
        <p:spPr bwMode="auto">
          <a:xfrm>
            <a:off x="5410200" y="304800"/>
            <a:ext cx="762000" cy="1066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9481" name="Text Box 41"/>
          <p:cNvSpPr txBox="1">
            <a:spLocks noChangeArrowheads="1"/>
          </p:cNvSpPr>
          <p:nvPr/>
        </p:nvSpPr>
        <p:spPr bwMode="auto">
          <a:xfrm>
            <a:off x="7181850" y="4114800"/>
            <a:ext cx="43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A50021"/>
                </a:solidFill>
              </a:rPr>
              <a:t>5</a:t>
            </a:r>
            <a:endParaRPr lang="en-US" altLang="zh-CN" sz="4000"/>
          </a:p>
        </p:txBody>
      </p:sp>
      <p:sp>
        <p:nvSpPr>
          <p:cNvPr id="189482" name="Text Box 42"/>
          <p:cNvSpPr txBox="1">
            <a:spLocks noChangeArrowheads="1"/>
          </p:cNvSpPr>
          <p:nvPr/>
        </p:nvSpPr>
        <p:spPr bwMode="auto">
          <a:xfrm>
            <a:off x="7867650" y="4114800"/>
            <a:ext cx="666750" cy="70167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4000">
                <a:solidFill>
                  <a:srgbClr val="A50021"/>
                </a:solidFill>
              </a:rPr>
              <a:t>3</a:t>
            </a:r>
            <a:endParaRPr lang="en-US" altLang="zh-CN" sz="4000" b="1">
              <a:solidFill>
                <a:srgbClr val="006600"/>
              </a:solidFill>
            </a:endParaRPr>
          </a:p>
        </p:txBody>
      </p:sp>
      <p:sp>
        <p:nvSpPr>
          <p:cNvPr id="189483" name="AutoShape 43"/>
          <p:cNvSpPr>
            <a:spLocks noChangeArrowheads="1"/>
          </p:cNvSpPr>
          <p:nvPr/>
        </p:nvSpPr>
        <p:spPr bwMode="auto">
          <a:xfrm>
            <a:off x="7162800" y="381000"/>
            <a:ext cx="152400" cy="838200"/>
          </a:xfrm>
          <a:prstGeom prst="downArrow">
            <a:avLst>
              <a:gd name="adj1" fmla="val 50000"/>
              <a:gd name="adj2" fmla="val 137500"/>
            </a:avLst>
          </a:prstGeom>
          <a:solidFill>
            <a:srgbClr val="99CCFF"/>
          </a:solidFill>
          <a:ln w="9525">
            <a:solidFill>
              <a:srgbClr val="99CC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89484" name="Text Box 44"/>
          <p:cNvSpPr txBox="1">
            <a:spLocks noChangeArrowheads="1"/>
          </p:cNvSpPr>
          <p:nvPr/>
        </p:nvSpPr>
        <p:spPr bwMode="auto">
          <a:xfrm>
            <a:off x="7323138" y="247650"/>
            <a:ext cx="2968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CCFF"/>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i="1">
                <a:solidFill>
                  <a:srgbClr val="6600CC"/>
                </a:solidFill>
              </a:rPr>
              <a:t>l</a:t>
            </a:r>
            <a:endParaRPr lang="en-US" altLang="zh-CN">
              <a:solidFill>
                <a:srgbClr val="99CCFF"/>
              </a:solidFill>
            </a:endParaRPr>
          </a:p>
        </p:txBody>
      </p:sp>
      <p:sp>
        <p:nvSpPr>
          <p:cNvPr id="189485" name="AutoShape 45"/>
          <p:cNvSpPr>
            <a:spLocks noChangeArrowheads="1"/>
          </p:cNvSpPr>
          <p:nvPr/>
        </p:nvSpPr>
        <p:spPr bwMode="auto">
          <a:xfrm>
            <a:off x="8040688" y="381000"/>
            <a:ext cx="152400" cy="838200"/>
          </a:xfrm>
          <a:prstGeom prst="downArrow">
            <a:avLst>
              <a:gd name="adj1" fmla="val 50000"/>
              <a:gd name="adj2" fmla="val 137500"/>
            </a:avLst>
          </a:prstGeom>
          <a:solidFill>
            <a:srgbClr val="FF99FF"/>
          </a:solidFill>
          <a:ln w="9525">
            <a:solidFill>
              <a:srgbClr val="FF99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89486" name="Text Box 46"/>
          <p:cNvSpPr txBox="1">
            <a:spLocks noChangeArrowheads="1"/>
          </p:cNvSpPr>
          <p:nvPr/>
        </p:nvSpPr>
        <p:spPr bwMode="auto">
          <a:xfrm>
            <a:off x="8201025" y="228600"/>
            <a:ext cx="4095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CCFF"/>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i="1">
                <a:solidFill>
                  <a:srgbClr val="FF00FF"/>
                </a:solidFill>
              </a:rPr>
              <a:t>h</a:t>
            </a:r>
            <a:endParaRPr lang="en-US" altLang="zh-CN">
              <a:solidFill>
                <a:srgbClr val="99CCFF"/>
              </a:solidFill>
            </a:endParaRPr>
          </a:p>
        </p:txBody>
      </p:sp>
      <p:sp useBgFill="1">
        <p:nvSpPr>
          <p:cNvPr id="189487" name="Rectangle 47"/>
          <p:cNvSpPr>
            <a:spLocks noChangeArrowheads="1"/>
          </p:cNvSpPr>
          <p:nvPr/>
        </p:nvSpPr>
        <p:spPr bwMode="auto">
          <a:xfrm>
            <a:off x="2971800" y="304800"/>
            <a:ext cx="609600" cy="990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89488" name="Rectangle 48"/>
          <p:cNvSpPr>
            <a:spLocks noChangeArrowheads="1"/>
          </p:cNvSpPr>
          <p:nvPr/>
        </p:nvSpPr>
        <p:spPr bwMode="auto">
          <a:xfrm>
            <a:off x="3810000" y="228600"/>
            <a:ext cx="685800" cy="1066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9489" name="Text Box 49"/>
          <p:cNvSpPr txBox="1">
            <a:spLocks noChangeArrowheads="1"/>
          </p:cNvSpPr>
          <p:nvPr/>
        </p:nvSpPr>
        <p:spPr bwMode="auto">
          <a:xfrm>
            <a:off x="7848600" y="5562600"/>
            <a:ext cx="762000" cy="701675"/>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4000" b="1">
                <a:solidFill>
                  <a:srgbClr val="006600"/>
                </a:solidFill>
              </a:rPr>
              <a:t>G</a:t>
            </a:r>
            <a:endParaRPr lang="en-US" altLang="zh-CN" sz="4000"/>
          </a:p>
        </p:txBody>
      </p:sp>
      <p:sp>
        <p:nvSpPr>
          <p:cNvPr id="189490" name="Text Box 50"/>
          <p:cNvSpPr txBox="1">
            <a:spLocks noChangeArrowheads="1"/>
          </p:cNvSpPr>
          <p:nvPr/>
        </p:nvSpPr>
        <p:spPr bwMode="auto">
          <a:xfrm>
            <a:off x="6172200" y="3429000"/>
            <a:ext cx="685800" cy="701675"/>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4000" b="1">
                <a:solidFill>
                  <a:srgbClr val="006600"/>
                </a:solidFill>
              </a:rPr>
              <a:t>3</a:t>
            </a:r>
            <a:endParaRPr lang="en-US" altLang="zh-CN" sz="4000"/>
          </a:p>
        </p:txBody>
      </p:sp>
      <p:sp>
        <p:nvSpPr>
          <p:cNvPr id="189491" name="Text Box 51"/>
          <p:cNvSpPr txBox="1">
            <a:spLocks noChangeArrowheads="1"/>
          </p:cNvSpPr>
          <p:nvPr/>
        </p:nvSpPr>
        <p:spPr bwMode="auto">
          <a:xfrm>
            <a:off x="4572000" y="4191000"/>
            <a:ext cx="685800" cy="701675"/>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4000" b="1">
                <a:solidFill>
                  <a:srgbClr val="006600"/>
                </a:solidFill>
              </a:rPr>
              <a:t>0</a:t>
            </a:r>
            <a:endParaRPr lang="en-US" altLang="zh-CN" sz="4000"/>
          </a:p>
        </p:txBody>
      </p:sp>
      <p:sp>
        <p:nvSpPr>
          <p:cNvPr id="189492" name="Text Box 52"/>
          <p:cNvSpPr txBox="1">
            <a:spLocks noChangeArrowheads="1"/>
          </p:cNvSpPr>
          <p:nvPr/>
        </p:nvSpPr>
        <p:spPr bwMode="auto">
          <a:xfrm>
            <a:off x="2895600" y="4876800"/>
            <a:ext cx="685800" cy="701675"/>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4000" b="1">
                <a:solidFill>
                  <a:srgbClr val="006600"/>
                </a:solidFill>
              </a:rPr>
              <a:t>1</a:t>
            </a:r>
            <a:endParaRPr lang="en-US" altLang="zh-CN" sz="4000"/>
          </a:p>
        </p:txBody>
      </p:sp>
      <p:sp>
        <p:nvSpPr>
          <p:cNvPr id="189493" name="Text Box 53"/>
          <p:cNvSpPr txBox="1">
            <a:spLocks noChangeArrowheads="1"/>
          </p:cNvSpPr>
          <p:nvPr/>
        </p:nvSpPr>
        <p:spPr bwMode="auto">
          <a:xfrm>
            <a:off x="7848600" y="4114800"/>
            <a:ext cx="666750" cy="701675"/>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4000" b="1">
                <a:solidFill>
                  <a:srgbClr val="006600"/>
                </a:solidFill>
              </a:rPr>
              <a:t>3</a:t>
            </a:r>
          </a:p>
        </p:txBody>
      </p:sp>
    </p:spTree>
    <p:extLst>
      <p:ext uri="{BB962C8B-B14F-4D97-AF65-F5344CB8AC3E}">
        <p14:creationId xmlns:p14="http://schemas.microsoft.com/office/powerpoint/2010/main" val="2755584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189454"/>
                                        </p:tgtEl>
                                        <p:attrNameLst>
                                          <p:attrName>style.visibility</p:attrName>
                                        </p:attrNameLst>
                                      </p:cBhvr>
                                      <p:to>
                                        <p:strVal val="visible"/>
                                      </p:to>
                                    </p:set>
                                    <p:anim calcmode="lin" valueType="num">
                                      <p:cBhvr additive="base">
                                        <p:cTn id="7" dur="500" fill="hold"/>
                                        <p:tgtEl>
                                          <p:spTgt spid="189454"/>
                                        </p:tgtEl>
                                        <p:attrNameLst>
                                          <p:attrName>ppt_x</p:attrName>
                                        </p:attrNameLst>
                                      </p:cBhvr>
                                      <p:tavLst>
                                        <p:tav tm="0">
                                          <p:val>
                                            <p:strVal val="0-#ppt_w/2"/>
                                          </p:val>
                                        </p:tav>
                                        <p:tav tm="100000">
                                          <p:val>
                                            <p:strVal val="#ppt_x"/>
                                          </p:val>
                                        </p:tav>
                                      </p:tavLst>
                                    </p:anim>
                                    <p:anim calcmode="lin" valueType="num">
                                      <p:cBhvr additive="base">
                                        <p:cTn id="8" dur="500" fill="hold"/>
                                        <p:tgtEl>
                                          <p:spTgt spid="18945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5" fill="hold" nodeType="clickEffect">
                                  <p:stCondLst>
                                    <p:cond delay="0"/>
                                  </p:stCondLst>
                                  <p:childTnLst>
                                    <p:set>
                                      <p:cBhvr>
                                        <p:cTn id="12" dur="1" fill="hold">
                                          <p:stCondLst>
                                            <p:cond delay="0"/>
                                          </p:stCondLst>
                                        </p:cTn>
                                        <p:tgtEl>
                                          <p:spTgt spid="189442"/>
                                        </p:tgtEl>
                                        <p:attrNameLst>
                                          <p:attrName>style.visibility</p:attrName>
                                        </p:attrNameLst>
                                      </p:cBhvr>
                                      <p:to>
                                        <p:strVal val="visible"/>
                                      </p:to>
                                    </p:set>
                                    <p:animEffect transition="in" filter="checkerboard(down)">
                                      <p:cBhvr>
                                        <p:cTn id="13" dur="500"/>
                                        <p:tgtEl>
                                          <p:spTgt spid="189442"/>
                                        </p:tgtEl>
                                      </p:cBhvr>
                                    </p:animEffect>
                                  </p:childTnLst>
                                </p:cTn>
                              </p:par>
                            </p:childTnLst>
                          </p:cTn>
                        </p:par>
                        <p:par>
                          <p:cTn id="14" fill="hold" nodeType="afterGroup">
                            <p:stCondLst>
                              <p:cond delay="500"/>
                            </p:stCondLst>
                            <p:childTnLst>
                              <p:par>
                                <p:cTn id="15" presetID="17" presetClass="entr" presetSubtype="8" fill="hold" grpId="0" nodeType="afterEffect">
                                  <p:stCondLst>
                                    <p:cond delay="0"/>
                                  </p:stCondLst>
                                  <p:childTnLst>
                                    <p:set>
                                      <p:cBhvr>
                                        <p:cTn id="16" dur="1" fill="hold">
                                          <p:stCondLst>
                                            <p:cond delay="0"/>
                                          </p:stCondLst>
                                        </p:cTn>
                                        <p:tgtEl>
                                          <p:spTgt spid="189443"/>
                                        </p:tgtEl>
                                        <p:attrNameLst>
                                          <p:attrName>style.visibility</p:attrName>
                                        </p:attrNameLst>
                                      </p:cBhvr>
                                      <p:to>
                                        <p:strVal val="visible"/>
                                      </p:to>
                                    </p:set>
                                    <p:anim calcmode="lin" valueType="num">
                                      <p:cBhvr>
                                        <p:cTn id="17" dur="500" fill="hold"/>
                                        <p:tgtEl>
                                          <p:spTgt spid="189443"/>
                                        </p:tgtEl>
                                        <p:attrNameLst>
                                          <p:attrName>ppt_x</p:attrName>
                                        </p:attrNameLst>
                                      </p:cBhvr>
                                      <p:tavLst>
                                        <p:tav tm="0">
                                          <p:val>
                                            <p:strVal val="#ppt_x-#ppt_w/2"/>
                                          </p:val>
                                        </p:tav>
                                        <p:tav tm="100000">
                                          <p:val>
                                            <p:strVal val="#ppt_x"/>
                                          </p:val>
                                        </p:tav>
                                      </p:tavLst>
                                    </p:anim>
                                    <p:anim calcmode="lin" valueType="num">
                                      <p:cBhvr>
                                        <p:cTn id="18" dur="500" fill="hold"/>
                                        <p:tgtEl>
                                          <p:spTgt spid="189443"/>
                                        </p:tgtEl>
                                        <p:attrNameLst>
                                          <p:attrName>ppt_y</p:attrName>
                                        </p:attrNameLst>
                                      </p:cBhvr>
                                      <p:tavLst>
                                        <p:tav tm="0">
                                          <p:val>
                                            <p:strVal val="#ppt_y"/>
                                          </p:val>
                                        </p:tav>
                                        <p:tav tm="100000">
                                          <p:val>
                                            <p:strVal val="#ppt_y"/>
                                          </p:val>
                                        </p:tav>
                                      </p:tavLst>
                                    </p:anim>
                                    <p:anim calcmode="lin" valueType="num">
                                      <p:cBhvr>
                                        <p:cTn id="19" dur="500" fill="hold"/>
                                        <p:tgtEl>
                                          <p:spTgt spid="189443"/>
                                        </p:tgtEl>
                                        <p:attrNameLst>
                                          <p:attrName>ppt_w</p:attrName>
                                        </p:attrNameLst>
                                      </p:cBhvr>
                                      <p:tavLst>
                                        <p:tav tm="0">
                                          <p:val>
                                            <p:fltVal val="0"/>
                                          </p:val>
                                        </p:tav>
                                        <p:tav tm="100000">
                                          <p:val>
                                            <p:strVal val="#ppt_w"/>
                                          </p:val>
                                        </p:tav>
                                      </p:tavLst>
                                    </p:anim>
                                    <p:anim calcmode="lin" valueType="num">
                                      <p:cBhvr>
                                        <p:cTn id="20" dur="500" fill="hold"/>
                                        <p:tgtEl>
                                          <p:spTgt spid="189443"/>
                                        </p:tgtEl>
                                        <p:attrNameLst>
                                          <p:attrName>ppt_h</p:attrName>
                                        </p:attrNameLst>
                                      </p:cBhvr>
                                      <p:tavLst>
                                        <p:tav tm="0">
                                          <p:val>
                                            <p:strVal val="#ppt_h"/>
                                          </p:val>
                                        </p:tav>
                                        <p:tav tm="100000">
                                          <p:val>
                                            <p:strVal val="#ppt_h"/>
                                          </p:val>
                                        </p:tav>
                                      </p:tavLst>
                                    </p:anim>
                                  </p:childTnLst>
                                </p:cTn>
                              </p:par>
                            </p:childTnLst>
                          </p:cTn>
                        </p:par>
                        <p:par>
                          <p:cTn id="21" fill="hold" nodeType="afterGroup">
                            <p:stCondLst>
                              <p:cond delay="1000"/>
                            </p:stCondLst>
                            <p:childTnLst>
                              <p:par>
                                <p:cTn id="22" presetID="17" presetClass="entr" presetSubtype="4" fill="hold" grpId="0" nodeType="afterEffect">
                                  <p:stCondLst>
                                    <p:cond delay="0"/>
                                  </p:stCondLst>
                                  <p:childTnLst>
                                    <p:set>
                                      <p:cBhvr>
                                        <p:cTn id="23" dur="1" fill="hold">
                                          <p:stCondLst>
                                            <p:cond delay="0"/>
                                          </p:stCondLst>
                                        </p:cTn>
                                        <p:tgtEl>
                                          <p:spTgt spid="189444"/>
                                        </p:tgtEl>
                                        <p:attrNameLst>
                                          <p:attrName>style.visibility</p:attrName>
                                        </p:attrNameLst>
                                      </p:cBhvr>
                                      <p:to>
                                        <p:strVal val="visible"/>
                                      </p:to>
                                    </p:set>
                                    <p:anim calcmode="lin" valueType="num">
                                      <p:cBhvr>
                                        <p:cTn id="24" dur="500" fill="hold"/>
                                        <p:tgtEl>
                                          <p:spTgt spid="189444"/>
                                        </p:tgtEl>
                                        <p:attrNameLst>
                                          <p:attrName>ppt_x</p:attrName>
                                        </p:attrNameLst>
                                      </p:cBhvr>
                                      <p:tavLst>
                                        <p:tav tm="0">
                                          <p:val>
                                            <p:strVal val="#ppt_x"/>
                                          </p:val>
                                        </p:tav>
                                        <p:tav tm="100000">
                                          <p:val>
                                            <p:strVal val="#ppt_x"/>
                                          </p:val>
                                        </p:tav>
                                      </p:tavLst>
                                    </p:anim>
                                    <p:anim calcmode="lin" valueType="num">
                                      <p:cBhvr>
                                        <p:cTn id="25" dur="500" fill="hold"/>
                                        <p:tgtEl>
                                          <p:spTgt spid="189444"/>
                                        </p:tgtEl>
                                        <p:attrNameLst>
                                          <p:attrName>ppt_y</p:attrName>
                                        </p:attrNameLst>
                                      </p:cBhvr>
                                      <p:tavLst>
                                        <p:tav tm="0">
                                          <p:val>
                                            <p:strVal val="#ppt_y+#ppt_h/2"/>
                                          </p:val>
                                        </p:tav>
                                        <p:tav tm="100000">
                                          <p:val>
                                            <p:strVal val="#ppt_y"/>
                                          </p:val>
                                        </p:tav>
                                      </p:tavLst>
                                    </p:anim>
                                    <p:anim calcmode="lin" valueType="num">
                                      <p:cBhvr>
                                        <p:cTn id="26" dur="500" fill="hold"/>
                                        <p:tgtEl>
                                          <p:spTgt spid="189444"/>
                                        </p:tgtEl>
                                        <p:attrNameLst>
                                          <p:attrName>ppt_w</p:attrName>
                                        </p:attrNameLst>
                                      </p:cBhvr>
                                      <p:tavLst>
                                        <p:tav tm="0">
                                          <p:val>
                                            <p:strVal val="#ppt_w"/>
                                          </p:val>
                                        </p:tav>
                                        <p:tav tm="100000">
                                          <p:val>
                                            <p:strVal val="#ppt_w"/>
                                          </p:val>
                                        </p:tav>
                                      </p:tavLst>
                                    </p:anim>
                                    <p:anim calcmode="lin" valueType="num">
                                      <p:cBhvr>
                                        <p:cTn id="27" dur="500" fill="hold"/>
                                        <p:tgtEl>
                                          <p:spTgt spid="189444"/>
                                        </p:tgtEl>
                                        <p:attrNameLst>
                                          <p:attrName>ppt_h</p:attrName>
                                        </p:attrNameLst>
                                      </p:cBhvr>
                                      <p:tavLst>
                                        <p:tav tm="0">
                                          <p:val>
                                            <p:fltVal val="0"/>
                                          </p:val>
                                        </p:tav>
                                        <p:tav tm="100000">
                                          <p:val>
                                            <p:strVal val="#ppt_h"/>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189445"/>
                                        </p:tgtEl>
                                        <p:attrNameLst>
                                          <p:attrName>style.visibility</p:attrName>
                                        </p:attrNameLst>
                                      </p:cBhvr>
                                      <p:to>
                                        <p:strVal val="visible"/>
                                      </p:to>
                                    </p:set>
                                    <p:animEffect transition="in" filter="slide(fromLeft)">
                                      <p:cBhvr>
                                        <p:cTn id="32" dur="500"/>
                                        <p:tgtEl>
                                          <p:spTgt spid="18944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189447"/>
                                        </p:tgtEl>
                                        <p:attrNameLst>
                                          <p:attrName>style.visibility</p:attrName>
                                        </p:attrNameLst>
                                      </p:cBhvr>
                                      <p:to>
                                        <p:strVal val="visible"/>
                                      </p:to>
                                    </p:set>
                                    <p:animEffect transition="in" filter="slide(fromLeft)">
                                      <p:cBhvr>
                                        <p:cTn id="37" dur="500"/>
                                        <p:tgtEl>
                                          <p:spTgt spid="18944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189448"/>
                                        </p:tgtEl>
                                        <p:attrNameLst>
                                          <p:attrName>style.visibility</p:attrName>
                                        </p:attrNameLst>
                                      </p:cBhvr>
                                      <p:to>
                                        <p:strVal val="visible"/>
                                      </p:to>
                                    </p:set>
                                    <p:animEffect transition="in" filter="slide(fromLeft)">
                                      <p:cBhvr>
                                        <p:cTn id="42" dur="500"/>
                                        <p:tgtEl>
                                          <p:spTgt spid="18944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8" fill="hold" grpId="0" nodeType="clickEffect">
                                  <p:stCondLst>
                                    <p:cond delay="0"/>
                                  </p:stCondLst>
                                  <p:childTnLst>
                                    <p:set>
                                      <p:cBhvr>
                                        <p:cTn id="46" dur="1" fill="hold">
                                          <p:stCondLst>
                                            <p:cond delay="0"/>
                                          </p:stCondLst>
                                        </p:cTn>
                                        <p:tgtEl>
                                          <p:spTgt spid="189449"/>
                                        </p:tgtEl>
                                        <p:attrNameLst>
                                          <p:attrName>style.visibility</p:attrName>
                                        </p:attrNameLst>
                                      </p:cBhvr>
                                      <p:to>
                                        <p:strVal val="visible"/>
                                      </p:to>
                                    </p:set>
                                    <p:animEffect transition="in" filter="slide(fromLeft)">
                                      <p:cBhvr>
                                        <p:cTn id="47" dur="500"/>
                                        <p:tgtEl>
                                          <p:spTgt spid="18944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8" fill="hold" grpId="0" nodeType="clickEffect">
                                  <p:stCondLst>
                                    <p:cond delay="0"/>
                                  </p:stCondLst>
                                  <p:childTnLst>
                                    <p:set>
                                      <p:cBhvr>
                                        <p:cTn id="51" dur="1" fill="hold">
                                          <p:stCondLst>
                                            <p:cond delay="0"/>
                                          </p:stCondLst>
                                        </p:cTn>
                                        <p:tgtEl>
                                          <p:spTgt spid="189450"/>
                                        </p:tgtEl>
                                        <p:attrNameLst>
                                          <p:attrName>style.visibility</p:attrName>
                                        </p:attrNameLst>
                                      </p:cBhvr>
                                      <p:to>
                                        <p:strVal val="visible"/>
                                      </p:to>
                                    </p:set>
                                    <p:animEffect transition="in" filter="slide(fromLeft)">
                                      <p:cBhvr>
                                        <p:cTn id="52" dur="500"/>
                                        <p:tgtEl>
                                          <p:spTgt spid="18945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8" fill="hold" grpId="0" nodeType="clickEffect">
                                  <p:stCondLst>
                                    <p:cond delay="0"/>
                                  </p:stCondLst>
                                  <p:childTnLst>
                                    <p:set>
                                      <p:cBhvr>
                                        <p:cTn id="56" dur="1" fill="hold">
                                          <p:stCondLst>
                                            <p:cond delay="0"/>
                                          </p:stCondLst>
                                        </p:cTn>
                                        <p:tgtEl>
                                          <p:spTgt spid="189451"/>
                                        </p:tgtEl>
                                        <p:attrNameLst>
                                          <p:attrName>style.visibility</p:attrName>
                                        </p:attrNameLst>
                                      </p:cBhvr>
                                      <p:to>
                                        <p:strVal val="visible"/>
                                      </p:to>
                                    </p:set>
                                    <p:animEffect transition="in" filter="slide(fromLeft)">
                                      <p:cBhvr>
                                        <p:cTn id="57" dur="500"/>
                                        <p:tgtEl>
                                          <p:spTgt spid="18945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8" fill="hold" grpId="0" nodeType="clickEffect">
                                  <p:stCondLst>
                                    <p:cond delay="0"/>
                                  </p:stCondLst>
                                  <p:childTnLst>
                                    <p:set>
                                      <p:cBhvr>
                                        <p:cTn id="61" dur="1" fill="hold">
                                          <p:stCondLst>
                                            <p:cond delay="0"/>
                                          </p:stCondLst>
                                        </p:cTn>
                                        <p:tgtEl>
                                          <p:spTgt spid="189452"/>
                                        </p:tgtEl>
                                        <p:attrNameLst>
                                          <p:attrName>style.visibility</p:attrName>
                                        </p:attrNameLst>
                                      </p:cBhvr>
                                      <p:to>
                                        <p:strVal val="visible"/>
                                      </p:to>
                                    </p:set>
                                    <p:animEffect transition="in" filter="slide(fromLeft)">
                                      <p:cBhvr>
                                        <p:cTn id="62" dur="500"/>
                                        <p:tgtEl>
                                          <p:spTgt spid="18945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8" fill="hold" grpId="0" nodeType="clickEffect">
                                  <p:stCondLst>
                                    <p:cond delay="0"/>
                                  </p:stCondLst>
                                  <p:childTnLst>
                                    <p:set>
                                      <p:cBhvr>
                                        <p:cTn id="66" dur="1" fill="hold">
                                          <p:stCondLst>
                                            <p:cond delay="0"/>
                                          </p:stCondLst>
                                        </p:cTn>
                                        <p:tgtEl>
                                          <p:spTgt spid="189453"/>
                                        </p:tgtEl>
                                        <p:attrNameLst>
                                          <p:attrName>style.visibility</p:attrName>
                                        </p:attrNameLst>
                                      </p:cBhvr>
                                      <p:to>
                                        <p:strVal val="visible"/>
                                      </p:to>
                                    </p:set>
                                    <p:animEffect transition="in" filter="slide(fromLeft)">
                                      <p:cBhvr>
                                        <p:cTn id="67" dur="500"/>
                                        <p:tgtEl>
                                          <p:spTgt spid="18945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 presetClass="entr" presetSubtype="1" fill="hold" grpId="0" nodeType="clickEffect">
                                  <p:stCondLst>
                                    <p:cond delay="0"/>
                                  </p:stCondLst>
                                  <p:childTnLst>
                                    <p:set>
                                      <p:cBhvr>
                                        <p:cTn id="71" dur="1" fill="hold">
                                          <p:stCondLst>
                                            <p:cond delay="0"/>
                                          </p:stCondLst>
                                        </p:cTn>
                                        <p:tgtEl>
                                          <p:spTgt spid="189455"/>
                                        </p:tgtEl>
                                        <p:attrNameLst>
                                          <p:attrName>style.visibility</p:attrName>
                                        </p:attrNameLst>
                                      </p:cBhvr>
                                      <p:to>
                                        <p:strVal val="visible"/>
                                      </p:to>
                                    </p:set>
                                    <p:anim calcmode="lin" valueType="num">
                                      <p:cBhvr additive="base">
                                        <p:cTn id="72" dur="500" fill="hold"/>
                                        <p:tgtEl>
                                          <p:spTgt spid="189455"/>
                                        </p:tgtEl>
                                        <p:attrNameLst>
                                          <p:attrName>ppt_x</p:attrName>
                                        </p:attrNameLst>
                                      </p:cBhvr>
                                      <p:tavLst>
                                        <p:tav tm="0">
                                          <p:val>
                                            <p:strVal val="#ppt_x"/>
                                          </p:val>
                                        </p:tav>
                                        <p:tav tm="100000">
                                          <p:val>
                                            <p:strVal val="#ppt_x"/>
                                          </p:val>
                                        </p:tav>
                                      </p:tavLst>
                                    </p:anim>
                                    <p:anim calcmode="lin" valueType="num">
                                      <p:cBhvr additive="base">
                                        <p:cTn id="73" dur="500" fill="hold"/>
                                        <p:tgtEl>
                                          <p:spTgt spid="189455"/>
                                        </p:tgtEl>
                                        <p:attrNameLst>
                                          <p:attrName>ppt_y</p:attrName>
                                        </p:attrNameLst>
                                      </p:cBhvr>
                                      <p:tavLst>
                                        <p:tav tm="0">
                                          <p:val>
                                            <p:strVal val="0-#ppt_h/2"/>
                                          </p:val>
                                        </p:tav>
                                        <p:tav tm="100000">
                                          <p:val>
                                            <p:strVal val="#ppt_y"/>
                                          </p:val>
                                        </p:tav>
                                      </p:tavLst>
                                    </p:anim>
                                  </p:childTnLst>
                                </p:cTn>
                              </p:par>
                            </p:childTnLst>
                          </p:cTn>
                        </p:par>
                        <p:par>
                          <p:cTn id="74" fill="hold" nodeType="afterGroup">
                            <p:stCondLst>
                              <p:cond delay="500"/>
                            </p:stCondLst>
                            <p:childTnLst>
                              <p:par>
                                <p:cTn id="75" presetID="2" presetClass="entr" presetSubtype="1" fill="hold" grpId="0" nodeType="afterEffect">
                                  <p:stCondLst>
                                    <p:cond delay="0"/>
                                  </p:stCondLst>
                                  <p:childTnLst>
                                    <p:set>
                                      <p:cBhvr>
                                        <p:cTn id="76" dur="1" fill="hold">
                                          <p:stCondLst>
                                            <p:cond delay="0"/>
                                          </p:stCondLst>
                                        </p:cTn>
                                        <p:tgtEl>
                                          <p:spTgt spid="189456"/>
                                        </p:tgtEl>
                                        <p:attrNameLst>
                                          <p:attrName>style.visibility</p:attrName>
                                        </p:attrNameLst>
                                      </p:cBhvr>
                                      <p:to>
                                        <p:strVal val="visible"/>
                                      </p:to>
                                    </p:set>
                                    <p:anim calcmode="lin" valueType="num">
                                      <p:cBhvr additive="base">
                                        <p:cTn id="77" dur="500" fill="hold"/>
                                        <p:tgtEl>
                                          <p:spTgt spid="189456"/>
                                        </p:tgtEl>
                                        <p:attrNameLst>
                                          <p:attrName>ppt_x</p:attrName>
                                        </p:attrNameLst>
                                      </p:cBhvr>
                                      <p:tavLst>
                                        <p:tav tm="0">
                                          <p:val>
                                            <p:strVal val="#ppt_x"/>
                                          </p:val>
                                        </p:tav>
                                        <p:tav tm="100000">
                                          <p:val>
                                            <p:strVal val="#ppt_x"/>
                                          </p:val>
                                        </p:tav>
                                      </p:tavLst>
                                    </p:anim>
                                    <p:anim calcmode="lin" valueType="num">
                                      <p:cBhvr additive="base">
                                        <p:cTn id="78" dur="500" fill="hold"/>
                                        <p:tgtEl>
                                          <p:spTgt spid="189456"/>
                                        </p:tgtEl>
                                        <p:attrNameLst>
                                          <p:attrName>ppt_y</p:attrName>
                                        </p:attrNameLst>
                                      </p:cBhvr>
                                      <p:tavLst>
                                        <p:tav tm="0">
                                          <p:val>
                                            <p:strVal val="0-#ppt_h/2"/>
                                          </p:val>
                                        </p:tav>
                                        <p:tav tm="100000">
                                          <p:val>
                                            <p:strVal val="#ppt_y"/>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2" presetClass="entr" presetSubtype="1" fill="hold" grpId="0" nodeType="clickEffect">
                                  <p:stCondLst>
                                    <p:cond delay="0"/>
                                  </p:stCondLst>
                                  <p:childTnLst>
                                    <p:set>
                                      <p:cBhvr>
                                        <p:cTn id="82" dur="1" fill="hold">
                                          <p:stCondLst>
                                            <p:cond delay="0"/>
                                          </p:stCondLst>
                                        </p:cTn>
                                        <p:tgtEl>
                                          <p:spTgt spid="189457"/>
                                        </p:tgtEl>
                                        <p:attrNameLst>
                                          <p:attrName>style.visibility</p:attrName>
                                        </p:attrNameLst>
                                      </p:cBhvr>
                                      <p:to>
                                        <p:strVal val="visible"/>
                                      </p:to>
                                    </p:set>
                                    <p:anim calcmode="lin" valueType="num">
                                      <p:cBhvr additive="base">
                                        <p:cTn id="83" dur="500" fill="hold"/>
                                        <p:tgtEl>
                                          <p:spTgt spid="189457"/>
                                        </p:tgtEl>
                                        <p:attrNameLst>
                                          <p:attrName>ppt_x</p:attrName>
                                        </p:attrNameLst>
                                      </p:cBhvr>
                                      <p:tavLst>
                                        <p:tav tm="0">
                                          <p:val>
                                            <p:strVal val="#ppt_x"/>
                                          </p:val>
                                        </p:tav>
                                        <p:tav tm="100000">
                                          <p:val>
                                            <p:strVal val="#ppt_x"/>
                                          </p:val>
                                        </p:tav>
                                      </p:tavLst>
                                    </p:anim>
                                    <p:anim calcmode="lin" valueType="num">
                                      <p:cBhvr additive="base">
                                        <p:cTn id="84" dur="500" fill="hold"/>
                                        <p:tgtEl>
                                          <p:spTgt spid="189457"/>
                                        </p:tgtEl>
                                        <p:attrNameLst>
                                          <p:attrName>ppt_y</p:attrName>
                                        </p:attrNameLst>
                                      </p:cBhvr>
                                      <p:tavLst>
                                        <p:tav tm="0">
                                          <p:val>
                                            <p:strVal val="0-#ppt_h/2"/>
                                          </p:val>
                                        </p:tav>
                                        <p:tav tm="100000">
                                          <p:val>
                                            <p:strVal val="#ppt_y"/>
                                          </p:val>
                                        </p:tav>
                                      </p:tavLst>
                                    </p:anim>
                                  </p:childTnLst>
                                </p:cTn>
                              </p:par>
                            </p:childTnLst>
                          </p:cTn>
                        </p:par>
                        <p:par>
                          <p:cTn id="85" fill="hold" nodeType="afterGroup">
                            <p:stCondLst>
                              <p:cond delay="500"/>
                            </p:stCondLst>
                            <p:childTnLst>
                              <p:par>
                                <p:cTn id="86" presetID="2" presetClass="entr" presetSubtype="1" fill="hold" grpId="0" nodeType="afterEffect">
                                  <p:stCondLst>
                                    <p:cond delay="0"/>
                                  </p:stCondLst>
                                  <p:childTnLst>
                                    <p:set>
                                      <p:cBhvr>
                                        <p:cTn id="87" dur="1" fill="hold">
                                          <p:stCondLst>
                                            <p:cond delay="0"/>
                                          </p:stCondLst>
                                        </p:cTn>
                                        <p:tgtEl>
                                          <p:spTgt spid="189458"/>
                                        </p:tgtEl>
                                        <p:attrNameLst>
                                          <p:attrName>style.visibility</p:attrName>
                                        </p:attrNameLst>
                                      </p:cBhvr>
                                      <p:to>
                                        <p:strVal val="visible"/>
                                      </p:to>
                                    </p:set>
                                    <p:anim calcmode="lin" valueType="num">
                                      <p:cBhvr additive="base">
                                        <p:cTn id="88" dur="500" fill="hold"/>
                                        <p:tgtEl>
                                          <p:spTgt spid="189458"/>
                                        </p:tgtEl>
                                        <p:attrNameLst>
                                          <p:attrName>ppt_x</p:attrName>
                                        </p:attrNameLst>
                                      </p:cBhvr>
                                      <p:tavLst>
                                        <p:tav tm="0">
                                          <p:val>
                                            <p:strVal val="#ppt_x"/>
                                          </p:val>
                                        </p:tav>
                                        <p:tav tm="100000">
                                          <p:val>
                                            <p:strVal val="#ppt_x"/>
                                          </p:val>
                                        </p:tav>
                                      </p:tavLst>
                                    </p:anim>
                                    <p:anim calcmode="lin" valueType="num">
                                      <p:cBhvr additive="base">
                                        <p:cTn id="89" dur="500" fill="hold"/>
                                        <p:tgtEl>
                                          <p:spTgt spid="189458"/>
                                        </p:tgtEl>
                                        <p:attrNameLst>
                                          <p:attrName>ppt_y</p:attrName>
                                        </p:attrNameLst>
                                      </p:cBhvr>
                                      <p:tavLst>
                                        <p:tav tm="0">
                                          <p:val>
                                            <p:strVal val="0-#ppt_h/2"/>
                                          </p:val>
                                        </p:tav>
                                        <p:tav tm="100000">
                                          <p:val>
                                            <p:strVal val="#ppt_y"/>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89459"/>
                                        </p:tgtEl>
                                        <p:attrNameLst>
                                          <p:attrName>style.visibility</p:attrName>
                                        </p:attrNameLst>
                                      </p:cBhvr>
                                      <p:to>
                                        <p:strVal val="visible"/>
                                      </p:to>
                                    </p:set>
                                    <p:animEffect transition="in" filter="wipe(left)">
                                      <p:cBhvr>
                                        <p:cTn id="94" dur="500"/>
                                        <p:tgtEl>
                                          <p:spTgt spid="189459"/>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89460"/>
                                        </p:tgtEl>
                                        <p:attrNameLst>
                                          <p:attrName>style.visibility</p:attrName>
                                        </p:attrNameLst>
                                      </p:cBhvr>
                                      <p:to>
                                        <p:strVal val="visible"/>
                                      </p:to>
                                    </p:set>
                                    <p:animEffect transition="in" filter="wipe(left)">
                                      <p:cBhvr>
                                        <p:cTn id="99" dur="500"/>
                                        <p:tgtEl>
                                          <p:spTgt spid="189460"/>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89461"/>
                                        </p:tgtEl>
                                        <p:attrNameLst>
                                          <p:attrName>style.visibility</p:attrName>
                                        </p:attrNameLst>
                                      </p:cBhvr>
                                      <p:to>
                                        <p:strVal val="visible"/>
                                      </p:to>
                                    </p:set>
                                    <p:animEffect transition="in" filter="wipe(left)">
                                      <p:cBhvr>
                                        <p:cTn id="104" dur="500"/>
                                        <p:tgtEl>
                                          <p:spTgt spid="189461"/>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89462"/>
                                        </p:tgtEl>
                                        <p:attrNameLst>
                                          <p:attrName>style.visibility</p:attrName>
                                        </p:attrNameLst>
                                      </p:cBhvr>
                                      <p:to>
                                        <p:strVal val="visible"/>
                                      </p:to>
                                    </p:set>
                                    <p:animEffect transition="in" filter="wipe(left)">
                                      <p:cBhvr>
                                        <p:cTn id="109" dur="500"/>
                                        <p:tgtEl>
                                          <p:spTgt spid="189462"/>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189463"/>
                                        </p:tgtEl>
                                        <p:attrNameLst>
                                          <p:attrName>style.visibility</p:attrName>
                                        </p:attrNameLst>
                                      </p:cBhvr>
                                      <p:to>
                                        <p:strVal val="visible"/>
                                      </p:to>
                                    </p:set>
                                    <p:animEffect transition="in" filter="wipe(left)">
                                      <p:cBhvr>
                                        <p:cTn id="114" dur="500"/>
                                        <p:tgtEl>
                                          <p:spTgt spid="189463"/>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189464"/>
                                        </p:tgtEl>
                                        <p:attrNameLst>
                                          <p:attrName>style.visibility</p:attrName>
                                        </p:attrNameLst>
                                      </p:cBhvr>
                                      <p:to>
                                        <p:strVal val="visible"/>
                                      </p:to>
                                    </p:set>
                                    <p:animEffect transition="in" filter="wipe(left)">
                                      <p:cBhvr>
                                        <p:cTn id="119" dur="500"/>
                                        <p:tgtEl>
                                          <p:spTgt spid="189464"/>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189465"/>
                                        </p:tgtEl>
                                        <p:attrNameLst>
                                          <p:attrName>style.visibility</p:attrName>
                                        </p:attrNameLst>
                                      </p:cBhvr>
                                      <p:to>
                                        <p:strVal val="visible"/>
                                      </p:to>
                                    </p:set>
                                    <p:animEffect transition="in" filter="wipe(left)">
                                      <p:cBhvr>
                                        <p:cTn id="124" dur="500"/>
                                        <p:tgtEl>
                                          <p:spTgt spid="189465"/>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189490"/>
                                        </p:tgtEl>
                                        <p:attrNameLst>
                                          <p:attrName>style.visibility</p:attrName>
                                        </p:attrNameLst>
                                      </p:cBhvr>
                                      <p:to>
                                        <p:strVal val="visible"/>
                                      </p:to>
                                    </p:set>
                                    <p:animEffect transition="in" filter="wipe(left)">
                                      <p:cBhvr>
                                        <p:cTn id="129" dur="500"/>
                                        <p:tgtEl>
                                          <p:spTgt spid="189490"/>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189473"/>
                                        </p:tgtEl>
                                        <p:attrNameLst>
                                          <p:attrName>style.visibility</p:attrName>
                                        </p:attrNameLst>
                                      </p:cBhvr>
                                      <p:to>
                                        <p:strVal val="visible"/>
                                      </p:to>
                                    </p:set>
                                    <p:animEffect transition="in" filter="wipe(left)">
                                      <p:cBhvr>
                                        <p:cTn id="134" dur="500"/>
                                        <p:tgtEl>
                                          <p:spTgt spid="189473"/>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1" fill="hold" grpId="0" nodeType="clickEffect">
                                  <p:stCondLst>
                                    <p:cond delay="0"/>
                                  </p:stCondLst>
                                  <p:childTnLst>
                                    <p:set>
                                      <p:cBhvr>
                                        <p:cTn id="138" dur="1" fill="hold">
                                          <p:stCondLst>
                                            <p:cond delay="0"/>
                                          </p:stCondLst>
                                        </p:cTn>
                                        <p:tgtEl>
                                          <p:spTgt spid="189468"/>
                                        </p:tgtEl>
                                        <p:attrNameLst>
                                          <p:attrName>style.visibility</p:attrName>
                                        </p:attrNameLst>
                                      </p:cBhvr>
                                      <p:to>
                                        <p:strVal val="visible"/>
                                      </p:to>
                                    </p:set>
                                    <p:animEffect transition="in" filter="wipe(up)">
                                      <p:cBhvr>
                                        <p:cTn id="139" dur="500"/>
                                        <p:tgtEl>
                                          <p:spTgt spid="189468"/>
                                        </p:tgtEl>
                                      </p:cBhvr>
                                    </p:animEffect>
                                  </p:childTnLst>
                                </p:cTn>
                              </p:par>
                            </p:childTnLst>
                          </p:cTn>
                        </p:par>
                        <p:par>
                          <p:cTn id="140" fill="hold" nodeType="afterGroup">
                            <p:stCondLst>
                              <p:cond delay="500"/>
                            </p:stCondLst>
                            <p:childTnLst>
                              <p:par>
                                <p:cTn id="141" presetID="22" presetClass="entr" presetSubtype="1" fill="hold" grpId="0" nodeType="afterEffect">
                                  <p:stCondLst>
                                    <p:cond delay="0"/>
                                  </p:stCondLst>
                                  <p:childTnLst>
                                    <p:set>
                                      <p:cBhvr>
                                        <p:cTn id="142" dur="1" fill="hold">
                                          <p:stCondLst>
                                            <p:cond delay="0"/>
                                          </p:stCondLst>
                                        </p:cTn>
                                        <p:tgtEl>
                                          <p:spTgt spid="189466"/>
                                        </p:tgtEl>
                                        <p:attrNameLst>
                                          <p:attrName>style.visibility</p:attrName>
                                        </p:attrNameLst>
                                      </p:cBhvr>
                                      <p:to>
                                        <p:strVal val="visible"/>
                                      </p:to>
                                    </p:set>
                                    <p:animEffect transition="in" filter="wipe(up)">
                                      <p:cBhvr>
                                        <p:cTn id="143" dur="500"/>
                                        <p:tgtEl>
                                          <p:spTgt spid="189466"/>
                                        </p:tgtEl>
                                      </p:cBhvr>
                                    </p:animEffect>
                                  </p:childTnLst>
                                </p:cTn>
                              </p:par>
                            </p:childTnLst>
                          </p:cTn>
                        </p:par>
                        <p:par>
                          <p:cTn id="144" fill="hold" nodeType="afterGroup">
                            <p:stCondLst>
                              <p:cond delay="1000"/>
                            </p:stCondLst>
                            <p:childTnLst>
                              <p:par>
                                <p:cTn id="145" presetID="22" presetClass="entr" presetSubtype="1" fill="hold" grpId="0" nodeType="afterEffect">
                                  <p:stCondLst>
                                    <p:cond delay="0"/>
                                  </p:stCondLst>
                                  <p:childTnLst>
                                    <p:set>
                                      <p:cBhvr>
                                        <p:cTn id="146" dur="1" fill="hold">
                                          <p:stCondLst>
                                            <p:cond delay="0"/>
                                          </p:stCondLst>
                                        </p:cTn>
                                        <p:tgtEl>
                                          <p:spTgt spid="189467"/>
                                        </p:tgtEl>
                                        <p:attrNameLst>
                                          <p:attrName>style.visibility</p:attrName>
                                        </p:attrNameLst>
                                      </p:cBhvr>
                                      <p:to>
                                        <p:strVal val="visible"/>
                                      </p:to>
                                    </p:set>
                                    <p:animEffect transition="in" filter="wipe(up)">
                                      <p:cBhvr>
                                        <p:cTn id="147" dur="500"/>
                                        <p:tgtEl>
                                          <p:spTgt spid="189467"/>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8" fill="hold" grpId="0" nodeType="clickEffect">
                                  <p:stCondLst>
                                    <p:cond delay="0"/>
                                  </p:stCondLst>
                                  <p:childTnLst>
                                    <p:set>
                                      <p:cBhvr>
                                        <p:cTn id="151" dur="1" fill="hold">
                                          <p:stCondLst>
                                            <p:cond delay="0"/>
                                          </p:stCondLst>
                                        </p:cTn>
                                        <p:tgtEl>
                                          <p:spTgt spid="189469"/>
                                        </p:tgtEl>
                                        <p:attrNameLst>
                                          <p:attrName>style.visibility</p:attrName>
                                        </p:attrNameLst>
                                      </p:cBhvr>
                                      <p:to>
                                        <p:strVal val="visible"/>
                                      </p:to>
                                    </p:set>
                                    <p:animEffect transition="in" filter="wipe(left)">
                                      <p:cBhvr>
                                        <p:cTn id="152" dur="500"/>
                                        <p:tgtEl>
                                          <p:spTgt spid="189469"/>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189470"/>
                                        </p:tgtEl>
                                        <p:attrNameLst>
                                          <p:attrName>style.visibility</p:attrName>
                                        </p:attrNameLst>
                                      </p:cBhvr>
                                      <p:to>
                                        <p:strVal val="visible"/>
                                      </p:to>
                                    </p:set>
                                    <p:animEffect transition="in" filter="wipe(left)">
                                      <p:cBhvr>
                                        <p:cTn id="157" dur="500"/>
                                        <p:tgtEl>
                                          <p:spTgt spid="189470"/>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189471"/>
                                        </p:tgtEl>
                                        <p:attrNameLst>
                                          <p:attrName>style.visibility</p:attrName>
                                        </p:attrNameLst>
                                      </p:cBhvr>
                                      <p:to>
                                        <p:strVal val="visible"/>
                                      </p:to>
                                    </p:set>
                                    <p:animEffect transition="in" filter="wipe(left)">
                                      <p:cBhvr>
                                        <p:cTn id="162" dur="500"/>
                                        <p:tgtEl>
                                          <p:spTgt spid="189471"/>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189472"/>
                                        </p:tgtEl>
                                        <p:attrNameLst>
                                          <p:attrName>style.visibility</p:attrName>
                                        </p:attrNameLst>
                                      </p:cBhvr>
                                      <p:to>
                                        <p:strVal val="visible"/>
                                      </p:to>
                                    </p:set>
                                    <p:animEffect transition="in" filter="wipe(left)">
                                      <p:cBhvr>
                                        <p:cTn id="167" dur="500"/>
                                        <p:tgtEl>
                                          <p:spTgt spid="189472"/>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8" fill="hold" grpId="0" nodeType="clickEffect">
                                  <p:stCondLst>
                                    <p:cond delay="0"/>
                                  </p:stCondLst>
                                  <p:childTnLst>
                                    <p:set>
                                      <p:cBhvr>
                                        <p:cTn id="171" dur="1" fill="hold">
                                          <p:stCondLst>
                                            <p:cond delay="0"/>
                                          </p:stCondLst>
                                        </p:cTn>
                                        <p:tgtEl>
                                          <p:spTgt spid="189491"/>
                                        </p:tgtEl>
                                        <p:attrNameLst>
                                          <p:attrName>style.visibility</p:attrName>
                                        </p:attrNameLst>
                                      </p:cBhvr>
                                      <p:to>
                                        <p:strVal val="visible"/>
                                      </p:to>
                                    </p:set>
                                    <p:animEffect transition="in" filter="wipe(left)">
                                      <p:cBhvr>
                                        <p:cTn id="172" dur="500"/>
                                        <p:tgtEl>
                                          <p:spTgt spid="189491"/>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22" presetClass="entr" presetSubtype="8" fill="hold" grpId="0" nodeType="clickEffect">
                                  <p:stCondLst>
                                    <p:cond delay="0"/>
                                  </p:stCondLst>
                                  <p:childTnLst>
                                    <p:set>
                                      <p:cBhvr>
                                        <p:cTn id="176" dur="1" fill="hold">
                                          <p:stCondLst>
                                            <p:cond delay="0"/>
                                          </p:stCondLst>
                                        </p:cTn>
                                        <p:tgtEl>
                                          <p:spTgt spid="189474"/>
                                        </p:tgtEl>
                                        <p:attrNameLst>
                                          <p:attrName>style.visibility</p:attrName>
                                        </p:attrNameLst>
                                      </p:cBhvr>
                                      <p:to>
                                        <p:strVal val="visible"/>
                                      </p:to>
                                    </p:set>
                                    <p:animEffect transition="in" filter="wipe(left)">
                                      <p:cBhvr>
                                        <p:cTn id="177" dur="500"/>
                                        <p:tgtEl>
                                          <p:spTgt spid="189474"/>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2" presetClass="entr" presetSubtype="1" fill="hold" grpId="0" nodeType="clickEffect">
                                  <p:stCondLst>
                                    <p:cond delay="0"/>
                                  </p:stCondLst>
                                  <p:childTnLst>
                                    <p:set>
                                      <p:cBhvr>
                                        <p:cTn id="181" dur="1" fill="hold">
                                          <p:stCondLst>
                                            <p:cond delay="0"/>
                                          </p:stCondLst>
                                        </p:cTn>
                                        <p:tgtEl>
                                          <p:spTgt spid="189480"/>
                                        </p:tgtEl>
                                        <p:attrNameLst>
                                          <p:attrName>style.visibility</p:attrName>
                                        </p:attrNameLst>
                                      </p:cBhvr>
                                      <p:to>
                                        <p:strVal val="visible"/>
                                      </p:to>
                                    </p:set>
                                    <p:animEffect transition="in" filter="wipe(up)">
                                      <p:cBhvr>
                                        <p:cTn id="182" dur="500"/>
                                        <p:tgtEl>
                                          <p:spTgt spid="189480"/>
                                        </p:tgtEl>
                                      </p:cBhvr>
                                    </p:animEffect>
                                  </p:childTnLst>
                                </p:cTn>
                              </p:par>
                            </p:childTnLst>
                          </p:cTn>
                        </p:par>
                        <p:par>
                          <p:cTn id="183" fill="hold" nodeType="afterGroup">
                            <p:stCondLst>
                              <p:cond delay="500"/>
                            </p:stCondLst>
                            <p:childTnLst>
                              <p:par>
                                <p:cTn id="184" presetID="22" presetClass="entr" presetSubtype="1" fill="hold" grpId="0" nodeType="afterEffect">
                                  <p:stCondLst>
                                    <p:cond delay="0"/>
                                  </p:stCondLst>
                                  <p:childTnLst>
                                    <p:set>
                                      <p:cBhvr>
                                        <p:cTn id="185" dur="1" fill="hold">
                                          <p:stCondLst>
                                            <p:cond delay="0"/>
                                          </p:stCondLst>
                                        </p:cTn>
                                        <p:tgtEl>
                                          <p:spTgt spid="189478"/>
                                        </p:tgtEl>
                                        <p:attrNameLst>
                                          <p:attrName>style.visibility</p:attrName>
                                        </p:attrNameLst>
                                      </p:cBhvr>
                                      <p:to>
                                        <p:strVal val="visible"/>
                                      </p:to>
                                    </p:set>
                                    <p:animEffect transition="in" filter="wipe(up)">
                                      <p:cBhvr>
                                        <p:cTn id="186" dur="500"/>
                                        <p:tgtEl>
                                          <p:spTgt spid="189478"/>
                                        </p:tgtEl>
                                      </p:cBhvr>
                                    </p:animEffect>
                                  </p:childTnLst>
                                </p:cTn>
                              </p:par>
                            </p:childTnLst>
                          </p:cTn>
                        </p:par>
                        <p:par>
                          <p:cTn id="187" fill="hold" nodeType="afterGroup">
                            <p:stCondLst>
                              <p:cond delay="1000"/>
                            </p:stCondLst>
                            <p:childTnLst>
                              <p:par>
                                <p:cTn id="188" presetID="22" presetClass="entr" presetSubtype="1" fill="hold" grpId="0" nodeType="afterEffect">
                                  <p:stCondLst>
                                    <p:cond delay="0"/>
                                  </p:stCondLst>
                                  <p:childTnLst>
                                    <p:set>
                                      <p:cBhvr>
                                        <p:cTn id="189" dur="1" fill="hold">
                                          <p:stCondLst>
                                            <p:cond delay="0"/>
                                          </p:stCondLst>
                                        </p:cTn>
                                        <p:tgtEl>
                                          <p:spTgt spid="189479"/>
                                        </p:tgtEl>
                                        <p:attrNameLst>
                                          <p:attrName>style.visibility</p:attrName>
                                        </p:attrNameLst>
                                      </p:cBhvr>
                                      <p:to>
                                        <p:strVal val="visible"/>
                                      </p:to>
                                    </p:set>
                                    <p:animEffect transition="in" filter="wipe(up)">
                                      <p:cBhvr>
                                        <p:cTn id="190" dur="500"/>
                                        <p:tgtEl>
                                          <p:spTgt spid="189479"/>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22" presetClass="entr" presetSubtype="8" fill="hold" grpId="0" nodeType="clickEffect">
                                  <p:stCondLst>
                                    <p:cond delay="0"/>
                                  </p:stCondLst>
                                  <p:childTnLst>
                                    <p:set>
                                      <p:cBhvr>
                                        <p:cTn id="194" dur="1" fill="hold">
                                          <p:stCondLst>
                                            <p:cond delay="0"/>
                                          </p:stCondLst>
                                        </p:cTn>
                                        <p:tgtEl>
                                          <p:spTgt spid="189476"/>
                                        </p:tgtEl>
                                        <p:attrNameLst>
                                          <p:attrName>style.visibility</p:attrName>
                                        </p:attrNameLst>
                                      </p:cBhvr>
                                      <p:to>
                                        <p:strVal val="visible"/>
                                      </p:to>
                                    </p:set>
                                    <p:animEffect transition="in" filter="wipe(left)">
                                      <p:cBhvr>
                                        <p:cTn id="195" dur="500"/>
                                        <p:tgtEl>
                                          <p:spTgt spid="189476"/>
                                        </p:tgtEl>
                                      </p:cBhvr>
                                    </p:animEffect>
                                  </p:childTnLst>
                                </p:cTn>
                              </p:par>
                            </p:childTnLst>
                          </p:cTn>
                        </p:par>
                      </p:childTnLst>
                    </p:cTn>
                  </p:par>
                  <p:par>
                    <p:cTn id="196" fill="hold" nodeType="clickPar">
                      <p:stCondLst>
                        <p:cond delay="indefinite"/>
                      </p:stCondLst>
                      <p:childTnLst>
                        <p:par>
                          <p:cTn id="197" fill="hold" nodeType="withGroup">
                            <p:stCondLst>
                              <p:cond delay="0"/>
                            </p:stCondLst>
                            <p:childTnLst>
                              <p:par>
                                <p:cTn id="198" presetID="22" presetClass="entr" presetSubtype="8" fill="hold" grpId="0" nodeType="clickEffect">
                                  <p:stCondLst>
                                    <p:cond delay="0"/>
                                  </p:stCondLst>
                                  <p:childTnLst>
                                    <p:set>
                                      <p:cBhvr>
                                        <p:cTn id="199" dur="1" fill="hold">
                                          <p:stCondLst>
                                            <p:cond delay="0"/>
                                          </p:stCondLst>
                                        </p:cTn>
                                        <p:tgtEl>
                                          <p:spTgt spid="189475"/>
                                        </p:tgtEl>
                                        <p:attrNameLst>
                                          <p:attrName>style.visibility</p:attrName>
                                        </p:attrNameLst>
                                      </p:cBhvr>
                                      <p:to>
                                        <p:strVal val="visible"/>
                                      </p:to>
                                    </p:set>
                                    <p:animEffect transition="in" filter="wipe(left)">
                                      <p:cBhvr>
                                        <p:cTn id="200" dur="500"/>
                                        <p:tgtEl>
                                          <p:spTgt spid="189475"/>
                                        </p:tgtEl>
                                      </p:cBhvr>
                                    </p:animEffect>
                                  </p:childTnLst>
                                </p:cTn>
                              </p:par>
                            </p:childTnLst>
                          </p:cTn>
                        </p:par>
                      </p:childTnLst>
                    </p:cTn>
                  </p:par>
                  <p:par>
                    <p:cTn id="201" fill="hold" nodeType="clickPar">
                      <p:stCondLst>
                        <p:cond delay="indefinite"/>
                      </p:stCondLst>
                      <p:childTnLst>
                        <p:par>
                          <p:cTn id="202" fill="hold" nodeType="withGroup">
                            <p:stCondLst>
                              <p:cond delay="0"/>
                            </p:stCondLst>
                            <p:childTnLst>
                              <p:par>
                                <p:cTn id="203" presetID="22" presetClass="entr" presetSubtype="8" fill="hold" grpId="0" nodeType="clickEffect">
                                  <p:stCondLst>
                                    <p:cond delay="0"/>
                                  </p:stCondLst>
                                  <p:childTnLst>
                                    <p:set>
                                      <p:cBhvr>
                                        <p:cTn id="204" dur="1" fill="hold">
                                          <p:stCondLst>
                                            <p:cond delay="0"/>
                                          </p:stCondLst>
                                        </p:cTn>
                                        <p:tgtEl>
                                          <p:spTgt spid="189492"/>
                                        </p:tgtEl>
                                        <p:attrNameLst>
                                          <p:attrName>style.visibility</p:attrName>
                                        </p:attrNameLst>
                                      </p:cBhvr>
                                      <p:to>
                                        <p:strVal val="visible"/>
                                      </p:to>
                                    </p:set>
                                    <p:animEffect transition="in" filter="wipe(left)">
                                      <p:cBhvr>
                                        <p:cTn id="205" dur="500"/>
                                        <p:tgtEl>
                                          <p:spTgt spid="189492"/>
                                        </p:tgtEl>
                                      </p:cBhvr>
                                    </p:animEffect>
                                  </p:childTnLst>
                                </p:cTn>
                              </p:par>
                            </p:childTnLst>
                          </p:cTn>
                        </p:par>
                      </p:childTnLst>
                    </p:cTn>
                  </p:par>
                  <p:par>
                    <p:cTn id="206" fill="hold" nodeType="clickPar">
                      <p:stCondLst>
                        <p:cond delay="indefinite"/>
                      </p:stCondLst>
                      <p:childTnLst>
                        <p:par>
                          <p:cTn id="207" fill="hold" nodeType="withGroup">
                            <p:stCondLst>
                              <p:cond delay="0"/>
                            </p:stCondLst>
                            <p:childTnLst>
                              <p:par>
                                <p:cTn id="208" presetID="22" presetClass="entr" presetSubtype="8" fill="hold" grpId="0" nodeType="clickEffect">
                                  <p:stCondLst>
                                    <p:cond delay="0"/>
                                  </p:stCondLst>
                                  <p:childTnLst>
                                    <p:set>
                                      <p:cBhvr>
                                        <p:cTn id="209" dur="1" fill="hold">
                                          <p:stCondLst>
                                            <p:cond delay="0"/>
                                          </p:stCondLst>
                                        </p:cTn>
                                        <p:tgtEl>
                                          <p:spTgt spid="189477"/>
                                        </p:tgtEl>
                                        <p:attrNameLst>
                                          <p:attrName>style.visibility</p:attrName>
                                        </p:attrNameLst>
                                      </p:cBhvr>
                                      <p:to>
                                        <p:strVal val="visible"/>
                                      </p:to>
                                    </p:set>
                                    <p:animEffect transition="in" filter="wipe(left)">
                                      <p:cBhvr>
                                        <p:cTn id="210" dur="500"/>
                                        <p:tgtEl>
                                          <p:spTgt spid="189477"/>
                                        </p:tgtEl>
                                      </p:cBhvr>
                                    </p:animEffect>
                                  </p:childTnLst>
                                </p:cTn>
                              </p:par>
                            </p:childTnLst>
                          </p:cTn>
                        </p:par>
                      </p:childTnLst>
                    </p:cTn>
                  </p:par>
                  <p:par>
                    <p:cTn id="211" fill="hold" nodeType="clickPar">
                      <p:stCondLst>
                        <p:cond delay="indefinite"/>
                      </p:stCondLst>
                      <p:childTnLst>
                        <p:par>
                          <p:cTn id="212" fill="hold" nodeType="withGroup">
                            <p:stCondLst>
                              <p:cond delay="0"/>
                            </p:stCondLst>
                            <p:childTnLst>
                              <p:par>
                                <p:cTn id="213" presetID="22" presetClass="entr" presetSubtype="1" fill="hold" grpId="0" nodeType="clickEffect">
                                  <p:stCondLst>
                                    <p:cond delay="0"/>
                                  </p:stCondLst>
                                  <p:childTnLst>
                                    <p:set>
                                      <p:cBhvr>
                                        <p:cTn id="214" dur="1" fill="hold">
                                          <p:stCondLst>
                                            <p:cond delay="0"/>
                                          </p:stCondLst>
                                        </p:cTn>
                                        <p:tgtEl>
                                          <p:spTgt spid="189487"/>
                                        </p:tgtEl>
                                        <p:attrNameLst>
                                          <p:attrName>style.visibility</p:attrName>
                                        </p:attrNameLst>
                                      </p:cBhvr>
                                      <p:to>
                                        <p:strVal val="visible"/>
                                      </p:to>
                                    </p:set>
                                    <p:animEffect transition="in" filter="wipe(up)">
                                      <p:cBhvr>
                                        <p:cTn id="215" dur="500"/>
                                        <p:tgtEl>
                                          <p:spTgt spid="189487"/>
                                        </p:tgtEl>
                                      </p:cBhvr>
                                    </p:animEffect>
                                  </p:childTnLst>
                                </p:cTn>
                              </p:par>
                            </p:childTnLst>
                          </p:cTn>
                        </p:par>
                        <p:par>
                          <p:cTn id="216" fill="hold" nodeType="afterGroup">
                            <p:stCondLst>
                              <p:cond delay="500"/>
                            </p:stCondLst>
                            <p:childTnLst>
                              <p:par>
                                <p:cTn id="217" presetID="22" presetClass="entr" presetSubtype="1" fill="hold" grpId="0" nodeType="afterEffect">
                                  <p:stCondLst>
                                    <p:cond delay="0"/>
                                  </p:stCondLst>
                                  <p:childTnLst>
                                    <p:set>
                                      <p:cBhvr>
                                        <p:cTn id="218" dur="1" fill="hold">
                                          <p:stCondLst>
                                            <p:cond delay="0"/>
                                          </p:stCondLst>
                                        </p:cTn>
                                        <p:tgtEl>
                                          <p:spTgt spid="189483"/>
                                        </p:tgtEl>
                                        <p:attrNameLst>
                                          <p:attrName>style.visibility</p:attrName>
                                        </p:attrNameLst>
                                      </p:cBhvr>
                                      <p:to>
                                        <p:strVal val="visible"/>
                                      </p:to>
                                    </p:set>
                                    <p:animEffect transition="in" filter="wipe(up)">
                                      <p:cBhvr>
                                        <p:cTn id="219" dur="500"/>
                                        <p:tgtEl>
                                          <p:spTgt spid="189483"/>
                                        </p:tgtEl>
                                      </p:cBhvr>
                                    </p:animEffect>
                                  </p:childTnLst>
                                </p:cTn>
                              </p:par>
                            </p:childTnLst>
                          </p:cTn>
                        </p:par>
                        <p:par>
                          <p:cTn id="220" fill="hold" nodeType="afterGroup">
                            <p:stCondLst>
                              <p:cond delay="1000"/>
                            </p:stCondLst>
                            <p:childTnLst>
                              <p:par>
                                <p:cTn id="221" presetID="22" presetClass="entr" presetSubtype="1" fill="hold" grpId="0" nodeType="afterEffect">
                                  <p:stCondLst>
                                    <p:cond delay="0"/>
                                  </p:stCondLst>
                                  <p:childTnLst>
                                    <p:set>
                                      <p:cBhvr>
                                        <p:cTn id="222" dur="1" fill="hold">
                                          <p:stCondLst>
                                            <p:cond delay="0"/>
                                          </p:stCondLst>
                                        </p:cTn>
                                        <p:tgtEl>
                                          <p:spTgt spid="189484"/>
                                        </p:tgtEl>
                                        <p:attrNameLst>
                                          <p:attrName>style.visibility</p:attrName>
                                        </p:attrNameLst>
                                      </p:cBhvr>
                                      <p:to>
                                        <p:strVal val="visible"/>
                                      </p:to>
                                    </p:set>
                                    <p:animEffect transition="in" filter="wipe(up)">
                                      <p:cBhvr>
                                        <p:cTn id="223" dur="500"/>
                                        <p:tgtEl>
                                          <p:spTgt spid="189484"/>
                                        </p:tgtEl>
                                      </p:cBhvr>
                                    </p:animEffect>
                                  </p:childTnLst>
                                </p:cTn>
                              </p:par>
                            </p:childTnLst>
                          </p:cTn>
                        </p:par>
                      </p:childTnLst>
                    </p:cTn>
                  </p:par>
                  <p:par>
                    <p:cTn id="224" fill="hold" nodeType="clickPar">
                      <p:stCondLst>
                        <p:cond delay="indefinite"/>
                      </p:stCondLst>
                      <p:childTnLst>
                        <p:par>
                          <p:cTn id="225" fill="hold" nodeType="withGroup">
                            <p:stCondLst>
                              <p:cond delay="0"/>
                            </p:stCondLst>
                            <p:childTnLst>
                              <p:par>
                                <p:cTn id="226" presetID="22" presetClass="entr" presetSubtype="1" fill="hold" grpId="0" nodeType="clickEffect">
                                  <p:stCondLst>
                                    <p:cond delay="0"/>
                                  </p:stCondLst>
                                  <p:childTnLst>
                                    <p:set>
                                      <p:cBhvr>
                                        <p:cTn id="227" dur="1" fill="hold">
                                          <p:stCondLst>
                                            <p:cond delay="0"/>
                                          </p:stCondLst>
                                        </p:cTn>
                                        <p:tgtEl>
                                          <p:spTgt spid="189488"/>
                                        </p:tgtEl>
                                        <p:attrNameLst>
                                          <p:attrName>style.visibility</p:attrName>
                                        </p:attrNameLst>
                                      </p:cBhvr>
                                      <p:to>
                                        <p:strVal val="visible"/>
                                      </p:to>
                                    </p:set>
                                    <p:animEffect transition="in" filter="wipe(up)">
                                      <p:cBhvr>
                                        <p:cTn id="228" dur="500"/>
                                        <p:tgtEl>
                                          <p:spTgt spid="189488"/>
                                        </p:tgtEl>
                                      </p:cBhvr>
                                    </p:animEffect>
                                  </p:childTnLst>
                                </p:cTn>
                              </p:par>
                            </p:childTnLst>
                          </p:cTn>
                        </p:par>
                        <p:par>
                          <p:cTn id="229" fill="hold" nodeType="afterGroup">
                            <p:stCondLst>
                              <p:cond delay="500"/>
                            </p:stCondLst>
                            <p:childTnLst>
                              <p:par>
                                <p:cTn id="230" presetID="22" presetClass="entr" presetSubtype="1" fill="hold" grpId="0" nodeType="afterEffect">
                                  <p:stCondLst>
                                    <p:cond delay="0"/>
                                  </p:stCondLst>
                                  <p:childTnLst>
                                    <p:set>
                                      <p:cBhvr>
                                        <p:cTn id="231" dur="1" fill="hold">
                                          <p:stCondLst>
                                            <p:cond delay="0"/>
                                          </p:stCondLst>
                                        </p:cTn>
                                        <p:tgtEl>
                                          <p:spTgt spid="189485"/>
                                        </p:tgtEl>
                                        <p:attrNameLst>
                                          <p:attrName>style.visibility</p:attrName>
                                        </p:attrNameLst>
                                      </p:cBhvr>
                                      <p:to>
                                        <p:strVal val="visible"/>
                                      </p:to>
                                    </p:set>
                                    <p:animEffect transition="in" filter="wipe(up)">
                                      <p:cBhvr>
                                        <p:cTn id="232" dur="500"/>
                                        <p:tgtEl>
                                          <p:spTgt spid="189485"/>
                                        </p:tgtEl>
                                      </p:cBhvr>
                                    </p:animEffect>
                                  </p:childTnLst>
                                </p:cTn>
                              </p:par>
                            </p:childTnLst>
                          </p:cTn>
                        </p:par>
                        <p:par>
                          <p:cTn id="233" fill="hold" nodeType="afterGroup">
                            <p:stCondLst>
                              <p:cond delay="1000"/>
                            </p:stCondLst>
                            <p:childTnLst>
                              <p:par>
                                <p:cTn id="234" presetID="22" presetClass="entr" presetSubtype="1" fill="hold" grpId="0" nodeType="afterEffect">
                                  <p:stCondLst>
                                    <p:cond delay="0"/>
                                  </p:stCondLst>
                                  <p:childTnLst>
                                    <p:set>
                                      <p:cBhvr>
                                        <p:cTn id="235" dur="1" fill="hold">
                                          <p:stCondLst>
                                            <p:cond delay="0"/>
                                          </p:stCondLst>
                                        </p:cTn>
                                        <p:tgtEl>
                                          <p:spTgt spid="189486"/>
                                        </p:tgtEl>
                                        <p:attrNameLst>
                                          <p:attrName>style.visibility</p:attrName>
                                        </p:attrNameLst>
                                      </p:cBhvr>
                                      <p:to>
                                        <p:strVal val="visible"/>
                                      </p:to>
                                    </p:set>
                                    <p:animEffect transition="in" filter="wipe(up)">
                                      <p:cBhvr>
                                        <p:cTn id="236" dur="500"/>
                                        <p:tgtEl>
                                          <p:spTgt spid="189486"/>
                                        </p:tgtEl>
                                      </p:cBhvr>
                                    </p:animEffect>
                                  </p:childTnLst>
                                </p:cTn>
                              </p:par>
                            </p:childTnLst>
                          </p:cTn>
                        </p:par>
                      </p:childTnLst>
                    </p:cTn>
                  </p:par>
                  <p:par>
                    <p:cTn id="237" fill="hold" nodeType="clickPar">
                      <p:stCondLst>
                        <p:cond delay="indefinite"/>
                      </p:stCondLst>
                      <p:childTnLst>
                        <p:par>
                          <p:cTn id="238" fill="hold" nodeType="withGroup">
                            <p:stCondLst>
                              <p:cond delay="0"/>
                            </p:stCondLst>
                            <p:childTnLst>
                              <p:par>
                                <p:cTn id="239" presetID="22" presetClass="entr" presetSubtype="8" fill="hold" grpId="0" nodeType="clickEffect">
                                  <p:stCondLst>
                                    <p:cond delay="0"/>
                                  </p:stCondLst>
                                  <p:childTnLst>
                                    <p:set>
                                      <p:cBhvr>
                                        <p:cTn id="240" dur="1" fill="hold">
                                          <p:stCondLst>
                                            <p:cond delay="0"/>
                                          </p:stCondLst>
                                        </p:cTn>
                                        <p:tgtEl>
                                          <p:spTgt spid="189481"/>
                                        </p:tgtEl>
                                        <p:attrNameLst>
                                          <p:attrName>style.visibility</p:attrName>
                                        </p:attrNameLst>
                                      </p:cBhvr>
                                      <p:to>
                                        <p:strVal val="visible"/>
                                      </p:to>
                                    </p:set>
                                    <p:animEffect transition="in" filter="wipe(left)">
                                      <p:cBhvr>
                                        <p:cTn id="241" dur="500"/>
                                        <p:tgtEl>
                                          <p:spTgt spid="189481"/>
                                        </p:tgtEl>
                                      </p:cBhvr>
                                    </p:animEffect>
                                  </p:childTnLst>
                                </p:cTn>
                              </p:par>
                            </p:childTnLst>
                          </p:cTn>
                        </p:par>
                      </p:childTnLst>
                    </p:cTn>
                  </p:par>
                  <p:par>
                    <p:cTn id="242" fill="hold" nodeType="clickPar">
                      <p:stCondLst>
                        <p:cond delay="indefinite"/>
                      </p:stCondLst>
                      <p:childTnLst>
                        <p:par>
                          <p:cTn id="243" fill="hold" nodeType="withGroup">
                            <p:stCondLst>
                              <p:cond delay="0"/>
                            </p:stCondLst>
                            <p:childTnLst>
                              <p:par>
                                <p:cTn id="244" presetID="22" presetClass="entr" presetSubtype="8" fill="hold" grpId="0" nodeType="clickEffect">
                                  <p:stCondLst>
                                    <p:cond delay="0"/>
                                  </p:stCondLst>
                                  <p:childTnLst>
                                    <p:set>
                                      <p:cBhvr>
                                        <p:cTn id="245" dur="1" fill="hold">
                                          <p:stCondLst>
                                            <p:cond delay="0"/>
                                          </p:stCondLst>
                                        </p:cTn>
                                        <p:tgtEl>
                                          <p:spTgt spid="189482"/>
                                        </p:tgtEl>
                                        <p:attrNameLst>
                                          <p:attrName>style.visibility</p:attrName>
                                        </p:attrNameLst>
                                      </p:cBhvr>
                                      <p:to>
                                        <p:strVal val="visible"/>
                                      </p:to>
                                    </p:set>
                                    <p:animEffect transition="in" filter="wipe(left)">
                                      <p:cBhvr>
                                        <p:cTn id="246" dur="500"/>
                                        <p:tgtEl>
                                          <p:spTgt spid="189482"/>
                                        </p:tgtEl>
                                      </p:cBhvr>
                                    </p:animEffect>
                                  </p:childTnLst>
                                </p:cTn>
                              </p:par>
                            </p:childTnLst>
                          </p:cTn>
                        </p:par>
                      </p:childTnLst>
                    </p:cTn>
                  </p:par>
                  <p:par>
                    <p:cTn id="247" fill="hold" nodeType="clickPar">
                      <p:stCondLst>
                        <p:cond delay="indefinite"/>
                      </p:stCondLst>
                      <p:childTnLst>
                        <p:par>
                          <p:cTn id="248" fill="hold" nodeType="withGroup">
                            <p:stCondLst>
                              <p:cond delay="0"/>
                            </p:stCondLst>
                            <p:childTnLst>
                              <p:par>
                                <p:cTn id="249" presetID="22" presetClass="entr" presetSubtype="8" fill="hold" grpId="0" nodeType="clickEffect">
                                  <p:stCondLst>
                                    <p:cond delay="0"/>
                                  </p:stCondLst>
                                  <p:childTnLst>
                                    <p:set>
                                      <p:cBhvr>
                                        <p:cTn id="250" dur="1" fill="hold">
                                          <p:stCondLst>
                                            <p:cond delay="0"/>
                                          </p:stCondLst>
                                        </p:cTn>
                                        <p:tgtEl>
                                          <p:spTgt spid="189493"/>
                                        </p:tgtEl>
                                        <p:attrNameLst>
                                          <p:attrName>style.visibility</p:attrName>
                                        </p:attrNameLst>
                                      </p:cBhvr>
                                      <p:to>
                                        <p:strVal val="visible"/>
                                      </p:to>
                                    </p:set>
                                    <p:animEffect transition="in" filter="wipe(left)">
                                      <p:cBhvr>
                                        <p:cTn id="251" dur="500"/>
                                        <p:tgtEl>
                                          <p:spTgt spid="189493"/>
                                        </p:tgtEl>
                                      </p:cBhvr>
                                    </p:animEffect>
                                  </p:childTnLst>
                                </p:cTn>
                              </p:par>
                            </p:childTnLst>
                          </p:cTn>
                        </p:par>
                        <p:par>
                          <p:cTn id="252" fill="hold" nodeType="afterGroup">
                            <p:stCondLst>
                              <p:cond delay="500"/>
                            </p:stCondLst>
                            <p:childTnLst>
                              <p:par>
                                <p:cTn id="253" presetID="22" presetClass="entr" presetSubtype="8" fill="hold" grpId="0" nodeType="afterEffect">
                                  <p:stCondLst>
                                    <p:cond delay="0"/>
                                  </p:stCondLst>
                                  <p:childTnLst>
                                    <p:set>
                                      <p:cBhvr>
                                        <p:cTn id="254" dur="1" fill="hold">
                                          <p:stCondLst>
                                            <p:cond delay="0"/>
                                          </p:stCondLst>
                                        </p:cTn>
                                        <p:tgtEl>
                                          <p:spTgt spid="189489"/>
                                        </p:tgtEl>
                                        <p:attrNameLst>
                                          <p:attrName>style.visibility</p:attrName>
                                        </p:attrNameLst>
                                      </p:cBhvr>
                                      <p:to>
                                        <p:strVal val="visible"/>
                                      </p:to>
                                    </p:set>
                                    <p:animEffect transition="in" filter="wipe(left)">
                                      <p:cBhvr>
                                        <p:cTn id="255" dur="500"/>
                                        <p:tgtEl>
                                          <p:spTgt spid="189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animBg="1"/>
      <p:bldP spid="189444" grpId="0" animBg="1"/>
      <p:bldP spid="189445" grpId="0" autoUpdateAnimBg="0"/>
      <p:bldP spid="189447" grpId="0" autoUpdateAnimBg="0"/>
      <p:bldP spid="189448" grpId="0" autoUpdateAnimBg="0"/>
      <p:bldP spid="189449" grpId="0" autoUpdateAnimBg="0"/>
      <p:bldP spid="189450" grpId="0" autoUpdateAnimBg="0"/>
      <p:bldP spid="189451" grpId="0" autoUpdateAnimBg="0"/>
      <p:bldP spid="189452" grpId="0" autoUpdateAnimBg="0"/>
      <p:bldP spid="189453" grpId="0" autoUpdateAnimBg="0"/>
      <p:bldP spid="189454" grpId="0" autoUpdateAnimBg="0"/>
      <p:bldP spid="189455" grpId="0" animBg="1"/>
      <p:bldP spid="189456" grpId="0" autoUpdateAnimBg="0"/>
      <p:bldP spid="189457" grpId="0" animBg="1"/>
      <p:bldP spid="189458" grpId="0" autoUpdateAnimBg="0"/>
      <p:bldP spid="189459" grpId="0" autoUpdateAnimBg="0"/>
      <p:bldP spid="189460" grpId="0" autoUpdateAnimBg="0"/>
      <p:bldP spid="189461" grpId="0" autoUpdateAnimBg="0"/>
      <p:bldP spid="189462" grpId="0" autoUpdateAnimBg="0"/>
      <p:bldP spid="189463" grpId="0" autoUpdateAnimBg="0"/>
      <p:bldP spid="189464" grpId="0" autoUpdateAnimBg="0"/>
      <p:bldP spid="189465" grpId="0" autoUpdateAnimBg="0"/>
      <p:bldP spid="189466" grpId="0" animBg="1"/>
      <p:bldP spid="189467" grpId="0" autoUpdateAnimBg="0"/>
      <p:bldP spid="189468" grpId="0" animBg="1"/>
      <p:bldP spid="189469" grpId="0" autoUpdateAnimBg="0"/>
      <p:bldP spid="189470" grpId="0" autoUpdateAnimBg="0"/>
      <p:bldP spid="189471" grpId="0" autoUpdateAnimBg="0"/>
      <p:bldP spid="189472" grpId="0" autoUpdateAnimBg="0"/>
      <p:bldP spid="189473" grpId="0" animBg="1" autoUpdateAnimBg="0"/>
      <p:bldP spid="189474" grpId="0" animBg="1" autoUpdateAnimBg="0"/>
      <p:bldP spid="189475" grpId="0" autoUpdateAnimBg="0"/>
      <p:bldP spid="189476" grpId="0" autoUpdateAnimBg="0"/>
      <p:bldP spid="189477" grpId="0" animBg="1" autoUpdateAnimBg="0"/>
      <p:bldP spid="189478" grpId="0" animBg="1"/>
      <p:bldP spid="189479" grpId="0" autoUpdateAnimBg="0"/>
      <p:bldP spid="189480" grpId="0" animBg="1"/>
      <p:bldP spid="189481" grpId="0" autoUpdateAnimBg="0"/>
      <p:bldP spid="189482" grpId="0" autoUpdateAnimBg="0"/>
      <p:bldP spid="189483" grpId="0" animBg="1"/>
      <p:bldP spid="189484" grpId="0" autoUpdateAnimBg="0"/>
      <p:bldP spid="189485" grpId="0" animBg="1"/>
      <p:bldP spid="189486" grpId="0" autoUpdateAnimBg="0"/>
      <p:bldP spid="189487" grpId="0" animBg="1"/>
      <p:bldP spid="189488" grpId="0" animBg="1"/>
      <p:bldP spid="189489" grpId="0" animBg="1" autoUpdateAnimBg="0"/>
      <p:bldP spid="189490" grpId="0" animBg="1" autoUpdateAnimBg="0"/>
      <p:bldP spid="189491" grpId="0" animBg="1" autoUpdateAnimBg="0"/>
      <p:bldP spid="189492" grpId="0" animBg="1" autoUpdateAnimBg="0"/>
      <p:bldP spid="189493"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Oval 2"/>
          <p:cNvSpPr>
            <a:spLocks noChangeArrowheads="1"/>
          </p:cNvSpPr>
          <p:nvPr/>
        </p:nvSpPr>
        <p:spPr bwMode="auto">
          <a:xfrm>
            <a:off x="2819400" y="1066800"/>
            <a:ext cx="685800" cy="609600"/>
          </a:xfrm>
          <a:prstGeom prst="ellipse">
            <a:avLst/>
          </a:prstGeom>
          <a:solidFill>
            <a:srgbClr val="CCFFCC"/>
          </a:solidFill>
          <a:ln w="1905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006600"/>
                </a:solidFill>
              </a:rPr>
              <a:t>E</a:t>
            </a:r>
            <a:endParaRPr lang="en-US" altLang="zh-CN" sz="4000"/>
          </a:p>
        </p:txBody>
      </p:sp>
      <p:sp>
        <p:nvSpPr>
          <p:cNvPr id="190468" name="Oval 4"/>
          <p:cNvSpPr>
            <a:spLocks noChangeArrowheads="1"/>
          </p:cNvSpPr>
          <p:nvPr/>
        </p:nvSpPr>
        <p:spPr bwMode="auto">
          <a:xfrm>
            <a:off x="1143000" y="1981200"/>
            <a:ext cx="685800" cy="609600"/>
          </a:xfrm>
          <a:prstGeom prst="ellipse">
            <a:avLst/>
          </a:prstGeom>
          <a:solidFill>
            <a:srgbClr val="CCFFCC"/>
          </a:solidFill>
          <a:ln w="1905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006600"/>
                </a:solidFill>
              </a:rPr>
              <a:t>C</a:t>
            </a:r>
            <a:endParaRPr lang="en-US" altLang="zh-CN" sz="4000"/>
          </a:p>
        </p:txBody>
      </p:sp>
      <p:sp>
        <p:nvSpPr>
          <p:cNvPr id="190469" name="Oval 5"/>
          <p:cNvSpPr>
            <a:spLocks noChangeArrowheads="1"/>
          </p:cNvSpPr>
          <p:nvPr/>
        </p:nvSpPr>
        <p:spPr bwMode="auto">
          <a:xfrm>
            <a:off x="4495800" y="1981200"/>
            <a:ext cx="685800" cy="609600"/>
          </a:xfrm>
          <a:prstGeom prst="ellipse">
            <a:avLst/>
          </a:prstGeom>
          <a:solidFill>
            <a:srgbClr val="CCFFCC"/>
          </a:solidFill>
          <a:ln w="1905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006600"/>
                </a:solidFill>
              </a:rPr>
              <a:t>G</a:t>
            </a:r>
            <a:endParaRPr lang="en-US" altLang="zh-CN" sz="4000"/>
          </a:p>
        </p:txBody>
      </p:sp>
      <p:sp>
        <p:nvSpPr>
          <p:cNvPr id="190470" name="Oval 6"/>
          <p:cNvSpPr>
            <a:spLocks noChangeArrowheads="1"/>
          </p:cNvSpPr>
          <p:nvPr/>
        </p:nvSpPr>
        <p:spPr bwMode="auto">
          <a:xfrm>
            <a:off x="228600" y="3124200"/>
            <a:ext cx="685800" cy="609600"/>
          </a:xfrm>
          <a:prstGeom prst="ellipse">
            <a:avLst/>
          </a:prstGeom>
          <a:solidFill>
            <a:srgbClr val="CCFFCC"/>
          </a:solidFill>
          <a:ln w="1905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006600"/>
                </a:solidFill>
              </a:rPr>
              <a:t>A</a:t>
            </a:r>
            <a:endParaRPr lang="en-US" altLang="zh-CN" sz="4000"/>
          </a:p>
        </p:txBody>
      </p:sp>
      <p:sp>
        <p:nvSpPr>
          <p:cNvPr id="190471" name="Oval 7"/>
          <p:cNvSpPr>
            <a:spLocks noChangeArrowheads="1"/>
          </p:cNvSpPr>
          <p:nvPr/>
        </p:nvSpPr>
        <p:spPr bwMode="auto">
          <a:xfrm>
            <a:off x="762000" y="4267200"/>
            <a:ext cx="685800" cy="609600"/>
          </a:xfrm>
          <a:prstGeom prst="ellipse">
            <a:avLst/>
          </a:prstGeom>
          <a:solidFill>
            <a:srgbClr val="CCFFCC"/>
          </a:solidFill>
          <a:ln w="1905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006600"/>
                </a:solidFill>
              </a:rPr>
              <a:t>B</a:t>
            </a:r>
            <a:endParaRPr lang="en-US" altLang="zh-CN" sz="4000"/>
          </a:p>
        </p:txBody>
      </p:sp>
      <p:sp>
        <p:nvSpPr>
          <p:cNvPr id="190472" name="Oval 8"/>
          <p:cNvSpPr>
            <a:spLocks noChangeArrowheads="1"/>
          </p:cNvSpPr>
          <p:nvPr/>
        </p:nvSpPr>
        <p:spPr bwMode="auto">
          <a:xfrm>
            <a:off x="2057400" y="3124200"/>
            <a:ext cx="685800" cy="609600"/>
          </a:xfrm>
          <a:prstGeom prst="ellipse">
            <a:avLst/>
          </a:prstGeom>
          <a:solidFill>
            <a:srgbClr val="CCFFCC"/>
          </a:solidFill>
          <a:ln w="1905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006600"/>
                </a:solidFill>
              </a:rPr>
              <a:t>D</a:t>
            </a:r>
            <a:endParaRPr lang="en-US" altLang="zh-CN" sz="4000"/>
          </a:p>
        </p:txBody>
      </p:sp>
      <p:sp>
        <p:nvSpPr>
          <p:cNvPr id="190473" name="Oval 9"/>
          <p:cNvSpPr>
            <a:spLocks noChangeArrowheads="1"/>
          </p:cNvSpPr>
          <p:nvPr/>
        </p:nvSpPr>
        <p:spPr bwMode="auto">
          <a:xfrm>
            <a:off x="3429000" y="3124200"/>
            <a:ext cx="685800" cy="609600"/>
          </a:xfrm>
          <a:prstGeom prst="ellipse">
            <a:avLst/>
          </a:prstGeom>
          <a:solidFill>
            <a:srgbClr val="CCFFCC"/>
          </a:solidFill>
          <a:ln w="1905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006600"/>
                </a:solidFill>
              </a:rPr>
              <a:t>F</a:t>
            </a:r>
            <a:endParaRPr lang="en-US" altLang="zh-CN" sz="4000"/>
          </a:p>
        </p:txBody>
      </p:sp>
      <p:sp>
        <p:nvSpPr>
          <p:cNvPr id="190474" name="Line 10"/>
          <p:cNvSpPr>
            <a:spLocks noChangeShapeType="1"/>
          </p:cNvSpPr>
          <p:nvPr/>
        </p:nvSpPr>
        <p:spPr bwMode="auto">
          <a:xfrm flipH="1">
            <a:off x="1676400" y="1371600"/>
            <a:ext cx="1143000" cy="6858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0475" name="Line 11"/>
          <p:cNvSpPr>
            <a:spLocks noChangeShapeType="1"/>
          </p:cNvSpPr>
          <p:nvPr/>
        </p:nvSpPr>
        <p:spPr bwMode="auto">
          <a:xfrm flipH="1">
            <a:off x="533400" y="2514600"/>
            <a:ext cx="685800" cy="6096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0476" name="Line 12"/>
          <p:cNvSpPr>
            <a:spLocks noChangeShapeType="1"/>
          </p:cNvSpPr>
          <p:nvPr/>
        </p:nvSpPr>
        <p:spPr bwMode="auto">
          <a:xfrm>
            <a:off x="1752600" y="2438400"/>
            <a:ext cx="609600" cy="7620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0477" name="Line 13"/>
          <p:cNvSpPr>
            <a:spLocks noChangeShapeType="1"/>
          </p:cNvSpPr>
          <p:nvPr/>
        </p:nvSpPr>
        <p:spPr bwMode="auto">
          <a:xfrm>
            <a:off x="685800" y="3657600"/>
            <a:ext cx="304800" cy="6096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0478" name="Line 14"/>
          <p:cNvSpPr>
            <a:spLocks noChangeShapeType="1"/>
          </p:cNvSpPr>
          <p:nvPr/>
        </p:nvSpPr>
        <p:spPr bwMode="auto">
          <a:xfrm>
            <a:off x="3505200" y="1371600"/>
            <a:ext cx="1143000" cy="6858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0479" name="Line 15"/>
          <p:cNvSpPr>
            <a:spLocks noChangeShapeType="1"/>
          </p:cNvSpPr>
          <p:nvPr/>
        </p:nvSpPr>
        <p:spPr bwMode="auto">
          <a:xfrm flipH="1">
            <a:off x="3962400" y="2438400"/>
            <a:ext cx="609600" cy="7620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0480" name="Text Box 16"/>
          <p:cNvSpPr txBox="1">
            <a:spLocks noChangeArrowheads="1"/>
          </p:cNvSpPr>
          <p:nvPr/>
        </p:nvSpPr>
        <p:spPr bwMode="auto">
          <a:xfrm>
            <a:off x="542925" y="304800"/>
            <a:ext cx="54006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A50021"/>
                </a:solidFill>
                <a:ea typeface="楷体_GB2312" charset="0"/>
              </a:rPr>
              <a:t>所得次优二叉树如下所示</a:t>
            </a:r>
            <a:r>
              <a:rPr lang="en-US" altLang="zh-CN" sz="3600" b="1">
                <a:solidFill>
                  <a:srgbClr val="A50021"/>
                </a:solidFill>
                <a:ea typeface="楷体_GB2312" charset="0"/>
              </a:rPr>
              <a:t>:</a:t>
            </a:r>
            <a:endParaRPr lang="en-US" altLang="zh-CN" sz="3600">
              <a:ea typeface="楷体_GB2312" charset="0"/>
            </a:endParaRPr>
          </a:p>
        </p:txBody>
      </p:sp>
      <p:sp>
        <p:nvSpPr>
          <p:cNvPr id="190481" name="Text Box 17"/>
          <p:cNvSpPr txBox="1">
            <a:spLocks noChangeArrowheads="1"/>
          </p:cNvSpPr>
          <p:nvPr/>
        </p:nvSpPr>
        <p:spPr bwMode="auto">
          <a:xfrm>
            <a:off x="76200" y="5105400"/>
            <a:ext cx="4276725"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chemeClr val="accent2"/>
                </a:solidFill>
                <a:ea typeface="楷体_GB2312" charset="0"/>
              </a:rPr>
              <a:t>    </a:t>
            </a:r>
            <a:r>
              <a:rPr lang="zh-CN" altLang="en-US" sz="3200" b="1">
                <a:solidFill>
                  <a:schemeClr val="accent2"/>
                </a:solidFill>
                <a:ea typeface="楷体_GB2312" charset="0"/>
              </a:rPr>
              <a:t>查找比较“总次数”</a:t>
            </a:r>
          </a:p>
          <a:p>
            <a:r>
              <a:rPr lang="zh-CN" altLang="en-US" sz="3200" b="1">
                <a:solidFill>
                  <a:schemeClr val="accent2"/>
                </a:solidFill>
              </a:rPr>
              <a:t> </a:t>
            </a:r>
            <a:r>
              <a:rPr lang="en-US" altLang="zh-CN" sz="3200" b="1">
                <a:solidFill>
                  <a:schemeClr val="accent2"/>
                </a:solidFill>
              </a:rPr>
              <a:t>= 3</a:t>
            </a:r>
            <a:r>
              <a:rPr lang="en-US" altLang="zh-CN" sz="3200" b="1">
                <a:solidFill>
                  <a:schemeClr val="accent2"/>
                </a:solidFill>
                <a:sym typeface="Symbol" charset="2"/>
              </a:rPr>
              <a:t></a:t>
            </a:r>
            <a:r>
              <a:rPr lang="en-US" altLang="zh-CN" sz="3200" b="1">
                <a:solidFill>
                  <a:srgbClr val="CC0000"/>
                </a:solidFill>
                <a:sym typeface="Symbol" charset="2"/>
              </a:rPr>
              <a:t>2</a:t>
            </a:r>
            <a:r>
              <a:rPr lang="en-US" altLang="zh-CN" sz="3200" b="1">
                <a:solidFill>
                  <a:schemeClr val="accent2"/>
                </a:solidFill>
                <a:sym typeface="Symbol" charset="2"/>
              </a:rPr>
              <a:t>+4</a:t>
            </a:r>
            <a:r>
              <a:rPr lang="en-US" altLang="zh-CN" sz="3200" b="1">
                <a:solidFill>
                  <a:srgbClr val="CC0000"/>
                </a:solidFill>
                <a:sym typeface="Symbol" charset="2"/>
              </a:rPr>
              <a:t>1</a:t>
            </a:r>
            <a:r>
              <a:rPr lang="en-US" altLang="zh-CN" sz="3200" b="1">
                <a:solidFill>
                  <a:schemeClr val="accent2"/>
                </a:solidFill>
                <a:sym typeface="Symbol" charset="2"/>
              </a:rPr>
              <a:t>+2</a:t>
            </a:r>
            <a:r>
              <a:rPr lang="en-US" altLang="zh-CN" sz="3200" b="1">
                <a:solidFill>
                  <a:srgbClr val="CC0000"/>
                </a:solidFill>
                <a:sym typeface="Symbol" charset="2"/>
              </a:rPr>
              <a:t>5</a:t>
            </a:r>
            <a:r>
              <a:rPr lang="en-US" altLang="zh-CN" sz="3200" b="1">
                <a:solidFill>
                  <a:schemeClr val="accent2"/>
                </a:solidFill>
                <a:sym typeface="Symbol" charset="2"/>
              </a:rPr>
              <a:t>+3</a:t>
            </a:r>
            <a:r>
              <a:rPr lang="en-US" altLang="zh-CN" sz="3200" b="1">
                <a:solidFill>
                  <a:srgbClr val="CC0000"/>
                </a:solidFill>
                <a:sym typeface="Symbol" charset="2"/>
              </a:rPr>
              <a:t>3</a:t>
            </a:r>
          </a:p>
          <a:p>
            <a:r>
              <a:rPr lang="en-US" altLang="zh-CN" sz="3200" b="1">
                <a:solidFill>
                  <a:srgbClr val="CC0000"/>
                </a:solidFill>
                <a:sym typeface="Symbol" charset="2"/>
              </a:rPr>
              <a:t>    </a:t>
            </a:r>
            <a:r>
              <a:rPr lang="en-US" altLang="zh-CN" sz="3200" b="1">
                <a:solidFill>
                  <a:schemeClr val="accent2"/>
                </a:solidFill>
                <a:sym typeface="Symbol" charset="2"/>
              </a:rPr>
              <a:t>+1</a:t>
            </a:r>
            <a:r>
              <a:rPr lang="en-US" altLang="zh-CN" sz="3200" b="1">
                <a:solidFill>
                  <a:srgbClr val="CC0000"/>
                </a:solidFill>
                <a:sym typeface="Symbol" charset="2"/>
              </a:rPr>
              <a:t>4</a:t>
            </a:r>
            <a:r>
              <a:rPr lang="en-US" altLang="zh-CN" sz="3200" b="1">
                <a:solidFill>
                  <a:schemeClr val="accent2"/>
                </a:solidFill>
                <a:sym typeface="Symbol" charset="2"/>
              </a:rPr>
              <a:t>+3</a:t>
            </a:r>
            <a:r>
              <a:rPr lang="en-US" altLang="zh-CN" sz="3200" b="1">
                <a:solidFill>
                  <a:srgbClr val="CC0000"/>
                </a:solidFill>
                <a:sym typeface="Symbol" charset="2"/>
              </a:rPr>
              <a:t>3</a:t>
            </a:r>
            <a:r>
              <a:rPr lang="en-US" altLang="zh-CN" sz="3200" b="1">
                <a:solidFill>
                  <a:schemeClr val="accent2"/>
                </a:solidFill>
                <a:sym typeface="Symbol" charset="2"/>
              </a:rPr>
              <a:t>+2</a:t>
            </a:r>
            <a:r>
              <a:rPr lang="en-US" altLang="zh-CN" sz="3200" b="1">
                <a:solidFill>
                  <a:srgbClr val="CC0000"/>
                </a:solidFill>
                <a:sym typeface="Symbol" charset="2"/>
              </a:rPr>
              <a:t>5</a:t>
            </a:r>
            <a:r>
              <a:rPr lang="en-US" altLang="zh-CN" sz="3200" b="1">
                <a:solidFill>
                  <a:schemeClr val="accent2"/>
                </a:solidFill>
                <a:sym typeface="Symbol" charset="2"/>
              </a:rPr>
              <a:t> = </a:t>
            </a:r>
            <a:r>
              <a:rPr lang="en-US" altLang="zh-CN" sz="3600" b="1">
                <a:solidFill>
                  <a:srgbClr val="FF00FF"/>
                </a:solidFill>
                <a:sym typeface="Symbol" charset="2"/>
              </a:rPr>
              <a:t>52</a:t>
            </a:r>
            <a:endParaRPr lang="en-US" altLang="zh-CN" sz="3600"/>
          </a:p>
        </p:txBody>
      </p:sp>
      <p:sp>
        <p:nvSpPr>
          <p:cNvPr id="190482" name="Text Box 18"/>
          <p:cNvSpPr txBox="1">
            <a:spLocks noChangeArrowheads="1"/>
          </p:cNvSpPr>
          <p:nvPr/>
        </p:nvSpPr>
        <p:spPr bwMode="auto">
          <a:xfrm>
            <a:off x="4572000" y="5105400"/>
            <a:ext cx="4378325"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chemeClr val="accent2"/>
                </a:solidFill>
                <a:ea typeface="楷体_GB2312" charset="0"/>
              </a:rPr>
              <a:t>     </a:t>
            </a:r>
            <a:r>
              <a:rPr lang="zh-CN" altLang="en-US" sz="3200" b="1">
                <a:solidFill>
                  <a:schemeClr val="accent2"/>
                </a:solidFill>
                <a:ea typeface="楷体_GB2312" charset="0"/>
              </a:rPr>
              <a:t>查找比较“总次数”</a:t>
            </a:r>
          </a:p>
          <a:p>
            <a:r>
              <a:rPr lang="zh-CN" altLang="en-US" sz="3200" b="1">
                <a:solidFill>
                  <a:schemeClr val="accent2"/>
                </a:solidFill>
              </a:rPr>
              <a:t> </a:t>
            </a:r>
            <a:r>
              <a:rPr lang="en-US" altLang="zh-CN" sz="3200" b="1">
                <a:solidFill>
                  <a:schemeClr val="accent2"/>
                </a:solidFill>
              </a:rPr>
              <a:t>= 3</a:t>
            </a:r>
            <a:r>
              <a:rPr lang="en-US" altLang="zh-CN" sz="3200" b="1">
                <a:solidFill>
                  <a:schemeClr val="accent2"/>
                </a:solidFill>
                <a:sym typeface="Symbol" charset="2"/>
              </a:rPr>
              <a:t></a:t>
            </a:r>
            <a:r>
              <a:rPr lang="en-US" altLang="zh-CN" sz="3200" b="1">
                <a:solidFill>
                  <a:srgbClr val="CC0000"/>
                </a:solidFill>
                <a:sym typeface="Symbol" charset="2"/>
              </a:rPr>
              <a:t>2</a:t>
            </a:r>
            <a:r>
              <a:rPr lang="en-US" altLang="zh-CN" sz="3200" b="1">
                <a:solidFill>
                  <a:schemeClr val="accent2"/>
                </a:solidFill>
                <a:sym typeface="Symbol" charset="2"/>
              </a:rPr>
              <a:t>+2</a:t>
            </a:r>
            <a:r>
              <a:rPr lang="en-US" altLang="zh-CN" sz="3200" b="1">
                <a:solidFill>
                  <a:srgbClr val="CC0000"/>
                </a:solidFill>
                <a:sym typeface="Symbol" charset="2"/>
              </a:rPr>
              <a:t>1</a:t>
            </a:r>
            <a:r>
              <a:rPr lang="en-US" altLang="zh-CN" sz="3200" b="1">
                <a:solidFill>
                  <a:schemeClr val="accent2"/>
                </a:solidFill>
                <a:sym typeface="Symbol" charset="2"/>
              </a:rPr>
              <a:t>+3</a:t>
            </a:r>
            <a:r>
              <a:rPr lang="en-US" altLang="zh-CN" sz="3200" b="1">
                <a:solidFill>
                  <a:srgbClr val="CC0000"/>
                </a:solidFill>
                <a:sym typeface="Symbol" charset="2"/>
              </a:rPr>
              <a:t>5</a:t>
            </a:r>
            <a:r>
              <a:rPr lang="en-US" altLang="zh-CN" sz="3200" b="1">
                <a:solidFill>
                  <a:schemeClr val="accent2"/>
                </a:solidFill>
                <a:sym typeface="Symbol" charset="2"/>
              </a:rPr>
              <a:t>+1</a:t>
            </a:r>
            <a:r>
              <a:rPr lang="en-US" altLang="zh-CN" sz="3200" b="1">
                <a:solidFill>
                  <a:srgbClr val="CC0000"/>
                </a:solidFill>
                <a:sym typeface="Symbol" charset="2"/>
              </a:rPr>
              <a:t>3</a:t>
            </a:r>
          </a:p>
          <a:p>
            <a:r>
              <a:rPr lang="en-US" altLang="zh-CN" sz="3200" b="1">
                <a:solidFill>
                  <a:srgbClr val="CC0000"/>
                </a:solidFill>
                <a:sym typeface="Symbol" charset="2"/>
              </a:rPr>
              <a:t>    </a:t>
            </a:r>
            <a:r>
              <a:rPr lang="en-US" altLang="zh-CN" sz="3200" b="1">
                <a:solidFill>
                  <a:schemeClr val="accent2"/>
                </a:solidFill>
                <a:sym typeface="Symbol" charset="2"/>
              </a:rPr>
              <a:t>+3</a:t>
            </a:r>
            <a:r>
              <a:rPr lang="en-US" altLang="zh-CN" sz="3200" b="1">
                <a:solidFill>
                  <a:srgbClr val="CC0000"/>
                </a:solidFill>
                <a:sym typeface="Symbol" charset="2"/>
              </a:rPr>
              <a:t>4</a:t>
            </a:r>
            <a:r>
              <a:rPr lang="en-US" altLang="zh-CN" sz="3200" b="1">
                <a:solidFill>
                  <a:schemeClr val="accent2"/>
                </a:solidFill>
                <a:sym typeface="Symbol" charset="2"/>
              </a:rPr>
              <a:t>+2</a:t>
            </a:r>
            <a:r>
              <a:rPr lang="en-US" altLang="zh-CN" sz="3200" b="1">
                <a:solidFill>
                  <a:srgbClr val="CC0000"/>
                </a:solidFill>
                <a:sym typeface="Symbol" charset="2"/>
              </a:rPr>
              <a:t>3</a:t>
            </a:r>
            <a:r>
              <a:rPr lang="en-US" altLang="zh-CN" sz="3200" b="1">
                <a:solidFill>
                  <a:schemeClr val="accent2"/>
                </a:solidFill>
                <a:sym typeface="Symbol" charset="2"/>
              </a:rPr>
              <a:t>+3</a:t>
            </a:r>
            <a:r>
              <a:rPr lang="en-US" altLang="zh-CN" sz="3200" b="1">
                <a:solidFill>
                  <a:srgbClr val="CC0000"/>
                </a:solidFill>
                <a:sym typeface="Symbol" charset="2"/>
              </a:rPr>
              <a:t>5</a:t>
            </a:r>
            <a:r>
              <a:rPr lang="en-US" altLang="zh-CN" sz="3200" b="1">
                <a:solidFill>
                  <a:schemeClr val="accent2"/>
                </a:solidFill>
                <a:sym typeface="Symbol" charset="2"/>
              </a:rPr>
              <a:t> = </a:t>
            </a:r>
            <a:r>
              <a:rPr lang="en-US" altLang="zh-CN" sz="3600" b="1">
                <a:solidFill>
                  <a:srgbClr val="FF00FF"/>
                </a:solidFill>
                <a:sym typeface="Symbol" charset="2"/>
              </a:rPr>
              <a:t>59</a:t>
            </a:r>
            <a:endParaRPr lang="en-US" altLang="zh-CN" sz="3600"/>
          </a:p>
        </p:txBody>
      </p:sp>
      <p:sp>
        <p:nvSpPr>
          <p:cNvPr id="190483" name="Text Box 19"/>
          <p:cNvSpPr txBox="1">
            <a:spLocks noChangeArrowheads="1"/>
          </p:cNvSpPr>
          <p:nvPr/>
        </p:nvSpPr>
        <p:spPr bwMode="auto">
          <a:xfrm>
            <a:off x="5562600" y="1524000"/>
            <a:ext cx="3460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200" b="1">
                <a:solidFill>
                  <a:srgbClr val="A50021"/>
                </a:solidFill>
                <a:ea typeface="楷体_GB2312" charset="0"/>
              </a:rPr>
              <a:t>和折半查找相比较</a:t>
            </a:r>
            <a:endParaRPr lang="zh-CN" altLang="en-US" sz="3600">
              <a:ea typeface="楷体_GB2312" charset="0"/>
            </a:endParaRPr>
          </a:p>
        </p:txBody>
      </p:sp>
      <p:sp>
        <p:nvSpPr>
          <p:cNvPr id="190484" name="Oval 20"/>
          <p:cNvSpPr>
            <a:spLocks noChangeArrowheads="1"/>
          </p:cNvSpPr>
          <p:nvPr/>
        </p:nvSpPr>
        <p:spPr bwMode="auto">
          <a:xfrm>
            <a:off x="6705600" y="2362200"/>
            <a:ext cx="457200" cy="457200"/>
          </a:xfrm>
          <a:prstGeom prst="ellipse">
            <a:avLst/>
          </a:prstGeom>
          <a:solidFill>
            <a:srgbClr val="99CCFF">
              <a:alpha val="50000"/>
            </a:srgbClr>
          </a:solidFill>
          <a:ln w="9525">
            <a:solidFill>
              <a:schemeClr val="accent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chemeClr val="accent2"/>
                </a:solidFill>
              </a:rPr>
              <a:t>D</a:t>
            </a:r>
            <a:endParaRPr lang="en-US" altLang="zh-CN" sz="3600"/>
          </a:p>
        </p:txBody>
      </p:sp>
      <p:sp>
        <p:nvSpPr>
          <p:cNvPr id="190486" name="Oval 22"/>
          <p:cNvSpPr>
            <a:spLocks noChangeArrowheads="1"/>
          </p:cNvSpPr>
          <p:nvPr/>
        </p:nvSpPr>
        <p:spPr bwMode="auto">
          <a:xfrm>
            <a:off x="5486400" y="3200400"/>
            <a:ext cx="457200" cy="457200"/>
          </a:xfrm>
          <a:prstGeom prst="ellipse">
            <a:avLst/>
          </a:prstGeom>
          <a:solidFill>
            <a:srgbClr val="99CCFF">
              <a:alpha val="50000"/>
            </a:srgbClr>
          </a:solidFill>
          <a:ln w="9525">
            <a:solidFill>
              <a:schemeClr val="accent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chemeClr val="accent2"/>
                </a:solidFill>
              </a:rPr>
              <a:t>B</a:t>
            </a:r>
            <a:endParaRPr lang="en-US" altLang="zh-CN" sz="3600"/>
          </a:p>
        </p:txBody>
      </p:sp>
      <p:sp>
        <p:nvSpPr>
          <p:cNvPr id="190487" name="Oval 23"/>
          <p:cNvSpPr>
            <a:spLocks noChangeArrowheads="1"/>
          </p:cNvSpPr>
          <p:nvPr/>
        </p:nvSpPr>
        <p:spPr bwMode="auto">
          <a:xfrm>
            <a:off x="4953000" y="4114800"/>
            <a:ext cx="457200" cy="457200"/>
          </a:xfrm>
          <a:prstGeom prst="ellipse">
            <a:avLst/>
          </a:prstGeom>
          <a:solidFill>
            <a:srgbClr val="99CCFF">
              <a:alpha val="50000"/>
            </a:srgbClr>
          </a:solidFill>
          <a:ln w="9525">
            <a:solidFill>
              <a:schemeClr val="accent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chemeClr val="accent2"/>
                </a:solidFill>
              </a:rPr>
              <a:t>A</a:t>
            </a:r>
            <a:endParaRPr lang="en-US" altLang="zh-CN" sz="3600"/>
          </a:p>
        </p:txBody>
      </p:sp>
      <p:sp>
        <p:nvSpPr>
          <p:cNvPr id="190488" name="Oval 24"/>
          <p:cNvSpPr>
            <a:spLocks noChangeArrowheads="1"/>
          </p:cNvSpPr>
          <p:nvPr/>
        </p:nvSpPr>
        <p:spPr bwMode="auto">
          <a:xfrm>
            <a:off x="6096000" y="4114800"/>
            <a:ext cx="457200" cy="457200"/>
          </a:xfrm>
          <a:prstGeom prst="ellipse">
            <a:avLst/>
          </a:prstGeom>
          <a:solidFill>
            <a:srgbClr val="99CCFF">
              <a:alpha val="50000"/>
            </a:srgbClr>
          </a:solidFill>
          <a:ln w="9525">
            <a:solidFill>
              <a:schemeClr val="accent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chemeClr val="accent2"/>
                </a:solidFill>
              </a:rPr>
              <a:t>C</a:t>
            </a:r>
            <a:endParaRPr lang="en-US" altLang="zh-CN" sz="3600"/>
          </a:p>
        </p:txBody>
      </p:sp>
      <p:sp>
        <p:nvSpPr>
          <p:cNvPr id="190489" name="Oval 25"/>
          <p:cNvSpPr>
            <a:spLocks noChangeArrowheads="1"/>
          </p:cNvSpPr>
          <p:nvPr/>
        </p:nvSpPr>
        <p:spPr bwMode="auto">
          <a:xfrm>
            <a:off x="7924800" y="3200400"/>
            <a:ext cx="457200" cy="457200"/>
          </a:xfrm>
          <a:prstGeom prst="ellipse">
            <a:avLst/>
          </a:prstGeom>
          <a:solidFill>
            <a:srgbClr val="99CCFF">
              <a:alpha val="50000"/>
            </a:srgbClr>
          </a:solidFill>
          <a:ln w="9525">
            <a:solidFill>
              <a:schemeClr val="accent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chemeClr val="accent2"/>
                </a:solidFill>
              </a:rPr>
              <a:t>F</a:t>
            </a:r>
            <a:endParaRPr lang="en-US" altLang="zh-CN" sz="3600"/>
          </a:p>
        </p:txBody>
      </p:sp>
      <p:sp>
        <p:nvSpPr>
          <p:cNvPr id="190490" name="Oval 26"/>
          <p:cNvSpPr>
            <a:spLocks noChangeArrowheads="1"/>
          </p:cNvSpPr>
          <p:nvPr/>
        </p:nvSpPr>
        <p:spPr bwMode="auto">
          <a:xfrm>
            <a:off x="7315200" y="4114800"/>
            <a:ext cx="457200" cy="457200"/>
          </a:xfrm>
          <a:prstGeom prst="ellipse">
            <a:avLst/>
          </a:prstGeom>
          <a:solidFill>
            <a:srgbClr val="99CCFF">
              <a:alpha val="50000"/>
            </a:srgbClr>
          </a:solidFill>
          <a:ln w="9525">
            <a:solidFill>
              <a:schemeClr val="accent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chemeClr val="accent2"/>
                </a:solidFill>
              </a:rPr>
              <a:t>E</a:t>
            </a:r>
            <a:endParaRPr lang="en-US" altLang="zh-CN" sz="3600"/>
          </a:p>
        </p:txBody>
      </p:sp>
      <p:sp>
        <p:nvSpPr>
          <p:cNvPr id="190491" name="Oval 27"/>
          <p:cNvSpPr>
            <a:spLocks noChangeArrowheads="1"/>
          </p:cNvSpPr>
          <p:nvPr/>
        </p:nvSpPr>
        <p:spPr bwMode="auto">
          <a:xfrm>
            <a:off x="8458200" y="4114800"/>
            <a:ext cx="457200" cy="457200"/>
          </a:xfrm>
          <a:prstGeom prst="ellipse">
            <a:avLst/>
          </a:prstGeom>
          <a:solidFill>
            <a:srgbClr val="99CCFF">
              <a:alpha val="50000"/>
            </a:srgbClr>
          </a:solidFill>
          <a:ln w="9525">
            <a:solidFill>
              <a:schemeClr val="accent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chemeClr val="accent2"/>
                </a:solidFill>
              </a:rPr>
              <a:t>G</a:t>
            </a:r>
            <a:endParaRPr lang="en-US" altLang="zh-CN" sz="3600"/>
          </a:p>
        </p:txBody>
      </p:sp>
      <p:sp>
        <p:nvSpPr>
          <p:cNvPr id="190492" name="Line 28"/>
          <p:cNvSpPr>
            <a:spLocks noChangeShapeType="1"/>
          </p:cNvSpPr>
          <p:nvPr/>
        </p:nvSpPr>
        <p:spPr bwMode="auto">
          <a:xfrm flipH="1">
            <a:off x="5715000" y="2590800"/>
            <a:ext cx="990600" cy="6096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0493" name="Line 29"/>
          <p:cNvSpPr>
            <a:spLocks noChangeShapeType="1"/>
          </p:cNvSpPr>
          <p:nvPr/>
        </p:nvSpPr>
        <p:spPr bwMode="auto">
          <a:xfrm flipH="1">
            <a:off x="5181600" y="3429000"/>
            <a:ext cx="304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0494" name="Line 30"/>
          <p:cNvSpPr>
            <a:spLocks noChangeShapeType="1"/>
          </p:cNvSpPr>
          <p:nvPr/>
        </p:nvSpPr>
        <p:spPr bwMode="auto">
          <a:xfrm>
            <a:off x="5943600" y="3429000"/>
            <a:ext cx="3810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0495" name="Line 31"/>
          <p:cNvSpPr>
            <a:spLocks noChangeShapeType="1"/>
          </p:cNvSpPr>
          <p:nvPr/>
        </p:nvSpPr>
        <p:spPr bwMode="auto">
          <a:xfrm>
            <a:off x="7162800" y="2590800"/>
            <a:ext cx="990600" cy="6096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0496" name="Line 32"/>
          <p:cNvSpPr>
            <a:spLocks noChangeShapeType="1"/>
          </p:cNvSpPr>
          <p:nvPr/>
        </p:nvSpPr>
        <p:spPr bwMode="auto">
          <a:xfrm flipH="1">
            <a:off x="7543800" y="3429000"/>
            <a:ext cx="3810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0497" name="Line 33"/>
          <p:cNvSpPr>
            <a:spLocks noChangeShapeType="1"/>
          </p:cNvSpPr>
          <p:nvPr/>
        </p:nvSpPr>
        <p:spPr bwMode="auto">
          <a:xfrm>
            <a:off x="8382000" y="3429000"/>
            <a:ext cx="304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034962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90480"/>
                                        </p:tgtEl>
                                        <p:attrNameLst>
                                          <p:attrName>style.visibility</p:attrName>
                                        </p:attrNameLst>
                                      </p:cBhvr>
                                      <p:to>
                                        <p:strVal val="visible"/>
                                      </p:to>
                                    </p:set>
                                    <p:anim calcmode="lin" valueType="num">
                                      <p:cBhvr additive="base">
                                        <p:cTn id="7" dur="500" fill="hold"/>
                                        <p:tgtEl>
                                          <p:spTgt spid="190480"/>
                                        </p:tgtEl>
                                        <p:attrNameLst>
                                          <p:attrName>ppt_x</p:attrName>
                                        </p:attrNameLst>
                                      </p:cBhvr>
                                      <p:tavLst>
                                        <p:tav tm="0">
                                          <p:val>
                                            <p:strVal val="0-#ppt_w/2"/>
                                          </p:val>
                                        </p:tav>
                                        <p:tav tm="100000">
                                          <p:val>
                                            <p:strVal val="#ppt_x"/>
                                          </p:val>
                                        </p:tav>
                                      </p:tavLst>
                                    </p:anim>
                                    <p:anim calcmode="lin" valueType="num">
                                      <p:cBhvr additive="base">
                                        <p:cTn id="8" dur="500" fill="hold"/>
                                        <p:tgtEl>
                                          <p:spTgt spid="19048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90466"/>
                                        </p:tgtEl>
                                        <p:attrNameLst>
                                          <p:attrName>style.visibility</p:attrName>
                                        </p:attrNameLst>
                                      </p:cBhvr>
                                      <p:to>
                                        <p:strVal val="visible"/>
                                      </p:to>
                                    </p:set>
                                    <p:animEffect transition="in" filter="wipe(up)">
                                      <p:cBhvr>
                                        <p:cTn id="12" dur="500"/>
                                        <p:tgtEl>
                                          <p:spTgt spid="190466"/>
                                        </p:tgtEl>
                                      </p:cBhvr>
                                    </p:animEffect>
                                  </p:childTnLst>
                                </p:cTn>
                              </p:par>
                            </p:childTnLst>
                          </p:cTn>
                        </p:par>
                        <p:par>
                          <p:cTn id="13" fill="hold" nodeType="afterGroup">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190474"/>
                                        </p:tgtEl>
                                        <p:attrNameLst>
                                          <p:attrName>style.visibility</p:attrName>
                                        </p:attrNameLst>
                                      </p:cBhvr>
                                      <p:to>
                                        <p:strVal val="visible"/>
                                      </p:to>
                                    </p:set>
                                    <p:animEffect transition="in" filter="wipe(up)">
                                      <p:cBhvr>
                                        <p:cTn id="16" dur="500"/>
                                        <p:tgtEl>
                                          <p:spTgt spid="190474"/>
                                        </p:tgtEl>
                                      </p:cBhvr>
                                    </p:animEffect>
                                  </p:childTnLst>
                                </p:cTn>
                              </p:par>
                            </p:childTnLst>
                          </p:cTn>
                        </p:par>
                        <p:par>
                          <p:cTn id="17" fill="hold" nodeType="afterGroup">
                            <p:stCondLst>
                              <p:cond delay="1500"/>
                            </p:stCondLst>
                            <p:childTnLst>
                              <p:par>
                                <p:cTn id="18" presetID="22" presetClass="entr" presetSubtype="1" fill="hold" grpId="0" nodeType="afterEffect">
                                  <p:stCondLst>
                                    <p:cond delay="0"/>
                                  </p:stCondLst>
                                  <p:childTnLst>
                                    <p:set>
                                      <p:cBhvr>
                                        <p:cTn id="19" dur="1" fill="hold">
                                          <p:stCondLst>
                                            <p:cond delay="0"/>
                                          </p:stCondLst>
                                        </p:cTn>
                                        <p:tgtEl>
                                          <p:spTgt spid="190468"/>
                                        </p:tgtEl>
                                        <p:attrNameLst>
                                          <p:attrName>style.visibility</p:attrName>
                                        </p:attrNameLst>
                                      </p:cBhvr>
                                      <p:to>
                                        <p:strVal val="visible"/>
                                      </p:to>
                                    </p:set>
                                    <p:animEffect transition="in" filter="wipe(up)">
                                      <p:cBhvr>
                                        <p:cTn id="20" dur="500"/>
                                        <p:tgtEl>
                                          <p:spTgt spid="190468"/>
                                        </p:tgtEl>
                                      </p:cBhvr>
                                    </p:animEffect>
                                  </p:childTnLst>
                                </p:cTn>
                              </p:par>
                            </p:childTnLst>
                          </p:cTn>
                        </p:par>
                        <p:par>
                          <p:cTn id="21" fill="hold" nodeType="afterGroup">
                            <p:stCondLst>
                              <p:cond delay="2000"/>
                            </p:stCondLst>
                            <p:childTnLst>
                              <p:par>
                                <p:cTn id="22" presetID="22" presetClass="entr" presetSubtype="1" fill="hold" grpId="0" nodeType="afterEffect">
                                  <p:stCondLst>
                                    <p:cond delay="0"/>
                                  </p:stCondLst>
                                  <p:childTnLst>
                                    <p:set>
                                      <p:cBhvr>
                                        <p:cTn id="23" dur="1" fill="hold">
                                          <p:stCondLst>
                                            <p:cond delay="0"/>
                                          </p:stCondLst>
                                        </p:cTn>
                                        <p:tgtEl>
                                          <p:spTgt spid="190475"/>
                                        </p:tgtEl>
                                        <p:attrNameLst>
                                          <p:attrName>style.visibility</p:attrName>
                                        </p:attrNameLst>
                                      </p:cBhvr>
                                      <p:to>
                                        <p:strVal val="visible"/>
                                      </p:to>
                                    </p:set>
                                    <p:animEffect transition="in" filter="wipe(up)">
                                      <p:cBhvr>
                                        <p:cTn id="24" dur="500"/>
                                        <p:tgtEl>
                                          <p:spTgt spid="190475"/>
                                        </p:tgtEl>
                                      </p:cBhvr>
                                    </p:animEffect>
                                  </p:childTnLst>
                                </p:cTn>
                              </p:par>
                            </p:childTnLst>
                          </p:cTn>
                        </p:par>
                        <p:par>
                          <p:cTn id="25" fill="hold" nodeType="afterGroup">
                            <p:stCondLst>
                              <p:cond delay="2500"/>
                            </p:stCondLst>
                            <p:childTnLst>
                              <p:par>
                                <p:cTn id="26" presetID="22" presetClass="entr" presetSubtype="1" fill="hold" grpId="0" nodeType="afterEffect">
                                  <p:stCondLst>
                                    <p:cond delay="0"/>
                                  </p:stCondLst>
                                  <p:childTnLst>
                                    <p:set>
                                      <p:cBhvr>
                                        <p:cTn id="27" dur="1" fill="hold">
                                          <p:stCondLst>
                                            <p:cond delay="0"/>
                                          </p:stCondLst>
                                        </p:cTn>
                                        <p:tgtEl>
                                          <p:spTgt spid="190470"/>
                                        </p:tgtEl>
                                        <p:attrNameLst>
                                          <p:attrName>style.visibility</p:attrName>
                                        </p:attrNameLst>
                                      </p:cBhvr>
                                      <p:to>
                                        <p:strVal val="visible"/>
                                      </p:to>
                                    </p:set>
                                    <p:animEffect transition="in" filter="wipe(up)">
                                      <p:cBhvr>
                                        <p:cTn id="28" dur="500"/>
                                        <p:tgtEl>
                                          <p:spTgt spid="190470"/>
                                        </p:tgtEl>
                                      </p:cBhvr>
                                    </p:animEffect>
                                  </p:childTnLst>
                                </p:cTn>
                              </p:par>
                            </p:childTnLst>
                          </p:cTn>
                        </p:par>
                        <p:par>
                          <p:cTn id="29" fill="hold" nodeType="afterGroup">
                            <p:stCondLst>
                              <p:cond delay="3000"/>
                            </p:stCondLst>
                            <p:childTnLst>
                              <p:par>
                                <p:cTn id="30" presetID="22" presetClass="entr" presetSubtype="1" fill="hold" grpId="0" nodeType="afterEffect">
                                  <p:stCondLst>
                                    <p:cond delay="0"/>
                                  </p:stCondLst>
                                  <p:childTnLst>
                                    <p:set>
                                      <p:cBhvr>
                                        <p:cTn id="31" dur="1" fill="hold">
                                          <p:stCondLst>
                                            <p:cond delay="0"/>
                                          </p:stCondLst>
                                        </p:cTn>
                                        <p:tgtEl>
                                          <p:spTgt spid="190477"/>
                                        </p:tgtEl>
                                        <p:attrNameLst>
                                          <p:attrName>style.visibility</p:attrName>
                                        </p:attrNameLst>
                                      </p:cBhvr>
                                      <p:to>
                                        <p:strVal val="visible"/>
                                      </p:to>
                                    </p:set>
                                    <p:animEffect transition="in" filter="wipe(up)">
                                      <p:cBhvr>
                                        <p:cTn id="32" dur="500"/>
                                        <p:tgtEl>
                                          <p:spTgt spid="190477"/>
                                        </p:tgtEl>
                                      </p:cBhvr>
                                    </p:animEffect>
                                  </p:childTnLst>
                                </p:cTn>
                              </p:par>
                            </p:childTnLst>
                          </p:cTn>
                        </p:par>
                        <p:par>
                          <p:cTn id="33" fill="hold" nodeType="afterGroup">
                            <p:stCondLst>
                              <p:cond delay="3500"/>
                            </p:stCondLst>
                            <p:childTnLst>
                              <p:par>
                                <p:cTn id="34" presetID="22" presetClass="entr" presetSubtype="1" fill="hold" grpId="0" nodeType="afterEffect">
                                  <p:stCondLst>
                                    <p:cond delay="0"/>
                                  </p:stCondLst>
                                  <p:childTnLst>
                                    <p:set>
                                      <p:cBhvr>
                                        <p:cTn id="35" dur="1" fill="hold">
                                          <p:stCondLst>
                                            <p:cond delay="0"/>
                                          </p:stCondLst>
                                        </p:cTn>
                                        <p:tgtEl>
                                          <p:spTgt spid="190471"/>
                                        </p:tgtEl>
                                        <p:attrNameLst>
                                          <p:attrName>style.visibility</p:attrName>
                                        </p:attrNameLst>
                                      </p:cBhvr>
                                      <p:to>
                                        <p:strVal val="visible"/>
                                      </p:to>
                                    </p:set>
                                    <p:animEffect transition="in" filter="wipe(up)">
                                      <p:cBhvr>
                                        <p:cTn id="36" dur="500"/>
                                        <p:tgtEl>
                                          <p:spTgt spid="190471"/>
                                        </p:tgtEl>
                                      </p:cBhvr>
                                    </p:animEffect>
                                  </p:childTnLst>
                                </p:cTn>
                              </p:par>
                            </p:childTnLst>
                          </p:cTn>
                        </p:par>
                        <p:par>
                          <p:cTn id="37" fill="hold" nodeType="afterGroup">
                            <p:stCondLst>
                              <p:cond delay="4000"/>
                            </p:stCondLst>
                            <p:childTnLst>
                              <p:par>
                                <p:cTn id="38" presetID="22" presetClass="entr" presetSubtype="1" fill="hold" grpId="0" nodeType="afterEffect">
                                  <p:stCondLst>
                                    <p:cond delay="0"/>
                                  </p:stCondLst>
                                  <p:childTnLst>
                                    <p:set>
                                      <p:cBhvr>
                                        <p:cTn id="39" dur="1" fill="hold">
                                          <p:stCondLst>
                                            <p:cond delay="0"/>
                                          </p:stCondLst>
                                        </p:cTn>
                                        <p:tgtEl>
                                          <p:spTgt spid="190476"/>
                                        </p:tgtEl>
                                        <p:attrNameLst>
                                          <p:attrName>style.visibility</p:attrName>
                                        </p:attrNameLst>
                                      </p:cBhvr>
                                      <p:to>
                                        <p:strVal val="visible"/>
                                      </p:to>
                                    </p:set>
                                    <p:animEffect transition="in" filter="wipe(up)">
                                      <p:cBhvr>
                                        <p:cTn id="40" dur="500"/>
                                        <p:tgtEl>
                                          <p:spTgt spid="190476"/>
                                        </p:tgtEl>
                                      </p:cBhvr>
                                    </p:animEffect>
                                  </p:childTnLst>
                                </p:cTn>
                              </p:par>
                            </p:childTnLst>
                          </p:cTn>
                        </p:par>
                        <p:par>
                          <p:cTn id="41" fill="hold" nodeType="afterGroup">
                            <p:stCondLst>
                              <p:cond delay="4500"/>
                            </p:stCondLst>
                            <p:childTnLst>
                              <p:par>
                                <p:cTn id="42" presetID="22" presetClass="entr" presetSubtype="1" fill="hold" grpId="0" nodeType="afterEffect">
                                  <p:stCondLst>
                                    <p:cond delay="0"/>
                                  </p:stCondLst>
                                  <p:childTnLst>
                                    <p:set>
                                      <p:cBhvr>
                                        <p:cTn id="43" dur="1" fill="hold">
                                          <p:stCondLst>
                                            <p:cond delay="0"/>
                                          </p:stCondLst>
                                        </p:cTn>
                                        <p:tgtEl>
                                          <p:spTgt spid="190472"/>
                                        </p:tgtEl>
                                        <p:attrNameLst>
                                          <p:attrName>style.visibility</p:attrName>
                                        </p:attrNameLst>
                                      </p:cBhvr>
                                      <p:to>
                                        <p:strVal val="visible"/>
                                      </p:to>
                                    </p:set>
                                    <p:animEffect transition="in" filter="wipe(up)">
                                      <p:cBhvr>
                                        <p:cTn id="44" dur="500"/>
                                        <p:tgtEl>
                                          <p:spTgt spid="190472"/>
                                        </p:tgtEl>
                                      </p:cBhvr>
                                    </p:animEffect>
                                  </p:childTnLst>
                                </p:cTn>
                              </p:par>
                            </p:childTnLst>
                          </p:cTn>
                        </p:par>
                        <p:par>
                          <p:cTn id="45" fill="hold" nodeType="afterGroup">
                            <p:stCondLst>
                              <p:cond delay="5000"/>
                            </p:stCondLst>
                            <p:childTnLst>
                              <p:par>
                                <p:cTn id="46" presetID="22" presetClass="entr" presetSubtype="1" fill="hold" grpId="0" nodeType="afterEffect">
                                  <p:stCondLst>
                                    <p:cond delay="0"/>
                                  </p:stCondLst>
                                  <p:childTnLst>
                                    <p:set>
                                      <p:cBhvr>
                                        <p:cTn id="47" dur="1" fill="hold">
                                          <p:stCondLst>
                                            <p:cond delay="0"/>
                                          </p:stCondLst>
                                        </p:cTn>
                                        <p:tgtEl>
                                          <p:spTgt spid="190478"/>
                                        </p:tgtEl>
                                        <p:attrNameLst>
                                          <p:attrName>style.visibility</p:attrName>
                                        </p:attrNameLst>
                                      </p:cBhvr>
                                      <p:to>
                                        <p:strVal val="visible"/>
                                      </p:to>
                                    </p:set>
                                    <p:animEffect transition="in" filter="wipe(up)">
                                      <p:cBhvr>
                                        <p:cTn id="48" dur="500"/>
                                        <p:tgtEl>
                                          <p:spTgt spid="190478"/>
                                        </p:tgtEl>
                                      </p:cBhvr>
                                    </p:animEffect>
                                  </p:childTnLst>
                                </p:cTn>
                              </p:par>
                            </p:childTnLst>
                          </p:cTn>
                        </p:par>
                        <p:par>
                          <p:cTn id="49" fill="hold" nodeType="afterGroup">
                            <p:stCondLst>
                              <p:cond delay="5500"/>
                            </p:stCondLst>
                            <p:childTnLst>
                              <p:par>
                                <p:cTn id="50" presetID="22" presetClass="entr" presetSubtype="1" fill="hold" grpId="0" nodeType="afterEffect">
                                  <p:stCondLst>
                                    <p:cond delay="0"/>
                                  </p:stCondLst>
                                  <p:childTnLst>
                                    <p:set>
                                      <p:cBhvr>
                                        <p:cTn id="51" dur="1" fill="hold">
                                          <p:stCondLst>
                                            <p:cond delay="0"/>
                                          </p:stCondLst>
                                        </p:cTn>
                                        <p:tgtEl>
                                          <p:spTgt spid="190469"/>
                                        </p:tgtEl>
                                        <p:attrNameLst>
                                          <p:attrName>style.visibility</p:attrName>
                                        </p:attrNameLst>
                                      </p:cBhvr>
                                      <p:to>
                                        <p:strVal val="visible"/>
                                      </p:to>
                                    </p:set>
                                    <p:animEffect transition="in" filter="wipe(up)">
                                      <p:cBhvr>
                                        <p:cTn id="52" dur="500"/>
                                        <p:tgtEl>
                                          <p:spTgt spid="190469"/>
                                        </p:tgtEl>
                                      </p:cBhvr>
                                    </p:animEffect>
                                  </p:childTnLst>
                                </p:cTn>
                              </p:par>
                            </p:childTnLst>
                          </p:cTn>
                        </p:par>
                        <p:par>
                          <p:cTn id="53" fill="hold" nodeType="afterGroup">
                            <p:stCondLst>
                              <p:cond delay="6000"/>
                            </p:stCondLst>
                            <p:childTnLst>
                              <p:par>
                                <p:cTn id="54" presetID="22" presetClass="entr" presetSubtype="1" fill="hold" grpId="0" nodeType="afterEffect">
                                  <p:stCondLst>
                                    <p:cond delay="0"/>
                                  </p:stCondLst>
                                  <p:childTnLst>
                                    <p:set>
                                      <p:cBhvr>
                                        <p:cTn id="55" dur="1" fill="hold">
                                          <p:stCondLst>
                                            <p:cond delay="0"/>
                                          </p:stCondLst>
                                        </p:cTn>
                                        <p:tgtEl>
                                          <p:spTgt spid="190479"/>
                                        </p:tgtEl>
                                        <p:attrNameLst>
                                          <p:attrName>style.visibility</p:attrName>
                                        </p:attrNameLst>
                                      </p:cBhvr>
                                      <p:to>
                                        <p:strVal val="visible"/>
                                      </p:to>
                                    </p:set>
                                    <p:animEffect transition="in" filter="wipe(up)">
                                      <p:cBhvr>
                                        <p:cTn id="56" dur="500"/>
                                        <p:tgtEl>
                                          <p:spTgt spid="190479"/>
                                        </p:tgtEl>
                                      </p:cBhvr>
                                    </p:animEffect>
                                  </p:childTnLst>
                                </p:cTn>
                              </p:par>
                            </p:childTnLst>
                          </p:cTn>
                        </p:par>
                        <p:par>
                          <p:cTn id="57" fill="hold" nodeType="afterGroup">
                            <p:stCondLst>
                              <p:cond delay="6500"/>
                            </p:stCondLst>
                            <p:childTnLst>
                              <p:par>
                                <p:cTn id="58" presetID="22" presetClass="entr" presetSubtype="1" fill="hold" grpId="0" nodeType="afterEffect">
                                  <p:stCondLst>
                                    <p:cond delay="0"/>
                                  </p:stCondLst>
                                  <p:childTnLst>
                                    <p:set>
                                      <p:cBhvr>
                                        <p:cTn id="59" dur="1" fill="hold">
                                          <p:stCondLst>
                                            <p:cond delay="0"/>
                                          </p:stCondLst>
                                        </p:cTn>
                                        <p:tgtEl>
                                          <p:spTgt spid="190473"/>
                                        </p:tgtEl>
                                        <p:attrNameLst>
                                          <p:attrName>style.visibility</p:attrName>
                                        </p:attrNameLst>
                                      </p:cBhvr>
                                      <p:to>
                                        <p:strVal val="visible"/>
                                      </p:to>
                                    </p:set>
                                    <p:animEffect transition="in" filter="wipe(up)">
                                      <p:cBhvr>
                                        <p:cTn id="60" dur="500"/>
                                        <p:tgtEl>
                                          <p:spTgt spid="19047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8" presetClass="entr" presetSubtype="6" fill="hold" grpId="0" nodeType="clickEffect">
                                  <p:stCondLst>
                                    <p:cond delay="0"/>
                                  </p:stCondLst>
                                  <p:childTnLst>
                                    <p:set>
                                      <p:cBhvr>
                                        <p:cTn id="64" dur="1" fill="hold">
                                          <p:stCondLst>
                                            <p:cond delay="0"/>
                                          </p:stCondLst>
                                        </p:cTn>
                                        <p:tgtEl>
                                          <p:spTgt spid="190481"/>
                                        </p:tgtEl>
                                        <p:attrNameLst>
                                          <p:attrName>style.visibility</p:attrName>
                                        </p:attrNameLst>
                                      </p:cBhvr>
                                      <p:to>
                                        <p:strVal val="visible"/>
                                      </p:to>
                                    </p:set>
                                    <p:animEffect transition="in" filter="strips(downRight)">
                                      <p:cBhvr>
                                        <p:cTn id="65" dur="500"/>
                                        <p:tgtEl>
                                          <p:spTgt spid="19048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2" presetClass="entr" presetSubtype="8" fill="hold" grpId="0" nodeType="clickEffect">
                                  <p:stCondLst>
                                    <p:cond delay="0"/>
                                  </p:stCondLst>
                                  <p:childTnLst>
                                    <p:set>
                                      <p:cBhvr>
                                        <p:cTn id="69" dur="1" fill="hold">
                                          <p:stCondLst>
                                            <p:cond delay="0"/>
                                          </p:stCondLst>
                                        </p:cTn>
                                        <p:tgtEl>
                                          <p:spTgt spid="190483"/>
                                        </p:tgtEl>
                                        <p:attrNameLst>
                                          <p:attrName>style.visibility</p:attrName>
                                        </p:attrNameLst>
                                      </p:cBhvr>
                                      <p:to>
                                        <p:strVal val="visible"/>
                                      </p:to>
                                    </p:set>
                                    <p:animEffect transition="in" filter="slide(fromLeft)">
                                      <p:cBhvr>
                                        <p:cTn id="70" dur="500"/>
                                        <p:tgtEl>
                                          <p:spTgt spid="190483"/>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190484"/>
                                        </p:tgtEl>
                                        <p:attrNameLst>
                                          <p:attrName>style.visibility</p:attrName>
                                        </p:attrNameLst>
                                      </p:cBhvr>
                                      <p:to>
                                        <p:strVal val="visible"/>
                                      </p:to>
                                    </p:set>
                                    <p:animEffect transition="in" filter="wipe(up)">
                                      <p:cBhvr>
                                        <p:cTn id="75" dur="500"/>
                                        <p:tgtEl>
                                          <p:spTgt spid="190484"/>
                                        </p:tgtEl>
                                      </p:cBhvr>
                                    </p:animEffect>
                                  </p:childTnLst>
                                </p:cTn>
                              </p:par>
                            </p:childTnLst>
                          </p:cTn>
                        </p:par>
                        <p:par>
                          <p:cTn id="76" fill="hold" nodeType="afterGroup">
                            <p:stCondLst>
                              <p:cond delay="500"/>
                            </p:stCondLst>
                            <p:childTnLst>
                              <p:par>
                                <p:cTn id="77" presetID="22" presetClass="entr" presetSubtype="1" fill="hold" grpId="0" nodeType="afterEffect">
                                  <p:stCondLst>
                                    <p:cond delay="0"/>
                                  </p:stCondLst>
                                  <p:childTnLst>
                                    <p:set>
                                      <p:cBhvr>
                                        <p:cTn id="78" dur="1" fill="hold">
                                          <p:stCondLst>
                                            <p:cond delay="0"/>
                                          </p:stCondLst>
                                        </p:cTn>
                                        <p:tgtEl>
                                          <p:spTgt spid="190492"/>
                                        </p:tgtEl>
                                        <p:attrNameLst>
                                          <p:attrName>style.visibility</p:attrName>
                                        </p:attrNameLst>
                                      </p:cBhvr>
                                      <p:to>
                                        <p:strVal val="visible"/>
                                      </p:to>
                                    </p:set>
                                    <p:animEffect transition="in" filter="wipe(up)">
                                      <p:cBhvr>
                                        <p:cTn id="79" dur="500"/>
                                        <p:tgtEl>
                                          <p:spTgt spid="190492"/>
                                        </p:tgtEl>
                                      </p:cBhvr>
                                    </p:animEffect>
                                  </p:childTnLst>
                                </p:cTn>
                              </p:par>
                            </p:childTnLst>
                          </p:cTn>
                        </p:par>
                        <p:par>
                          <p:cTn id="80" fill="hold" nodeType="afterGroup">
                            <p:stCondLst>
                              <p:cond delay="1000"/>
                            </p:stCondLst>
                            <p:childTnLst>
                              <p:par>
                                <p:cTn id="81" presetID="22" presetClass="entr" presetSubtype="1" fill="hold" grpId="0" nodeType="afterEffect">
                                  <p:stCondLst>
                                    <p:cond delay="0"/>
                                  </p:stCondLst>
                                  <p:childTnLst>
                                    <p:set>
                                      <p:cBhvr>
                                        <p:cTn id="82" dur="1" fill="hold">
                                          <p:stCondLst>
                                            <p:cond delay="0"/>
                                          </p:stCondLst>
                                        </p:cTn>
                                        <p:tgtEl>
                                          <p:spTgt spid="190486"/>
                                        </p:tgtEl>
                                        <p:attrNameLst>
                                          <p:attrName>style.visibility</p:attrName>
                                        </p:attrNameLst>
                                      </p:cBhvr>
                                      <p:to>
                                        <p:strVal val="visible"/>
                                      </p:to>
                                    </p:set>
                                    <p:animEffect transition="in" filter="wipe(up)">
                                      <p:cBhvr>
                                        <p:cTn id="83" dur="500"/>
                                        <p:tgtEl>
                                          <p:spTgt spid="190486"/>
                                        </p:tgtEl>
                                      </p:cBhvr>
                                    </p:animEffect>
                                  </p:childTnLst>
                                </p:cTn>
                              </p:par>
                            </p:childTnLst>
                          </p:cTn>
                        </p:par>
                        <p:par>
                          <p:cTn id="84" fill="hold" nodeType="afterGroup">
                            <p:stCondLst>
                              <p:cond delay="1500"/>
                            </p:stCondLst>
                            <p:childTnLst>
                              <p:par>
                                <p:cTn id="85" presetID="22" presetClass="entr" presetSubtype="1" fill="hold" grpId="0" nodeType="afterEffect">
                                  <p:stCondLst>
                                    <p:cond delay="0"/>
                                  </p:stCondLst>
                                  <p:childTnLst>
                                    <p:set>
                                      <p:cBhvr>
                                        <p:cTn id="86" dur="1" fill="hold">
                                          <p:stCondLst>
                                            <p:cond delay="0"/>
                                          </p:stCondLst>
                                        </p:cTn>
                                        <p:tgtEl>
                                          <p:spTgt spid="190493"/>
                                        </p:tgtEl>
                                        <p:attrNameLst>
                                          <p:attrName>style.visibility</p:attrName>
                                        </p:attrNameLst>
                                      </p:cBhvr>
                                      <p:to>
                                        <p:strVal val="visible"/>
                                      </p:to>
                                    </p:set>
                                    <p:animEffect transition="in" filter="wipe(up)">
                                      <p:cBhvr>
                                        <p:cTn id="87" dur="500"/>
                                        <p:tgtEl>
                                          <p:spTgt spid="190493"/>
                                        </p:tgtEl>
                                      </p:cBhvr>
                                    </p:animEffect>
                                  </p:childTnLst>
                                </p:cTn>
                              </p:par>
                            </p:childTnLst>
                          </p:cTn>
                        </p:par>
                        <p:par>
                          <p:cTn id="88" fill="hold" nodeType="afterGroup">
                            <p:stCondLst>
                              <p:cond delay="2000"/>
                            </p:stCondLst>
                            <p:childTnLst>
                              <p:par>
                                <p:cTn id="89" presetID="22" presetClass="entr" presetSubtype="1" fill="hold" grpId="0" nodeType="afterEffect">
                                  <p:stCondLst>
                                    <p:cond delay="0"/>
                                  </p:stCondLst>
                                  <p:childTnLst>
                                    <p:set>
                                      <p:cBhvr>
                                        <p:cTn id="90" dur="1" fill="hold">
                                          <p:stCondLst>
                                            <p:cond delay="0"/>
                                          </p:stCondLst>
                                        </p:cTn>
                                        <p:tgtEl>
                                          <p:spTgt spid="190487"/>
                                        </p:tgtEl>
                                        <p:attrNameLst>
                                          <p:attrName>style.visibility</p:attrName>
                                        </p:attrNameLst>
                                      </p:cBhvr>
                                      <p:to>
                                        <p:strVal val="visible"/>
                                      </p:to>
                                    </p:set>
                                    <p:animEffect transition="in" filter="wipe(up)">
                                      <p:cBhvr>
                                        <p:cTn id="91" dur="500"/>
                                        <p:tgtEl>
                                          <p:spTgt spid="190487"/>
                                        </p:tgtEl>
                                      </p:cBhvr>
                                    </p:animEffect>
                                  </p:childTnLst>
                                </p:cTn>
                              </p:par>
                            </p:childTnLst>
                          </p:cTn>
                        </p:par>
                        <p:par>
                          <p:cTn id="92" fill="hold" nodeType="afterGroup">
                            <p:stCondLst>
                              <p:cond delay="2500"/>
                            </p:stCondLst>
                            <p:childTnLst>
                              <p:par>
                                <p:cTn id="93" presetID="22" presetClass="entr" presetSubtype="1" fill="hold" grpId="0" nodeType="afterEffect">
                                  <p:stCondLst>
                                    <p:cond delay="0"/>
                                  </p:stCondLst>
                                  <p:childTnLst>
                                    <p:set>
                                      <p:cBhvr>
                                        <p:cTn id="94" dur="1" fill="hold">
                                          <p:stCondLst>
                                            <p:cond delay="0"/>
                                          </p:stCondLst>
                                        </p:cTn>
                                        <p:tgtEl>
                                          <p:spTgt spid="190494"/>
                                        </p:tgtEl>
                                        <p:attrNameLst>
                                          <p:attrName>style.visibility</p:attrName>
                                        </p:attrNameLst>
                                      </p:cBhvr>
                                      <p:to>
                                        <p:strVal val="visible"/>
                                      </p:to>
                                    </p:set>
                                    <p:animEffect transition="in" filter="wipe(up)">
                                      <p:cBhvr>
                                        <p:cTn id="95" dur="500"/>
                                        <p:tgtEl>
                                          <p:spTgt spid="190494"/>
                                        </p:tgtEl>
                                      </p:cBhvr>
                                    </p:animEffect>
                                  </p:childTnLst>
                                </p:cTn>
                              </p:par>
                            </p:childTnLst>
                          </p:cTn>
                        </p:par>
                        <p:par>
                          <p:cTn id="96" fill="hold" nodeType="afterGroup">
                            <p:stCondLst>
                              <p:cond delay="3000"/>
                            </p:stCondLst>
                            <p:childTnLst>
                              <p:par>
                                <p:cTn id="97" presetID="22" presetClass="entr" presetSubtype="1" fill="hold" grpId="0" nodeType="afterEffect">
                                  <p:stCondLst>
                                    <p:cond delay="0"/>
                                  </p:stCondLst>
                                  <p:childTnLst>
                                    <p:set>
                                      <p:cBhvr>
                                        <p:cTn id="98" dur="1" fill="hold">
                                          <p:stCondLst>
                                            <p:cond delay="0"/>
                                          </p:stCondLst>
                                        </p:cTn>
                                        <p:tgtEl>
                                          <p:spTgt spid="190488"/>
                                        </p:tgtEl>
                                        <p:attrNameLst>
                                          <p:attrName>style.visibility</p:attrName>
                                        </p:attrNameLst>
                                      </p:cBhvr>
                                      <p:to>
                                        <p:strVal val="visible"/>
                                      </p:to>
                                    </p:set>
                                    <p:animEffect transition="in" filter="wipe(up)">
                                      <p:cBhvr>
                                        <p:cTn id="99" dur="500"/>
                                        <p:tgtEl>
                                          <p:spTgt spid="190488"/>
                                        </p:tgtEl>
                                      </p:cBhvr>
                                    </p:animEffect>
                                  </p:childTnLst>
                                </p:cTn>
                              </p:par>
                            </p:childTnLst>
                          </p:cTn>
                        </p:par>
                        <p:par>
                          <p:cTn id="100" fill="hold" nodeType="afterGroup">
                            <p:stCondLst>
                              <p:cond delay="3500"/>
                            </p:stCondLst>
                            <p:childTnLst>
                              <p:par>
                                <p:cTn id="101" presetID="22" presetClass="entr" presetSubtype="1" fill="hold" grpId="0" nodeType="afterEffect">
                                  <p:stCondLst>
                                    <p:cond delay="0"/>
                                  </p:stCondLst>
                                  <p:childTnLst>
                                    <p:set>
                                      <p:cBhvr>
                                        <p:cTn id="102" dur="1" fill="hold">
                                          <p:stCondLst>
                                            <p:cond delay="0"/>
                                          </p:stCondLst>
                                        </p:cTn>
                                        <p:tgtEl>
                                          <p:spTgt spid="190495"/>
                                        </p:tgtEl>
                                        <p:attrNameLst>
                                          <p:attrName>style.visibility</p:attrName>
                                        </p:attrNameLst>
                                      </p:cBhvr>
                                      <p:to>
                                        <p:strVal val="visible"/>
                                      </p:to>
                                    </p:set>
                                    <p:animEffect transition="in" filter="wipe(up)">
                                      <p:cBhvr>
                                        <p:cTn id="103" dur="500"/>
                                        <p:tgtEl>
                                          <p:spTgt spid="190495"/>
                                        </p:tgtEl>
                                      </p:cBhvr>
                                    </p:animEffect>
                                  </p:childTnLst>
                                </p:cTn>
                              </p:par>
                            </p:childTnLst>
                          </p:cTn>
                        </p:par>
                        <p:par>
                          <p:cTn id="104" fill="hold" nodeType="afterGroup">
                            <p:stCondLst>
                              <p:cond delay="4000"/>
                            </p:stCondLst>
                            <p:childTnLst>
                              <p:par>
                                <p:cTn id="105" presetID="22" presetClass="entr" presetSubtype="1" fill="hold" grpId="0" nodeType="afterEffect">
                                  <p:stCondLst>
                                    <p:cond delay="0"/>
                                  </p:stCondLst>
                                  <p:childTnLst>
                                    <p:set>
                                      <p:cBhvr>
                                        <p:cTn id="106" dur="1" fill="hold">
                                          <p:stCondLst>
                                            <p:cond delay="0"/>
                                          </p:stCondLst>
                                        </p:cTn>
                                        <p:tgtEl>
                                          <p:spTgt spid="190489"/>
                                        </p:tgtEl>
                                        <p:attrNameLst>
                                          <p:attrName>style.visibility</p:attrName>
                                        </p:attrNameLst>
                                      </p:cBhvr>
                                      <p:to>
                                        <p:strVal val="visible"/>
                                      </p:to>
                                    </p:set>
                                    <p:animEffect transition="in" filter="wipe(up)">
                                      <p:cBhvr>
                                        <p:cTn id="107" dur="500"/>
                                        <p:tgtEl>
                                          <p:spTgt spid="190489"/>
                                        </p:tgtEl>
                                      </p:cBhvr>
                                    </p:animEffect>
                                  </p:childTnLst>
                                </p:cTn>
                              </p:par>
                            </p:childTnLst>
                          </p:cTn>
                        </p:par>
                        <p:par>
                          <p:cTn id="108" fill="hold" nodeType="afterGroup">
                            <p:stCondLst>
                              <p:cond delay="4500"/>
                            </p:stCondLst>
                            <p:childTnLst>
                              <p:par>
                                <p:cTn id="109" presetID="22" presetClass="entr" presetSubtype="1" fill="hold" grpId="0" nodeType="afterEffect">
                                  <p:stCondLst>
                                    <p:cond delay="0"/>
                                  </p:stCondLst>
                                  <p:childTnLst>
                                    <p:set>
                                      <p:cBhvr>
                                        <p:cTn id="110" dur="1" fill="hold">
                                          <p:stCondLst>
                                            <p:cond delay="0"/>
                                          </p:stCondLst>
                                        </p:cTn>
                                        <p:tgtEl>
                                          <p:spTgt spid="190496"/>
                                        </p:tgtEl>
                                        <p:attrNameLst>
                                          <p:attrName>style.visibility</p:attrName>
                                        </p:attrNameLst>
                                      </p:cBhvr>
                                      <p:to>
                                        <p:strVal val="visible"/>
                                      </p:to>
                                    </p:set>
                                    <p:animEffect transition="in" filter="wipe(up)">
                                      <p:cBhvr>
                                        <p:cTn id="111" dur="500"/>
                                        <p:tgtEl>
                                          <p:spTgt spid="190496"/>
                                        </p:tgtEl>
                                      </p:cBhvr>
                                    </p:animEffect>
                                  </p:childTnLst>
                                </p:cTn>
                              </p:par>
                            </p:childTnLst>
                          </p:cTn>
                        </p:par>
                        <p:par>
                          <p:cTn id="112" fill="hold" nodeType="afterGroup">
                            <p:stCondLst>
                              <p:cond delay="5000"/>
                            </p:stCondLst>
                            <p:childTnLst>
                              <p:par>
                                <p:cTn id="113" presetID="22" presetClass="entr" presetSubtype="1" fill="hold" grpId="0" nodeType="afterEffect">
                                  <p:stCondLst>
                                    <p:cond delay="0"/>
                                  </p:stCondLst>
                                  <p:childTnLst>
                                    <p:set>
                                      <p:cBhvr>
                                        <p:cTn id="114" dur="1" fill="hold">
                                          <p:stCondLst>
                                            <p:cond delay="0"/>
                                          </p:stCondLst>
                                        </p:cTn>
                                        <p:tgtEl>
                                          <p:spTgt spid="190490"/>
                                        </p:tgtEl>
                                        <p:attrNameLst>
                                          <p:attrName>style.visibility</p:attrName>
                                        </p:attrNameLst>
                                      </p:cBhvr>
                                      <p:to>
                                        <p:strVal val="visible"/>
                                      </p:to>
                                    </p:set>
                                    <p:animEffect transition="in" filter="wipe(up)">
                                      <p:cBhvr>
                                        <p:cTn id="115" dur="500"/>
                                        <p:tgtEl>
                                          <p:spTgt spid="190490"/>
                                        </p:tgtEl>
                                      </p:cBhvr>
                                    </p:animEffect>
                                  </p:childTnLst>
                                </p:cTn>
                              </p:par>
                            </p:childTnLst>
                          </p:cTn>
                        </p:par>
                        <p:par>
                          <p:cTn id="116" fill="hold" nodeType="afterGroup">
                            <p:stCondLst>
                              <p:cond delay="5500"/>
                            </p:stCondLst>
                            <p:childTnLst>
                              <p:par>
                                <p:cTn id="117" presetID="22" presetClass="entr" presetSubtype="1" fill="hold" grpId="0" nodeType="afterEffect">
                                  <p:stCondLst>
                                    <p:cond delay="0"/>
                                  </p:stCondLst>
                                  <p:childTnLst>
                                    <p:set>
                                      <p:cBhvr>
                                        <p:cTn id="118" dur="1" fill="hold">
                                          <p:stCondLst>
                                            <p:cond delay="0"/>
                                          </p:stCondLst>
                                        </p:cTn>
                                        <p:tgtEl>
                                          <p:spTgt spid="190497"/>
                                        </p:tgtEl>
                                        <p:attrNameLst>
                                          <p:attrName>style.visibility</p:attrName>
                                        </p:attrNameLst>
                                      </p:cBhvr>
                                      <p:to>
                                        <p:strVal val="visible"/>
                                      </p:to>
                                    </p:set>
                                    <p:animEffect transition="in" filter="wipe(up)">
                                      <p:cBhvr>
                                        <p:cTn id="119" dur="500"/>
                                        <p:tgtEl>
                                          <p:spTgt spid="190497"/>
                                        </p:tgtEl>
                                      </p:cBhvr>
                                    </p:animEffect>
                                  </p:childTnLst>
                                </p:cTn>
                              </p:par>
                            </p:childTnLst>
                          </p:cTn>
                        </p:par>
                        <p:par>
                          <p:cTn id="120" fill="hold" nodeType="afterGroup">
                            <p:stCondLst>
                              <p:cond delay="6000"/>
                            </p:stCondLst>
                            <p:childTnLst>
                              <p:par>
                                <p:cTn id="121" presetID="22" presetClass="entr" presetSubtype="1" fill="hold" grpId="0" nodeType="afterEffect">
                                  <p:stCondLst>
                                    <p:cond delay="0"/>
                                  </p:stCondLst>
                                  <p:childTnLst>
                                    <p:set>
                                      <p:cBhvr>
                                        <p:cTn id="122" dur="1" fill="hold">
                                          <p:stCondLst>
                                            <p:cond delay="0"/>
                                          </p:stCondLst>
                                        </p:cTn>
                                        <p:tgtEl>
                                          <p:spTgt spid="190491"/>
                                        </p:tgtEl>
                                        <p:attrNameLst>
                                          <p:attrName>style.visibility</p:attrName>
                                        </p:attrNameLst>
                                      </p:cBhvr>
                                      <p:to>
                                        <p:strVal val="visible"/>
                                      </p:to>
                                    </p:set>
                                    <p:animEffect transition="in" filter="wipe(up)">
                                      <p:cBhvr>
                                        <p:cTn id="123" dur="500"/>
                                        <p:tgtEl>
                                          <p:spTgt spid="190491"/>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8" presetClass="entr" presetSubtype="6" fill="hold" grpId="0" nodeType="clickEffect">
                                  <p:stCondLst>
                                    <p:cond delay="0"/>
                                  </p:stCondLst>
                                  <p:childTnLst>
                                    <p:set>
                                      <p:cBhvr>
                                        <p:cTn id="127" dur="1" fill="hold">
                                          <p:stCondLst>
                                            <p:cond delay="0"/>
                                          </p:stCondLst>
                                        </p:cTn>
                                        <p:tgtEl>
                                          <p:spTgt spid="190482"/>
                                        </p:tgtEl>
                                        <p:attrNameLst>
                                          <p:attrName>style.visibility</p:attrName>
                                        </p:attrNameLst>
                                      </p:cBhvr>
                                      <p:to>
                                        <p:strVal val="visible"/>
                                      </p:to>
                                    </p:set>
                                    <p:animEffect transition="in" filter="strips(downRight)">
                                      <p:cBhvr>
                                        <p:cTn id="128" dur="500"/>
                                        <p:tgtEl>
                                          <p:spTgt spid="190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animBg="1" autoUpdateAnimBg="0"/>
      <p:bldP spid="190468" grpId="0" animBg="1" autoUpdateAnimBg="0"/>
      <p:bldP spid="190469" grpId="0" animBg="1" autoUpdateAnimBg="0"/>
      <p:bldP spid="190470" grpId="0" animBg="1" autoUpdateAnimBg="0"/>
      <p:bldP spid="190471" grpId="0" animBg="1" autoUpdateAnimBg="0"/>
      <p:bldP spid="190472" grpId="0" animBg="1" autoUpdateAnimBg="0"/>
      <p:bldP spid="190473" grpId="0" animBg="1" autoUpdateAnimBg="0"/>
      <p:bldP spid="190474" grpId="0" animBg="1"/>
      <p:bldP spid="190475" grpId="0" animBg="1"/>
      <p:bldP spid="190476" grpId="0" animBg="1"/>
      <p:bldP spid="190477" grpId="0" animBg="1"/>
      <p:bldP spid="190478" grpId="0" animBg="1"/>
      <p:bldP spid="190479" grpId="0" animBg="1"/>
      <p:bldP spid="190480" grpId="0" autoUpdateAnimBg="0"/>
      <p:bldP spid="190481" grpId="0" autoUpdateAnimBg="0"/>
      <p:bldP spid="190482" grpId="0" autoUpdateAnimBg="0"/>
      <p:bldP spid="190483" grpId="0" autoUpdateAnimBg="0"/>
      <p:bldP spid="190484" grpId="0" animBg="1" autoUpdateAnimBg="0"/>
      <p:bldP spid="190486" grpId="0" animBg="1" autoUpdateAnimBg="0"/>
      <p:bldP spid="190487" grpId="0" animBg="1" autoUpdateAnimBg="0"/>
      <p:bldP spid="190488" grpId="0" animBg="1" autoUpdateAnimBg="0"/>
      <p:bldP spid="190489" grpId="0" animBg="1" autoUpdateAnimBg="0"/>
      <p:bldP spid="190490" grpId="0" animBg="1" autoUpdateAnimBg="0"/>
      <p:bldP spid="190491" grpId="0" animBg="1" autoUpdateAnimBg="0"/>
      <p:bldP spid="190492" grpId="0" animBg="1"/>
      <p:bldP spid="190493" grpId="0" animBg="1"/>
      <p:bldP spid="190494" grpId="0" animBg="1"/>
      <p:bldP spid="190495" grpId="0" animBg="1"/>
      <p:bldP spid="190496" grpId="0" animBg="1"/>
      <p:bldP spid="19049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3"/>
          <p:cNvSpPr txBox="1">
            <a:spLocks noChangeArrowheads="1"/>
          </p:cNvSpPr>
          <p:nvPr/>
        </p:nvSpPr>
        <p:spPr bwMode="auto">
          <a:xfrm>
            <a:off x="422275" y="1209675"/>
            <a:ext cx="8721725" cy="513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ea typeface="楷体_GB2312" charset="0"/>
              </a:rPr>
              <a:t>Status</a:t>
            </a:r>
            <a:r>
              <a:rPr lang="en-US" altLang="zh-CN" sz="3200">
                <a:solidFill>
                  <a:srgbClr val="A50021"/>
                </a:solidFill>
                <a:ea typeface="楷体_GB2312" charset="0"/>
              </a:rPr>
              <a:t> </a:t>
            </a:r>
            <a:r>
              <a:rPr lang="en-US" altLang="zh-CN" sz="3200">
                <a:solidFill>
                  <a:srgbClr val="FF00FF"/>
                </a:solidFill>
                <a:ea typeface="楷体_GB2312" charset="0"/>
              </a:rPr>
              <a:t>SecondOptimal(BiTree </a:t>
            </a:r>
            <a:r>
              <a:rPr lang="en-US" altLang="zh-CN" sz="3200" b="1">
                <a:solidFill>
                  <a:srgbClr val="FF00FF"/>
                </a:solidFill>
                <a:ea typeface="楷体_GB2312" charset="0"/>
              </a:rPr>
              <a:t>&amp;</a:t>
            </a:r>
            <a:r>
              <a:rPr lang="en-US" altLang="zh-CN" sz="3200">
                <a:solidFill>
                  <a:srgbClr val="FF00FF"/>
                </a:solidFill>
                <a:ea typeface="楷体_GB2312" charset="0"/>
              </a:rPr>
              <a:t>T, ElemType R[], </a:t>
            </a:r>
          </a:p>
          <a:p>
            <a:pPr>
              <a:lnSpc>
                <a:spcPct val="115000"/>
              </a:lnSpc>
            </a:pPr>
            <a:r>
              <a:rPr lang="en-US" altLang="zh-CN" sz="3200">
                <a:solidFill>
                  <a:srgbClr val="FF00FF"/>
                </a:solidFill>
                <a:ea typeface="楷体_GB2312" charset="0"/>
              </a:rPr>
              <a:t>                    </a:t>
            </a:r>
            <a:r>
              <a:rPr lang="en-US" altLang="zh-CN" sz="3200" b="1">
                <a:solidFill>
                  <a:srgbClr val="FF00FF"/>
                </a:solidFill>
                <a:ea typeface="楷体_GB2312" charset="0"/>
              </a:rPr>
              <a:t>float</a:t>
            </a:r>
            <a:r>
              <a:rPr lang="en-US" altLang="zh-CN" sz="3200">
                <a:solidFill>
                  <a:srgbClr val="FF00FF"/>
                </a:solidFill>
                <a:ea typeface="楷体_GB2312" charset="0"/>
              </a:rPr>
              <a:t> sw[], </a:t>
            </a:r>
            <a:r>
              <a:rPr lang="en-US" altLang="zh-CN" sz="3200" b="1">
                <a:solidFill>
                  <a:srgbClr val="FF00FF"/>
                </a:solidFill>
                <a:ea typeface="楷体_GB2312" charset="0"/>
              </a:rPr>
              <a:t>int</a:t>
            </a:r>
            <a:r>
              <a:rPr lang="en-US" altLang="zh-CN" sz="3200">
                <a:solidFill>
                  <a:srgbClr val="FF00FF"/>
                </a:solidFill>
                <a:ea typeface="楷体_GB2312" charset="0"/>
              </a:rPr>
              <a:t> low, </a:t>
            </a:r>
            <a:r>
              <a:rPr lang="en-US" altLang="zh-CN" sz="3200" b="1">
                <a:solidFill>
                  <a:srgbClr val="FF00FF"/>
                </a:solidFill>
                <a:ea typeface="楷体_GB2312" charset="0"/>
              </a:rPr>
              <a:t>int</a:t>
            </a:r>
            <a:r>
              <a:rPr lang="en-US" altLang="zh-CN" sz="3200">
                <a:solidFill>
                  <a:srgbClr val="FF00FF"/>
                </a:solidFill>
                <a:ea typeface="楷体_GB2312" charset="0"/>
              </a:rPr>
              <a:t> high)</a:t>
            </a:r>
            <a:r>
              <a:rPr lang="en-US" altLang="zh-CN" sz="3200">
                <a:solidFill>
                  <a:srgbClr val="A50021"/>
                </a:solidFill>
                <a:ea typeface="楷体_GB2312" charset="0"/>
              </a:rPr>
              <a:t> </a:t>
            </a:r>
            <a:r>
              <a:rPr lang="en-US" altLang="zh-CN" sz="3200" b="1">
                <a:solidFill>
                  <a:srgbClr val="A50021"/>
                </a:solidFill>
                <a:ea typeface="楷体_GB2312" charset="0"/>
              </a:rPr>
              <a:t>{</a:t>
            </a:r>
            <a:endParaRPr lang="en-US" altLang="zh-CN" sz="3200">
              <a:solidFill>
                <a:srgbClr val="A50021"/>
              </a:solidFill>
              <a:ea typeface="楷体_GB2312" charset="0"/>
            </a:endParaRPr>
          </a:p>
          <a:p>
            <a:pPr>
              <a:lnSpc>
                <a:spcPct val="115000"/>
              </a:lnSpc>
            </a:pPr>
            <a:r>
              <a:rPr lang="en-US" altLang="zh-CN" sz="3600">
                <a:solidFill>
                  <a:srgbClr val="A50021"/>
                </a:solidFill>
                <a:ea typeface="楷体_GB2312" charset="0"/>
              </a:rPr>
              <a:t> </a:t>
            </a:r>
            <a:r>
              <a:rPr lang="en-US" altLang="zh-CN" sz="3200">
                <a:solidFill>
                  <a:srgbClr val="A50021"/>
                </a:solidFill>
                <a:ea typeface="楷体_GB2312" charset="0"/>
              </a:rPr>
              <a:t>// </a:t>
            </a:r>
            <a:r>
              <a:rPr lang="zh-CN" altLang="en-US" sz="3200">
                <a:solidFill>
                  <a:srgbClr val="A50021"/>
                </a:solidFill>
                <a:ea typeface="楷体_GB2312" charset="0"/>
              </a:rPr>
              <a:t>由有序表</a:t>
            </a:r>
            <a:r>
              <a:rPr lang="en-US" altLang="zh-CN" sz="3200">
                <a:solidFill>
                  <a:srgbClr val="A50021"/>
                </a:solidFill>
                <a:ea typeface="楷体_GB2312" charset="0"/>
              </a:rPr>
              <a:t>R[low..high]</a:t>
            </a:r>
            <a:r>
              <a:rPr lang="zh-CN" altLang="en-US" sz="3200">
                <a:solidFill>
                  <a:srgbClr val="A50021"/>
                </a:solidFill>
                <a:ea typeface="楷体_GB2312" charset="0"/>
              </a:rPr>
              <a:t>及其累计权值表</a:t>
            </a:r>
            <a:r>
              <a:rPr lang="en-US" altLang="zh-CN" sz="3200">
                <a:solidFill>
                  <a:srgbClr val="A50021"/>
                </a:solidFill>
                <a:ea typeface="楷体_GB2312" charset="0"/>
              </a:rPr>
              <a:t>sw</a:t>
            </a:r>
          </a:p>
          <a:p>
            <a:pPr>
              <a:lnSpc>
                <a:spcPct val="150000"/>
              </a:lnSpc>
            </a:pPr>
            <a:r>
              <a:rPr lang="en-US" altLang="zh-CN" sz="3200">
                <a:solidFill>
                  <a:srgbClr val="A50021"/>
                </a:solidFill>
                <a:ea typeface="楷体_GB2312" charset="0"/>
              </a:rPr>
              <a:t> // </a:t>
            </a:r>
            <a:r>
              <a:rPr lang="zh-CN" altLang="en-US" sz="3200">
                <a:solidFill>
                  <a:srgbClr val="A50021"/>
                </a:solidFill>
                <a:ea typeface="楷体_GB2312" charset="0"/>
              </a:rPr>
              <a:t>递归构造次优查找树</a:t>
            </a:r>
            <a:r>
              <a:rPr lang="en-US" altLang="zh-CN" sz="3200">
                <a:solidFill>
                  <a:srgbClr val="A50021"/>
                </a:solidFill>
                <a:ea typeface="楷体_GB2312" charset="0"/>
              </a:rPr>
              <a:t>T</a:t>
            </a:r>
            <a:r>
              <a:rPr lang="zh-CN" altLang="en-US" sz="3200">
                <a:solidFill>
                  <a:srgbClr val="A50021"/>
                </a:solidFill>
                <a:ea typeface="楷体_GB2312" charset="0"/>
              </a:rPr>
              <a:t>。</a:t>
            </a:r>
          </a:p>
          <a:p>
            <a:pPr>
              <a:lnSpc>
                <a:spcPct val="150000"/>
              </a:lnSpc>
            </a:pPr>
            <a:r>
              <a:rPr lang="zh-CN" altLang="en-US" sz="3200">
                <a:solidFill>
                  <a:srgbClr val="A50021"/>
                </a:solidFill>
                <a:ea typeface="楷体_GB2312" charset="0"/>
              </a:rPr>
              <a:t>  </a:t>
            </a:r>
            <a:r>
              <a:rPr lang="zh-CN" altLang="en-US" sz="3200" b="1">
                <a:solidFill>
                  <a:srgbClr val="006600"/>
                </a:solidFill>
                <a:ea typeface="楷体_GB2312" charset="0"/>
              </a:rPr>
              <a:t>选择最小的</a:t>
            </a:r>
            <a:r>
              <a:rPr lang="en-US" altLang="zh-CN" sz="3200" b="1">
                <a:solidFill>
                  <a:srgbClr val="006600"/>
                </a:solidFill>
                <a:ea typeface="楷体_GB2312" charset="0"/>
              </a:rPr>
              <a:t>ΔP</a:t>
            </a:r>
            <a:r>
              <a:rPr lang="en-US" altLang="zh-CN" sz="3200" b="1" baseline="-25000">
                <a:solidFill>
                  <a:srgbClr val="006600"/>
                </a:solidFill>
                <a:ea typeface="楷体_GB2312" charset="0"/>
              </a:rPr>
              <a:t>i</a:t>
            </a:r>
            <a:r>
              <a:rPr lang="zh-CN" altLang="en-US" sz="3200" b="1">
                <a:solidFill>
                  <a:srgbClr val="006600"/>
                </a:solidFill>
                <a:ea typeface="楷体_GB2312" charset="0"/>
              </a:rPr>
              <a:t>值</a:t>
            </a:r>
            <a:endParaRPr lang="zh-CN" altLang="en-US" sz="3200">
              <a:solidFill>
                <a:srgbClr val="A50021"/>
              </a:solidFill>
              <a:ea typeface="楷体_GB2312" charset="0"/>
            </a:endParaRPr>
          </a:p>
          <a:p>
            <a:pPr>
              <a:lnSpc>
                <a:spcPct val="115000"/>
              </a:lnSpc>
            </a:pPr>
            <a:r>
              <a:rPr lang="zh-CN" altLang="en-US" sz="3600" b="1">
                <a:solidFill>
                  <a:srgbClr val="A50021"/>
                </a:solidFill>
                <a:ea typeface="楷体_GB2312" charset="0"/>
              </a:rPr>
              <a:t>  </a:t>
            </a:r>
            <a:r>
              <a:rPr lang="en-US" altLang="zh-CN" sz="3600" b="1">
                <a:solidFill>
                  <a:srgbClr val="A50021"/>
                </a:solidFill>
                <a:ea typeface="楷体_GB2312" charset="0"/>
              </a:rPr>
              <a:t>if</a:t>
            </a:r>
            <a:r>
              <a:rPr lang="en-US" altLang="zh-CN" sz="3600">
                <a:solidFill>
                  <a:srgbClr val="A50021"/>
                </a:solidFill>
                <a:ea typeface="楷体_GB2312" charset="0"/>
              </a:rPr>
              <a:t> (</a:t>
            </a:r>
            <a:r>
              <a:rPr lang="en-US" altLang="zh-CN" sz="3600" b="1">
                <a:solidFill>
                  <a:srgbClr val="A50021"/>
                </a:solidFill>
                <a:ea typeface="楷体_GB2312" charset="0"/>
              </a:rPr>
              <a:t>!</a:t>
            </a:r>
            <a:r>
              <a:rPr lang="en-US" altLang="zh-CN" sz="3600">
                <a:solidFill>
                  <a:srgbClr val="A50021"/>
                </a:solidFill>
                <a:ea typeface="楷体_GB2312" charset="0"/>
              </a:rPr>
              <a:t>(T = (BiTree)</a:t>
            </a:r>
            <a:r>
              <a:rPr lang="en-US" altLang="zh-CN" sz="3600" b="1">
                <a:solidFill>
                  <a:srgbClr val="A50021"/>
                </a:solidFill>
                <a:ea typeface="楷体_GB2312" charset="0"/>
              </a:rPr>
              <a:t>malloc</a:t>
            </a:r>
            <a:r>
              <a:rPr lang="en-US" altLang="zh-CN" sz="3600">
                <a:solidFill>
                  <a:srgbClr val="A50021"/>
                </a:solidFill>
                <a:ea typeface="楷体_GB2312" charset="0"/>
              </a:rPr>
              <a:t>(</a:t>
            </a:r>
            <a:r>
              <a:rPr lang="en-US" altLang="zh-CN" sz="3600" b="1">
                <a:solidFill>
                  <a:srgbClr val="A50021"/>
                </a:solidFill>
                <a:ea typeface="楷体_GB2312" charset="0"/>
              </a:rPr>
              <a:t>sizeof</a:t>
            </a:r>
            <a:r>
              <a:rPr lang="en-US" altLang="zh-CN" sz="3600">
                <a:solidFill>
                  <a:srgbClr val="A50021"/>
                </a:solidFill>
                <a:ea typeface="楷体_GB2312" charset="0"/>
              </a:rPr>
              <a:t>(BiTNode)))) </a:t>
            </a:r>
          </a:p>
          <a:p>
            <a:pPr>
              <a:lnSpc>
                <a:spcPct val="115000"/>
              </a:lnSpc>
            </a:pPr>
            <a:r>
              <a:rPr lang="en-US" altLang="zh-CN" sz="3600">
                <a:solidFill>
                  <a:srgbClr val="A50021"/>
                </a:solidFill>
                <a:ea typeface="楷体_GB2312" charset="0"/>
              </a:rPr>
              <a:t>      </a:t>
            </a:r>
            <a:r>
              <a:rPr lang="en-US" altLang="zh-CN" sz="3600" b="1">
                <a:solidFill>
                  <a:srgbClr val="A50021"/>
                </a:solidFill>
                <a:ea typeface="楷体_GB2312" charset="0"/>
              </a:rPr>
              <a:t>return</a:t>
            </a:r>
            <a:r>
              <a:rPr lang="en-US" altLang="zh-CN" sz="3600">
                <a:solidFill>
                  <a:srgbClr val="A50021"/>
                </a:solidFill>
                <a:ea typeface="楷体_GB2312" charset="0"/>
              </a:rPr>
              <a:t> ERROR;</a:t>
            </a:r>
          </a:p>
          <a:p>
            <a:pPr>
              <a:lnSpc>
                <a:spcPct val="115000"/>
              </a:lnSpc>
            </a:pPr>
            <a:r>
              <a:rPr lang="en-US" altLang="zh-CN" sz="3600">
                <a:solidFill>
                  <a:srgbClr val="A50021"/>
                </a:solidFill>
                <a:ea typeface="楷体_GB2312" charset="0"/>
              </a:rPr>
              <a:t>  T-&gt;data = </a:t>
            </a:r>
            <a:r>
              <a:rPr lang="en-US" altLang="zh-CN" sz="3600">
                <a:solidFill>
                  <a:srgbClr val="006600"/>
                </a:solidFill>
                <a:ea typeface="楷体_GB2312" charset="0"/>
              </a:rPr>
              <a:t>R[i]</a:t>
            </a:r>
            <a:r>
              <a:rPr lang="en-US" altLang="zh-CN" sz="3600">
                <a:solidFill>
                  <a:srgbClr val="A50021"/>
                </a:solidFill>
                <a:ea typeface="楷体_GB2312" charset="0"/>
              </a:rPr>
              <a:t>;                // </a:t>
            </a:r>
            <a:r>
              <a:rPr lang="zh-CN" altLang="en-US" sz="3600">
                <a:solidFill>
                  <a:srgbClr val="A50021"/>
                </a:solidFill>
                <a:ea typeface="楷体_GB2312" charset="0"/>
              </a:rPr>
              <a:t>生成结点</a:t>
            </a:r>
            <a:endParaRPr lang="zh-CN" altLang="en-US">
              <a:solidFill>
                <a:srgbClr val="A50021"/>
              </a:solidFill>
            </a:endParaRPr>
          </a:p>
        </p:txBody>
      </p:sp>
      <p:sp>
        <p:nvSpPr>
          <p:cNvPr id="47108" name="Text Box 4"/>
          <p:cNvSpPr txBox="1">
            <a:spLocks noChangeArrowheads="1"/>
          </p:cNvSpPr>
          <p:nvPr/>
        </p:nvSpPr>
        <p:spPr bwMode="auto">
          <a:xfrm>
            <a:off x="381000" y="304800"/>
            <a:ext cx="5772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a:solidFill>
                  <a:schemeClr val="accent2"/>
                </a:solidFill>
                <a:ea typeface="楷体_GB2312" charset="0"/>
              </a:rPr>
              <a:t>构造次优二叉树的算法</a:t>
            </a:r>
            <a:endParaRPr lang="zh-CN" altLang="en-US" sz="4400">
              <a:ea typeface="楷体_GB2312" charset="0"/>
            </a:endParaRPr>
          </a:p>
        </p:txBody>
      </p:sp>
      <p:sp>
        <p:nvSpPr>
          <p:cNvPr id="47109" name="WordArt 5" descr="绿色大理石"/>
          <p:cNvSpPr>
            <a:spLocks noChangeArrowheads="1" noChangeShapeType="1" noTextEdit="1"/>
          </p:cNvSpPr>
          <p:nvPr/>
        </p:nvSpPr>
        <p:spPr bwMode="auto">
          <a:xfrm>
            <a:off x="7620000" y="6248400"/>
            <a:ext cx="1219200" cy="533400"/>
          </a:xfrm>
          <a:prstGeom prst="rect">
            <a:avLst/>
          </a:prstGeom>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14:hiddenEffects>
            </a:ext>
          </a:extLst>
        </p:spPr>
        <p:txBody>
          <a:bodyPr spcFirstLastPara="1" wrap="none" fromWordArt="1">
            <a:prstTxWarp prst="textArchUp">
              <a:avLst>
                <a:gd name="adj" fmla="val 11015156"/>
              </a:avLst>
            </a:prstTxWarp>
          </a:bodyPr>
          <a:lstStyle/>
          <a:p>
            <a:pPr algn="ctr"/>
            <a:r>
              <a:rPr lang="en-US" altLang="zh-CN" sz="3600" i="1" kern="10">
                <a:blipFill dpi="0" rotWithShape="0">
                  <a:blip r:embed="rId2"/>
                  <a:srcRect/>
                  <a:tile tx="0" ty="0" sx="100000" sy="100000" flip="none" algn="tl"/>
                </a:blipFill>
                <a:latin typeface="宋体" charset="-122"/>
                <a:cs typeface="宋体" charset="-122"/>
              </a:rPr>
              <a:t>CONTINUE</a:t>
            </a:r>
            <a:endParaRPr lang="zh-CN" altLang="en-US" sz="3600" i="1" kern="10">
              <a:blipFill dpi="0" rotWithShape="0">
                <a:blip r:embed="rId2"/>
                <a:srcRect/>
                <a:tile tx="0" ty="0" sx="100000" sy="100000" flip="none" algn="tl"/>
              </a:blipFill>
              <a:latin typeface="宋体" charset="-122"/>
              <a:cs typeface="宋体" charset="-122"/>
            </a:endParaRPr>
          </a:p>
        </p:txBody>
      </p:sp>
    </p:spTree>
    <p:extLst>
      <p:ext uri="{BB962C8B-B14F-4D97-AF65-F5344CB8AC3E}">
        <p14:creationId xmlns:p14="http://schemas.microsoft.com/office/powerpoint/2010/main" val="142635620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7108"/>
                                        </p:tgtEl>
                                        <p:attrNameLst>
                                          <p:attrName>style.visibility</p:attrName>
                                        </p:attrNameLst>
                                      </p:cBhvr>
                                      <p:to>
                                        <p:strVal val="visible"/>
                                      </p:to>
                                    </p:set>
                                    <p:anim calcmode="lin" valueType="num">
                                      <p:cBhvr additive="base">
                                        <p:cTn id="7" dur="500" fill="hold"/>
                                        <p:tgtEl>
                                          <p:spTgt spid="47108"/>
                                        </p:tgtEl>
                                        <p:attrNameLst>
                                          <p:attrName>ppt_x</p:attrName>
                                        </p:attrNameLst>
                                      </p:cBhvr>
                                      <p:tavLst>
                                        <p:tav tm="0">
                                          <p:val>
                                            <p:strVal val="#ppt_x"/>
                                          </p:val>
                                        </p:tav>
                                        <p:tav tm="100000">
                                          <p:val>
                                            <p:strVal val="#ppt_x"/>
                                          </p:val>
                                        </p:tav>
                                      </p:tavLst>
                                    </p:anim>
                                    <p:anim calcmode="lin" valueType="num">
                                      <p:cBhvr additive="base">
                                        <p:cTn id="8" dur="500" fill="hold"/>
                                        <p:tgtEl>
                                          <p:spTgt spid="4710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9" fill="hold" grpId="0" nodeType="clickEffect">
                                  <p:stCondLst>
                                    <p:cond delay="0"/>
                                  </p:stCondLst>
                                  <p:childTnLst>
                                    <p:set>
                                      <p:cBhvr>
                                        <p:cTn id="12" dur="1" fill="hold">
                                          <p:stCondLst>
                                            <p:cond delay="0"/>
                                          </p:stCondLst>
                                        </p:cTn>
                                        <p:tgtEl>
                                          <p:spTgt spid="47107"/>
                                        </p:tgtEl>
                                        <p:attrNameLst>
                                          <p:attrName>style.visibility</p:attrName>
                                        </p:attrNameLst>
                                      </p:cBhvr>
                                      <p:to>
                                        <p:strVal val="visible"/>
                                      </p:to>
                                    </p:set>
                                    <p:animEffect transition="in" filter="strips(upLeft)">
                                      <p:cBhvr>
                                        <p:cTn id="13" dur="500"/>
                                        <p:tgtEl>
                                          <p:spTgt spid="47107"/>
                                        </p:tgtEl>
                                      </p:cBhvr>
                                    </p:animEffect>
                                  </p:childTnLst>
                                </p:cTn>
                              </p:par>
                            </p:childTnLst>
                          </p:cTn>
                        </p:par>
                        <p:par>
                          <p:cTn id="14" fill="hold" nodeType="afterGroup">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47109"/>
                                        </p:tgtEl>
                                        <p:attrNameLst>
                                          <p:attrName>style.visibility</p:attrName>
                                        </p:attrNameLst>
                                      </p:cBhvr>
                                      <p:to>
                                        <p:strVal val="visible"/>
                                      </p:to>
                                    </p:set>
                                    <p:animEffect transition="in" filter="dissolve">
                                      <p:cBhvr>
                                        <p:cTn id="17" dur="500"/>
                                        <p:tgtEl>
                                          <p:spTgt spid="47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autoUpdateAnimBg="0"/>
      <p:bldP spid="47108" grpId="0" autoUpdateAnimBg="0"/>
      <p:bldP spid="4710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381000" y="585788"/>
            <a:ext cx="8969375" cy="559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600" b="1">
                <a:solidFill>
                  <a:srgbClr val="A50021"/>
                </a:solidFill>
                <a:ea typeface="楷体_GB2312" charset="0"/>
              </a:rPr>
              <a:t>if</a:t>
            </a:r>
            <a:r>
              <a:rPr lang="en-US" altLang="zh-CN" sz="3600">
                <a:solidFill>
                  <a:srgbClr val="A50021"/>
                </a:solidFill>
                <a:ea typeface="楷体_GB2312" charset="0"/>
              </a:rPr>
              <a:t> (</a:t>
            </a:r>
            <a:r>
              <a:rPr lang="en-US" altLang="zh-CN" sz="3600">
                <a:solidFill>
                  <a:schemeClr val="accent2"/>
                </a:solidFill>
                <a:ea typeface="楷体_GB2312" charset="0"/>
              </a:rPr>
              <a:t>i</a:t>
            </a:r>
            <a:r>
              <a:rPr lang="en-US" altLang="zh-CN" sz="3600" b="1">
                <a:solidFill>
                  <a:schemeClr val="accent2"/>
                </a:solidFill>
                <a:ea typeface="楷体_GB2312" charset="0"/>
              </a:rPr>
              <a:t>==</a:t>
            </a:r>
            <a:r>
              <a:rPr lang="en-US" altLang="zh-CN" sz="3600">
                <a:solidFill>
                  <a:schemeClr val="accent2"/>
                </a:solidFill>
                <a:ea typeface="楷体_GB2312" charset="0"/>
              </a:rPr>
              <a:t>low</a:t>
            </a:r>
            <a:r>
              <a:rPr lang="en-US" altLang="zh-CN" sz="3600">
                <a:solidFill>
                  <a:srgbClr val="A50021"/>
                </a:solidFill>
                <a:ea typeface="楷体_GB2312" charset="0"/>
              </a:rPr>
              <a:t>)  </a:t>
            </a:r>
            <a:r>
              <a:rPr lang="en-US" altLang="zh-CN" sz="3600">
                <a:solidFill>
                  <a:schemeClr val="accent2"/>
                </a:solidFill>
                <a:ea typeface="楷体_GB2312" charset="0"/>
              </a:rPr>
              <a:t>T-&gt;lchild = </a:t>
            </a:r>
            <a:r>
              <a:rPr lang="en-US" altLang="zh-CN" sz="3600" b="1">
                <a:solidFill>
                  <a:schemeClr val="accent2"/>
                </a:solidFill>
                <a:ea typeface="楷体_GB2312" charset="0"/>
              </a:rPr>
              <a:t>NULL</a:t>
            </a:r>
            <a:r>
              <a:rPr lang="en-US" altLang="zh-CN" sz="3600">
                <a:solidFill>
                  <a:srgbClr val="A50021"/>
                </a:solidFill>
                <a:ea typeface="楷体_GB2312" charset="0"/>
              </a:rPr>
              <a:t>;  </a:t>
            </a:r>
            <a:r>
              <a:rPr lang="en-US" altLang="zh-CN" sz="3200">
                <a:solidFill>
                  <a:srgbClr val="A50021"/>
                </a:solidFill>
                <a:ea typeface="楷体_GB2312" charset="0"/>
              </a:rPr>
              <a:t>// </a:t>
            </a:r>
            <a:r>
              <a:rPr lang="zh-CN" altLang="en-US" sz="3200">
                <a:solidFill>
                  <a:srgbClr val="A50021"/>
                </a:solidFill>
                <a:ea typeface="楷体_GB2312" charset="0"/>
              </a:rPr>
              <a:t>左子树空</a:t>
            </a:r>
          </a:p>
          <a:p>
            <a:pPr>
              <a:lnSpc>
                <a:spcPct val="125000"/>
              </a:lnSpc>
            </a:pPr>
            <a:r>
              <a:rPr lang="en-US" altLang="zh-CN" sz="3600" b="1">
                <a:solidFill>
                  <a:srgbClr val="A50021"/>
                </a:solidFill>
                <a:ea typeface="楷体_GB2312" charset="0"/>
              </a:rPr>
              <a:t>else  </a:t>
            </a:r>
            <a:r>
              <a:rPr lang="en-US" altLang="zh-CN" sz="3200">
                <a:solidFill>
                  <a:srgbClr val="FF00FF"/>
                </a:solidFill>
                <a:ea typeface="楷体_GB2312" charset="0"/>
              </a:rPr>
              <a:t>SecondOptimal(T-&gt;lchild, R, sw, low, i-1);</a:t>
            </a:r>
            <a:r>
              <a:rPr lang="en-US" altLang="zh-CN" sz="3600">
                <a:solidFill>
                  <a:srgbClr val="A50021"/>
                </a:solidFill>
                <a:ea typeface="楷体_GB2312" charset="0"/>
              </a:rPr>
              <a:t>     </a:t>
            </a:r>
          </a:p>
          <a:p>
            <a:pPr>
              <a:lnSpc>
                <a:spcPct val="125000"/>
              </a:lnSpc>
            </a:pPr>
            <a:r>
              <a:rPr lang="en-US" altLang="zh-CN" sz="3600">
                <a:solidFill>
                  <a:srgbClr val="A50021"/>
                </a:solidFill>
                <a:ea typeface="楷体_GB2312" charset="0"/>
              </a:rPr>
              <a:t>                              // </a:t>
            </a:r>
            <a:r>
              <a:rPr lang="zh-CN" altLang="en-US" sz="3600">
                <a:solidFill>
                  <a:srgbClr val="A50021"/>
                </a:solidFill>
                <a:ea typeface="楷体_GB2312" charset="0"/>
              </a:rPr>
              <a:t>构造左子树</a:t>
            </a:r>
          </a:p>
          <a:p>
            <a:pPr>
              <a:lnSpc>
                <a:spcPct val="125000"/>
              </a:lnSpc>
            </a:pPr>
            <a:r>
              <a:rPr lang="zh-CN" altLang="en-US" sz="3600">
                <a:solidFill>
                  <a:srgbClr val="A50021"/>
                </a:solidFill>
                <a:ea typeface="楷体_GB2312" charset="0"/>
              </a:rPr>
              <a:t> </a:t>
            </a:r>
            <a:r>
              <a:rPr lang="en-US" altLang="zh-CN" sz="3600" b="1">
                <a:solidFill>
                  <a:srgbClr val="A50021"/>
                </a:solidFill>
                <a:ea typeface="楷体_GB2312" charset="0"/>
              </a:rPr>
              <a:t>if</a:t>
            </a:r>
            <a:r>
              <a:rPr lang="en-US" altLang="zh-CN" sz="3600">
                <a:solidFill>
                  <a:srgbClr val="A50021"/>
                </a:solidFill>
                <a:ea typeface="楷体_GB2312" charset="0"/>
              </a:rPr>
              <a:t> (</a:t>
            </a:r>
            <a:r>
              <a:rPr lang="en-US" altLang="zh-CN" sz="3600">
                <a:solidFill>
                  <a:srgbClr val="6600CC"/>
                </a:solidFill>
                <a:ea typeface="楷体_GB2312" charset="0"/>
              </a:rPr>
              <a:t>i</a:t>
            </a:r>
            <a:r>
              <a:rPr lang="en-US" altLang="zh-CN" sz="3600" b="1">
                <a:solidFill>
                  <a:srgbClr val="6600CC"/>
                </a:solidFill>
                <a:ea typeface="楷体_GB2312" charset="0"/>
              </a:rPr>
              <a:t>==</a:t>
            </a:r>
            <a:r>
              <a:rPr lang="en-US" altLang="zh-CN" sz="3600">
                <a:solidFill>
                  <a:srgbClr val="6600CC"/>
                </a:solidFill>
                <a:ea typeface="楷体_GB2312" charset="0"/>
              </a:rPr>
              <a:t>high</a:t>
            </a:r>
            <a:r>
              <a:rPr lang="en-US" altLang="zh-CN" sz="3600">
                <a:solidFill>
                  <a:srgbClr val="A50021"/>
                </a:solidFill>
                <a:ea typeface="楷体_GB2312" charset="0"/>
              </a:rPr>
              <a:t>)  </a:t>
            </a:r>
            <a:r>
              <a:rPr lang="en-US" altLang="zh-CN" sz="3600">
                <a:solidFill>
                  <a:srgbClr val="6600CC"/>
                </a:solidFill>
                <a:ea typeface="楷体_GB2312" charset="0"/>
              </a:rPr>
              <a:t>T-&gt;rchild = </a:t>
            </a:r>
            <a:r>
              <a:rPr lang="en-US" altLang="zh-CN" sz="3600" b="1">
                <a:solidFill>
                  <a:srgbClr val="6600CC"/>
                </a:solidFill>
                <a:ea typeface="楷体_GB2312" charset="0"/>
              </a:rPr>
              <a:t>NULL</a:t>
            </a:r>
            <a:r>
              <a:rPr lang="en-US" altLang="zh-CN" sz="3600">
                <a:solidFill>
                  <a:srgbClr val="A50021"/>
                </a:solidFill>
                <a:ea typeface="楷体_GB2312" charset="0"/>
              </a:rPr>
              <a:t>;  </a:t>
            </a:r>
            <a:r>
              <a:rPr lang="en-US" altLang="zh-CN" sz="3200">
                <a:solidFill>
                  <a:srgbClr val="A50021"/>
                </a:solidFill>
                <a:ea typeface="楷体_GB2312" charset="0"/>
              </a:rPr>
              <a:t>// </a:t>
            </a:r>
            <a:r>
              <a:rPr lang="zh-CN" altLang="en-US" sz="3200">
                <a:solidFill>
                  <a:srgbClr val="A50021"/>
                </a:solidFill>
                <a:ea typeface="楷体_GB2312" charset="0"/>
              </a:rPr>
              <a:t>右子树空</a:t>
            </a:r>
            <a:endParaRPr lang="zh-CN" altLang="en-US" sz="3600">
              <a:solidFill>
                <a:srgbClr val="A50021"/>
              </a:solidFill>
              <a:ea typeface="楷体_GB2312" charset="0"/>
            </a:endParaRPr>
          </a:p>
          <a:p>
            <a:pPr>
              <a:lnSpc>
                <a:spcPct val="125000"/>
              </a:lnSpc>
            </a:pPr>
            <a:r>
              <a:rPr lang="zh-CN" altLang="en-US" sz="3600">
                <a:solidFill>
                  <a:srgbClr val="A50021"/>
                </a:solidFill>
                <a:ea typeface="楷体_GB2312" charset="0"/>
              </a:rPr>
              <a:t> </a:t>
            </a:r>
            <a:r>
              <a:rPr lang="en-US" altLang="zh-CN" sz="3600" b="1">
                <a:solidFill>
                  <a:srgbClr val="A50021"/>
                </a:solidFill>
                <a:ea typeface="楷体_GB2312" charset="0"/>
              </a:rPr>
              <a:t>else</a:t>
            </a:r>
            <a:r>
              <a:rPr lang="en-US" altLang="zh-CN" sz="3600">
                <a:solidFill>
                  <a:srgbClr val="A50021"/>
                </a:solidFill>
                <a:ea typeface="楷体_GB2312" charset="0"/>
              </a:rPr>
              <a:t>  </a:t>
            </a:r>
            <a:r>
              <a:rPr lang="en-US" altLang="zh-CN" sz="3200">
                <a:solidFill>
                  <a:srgbClr val="FF00FF"/>
                </a:solidFill>
                <a:ea typeface="楷体_GB2312" charset="0"/>
              </a:rPr>
              <a:t>SecondOptimal(T-&gt;rchild, R, sw, i+1, high);</a:t>
            </a:r>
            <a:r>
              <a:rPr lang="en-US" altLang="zh-CN" sz="3600">
                <a:solidFill>
                  <a:srgbClr val="A50021"/>
                </a:solidFill>
                <a:ea typeface="楷体_GB2312" charset="0"/>
              </a:rPr>
              <a:t>    </a:t>
            </a:r>
          </a:p>
          <a:p>
            <a:pPr>
              <a:lnSpc>
                <a:spcPct val="125000"/>
              </a:lnSpc>
            </a:pPr>
            <a:r>
              <a:rPr lang="en-US" altLang="zh-CN" sz="3600">
                <a:solidFill>
                  <a:srgbClr val="A50021"/>
                </a:solidFill>
                <a:ea typeface="楷体_GB2312" charset="0"/>
              </a:rPr>
              <a:t>                              // </a:t>
            </a:r>
            <a:r>
              <a:rPr lang="zh-CN" altLang="en-US" sz="3600">
                <a:solidFill>
                  <a:srgbClr val="A50021"/>
                </a:solidFill>
                <a:ea typeface="楷体_GB2312" charset="0"/>
              </a:rPr>
              <a:t>构造右子树</a:t>
            </a:r>
          </a:p>
          <a:p>
            <a:pPr>
              <a:lnSpc>
                <a:spcPct val="125000"/>
              </a:lnSpc>
            </a:pPr>
            <a:r>
              <a:rPr lang="zh-CN" altLang="en-US" sz="3600">
                <a:solidFill>
                  <a:srgbClr val="A50021"/>
                </a:solidFill>
                <a:ea typeface="楷体_GB2312" charset="0"/>
              </a:rPr>
              <a:t> </a:t>
            </a:r>
            <a:r>
              <a:rPr lang="en-US" altLang="zh-CN" sz="3600" b="1">
                <a:solidFill>
                  <a:srgbClr val="A50021"/>
                </a:solidFill>
                <a:ea typeface="楷体_GB2312" charset="0"/>
              </a:rPr>
              <a:t>return</a:t>
            </a:r>
            <a:r>
              <a:rPr lang="en-US" altLang="zh-CN" sz="3600">
                <a:solidFill>
                  <a:srgbClr val="A50021"/>
                </a:solidFill>
                <a:ea typeface="楷体_GB2312" charset="0"/>
              </a:rPr>
              <a:t> OK;</a:t>
            </a:r>
          </a:p>
          <a:p>
            <a:pPr>
              <a:lnSpc>
                <a:spcPct val="125000"/>
              </a:lnSpc>
            </a:pPr>
            <a:r>
              <a:rPr lang="en-US" altLang="zh-CN" sz="3600" b="1">
                <a:solidFill>
                  <a:srgbClr val="A50021"/>
                </a:solidFill>
                <a:ea typeface="楷体_GB2312" charset="0"/>
              </a:rPr>
              <a:t>}</a:t>
            </a:r>
            <a:r>
              <a:rPr lang="en-US" altLang="zh-CN" sz="3600">
                <a:solidFill>
                  <a:srgbClr val="A50021"/>
                </a:solidFill>
                <a:ea typeface="楷体_GB2312" charset="0"/>
              </a:rPr>
              <a:t> // SecondOptimal</a:t>
            </a:r>
            <a:endParaRPr lang="en-US" altLang="zh-CN"/>
          </a:p>
        </p:txBody>
      </p:sp>
    </p:spTree>
    <p:extLst>
      <p:ext uri="{BB962C8B-B14F-4D97-AF65-F5344CB8AC3E}">
        <p14:creationId xmlns:p14="http://schemas.microsoft.com/office/powerpoint/2010/main" val="1896325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strips(downRight)">
                                      <p:cBhvr>
                                        <p:cTn id="7" dur="500"/>
                                        <p:tgtEl>
                                          <p:spTgt spid="48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7" name="Rectangle 3"/>
          <p:cNvSpPr>
            <a:spLocks noGrp="1" noChangeArrowheads="1"/>
          </p:cNvSpPr>
          <p:nvPr>
            <p:ph type="body" idx="1"/>
          </p:nvPr>
        </p:nvSpPr>
        <p:spPr>
          <a:xfrm>
            <a:off x="468313" y="692150"/>
            <a:ext cx="8458200" cy="5832475"/>
          </a:xfrm>
        </p:spPr>
        <p:txBody>
          <a:bodyPr>
            <a:normAutofit lnSpcReduction="10000"/>
          </a:bodyPr>
          <a:lstStyle/>
          <a:p>
            <a:pPr>
              <a:lnSpc>
                <a:spcPct val="90000"/>
              </a:lnSpc>
              <a:buFontTx/>
              <a:buNone/>
            </a:pPr>
            <a:r>
              <a:rPr lang="zh-CN" altLang="en-US" sz="3600" b="1">
                <a:solidFill>
                  <a:srgbClr val="006600"/>
                </a:solidFill>
                <a:ea typeface="楷体_GB2312" charset="0"/>
              </a:rPr>
              <a:t>选择最小的</a:t>
            </a:r>
            <a:r>
              <a:rPr lang="en-US" altLang="zh-CN" sz="3600" b="1">
                <a:solidFill>
                  <a:srgbClr val="006600"/>
                </a:solidFill>
                <a:ea typeface="楷体_GB2312" charset="0"/>
              </a:rPr>
              <a:t>ΔPi</a:t>
            </a:r>
            <a:r>
              <a:rPr lang="zh-CN" altLang="en-US" sz="3600" b="1">
                <a:solidFill>
                  <a:srgbClr val="006600"/>
                </a:solidFill>
                <a:ea typeface="楷体_GB2312" charset="0"/>
              </a:rPr>
              <a:t>值</a:t>
            </a:r>
          </a:p>
          <a:p>
            <a:pPr>
              <a:lnSpc>
                <a:spcPct val="90000"/>
              </a:lnSpc>
              <a:buFontTx/>
              <a:buNone/>
            </a:pPr>
            <a:r>
              <a:rPr lang="en-US" altLang="zh-CN" sz="3600">
                <a:solidFill>
                  <a:srgbClr val="6600CC"/>
                </a:solidFill>
                <a:ea typeface="楷体_GB2312" charset="0"/>
              </a:rPr>
              <a:t>i=low;</a:t>
            </a:r>
          </a:p>
          <a:p>
            <a:pPr>
              <a:lnSpc>
                <a:spcPct val="90000"/>
              </a:lnSpc>
              <a:buFontTx/>
              <a:buNone/>
            </a:pPr>
            <a:r>
              <a:rPr lang="en-US" altLang="zh-CN" sz="3600">
                <a:solidFill>
                  <a:srgbClr val="6600CC"/>
                </a:solidFill>
                <a:ea typeface="楷体_GB2312" charset="0"/>
              </a:rPr>
              <a:t>min= abs(sw[high]-sw[low]); </a:t>
            </a:r>
          </a:p>
          <a:p>
            <a:pPr>
              <a:lnSpc>
                <a:spcPct val="90000"/>
              </a:lnSpc>
              <a:buFontTx/>
              <a:buNone/>
            </a:pPr>
            <a:r>
              <a:rPr lang="en-US" altLang="zh-CN" sz="3600">
                <a:solidFill>
                  <a:srgbClr val="6600CC"/>
                </a:solidFill>
                <a:ea typeface="楷体_GB2312" charset="0"/>
              </a:rPr>
              <a:t>dw = sw[high]+sw[low-1];</a:t>
            </a:r>
            <a:br>
              <a:rPr lang="en-US" altLang="zh-CN" sz="3600">
                <a:solidFill>
                  <a:srgbClr val="6600CC"/>
                </a:solidFill>
                <a:ea typeface="楷体_GB2312" charset="0"/>
              </a:rPr>
            </a:br>
            <a:endParaRPr lang="en-US" altLang="zh-CN" sz="3600">
              <a:solidFill>
                <a:srgbClr val="6600CC"/>
              </a:solidFill>
              <a:ea typeface="楷体_GB2312" charset="0"/>
            </a:endParaRPr>
          </a:p>
          <a:p>
            <a:pPr>
              <a:lnSpc>
                <a:spcPct val="90000"/>
              </a:lnSpc>
              <a:buFontTx/>
              <a:buNone/>
            </a:pPr>
            <a:r>
              <a:rPr lang="en-US" altLang="zh-CN" sz="3600" b="1">
                <a:solidFill>
                  <a:srgbClr val="A50021"/>
                </a:solidFill>
                <a:ea typeface="楷体_GB2312" charset="0"/>
              </a:rPr>
              <a:t>for (</a:t>
            </a:r>
            <a:r>
              <a:rPr lang="en-US" altLang="zh-CN" sz="3600">
                <a:solidFill>
                  <a:srgbClr val="6600CC"/>
                </a:solidFill>
                <a:ea typeface="楷体_GB2312" charset="0"/>
              </a:rPr>
              <a:t>j=low+1; j&lt;=high; ++j</a:t>
            </a:r>
            <a:r>
              <a:rPr lang="en-US" altLang="zh-CN" sz="3600" b="1">
                <a:solidFill>
                  <a:srgbClr val="A50021"/>
                </a:solidFill>
                <a:ea typeface="楷体_GB2312" charset="0"/>
              </a:rPr>
              <a:t>) //</a:t>
            </a:r>
          </a:p>
          <a:p>
            <a:pPr>
              <a:lnSpc>
                <a:spcPct val="90000"/>
              </a:lnSpc>
              <a:buFontTx/>
              <a:buNone/>
            </a:pPr>
            <a:r>
              <a:rPr lang="en-US" altLang="zh-CN" sz="3600" b="1">
                <a:solidFill>
                  <a:srgbClr val="A50021"/>
                </a:solidFill>
                <a:ea typeface="楷体_GB2312" charset="0"/>
              </a:rPr>
              <a:t>    if </a:t>
            </a:r>
            <a:r>
              <a:rPr lang="en-US" altLang="zh-CN" sz="3600">
                <a:solidFill>
                  <a:srgbClr val="6600CC"/>
                </a:solidFill>
                <a:ea typeface="楷体_GB2312" charset="0"/>
              </a:rPr>
              <a:t>abs(dw-sw[j]-sw[j-1]) &lt; min)</a:t>
            </a:r>
            <a:r>
              <a:rPr lang="en-US" altLang="zh-CN" sz="3600" b="1">
                <a:solidFill>
                  <a:srgbClr val="A50021"/>
                </a:solidFill>
                <a:ea typeface="楷体_GB2312" charset="0"/>
              </a:rPr>
              <a:t> {</a:t>
            </a:r>
            <a:br>
              <a:rPr lang="en-US" altLang="zh-CN" sz="3600" b="1">
                <a:solidFill>
                  <a:srgbClr val="A50021"/>
                </a:solidFill>
                <a:ea typeface="楷体_GB2312" charset="0"/>
              </a:rPr>
            </a:br>
            <a:r>
              <a:rPr lang="zh-CN" altLang="en-US" sz="3600" b="1">
                <a:solidFill>
                  <a:srgbClr val="A50021"/>
                </a:solidFill>
                <a:ea typeface="楷体_GB2312" charset="0"/>
              </a:rPr>
              <a:t>　</a:t>
            </a:r>
            <a:r>
              <a:rPr lang="en-US" altLang="zh-CN" sz="3600">
                <a:solidFill>
                  <a:srgbClr val="6600CC"/>
                </a:solidFill>
                <a:ea typeface="楷体_GB2312" charset="0"/>
              </a:rPr>
              <a:t>i = j; min = abs(dw-sw[j]-sw[j-1]);</a:t>
            </a:r>
            <a:br>
              <a:rPr lang="en-US" altLang="zh-CN" sz="3600">
                <a:solidFill>
                  <a:srgbClr val="6600CC"/>
                </a:solidFill>
                <a:ea typeface="楷体_GB2312" charset="0"/>
              </a:rPr>
            </a:br>
            <a:r>
              <a:rPr lang="zh-CN" altLang="en-US" sz="3600" b="1">
                <a:solidFill>
                  <a:srgbClr val="A50021"/>
                </a:solidFill>
                <a:ea typeface="楷体_GB2312" charset="0"/>
              </a:rPr>
              <a:t>　　　</a:t>
            </a:r>
            <a:r>
              <a:rPr lang="en-US" altLang="zh-CN" sz="3600" b="1">
                <a:solidFill>
                  <a:srgbClr val="A50021"/>
                </a:solidFill>
                <a:ea typeface="楷体_GB2312" charset="0"/>
              </a:rPr>
              <a:t>} // if</a:t>
            </a:r>
            <a:br>
              <a:rPr lang="en-US" altLang="zh-CN" sz="3600" b="1">
                <a:solidFill>
                  <a:srgbClr val="A50021"/>
                </a:solidFill>
                <a:ea typeface="楷体_GB2312" charset="0"/>
              </a:rPr>
            </a:br>
            <a:endParaRPr lang="en-US" altLang="zh-CN" sz="3600" b="1">
              <a:solidFill>
                <a:srgbClr val="A50021"/>
              </a:solidFill>
              <a:ea typeface="楷体_GB2312" charset="0"/>
            </a:endParaRPr>
          </a:p>
        </p:txBody>
      </p:sp>
    </p:spTree>
    <p:extLst>
      <p:ext uri="{BB962C8B-B14F-4D97-AF65-F5344CB8AC3E}">
        <p14:creationId xmlns:p14="http://schemas.microsoft.com/office/powerpoint/2010/main" val="7962621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ext Box 1026"/>
          <p:cNvSpPr txBox="1">
            <a:spLocks noChangeArrowheads="1"/>
          </p:cNvSpPr>
          <p:nvPr/>
        </p:nvSpPr>
        <p:spPr bwMode="auto">
          <a:xfrm>
            <a:off x="365125" y="120650"/>
            <a:ext cx="7499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chemeClr val="accent2"/>
                </a:solidFill>
                <a:ea typeface="楷体_GB2312" charset="0"/>
              </a:rPr>
              <a:t>次优查找树采用二叉链表的存储结构</a:t>
            </a:r>
            <a:endParaRPr lang="zh-CN" altLang="en-US" sz="3600">
              <a:ea typeface="楷体_GB2312" charset="0"/>
            </a:endParaRPr>
          </a:p>
        </p:txBody>
      </p:sp>
      <p:sp>
        <p:nvSpPr>
          <p:cNvPr id="188419" name="Text Box 1027"/>
          <p:cNvSpPr txBox="1">
            <a:spLocks noChangeArrowheads="1"/>
          </p:cNvSpPr>
          <p:nvPr/>
        </p:nvSpPr>
        <p:spPr bwMode="auto">
          <a:xfrm>
            <a:off x="314325" y="838200"/>
            <a:ext cx="8601075" cy="594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800000"/>
                </a:solidFill>
                <a:ea typeface="楷体_GB2312" charset="0"/>
              </a:rPr>
              <a:t>Status</a:t>
            </a:r>
            <a:r>
              <a:rPr lang="en-US" altLang="zh-CN" sz="3200">
                <a:solidFill>
                  <a:srgbClr val="800000"/>
                </a:solidFill>
                <a:ea typeface="楷体_GB2312" charset="0"/>
              </a:rPr>
              <a:t> CreateSOSTre(</a:t>
            </a:r>
            <a:r>
              <a:rPr lang="en-US" altLang="zh-CN" sz="3200">
                <a:solidFill>
                  <a:srgbClr val="FF00FF"/>
                </a:solidFill>
                <a:ea typeface="楷体_GB2312" charset="0"/>
              </a:rPr>
              <a:t>SOSTree </a:t>
            </a:r>
            <a:r>
              <a:rPr lang="en-US" altLang="zh-CN" sz="3200" b="1">
                <a:solidFill>
                  <a:srgbClr val="FF00FF"/>
                </a:solidFill>
                <a:ea typeface="楷体_GB2312" charset="0"/>
              </a:rPr>
              <a:t>&amp;</a:t>
            </a:r>
            <a:r>
              <a:rPr lang="en-US" altLang="zh-CN" sz="3200">
                <a:solidFill>
                  <a:srgbClr val="FF00FF"/>
                </a:solidFill>
                <a:ea typeface="楷体_GB2312" charset="0"/>
              </a:rPr>
              <a:t>T</a:t>
            </a:r>
            <a:r>
              <a:rPr lang="en-US" altLang="zh-CN" sz="3200">
                <a:solidFill>
                  <a:srgbClr val="800000"/>
                </a:solidFill>
                <a:ea typeface="楷体_GB2312" charset="0"/>
              </a:rPr>
              <a:t>, SSTable ST) </a:t>
            </a:r>
            <a:r>
              <a:rPr lang="en-US" altLang="zh-CN" sz="3200" b="1">
                <a:solidFill>
                  <a:srgbClr val="800000"/>
                </a:solidFill>
                <a:ea typeface="楷体_GB2312" charset="0"/>
              </a:rPr>
              <a:t>{</a:t>
            </a:r>
            <a:endParaRPr lang="en-US" altLang="zh-CN" sz="3200">
              <a:solidFill>
                <a:srgbClr val="800000"/>
              </a:solidFill>
              <a:ea typeface="楷体_GB2312" charset="0"/>
            </a:endParaRPr>
          </a:p>
          <a:p>
            <a:r>
              <a:rPr lang="en-US" altLang="zh-CN" sz="3200">
                <a:solidFill>
                  <a:srgbClr val="800000"/>
                </a:solidFill>
                <a:ea typeface="楷体_GB2312" charset="0"/>
              </a:rPr>
              <a:t>  // </a:t>
            </a:r>
            <a:r>
              <a:rPr lang="zh-CN" altLang="en-US" sz="3200">
                <a:solidFill>
                  <a:srgbClr val="800000"/>
                </a:solidFill>
                <a:ea typeface="楷体_GB2312" charset="0"/>
              </a:rPr>
              <a:t>由有序表 </a:t>
            </a:r>
            <a:r>
              <a:rPr lang="en-US" altLang="zh-CN" sz="3200">
                <a:solidFill>
                  <a:srgbClr val="800000"/>
                </a:solidFill>
                <a:ea typeface="楷体_GB2312" charset="0"/>
              </a:rPr>
              <a:t>ST </a:t>
            </a:r>
            <a:r>
              <a:rPr lang="zh-CN" altLang="en-US" sz="3200">
                <a:solidFill>
                  <a:srgbClr val="800000"/>
                </a:solidFill>
                <a:ea typeface="楷体_GB2312" charset="0"/>
              </a:rPr>
              <a:t>构造一棵次优查找树 </a:t>
            </a:r>
            <a:r>
              <a:rPr lang="en-US" altLang="zh-CN" sz="3200">
                <a:solidFill>
                  <a:srgbClr val="800000"/>
                </a:solidFill>
                <a:ea typeface="楷体_GB2312" charset="0"/>
              </a:rPr>
              <a:t>T</a:t>
            </a:r>
          </a:p>
          <a:p>
            <a:r>
              <a:rPr lang="en-US" altLang="zh-CN" sz="3200">
                <a:solidFill>
                  <a:srgbClr val="800000"/>
                </a:solidFill>
                <a:ea typeface="楷体_GB2312" charset="0"/>
              </a:rPr>
              <a:t>  // ST </a:t>
            </a:r>
            <a:r>
              <a:rPr lang="zh-CN" altLang="en-US" sz="3200">
                <a:solidFill>
                  <a:srgbClr val="800000"/>
                </a:solidFill>
                <a:ea typeface="楷体_GB2312" charset="0"/>
              </a:rPr>
              <a:t>的数据元素含有权域 </a:t>
            </a:r>
            <a:r>
              <a:rPr lang="en-US" altLang="zh-CN" sz="3200">
                <a:solidFill>
                  <a:srgbClr val="800000"/>
                </a:solidFill>
                <a:ea typeface="楷体_GB2312" charset="0"/>
              </a:rPr>
              <a:t>weight</a:t>
            </a:r>
          </a:p>
          <a:p>
            <a:r>
              <a:rPr lang="en-US" altLang="zh-CN" sz="3200">
                <a:solidFill>
                  <a:srgbClr val="800000"/>
                </a:solidFill>
                <a:ea typeface="楷体_GB2312" charset="0"/>
              </a:rPr>
              <a:t>  </a:t>
            </a:r>
            <a:r>
              <a:rPr lang="en-US" altLang="zh-CN" sz="3200" b="1">
                <a:solidFill>
                  <a:srgbClr val="800000"/>
                </a:solidFill>
                <a:ea typeface="楷体_GB2312" charset="0"/>
              </a:rPr>
              <a:t>if</a:t>
            </a:r>
            <a:r>
              <a:rPr lang="en-US" altLang="zh-CN" sz="3200">
                <a:solidFill>
                  <a:srgbClr val="800000"/>
                </a:solidFill>
                <a:ea typeface="楷体_GB2312" charset="0"/>
              </a:rPr>
              <a:t> (ST.length = 0)  T = </a:t>
            </a:r>
            <a:r>
              <a:rPr lang="en-US" altLang="zh-CN" sz="3200" b="1">
                <a:solidFill>
                  <a:srgbClr val="800000"/>
                </a:solidFill>
                <a:ea typeface="楷体_GB2312" charset="0"/>
              </a:rPr>
              <a:t>NULL</a:t>
            </a:r>
            <a:r>
              <a:rPr lang="en-US" altLang="zh-CN" sz="3200">
                <a:solidFill>
                  <a:srgbClr val="800000"/>
                </a:solidFill>
                <a:ea typeface="楷体_GB2312" charset="0"/>
              </a:rPr>
              <a:t>;</a:t>
            </a:r>
          </a:p>
          <a:p>
            <a:r>
              <a:rPr lang="en-US" altLang="zh-CN" sz="3200">
                <a:solidFill>
                  <a:srgbClr val="800000"/>
                </a:solidFill>
                <a:ea typeface="楷体_GB2312" charset="0"/>
              </a:rPr>
              <a:t>  </a:t>
            </a:r>
            <a:r>
              <a:rPr lang="en-US" altLang="zh-CN" sz="3200" b="1">
                <a:solidFill>
                  <a:srgbClr val="800000"/>
                </a:solidFill>
                <a:ea typeface="楷体_GB2312" charset="0"/>
              </a:rPr>
              <a:t>else {</a:t>
            </a:r>
            <a:endParaRPr lang="en-US" altLang="zh-CN" sz="3200">
              <a:solidFill>
                <a:srgbClr val="800000"/>
              </a:solidFill>
              <a:ea typeface="楷体_GB2312" charset="0"/>
            </a:endParaRPr>
          </a:p>
          <a:p>
            <a:r>
              <a:rPr lang="en-US" altLang="zh-CN" sz="3200">
                <a:solidFill>
                  <a:srgbClr val="800000"/>
                </a:solidFill>
                <a:ea typeface="楷体_GB2312" charset="0"/>
              </a:rPr>
              <a:t>     FindSW(sw, ST);</a:t>
            </a:r>
          </a:p>
          <a:p>
            <a:r>
              <a:rPr lang="en-US" altLang="zh-CN" sz="3200">
                <a:solidFill>
                  <a:srgbClr val="800000"/>
                </a:solidFill>
                <a:ea typeface="楷体_GB2312" charset="0"/>
              </a:rPr>
              <a:t>               // </a:t>
            </a:r>
            <a:r>
              <a:rPr lang="zh-CN" altLang="en-US" sz="3200">
                <a:solidFill>
                  <a:srgbClr val="800000"/>
                </a:solidFill>
                <a:ea typeface="楷体_GB2312" charset="0"/>
              </a:rPr>
              <a:t>按照有序表 </a:t>
            </a:r>
            <a:r>
              <a:rPr lang="en-US" altLang="zh-CN" sz="3200">
                <a:solidFill>
                  <a:srgbClr val="800000"/>
                </a:solidFill>
                <a:ea typeface="楷体_GB2312" charset="0"/>
              </a:rPr>
              <a:t>ST </a:t>
            </a:r>
            <a:r>
              <a:rPr lang="zh-CN" altLang="en-US" sz="3200">
                <a:solidFill>
                  <a:srgbClr val="800000"/>
                </a:solidFill>
                <a:ea typeface="楷体_GB2312" charset="0"/>
              </a:rPr>
              <a:t>中各数据元素</a:t>
            </a:r>
          </a:p>
          <a:p>
            <a:r>
              <a:rPr lang="zh-CN" altLang="en-US" sz="3200">
                <a:solidFill>
                  <a:srgbClr val="800000"/>
                </a:solidFill>
                <a:ea typeface="楷体_GB2312" charset="0"/>
              </a:rPr>
              <a:t>               </a:t>
            </a:r>
            <a:r>
              <a:rPr lang="en-US" altLang="zh-CN" sz="3200">
                <a:solidFill>
                  <a:srgbClr val="800000"/>
                </a:solidFill>
                <a:ea typeface="楷体_GB2312" charset="0"/>
              </a:rPr>
              <a:t>// </a:t>
            </a:r>
            <a:r>
              <a:rPr lang="zh-CN" altLang="en-US" sz="3200">
                <a:solidFill>
                  <a:srgbClr val="800000"/>
                </a:solidFill>
                <a:ea typeface="楷体_GB2312" charset="0"/>
              </a:rPr>
              <a:t>的 </a:t>
            </a:r>
            <a:r>
              <a:rPr lang="en-US" altLang="zh-CN" sz="3200">
                <a:solidFill>
                  <a:srgbClr val="800000"/>
                </a:solidFill>
                <a:ea typeface="楷体_GB2312" charset="0"/>
              </a:rPr>
              <a:t>weight </a:t>
            </a:r>
            <a:r>
              <a:rPr lang="zh-CN" altLang="en-US" sz="3200">
                <a:solidFill>
                  <a:srgbClr val="800000"/>
                </a:solidFill>
                <a:ea typeface="楷体_GB2312" charset="0"/>
              </a:rPr>
              <a:t>值求累计权值表</a:t>
            </a:r>
          </a:p>
          <a:p>
            <a:r>
              <a:rPr lang="zh-CN" altLang="en-US" sz="3200">
                <a:solidFill>
                  <a:srgbClr val="800000"/>
                </a:solidFill>
                <a:ea typeface="楷体_GB2312" charset="0"/>
              </a:rPr>
              <a:t>     </a:t>
            </a:r>
            <a:r>
              <a:rPr lang="en-US" altLang="zh-CN" sz="3200">
                <a:solidFill>
                  <a:srgbClr val="FF00FF"/>
                </a:solidFill>
                <a:ea typeface="楷体_GB2312" charset="0"/>
              </a:rPr>
              <a:t>SecondOpiamal(T, ST.elem, sw, 1, ST.length);</a:t>
            </a:r>
          </a:p>
          <a:p>
            <a:r>
              <a:rPr lang="en-US" altLang="zh-CN" sz="3200">
                <a:solidFill>
                  <a:srgbClr val="800000"/>
                </a:solidFill>
                <a:ea typeface="楷体_GB2312" charset="0"/>
              </a:rPr>
              <a:t>  </a:t>
            </a:r>
            <a:r>
              <a:rPr lang="en-US" altLang="zh-CN" sz="3200" b="1">
                <a:solidFill>
                  <a:srgbClr val="800000"/>
                </a:solidFill>
                <a:ea typeface="楷体_GB2312" charset="0"/>
              </a:rPr>
              <a:t>}</a:t>
            </a:r>
          </a:p>
          <a:p>
            <a:r>
              <a:rPr lang="en-US" altLang="zh-CN" sz="3200">
                <a:solidFill>
                  <a:srgbClr val="800000"/>
                </a:solidFill>
                <a:ea typeface="楷体_GB2312" charset="0"/>
              </a:rPr>
              <a:t>  </a:t>
            </a:r>
            <a:r>
              <a:rPr lang="en-US" altLang="zh-CN" sz="3200" b="1">
                <a:solidFill>
                  <a:srgbClr val="800000"/>
                </a:solidFill>
                <a:ea typeface="楷体_GB2312" charset="0"/>
              </a:rPr>
              <a:t>return</a:t>
            </a:r>
            <a:r>
              <a:rPr lang="en-US" altLang="zh-CN" sz="3200">
                <a:solidFill>
                  <a:srgbClr val="800000"/>
                </a:solidFill>
                <a:ea typeface="楷体_GB2312" charset="0"/>
              </a:rPr>
              <a:t> OK;</a:t>
            </a:r>
          </a:p>
          <a:p>
            <a:r>
              <a:rPr lang="en-US" altLang="zh-CN" sz="3200" b="1">
                <a:solidFill>
                  <a:srgbClr val="800000"/>
                </a:solidFill>
                <a:ea typeface="楷体_GB2312" charset="0"/>
              </a:rPr>
              <a:t>}</a:t>
            </a:r>
            <a:r>
              <a:rPr lang="en-US" altLang="zh-CN" sz="3200">
                <a:solidFill>
                  <a:srgbClr val="800000"/>
                </a:solidFill>
                <a:ea typeface="楷体_GB2312" charset="0"/>
              </a:rPr>
              <a:t> // CreatSOSTree</a:t>
            </a:r>
            <a:endParaRPr lang="en-US" altLang="zh-CN" sz="3600">
              <a:solidFill>
                <a:srgbClr val="800000"/>
              </a:solidFill>
              <a:ea typeface="楷体_GB2312" charset="0"/>
            </a:endParaRPr>
          </a:p>
        </p:txBody>
      </p:sp>
      <p:sp>
        <p:nvSpPr>
          <p:cNvPr id="188421" name="AutoShape 1029">
            <a:hlinkClick r:id="rId2" action="ppaction://hlinksldjump" highlightClick="1"/>
          </p:cNvPr>
          <p:cNvSpPr>
            <a:spLocks noChangeArrowheads="1"/>
          </p:cNvSpPr>
          <p:nvPr/>
        </p:nvSpPr>
        <p:spPr bwMode="auto">
          <a:xfrm>
            <a:off x="83820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608369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8418"/>
                                        </p:tgtEl>
                                        <p:attrNameLst>
                                          <p:attrName>style.visibility</p:attrName>
                                        </p:attrNameLst>
                                      </p:cBhvr>
                                      <p:to>
                                        <p:strVal val="visible"/>
                                      </p:to>
                                    </p:set>
                                    <p:anim calcmode="lin" valueType="num">
                                      <p:cBhvr additive="base">
                                        <p:cTn id="7" dur="500" fill="hold"/>
                                        <p:tgtEl>
                                          <p:spTgt spid="188418"/>
                                        </p:tgtEl>
                                        <p:attrNameLst>
                                          <p:attrName>ppt_x</p:attrName>
                                        </p:attrNameLst>
                                      </p:cBhvr>
                                      <p:tavLst>
                                        <p:tav tm="0">
                                          <p:val>
                                            <p:strVal val="0-#ppt_w/2"/>
                                          </p:val>
                                        </p:tav>
                                        <p:tav tm="100000">
                                          <p:val>
                                            <p:strVal val="#ppt_x"/>
                                          </p:val>
                                        </p:tav>
                                      </p:tavLst>
                                    </p:anim>
                                    <p:anim calcmode="lin" valueType="num">
                                      <p:cBhvr additive="base">
                                        <p:cTn id="8" dur="500" fill="hold"/>
                                        <p:tgtEl>
                                          <p:spTgt spid="18841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88419"/>
                                        </p:tgtEl>
                                        <p:attrNameLst>
                                          <p:attrName>style.visibility</p:attrName>
                                        </p:attrNameLst>
                                      </p:cBhvr>
                                      <p:to>
                                        <p:strVal val="visible"/>
                                      </p:to>
                                    </p:set>
                                    <p:animEffect transition="in" filter="strips(downRight)">
                                      <p:cBhvr>
                                        <p:cTn id="13" dur="500"/>
                                        <p:tgtEl>
                                          <p:spTgt spid="188419"/>
                                        </p:tgtEl>
                                      </p:cBhvr>
                                    </p:animEffect>
                                  </p:childTnLst>
                                </p:cTn>
                              </p:par>
                            </p:childTnLst>
                          </p:cTn>
                        </p:par>
                        <p:par>
                          <p:cTn id="14" fill="hold" nodeType="afterGroup">
                            <p:stCondLst>
                              <p:cond delay="500"/>
                            </p:stCondLst>
                            <p:childTnLst>
                              <p:par>
                                <p:cTn id="15" presetID="2" presetClass="entr" presetSubtype="6" fill="hold" grpId="0" nodeType="afterEffect">
                                  <p:stCondLst>
                                    <p:cond delay="0"/>
                                  </p:stCondLst>
                                  <p:childTnLst>
                                    <p:set>
                                      <p:cBhvr>
                                        <p:cTn id="16" dur="1" fill="hold">
                                          <p:stCondLst>
                                            <p:cond delay="0"/>
                                          </p:stCondLst>
                                        </p:cTn>
                                        <p:tgtEl>
                                          <p:spTgt spid="188421"/>
                                        </p:tgtEl>
                                        <p:attrNameLst>
                                          <p:attrName>style.visibility</p:attrName>
                                        </p:attrNameLst>
                                      </p:cBhvr>
                                      <p:to>
                                        <p:strVal val="visible"/>
                                      </p:to>
                                    </p:set>
                                    <p:anim calcmode="lin" valueType="num">
                                      <p:cBhvr additive="base">
                                        <p:cTn id="17" dur="500" fill="hold"/>
                                        <p:tgtEl>
                                          <p:spTgt spid="188421"/>
                                        </p:tgtEl>
                                        <p:attrNameLst>
                                          <p:attrName>ppt_x</p:attrName>
                                        </p:attrNameLst>
                                      </p:cBhvr>
                                      <p:tavLst>
                                        <p:tav tm="0">
                                          <p:val>
                                            <p:strVal val="1+#ppt_w/2"/>
                                          </p:val>
                                        </p:tav>
                                        <p:tav tm="100000">
                                          <p:val>
                                            <p:strVal val="#ppt_x"/>
                                          </p:val>
                                        </p:tav>
                                      </p:tavLst>
                                    </p:anim>
                                    <p:anim calcmode="lin" valueType="num">
                                      <p:cBhvr additive="base">
                                        <p:cTn id="18" dur="500" fill="hold"/>
                                        <p:tgtEl>
                                          <p:spTgt spid="1884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8" grpId="0" autoUpdateAnimBg="0"/>
      <p:bldP spid="188419" grpId="0" autoUpdateAnimBg="0"/>
      <p:bldP spid="18842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 Box 3"/>
          <p:cNvSpPr txBox="1">
            <a:spLocks noChangeArrowheads="1"/>
          </p:cNvSpPr>
          <p:nvPr/>
        </p:nvSpPr>
        <p:spPr bwMode="auto">
          <a:xfrm>
            <a:off x="1008063" y="304800"/>
            <a:ext cx="638333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A50021"/>
                </a:solidFill>
                <a:ea typeface="楷体_GB2312" charset="0"/>
              </a:rPr>
              <a:t>索引顺序表的查找过程：</a:t>
            </a:r>
            <a:endParaRPr lang="zh-CN" altLang="en-US" b="1">
              <a:ea typeface="楷体_GB2312" charset="0"/>
            </a:endParaRPr>
          </a:p>
        </p:txBody>
      </p:sp>
      <p:sp>
        <p:nvSpPr>
          <p:cNvPr id="50180" name="Text Box 4"/>
          <p:cNvSpPr txBox="1">
            <a:spLocks noChangeArrowheads="1"/>
          </p:cNvSpPr>
          <p:nvPr/>
        </p:nvSpPr>
        <p:spPr bwMode="auto">
          <a:xfrm>
            <a:off x="762000" y="1295400"/>
            <a:ext cx="704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ea typeface="楷体_GB2312" charset="0"/>
              </a:rPr>
              <a:t>1</a:t>
            </a:r>
            <a:r>
              <a:rPr lang="zh-CN" altLang="en-US" sz="4000">
                <a:ea typeface="楷体_GB2312" charset="0"/>
              </a:rPr>
              <a:t>）由索引确定记录所在区间；</a:t>
            </a:r>
          </a:p>
        </p:txBody>
      </p:sp>
      <p:sp>
        <p:nvSpPr>
          <p:cNvPr id="50181" name="Text Box 5"/>
          <p:cNvSpPr txBox="1">
            <a:spLocks noChangeArrowheads="1"/>
          </p:cNvSpPr>
          <p:nvPr/>
        </p:nvSpPr>
        <p:spPr bwMode="auto">
          <a:xfrm>
            <a:off x="762000" y="2209800"/>
            <a:ext cx="8566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ea typeface="楷体_GB2312" charset="0"/>
              </a:rPr>
              <a:t>2</a:t>
            </a:r>
            <a:r>
              <a:rPr lang="zh-CN" altLang="en-US" sz="4000">
                <a:ea typeface="楷体_GB2312" charset="0"/>
              </a:rPr>
              <a:t>）在顺序表的某个区间内进行查找。</a:t>
            </a:r>
            <a:endParaRPr lang="zh-CN" altLang="en-US">
              <a:ea typeface="楷体_GB2312" charset="0"/>
            </a:endParaRPr>
          </a:p>
        </p:txBody>
      </p:sp>
      <p:sp>
        <p:nvSpPr>
          <p:cNvPr id="50183" name="Text Box 7"/>
          <p:cNvSpPr txBox="1">
            <a:spLocks noChangeArrowheads="1"/>
          </p:cNvSpPr>
          <p:nvPr/>
        </p:nvSpPr>
        <p:spPr bwMode="auto">
          <a:xfrm>
            <a:off x="304800" y="5791200"/>
            <a:ext cx="8870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6600CC"/>
                </a:solidFill>
                <a:ea typeface="楷体_GB2312" charset="0"/>
              </a:rPr>
              <a:t>注意：索引可以根据查找表的特点来构造。</a:t>
            </a:r>
            <a:endParaRPr lang="zh-CN" altLang="en-US" sz="3600">
              <a:ea typeface="楷体_GB2312" charset="0"/>
            </a:endParaRPr>
          </a:p>
        </p:txBody>
      </p:sp>
      <p:sp>
        <p:nvSpPr>
          <p:cNvPr id="50184" name="Text Box 8"/>
          <p:cNvSpPr txBox="1">
            <a:spLocks noChangeArrowheads="1"/>
          </p:cNvSpPr>
          <p:nvPr/>
        </p:nvSpPr>
        <p:spPr bwMode="auto">
          <a:xfrm>
            <a:off x="669925" y="3048000"/>
            <a:ext cx="7324725"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zh-CN" altLang="en-US" sz="4000">
                <a:ea typeface="楷体_GB2312" charset="0"/>
              </a:rPr>
              <a:t>可见，</a:t>
            </a:r>
          </a:p>
          <a:p>
            <a:pPr>
              <a:lnSpc>
                <a:spcPct val="125000"/>
              </a:lnSpc>
            </a:pPr>
            <a:r>
              <a:rPr lang="zh-CN" altLang="en-US" sz="4000">
                <a:ea typeface="楷体_GB2312" charset="0"/>
              </a:rPr>
              <a:t>    </a:t>
            </a:r>
            <a:r>
              <a:rPr lang="zh-CN" altLang="en-US" sz="4000" b="1">
                <a:solidFill>
                  <a:srgbClr val="FF00FF"/>
                </a:solidFill>
                <a:ea typeface="楷体_GB2312" charset="0"/>
              </a:rPr>
              <a:t>索引顺序查找</a:t>
            </a:r>
            <a:r>
              <a:rPr lang="zh-CN" altLang="en-US" sz="4000">
                <a:ea typeface="楷体_GB2312" charset="0"/>
              </a:rPr>
              <a:t>的过程也是一个</a:t>
            </a:r>
          </a:p>
          <a:p>
            <a:pPr>
              <a:lnSpc>
                <a:spcPct val="125000"/>
              </a:lnSpc>
            </a:pPr>
            <a:r>
              <a:rPr lang="zh-CN" altLang="en-US" sz="4000" b="1">
                <a:solidFill>
                  <a:srgbClr val="A50021"/>
                </a:solidFill>
                <a:ea typeface="楷体_GB2312" charset="0"/>
              </a:rPr>
              <a:t>“缩小区间”</a:t>
            </a:r>
            <a:r>
              <a:rPr lang="zh-CN" altLang="en-US" sz="4000">
                <a:ea typeface="楷体_GB2312" charset="0"/>
              </a:rPr>
              <a:t>的查找过程。</a:t>
            </a:r>
          </a:p>
        </p:txBody>
      </p:sp>
    </p:spTree>
    <p:extLst>
      <p:ext uri="{BB962C8B-B14F-4D97-AF65-F5344CB8AC3E}">
        <p14:creationId xmlns:p14="http://schemas.microsoft.com/office/powerpoint/2010/main" val="16284353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0179"/>
                                        </p:tgtEl>
                                        <p:attrNameLst>
                                          <p:attrName>style.visibility</p:attrName>
                                        </p:attrNameLst>
                                      </p:cBhvr>
                                      <p:to>
                                        <p:strVal val="visible"/>
                                      </p:to>
                                    </p:set>
                                    <p:animEffect transition="in" filter="blinds(horizontal)">
                                      <p:cBhvr>
                                        <p:cTn id="7" dur="500"/>
                                        <p:tgtEl>
                                          <p:spTgt spid="50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50180"/>
                                        </p:tgtEl>
                                        <p:attrNameLst>
                                          <p:attrName>style.visibility</p:attrName>
                                        </p:attrNameLst>
                                      </p:cBhvr>
                                      <p:to>
                                        <p:strVal val="visible"/>
                                      </p:to>
                                    </p:set>
                                    <p:anim calcmode="lin" valueType="num">
                                      <p:cBhvr>
                                        <p:cTn id="12" dur="500" fill="hold"/>
                                        <p:tgtEl>
                                          <p:spTgt spid="50180"/>
                                        </p:tgtEl>
                                        <p:attrNameLst>
                                          <p:attrName>ppt_x</p:attrName>
                                        </p:attrNameLst>
                                      </p:cBhvr>
                                      <p:tavLst>
                                        <p:tav tm="0">
                                          <p:val>
                                            <p:strVal val="#ppt_x-#ppt_w/2"/>
                                          </p:val>
                                        </p:tav>
                                        <p:tav tm="100000">
                                          <p:val>
                                            <p:strVal val="#ppt_x"/>
                                          </p:val>
                                        </p:tav>
                                      </p:tavLst>
                                    </p:anim>
                                    <p:anim calcmode="lin" valueType="num">
                                      <p:cBhvr>
                                        <p:cTn id="13" dur="500" fill="hold"/>
                                        <p:tgtEl>
                                          <p:spTgt spid="50180"/>
                                        </p:tgtEl>
                                        <p:attrNameLst>
                                          <p:attrName>ppt_y</p:attrName>
                                        </p:attrNameLst>
                                      </p:cBhvr>
                                      <p:tavLst>
                                        <p:tav tm="0">
                                          <p:val>
                                            <p:strVal val="#ppt_y"/>
                                          </p:val>
                                        </p:tav>
                                        <p:tav tm="100000">
                                          <p:val>
                                            <p:strVal val="#ppt_y"/>
                                          </p:val>
                                        </p:tav>
                                      </p:tavLst>
                                    </p:anim>
                                    <p:anim calcmode="lin" valueType="num">
                                      <p:cBhvr>
                                        <p:cTn id="14" dur="500" fill="hold"/>
                                        <p:tgtEl>
                                          <p:spTgt spid="50180"/>
                                        </p:tgtEl>
                                        <p:attrNameLst>
                                          <p:attrName>ppt_w</p:attrName>
                                        </p:attrNameLst>
                                      </p:cBhvr>
                                      <p:tavLst>
                                        <p:tav tm="0">
                                          <p:val>
                                            <p:fltVal val="0"/>
                                          </p:val>
                                        </p:tav>
                                        <p:tav tm="100000">
                                          <p:val>
                                            <p:strVal val="#ppt_w"/>
                                          </p:val>
                                        </p:tav>
                                      </p:tavLst>
                                    </p:anim>
                                    <p:anim calcmode="lin" valueType="num">
                                      <p:cBhvr>
                                        <p:cTn id="15" dur="500" fill="hold"/>
                                        <p:tgtEl>
                                          <p:spTgt spid="50180"/>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50181"/>
                                        </p:tgtEl>
                                        <p:attrNameLst>
                                          <p:attrName>style.visibility</p:attrName>
                                        </p:attrNameLst>
                                      </p:cBhvr>
                                      <p:to>
                                        <p:strVal val="visible"/>
                                      </p:to>
                                    </p:set>
                                    <p:anim calcmode="lin" valueType="num">
                                      <p:cBhvr>
                                        <p:cTn id="20" dur="500" fill="hold"/>
                                        <p:tgtEl>
                                          <p:spTgt spid="50181"/>
                                        </p:tgtEl>
                                        <p:attrNameLst>
                                          <p:attrName>ppt_x</p:attrName>
                                        </p:attrNameLst>
                                      </p:cBhvr>
                                      <p:tavLst>
                                        <p:tav tm="0">
                                          <p:val>
                                            <p:strVal val="#ppt_x-#ppt_w/2"/>
                                          </p:val>
                                        </p:tav>
                                        <p:tav tm="100000">
                                          <p:val>
                                            <p:strVal val="#ppt_x"/>
                                          </p:val>
                                        </p:tav>
                                      </p:tavLst>
                                    </p:anim>
                                    <p:anim calcmode="lin" valueType="num">
                                      <p:cBhvr>
                                        <p:cTn id="21" dur="500" fill="hold"/>
                                        <p:tgtEl>
                                          <p:spTgt spid="50181"/>
                                        </p:tgtEl>
                                        <p:attrNameLst>
                                          <p:attrName>ppt_y</p:attrName>
                                        </p:attrNameLst>
                                      </p:cBhvr>
                                      <p:tavLst>
                                        <p:tav tm="0">
                                          <p:val>
                                            <p:strVal val="#ppt_y"/>
                                          </p:val>
                                        </p:tav>
                                        <p:tav tm="100000">
                                          <p:val>
                                            <p:strVal val="#ppt_y"/>
                                          </p:val>
                                        </p:tav>
                                      </p:tavLst>
                                    </p:anim>
                                    <p:anim calcmode="lin" valueType="num">
                                      <p:cBhvr>
                                        <p:cTn id="22" dur="500" fill="hold"/>
                                        <p:tgtEl>
                                          <p:spTgt spid="50181"/>
                                        </p:tgtEl>
                                        <p:attrNameLst>
                                          <p:attrName>ppt_w</p:attrName>
                                        </p:attrNameLst>
                                      </p:cBhvr>
                                      <p:tavLst>
                                        <p:tav tm="0">
                                          <p:val>
                                            <p:fltVal val="0"/>
                                          </p:val>
                                        </p:tav>
                                        <p:tav tm="100000">
                                          <p:val>
                                            <p:strVal val="#ppt_w"/>
                                          </p:val>
                                        </p:tav>
                                      </p:tavLst>
                                    </p:anim>
                                    <p:anim calcmode="lin" valueType="num">
                                      <p:cBhvr>
                                        <p:cTn id="23" dur="500" fill="hold"/>
                                        <p:tgtEl>
                                          <p:spTgt spid="50181"/>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50184"/>
                                        </p:tgtEl>
                                        <p:attrNameLst>
                                          <p:attrName>style.visibility</p:attrName>
                                        </p:attrNameLst>
                                      </p:cBhvr>
                                      <p:to>
                                        <p:strVal val="visible"/>
                                      </p:to>
                                    </p:set>
                                    <p:animEffect transition="in" filter="strips(downRight)">
                                      <p:cBhvr>
                                        <p:cTn id="28" dur="500"/>
                                        <p:tgtEl>
                                          <p:spTgt spid="5018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50183"/>
                                        </p:tgtEl>
                                        <p:attrNameLst>
                                          <p:attrName>style.visibility</p:attrName>
                                        </p:attrNameLst>
                                      </p:cBhvr>
                                      <p:to>
                                        <p:strVal val="visible"/>
                                      </p:to>
                                    </p:set>
                                    <p:animEffect transition="in" filter="strips(downRight)">
                                      <p:cBhvr>
                                        <p:cTn id="33" dur="500"/>
                                        <p:tgtEl>
                                          <p:spTgt spid="50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autoUpdateAnimBg="0"/>
      <p:bldP spid="50180" grpId="0" autoUpdateAnimBg="0"/>
      <p:bldP spid="50181" grpId="0" autoUpdateAnimBg="0"/>
      <p:bldP spid="50183" grpId="0" autoUpdateAnimBg="0"/>
      <p:bldP spid="50184"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5" name="Rectangle 3"/>
          <p:cNvSpPr>
            <a:spLocks noGrp="1" noChangeArrowheads="1"/>
          </p:cNvSpPr>
          <p:nvPr>
            <p:ph type="body" idx="1"/>
          </p:nvPr>
        </p:nvSpPr>
        <p:spPr>
          <a:xfrm>
            <a:off x="685800" y="692150"/>
            <a:ext cx="7772400" cy="5403850"/>
          </a:xfrm>
        </p:spPr>
        <p:txBody>
          <a:bodyPr/>
          <a:lstStyle/>
          <a:p>
            <a:endParaRPr lang="zh-CN" altLang="zh-CN"/>
          </a:p>
        </p:txBody>
      </p:sp>
      <p:sp>
        <p:nvSpPr>
          <p:cNvPr id="253957"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zh-CN" altLang="en-US"/>
          </a:p>
        </p:txBody>
      </p:sp>
      <p:graphicFrame>
        <p:nvGraphicFramePr>
          <p:cNvPr id="253956" name="Object 4"/>
          <p:cNvGraphicFramePr>
            <a:graphicFrameLocks noChangeAspect="1"/>
          </p:cNvGraphicFramePr>
          <p:nvPr/>
        </p:nvGraphicFramePr>
        <p:xfrm>
          <a:off x="684213" y="692150"/>
          <a:ext cx="7991475" cy="5400675"/>
        </p:xfrm>
        <a:graphic>
          <a:graphicData uri="http://schemas.openxmlformats.org/presentationml/2006/ole">
            <mc:AlternateContent xmlns:mc="http://schemas.openxmlformats.org/markup-compatibility/2006">
              <mc:Choice xmlns:v="urn:schemas-microsoft-com:vml" Requires="v">
                <p:oleObj spid="_x0000_s1321986" name="位图图像" r:id="rId3" imgW="4019048" imgH="2409524" progId="Paint.Picture">
                  <p:embed/>
                </p:oleObj>
              </mc:Choice>
              <mc:Fallback>
                <p:oleObj name="位图图像" r:id="rId3" imgW="4019048" imgH="2409524"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692150"/>
                        <a:ext cx="7991475" cy="540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6467825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Text Box 4"/>
          <p:cNvSpPr txBox="1">
            <a:spLocks noChangeArrowheads="1"/>
          </p:cNvSpPr>
          <p:nvPr/>
        </p:nvSpPr>
        <p:spPr bwMode="auto">
          <a:xfrm>
            <a:off x="468313" y="1341438"/>
            <a:ext cx="8140700" cy="2679700"/>
          </a:xfrm>
          <a:prstGeom prst="rect">
            <a:avLst/>
          </a:prstGeom>
          <a:solidFill>
            <a:srgbClr val="FFFF99">
              <a:alpha val="50000"/>
            </a:srgbClr>
          </a:solidFill>
          <a:ln w="25400">
            <a:solidFill>
              <a:srgbClr val="8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lang="zh-CN" altLang="en-US" sz="4000" b="1">
                <a:solidFill>
                  <a:srgbClr val="CC6600"/>
                </a:solidFill>
                <a:ea typeface="楷体_GB2312" charset="0"/>
              </a:rPr>
              <a:t>索引顺序查找的平均查找长度 </a:t>
            </a:r>
            <a:r>
              <a:rPr lang="en-US" altLang="zh-CN" sz="4000" b="1">
                <a:solidFill>
                  <a:srgbClr val="CC6600"/>
                </a:solidFill>
                <a:ea typeface="楷体_GB2312" charset="0"/>
              </a:rPr>
              <a:t>=</a:t>
            </a:r>
            <a:endParaRPr lang="en-US" altLang="zh-CN" sz="4000">
              <a:ea typeface="楷体_GB2312" charset="0"/>
            </a:endParaRPr>
          </a:p>
          <a:p>
            <a:pPr>
              <a:lnSpc>
                <a:spcPct val="140000"/>
              </a:lnSpc>
            </a:pPr>
            <a:r>
              <a:rPr lang="en-US" altLang="zh-CN" sz="4000">
                <a:ea typeface="楷体_GB2312" charset="0"/>
              </a:rPr>
              <a:t>      </a:t>
            </a:r>
            <a:r>
              <a:rPr lang="zh-CN" altLang="en-US" sz="4000" b="1">
                <a:solidFill>
                  <a:schemeClr val="accent2"/>
                </a:solidFill>
                <a:ea typeface="楷体_GB2312" charset="0"/>
              </a:rPr>
              <a:t>查找“索引”的平均查找长度</a:t>
            </a:r>
            <a:endParaRPr lang="zh-CN" altLang="en-US" sz="4000">
              <a:ea typeface="楷体_GB2312" charset="0"/>
            </a:endParaRPr>
          </a:p>
          <a:p>
            <a:pPr>
              <a:lnSpc>
                <a:spcPct val="140000"/>
              </a:lnSpc>
            </a:pPr>
            <a:r>
              <a:rPr lang="zh-CN" altLang="en-US" sz="4000">
                <a:ea typeface="楷体_GB2312" charset="0"/>
              </a:rPr>
              <a:t>  </a:t>
            </a:r>
            <a:r>
              <a:rPr lang="en-US" altLang="zh-CN" sz="4000" b="1">
                <a:solidFill>
                  <a:srgbClr val="006600"/>
                </a:solidFill>
                <a:ea typeface="楷体_GB2312" charset="0"/>
              </a:rPr>
              <a:t>+  </a:t>
            </a:r>
            <a:r>
              <a:rPr lang="zh-CN" altLang="en-US" sz="4000" b="1">
                <a:solidFill>
                  <a:srgbClr val="006600"/>
                </a:solidFill>
                <a:ea typeface="楷体_GB2312" charset="0"/>
              </a:rPr>
              <a:t>查找“顺序表”的平均查找长度</a:t>
            </a:r>
            <a:endParaRPr lang="zh-CN" altLang="en-US" sz="3600"/>
          </a:p>
        </p:txBody>
      </p:sp>
      <p:sp>
        <p:nvSpPr>
          <p:cNvPr id="51206" name="AutoShape 6">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42124203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1204"/>
                                        </p:tgtEl>
                                        <p:attrNameLst>
                                          <p:attrName>style.visibility</p:attrName>
                                        </p:attrNameLst>
                                      </p:cBhvr>
                                      <p:to>
                                        <p:strVal val="visible"/>
                                      </p:to>
                                    </p:set>
                                    <p:anim calcmode="lin" valueType="num">
                                      <p:cBhvr additive="base">
                                        <p:cTn id="7" dur="500" fill="hold"/>
                                        <p:tgtEl>
                                          <p:spTgt spid="51204"/>
                                        </p:tgtEl>
                                        <p:attrNameLst>
                                          <p:attrName>ppt_x</p:attrName>
                                        </p:attrNameLst>
                                      </p:cBhvr>
                                      <p:tavLst>
                                        <p:tav tm="0">
                                          <p:val>
                                            <p:strVal val="#ppt_x"/>
                                          </p:val>
                                        </p:tav>
                                        <p:tav tm="100000">
                                          <p:val>
                                            <p:strVal val="#ppt_x"/>
                                          </p:val>
                                        </p:tav>
                                      </p:tavLst>
                                    </p:anim>
                                    <p:anim calcmode="lin" valueType="num">
                                      <p:cBhvr additive="base">
                                        <p:cTn id="8" dur="500" fill="hold"/>
                                        <p:tgtEl>
                                          <p:spTgt spid="51204"/>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 presetClass="entr" presetSubtype="6" fill="hold" grpId="0" nodeType="afterEffect">
                                  <p:stCondLst>
                                    <p:cond delay="0"/>
                                  </p:stCondLst>
                                  <p:childTnLst>
                                    <p:set>
                                      <p:cBhvr>
                                        <p:cTn id="11" dur="1" fill="hold">
                                          <p:stCondLst>
                                            <p:cond delay="0"/>
                                          </p:stCondLst>
                                        </p:cTn>
                                        <p:tgtEl>
                                          <p:spTgt spid="51206"/>
                                        </p:tgtEl>
                                        <p:attrNameLst>
                                          <p:attrName>style.visibility</p:attrName>
                                        </p:attrNameLst>
                                      </p:cBhvr>
                                      <p:to>
                                        <p:strVal val="visible"/>
                                      </p:to>
                                    </p:set>
                                    <p:anim calcmode="lin" valueType="num">
                                      <p:cBhvr additive="base">
                                        <p:cTn id="12" dur="500" fill="hold"/>
                                        <p:tgtEl>
                                          <p:spTgt spid="51206"/>
                                        </p:tgtEl>
                                        <p:attrNameLst>
                                          <p:attrName>ppt_x</p:attrName>
                                        </p:attrNameLst>
                                      </p:cBhvr>
                                      <p:tavLst>
                                        <p:tav tm="0">
                                          <p:val>
                                            <p:strVal val="1+#ppt_w/2"/>
                                          </p:val>
                                        </p:tav>
                                        <p:tav tm="100000">
                                          <p:val>
                                            <p:strVal val="#ppt_x"/>
                                          </p:val>
                                        </p:tav>
                                      </p:tavLst>
                                    </p:anim>
                                    <p:anim calcmode="lin" valueType="num">
                                      <p:cBhvr additive="base">
                                        <p:cTn id="13" dur="500" fill="hold"/>
                                        <p:tgtEl>
                                          <p:spTgt spid="512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animBg="1" autoUpdateAnimBg="0"/>
      <p:bldP spid="5120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304800" y="1066800"/>
            <a:ext cx="6394450"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lang="en-US" altLang="zh-CN" sz="4000" b="1">
                <a:ea typeface="楷体_GB2312" charset="0"/>
              </a:rPr>
              <a:t>ADT DynamicSearchTable {</a:t>
            </a:r>
            <a:endParaRPr lang="en-US" altLang="zh-CN" sz="4000"/>
          </a:p>
        </p:txBody>
      </p:sp>
      <p:sp>
        <p:nvSpPr>
          <p:cNvPr id="52227" name="Text Box 3"/>
          <p:cNvSpPr txBox="1">
            <a:spLocks noChangeArrowheads="1"/>
          </p:cNvSpPr>
          <p:nvPr/>
        </p:nvSpPr>
        <p:spPr bwMode="auto">
          <a:xfrm>
            <a:off x="457200" y="304800"/>
            <a:ext cx="89011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chemeClr val="accent2"/>
                </a:solidFill>
                <a:ea typeface="楷体_GB2312" charset="0"/>
              </a:rPr>
              <a:t>抽象数据类型</a:t>
            </a:r>
            <a:r>
              <a:rPr lang="zh-CN" altLang="en-US" sz="4000" b="1">
                <a:solidFill>
                  <a:srgbClr val="A50021"/>
                </a:solidFill>
                <a:ea typeface="楷体_GB2312" charset="0"/>
              </a:rPr>
              <a:t>动态查找表</a:t>
            </a:r>
            <a:r>
              <a:rPr lang="zh-CN" altLang="en-US" sz="4000" b="1">
                <a:solidFill>
                  <a:schemeClr val="accent2"/>
                </a:solidFill>
                <a:ea typeface="楷体_GB2312" charset="0"/>
              </a:rPr>
              <a:t>的定义如下：</a:t>
            </a:r>
            <a:endParaRPr lang="zh-CN" altLang="en-US"/>
          </a:p>
        </p:txBody>
      </p:sp>
      <p:sp>
        <p:nvSpPr>
          <p:cNvPr id="52228" name="Text Box 4"/>
          <p:cNvSpPr txBox="1">
            <a:spLocks noChangeArrowheads="1"/>
          </p:cNvSpPr>
          <p:nvPr/>
        </p:nvSpPr>
        <p:spPr bwMode="auto">
          <a:xfrm>
            <a:off x="533400" y="2057400"/>
            <a:ext cx="3109913" cy="414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95000"/>
              </a:lnSpc>
            </a:pPr>
            <a:r>
              <a:rPr lang="zh-CN" altLang="en-US" sz="4000" b="1">
                <a:solidFill>
                  <a:srgbClr val="A50021"/>
                </a:solidFill>
                <a:ea typeface="楷体_GB2312" charset="0"/>
              </a:rPr>
              <a:t>数据对象</a:t>
            </a:r>
            <a:r>
              <a:rPr lang="en-US" altLang="zh-CN" sz="4000" b="1">
                <a:solidFill>
                  <a:srgbClr val="A50021"/>
                </a:solidFill>
                <a:ea typeface="楷体_GB2312" charset="0"/>
              </a:rPr>
              <a:t>D</a:t>
            </a:r>
            <a:r>
              <a:rPr lang="zh-CN" altLang="en-US" sz="4000">
                <a:solidFill>
                  <a:srgbClr val="A50021"/>
                </a:solidFill>
                <a:ea typeface="楷体_GB2312" charset="0"/>
              </a:rPr>
              <a:t>：</a:t>
            </a:r>
          </a:p>
          <a:p>
            <a:pPr>
              <a:lnSpc>
                <a:spcPct val="95000"/>
              </a:lnSpc>
            </a:pPr>
            <a:endParaRPr lang="zh-CN" altLang="en-US" sz="4000">
              <a:solidFill>
                <a:srgbClr val="A50021"/>
              </a:solidFill>
              <a:ea typeface="楷体_GB2312" charset="0"/>
            </a:endParaRPr>
          </a:p>
          <a:p>
            <a:pPr>
              <a:lnSpc>
                <a:spcPct val="95000"/>
              </a:lnSpc>
            </a:pPr>
            <a:endParaRPr lang="zh-CN" altLang="en-US" sz="4000">
              <a:solidFill>
                <a:srgbClr val="A50021"/>
              </a:solidFill>
              <a:ea typeface="楷体_GB2312" charset="0"/>
            </a:endParaRPr>
          </a:p>
          <a:p>
            <a:pPr>
              <a:lnSpc>
                <a:spcPct val="95000"/>
              </a:lnSpc>
            </a:pPr>
            <a:endParaRPr lang="zh-CN" altLang="en-US" sz="4000">
              <a:solidFill>
                <a:srgbClr val="A50021"/>
              </a:solidFill>
              <a:ea typeface="楷体_GB2312" charset="0"/>
            </a:endParaRPr>
          </a:p>
          <a:p>
            <a:pPr>
              <a:lnSpc>
                <a:spcPct val="95000"/>
              </a:lnSpc>
            </a:pPr>
            <a:endParaRPr lang="zh-CN" altLang="en-US" sz="4000">
              <a:solidFill>
                <a:srgbClr val="A50021"/>
              </a:solidFill>
              <a:ea typeface="楷体_GB2312" charset="0"/>
            </a:endParaRPr>
          </a:p>
          <a:p>
            <a:pPr>
              <a:lnSpc>
                <a:spcPct val="95000"/>
              </a:lnSpc>
            </a:pPr>
            <a:endParaRPr lang="zh-CN" altLang="en-US" sz="4000">
              <a:solidFill>
                <a:srgbClr val="A50021"/>
              </a:solidFill>
              <a:ea typeface="楷体_GB2312" charset="0"/>
            </a:endParaRPr>
          </a:p>
          <a:p>
            <a:pPr>
              <a:lnSpc>
                <a:spcPct val="95000"/>
              </a:lnSpc>
            </a:pPr>
            <a:r>
              <a:rPr lang="zh-CN" altLang="en-US" sz="4000" b="1">
                <a:solidFill>
                  <a:srgbClr val="A50021"/>
                </a:solidFill>
                <a:ea typeface="楷体_GB2312" charset="0"/>
              </a:rPr>
              <a:t>数据关系</a:t>
            </a:r>
            <a:r>
              <a:rPr lang="en-US" altLang="zh-CN" sz="4000" b="1">
                <a:solidFill>
                  <a:srgbClr val="A50021"/>
                </a:solidFill>
                <a:ea typeface="楷体_GB2312" charset="0"/>
              </a:rPr>
              <a:t>R</a:t>
            </a:r>
            <a:r>
              <a:rPr lang="zh-CN" altLang="en-US" sz="4000">
                <a:solidFill>
                  <a:srgbClr val="A50021"/>
                </a:solidFill>
                <a:ea typeface="楷体_GB2312" charset="0"/>
              </a:rPr>
              <a:t>：</a:t>
            </a:r>
          </a:p>
        </p:txBody>
      </p:sp>
      <p:sp>
        <p:nvSpPr>
          <p:cNvPr id="52230" name="Text Box 6"/>
          <p:cNvSpPr txBox="1">
            <a:spLocks noChangeArrowheads="1"/>
          </p:cNvSpPr>
          <p:nvPr/>
        </p:nvSpPr>
        <p:spPr bwMode="auto">
          <a:xfrm>
            <a:off x="3352800" y="5546725"/>
            <a:ext cx="53403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ea typeface="楷体_GB2312" charset="0"/>
              </a:rPr>
              <a:t> </a:t>
            </a:r>
            <a:r>
              <a:rPr lang="zh-CN" altLang="en-US" sz="3600">
                <a:solidFill>
                  <a:schemeClr val="accent2"/>
                </a:solidFill>
                <a:ea typeface="楷体_GB2312" charset="0"/>
              </a:rPr>
              <a:t>数据元素同属一个集合。</a:t>
            </a:r>
            <a:endParaRPr lang="zh-CN" altLang="en-US" sz="4000">
              <a:ea typeface="楷体_GB2312" charset="0"/>
            </a:endParaRPr>
          </a:p>
        </p:txBody>
      </p:sp>
      <p:sp>
        <p:nvSpPr>
          <p:cNvPr id="52231" name="Text Box 7"/>
          <p:cNvSpPr txBox="1">
            <a:spLocks noChangeArrowheads="1"/>
          </p:cNvSpPr>
          <p:nvPr/>
        </p:nvSpPr>
        <p:spPr bwMode="auto">
          <a:xfrm>
            <a:off x="3505200" y="1905000"/>
            <a:ext cx="5334000" cy="352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600">
                <a:solidFill>
                  <a:schemeClr val="accent2"/>
                </a:solidFill>
                <a:ea typeface="楷体_GB2312" charset="0"/>
              </a:rPr>
              <a:t>D</a:t>
            </a:r>
            <a:r>
              <a:rPr lang="zh-CN" altLang="en-US" sz="3600">
                <a:solidFill>
                  <a:schemeClr val="accent2"/>
                </a:solidFill>
                <a:ea typeface="楷体_GB2312" charset="0"/>
              </a:rPr>
              <a:t>是具有相同特性的数据元素的集合。</a:t>
            </a:r>
          </a:p>
          <a:p>
            <a:pPr>
              <a:lnSpc>
                <a:spcPct val="125000"/>
              </a:lnSpc>
            </a:pPr>
            <a:r>
              <a:rPr lang="zh-CN" altLang="en-US" sz="3600">
                <a:solidFill>
                  <a:schemeClr val="accent2"/>
                </a:solidFill>
                <a:ea typeface="楷体_GB2312" charset="0"/>
              </a:rPr>
              <a:t>每个数据元素含有类型相同的关键字， 可唯一标识数据元素。</a:t>
            </a:r>
            <a:endParaRPr lang="zh-CN" altLang="en-US">
              <a:solidFill>
                <a:srgbClr val="6600CC"/>
              </a:solidFill>
            </a:endParaRPr>
          </a:p>
        </p:txBody>
      </p:sp>
    </p:spTree>
    <p:extLst>
      <p:ext uri="{BB962C8B-B14F-4D97-AF65-F5344CB8AC3E}">
        <p14:creationId xmlns:p14="http://schemas.microsoft.com/office/powerpoint/2010/main" val="37332136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2227"/>
                                        </p:tgtEl>
                                        <p:attrNameLst>
                                          <p:attrName>style.visibility</p:attrName>
                                        </p:attrNameLst>
                                      </p:cBhvr>
                                      <p:to>
                                        <p:strVal val="visible"/>
                                      </p:to>
                                    </p:set>
                                    <p:anim calcmode="lin" valueType="num">
                                      <p:cBhvr additive="base">
                                        <p:cTn id="7" dur="500" fill="hold"/>
                                        <p:tgtEl>
                                          <p:spTgt spid="52227"/>
                                        </p:tgtEl>
                                        <p:attrNameLst>
                                          <p:attrName>ppt_x</p:attrName>
                                        </p:attrNameLst>
                                      </p:cBhvr>
                                      <p:tavLst>
                                        <p:tav tm="0">
                                          <p:val>
                                            <p:strVal val="#ppt_x"/>
                                          </p:val>
                                        </p:tav>
                                        <p:tav tm="100000">
                                          <p:val>
                                            <p:strVal val="#ppt_x"/>
                                          </p:val>
                                        </p:tav>
                                      </p:tavLst>
                                    </p:anim>
                                    <p:anim calcmode="lin" valueType="num">
                                      <p:cBhvr additive="base">
                                        <p:cTn id="8" dur="500" fill="hold"/>
                                        <p:tgtEl>
                                          <p:spTgt spid="52227"/>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2226"/>
                                        </p:tgtEl>
                                        <p:attrNameLst>
                                          <p:attrName>style.visibility</p:attrName>
                                        </p:attrNameLst>
                                      </p:cBhvr>
                                      <p:to>
                                        <p:strVal val="visible"/>
                                      </p:to>
                                    </p:set>
                                    <p:anim calcmode="lin" valueType="num">
                                      <p:cBhvr additive="base">
                                        <p:cTn id="13" dur="500" fill="hold"/>
                                        <p:tgtEl>
                                          <p:spTgt spid="52226"/>
                                        </p:tgtEl>
                                        <p:attrNameLst>
                                          <p:attrName>ppt_x</p:attrName>
                                        </p:attrNameLst>
                                      </p:cBhvr>
                                      <p:tavLst>
                                        <p:tav tm="0">
                                          <p:val>
                                            <p:strVal val="0-#ppt_w/2"/>
                                          </p:val>
                                        </p:tav>
                                        <p:tav tm="100000">
                                          <p:val>
                                            <p:strVal val="#ppt_x"/>
                                          </p:val>
                                        </p:tav>
                                      </p:tavLst>
                                    </p:anim>
                                    <p:anim calcmode="lin" valueType="num">
                                      <p:cBhvr additive="base">
                                        <p:cTn id="14" dur="500" fill="hold"/>
                                        <p:tgtEl>
                                          <p:spTgt spid="5222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ntr" presetSubtype="42" fill="hold" grpId="0" nodeType="clickEffect">
                                  <p:stCondLst>
                                    <p:cond delay="0"/>
                                  </p:stCondLst>
                                  <p:childTnLst>
                                    <p:set>
                                      <p:cBhvr>
                                        <p:cTn id="18" dur="1" fill="hold">
                                          <p:stCondLst>
                                            <p:cond delay="0"/>
                                          </p:stCondLst>
                                        </p:cTn>
                                        <p:tgtEl>
                                          <p:spTgt spid="52228"/>
                                        </p:tgtEl>
                                        <p:attrNameLst>
                                          <p:attrName>style.visibility</p:attrName>
                                        </p:attrNameLst>
                                      </p:cBhvr>
                                      <p:to>
                                        <p:strVal val="visible"/>
                                      </p:to>
                                    </p:set>
                                    <p:animEffect transition="in" filter="barn(outHorizontal)">
                                      <p:cBhvr>
                                        <p:cTn id="19" dur="500"/>
                                        <p:tgtEl>
                                          <p:spTgt spid="5222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6" fill="hold" grpId="0" nodeType="clickEffect">
                                  <p:stCondLst>
                                    <p:cond delay="0"/>
                                  </p:stCondLst>
                                  <p:childTnLst>
                                    <p:set>
                                      <p:cBhvr>
                                        <p:cTn id="23" dur="1" fill="hold">
                                          <p:stCondLst>
                                            <p:cond delay="0"/>
                                          </p:stCondLst>
                                        </p:cTn>
                                        <p:tgtEl>
                                          <p:spTgt spid="52231"/>
                                        </p:tgtEl>
                                        <p:attrNameLst>
                                          <p:attrName>style.visibility</p:attrName>
                                        </p:attrNameLst>
                                      </p:cBhvr>
                                      <p:to>
                                        <p:strVal val="visible"/>
                                      </p:to>
                                    </p:set>
                                    <p:animEffect transition="in" filter="strips(downRight)">
                                      <p:cBhvr>
                                        <p:cTn id="24" dur="500"/>
                                        <p:tgtEl>
                                          <p:spTgt spid="5223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8" presetClass="entr" presetSubtype="6" fill="hold" grpId="0" nodeType="clickEffect">
                                  <p:stCondLst>
                                    <p:cond delay="0"/>
                                  </p:stCondLst>
                                  <p:childTnLst>
                                    <p:set>
                                      <p:cBhvr>
                                        <p:cTn id="28" dur="1" fill="hold">
                                          <p:stCondLst>
                                            <p:cond delay="0"/>
                                          </p:stCondLst>
                                        </p:cTn>
                                        <p:tgtEl>
                                          <p:spTgt spid="52230"/>
                                        </p:tgtEl>
                                        <p:attrNameLst>
                                          <p:attrName>style.visibility</p:attrName>
                                        </p:attrNameLst>
                                      </p:cBhvr>
                                      <p:to>
                                        <p:strVal val="visible"/>
                                      </p:to>
                                    </p:set>
                                    <p:animEffect transition="in" filter="strips(downRight)">
                                      <p:cBhvr>
                                        <p:cTn id="29" dur="500"/>
                                        <p:tgtEl>
                                          <p:spTgt spid="52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autoUpdateAnimBg="0"/>
      <p:bldP spid="52227" grpId="0" autoUpdateAnimBg="0"/>
      <p:bldP spid="52228" grpId="0" autoUpdateAnimBg="0"/>
      <p:bldP spid="52230" grpId="0" autoUpdateAnimBg="0"/>
      <p:bldP spid="52231"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hlinkClick r:id="" action="ppaction://hlinkshowjump?jump=nextslide" highlightClick="1"/>
          </p:cNvPr>
          <p:cNvSpPr txBox="1">
            <a:spLocks noChangeArrowheads="1"/>
          </p:cNvSpPr>
          <p:nvPr/>
        </p:nvSpPr>
        <p:spPr bwMode="auto">
          <a:xfrm>
            <a:off x="1371600" y="1143000"/>
            <a:ext cx="374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0000FF"/>
                </a:solidFill>
                <a:ea typeface="楷体_GB2312" charset="0"/>
              </a:rPr>
              <a:t>InitDSTable(</a:t>
            </a:r>
            <a:r>
              <a:rPr lang="en-US" altLang="zh-CN" sz="3600" b="1">
                <a:solidFill>
                  <a:srgbClr val="0000FF"/>
                </a:solidFill>
                <a:ea typeface="楷体_GB2312" charset="0"/>
              </a:rPr>
              <a:t>&amp;</a:t>
            </a:r>
            <a:r>
              <a:rPr lang="en-US" altLang="zh-CN" sz="3600">
                <a:solidFill>
                  <a:srgbClr val="0000FF"/>
                </a:solidFill>
                <a:ea typeface="楷体_GB2312" charset="0"/>
              </a:rPr>
              <a:t>DT)</a:t>
            </a:r>
            <a:endParaRPr lang="en-US" altLang="zh-CN"/>
          </a:p>
        </p:txBody>
      </p:sp>
      <p:sp>
        <p:nvSpPr>
          <p:cNvPr id="53251" name="Text Box 3"/>
          <p:cNvSpPr txBox="1">
            <a:spLocks noChangeArrowheads="1"/>
          </p:cNvSpPr>
          <p:nvPr/>
        </p:nvSpPr>
        <p:spPr bwMode="auto">
          <a:xfrm>
            <a:off x="533400" y="304800"/>
            <a:ext cx="30527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A50021"/>
                </a:solidFill>
                <a:ea typeface="楷体_GB2312" charset="0"/>
              </a:rPr>
              <a:t>基本操作</a:t>
            </a:r>
            <a:r>
              <a:rPr lang="en-US" altLang="zh-CN" sz="4000" b="1">
                <a:solidFill>
                  <a:srgbClr val="A50021"/>
                </a:solidFill>
                <a:ea typeface="楷体_GB2312" charset="0"/>
              </a:rPr>
              <a:t>P</a:t>
            </a:r>
            <a:r>
              <a:rPr lang="zh-CN" altLang="en-US" sz="4000">
                <a:solidFill>
                  <a:srgbClr val="A50021"/>
                </a:solidFill>
                <a:ea typeface="楷体_GB2312" charset="0"/>
              </a:rPr>
              <a:t>：</a:t>
            </a:r>
            <a:endParaRPr lang="zh-CN" altLang="en-US" sz="4000">
              <a:ea typeface="楷体_GB2312" charset="0"/>
            </a:endParaRPr>
          </a:p>
        </p:txBody>
      </p:sp>
      <p:sp>
        <p:nvSpPr>
          <p:cNvPr id="53252" name="Text Box 4">
            <a:hlinkClick r:id="rId2" action="ppaction://hlinksldjump" highlightClick="1"/>
          </p:cNvPr>
          <p:cNvSpPr txBox="1">
            <a:spLocks noChangeArrowheads="1"/>
          </p:cNvSpPr>
          <p:nvPr/>
        </p:nvSpPr>
        <p:spPr bwMode="auto">
          <a:xfrm>
            <a:off x="2838450" y="1981200"/>
            <a:ext cx="4552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006600"/>
                </a:solidFill>
                <a:ea typeface="楷体_GB2312" charset="0"/>
              </a:rPr>
              <a:t>DestroyDSTable(</a:t>
            </a:r>
            <a:r>
              <a:rPr lang="en-US" altLang="zh-CN" sz="3600" b="1">
                <a:solidFill>
                  <a:srgbClr val="006600"/>
                </a:solidFill>
                <a:ea typeface="楷体_GB2312" charset="0"/>
              </a:rPr>
              <a:t>&amp;</a:t>
            </a:r>
            <a:r>
              <a:rPr lang="en-US" altLang="zh-CN" sz="3600">
                <a:solidFill>
                  <a:srgbClr val="006600"/>
                </a:solidFill>
                <a:ea typeface="楷体_GB2312" charset="0"/>
              </a:rPr>
              <a:t>DT)</a:t>
            </a:r>
            <a:endParaRPr lang="en-US" altLang="zh-CN"/>
          </a:p>
        </p:txBody>
      </p:sp>
      <p:sp>
        <p:nvSpPr>
          <p:cNvPr id="53253" name="Text Box 5">
            <a:hlinkClick r:id="rId3" action="ppaction://hlinksldjump" highlightClick="1"/>
          </p:cNvPr>
          <p:cNvSpPr txBox="1">
            <a:spLocks noChangeArrowheads="1"/>
          </p:cNvSpPr>
          <p:nvPr/>
        </p:nvSpPr>
        <p:spPr bwMode="auto">
          <a:xfrm>
            <a:off x="1371600" y="2819400"/>
            <a:ext cx="4984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0000FF"/>
                </a:solidFill>
                <a:ea typeface="楷体_GB2312" charset="0"/>
              </a:rPr>
              <a:t>SearchDSTable(DT, key);</a:t>
            </a:r>
            <a:endParaRPr lang="en-US" altLang="zh-CN"/>
          </a:p>
        </p:txBody>
      </p:sp>
      <p:sp>
        <p:nvSpPr>
          <p:cNvPr id="53254" name="Text Box 6">
            <a:hlinkClick r:id="rId4" action="ppaction://hlinksldjump" highlightClick="1"/>
          </p:cNvPr>
          <p:cNvSpPr txBox="1">
            <a:spLocks noChangeArrowheads="1"/>
          </p:cNvSpPr>
          <p:nvPr/>
        </p:nvSpPr>
        <p:spPr bwMode="auto">
          <a:xfrm>
            <a:off x="2838450" y="3657600"/>
            <a:ext cx="4705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006600"/>
                </a:solidFill>
                <a:ea typeface="楷体_GB2312" charset="0"/>
              </a:rPr>
              <a:t>InsertDSTable(</a:t>
            </a:r>
            <a:r>
              <a:rPr lang="en-US" altLang="zh-CN" sz="3600" b="1">
                <a:solidFill>
                  <a:srgbClr val="006600"/>
                </a:solidFill>
                <a:ea typeface="楷体_GB2312" charset="0"/>
              </a:rPr>
              <a:t>&amp;</a:t>
            </a:r>
            <a:r>
              <a:rPr lang="en-US" altLang="zh-CN" sz="3600">
                <a:solidFill>
                  <a:srgbClr val="006600"/>
                </a:solidFill>
                <a:ea typeface="楷体_GB2312" charset="0"/>
              </a:rPr>
              <a:t>DT, e);</a:t>
            </a:r>
            <a:endParaRPr lang="en-US" altLang="zh-CN"/>
          </a:p>
        </p:txBody>
      </p:sp>
      <p:sp>
        <p:nvSpPr>
          <p:cNvPr id="53255" name="Text Box 7">
            <a:hlinkClick r:id="rId5" action="ppaction://hlinksldjump" highlightClick="1"/>
          </p:cNvPr>
          <p:cNvSpPr txBox="1">
            <a:spLocks noChangeArrowheads="1"/>
          </p:cNvSpPr>
          <p:nvPr/>
        </p:nvSpPr>
        <p:spPr bwMode="auto">
          <a:xfrm>
            <a:off x="1371600" y="4495800"/>
            <a:ext cx="4984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0000FF"/>
                </a:solidFill>
                <a:ea typeface="楷体_GB2312" charset="0"/>
              </a:rPr>
              <a:t>DeleteDSTable(</a:t>
            </a:r>
            <a:r>
              <a:rPr lang="en-US" altLang="zh-CN" sz="3600" b="1">
                <a:solidFill>
                  <a:srgbClr val="0000FF"/>
                </a:solidFill>
                <a:ea typeface="楷体_GB2312" charset="0"/>
              </a:rPr>
              <a:t>&amp;</a:t>
            </a:r>
            <a:r>
              <a:rPr lang="en-US" altLang="zh-CN" sz="3600">
                <a:solidFill>
                  <a:srgbClr val="0000FF"/>
                </a:solidFill>
                <a:ea typeface="楷体_GB2312" charset="0"/>
              </a:rPr>
              <a:t>T, key);</a:t>
            </a:r>
            <a:endParaRPr lang="en-US" altLang="zh-CN"/>
          </a:p>
        </p:txBody>
      </p:sp>
      <p:sp>
        <p:nvSpPr>
          <p:cNvPr id="53256" name="Text Box 8">
            <a:hlinkClick r:id="rId6" action="ppaction://hlinksldjump" highlightClick="1"/>
          </p:cNvPr>
          <p:cNvSpPr txBox="1">
            <a:spLocks noChangeArrowheads="1"/>
          </p:cNvSpPr>
          <p:nvPr/>
        </p:nvSpPr>
        <p:spPr bwMode="auto">
          <a:xfrm>
            <a:off x="2819400" y="5334000"/>
            <a:ext cx="587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006600"/>
                </a:solidFill>
                <a:ea typeface="楷体_GB2312" charset="0"/>
              </a:rPr>
              <a:t>TraverseDSTable(DT, Visit());</a:t>
            </a:r>
            <a:endParaRPr lang="en-US" altLang="zh-CN">
              <a:solidFill>
                <a:srgbClr val="006600"/>
              </a:solidFill>
            </a:endParaRPr>
          </a:p>
        </p:txBody>
      </p:sp>
      <p:sp>
        <p:nvSpPr>
          <p:cNvPr id="53258" name="Text Box 10"/>
          <p:cNvSpPr txBox="1">
            <a:spLocks noChangeArrowheads="1"/>
          </p:cNvSpPr>
          <p:nvPr/>
        </p:nvSpPr>
        <p:spPr bwMode="auto">
          <a:xfrm>
            <a:off x="304800" y="6126163"/>
            <a:ext cx="5791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200" b="1">
                <a:ea typeface="楷体_GB2312" charset="0"/>
              </a:rPr>
              <a:t>}ADT  DynamicSearchTable</a:t>
            </a:r>
            <a:endParaRPr lang="en-US" altLang="zh-CN"/>
          </a:p>
        </p:txBody>
      </p:sp>
      <p:sp>
        <p:nvSpPr>
          <p:cNvPr id="53259" name="AutoShape 11">
            <a:hlinkClick r:id="rId7" action="ppaction://hlinksldjump" highlightClick="1"/>
          </p:cNvPr>
          <p:cNvSpPr>
            <a:spLocks noChangeArrowheads="1"/>
          </p:cNvSpPr>
          <p:nvPr/>
        </p:nvSpPr>
        <p:spPr bwMode="auto">
          <a:xfrm>
            <a:off x="8382000" y="6248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1809669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3" fill="hold" grpId="0" nodeType="afterEffect">
                                  <p:stCondLst>
                                    <p:cond delay="0"/>
                                  </p:stCondLst>
                                  <p:childTnLst>
                                    <p:set>
                                      <p:cBhvr>
                                        <p:cTn id="6" dur="1" fill="hold">
                                          <p:stCondLst>
                                            <p:cond delay="0"/>
                                          </p:stCondLst>
                                        </p:cTn>
                                        <p:tgtEl>
                                          <p:spTgt spid="53251"/>
                                        </p:tgtEl>
                                        <p:attrNameLst>
                                          <p:attrName>style.visibility</p:attrName>
                                        </p:attrNameLst>
                                      </p:cBhvr>
                                      <p:to>
                                        <p:strVal val="visible"/>
                                      </p:to>
                                    </p:set>
                                    <p:anim calcmode="lin" valueType="num">
                                      <p:cBhvr additive="base">
                                        <p:cTn id="7" dur="500" fill="hold"/>
                                        <p:tgtEl>
                                          <p:spTgt spid="53251"/>
                                        </p:tgtEl>
                                        <p:attrNameLst>
                                          <p:attrName>ppt_x</p:attrName>
                                        </p:attrNameLst>
                                      </p:cBhvr>
                                      <p:tavLst>
                                        <p:tav tm="0">
                                          <p:val>
                                            <p:strVal val="1+#ppt_w/2"/>
                                          </p:val>
                                        </p:tav>
                                        <p:tav tm="100000">
                                          <p:val>
                                            <p:strVal val="#ppt_x"/>
                                          </p:val>
                                        </p:tav>
                                      </p:tavLst>
                                    </p:anim>
                                    <p:anim calcmode="lin" valueType="num">
                                      <p:cBhvr additive="base">
                                        <p:cTn id="8" dur="500" fill="hold"/>
                                        <p:tgtEl>
                                          <p:spTgt spid="53251"/>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53250"/>
                                        </p:tgtEl>
                                        <p:attrNameLst>
                                          <p:attrName>style.visibility</p:attrName>
                                        </p:attrNameLst>
                                      </p:cBhvr>
                                      <p:to>
                                        <p:strVal val="visible"/>
                                      </p:to>
                                    </p:set>
                                    <p:animEffect transition="in" filter="blinds(horizontal)">
                                      <p:cBhvr>
                                        <p:cTn id="12" dur="500"/>
                                        <p:tgtEl>
                                          <p:spTgt spid="53250"/>
                                        </p:tgtEl>
                                      </p:cBhvr>
                                    </p:animEffect>
                                  </p:childTnLst>
                                </p:cTn>
                              </p:par>
                            </p:childTnLst>
                          </p:cTn>
                        </p:par>
                        <p:par>
                          <p:cTn id="13" fill="hold" nodeType="afterGroup">
                            <p:stCondLst>
                              <p:cond delay="1000"/>
                            </p:stCondLst>
                            <p:childTnLst>
                              <p:par>
                                <p:cTn id="14" presetID="3" presetClass="entr" presetSubtype="5" fill="hold" grpId="0" nodeType="afterEffect">
                                  <p:stCondLst>
                                    <p:cond delay="0"/>
                                  </p:stCondLst>
                                  <p:childTnLst>
                                    <p:set>
                                      <p:cBhvr>
                                        <p:cTn id="15" dur="1" fill="hold">
                                          <p:stCondLst>
                                            <p:cond delay="0"/>
                                          </p:stCondLst>
                                        </p:cTn>
                                        <p:tgtEl>
                                          <p:spTgt spid="53252"/>
                                        </p:tgtEl>
                                        <p:attrNameLst>
                                          <p:attrName>style.visibility</p:attrName>
                                        </p:attrNameLst>
                                      </p:cBhvr>
                                      <p:to>
                                        <p:strVal val="visible"/>
                                      </p:to>
                                    </p:set>
                                    <p:animEffect transition="in" filter="blinds(vertical)">
                                      <p:cBhvr>
                                        <p:cTn id="16" dur="500"/>
                                        <p:tgtEl>
                                          <p:spTgt spid="53252"/>
                                        </p:tgtEl>
                                      </p:cBhvr>
                                    </p:animEffect>
                                  </p:childTnLst>
                                </p:cTn>
                              </p:par>
                            </p:childTnLst>
                          </p:cTn>
                        </p:par>
                        <p:par>
                          <p:cTn id="17" fill="hold" nodeType="afterGroup">
                            <p:stCondLst>
                              <p:cond delay="1500"/>
                            </p:stCondLst>
                            <p:childTnLst>
                              <p:par>
                                <p:cTn id="18" presetID="3" presetClass="entr" presetSubtype="10" fill="hold" grpId="0" nodeType="afterEffect">
                                  <p:stCondLst>
                                    <p:cond delay="0"/>
                                  </p:stCondLst>
                                  <p:childTnLst>
                                    <p:set>
                                      <p:cBhvr>
                                        <p:cTn id="19" dur="1" fill="hold">
                                          <p:stCondLst>
                                            <p:cond delay="0"/>
                                          </p:stCondLst>
                                        </p:cTn>
                                        <p:tgtEl>
                                          <p:spTgt spid="53253"/>
                                        </p:tgtEl>
                                        <p:attrNameLst>
                                          <p:attrName>style.visibility</p:attrName>
                                        </p:attrNameLst>
                                      </p:cBhvr>
                                      <p:to>
                                        <p:strVal val="visible"/>
                                      </p:to>
                                    </p:set>
                                    <p:animEffect transition="in" filter="blinds(horizontal)">
                                      <p:cBhvr>
                                        <p:cTn id="20" dur="500"/>
                                        <p:tgtEl>
                                          <p:spTgt spid="53253"/>
                                        </p:tgtEl>
                                      </p:cBhvr>
                                    </p:animEffect>
                                  </p:childTnLst>
                                </p:cTn>
                              </p:par>
                            </p:childTnLst>
                          </p:cTn>
                        </p:par>
                        <p:par>
                          <p:cTn id="21" fill="hold" nodeType="afterGroup">
                            <p:stCondLst>
                              <p:cond delay="2000"/>
                            </p:stCondLst>
                            <p:childTnLst>
                              <p:par>
                                <p:cTn id="22" presetID="3" presetClass="entr" presetSubtype="5" fill="hold" grpId="0" nodeType="afterEffect">
                                  <p:stCondLst>
                                    <p:cond delay="0"/>
                                  </p:stCondLst>
                                  <p:childTnLst>
                                    <p:set>
                                      <p:cBhvr>
                                        <p:cTn id="23" dur="1" fill="hold">
                                          <p:stCondLst>
                                            <p:cond delay="0"/>
                                          </p:stCondLst>
                                        </p:cTn>
                                        <p:tgtEl>
                                          <p:spTgt spid="53254"/>
                                        </p:tgtEl>
                                        <p:attrNameLst>
                                          <p:attrName>style.visibility</p:attrName>
                                        </p:attrNameLst>
                                      </p:cBhvr>
                                      <p:to>
                                        <p:strVal val="visible"/>
                                      </p:to>
                                    </p:set>
                                    <p:animEffect transition="in" filter="blinds(vertical)">
                                      <p:cBhvr>
                                        <p:cTn id="24" dur="500"/>
                                        <p:tgtEl>
                                          <p:spTgt spid="53254"/>
                                        </p:tgtEl>
                                      </p:cBhvr>
                                    </p:animEffect>
                                  </p:childTnLst>
                                </p:cTn>
                              </p:par>
                            </p:childTnLst>
                          </p:cTn>
                        </p:par>
                        <p:par>
                          <p:cTn id="25" fill="hold" nodeType="afterGroup">
                            <p:stCondLst>
                              <p:cond delay="2500"/>
                            </p:stCondLst>
                            <p:childTnLst>
                              <p:par>
                                <p:cTn id="26" presetID="3" presetClass="entr" presetSubtype="10" fill="hold" grpId="0" nodeType="afterEffect">
                                  <p:stCondLst>
                                    <p:cond delay="0"/>
                                  </p:stCondLst>
                                  <p:childTnLst>
                                    <p:set>
                                      <p:cBhvr>
                                        <p:cTn id="27" dur="1" fill="hold">
                                          <p:stCondLst>
                                            <p:cond delay="0"/>
                                          </p:stCondLst>
                                        </p:cTn>
                                        <p:tgtEl>
                                          <p:spTgt spid="53255"/>
                                        </p:tgtEl>
                                        <p:attrNameLst>
                                          <p:attrName>style.visibility</p:attrName>
                                        </p:attrNameLst>
                                      </p:cBhvr>
                                      <p:to>
                                        <p:strVal val="visible"/>
                                      </p:to>
                                    </p:set>
                                    <p:animEffect transition="in" filter="blinds(horizontal)">
                                      <p:cBhvr>
                                        <p:cTn id="28" dur="500"/>
                                        <p:tgtEl>
                                          <p:spTgt spid="53255"/>
                                        </p:tgtEl>
                                      </p:cBhvr>
                                    </p:animEffect>
                                  </p:childTnLst>
                                </p:cTn>
                              </p:par>
                            </p:childTnLst>
                          </p:cTn>
                        </p:par>
                        <p:par>
                          <p:cTn id="29" fill="hold" nodeType="afterGroup">
                            <p:stCondLst>
                              <p:cond delay="3000"/>
                            </p:stCondLst>
                            <p:childTnLst>
                              <p:par>
                                <p:cTn id="30" presetID="3" presetClass="entr" presetSubtype="5" fill="hold" grpId="0" nodeType="afterEffect">
                                  <p:stCondLst>
                                    <p:cond delay="0"/>
                                  </p:stCondLst>
                                  <p:childTnLst>
                                    <p:set>
                                      <p:cBhvr>
                                        <p:cTn id="31" dur="1" fill="hold">
                                          <p:stCondLst>
                                            <p:cond delay="0"/>
                                          </p:stCondLst>
                                        </p:cTn>
                                        <p:tgtEl>
                                          <p:spTgt spid="53256"/>
                                        </p:tgtEl>
                                        <p:attrNameLst>
                                          <p:attrName>style.visibility</p:attrName>
                                        </p:attrNameLst>
                                      </p:cBhvr>
                                      <p:to>
                                        <p:strVal val="visible"/>
                                      </p:to>
                                    </p:set>
                                    <p:animEffect transition="in" filter="blinds(vertical)">
                                      <p:cBhvr>
                                        <p:cTn id="32" dur="500"/>
                                        <p:tgtEl>
                                          <p:spTgt spid="53256"/>
                                        </p:tgtEl>
                                      </p:cBhvr>
                                    </p:animEffect>
                                  </p:childTnLst>
                                </p:cTn>
                              </p:par>
                            </p:childTnLst>
                          </p:cTn>
                        </p:par>
                        <p:par>
                          <p:cTn id="33" fill="hold" nodeType="afterGroup">
                            <p:stCondLst>
                              <p:cond delay="3500"/>
                            </p:stCondLst>
                            <p:childTnLst>
                              <p:par>
                                <p:cTn id="34" presetID="2" presetClass="entr" presetSubtype="12" fill="hold" grpId="0" nodeType="afterEffect">
                                  <p:stCondLst>
                                    <p:cond delay="0"/>
                                  </p:stCondLst>
                                  <p:childTnLst>
                                    <p:set>
                                      <p:cBhvr>
                                        <p:cTn id="35" dur="1" fill="hold">
                                          <p:stCondLst>
                                            <p:cond delay="0"/>
                                          </p:stCondLst>
                                        </p:cTn>
                                        <p:tgtEl>
                                          <p:spTgt spid="53258"/>
                                        </p:tgtEl>
                                        <p:attrNameLst>
                                          <p:attrName>style.visibility</p:attrName>
                                        </p:attrNameLst>
                                      </p:cBhvr>
                                      <p:to>
                                        <p:strVal val="visible"/>
                                      </p:to>
                                    </p:set>
                                    <p:anim calcmode="lin" valueType="num">
                                      <p:cBhvr additive="base">
                                        <p:cTn id="36" dur="500" fill="hold"/>
                                        <p:tgtEl>
                                          <p:spTgt spid="53258"/>
                                        </p:tgtEl>
                                        <p:attrNameLst>
                                          <p:attrName>ppt_x</p:attrName>
                                        </p:attrNameLst>
                                      </p:cBhvr>
                                      <p:tavLst>
                                        <p:tav tm="0">
                                          <p:val>
                                            <p:strVal val="0-#ppt_w/2"/>
                                          </p:val>
                                        </p:tav>
                                        <p:tav tm="100000">
                                          <p:val>
                                            <p:strVal val="#ppt_x"/>
                                          </p:val>
                                        </p:tav>
                                      </p:tavLst>
                                    </p:anim>
                                    <p:anim calcmode="lin" valueType="num">
                                      <p:cBhvr additive="base">
                                        <p:cTn id="37" dur="500" fill="hold"/>
                                        <p:tgtEl>
                                          <p:spTgt spid="53258"/>
                                        </p:tgtEl>
                                        <p:attrNameLst>
                                          <p:attrName>ppt_y</p:attrName>
                                        </p:attrNameLst>
                                      </p:cBhvr>
                                      <p:tavLst>
                                        <p:tav tm="0">
                                          <p:val>
                                            <p:strVal val="1+#ppt_h/2"/>
                                          </p:val>
                                        </p:tav>
                                        <p:tav tm="100000">
                                          <p:val>
                                            <p:strVal val="#ppt_y"/>
                                          </p:val>
                                        </p:tav>
                                      </p:tavLst>
                                    </p:anim>
                                  </p:childTnLst>
                                </p:cTn>
                              </p:par>
                            </p:childTnLst>
                          </p:cTn>
                        </p:par>
                        <p:par>
                          <p:cTn id="38" fill="hold" nodeType="afterGroup">
                            <p:stCondLst>
                              <p:cond delay="4000"/>
                            </p:stCondLst>
                            <p:childTnLst>
                              <p:par>
                                <p:cTn id="39" presetID="2" presetClass="entr" presetSubtype="6" fill="hold" grpId="0" nodeType="afterEffect">
                                  <p:stCondLst>
                                    <p:cond delay="0"/>
                                  </p:stCondLst>
                                  <p:childTnLst>
                                    <p:set>
                                      <p:cBhvr>
                                        <p:cTn id="40" dur="1" fill="hold">
                                          <p:stCondLst>
                                            <p:cond delay="0"/>
                                          </p:stCondLst>
                                        </p:cTn>
                                        <p:tgtEl>
                                          <p:spTgt spid="53259"/>
                                        </p:tgtEl>
                                        <p:attrNameLst>
                                          <p:attrName>style.visibility</p:attrName>
                                        </p:attrNameLst>
                                      </p:cBhvr>
                                      <p:to>
                                        <p:strVal val="visible"/>
                                      </p:to>
                                    </p:set>
                                    <p:anim calcmode="lin" valueType="num">
                                      <p:cBhvr additive="base">
                                        <p:cTn id="41" dur="500" fill="hold"/>
                                        <p:tgtEl>
                                          <p:spTgt spid="53259"/>
                                        </p:tgtEl>
                                        <p:attrNameLst>
                                          <p:attrName>ppt_x</p:attrName>
                                        </p:attrNameLst>
                                      </p:cBhvr>
                                      <p:tavLst>
                                        <p:tav tm="0">
                                          <p:val>
                                            <p:strVal val="1+#ppt_w/2"/>
                                          </p:val>
                                        </p:tav>
                                        <p:tav tm="100000">
                                          <p:val>
                                            <p:strVal val="#ppt_x"/>
                                          </p:val>
                                        </p:tav>
                                      </p:tavLst>
                                    </p:anim>
                                    <p:anim calcmode="lin" valueType="num">
                                      <p:cBhvr additive="base">
                                        <p:cTn id="42" dur="500" fill="hold"/>
                                        <p:tgtEl>
                                          <p:spTgt spid="532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autoUpdateAnimBg="0"/>
      <p:bldP spid="53251" grpId="0" autoUpdateAnimBg="0"/>
      <p:bldP spid="53252" grpId="0" autoUpdateAnimBg="0"/>
      <p:bldP spid="53253" grpId="0" autoUpdateAnimBg="0"/>
      <p:bldP spid="53254" grpId="0" autoUpdateAnimBg="0"/>
      <p:bldP spid="53255" grpId="0" autoUpdateAnimBg="0"/>
      <p:bldP spid="53256" grpId="0" autoUpdateAnimBg="0"/>
      <p:bldP spid="53258" grpId="0" autoUpdateAnimBg="0"/>
      <p:bldP spid="5325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1295400" y="3124200"/>
            <a:ext cx="2747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A50021"/>
                </a:solidFill>
                <a:ea typeface="楷体_GB2312" charset="0"/>
              </a:rPr>
              <a:t>操作结果：</a:t>
            </a:r>
          </a:p>
        </p:txBody>
      </p:sp>
      <p:sp>
        <p:nvSpPr>
          <p:cNvPr id="54275" name="Text Box 3"/>
          <p:cNvSpPr txBox="1">
            <a:spLocks noChangeArrowheads="1"/>
          </p:cNvSpPr>
          <p:nvPr/>
        </p:nvSpPr>
        <p:spPr bwMode="auto">
          <a:xfrm>
            <a:off x="1828800" y="4495800"/>
            <a:ext cx="69564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a:ea typeface="楷体_GB2312" charset="0"/>
              </a:rPr>
              <a:t>构造一个空的动态查找表</a:t>
            </a:r>
            <a:r>
              <a:rPr lang="en-US" altLang="zh-CN" sz="4000">
                <a:ea typeface="楷体_GB2312" charset="0"/>
              </a:rPr>
              <a:t>DT</a:t>
            </a:r>
            <a:r>
              <a:rPr lang="zh-CN" altLang="en-US" sz="4000">
                <a:ea typeface="楷体_GB2312" charset="0"/>
              </a:rPr>
              <a:t>。</a:t>
            </a:r>
          </a:p>
          <a:p>
            <a:endParaRPr lang="zh-CN" altLang="en-US"/>
          </a:p>
        </p:txBody>
      </p:sp>
      <p:sp>
        <p:nvSpPr>
          <p:cNvPr id="54276" name="Text Box 4"/>
          <p:cNvSpPr txBox="1">
            <a:spLocks noChangeArrowheads="1"/>
          </p:cNvSpPr>
          <p:nvPr/>
        </p:nvSpPr>
        <p:spPr bwMode="auto">
          <a:xfrm>
            <a:off x="1219200" y="1676400"/>
            <a:ext cx="42767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0000FF"/>
                </a:solidFill>
                <a:ea typeface="楷体_GB2312" charset="0"/>
              </a:rPr>
              <a:t>InitDSTable(</a:t>
            </a:r>
            <a:r>
              <a:rPr lang="en-US" altLang="zh-CN" sz="4000" b="1">
                <a:solidFill>
                  <a:srgbClr val="0000FF"/>
                </a:solidFill>
                <a:ea typeface="楷体_GB2312" charset="0"/>
              </a:rPr>
              <a:t>&amp;</a:t>
            </a:r>
            <a:r>
              <a:rPr lang="en-US" altLang="zh-CN" sz="4000">
                <a:solidFill>
                  <a:srgbClr val="0000FF"/>
                </a:solidFill>
                <a:ea typeface="楷体_GB2312" charset="0"/>
              </a:rPr>
              <a:t>DT);</a:t>
            </a:r>
            <a:endParaRPr lang="en-US" altLang="zh-CN"/>
          </a:p>
        </p:txBody>
      </p:sp>
      <p:sp>
        <p:nvSpPr>
          <p:cNvPr id="54278" name="AutoShape 6">
            <a:hlinkClick r:id="" action="ppaction://hlinkshowjump?jump=lastslideviewed" highlightClick="1"/>
          </p:cNvPr>
          <p:cNvSpPr>
            <a:spLocks noChangeArrowheads="1"/>
          </p:cNvSpPr>
          <p:nvPr/>
        </p:nvSpPr>
        <p:spPr bwMode="auto">
          <a:xfrm>
            <a:off x="8458200" y="60960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0832063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54276"/>
                                        </p:tgtEl>
                                        <p:attrNameLst>
                                          <p:attrName>style.visibility</p:attrName>
                                        </p:attrNameLst>
                                      </p:cBhvr>
                                      <p:to>
                                        <p:strVal val="visible"/>
                                      </p:to>
                                    </p:set>
                                    <p:animEffect transition="in" filter="randombar(horizontal)">
                                      <p:cBhvr>
                                        <p:cTn id="7" dur="500"/>
                                        <p:tgtEl>
                                          <p:spTgt spid="542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4274"/>
                                        </p:tgtEl>
                                        <p:attrNameLst>
                                          <p:attrName>style.visibility</p:attrName>
                                        </p:attrNameLst>
                                      </p:cBhvr>
                                      <p:to>
                                        <p:strVal val="visible"/>
                                      </p:to>
                                    </p:set>
                                    <p:animEffect transition="in" filter="barn(outHorizontal)">
                                      <p:cBhvr>
                                        <p:cTn id="12" dur="500"/>
                                        <p:tgtEl>
                                          <p:spTgt spid="542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275"/>
                                        </p:tgtEl>
                                        <p:attrNameLst>
                                          <p:attrName>style.visibility</p:attrName>
                                        </p:attrNameLst>
                                      </p:cBhvr>
                                      <p:to>
                                        <p:strVal val="visible"/>
                                      </p:to>
                                    </p:set>
                                    <p:animEffect transition="in" filter="wipe(left)">
                                      <p:cBhvr>
                                        <p:cTn id="17" dur="500"/>
                                        <p:tgtEl>
                                          <p:spTgt spid="54275"/>
                                        </p:tgtEl>
                                      </p:cBhvr>
                                    </p:animEffect>
                                  </p:childTnLst>
                                </p:cTn>
                              </p:par>
                            </p:childTnLst>
                          </p:cTn>
                        </p:par>
                        <p:par>
                          <p:cTn id="18" fill="hold" nodeType="afterGroup">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54278"/>
                                        </p:tgtEl>
                                        <p:attrNameLst>
                                          <p:attrName>style.visibility</p:attrName>
                                        </p:attrNameLst>
                                      </p:cBhvr>
                                      <p:to>
                                        <p:strVal val="visible"/>
                                      </p:to>
                                    </p:set>
                                    <p:anim calcmode="lin" valueType="num">
                                      <p:cBhvr additive="base">
                                        <p:cTn id="21" dur="500" fill="hold"/>
                                        <p:tgtEl>
                                          <p:spTgt spid="54278"/>
                                        </p:tgtEl>
                                        <p:attrNameLst>
                                          <p:attrName>ppt_x</p:attrName>
                                        </p:attrNameLst>
                                      </p:cBhvr>
                                      <p:tavLst>
                                        <p:tav tm="0">
                                          <p:val>
                                            <p:strVal val="1+#ppt_w/2"/>
                                          </p:val>
                                        </p:tav>
                                        <p:tav tm="100000">
                                          <p:val>
                                            <p:strVal val="#ppt_x"/>
                                          </p:val>
                                        </p:tav>
                                      </p:tavLst>
                                    </p:anim>
                                    <p:anim calcmode="lin" valueType="num">
                                      <p:cBhvr additive="base">
                                        <p:cTn id="22" dur="500" fill="hold"/>
                                        <p:tgtEl>
                                          <p:spTgt spid="542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autoUpdateAnimBg="0"/>
      <p:bldP spid="54275" grpId="0" autoUpdateAnimBg="0"/>
      <p:bldP spid="54276" grpId="0" autoUpdateAnimBg="0"/>
      <p:bldP spid="5427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3810000" y="4419600"/>
            <a:ext cx="49244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a:ea typeface="楷体_GB2312" charset="0"/>
              </a:rPr>
              <a:t>销毁动态查找表</a:t>
            </a:r>
            <a:r>
              <a:rPr lang="en-US" altLang="zh-CN" sz="4000">
                <a:ea typeface="楷体_GB2312" charset="0"/>
              </a:rPr>
              <a:t>DT</a:t>
            </a:r>
            <a:r>
              <a:rPr lang="zh-CN" altLang="en-US" sz="4000">
                <a:ea typeface="楷体_GB2312" charset="0"/>
              </a:rPr>
              <a:t>。</a:t>
            </a:r>
          </a:p>
          <a:p>
            <a:endParaRPr lang="zh-CN" altLang="en-US"/>
          </a:p>
        </p:txBody>
      </p:sp>
      <p:sp>
        <p:nvSpPr>
          <p:cNvPr id="55300" name="Text Box 4"/>
          <p:cNvSpPr txBox="1">
            <a:spLocks noChangeArrowheads="1"/>
          </p:cNvSpPr>
          <p:nvPr/>
        </p:nvSpPr>
        <p:spPr bwMode="auto">
          <a:xfrm>
            <a:off x="990600" y="1447800"/>
            <a:ext cx="56753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400">
                <a:solidFill>
                  <a:srgbClr val="006600"/>
                </a:solidFill>
                <a:ea typeface="楷体_GB2312" charset="0"/>
              </a:rPr>
              <a:t>DestroyDSTable(</a:t>
            </a:r>
            <a:r>
              <a:rPr lang="en-US" altLang="zh-CN" sz="4400" b="1">
                <a:solidFill>
                  <a:srgbClr val="006600"/>
                </a:solidFill>
                <a:ea typeface="楷体_GB2312" charset="0"/>
              </a:rPr>
              <a:t>&amp;</a:t>
            </a:r>
            <a:r>
              <a:rPr lang="en-US" altLang="zh-CN" sz="4400">
                <a:solidFill>
                  <a:srgbClr val="006600"/>
                </a:solidFill>
                <a:ea typeface="楷体_GB2312" charset="0"/>
              </a:rPr>
              <a:t>DT);</a:t>
            </a:r>
            <a:endParaRPr lang="en-US" altLang="zh-CN" sz="4400"/>
          </a:p>
        </p:txBody>
      </p:sp>
      <p:sp>
        <p:nvSpPr>
          <p:cNvPr id="55301" name="Text Box 5"/>
          <p:cNvSpPr txBox="1">
            <a:spLocks noChangeArrowheads="1"/>
          </p:cNvSpPr>
          <p:nvPr/>
        </p:nvSpPr>
        <p:spPr bwMode="auto">
          <a:xfrm>
            <a:off x="990600" y="3048000"/>
            <a:ext cx="3117850"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a:solidFill>
                  <a:srgbClr val="A50021"/>
                </a:solidFill>
                <a:ea typeface="楷体_GB2312" charset="0"/>
              </a:rPr>
              <a:t>初始条件：</a:t>
            </a:r>
          </a:p>
          <a:p>
            <a:endParaRPr lang="zh-CN" altLang="en-US" sz="4400">
              <a:solidFill>
                <a:srgbClr val="A50021"/>
              </a:solidFill>
              <a:ea typeface="楷体_GB2312" charset="0"/>
            </a:endParaRPr>
          </a:p>
          <a:p>
            <a:r>
              <a:rPr lang="zh-CN" altLang="en-US" sz="4400">
                <a:solidFill>
                  <a:srgbClr val="A50021"/>
                </a:solidFill>
                <a:ea typeface="楷体_GB2312" charset="0"/>
              </a:rPr>
              <a:t> 操作结果：</a:t>
            </a:r>
            <a:endParaRPr lang="zh-CN" altLang="en-US">
              <a:ea typeface="楷体_GB2312" charset="0"/>
            </a:endParaRPr>
          </a:p>
        </p:txBody>
      </p:sp>
      <p:sp>
        <p:nvSpPr>
          <p:cNvPr id="55302" name="Text Box 6"/>
          <p:cNvSpPr txBox="1">
            <a:spLocks noChangeArrowheads="1"/>
          </p:cNvSpPr>
          <p:nvPr/>
        </p:nvSpPr>
        <p:spPr bwMode="auto">
          <a:xfrm>
            <a:off x="3810000" y="3124200"/>
            <a:ext cx="49244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a:ea typeface="楷体_GB2312" charset="0"/>
              </a:rPr>
              <a:t>动态查找表</a:t>
            </a:r>
            <a:r>
              <a:rPr lang="en-US" altLang="zh-CN" sz="4000">
                <a:ea typeface="楷体_GB2312" charset="0"/>
              </a:rPr>
              <a:t>DT</a:t>
            </a:r>
            <a:r>
              <a:rPr lang="zh-CN" altLang="en-US" sz="4000">
                <a:ea typeface="楷体_GB2312" charset="0"/>
              </a:rPr>
              <a:t>存在；</a:t>
            </a:r>
          </a:p>
          <a:p>
            <a:endParaRPr lang="zh-CN" altLang="en-US"/>
          </a:p>
        </p:txBody>
      </p:sp>
      <p:sp>
        <p:nvSpPr>
          <p:cNvPr id="55304" name="AutoShape 8">
            <a:hlinkClick r:id="" action="ppaction://hlinkshowjump?jump=lastslideviewed" highlightClick="1"/>
          </p:cNvPr>
          <p:cNvSpPr>
            <a:spLocks noChangeArrowheads="1"/>
          </p:cNvSpPr>
          <p:nvPr/>
        </p:nvSpPr>
        <p:spPr bwMode="auto">
          <a:xfrm>
            <a:off x="8458200" y="60960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6562720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55300"/>
                                        </p:tgtEl>
                                        <p:attrNameLst>
                                          <p:attrName>style.visibility</p:attrName>
                                        </p:attrNameLst>
                                      </p:cBhvr>
                                      <p:to>
                                        <p:strVal val="visible"/>
                                      </p:to>
                                    </p:set>
                                    <p:animEffect transition="in" filter="randombar(horizontal)">
                                      <p:cBhvr>
                                        <p:cTn id="7" dur="500"/>
                                        <p:tgtEl>
                                          <p:spTgt spid="553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5301"/>
                                        </p:tgtEl>
                                        <p:attrNameLst>
                                          <p:attrName>style.visibility</p:attrName>
                                        </p:attrNameLst>
                                      </p:cBhvr>
                                      <p:to>
                                        <p:strVal val="visible"/>
                                      </p:to>
                                    </p:set>
                                    <p:animEffect transition="in" filter="barn(outHorizontal)">
                                      <p:cBhvr>
                                        <p:cTn id="12" dur="500"/>
                                        <p:tgtEl>
                                          <p:spTgt spid="553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5302"/>
                                        </p:tgtEl>
                                        <p:attrNameLst>
                                          <p:attrName>style.visibility</p:attrName>
                                        </p:attrNameLst>
                                      </p:cBhvr>
                                      <p:to>
                                        <p:strVal val="visible"/>
                                      </p:to>
                                    </p:set>
                                    <p:animEffect transition="in" filter="wipe(left)">
                                      <p:cBhvr>
                                        <p:cTn id="17" dur="500"/>
                                        <p:tgtEl>
                                          <p:spTgt spid="5530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5298"/>
                                        </p:tgtEl>
                                        <p:attrNameLst>
                                          <p:attrName>style.visibility</p:attrName>
                                        </p:attrNameLst>
                                      </p:cBhvr>
                                      <p:to>
                                        <p:strVal val="visible"/>
                                      </p:to>
                                    </p:set>
                                    <p:animEffect transition="in" filter="wipe(left)">
                                      <p:cBhvr>
                                        <p:cTn id="22" dur="500"/>
                                        <p:tgtEl>
                                          <p:spTgt spid="55298"/>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55304"/>
                                        </p:tgtEl>
                                        <p:attrNameLst>
                                          <p:attrName>style.visibility</p:attrName>
                                        </p:attrNameLst>
                                      </p:cBhvr>
                                      <p:to>
                                        <p:strVal val="visible"/>
                                      </p:to>
                                    </p:set>
                                    <p:anim calcmode="lin" valueType="num">
                                      <p:cBhvr additive="base">
                                        <p:cTn id="26" dur="500" fill="hold"/>
                                        <p:tgtEl>
                                          <p:spTgt spid="55304"/>
                                        </p:tgtEl>
                                        <p:attrNameLst>
                                          <p:attrName>ppt_x</p:attrName>
                                        </p:attrNameLst>
                                      </p:cBhvr>
                                      <p:tavLst>
                                        <p:tav tm="0">
                                          <p:val>
                                            <p:strVal val="1+#ppt_w/2"/>
                                          </p:val>
                                        </p:tav>
                                        <p:tav tm="100000">
                                          <p:val>
                                            <p:strVal val="#ppt_x"/>
                                          </p:val>
                                        </p:tav>
                                      </p:tavLst>
                                    </p:anim>
                                    <p:anim calcmode="lin" valueType="num">
                                      <p:cBhvr additive="base">
                                        <p:cTn id="27" dur="500" fill="hold"/>
                                        <p:tgtEl>
                                          <p:spTgt spid="553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autoUpdateAnimBg="0"/>
      <p:bldP spid="55300" grpId="0" autoUpdateAnimBg="0"/>
      <p:bldP spid="55301" grpId="0" autoUpdateAnimBg="0"/>
      <p:bldP spid="55302" grpId="0" autoUpdateAnimBg="0"/>
      <p:bldP spid="5530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3168650" y="3765550"/>
            <a:ext cx="5746750"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zh-CN" altLang="en-US" sz="3600">
                <a:ea typeface="楷体_GB2312" charset="0"/>
              </a:rPr>
              <a:t>若</a:t>
            </a:r>
            <a:r>
              <a:rPr lang="en-US" altLang="zh-CN" sz="3600">
                <a:ea typeface="楷体_GB2312" charset="0"/>
              </a:rPr>
              <a:t>DT</a:t>
            </a:r>
            <a:r>
              <a:rPr lang="zh-CN" altLang="en-US" sz="3600">
                <a:ea typeface="楷体_GB2312" charset="0"/>
              </a:rPr>
              <a:t>中存在其关键字等于 </a:t>
            </a:r>
            <a:r>
              <a:rPr lang="en-US" altLang="zh-CN" sz="3600" b="1">
                <a:solidFill>
                  <a:srgbClr val="CC6600"/>
                </a:solidFill>
                <a:ea typeface="楷体_GB2312" charset="0"/>
              </a:rPr>
              <a:t>key</a:t>
            </a:r>
            <a:r>
              <a:rPr lang="zh-CN" altLang="en-US" sz="3600">
                <a:ea typeface="楷体_GB2312" charset="0"/>
              </a:rPr>
              <a:t>的数据元素，则函数值为该元素的值或在表中的位置，否则为“空”。</a:t>
            </a:r>
            <a:endParaRPr lang="zh-CN" altLang="en-US" sz="3600"/>
          </a:p>
        </p:txBody>
      </p:sp>
      <p:sp>
        <p:nvSpPr>
          <p:cNvPr id="56323" name="Text Box 3"/>
          <p:cNvSpPr txBox="1">
            <a:spLocks noChangeArrowheads="1"/>
          </p:cNvSpPr>
          <p:nvPr/>
        </p:nvSpPr>
        <p:spPr bwMode="auto">
          <a:xfrm>
            <a:off x="838200" y="304800"/>
            <a:ext cx="6046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400">
                <a:solidFill>
                  <a:srgbClr val="0000FF"/>
                </a:solidFill>
                <a:ea typeface="楷体_GB2312" charset="0"/>
              </a:rPr>
              <a:t>SearchDSTable(DT, key);</a:t>
            </a:r>
            <a:endParaRPr lang="en-US" altLang="zh-CN" sz="4400"/>
          </a:p>
        </p:txBody>
      </p:sp>
      <p:sp>
        <p:nvSpPr>
          <p:cNvPr id="56324" name="Text Box 4"/>
          <p:cNvSpPr txBox="1">
            <a:spLocks noChangeArrowheads="1"/>
          </p:cNvSpPr>
          <p:nvPr/>
        </p:nvSpPr>
        <p:spPr bwMode="auto">
          <a:xfrm>
            <a:off x="381000" y="1219200"/>
            <a:ext cx="2978150" cy="330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lang="zh-CN" altLang="en-US" sz="4400">
                <a:solidFill>
                  <a:srgbClr val="A50021"/>
                </a:solidFill>
                <a:ea typeface="楷体_GB2312" charset="0"/>
              </a:rPr>
              <a:t>初始条件：</a:t>
            </a:r>
          </a:p>
          <a:p>
            <a:pPr>
              <a:lnSpc>
                <a:spcPct val="120000"/>
              </a:lnSpc>
            </a:pPr>
            <a:endParaRPr lang="zh-CN" altLang="en-US" sz="4400">
              <a:solidFill>
                <a:srgbClr val="A50021"/>
              </a:solidFill>
              <a:ea typeface="楷体_GB2312" charset="0"/>
            </a:endParaRPr>
          </a:p>
          <a:p>
            <a:pPr>
              <a:lnSpc>
                <a:spcPct val="120000"/>
              </a:lnSpc>
            </a:pPr>
            <a:endParaRPr lang="zh-CN" altLang="en-US" sz="4400">
              <a:solidFill>
                <a:srgbClr val="A50021"/>
              </a:solidFill>
              <a:ea typeface="楷体_GB2312" charset="0"/>
            </a:endParaRPr>
          </a:p>
          <a:p>
            <a:pPr>
              <a:lnSpc>
                <a:spcPct val="120000"/>
              </a:lnSpc>
            </a:pPr>
            <a:r>
              <a:rPr lang="zh-CN" altLang="en-US" sz="4400">
                <a:solidFill>
                  <a:srgbClr val="A50021"/>
                </a:solidFill>
                <a:ea typeface="楷体_GB2312" charset="0"/>
              </a:rPr>
              <a:t>操作结果：</a:t>
            </a:r>
            <a:endParaRPr lang="zh-CN" altLang="en-US">
              <a:ea typeface="楷体_GB2312" charset="0"/>
            </a:endParaRPr>
          </a:p>
        </p:txBody>
      </p:sp>
      <p:sp>
        <p:nvSpPr>
          <p:cNvPr id="56325" name="Text Box 5"/>
          <p:cNvSpPr txBox="1">
            <a:spLocks noChangeArrowheads="1"/>
          </p:cNvSpPr>
          <p:nvPr/>
        </p:nvSpPr>
        <p:spPr bwMode="auto">
          <a:xfrm>
            <a:off x="3124200" y="1306513"/>
            <a:ext cx="5213350" cy="215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zh-CN" altLang="en-US" sz="3600">
                <a:ea typeface="楷体_GB2312" charset="0"/>
              </a:rPr>
              <a:t>动态查找表</a:t>
            </a:r>
            <a:r>
              <a:rPr lang="en-US" altLang="zh-CN" sz="3600">
                <a:ea typeface="楷体_GB2312" charset="0"/>
              </a:rPr>
              <a:t>DT</a:t>
            </a:r>
            <a:r>
              <a:rPr lang="zh-CN" altLang="en-US" sz="3600">
                <a:ea typeface="楷体_GB2312" charset="0"/>
              </a:rPr>
              <a:t>存在，</a:t>
            </a:r>
            <a:r>
              <a:rPr lang="en-US" altLang="zh-CN" sz="3600" b="1">
                <a:solidFill>
                  <a:srgbClr val="CC6600"/>
                </a:solidFill>
                <a:ea typeface="楷体_GB2312" charset="0"/>
              </a:rPr>
              <a:t>key</a:t>
            </a:r>
            <a:endParaRPr lang="en-US" altLang="zh-CN" sz="3600">
              <a:solidFill>
                <a:srgbClr val="CC6600"/>
              </a:solidFill>
              <a:ea typeface="楷体_GB2312" charset="0"/>
            </a:endParaRPr>
          </a:p>
          <a:p>
            <a:pPr>
              <a:lnSpc>
                <a:spcPct val="125000"/>
              </a:lnSpc>
            </a:pPr>
            <a:r>
              <a:rPr lang="zh-CN" altLang="en-US" sz="3600">
                <a:ea typeface="楷体_GB2312" charset="0"/>
              </a:rPr>
              <a:t>为和关键字类型相同的给</a:t>
            </a:r>
          </a:p>
          <a:p>
            <a:pPr>
              <a:lnSpc>
                <a:spcPct val="125000"/>
              </a:lnSpc>
            </a:pPr>
            <a:r>
              <a:rPr lang="zh-CN" altLang="en-US" sz="3600">
                <a:ea typeface="楷体_GB2312" charset="0"/>
              </a:rPr>
              <a:t>定值；</a:t>
            </a:r>
            <a:endParaRPr lang="zh-CN" altLang="en-US" sz="4000"/>
          </a:p>
        </p:txBody>
      </p:sp>
      <p:sp>
        <p:nvSpPr>
          <p:cNvPr id="56327" name="AutoShape 7">
            <a:hlinkClick r:id="" action="ppaction://hlinkshowjump?jump=lastslideviewed" highlightClick="1"/>
          </p:cNvPr>
          <p:cNvSpPr>
            <a:spLocks noChangeArrowheads="1"/>
          </p:cNvSpPr>
          <p:nvPr/>
        </p:nvSpPr>
        <p:spPr bwMode="auto">
          <a:xfrm>
            <a:off x="8458200" y="60960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2106465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56323"/>
                                        </p:tgtEl>
                                        <p:attrNameLst>
                                          <p:attrName>style.visibility</p:attrName>
                                        </p:attrNameLst>
                                      </p:cBhvr>
                                      <p:to>
                                        <p:strVal val="visible"/>
                                      </p:to>
                                    </p:set>
                                    <p:animEffect transition="in" filter="randombar(horizontal)">
                                      <p:cBhvr>
                                        <p:cTn id="7" dur="500"/>
                                        <p:tgtEl>
                                          <p:spTgt spid="563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6324"/>
                                        </p:tgtEl>
                                        <p:attrNameLst>
                                          <p:attrName>style.visibility</p:attrName>
                                        </p:attrNameLst>
                                      </p:cBhvr>
                                      <p:to>
                                        <p:strVal val="visible"/>
                                      </p:to>
                                    </p:set>
                                    <p:animEffect transition="in" filter="barn(outHorizontal)">
                                      <p:cBhvr>
                                        <p:cTn id="12" dur="500"/>
                                        <p:tgtEl>
                                          <p:spTgt spid="563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56325"/>
                                        </p:tgtEl>
                                        <p:attrNameLst>
                                          <p:attrName>style.visibility</p:attrName>
                                        </p:attrNameLst>
                                      </p:cBhvr>
                                      <p:to>
                                        <p:strVal val="visible"/>
                                      </p:to>
                                    </p:set>
                                    <p:animEffect transition="in" filter="barn(outVertical)">
                                      <p:cBhvr>
                                        <p:cTn id="17" dur="500"/>
                                        <p:tgtEl>
                                          <p:spTgt spid="563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56322"/>
                                        </p:tgtEl>
                                        <p:attrNameLst>
                                          <p:attrName>style.visibility</p:attrName>
                                        </p:attrNameLst>
                                      </p:cBhvr>
                                      <p:to>
                                        <p:strVal val="visible"/>
                                      </p:to>
                                    </p:set>
                                    <p:animEffect transition="in" filter="barn(outVertical)">
                                      <p:cBhvr>
                                        <p:cTn id="22" dur="500"/>
                                        <p:tgtEl>
                                          <p:spTgt spid="56322"/>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56327"/>
                                        </p:tgtEl>
                                        <p:attrNameLst>
                                          <p:attrName>style.visibility</p:attrName>
                                        </p:attrNameLst>
                                      </p:cBhvr>
                                      <p:to>
                                        <p:strVal val="visible"/>
                                      </p:to>
                                    </p:set>
                                    <p:anim calcmode="lin" valueType="num">
                                      <p:cBhvr additive="base">
                                        <p:cTn id="26" dur="500" fill="hold"/>
                                        <p:tgtEl>
                                          <p:spTgt spid="56327"/>
                                        </p:tgtEl>
                                        <p:attrNameLst>
                                          <p:attrName>ppt_x</p:attrName>
                                        </p:attrNameLst>
                                      </p:cBhvr>
                                      <p:tavLst>
                                        <p:tav tm="0">
                                          <p:val>
                                            <p:strVal val="1+#ppt_w/2"/>
                                          </p:val>
                                        </p:tav>
                                        <p:tav tm="100000">
                                          <p:val>
                                            <p:strVal val="#ppt_x"/>
                                          </p:val>
                                        </p:tav>
                                      </p:tavLst>
                                    </p:anim>
                                    <p:anim calcmode="lin" valueType="num">
                                      <p:cBhvr additive="base">
                                        <p:cTn id="27" dur="500" fill="hold"/>
                                        <p:tgtEl>
                                          <p:spTgt spid="563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autoUpdateAnimBg="0"/>
      <p:bldP spid="56323" grpId="0" autoUpdateAnimBg="0"/>
      <p:bldP spid="56324" grpId="0" autoUpdateAnimBg="0"/>
      <p:bldP spid="56325" grpId="0" autoUpdateAnimBg="0"/>
      <p:bldP spid="5632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3048000" y="2133600"/>
            <a:ext cx="518795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zh-CN" altLang="en-US" sz="3600">
                <a:ea typeface="楷体_GB2312" charset="0"/>
              </a:rPr>
              <a:t>动态查找表</a:t>
            </a:r>
            <a:r>
              <a:rPr lang="en-US" altLang="zh-CN" sz="3600">
                <a:ea typeface="楷体_GB2312" charset="0"/>
              </a:rPr>
              <a:t>DT</a:t>
            </a:r>
            <a:r>
              <a:rPr lang="zh-CN" altLang="en-US" sz="3600">
                <a:ea typeface="楷体_GB2312" charset="0"/>
              </a:rPr>
              <a:t>存在，</a:t>
            </a:r>
          </a:p>
          <a:p>
            <a:pPr>
              <a:lnSpc>
                <a:spcPct val="125000"/>
              </a:lnSpc>
            </a:pPr>
            <a:r>
              <a:rPr lang="zh-CN" altLang="en-US" sz="3600">
                <a:ea typeface="楷体_GB2312" charset="0"/>
              </a:rPr>
              <a:t> </a:t>
            </a:r>
            <a:r>
              <a:rPr lang="en-US" altLang="zh-CN" sz="3600" b="1">
                <a:solidFill>
                  <a:srgbClr val="CC6600"/>
                </a:solidFill>
                <a:ea typeface="楷体_GB2312" charset="0"/>
              </a:rPr>
              <a:t>e </a:t>
            </a:r>
            <a:r>
              <a:rPr lang="zh-CN" altLang="en-US" sz="3600">
                <a:ea typeface="楷体_GB2312" charset="0"/>
              </a:rPr>
              <a:t>为待插入的数据元素；</a:t>
            </a:r>
            <a:endParaRPr lang="zh-CN" altLang="en-US" sz="4000">
              <a:ea typeface="楷体_GB2312" charset="0"/>
            </a:endParaRPr>
          </a:p>
        </p:txBody>
      </p:sp>
      <p:sp>
        <p:nvSpPr>
          <p:cNvPr id="57347" name="Text Box 3"/>
          <p:cNvSpPr txBox="1">
            <a:spLocks noChangeArrowheads="1"/>
          </p:cNvSpPr>
          <p:nvPr/>
        </p:nvSpPr>
        <p:spPr bwMode="auto">
          <a:xfrm>
            <a:off x="838200" y="762000"/>
            <a:ext cx="57054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400">
                <a:solidFill>
                  <a:srgbClr val="006600"/>
                </a:solidFill>
                <a:ea typeface="楷体_GB2312" charset="0"/>
              </a:rPr>
              <a:t>InsertDSTable(</a:t>
            </a:r>
            <a:r>
              <a:rPr lang="en-US" altLang="zh-CN" sz="4400" b="1">
                <a:solidFill>
                  <a:srgbClr val="006600"/>
                </a:solidFill>
                <a:ea typeface="楷体_GB2312" charset="0"/>
              </a:rPr>
              <a:t>&amp;</a:t>
            </a:r>
            <a:r>
              <a:rPr lang="en-US" altLang="zh-CN" sz="4400">
                <a:solidFill>
                  <a:srgbClr val="006600"/>
                </a:solidFill>
                <a:ea typeface="楷体_GB2312" charset="0"/>
              </a:rPr>
              <a:t>DT, e);</a:t>
            </a:r>
            <a:endParaRPr lang="en-US" altLang="zh-CN">
              <a:solidFill>
                <a:srgbClr val="006600"/>
              </a:solidFill>
            </a:endParaRPr>
          </a:p>
        </p:txBody>
      </p:sp>
      <p:sp>
        <p:nvSpPr>
          <p:cNvPr id="57348" name="Text Box 4"/>
          <p:cNvSpPr txBox="1">
            <a:spLocks noChangeArrowheads="1"/>
          </p:cNvSpPr>
          <p:nvPr/>
        </p:nvSpPr>
        <p:spPr bwMode="auto">
          <a:xfrm>
            <a:off x="381000" y="2057400"/>
            <a:ext cx="2978150" cy="257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lang="zh-CN" altLang="en-US" sz="4400">
                <a:solidFill>
                  <a:srgbClr val="A50021"/>
                </a:solidFill>
                <a:ea typeface="楷体_GB2312" charset="0"/>
              </a:rPr>
              <a:t>初始条件：</a:t>
            </a:r>
          </a:p>
          <a:p>
            <a:pPr>
              <a:lnSpc>
                <a:spcPct val="125000"/>
              </a:lnSpc>
            </a:pPr>
            <a:endParaRPr lang="zh-CN" altLang="en-US" sz="4400">
              <a:solidFill>
                <a:srgbClr val="A50021"/>
              </a:solidFill>
              <a:ea typeface="楷体_GB2312" charset="0"/>
            </a:endParaRPr>
          </a:p>
          <a:p>
            <a:pPr>
              <a:lnSpc>
                <a:spcPct val="125000"/>
              </a:lnSpc>
            </a:pPr>
            <a:r>
              <a:rPr lang="zh-CN" altLang="en-US" sz="4400">
                <a:solidFill>
                  <a:srgbClr val="A50021"/>
                </a:solidFill>
                <a:ea typeface="楷体_GB2312" charset="0"/>
              </a:rPr>
              <a:t>操作结果：</a:t>
            </a:r>
            <a:endParaRPr lang="zh-CN" altLang="en-US">
              <a:ea typeface="楷体_GB2312" charset="0"/>
            </a:endParaRPr>
          </a:p>
        </p:txBody>
      </p:sp>
      <p:sp>
        <p:nvSpPr>
          <p:cNvPr id="57349" name="Text Box 5"/>
          <p:cNvSpPr txBox="1">
            <a:spLocks noChangeArrowheads="1"/>
          </p:cNvSpPr>
          <p:nvPr/>
        </p:nvSpPr>
        <p:spPr bwMode="auto">
          <a:xfrm>
            <a:off x="2971800" y="3822700"/>
            <a:ext cx="516255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zh-CN" altLang="en-US" sz="3600">
                <a:ea typeface="楷体_GB2312" charset="0"/>
              </a:rPr>
              <a:t>若</a:t>
            </a:r>
            <a:r>
              <a:rPr lang="en-US" altLang="zh-CN" sz="3600">
                <a:ea typeface="楷体_GB2312" charset="0"/>
              </a:rPr>
              <a:t>DT</a:t>
            </a:r>
            <a:r>
              <a:rPr lang="zh-CN" altLang="en-US" sz="3600">
                <a:ea typeface="楷体_GB2312" charset="0"/>
              </a:rPr>
              <a:t>中不存在其关键字</a:t>
            </a:r>
          </a:p>
          <a:p>
            <a:pPr>
              <a:lnSpc>
                <a:spcPct val="125000"/>
              </a:lnSpc>
            </a:pPr>
            <a:r>
              <a:rPr lang="zh-CN" altLang="en-US" sz="3600">
                <a:ea typeface="楷体_GB2312" charset="0"/>
              </a:rPr>
              <a:t>等于 </a:t>
            </a:r>
            <a:r>
              <a:rPr lang="en-US" altLang="zh-CN" sz="3600">
                <a:ea typeface="楷体_GB2312" charset="0"/>
              </a:rPr>
              <a:t>e.key </a:t>
            </a:r>
            <a:r>
              <a:rPr lang="zh-CN" altLang="en-US" sz="3600">
                <a:ea typeface="楷体_GB2312" charset="0"/>
              </a:rPr>
              <a:t>的 数据元素，</a:t>
            </a:r>
          </a:p>
          <a:p>
            <a:pPr>
              <a:lnSpc>
                <a:spcPct val="125000"/>
              </a:lnSpc>
            </a:pPr>
            <a:r>
              <a:rPr lang="zh-CN" altLang="en-US" sz="3600">
                <a:ea typeface="楷体_GB2312" charset="0"/>
              </a:rPr>
              <a:t>则插入 </a:t>
            </a:r>
            <a:r>
              <a:rPr lang="en-US" altLang="zh-CN" sz="3600">
                <a:ea typeface="楷体_GB2312" charset="0"/>
              </a:rPr>
              <a:t>e </a:t>
            </a:r>
            <a:r>
              <a:rPr lang="zh-CN" altLang="en-US" sz="3600">
                <a:ea typeface="楷体_GB2312" charset="0"/>
              </a:rPr>
              <a:t>到</a:t>
            </a:r>
            <a:r>
              <a:rPr lang="en-US" altLang="zh-CN" sz="3600">
                <a:ea typeface="楷体_GB2312" charset="0"/>
              </a:rPr>
              <a:t>DT</a:t>
            </a:r>
            <a:r>
              <a:rPr lang="zh-CN" altLang="en-US" sz="3600">
                <a:ea typeface="楷体_GB2312" charset="0"/>
              </a:rPr>
              <a:t>。</a:t>
            </a:r>
            <a:endParaRPr lang="zh-CN" altLang="en-US"/>
          </a:p>
        </p:txBody>
      </p:sp>
      <p:sp>
        <p:nvSpPr>
          <p:cNvPr id="57351" name="AutoShape 7">
            <a:hlinkClick r:id="" action="ppaction://hlinkshowjump?jump=lastslideviewed" highlightClick="1"/>
          </p:cNvPr>
          <p:cNvSpPr>
            <a:spLocks noChangeArrowheads="1"/>
          </p:cNvSpPr>
          <p:nvPr/>
        </p:nvSpPr>
        <p:spPr bwMode="auto">
          <a:xfrm>
            <a:off x="8458200" y="60960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263480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57347"/>
                                        </p:tgtEl>
                                        <p:attrNameLst>
                                          <p:attrName>style.visibility</p:attrName>
                                        </p:attrNameLst>
                                      </p:cBhvr>
                                      <p:to>
                                        <p:strVal val="visible"/>
                                      </p:to>
                                    </p:set>
                                    <p:animEffect transition="in" filter="randombar(horizontal)">
                                      <p:cBhvr>
                                        <p:cTn id="7" dur="500"/>
                                        <p:tgtEl>
                                          <p:spTgt spid="573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7348"/>
                                        </p:tgtEl>
                                        <p:attrNameLst>
                                          <p:attrName>style.visibility</p:attrName>
                                        </p:attrNameLst>
                                      </p:cBhvr>
                                      <p:to>
                                        <p:strVal val="visible"/>
                                      </p:to>
                                    </p:set>
                                    <p:animEffect transition="in" filter="barn(outHorizontal)">
                                      <p:cBhvr>
                                        <p:cTn id="12" dur="500"/>
                                        <p:tgtEl>
                                          <p:spTgt spid="573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7346"/>
                                        </p:tgtEl>
                                        <p:attrNameLst>
                                          <p:attrName>style.visibility</p:attrName>
                                        </p:attrNameLst>
                                      </p:cBhvr>
                                      <p:to>
                                        <p:strVal val="visible"/>
                                      </p:to>
                                    </p:set>
                                    <p:animEffect transition="in" filter="barn(inVertical)">
                                      <p:cBhvr>
                                        <p:cTn id="17" dur="500"/>
                                        <p:tgtEl>
                                          <p:spTgt spid="573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57349"/>
                                        </p:tgtEl>
                                        <p:attrNameLst>
                                          <p:attrName>style.visibility</p:attrName>
                                        </p:attrNameLst>
                                      </p:cBhvr>
                                      <p:to>
                                        <p:strVal val="visible"/>
                                      </p:to>
                                    </p:set>
                                    <p:animEffect transition="in" filter="barn(outVertical)">
                                      <p:cBhvr>
                                        <p:cTn id="22" dur="500"/>
                                        <p:tgtEl>
                                          <p:spTgt spid="57349"/>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57351"/>
                                        </p:tgtEl>
                                        <p:attrNameLst>
                                          <p:attrName>style.visibility</p:attrName>
                                        </p:attrNameLst>
                                      </p:cBhvr>
                                      <p:to>
                                        <p:strVal val="visible"/>
                                      </p:to>
                                    </p:set>
                                    <p:anim calcmode="lin" valueType="num">
                                      <p:cBhvr additive="base">
                                        <p:cTn id="26" dur="500" fill="hold"/>
                                        <p:tgtEl>
                                          <p:spTgt spid="57351"/>
                                        </p:tgtEl>
                                        <p:attrNameLst>
                                          <p:attrName>ppt_x</p:attrName>
                                        </p:attrNameLst>
                                      </p:cBhvr>
                                      <p:tavLst>
                                        <p:tav tm="0">
                                          <p:val>
                                            <p:strVal val="1+#ppt_w/2"/>
                                          </p:val>
                                        </p:tav>
                                        <p:tav tm="100000">
                                          <p:val>
                                            <p:strVal val="#ppt_x"/>
                                          </p:val>
                                        </p:tav>
                                      </p:tavLst>
                                    </p:anim>
                                    <p:anim calcmode="lin" valueType="num">
                                      <p:cBhvr additive="base">
                                        <p:cTn id="27" dur="500" fill="hold"/>
                                        <p:tgtEl>
                                          <p:spTgt spid="573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autoUpdateAnimBg="0"/>
      <p:bldP spid="57347" grpId="0" autoUpdateAnimBg="0"/>
      <p:bldP spid="57348" grpId="0" autoUpdateAnimBg="0"/>
      <p:bldP spid="57349" grpId="0" autoUpdateAnimBg="0"/>
      <p:bldP spid="5735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2971800" y="1765300"/>
            <a:ext cx="521335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zh-CN" altLang="en-US" sz="3600">
                <a:ea typeface="楷体_GB2312" charset="0"/>
              </a:rPr>
              <a:t>动态查找表</a:t>
            </a:r>
            <a:r>
              <a:rPr lang="en-US" altLang="zh-CN" sz="3600">
                <a:ea typeface="楷体_GB2312" charset="0"/>
              </a:rPr>
              <a:t>DT</a:t>
            </a:r>
            <a:r>
              <a:rPr lang="zh-CN" altLang="en-US" sz="3600">
                <a:ea typeface="楷体_GB2312" charset="0"/>
              </a:rPr>
              <a:t>存在，</a:t>
            </a:r>
            <a:r>
              <a:rPr lang="en-US" altLang="zh-CN" sz="3600">
                <a:ea typeface="楷体_GB2312" charset="0"/>
              </a:rPr>
              <a:t>key</a:t>
            </a:r>
          </a:p>
          <a:p>
            <a:pPr>
              <a:lnSpc>
                <a:spcPct val="125000"/>
              </a:lnSpc>
            </a:pPr>
            <a:r>
              <a:rPr lang="zh-CN" altLang="en-US" sz="3600">
                <a:ea typeface="楷体_GB2312" charset="0"/>
              </a:rPr>
              <a:t>为和关键字类型相同的给</a:t>
            </a:r>
          </a:p>
          <a:p>
            <a:pPr>
              <a:lnSpc>
                <a:spcPct val="125000"/>
              </a:lnSpc>
            </a:pPr>
            <a:r>
              <a:rPr lang="zh-CN" altLang="en-US" sz="3600">
                <a:ea typeface="楷体_GB2312" charset="0"/>
              </a:rPr>
              <a:t>定值；</a:t>
            </a:r>
            <a:endParaRPr lang="zh-CN" altLang="en-US" sz="4000">
              <a:ea typeface="楷体_GB2312" charset="0"/>
            </a:endParaRPr>
          </a:p>
        </p:txBody>
      </p:sp>
      <p:sp>
        <p:nvSpPr>
          <p:cNvPr id="58371" name="Text Box 3"/>
          <p:cNvSpPr txBox="1">
            <a:spLocks noChangeArrowheads="1"/>
          </p:cNvSpPr>
          <p:nvPr/>
        </p:nvSpPr>
        <p:spPr bwMode="auto">
          <a:xfrm>
            <a:off x="1143000" y="533400"/>
            <a:ext cx="6046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400">
                <a:solidFill>
                  <a:schemeClr val="accent2"/>
                </a:solidFill>
                <a:ea typeface="楷体_GB2312" charset="0"/>
              </a:rPr>
              <a:t>DeleteDSTable(</a:t>
            </a:r>
            <a:r>
              <a:rPr lang="en-US" altLang="zh-CN" sz="4400" b="1">
                <a:solidFill>
                  <a:schemeClr val="accent2"/>
                </a:solidFill>
                <a:ea typeface="楷体_GB2312" charset="0"/>
              </a:rPr>
              <a:t>&amp;</a:t>
            </a:r>
            <a:r>
              <a:rPr lang="en-US" altLang="zh-CN" sz="4400">
                <a:solidFill>
                  <a:schemeClr val="accent2"/>
                </a:solidFill>
                <a:ea typeface="楷体_GB2312" charset="0"/>
              </a:rPr>
              <a:t>T, key);</a:t>
            </a:r>
            <a:endParaRPr lang="en-US" altLang="zh-CN" sz="4400">
              <a:solidFill>
                <a:srgbClr val="006600"/>
              </a:solidFill>
            </a:endParaRPr>
          </a:p>
        </p:txBody>
      </p:sp>
      <p:sp>
        <p:nvSpPr>
          <p:cNvPr id="58372" name="Text Box 4"/>
          <p:cNvSpPr txBox="1">
            <a:spLocks noChangeArrowheads="1"/>
          </p:cNvSpPr>
          <p:nvPr/>
        </p:nvSpPr>
        <p:spPr bwMode="auto">
          <a:xfrm>
            <a:off x="381000" y="838200"/>
            <a:ext cx="2978150"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endParaRPr lang="en-US" altLang="zh-CN" sz="4400">
              <a:solidFill>
                <a:srgbClr val="A50021"/>
              </a:solidFill>
              <a:ea typeface="楷体_GB2312" charset="0"/>
            </a:endParaRPr>
          </a:p>
          <a:p>
            <a:pPr>
              <a:lnSpc>
                <a:spcPct val="120000"/>
              </a:lnSpc>
            </a:pPr>
            <a:r>
              <a:rPr lang="zh-CN" altLang="en-US" sz="4400">
                <a:solidFill>
                  <a:srgbClr val="A50021"/>
                </a:solidFill>
                <a:ea typeface="楷体_GB2312" charset="0"/>
              </a:rPr>
              <a:t>初始条件：</a:t>
            </a:r>
          </a:p>
          <a:p>
            <a:pPr>
              <a:lnSpc>
                <a:spcPct val="120000"/>
              </a:lnSpc>
            </a:pPr>
            <a:endParaRPr lang="zh-CN" altLang="en-US" sz="4400">
              <a:solidFill>
                <a:srgbClr val="A50021"/>
              </a:solidFill>
              <a:ea typeface="楷体_GB2312" charset="0"/>
            </a:endParaRPr>
          </a:p>
          <a:p>
            <a:pPr>
              <a:lnSpc>
                <a:spcPct val="120000"/>
              </a:lnSpc>
            </a:pPr>
            <a:endParaRPr lang="zh-CN" altLang="en-US" sz="4400">
              <a:solidFill>
                <a:srgbClr val="A50021"/>
              </a:solidFill>
              <a:ea typeface="楷体_GB2312" charset="0"/>
            </a:endParaRPr>
          </a:p>
          <a:p>
            <a:pPr>
              <a:lnSpc>
                <a:spcPct val="120000"/>
              </a:lnSpc>
            </a:pPr>
            <a:r>
              <a:rPr lang="zh-CN" altLang="en-US" sz="4400">
                <a:solidFill>
                  <a:srgbClr val="A50021"/>
                </a:solidFill>
                <a:ea typeface="楷体_GB2312" charset="0"/>
              </a:rPr>
              <a:t>操作结果：</a:t>
            </a:r>
            <a:endParaRPr lang="zh-CN" altLang="en-US">
              <a:ea typeface="楷体_GB2312" charset="0"/>
            </a:endParaRPr>
          </a:p>
        </p:txBody>
      </p:sp>
      <p:sp>
        <p:nvSpPr>
          <p:cNvPr id="58373" name="Text Box 5"/>
          <p:cNvSpPr txBox="1">
            <a:spLocks noChangeArrowheads="1"/>
          </p:cNvSpPr>
          <p:nvPr/>
        </p:nvSpPr>
        <p:spPr bwMode="auto">
          <a:xfrm>
            <a:off x="3048000" y="4127500"/>
            <a:ext cx="52578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zh-CN" altLang="en-US" sz="3600">
                <a:ea typeface="楷体_GB2312" charset="0"/>
              </a:rPr>
              <a:t>若</a:t>
            </a:r>
            <a:r>
              <a:rPr lang="en-US" altLang="zh-CN" sz="3600">
                <a:ea typeface="楷体_GB2312" charset="0"/>
              </a:rPr>
              <a:t>DT</a:t>
            </a:r>
            <a:r>
              <a:rPr lang="zh-CN" altLang="en-US" sz="3600">
                <a:ea typeface="楷体_GB2312" charset="0"/>
              </a:rPr>
              <a:t>中存在其关键字等于</a:t>
            </a:r>
            <a:r>
              <a:rPr lang="en-US" altLang="zh-CN" sz="3600">
                <a:ea typeface="楷体_GB2312" charset="0"/>
              </a:rPr>
              <a:t>key</a:t>
            </a:r>
            <a:r>
              <a:rPr lang="zh-CN" altLang="en-US" sz="3600">
                <a:ea typeface="楷体_GB2312" charset="0"/>
              </a:rPr>
              <a:t>的数据元素，则删</a:t>
            </a:r>
          </a:p>
          <a:p>
            <a:pPr>
              <a:lnSpc>
                <a:spcPct val="125000"/>
              </a:lnSpc>
            </a:pPr>
            <a:r>
              <a:rPr lang="zh-CN" altLang="en-US" sz="3600">
                <a:ea typeface="楷体_GB2312" charset="0"/>
              </a:rPr>
              <a:t>除之。</a:t>
            </a:r>
            <a:endParaRPr lang="zh-CN" altLang="en-US" sz="4000"/>
          </a:p>
        </p:txBody>
      </p:sp>
      <p:sp>
        <p:nvSpPr>
          <p:cNvPr id="58375" name="AutoShape 7">
            <a:hlinkClick r:id="" action="ppaction://hlinkshowjump?jump=lastslideviewed" highlightClick="1"/>
          </p:cNvPr>
          <p:cNvSpPr>
            <a:spLocks noChangeArrowheads="1"/>
          </p:cNvSpPr>
          <p:nvPr/>
        </p:nvSpPr>
        <p:spPr bwMode="auto">
          <a:xfrm>
            <a:off x="8458200" y="60960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050450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58371"/>
                                        </p:tgtEl>
                                        <p:attrNameLst>
                                          <p:attrName>style.visibility</p:attrName>
                                        </p:attrNameLst>
                                      </p:cBhvr>
                                      <p:to>
                                        <p:strVal val="visible"/>
                                      </p:to>
                                    </p:set>
                                    <p:animEffect transition="in" filter="randombar(horizontal)">
                                      <p:cBhvr>
                                        <p:cTn id="7" dur="500"/>
                                        <p:tgtEl>
                                          <p:spTgt spid="583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8372"/>
                                        </p:tgtEl>
                                        <p:attrNameLst>
                                          <p:attrName>style.visibility</p:attrName>
                                        </p:attrNameLst>
                                      </p:cBhvr>
                                      <p:to>
                                        <p:strVal val="visible"/>
                                      </p:to>
                                    </p:set>
                                    <p:animEffect transition="in" filter="barn(outHorizontal)">
                                      <p:cBhvr>
                                        <p:cTn id="12" dur="500"/>
                                        <p:tgtEl>
                                          <p:spTgt spid="583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58370"/>
                                        </p:tgtEl>
                                        <p:attrNameLst>
                                          <p:attrName>style.visibility</p:attrName>
                                        </p:attrNameLst>
                                      </p:cBhvr>
                                      <p:to>
                                        <p:strVal val="visible"/>
                                      </p:to>
                                    </p:set>
                                    <p:animEffect transition="in" filter="barn(outVertical)">
                                      <p:cBhvr>
                                        <p:cTn id="17" dur="500"/>
                                        <p:tgtEl>
                                          <p:spTgt spid="583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8373"/>
                                        </p:tgtEl>
                                        <p:attrNameLst>
                                          <p:attrName>style.visibility</p:attrName>
                                        </p:attrNameLst>
                                      </p:cBhvr>
                                      <p:to>
                                        <p:strVal val="visible"/>
                                      </p:to>
                                    </p:set>
                                    <p:animEffect transition="in" filter="barn(inVertical)">
                                      <p:cBhvr>
                                        <p:cTn id="22" dur="500"/>
                                        <p:tgtEl>
                                          <p:spTgt spid="58373"/>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58375"/>
                                        </p:tgtEl>
                                        <p:attrNameLst>
                                          <p:attrName>style.visibility</p:attrName>
                                        </p:attrNameLst>
                                      </p:cBhvr>
                                      <p:to>
                                        <p:strVal val="visible"/>
                                      </p:to>
                                    </p:set>
                                    <p:anim calcmode="lin" valueType="num">
                                      <p:cBhvr additive="base">
                                        <p:cTn id="26" dur="500" fill="hold"/>
                                        <p:tgtEl>
                                          <p:spTgt spid="58375"/>
                                        </p:tgtEl>
                                        <p:attrNameLst>
                                          <p:attrName>ppt_x</p:attrName>
                                        </p:attrNameLst>
                                      </p:cBhvr>
                                      <p:tavLst>
                                        <p:tav tm="0">
                                          <p:val>
                                            <p:strVal val="1+#ppt_w/2"/>
                                          </p:val>
                                        </p:tav>
                                        <p:tav tm="100000">
                                          <p:val>
                                            <p:strVal val="#ppt_x"/>
                                          </p:val>
                                        </p:tav>
                                      </p:tavLst>
                                    </p:anim>
                                    <p:anim calcmode="lin" valueType="num">
                                      <p:cBhvr additive="base">
                                        <p:cTn id="27" dur="500" fill="hold"/>
                                        <p:tgtEl>
                                          <p:spTgt spid="583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autoUpdateAnimBg="0"/>
      <p:bldP spid="58371" grpId="0" autoUpdateAnimBg="0"/>
      <p:bldP spid="58372" grpId="0" autoUpdateAnimBg="0"/>
      <p:bldP spid="58373" grpId="0" autoUpdateAnimBg="0"/>
      <p:bldP spid="5837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3048000" y="1720850"/>
            <a:ext cx="567055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zh-CN" altLang="en-US" sz="3600">
                <a:ea typeface="楷体_GB2312" charset="0"/>
              </a:rPr>
              <a:t>动态查找表</a:t>
            </a:r>
            <a:r>
              <a:rPr lang="en-US" altLang="zh-CN" sz="3600">
                <a:ea typeface="楷体_GB2312" charset="0"/>
              </a:rPr>
              <a:t>DT</a:t>
            </a:r>
            <a:r>
              <a:rPr lang="zh-CN" altLang="en-US" sz="3600">
                <a:ea typeface="楷体_GB2312" charset="0"/>
              </a:rPr>
              <a:t>存在，</a:t>
            </a:r>
            <a:r>
              <a:rPr lang="en-US" altLang="zh-CN" sz="3600" b="1">
                <a:solidFill>
                  <a:srgbClr val="CC6600"/>
                </a:solidFill>
                <a:ea typeface="楷体_GB2312" charset="0"/>
              </a:rPr>
              <a:t>Visit</a:t>
            </a:r>
            <a:endParaRPr lang="en-US" altLang="zh-CN" sz="3600">
              <a:ea typeface="楷体_GB2312" charset="0"/>
            </a:endParaRPr>
          </a:p>
          <a:p>
            <a:pPr>
              <a:lnSpc>
                <a:spcPct val="125000"/>
              </a:lnSpc>
            </a:pPr>
            <a:r>
              <a:rPr lang="zh-CN" altLang="en-US" sz="3600">
                <a:ea typeface="楷体_GB2312" charset="0"/>
              </a:rPr>
              <a:t>是对结点操作的应用函数；</a:t>
            </a:r>
            <a:endParaRPr lang="zh-CN" altLang="en-US" sz="4000">
              <a:ea typeface="楷体_GB2312" charset="0"/>
            </a:endParaRPr>
          </a:p>
        </p:txBody>
      </p:sp>
      <p:sp>
        <p:nvSpPr>
          <p:cNvPr id="59395" name="Text Box 3"/>
          <p:cNvSpPr txBox="1">
            <a:spLocks noChangeArrowheads="1"/>
          </p:cNvSpPr>
          <p:nvPr/>
        </p:nvSpPr>
        <p:spPr bwMode="auto">
          <a:xfrm>
            <a:off x="914400" y="609600"/>
            <a:ext cx="65071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006600"/>
                </a:solidFill>
                <a:ea typeface="楷体_GB2312" charset="0"/>
              </a:rPr>
              <a:t>TraverseDSTable(DT, Visit());</a:t>
            </a:r>
            <a:endParaRPr lang="en-US" altLang="zh-CN" sz="4000">
              <a:solidFill>
                <a:srgbClr val="0000FF"/>
              </a:solidFill>
              <a:ea typeface="楷体_GB2312" charset="0"/>
            </a:endParaRPr>
          </a:p>
        </p:txBody>
      </p:sp>
      <p:sp>
        <p:nvSpPr>
          <p:cNvPr id="59396" name="Text Box 4"/>
          <p:cNvSpPr txBox="1">
            <a:spLocks noChangeArrowheads="1"/>
          </p:cNvSpPr>
          <p:nvPr/>
        </p:nvSpPr>
        <p:spPr bwMode="auto">
          <a:xfrm>
            <a:off x="381000" y="838200"/>
            <a:ext cx="2978150" cy="330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endParaRPr lang="en-US" altLang="zh-CN" sz="4400">
              <a:solidFill>
                <a:srgbClr val="A50021"/>
              </a:solidFill>
              <a:ea typeface="楷体_GB2312" charset="0"/>
            </a:endParaRPr>
          </a:p>
          <a:p>
            <a:pPr>
              <a:lnSpc>
                <a:spcPct val="120000"/>
              </a:lnSpc>
            </a:pPr>
            <a:r>
              <a:rPr lang="zh-CN" altLang="en-US" sz="4400">
                <a:solidFill>
                  <a:srgbClr val="A50021"/>
                </a:solidFill>
                <a:ea typeface="楷体_GB2312" charset="0"/>
              </a:rPr>
              <a:t>初始条件：</a:t>
            </a:r>
          </a:p>
          <a:p>
            <a:pPr>
              <a:lnSpc>
                <a:spcPct val="120000"/>
              </a:lnSpc>
            </a:pPr>
            <a:endParaRPr lang="zh-CN" altLang="en-US" sz="4400">
              <a:solidFill>
                <a:srgbClr val="A50021"/>
              </a:solidFill>
              <a:ea typeface="楷体_GB2312" charset="0"/>
            </a:endParaRPr>
          </a:p>
          <a:p>
            <a:pPr>
              <a:lnSpc>
                <a:spcPct val="120000"/>
              </a:lnSpc>
            </a:pPr>
            <a:r>
              <a:rPr lang="zh-CN" altLang="en-US" sz="4400">
                <a:solidFill>
                  <a:srgbClr val="A50021"/>
                </a:solidFill>
                <a:ea typeface="楷体_GB2312" charset="0"/>
              </a:rPr>
              <a:t>操作结果：</a:t>
            </a:r>
            <a:endParaRPr lang="zh-CN" altLang="en-US">
              <a:ea typeface="楷体_GB2312" charset="0"/>
            </a:endParaRPr>
          </a:p>
        </p:txBody>
      </p:sp>
      <p:sp>
        <p:nvSpPr>
          <p:cNvPr id="59397" name="Text Box 5"/>
          <p:cNvSpPr txBox="1">
            <a:spLocks noChangeArrowheads="1"/>
          </p:cNvSpPr>
          <p:nvPr/>
        </p:nvSpPr>
        <p:spPr bwMode="auto">
          <a:xfrm>
            <a:off x="3048000" y="3365500"/>
            <a:ext cx="5746750"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zh-CN" altLang="en-US" sz="3600">
                <a:ea typeface="楷体_GB2312" charset="0"/>
              </a:rPr>
              <a:t>按某种次序对</a:t>
            </a:r>
            <a:r>
              <a:rPr lang="en-US" altLang="zh-CN" sz="3600">
                <a:ea typeface="楷体_GB2312" charset="0"/>
              </a:rPr>
              <a:t>DT</a:t>
            </a:r>
            <a:r>
              <a:rPr lang="zh-CN" altLang="en-US" sz="3600">
                <a:ea typeface="楷体_GB2312" charset="0"/>
              </a:rPr>
              <a:t>的每个结</a:t>
            </a:r>
          </a:p>
          <a:p>
            <a:pPr>
              <a:lnSpc>
                <a:spcPct val="125000"/>
              </a:lnSpc>
            </a:pPr>
            <a:r>
              <a:rPr lang="zh-CN" altLang="en-US" sz="3600">
                <a:ea typeface="楷体_GB2312" charset="0"/>
              </a:rPr>
              <a:t>点调用函数 </a:t>
            </a:r>
            <a:r>
              <a:rPr lang="en-US" altLang="zh-CN" sz="3600" b="1">
                <a:solidFill>
                  <a:srgbClr val="CC6600"/>
                </a:solidFill>
                <a:ea typeface="楷体_GB2312" charset="0"/>
              </a:rPr>
              <a:t>Visit() </a:t>
            </a:r>
            <a:r>
              <a:rPr lang="zh-CN" altLang="en-US" sz="3600">
                <a:ea typeface="楷体_GB2312" charset="0"/>
              </a:rPr>
              <a:t>一次且至</a:t>
            </a:r>
          </a:p>
          <a:p>
            <a:pPr>
              <a:lnSpc>
                <a:spcPct val="125000"/>
              </a:lnSpc>
            </a:pPr>
            <a:r>
              <a:rPr lang="zh-CN" altLang="en-US" sz="3600">
                <a:ea typeface="楷体_GB2312" charset="0"/>
              </a:rPr>
              <a:t>多一次。一旦 </a:t>
            </a:r>
            <a:r>
              <a:rPr lang="en-US" altLang="zh-CN" sz="3600" b="1">
                <a:solidFill>
                  <a:srgbClr val="CC6600"/>
                </a:solidFill>
                <a:ea typeface="楷体_GB2312" charset="0"/>
              </a:rPr>
              <a:t>Visit() </a:t>
            </a:r>
            <a:r>
              <a:rPr lang="zh-CN" altLang="en-US" sz="3600">
                <a:ea typeface="楷体_GB2312" charset="0"/>
              </a:rPr>
              <a:t>失败，</a:t>
            </a:r>
          </a:p>
          <a:p>
            <a:pPr>
              <a:lnSpc>
                <a:spcPct val="125000"/>
              </a:lnSpc>
            </a:pPr>
            <a:r>
              <a:rPr lang="zh-CN" altLang="en-US" sz="3600">
                <a:ea typeface="楷体_GB2312" charset="0"/>
              </a:rPr>
              <a:t>则操作失败。</a:t>
            </a:r>
            <a:endParaRPr lang="zh-CN" altLang="en-US" sz="4000"/>
          </a:p>
        </p:txBody>
      </p:sp>
      <p:sp>
        <p:nvSpPr>
          <p:cNvPr id="59400" name="AutoShape 8">
            <a:hlinkClick r:id="" action="ppaction://hlinkshowjump?jump=lastslideviewed" highlightClick="1"/>
          </p:cNvPr>
          <p:cNvSpPr>
            <a:spLocks noChangeArrowheads="1"/>
          </p:cNvSpPr>
          <p:nvPr/>
        </p:nvSpPr>
        <p:spPr bwMode="auto">
          <a:xfrm>
            <a:off x="8458200" y="60960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869098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59395"/>
                                        </p:tgtEl>
                                        <p:attrNameLst>
                                          <p:attrName>style.visibility</p:attrName>
                                        </p:attrNameLst>
                                      </p:cBhvr>
                                      <p:to>
                                        <p:strVal val="visible"/>
                                      </p:to>
                                    </p:set>
                                    <p:animEffect transition="in" filter="randombar(horizontal)">
                                      <p:cBhvr>
                                        <p:cTn id="7" dur="500"/>
                                        <p:tgtEl>
                                          <p:spTgt spid="593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9396"/>
                                        </p:tgtEl>
                                        <p:attrNameLst>
                                          <p:attrName>style.visibility</p:attrName>
                                        </p:attrNameLst>
                                      </p:cBhvr>
                                      <p:to>
                                        <p:strVal val="visible"/>
                                      </p:to>
                                    </p:set>
                                    <p:animEffect transition="in" filter="barn(outHorizontal)">
                                      <p:cBhvr>
                                        <p:cTn id="12" dur="500"/>
                                        <p:tgtEl>
                                          <p:spTgt spid="593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9394"/>
                                        </p:tgtEl>
                                        <p:attrNameLst>
                                          <p:attrName>style.visibility</p:attrName>
                                        </p:attrNameLst>
                                      </p:cBhvr>
                                      <p:to>
                                        <p:strVal val="visible"/>
                                      </p:to>
                                    </p:set>
                                    <p:animEffect transition="in" filter="barn(inVertical)">
                                      <p:cBhvr>
                                        <p:cTn id="17" dur="500"/>
                                        <p:tgtEl>
                                          <p:spTgt spid="593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59397"/>
                                        </p:tgtEl>
                                        <p:attrNameLst>
                                          <p:attrName>style.visibility</p:attrName>
                                        </p:attrNameLst>
                                      </p:cBhvr>
                                      <p:to>
                                        <p:strVal val="visible"/>
                                      </p:to>
                                    </p:set>
                                    <p:animEffect transition="in" filter="barn(outVertical)">
                                      <p:cBhvr>
                                        <p:cTn id="22" dur="500"/>
                                        <p:tgtEl>
                                          <p:spTgt spid="59397"/>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59400"/>
                                        </p:tgtEl>
                                        <p:attrNameLst>
                                          <p:attrName>style.visibility</p:attrName>
                                        </p:attrNameLst>
                                      </p:cBhvr>
                                      <p:to>
                                        <p:strVal val="visible"/>
                                      </p:to>
                                    </p:set>
                                    <p:anim calcmode="lin" valueType="num">
                                      <p:cBhvr additive="base">
                                        <p:cTn id="26" dur="500" fill="hold"/>
                                        <p:tgtEl>
                                          <p:spTgt spid="59400"/>
                                        </p:tgtEl>
                                        <p:attrNameLst>
                                          <p:attrName>ppt_x</p:attrName>
                                        </p:attrNameLst>
                                      </p:cBhvr>
                                      <p:tavLst>
                                        <p:tav tm="0">
                                          <p:val>
                                            <p:strVal val="1+#ppt_w/2"/>
                                          </p:val>
                                        </p:tav>
                                        <p:tav tm="100000">
                                          <p:val>
                                            <p:strVal val="#ppt_x"/>
                                          </p:val>
                                        </p:tav>
                                      </p:tavLst>
                                    </p:anim>
                                    <p:anim calcmode="lin" valueType="num">
                                      <p:cBhvr additive="base">
                                        <p:cTn id="27" dur="500" fill="hold"/>
                                        <p:tgtEl>
                                          <p:spTgt spid="594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autoUpdateAnimBg="0"/>
      <p:bldP spid="59395" grpId="0" autoUpdateAnimBg="0"/>
      <p:bldP spid="59396" grpId="0" autoUpdateAnimBg="0"/>
      <p:bldP spid="59397" grpId="0" autoUpdateAnimBg="0"/>
      <p:bldP spid="5940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1447800" y="609600"/>
            <a:ext cx="6299200" cy="311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lnSpc>
                <a:spcPct val="150000"/>
              </a:lnSpc>
            </a:pPr>
            <a:r>
              <a:rPr lang="en-US" altLang="zh-CN" sz="6600" b="1">
                <a:solidFill>
                  <a:srgbClr val="A50021"/>
                </a:solidFill>
                <a:ea typeface="楷体_GB2312" charset="0"/>
              </a:rPr>
              <a:t>9.2  </a:t>
            </a:r>
          </a:p>
          <a:p>
            <a:pPr algn="ctr">
              <a:lnSpc>
                <a:spcPct val="150000"/>
              </a:lnSpc>
            </a:pPr>
            <a:r>
              <a:rPr lang="zh-CN" altLang="en-US" sz="6600" b="1">
                <a:solidFill>
                  <a:srgbClr val="A50021"/>
                </a:solidFill>
                <a:ea typeface="楷体_GB2312" charset="0"/>
              </a:rPr>
              <a:t>动 态 查 找 树 表</a:t>
            </a:r>
            <a:endParaRPr lang="zh-CN" altLang="en-US" sz="4400"/>
          </a:p>
        </p:txBody>
      </p:sp>
      <p:graphicFrame>
        <p:nvGraphicFramePr>
          <p:cNvPr id="61443" name="Object 3"/>
          <p:cNvGraphicFramePr>
            <a:graphicFrameLocks noChangeAspect="1"/>
          </p:cNvGraphicFramePr>
          <p:nvPr/>
        </p:nvGraphicFramePr>
        <p:xfrm>
          <a:off x="609600" y="4495800"/>
          <a:ext cx="1258888" cy="1136650"/>
        </p:xfrm>
        <a:graphic>
          <a:graphicData uri="http://schemas.openxmlformats.org/presentationml/2006/ole">
            <mc:AlternateContent xmlns:mc="http://schemas.openxmlformats.org/markup-compatibility/2006">
              <mc:Choice xmlns:v="urn:schemas-microsoft-com:vml" Requires="v">
                <p:oleObj spid="_x0000_s1332227" name="剪辑" r:id="rId3" imgW="1259640" imgH="1137240" progId="MS_ClipArt_Gallery.2">
                  <p:embed/>
                </p:oleObj>
              </mc:Choice>
              <mc:Fallback>
                <p:oleObj name="剪辑" r:id="rId3" imgW="1259640" imgH="113724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4495800"/>
                        <a:ext cx="1258888" cy="1136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1444" name="Object 4"/>
          <p:cNvGraphicFramePr>
            <a:graphicFrameLocks noChangeAspect="1"/>
          </p:cNvGraphicFramePr>
          <p:nvPr/>
        </p:nvGraphicFramePr>
        <p:xfrm>
          <a:off x="1676400" y="4876800"/>
          <a:ext cx="1357313" cy="1600200"/>
        </p:xfrm>
        <a:graphic>
          <a:graphicData uri="http://schemas.openxmlformats.org/presentationml/2006/ole">
            <mc:AlternateContent xmlns:mc="http://schemas.openxmlformats.org/markup-compatibility/2006">
              <mc:Choice xmlns:v="urn:schemas-microsoft-com:vml" Requires="v">
                <p:oleObj spid="_x0000_s1332228" name="剪辑" r:id="rId5" imgW="1357560" imgH="1599840" progId="MS_ClipArt_Gallery.2">
                  <p:embed/>
                </p:oleObj>
              </mc:Choice>
              <mc:Fallback>
                <p:oleObj name="剪辑" r:id="rId5" imgW="1357560" imgH="159984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4876800"/>
                        <a:ext cx="1357313" cy="160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8517693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7024688" y="1962150"/>
            <a:ext cx="2047875"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lang="en-US" altLang="zh-CN" sz="4000">
                <a:solidFill>
                  <a:srgbClr val="A50021"/>
                </a:solidFill>
                <a:ea typeface="楷体_GB2312" charset="0"/>
                <a:sym typeface="Symbol" charset="2"/>
              </a:rPr>
              <a:t></a:t>
            </a:r>
            <a:r>
              <a:rPr lang="en-US" altLang="zh-CN" sz="4000">
                <a:solidFill>
                  <a:srgbClr val="A50021"/>
                </a:solidFill>
                <a:ea typeface="楷体_GB2312" charset="0"/>
              </a:rPr>
              <a:t>(n)</a:t>
            </a:r>
          </a:p>
          <a:p>
            <a:pPr>
              <a:lnSpc>
                <a:spcPct val="140000"/>
              </a:lnSpc>
            </a:pPr>
            <a:r>
              <a:rPr lang="en-US" altLang="zh-CN" sz="4000" b="1">
                <a:solidFill>
                  <a:srgbClr val="008080"/>
                </a:solidFill>
                <a:ea typeface="楷体_GB2312" charset="0"/>
                <a:sym typeface="Symbol" charset="2"/>
              </a:rPr>
              <a:t></a:t>
            </a:r>
            <a:r>
              <a:rPr lang="en-US" altLang="zh-CN" sz="4000" b="1">
                <a:solidFill>
                  <a:srgbClr val="008080"/>
                </a:solidFill>
                <a:ea typeface="楷体_GB2312" charset="0"/>
              </a:rPr>
              <a:t>(1)</a:t>
            </a:r>
            <a:endParaRPr lang="en-US" altLang="zh-CN" sz="4000">
              <a:solidFill>
                <a:srgbClr val="006600"/>
              </a:solidFill>
              <a:ea typeface="楷体_GB2312" charset="0"/>
            </a:endParaRPr>
          </a:p>
          <a:p>
            <a:pPr>
              <a:lnSpc>
                <a:spcPct val="140000"/>
              </a:lnSpc>
            </a:pPr>
            <a:r>
              <a:rPr lang="en-US" altLang="zh-CN" sz="4000">
                <a:solidFill>
                  <a:srgbClr val="A50021"/>
                </a:solidFill>
                <a:ea typeface="楷体_GB2312" charset="0"/>
                <a:sym typeface="Symbol" charset="2"/>
              </a:rPr>
              <a:t></a:t>
            </a:r>
            <a:r>
              <a:rPr lang="en-US" altLang="zh-CN" sz="4000">
                <a:solidFill>
                  <a:srgbClr val="A50021"/>
                </a:solidFill>
                <a:ea typeface="楷体_GB2312" charset="0"/>
              </a:rPr>
              <a:t>(n)</a:t>
            </a:r>
          </a:p>
          <a:p>
            <a:pPr>
              <a:lnSpc>
                <a:spcPct val="140000"/>
              </a:lnSpc>
            </a:pPr>
            <a:r>
              <a:rPr lang="en-US" altLang="zh-CN" sz="4000" b="1">
                <a:solidFill>
                  <a:srgbClr val="008080"/>
                </a:solidFill>
                <a:ea typeface="楷体_GB2312" charset="0"/>
                <a:sym typeface="Symbol" charset="2"/>
              </a:rPr>
              <a:t></a:t>
            </a:r>
            <a:r>
              <a:rPr lang="en-US" altLang="zh-CN" sz="4000" b="1">
                <a:solidFill>
                  <a:srgbClr val="008080"/>
                </a:solidFill>
                <a:ea typeface="楷体_GB2312" charset="0"/>
              </a:rPr>
              <a:t>(1)</a:t>
            </a:r>
            <a:endParaRPr lang="en-US" altLang="zh-CN" sz="4000">
              <a:solidFill>
                <a:srgbClr val="A50021"/>
              </a:solidFill>
              <a:ea typeface="楷体_GB2312" charset="0"/>
            </a:endParaRPr>
          </a:p>
          <a:p>
            <a:pPr>
              <a:lnSpc>
                <a:spcPct val="140000"/>
              </a:lnSpc>
            </a:pPr>
            <a:r>
              <a:rPr lang="en-US" altLang="zh-CN" sz="4000">
                <a:solidFill>
                  <a:srgbClr val="A50021"/>
                </a:solidFill>
                <a:ea typeface="楷体_GB2312" charset="0"/>
                <a:sym typeface="Symbol" charset="2"/>
              </a:rPr>
              <a:t></a:t>
            </a:r>
            <a:r>
              <a:rPr lang="en-US" altLang="zh-CN" sz="4000">
                <a:solidFill>
                  <a:srgbClr val="A50021"/>
                </a:solidFill>
                <a:ea typeface="楷体_GB2312" charset="0"/>
              </a:rPr>
              <a:t>(nlogn)</a:t>
            </a:r>
            <a:endParaRPr lang="en-US" altLang="zh-CN"/>
          </a:p>
        </p:txBody>
      </p:sp>
      <p:sp>
        <p:nvSpPr>
          <p:cNvPr id="60419" name="Text Box 3"/>
          <p:cNvSpPr txBox="1">
            <a:spLocks noChangeArrowheads="1"/>
          </p:cNvSpPr>
          <p:nvPr/>
        </p:nvSpPr>
        <p:spPr bwMode="auto">
          <a:xfrm>
            <a:off x="152400" y="228600"/>
            <a:ext cx="89011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006600"/>
                </a:solidFill>
                <a:ea typeface="楷体_GB2312" charset="0"/>
              </a:rPr>
              <a:t>综合上一节讨论的几种查找表的特性：</a:t>
            </a:r>
            <a:endParaRPr lang="zh-CN" altLang="en-US"/>
          </a:p>
        </p:txBody>
      </p:sp>
      <p:sp>
        <p:nvSpPr>
          <p:cNvPr id="60420" name="Text Box 4"/>
          <p:cNvSpPr txBox="1">
            <a:spLocks noChangeArrowheads="1"/>
          </p:cNvSpPr>
          <p:nvPr/>
        </p:nvSpPr>
        <p:spPr bwMode="auto">
          <a:xfrm>
            <a:off x="3276600" y="1219200"/>
            <a:ext cx="501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a:solidFill>
                  <a:srgbClr val="FF00FF"/>
                </a:solidFill>
                <a:latin typeface="隶书" charset="0"/>
                <a:ea typeface="隶书" charset="0"/>
              </a:rPr>
              <a:t>查找   插入    删除</a:t>
            </a:r>
            <a:endParaRPr lang="zh-CN" altLang="en-US" sz="4400"/>
          </a:p>
        </p:txBody>
      </p:sp>
      <p:sp>
        <p:nvSpPr>
          <p:cNvPr id="60421" name="Text Box 5"/>
          <p:cNvSpPr txBox="1">
            <a:spLocks noChangeArrowheads="1"/>
          </p:cNvSpPr>
          <p:nvPr/>
        </p:nvSpPr>
        <p:spPr bwMode="auto">
          <a:xfrm>
            <a:off x="228600" y="2084388"/>
            <a:ext cx="3270250" cy="421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50000"/>
              </a:lnSpc>
            </a:pPr>
            <a:r>
              <a:rPr lang="zh-CN" altLang="en-US" sz="3600">
                <a:solidFill>
                  <a:srgbClr val="0000FF"/>
                </a:solidFill>
                <a:ea typeface="楷体_GB2312" charset="0"/>
              </a:rPr>
              <a:t>无序顺序表</a:t>
            </a:r>
            <a:r>
              <a:rPr lang="zh-CN" altLang="en-US" sz="3600">
                <a:ea typeface="楷体_GB2312" charset="0"/>
              </a:rPr>
              <a:t>     </a:t>
            </a:r>
          </a:p>
          <a:p>
            <a:pPr>
              <a:lnSpc>
                <a:spcPct val="150000"/>
              </a:lnSpc>
            </a:pPr>
            <a:r>
              <a:rPr lang="zh-CN" altLang="en-US" sz="3600">
                <a:solidFill>
                  <a:srgbClr val="0000FF"/>
                </a:solidFill>
                <a:ea typeface="楷体_GB2312" charset="0"/>
              </a:rPr>
              <a:t>无序线性链表</a:t>
            </a:r>
            <a:endParaRPr lang="zh-CN" altLang="en-US" sz="3600">
              <a:ea typeface="楷体_GB2312" charset="0"/>
            </a:endParaRPr>
          </a:p>
          <a:p>
            <a:pPr>
              <a:lnSpc>
                <a:spcPct val="150000"/>
              </a:lnSpc>
            </a:pPr>
            <a:r>
              <a:rPr lang="zh-CN" altLang="en-US" sz="3600">
                <a:solidFill>
                  <a:srgbClr val="0000FF"/>
                </a:solidFill>
                <a:ea typeface="楷体_GB2312" charset="0"/>
              </a:rPr>
              <a:t>有序顺序表   </a:t>
            </a:r>
            <a:r>
              <a:rPr lang="zh-CN" altLang="en-US" sz="3600">
                <a:ea typeface="楷体_GB2312" charset="0"/>
              </a:rPr>
              <a:t>  </a:t>
            </a:r>
          </a:p>
          <a:p>
            <a:pPr>
              <a:lnSpc>
                <a:spcPct val="150000"/>
              </a:lnSpc>
            </a:pPr>
            <a:r>
              <a:rPr lang="zh-CN" altLang="en-US" sz="3600">
                <a:solidFill>
                  <a:srgbClr val="0000FF"/>
                </a:solidFill>
                <a:ea typeface="楷体_GB2312" charset="0"/>
              </a:rPr>
              <a:t>有序线性链表 </a:t>
            </a:r>
            <a:r>
              <a:rPr lang="zh-CN" altLang="en-US" sz="3600">
                <a:ea typeface="楷体_GB2312" charset="0"/>
              </a:rPr>
              <a:t>  </a:t>
            </a:r>
          </a:p>
          <a:p>
            <a:pPr>
              <a:lnSpc>
                <a:spcPct val="150000"/>
              </a:lnSpc>
            </a:pPr>
            <a:r>
              <a:rPr lang="zh-CN" altLang="en-US" sz="3600">
                <a:solidFill>
                  <a:srgbClr val="0000FF"/>
                </a:solidFill>
                <a:ea typeface="楷体_GB2312" charset="0"/>
              </a:rPr>
              <a:t>静态查找树表</a:t>
            </a:r>
            <a:endParaRPr lang="zh-CN" altLang="en-US"/>
          </a:p>
        </p:txBody>
      </p:sp>
      <p:sp>
        <p:nvSpPr>
          <p:cNvPr id="60425" name="Text Box 9"/>
          <p:cNvSpPr txBox="1">
            <a:spLocks noChangeArrowheads="1"/>
          </p:cNvSpPr>
          <p:nvPr/>
        </p:nvSpPr>
        <p:spPr bwMode="auto">
          <a:xfrm>
            <a:off x="3200400" y="1981200"/>
            <a:ext cx="182245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lang="en-US" altLang="zh-CN" sz="4000">
                <a:solidFill>
                  <a:srgbClr val="A50021"/>
                </a:solidFill>
                <a:ea typeface="楷体_GB2312" charset="0"/>
                <a:sym typeface="Symbol" charset="2"/>
              </a:rPr>
              <a:t></a:t>
            </a:r>
            <a:r>
              <a:rPr lang="en-US" altLang="zh-CN" sz="4000">
                <a:solidFill>
                  <a:srgbClr val="A50021"/>
                </a:solidFill>
                <a:ea typeface="楷体_GB2312" charset="0"/>
              </a:rPr>
              <a:t>(n)</a:t>
            </a:r>
          </a:p>
          <a:p>
            <a:pPr>
              <a:lnSpc>
                <a:spcPct val="140000"/>
              </a:lnSpc>
            </a:pPr>
            <a:r>
              <a:rPr lang="en-US" altLang="zh-CN" sz="4000">
                <a:solidFill>
                  <a:srgbClr val="A50021"/>
                </a:solidFill>
                <a:ea typeface="楷体_GB2312" charset="0"/>
                <a:sym typeface="Symbol" charset="2"/>
              </a:rPr>
              <a:t></a:t>
            </a:r>
            <a:r>
              <a:rPr lang="en-US" altLang="zh-CN" sz="4000">
                <a:solidFill>
                  <a:srgbClr val="A50021"/>
                </a:solidFill>
                <a:ea typeface="楷体_GB2312" charset="0"/>
              </a:rPr>
              <a:t>(n)</a:t>
            </a:r>
          </a:p>
          <a:p>
            <a:pPr>
              <a:lnSpc>
                <a:spcPct val="140000"/>
              </a:lnSpc>
            </a:pPr>
            <a:r>
              <a:rPr lang="en-US" altLang="zh-CN" sz="4000" b="1">
                <a:solidFill>
                  <a:srgbClr val="008080"/>
                </a:solidFill>
                <a:ea typeface="楷体_GB2312" charset="0"/>
                <a:sym typeface="Symbol" charset="2"/>
              </a:rPr>
              <a:t></a:t>
            </a:r>
            <a:r>
              <a:rPr lang="en-US" altLang="zh-CN" sz="4000" b="1">
                <a:solidFill>
                  <a:srgbClr val="008080"/>
                </a:solidFill>
                <a:ea typeface="楷体_GB2312" charset="0"/>
              </a:rPr>
              <a:t>(logn)</a:t>
            </a:r>
            <a:endParaRPr lang="en-US" altLang="zh-CN" sz="4000">
              <a:solidFill>
                <a:srgbClr val="A50021"/>
              </a:solidFill>
              <a:ea typeface="楷体_GB2312" charset="0"/>
            </a:endParaRPr>
          </a:p>
          <a:p>
            <a:pPr>
              <a:lnSpc>
                <a:spcPct val="140000"/>
              </a:lnSpc>
            </a:pPr>
            <a:r>
              <a:rPr lang="en-US" altLang="zh-CN" sz="4000">
                <a:solidFill>
                  <a:srgbClr val="A50021"/>
                </a:solidFill>
                <a:ea typeface="楷体_GB2312" charset="0"/>
                <a:sym typeface="Symbol" charset="2"/>
              </a:rPr>
              <a:t></a:t>
            </a:r>
            <a:r>
              <a:rPr lang="en-US" altLang="zh-CN" sz="4000">
                <a:solidFill>
                  <a:srgbClr val="A50021"/>
                </a:solidFill>
                <a:ea typeface="楷体_GB2312" charset="0"/>
              </a:rPr>
              <a:t>(n)</a:t>
            </a:r>
          </a:p>
          <a:p>
            <a:pPr>
              <a:lnSpc>
                <a:spcPct val="140000"/>
              </a:lnSpc>
            </a:pPr>
            <a:r>
              <a:rPr lang="en-US" altLang="zh-CN" sz="4000" b="1">
                <a:solidFill>
                  <a:srgbClr val="008080"/>
                </a:solidFill>
                <a:ea typeface="楷体_GB2312" charset="0"/>
                <a:sym typeface="Symbol" charset="2"/>
              </a:rPr>
              <a:t></a:t>
            </a:r>
            <a:r>
              <a:rPr lang="en-US" altLang="zh-CN" sz="4000" b="1">
                <a:solidFill>
                  <a:srgbClr val="008080"/>
                </a:solidFill>
                <a:ea typeface="楷体_GB2312" charset="0"/>
              </a:rPr>
              <a:t>(logn)</a:t>
            </a:r>
            <a:endParaRPr lang="en-US" altLang="zh-CN" sz="4400">
              <a:ea typeface="楷体_GB2312" charset="0"/>
            </a:endParaRPr>
          </a:p>
        </p:txBody>
      </p:sp>
      <p:sp>
        <p:nvSpPr>
          <p:cNvPr id="60427" name="Text Box 11"/>
          <p:cNvSpPr txBox="1">
            <a:spLocks noChangeArrowheads="1"/>
          </p:cNvSpPr>
          <p:nvPr/>
        </p:nvSpPr>
        <p:spPr bwMode="auto">
          <a:xfrm>
            <a:off x="5105400" y="1981200"/>
            <a:ext cx="22098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lang="en-US" altLang="zh-CN" sz="4000">
                <a:solidFill>
                  <a:srgbClr val="A50021"/>
                </a:solidFill>
                <a:ea typeface="楷体_GB2312" charset="0"/>
                <a:sym typeface="Symbol" charset="2"/>
              </a:rPr>
              <a:t></a:t>
            </a:r>
            <a:r>
              <a:rPr lang="en-US" altLang="zh-CN" sz="4000">
                <a:solidFill>
                  <a:srgbClr val="A50021"/>
                </a:solidFill>
                <a:ea typeface="楷体_GB2312" charset="0"/>
              </a:rPr>
              <a:t>(1)</a:t>
            </a:r>
          </a:p>
          <a:p>
            <a:pPr>
              <a:lnSpc>
                <a:spcPct val="140000"/>
              </a:lnSpc>
            </a:pPr>
            <a:r>
              <a:rPr lang="en-US" altLang="zh-CN" sz="4000" b="1">
                <a:solidFill>
                  <a:srgbClr val="008080"/>
                </a:solidFill>
                <a:ea typeface="楷体_GB2312" charset="0"/>
                <a:sym typeface="Symbol" charset="2"/>
              </a:rPr>
              <a:t></a:t>
            </a:r>
            <a:r>
              <a:rPr lang="en-US" altLang="zh-CN" sz="4000" b="1">
                <a:solidFill>
                  <a:srgbClr val="008080"/>
                </a:solidFill>
                <a:ea typeface="楷体_GB2312" charset="0"/>
              </a:rPr>
              <a:t>(1)</a:t>
            </a:r>
            <a:endParaRPr lang="en-US" altLang="zh-CN" sz="4000">
              <a:solidFill>
                <a:srgbClr val="006600"/>
              </a:solidFill>
              <a:ea typeface="楷体_GB2312" charset="0"/>
            </a:endParaRPr>
          </a:p>
          <a:p>
            <a:pPr>
              <a:lnSpc>
                <a:spcPct val="140000"/>
              </a:lnSpc>
            </a:pPr>
            <a:r>
              <a:rPr lang="en-US" altLang="zh-CN" sz="4000">
                <a:solidFill>
                  <a:srgbClr val="A50021"/>
                </a:solidFill>
                <a:ea typeface="楷体_GB2312" charset="0"/>
                <a:sym typeface="Symbol" charset="2"/>
              </a:rPr>
              <a:t></a:t>
            </a:r>
            <a:r>
              <a:rPr lang="en-US" altLang="zh-CN" sz="4000">
                <a:solidFill>
                  <a:srgbClr val="A50021"/>
                </a:solidFill>
                <a:ea typeface="楷体_GB2312" charset="0"/>
              </a:rPr>
              <a:t>(n)</a:t>
            </a:r>
          </a:p>
          <a:p>
            <a:pPr>
              <a:lnSpc>
                <a:spcPct val="140000"/>
              </a:lnSpc>
            </a:pPr>
            <a:r>
              <a:rPr lang="en-US" altLang="zh-CN" sz="4000" b="1">
                <a:solidFill>
                  <a:srgbClr val="008080"/>
                </a:solidFill>
                <a:ea typeface="楷体_GB2312" charset="0"/>
                <a:sym typeface="Symbol" charset="2"/>
              </a:rPr>
              <a:t></a:t>
            </a:r>
            <a:r>
              <a:rPr lang="en-US" altLang="zh-CN" sz="4000" b="1">
                <a:solidFill>
                  <a:srgbClr val="008080"/>
                </a:solidFill>
                <a:ea typeface="楷体_GB2312" charset="0"/>
              </a:rPr>
              <a:t>(1)</a:t>
            </a:r>
            <a:endParaRPr lang="en-US" altLang="zh-CN" sz="4000">
              <a:solidFill>
                <a:srgbClr val="A50021"/>
              </a:solidFill>
              <a:ea typeface="楷体_GB2312" charset="0"/>
            </a:endParaRPr>
          </a:p>
          <a:p>
            <a:pPr>
              <a:lnSpc>
                <a:spcPct val="140000"/>
              </a:lnSpc>
            </a:pPr>
            <a:r>
              <a:rPr lang="en-US" altLang="zh-CN" sz="4000">
                <a:solidFill>
                  <a:srgbClr val="A50021"/>
                </a:solidFill>
                <a:ea typeface="楷体_GB2312" charset="0"/>
                <a:sym typeface="Symbol" charset="2"/>
              </a:rPr>
              <a:t></a:t>
            </a:r>
            <a:r>
              <a:rPr lang="en-US" altLang="zh-CN" sz="4000">
                <a:solidFill>
                  <a:srgbClr val="A50021"/>
                </a:solidFill>
                <a:ea typeface="楷体_GB2312" charset="0"/>
              </a:rPr>
              <a:t>(nlogn)</a:t>
            </a:r>
            <a:endParaRPr lang="en-US" altLang="zh-CN" sz="4400">
              <a:ea typeface="楷体_GB2312" charset="0"/>
            </a:endParaRPr>
          </a:p>
        </p:txBody>
      </p:sp>
    </p:spTree>
    <p:extLst>
      <p:ext uri="{BB962C8B-B14F-4D97-AF65-F5344CB8AC3E}">
        <p14:creationId xmlns:p14="http://schemas.microsoft.com/office/powerpoint/2010/main" val="6942699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60419"/>
                                        </p:tgtEl>
                                        <p:attrNameLst>
                                          <p:attrName>style.visibility</p:attrName>
                                        </p:attrNameLst>
                                      </p:cBhvr>
                                      <p:to>
                                        <p:strVal val="visible"/>
                                      </p:to>
                                    </p:set>
                                    <p:anim calcmode="lin" valueType="num">
                                      <p:cBhvr>
                                        <p:cTn id="7" dur="500" fill="hold"/>
                                        <p:tgtEl>
                                          <p:spTgt spid="60419"/>
                                        </p:tgtEl>
                                        <p:attrNameLst>
                                          <p:attrName>ppt_x</p:attrName>
                                        </p:attrNameLst>
                                      </p:cBhvr>
                                      <p:tavLst>
                                        <p:tav tm="0">
                                          <p:val>
                                            <p:strVal val="#ppt_x-#ppt_w/2"/>
                                          </p:val>
                                        </p:tav>
                                        <p:tav tm="100000">
                                          <p:val>
                                            <p:strVal val="#ppt_x"/>
                                          </p:val>
                                        </p:tav>
                                      </p:tavLst>
                                    </p:anim>
                                    <p:anim calcmode="lin" valueType="num">
                                      <p:cBhvr>
                                        <p:cTn id="8" dur="500" fill="hold"/>
                                        <p:tgtEl>
                                          <p:spTgt spid="60419"/>
                                        </p:tgtEl>
                                        <p:attrNameLst>
                                          <p:attrName>ppt_y</p:attrName>
                                        </p:attrNameLst>
                                      </p:cBhvr>
                                      <p:tavLst>
                                        <p:tav tm="0">
                                          <p:val>
                                            <p:strVal val="#ppt_y"/>
                                          </p:val>
                                        </p:tav>
                                        <p:tav tm="100000">
                                          <p:val>
                                            <p:strVal val="#ppt_y"/>
                                          </p:val>
                                        </p:tav>
                                      </p:tavLst>
                                    </p:anim>
                                    <p:anim calcmode="lin" valueType="num">
                                      <p:cBhvr>
                                        <p:cTn id="9" dur="500" fill="hold"/>
                                        <p:tgtEl>
                                          <p:spTgt spid="60419"/>
                                        </p:tgtEl>
                                        <p:attrNameLst>
                                          <p:attrName>ppt_w</p:attrName>
                                        </p:attrNameLst>
                                      </p:cBhvr>
                                      <p:tavLst>
                                        <p:tav tm="0">
                                          <p:val>
                                            <p:fltVal val="0"/>
                                          </p:val>
                                        </p:tav>
                                        <p:tav tm="100000">
                                          <p:val>
                                            <p:strVal val="#ppt_w"/>
                                          </p:val>
                                        </p:tav>
                                      </p:tavLst>
                                    </p:anim>
                                    <p:anim calcmode="lin" valueType="num">
                                      <p:cBhvr>
                                        <p:cTn id="10" dur="500" fill="hold"/>
                                        <p:tgtEl>
                                          <p:spTgt spid="60419"/>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0420"/>
                                        </p:tgtEl>
                                        <p:attrNameLst>
                                          <p:attrName>style.visibility</p:attrName>
                                        </p:attrNameLst>
                                      </p:cBhvr>
                                      <p:to>
                                        <p:strVal val="visible"/>
                                      </p:to>
                                    </p:set>
                                    <p:animEffect transition="in" filter="blinds(horizontal)">
                                      <p:cBhvr>
                                        <p:cTn id="15" dur="500"/>
                                        <p:tgtEl>
                                          <p:spTgt spid="60420"/>
                                        </p:tgtEl>
                                      </p:cBhvr>
                                    </p:animEffect>
                                  </p:childTnLst>
                                </p:cTn>
                              </p:par>
                            </p:childTnLst>
                          </p:cTn>
                        </p:par>
                        <p:par>
                          <p:cTn id="16" fill="hold" nodeType="afterGroup">
                            <p:stCondLst>
                              <p:cond delay="500"/>
                            </p:stCondLst>
                            <p:childTnLst>
                              <p:par>
                                <p:cTn id="17" presetID="16" presetClass="entr" presetSubtype="42" fill="hold" grpId="0" nodeType="afterEffect">
                                  <p:stCondLst>
                                    <p:cond delay="0"/>
                                  </p:stCondLst>
                                  <p:childTnLst>
                                    <p:set>
                                      <p:cBhvr>
                                        <p:cTn id="18" dur="1" fill="hold">
                                          <p:stCondLst>
                                            <p:cond delay="0"/>
                                          </p:stCondLst>
                                        </p:cTn>
                                        <p:tgtEl>
                                          <p:spTgt spid="60421"/>
                                        </p:tgtEl>
                                        <p:attrNameLst>
                                          <p:attrName>style.visibility</p:attrName>
                                        </p:attrNameLst>
                                      </p:cBhvr>
                                      <p:to>
                                        <p:strVal val="visible"/>
                                      </p:to>
                                    </p:set>
                                    <p:animEffect transition="in" filter="barn(outHorizontal)">
                                      <p:cBhvr>
                                        <p:cTn id="19" dur="500"/>
                                        <p:tgtEl>
                                          <p:spTgt spid="6042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6" presetClass="entr" presetSubtype="42" fill="hold" grpId="0" nodeType="clickEffect">
                                  <p:stCondLst>
                                    <p:cond delay="0"/>
                                  </p:stCondLst>
                                  <p:childTnLst>
                                    <p:set>
                                      <p:cBhvr>
                                        <p:cTn id="23" dur="1" fill="hold">
                                          <p:stCondLst>
                                            <p:cond delay="0"/>
                                          </p:stCondLst>
                                        </p:cTn>
                                        <p:tgtEl>
                                          <p:spTgt spid="60425"/>
                                        </p:tgtEl>
                                        <p:attrNameLst>
                                          <p:attrName>style.visibility</p:attrName>
                                        </p:attrNameLst>
                                      </p:cBhvr>
                                      <p:to>
                                        <p:strVal val="visible"/>
                                      </p:to>
                                    </p:set>
                                    <p:animEffect transition="in" filter="barn(outHorizontal)">
                                      <p:cBhvr>
                                        <p:cTn id="24" dur="500"/>
                                        <p:tgtEl>
                                          <p:spTgt spid="6042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6" presetClass="entr" presetSubtype="42" fill="hold" grpId="0" nodeType="clickEffect">
                                  <p:stCondLst>
                                    <p:cond delay="0"/>
                                  </p:stCondLst>
                                  <p:childTnLst>
                                    <p:set>
                                      <p:cBhvr>
                                        <p:cTn id="28" dur="1" fill="hold">
                                          <p:stCondLst>
                                            <p:cond delay="0"/>
                                          </p:stCondLst>
                                        </p:cTn>
                                        <p:tgtEl>
                                          <p:spTgt spid="60427"/>
                                        </p:tgtEl>
                                        <p:attrNameLst>
                                          <p:attrName>style.visibility</p:attrName>
                                        </p:attrNameLst>
                                      </p:cBhvr>
                                      <p:to>
                                        <p:strVal val="visible"/>
                                      </p:to>
                                    </p:set>
                                    <p:animEffect transition="in" filter="barn(outHorizontal)">
                                      <p:cBhvr>
                                        <p:cTn id="29" dur="500"/>
                                        <p:tgtEl>
                                          <p:spTgt spid="6042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6" presetClass="entr" presetSubtype="42" fill="hold" grpId="0" nodeType="clickEffect">
                                  <p:stCondLst>
                                    <p:cond delay="0"/>
                                  </p:stCondLst>
                                  <p:childTnLst>
                                    <p:set>
                                      <p:cBhvr>
                                        <p:cTn id="33" dur="1" fill="hold">
                                          <p:stCondLst>
                                            <p:cond delay="0"/>
                                          </p:stCondLst>
                                        </p:cTn>
                                        <p:tgtEl>
                                          <p:spTgt spid="60418"/>
                                        </p:tgtEl>
                                        <p:attrNameLst>
                                          <p:attrName>style.visibility</p:attrName>
                                        </p:attrNameLst>
                                      </p:cBhvr>
                                      <p:to>
                                        <p:strVal val="visible"/>
                                      </p:to>
                                    </p:set>
                                    <p:animEffect transition="in" filter="barn(outHorizontal)">
                                      <p:cBhvr>
                                        <p:cTn id="34" dur="500"/>
                                        <p:tgtEl>
                                          <p:spTgt spid="60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autoUpdateAnimBg="0"/>
      <p:bldP spid="60419" grpId="0" autoUpdateAnimBg="0"/>
      <p:bldP spid="60420" grpId="0" autoUpdateAnimBg="0"/>
      <p:bldP spid="60421" grpId="0" autoUpdateAnimBg="0"/>
      <p:bldP spid="60425" grpId="0" autoUpdateAnimBg="0"/>
      <p:bldP spid="60427"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762000" y="1552575"/>
            <a:ext cx="75501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lang="en-US" altLang="zh-CN" sz="4000">
                <a:ea typeface="楷体_GB2312" charset="0"/>
              </a:rPr>
              <a:t>1</a:t>
            </a:r>
            <a:r>
              <a:rPr lang="zh-CN" altLang="en-US" sz="4000">
                <a:ea typeface="楷体_GB2312" charset="0"/>
              </a:rPr>
              <a:t>）从</a:t>
            </a:r>
            <a:r>
              <a:rPr lang="zh-CN" altLang="en-US" sz="4000">
                <a:solidFill>
                  <a:srgbClr val="FF0000"/>
                </a:solidFill>
                <a:ea typeface="楷体_GB2312" charset="0"/>
              </a:rPr>
              <a:t>查找</a:t>
            </a:r>
            <a:r>
              <a:rPr lang="zh-CN" altLang="en-US" sz="4000">
                <a:ea typeface="楷体_GB2312" charset="0"/>
              </a:rPr>
              <a:t>性能看，最好情况能达</a:t>
            </a:r>
          </a:p>
          <a:p>
            <a:pPr>
              <a:lnSpc>
                <a:spcPct val="140000"/>
              </a:lnSpc>
            </a:pPr>
            <a:r>
              <a:rPr lang="zh-CN" altLang="en-US" sz="4000">
                <a:ea typeface="楷体_GB2312" charset="0"/>
              </a:rPr>
              <a:t>      </a:t>
            </a:r>
            <a:r>
              <a:rPr lang="zh-CN" altLang="en-US" sz="4000" b="1">
                <a:solidFill>
                  <a:srgbClr val="008080"/>
                </a:solidFill>
                <a:ea typeface="楷体_GB2312" charset="0"/>
                <a:sym typeface="Symbol" charset="2"/>
              </a:rPr>
              <a:t></a:t>
            </a:r>
            <a:r>
              <a:rPr lang="en-US" altLang="zh-CN" sz="4000" b="1">
                <a:solidFill>
                  <a:srgbClr val="008080"/>
                </a:solidFill>
                <a:ea typeface="楷体_GB2312" charset="0"/>
              </a:rPr>
              <a:t>(logn)</a:t>
            </a:r>
            <a:r>
              <a:rPr lang="zh-CN" altLang="en-US" sz="4000">
                <a:ea typeface="楷体_GB2312" charset="0"/>
              </a:rPr>
              <a:t>，此时要求表</a:t>
            </a:r>
            <a:r>
              <a:rPr lang="zh-CN" altLang="en-US" sz="4000">
                <a:solidFill>
                  <a:srgbClr val="0000FF"/>
                </a:solidFill>
                <a:ea typeface="楷体_GB2312" charset="0"/>
              </a:rPr>
              <a:t>有序</a:t>
            </a:r>
            <a:r>
              <a:rPr lang="zh-CN" altLang="en-US" sz="4000">
                <a:ea typeface="楷体_GB2312" charset="0"/>
              </a:rPr>
              <a:t>；</a:t>
            </a:r>
          </a:p>
        </p:txBody>
      </p:sp>
      <p:sp>
        <p:nvSpPr>
          <p:cNvPr id="62467" name="Text Box 3"/>
          <p:cNvSpPr txBox="1">
            <a:spLocks noChangeArrowheads="1"/>
          </p:cNvSpPr>
          <p:nvPr/>
        </p:nvSpPr>
        <p:spPr bwMode="auto">
          <a:xfrm>
            <a:off x="762000" y="3535363"/>
            <a:ext cx="755015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lang="en-US" altLang="zh-CN" sz="4000">
                <a:ea typeface="楷体_GB2312" charset="0"/>
              </a:rPr>
              <a:t>2</a:t>
            </a:r>
            <a:r>
              <a:rPr lang="zh-CN" altLang="en-US" sz="4000">
                <a:ea typeface="楷体_GB2312" charset="0"/>
              </a:rPr>
              <a:t>）从</a:t>
            </a:r>
            <a:r>
              <a:rPr lang="zh-CN" altLang="en-US" sz="4000">
                <a:solidFill>
                  <a:srgbClr val="FF0000"/>
                </a:solidFill>
                <a:ea typeface="楷体_GB2312" charset="0"/>
              </a:rPr>
              <a:t>插入</a:t>
            </a:r>
            <a:r>
              <a:rPr lang="zh-CN" altLang="en-US" sz="4000">
                <a:ea typeface="楷体_GB2312" charset="0"/>
              </a:rPr>
              <a:t>和</a:t>
            </a:r>
            <a:r>
              <a:rPr lang="zh-CN" altLang="en-US" sz="4000">
                <a:solidFill>
                  <a:srgbClr val="FF0000"/>
                </a:solidFill>
                <a:ea typeface="楷体_GB2312" charset="0"/>
              </a:rPr>
              <a:t>删除</a:t>
            </a:r>
            <a:r>
              <a:rPr lang="zh-CN" altLang="en-US" sz="4000">
                <a:ea typeface="楷体_GB2312" charset="0"/>
              </a:rPr>
              <a:t>的性能看，最好</a:t>
            </a:r>
          </a:p>
          <a:p>
            <a:pPr>
              <a:lnSpc>
                <a:spcPct val="140000"/>
              </a:lnSpc>
            </a:pPr>
            <a:r>
              <a:rPr lang="zh-CN" altLang="en-US" sz="4000">
                <a:ea typeface="楷体_GB2312" charset="0"/>
              </a:rPr>
              <a:t>      情况能达</a:t>
            </a:r>
            <a:r>
              <a:rPr lang="zh-CN" altLang="en-US" sz="4000" b="1">
                <a:solidFill>
                  <a:srgbClr val="008080"/>
                </a:solidFill>
                <a:ea typeface="楷体_GB2312" charset="0"/>
                <a:sym typeface="Symbol" charset="2"/>
              </a:rPr>
              <a:t></a:t>
            </a:r>
            <a:r>
              <a:rPr lang="en-US" altLang="zh-CN" sz="4000" b="1">
                <a:solidFill>
                  <a:srgbClr val="008080"/>
                </a:solidFill>
                <a:ea typeface="楷体_GB2312" charset="0"/>
              </a:rPr>
              <a:t>(1)</a:t>
            </a:r>
            <a:r>
              <a:rPr lang="zh-CN" altLang="en-US" sz="4000">
                <a:ea typeface="楷体_GB2312" charset="0"/>
              </a:rPr>
              <a:t>，此时要求存储</a:t>
            </a:r>
          </a:p>
          <a:p>
            <a:pPr>
              <a:lnSpc>
                <a:spcPct val="140000"/>
              </a:lnSpc>
            </a:pPr>
            <a:r>
              <a:rPr lang="zh-CN" altLang="en-US" sz="4000">
                <a:ea typeface="楷体_GB2312" charset="0"/>
              </a:rPr>
              <a:t>      结构是</a:t>
            </a:r>
            <a:r>
              <a:rPr lang="zh-CN" altLang="en-US" sz="4000">
                <a:solidFill>
                  <a:srgbClr val="0000FF"/>
                </a:solidFill>
                <a:ea typeface="楷体_GB2312" charset="0"/>
              </a:rPr>
              <a:t>链表</a:t>
            </a:r>
            <a:r>
              <a:rPr lang="zh-CN" altLang="en-US" sz="4000">
                <a:ea typeface="楷体_GB2312" charset="0"/>
              </a:rPr>
              <a:t>。</a:t>
            </a:r>
            <a:endParaRPr lang="zh-CN" altLang="en-US"/>
          </a:p>
        </p:txBody>
      </p:sp>
      <p:sp>
        <p:nvSpPr>
          <p:cNvPr id="62468" name="Text Box 4"/>
          <p:cNvSpPr txBox="1">
            <a:spLocks noChangeArrowheads="1"/>
          </p:cNvSpPr>
          <p:nvPr/>
        </p:nvSpPr>
        <p:spPr bwMode="auto">
          <a:xfrm>
            <a:off x="762000" y="381000"/>
            <a:ext cx="37734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A50021"/>
                </a:solidFill>
                <a:ea typeface="楷体_GB2312" charset="0"/>
              </a:rPr>
              <a:t>可得如下结论：</a:t>
            </a:r>
            <a:endParaRPr lang="zh-CN" altLang="en-US" sz="4000" b="1">
              <a:ea typeface="楷体_GB2312" charset="0"/>
            </a:endParaRPr>
          </a:p>
        </p:txBody>
      </p:sp>
    </p:spTree>
    <p:extLst>
      <p:ext uri="{BB962C8B-B14F-4D97-AF65-F5344CB8AC3E}">
        <p14:creationId xmlns:p14="http://schemas.microsoft.com/office/powerpoint/2010/main" val="72712152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62468"/>
                                        </p:tgtEl>
                                        <p:attrNameLst>
                                          <p:attrName>style.visibility</p:attrName>
                                        </p:attrNameLst>
                                      </p:cBhvr>
                                      <p:to>
                                        <p:strVal val="visible"/>
                                      </p:to>
                                    </p:set>
                                    <p:anim calcmode="lin" valueType="num">
                                      <p:cBhvr>
                                        <p:cTn id="7" dur="500" fill="hold"/>
                                        <p:tgtEl>
                                          <p:spTgt spid="62468"/>
                                        </p:tgtEl>
                                        <p:attrNameLst>
                                          <p:attrName>ppt_w</p:attrName>
                                        </p:attrNameLst>
                                      </p:cBhvr>
                                      <p:tavLst>
                                        <p:tav tm="0">
                                          <p:val>
                                            <p:fltVal val="0"/>
                                          </p:val>
                                        </p:tav>
                                        <p:tav tm="100000">
                                          <p:val>
                                            <p:strVal val="#ppt_w"/>
                                          </p:val>
                                        </p:tav>
                                      </p:tavLst>
                                    </p:anim>
                                    <p:anim calcmode="lin" valueType="num">
                                      <p:cBhvr>
                                        <p:cTn id="8" dur="500" fill="hold"/>
                                        <p:tgtEl>
                                          <p:spTgt spid="6246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37" fill="hold" grpId="0" nodeType="clickEffect">
                                  <p:stCondLst>
                                    <p:cond delay="0"/>
                                  </p:stCondLst>
                                  <p:childTnLst>
                                    <p:set>
                                      <p:cBhvr>
                                        <p:cTn id="12" dur="1" fill="hold">
                                          <p:stCondLst>
                                            <p:cond delay="0"/>
                                          </p:stCondLst>
                                        </p:cTn>
                                        <p:tgtEl>
                                          <p:spTgt spid="62466"/>
                                        </p:tgtEl>
                                        <p:attrNameLst>
                                          <p:attrName>style.visibility</p:attrName>
                                        </p:attrNameLst>
                                      </p:cBhvr>
                                      <p:to>
                                        <p:strVal val="visible"/>
                                      </p:to>
                                    </p:set>
                                    <p:animEffect transition="in" filter="barn(outVertical)">
                                      <p:cBhvr>
                                        <p:cTn id="13" dur="500"/>
                                        <p:tgtEl>
                                          <p:spTgt spid="6246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62467"/>
                                        </p:tgtEl>
                                        <p:attrNameLst>
                                          <p:attrName>style.visibility</p:attrName>
                                        </p:attrNameLst>
                                      </p:cBhvr>
                                      <p:to>
                                        <p:strVal val="visible"/>
                                      </p:to>
                                    </p:set>
                                    <p:animEffect transition="in" filter="barn(outVertical)">
                                      <p:cBhvr>
                                        <p:cTn id="18" dur="500"/>
                                        <p:tgtEl>
                                          <p:spTgt spid="62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autoUpdateAnimBg="0"/>
      <p:bldP spid="62467" grpId="0" autoUpdateAnimBg="0"/>
      <p:bldP spid="62468"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a:hlinkClick r:id="rId2" action="ppaction://hlinksldjump" highlightClick="1"/>
          </p:cNvPr>
          <p:cNvSpPr txBox="1">
            <a:spLocks noChangeArrowheads="1"/>
          </p:cNvSpPr>
          <p:nvPr/>
        </p:nvSpPr>
        <p:spPr bwMode="auto">
          <a:xfrm>
            <a:off x="1628775" y="584200"/>
            <a:ext cx="7296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A50021"/>
                </a:solidFill>
                <a:ea typeface="楷体_GB2312" charset="0"/>
              </a:rPr>
              <a:t>一、二叉排序树（二叉查找树）</a:t>
            </a:r>
            <a:endParaRPr lang="zh-CN" altLang="en-US" sz="4400" b="1">
              <a:ea typeface="楷体_GB2312" charset="0"/>
            </a:endParaRPr>
          </a:p>
        </p:txBody>
      </p:sp>
      <p:sp>
        <p:nvSpPr>
          <p:cNvPr id="66563" name="Text Box 3">
            <a:hlinkClick r:id="rId3" action="ppaction://hlinksldjump" highlightClick="1"/>
          </p:cNvPr>
          <p:cNvSpPr txBox="1">
            <a:spLocks noChangeArrowheads="1"/>
          </p:cNvSpPr>
          <p:nvPr/>
        </p:nvSpPr>
        <p:spPr bwMode="auto">
          <a:xfrm>
            <a:off x="1219200" y="1727200"/>
            <a:ext cx="374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0033CC"/>
                </a:solidFill>
                <a:ea typeface="楷体_GB2312" charset="0"/>
              </a:rPr>
              <a:t>二、二叉平衡树</a:t>
            </a:r>
            <a:endParaRPr lang="zh-CN" altLang="en-US"/>
          </a:p>
        </p:txBody>
      </p:sp>
      <p:sp>
        <p:nvSpPr>
          <p:cNvPr id="66564" name="Rectangle 4">
            <a:hlinkClick r:id="rId4" action="ppaction://hlinksldjump" highlightClick="1"/>
          </p:cNvPr>
          <p:cNvSpPr>
            <a:spLocks noChangeArrowheads="1"/>
          </p:cNvSpPr>
          <p:nvPr/>
        </p:nvSpPr>
        <p:spPr bwMode="auto">
          <a:xfrm>
            <a:off x="868363" y="2895600"/>
            <a:ext cx="247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CC00FF"/>
                </a:solidFill>
                <a:ea typeface="楷体_GB2312" charset="0"/>
              </a:rPr>
              <a:t>三、</a:t>
            </a:r>
            <a:r>
              <a:rPr lang="en-US" altLang="zh-CN" sz="4000" b="1">
                <a:solidFill>
                  <a:srgbClr val="CC00FF"/>
                </a:solidFill>
                <a:ea typeface="楷体_GB2312" charset="0"/>
              </a:rPr>
              <a:t>B - </a:t>
            </a:r>
            <a:r>
              <a:rPr lang="zh-CN" altLang="en-US" sz="4000" b="1">
                <a:solidFill>
                  <a:srgbClr val="CC00FF"/>
                </a:solidFill>
                <a:ea typeface="楷体_GB2312" charset="0"/>
              </a:rPr>
              <a:t>树</a:t>
            </a:r>
          </a:p>
        </p:txBody>
      </p:sp>
      <p:sp>
        <p:nvSpPr>
          <p:cNvPr id="66565" name="Text Box 5">
            <a:hlinkClick r:id="rId5" action="ppaction://hlinksldjump" highlightClick="1"/>
          </p:cNvPr>
          <p:cNvSpPr txBox="1">
            <a:spLocks noChangeArrowheads="1"/>
          </p:cNvSpPr>
          <p:nvPr/>
        </p:nvSpPr>
        <p:spPr bwMode="auto">
          <a:xfrm>
            <a:off x="487363" y="4038600"/>
            <a:ext cx="22415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CC0000"/>
                </a:solidFill>
                <a:ea typeface="楷体_GB2312" charset="0"/>
              </a:rPr>
              <a:t>四、</a:t>
            </a:r>
            <a:r>
              <a:rPr lang="en-US" altLang="zh-CN" sz="4000" b="1">
                <a:solidFill>
                  <a:srgbClr val="CC0000"/>
                </a:solidFill>
                <a:ea typeface="楷体_GB2312" charset="0"/>
              </a:rPr>
              <a:t>B</a:t>
            </a:r>
            <a:r>
              <a:rPr lang="en-US" altLang="zh-CN" sz="4000" b="1" baseline="30000">
                <a:solidFill>
                  <a:srgbClr val="CC0000"/>
                </a:solidFill>
                <a:ea typeface="楷体_GB2312" charset="0"/>
              </a:rPr>
              <a:t>+</a:t>
            </a:r>
            <a:r>
              <a:rPr lang="zh-CN" altLang="en-US" sz="4000" b="1">
                <a:solidFill>
                  <a:srgbClr val="CC0000"/>
                </a:solidFill>
                <a:ea typeface="楷体_GB2312" charset="0"/>
              </a:rPr>
              <a:t>树</a:t>
            </a:r>
            <a:endParaRPr lang="zh-CN" altLang="en-US">
              <a:solidFill>
                <a:srgbClr val="CC0000"/>
              </a:solidFill>
            </a:endParaRPr>
          </a:p>
        </p:txBody>
      </p:sp>
      <p:sp>
        <p:nvSpPr>
          <p:cNvPr id="66566" name="Text Box 6">
            <a:hlinkClick r:id="rId6" action="ppaction://hlinksldjump" highlightClick="1"/>
          </p:cNvPr>
          <p:cNvSpPr txBox="1">
            <a:spLocks noChangeArrowheads="1"/>
          </p:cNvSpPr>
          <p:nvPr/>
        </p:nvSpPr>
        <p:spPr bwMode="auto">
          <a:xfrm>
            <a:off x="812800" y="5181600"/>
            <a:ext cx="2597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6600CC"/>
                </a:solidFill>
                <a:ea typeface="楷体_GB2312" charset="0"/>
              </a:rPr>
              <a:t>五、键   树</a:t>
            </a:r>
            <a:endParaRPr lang="zh-CN" altLang="en-US"/>
          </a:p>
        </p:txBody>
      </p:sp>
      <p:pic>
        <p:nvPicPr>
          <p:cNvPr id="66567" name="Picture 7" descr="MEETING">
            <a:hlinkClick r:id="rId7" action="ppaction://hlinksldjump" highlightClick="1"/>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1200" y="4267200"/>
            <a:ext cx="2667000" cy="190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77236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grpId="0" nodeType="afterEffect">
                                  <p:stCondLst>
                                    <p:cond delay="0"/>
                                  </p:stCondLst>
                                  <p:childTnLst>
                                    <p:set>
                                      <p:cBhvr>
                                        <p:cTn id="6" dur="1" fill="hold">
                                          <p:stCondLst>
                                            <p:cond delay="0"/>
                                          </p:stCondLst>
                                        </p:cTn>
                                        <p:tgtEl>
                                          <p:spTgt spid="66562"/>
                                        </p:tgtEl>
                                        <p:attrNameLst>
                                          <p:attrName>style.visibility</p:attrName>
                                        </p:attrNameLst>
                                      </p:cBhvr>
                                      <p:to>
                                        <p:strVal val="visible"/>
                                      </p:to>
                                    </p:set>
                                    <p:anim calcmode="lin" valueType="num">
                                      <p:cBhvr>
                                        <p:cTn id="7" dur="500" fill="hold"/>
                                        <p:tgtEl>
                                          <p:spTgt spid="66562"/>
                                        </p:tgtEl>
                                        <p:attrNameLst>
                                          <p:attrName>ppt_w</p:attrName>
                                        </p:attrNameLst>
                                      </p:cBhvr>
                                      <p:tavLst>
                                        <p:tav tm="0">
                                          <p:val>
                                            <p:strVal val="2/3*#ppt_w"/>
                                          </p:val>
                                        </p:tav>
                                        <p:tav tm="100000">
                                          <p:val>
                                            <p:strVal val="#ppt_w"/>
                                          </p:val>
                                        </p:tav>
                                      </p:tavLst>
                                    </p:anim>
                                    <p:anim calcmode="lin" valueType="num">
                                      <p:cBhvr>
                                        <p:cTn id="8" dur="500" fill="hold"/>
                                        <p:tgtEl>
                                          <p:spTgt spid="66562"/>
                                        </p:tgtEl>
                                        <p:attrNameLst>
                                          <p:attrName>ppt_h</p:attrName>
                                        </p:attrNameLst>
                                      </p:cBhvr>
                                      <p:tavLst>
                                        <p:tav tm="0">
                                          <p:val>
                                            <p:strVal val="2/3*#ppt_h"/>
                                          </p:val>
                                        </p:tav>
                                        <p:tav tm="100000">
                                          <p:val>
                                            <p:strVal val="#ppt_h"/>
                                          </p:val>
                                        </p:tav>
                                      </p:tavLst>
                                    </p:anim>
                                  </p:childTnLst>
                                </p:cTn>
                              </p:par>
                            </p:childTnLst>
                          </p:cTn>
                        </p:par>
                        <p:par>
                          <p:cTn id="9" fill="hold" nodeType="afterGroup">
                            <p:stCondLst>
                              <p:cond delay="500"/>
                            </p:stCondLst>
                            <p:childTnLst>
                              <p:par>
                                <p:cTn id="10" presetID="23" presetClass="entr" presetSubtype="272" fill="hold" grpId="0" nodeType="afterEffect">
                                  <p:stCondLst>
                                    <p:cond delay="0"/>
                                  </p:stCondLst>
                                  <p:childTnLst>
                                    <p:set>
                                      <p:cBhvr>
                                        <p:cTn id="11" dur="1" fill="hold">
                                          <p:stCondLst>
                                            <p:cond delay="0"/>
                                          </p:stCondLst>
                                        </p:cTn>
                                        <p:tgtEl>
                                          <p:spTgt spid="66563"/>
                                        </p:tgtEl>
                                        <p:attrNameLst>
                                          <p:attrName>style.visibility</p:attrName>
                                        </p:attrNameLst>
                                      </p:cBhvr>
                                      <p:to>
                                        <p:strVal val="visible"/>
                                      </p:to>
                                    </p:set>
                                    <p:anim calcmode="lin" valueType="num">
                                      <p:cBhvr>
                                        <p:cTn id="12" dur="500" fill="hold"/>
                                        <p:tgtEl>
                                          <p:spTgt spid="66563"/>
                                        </p:tgtEl>
                                        <p:attrNameLst>
                                          <p:attrName>ppt_w</p:attrName>
                                        </p:attrNameLst>
                                      </p:cBhvr>
                                      <p:tavLst>
                                        <p:tav tm="0">
                                          <p:val>
                                            <p:strVal val="2/3*#ppt_w"/>
                                          </p:val>
                                        </p:tav>
                                        <p:tav tm="100000">
                                          <p:val>
                                            <p:strVal val="#ppt_w"/>
                                          </p:val>
                                        </p:tav>
                                      </p:tavLst>
                                    </p:anim>
                                    <p:anim calcmode="lin" valueType="num">
                                      <p:cBhvr>
                                        <p:cTn id="13" dur="500" fill="hold"/>
                                        <p:tgtEl>
                                          <p:spTgt spid="66563"/>
                                        </p:tgtEl>
                                        <p:attrNameLst>
                                          <p:attrName>ppt_h</p:attrName>
                                        </p:attrNameLst>
                                      </p:cBhvr>
                                      <p:tavLst>
                                        <p:tav tm="0">
                                          <p:val>
                                            <p:strVal val="2/3*#ppt_h"/>
                                          </p:val>
                                        </p:tav>
                                        <p:tav tm="100000">
                                          <p:val>
                                            <p:strVal val="#ppt_h"/>
                                          </p:val>
                                        </p:tav>
                                      </p:tavLst>
                                    </p:anim>
                                  </p:childTnLst>
                                </p:cTn>
                              </p:par>
                            </p:childTnLst>
                          </p:cTn>
                        </p:par>
                        <p:par>
                          <p:cTn id="14" fill="hold" nodeType="afterGroup">
                            <p:stCondLst>
                              <p:cond delay="1000"/>
                            </p:stCondLst>
                            <p:childTnLst>
                              <p:par>
                                <p:cTn id="15" presetID="23" presetClass="entr" presetSubtype="272" fill="hold" grpId="0" nodeType="afterEffect">
                                  <p:stCondLst>
                                    <p:cond delay="0"/>
                                  </p:stCondLst>
                                  <p:childTnLst>
                                    <p:set>
                                      <p:cBhvr>
                                        <p:cTn id="16" dur="1" fill="hold">
                                          <p:stCondLst>
                                            <p:cond delay="0"/>
                                          </p:stCondLst>
                                        </p:cTn>
                                        <p:tgtEl>
                                          <p:spTgt spid="66564"/>
                                        </p:tgtEl>
                                        <p:attrNameLst>
                                          <p:attrName>style.visibility</p:attrName>
                                        </p:attrNameLst>
                                      </p:cBhvr>
                                      <p:to>
                                        <p:strVal val="visible"/>
                                      </p:to>
                                    </p:set>
                                    <p:anim calcmode="lin" valueType="num">
                                      <p:cBhvr>
                                        <p:cTn id="17" dur="500" fill="hold"/>
                                        <p:tgtEl>
                                          <p:spTgt spid="66564"/>
                                        </p:tgtEl>
                                        <p:attrNameLst>
                                          <p:attrName>ppt_w</p:attrName>
                                        </p:attrNameLst>
                                      </p:cBhvr>
                                      <p:tavLst>
                                        <p:tav tm="0">
                                          <p:val>
                                            <p:strVal val="2/3*#ppt_w"/>
                                          </p:val>
                                        </p:tav>
                                        <p:tav tm="100000">
                                          <p:val>
                                            <p:strVal val="#ppt_w"/>
                                          </p:val>
                                        </p:tav>
                                      </p:tavLst>
                                    </p:anim>
                                    <p:anim calcmode="lin" valueType="num">
                                      <p:cBhvr>
                                        <p:cTn id="18" dur="500" fill="hold"/>
                                        <p:tgtEl>
                                          <p:spTgt spid="66564"/>
                                        </p:tgtEl>
                                        <p:attrNameLst>
                                          <p:attrName>ppt_h</p:attrName>
                                        </p:attrNameLst>
                                      </p:cBhvr>
                                      <p:tavLst>
                                        <p:tav tm="0">
                                          <p:val>
                                            <p:strVal val="2/3*#ppt_h"/>
                                          </p:val>
                                        </p:tav>
                                        <p:tav tm="100000">
                                          <p:val>
                                            <p:strVal val="#ppt_h"/>
                                          </p:val>
                                        </p:tav>
                                      </p:tavLst>
                                    </p:anim>
                                  </p:childTnLst>
                                </p:cTn>
                              </p:par>
                            </p:childTnLst>
                          </p:cTn>
                        </p:par>
                        <p:par>
                          <p:cTn id="19" fill="hold" nodeType="afterGroup">
                            <p:stCondLst>
                              <p:cond delay="1500"/>
                            </p:stCondLst>
                            <p:childTnLst>
                              <p:par>
                                <p:cTn id="20" presetID="23" presetClass="entr" presetSubtype="272" fill="hold" grpId="0" nodeType="afterEffect">
                                  <p:stCondLst>
                                    <p:cond delay="0"/>
                                  </p:stCondLst>
                                  <p:childTnLst>
                                    <p:set>
                                      <p:cBhvr>
                                        <p:cTn id="21" dur="1" fill="hold">
                                          <p:stCondLst>
                                            <p:cond delay="0"/>
                                          </p:stCondLst>
                                        </p:cTn>
                                        <p:tgtEl>
                                          <p:spTgt spid="66565"/>
                                        </p:tgtEl>
                                        <p:attrNameLst>
                                          <p:attrName>style.visibility</p:attrName>
                                        </p:attrNameLst>
                                      </p:cBhvr>
                                      <p:to>
                                        <p:strVal val="visible"/>
                                      </p:to>
                                    </p:set>
                                    <p:anim calcmode="lin" valueType="num">
                                      <p:cBhvr>
                                        <p:cTn id="22" dur="500" fill="hold"/>
                                        <p:tgtEl>
                                          <p:spTgt spid="66565"/>
                                        </p:tgtEl>
                                        <p:attrNameLst>
                                          <p:attrName>ppt_w</p:attrName>
                                        </p:attrNameLst>
                                      </p:cBhvr>
                                      <p:tavLst>
                                        <p:tav tm="0">
                                          <p:val>
                                            <p:strVal val="2/3*#ppt_w"/>
                                          </p:val>
                                        </p:tav>
                                        <p:tav tm="100000">
                                          <p:val>
                                            <p:strVal val="#ppt_w"/>
                                          </p:val>
                                        </p:tav>
                                      </p:tavLst>
                                    </p:anim>
                                    <p:anim calcmode="lin" valueType="num">
                                      <p:cBhvr>
                                        <p:cTn id="23" dur="500" fill="hold"/>
                                        <p:tgtEl>
                                          <p:spTgt spid="66565"/>
                                        </p:tgtEl>
                                        <p:attrNameLst>
                                          <p:attrName>ppt_h</p:attrName>
                                        </p:attrNameLst>
                                      </p:cBhvr>
                                      <p:tavLst>
                                        <p:tav tm="0">
                                          <p:val>
                                            <p:strVal val="2/3*#ppt_h"/>
                                          </p:val>
                                        </p:tav>
                                        <p:tav tm="100000">
                                          <p:val>
                                            <p:strVal val="#ppt_h"/>
                                          </p:val>
                                        </p:tav>
                                      </p:tavLst>
                                    </p:anim>
                                  </p:childTnLst>
                                </p:cTn>
                              </p:par>
                            </p:childTnLst>
                          </p:cTn>
                        </p:par>
                        <p:par>
                          <p:cTn id="24" fill="hold" nodeType="afterGroup">
                            <p:stCondLst>
                              <p:cond delay="2000"/>
                            </p:stCondLst>
                            <p:childTnLst>
                              <p:par>
                                <p:cTn id="25" presetID="23" presetClass="entr" presetSubtype="272" fill="hold" grpId="0" nodeType="afterEffect">
                                  <p:stCondLst>
                                    <p:cond delay="0"/>
                                  </p:stCondLst>
                                  <p:childTnLst>
                                    <p:set>
                                      <p:cBhvr>
                                        <p:cTn id="26" dur="1" fill="hold">
                                          <p:stCondLst>
                                            <p:cond delay="0"/>
                                          </p:stCondLst>
                                        </p:cTn>
                                        <p:tgtEl>
                                          <p:spTgt spid="66566"/>
                                        </p:tgtEl>
                                        <p:attrNameLst>
                                          <p:attrName>style.visibility</p:attrName>
                                        </p:attrNameLst>
                                      </p:cBhvr>
                                      <p:to>
                                        <p:strVal val="visible"/>
                                      </p:to>
                                    </p:set>
                                    <p:anim calcmode="lin" valueType="num">
                                      <p:cBhvr>
                                        <p:cTn id="27" dur="500" fill="hold"/>
                                        <p:tgtEl>
                                          <p:spTgt spid="66566"/>
                                        </p:tgtEl>
                                        <p:attrNameLst>
                                          <p:attrName>ppt_w</p:attrName>
                                        </p:attrNameLst>
                                      </p:cBhvr>
                                      <p:tavLst>
                                        <p:tav tm="0">
                                          <p:val>
                                            <p:strVal val="2/3*#ppt_w"/>
                                          </p:val>
                                        </p:tav>
                                        <p:tav tm="100000">
                                          <p:val>
                                            <p:strVal val="#ppt_w"/>
                                          </p:val>
                                        </p:tav>
                                      </p:tavLst>
                                    </p:anim>
                                    <p:anim calcmode="lin" valueType="num">
                                      <p:cBhvr>
                                        <p:cTn id="28" dur="500" fill="hold"/>
                                        <p:tgtEl>
                                          <p:spTgt spid="66566"/>
                                        </p:tgtEl>
                                        <p:attrNameLst>
                                          <p:attrName>ppt_h</p:attrName>
                                        </p:attrNameLst>
                                      </p:cBhvr>
                                      <p:tavLst>
                                        <p:tav tm="0">
                                          <p:val>
                                            <p:strVal val="2/3*#ppt_h"/>
                                          </p:val>
                                        </p:tav>
                                        <p:tav tm="100000">
                                          <p:val>
                                            <p:strVal val="#ppt_h"/>
                                          </p:val>
                                        </p:tav>
                                      </p:tavLst>
                                    </p:anim>
                                  </p:childTnLst>
                                </p:cTn>
                              </p:par>
                            </p:childTnLst>
                          </p:cTn>
                        </p:par>
                        <p:par>
                          <p:cTn id="29" fill="hold" nodeType="afterGroup">
                            <p:stCondLst>
                              <p:cond delay="2500"/>
                            </p:stCondLst>
                            <p:childTnLst>
                              <p:par>
                                <p:cTn id="30" presetID="2" presetClass="entr" presetSubtype="6" fill="hold" nodeType="afterEffect">
                                  <p:stCondLst>
                                    <p:cond delay="0"/>
                                  </p:stCondLst>
                                  <p:childTnLst>
                                    <p:set>
                                      <p:cBhvr>
                                        <p:cTn id="31" dur="1" fill="hold">
                                          <p:stCondLst>
                                            <p:cond delay="0"/>
                                          </p:stCondLst>
                                        </p:cTn>
                                        <p:tgtEl>
                                          <p:spTgt spid="66567"/>
                                        </p:tgtEl>
                                        <p:attrNameLst>
                                          <p:attrName>style.visibility</p:attrName>
                                        </p:attrNameLst>
                                      </p:cBhvr>
                                      <p:to>
                                        <p:strVal val="visible"/>
                                      </p:to>
                                    </p:set>
                                    <p:anim calcmode="lin" valueType="num">
                                      <p:cBhvr additive="base">
                                        <p:cTn id="32" dur="500" fill="hold"/>
                                        <p:tgtEl>
                                          <p:spTgt spid="66567"/>
                                        </p:tgtEl>
                                        <p:attrNameLst>
                                          <p:attrName>ppt_x</p:attrName>
                                        </p:attrNameLst>
                                      </p:cBhvr>
                                      <p:tavLst>
                                        <p:tav tm="0">
                                          <p:val>
                                            <p:strVal val="1+#ppt_w/2"/>
                                          </p:val>
                                        </p:tav>
                                        <p:tav tm="100000">
                                          <p:val>
                                            <p:strVal val="#ppt_x"/>
                                          </p:val>
                                        </p:tav>
                                      </p:tavLst>
                                    </p:anim>
                                    <p:anim calcmode="lin" valueType="num">
                                      <p:cBhvr additive="base">
                                        <p:cTn id="33" dur="500" fill="hold"/>
                                        <p:tgtEl>
                                          <p:spTgt spid="665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autoUpdateAnimBg="0"/>
      <p:bldP spid="66563" grpId="0" autoUpdateAnimBg="0"/>
      <p:bldP spid="66564" grpId="0" autoUpdateAnimBg="0"/>
      <p:bldP spid="66565" grpId="0" autoUpdateAnimBg="0"/>
      <p:bldP spid="66566"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a:spLocks noChangeArrowheads="1"/>
          </p:cNvSpPr>
          <p:nvPr/>
        </p:nvSpPr>
        <p:spPr bwMode="auto">
          <a:xfrm>
            <a:off x="1416050" y="171450"/>
            <a:ext cx="55626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lnSpc>
                <a:spcPct val="120000"/>
              </a:lnSpc>
            </a:pPr>
            <a:r>
              <a:rPr lang="zh-CN" altLang="en-US" sz="6000" b="1">
                <a:solidFill>
                  <a:srgbClr val="A50021"/>
                </a:solidFill>
                <a:ea typeface="隶书" charset="0"/>
              </a:rPr>
              <a:t>一、二叉排序树</a:t>
            </a:r>
          </a:p>
          <a:p>
            <a:pPr algn="ctr">
              <a:lnSpc>
                <a:spcPct val="120000"/>
              </a:lnSpc>
            </a:pPr>
            <a:r>
              <a:rPr lang="zh-CN" altLang="en-US" sz="6000" b="1">
                <a:solidFill>
                  <a:srgbClr val="A50021"/>
                </a:solidFill>
                <a:ea typeface="隶书" charset="0"/>
              </a:rPr>
              <a:t>（二叉查找树）</a:t>
            </a:r>
            <a:endParaRPr lang="zh-CN" altLang="en-US" sz="6000" b="1">
              <a:ea typeface="楷体_GB2312" charset="0"/>
            </a:endParaRPr>
          </a:p>
        </p:txBody>
      </p:sp>
      <p:graphicFrame>
        <p:nvGraphicFramePr>
          <p:cNvPr id="90115" name="Object 3">
            <a:hlinkClick r:id="" action="ppaction://hlinkshowjump?jump=previousslide" highlightClick="1"/>
          </p:cNvPr>
          <p:cNvGraphicFramePr>
            <a:graphicFrameLocks noChangeAspect="1"/>
          </p:cNvGraphicFramePr>
          <p:nvPr/>
        </p:nvGraphicFramePr>
        <p:xfrm>
          <a:off x="457200" y="5257800"/>
          <a:ext cx="1676400" cy="1187450"/>
        </p:xfrm>
        <a:graphic>
          <a:graphicData uri="http://schemas.openxmlformats.org/presentationml/2006/ole">
            <mc:AlternateContent xmlns:mc="http://schemas.openxmlformats.org/markup-compatibility/2006">
              <mc:Choice xmlns:v="urn:schemas-microsoft-com:vml" Requires="v">
                <p:oleObj spid="_x0000_s1337346" name="剪辑" r:id="rId3" imgW="984600" imgH="697320" progId="MS_ClipArt_Gallery.2">
                  <p:embed/>
                </p:oleObj>
              </mc:Choice>
              <mc:Fallback>
                <p:oleObj name="剪辑" r:id="rId3" imgW="984600" imgH="69732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5257800"/>
                        <a:ext cx="1676400"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90116" name="Text Box 4">
            <a:hlinkClick r:id="" action="ppaction://hlinkshowjump?jump=nextslide"/>
          </p:cNvPr>
          <p:cNvSpPr txBox="1">
            <a:spLocks noChangeArrowheads="1"/>
          </p:cNvSpPr>
          <p:nvPr/>
        </p:nvSpPr>
        <p:spPr bwMode="auto">
          <a:xfrm>
            <a:off x="1177925" y="2743200"/>
            <a:ext cx="1784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6600CC"/>
                </a:solidFill>
                <a:ea typeface="楷体_GB2312" charset="0"/>
              </a:rPr>
              <a:t>1</a:t>
            </a:r>
            <a:r>
              <a:rPr lang="zh-CN" altLang="en-US" sz="3600" b="1">
                <a:solidFill>
                  <a:srgbClr val="6600CC"/>
                </a:solidFill>
                <a:ea typeface="楷体_GB2312" charset="0"/>
              </a:rPr>
              <a:t>．定义</a:t>
            </a:r>
            <a:endParaRPr lang="zh-CN" altLang="en-US" sz="4400" b="1">
              <a:solidFill>
                <a:srgbClr val="FF00FF"/>
              </a:solidFill>
              <a:ea typeface="楷体_GB2312" charset="0"/>
            </a:endParaRPr>
          </a:p>
        </p:txBody>
      </p:sp>
      <p:sp>
        <p:nvSpPr>
          <p:cNvPr id="90117" name="Rectangle 5">
            <a:hlinkClick r:id="rId5" action="ppaction://hlinksldjump"/>
          </p:cNvPr>
          <p:cNvSpPr>
            <a:spLocks noChangeArrowheads="1"/>
          </p:cNvSpPr>
          <p:nvPr/>
        </p:nvSpPr>
        <p:spPr bwMode="auto">
          <a:xfrm>
            <a:off x="1933575" y="3505200"/>
            <a:ext cx="2698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6600CC"/>
                </a:solidFill>
                <a:ea typeface="楷体_GB2312" charset="0"/>
              </a:rPr>
              <a:t>2</a:t>
            </a:r>
            <a:r>
              <a:rPr lang="zh-CN" altLang="en-US" sz="3600" b="1">
                <a:solidFill>
                  <a:srgbClr val="6600CC"/>
                </a:solidFill>
                <a:ea typeface="楷体_GB2312" charset="0"/>
              </a:rPr>
              <a:t>．查找算法</a:t>
            </a:r>
            <a:endParaRPr lang="zh-CN" altLang="en-US" b="1">
              <a:solidFill>
                <a:srgbClr val="CC0000"/>
              </a:solidFill>
              <a:ea typeface="楷体_GB2312" charset="0"/>
            </a:endParaRPr>
          </a:p>
        </p:txBody>
      </p:sp>
      <p:sp>
        <p:nvSpPr>
          <p:cNvPr id="90118" name="Text Box 6">
            <a:hlinkClick r:id="rId6" action="ppaction://hlinksldjump"/>
          </p:cNvPr>
          <p:cNvSpPr txBox="1">
            <a:spLocks noChangeArrowheads="1"/>
          </p:cNvSpPr>
          <p:nvPr/>
        </p:nvSpPr>
        <p:spPr bwMode="auto">
          <a:xfrm>
            <a:off x="2695575" y="4267200"/>
            <a:ext cx="2698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6600CC"/>
                </a:solidFill>
                <a:ea typeface="楷体_GB2312" charset="0"/>
              </a:rPr>
              <a:t>3</a:t>
            </a:r>
            <a:r>
              <a:rPr lang="zh-CN" altLang="en-US" sz="3600" b="1">
                <a:solidFill>
                  <a:srgbClr val="6600CC"/>
                </a:solidFill>
                <a:ea typeface="楷体_GB2312" charset="0"/>
              </a:rPr>
              <a:t>．插入算法</a:t>
            </a:r>
            <a:endParaRPr lang="zh-CN" altLang="en-US"/>
          </a:p>
        </p:txBody>
      </p:sp>
      <p:sp>
        <p:nvSpPr>
          <p:cNvPr id="90119" name="Text Box 7">
            <a:hlinkClick r:id="rId7" action="ppaction://hlinksldjump"/>
          </p:cNvPr>
          <p:cNvSpPr txBox="1">
            <a:spLocks noChangeArrowheads="1"/>
          </p:cNvSpPr>
          <p:nvPr/>
        </p:nvSpPr>
        <p:spPr bwMode="auto">
          <a:xfrm>
            <a:off x="3429000" y="5029200"/>
            <a:ext cx="2698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6600CC"/>
                </a:solidFill>
                <a:ea typeface="楷体_GB2312" charset="0"/>
              </a:rPr>
              <a:t>4</a:t>
            </a:r>
            <a:r>
              <a:rPr lang="zh-CN" altLang="en-US" sz="3600" b="1">
                <a:solidFill>
                  <a:srgbClr val="6600CC"/>
                </a:solidFill>
                <a:ea typeface="楷体_GB2312" charset="0"/>
              </a:rPr>
              <a:t>．删除算法</a:t>
            </a:r>
            <a:endParaRPr lang="zh-CN" altLang="en-US" sz="4000" b="1">
              <a:solidFill>
                <a:srgbClr val="FF00FF"/>
              </a:solidFill>
              <a:ea typeface="楷体_GB2312" charset="0"/>
            </a:endParaRPr>
          </a:p>
        </p:txBody>
      </p:sp>
      <p:sp>
        <p:nvSpPr>
          <p:cNvPr id="90120" name="Text Box 8">
            <a:hlinkClick r:id="rId8" action="ppaction://hlinksldjump"/>
          </p:cNvPr>
          <p:cNvSpPr txBox="1">
            <a:spLocks noChangeArrowheads="1"/>
          </p:cNvSpPr>
          <p:nvPr/>
        </p:nvSpPr>
        <p:spPr bwMode="auto">
          <a:xfrm>
            <a:off x="4210050" y="5791200"/>
            <a:ext cx="4070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6600CC"/>
                </a:solidFill>
                <a:ea typeface="楷体_GB2312" charset="0"/>
              </a:rPr>
              <a:t>5</a:t>
            </a:r>
            <a:r>
              <a:rPr lang="zh-CN" altLang="en-US" sz="3600" b="1">
                <a:solidFill>
                  <a:srgbClr val="6600CC"/>
                </a:solidFill>
                <a:ea typeface="楷体_GB2312" charset="0"/>
              </a:rPr>
              <a:t>．查找性能的分析</a:t>
            </a:r>
            <a:endParaRPr lang="zh-CN" altLang="en-US"/>
          </a:p>
        </p:txBody>
      </p:sp>
    </p:spTree>
    <p:extLst>
      <p:ext uri="{BB962C8B-B14F-4D97-AF65-F5344CB8AC3E}">
        <p14:creationId xmlns:p14="http://schemas.microsoft.com/office/powerpoint/2010/main" val="8133006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0114"/>
                                        </p:tgtEl>
                                        <p:attrNameLst>
                                          <p:attrName>style.visibility</p:attrName>
                                        </p:attrNameLst>
                                      </p:cBhvr>
                                      <p:to>
                                        <p:strVal val="visible"/>
                                      </p:to>
                                    </p:set>
                                    <p:anim calcmode="lin" valueType="num">
                                      <p:cBhvr additive="base">
                                        <p:cTn id="7" dur="500" fill="hold"/>
                                        <p:tgtEl>
                                          <p:spTgt spid="90114"/>
                                        </p:tgtEl>
                                        <p:attrNameLst>
                                          <p:attrName>ppt_x</p:attrName>
                                        </p:attrNameLst>
                                      </p:cBhvr>
                                      <p:tavLst>
                                        <p:tav tm="0">
                                          <p:val>
                                            <p:strVal val="0-#ppt_w/2"/>
                                          </p:val>
                                        </p:tav>
                                        <p:tav tm="100000">
                                          <p:val>
                                            <p:strVal val="#ppt_x"/>
                                          </p:val>
                                        </p:tav>
                                      </p:tavLst>
                                    </p:anim>
                                    <p:anim calcmode="lin" valueType="num">
                                      <p:cBhvr additive="base">
                                        <p:cTn id="8" dur="500" fill="hold"/>
                                        <p:tgtEl>
                                          <p:spTgt spid="9011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90116"/>
                                        </p:tgtEl>
                                        <p:attrNameLst>
                                          <p:attrName>style.visibility</p:attrName>
                                        </p:attrNameLst>
                                      </p:cBhvr>
                                      <p:to>
                                        <p:strVal val="visible"/>
                                      </p:to>
                                    </p:set>
                                    <p:animEffect transition="in" filter="dissolve">
                                      <p:cBhvr>
                                        <p:cTn id="12" dur="500"/>
                                        <p:tgtEl>
                                          <p:spTgt spid="90116"/>
                                        </p:tgtEl>
                                      </p:cBhvr>
                                    </p:animEffect>
                                  </p:childTnLst>
                                </p:cTn>
                              </p:par>
                            </p:childTnLst>
                          </p:cTn>
                        </p:par>
                        <p:par>
                          <p:cTn id="13" fill="hold" nodeType="afterGroup">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90117"/>
                                        </p:tgtEl>
                                        <p:attrNameLst>
                                          <p:attrName>style.visibility</p:attrName>
                                        </p:attrNameLst>
                                      </p:cBhvr>
                                      <p:to>
                                        <p:strVal val="visible"/>
                                      </p:to>
                                    </p:set>
                                    <p:anim calcmode="lin" valueType="num">
                                      <p:cBhvr additive="base">
                                        <p:cTn id="16" dur="500" fill="hold"/>
                                        <p:tgtEl>
                                          <p:spTgt spid="90117"/>
                                        </p:tgtEl>
                                        <p:attrNameLst>
                                          <p:attrName>ppt_x</p:attrName>
                                        </p:attrNameLst>
                                      </p:cBhvr>
                                      <p:tavLst>
                                        <p:tav tm="0">
                                          <p:val>
                                            <p:strVal val="0-#ppt_w/2"/>
                                          </p:val>
                                        </p:tav>
                                        <p:tav tm="100000">
                                          <p:val>
                                            <p:strVal val="#ppt_x"/>
                                          </p:val>
                                        </p:tav>
                                      </p:tavLst>
                                    </p:anim>
                                    <p:anim calcmode="lin" valueType="num">
                                      <p:cBhvr additive="base">
                                        <p:cTn id="17" dur="500" fill="hold"/>
                                        <p:tgtEl>
                                          <p:spTgt spid="90117"/>
                                        </p:tgtEl>
                                        <p:attrNameLst>
                                          <p:attrName>ppt_y</p:attrName>
                                        </p:attrNameLst>
                                      </p:cBhvr>
                                      <p:tavLst>
                                        <p:tav tm="0">
                                          <p:val>
                                            <p:strVal val="#ppt_y"/>
                                          </p:val>
                                        </p:tav>
                                        <p:tav tm="100000">
                                          <p:val>
                                            <p:strVal val="#ppt_y"/>
                                          </p:val>
                                        </p:tav>
                                      </p:tavLst>
                                    </p:anim>
                                  </p:childTnLst>
                                </p:cTn>
                              </p:par>
                            </p:childTnLst>
                          </p:cTn>
                        </p:par>
                        <p:par>
                          <p:cTn id="18" fill="hold" nodeType="afterGroup">
                            <p:stCondLst>
                              <p:cond delay="1500"/>
                            </p:stCondLst>
                            <p:childTnLst>
                              <p:par>
                                <p:cTn id="19" presetID="3" presetClass="entr" presetSubtype="10" fill="hold" grpId="0" nodeType="afterEffect">
                                  <p:stCondLst>
                                    <p:cond delay="0"/>
                                  </p:stCondLst>
                                  <p:childTnLst>
                                    <p:set>
                                      <p:cBhvr>
                                        <p:cTn id="20" dur="1" fill="hold">
                                          <p:stCondLst>
                                            <p:cond delay="0"/>
                                          </p:stCondLst>
                                        </p:cTn>
                                        <p:tgtEl>
                                          <p:spTgt spid="90118"/>
                                        </p:tgtEl>
                                        <p:attrNameLst>
                                          <p:attrName>style.visibility</p:attrName>
                                        </p:attrNameLst>
                                      </p:cBhvr>
                                      <p:to>
                                        <p:strVal val="visible"/>
                                      </p:to>
                                    </p:set>
                                    <p:animEffect transition="in" filter="blinds(horizontal)">
                                      <p:cBhvr>
                                        <p:cTn id="21" dur="500"/>
                                        <p:tgtEl>
                                          <p:spTgt spid="90118"/>
                                        </p:tgtEl>
                                      </p:cBhvr>
                                    </p:animEffect>
                                  </p:childTnLst>
                                </p:cTn>
                              </p:par>
                            </p:childTnLst>
                          </p:cTn>
                        </p:par>
                        <p:par>
                          <p:cTn id="22" fill="hold" nodeType="afterGroup">
                            <p:stCondLst>
                              <p:cond delay="2000"/>
                            </p:stCondLst>
                            <p:childTnLst>
                              <p:par>
                                <p:cTn id="23" presetID="3" presetClass="entr" presetSubtype="10" fill="hold" grpId="0" nodeType="afterEffect">
                                  <p:stCondLst>
                                    <p:cond delay="0"/>
                                  </p:stCondLst>
                                  <p:childTnLst>
                                    <p:set>
                                      <p:cBhvr>
                                        <p:cTn id="24" dur="1" fill="hold">
                                          <p:stCondLst>
                                            <p:cond delay="0"/>
                                          </p:stCondLst>
                                        </p:cTn>
                                        <p:tgtEl>
                                          <p:spTgt spid="90119"/>
                                        </p:tgtEl>
                                        <p:attrNameLst>
                                          <p:attrName>style.visibility</p:attrName>
                                        </p:attrNameLst>
                                      </p:cBhvr>
                                      <p:to>
                                        <p:strVal val="visible"/>
                                      </p:to>
                                    </p:set>
                                    <p:animEffect transition="in" filter="blinds(horizontal)">
                                      <p:cBhvr>
                                        <p:cTn id="25" dur="500"/>
                                        <p:tgtEl>
                                          <p:spTgt spid="90119"/>
                                        </p:tgtEl>
                                      </p:cBhvr>
                                    </p:animEffect>
                                  </p:childTnLst>
                                </p:cTn>
                              </p:par>
                            </p:childTnLst>
                          </p:cTn>
                        </p:par>
                        <p:par>
                          <p:cTn id="26" fill="hold" nodeType="afterGroup">
                            <p:stCondLst>
                              <p:cond delay="2500"/>
                            </p:stCondLst>
                            <p:childTnLst>
                              <p:par>
                                <p:cTn id="27" presetID="14" presetClass="entr" presetSubtype="10" fill="hold" grpId="0" nodeType="afterEffect">
                                  <p:stCondLst>
                                    <p:cond delay="0"/>
                                  </p:stCondLst>
                                  <p:childTnLst>
                                    <p:set>
                                      <p:cBhvr>
                                        <p:cTn id="28" dur="1" fill="hold">
                                          <p:stCondLst>
                                            <p:cond delay="0"/>
                                          </p:stCondLst>
                                        </p:cTn>
                                        <p:tgtEl>
                                          <p:spTgt spid="90120"/>
                                        </p:tgtEl>
                                        <p:attrNameLst>
                                          <p:attrName>style.visibility</p:attrName>
                                        </p:attrNameLst>
                                      </p:cBhvr>
                                      <p:to>
                                        <p:strVal val="visible"/>
                                      </p:to>
                                    </p:set>
                                    <p:animEffect transition="in" filter="randombar(horizontal)">
                                      <p:cBhvr>
                                        <p:cTn id="29" dur="500"/>
                                        <p:tgtEl>
                                          <p:spTgt spid="90120"/>
                                        </p:tgtEl>
                                      </p:cBhvr>
                                    </p:animEffect>
                                  </p:childTnLst>
                                </p:cTn>
                              </p:par>
                            </p:childTnLst>
                          </p:cTn>
                        </p:par>
                        <p:par>
                          <p:cTn id="30" fill="hold" nodeType="afterGroup">
                            <p:stCondLst>
                              <p:cond delay="3000"/>
                            </p:stCondLst>
                            <p:childTnLst>
                              <p:par>
                                <p:cTn id="31" presetID="2" presetClass="entr" presetSubtype="8" fill="hold" nodeType="afterEffect">
                                  <p:stCondLst>
                                    <p:cond delay="0"/>
                                  </p:stCondLst>
                                  <p:childTnLst>
                                    <p:set>
                                      <p:cBhvr>
                                        <p:cTn id="32" dur="1" fill="hold">
                                          <p:stCondLst>
                                            <p:cond delay="0"/>
                                          </p:stCondLst>
                                        </p:cTn>
                                        <p:tgtEl>
                                          <p:spTgt spid="90115"/>
                                        </p:tgtEl>
                                        <p:attrNameLst>
                                          <p:attrName>style.visibility</p:attrName>
                                        </p:attrNameLst>
                                      </p:cBhvr>
                                      <p:to>
                                        <p:strVal val="visible"/>
                                      </p:to>
                                    </p:set>
                                    <p:anim calcmode="lin" valueType="num">
                                      <p:cBhvr additive="base">
                                        <p:cTn id="33" dur="500" fill="hold"/>
                                        <p:tgtEl>
                                          <p:spTgt spid="90115"/>
                                        </p:tgtEl>
                                        <p:attrNameLst>
                                          <p:attrName>ppt_x</p:attrName>
                                        </p:attrNameLst>
                                      </p:cBhvr>
                                      <p:tavLst>
                                        <p:tav tm="0">
                                          <p:val>
                                            <p:strVal val="0-#ppt_w/2"/>
                                          </p:val>
                                        </p:tav>
                                        <p:tav tm="100000">
                                          <p:val>
                                            <p:strVal val="#ppt_x"/>
                                          </p:val>
                                        </p:tav>
                                      </p:tavLst>
                                    </p:anim>
                                    <p:anim calcmode="lin" valueType="num">
                                      <p:cBhvr additive="base">
                                        <p:cTn id="34" dur="500" fill="hold"/>
                                        <p:tgtEl>
                                          <p:spTgt spid="901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autoUpdateAnimBg="0"/>
      <p:bldP spid="90116" grpId="0" autoUpdateAnimBg="0"/>
      <p:bldP spid="90117" grpId="0" autoUpdateAnimBg="0"/>
      <p:bldP spid="90118" grpId="0" autoUpdateAnimBg="0"/>
      <p:bldP spid="90119" grpId="0" autoUpdateAnimBg="0"/>
      <p:bldP spid="90120"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196850" y="2460625"/>
            <a:ext cx="8185150" cy="127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A50021"/>
                </a:solidFill>
                <a:ea typeface="楷体_GB2312" charset="0"/>
              </a:rPr>
              <a:t>（</a:t>
            </a:r>
            <a:r>
              <a:rPr lang="en-US" altLang="zh-CN" sz="3600">
                <a:solidFill>
                  <a:srgbClr val="A50021"/>
                </a:solidFill>
                <a:ea typeface="楷体_GB2312" charset="0"/>
              </a:rPr>
              <a:t>1</a:t>
            </a:r>
            <a:r>
              <a:rPr lang="zh-CN" altLang="en-US" sz="3600">
                <a:solidFill>
                  <a:srgbClr val="A50021"/>
                </a:solidFill>
                <a:ea typeface="楷体_GB2312" charset="0"/>
              </a:rPr>
              <a:t>）若它的左子树不空，则左子树上</a:t>
            </a:r>
            <a:endParaRPr lang="zh-CN" altLang="en-US" sz="3600">
              <a:ea typeface="楷体_GB2312" charset="0"/>
            </a:endParaRPr>
          </a:p>
          <a:p>
            <a:pPr>
              <a:lnSpc>
                <a:spcPct val="115000"/>
              </a:lnSpc>
            </a:pPr>
            <a:r>
              <a:rPr lang="zh-CN" altLang="en-US" sz="3600">
                <a:ea typeface="楷体_GB2312" charset="0"/>
              </a:rPr>
              <a:t>          </a:t>
            </a:r>
            <a:r>
              <a:rPr lang="zh-CN" altLang="en-US" sz="3600">
                <a:solidFill>
                  <a:srgbClr val="0000FF"/>
                </a:solidFill>
                <a:ea typeface="楷体_GB2312" charset="0"/>
              </a:rPr>
              <a:t>所有</a:t>
            </a:r>
            <a:r>
              <a:rPr lang="zh-CN" altLang="en-US" sz="3600">
                <a:solidFill>
                  <a:srgbClr val="A50021"/>
                </a:solidFill>
                <a:ea typeface="楷体_GB2312" charset="0"/>
              </a:rPr>
              <a:t>结点的值</a:t>
            </a:r>
            <a:r>
              <a:rPr lang="zh-CN" altLang="en-US" sz="3600">
                <a:solidFill>
                  <a:srgbClr val="0000FF"/>
                </a:solidFill>
                <a:ea typeface="楷体_GB2312" charset="0"/>
              </a:rPr>
              <a:t>均小于</a:t>
            </a:r>
            <a:r>
              <a:rPr lang="zh-CN" altLang="en-US" sz="3600">
                <a:solidFill>
                  <a:srgbClr val="A50021"/>
                </a:solidFill>
                <a:ea typeface="楷体_GB2312" charset="0"/>
              </a:rPr>
              <a:t>根结点的值；</a:t>
            </a:r>
            <a:endParaRPr lang="zh-CN" altLang="en-US" sz="4000">
              <a:ea typeface="楷体_GB2312" charset="0"/>
            </a:endParaRPr>
          </a:p>
        </p:txBody>
      </p:sp>
      <p:sp>
        <p:nvSpPr>
          <p:cNvPr id="65539" name="Text Box 3"/>
          <p:cNvSpPr txBox="1">
            <a:spLocks noChangeArrowheads="1"/>
          </p:cNvSpPr>
          <p:nvPr/>
        </p:nvSpPr>
        <p:spPr bwMode="auto">
          <a:xfrm>
            <a:off x="457200" y="152400"/>
            <a:ext cx="29464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800" b="1">
                <a:solidFill>
                  <a:srgbClr val="FF00FF"/>
                </a:solidFill>
                <a:ea typeface="楷体_GB2312" charset="0"/>
              </a:rPr>
              <a:t>1</a:t>
            </a:r>
            <a:r>
              <a:rPr lang="zh-CN" altLang="en-US" sz="4800" b="1">
                <a:solidFill>
                  <a:srgbClr val="FF00FF"/>
                </a:solidFill>
                <a:ea typeface="楷体_GB2312" charset="0"/>
              </a:rPr>
              <a:t>．定义：</a:t>
            </a:r>
            <a:endParaRPr lang="zh-CN" altLang="en-US" sz="4400" b="1">
              <a:solidFill>
                <a:srgbClr val="FF00FF"/>
              </a:solidFill>
              <a:ea typeface="楷体_GB2312" charset="0"/>
            </a:endParaRPr>
          </a:p>
        </p:txBody>
      </p:sp>
      <p:sp>
        <p:nvSpPr>
          <p:cNvPr id="65540" name="Text Box 4"/>
          <p:cNvSpPr txBox="1">
            <a:spLocks noChangeArrowheads="1"/>
          </p:cNvSpPr>
          <p:nvPr/>
        </p:nvSpPr>
        <p:spPr bwMode="auto">
          <a:xfrm>
            <a:off x="381000" y="842963"/>
            <a:ext cx="7740650"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lang="en-US" altLang="zh-CN" sz="4400">
                <a:ea typeface="楷体_GB2312" charset="0"/>
              </a:rPr>
              <a:t>     </a:t>
            </a:r>
            <a:r>
              <a:rPr lang="zh-CN" altLang="en-US" sz="3600">
                <a:solidFill>
                  <a:srgbClr val="A50021"/>
                </a:solidFill>
                <a:ea typeface="楷体_GB2312" charset="0"/>
              </a:rPr>
              <a:t>二叉排序树</a:t>
            </a:r>
            <a:r>
              <a:rPr lang="zh-CN" altLang="en-US" sz="3600">
                <a:solidFill>
                  <a:srgbClr val="0000FF"/>
                </a:solidFill>
                <a:ea typeface="楷体_GB2312" charset="0"/>
              </a:rPr>
              <a:t>或者是一棵空树；或者</a:t>
            </a:r>
          </a:p>
          <a:p>
            <a:pPr>
              <a:lnSpc>
                <a:spcPct val="120000"/>
              </a:lnSpc>
            </a:pPr>
            <a:r>
              <a:rPr lang="zh-CN" altLang="en-US" sz="3600">
                <a:solidFill>
                  <a:srgbClr val="0000FF"/>
                </a:solidFill>
                <a:ea typeface="楷体_GB2312" charset="0"/>
              </a:rPr>
              <a:t>是具有如下特性的二叉树：</a:t>
            </a:r>
          </a:p>
        </p:txBody>
      </p:sp>
      <p:sp>
        <p:nvSpPr>
          <p:cNvPr id="65541" name="Text Box 5"/>
          <p:cNvSpPr txBox="1">
            <a:spLocks noChangeArrowheads="1"/>
          </p:cNvSpPr>
          <p:nvPr/>
        </p:nvSpPr>
        <p:spPr bwMode="auto">
          <a:xfrm>
            <a:off x="171450" y="5097463"/>
            <a:ext cx="7778750" cy="142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lang="zh-CN" altLang="en-US" sz="4000">
                <a:solidFill>
                  <a:srgbClr val="A50021"/>
                </a:solidFill>
                <a:ea typeface="楷体_GB2312" charset="0"/>
              </a:rPr>
              <a:t>（</a:t>
            </a:r>
            <a:r>
              <a:rPr lang="en-US" altLang="zh-CN" sz="3600">
                <a:solidFill>
                  <a:srgbClr val="A50021"/>
                </a:solidFill>
                <a:ea typeface="楷体_GB2312" charset="0"/>
              </a:rPr>
              <a:t>3</a:t>
            </a:r>
            <a:r>
              <a:rPr lang="zh-CN" altLang="en-US" sz="3600">
                <a:solidFill>
                  <a:srgbClr val="A50021"/>
                </a:solidFill>
                <a:ea typeface="楷体_GB2312" charset="0"/>
              </a:rPr>
              <a:t>）它的左、右子树</a:t>
            </a:r>
            <a:r>
              <a:rPr lang="zh-CN" altLang="en-US" sz="3600">
                <a:solidFill>
                  <a:srgbClr val="0000FF"/>
                </a:solidFill>
                <a:ea typeface="楷体_GB2312" charset="0"/>
              </a:rPr>
              <a:t>也都</a:t>
            </a:r>
            <a:r>
              <a:rPr lang="zh-CN" altLang="en-US" sz="3600">
                <a:solidFill>
                  <a:srgbClr val="A50021"/>
                </a:solidFill>
                <a:ea typeface="楷体_GB2312" charset="0"/>
              </a:rPr>
              <a:t>分别</a:t>
            </a:r>
            <a:r>
              <a:rPr lang="zh-CN" altLang="en-US" sz="3600">
                <a:solidFill>
                  <a:srgbClr val="0000FF"/>
                </a:solidFill>
                <a:ea typeface="楷体_GB2312" charset="0"/>
              </a:rPr>
              <a:t>是二叉</a:t>
            </a:r>
          </a:p>
          <a:p>
            <a:pPr>
              <a:lnSpc>
                <a:spcPct val="115000"/>
              </a:lnSpc>
            </a:pPr>
            <a:r>
              <a:rPr lang="zh-CN" altLang="en-US" sz="3600">
                <a:solidFill>
                  <a:srgbClr val="0000FF"/>
                </a:solidFill>
                <a:ea typeface="楷体_GB2312" charset="0"/>
              </a:rPr>
              <a:t>          排序树</a:t>
            </a:r>
            <a:r>
              <a:rPr lang="zh-CN" altLang="en-US" sz="3600">
                <a:ea typeface="楷体_GB2312" charset="0"/>
              </a:rPr>
              <a:t>。</a:t>
            </a:r>
            <a:endParaRPr lang="zh-CN" altLang="en-US"/>
          </a:p>
        </p:txBody>
      </p:sp>
      <p:sp>
        <p:nvSpPr>
          <p:cNvPr id="65542" name="Text Box 6"/>
          <p:cNvSpPr txBox="1">
            <a:spLocks noChangeArrowheads="1"/>
          </p:cNvSpPr>
          <p:nvPr/>
        </p:nvSpPr>
        <p:spPr bwMode="auto">
          <a:xfrm>
            <a:off x="196850" y="3733800"/>
            <a:ext cx="8185150" cy="135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lang="zh-CN" altLang="en-US" sz="3600">
                <a:solidFill>
                  <a:srgbClr val="A50021"/>
                </a:solidFill>
                <a:ea typeface="楷体_GB2312" charset="0"/>
              </a:rPr>
              <a:t>（</a:t>
            </a:r>
            <a:r>
              <a:rPr lang="en-US" altLang="zh-CN" sz="3600">
                <a:solidFill>
                  <a:srgbClr val="A50021"/>
                </a:solidFill>
                <a:ea typeface="楷体_GB2312" charset="0"/>
              </a:rPr>
              <a:t>2</a:t>
            </a:r>
            <a:r>
              <a:rPr lang="zh-CN" altLang="en-US" sz="3600">
                <a:solidFill>
                  <a:srgbClr val="A50021"/>
                </a:solidFill>
                <a:ea typeface="楷体_GB2312" charset="0"/>
              </a:rPr>
              <a:t>）若它的右子树不空，则右子树上</a:t>
            </a:r>
            <a:endParaRPr lang="zh-CN" altLang="en-US" sz="3600">
              <a:ea typeface="楷体_GB2312" charset="0"/>
            </a:endParaRPr>
          </a:p>
          <a:p>
            <a:pPr>
              <a:lnSpc>
                <a:spcPct val="115000"/>
              </a:lnSpc>
            </a:pPr>
            <a:r>
              <a:rPr lang="zh-CN" altLang="en-US" sz="3600">
                <a:ea typeface="楷体_GB2312" charset="0"/>
              </a:rPr>
              <a:t>          </a:t>
            </a:r>
            <a:r>
              <a:rPr lang="zh-CN" altLang="en-US" sz="3600">
                <a:solidFill>
                  <a:srgbClr val="0000FF"/>
                </a:solidFill>
                <a:ea typeface="楷体_GB2312" charset="0"/>
              </a:rPr>
              <a:t>所有</a:t>
            </a:r>
            <a:r>
              <a:rPr lang="zh-CN" altLang="en-US" sz="3600">
                <a:solidFill>
                  <a:srgbClr val="A50021"/>
                </a:solidFill>
                <a:ea typeface="楷体_GB2312" charset="0"/>
              </a:rPr>
              <a:t>结点的值</a:t>
            </a:r>
            <a:r>
              <a:rPr lang="zh-CN" altLang="en-US" sz="3600">
                <a:solidFill>
                  <a:srgbClr val="0000FF"/>
                </a:solidFill>
                <a:ea typeface="楷体_GB2312" charset="0"/>
              </a:rPr>
              <a:t>均大于</a:t>
            </a:r>
            <a:r>
              <a:rPr lang="zh-CN" altLang="en-US" sz="3600">
                <a:solidFill>
                  <a:srgbClr val="A50021"/>
                </a:solidFill>
                <a:ea typeface="楷体_GB2312" charset="0"/>
              </a:rPr>
              <a:t>根结点的值；</a:t>
            </a:r>
            <a:endParaRPr lang="zh-CN" altLang="en-US"/>
          </a:p>
        </p:txBody>
      </p:sp>
    </p:spTree>
    <p:extLst>
      <p:ext uri="{BB962C8B-B14F-4D97-AF65-F5344CB8AC3E}">
        <p14:creationId xmlns:p14="http://schemas.microsoft.com/office/powerpoint/2010/main" val="20797691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5539"/>
                                        </p:tgtEl>
                                        <p:attrNameLst>
                                          <p:attrName>style.visibility</p:attrName>
                                        </p:attrNameLst>
                                      </p:cBhvr>
                                      <p:to>
                                        <p:strVal val="visible"/>
                                      </p:to>
                                    </p:set>
                                    <p:animEffect transition="in" filter="dissolve">
                                      <p:cBhvr>
                                        <p:cTn id="7" dur="500"/>
                                        <p:tgtEl>
                                          <p:spTgt spid="655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65540"/>
                                        </p:tgtEl>
                                        <p:attrNameLst>
                                          <p:attrName>style.visibility</p:attrName>
                                        </p:attrNameLst>
                                      </p:cBhvr>
                                      <p:to>
                                        <p:strVal val="visible"/>
                                      </p:to>
                                    </p:set>
                                    <p:animEffect transition="in" filter="slide(fromTop)">
                                      <p:cBhvr>
                                        <p:cTn id="12" dur="500"/>
                                        <p:tgtEl>
                                          <p:spTgt spid="655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538"/>
                                        </p:tgtEl>
                                        <p:attrNameLst>
                                          <p:attrName>style.visibility</p:attrName>
                                        </p:attrNameLst>
                                      </p:cBhvr>
                                      <p:to>
                                        <p:strVal val="visible"/>
                                      </p:to>
                                    </p:set>
                                    <p:animEffect transition="in" filter="wipe(left)">
                                      <p:cBhvr>
                                        <p:cTn id="17" dur="500"/>
                                        <p:tgtEl>
                                          <p:spTgt spid="6553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5542"/>
                                        </p:tgtEl>
                                        <p:attrNameLst>
                                          <p:attrName>style.visibility</p:attrName>
                                        </p:attrNameLst>
                                      </p:cBhvr>
                                      <p:to>
                                        <p:strVal val="visible"/>
                                      </p:to>
                                    </p:set>
                                    <p:animEffect transition="in" filter="wipe(left)">
                                      <p:cBhvr>
                                        <p:cTn id="22" dur="500"/>
                                        <p:tgtEl>
                                          <p:spTgt spid="655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5541"/>
                                        </p:tgtEl>
                                        <p:attrNameLst>
                                          <p:attrName>style.visibility</p:attrName>
                                        </p:attrNameLst>
                                      </p:cBhvr>
                                      <p:to>
                                        <p:strVal val="visible"/>
                                      </p:to>
                                    </p:set>
                                    <p:animEffect transition="in" filter="wipe(left)">
                                      <p:cBhvr>
                                        <p:cTn id="27" dur="500"/>
                                        <p:tgtEl>
                                          <p:spTgt spid="65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autoUpdateAnimBg="0"/>
      <p:bldP spid="65539" grpId="0" autoUpdateAnimBg="0"/>
      <p:bldP spid="65540" grpId="0" autoUpdateAnimBg="0"/>
      <p:bldP spid="65541" grpId="0" autoUpdateAnimBg="0"/>
      <p:bldP spid="65542"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Oval 2"/>
          <p:cNvSpPr>
            <a:spLocks noChangeArrowheads="1"/>
          </p:cNvSpPr>
          <p:nvPr/>
        </p:nvSpPr>
        <p:spPr bwMode="auto">
          <a:xfrm>
            <a:off x="4191000" y="3810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50</a:t>
            </a:r>
            <a:endParaRPr lang="en-US" altLang="zh-CN"/>
          </a:p>
        </p:txBody>
      </p:sp>
      <p:sp>
        <p:nvSpPr>
          <p:cNvPr id="67587" name="Oval 3"/>
          <p:cNvSpPr>
            <a:spLocks noChangeArrowheads="1"/>
          </p:cNvSpPr>
          <p:nvPr/>
        </p:nvSpPr>
        <p:spPr bwMode="auto">
          <a:xfrm>
            <a:off x="2590800" y="12954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30</a:t>
            </a:r>
            <a:endParaRPr lang="en-US" altLang="zh-CN"/>
          </a:p>
        </p:txBody>
      </p:sp>
      <p:sp>
        <p:nvSpPr>
          <p:cNvPr id="67588" name="Oval 4"/>
          <p:cNvSpPr>
            <a:spLocks noChangeArrowheads="1"/>
          </p:cNvSpPr>
          <p:nvPr/>
        </p:nvSpPr>
        <p:spPr bwMode="auto">
          <a:xfrm>
            <a:off x="5943600" y="12954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80</a:t>
            </a:r>
            <a:endParaRPr lang="en-US" altLang="zh-CN"/>
          </a:p>
        </p:txBody>
      </p:sp>
      <p:sp>
        <p:nvSpPr>
          <p:cNvPr id="67589" name="Oval 5"/>
          <p:cNvSpPr>
            <a:spLocks noChangeArrowheads="1"/>
          </p:cNvSpPr>
          <p:nvPr/>
        </p:nvSpPr>
        <p:spPr bwMode="auto">
          <a:xfrm>
            <a:off x="1066800" y="22098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20</a:t>
            </a:r>
            <a:endParaRPr lang="en-US" altLang="zh-CN"/>
          </a:p>
        </p:txBody>
      </p:sp>
      <p:sp>
        <p:nvSpPr>
          <p:cNvPr id="67590" name="Oval 6"/>
          <p:cNvSpPr>
            <a:spLocks noChangeArrowheads="1"/>
          </p:cNvSpPr>
          <p:nvPr/>
        </p:nvSpPr>
        <p:spPr bwMode="auto">
          <a:xfrm>
            <a:off x="7467600" y="22098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90</a:t>
            </a:r>
            <a:endParaRPr lang="en-US" altLang="zh-CN"/>
          </a:p>
        </p:txBody>
      </p:sp>
      <p:sp>
        <p:nvSpPr>
          <p:cNvPr id="67591" name="Oval 7"/>
          <p:cNvSpPr>
            <a:spLocks noChangeArrowheads="1"/>
          </p:cNvSpPr>
          <p:nvPr/>
        </p:nvSpPr>
        <p:spPr bwMode="auto">
          <a:xfrm>
            <a:off x="381000" y="33528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10</a:t>
            </a:r>
            <a:endParaRPr lang="en-US" altLang="zh-CN"/>
          </a:p>
        </p:txBody>
      </p:sp>
      <p:sp>
        <p:nvSpPr>
          <p:cNvPr id="67592" name="Oval 8"/>
          <p:cNvSpPr>
            <a:spLocks noChangeArrowheads="1"/>
          </p:cNvSpPr>
          <p:nvPr/>
        </p:nvSpPr>
        <p:spPr bwMode="auto">
          <a:xfrm>
            <a:off x="6477000" y="33528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85</a:t>
            </a:r>
            <a:endParaRPr lang="en-US" altLang="zh-CN"/>
          </a:p>
        </p:txBody>
      </p:sp>
      <p:sp>
        <p:nvSpPr>
          <p:cNvPr id="67593" name="Oval 9"/>
          <p:cNvSpPr>
            <a:spLocks noChangeArrowheads="1"/>
          </p:cNvSpPr>
          <p:nvPr/>
        </p:nvSpPr>
        <p:spPr bwMode="auto">
          <a:xfrm>
            <a:off x="4191000" y="22098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40</a:t>
            </a:r>
            <a:endParaRPr lang="en-US" altLang="zh-CN"/>
          </a:p>
        </p:txBody>
      </p:sp>
      <p:sp>
        <p:nvSpPr>
          <p:cNvPr id="67594" name="Oval 10"/>
          <p:cNvSpPr>
            <a:spLocks noChangeArrowheads="1"/>
          </p:cNvSpPr>
          <p:nvPr/>
        </p:nvSpPr>
        <p:spPr bwMode="auto">
          <a:xfrm>
            <a:off x="3276600" y="33528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35</a:t>
            </a:r>
            <a:endParaRPr lang="en-US" altLang="zh-CN"/>
          </a:p>
        </p:txBody>
      </p:sp>
      <p:sp>
        <p:nvSpPr>
          <p:cNvPr id="67595" name="Oval 11"/>
          <p:cNvSpPr>
            <a:spLocks noChangeArrowheads="1"/>
          </p:cNvSpPr>
          <p:nvPr/>
        </p:nvSpPr>
        <p:spPr bwMode="auto">
          <a:xfrm>
            <a:off x="1828800" y="33528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25</a:t>
            </a:r>
            <a:endParaRPr lang="en-US" altLang="zh-CN"/>
          </a:p>
        </p:txBody>
      </p:sp>
      <p:sp>
        <p:nvSpPr>
          <p:cNvPr id="67596" name="Oval 12"/>
          <p:cNvSpPr>
            <a:spLocks noChangeArrowheads="1"/>
          </p:cNvSpPr>
          <p:nvPr/>
        </p:nvSpPr>
        <p:spPr bwMode="auto">
          <a:xfrm>
            <a:off x="1219200" y="43434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23</a:t>
            </a:r>
            <a:endParaRPr lang="en-US" altLang="zh-CN"/>
          </a:p>
        </p:txBody>
      </p:sp>
      <p:sp>
        <p:nvSpPr>
          <p:cNvPr id="67597" name="Oval 13"/>
          <p:cNvSpPr>
            <a:spLocks noChangeArrowheads="1"/>
          </p:cNvSpPr>
          <p:nvPr/>
        </p:nvSpPr>
        <p:spPr bwMode="auto">
          <a:xfrm>
            <a:off x="7467600" y="43434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88</a:t>
            </a:r>
            <a:endParaRPr lang="en-US" altLang="zh-CN"/>
          </a:p>
        </p:txBody>
      </p:sp>
      <p:sp>
        <p:nvSpPr>
          <p:cNvPr id="67598" name="Line 14"/>
          <p:cNvSpPr>
            <a:spLocks noChangeShapeType="1"/>
          </p:cNvSpPr>
          <p:nvPr/>
        </p:nvSpPr>
        <p:spPr bwMode="auto">
          <a:xfrm flipH="1">
            <a:off x="3276600" y="838200"/>
            <a:ext cx="914400" cy="5334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7599" name="Line 15"/>
          <p:cNvSpPr>
            <a:spLocks noChangeShapeType="1"/>
          </p:cNvSpPr>
          <p:nvPr/>
        </p:nvSpPr>
        <p:spPr bwMode="auto">
          <a:xfrm flipH="1">
            <a:off x="1752600" y="1752600"/>
            <a:ext cx="838200" cy="533400"/>
          </a:xfrm>
          <a:prstGeom prst="line">
            <a:avLst/>
          </a:prstGeom>
          <a:noFill/>
          <a:ln w="38100">
            <a:solidFill>
              <a:srgbClr val="66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7600" name="Line 16"/>
          <p:cNvSpPr>
            <a:spLocks noChangeShapeType="1"/>
          </p:cNvSpPr>
          <p:nvPr/>
        </p:nvSpPr>
        <p:spPr bwMode="auto">
          <a:xfrm>
            <a:off x="4876800" y="838200"/>
            <a:ext cx="1143000" cy="5334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7601" name="Line 17"/>
          <p:cNvSpPr>
            <a:spLocks noChangeShapeType="1"/>
          </p:cNvSpPr>
          <p:nvPr/>
        </p:nvSpPr>
        <p:spPr bwMode="auto">
          <a:xfrm>
            <a:off x="3276600" y="1752600"/>
            <a:ext cx="990600" cy="6096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7602" name="Line 18"/>
          <p:cNvSpPr>
            <a:spLocks noChangeShapeType="1"/>
          </p:cNvSpPr>
          <p:nvPr/>
        </p:nvSpPr>
        <p:spPr bwMode="auto">
          <a:xfrm flipH="1">
            <a:off x="762000" y="2819400"/>
            <a:ext cx="457200" cy="5334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7603" name="Line 19"/>
          <p:cNvSpPr>
            <a:spLocks noChangeShapeType="1"/>
          </p:cNvSpPr>
          <p:nvPr/>
        </p:nvSpPr>
        <p:spPr bwMode="auto">
          <a:xfrm>
            <a:off x="1600200" y="2743200"/>
            <a:ext cx="533400" cy="6096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7604" name="Line 20"/>
          <p:cNvSpPr>
            <a:spLocks noChangeShapeType="1"/>
          </p:cNvSpPr>
          <p:nvPr/>
        </p:nvSpPr>
        <p:spPr bwMode="auto">
          <a:xfrm flipH="1">
            <a:off x="1600200" y="3962400"/>
            <a:ext cx="4572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7605" name="Line 21"/>
          <p:cNvSpPr>
            <a:spLocks noChangeShapeType="1"/>
          </p:cNvSpPr>
          <p:nvPr/>
        </p:nvSpPr>
        <p:spPr bwMode="auto">
          <a:xfrm flipH="1">
            <a:off x="3657600" y="2743200"/>
            <a:ext cx="609600" cy="6096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7606" name="Line 22"/>
          <p:cNvSpPr>
            <a:spLocks noChangeShapeType="1"/>
          </p:cNvSpPr>
          <p:nvPr/>
        </p:nvSpPr>
        <p:spPr bwMode="auto">
          <a:xfrm>
            <a:off x="6705600" y="1752600"/>
            <a:ext cx="838200" cy="5334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7607" name="Line 23"/>
          <p:cNvSpPr>
            <a:spLocks noChangeShapeType="1"/>
          </p:cNvSpPr>
          <p:nvPr/>
        </p:nvSpPr>
        <p:spPr bwMode="auto">
          <a:xfrm flipH="1">
            <a:off x="7086600" y="2819400"/>
            <a:ext cx="533400" cy="6096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7608" name="Line 24"/>
          <p:cNvSpPr>
            <a:spLocks noChangeShapeType="1"/>
          </p:cNvSpPr>
          <p:nvPr/>
        </p:nvSpPr>
        <p:spPr bwMode="auto">
          <a:xfrm>
            <a:off x="7010400" y="3886200"/>
            <a:ext cx="685800" cy="4572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7609" name="Text Box 25"/>
          <p:cNvSpPr txBox="1">
            <a:spLocks noChangeArrowheads="1"/>
          </p:cNvSpPr>
          <p:nvPr/>
        </p:nvSpPr>
        <p:spPr bwMode="auto">
          <a:xfrm>
            <a:off x="457200" y="152400"/>
            <a:ext cx="14970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CC3300"/>
                </a:solidFill>
                <a:ea typeface="隶书" charset="0"/>
              </a:rPr>
              <a:t>例如</a:t>
            </a:r>
            <a:r>
              <a:rPr lang="en-US" altLang="zh-CN" sz="4400" b="1">
                <a:solidFill>
                  <a:srgbClr val="CC3300"/>
                </a:solidFill>
                <a:ea typeface="隶书" charset="0"/>
              </a:rPr>
              <a:t>:</a:t>
            </a:r>
            <a:endParaRPr lang="en-US" altLang="zh-CN"/>
          </a:p>
        </p:txBody>
      </p:sp>
      <p:sp>
        <p:nvSpPr>
          <p:cNvPr id="67619" name="Text Box 35"/>
          <p:cNvSpPr txBox="1">
            <a:spLocks noChangeArrowheads="1"/>
          </p:cNvSpPr>
          <p:nvPr/>
        </p:nvSpPr>
        <p:spPr bwMode="auto">
          <a:xfrm>
            <a:off x="2736850" y="5334000"/>
            <a:ext cx="37734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A50021"/>
                </a:solidFill>
                <a:ea typeface="楷体_GB2312" charset="0"/>
              </a:rPr>
              <a:t>是二叉排序树。</a:t>
            </a:r>
            <a:endParaRPr lang="zh-CN" altLang="en-US" sz="3600">
              <a:ea typeface="楷体_GB2312" charset="0"/>
            </a:endParaRPr>
          </a:p>
        </p:txBody>
      </p:sp>
      <p:sp>
        <p:nvSpPr>
          <p:cNvPr id="67620" name="Line 36"/>
          <p:cNvSpPr>
            <a:spLocks noChangeShapeType="1"/>
          </p:cNvSpPr>
          <p:nvPr/>
        </p:nvSpPr>
        <p:spPr bwMode="auto">
          <a:xfrm>
            <a:off x="4876800" y="2667000"/>
            <a:ext cx="762000" cy="762000"/>
          </a:xfrm>
          <a:prstGeom prst="line">
            <a:avLst/>
          </a:prstGeom>
          <a:noFill/>
          <a:ln w="381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7621" name="Oval 37"/>
          <p:cNvSpPr>
            <a:spLocks noChangeArrowheads="1"/>
          </p:cNvSpPr>
          <p:nvPr/>
        </p:nvSpPr>
        <p:spPr bwMode="auto">
          <a:xfrm>
            <a:off x="5410200" y="3429000"/>
            <a:ext cx="762000" cy="533400"/>
          </a:xfrm>
          <a:prstGeom prst="ellipse">
            <a:avLst/>
          </a:prstGeom>
          <a:solidFill>
            <a:srgbClr val="CCFFCC"/>
          </a:solidFill>
          <a:ln w="381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b="1">
                <a:solidFill>
                  <a:srgbClr val="008080"/>
                </a:solidFill>
              </a:rPr>
              <a:t>66</a:t>
            </a:r>
            <a:endParaRPr lang="en-US" altLang="zh-CN"/>
          </a:p>
        </p:txBody>
      </p:sp>
      <p:sp>
        <p:nvSpPr>
          <p:cNvPr id="67624" name="Text Box 40"/>
          <p:cNvSpPr txBox="1">
            <a:spLocks noChangeArrowheads="1"/>
          </p:cNvSpPr>
          <p:nvPr/>
        </p:nvSpPr>
        <p:spPr bwMode="auto">
          <a:xfrm>
            <a:off x="1905000" y="5105400"/>
            <a:ext cx="9525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6000" b="1">
                <a:solidFill>
                  <a:srgbClr val="008080"/>
                </a:solidFill>
                <a:ea typeface="隶书" charset="0"/>
              </a:rPr>
              <a:t>不</a:t>
            </a:r>
            <a:endParaRPr lang="zh-CN" altLang="en-US" sz="6000">
              <a:ea typeface="隶书" charset="0"/>
            </a:endParaRPr>
          </a:p>
        </p:txBody>
      </p:sp>
    </p:spTree>
    <p:extLst>
      <p:ext uri="{BB962C8B-B14F-4D97-AF65-F5344CB8AC3E}">
        <p14:creationId xmlns:p14="http://schemas.microsoft.com/office/powerpoint/2010/main" val="1043723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67609"/>
                                        </p:tgtEl>
                                        <p:attrNameLst>
                                          <p:attrName>style.visibility</p:attrName>
                                        </p:attrNameLst>
                                      </p:cBhvr>
                                      <p:to>
                                        <p:strVal val="visible"/>
                                      </p:to>
                                    </p:set>
                                    <p:anim calcmode="lin" valueType="num">
                                      <p:cBhvr additive="base">
                                        <p:cTn id="7" dur="500" fill="hold"/>
                                        <p:tgtEl>
                                          <p:spTgt spid="67609"/>
                                        </p:tgtEl>
                                        <p:attrNameLst>
                                          <p:attrName>ppt_x</p:attrName>
                                        </p:attrNameLst>
                                      </p:cBhvr>
                                      <p:tavLst>
                                        <p:tav tm="0">
                                          <p:val>
                                            <p:strVal val="0-#ppt_w/2"/>
                                          </p:val>
                                        </p:tav>
                                        <p:tav tm="100000">
                                          <p:val>
                                            <p:strVal val="#ppt_x"/>
                                          </p:val>
                                        </p:tav>
                                      </p:tavLst>
                                    </p:anim>
                                    <p:anim calcmode="lin" valueType="num">
                                      <p:cBhvr additive="base">
                                        <p:cTn id="8" dur="500" fill="hold"/>
                                        <p:tgtEl>
                                          <p:spTgt spid="67609"/>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67586"/>
                                        </p:tgtEl>
                                        <p:attrNameLst>
                                          <p:attrName>style.visibility</p:attrName>
                                        </p:attrNameLst>
                                      </p:cBhvr>
                                      <p:to>
                                        <p:strVal val="visible"/>
                                      </p:to>
                                    </p:set>
                                    <p:animEffect transition="in" filter="slide(fromTop)">
                                      <p:cBhvr>
                                        <p:cTn id="13" dur="500"/>
                                        <p:tgtEl>
                                          <p:spTgt spid="67586"/>
                                        </p:tgtEl>
                                      </p:cBhvr>
                                    </p:animEffect>
                                  </p:childTnLst>
                                </p:cTn>
                              </p:par>
                            </p:childTnLst>
                          </p:cTn>
                        </p:par>
                        <p:par>
                          <p:cTn id="14" fill="hold" nodeType="afterGroup">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67587"/>
                                        </p:tgtEl>
                                        <p:attrNameLst>
                                          <p:attrName>style.visibility</p:attrName>
                                        </p:attrNameLst>
                                      </p:cBhvr>
                                      <p:to>
                                        <p:strVal val="visible"/>
                                      </p:to>
                                    </p:set>
                                  </p:childTnLst>
                                </p:cTn>
                              </p:par>
                            </p:childTnLst>
                          </p:cTn>
                        </p:par>
                        <p:par>
                          <p:cTn id="17" fill="hold" nodeType="afterGroup">
                            <p:stCondLst>
                              <p:cond delay="1000"/>
                            </p:stCondLst>
                            <p:childTnLst>
                              <p:par>
                                <p:cTn id="18" presetID="1" presetClass="entr" presetSubtype="0" fill="hold" grpId="0" nodeType="afterEffect">
                                  <p:stCondLst>
                                    <p:cond delay="0"/>
                                  </p:stCondLst>
                                  <p:childTnLst>
                                    <p:set>
                                      <p:cBhvr>
                                        <p:cTn id="19" dur="1" fill="hold">
                                          <p:stCondLst>
                                            <p:cond delay="499"/>
                                          </p:stCondLst>
                                        </p:cTn>
                                        <p:tgtEl>
                                          <p:spTgt spid="67588"/>
                                        </p:tgtEl>
                                        <p:attrNameLst>
                                          <p:attrName>style.visibility</p:attrName>
                                        </p:attrNameLst>
                                      </p:cBhvr>
                                      <p:to>
                                        <p:strVal val="visible"/>
                                      </p:to>
                                    </p:set>
                                  </p:childTnLst>
                                </p:cTn>
                              </p:par>
                            </p:childTnLst>
                          </p:cTn>
                        </p:par>
                        <p:par>
                          <p:cTn id="20" fill="hold" nodeType="afterGroup">
                            <p:stCondLst>
                              <p:cond delay="1500"/>
                            </p:stCondLst>
                            <p:childTnLst>
                              <p:par>
                                <p:cTn id="21" presetID="1" presetClass="entr" presetSubtype="0" fill="hold" grpId="0" nodeType="afterEffect">
                                  <p:stCondLst>
                                    <p:cond delay="0"/>
                                  </p:stCondLst>
                                  <p:childTnLst>
                                    <p:set>
                                      <p:cBhvr>
                                        <p:cTn id="22" dur="1" fill="hold">
                                          <p:stCondLst>
                                            <p:cond delay="499"/>
                                          </p:stCondLst>
                                        </p:cTn>
                                        <p:tgtEl>
                                          <p:spTgt spid="67589"/>
                                        </p:tgtEl>
                                        <p:attrNameLst>
                                          <p:attrName>style.visibility</p:attrName>
                                        </p:attrNameLst>
                                      </p:cBhvr>
                                      <p:to>
                                        <p:strVal val="visible"/>
                                      </p:to>
                                    </p:set>
                                  </p:childTnLst>
                                </p:cTn>
                              </p:par>
                            </p:childTnLst>
                          </p:cTn>
                        </p:par>
                        <p:par>
                          <p:cTn id="23" fill="hold" nodeType="afterGroup">
                            <p:stCondLst>
                              <p:cond delay="2000"/>
                            </p:stCondLst>
                            <p:childTnLst>
                              <p:par>
                                <p:cTn id="24" presetID="1" presetClass="entr" presetSubtype="0" fill="hold" grpId="0" nodeType="afterEffect">
                                  <p:stCondLst>
                                    <p:cond delay="0"/>
                                  </p:stCondLst>
                                  <p:childTnLst>
                                    <p:set>
                                      <p:cBhvr>
                                        <p:cTn id="25" dur="1" fill="hold">
                                          <p:stCondLst>
                                            <p:cond delay="499"/>
                                          </p:stCondLst>
                                        </p:cTn>
                                        <p:tgtEl>
                                          <p:spTgt spid="67590"/>
                                        </p:tgtEl>
                                        <p:attrNameLst>
                                          <p:attrName>style.visibility</p:attrName>
                                        </p:attrNameLst>
                                      </p:cBhvr>
                                      <p:to>
                                        <p:strVal val="visible"/>
                                      </p:to>
                                    </p:set>
                                  </p:childTnLst>
                                </p:cTn>
                              </p:par>
                            </p:childTnLst>
                          </p:cTn>
                        </p:par>
                        <p:par>
                          <p:cTn id="26" fill="hold" nodeType="afterGroup">
                            <p:stCondLst>
                              <p:cond delay="2500"/>
                            </p:stCondLst>
                            <p:childTnLst>
                              <p:par>
                                <p:cTn id="27" presetID="1" presetClass="entr" presetSubtype="0" fill="hold" grpId="0" nodeType="afterEffect">
                                  <p:stCondLst>
                                    <p:cond delay="0"/>
                                  </p:stCondLst>
                                  <p:childTnLst>
                                    <p:set>
                                      <p:cBhvr>
                                        <p:cTn id="28" dur="1" fill="hold">
                                          <p:stCondLst>
                                            <p:cond delay="499"/>
                                          </p:stCondLst>
                                        </p:cTn>
                                        <p:tgtEl>
                                          <p:spTgt spid="67591"/>
                                        </p:tgtEl>
                                        <p:attrNameLst>
                                          <p:attrName>style.visibility</p:attrName>
                                        </p:attrNameLst>
                                      </p:cBhvr>
                                      <p:to>
                                        <p:strVal val="visible"/>
                                      </p:to>
                                    </p:set>
                                  </p:childTnLst>
                                </p:cTn>
                              </p:par>
                            </p:childTnLst>
                          </p:cTn>
                        </p:par>
                        <p:par>
                          <p:cTn id="29" fill="hold" nodeType="afterGroup">
                            <p:stCondLst>
                              <p:cond delay="3000"/>
                            </p:stCondLst>
                            <p:childTnLst>
                              <p:par>
                                <p:cTn id="30" presetID="1" presetClass="entr" presetSubtype="0" fill="hold" grpId="0" nodeType="afterEffect">
                                  <p:stCondLst>
                                    <p:cond delay="0"/>
                                  </p:stCondLst>
                                  <p:childTnLst>
                                    <p:set>
                                      <p:cBhvr>
                                        <p:cTn id="31" dur="1" fill="hold">
                                          <p:stCondLst>
                                            <p:cond delay="499"/>
                                          </p:stCondLst>
                                        </p:cTn>
                                        <p:tgtEl>
                                          <p:spTgt spid="67592"/>
                                        </p:tgtEl>
                                        <p:attrNameLst>
                                          <p:attrName>style.visibility</p:attrName>
                                        </p:attrNameLst>
                                      </p:cBhvr>
                                      <p:to>
                                        <p:strVal val="visible"/>
                                      </p:to>
                                    </p:set>
                                  </p:childTnLst>
                                </p:cTn>
                              </p:par>
                            </p:childTnLst>
                          </p:cTn>
                        </p:par>
                        <p:par>
                          <p:cTn id="32" fill="hold" nodeType="afterGroup">
                            <p:stCondLst>
                              <p:cond delay="3500"/>
                            </p:stCondLst>
                            <p:childTnLst>
                              <p:par>
                                <p:cTn id="33" presetID="1" presetClass="entr" presetSubtype="0" fill="hold" grpId="0" nodeType="afterEffect">
                                  <p:stCondLst>
                                    <p:cond delay="0"/>
                                  </p:stCondLst>
                                  <p:childTnLst>
                                    <p:set>
                                      <p:cBhvr>
                                        <p:cTn id="34" dur="1" fill="hold">
                                          <p:stCondLst>
                                            <p:cond delay="499"/>
                                          </p:stCondLst>
                                        </p:cTn>
                                        <p:tgtEl>
                                          <p:spTgt spid="67593"/>
                                        </p:tgtEl>
                                        <p:attrNameLst>
                                          <p:attrName>style.visibility</p:attrName>
                                        </p:attrNameLst>
                                      </p:cBhvr>
                                      <p:to>
                                        <p:strVal val="visible"/>
                                      </p:to>
                                    </p:set>
                                  </p:childTnLst>
                                </p:cTn>
                              </p:par>
                            </p:childTnLst>
                          </p:cTn>
                        </p:par>
                        <p:par>
                          <p:cTn id="35" fill="hold" nodeType="afterGroup">
                            <p:stCondLst>
                              <p:cond delay="4000"/>
                            </p:stCondLst>
                            <p:childTnLst>
                              <p:par>
                                <p:cTn id="36" presetID="1" presetClass="entr" presetSubtype="0" fill="hold" grpId="0" nodeType="afterEffect">
                                  <p:stCondLst>
                                    <p:cond delay="0"/>
                                  </p:stCondLst>
                                  <p:childTnLst>
                                    <p:set>
                                      <p:cBhvr>
                                        <p:cTn id="37" dur="1" fill="hold">
                                          <p:stCondLst>
                                            <p:cond delay="499"/>
                                          </p:stCondLst>
                                        </p:cTn>
                                        <p:tgtEl>
                                          <p:spTgt spid="67594"/>
                                        </p:tgtEl>
                                        <p:attrNameLst>
                                          <p:attrName>style.visibility</p:attrName>
                                        </p:attrNameLst>
                                      </p:cBhvr>
                                      <p:to>
                                        <p:strVal val="visible"/>
                                      </p:to>
                                    </p:set>
                                  </p:childTnLst>
                                </p:cTn>
                              </p:par>
                            </p:childTnLst>
                          </p:cTn>
                        </p:par>
                        <p:par>
                          <p:cTn id="38" fill="hold" nodeType="afterGroup">
                            <p:stCondLst>
                              <p:cond delay="4500"/>
                            </p:stCondLst>
                            <p:childTnLst>
                              <p:par>
                                <p:cTn id="39" presetID="1" presetClass="entr" presetSubtype="0" fill="hold" grpId="0" nodeType="afterEffect">
                                  <p:stCondLst>
                                    <p:cond delay="0"/>
                                  </p:stCondLst>
                                  <p:childTnLst>
                                    <p:set>
                                      <p:cBhvr>
                                        <p:cTn id="40" dur="1" fill="hold">
                                          <p:stCondLst>
                                            <p:cond delay="499"/>
                                          </p:stCondLst>
                                        </p:cTn>
                                        <p:tgtEl>
                                          <p:spTgt spid="67595"/>
                                        </p:tgtEl>
                                        <p:attrNameLst>
                                          <p:attrName>style.visibility</p:attrName>
                                        </p:attrNameLst>
                                      </p:cBhvr>
                                      <p:to>
                                        <p:strVal val="visible"/>
                                      </p:to>
                                    </p:set>
                                  </p:childTnLst>
                                </p:cTn>
                              </p:par>
                            </p:childTnLst>
                          </p:cTn>
                        </p:par>
                        <p:par>
                          <p:cTn id="41" fill="hold" nodeType="afterGroup">
                            <p:stCondLst>
                              <p:cond delay="5000"/>
                            </p:stCondLst>
                            <p:childTnLst>
                              <p:par>
                                <p:cTn id="42" presetID="1" presetClass="entr" presetSubtype="0" fill="hold" grpId="0" nodeType="afterEffect">
                                  <p:stCondLst>
                                    <p:cond delay="0"/>
                                  </p:stCondLst>
                                  <p:childTnLst>
                                    <p:set>
                                      <p:cBhvr>
                                        <p:cTn id="43" dur="1" fill="hold">
                                          <p:stCondLst>
                                            <p:cond delay="499"/>
                                          </p:stCondLst>
                                        </p:cTn>
                                        <p:tgtEl>
                                          <p:spTgt spid="67596"/>
                                        </p:tgtEl>
                                        <p:attrNameLst>
                                          <p:attrName>style.visibility</p:attrName>
                                        </p:attrNameLst>
                                      </p:cBhvr>
                                      <p:to>
                                        <p:strVal val="visible"/>
                                      </p:to>
                                    </p:set>
                                  </p:childTnLst>
                                </p:cTn>
                              </p:par>
                            </p:childTnLst>
                          </p:cTn>
                        </p:par>
                        <p:par>
                          <p:cTn id="44" fill="hold" nodeType="afterGroup">
                            <p:stCondLst>
                              <p:cond delay="5500"/>
                            </p:stCondLst>
                            <p:childTnLst>
                              <p:par>
                                <p:cTn id="45" presetID="1" presetClass="entr" presetSubtype="0" fill="hold" grpId="0" nodeType="afterEffect">
                                  <p:stCondLst>
                                    <p:cond delay="0"/>
                                  </p:stCondLst>
                                  <p:childTnLst>
                                    <p:set>
                                      <p:cBhvr>
                                        <p:cTn id="46" dur="1" fill="hold">
                                          <p:stCondLst>
                                            <p:cond delay="499"/>
                                          </p:stCondLst>
                                        </p:cTn>
                                        <p:tgtEl>
                                          <p:spTgt spid="67597"/>
                                        </p:tgtEl>
                                        <p:attrNameLst>
                                          <p:attrName>style.visibility</p:attrName>
                                        </p:attrNameLst>
                                      </p:cBhvr>
                                      <p:to>
                                        <p:strVal val="visible"/>
                                      </p:to>
                                    </p:set>
                                  </p:childTnLst>
                                </p:cTn>
                              </p:par>
                            </p:childTnLst>
                          </p:cTn>
                        </p:par>
                        <p:par>
                          <p:cTn id="47" fill="hold" nodeType="afterGroup">
                            <p:stCondLst>
                              <p:cond delay="6000"/>
                            </p:stCondLst>
                            <p:childTnLst>
                              <p:par>
                                <p:cTn id="48" presetID="1" presetClass="entr" presetSubtype="0" fill="hold" grpId="0" nodeType="afterEffect">
                                  <p:stCondLst>
                                    <p:cond delay="0"/>
                                  </p:stCondLst>
                                  <p:childTnLst>
                                    <p:set>
                                      <p:cBhvr>
                                        <p:cTn id="49" dur="1" fill="hold">
                                          <p:stCondLst>
                                            <p:cond delay="499"/>
                                          </p:stCondLst>
                                        </p:cTn>
                                        <p:tgtEl>
                                          <p:spTgt spid="67598"/>
                                        </p:tgtEl>
                                        <p:attrNameLst>
                                          <p:attrName>style.visibility</p:attrName>
                                        </p:attrNameLst>
                                      </p:cBhvr>
                                      <p:to>
                                        <p:strVal val="visible"/>
                                      </p:to>
                                    </p:set>
                                  </p:childTnLst>
                                </p:cTn>
                              </p:par>
                            </p:childTnLst>
                          </p:cTn>
                        </p:par>
                        <p:par>
                          <p:cTn id="50" fill="hold" nodeType="afterGroup">
                            <p:stCondLst>
                              <p:cond delay="6500"/>
                            </p:stCondLst>
                            <p:childTnLst>
                              <p:par>
                                <p:cTn id="51" presetID="1" presetClass="entr" presetSubtype="0" fill="hold" grpId="0" nodeType="afterEffect">
                                  <p:stCondLst>
                                    <p:cond delay="0"/>
                                  </p:stCondLst>
                                  <p:childTnLst>
                                    <p:set>
                                      <p:cBhvr>
                                        <p:cTn id="52" dur="1" fill="hold">
                                          <p:stCondLst>
                                            <p:cond delay="499"/>
                                          </p:stCondLst>
                                        </p:cTn>
                                        <p:tgtEl>
                                          <p:spTgt spid="67599"/>
                                        </p:tgtEl>
                                        <p:attrNameLst>
                                          <p:attrName>style.visibility</p:attrName>
                                        </p:attrNameLst>
                                      </p:cBhvr>
                                      <p:to>
                                        <p:strVal val="visible"/>
                                      </p:to>
                                    </p:set>
                                  </p:childTnLst>
                                </p:cTn>
                              </p:par>
                            </p:childTnLst>
                          </p:cTn>
                        </p:par>
                        <p:par>
                          <p:cTn id="53" fill="hold" nodeType="afterGroup">
                            <p:stCondLst>
                              <p:cond delay="7000"/>
                            </p:stCondLst>
                            <p:childTnLst>
                              <p:par>
                                <p:cTn id="54" presetID="1" presetClass="entr" presetSubtype="0" fill="hold" grpId="0" nodeType="afterEffect">
                                  <p:stCondLst>
                                    <p:cond delay="0"/>
                                  </p:stCondLst>
                                  <p:childTnLst>
                                    <p:set>
                                      <p:cBhvr>
                                        <p:cTn id="55" dur="1" fill="hold">
                                          <p:stCondLst>
                                            <p:cond delay="499"/>
                                          </p:stCondLst>
                                        </p:cTn>
                                        <p:tgtEl>
                                          <p:spTgt spid="67600"/>
                                        </p:tgtEl>
                                        <p:attrNameLst>
                                          <p:attrName>style.visibility</p:attrName>
                                        </p:attrNameLst>
                                      </p:cBhvr>
                                      <p:to>
                                        <p:strVal val="visible"/>
                                      </p:to>
                                    </p:set>
                                  </p:childTnLst>
                                </p:cTn>
                              </p:par>
                            </p:childTnLst>
                          </p:cTn>
                        </p:par>
                        <p:par>
                          <p:cTn id="56" fill="hold" nodeType="afterGroup">
                            <p:stCondLst>
                              <p:cond delay="7500"/>
                            </p:stCondLst>
                            <p:childTnLst>
                              <p:par>
                                <p:cTn id="57" presetID="1" presetClass="entr" presetSubtype="0" fill="hold" grpId="0" nodeType="afterEffect">
                                  <p:stCondLst>
                                    <p:cond delay="0"/>
                                  </p:stCondLst>
                                  <p:childTnLst>
                                    <p:set>
                                      <p:cBhvr>
                                        <p:cTn id="58" dur="1" fill="hold">
                                          <p:stCondLst>
                                            <p:cond delay="499"/>
                                          </p:stCondLst>
                                        </p:cTn>
                                        <p:tgtEl>
                                          <p:spTgt spid="67601"/>
                                        </p:tgtEl>
                                        <p:attrNameLst>
                                          <p:attrName>style.visibility</p:attrName>
                                        </p:attrNameLst>
                                      </p:cBhvr>
                                      <p:to>
                                        <p:strVal val="visible"/>
                                      </p:to>
                                    </p:set>
                                  </p:childTnLst>
                                </p:cTn>
                              </p:par>
                            </p:childTnLst>
                          </p:cTn>
                        </p:par>
                        <p:par>
                          <p:cTn id="59" fill="hold" nodeType="afterGroup">
                            <p:stCondLst>
                              <p:cond delay="8000"/>
                            </p:stCondLst>
                            <p:childTnLst>
                              <p:par>
                                <p:cTn id="60" presetID="1" presetClass="entr" presetSubtype="0" fill="hold" grpId="0" nodeType="afterEffect">
                                  <p:stCondLst>
                                    <p:cond delay="0"/>
                                  </p:stCondLst>
                                  <p:childTnLst>
                                    <p:set>
                                      <p:cBhvr>
                                        <p:cTn id="61" dur="1" fill="hold">
                                          <p:stCondLst>
                                            <p:cond delay="499"/>
                                          </p:stCondLst>
                                        </p:cTn>
                                        <p:tgtEl>
                                          <p:spTgt spid="67602"/>
                                        </p:tgtEl>
                                        <p:attrNameLst>
                                          <p:attrName>style.visibility</p:attrName>
                                        </p:attrNameLst>
                                      </p:cBhvr>
                                      <p:to>
                                        <p:strVal val="visible"/>
                                      </p:to>
                                    </p:set>
                                  </p:childTnLst>
                                </p:cTn>
                              </p:par>
                            </p:childTnLst>
                          </p:cTn>
                        </p:par>
                        <p:par>
                          <p:cTn id="62" fill="hold" nodeType="afterGroup">
                            <p:stCondLst>
                              <p:cond delay="8500"/>
                            </p:stCondLst>
                            <p:childTnLst>
                              <p:par>
                                <p:cTn id="63" presetID="1" presetClass="entr" presetSubtype="0" fill="hold" grpId="0" nodeType="afterEffect">
                                  <p:stCondLst>
                                    <p:cond delay="0"/>
                                  </p:stCondLst>
                                  <p:childTnLst>
                                    <p:set>
                                      <p:cBhvr>
                                        <p:cTn id="64" dur="1" fill="hold">
                                          <p:stCondLst>
                                            <p:cond delay="499"/>
                                          </p:stCondLst>
                                        </p:cTn>
                                        <p:tgtEl>
                                          <p:spTgt spid="67603"/>
                                        </p:tgtEl>
                                        <p:attrNameLst>
                                          <p:attrName>style.visibility</p:attrName>
                                        </p:attrNameLst>
                                      </p:cBhvr>
                                      <p:to>
                                        <p:strVal val="visible"/>
                                      </p:to>
                                    </p:set>
                                  </p:childTnLst>
                                </p:cTn>
                              </p:par>
                            </p:childTnLst>
                          </p:cTn>
                        </p:par>
                        <p:par>
                          <p:cTn id="65" fill="hold" nodeType="afterGroup">
                            <p:stCondLst>
                              <p:cond delay="9000"/>
                            </p:stCondLst>
                            <p:childTnLst>
                              <p:par>
                                <p:cTn id="66" presetID="1" presetClass="entr" presetSubtype="0" fill="hold" grpId="0" nodeType="afterEffect">
                                  <p:stCondLst>
                                    <p:cond delay="0"/>
                                  </p:stCondLst>
                                  <p:childTnLst>
                                    <p:set>
                                      <p:cBhvr>
                                        <p:cTn id="67" dur="1" fill="hold">
                                          <p:stCondLst>
                                            <p:cond delay="499"/>
                                          </p:stCondLst>
                                        </p:cTn>
                                        <p:tgtEl>
                                          <p:spTgt spid="67604"/>
                                        </p:tgtEl>
                                        <p:attrNameLst>
                                          <p:attrName>style.visibility</p:attrName>
                                        </p:attrNameLst>
                                      </p:cBhvr>
                                      <p:to>
                                        <p:strVal val="visible"/>
                                      </p:to>
                                    </p:set>
                                  </p:childTnLst>
                                </p:cTn>
                              </p:par>
                            </p:childTnLst>
                          </p:cTn>
                        </p:par>
                        <p:par>
                          <p:cTn id="68" fill="hold" nodeType="afterGroup">
                            <p:stCondLst>
                              <p:cond delay="9500"/>
                            </p:stCondLst>
                            <p:childTnLst>
                              <p:par>
                                <p:cTn id="69" presetID="1" presetClass="entr" presetSubtype="0" fill="hold" grpId="0" nodeType="afterEffect">
                                  <p:stCondLst>
                                    <p:cond delay="0"/>
                                  </p:stCondLst>
                                  <p:childTnLst>
                                    <p:set>
                                      <p:cBhvr>
                                        <p:cTn id="70" dur="1" fill="hold">
                                          <p:stCondLst>
                                            <p:cond delay="499"/>
                                          </p:stCondLst>
                                        </p:cTn>
                                        <p:tgtEl>
                                          <p:spTgt spid="67605"/>
                                        </p:tgtEl>
                                        <p:attrNameLst>
                                          <p:attrName>style.visibility</p:attrName>
                                        </p:attrNameLst>
                                      </p:cBhvr>
                                      <p:to>
                                        <p:strVal val="visible"/>
                                      </p:to>
                                    </p:set>
                                  </p:childTnLst>
                                </p:cTn>
                              </p:par>
                            </p:childTnLst>
                          </p:cTn>
                        </p:par>
                        <p:par>
                          <p:cTn id="71" fill="hold" nodeType="afterGroup">
                            <p:stCondLst>
                              <p:cond delay="10000"/>
                            </p:stCondLst>
                            <p:childTnLst>
                              <p:par>
                                <p:cTn id="72" presetID="1" presetClass="entr" presetSubtype="0" fill="hold" grpId="0" nodeType="afterEffect">
                                  <p:stCondLst>
                                    <p:cond delay="0"/>
                                  </p:stCondLst>
                                  <p:childTnLst>
                                    <p:set>
                                      <p:cBhvr>
                                        <p:cTn id="73" dur="1" fill="hold">
                                          <p:stCondLst>
                                            <p:cond delay="499"/>
                                          </p:stCondLst>
                                        </p:cTn>
                                        <p:tgtEl>
                                          <p:spTgt spid="67606"/>
                                        </p:tgtEl>
                                        <p:attrNameLst>
                                          <p:attrName>style.visibility</p:attrName>
                                        </p:attrNameLst>
                                      </p:cBhvr>
                                      <p:to>
                                        <p:strVal val="visible"/>
                                      </p:to>
                                    </p:set>
                                  </p:childTnLst>
                                </p:cTn>
                              </p:par>
                            </p:childTnLst>
                          </p:cTn>
                        </p:par>
                        <p:par>
                          <p:cTn id="74" fill="hold" nodeType="afterGroup">
                            <p:stCondLst>
                              <p:cond delay="10500"/>
                            </p:stCondLst>
                            <p:childTnLst>
                              <p:par>
                                <p:cTn id="75" presetID="1" presetClass="entr" presetSubtype="0" fill="hold" grpId="0" nodeType="afterEffect">
                                  <p:stCondLst>
                                    <p:cond delay="0"/>
                                  </p:stCondLst>
                                  <p:childTnLst>
                                    <p:set>
                                      <p:cBhvr>
                                        <p:cTn id="76" dur="1" fill="hold">
                                          <p:stCondLst>
                                            <p:cond delay="499"/>
                                          </p:stCondLst>
                                        </p:cTn>
                                        <p:tgtEl>
                                          <p:spTgt spid="67607"/>
                                        </p:tgtEl>
                                        <p:attrNameLst>
                                          <p:attrName>style.visibility</p:attrName>
                                        </p:attrNameLst>
                                      </p:cBhvr>
                                      <p:to>
                                        <p:strVal val="visible"/>
                                      </p:to>
                                    </p:set>
                                  </p:childTnLst>
                                </p:cTn>
                              </p:par>
                            </p:childTnLst>
                          </p:cTn>
                        </p:par>
                        <p:par>
                          <p:cTn id="77" fill="hold" nodeType="afterGroup">
                            <p:stCondLst>
                              <p:cond delay="11000"/>
                            </p:stCondLst>
                            <p:childTnLst>
                              <p:par>
                                <p:cTn id="78" presetID="1" presetClass="entr" presetSubtype="0" fill="hold" grpId="0" nodeType="afterEffect">
                                  <p:stCondLst>
                                    <p:cond delay="0"/>
                                  </p:stCondLst>
                                  <p:childTnLst>
                                    <p:set>
                                      <p:cBhvr>
                                        <p:cTn id="79" dur="1" fill="hold">
                                          <p:stCondLst>
                                            <p:cond delay="499"/>
                                          </p:stCondLst>
                                        </p:cTn>
                                        <p:tgtEl>
                                          <p:spTgt spid="67608"/>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67619"/>
                                        </p:tgtEl>
                                        <p:attrNameLst>
                                          <p:attrName>style.visibility</p:attrName>
                                        </p:attrNameLst>
                                      </p:cBhvr>
                                      <p:to>
                                        <p:strVal val="visible"/>
                                      </p:to>
                                    </p:set>
                                    <p:animEffect transition="in" filter="wipe(left)">
                                      <p:cBhvr>
                                        <p:cTn id="84" dur="500"/>
                                        <p:tgtEl>
                                          <p:spTgt spid="67619"/>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1" fill="hold" grpId="0" nodeType="clickEffect">
                                  <p:stCondLst>
                                    <p:cond delay="0"/>
                                  </p:stCondLst>
                                  <p:childTnLst>
                                    <p:set>
                                      <p:cBhvr>
                                        <p:cTn id="88" dur="1" fill="hold">
                                          <p:stCondLst>
                                            <p:cond delay="0"/>
                                          </p:stCondLst>
                                        </p:cTn>
                                        <p:tgtEl>
                                          <p:spTgt spid="67620"/>
                                        </p:tgtEl>
                                        <p:attrNameLst>
                                          <p:attrName>style.visibility</p:attrName>
                                        </p:attrNameLst>
                                      </p:cBhvr>
                                      <p:to>
                                        <p:strVal val="visible"/>
                                      </p:to>
                                    </p:set>
                                    <p:animEffect transition="in" filter="wipe(up)">
                                      <p:cBhvr>
                                        <p:cTn id="89" dur="500"/>
                                        <p:tgtEl>
                                          <p:spTgt spid="67620"/>
                                        </p:tgtEl>
                                      </p:cBhvr>
                                    </p:animEffect>
                                  </p:childTnLst>
                                </p:cTn>
                              </p:par>
                            </p:childTnLst>
                          </p:cTn>
                        </p:par>
                        <p:par>
                          <p:cTn id="90" fill="hold" nodeType="afterGroup">
                            <p:stCondLst>
                              <p:cond delay="500"/>
                            </p:stCondLst>
                            <p:childTnLst>
                              <p:par>
                                <p:cTn id="91" presetID="22" presetClass="entr" presetSubtype="1" fill="hold" grpId="0" nodeType="afterEffect">
                                  <p:stCondLst>
                                    <p:cond delay="0"/>
                                  </p:stCondLst>
                                  <p:childTnLst>
                                    <p:set>
                                      <p:cBhvr>
                                        <p:cTn id="92" dur="1" fill="hold">
                                          <p:stCondLst>
                                            <p:cond delay="0"/>
                                          </p:stCondLst>
                                        </p:cTn>
                                        <p:tgtEl>
                                          <p:spTgt spid="67621"/>
                                        </p:tgtEl>
                                        <p:attrNameLst>
                                          <p:attrName>style.visibility</p:attrName>
                                        </p:attrNameLst>
                                      </p:cBhvr>
                                      <p:to>
                                        <p:strVal val="visible"/>
                                      </p:to>
                                    </p:set>
                                    <p:animEffect transition="in" filter="wipe(up)">
                                      <p:cBhvr>
                                        <p:cTn id="93" dur="500"/>
                                        <p:tgtEl>
                                          <p:spTgt spid="67621"/>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67624"/>
                                        </p:tgtEl>
                                        <p:attrNameLst>
                                          <p:attrName>style.visibility</p:attrName>
                                        </p:attrNameLst>
                                      </p:cBhvr>
                                      <p:to>
                                        <p:strVal val="visible"/>
                                      </p:to>
                                    </p:set>
                                    <p:animEffect transition="in" filter="wipe(left)">
                                      <p:cBhvr>
                                        <p:cTn id="98" dur="500"/>
                                        <p:tgtEl>
                                          <p:spTgt spid="67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animBg="1" autoUpdateAnimBg="0"/>
      <p:bldP spid="67587" grpId="0" animBg="1" autoUpdateAnimBg="0"/>
      <p:bldP spid="67588" grpId="0" animBg="1" autoUpdateAnimBg="0"/>
      <p:bldP spid="67589" grpId="0" animBg="1" autoUpdateAnimBg="0"/>
      <p:bldP spid="67590" grpId="0" animBg="1" autoUpdateAnimBg="0"/>
      <p:bldP spid="67591" grpId="0" animBg="1" autoUpdateAnimBg="0"/>
      <p:bldP spid="67592" grpId="0" animBg="1" autoUpdateAnimBg="0"/>
      <p:bldP spid="67593" grpId="0" animBg="1" autoUpdateAnimBg="0"/>
      <p:bldP spid="67594" grpId="0" animBg="1" autoUpdateAnimBg="0"/>
      <p:bldP spid="67595" grpId="0" animBg="1" autoUpdateAnimBg="0"/>
      <p:bldP spid="67596" grpId="0" animBg="1" autoUpdateAnimBg="0"/>
      <p:bldP spid="67597" grpId="0" animBg="1" autoUpdateAnimBg="0"/>
      <p:bldP spid="67598" grpId="0" animBg="1"/>
      <p:bldP spid="67599" grpId="0" animBg="1"/>
      <p:bldP spid="67600" grpId="0" animBg="1"/>
      <p:bldP spid="67601" grpId="0" animBg="1"/>
      <p:bldP spid="67602" grpId="0" animBg="1"/>
      <p:bldP spid="67603" grpId="0" animBg="1"/>
      <p:bldP spid="67604" grpId="0" animBg="1"/>
      <p:bldP spid="67605" grpId="0" animBg="1"/>
      <p:bldP spid="67606" grpId="0" animBg="1"/>
      <p:bldP spid="67607" grpId="0" animBg="1"/>
      <p:bldP spid="67608" grpId="0" animBg="1"/>
      <p:bldP spid="67609" grpId="0" autoUpdateAnimBg="0"/>
      <p:bldP spid="67619" grpId="0" autoUpdateAnimBg="0"/>
      <p:bldP spid="67620" grpId="0" animBg="1"/>
      <p:bldP spid="67621" grpId="0" animBg="1" autoUpdateAnimBg="0"/>
      <p:bldP spid="67624"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Text Box 1026"/>
          <p:cNvSpPr txBox="1">
            <a:spLocks noChangeArrowheads="1"/>
          </p:cNvSpPr>
          <p:nvPr/>
        </p:nvSpPr>
        <p:spPr bwMode="auto">
          <a:xfrm>
            <a:off x="1746250" y="228600"/>
            <a:ext cx="572135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lang="en-US" altLang="zh-CN" sz="3600">
                <a:solidFill>
                  <a:srgbClr val="006600"/>
                </a:solidFill>
                <a:ea typeface="隶书" charset="0"/>
              </a:rPr>
              <a:t>    </a:t>
            </a:r>
            <a:r>
              <a:rPr lang="zh-CN" altLang="en-US" sz="4000">
                <a:solidFill>
                  <a:srgbClr val="006600"/>
                </a:solidFill>
                <a:ea typeface="隶书" charset="0"/>
              </a:rPr>
              <a:t>通常，取二叉链表作为</a:t>
            </a:r>
          </a:p>
          <a:p>
            <a:pPr>
              <a:lnSpc>
                <a:spcPct val="120000"/>
              </a:lnSpc>
            </a:pPr>
            <a:r>
              <a:rPr lang="zh-CN" altLang="en-US" sz="4000">
                <a:solidFill>
                  <a:srgbClr val="006600"/>
                </a:solidFill>
                <a:ea typeface="隶书" charset="0"/>
              </a:rPr>
              <a:t>二叉排序树的存储结构</a:t>
            </a:r>
            <a:endParaRPr lang="zh-CN" altLang="en-US" sz="4000">
              <a:ea typeface="隶书" charset="0"/>
            </a:endParaRPr>
          </a:p>
        </p:txBody>
      </p:sp>
      <p:sp>
        <p:nvSpPr>
          <p:cNvPr id="206852" name="Text Box 1028"/>
          <p:cNvSpPr txBox="1">
            <a:spLocks noChangeArrowheads="1"/>
          </p:cNvSpPr>
          <p:nvPr/>
        </p:nvSpPr>
        <p:spPr bwMode="auto">
          <a:xfrm>
            <a:off x="304800" y="2192338"/>
            <a:ext cx="8721725" cy="3751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4000" b="1">
                <a:solidFill>
                  <a:srgbClr val="800000"/>
                </a:solidFill>
              </a:rPr>
              <a:t>typedef struct</a:t>
            </a:r>
            <a:r>
              <a:rPr lang="en-US" altLang="zh-CN" sz="4000">
                <a:solidFill>
                  <a:srgbClr val="800000"/>
                </a:solidFill>
              </a:rPr>
              <a:t> </a:t>
            </a:r>
            <a:r>
              <a:rPr lang="en-US" altLang="zh-CN" sz="4000">
                <a:solidFill>
                  <a:srgbClr val="FF3300"/>
                </a:solidFill>
              </a:rPr>
              <a:t>BiTNode</a:t>
            </a:r>
            <a:r>
              <a:rPr lang="en-US" altLang="zh-CN" sz="4000">
                <a:solidFill>
                  <a:srgbClr val="800000"/>
                </a:solidFill>
              </a:rPr>
              <a:t> </a:t>
            </a:r>
            <a:r>
              <a:rPr lang="en-US" altLang="zh-CN" sz="4000" b="1">
                <a:solidFill>
                  <a:srgbClr val="800000"/>
                </a:solidFill>
              </a:rPr>
              <a:t>{</a:t>
            </a:r>
            <a:r>
              <a:rPr lang="en-US" altLang="zh-CN" sz="4000">
                <a:solidFill>
                  <a:srgbClr val="800000"/>
                </a:solidFill>
              </a:rPr>
              <a:t> // </a:t>
            </a:r>
            <a:r>
              <a:rPr lang="zh-CN" altLang="en-US" sz="3600" b="1">
                <a:solidFill>
                  <a:srgbClr val="FF3300"/>
                </a:solidFill>
                <a:ea typeface="楷体_GB2312" charset="0"/>
              </a:rPr>
              <a:t>结点结构</a:t>
            </a:r>
            <a:endParaRPr lang="zh-CN" altLang="en-US" sz="4000" b="1">
              <a:solidFill>
                <a:srgbClr val="800000"/>
              </a:solidFill>
            </a:endParaRPr>
          </a:p>
          <a:p>
            <a:pPr>
              <a:lnSpc>
                <a:spcPct val="120000"/>
              </a:lnSpc>
            </a:pPr>
            <a:r>
              <a:rPr lang="zh-CN" altLang="en-US" sz="4000">
                <a:solidFill>
                  <a:srgbClr val="800000"/>
                </a:solidFill>
              </a:rPr>
              <a:t>    </a:t>
            </a:r>
          </a:p>
          <a:p>
            <a:pPr>
              <a:lnSpc>
                <a:spcPct val="120000"/>
              </a:lnSpc>
            </a:pPr>
            <a:r>
              <a:rPr lang="zh-CN" altLang="en-US" sz="4000">
                <a:solidFill>
                  <a:srgbClr val="800000"/>
                </a:solidFill>
              </a:rPr>
              <a:t>    </a:t>
            </a:r>
            <a:r>
              <a:rPr lang="en-US" altLang="zh-CN" sz="4000" b="1">
                <a:solidFill>
                  <a:srgbClr val="800000"/>
                </a:solidFill>
              </a:rPr>
              <a:t>struct</a:t>
            </a:r>
            <a:r>
              <a:rPr lang="en-US" altLang="zh-CN" sz="4000">
                <a:solidFill>
                  <a:srgbClr val="800000"/>
                </a:solidFill>
              </a:rPr>
              <a:t> BiTNode  </a:t>
            </a:r>
            <a:r>
              <a:rPr lang="en-US" altLang="zh-CN" sz="4000" b="1">
                <a:solidFill>
                  <a:srgbClr val="800000"/>
                </a:solidFill>
              </a:rPr>
              <a:t>*l</a:t>
            </a:r>
            <a:r>
              <a:rPr lang="en-US" altLang="zh-CN" sz="4000">
                <a:solidFill>
                  <a:srgbClr val="800000"/>
                </a:solidFill>
              </a:rPr>
              <a:t>child, </a:t>
            </a:r>
            <a:r>
              <a:rPr lang="en-US" altLang="zh-CN" sz="4000" b="1">
                <a:solidFill>
                  <a:srgbClr val="800000"/>
                </a:solidFill>
              </a:rPr>
              <a:t>*r</a:t>
            </a:r>
            <a:r>
              <a:rPr lang="en-US" altLang="zh-CN" sz="4000">
                <a:solidFill>
                  <a:srgbClr val="800000"/>
                </a:solidFill>
              </a:rPr>
              <a:t>child; </a:t>
            </a:r>
          </a:p>
          <a:p>
            <a:pPr>
              <a:lnSpc>
                <a:spcPct val="120000"/>
              </a:lnSpc>
            </a:pPr>
            <a:r>
              <a:rPr lang="en-US" altLang="zh-CN" sz="4000">
                <a:solidFill>
                  <a:srgbClr val="800000"/>
                </a:solidFill>
              </a:rPr>
              <a:t>                                     // </a:t>
            </a:r>
            <a:r>
              <a:rPr lang="zh-CN" altLang="en-US" sz="4000">
                <a:solidFill>
                  <a:srgbClr val="800000"/>
                </a:solidFill>
                <a:ea typeface="楷体_GB2312" charset="0"/>
              </a:rPr>
              <a:t>左右孩子指针</a:t>
            </a:r>
            <a:endParaRPr lang="zh-CN" altLang="en-US" sz="4000">
              <a:solidFill>
                <a:srgbClr val="800000"/>
              </a:solidFill>
            </a:endParaRPr>
          </a:p>
          <a:p>
            <a:pPr>
              <a:lnSpc>
                <a:spcPct val="120000"/>
              </a:lnSpc>
            </a:pPr>
            <a:r>
              <a:rPr lang="en-US" altLang="zh-CN" sz="4000" b="1">
                <a:solidFill>
                  <a:srgbClr val="800000"/>
                </a:solidFill>
              </a:rPr>
              <a:t>}</a:t>
            </a:r>
            <a:r>
              <a:rPr lang="en-US" altLang="zh-CN" sz="4000">
                <a:solidFill>
                  <a:srgbClr val="800000"/>
                </a:solidFill>
              </a:rPr>
              <a:t> BiTNode, </a:t>
            </a:r>
            <a:r>
              <a:rPr lang="en-US" altLang="zh-CN" sz="4000" b="1">
                <a:solidFill>
                  <a:srgbClr val="800000"/>
                </a:solidFill>
              </a:rPr>
              <a:t>*</a:t>
            </a:r>
            <a:r>
              <a:rPr lang="en-US" altLang="zh-CN" sz="4000">
                <a:solidFill>
                  <a:srgbClr val="800000"/>
                </a:solidFill>
              </a:rPr>
              <a:t>BiTree;</a:t>
            </a:r>
          </a:p>
        </p:txBody>
      </p:sp>
      <p:sp>
        <p:nvSpPr>
          <p:cNvPr id="206853" name="Rectangle 1029">
            <a:hlinkClick r:id="rId2" action="ppaction://hlinksldjump"/>
          </p:cNvPr>
          <p:cNvSpPr>
            <a:spLocks noChangeArrowheads="1"/>
          </p:cNvSpPr>
          <p:nvPr/>
        </p:nvSpPr>
        <p:spPr bwMode="auto">
          <a:xfrm>
            <a:off x="762000" y="3048000"/>
            <a:ext cx="43576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800000"/>
                </a:solidFill>
              </a:rPr>
              <a:t>TElemType      data;</a:t>
            </a:r>
          </a:p>
        </p:txBody>
      </p:sp>
      <p:sp>
        <p:nvSpPr>
          <p:cNvPr id="206854" name="AutoShape 1030">
            <a:hlinkClick r:id="rId3" action="ppaction://hlinksldjump" highlightClick="1"/>
          </p:cNvPr>
          <p:cNvSpPr>
            <a:spLocks noChangeArrowheads="1"/>
          </p:cNvSpPr>
          <p:nvPr/>
        </p:nvSpPr>
        <p:spPr bwMode="auto">
          <a:xfrm>
            <a:off x="83820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8059436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6850"/>
                                        </p:tgtEl>
                                        <p:attrNameLst>
                                          <p:attrName>style.visibility</p:attrName>
                                        </p:attrNameLst>
                                      </p:cBhvr>
                                      <p:to>
                                        <p:strVal val="visible"/>
                                      </p:to>
                                    </p:set>
                                    <p:anim calcmode="lin" valueType="num">
                                      <p:cBhvr additive="base">
                                        <p:cTn id="7" dur="500" fill="hold"/>
                                        <p:tgtEl>
                                          <p:spTgt spid="206850"/>
                                        </p:tgtEl>
                                        <p:attrNameLst>
                                          <p:attrName>ppt_x</p:attrName>
                                        </p:attrNameLst>
                                      </p:cBhvr>
                                      <p:tavLst>
                                        <p:tav tm="0">
                                          <p:val>
                                            <p:strVal val="#ppt_x"/>
                                          </p:val>
                                        </p:tav>
                                        <p:tav tm="100000">
                                          <p:val>
                                            <p:strVal val="#ppt_x"/>
                                          </p:val>
                                        </p:tav>
                                      </p:tavLst>
                                    </p:anim>
                                    <p:anim calcmode="lin" valueType="num">
                                      <p:cBhvr additive="base">
                                        <p:cTn id="8" dur="500" fill="hold"/>
                                        <p:tgtEl>
                                          <p:spTgt spid="20685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206852"/>
                                        </p:tgtEl>
                                        <p:attrNameLst>
                                          <p:attrName>style.visibility</p:attrName>
                                        </p:attrNameLst>
                                      </p:cBhvr>
                                      <p:to>
                                        <p:strVal val="visible"/>
                                      </p:to>
                                    </p:set>
                                    <p:animEffect transition="in" filter="strips(downRight)">
                                      <p:cBhvr>
                                        <p:cTn id="13" dur="500"/>
                                        <p:tgtEl>
                                          <p:spTgt spid="206852"/>
                                        </p:tgtEl>
                                      </p:cBhvr>
                                    </p:animEffect>
                                  </p:childTnLst>
                                </p:cTn>
                              </p:par>
                            </p:childTnLst>
                          </p:cTn>
                        </p:par>
                        <p:par>
                          <p:cTn id="14" fill="hold" nodeType="afterGroup">
                            <p:stCondLst>
                              <p:cond delay="500"/>
                            </p:stCondLst>
                            <p:childTnLst>
                              <p:par>
                                <p:cTn id="15" presetID="18" presetClass="entr" presetSubtype="6" fill="hold" grpId="0" nodeType="afterEffect">
                                  <p:stCondLst>
                                    <p:cond delay="0"/>
                                  </p:stCondLst>
                                  <p:childTnLst>
                                    <p:set>
                                      <p:cBhvr>
                                        <p:cTn id="16" dur="1" fill="hold">
                                          <p:stCondLst>
                                            <p:cond delay="0"/>
                                          </p:stCondLst>
                                        </p:cTn>
                                        <p:tgtEl>
                                          <p:spTgt spid="206853"/>
                                        </p:tgtEl>
                                        <p:attrNameLst>
                                          <p:attrName>style.visibility</p:attrName>
                                        </p:attrNameLst>
                                      </p:cBhvr>
                                      <p:to>
                                        <p:strVal val="visible"/>
                                      </p:to>
                                    </p:set>
                                    <p:animEffect transition="in" filter="strips(downRight)">
                                      <p:cBhvr>
                                        <p:cTn id="17" dur="500"/>
                                        <p:tgtEl>
                                          <p:spTgt spid="206853"/>
                                        </p:tgtEl>
                                      </p:cBhvr>
                                    </p:animEffect>
                                  </p:childTnLst>
                                </p:cTn>
                              </p:par>
                            </p:childTnLst>
                          </p:cTn>
                        </p:par>
                        <p:par>
                          <p:cTn id="18" fill="hold" nodeType="afterGroup">
                            <p:stCondLst>
                              <p:cond delay="1000"/>
                            </p:stCondLst>
                            <p:childTnLst>
                              <p:par>
                                <p:cTn id="19" presetID="2" presetClass="entr" presetSubtype="6" fill="hold" grpId="0" nodeType="afterEffect">
                                  <p:stCondLst>
                                    <p:cond delay="0"/>
                                  </p:stCondLst>
                                  <p:childTnLst>
                                    <p:set>
                                      <p:cBhvr>
                                        <p:cTn id="20" dur="1" fill="hold">
                                          <p:stCondLst>
                                            <p:cond delay="0"/>
                                          </p:stCondLst>
                                        </p:cTn>
                                        <p:tgtEl>
                                          <p:spTgt spid="206854"/>
                                        </p:tgtEl>
                                        <p:attrNameLst>
                                          <p:attrName>style.visibility</p:attrName>
                                        </p:attrNameLst>
                                      </p:cBhvr>
                                      <p:to>
                                        <p:strVal val="visible"/>
                                      </p:to>
                                    </p:set>
                                    <p:anim calcmode="lin" valueType="num">
                                      <p:cBhvr additive="base">
                                        <p:cTn id="21" dur="500" fill="hold"/>
                                        <p:tgtEl>
                                          <p:spTgt spid="206854"/>
                                        </p:tgtEl>
                                        <p:attrNameLst>
                                          <p:attrName>ppt_x</p:attrName>
                                        </p:attrNameLst>
                                      </p:cBhvr>
                                      <p:tavLst>
                                        <p:tav tm="0">
                                          <p:val>
                                            <p:strVal val="1+#ppt_w/2"/>
                                          </p:val>
                                        </p:tav>
                                        <p:tav tm="100000">
                                          <p:val>
                                            <p:strVal val="#ppt_x"/>
                                          </p:val>
                                        </p:tav>
                                      </p:tavLst>
                                    </p:anim>
                                    <p:anim calcmode="lin" valueType="num">
                                      <p:cBhvr additive="base">
                                        <p:cTn id="22" dur="500" fill="hold"/>
                                        <p:tgtEl>
                                          <p:spTgt spid="2068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0" grpId="0" autoUpdateAnimBg="0"/>
      <p:bldP spid="206852" grpId="0" autoUpdateAnimBg="0"/>
      <p:bldP spid="206853" grpId="0" autoUpdateAnimBg="0"/>
      <p:bldP spid="206854"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p:cNvSpPr>
            <a:spLocks noGrp="1" noChangeArrowheads="1"/>
          </p:cNvSpPr>
          <p:nvPr>
            <p:ph type="title" idx="4294967295"/>
          </p:nvPr>
        </p:nvSpPr>
        <p:spPr>
          <a:xfrm>
            <a:off x="609600" y="76200"/>
            <a:ext cx="8001000" cy="1066800"/>
          </a:xfrm>
        </p:spPr>
        <p:txBody>
          <a:bodyPr/>
          <a:lstStyle/>
          <a:p>
            <a:r>
              <a:rPr lang="en-US" altLang="zh-CN" b="1">
                <a:solidFill>
                  <a:srgbClr val="CC0000"/>
                </a:solidFill>
                <a:ea typeface="楷体_GB2312" charset="0"/>
              </a:rPr>
              <a:t>2</a:t>
            </a:r>
            <a:r>
              <a:rPr lang="zh-CN" altLang="en-US" b="1">
                <a:solidFill>
                  <a:srgbClr val="CC0000"/>
                </a:solidFill>
                <a:ea typeface="楷体_GB2312" charset="0"/>
              </a:rPr>
              <a:t>．二叉排序树的查找算法：</a:t>
            </a:r>
            <a:endParaRPr lang="zh-CN" altLang="en-US">
              <a:solidFill>
                <a:schemeClr val="tx1"/>
              </a:solidFill>
              <a:ea typeface="楷体_GB2312" charset="0"/>
            </a:endParaRPr>
          </a:p>
        </p:txBody>
      </p:sp>
      <p:sp>
        <p:nvSpPr>
          <p:cNvPr id="74755" name="Rectangle 3"/>
          <p:cNvSpPr>
            <a:spLocks noGrp="1" noChangeArrowheads="1"/>
          </p:cNvSpPr>
          <p:nvPr>
            <p:ph type="body" idx="4294967295"/>
          </p:nvPr>
        </p:nvSpPr>
        <p:spPr>
          <a:xfrm>
            <a:off x="609600" y="2362200"/>
            <a:ext cx="7772400" cy="4114800"/>
          </a:xfrm>
        </p:spPr>
        <p:txBody>
          <a:bodyPr/>
          <a:lstStyle/>
          <a:p>
            <a:pPr>
              <a:lnSpc>
                <a:spcPct val="115000"/>
              </a:lnSpc>
            </a:pPr>
            <a:r>
              <a:rPr lang="en-US" altLang="zh-CN" sz="3600">
                <a:solidFill>
                  <a:srgbClr val="A50021"/>
                </a:solidFill>
                <a:ea typeface="楷体_GB2312" charset="0"/>
              </a:rPr>
              <a:t>1</a:t>
            </a:r>
            <a:r>
              <a:rPr lang="zh-CN" altLang="en-US" sz="3600">
                <a:solidFill>
                  <a:srgbClr val="A50021"/>
                </a:solidFill>
                <a:ea typeface="楷体_GB2312" charset="0"/>
              </a:rPr>
              <a:t>）若给定值</a:t>
            </a:r>
            <a:r>
              <a:rPr lang="zh-CN" altLang="en-US" sz="3600" b="1">
                <a:solidFill>
                  <a:schemeClr val="accent2"/>
                </a:solidFill>
                <a:ea typeface="楷体_GB2312" charset="0"/>
              </a:rPr>
              <a:t>等于</a:t>
            </a:r>
            <a:r>
              <a:rPr lang="zh-CN" altLang="en-US" sz="3600">
                <a:solidFill>
                  <a:srgbClr val="A50021"/>
                </a:solidFill>
                <a:ea typeface="楷体_GB2312" charset="0"/>
              </a:rPr>
              <a:t>根结点的关键字，则</a:t>
            </a:r>
            <a:r>
              <a:rPr lang="zh-CN" altLang="en-US" sz="3600" b="1">
                <a:solidFill>
                  <a:srgbClr val="A50021"/>
                </a:solidFill>
                <a:ea typeface="楷体_GB2312" charset="0"/>
              </a:rPr>
              <a:t>查找成功</a:t>
            </a:r>
            <a:r>
              <a:rPr lang="zh-CN" altLang="en-US" sz="3600">
                <a:solidFill>
                  <a:srgbClr val="A50021"/>
                </a:solidFill>
                <a:ea typeface="楷体_GB2312" charset="0"/>
              </a:rPr>
              <a:t>；</a:t>
            </a:r>
          </a:p>
          <a:p>
            <a:pPr>
              <a:lnSpc>
                <a:spcPct val="115000"/>
              </a:lnSpc>
            </a:pPr>
            <a:r>
              <a:rPr lang="en-US" altLang="zh-CN" sz="3600">
                <a:solidFill>
                  <a:srgbClr val="A50021"/>
                </a:solidFill>
                <a:ea typeface="楷体_GB2312" charset="0"/>
              </a:rPr>
              <a:t>2</a:t>
            </a:r>
            <a:r>
              <a:rPr lang="zh-CN" altLang="en-US" sz="3600">
                <a:solidFill>
                  <a:srgbClr val="A50021"/>
                </a:solidFill>
                <a:ea typeface="楷体_GB2312" charset="0"/>
              </a:rPr>
              <a:t>）若给定值</a:t>
            </a:r>
            <a:r>
              <a:rPr lang="zh-CN" altLang="en-US" sz="3600" b="1">
                <a:solidFill>
                  <a:schemeClr val="accent2"/>
                </a:solidFill>
                <a:ea typeface="楷体_GB2312" charset="0"/>
              </a:rPr>
              <a:t>小于</a:t>
            </a:r>
            <a:r>
              <a:rPr lang="zh-CN" altLang="en-US" sz="3600">
                <a:solidFill>
                  <a:srgbClr val="A50021"/>
                </a:solidFill>
                <a:ea typeface="楷体_GB2312" charset="0"/>
              </a:rPr>
              <a:t>根结点的关键字，则</a:t>
            </a:r>
            <a:r>
              <a:rPr lang="zh-CN" altLang="en-US" sz="3600" b="1">
                <a:solidFill>
                  <a:srgbClr val="A50021"/>
                </a:solidFill>
                <a:ea typeface="楷体_GB2312" charset="0"/>
              </a:rPr>
              <a:t>继续在左子树上进行查找</a:t>
            </a:r>
            <a:r>
              <a:rPr lang="zh-CN" altLang="en-US" sz="3600">
                <a:solidFill>
                  <a:srgbClr val="A50021"/>
                </a:solidFill>
                <a:ea typeface="楷体_GB2312" charset="0"/>
              </a:rPr>
              <a:t>；</a:t>
            </a:r>
          </a:p>
          <a:p>
            <a:pPr>
              <a:lnSpc>
                <a:spcPct val="115000"/>
              </a:lnSpc>
            </a:pPr>
            <a:r>
              <a:rPr lang="en-US" altLang="zh-CN" sz="3600">
                <a:solidFill>
                  <a:srgbClr val="A50021"/>
                </a:solidFill>
                <a:ea typeface="楷体_GB2312" charset="0"/>
              </a:rPr>
              <a:t>3</a:t>
            </a:r>
            <a:r>
              <a:rPr lang="zh-CN" altLang="en-US" sz="3600">
                <a:solidFill>
                  <a:srgbClr val="A50021"/>
                </a:solidFill>
                <a:ea typeface="楷体_GB2312" charset="0"/>
              </a:rPr>
              <a:t>）若给定值</a:t>
            </a:r>
            <a:r>
              <a:rPr lang="zh-CN" altLang="en-US" sz="3600" b="1">
                <a:solidFill>
                  <a:schemeClr val="accent2"/>
                </a:solidFill>
                <a:ea typeface="楷体_GB2312" charset="0"/>
              </a:rPr>
              <a:t>大于</a:t>
            </a:r>
            <a:r>
              <a:rPr lang="zh-CN" altLang="en-US" sz="3600">
                <a:solidFill>
                  <a:srgbClr val="A50021"/>
                </a:solidFill>
                <a:ea typeface="楷体_GB2312" charset="0"/>
              </a:rPr>
              <a:t>根结点的关键字，则</a:t>
            </a:r>
            <a:r>
              <a:rPr lang="zh-CN" altLang="en-US" sz="3600" b="1">
                <a:solidFill>
                  <a:srgbClr val="A50021"/>
                </a:solidFill>
                <a:ea typeface="楷体_GB2312" charset="0"/>
              </a:rPr>
              <a:t>继续在右子树上进行查找</a:t>
            </a:r>
            <a:r>
              <a:rPr lang="zh-CN" altLang="en-US" sz="3600">
                <a:solidFill>
                  <a:srgbClr val="A50021"/>
                </a:solidFill>
                <a:ea typeface="楷体_GB2312" charset="0"/>
              </a:rPr>
              <a:t>。</a:t>
            </a:r>
            <a:endParaRPr lang="zh-CN" altLang="en-US"/>
          </a:p>
        </p:txBody>
      </p:sp>
      <p:sp>
        <p:nvSpPr>
          <p:cNvPr id="74756" name="Text Box 4"/>
          <p:cNvSpPr txBox="1">
            <a:spLocks noChangeArrowheads="1"/>
          </p:cNvSpPr>
          <p:nvPr/>
        </p:nvSpPr>
        <p:spPr bwMode="auto">
          <a:xfrm>
            <a:off x="533400" y="1720850"/>
            <a:ext cx="1555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A50021"/>
                </a:solidFill>
                <a:ea typeface="楷体_GB2312" charset="0"/>
              </a:rPr>
              <a:t>否则，</a:t>
            </a:r>
            <a:endParaRPr lang="zh-CN" altLang="en-US"/>
          </a:p>
        </p:txBody>
      </p:sp>
      <p:sp>
        <p:nvSpPr>
          <p:cNvPr id="74758" name="Rectangle 6"/>
          <p:cNvSpPr>
            <a:spLocks noChangeArrowheads="1"/>
          </p:cNvSpPr>
          <p:nvPr/>
        </p:nvSpPr>
        <p:spPr bwMode="auto">
          <a:xfrm>
            <a:off x="577850" y="1085850"/>
            <a:ext cx="75215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A50021"/>
                </a:solidFill>
                <a:ea typeface="楷体_GB2312" charset="0"/>
              </a:rPr>
              <a:t>若二叉排序树</a:t>
            </a:r>
            <a:r>
              <a:rPr lang="zh-CN" altLang="en-US" sz="3600" b="1">
                <a:solidFill>
                  <a:srgbClr val="6600CC"/>
                </a:solidFill>
                <a:ea typeface="楷体_GB2312" charset="0"/>
              </a:rPr>
              <a:t>为空</a:t>
            </a:r>
            <a:r>
              <a:rPr lang="zh-CN" altLang="en-US" sz="3600">
                <a:solidFill>
                  <a:srgbClr val="A50021"/>
                </a:solidFill>
                <a:ea typeface="楷体_GB2312" charset="0"/>
              </a:rPr>
              <a:t>，则</a:t>
            </a:r>
            <a:r>
              <a:rPr lang="zh-CN" altLang="en-US" sz="3600" b="1">
                <a:solidFill>
                  <a:srgbClr val="A50021"/>
                </a:solidFill>
                <a:ea typeface="楷体_GB2312" charset="0"/>
              </a:rPr>
              <a:t>查找不成功</a:t>
            </a:r>
            <a:r>
              <a:rPr lang="zh-CN" altLang="en-US" sz="3600">
                <a:solidFill>
                  <a:srgbClr val="A50021"/>
                </a:solidFill>
                <a:ea typeface="楷体_GB2312" charset="0"/>
              </a:rPr>
              <a:t>；</a:t>
            </a:r>
            <a:endParaRPr lang="zh-CN" altLang="en-US" sz="2000">
              <a:ea typeface="楷体_GB2312" charset="0"/>
            </a:endParaRPr>
          </a:p>
        </p:txBody>
      </p:sp>
    </p:spTree>
    <p:extLst>
      <p:ext uri="{BB962C8B-B14F-4D97-AF65-F5344CB8AC3E}">
        <p14:creationId xmlns:p14="http://schemas.microsoft.com/office/powerpoint/2010/main" val="54369456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4754"/>
                                        </p:tgtEl>
                                        <p:attrNameLst>
                                          <p:attrName>style.visibility</p:attrName>
                                        </p:attrNameLst>
                                      </p:cBhvr>
                                      <p:to>
                                        <p:strVal val="visible"/>
                                      </p:to>
                                    </p:set>
                                    <p:animEffect transition="in" filter="blinds(horizontal)">
                                      <p:cBhvr>
                                        <p:cTn id="7" dur="500"/>
                                        <p:tgtEl>
                                          <p:spTgt spid="747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4758"/>
                                        </p:tgtEl>
                                        <p:attrNameLst>
                                          <p:attrName>style.visibility</p:attrName>
                                        </p:attrNameLst>
                                      </p:cBhvr>
                                      <p:to>
                                        <p:strVal val="visible"/>
                                      </p:to>
                                    </p:set>
                                    <p:anim calcmode="lin" valueType="num">
                                      <p:cBhvr additive="base">
                                        <p:cTn id="12" dur="500" fill="hold"/>
                                        <p:tgtEl>
                                          <p:spTgt spid="74758"/>
                                        </p:tgtEl>
                                        <p:attrNameLst>
                                          <p:attrName>ppt_x</p:attrName>
                                        </p:attrNameLst>
                                      </p:cBhvr>
                                      <p:tavLst>
                                        <p:tav tm="0">
                                          <p:val>
                                            <p:strVal val="0-#ppt_w/2"/>
                                          </p:val>
                                        </p:tav>
                                        <p:tav tm="100000">
                                          <p:val>
                                            <p:strVal val="#ppt_x"/>
                                          </p:val>
                                        </p:tav>
                                      </p:tavLst>
                                    </p:anim>
                                    <p:anim calcmode="lin" valueType="num">
                                      <p:cBhvr additive="base">
                                        <p:cTn id="13" dur="500" fill="hold"/>
                                        <p:tgtEl>
                                          <p:spTgt spid="74758"/>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500"/>
                            </p:stCondLst>
                            <p:childTnLst>
                              <p:par>
                                <p:cTn id="15" presetID="2" presetClass="entr" presetSubtype="8" fill="hold" grpId="0" nodeType="afterEffect">
                                  <p:stCondLst>
                                    <p:cond delay="0"/>
                                  </p:stCondLst>
                                  <p:childTnLst>
                                    <p:set>
                                      <p:cBhvr>
                                        <p:cTn id="16" dur="1" fill="hold">
                                          <p:stCondLst>
                                            <p:cond delay="0"/>
                                          </p:stCondLst>
                                        </p:cTn>
                                        <p:tgtEl>
                                          <p:spTgt spid="74756"/>
                                        </p:tgtEl>
                                        <p:attrNameLst>
                                          <p:attrName>style.visibility</p:attrName>
                                        </p:attrNameLst>
                                      </p:cBhvr>
                                      <p:to>
                                        <p:strVal val="visible"/>
                                      </p:to>
                                    </p:set>
                                    <p:anim calcmode="lin" valueType="num">
                                      <p:cBhvr additive="base">
                                        <p:cTn id="17" dur="500" fill="hold"/>
                                        <p:tgtEl>
                                          <p:spTgt spid="74756"/>
                                        </p:tgtEl>
                                        <p:attrNameLst>
                                          <p:attrName>ppt_x</p:attrName>
                                        </p:attrNameLst>
                                      </p:cBhvr>
                                      <p:tavLst>
                                        <p:tav tm="0">
                                          <p:val>
                                            <p:strVal val="0-#ppt_w/2"/>
                                          </p:val>
                                        </p:tav>
                                        <p:tav tm="100000">
                                          <p:val>
                                            <p:strVal val="#ppt_x"/>
                                          </p:val>
                                        </p:tav>
                                      </p:tavLst>
                                    </p:anim>
                                    <p:anim calcmode="lin" valueType="num">
                                      <p:cBhvr additive="base">
                                        <p:cTn id="18" dur="500" fill="hold"/>
                                        <p:tgtEl>
                                          <p:spTgt spid="74756"/>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74755">
                                            <p:txEl>
                                              <p:pRg st="0" end="0"/>
                                            </p:txEl>
                                          </p:spTgt>
                                        </p:tgtEl>
                                        <p:attrNameLst>
                                          <p:attrName>style.visibility</p:attrName>
                                        </p:attrNameLst>
                                      </p:cBhvr>
                                      <p:to>
                                        <p:strVal val="visible"/>
                                      </p:to>
                                    </p:set>
                                    <p:animEffect transition="in" filter="strips(downRight)">
                                      <p:cBhvr>
                                        <p:cTn id="23" dur="500"/>
                                        <p:tgtEl>
                                          <p:spTgt spid="74755">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74755">
                                            <p:txEl>
                                              <p:pRg st="1" end="1"/>
                                            </p:txEl>
                                          </p:spTgt>
                                        </p:tgtEl>
                                        <p:attrNameLst>
                                          <p:attrName>style.visibility</p:attrName>
                                        </p:attrNameLst>
                                      </p:cBhvr>
                                      <p:to>
                                        <p:strVal val="visible"/>
                                      </p:to>
                                    </p:set>
                                    <p:animEffect transition="in" filter="strips(downRight)">
                                      <p:cBhvr>
                                        <p:cTn id="28" dur="500"/>
                                        <p:tgtEl>
                                          <p:spTgt spid="74755">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74755">
                                            <p:txEl>
                                              <p:pRg st="2" end="2"/>
                                            </p:txEl>
                                          </p:spTgt>
                                        </p:tgtEl>
                                        <p:attrNameLst>
                                          <p:attrName>style.visibility</p:attrName>
                                        </p:attrNameLst>
                                      </p:cBhvr>
                                      <p:to>
                                        <p:strVal val="visible"/>
                                      </p:to>
                                    </p:set>
                                    <p:animEffect transition="in" filter="strips(downRight)">
                                      <p:cBhvr>
                                        <p:cTn id="33" dur="500"/>
                                        <p:tgtEl>
                                          <p:spTgt spid="747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autoUpdateAnimBg="0"/>
      <p:bldP spid="74755" grpId="0" build="p" autoUpdateAnimBg="0"/>
      <p:bldP spid="74756" grpId="0" autoUpdateAnimBg="0"/>
      <p:bldP spid="74758"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Oval 2"/>
          <p:cNvSpPr>
            <a:spLocks noChangeArrowheads="1"/>
          </p:cNvSpPr>
          <p:nvPr/>
        </p:nvSpPr>
        <p:spPr bwMode="auto">
          <a:xfrm>
            <a:off x="4191000" y="10668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50</a:t>
            </a:r>
            <a:endParaRPr lang="en-US" altLang="zh-CN"/>
          </a:p>
        </p:txBody>
      </p:sp>
      <p:sp>
        <p:nvSpPr>
          <p:cNvPr id="205827" name="Oval 3"/>
          <p:cNvSpPr>
            <a:spLocks noChangeArrowheads="1"/>
          </p:cNvSpPr>
          <p:nvPr/>
        </p:nvSpPr>
        <p:spPr bwMode="auto">
          <a:xfrm>
            <a:off x="2743200" y="16002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30</a:t>
            </a:r>
            <a:endParaRPr lang="en-US" altLang="zh-CN"/>
          </a:p>
        </p:txBody>
      </p:sp>
      <p:sp>
        <p:nvSpPr>
          <p:cNvPr id="205828" name="Oval 4"/>
          <p:cNvSpPr>
            <a:spLocks noChangeArrowheads="1"/>
          </p:cNvSpPr>
          <p:nvPr/>
        </p:nvSpPr>
        <p:spPr bwMode="auto">
          <a:xfrm>
            <a:off x="5638800" y="16002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80</a:t>
            </a:r>
            <a:endParaRPr lang="en-US" altLang="zh-CN"/>
          </a:p>
        </p:txBody>
      </p:sp>
      <p:sp>
        <p:nvSpPr>
          <p:cNvPr id="205829" name="Oval 5"/>
          <p:cNvSpPr>
            <a:spLocks noChangeArrowheads="1"/>
          </p:cNvSpPr>
          <p:nvPr/>
        </p:nvSpPr>
        <p:spPr bwMode="auto">
          <a:xfrm>
            <a:off x="1600200" y="22860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20</a:t>
            </a:r>
            <a:endParaRPr lang="en-US" altLang="zh-CN"/>
          </a:p>
        </p:txBody>
      </p:sp>
      <p:sp>
        <p:nvSpPr>
          <p:cNvPr id="205830" name="Oval 6"/>
          <p:cNvSpPr>
            <a:spLocks noChangeArrowheads="1"/>
          </p:cNvSpPr>
          <p:nvPr/>
        </p:nvSpPr>
        <p:spPr bwMode="auto">
          <a:xfrm>
            <a:off x="6781800" y="22860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90</a:t>
            </a:r>
            <a:endParaRPr lang="en-US" altLang="zh-CN"/>
          </a:p>
        </p:txBody>
      </p:sp>
      <p:sp>
        <p:nvSpPr>
          <p:cNvPr id="205831" name="Oval 7"/>
          <p:cNvSpPr>
            <a:spLocks noChangeArrowheads="1"/>
          </p:cNvSpPr>
          <p:nvPr/>
        </p:nvSpPr>
        <p:spPr bwMode="auto">
          <a:xfrm>
            <a:off x="5943600" y="31242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85</a:t>
            </a:r>
            <a:endParaRPr lang="en-US" altLang="zh-CN"/>
          </a:p>
        </p:txBody>
      </p:sp>
      <p:sp>
        <p:nvSpPr>
          <p:cNvPr id="205832" name="Oval 8"/>
          <p:cNvSpPr>
            <a:spLocks noChangeArrowheads="1"/>
          </p:cNvSpPr>
          <p:nvPr/>
        </p:nvSpPr>
        <p:spPr bwMode="auto">
          <a:xfrm>
            <a:off x="3886200" y="22860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40</a:t>
            </a:r>
            <a:endParaRPr lang="en-US" altLang="zh-CN"/>
          </a:p>
        </p:txBody>
      </p:sp>
      <p:sp>
        <p:nvSpPr>
          <p:cNvPr id="205833" name="Oval 9"/>
          <p:cNvSpPr>
            <a:spLocks noChangeArrowheads="1"/>
          </p:cNvSpPr>
          <p:nvPr/>
        </p:nvSpPr>
        <p:spPr bwMode="auto">
          <a:xfrm>
            <a:off x="2971800" y="31242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35</a:t>
            </a:r>
            <a:endParaRPr lang="en-US" altLang="zh-CN"/>
          </a:p>
        </p:txBody>
      </p:sp>
      <p:sp>
        <p:nvSpPr>
          <p:cNvPr id="205834" name="Oval 10"/>
          <p:cNvSpPr>
            <a:spLocks noChangeArrowheads="1"/>
          </p:cNvSpPr>
          <p:nvPr/>
        </p:nvSpPr>
        <p:spPr bwMode="auto">
          <a:xfrm>
            <a:off x="7239000" y="39624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88</a:t>
            </a:r>
            <a:endParaRPr lang="en-US" altLang="zh-CN"/>
          </a:p>
        </p:txBody>
      </p:sp>
      <p:sp>
        <p:nvSpPr>
          <p:cNvPr id="205835" name="Line 11"/>
          <p:cNvSpPr>
            <a:spLocks noChangeShapeType="1"/>
          </p:cNvSpPr>
          <p:nvPr/>
        </p:nvSpPr>
        <p:spPr bwMode="auto">
          <a:xfrm flipH="1">
            <a:off x="3352800" y="1371600"/>
            <a:ext cx="8382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36" name="Line 12"/>
          <p:cNvSpPr>
            <a:spLocks noChangeShapeType="1"/>
          </p:cNvSpPr>
          <p:nvPr/>
        </p:nvSpPr>
        <p:spPr bwMode="auto">
          <a:xfrm flipH="1">
            <a:off x="2209800" y="2057400"/>
            <a:ext cx="533400" cy="304800"/>
          </a:xfrm>
          <a:prstGeom prst="line">
            <a:avLst/>
          </a:prstGeom>
          <a:noFill/>
          <a:ln w="38100">
            <a:solidFill>
              <a:srgbClr val="66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37" name="Line 13"/>
          <p:cNvSpPr>
            <a:spLocks noChangeShapeType="1"/>
          </p:cNvSpPr>
          <p:nvPr/>
        </p:nvSpPr>
        <p:spPr bwMode="auto">
          <a:xfrm>
            <a:off x="4876800" y="1371600"/>
            <a:ext cx="7620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38" name="Line 14"/>
          <p:cNvSpPr>
            <a:spLocks noChangeShapeType="1"/>
          </p:cNvSpPr>
          <p:nvPr/>
        </p:nvSpPr>
        <p:spPr bwMode="auto">
          <a:xfrm>
            <a:off x="3352800" y="1981200"/>
            <a:ext cx="6096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39" name="Line 15"/>
          <p:cNvSpPr>
            <a:spLocks noChangeShapeType="1"/>
          </p:cNvSpPr>
          <p:nvPr/>
        </p:nvSpPr>
        <p:spPr bwMode="auto">
          <a:xfrm flipH="1">
            <a:off x="3429000" y="2743200"/>
            <a:ext cx="5334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40" name="Line 16"/>
          <p:cNvSpPr>
            <a:spLocks noChangeShapeType="1"/>
          </p:cNvSpPr>
          <p:nvPr/>
        </p:nvSpPr>
        <p:spPr bwMode="auto">
          <a:xfrm>
            <a:off x="6248400" y="2057400"/>
            <a:ext cx="609600" cy="3048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41" name="Line 17"/>
          <p:cNvSpPr>
            <a:spLocks noChangeShapeType="1"/>
          </p:cNvSpPr>
          <p:nvPr/>
        </p:nvSpPr>
        <p:spPr bwMode="auto">
          <a:xfrm flipH="1">
            <a:off x="6400800" y="2743200"/>
            <a:ext cx="6096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42" name="Line 18"/>
          <p:cNvSpPr>
            <a:spLocks noChangeShapeType="1"/>
          </p:cNvSpPr>
          <p:nvPr/>
        </p:nvSpPr>
        <p:spPr bwMode="auto">
          <a:xfrm>
            <a:off x="6553200" y="3581400"/>
            <a:ext cx="762000" cy="4572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43" name="Oval 19"/>
          <p:cNvSpPr>
            <a:spLocks noChangeArrowheads="1"/>
          </p:cNvSpPr>
          <p:nvPr/>
        </p:nvSpPr>
        <p:spPr bwMode="auto">
          <a:xfrm>
            <a:off x="1981200" y="39624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32</a:t>
            </a:r>
            <a:endParaRPr lang="en-US" altLang="zh-CN"/>
          </a:p>
        </p:txBody>
      </p:sp>
      <p:sp>
        <p:nvSpPr>
          <p:cNvPr id="205844" name="Line 20"/>
          <p:cNvSpPr>
            <a:spLocks noChangeShapeType="1"/>
          </p:cNvSpPr>
          <p:nvPr/>
        </p:nvSpPr>
        <p:spPr bwMode="auto">
          <a:xfrm flipH="1">
            <a:off x="2438400" y="3505200"/>
            <a:ext cx="609600" cy="4572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47" name="Text Box 23"/>
          <p:cNvSpPr txBox="1">
            <a:spLocks noChangeArrowheads="1"/>
          </p:cNvSpPr>
          <p:nvPr/>
        </p:nvSpPr>
        <p:spPr bwMode="auto">
          <a:xfrm>
            <a:off x="457200" y="152400"/>
            <a:ext cx="14970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CC3300"/>
                </a:solidFill>
                <a:ea typeface="隶书" charset="0"/>
              </a:rPr>
              <a:t>例如</a:t>
            </a:r>
            <a:r>
              <a:rPr lang="en-US" altLang="zh-CN" sz="4400" b="1">
                <a:solidFill>
                  <a:srgbClr val="CC3300"/>
                </a:solidFill>
                <a:ea typeface="隶书" charset="0"/>
              </a:rPr>
              <a:t>:</a:t>
            </a:r>
            <a:endParaRPr lang="en-US" altLang="zh-CN"/>
          </a:p>
        </p:txBody>
      </p:sp>
      <p:sp>
        <p:nvSpPr>
          <p:cNvPr id="205848" name="Text Box 24"/>
          <p:cNvSpPr txBox="1">
            <a:spLocks noChangeArrowheads="1"/>
          </p:cNvSpPr>
          <p:nvPr/>
        </p:nvSpPr>
        <p:spPr bwMode="auto">
          <a:xfrm>
            <a:off x="2008188" y="220663"/>
            <a:ext cx="2486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CC3300"/>
                </a:solidFill>
                <a:ea typeface="隶书" charset="0"/>
              </a:rPr>
              <a:t>二叉排序树</a:t>
            </a:r>
            <a:endParaRPr lang="zh-CN" altLang="en-US"/>
          </a:p>
        </p:txBody>
      </p:sp>
      <p:sp>
        <p:nvSpPr>
          <p:cNvPr id="205850" name="Freeform 26"/>
          <p:cNvSpPr>
            <a:spLocks/>
          </p:cNvSpPr>
          <p:nvPr/>
        </p:nvSpPr>
        <p:spPr bwMode="auto">
          <a:xfrm>
            <a:off x="4495800" y="304800"/>
            <a:ext cx="1066800" cy="762000"/>
          </a:xfrm>
          <a:custGeom>
            <a:avLst/>
            <a:gdLst>
              <a:gd name="T0" fmla="*/ 672 w 672"/>
              <a:gd name="T1" fmla="*/ 0 h 480"/>
              <a:gd name="T2" fmla="*/ 192 w 672"/>
              <a:gd name="T3" fmla="*/ 240 h 480"/>
              <a:gd name="T4" fmla="*/ 480 w 672"/>
              <a:gd name="T5" fmla="*/ 240 h 480"/>
              <a:gd name="T6" fmla="*/ 0 w 672"/>
              <a:gd name="T7" fmla="*/ 480 h 480"/>
            </a:gdLst>
            <a:ahLst/>
            <a:cxnLst>
              <a:cxn ang="0">
                <a:pos x="T0" y="T1"/>
              </a:cxn>
              <a:cxn ang="0">
                <a:pos x="T2" y="T3"/>
              </a:cxn>
              <a:cxn ang="0">
                <a:pos x="T4" y="T5"/>
              </a:cxn>
              <a:cxn ang="0">
                <a:pos x="T6" y="T7"/>
              </a:cxn>
            </a:cxnLst>
            <a:rect l="0" t="0" r="r" b="b"/>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a:solidFill>
              <a:srgbClr val="FF00FF"/>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51" name="Text Box 27"/>
          <p:cNvSpPr txBox="1">
            <a:spLocks noChangeArrowheads="1"/>
          </p:cNvSpPr>
          <p:nvPr/>
        </p:nvSpPr>
        <p:spPr bwMode="auto">
          <a:xfrm>
            <a:off x="762000" y="4876800"/>
            <a:ext cx="2486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CC3300"/>
                </a:solidFill>
                <a:ea typeface="隶书" charset="0"/>
              </a:rPr>
              <a:t>查找关键字</a:t>
            </a:r>
            <a:endParaRPr lang="zh-CN" altLang="en-US"/>
          </a:p>
        </p:txBody>
      </p:sp>
      <p:sp>
        <p:nvSpPr>
          <p:cNvPr id="205852" name="Text Box 28"/>
          <p:cNvSpPr txBox="1">
            <a:spLocks noChangeArrowheads="1"/>
          </p:cNvSpPr>
          <p:nvPr/>
        </p:nvSpPr>
        <p:spPr bwMode="auto">
          <a:xfrm>
            <a:off x="1447800" y="5667375"/>
            <a:ext cx="1504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CC3300"/>
                </a:solidFill>
                <a:ea typeface="隶书" charset="0"/>
              </a:rPr>
              <a:t>== 50 ,</a:t>
            </a:r>
            <a:endParaRPr lang="en-US" altLang="zh-CN"/>
          </a:p>
        </p:txBody>
      </p:sp>
      <p:sp>
        <p:nvSpPr>
          <p:cNvPr id="205853" name="Oval 29"/>
          <p:cNvSpPr>
            <a:spLocks noChangeArrowheads="1"/>
          </p:cNvSpPr>
          <p:nvPr/>
        </p:nvSpPr>
        <p:spPr bwMode="auto">
          <a:xfrm>
            <a:off x="4191000" y="1066800"/>
            <a:ext cx="685800" cy="533400"/>
          </a:xfrm>
          <a:prstGeom prst="ellipse">
            <a:avLst/>
          </a:prstGeom>
          <a:solidFill>
            <a:srgbClr val="FFFFCC"/>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rgbClr val="990033"/>
                </a:solidFill>
              </a:rPr>
              <a:t>50</a:t>
            </a:r>
            <a:endParaRPr lang="en-US" altLang="zh-CN"/>
          </a:p>
        </p:txBody>
      </p:sp>
      <p:sp useBgFill="1">
        <p:nvSpPr>
          <p:cNvPr id="205854" name="Oval 30"/>
          <p:cNvSpPr>
            <a:spLocks noChangeArrowheads="1"/>
          </p:cNvSpPr>
          <p:nvPr/>
        </p:nvSpPr>
        <p:spPr bwMode="auto">
          <a:xfrm>
            <a:off x="4191000" y="1066800"/>
            <a:ext cx="685800" cy="533400"/>
          </a:xfrm>
          <a:prstGeom prst="ellipse">
            <a:avLst/>
          </a:prstGeom>
          <a:ln w="25400" cap="sq">
            <a:solidFill>
              <a:srgbClr val="8000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50</a:t>
            </a:r>
            <a:endParaRPr lang="en-US" altLang="zh-CN"/>
          </a:p>
        </p:txBody>
      </p:sp>
      <p:sp>
        <p:nvSpPr>
          <p:cNvPr id="205855" name="Text Box 31"/>
          <p:cNvSpPr txBox="1">
            <a:spLocks noChangeArrowheads="1"/>
          </p:cNvSpPr>
          <p:nvPr/>
        </p:nvSpPr>
        <p:spPr bwMode="auto">
          <a:xfrm>
            <a:off x="2955925" y="5683250"/>
            <a:ext cx="869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3333FF"/>
                </a:solidFill>
              </a:rPr>
              <a:t>35 ,</a:t>
            </a:r>
            <a:endParaRPr lang="en-US" altLang="zh-CN" sz="3600"/>
          </a:p>
        </p:txBody>
      </p:sp>
      <p:sp>
        <p:nvSpPr>
          <p:cNvPr id="205856" name="Oval 32"/>
          <p:cNvSpPr>
            <a:spLocks noChangeArrowheads="1"/>
          </p:cNvSpPr>
          <p:nvPr/>
        </p:nvSpPr>
        <p:spPr bwMode="auto">
          <a:xfrm>
            <a:off x="4191000" y="1066800"/>
            <a:ext cx="685800" cy="533400"/>
          </a:xfrm>
          <a:prstGeom prst="ellipse">
            <a:avLst/>
          </a:prstGeom>
          <a:solidFill>
            <a:srgbClr val="CCFFFF"/>
          </a:solidFill>
          <a:ln w="19050" cap="sq">
            <a:solidFill>
              <a:schemeClr val="accent2"/>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50</a:t>
            </a:r>
            <a:endParaRPr lang="en-US" altLang="zh-CN"/>
          </a:p>
        </p:txBody>
      </p:sp>
      <p:sp>
        <p:nvSpPr>
          <p:cNvPr id="205859" name="Line 35"/>
          <p:cNvSpPr>
            <a:spLocks noChangeShapeType="1"/>
          </p:cNvSpPr>
          <p:nvPr/>
        </p:nvSpPr>
        <p:spPr bwMode="auto">
          <a:xfrm flipH="1">
            <a:off x="3429000" y="1524000"/>
            <a:ext cx="838200" cy="38100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60" name="Line 36"/>
          <p:cNvSpPr>
            <a:spLocks noChangeShapeType="1"/>
          </p:cNvSpPr>
          <p:nvPr/>
        </p:nvSpPr>
        <p:spPr bwMode="auto">
          <a:xfrm>
            <a:off x="3276600" y="2057400"/>
            <a:ext cx="609600" cy="38100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61" name="Line 37"/>
          <p:cNvSpPr>
            <a:spLocks noChangeShapeType="1"/>
          </p:cNvSpPr>
          <p:nvPr/>
        </p:nvSpPr>
        <p:spPr bwMode="auto">
          <a:xfrm flipH="1">
            <a:off x="3505200" y="2819400"/>
            <a:ext cx="533400" cy="38100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62" name="Oval 38"/>
          <p:cNvSpPr>
            <a:spLocks noChangeArrowheads="1"/>
          </p:cNvSpPr>
          <p:nvPr/>
        </p:nvSpPr>
        <p:spPr bwMode="auto">
          <a:xfrm>
            <a:off x="2743200" y="1600200"/>
            <a:ext cx="685800" cy="533400"/>
          </a:xfrm>
          <a:prstGeom prst="ellipse">
            <a:avLst/>
          </a:prstGeom>
          <a:solidFill>
            <a:srgbClr val="CCFFFF"/>
          </a:solidFill>
          <a:ln w="25400" cap="sq">
            <a:solidFill>
              <a:schemeClr val="accent2"/>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30</a:t>
            </a:r>
            <a:endParaRPr lang="en-US" altLang="zh-CN"/>
          </a:p>
        </p:txBody>
      </p:sp>
      <p:sp>
        <p:nvSpPr>
          <p:cNvPr id="205863" name="Oval 39"/>
          <p:cNvSpPr>
            <a:spLocks noChangeArrowheads="1"/>
          </p:cNvSpPr>
          <p:nvPr/>
        </p:nvSpPr>
        <p:spPr bwMode="auto">
          <a:xfrm>
            <a:off x="3886200" y="2286000"/>
            <a:ext cx="685800" cy="533400"/>
          </a:xfrm>
          <a:prstGeom prst="ellipse">
            <a:avLst/>
          </a:prstGeom>
          <a:solidFill>
            <a:srgbClr val="CCFFFF"/>
          </a:solidFill>
          <a:ln w="25400" cap="sq">
            <a:solidFill>
              <a:schemeClr val="accent2"/>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40</a:t>
            </a:r>
            <a:endParaRPr lang="en-US" altLang="zh-CN"/>
          </a:p>
        </p:txBody>
      </p:sp>
      <p:sp>
        <p:nvSpPr>
          <p:cNvPr id="205864" name="Oval 40"/>
          <p:cNvSpPr>
            <a:spLocks noChangeArrowheads="1"/>
          </p:cNvSpPr>
          <p:nvPr/>
        </p:nvSpPr>
        <p:spPr bwMode="auto">
          <a:xfrm>
            <a:off x="2971800" y="3124200"/>
            <a:ext cx="685800" cy="533400"/>
          </a:xfrm>
          <a:prstGeom prst="ellipse">
            <a:avLst/>
          </a:prstGeom>
          <a:solidFill>
            <a:srgbClr val="CCFFFF"/>
          </a:solidFill>
          <a:ln w="25400" cap="sq">
            <a:solidFill>
              <a:schemeClr val="accent2"/>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rgbClr val="3333FF"/>
                </a:solidFill>
              </a:rPr>
              <a:t>35</a:t>
            </a:r>
            <a:endParaRPr lang="en-US" altLang="zh-CN"/>
          </a:p>
        </p:txBody>
      </p:sp>
      <p:sp useBgFill="1">
        <p:nvSpPr>
          <p:cNvPr id="205865" name="Oval 41"/>
          <p:cNvSpPr>
            <a:spLocks noChangeArrowheads="1"/>
          </p:cNvSpPr>
          <p:nvPr/>
        </p:nvSpPr>
        <p:spPr bwMode="auto">
          <a:xfrm>
            <a:off x="4191000" y="1066800"/>
            <a:ext cx="685800" cy="533400"/>
          </a:xfrm>
          <a:prstGeom prst="ellipse">
            <a:avLst/>
          </a:prstGeom>
          <a:ln w="25400" cap="sq">
            <a:solidFill>
              <a:srgbClr val="8000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50</a:t>
            </a:r>
            <a:endParaRPr lang="en-US" altLang="zh-CN"/>
          </a:p>
        </p:txBody>
      </p:sp>
      <p:sp>
        <p:nvSpPr>
          <p:cNvPr id="205866" name="Text Box 42"/>
          <p:cNvSpPr txBox="1">
            <a:spLocks noChangeArrowheads="1"/>
          </p:cNvSpPr>
          <p:nvPr/>
        </p:nvSpPr>
        <p:spPr bwMode="auto">
          <a:xfrm>
            <a:off x="3870325" y="5683250"/>
            <a:ext cx="869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006600"/>
                </a:solidFill>
              </a:rPr>
              <a:t>90 ,</a:t>
            </a:r>
            <a:endParaRPr lang="en-US" altLang="zh-CN" sz="3600"/>
          </a:p>
        </p:txBody>
      </p:sp>
      <p:sp>
        <p:nvSpPr>
          <p:cNvPr id="205867" name="Line 43"/>
          <p:cNvSpPr>
            <a:spLocks noChangeShapeType="1"/>
          </p:cNvSpPr>
          <p:nvPr/>
        </p:nvSpPr>
        <p:spPr bwMode="auto">
          <a:xfrm>
            <a:off x="4876800" y="1219200"/>
            <a:ext cx="914400" cy="457200"/>
          </a:xfrm>
          <a:prstGeom prst="line">
            <a:avLst/>
          </a:prstGeom>
          <a:noFill/>
          <a:ln w="38100">
            <a:solidFill>
              <a:srgbClr val="0066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68" name="Line 44"/>
          <p:cNvSpPr>
            <a:spLocks noChangeShapeType="1"/>
          </p:cNvSpPr>
          <p:nvPr/>
        </p:nvSpPr>
        <p:spPr bwMode="auto">
          <a:xfrm>
            <a:off x="6324600" y="1905000"/>
            <a:ext cx="685800" cy="381000"/>
          </a:xfrm>
          <a:prstGeom prst="line">
            <a:avLst/>
          </a:prstGeom>
          <a:noFill/>
          <a:ln w="38100">
            <a:solidFill>
              <a:srgbClr val="0066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69" name="Oval 45"/>
          <p:cNvSpPr>
            <a:spLocks noChangeArrowheads="1"/>
          </p:cNvSpPr>
          <p:nvPr/>
        </p:nvSpPr>
        <p:spPr bwMode="auto">
          <a:xfrm>
            <a:off x="4191000" y="1066800"/>
            <a:ext cx="685800" cy="533400"/>
          </a:xfrm>
          <a:prstGeom prst="ellipse">
            <a:avLst/>
          </a:prstGeom>
          <a:solidFill>
            <a:srgbClr val="CCFFCC"/>
          </a:solidFill>
          <a:ln w="25400" cap="sq">
            <a:solidFill>
              <a:srgbClr val="00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A50021"/>
                </a:solidFill>
              </a:rPr>
              <a:t>50</a:t>
            </a:r>
            <a:endParaRPr lang="en-US" altLang="zh-CN"/>
          </a:p>
        </p:txBody>
      </p:sp>
      <p:sp>
        <p:nvSpPr>
          <p:cNvPr id="205870" name="Oval 46"/>
          <p:cNvSpPr>
            <a:spLocks noChangeArrowheads="1"/>
          </p:cNvSpPr>
          <p:nvPr/>
        </p:nvSpPr>
        <p:spPr bwMode="auto">
          <a:xfrm>
            <a:off x="5638800" y="1600200"/>
            <a:ext cx="685800" cy="533400"/>
          </a:xfrm>
          <a:prstGeom prst="ellipse">
            <a:avLst/>
          </a:prstGeom>
          <a:solidFill>
            <a:srgbClr val="CCFFCC"/>
          </a:solidFill>
          <a:ln w="25400" cap="sq">
            <a:solidFill>
              <a:srgbClr val="00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A50021"/>
                </a:solidFill>
              </a:rPr>
              <a:t>80</a:t>
            </a:r>
            <a:endParaRPr lang="en-US" altLang="zh-CN"/>
          </a:p>
        </p:txBody>
      </p:sp>
      <p:sp>
        <p:nvSpPr>
          <p:cNvPr id="205871" name="Oval 47"/>
          <p:cNvSpPr>
            <a:spLocks noChangeArrowheads="1"/>
          </p:cNvSpPr>
          <p:nvPr/>
        </p:nvSpPr>
        <p:spPr bwMode="auto">
          <a:xfrm>
            <a:off x="6781800" y="2286000"/>
            <a:ext cx="685800" cy="533400"/>
          </a:xfrm>
          <a:prstGeom prst="ellipse">
            <a:avLst/>
          </a:prstGeom>
          <a:solidFill>
            <a:srgbClr val="CCFFCC"/>
          </a:solidFill>
          <a:ln w="25400" cap="sq">
            <a:solidFill>
              <a:srgbClr val="00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rgbClr val="006600"/>
                </a:solidFill>
              </a:rPr>
              <a:t>90</a:t>
            </a:r>
            <a:endParaRPr lang="en-US" altLang="zh-CN"/>
          </a:p>
        </p:txBody>
      </p:sp>
      <p:sp>
        <p:nvSpPr>
          <p:cNvPr id="205872" name="Text Box 48"/>
          <p:cNvSpPr txBox="1">
            <a:spLocks noChangeArrowheads="1"/>
          </p:cNvSpPr>
          <p:nvPr/>
        </p:nvSpPr>
        <p:spPr bwMode="auto">
          <a:xfrm>
            <a:off x="4768850" y="5683250"/>
            <a:ext cx="869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FF00FF"/>
                </a:solidFill>
              </a:rPr>
              <a:t>95 ,</a:t>
            </a:r>
            <a:endParaRPr lang="en-US" altLang="zh-CN" sz="3600"/>
          </a:p>
        </p:txBody>
      </p:sp>
      <p:sp>
        <p:nvSpPr>
          <p:cNvPr id="205873" name="Line 49"/>
          <p:cNvSpPr>
            <a:spLocks noChangeShapeType="1"/>
          </p:cNvSpPr>
          <p:nvPr/>
        </p:nvSpPr>
        <p:spPr bwMode="auto">
          <a:xfrm>
            <a:off x="7467600" y="2514600"/>
            <a:ext cx="685800" cy="381000"/>
          </a:xfrm>
          <a:prstGeom prst="line">
            <a:avLst/>
          </a:prstGeom>
          <a:noFill/>
          <a:ln w="381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81011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205847"/>
                                        </p:tgtEl>
                                        <p:attrNameLst>
                                          <p:attrName>style.visibility</p:attrName>
                                        </p:attrNameLst>
                                      </p:cBhvr>
                                      <p:to>
                                        <p:strVal val="visible"/>
                                      </p:to>
                                    </p:set>
                                    <p:anim calcmode="lin" valueType="num">
                                      <p:cBhvr additive="base">
                                        <p:cTn id="7" dur="500" fill="hold"/>
                                        <p:tgtEl>
                                          <p:spTgt spid="205847"/>
                                        </p:tgtEl>
                                        <p:attrNameLst>
                                          <p:attrName>ppt_x</p:attrName>
                                        </p:attrNameLst>
                                      </p:cBhvr>
                                      <p:tavLst>
                                        <p:tav tm="0">
                                          <p:val>
                                            <p:strVal val="0-#ppt_w/2"/>
                                          </p:val>
                                        </p:tav>
                                        <p:tav tm="100000">
                                          <p:val>
                                            <p:strVal val="#ppt_x"/>
                                          </p:val>
                                        </p:tav>
                                      </p:tavLst>
                                    </p:anim>
                                    <p:anim calcmode="lin" valueType="num">
                                      <p:cBhvr additive="base">
                                        <p:cTn id="8" dur="500" fill="hold"/>
                                        <p:tgtEl>
                                          <p:spTgt spid="205847"/>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3" fill="hold" grpId="0" nodeType="clickEffect">
                                  <p:stCondLst>
                                    <p:cond delay="0"/>
                                  </p:stCondLst>
                                  <p:childTnLst>
                                    <p:set>
                                      <p:cBhvr>
                                        <p:cTn id="12" dur="1" fill="hold">
                                          <p:stCondLst>
                                            <p:cond delay="0"/>
                                          </p:stCondLst>
                                        </p:cTn>
                                        <p:tgtEl>
                                          <p:spTgt spid="205848"/>
                                        </p:tgtEl>
                                        <p:attrNameLst>
                                          <p:attrName>style.visibility</p:attrName>
                                        </p:attrNameLst>
                                      </p:cBhvr>
                                      <p:to>
                                        <p:strVal val="visible"/>
                                      </p:to>
                                    </p:set>
                                    <p:anim calcmode="lin" valueType="num">
                                      <p:cBhvr additive="base">
                                        <p:cTn id="13" dur="500" fill="hold"/>
                                        <p:tgtEl>
                                          <p:spTgt spid="205848"/>
                                        </p:tgtEl>
                                        <p:attrNameLst>
                                          <p:attrName>ppt_x</p:attrName>
                                        </p:attrNameLst>
                                      </p:cBhvr>
                                      <p:tavLst>
                                        <p:tav tm="0">
                                          <p:val>
                                            <p:strVal val="1+#ppt_w/2"/>
                                          </p:val>
                                        </p:tav>
                                        <p:tav tm="100000">
                                          <p:val>
                                            <p:strVal val="#ppt_x"/>
                                          </p:val>
                                        </p:tav>
                                      </p:tavLst>
                                    </p:anim>
                                    <p:anim calcmode="lin" valueType="num">
                                      <p:cBhvr additive="base">
                                        <p:cTn id="14" dur="500" fill="hold"/>
                                        <p:tgtEl>
                                          <p:spTgt spid="205848"/>
                                        </p:tgtEl>
                                        <p:attrNameLst>
                                          <p:attrName>ppt_y</p:attrName>
                                        </p:attrNameLst>
                                      </p:cBhvr>
                                      <p:tavLst>
                                        <p:tav tm="0">
                                          <p:val>
                                            <p:strVal val="0-#ppt_h/2"/>
                                          </p:val>
                                        </p:tav>
                                        <p:tav tm="100000">
                                          <p:val>
                                            <p:strVal val="#ppt_y"/>
                                          </p:val>
                                        </p:tav>
                                      </p:tavLst>
                                    </p:anim>
                                  </p:childTnLst>
                                </p:cTn>
                              </p:par>
                            </p:childTnLst>
                          </p:cTn>
                        </p:par>
                        <p:par>
                          <p:cTn id="15" fill="hold" nodeType="afterGroup">
                            <p:stCondLst>
                              <p:cond delay="500"/>
                            </p:stCondLst>
                            <p:childTnLst>
                              <p:par>
                                <p:cTn id="16" presetID="12" presetClass="entr" presetSubtype="1" fill="hold" grpId="0" nodeType="afterEffect">
                                  <p:stCondLst>
                                    <p:cond delay="0"/>
                                  </p:stCondLst>
                                  <p:childTnLst>
                                    <p:set>
                                      <p:cBhvr>
                                        <p:cTn id="17" dur="1" fill="hold">
                                          <p:stCondLst>
                                            <p:cond delay="0"/>
                                          </p:stCondLst>
                                        </p:cTn>
                                        <p:tgtEl>
                                          <p:spTgt spid="205826"/>
                                        </p:tgtEl>
                                        <p:attrNameLst>
                                          <p:attrName>style.visibility</p:attrName>
                                        </p:attrNameLst>
                                      </p:cBhvr>
                                      <p:to>
                                        <p:strVal val="visible"/>
                                      </p:to>
                                    </p:set>
                                    <p:animEffect transition="in" filter="slide(fromTop)">
                                      <p:cBhvr>
                                        <p:cTn id="18" dur="500"/>
                                        <p:tgtEl>
                                          <p:spTgt spid="205826"/>
                                        </p:tgtEl>
                                      </p:cBhvr>
                                    </p:animEffect>
                                  </p:childTnLst>
                                </p:cTn>
                              </p:par>
                            </p:childTnLst>
                          </p:cTn>
                        </p:par>
                        <p:par>
                          <p:cTn id="19" fill="hold" nodeType="afterGroup">
                            <p:stCondLst>
                              <p:cond delay="1000"/>
                            </p:stCondLst>
                            <p:childTnLst>
                              <p:par>
                                <p:cTn id="20" presetID="1" presetClass="entr" presetSubtype="0" fill="hold" grpId="0" nodeType="afterEffect">
                                  <p:stCondLst>
                                    <p:cond delay="0"/>
                                  </p:stCondLst>
                                  <p:childTnLst>
                                    <p:set>
                                      <p:cBhvr>
                                        <p:cTn id="21" dur="1" fill="hold">
                                          <p:stCondLst>
                                            <p:cond delay="499"/>
                                          </p:stCondLst>
                                        </p:cTn>
                                        <p:tgtEl>
                                          <p:spTgt spid="205827"/>
                                        </p:tgtEl>
                                        <p:attrNameLst>
                                          <p:attrName>style.visibility</p:attrName>
                                        </p:attrNameLst>
                                      </p:cBhvr>
                                      <p:to>
                                        <p:strVal val="visible"/>
                                      </p:to>
                                    </p:set>
                                  </p:childTnLst>
                                </p:cTn>
                              </p:par>
                            </p:childTnLst>
                          </p:cTn>
                        </p:par>
                        <p:par>
                          <p:cTn id="22" fill="hold" nodeType="afterGroup">
                            <p:stCondLst>
                              <p:cond delay="1500"/>
                            </p:stCondLst>
                            <p:childTnLst>
                              <p:par>
                                <p:cTn id="23" presetID="1" presetClass="entr" presetSubtype="0" fill="hold" grpId="0" nodeType="afterEffect">
                                  <p:stCondLst>
                                    <p:cond delay="0"/>
                                  </p:stCondLst>
                                  <p:childTnLst>
                                    <p:set>
                                      <p:cBhvr>
                                        <p:cTn id="24" dur="1" fill="hold">
                                          <p:stCondLst>
                                            <p:cond delay="499"/>
                                          </p:stCondLst>
                                        </p:cTn>
                                        <p:tgtEl>
                                          <p:spTgt spid="205828"/>
                                        </p:tgtEl>
                                        <p:attrNameLst>
                                          <p:attrName>style.visibility</p:attrName>
                                        </p:attrNameLst>
                                      </p:cBhvr>
                                      <p:to>
                                        <p:strVal val="visible"/>
                                      </p:to>
                                    </p:set>
                                  </p:childTnLst>
                                </p:cTn>
                              </p:par>
                            </p:childTnLst>
                          </p:cTn>
                        </p:par>
                        <p:par>
                          <p:cTn id="25" fill="hold" nodeType="afterGroup">
                            <p:stCondLst>
                              <p:cond delay="2000"/>
                            </p:stCondLst>
                            <p:childTnLst>
                              <p:par>
                                <p:cTn id="26" presetID="1" presetClass="entr" presetSubtype="0" fill="hold" grpId="0" nodeType="afterEffect">
                                  <p:stCondLst>
                                    <p:cond delay="0"/>
                                  </p:stCondLst>
                                  <p:childTnLst>
                                    <p:set>
                                      <p:cBhvr>
                                        <p:cTn id="27" dur="1" fill="hold">
                                          <p:stCondLst>
                                            <p:cond delay="499"/>
                                          </p:stCondLst>
                                        </p:cTn>
                                        <p:tgtEl>
                                          <p:spTgt spid="205829"/>
                                        </p:tgtEl>
                                        <p:attrNameLst>
                                          <p:attrName>style.visibility</p:attrName>
                                        </p:attrNameLst>
                                      </p:cBhvr>
                                      <p:to>
                                        <p:strVal val="visible"/>
                                      </p:to>
                                    </p:set>
                                  </p:childTnLst>
                                </p:cTn>
                              </p:par>
                            </p:childTnLst>
                          </p:cTn>
                        </p:par>
                        <p:par>
                          <p:cTn id="28" fill="hold" nodeType="afterGroup">
                            <p:stCondLst>
                              <p:cond delay="2500"/>
                            </p:stCondLst>
                            <p:childTnLst>
                              <p:par>
                                <p:cTn id="29" presetID="1" presetClass="entr" presetSubtype="0" fill="hold" grpId="0" nodeType="afterEffect">
                                  <p:stCondLst>
                                    <p:cond delay="0"/>
                                  </p:stCondLst>
                                  <p:childTnLst>
                                    <p:set>
                                      <p:cBhvr>
                                        <p:cTn id="30" dur="1" fill="hold">
                                          <p:stCondLst>
                                            <p:cond delay="499"/>
                                          </p:stCondLst>
                                        </p:cTn>
                                        <p:tgtEl>
                                          <p:spTgt spid="205830"/>
                                        </p:tgtEl>
                                        <p:attrNameLst>
                                          <p:attrName>style.visibility</p:attrName>
                                        </p:attrNameLst>
                                      </p:cBhvr>
                                      <p:to>
                                        <p:strVal val="visible"/>
                                      </p:to>
                                    </p:set>
                                  </p:childTnLst>
                                </p:cTn>
                              </p:par>
                            </p:childTnLst>
                          </p:cTn>
                        </p:par>
                        <p:par>
                          <p:cTn id="31" fill="hold" nodeType="afterGroup">
                            <p:stCondLst>
                              <p:cond delay="3000"/>
                            </p:stCondLst>
                            <p:childTnLst>
                              <p:par>
                                <p:cTn id="32" presetID="1" presetClass="entr" presetSubtype="0" fill="hold" grpId="0" nodeType="afterEffect">
                                  <p:stCondLst>
                                    <p:cond delay="0"/>
                                  </p:stCondLst>
                                  <p:childTnLst>
                                    <p:set>
                                      <p:cBhvr>
                                        <p:cTn id="33" dur="1" fill="hold">
                                          <p:stCondLst>
                                            <p:cond delay="499"/>
                                          </p:stCondLst>
                                        </p:cTn>
                                        <p:tgtEl>
                                          <p:spTgt spid="205831"/>
                                        </p:tgtEl>
                                        <p:attrNameLst>
                                          <p:attrName>style.visibility</p:attrName>
                                        </p:attrNameLst>
                                      </p:cBhvr>
                                      <p:to>
                                        <p:strVal val="visible"/>
                                      </p:to>
                                    </p:set>
                                  </p:childTnLst>
                                </p:cTn>
                              </p:par>
                            </p:childTnLst>
                          </p:cTn>
                        </p:par>
                        <p:par>
                          <p:cTn id="34" fill="hold" nodeType="afterGroup">
                            <p:stCondLst>
                              <p:cond delay="3500"/>
                            </p:stCondLst>
                            <p:childTnLst>
                              <p:par>
                                <p:cTn id="35" presetID="1" presetClass="entr" presetSubtype="0" fill="hold" grpId="0" nodeType="afterEffect">
                                  <p:stCondLst>
                                    <p:cond delay="0"/>
                                  </p:stCondLst>
                                  <p:childTnLst>
                                    <p:set>
                                      <p:cBhvr>
                                        <p:cTn id="36" dur="1" fill="hold">
                                          <p:stCondLst>
                                            <p:cond delay="499"/>
                                          </p:stCondLst>
                                        </p:cTn>
                                        <p:tgtEl>
                                          <p:spTgt spid="205832"/>
                                        </p:tgtEl>
                                        <p:attrNameLst>
                                          <p:attrName>style.visibility</p:attrName>
                                        </p:attrNameLst>
                                      </p:cBhvr>
                                      <p:to>
                                        <p:strVal val="visible"/>
                                      </p:to>
                                    </p:set>
                                  </p:childTnLst>
                                </p:cTn>
                              </p:par>
                            </p:childTnLst>
                          </p:cTn>
                        </p:par>
                        <p:par>
                          <p:cTn id="37" fill="hold" nodeType="afterGroup">
                            <p:stCondLst>
                              <p:cond delay="4000"/>
                            </p:stCondLst>
                            <p:childTnLst>
                              <p:par>
                                <p:cTn id="38" presetID="1" presetClass="entr" presetSubtype="0" fill="hold" grpId="0" nodeType="afterEffect">
                                  <p:stCondLst>
                                    <p:cond delay="0"/>
                                  </p:stCondLst>
                                  <p:childTnLst>
                                    <p:set>
                                      <p:cBhvr>
                                        <p:cTn id="39" dur="1" fill="hold">
                                          <p:stCondLst>
                                            <p:cond delay="499"/>
                                          </p:stCondLst>
                                        </p:cTn>
                                        <p:tgtEl>
                                          <p:spTgt spid="205833"/>
                                        </p:tgtEl>
                                        <p:attrNameLst>
                                          <p:attrName>style.visibility</p:attrName>
                                        </p:attrNameLst>
                                      </p:cBhvr>
                                      <p:to>
                                        <p:strVal val="visible"/>
                                      </p:to>
                                    </p:set>
                                  </p:childTnLst>
                                </p:cTn>
                              </p:par>
                            </p:childTnLst>
                          </p:cTn>
                        </p:par>
                        <p:par>
                          <p:cTn id="40" fill="hold" nodeType="afterGroup">
                            <p:stCondLst>
                              <p:cond delay="4500"/>
                            </p:stCondLst>
                            <p:childTnLst>
                              <p:par>
                                <p:cTn id="41" presetID="1" presetClass="entr" presetSubtype="0" fill="hold" grpId="0" nodeType="afterEffect">
                                  <p:stCondLst>
                                    <p:cond delay="0"/>
                                  </p:stCondLst>
                                  <p:childTnLst>
                                    <p:set>
                                      <p:cBhvr>
                                        <p:cTn id="42" dur="1" fill="hold">
                                          <p:stCondLst>
                                            <p:cond delay="499"/>
                                          </p:stCondLst>
                                        </p:cTn>
                                        <p:tgtEl>
                                          <p:spTgt spid="205843"/>
                                        </p:tgtEl>
                                        <p:attrNameLst>
                                          <p:attrName>style.visibility</p:attrName>
                                        </p:attrNameLst>
                                      </p:cBhvr>
                                      <p:to>
                                        <p:strVal val="visible"/>
                                      </p:to>
                                    </p:set>
                                  </p:childTnLst>
                                </p:cTn>
                              </p:par>
                            </p:childTnLst>
                          </p:cTn>
                        </p:par>
                        <p:par>
                          <p:cTn id="43" fill="hold" nodeType="afterGroup">
                            <p:stCondLst>
                              <p:cond delay="5000"/>
                            </p:stCondLst>
                            <p:childTnLst>
                              <p:par>
                                <p:cTn id="44" presetID="1" presetClass="entr" presetSubtype="0" fill="hold" grpId="0" nodeType="afterEffect">
                                  <p:stCondLst>
                                    <p:cond delay="0"/>
                                  </p:stCondLst>
                                  <p:childTnLst>
                                    <p:set>
                                      <p:cBhvr>
                                        <p:cTn id="45" dur="1" fill="hold">
                                          <p:stCondLst>
                                            <p:cond delay="499"/>
                                          </p:stCondLst>
                                        </p:cTn>
                                        <p:tgtEl>
                                          <p:spTgt spid="205834"/>
                                        </p:tgtEl>
                                        <p:attrNameLst>
                                          <p:attrName>style.visibility</p:attrName>
                                        </p:attrNameLst>
                                      </p:cBhvr>
                                      <p:to>
                                        <p:strVal val="visible"/>
                                      </p:to>
                                    </p:set>
                                  </p:childTnLst>
                                </p:cTn>
                              </p:par>
                            </p:childTnLst>
                          </p:cTn>
                        </p:par>
                        <p:par>
                          <p:cTn id="46" fill="hold" nodeType="afterGroup">
                            <p:stCondLst>
                              <p:cond delay="5500"/>
                            </p:stCondLst>
                            <p:childTnLst>
                              <p:par>
                                <p:cTn id="47" presetID="1" presetClass="entr" presetSubtype="0" fill="hold" grpId="0" nodeType="afterEffect">
                                  <p:stCondLst>
                                    <p:cond delay="0"/>
                                  </p:stCondLst>
                                  <p:childTnLst>
                                    <p:set>
                                      <p:cBhvr>
                                        <p:cTn id="48" dur="1" fill="hold">
                                          <p:stCondLst>
                                            <p:cond delay="499"/>
                                          </p:stCondLst>
                                        </p:cTn>
                                        <p:tgtEl>
                                          <p:spTgt spid="205835"/>
                                        </p:tgtEl>
                                        <p:attrNameLst>
                                          <p:attrName>style.visibility</p:attrName>
                                        </p:attrNameLst>
                                      </p:cBhvr>
                                      <p:to>
                                        <p:strVal val="visible"/>
                                      </p:to>
                                    </p:set>
                                  </p:childTnLst>
                                </p:cTn>
                              </p:par>
                            </p:childTnLst>
                          </p:cTn>
                        </p:par>
                        <p:par>
                          <p:cTn id="49" fill="hold" nodeType="afterGroup">
                            <p:stCondLst>
                              <p:cond delay="6000"/>
                            </p:stCondLst>
                            <p:childTnLst>
                              <p:par>
                                <p:cTn id="50" presetID="1" presetClass="entr" presetSubtype="0" fill="hold" grpId="0" nodeType="afterEffect">
                                  <p:stCondLst>
                                    <p:cond delay="0"/>
                                  </p:stCondLst>
                                  <p:childTnLst>
                                    <p:set>
                                      <p:cBhvr>
                                        <p:cTn id="51" dur="1" fill="hold">
                                          <p:stCondLst>
                                            <p:cond delay="499"/>
                                          </p:stCondLst>
                                        </p:cTn>
                                        <p:tgtEl>
                                          <p:spTgt spid="205836"/>
                                        </p:tgtEl>
                                        <p:attrNameLst>
                                          <p:attrName>style.visibility</p:attrName>
                                        </p:attrNameLst>
                                      </p:cBhvr>
                                      <p:to>
                                        <p:strVal val="visible"/>
                                      </p:to>
                                    </p:set>
                                  </p:childTnLst>
                                </p:cTn>
                              </p:par>
                            </p:childTnLst>
                          </p:cTn>
                        </p:par>
                        <p:par>
                          <p:cTn id="52" fill="hold" nodeType="afterGroup">
                            <p:stCondLst>
                              <p:cond delay="6500"/>
                            </p:stCondLst>
                            <p:childTnLst>
                              <p:par>
                                <p:cTn id="53" presetID="1" presetClass="entr" presetSubtype="0" fill="hold" grpId="0" nodeType="afterEffect">
                                  <p:stCondLst>
                                    <p:cond delay="0"/>
                                  </p:stCondLst>
                                  <p:childTnLst>
                                    <p:set>
                                      <p:cBhvr>
                                        <p:cTn id="54" dur="1" fill="hold">
                                          <p:stCondLst>
                                            <p:cond delay="499"/>
                                          </p:stCondLst>
                                        </p:cTn>
                                        <p:tgtEl>
                                          <p:spTgt spid="205837"/>
                                        </p:tgtEl>
                                        <p:attrNameLst>
                                          <p:attrName>style.visibility</p:attrName>
                                        </p:attrNameLst>
                                      </p:cBhvr>
                                      <p:to>
                                        <p:strVal val="visible"/>
                                      </p:to>
                                    </p:set>
                                  </p:childTnLst>
                                </p:cTn>
                              </p:par>
                            </p:childTnLst>
                          </p:cTn>
                        </p:par>
                        <p:par>
                          <p:cTn id="55" fill="hold" nodeType="afterGroup">
                            <p:stCondLst>
                              <p:cond delay="7000"/>
                            </p:stCondLst>
                            <p:childTnLst>
                              <p:par>
                                <p:cTn id="56" presetID="1" presetClass="entr" presetSubtype="0" fill="hold" grpId="0" nodeType="afterEffect">
                                  <p:stCondLst>
                                    <p:cond delay="0"/>
                                  </p:stCondLst>
                                  <p:childTnLst>
                                    <p:set>
                                      <p:cBhvr>
                                        <p:cTn id="57" dur="1" fill="hold">
                                          <p:stCondLst>
                                            <p:cond delay="499"/>
                                          </p:stCondLst>
                                        </p:cTn>
                                        <p:tgtEl>
                                          <p:spTgt spid="205838"/>
                                        </p:tgtEl>
                                        <p:attrNameLst>
                                          <p:attrName>style.visibility</p:attrName>
                                        </p:attrNameLst>
                                      </p:cBhvr>
                                      <p:to>
                                        <p:strVal val="visible"/>
                                      </p:to>
                                    </p:set>
                                  </p:childTnLst>
                                </p:cTn>
                              </p:par>
                            </p:childTnLst>
                          </p:cTn>
                        </p:par>
                        <p:par>
                          <p:cTn id="58" fill="hold" nodeType="afterGroup">
                            <p:stCondLst>
                              <p:cond delay="7500"/>
                            </p:stCondLst>
                            <p:childTnLst>
                              <p:par>
                                <p:cTn id="59" presetID="1" presetClass="entr" presetSubtype="0" fill="hold" grpId="0" nodeType="afterEffect">
                                  <p:stCondLst>
                                    <p:cond delay="0"/>
                                  </p:stCondLst>
                                  <p:childTnLst>
                                    <p:set>
                                      <p:cBhvr>
                                        <p:cTn id="60" dur="1" fill="hold">
                                          <p:stCondLst>
                                            <p:cond delay="499"/>
                                          </p:stCondLst>
                                        </p:cTn>
                                        <p:tgtEl>
                                          <p:spTgt spid="205839"/>
                                        </p:tgtEl>
                                        <p:attrNameLst>
                                          <p:attrName>style.visibility</p:attrName>
                                        </p:attrNameLst>
                                      </p:cBhvr>
                                      <p:to>
                                        <p:strVal val="visible"/>
                                      </p:to>
                                    </p:set>
                                  </p:childTnLst>
                                </p:cTn>
                              </p:par>
                            </p:childTnLst>
                          </p:cTn>
                        </p:par>
                        <p:par>
                          <p:cTn id="61" fill="hold" nodeType="afterGroup">
                            <p:stCondLst>
                              <p:cond delay="8000"/>
                            </p:stCondLst>
                            <p:childTnLst>
                              <p:par>
                                <p:cTn id="62" presetID="1" presetClass="entr" presetSubtype="0" fill="hold" grpId="0" nodeType="afterEffect">
                                  <p:stCondLst>
                                    <p:cond delay="0"/>
                                  </p:stCondLst>
                                  <p:childTnLst>
                                    <p:set>
                                      <p:cBhvr>
                                        <p:cTn id="63" dur="1" fill="hold">
                                          <p:stCondLst>
                                            <p:cond delay="499"/>
                                          </p:stCondLst>
                                        </p:cTn>
                                        <p:tgtEl>
                                          <p:spTgt spid="205844"/>
                                        </p:tgtEl>
                                        <p:attrNameLst>
                                          <p:attrName>style.visibility</p:attrName>
                                        </p:attrNameLst>
                                      </p:cBhvr>
                                      <p:to>
                                        <p:strVal val="visible"/>
                                      </p:to>
                                    </p:set>
                                  </p:childTnLst>
                                </p:cTn>
                              </p:par>
                            </p:childTnLst>
                          </p:cTn>
                        </p:par>
                        <p:par>
                          <p:cTn id="64" fill="hold" nodeType="afterGroup">
                            <p:stCondLst>
                              <p:cond delay="8500"/>
                            </p:stCondLst>
                            <p:childTnLst>
                              <p:par>
                                <p:cTn id="65" presetID="1" presetClass="entr" presetSubtype="0" fill="hold" grpId="0" nodeType="afterEffect">
                                  <p:stCondLst>
                                    <p:cond delay="0"/>
                                  </p:stCondLst>
                                  <p:childTnLst>
                                    <p:set>
                                      <p:cBhvr>
                                        <p:cTn id="66" dur="1" fill="hold">
                                          <p:stCondLst>
                                            <p:cond delay="499"/>
                                          </p:stCondLst>
                                        </p:cTn>
                                        <p:tgtEl>
                                          <p:spTgt spid="205840"/>
                                        </p:tgtEl>
                                        <p:attrNameLst>
                                          <p:attrName>style.visibility</p:attrName>
                                        </p:attrNameLst>
                                      </p:cBhvr>
                                      <p:to>
                                        <p:strVal val="visible"/>
                                      </p:to>
                                    </p:set>
                                  </p:childTnLst>
                                </p:cTn>
                              </p:par>
                            </p:childTnLst>
                          </p:cTn>
                        </p:par>
                        <p:par>
                          <p:cTn id="67" fill="hold" nodeType="afterGroup">
                            <p:stCondLst>
                              <p:cond delay="9000"/>
                            </p:stCondLst>
                            <p:childTnLst>
                              <p:par>
                                <p:cTn id="68" presetID="1" presetClass="entr" presetSubtype="0" fill="hold" grpId="0" nodeType="afterEffect">
                                  <p:stCondLst>
                                    <p:cond delay="0"/>
                                  </p:stCondLst>
                                  <p:childTnLst>
                                    <p:set>
                                      <p:cBhvr>
                                        <p:cTn id="69" dur="1" fill="hold">
                                          <p:stCondLst>
                                            <p:cond delay="499"/>
                                          </p:stCondLst>
                                        </p:cTn>
                                        <p:tgtEl>
                                          <p:spTgt spid="205841"/>
                                        </p:tgtEl>
                                        <p:attrNameLst>
                                          <p:attrName>style.visibility</p:attrName>
                                        </p:attrNameLst>
                                      </p:cBhvr>
                                      <p:to>
                                        <p:strVal val="visible"/>
                                      </p:to>
                                    </p:set>
                                  </p:childTnLst>
                                </p:cTn>
                              </p:par>
                            </p:childTnLst>
                          </p:cTn>
                        </p:par>
                        <p:par>
                          <p:cTn id="70" fill="hold" nodeType="afterGroup">
                            <p:stCondLst>
                              <p:cond delay="9500"/>
                            </p:stCondLst>
                            <p:childTnLst>
                              <p:par>
                                <p:cTn id="71" presetID="1" presetClass="entr" presetSubtype="0" fill="hold" grpId="0" nodeType="afterEffect">
                                  <p:stCondLst>
                                    <p:cond delay="0"/>
                                  </p:stCondLst>
                                  <p:childTnLst>
                                    <p:set>
                                      <p:cBhvr>
                                        <p:cTn id="72" dur="1" fill="hold">
                                          <p:stCondLst>
                                            <p:cond delay="499"/>
                                          </p:stCondLst>
                                        </p:cTn>
                                        <p:tgtEl>
                                          <p:spTgt spid="205842"/>
                                        </p:tgtEl>
                                        <p:attrNameLst>
                                          <p:attrName>style.visibility</p:attrName>
                                        </p:attrNameLst>
                                      </p:cBhvr>
                                      <p:to>
                                        <p:strVal val="visible"/>
                                      </p:to>
                                    </p:set>
                                  </p:childTnLst>
                                </p:cTn>
                              </p:par>
                            </p:childTnLst>
                          </p:cTn>
                        </p:par>
                        <p:par>
                          <p:cTn id="73" fill="hold" nodeType="afterGroup">
                            <p:stCondLst>
                              <p:cond delay="10000"/>
                            </p:stCondLst>
                            <p:childTnLst>
                              <p:par>
                                <p:cTn id="74" presetID="22" presetClass="entr" presetSubtype="1" fill="hold" grpId="0" nodeType="afterEffect">
                                  <p:stCondLst>
                                    <p:cond delay="0"/>
                                  </p:stCondLst>
                                  <p:childTnLst>
                                    <p:set>
                                      <p:cBhvr>
                                        <p:cTn id="75" dur="1" fill="hold">
                                          <p:stCondLst>
                                            <p:cond delay="0"/>
                                          </p:stCondLst>
                                        </p:cTn>
                                        <p:tgtEl>
                                          <p:spTgt spid="205850"/>
                                        </p:tgtEl>
                                        <p:attrNameLst>
                                          <p:attrName>style.visibility</p:attrName>
                                        </p:attrNameLst>
                                      </p:cBhvr>
                                      <p:to>
                                        <p:strVal val="visible"/>
                                      </p:to>
                                    </p:set>
                                    <p:animEffect transition="in" filter="wipe(up)">
                                      <p:cBhvr>
                                        <p:cTn id="76" dur="500"/>
                                        <p:tgtEl>
                                          <p:spTgt spid="20585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05851"/>
                                        </p:tgtEl>
                                        <p:attrNameLst>
                                          <p:attrName>style.visibility</p:attrName>
                                        </p:attrNameLst>
                                      </p:cBhvr>
                                      <p:to>
                                        <p:strVal val="visible"/>
                                      </p:to>
                                    </p:set>
                                    <p:animEffect transition="in" filter="wipe(left)">
                                      <p:cBhvr>
                                        <p:cTn id="81" dur="500"/>
                                        <p:tgtEl>
                                          <p:spTgt spid="20585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05852"/>
                                        </p:tgtEl>
                                        <p:attrNameLst>
                                          <p:attrName>style.visibility</p:attrName>
                                        </p:attrNameLst>
                                      </p:cBhvr>
                                      <p:to>
                                        <p:strVal val="visible"/>
                                      </p:to>
                                    </p:set>
                                    <p:animEffect transition="in" filter="wipe(left)">
                                      <p:cBhvr>
                                        <p:cTn id="86" dur="500"/>
                                        <p:tgtEl>
                                          <p:spTgt spid="205852"/>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1" fill="hold" grpId="0" nodeType="clickEffect">
                                  <p:stCondLst>
                                    <p:cond delay="0"/>
                                  </p:stCondLst>
                                  <p:childTnLst>
                                    <p:set>
                                      <p:cBhvr>
                                        <p:cTn id="90" dur="1" fill="hold">
                                          <p:stCondLst>
                                            <p:cond delay="0"/>
                                          </p:stCondLst>
                                        </p:cTn>
                                        <p:tgtEl>
                                          <p:spTgt spid="205853"/>
                                        </p:tgtEl>
                                        <p:attrNameLst>
                                          <p:attrName>style.visibility</p:attrName>
                                        </p:attrNameLst>
                                      </p:cBhvr>
                                      <p:to>
                                        <p:strVal val="visible"/>
                                      </p:to>
                                    </p:set>
                                    <p:animEffect transition="in" filter="wipe(up)">
                                      <p:cBhvr>
                                        <p:cTn id="91" dur="500"/>
                                        <p:tgtEl>
                                          <p:spTgt spid="205853"/>
                                        </p:tgtEl>
                                      </p:cBhvr>
                                    </p:animEffect>
                                  </p:childTnLst>
                                  <p:subTnLst>
                                    <p:audio>
                                      <p:cMediaNode>
                                        <p:cTn display="0" masterRel="sameClick">
                                          <p:stCondLst>
                                            <p:cond evt="begin" delay="0">
                                              <p:tn val="89"/>
                                            </p:cond>
                                          </p:stCondLst>
                                          <p:endCondLst>
                                            <p:cond evt="onStopAudio" delay="0">
                                              <p:tgtEl>
                                                <p:sldTgt/>
                                              </p:tgtEl>
                                            </p:cond>
                                          </p:endCondLst>
                                        </p:cTn>
                                        <p:tgtEl>
                                          <p:sndTgt r:embed="rId2" name="CHIMES.WAV"/>
                                        </p:tgtEl>
                                      </p:cMediaNode>
                                    </p:audio>
                                  </p:sub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05855"/>
                                        </p:tgtEl>
                                        <p:attrNameLst>
                                          <p:attrName>style.visibility</p:attrName>
                                        </p:attrNameLst>
                                      </p:cBhvr>
                                      <p:to>
                                        <p:strVal val="visible"/>
                                      </p:to>
                                    </p:set>
                                    <p:animEffect transition="in" filter="wipe(left)">
                                      <p:cBhvr>
                                        <p:cTn id="96" dur="500"/>
                                        <p:tgtEl>
                                          <p:spTgt spid="205855"/>
                                        </p:tgtEl>
                                      </p:cBhvr>
                                    </p:animEffect>
                                  </p:childTnLst>
                                  <p:subTnLst>
                                    <p:cmd type="evt" cmd="onstopaudio">
                                      <p:cBhvr>
                                        <p:cTn display="0" masterRel="sameClick">
                                          <p:stCondLst>
                                            <p:cond evt="begin" delay="0">
                                              <p:tn val="94"/>
                                            </p:cond>
                                          </p:stCondLst>
                                        </p:cTn>
                                        <p:tgtEl>
                                          <p:sldTgt/>
                                        </p:tgtEl>
                                      </p:cBhvr>
                                    </p:cmd>
                                  </p:subTnLst>
                                </p:cTn>
                              </p:par>
                            </p:childTnLst>
                          </p:cTn>
                        </p:par>
                        <p:par>
                          <p:cTn id="97" fill="hold" nodeType="afterGroup">
                            <p:stCondLst>
                              <p:cond delay="500"/>
                            </p:stCondLst>
                            <p:childTnLst>
                              <p:par>
                                <p:cTn id="98" presetID="22" presetClass="entr" presetSubtype="1" fill="hold" grpId="0" nodeType="afterEffect">
                                  <p:stCondLst>
                                    <p:cond delay="0"/>
                                  </p:stCondLst>
                                  <p:childTnLst>
                                    <p:set>
                                      <p:cBhvr>
                                        <p:cTn id="99" dur="1" fill="hold">
                                          <p:stCondLst>
                                            <p:cond delay="0"/>
                                          </p:stCondLst>
                                        </p:cTn>
                                        <p:tgtEl>
                                          <p:spTgt spid="205854"/>
                                        </p:tgtEl>
                                        <p:attrNameLst>
                                          <p:attrName>style.visibility</p:attrName>
                                        </p:attrNameLst>
                                      </p:cBhvr>
                                      <p:to>
                                        <p:strVal val="visible"/>
                                      </p:to>
                                    </p:set>
                                    <p:animEffect transition="in" filter="wipe(up)">
                                      <p:cBhvr>
                                        <p:cTn id="100" dur="500"/>
                                        <p:tgtEl>
                                          <p:spTgt spid="205854"/>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1" fill="hold" grpId="0" nodeType="clickEffect">
                                  <p:stCondLst>
                                    <p:cond delay="0"/>
                                  </p:stCondLst>
                                  <p:childTnLst>
                                    <p:set>
                                      <p:cBhvr>
                                        <p:cTn id="104" dur="1" fill="hold">
                                          <p:stCondLst>
                                            <p:cond delay="0"/>
                                          </p:stCondLst>
                                        </p:cTn>
                                        <p:tgtEl>
                                          <p:spTgt spid="205856"/>
                                        </p:tgtEl>
                                        <p:attrNameLst>
                                          <p:attrName>style.visibility</p:attrName>
                                        </p:attrNameLst>
                                      </p:cBhvr>
                                      <p:to>
                                        <p:strVal val="visible"/>
                                      </p:to>
                                    </p:set>
                                    <p:animEffect transition="in" filter="wipe(up)">
                                      <p:cBhvr>
                                        <p:cTn id="105" dur="500"/>
                                        <p:tgtEl>
                                          <p:spTgt spid="205856"/>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1" fill="hold" grpId="0" nodeType="clickEffect">
                                  <p:stCondLst>
                                    <p:cond delay="0"/>
                                  </p:stCondLst>
                                  <p:childTnLst>
                                    <p:set>
                                      <p:cBhvr>
                                        <p:cTn id="109" dur="1" fill="hold">
                                          <p:stCondLst>
                                            <p:cond delay="0"/>
                                          </p:stCondLst>
                                        </p:cTn>
                                        <p:tgtEl>
                                          <p:spTgt spid="205859"/>
                                        </p:tgtEl>
                                        <p:attrNameLst>
                                          <p:attrName>style.visibility</p:attrName>
                                        </p:attrNameLst>
                                      </p:cBhvr>
                                      <p:to>
                                        <p:strVal val="visible"/>
                                      </p:to>
                                    </p:set>
                                    <p:animEffect transition="in" filter="wipe(up)">
                                      <p:cBhvr>
                                        <p:cTn id="110" dur="500"/>
                                        <p:tgtEl>
                                          <p:spTgt spid="205859"/>
                                        </p:tgtEl>
                                      </p:cBhvr>
                                    </p:animEffect>
                                  </p:childTnLst>
                                </p:cTn>
                              </p:par>
                            </p:childTnLst>
                          </p:cTn>
                        </p:par>
                        <p:par>
                          <p:cTn id="111" fill="hold" nodeType="afterGroup">
                            <p:stCondLst>
                              <p:cond delay="500"/>
                            </p:stCondLst>
                            <p:childTnLst>
                              <p:par>
                                <p:cTn id="112" presetID="22" presetClass="entr" presetSubtype="1" fill="hold" grpId="0" nodeType="afterEffect">
                                  <p:stCondLst>
                                    <p:cond delay="0"/>
                                  </p:stCondLst>
                                  <p:childTnLst>
                                    <p:set>
                                      <p:cBhvr>
                                        <p:cTn id="113" dur="1" fill="hold">
                                          <p:stCondLst>
                                            <p:cond delay="0"/>
                                          </p:stCondLst>
                                        </p:cTn>
                                        <p:tgtEl>
                                          <p:spTgt spid="205862"/>
                                        </p:tgtEl>
                                        <p:attrNameLst>
                                          <p:attrName>style.visibility</p:attrName>
                                        </p:attrNameLst>
                                      </p:cBhvr>
                                      <p:to>
                                        <p:strVal val="visible"/>
                                      </p:to>
                                    </p:set>
                                    <p:animEffect transition="in" filter="wipe(up)">
                                      <p:cBhvr>
                                        <p:cTn id="114" dur="500"/>
                                        <p:tgtEl>
                                          <p:spTgt spid="205862"/>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1" fill="hold" grpId="0" nodeType="clickEffect">
                                  <p:stCondLst>
                                    <p:cond delay="0"/>
                                  </p:stCondLst>
                                  <p:childTnLst>
                                    <p:set>
                                      <p:cBhvr>
                                        <p:cTn id="118" dur="1" fill="hold">
                                          <p:stCondLst>
                                            <p:cond delay="0"/>
                                          </p:stCondLst>
                                        </p:cTn>
                                        <p:tgtEl>
                                          <p:spTgt spid="205860"/>
                                        </p:tgtEl>
                                        <p:attrNameLst>
                                          <p:attrName>style.visibility</p:attrName>
                                        </p:attrNameLst>
                                      </p:cBhvr>
                                      <p:to>
                                        <p:strVal val="visible"/>
                                      </p:to>
                                    </p:set>
                                    <p:animEffect transition="in" filter="wipe(up)">
                                      <p:cBhvr>
                                        <p:cTn id="119" dur="500"/>
                                        <p:tgtEl>
                                          <p:spTgt spid="205860"/>
                                        </p:tgtEl>
                                      </p:cBhvr>
                                    </p:animEffect>
                                  </p:childTnLst>
                                </p:cTn>
                              </p:par>
                            </p:childTnLst>
                          </p:cTn>
                        </p:par>
                        <p:par>
                          <p:cTn id="120" fill="hold" nodeType="afterGroup">
                            <p:stCondLst>
                              <p:cond delay="500"/>
                            </p:stCondLst>
                            <p:childTnLst>
                              <p:par>
                                <p:cTn id="121" presetID="22" presetClass="entr" presetSubtype="1" fill="hold" grpId="0" nodeType="afterEffect">
                                  <p:stCondLst>
                                    <p:cond delay="0"/>
                                  </p:stCondLst>
                                  <p:childTnLst>
                                    <p:set>
                                      <p:cBhvr>
                                        <p:cTn id="122" dur="1" fill="hold">
                                          <p:stCondLst>
                                            <p:cond delay="0"/>
                                          </p:stCondLst>
                                        </p:cTn>
                                        <p:tgtEl>
                                          <p:spTgt spid="205863"/>
                                        </p:tgtEl>
                                        <p:attrNameLst>
                                          <p:attrName>style.visibility</p:attrName>
                                        </p:attrNameLst>
                                      </p:cBhvr>
                                      <p:to>
                                        <p:strVal val="visible"/>
                                      </p:to>
                                    </p:set>
                                    <p:animEffect transition="in" filter="wipe(up)">
                                      <p:cBhvr>
                                        <p:cTn id="123" dur="500"/>
                                        <p:tgtEl>
                                          <p:spTgt spid="205863"/>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1" fill="hold" grpId="0" nodeType="clickEffect">
                                  <p:stCondLst>
                                    <p:cond delay="0"/>
                                  </p:stCondLst>
                                  <p:childTnLst>
                                    <p:set>
                                      <p:cBhvr>
                                        <p:cTn id="127" dur="1" fill="hold">
                                          <p:stCondLst>
                                            <p:cond delay="0"/>
                                          </p:stCondLst>
                                        </p:cTn>
                                        <p:tgtEl>
                                          <p:spTgt spid="205861"/>
                                        </p:tgtEl>
                                        <p:attrNameLst>
                                          <p:attrName>style.visibility</p:attrName>
                                        </p:attrNameLst>
                                      </p:cBhvr>
                                      <p:to>
                                        <p:strVal val="visible"/>
                                      </p:to>
                                    </p:set>
                                    <p:animEffect transition="in" filter="wipe(up)">
                                      <p:cBhvr>
                                        <p:cTn id="128" dur="500"/>
                                        <p:tgtEl>
                                          <p:spTgt spid="205861"/>
                                        </p:tgtEl>
                                      </p:cBhvr>
                                    </p:animEffect>
                                  </p:childTnLst>
                                </p:cTn>
                              </p:par>
                            </p:childTnLst>
                          </p:cTn>
                        </p:par>
                        <p:par>
                          <p:cTn id="129" fill="hold" nodeType="afterGroup">
                            <p:stCondLst>
                              <p:cond delay="500"/>
                            </p:stCondLst>
                            <p:childTnLst>
                              <p:par>
                                <p:cTn id="130" presetID="22" presetClass="entr" presetSubtype="1" fill="hold" grpId="0" nodeType="afterEffect">
                                  <p:stCondLst>
                                    <p:cond delay="0"/>
                                  </p:stCondLst>
                                  <p:childTnLst>
                                    <p:set>
                                      <p:cBhvr>
                                        <p:cTn id="131" dur="1" fill="hold">
                                          <p:stCondLst>
                                            <p:cond delay="0"/>
                                          </p:stCondLst>
                                        </p:cTn>
                                        <p:tgtEl>
                                          <p:spTgt spid="205864"/>
                                        </p:tgtEl>
                                        <p:attrNameLst>
                                          <p:attrName>style.visibility</p:attrName>
                                        </p:attrNameLst>
                                      </p:cBhvr>
                                      <p:to>
                                        <p:strVal val="visible"/>
                                      </p:to>
                                    </p:set>
                                    <p:animEffect transition="in" filter="wipe(up)">
                                      <p:cBhvr>
                                        <p:cTn id="132" dur="500"/>
                                        <p:tgtEl>
                                          <p:spTgt spid="205864"/>
                                        </p:tgtEl>
                                      </p:cBhvr>
                                    </p:animEffect>
                                  </p:childTnLst>
                                  <p:subTnLst>
                                    <p:audio>
                                      <p:cMediaNode>
                                        <p:cTn display="0" masterRel="sameClick">
                                          <p:stCondLst>
                                            <p:cond evt="begin" delay="0">
                                              <p:tn val="130"/>
                                            </p:cond>
                                          </p:stCondLst>
                                          <p:endCondLst>
                                            <p:cond evt="onStopAudio" delay="0">
                                              <p:tgtEl>
                                                <p:sldTgt/>
                                              </p:tgtEl>
                                            </p:cond>
                                          </p:endCondLst>
                                        </p:cTn>
                                        <p:tgtEl>
                                          <p:sndTgt r:embed="rId2" name="CHIMES.WAV"/>
                                        </p:tgtEl>
                                      </p:cMediaNode>
                                    </p:audio>
                                  </p:sub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205866"/>
                                        </p:tgtEl>
                                        <p:attrNameLst>
                                          <p:attrName>style.visibility</p:attrName>
                                        </p:attrNameLst>
                                      </p:cBhvr>
                                      <p:to>
                                        <p:strVal val="visible"/>
                                      </p:to>
                                    </p:set>
                                    <p:animEffect transition="in" filter="wipe(left)">
                                      <p:cBhvr>
                                        <p:cTn id="137" dur="500"/>
                                        <p:tgtEl>
                                          <p:spTgt spid="205866"/>
                                        </p:tgtEl>
                                      </p:cBhvr>
                                    </p:animEffect>
                                  </p:childTnLst>
                                  <p:subTnLst>
                                    <p:cmd type="evt" cmd="onstopaudio">
                                      <p:cBhvr>
                                        <p:cTn display="0" masterRel="sameClick">
                                          <p:stCondLst>
                                            <p:cond evt="begin" delay="0">
                                              <p:tn val="135"/>
                                            </p:cond>
                                          </p:stCondLst>
                                        </p:cTn>
                                        <p:tgtEl>
                                          <p:sldTgt/>
                                        </p:tgtEl>
                                      </p:cBhvr>
                                    </p:cmd>
                                  </p:subTnLst>
                                </p:cTn>
                              </p:par>
                            </p:childTnLst>
                          </p:cTn>
                        </p:par>
                        <p:par>
                          <p:cTn id="138" fill="hold" nodeType="afterGroup">
                            <p:stCondLst>
                              <p:cond delay="500"/>
                            </p:stCondLst>
                            <p:childTnLst>
                              <p:par>
                                <p:cTn id="139" presetID="22" presetClass="entr" presetSubtype="1" fill="hold" grpId="0" nodeType="afterEffect">
                                  <p:stCondLst>
                                    <p:cond delay="0"/>
                                  </p:stCondLst>
                                  <p:childTnLst>
                                    <p:set>
                                      <p:cBhvr>
                                        <p:cTn id="140" dur="1" fill="hold">
                                          <p:stCondLst>
                                            <p:cond delay="0"/>
                                          </p:stCondLst>
                                        </p:cTn>
                                        <p:tgtEl>
                                          <p:spTgt spid="205865"/>
                                        </p:tgtEl>
                                        <p:attrNameLst>
                                          <p:attrName>style.visibility</p:attrName>
                                        </p:attrNameLst>
                                      </p:cBhvr>
                                      <p:to>
                                        <p:strVal val="visible"/>
                                      </p:to>
                                    </p:set>
                                    <p:animEffect transition="in" filter="wipe(up)">
                                      <p:cBhvr>
                                        <p:cTn id="141" dur="500"/>
                                        <p:tgtEl>
                                          <p:spTgt spid="205865"/>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1" fill="hold" grpId="0" nodeType="clickEffect">
                                  <p:stCondLst>
                                    <p:cond delay="0"/>
                                  </p:stCondLst>
                                  <p:childTnLst>
                                    <p:set>
                                      <p:cBhvr>
                                        <p:cTn id="145" dur="1" fill="hold">
                                          <p:stCondLst>
                                            <p:cond delay="0"/>
                                          </p:stCondLst>
                                        </p:cTn>
                                        <p:tgtEl>
                                          <p:spTgt spid="205869"/>
                                        </p:tgtEl>
                                        <p:attrNameLst>
                                          <p:attrName>style.visibility</p:attrName>
                                        </p:attrNameLst>
                                      </p:cBhvr>
                                      <p:to>
                                        <p:strVal val="visible"/>
                                      </p:to>
                                    </p:set>
                                    <p:animEffect transition="in" filter="wipe(up)">
                                      <p:cBhvr>
                                        <p:cTn id="146" dur="500"/>
                                        <p:tgtEl>
                                          <p:spTgt spid="205869"/>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1" fill="hold" grpId="0" nodeType="clickEffect">
                                  <p:stCondLst>
                                    <p:cond delay="0"/>
                                  </p:stCondLst>
                                  <p:childTnLst>
                                    <p:set>
                                      <p:cBhvr>
                                        <p:cTn id="150" dur="1" fill="hold">
                                          <p:stCondLst>
                                            <p:cond delay="0"/>
                                          </p:stCondLst>
                                        </p:cTn>
                                        <p:tgtEl>
                                          <p:spTgt spid="205867"/>
                                        </p:tgtEl>
                                        <p:attrNameLst>
                                          <p:attrName>style.visibility</p:attrName>
                                        </p:attrNameLst>
                                      </p:cBhvr>
                                      <p:to>
                                        <p:strVal val="visible"/>
                                      </p:to>
                                    </p:set>
                                    <p:animEffect transition="in" filter="wipe(up)">
                                      <p:cBhvr>
                                        <p:cTn id="151" dur="500"/>
                                        <p:tgtEl>
                                          <p:spTgt spid="205867"/>
                                        </p:tgtEl>
                                      </p:cBhvr>
                                    </p:animEffect>
                                  </p:childTnLst>
                                </p:cTn>
                              </p:par>
                            </p:childTnLst>
                          </p:cTn>
                        </p:par>
                        <p:par>
                          <p:cTn id="152" fill="hold" nodeType="afterGroup">
                            <p:stCondLst>
                              <p:cond delay="500"/>
                            </p:stCondLst>
                            <p:childTnLst>
                              <p:par>
                                <p:cTn id="153" presetID="22" presetClass="entr" presetSubtype="1" fill="hold" grpId="0" nodeType="afterEffect">
                                  <p:stCondLst>
                                    <p:cond delay="0"/>
                                  </p:stCondLst>
                                  <p:childTnLst>
                                    <p:set>
                                      <p:cBhvr>
                                        <p:cTn id="154" dur="1" fill="hold">
                                          <p:stCondLst>
                                            <p:cond delay="0"/>
                                          </p:stCondLst>
                                        </p:cTn>
                                        <p:tgtEl>
                                          <p:spTgt spid="205870"/>
                                        </p:tgtEl>
                                        <p:attrNameLst>
                                          <p:attrName>style.visibility</p:attrName>
                                        </p:attrNameLst>
                                      </p:cBhvr>
                                      <p:to>
                                        <p:strVal val="visible"/>
                                      </p:to>
                                    </p:set>
                                    <p:animEffect transition="in" filter="wipe(up)">
                                      <p:cBhvr>
                                        <p:cTn id="155" dur="500"/>
                                        <p:tgtEl>
                                          <p:spTgt spid="205870"/>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2" presetClass="entr" presetSubtype="1" fill="hold" grpId="0" nodeType="clickEffect">
                                  <p:stCondLst>
                                    <p:cond delay="0"/>
                                  </p:stCondLst>
                                  <p:childTnLst>
                                    <p:set>
                                      <p:cBhvr>
                                        <p:cTn id="159" dur="1" fill="hold">
                                          <p:stCondLst>
                                            <p:cond delay="0"/>
                                          </p:stCondLst>
                                        </p:cTn>
                                        <p:tgtEl>
                                          <p:spTgt spid="205868"/>
                                        </p:tgtEl>
                                        <p:attrNameLst>
                                          <p:attrName>style.visibility</p:attrName>
                                        </p:attrNameLst>
                                      </p:cBhvr>
                                      <p:to>
                                        <p:strVal val="visible"/>
                                      </p:to>
                                    </p:set>
                                    <p:animEffect transition="in" filter="wipe(up)">
                                      <p:cBhvr>
                                        <p:cTn id="160" dur="500"/>
                                        <p:tgtEl>
                                          <p:spTgt spid="205868"/>
                                        </p:tgtEl>
                                      </p:cBhvr>
                                    </p:animEffect>
                                  </p:childTnLst>
                                </p:cTn>
                              </p:par>
                            </p:childTnLst>
                          </p:cTn>
                        </p:par>
                        <p:par>
                          <p:cTn id="161" fill="hold" nodeType="afterGroup">
                            <p:stCondLst>
                              <p:cond delay="500"/>
                            </p:stCondLst>
                            <p:childTnLst>
                              <p:par>
                                <p:cTn id="162" presetID="22" presetClass="entr" presetSubtype="1" fill="hold" grpId="0" nodeType="afterEffect">
                                  <p:stCondLst>
                                    <p:cond delay="0"/>
                                  </p:stCondLst>
                                  <p:childTnLst>
                                    <p:set>
                                      <p:cBhvr>
                                        <p:cTn id="163" dur="1" fill="hold">
                                          <p:stCondLst>
                                            <p:cond delay="0"/>
                                          </p:stCondLst>
                                        </p:cTn>
                                        <p:tgtEl>
                                          <p:spTgt spid="205871"/>
                                        </p:tgtEl>
                                        <p:attrNameLst>
                                          <p:attrName>style.visibility</p:attrName>
                                        </p:attrNameLst>
                                      </p:cBhvr>
                                      <p:to>
                                        <p:strVal val="visible"/>
                                      </p:to>
                                    </p:set>
                                    <p:animEffect transition="in" filter="wipe(up)">
                                      <p:cBhvr>
                                        <p:cTn id="164" dur="500"/>
                                        <p:tgtEl>
                                          <p:spTgt spid="205871"/>
                                        </p:tgtEl>
                                      </p:cBhvr>
                                    </p:animEffect>
                                  </p:childTnLst>
                                  <p:subTnLst>
                                    <p:audio>
                                      <p:cMediaNode>
                                        <p:cTn display="0" masterRel="sameClick">
                                          <p:stCondLst>
                                            <p:cond evt="begin" delay="0">
                                              <p:tn val="162"/>
                                            </p:cond>
                                          </p:stCondLst>
                                          <p:endCondLst>
                                            <p:cond evt="onStopAudio" delay="0">
                                              <p:tgtEl>
                                                <p:sldTgt/>
                                              </p:tgtEl>
                                            </p:cond>
                                          </p:endCondLst>
                                        </p:cTn>
                                        <p:tgtEl>
                                          <p:sndTgt r:embed="rId2" name="CHIMES.WAV"/>
                                        </p:tgtEl>
                                      </p:cMediaNode>
                                    </p:audio>
                                  </p:subTnLst>
                                </p:cTn>
                              </p:par>
                            </p:childTnLst>
                          </p:cTn>
                        </p:par>
                      </p:childTnLst>
                    </p:cTn>
                  </p:par>
                  <p:par>
                    <p:cTn id="165" fill="hold" nodeType="clickPar">
                      <p:stCondLst>
                        <p:cond delay="indefinite"/>
                      </p:stCondLst>
                      <p:childTnLst>
                        <p:par>
                          <p:cTn id="166" fill="hold" nodeType="withGroup">
                            <p:stCondLst>
                              <p:cond delay="0"/>
                            </p:stCondLst>
                            <p:childTnLst>
                              <p:par>
                                <p:cTn id="167" presetID="22" presetClass="entr" presetSubtype="8" fill="hold" grpId="0" nodeType="clickEffect">
                                  <p:stCondLst>
                                    <p:cond delay="0"/>
                                  </p:stCondLst>
                                  <p:childTnLst>
                                    <p:set>
                                      <p:cBhvr>
                                        <p:cTn id="168" dur="1" fill="hold">
                                          <p:stCondLst>
                                            <p:cond delay="0"/>
                                          </p:stCondLst>
                                        </p:cTn>
                                        <p:tgtEl>
                                          <p:spTgt spid="205872"/>
                                        </p:tgtEl>
                                        <p:attrNameLst>
                                          <p:attrName>style.visibility</p:attrName>
                                        </p:attrNameLst>
                                      </p:cBhvr>
                                      <p:to>
                                        <p:strVal val="visible"/>
                                      </p:to>
                                    </p:set>
                                    <p:animEffect transition="in" filter="wipe(left)">
                                      <p:cBhvr>
                                        <p:cTn id="169" dur="500"/>
                                        <p:tgtEl>
                                          <p:spTgt spid="205872"/>
                                        </p:tgtEl>
                                      </p:cBhvr>
                                    </p:animEffect>
                                  </p:childTnLst>
                                  <p:subTnLst>
                                    <p:cmd type="evt" cmd="onstopaudio">
                                      <p:cBhvr>
                                        <p:cTn display="0" masterRel="sameClick">
                                          <p:stCondLst>
                                            <p:cond evt="begin" delay="0">
                                              <p:tn val="167"/>
                                            </p:cond>
                                          </p:stCondLst>
                                        </p:cTn>
                                        <p:tgtEl>
                                          <p:sldTgt/>
                                        </p:tgtEl>
                                      </p:cBhvr>
                                    </p:cmd>
                                  </p:subTnLst>
                                </p:cTn>
                              </p:par>
                            </p:childTnLst>
                          </p:cTn>
                        </p:par>
                      </p:childTnLst>
                    </p:cTn>
                  </p:par>
                  <p:par>
                    <p:cTn id="170" fill="hold" nodeType="clickPar">
                      <p:stCondLst>
                        <p:cond delay="indefinite"/>
                      </p:stCondLst>
                      <p:childTnLst>
                        <p:par>
                          <p:cTn id="171" fill="hold" nodeType="withGroup">
                            <p:stCondLst>
                              <p:cond delay="0"/>
                            </p:stCondLst>
                            <p:childTnLst>
                              <p:par>
                                <p:cTn id="172" presetID="22" presetClass="entr" presetSubtype="1" fill="hold" grpId="0" nodeType="clickEffect">
                                  <p:stCondLst>
                                    <p:cond delay="0"/>
                                  </p:stCondLst>
                                  <p:childTnLst>
                                    <p:set>
                                      <p:cBhvr>
                                        <p:cTn id="173" dur="1" fill="hold">
                                          <p:stCondLst>
                                            <p:cond delay="0"/>
                                          </p:stCondLst>
                                        </p:cTn>
                                        <p:tgtEl>
                                          <p:spTgt spid="205873"/>
                                        </p:tgtEl>
                                        <p:attrNameLst>
                                          <p:attrName>style.visibility</p:attrName>
                                        </p:attrNameLst>
                                      </p:cBhvr>
                                      <p:to>
                                        <p:strVal val="visible"/>
                                      </p:to>
                                    </p:set>
                                    <p:animEffect transition="in" filter="wipe(up)">
                                      <p:cBhvr>
                                        <p:cTn id="174" dur="500"/>
                                        <p:tgtEl>
                                          <p:spTgt spid="205873"/>
                                        </p:tgtEl>
                                      </p:cBhvr>
                                    </p:animEffect>
                                  </p:childTnLst>
                                  <p:subTnLst>
                                    <p:audio>
                                      <p:cMediaNode>
                                        <p:cTn display="0" masterRel="sameClick">
                                          <p:stCondLst>
                                            <p:cond evt="begin" delay="0">
                                              <p:tn val="172"/>
                                            </p:cond>
                                          </p:stCondLst>
                                          <p:endCondLst>
                                            <p:cond evt="onStopAudio" delay="0">
                                              <p:tgtEl>
                                                <p:sldTgt/>
                                              </p:tgtEl>
                                            </p:cond>
                                          </p:endCondLst>
                                        </p:cTn>
                                        <p:tgtEl>
                                          <p:sndTgt r:embed="rId3" name="GLAS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animBg="1" autoUpdateAnimBg="0"/>
      <p:bldP spid="205827" grpId="0" animBg="1" autoUpdateAnimBg="0"/>
      <p:bldP spid="205828" grpId="0" animBg="1" autoUpdateAnimBg="0"/>
      <p:bldP spid="205829" grpId="0" animBg="1" autoUpdateAnimBg="0"/>
      <p:bldP spid="205830" grpId="0" animBg="1" autoUpdateAnimBg="0"/>
      <p:bldP spid="205831" grpId="0" animBg="1" autoUpdateAnimBg="0"/>
      <p:bldP spid="205832" grpId="0" animBg="1" autoUpdateAnimBg="0"/>
      <p:bldP spid="205833" grpId="0" animBg="1" autoUpdateAnimBg="0"/>
      <p:bldP spid="205834" grpId="0" animBg="1" autoUpdateAnimBg="0"/>
      <p:bldP spid="205835" grpId="0" animBg="1"/>
      <p:bldP spid="205836" grpId="0" animBg="1"/>
      <p:bldP spid="205837" grpId="0" animBg="1"/>
      <p:bldP spid="205838" grpId="0" animBg="1"/>
      <p:bldP spid="205839" grpId="0" animBg="1"/>
      <p:bldP spid="205840" grpId="0" animBg="1"/>
      <p:bldP spid="205841" grpId="0" animBg="1"/>
      <p:bldP spid="205842" grpId="0" animBg="1"/>
      <p:bldP spid="205843" grpId="0" animBg="1" autoUpdateAnimBg="0"/>
      <p:bldP spid="205844" grpId="0" animBg="1"/>
      <p:bldP spid="205847" grpId="0" autoUpdateAnimBg="0"/>
      <p:bldP spid="205848" grpId="0" autoUpdateAnimBg="0"/>
      <p:bldP spid="205850" grpId="0" animBg="1"/>
      <p:bldP spid="205851" grpId="0" autoUpdateAnimBg="0"/>
      <p:bldP spid="205852" grpId="0" autoUpdateAnimBg="0"/>
      <p:bldP spid="205853" grpId="0" animBg="1" autoUpdateAnimBg="0"/>
      <p:bldP spid="205854" grpId="0" animBg="1" autoUpdateAnimBg="0"/>
      <p:bldP spid="205855" grpId="0" autoUpdateAnimBg="0"/>
      <p:bldP spid="205856" grpId="0" animBg="1" autoUpdateAnimBg="0"/>
      <p:bldP spid="205859" grpId="0" animBg="1"/>
      <p:bldP spid="205860" grpId="0" animBg="1"/>
      <p:bldP spid="205861" grpId="0" animBg="1"/>
      <p:bldP spid="205862" grpId="0" animBg="1" autoUpdateAnimBg="0"/>
      <p:bldP spid="205863" grpId="0" animBg="1" autoUpdateAnimBg="0"/>
      <p:bldP spid="205864" grpId="0" animBg="1" autoUpdateAnimBg="0"/>
      <p:bldP spid="205865" grpId="0" animBg="1" autoUpdateAnimBg="0"/>
      <p:bldP spid="205866" grpId="0" autoUpdateAnimBg="0"/>
      <p:bldP spid="205867" grpId="0" animBg="1"/>
      <p:bldP spid="205868" grpId="0" animBg="1"/>
      <p:bldP spid="205869" grpId="0" animBg="1" autoUpdateAnimBg="0"/>
      <p:bldP spid="205870" grpId="0" animBg="1" autoUpdateAnimBg="0"/>
      <p:bldP spid="205871" grpId="0" animBg="1" autoUpdateAnimBg="0"/>
      <p:bldP spid="205872" grpId="0" autoUpdateAnimBg="0"/>
      <p:bldP spid="20587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Text Box 2"/>
          <p:cNvSpPr txBox="1">
            <a:spLocks noChangeArrowheads="1"/>
          </p:cNvSpPr>
          <p:nvPr/>
        </p:nvSpPr>
        <p:spPr bwMode="auto">
          <a:xfrm>
            <a:off x="533400" y="152400"/>
            <a:ext cx="4787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A50021"/>
                </a:solidFill>
                <a:ea typeface="楷体_GB2312" charset="0"/>
              </a:rPr>
              <a:t>从上述查找过程可见，</a:t>
            </a:r>
            <a:endParaRPr lang="zh-CN" altLang="en-US" sz="3600">
              <a:ea typeface="楷体_GB2312" charset="0"/>
            </a:endParaRPr>
          </a:p>
        </p:txBody>
      </p:sp>
      <p:sp>
        <p:nvSpPr>
          <p:cNvPr id="208899" name="Text Box 3"/>
          <p:cNvSpPr txBox="1">
            <a:spLocks noChangeArrowheads="1"/>
          </p:cNvSpPr>
          <p:nvPr/>
        </p:nvSpPr>
        <p:spPr bwMode="auto">
          <a:xfrm>
            <a:off x="990600" y="885825"/>
            <a:ext cx="7969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A50021"/>
                </a:solidFill>
                <a:ea typeface="楷体_GB2312" charset="0"/>
              </a:rPr>
              <a:t>在查找过程中，生成了一条</a:t>
            </a:r>
            <a:r>
              <a:rPr lang="zh-CN" altLang="en-US" sz="3600" b="1">
                <a:solidFill>
                  <a:srgbClr val="FF00FF"/>
                </a:solidFill>
                <a:ea typeface="楷体_GB2312" charset="0"/>
              </a:rPr>
              <a:t>查找路径</a:t>
            </a:r>
            <a:r>
              <a:rPr lang="zh-CN" altLang="en-US" sz="3600">
                <a:solidFill>
                  <a:srgbClr val="A50021"/>
                </a:solidFill>
                <a:ea typeface="楷体_GB2312" charset="0"/>
              </a:rPr>
              <a:t>：</a:t>
            </a:r>
            <a:endParaRPr lang="zh-CN" altLang="en-US" sz="3600">
              <a:ea typeface="楷体_GB2312" charset="0"/>
            </a:endParaRPr>
          </a:p>
        </p:txBody>
      </p:sp>
      <p:sp>
        <p:nvSpPr>
          <p:cNvPr id="208900" name="Text Box 4"/>
          <p:cNvSpPr txBox="1">
            <a:spLocks noChangeArrowheads="1"/>
          </p:cNvSpPr>
          <p:nvPr/>
        </p:nvSpPr>
        <p:spPr bwMode="auto">
          <a:xfrm>
            <a:off x="533400" y="1676400"/>
            <a:ext cx="83375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3600">
                <a:solidFill>
                  <a:srgbClr val="A50021"/>
                </a:solidFill>
                <a:ea typeface="楷体_GB2312" charset="0"/>
              </a:rPr>
              <a:t>    </a:t>
            </a:r>
            <a:r>
              <a:rPr lang="zh-CN" altLang="en-US" sz="3600" b="1">
                <a:solidFill>
                  <a:srgbClr val="3333FF"/>
                </a:solidFill>
                <a:ea typeface="楷体_GB2312" charset="0"/>
              </a:rPr>
              <a:t>从根结点出发，沿着左分支或右分支逐层向下直至关键字等于给定值的结点</a:t>
            </a:r>
            <a:r>
              <a:rPr lang="en-US" altLang="zh-CN" sz="3600" b="1">
                <a:solidFill>
                  <a:srgbClr val="3333FF"/>
                </a:solidFill>
                <a:ea typeface="楷体_GB2312" charset="0"/>
              </a:rPr>
              <a:t>;</a:t>
            </a:r>
          </a:p>
        </p:txBody>
      </p:sp>
      <p:sp>
        <p:nvSpPr>
          <p:cNvPr id="208901" name="Text Box 5"/>
          <p:cNvSpPr txBox="1">
            <a:spLocks noChangeArrowheads="1"/>
          </p:cNvSpPr>
          <p:nvPr/>
        </p:nvSpPr>
        <p:spPr bwMode="auto">
          <a:xfrm>
            <a:off x="2178050" y="3581400"/>
            <a:ext cx="1098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A50021"/>
                </a:solidFill>
                <a:ea typeface="楷体_GB2312" charset="0"/>
              </a:rPr>
              <a:t>或者</a:t>
            </a:r>
            <a:endParaRPr lang="zh-CN" altLang="en-US" sz="3600">
              <a:ea typeface="楷体_GB2312" charset="0"/>
            </a:endParaRPr>
          </a:p>
        </p:txBody>
      </p:sp>
      <p:sp>
        <p:nvSpPr>
          <p:cNvPr id="208902" name="Text Box 6"/>
          <p:cNvSpPr txBox="1">
            <a:spLocks noChangeArrowheads="1"/>
          </p:cNvSpPr>
          <p:nvPr/>
        </p:nvSpPr>
        <p:spPr bwMode="auto">
          <a:xfrm>
            <a:off x="533400" y="4381500"/>
            <a:ext cx="83375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3600">
                <a:solidFill>
                  <a:srgbClr val="A50021"/>
                </a:solidFill>
                <a:ea typeface="楷体_GB2312" charset="0"/>
              </a:rPr>
              <a:t>    </a:t>
            </a:r>
            <a:r>
              <a:rPr lang="zh-CN" altLang="en-US" sz="3600" b="1">
                <a:solidFill>
                  <a:srgbClr val="008080"/>
                </a:solidFill>
                <a:ea typeface="楷体_GB2312" charset="0"/>
              </a:rPr>
              <a:t>从根结点出发，沿着左分支或右分支逐层向下直至指针指向空树为止。</a:t>
            </a:r>
            <a:endParaRPr lang="zh-CN" altLang="en-US" sz="3600">
              <a:solidFill>
                <a:srgbClr val="008080"/>
              </a:solidFill>
              <a:ea typeface="楷体_GB2312" charset="0"/>
            </a:endParaRPr>
          </a:p>
        </p:txBody>
      </p:sp>
      <p:sp>
        <p:nvSpPr>
          <p:cNvPr id="208903" name="Text Box 7"/>
          <p:cNvSpPr txBox="1">
            <a:spLocks noChangeArrowheads="1"/>
          </p:cNvSpPr>
          <p:nvPr/>
        </p:nvSpPr>
        <p:spPr bwMode="auto">
          <a:xfrm>
            <a:off x="4800600" y="3135313"/>
            <a:ext cx="3124200"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3600">
                <a:solidFill>
                  <a:srgbClr val="A50021"/>
                </a:solidFill>
                <a:ea typeface="楷体_GB2312" charset="0"/>
              </a:rPr>
              <a:t> </a:t>
            </a:r>
            <a:r>
              <a:rPr lang="en-US" altLang="zh-CN" sz="3600" b="1">
                <a:solidFill>
                  <a:srgbClr val="FF00FF"/>
                </a:solidFill>
                <a:ea typeface="楷体_GB2312" charset="0"/>
              </a:rPr>
              <a:t>——</a:t>
            </a:r>
            <a:r>
              <a:rPr lang="zh-CN" altLang="en-US" sz="3600" b="1">
                <a:solidFill>
                  <a:srgbClr val="FF00FF"/>
                </a:solidFill>
                <a:ea typeface="楷体_GB2312" charset="0"/>
              </a:rPr>
              <a:t>查找成功</a:t>
            </a:r>
            <a:endParaRPr lang="zh-CN" altLang="en-US" sz="3600">
              <a:ea typeface="楷体_GB2312" charset="0"/>
            </a:endParaRPr>
          </a:p>
        </p:txBody>
      </p:sp>
      <p:sp>
        <p:nvSpPr>
          <p:cNvPr id="208904" name="Text Box 8"/>
          <p:cNvSpPr txBox="1">
            <a:spLocks noChangeArrowheads="1"/>
          </p:cNvSpPr>
          <p:nvPr/>
        </p:nvSpPr>
        <p:spPr bwMode="auto">
          <a:xfrm>
            <a:off x="4876800" y="5878513"/>
            <a:ext cx="3581400"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3600">
                <a:solidFill>
                  <a:srgbClr val="A50021"/>
                </a:solidFill>
                <a:ea typeface="楷体_GB2312" charset="0"/>
              </a:rPr>
              <a:t> </a:t>
            </a:r>
            <a:r>
              <a:rPr lang="en-US" altLang="zh-CN" sz="3600" b="1">
                <a:solidFill>
                  <a:srgbClr val="FF00FF"/>
                </a:solidFill>
                <a:ea typeface="楷体_GB2312" charset="0"/>
              </a:rPr>
              <a:t>——</a:t>
            </a:r>
            <a:r>
              <a:rPr lang="zh-CN" altLang="en-US" sz="3600" b="1">
                <a:solidFill>
                  <a:srgbClr val="FF00FF"/>
                </a:solidFill>
                <a:ea typeface="楷体_GB2312" charset="0"/>
              </a:rPr>
              <a:t>查找不成功</a:t>
            </a:r>
            <a:endParaRPr lang="zh-CN" altLang="en-US" sz="3600">
              <a:ea typeface="楷体_GB2312" charset="0"/>
            </a:endParaRPr>
          </a:p>
        </p:txBody>
      </p:sp>
    </p:spTree>
    <p:extLst>
      <p:ext uri="{BB962C8B-B14F-4D97-AF65-F5344CB8AC3E}">
        <p14:creationId xmlns:p14="http://schemas.microsoft.com/office/powerpoint/2010/main" val="12768635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8898"/>
                                        </p:tgtEl>
                                        <p:attrNameLst>
                                          <p:attrName>style.visibility</p:attrName>
                                        </p:attrNameLst>
                                      </p:cBhvr>
                                      <p:to>
                                        <p:strVal val="visible"/>
                                      </p:to>
                                    </p:set>
                                    <p:animEffect transition="in" filter="wipe(left)">
                                      <p:cBhvr>
                                        <p:cTn id="7" dur="500"/>
                                        <p:tgtEl>
                                          <p:spTgt spid="2088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8899"/>
                                        </p:tgtEl>
                                        <p:attrNameLst>
                                          <p:attrName>style.visibility</p:attrName>
                                        </p:attrNameLst>
                                      </p:cBhvr>
                                      <p:to>
                                        <p:strVal val="visible"/>
                                      </p:to>
                                    </p:set>
                                    <p:animEffect transition="in" filter="wipe(left)">
                                      <p:cBhvr>
                                        <p:cTn id="12" dur="500"/>
                                        <p:tgtEl>
                                          <p:spTgt spid="2088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8900"/>
                                        </p:tgtEl>
                                        <p:attrNameLst>
                                          <p:attrName>style.visibility</p:attrName>
                                        </p:attrNameLst>
                                      </p:cBhvr>
                                      <p:to>
                                        <p:strVal val="visible"/>
                                      </p:to>
                                    </p:set>
                                    <p:animEffect transition="in" filter="wipe(left)">
                                      <p:cBhvr>
                                        <p:cTn id="17" dur="500"/>
                                        <p:tgtEl>
                                          <p:spTgt spid="2089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8901"/>
                                        </p:tgtEl>
                                        <p:attrNameLst>
                                          <p:attrName>style.visibility</p:attrName>
                                        </p:attrNameLst>
                                      </p:cBhvr>
                                      <p:to>
                                        <p:strVal val="visible"/>
                                      </p:to>
                                    </p:set>
                                    <p:animEffect transition="in" filter="wipe(left)">
                                      <p:cBhvr>
                                        <p:cTn id="22" dur="500"/>
                                        <p:tgtEl>
                                          <p:spTgt spid="2089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8902"/>
                                        </p:tgtEl>
                                        <p:attrNameLst>
                                          <p:attrName>style.visibility</p:attrName>
                                        </p:attrNameLst>
                                      </p:cBhvr>
                                      <p:to>
                                        <p:strVal val="visible"/>
                                      </p:to>
                                    </p:set>
                                    <p:animEffect transition="in" filter="wipe(left)">
                                      <p:cBhvr>
                                        <p:cTn id="27" dur="500"/>
                                        <p:tgtEl>
                                          <p:spTgt spid="20890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208903"/>
                                        </p:tgtEl>
                                        <p:attrNameLst>
                                          <p:attrName>style.visibility</p:attrName>
                                        </p:attrNameLst>
                                      </p:cBhvr>
                                      <p:to>
                                        <p:strVal val="visible"/>
                                      </p:to>
                                    </p:set>
                                    <p:animEffect transition="in" filter="wipe(left)">
                                      <p:cBhvr>
                                        <p:cTn id="32" dur="300"/>
                                        <p:tgtEl>
                                          <p:spTgt spid="20890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208904"/>
                                        </p:tgtEl>
                                        <p:attrNameLst>
                                          <p:attrName>style.visibility</p:attrName>
                                        </p:attrNameLst>
                                      </p:cBhvr>
                                      <p:to>
                                        <p:strVal val="visible"/>
                                      </p:to>
                                    </p:set>
                                    <p:animEffect transition="in" filter="wipe(left)">
                                      <p:cBhvr>
                                        <p:cTn id="37" dur="300"/>
                                        <p:tgtEl>
                                          <p:spTgt spid="2089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8" grpId="0" autoUpdateAnimBg="0"/>
      <p:bldP spid="208899" grpId="0" autoUpdateAnimBg="0"/>
      <p:bldP spid="208900" grpId="0" autoUpdateAnimBg="0"/>
      <p:bldP spid="208901" grpId="0" autoUpdateAnimBg="0"/>
      <p:bldP spid="208902" grpId="0" autoUpdateAnimBg="0"/>
      <p:bldP spid="208903" grpId="0" autoUpdateAnimBg="0"/>
      <p:bldP spid="208904"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1026"/>
          <p:cNvSpPr>
            <a:spLocks noChangeArrowheads="1"/>
          </p:cNvSpPr>
          <p:nvPr/>
        </p:nvSpPr>
        <p:spPr bwMode="auto">
          <a:xfrm>
            <a:off x="457200" y="76200"/>
            <a:ext cx="37734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CC6600"/>
                </a:solidFill>
                <a:ea typeface="楷体_GB2312" charset="0"/>
              </a:rPr>
              <a:t>算法描述如下：</a:t>
            </a:r>
          </a:p>
        </p:txBody>
      </p:sp>
      <p:sp>
        <p:nvSpPr>
          <p:cNvPr id="192515" name="Text Box 1027"/>
          <p:cNvSpPr txBox="1">
            <a:spLocks noChangeArrowheads="1"/>
          </p:cNvSpPr>
          <p:nvPr/>
        </p:nvSpPr>
        <p:spPr bwMode="auto">
          <a:xfrm>
            <a:off x="152400" y="381000"/>
            <a:ext cx="8991600" cy="647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5000"/>
              </a:lnSpc>
            </a:pPr>
            <a:r>
              <a:rPr lang="en-US" altLang="zh-CN" sz="3600" b="1">
                <a:solidFill>
                  <a:srgbClr val="A50021"/>
                </a:solidFill>
                <a:ea typeface="楷体_GB2312" charset="0"/>
              </a:rPr>
              <a:t>Status</a:t>
            </a:r>
            <a:r>
              <a:rPr lang="en-US" altLang="zh-CN" sz="3600">
                <a:solidFill>
                  <a:srgbClr val="A50021"/>
                </a:solidFill>
                <a:ea typeface="楷体_GB2312" charset="0"/>
              </a:rPr>
              <a:t> SearchBST (BiTree </a:t>
            </a:r>
            <a:r>
              <a:rPr lang="en-US" altLang="zh-CN" sz="3600">
                <a:solidFill>
                  <a:srgbClr val="FF0000"/>
                </a:solidFill>
                <a:ea typeface="楷体_GB2312" charset="0"/>
              </a:rPr>
              <a:t>T</a:t>
            </a:r>
            <a:r>
              <a:rPr lang="en-US" altLang="zh-CN" sz="3600">
                <a:solidFill>
                  <a:srgbClr val="A50021"/>
                </a:solidFill>
                <a:ea typeface="楷体_GB2312" charset="0"/>
              </a:rPr>
              <a:t>, KeyType key, </a:t>
            </a:r>
          </a:p>
          <a:p>
            <a:pPr>
              <a:lnSpc>
                <a:spcPct val="115000"/>
              </a:lnSpc>
            </a:pPr>
            <a:r>
              <a:rPr lang="en-US" altLang="zh-CN" sz="3600">
                <a:solidFill>
                  <a:srgbClr val="A50021"/>
                </a:solidFill>
                <a:ea typeface="楷体_GB2312" charset="0"/>
              </a:rPr>
              <a:t>                                  BiTree </a:t>
            </a:r>
            <a:r>
              <a:rPr lang="en-US" altLang="zh-CN" sz="3600">
                <a:solidFill>
                  <a:srgbClr val="FF0000"/>
                </a:solidFill>
                <a:ea typeface="楷体_GB2312" charset="0"/>
              </a:rPr>
              <a:t>f</a:t>
            </a:r>
            <a:r>
              <a:rPr lang="en-US" altLang="zh-CN" sz="3600">
                <a:solidFill>
                  <a:srgbClr val="A50021"/>
                </a:solidFill>
                <a:ea typeface="楷体_GB2312" charset="0"/>
              </a:rPr>
              <a:t>, BiTree </a:t>
            </a:r>
            <a:r>
              <a:rPr lang="en-US" altLang="zh-CN" sz="3600" b="1">
                <a:solidFill>
                  <a:srgbClr val="FF0000"/>
                </a:solidFill>
                <a:ea typeface="楷体_GB2312" charset="0"/>
              </a:rPr>
              <a:t>&amp;</a:t>
            </a:r>
            <a:r>
              <a:rPr lang="en-US" altLang="zh-CN" sz="3600">
                <a:solidFill>
                  <a:srgbClr val="FF0000"/>
                </a:solidFill>
                <a:ea typeface="楷体_GB2312" charset="0"/>
              </a:rPr>
              <a:t>p</a:t>
            </a:r>
            <a:r>
              <a:rPr lang="en-US" altLang="zh-CN" sz="3600">
                <a:solidFill>
                  <a:srgbClr val="A50021"/>
                </a:solidFill>
                <a:ea typeface="楷体_GB2312" charset="0"/>
              </a:rPr>
              <a:t> ) </a:t>
            </a:r>
            <a:r>
              <a:rPr lang="en-US" altLang="zh-CN" sz="3600" b="1">
                <a:solidFill>
                  <a:srgbClr val="A50021"/>
                </a:solidFill>
                <a:ea typeface="楷体_GB2312" charset="0"/>
              </a:rPr>
              <a:t>{</a:t>
            </a:r>
          </a:p>
          <a:p>
            <a:pPr>
              <a:lnSpc>
                <a:spcPct val="115000"/>
              </a:lnSpc>
            </a:pPr>
            <a:r>
              <a:rPr lang="en-US" altLang="zh-CN" sz="3200" b="1">
                <a:ea typeface="楷体_GB2312" charset="0"/>
              </a:rPr>
              <a:t>  // </a:t>
            </a:r>
            <a:r>
              <a:rPr lang="zh-CN" altLang="en-US" sz="3200" b="1">
                <a:ea typeface="楷体_GB2312" charset="0"/>
              </a:rPr>
              <a:t>在根指针 </a:t>
            </a:r>
            <a:r>
              <a:rPr lang="en-US" altLang="zh-CN" sz="3200" b="1">
                <a:solidFill>
                  <a:srgbClr val="FF0000"/>
                </a:solidFill>
                <a:ea typeface="楷体_GB2312" charset="0"/>
              </a:rPr>
              <a:t>T</a:t>
            </a:r>
            <a:r>
              <a:rPr lang="en-US" altLang="zh-CN" sz="3200" b="1">
                <a:ea typeface="楷体_GB2312" charset="0"/>
              </a:rPr>
              <a:t> </a:t>
            </a:r>
            <a:r>
              <a:rPr lang="zh-CN" altLang="en-US" sz="3200" b="1">
                <a:ea typeface="楷体_GB2312" charset="0"/>
              </a:rPr>
              <a:t>所指二叉排序树中递归地查找其</a:t>
            </a:r>
          </a:p>
          <a:p>
            <a:pPr>
              <a:lnSpc>
                <a:spcPct val="115000"/>
              </a:lnSpc>
            </a:pPr>
            <a:r>
              <a:rPr lang="zh-CN" altLang="en-US" sz="3200" b="1">
                <a:ea typeface="楷体_GB2312" charset="0"/>
              </a:rPr>
              <a:t>  </a:t>
            </a:r>
            <a:r>
              <a:rPr lang="en-US" altLang="zh-CN" sz="3200" b="1">
                <a:ea typeface="楷体_GB2312" charset="0"/>
              </a:rPr>
              <a:t>// </a:t>
            </a:r>
            <a:r>
              <a:rPr lang="zh-CN" altLang="en-US" sz="3200" b="1">
                <a:ea typeface="楷体_GB2312" charset="0"/>
              </a:rPr>
              <a:t>关键字等于 </a:t>
            </a:r>
            <a:r>
              <a:rPr lang="en-US" altLang="zh-CN" sz="3200" b="1">
                <a:ea typeface="楷体_GB2312" charset="0"/>
              </a:rPr>
              <a:t>key </a:t>
            </a:r>
            <a:r>
              <a:rPr lang="zh-CN" altLang="en-US" sz="3200" b="1">
                <a:ea typeface="楷体_GB2312" charset="0"/>
              </a:rPr>
              <a:t>的数据元素，若</a:t>
            </a:r>
            <a:r>
              <a:rPr lang="zh-CN" altLang="en-US" sz="3200" b="1">
                <a:solidFill>
                  <a:srgbClr val="3333FF"/>
                </a:solidFill>
                <a:ea typeface="楷体_GB2312" charset="0"/>
              </a:rPr>
              <a:t>查找成功</a:t>
            </a:r>
            <a:r>
              <a:rPr lang="zh-CN" altLang="en-US" sz="3200" b="1">
                <a:ea typeface="楷体_GB2312" charset="0"/>
              </a:rPr>
              <a:t>，</a:t>
            </a:r>
          </a:p>
          <a:p>
            <a:pPr>
              <a:lnSpc>
                <a:spcPct val="115000"/>
              </a:lnSpc>
            </a:pPr>
            <a:r>
              <a:rPr lang="zh-CN" altLang="en-US" sz="3200" b="1">
                <a:ea typeface="楷体_GB2312" charset="0"/>
              </a:rPr>
              <a:t>  </a:t>
            </a:r>
            <a:r>
              <a:rPr lang="en-US" altLang="zh-CN" sz="3200" b="1">
                <a:ea typeface="楷体_GB2312" charset="0"/>
              </a:rPr>
              <a:t>// </a:t>
            </a:r>
            <a:r>
              <a:rPr lang="zh-CN" altLang="en-US" sz="3200" b="1">
                <a:ea typeface="楷体_GB2312" charset="0"/>
              </a:rPr>
              <a:t>则返回指针</a:t>
            </a:r>
            <a:r>
              <a:rPr lang="zh-CN" altLang="en-US" sz="3200" b="1">
                <a:solidFill>
                  <a:srgbClr val="FF0000"/>
                </a:solidFill>
                <a:ea typeface="楷体_GB2312" charset="0"/>
              </a:rPr>
              <a:t> </a:t>
            </a:r>
            <a:r>
              <a:rPr lang="en-US" altLang="zh-CN" sz="3200" b="1">
                <a:solidFill>
                  <a:srgbClr val="FF0000"/>
                </a:solidFill>
                <a:ea typeface="楷体_GB2312" charset="0"/>
              </a:rPr>
              <a:t>p </a:t>
            </a:r>
            <a:r>
              <a:rPr lang="zh-CN" altLang="en-US" sz="3200" b="1">
                <a:ea typeface="楷体_GB2312" charset="0"/>
              </a:rPr>
              <a:t>指向该数据元素的结点，并返回</a:t>
            </a:r>
          </a:p>
          <a:p>
            <a:pPr>
              <a:lnSpc>
                <a:spcPct val="115000"/>
              </a:lnSpc>
            </a:pPr>
            <a:r>
              <a:rPr lang="zh-CN" altLang="en-US" sz="3200" b="1">
                <a:ea typeface="楷体_GB2312" charset="0"/>
              </a:rPr>
              <a:t>  </a:t>
            </a:r>
            <a:r>
              <a:rPr lang="en-US" altLang="zh-CN" sz="3200" b="1">
                <a:ea typeface="楷体_GB2312" charset="0"/>
              </a:rPr>
              <a:t>// </a:t>
            </a:r>
            <a:r>
              <a:rPr lang="zh-CN" altLang="en-US" sz="3200" b="1">
                <a:ea typeface="楷体_GB2312" charset="0"/>
              </a:rPr>
              <a:t>函数值为 </a:t>
            </a:r>
            <a:r>
              <a:rPr lang="en-US" altLang="zh-CN" sz="3200" b="1">
                <a:solidFill>
                  <a:srgbClr val="A50021"/>
                </a:solidFill>
                <a:ea typeface="楷体_GB2312" charset="0"/>
              </a:rPr>
              <a:t>TRUE</a:t>
            </a:r>
            <a:r>
              <a:rPr lang="en-US" altLang="zh-CN" sz="3200" b="1">
                <a:ea typeface="楷体_GB2312" charset="0"/>
              </a:rPr>
              <a:t>; </a:t>
            </a:r>
          </a:p>
          <a:p>
            <a:pPr>
              <a:lnSpc>
                <a:spcPct val="115000"/>
              </a:lnSpc>
            </a:pPr>
            <a:endParaRPr lang="en-US" altLang="zh-CN" sz="3200" b="1">
              <a:ea typeface="楷体_GB2312" charset="0"/>
            </a:endParaRPr>
          </a:p>
          <a:p>
            <a:pPr>
              <a:lnSpc>
                <a:spcPct val="115000"/>
              </a:lnSpc>
            </a:pPr>
            <a:endParaRPr lang="en-US" altLang="zh-CN" sz="3200" b="1">
              <a:ea typeface="楷体_GB2312" charset="0"/>
            </a:endParaRPr>
          </a:p>
          <a:p>
            <a:pPr>
              <a:lnSpc>
                <a:spcPct val="115000"/>
              </a:lnSpc>
            </a:pPr>
            <a:endParaRPr lang="en-US" altLang="zh-CN" sz="3200" b="1">
              <a:ea typeface="楷体_GB2312" charset="0"/>
            </a:endParaRPr>
          </a:p>
          <a:p>
            <a:pPr>
              <a:lnSpc>
                <a:spcPct val="115000"/>
              </a:lnSpc>
            </a:pPr>
            <a:endParaRPr lang="en-US" altLang="zh-CN" sz="3200">
              <a:ea typeface="楷体_GB2312" charset="0"/>
            </a:endParaRPr>
          </a:p>
          <a:p>
            <a:pPr>
              <a:lnSpc>
                <a:spcPct val="115000"/>
              </a:lnSpc>
            </a:pPr>
            <a:r>
              <a:rPr lang="en-US" altLang="zh-CN" sz="3600" b="1">
                <a:solidFill>
                  <a:srgbClr val="A50021"/>
                </a:solidFill>
                <a:ea typeface="楷体_GB2312" charset="0"/>
              </a:rPr>
              <a:t>}</a:t>
            </a:r>
            <a:r>
              <a:rPr lang="en-US" altLang="zh-CN" sz="3600">
                <a:ea typeface="楷体_GB2312" charset="0"/>
              </a:rPr>
              <a:t> // SearchBST</a:t>
            </a:r>
          </a:p>
        </p:txBody>
      </p:sp>
      <p:sp>
        <p:nvSpPr>
          <p:cNvPr id="192516" name="Text Box 1028">
            <a:hlinkClick r:id="" action="ppaction://hlinkshowjump?jump=nextslide"/>
          </p:cNvPr>
          <p:cNvSpPr txBox="1">
            <a:spLocks noChangeArrowheads="1"/>
          </p:cNvSpPr>
          <p:nvPr/>
        </p:nvSpPr>
        <p:spPr bwMode="auto">
          <a:xfrm>
            <a:off x="685800" y="5410200"/>
            <a:ext cx="42672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4000" b="1">
                <a:solidFill>
                  <a:srgbClr val="FF00FF"/>
                </a:solidFill>
              </a:rPr>
              <a:t>    </a:t>
            </a:r>
            <a:r>
              <a:rPr lang="en-US" altLang="zh-CN" sz="4800" b="1">
                <a:solidFill>
                  <a:srgbClr val="FF00FF"/>
                </a:solidFill>
              </a:rPr>
              <a:t>… … … …</a:t>
            </a:r>
          </a:p>
        </p:txBody>
      </p:sp>
      <p:sp>
        <p:nvSpPr>
          <p:cNvPr id="192520" name="Rectangle 1032">
            <a:hlinkClick r:id="rId2" action="ppaction://hlinksldjump"/>
          </p:cNvPr>
          <p:cNvSpPr>
            <a:spLocks noChangeArrowheads="1"/>
          </p:cNvSpPr>
          <p:nvPr/>
        </p:nvSpPr>
        <p:spPr bwMode="auto">
          <a:xfrm>
            <a:off x="219075" y="3306763"/>
            <a:ext cx="8924925"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lang="en-US" altLang="zh-CN" sz="3200" b="1">
                <a:ea typeface="楷体_GB2312" charset="0"/>
              </a:rPr>
              <a:t>                                    </a:t>
            </a:r>
            <a:r>
              <a:rPr lang="zh-CN" altLang="en-US" sz="3200" b="1">
                <a:ea typeface="楷体_GB2312" charset="0"/>
              </a:rPr>
              <a:t>否则表明</a:t>
            </a:r>
            <a:r>
              <a:rPr lang="zh-CN" altLang="en-US" sz="3200" b="1">
                <a:solidFill>
                  <a:srgbClr val="008080"/>
                </a:solidFill>
                <a:ea typeface="楷体_GB2312" charset="0"/>
              </a:rPr>
              <a:t>查找不成功</a:t>
            </a:r>
            <a:r>
              <a:rPr lang="zh-CN" altLang="en-US" sz="3200" b="1">
                <a:ea typeface="楷体_GB2312" charset="0"/>
              </a:rPr>
              <a:t>，返回</a:t>
            </a:r>
          </a:p>
          <a:p>
            <a:pPr>
              <a:lnSpc>
                <a:spcPct val="115000"/>
              </a:lnSpc>
            </a:pPr>
            <a:r>
              <a:rPr lang="zh-CN" altLang="en-US" sz="3200" b="1">
                <a:ea typeface="楷体_GB2312" charset="0"/>
              </a:rPr>
              <a:t>  </a:t>
            </a:r>
            <a:r>
              <a:rPr lang="en-US" altLang="zh-CN" sz="3200" b="1">
                <a:ea typeface="楷体_GB2312" charset="0"/>
              </a:rPr>
              <a:t>// </a:t>
            </a:r>
            <a:r>
              <a:rPr lang="zh-CN" altLang="en-US" sz="3200" b="1">
                <a:ea typeface="楷体_GB2312" charset="0"/>
              </a:rPr>
              <a:t>指针</a:t>
            </a:r>
            <a:r>
              <a:rPr lang="zh-CN" altLang="en-US" sz="3200" b="1">
                <a:solidFill>
                  <a:srgbClr val="FF0000"/>
                </a:solidFill>
                <a:ea typeface="楷体_GB2312" charset="0"/>
              </a:rPr>
              <a:t> </a:t>
            </a:r>
            <a:r>
              <a:rPr lang="en-US" altLang="zh-CN" sz="3200" b="1">
                <a:solidFill>
                  <a:srgbClr val="FF0000"/>
                </a:solidFill>
                <a:ea typeface="楷体_GB2312" charset="0"/>
              </a:rPr>
              <a:t>p</a:t>
            </a:r>
            <a:r>
              <a:rPr lang="en-US" altLang="zh-CN" sz="3200" b="1">
                <a:ea typeface="楷体_GB2312" charset="0"/>
              </a:rPr>
              <a:t> </a:t>
            </a:r>
            <a:r>
              <a:rPr lang="zh-CN" altLang="en-US" sz="3200" b="1">
                <a:ea typeface="楷体_GB2312" charset="0"/>
              </a:rPr>
              <a:t>指向查找路径上访问的最后一个结点，</a:t>
            </a:r>
          </a:p>
          <a:p>
            <a:pPr>
              <a:lnSpc>
                <a:spcPct val="115000"/>
              </a:lnSpc>
            </a:pPr>
            <a:r>
              <a:rPr lang="zh-CN" altLang="en-US" sz="3200" b="1">
                <a:ea typeface="楷体_GB2312" charset="0"/>
              </a:rPr>
              <a:t>  </a:t>
            </a:r>
            <a:r>
              <a:rPr lang="en-US" altLang="zh-CN" sz="3200" b="1">
                <a:ea typeface="楷体_GB2312" charset="0"/>
              </a:rPr>
              <a:t>// </a:t>
            </a:r>
            <a:r>
              <a:rPr lang="zh-CN" altLang="en-US" sz="3200" b="1">
                <a:ea typeface="楷体_GB2312" charset="0"/>
              </a:rPr>
              <a:t>并返回函数值为</a:t>
            </a:r>
            <a:r>
              <a:rPr lang="en-US" altLang="zh-CN" sz="3200" b="1">
                <a:solidFill>
                  <a:srgbClr val="A50021"/>
                </a:solidFill>
                <a:ea typeface="楷体_GB2312" charset="0"/>
              </a:rPr>
              <a:t>FALSE</a:t>
            </a:r>
            <a:r>
              <a:rPr lang="en-US" altLang="zh-CN" sz="3200" b="1">
                <a:ea typeface="楷体_GB2312" charset="0"/>
              </a:rPr>
              <a:t>, </a:t>
            </a:r>
            <a:r>
              <a:rPr lang="zh-CN" altLang="en-US" sz="3200" b="1">
                <a:ea typeface="楷体_GB2312" charset="0"/>
              </a:rPr>
              <a:t>指针 </a:t>
            </a:r>
            <a:r>
              <a:rPr lang="en-US" altLang="zh-CN" sz="3200" b="1">
                <a:solidFill>
                  <a:srgbClr val="FF0000"/>
                </a:solidFill>
                <a:ea typeface="楷体_GB2312" charset="0"/>
              </a:rPr>
              <a:t>f </a:t>
            </a:r>
            <a:r>
              <a:rPr lang="zh-CN" altLang="en-US" sz="3200" b="1">
                <a:ea typeface="楷体_GB2312" charset="0"/>
              </a:rPr>
              <a:t>指向当前访问</a:t>
            </a:r>
          </a:p>
          <a:p>
            <a:pPr>
              <a:lnSpc>
                <a:spcPct val="115000"/>
              </a:lnSpc>
            </a:pPr>
            <a:r>
              <a:rPr lang="zh-CN" altLang="en-US" sz="3200" b="1">
                <a:ea typeface="楷体_GB2312" charset="0"/>
              </a:rPr>
              <a:t>  </a:t>
            </a:r>
            <a:r>
              <a:rPr lang="en-US" altLang="zh-CN" sz="3200" b="1">
                <a:ea typeface="楷体_GB2312" charset="0"/>
              </a:rPr>
              <a:t>// </a:t>
            </a:r>
            <a:r>
              <a:rPr lang="zh-CN" altLang="en-US" sz="3200" b="1">
                <a:ea typeface="楷体_GB2312" charset="0"/>
              </a:rPr>
              <a:t>的结点的双亲，其初始调用值为</a:t>
            </a:r>
            <a:r>
              <a:rPr lang="en-US" altLang="zh-CN" sz="3200" b="1">
                <a:ea typeface="楷体_GB2312" charset="0"/>
              </a:rPr>
              <a:t>NULL</a:t>
            </a:r>
          </a:p>
        </p:txBody>
      </p:sp>
      <p:sp>
        <p:nvSpPr>
          <p:cNvPr id="192521" name="AutoShape 1033">
            <a:hlinkClick r:id="rId3"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5214887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92514"/>
                                        </p:tgtEl>
                                        <p:attrNameLst>
                                          <p:attrName>style.visibility</p:attrName>
                                        </p:attrNameLst>
                                      </p:cBhvr>
                                      <p:to>
                                        <p:strVal val="visible"/>
                                      </p:to>
                                    </p:set>
                                    <p:anim calcmode="lin" valueType="num">
                                      <p:cBhvr additive="base">
                                        <p:cTn id="7" dur="500" fill="hold"/>
                                        <p:tgtEl>
                                          <p:spTgt spid="192514"/>
                                        </p:tgtEl>
                                        <p:attrNameLst>
                                          <p:attrName>ppt_x</p:attrName>
                                        </p:attrNameLst>
                                      </p:cBhvr>
                                      <p:tavLst>
                                        <p:tav tm="0">
                                          <p:val>
                                            <p:strVal val="0-#ppt_w/2"/>
                                          </p:val>
                                        </p:tav>
                                        <p:tav tm="100000">
                                          <p:val>
                                            <p:strVal val="#ppt_x"/>
                                          </p:val>
                                        </p:tav>
                                      </p:tavLst>
                                    </p:anim>
                                    <p:anim calcmode="lin" valueType="num">
                                      <p:cBhvr additive="base">
                                        <p:cTn id="8" dur="500" fill="hold"/>
                                        <p:tgtEl>
                                          <p:spTgt spid="19251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92514"/>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92515"/>
                                        </p:tgtEl>
                                        <p:attrNameLst>
                                          <p:attrName>style.visibility</p:attrName>
                                        </p:attrNameLst>
                                      </p:cBhvr>
                                      <p:to>
                                        <p:strVal val="visible"/>
                                      </p:to>
                                    </p:set>
                                    <p:animEffect transition="in" filter="strips(downRight)">
                                      <p:cBhvr>
                                        <p:cTn id="13" dur="500"/>
                                        <p:tgtEl>
                                          <p:spTgt spid="192515"/>
                                        </p:tgtEl>
                                      </p:cBhvr>
                                    </p:animEffect>
                                  </p:childTnLst>
                                </p:cTn>
                              </p:par>
                            </p:childTnLst>
                          </p:cTn>
                        </p:par>
                        <p:par>
                          <p:cTn id="14" fill="hold" nodeType="afterGroup">
                            <p:stCondLst>
                              <p:cond delay="500"/>
                            </p:stCondLst>
                            <p:childTnLst>
                              <p:par>
                                <p:cTn id="15" presetID="2" presetClass="entr" presetSubtype="8" fill="hold" grpId="0" nodeType="afterEffect">
                                  <p:stCondLst>
                                    <p:cond delay="0"/>
                                  </p:stCondLst>
                                  <p:childTnLst>
                                    <p:set>
                                      <p:cBhvr>
                                        <p:cTn id="16" dur="1" fill="hold">
                                          <p:stCondLst>
                                            <p:cond delay="0"/>
                                          </p:stCondLst>
                                        </p:cTn>
                                        <p:tgtEl>
                                          <p:spTgt spid="192516"/>
                                        </p:tgtEl>
                                        <p:attrNameLst>
                                          <p:attrName>style.visibility</p:attrName>
                                        </p:attrNameLst>
                                      </p:cBhvr>
                                      <p:to>
                                        <p:strVal val="visible"/>
                                      </p:to>
                                    </p:set>
                                    <p:anim calcmode="lin" valueType="num">
                                      <p:cBhvr additive="base">
                                        <p:cTn id="17" dur="500" fill="hold"/>
                                        <p:tgtEl>
                                          <p:spTgt spid="192516"/>
                                        </p:tgtEl>
                                        <p:attrNameLst>
                                          <p:attrName>ppt_x</p:attrName>
                                        </p:attrNameLst>
                                      </p:cBhvr>
                                      <p:tavLst>
                                        <p:tav tm="0">
                                          <p:val>
                                            <p:strVal val="0-#ppt_w/2"/>
                                          </p:val>
                                        </p:tav>
                                        <p:tav tm="100000">
                                          <p:val>
                                            <p:strVal val="#ppt_x"/>
                                          </p:val>
                                        </p:tav>
                                      </p:tavLst>
                                    </p:anim>
                                    <p:anim calcmode="lin" valueType="num">
                                      <p:cBhvr additive="base">
                                        <p:cTn id="18" dur="500" fill="hold"/>
                                        <p:tgtEl>
                                          <p:spTgt spid="192516"/>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192520"/>
                                        </p:tgtEl>
                                        <p:attrNameLst>
                                          <p:attrName>style.visibility</p:attrName>
                                        </p:attrNameLst>
                                      </p:cBhvr>
                                      <p:to>
                                        <p:strVal val="visible"/>
                                      </p:to>
                                    </p:set>
                                    <p:animEffect transition="in" filter="wipe(left)">
                                      <p:cBhvr>
                                        <p:cTn id="23" dur="300"/>
                                        <p:tgtEl>
                                          <p:spTgt spid="192520"/>
                                        </p:tgtEl>
                                      </p:cBhvr>
                                    </p:animEffect>
                                  </p:childTnLst>
                                </p:cTn>
                              </p:par>
                            </p:childTnLst>
                          </p:cTn>
                        </p:par>
                        <p:par>
                          <p:cTn id="24" fill="hold" nodeType="afterGroup">
                            <p:stCondLst>
                              <p:cond delay="13800"/>
                            </p:stCondLst>
                            <p:childTnLst>
                              <p:par>
                                <p:cTn id="25" presetID="2" presetClass="entr" presetSubtype="6" fill="hold" grpId="0" nodeType="afterEffect">
                                  <p:stCondLst>
                                    <p:cond delay="0"/>
                                  </p:stCondLst>
                                  <p:childTnLst>
                                    <p:set>
                                      <p:cBhvr>
                                        <p:cTn id="26" dur="1" fill="hold">
                                          <p:stCondLst>
                                            <p:cond delay="0"/>
                                          </p:stCondLst>
                                        </p:cTn>
                                        <p:tgtEl>
                                          <p:spTgt spid="192521"/>
                                        </p:tgtEl>
                                        <p:attrNameLst>
                                          <p:attrName>style.visibility</p:attrName>
                                        </p:attrNameLst>
                                      </p:cBhvr>
                                      <p:to>
                                        <p:strVal val="visible"/>
                                      </p:to>
                                    </p:set>
                                    <p:anim calcmode="lin" valueType="num">
                                      <p:cBhvr additive="base">
                                        <p:cTn id="27" dur="500" fill="hold"/>
                                        <p:tgtEl>
                                          <p:spTgt spid="192521"/>
                                        </p:tgtEl>
                                        <p:attrNameLst>
                                          <p:attrName>ppt_x</p:attrName>
                                        </p:attrNameLst>
                                      </p:cBhvr>
                                      <p:tavLst>
                                        <p:tav tm="0">
                                          <p:val>
                                            <p:strVal val="1+#ppt_w/2"/>
                                          </p:val>
                                        </p:tav>
                                        <p:tav tm="100000">
                                          <p:val>
                                            <p:strVal val="#ppt_x"/>
                                          </p:val>
                                        </p:tav>
                                      </p:tavLst>
                                    </p:anim>
                                    <p:anim calcmode="lin" valueType="num">
                                      <p:cBhvr additive="base">
                                        <p:cTn id="28" dur="500" fill="hold"/>
                                        <p:tgtEl>
                                          <p:spTgt spid="1925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4" grpId="0" autoUpdateAnimBg="0"/>
      <p:bldP spid="192515" grpId="0" autoUpdateAnimBg="0"/>
      <p:bldP spid="192516" grpId="0" autoUpdateAnimBg="0"/>
      <p:bldP spid="192520" grpId="0" autoUpdateAnimBg="0"/>
      <p:bldP spid="19252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ChangeArrowheads="1"/>
          </p:cNvSpPr>
          <p:nvPr/>
        </p:nvSpPr>
        <p:spPr bwMode="auto">
          <a:xfrm>
            <a:off x="473075" y="185738"/>
            <a:ext cx="6080125" cy="559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600" b="1">
                <a:solidFill>
                  <a:srgbClr val="A50021"/>
                </a:solidFill>
                <a:ea typeface="楷体_GB2312" charset="0"/>
              </a:rPr>
              <a:t>if</a:t>
            </a:r>
            <a:r>
              <a:rPr lang="en-US" altLang="zh-CN" sz="3600">
                <a:solidFill>
                  <a:srgbClr val="A50021"/>
                </a:solidFill>
                <a:ea typeface="楷体_GB2312" charset="0"/>
              </a:rPr>
              <a:t> (</a:t>
            </a:r>
            <a:r>
              <a:rPr lang="en-US" altLang="zh-CN" sz="3600" b="1">
                <a:solidFill>
                  <a:srgbClr val="A50021"/>
                </a:solidFill>
                <a:ea typeface="楷体_GB2312" charset="0"/>
              </a:rPr>
              <a:t>!</a:t>
            </a:r>
            <a:r>
              <a:rPr lang="en-US" altLang="zh-CN" sz="3600">
                <a:solidFill>
                  <a:srgbClr val="A50021"/>
                </a:solidFill>
                <a:ea typeface="楷体_GB2312" charset="0"/>
              </a:rPr>
              <a:t>T)</a:t>
            </a:r>
          </a:p>
          <a:p>
            <a:pPr>
              <a:lnSpc>
                <a:spcPct val="125000"/>
              </a:lnSpc>
            </a:pPr>
            <a:endParaRPr lang="en-US" altLang="zh-CN" sz="3600">
              <a:solidFill>
                <a:srgbClr val="A50021"/>
              </a:solidFill>
              <a:ea typeface="楷体_GB2312" charset="0"/>
            </a:endParaRPr>
          </a:p>
          <a:p>
            <a:pPr>
              <a:lnSpc>
                <a:spcPct val="125000"/>
              </a:lnSpc>
            </a:pPr>
            <a:r>
              <a:rPr lang="en-US" altLang="zh-CN" sz="3600" b="1">
                <a:solidFill>
                  <a:srgbClr val="A50021"/>
                </a:solidFill>
                <a:ea typeface="楷体_GB2312" charset="0"/>
              </a:rPr>
              <a:t>else  if</a:t>
            </a:r>
            <a:r>
              <a:rPr lang="en-US" altLang="zh-CN" sz="3600">
                <a:ea typeface="楷体_GB2312" charset="0"/>
              </a:rPr>
              <a:t> </a:t>
            </a:r>
            <a:r>
              <a:rPr lang="en-US" altLang="zh-CN" sz="3600">
                <a:solidFill>
                  <a:srgbClr val="FF0000"/>
                </a:solidFill>
                <a:ea typeface="楷体_GB2312" charset="0"/>
              </a:rPr>
              <a:t>( EQ(key, T-&gt;data.key) )</a:t>
            </a:r>
            <a:endParaRPr lang="en-US" altLang="zh-CN" sz="3600">
              <a:ea typeface="楷体_GB2312" charset="0"/>
            </a:endParaRPr>
          </a:p>
          <a:p>
            <a:pPr>
              <a:lnSpc>
                <a:spcPct val="125000"/>
              </a:lnSpc>
            </a:pPr>
            <a:r>
              <a:rPr lang="en-US" altLang="zh-CN" sz="3600">
                <a:ea typeface="楷体_GB2312" charset="0"/>
              </a:rPr>
              <a:t>    </a:t>
            </a:r>
          </a:p>
          <a:p>
            <a:pPr>
              <a:lnSpc>
                <a:spcPct val="125000"/>
              </a:lnSpc>
            </a:pPr>
            <a:r>
              <a:rPr lang="en-US" altLang="zh-CN" sz="3600" b="1">
                <a:solidFill>
                  <a:srgbClr val="A50021"/>
                </a:solidFill>
                <a:ea typeface="楷体_GB2312" charset="0"/>
              </a:rPr>
              <a:t>else  if</a:t>
            </a:r>
            <a:r>
              <a:rPr lang="en-US" altLang="zh-CN" sz="3600" b="1">
                <a:ea typeface="楷体_GB2312" charset="0"/>
              </a:rPr>
              <a:t> </a:t>
            </a:r>
            <a:r>
              <a:rPr lang="en-US" altLang="zh-CN" sz="3600">
                <a:solidFill>
                  <a:srgbClr val="FF0000"/>
                </a:solidFill>
                <a:ea typeface="楷体_GB2312" charset="0"/>
              </a:rPr>
              <a:t>( LT(key, T-&gt;data.key) )</a:t>
            </a:r>
            <a:endParaRPr lang="en-US" altLang="zh-CN" sz="3600">
              <a:ea typeface="楷体_GB2312" charset="0"/>
            </a:endParaRPr>
          </a:p>
          <a:p>
            <a:pPr>
              <a:lnSpc>
                <a:spcPct val="125000"/>
              </a:lnSpc>
            </a:pPr>
            <a:r>
              <a:rPr lang="en-US" altLang="zh-CN" sz="3600">
                <a:ea typeface="楷体_GB2312" charset="0"/>
              </a:rPr>
              <a:t>    </a:t>
            </a:r>
            <a:r>
              <a:rPr lang="en-US" altLang="zh-CN" sz="3600">
                <a:solidFill>
                  <a:srgbClr val="0000FF"/>
                </a:solidFill>
                <a:ea typeface="楷体_GB2312" charset="0"/>
              </a:rPr>
              <a:t>   </a:t>
            </a:r>
          </a:p>
          <a:p>
            <a:pPr>
              <a:lnSpc>
                <a:spcPct val="125000"/>
              </a:lnSpc>
            </a:pPr>
            <a:endParaRPr lang="en-US" altLang="zh-CN" sz="3600">
              <a:ea typeface="楷体_GB2312" charset="0"/>
            </a:endParaRPr>
          </a:p>
          <a:p>
            <a:pPr>
              <a:lnSpc>
                <a:spcPct val="125000"/>
              </a:lnSpc>
            </a:pPr>
            <a:r>
              <a:rPr lang="en-US" altLang="zh-CN" sz="3600" b="1">
                <a:solidFill>
                  <a:srgbClr val="A50021"/>
                </a:solidFill>
                <a:ea typeface="楷体_GB2312" charset="0"/>
              </a:rPr>
              <a:t>else</a:t>
            </a:r>
            <a:endParaRPr lang="en-US" altLang="zh-CN" sz="3200">
              <a:ea typeface="楷体_GB2312" charset="0"/>
            </a:endParaRPr>
          </a:p>
        </p:txBody>
      </p:sp>
      <p:sp>
        <p:nvSpPr>
          <p:cNvPr id="201731" name="Rectangle 3">
            <a:hlinkClick r:id="" action="ppaction://hlinkshowjump?jump=nextslide"/>
          </p:cNvPr>
          <p:cNvSpPr>
            <a:spLocks noChangeArrowheads="1"/>
          </p:cNvSpPr>
          <p:nvPr/>
        </p:nvSpPr>
        <p:spPr bwMode="auto">
          <a:xfrm>
            <a:off x="1143000" y="914400"/>
            <a:ext cx="7566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006600"/>
                </a:solidFill>
                <a:ea typeface="楷体_GB2312" charset="0"/>
              </a:rPr>
              <a:t>{</a:t>
            </a:r>
            <a:r>
              <a:rPr lang="en-US" altLang="zh-CN" sz="3600">
                <a:solidFill>
                  <a:srgbClr val="006600"/>
                </a:solidFill>
                <a:ea typeface="楷体_GB2312" charset="0"/>
              </a:rPr>
              <a:t> p = f;  </a:t>
            </a:r>
            <a:r>
              <a:rPr lang="en-US" altLang="zh-CN" sz="3600" b="1">
                <a:solidFill>
                  <a:srgbClr val="006600"/>
                </a:solidFill>
                <a:ea typeface="楷体_GB2312" charset="0"/>
              </a:rPr>
              <a:t>return FALSE</a:t>
            </a:r>
            <a:r>
              <a:rPr lang="en-US" altLang="zh-CN" sz="3600">
                <a:solidFill>
                  <a:srgbClr val="006600"/>
                </a:solidFill>
                <a:ea typeface="楷体_GB2312" charset="0"/>
              </a:rPr>
              <a:t>; </a:t>
            </a:r>
            <a:r>
              <a:rPr lang="en-US" altLang="zh-CN" sz="3600" b="1">
                <a:solidFill>
                  <a:srgbClr val="006600"/>
                </a:solidFill>
                <a:ea typeface="楷体_GB2312" charset="0"/>
              </a:rPr>
              <a:t>}  </a:t>
            </a:r>
            <a:r>
              <a:rPr lang="en-US" altLang="zh-CN" sz="3200">
                <a:solidFill>
                  <a:srgbClr val="006600"/>
                </a:solidFill>
                <a:ea typeface="楷体_GB2312" charset="0"/>
              </a:rPr>
              <a:t>// </a:t>
            </a:r>
            <a:r>
              <a:rPr lang="zh-CN" altLang="en-US" sz="3200">
                <a:solidFill>
                  <a:srgbClr val="006600"/>
                </a:solidFill>
                <a:ea typeface="楷体_GB2312" charset="0"/>
              </a:rPr>
              <a:t>查找不成功</a:t>
            </a:r>
            <a:endParaRPr lang="zh-CN" altLang="en-US" sz="2800">
              <a:solidFill>
                <a:srgbClr val="006600"/>
              </a:solidFill>
              <a:ea typeface="楷体_GB2312" charset="0"/>
            </a:endParaRPr>
          </a:p>
        </p:txBody>
      </p:sp>
      <p:sp>
        <p:nvSpPr>
          <p:cNvPr id="201732" name="Rectangle 4"/>
          <p:cNvSpPr>
            <a:spLocks noChangeArrowheads="1"/>
          </p:cNvSpPr>
          <p:nvPr/>
        </p:nvSpPr>
        <p:spPr bwMode="auto">
          <a:xfrm>
            <a:off x="1146175" y="2286000"/>
            <a:ext cx="70834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FF00FF"/>
                </a:solidFill>
                <a:ea typeface="楷体_GB2312" charset="0"/>
              </a:rPr>
              <a:t>{</a:t>
            </a:r>
            <a:r>
              <a:rPr lang="en-US" altLang="zh-CN" sz="3600">
                <a:solidFill>
                  <a:srgbClr val="FF00FF"/>
                </a:solidFill>
                <a:ea typeface="楷体_GB2312" charset="0"/>
              </a:rPr>
              <a:t> p = T;  </a:t>
            </a:r>
            <a:r>
              <a:rPr lang="en-US" altLang="zh-CN" sz="3600" b="1">
                <a:solidFill>
                  <a:srgbClr val="FF00FF"/>
                </a:solidFill>
                <a:ea typeface="楷体_GB2312" charset="0"/>
              </a:rPr>
              <a:t>return TRUE</a:t>
            </a:r>
            <a:r>
              <a:rPr lang="en-US" altLang="zh-CN" sz="3600">
                <a:solidFill>
                  <a:srgbClr val="FF00FF"/>
                </a:solidFill>
                <a:ea typeface="楷体_GB2312" charset="0"/>
              </a:rPr>
              <a:t>; </a:t>
            </a:r>
            <a:r>
              <a:rPr lang="en-US" altLang="zh-CN" sz="3600" b="1">
                <a:solidFill>
                  <a:srgbClr val="FF00FF"/>
                </a:solidFill>
                <a:ea typeface="楷体_GB2312" charset="0"/>
              </a:rPr>
              <a:t>}</a:t>
            </a:r>
            <a:r>
              <a:rPr lang="en-US" altLang="zh-CN" sz="3600" b="1">
                <a:ea typeface="楷体_GB2312" charset="0"/>
              </a:rPr>
              <a:t>  </a:t>
            </a:r>
            <a:r>
              <a:rPr lang="en-US" altLang="zh-CN" sz="3200">
                <a:solidFill>
                  <a:srgbClr val="FF00FF"/>
                </a:solidFill>
                <a:ea typeface="楷体_GB2312" charset="0"/>
              </a:rPr>
              <a:t>// </a:t>
            </a:r>
            <a:r>
              <a:rPr lang="zh-CN" altLang="en-US" sz="3200">
                <a:solidFill>
                  <a:srgbClr val="FF00FF"/>
                </a:solidFill>
                <a:ea typeface="楷体_GB2312" charset="0"/>
              </a:rPr>
              <a:t>查找成功</a:t>
            </a:r>
          </a:p>
        </p:txBody>
      </p:sp>
      <p:sp>
        <p:nvSpPr>
          <p:cNvPr id="201733" name="Rectangle 5"/>
          <p:cNvSpPr>
            <a:spLocks noChangeArrowheads="1"/>
          </p:cNvSpPr>
          <p:nvPr/>
        </p:nvSpPr>
        <p:spPr bwMode="auto">
          <a:xfrm>
            <a:off x="1279525" y="3657600"/>
            <a:ext cx="7026275" cy="135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lang="en-US" altLang="zh-CN" sz="3600">
                <a:solidFill>
                  <a:srgbClr val="0000FF"/>
                </a:solidFill>
                <a:ea typeface="楷体_GB2312" charset="0"/>
              </a:rPr>
              <a:t>SearchBST (T-&gt;</a:t>
            </a:r>
            <a:r>
              <a:rPr lang="en-US" altLang="zh-CN" sz="3600" b="1">
                <a:solidFill>
                  <a:srgbClr val="0000FF"/>
                </a:solidFill>
                <a:ea typeface="楷体_GB2312" charset="0"/>
              </a:rPr>
              <a:t>l</a:t>
            </a:r>
            <a:r>
              <a:rPr lang="en-US" altLang="zh-CN" sz="3600">
                <a:solidFill>
                  <a:srgbClr val="0000FF"/>
                </a:solidFill>
                <a:ea typeface="楷体_GB2312" charset="0"/>
              </a:rPr>
              <a:t>child, key, T, p )</a:t>
            </a:r>
            <a:r>
              <a:rPr lang="en-US" altLang="zh-CN" sz="3600">
                <a:ea typeface="楷体_GB2312" charset="0"/>
              </a:rPr>
              <a:t>;  </a:t>
            </a:r>
          </a:p>
          <a:p>
            <a:pPr>
              <a:lnSpc>
                <a:spcPct val="115000"/>
              </a:lnSpc>
            </a:pPr>
            <a:r>
              <a:rPr lang="en-US" altLang="zh-CN" sz="3600">
                <a:ea typeface="楷体_GB2312" charset="0"/>
              </a:rPr>
              <a:t>                         </a:t>
            </a:r>
            <a:r>
              <a:rPr lang="en-US" altLang="zh-CN" sz="3200">
                <a:solidFill>
                  <a:schemeClr val="accent2"/>
                </a:solidFill>
                <a:ea typeface="楷体_GB2312" charset="0"/>
              </a:rPr>
              <a:t>// </a:t>
            </a:r>
            <a:r>
              <a:rPr lang="zh-CN" altLang="en-US" sz="3200">
                <a:solidFill>
                  <a:schemeClr val="accent2"/>
                </a:solidFill>
                <a:ea typeface="楷体_GB2312" charset="0"/>
              </a:rPr>
              <a:t>在左子树中继续查找</a:t>
            </a:r>
            <a:endParaRPr lang="zh-CN" altLang="en-US" sz="3200">
              <a:ea typeface="楷体_GB2312" charset="0"/>
            </a:endParaRPr>
          </a:p>
        </p:txBody>
      </p:sp>
      <p:sp>
        <p:nvSpPr>
          <p:cNvPr id="201734" name="Rectangle 6"/>
          <p:cNvSpPr>
            <a:spLocks noChangeArrowheads="1"/>
          </p:cNvSpPr>
          <p:nvPr/>
        </p:nvSpPr>
        <p:spPr bwMode="auto">
          <a:xfrm>
            <a:off x="1355725" y="5029200"/>
            <a:ext cx="7026275" cy="135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lang="en-US" altLang="zh-CN" sz="3600">
                <a:solidFill>
                  <a:srgbClr val="0000FF"/>
                </a:solidFill>
                <a:ea typeface="楷体_GB2312" charset="0"/>
              </a:rPr>
              <a:t>SearchBST (T-&gt;</a:t>
            </a:r>
            <a:r>
              <a:rPr lang="en-US" altLang="zh-CN" sz="3600" b="1">
                <a:solidFill>
                  <a:srgbClr val="0000FF"/>
                </a:solidFill>
                <a:ea typeface="楷体_GB2312" charset="0"/>
              </a:rPr>
              <a:t>r</a:t>
            </a:r>
            <a:r>
              <a:rPr lang="en-US" altLang="zh-CN" sz="3600">
                <a:solidFill>
                  <a:srgbClr val="0000FF"/>
                </a:solidFill>
                <a:ea typeface="楷体_GB2312" charset="0"/>
              </a:rPr>
              <a:t>child, key, T, p )</a:t>
            </a:r>
            <a:r>
              <a:rPr lang="en-US" altLang="zh-CN" sz="3600">
                <a:ea typeface="楷体_GB2312" charset="0"/>
              </a:rPr>
              <a:t>; </a:t>
            </a:r>
          </a:p>
          <a:p>
            <a:pPr>
              <a:lnSpc>
                <a:spcPct val="115000"/>
              </a:lnSpc>
            </a:pPr>
            <a:r>
              <a:rPr lang="en-US" altLang="zh-CN" sz="3600">
                <a:ea typeface="楷体_GB2312" charset="0"/>
              </a:rPr>
              <a:t>                         </a:t>
            </a:r>
            <a:r>
              <a:rPr lang="en-US" altLang="zh-CN" sz="3200">
                <a:solidFill>
                  <a:schemeClr val="accent2"/>
                </a:solidFill>
                <a:ea typeface="楷体_GB2312" charset="0"/>
              </a:rPr>
              <a:t>// </a:t>
            </a:r>
            <a:r>
              <a:rPr lang="zh-CN" altLang="en-US" sz="3200">
                <a:solidFill>
                  <a:schemeClr val="accent2"/>
                </a:solidFill>
                <a:ea typeface="楷体_GB2312" charset="0"/>
              </a:rPr>
              <a:t>在右子树中继续查找</a:t>
            </a:r>
            <a:endParaRPr lang="zh-CN" altLang="en-US" sz="3200">
              <a:ea typeface="楷体_GB2312" charset="0"/>
            </a:endParaRPr>
          </a:p>
        </p:txBody>
      </p:sp>
      <p:sp>
        <p:nvSpPr>
          <p:cNvPr id="201737" name="AutoShape 9">
            <a:hlinkClick r:id="" action="ppaction://hlinkshowjump?jump=previousslide" highlightClick="1"/>
          </p:cNvPr>
          <p:cNvSpPr>
            <a:spLocks noChangeArrowheads="1"/>
          </p:cNvSpPr>
          <p:nvPr/>
        </p:nvSpPr>
        <p:spPr bwMode="auto">
          <a:xfrm>
            <a:off x="8382000" y="62484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3391030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01730"/>
                                        </p:tgtEl>
                                        <p:attrNameLst>
                                          <p:attrName>style.visibility</p:attrName>
                                        </p:attrNameLst>
                                      </p:cBhvr>
                                      <p:to>
                                        <p:strVal val="visible"/>
                                      </p:to>
                                    </p:set>
                                    <p:animEffect transition="in" filter="strips(downRight)">
                                      <p:cBhvr>
                                        <p:cTn id="7" dur="500"/>
                                        <p:tgtEl>
                                          <p:spTgt spid="2017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1732"/>
                                        </p:tgtEl>
                                        <p:attrNameLst>
                                          <p:attrName>style.visibility</p:attrName>
                                        </p:attrNameLst>
                                      </p:cBhvr>
                                      <p:to>
                                        <p:strVal val="visible"/>
                                      </p:to>
                                    </p:set>
                                    <p:animEffect transition="in" filter="wipe(left)">
                                      <p:cBhvr>
                                        <p:cTn id="12" dur="500"/>
                                        <p:tgtEl>
                                          <p:spTgt spid="2017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1733"/>
                                        </p:tgtEl>
                                        <p:attrNameLst>
                                          <p:attrName>style.visibility</p:attrName>
                                        </p:attrNameLst>
                                      </p:cBhvr>
                                      <p:to>
                                        <p:strVal val="visible"/>
                                      </p:to>
                                    </p:set>
                                    <p:animEffect transition="in" filter="wipe(left)">
                                      <p:cBhvr>
                                        <p:cTn id="17" dur="500"/>
                                        <p:tgtEl>
                                          <p:spTgt spid="20173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1734"/>
                                        </p:tgtEl>
                                        <p:attrNameLst>
                                          <p:attrName>style.visibility</p:attrName>
                                        </p:attrNameLst>
                                      </p:cBhvr>
                                      <p:to>
                                        <p:strVal val="visible"/>
                                      </p:to>
                                    </p:set>
                                    <p:animEffect transition="in" filter="wipe(left)">
                                      <p:cBhvr>
                                        <p:cTn id="22" dur="500"/>
                                        <p:tgtEl>
                                          <p:spTgt spid="20173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1731"/>
                                        </p:tgtEl>
                                        <p:attrNameLst>
                                          <p:attrName>style.visibility</p:attrName>
                                        </p:attrNameLst>
                                      </p:cBhvr>
                                      <p:to>
                                        <p:strVal val="visible"/>
                                      </p:to>
                                    </p:set>
                                    <p:animEffect transition="in" filter="wipe(left)">
                                      <p:cBhvr>
                                        <p:cTn id="27" dur="500"/>
                                        <p:tgtEl>
                                          <p:spTgt spid="201731"/>
                                        </p:tgtEl>
                                      </p:cBhvr>
                                    </p:animEffect>
                                  </p:childTnLst>
                                </p:cTn>
                              </p:par>
                            </p:childTnLst>
                          </p:cTn>
                        </p:par>
                        <p:par>
                          <p:cTn id="28" fill="hold" nodeType="afterGroup">
                            <p:stCondLst>
                              <p:cond delay="500"/>
                            </p:stCondLst>
                            <p:childTnLst>
                              <p:par>
                                <p:cTn id="29" presetID="2" presetClass="entr" presetSubtype="6" fill="hold" grpId="0" nodeType="afterEffect">
                                  <p:stCondLst>
                                    <p:cond delay="0"/>
                                  </p:stCondLst>
                                  <p:childTnLst>
                                    <p:set>
                                      <p:cBhvr>
                                        <p:cTn id="30" dur="1" fill="hold">
                                          <p:stCondLst>
                                            <p:cond delay="0"/>
                                          </p:stCondLst>
                                        </p:cTn>
                                        <p:tgtEl>
                                          <p:spTgt spid="201737"/>
                                        </p:tgtEl>
                                        <p:attrNameLst>
                                          <p:attrName>style.visibility</p:attrName>
                                        </p:attrNameLst>
                                      </p:cBhvr>
                                      <p:to>
                                        <p:strVal val="visible"/>
                                      </p:to>
                                    </p:set>
                                    <p:anim calcmode="lin" valueType="num">
                                      <p:cBhvr additive="base">
                                        <p:cTn id="31" dur="500" fill="hold"/>
                                        <p:tgtEl>
                                          <p:spTgt spid="201737"/>
                                        </p:tgtEl>
                                        <p:attrNameLst>
                                          <p:attrName>ppt_x</p:attrName>
                                        </p:attrNameLst>
                                      </p:cBhvr>
                                      <p:tavLst>
                                        <p:tav tm="0">
                                          <p:val>
                                            <p:strVal val="1+#ppt_w/2"/>
                                          </p:val>
                                        </p:tav>
                                        <p:tav tm="100000">
                                          <p:val>
                                            <p:strVal val="#ppt_x"/>
                                          </p:val>
                                        </p:tav>
                                      </p:tavLst>
                                    </p:anim>
                                    <p:anim calcmode="lin" valueType="num">
                                      <p:cBhvr additive="base">
                                        <p:cTn id="32" dur="500" fill="hold"/>
                                        <p:tgtEl>
                                          <p:spTgt spid="2017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autoUpdateAnimBg="0"/>
      <p:bldP spid="201731" grpId="0" autoUpdateAnimBg="0"/>
      <p:bldP spid="201732" grpId="0" autoUpdateAnimBg="0"/>
      <p:bldP spid="201733" grpId="0" autoUpdateAnimBg="0"/>
      <p:bldP spid="201734" grpId="0" autoUpdateAnimBg="0"/>
      <p:bldP spid="20173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Oval 1026"/>
          <p:cNvSpPr>
            <a:spLocks noChangeArrowheads="1"/>
          </p:cNvSpPr>
          <p:nvPr/>
        </p:nvSpPr>
        <p:spPr bwMode="auto">
          <a:xfrm>
            <a:off x="4191000" y="12192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30</a:t>
            </a:r>
            <a:endParaRPr lang="en-US" altLang="zh-CN"/>
          </a:p>
        </p:txBody>
      </p:sp>
      <p:sp>
        <p:nvSpPr>
          <p:cNvPr id="193539" name="Oval 1027"/>
          <p:cNvSpPr>
            <a:spLocks noChangeArrowheads="1"/>
          </p:cNvSpPr>
          <p:nvPr/>
        </p:nvSpPr>
        <p:spPr bwMode="auto">
          <a:xfrm>
            <a:off x="2286000" y="21336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20</a:t>
            </a:r>
            <a:endParaRPr lang="en-US" altLang="zh-CN"/>
          </a:p>
        </p:txBody>
      </p:sp>
      <p:sp>
        <p:nvSpPr>
          <p:cNvPr id="193540" name="Oval 1028"/>
          <p:cNvSpPr>
            <a:spLocks noChangeArrowheads="1"/>
          </p:cNvSpPr>
          <p:nvPr/>
        </p:nvSpPr>
        <p:spPr bwMode="auto">
          <a:xfrm>
            <a:off x="1143000" y="32766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10</a:t>
            </a:r>
            <a:endParaRPr lang="en-US" altLang="zh-CN"/>
          </a:p>
        </p:txBody>
      </p:sp>
      <p:sp>
        <p:nvSpPr>
          <p:cNvPr id="193541" name="Oval 1029"/>
          <p:cNvSpPr>
            <a:spLocks noChangeArrowheads="1"/>
          </p:cNvSpPr>
          <p:nvPr/>
        </p:nvSpPr>
        <p:spPr bwMode="auto">
          <a:xfrm>
            <a:off x="6096000" y="21336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40</a:t>
            </a:r>
            <a:endParaRPr lang="en-US" altLang="zh-CN"/>
          </a:p>
        </p:txBody>
      </p:sp>
      <p:sp>
        <p:nvSpPr>
          <p:cNvPr id="193542" name="Oval 1030"/>
          <p:cNvSpPr>
            <a:spLocks noChangeArrowheads="1"/>
          </p:cNvSpPr>
          <p:nvPr/>
        </p:nvSpPr>
        <p:spPr bwMode="auto">
          <a:xfrm>
            <a:off x="4953000" y="32766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35</a:t>
            </a:r>
            <a:endParaRPr lang="en-US" altLang="zh-CN"/>
          </a:p>
        </p:txBody>
      </p:sp>
      <p:sp>
        <p:nvSpPr>
          <p:cNvPr id="193543" name="Oval 1031"/>
          <p:cNvSpPr>
            <a:spLocks noChangeArrowheads="1"/>
          </p:cNvSpPr>
          <p:nvPr/>
        </p:nvSpPr>
        <p:spPr bwMode="auto">
          <a:xfrm>
            <a:off x="3429000" y="32766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25</a:t>
            </a:r>
            <a:endParaRPr lang="en-US" altLang="zh-CN"/>
          </a:p>
        </p:txBody>
      </p:sp>
      <p:sp>
        <p:nvSpPr>
          <p:cNvPr id="193544" name="Oval 1032"/>
          <p:cNvSpPr>
            <a:spLocks noChangeArrowheads="1"/>
          </p:cNvSpPr>
          <p:nvPr/>
        </p:nvSpPr>
        <p:spPr bwMode="auto">
          <a:xfrm>
            <a:off x="2667000" y="4419600"/>
            <a:ext cx="762000" cy="609600"/>
          </a:xfrm>
          <a:prstGeom prst="ellips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4000">
                <a:solidFill>
                  <a:srgbClr val="990033"/>
                </a:solidFill>
              </a:rPr>
              <a:t>23</a:t>
            </a:r>
            <a:endParaRPr lang="en-US" altLang="zh-CN"/>
          </a:p>
        </p:txBody>
      </p:sp>
      <p:sp>
        <p:nvSpPr>
          <p:cNvPr id="193545" name="Line 1033"/>
          <p:cNvSpPr>
            <a:spLocks noChangeShapeType="1"/>
          </p:cNvSpPr>
          <p:nvPr/>
        </p:nvSpPr>
        <p:spPr bwMode="auto">
          <a:xfrm flipH="1">
            <a:off x="2667000" y="1524000"/>
            <a:ext cx="1524000" cy="609600"/>
          </a:xfrm>
          <a:prstGeom prst="line">
            <a:avLst/>
          </a:prstGeom>
          <a:noFill/>
          <a:ln w="38100">
            <a:solidFill>
              <a:srgbClr val="66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3546" name="Line 1034"/>
          <p:cNvSpPr>
            <a:spLocks noChangeShapeType="1"/>
          </p:cNvSpPr>
          <p:nvPr/>
        </p:nvSpPr>
        <p:spPr bwMode="auto">
          <a:xfrm>
            <a:off x="4953000" y="1524000"/>
            <a:ext cx="1524000" cy="6096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3547" name="Line 1035"/>
          <p:cNvSpPr>
            <a:spLocks noChangeShapeType="1"/>
          </p:cNvSpPr>
          <p:nvPr/>
        </p:nvSpPr>
        <p:spPr bwMode="auto">
          <a:xfrm flipH="1">
            <a:off x="1524000" y="2438400"/>
            <a:ext cx="762000" cy="8382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3548" name="Line 1036"/>
          <p:cNvSpPr>
            <a:spLocks noChangeShapeType="1"/>
          </p:cNvSpPr>
          <p:nvPr/>
        </p:nvSpPr>
        <p:spPr bwMode="auto">
          <a:xfrm>
            <a:off x="3048000" y="2438400"/>
            <a:ext cx="762000" cy="8382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3549" name="Line 1037"/>
          <p:cNvSpPr>
            <a:spLocks noChangeShapeType="1"/>
          </p:cNvSpPr>
          <p:nvPr/>
        </p:nvSpPr>
        <p:spPr bwMode="auto">
          <a:xfrm flipH="1">
            <a:off x="3048000" y="3810000"/>
            <a:ext cx="457200" cy="6096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3550" name="Line 1038"/>
          <p:cNvSpPr>
            <a:spLocks noChangeShapeType="1"/>
          </p:cNvSpPr>
          <p:nvPr/>
        </p:nvSpPr>
        <p:spPr bwMode="auto">
          <a:xfrm flipH="1">
            <a:off x="5334000" y="2438400"/>
            <a:ext cx="762000" cy="8382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3552" name="AutoShape 1040"/>
          <p:cNvSpPr>
            <a:spLocks noChangeArrowheads="1"/>
          </p:cNvSpPr>
          <p:nvPr/>
        </p:nvSpPr>
        <p:spPr bwMode="auto">
          <a:xfrm>
            <a:off x="3962400" y="152400"/>
            <a:ext cx="152400" cy="762000"/>
          </a:xfrm>
          <a:prstGeom prst="downArrow">
            <a:avLst>
              <a:gd name="adj1" fmla="val 50000"/>
              <a:gd name="adj2" fmla="val 125000"/>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53" name="Text Box 1041"/>
          <p:cNvSpPr txBox="1">
            <a:spLocks noChangeArrowheads="1"/>
          </p:cNvSpPr>
          <p:nvPr/>
        </p:nvSpPr>
        <p:spPr bwMode="auto">
          <a:xfrm>
            <a:off x="3659188" y="-9525"/>
            <a:ext cx="303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rgbClr val="006600"/>
                </a:solidFill>
              </a:rPr>
              <a:t>f</a:t>
            </a:r>
            <a:endParaRPr lang="en-US" altLang="zh-CN" sz="2800"/>
          </a:p>
        </p:txBody>
      </p:sp>
      <p:sp>
        <p:nvSpPr>
          <p:cNvPr id="193554" name="AutoShape 1042"/>
          <p:cNvSpPr>
            <a:spLocks noChangeArrowheads="1"/>
          </p:cNvSpPr>
          <p:nvPr/>
        </p:nvSpPr>
        <p:spPr bwMode="auto">
          <a:xfrm>
            <a:off x="4648200" y="381000"/>
            <a:ext cx="152400" cy="762000"/>
          </a:xfrm>
          <a:prstGeom prst="downArrow">
            <a:avLst>
              <a:gd name="adj1" fmla="val 50000"/>
              <a:gd name="adj2" fmla="val 125000"/>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55" name="Text Box 1043"/>
          <p:cNvSpPr txBox="1">
            <a:spLocks noChangeArrowheads="1"/>
          </p:cNvSpPr>
          <p:nvPr/>
        </p:nvSpPr>
        <p:spPr bwMode="auto">
          <a:xfrm>
            <a:off x="4703763" y="228600"/>
            <a:ext cx="4016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A50021"/>
                </a:solidFill>
              </a:rPr>
              <a:t>T</a:t>
            </a:r>
            <a:endParaRPr lang="en-US" altLang="zh-CN" sz="2800"/>
          </a:p>
        </p:txBody>
      </p:sp>
      <p:sp>
        <p:nvSpPr>
          <p:cNvPr id="193556" name="Text Box 1044"/>
          <p:cNvSpPr txBox="1">
            <a:spLocks noChangeArrowheads="1"/>
          </p:cNvSpPr>
          <p:nvPr/>
        </p:nvSpPr>
        <p:spPr bwMode="auto">
          <a:xfrm>
            <a:off x="441325" y="273050"/>
            <a:ext cx="2359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A50021"/>
                </a:solidFill>
                <a:ea typeface="楷体_GB2312" charset="0"/>
              </a:rPr>
              <a:t>设 </a:t>
            </a:r>
            <a:r>
              <a:rPr lang="en-US" altLang="zh-CN" sz="3600">
                <a:solidFill>
                  <a:srgbClr val="A50021"/>
                </a:solidFill>
                <a:ea typeface="楷体_GB2312" charset="0"/>
              </a:rPr>
              <a:t>key = 48</a:t>
            </a:r>
            <a:endParaRPr lang="en-US" altLang="zh-CN" sz="3600">
              <a:ea typeface="楷体_GB2312" charset="0"/>
            </a:endParaRPr>
          </a:p>
        </p:txBody>
      </p:sp>
      <p:sp>
        <p:nvSpPr>
          <p:cNvPr id="193557" name="AutoShape 1045"/>
          <p:cNvSpPr>
            <a:spLocks noChangeArrowheads="1"/>
          </p:cNvSpPr>
          <p:nvPr/>
        </p:nvSpPr>
        <p:spPr bwMode="auto">
          <a:xfrm>
            <a:off x="4419600" y="381000"/>
            <a:ext cx="152400" cy="762000"/>
          </a:xfrm>
          <a:prstGeom prst="downArrow">
            <a:avLst>
              <a:gd name="adj1" fmla="val 50000"/>
              <a:gd name="adj2" fmla="val 125000"/>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58" name="Text Box 1046"/>
          <p:cNvSpPr txBox="1">
            <a:spLocks noChangeArrowheads="1"/>
          </p:cNvSpPr>
          <p:nvPr/>
        </p:nvSpPr>
        <p:spPr bwMode="auto">
          <a:xfrm>
            <a:off x="4116388" y="228600"/>
            <a:ext cx="303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rgbClr val="006600"/>
                </a:solidFill>
              </a:rPr>
              <a:t>f</a:t>
            </a:r>
            <a:endParaRPr lang="en-US" altLang="zh-CN" sz="2800"/>
          </a:p>
        </p:txBody>
      </p:sp>
      <p:sp>
        <p:nvSpPr>
          <p:cNvPr id="193559" name="AutoShape 1047"/>
          <p:cNvSpPr>
            <a:spLocks noChangeArrowheads="1"/>
          </p:cNvSpPr>
          <p:nvPr/>
        </p:nvSpPr>
        <p:spPr bwMode="auto">
          <a:xfrm>
            <a:off x="6553200" y="1295400"/>
            <a:ext cx="152400" cy="762000"/>
          </a:xfrm>
          <a:prstGeom prst="downArrow">
            <a:avLst>
              <a:gd name="adj1" fmla="val 50000"/>
              <a:gd name="adj2" fmla="val 125000"/>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60" name="Text Box 1048"/>
          <p:cNvSpPr txBox="1">
            <a:spLocks noChangeArrowheads="1"/>
          </p:cNvSpPr>
          <p:nvPr/>
        </p:nvSpPr>
        <p:spPr bwMode="auto">
          <a:xfrm>
            <a:off x="6608763" y="1066800"/>
            <a:ext cx="4016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A50021"/>
                </a:solidFill>
              </a:rPr>
              <a:t>T</a:t>
            </a:r>
            <a:endParaRPr lang="en-US" altLang="zh-CN" sz="2800"/>
          </a:p>
        </p:txBody>
      </p:sp>
      <p:sp useBgFill="1">
        <p:nvSpPr>
          <p:cNvPr id="193561" name="Rectangle 1049"/>
          <p:cNvSpPr>
            <a:spLocks noChangeArrowheads="1"/>
          </p:cNvSpPr>
          <p:nvPr/>
        </p:nvSpPr>
        <p:spPr bwMode="auto">
          <a:xfrm>
            <a:off x="3657600" y="0"/>
            <a:ext cx="457200" cy="914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93562" name="Rectangle 1050"/>
          <p:cNvSpPr>
            <a:spLocks noChangeArrowheads="1"/>
          </p:cNvSpPr>
          <p:nvPr/>
        </p:nvSpPr>
        <p:spPr bwMode="auto">
          <a:xfrm>
            <a:off x="4572000" y="152400"/>
            <a:ext cx="533400" cy="990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3563" name="AutoShape 1051"/>
          <p:cNvSpPr>
            <a:spLocks noChangeArrowheads="1"/>
          </p:cNvSpPr>
          <p:nvPr/>
        </p:nvSpPr>
        <p:spPr bwMode="auto">
          <a:xfrm>
            <a:off x="6324600" y="1143000"/>
            <a:ext cx="152400" cy="762000"/>
          </a:xfrm>
          <a:prstGeom prst="downArrow">
            <a:avLst>
              <a:gd name="adj1" fmla="val 50000"/>
              <a:gd name="adj2" fmla="val 125000"/>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64" name="Text Box 1052"/>
          <p:cNvSpPr txBox="1">
            <a:spLocks noChangeArrowheads="1"/>
          </p:cNvSpPr>
          <p:nvPr/>
        </p:nvSpPr>
        <p:spPr bwMode="auto">
          <a:xfrm>
            <a:off x="6021388" y="990600"/>
            <a:ext cx="303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rgbClr val="006600"/>
                </a:solidFill>
              </a:rPr>
              <a:t>f</a:t>
            </a:r>
            <a:endParaRPr lang="en-US" altLang="zh-CN" sz="2800"/>
          </a:p>
        </p:txBody>
      </p:sp>
      <p:sp useBgFill="1">
        <p:nvSpPr>
          <p:cNvPr id="193565" name="Rectangle 1053"/>
          <p:cNvSpPr>
            <a:spLocks noChangeArrowheads="1"/>
          </p:cNvSpPr>
          <p:nvPr/>
        </p:nvSpPr>
        <p:spPr bwMode="auto">
          <a:xfrm>
            <a:off x="4114800" y="304800"/>
            <a:ext cx="4572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3566" name="AutoShape 1054"/>
          <p:cNvSpPr>
            <a:spLocks noChangeArrowheads="1"/>
          </p:cNvSpPr>
          <p:nvPr/>
        </p:nvSpPr>
        <p:spPr bwMode="auto">
          <a:xfrm>
            <a:off x="7467600" y="2438400"/>
            <a:ext cx="152400" cy="762000"/>
          </a:xfrm>
          <a:prstGeom prst="downArrow">
            <a:avLst>
              <a:gd name="adj1" fmla="val 50000"/>
              <a:gd name="adj2" fmla="val 125000"/>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67" name="Text Box 1055"/>
          <p:cNvSpPr txBox="1">
            <a:spLocks noChangeArrowheads="1"/>
          </p:cNvSpPr>
          <p:nvPr/>
        </p:nvSpPr>
        <p:spPr bwMode="auto">
          <a:xfrm>
            <a:off x="7523163" y="2209800"/>
            <a:ext cx="4016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A50021"/>
                </a:solidFill>
              </a:rPr>
              <a:t>T</a:t>
            </a:r>
            <a:endParaRPr lang="en-US" altLang="zh-CN" sz="2800"/>
          </a:p>
        </p:txBody>
      </p:sp>
      <p:sp useBgFill="1">
        <p:nvSpPr>
          <p:cNvPr id="193568" name="Rectangle 1056"/>
          <p:cNvSpPr>
            <a:spLocks noChangeArrowheads="1"/>
          </p:cNvSpPr>
          <p:nvPr/>
        </p:nvSpPr>
        <p:spPr bwMode="auto">
          <a:xfrm>
            <a:off x="6553200" y="990600"/>
            <a:ext cx="533400" cy="1066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zh-CN" altLang="zh-CN"/>
          </a:p>
        </p:txBody>
      </p:sp>
      <p:sp useBgFill="1">
        <p:nvSpPr>
          <p:cNvPr id="193569" name="Text Box 1057"/>
          <p:cNvSpPr txBox="1">
            <a:spLocks noChangeArrowheads="1"/>
          </p:cNvSpPr>
          <p:nvPr/>
        </p:nvSpPr>
        <p:spPr bwMode="auto">
          <a:xfrm>
            <a:off x="2178050" y="273050"/>
            <a:ext cx="641350" cy="64135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A50021"/>
                </a:solidFill>
              </a:rPr>
              <a:t>22</a:t>
            </a:r>
            <a:endParaRPr lang="en-US" altLang="zh-CN" sz="3600"/>
          </a:p>
        </p:txBody>
      </p:sp>
      <p:sp>
        <p:nvSpPr>
          <p:cNvPr id="193570" name="AutoShape 1058"/>
          <p:cNvSpPr>
            <a:spLocks noChangeArrowheads="1"/>
          </p:cNvSpPr>
          <p:nvPr/>
        </p:nvSpPr>
        <p:spPr bwMode="auto">
          <a:xfrm>
            <a:off x="6629400" y="1371600"/>
            <a:ext cx="152400" cy="762000"/>
          </a:xfrm>
          <a:prstGeom prst="downArrow">
            <a:avLst>
              <a:gd name="adj1" fmla="val 50000"/>
              <a:gd name="adj2" fmla="val 125000"/>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72" name="Text Box 1060"/>
          <p:cNvSpPr txBox="1">
            <a:spLocks noChangeArrowheads="1"/>
          </p:cNvSpPr>
          <p:nvPr/>
        </p:nvSpPr>
        <p:spPr bwMode="auto">
          <a:xfrm>
            <a:off x="6781800" y="10668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FF00FF"/>
                </a:solidFill>
              </a:rPr>
              <a:t>p</a:t>
            </a:r>
            <a:endParaRPr lang="en-US" altLang="zh-CN" sz="2800"/>
          </a:p>
        </p:txBody>
      </p:sp>
      <p:sp>
        <p:nvSpPr>
          <p:cNvPr id="193573" name="AutoShape 1061"/>
          <p:cNvSpPr>
            <a:spLocks noChangeArrowheads="1"/>
          </p:cNvSpPr>
          <p:nvPr/>
        </p:nvSpPr>
        <p:spPr bwMode="auto">
          <a:xfrm>
            <a:off x="5181600" y="76200"/>
            <a:ext cx="152400" cy="762000"/>
          </a:xfrm>
          <a:prstGeom prst="downArrow">
            <a:avLst>
              <a:gd name="adj1" fmla="val 50000"/>
              <a:gd name="adj2" fmla="val 125000"/>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74" name="Text Box 1062"/>
          <p:cNvSpPr txBox="1">
            <a:spLocks noChangeArrowheads="1"/>
          </p:cNvSpPr>
          <p:nvPr/>
        </p:nvSpPr>
        <p:spPr bwMode="auto">
          <a:xfrm>
            <a:off x="5335588" y="-76200"/>
            <a:ext cx="303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rgbClr val="006600"/>
                </a:solidFill>
              </a:rPr>
              <a:t>f</a:t>
            </a:r>
            <a:endParaRPr lang="en-US" altLang="zh-CN" sz="2800"/>
          </a:p>
        </p:txBody>
      </p:sp>
      <p:sp useBgFill="1">
        <p:nvSpPr>
          <p:cNvPr id="193575" name="Rectangle 1063"/>
          <p:cNvSpPr>
            <a:spLocks noChangeArrowheads="1"/>
          </p:cNvSpPr>
          <p:nvPr/>
        </p:nvSpPr>
        <p:spPr bwMode="auto">
          <a:xfrm>
            <a:off x="6096000" y="990600"/>
            <a:ext cx="457200" cy="914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3576" name="AutoShape 1064"/>
          <p:cNvSpPr>
            <a:spLocks noChangeArrowheads="1"/>
          </p:cNvSpPr>
          <p:nvPr/>
        </p:nvSpPr>
        <p:spPr bwMode="auto">
          <a:xfrm>
            <a:off x="4516438" y="381000"/>
            <a:ext cx="152400" cy="762000"/>
          </a:xfrm>
          <a:prstGeom prst="downArrow">
            <a:avLst>
              <a:gd name="adj1" fmla="val 50000"/>
              <a:gd name="adj2" fmla="val 125000"/>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77" name="Text Box 1065"/>
          <p:cNvSpPr txBox="1">
            <a:spLocks noChangeArrowheads="1"/>
          </p:cNvSpPr>
          <p:nvPr/>
        </p:nvSpPr>
        <p:spPr bwMode="auto">
          <a:xfrm>
            <a:off x="4114800" y="152400"/>
            <a:ext cx="4016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A50021"/>
                </a:solidFill>
              </a:rPr>
              <a:t>T</a:t>
            </a:r>
            <a:endParaRPr lang="en-US" altLang="zh-CN" sz="2800"/>
          </a:p>
        </p:txBody>
      </p:sp>
      <p:sp useBgFill="1">
        <p:nvSpPr>
          <p:cNvPr id="193578" name="Rectangle 1066"/>
          <p:cNvSpPr>
            <a:spLocks noChangeArrowheads="1"/>
          </p:cNvSpPr>
          <p:nvPr/>
        </p:nvSpPr>
        <p:spPr bwMode="auto">
          <a:xfrm>
            <a:off x="7315200" y="2209800"/>
            <a:ext cx="914400" cy="1066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3581" name="AutoShape 1069"/>
          <p:cNvSpPr>
            <a:spLocks noChangeArrowheads="1"/>
          </p:cNvSpPr>
          <p:nvPr/>
        </p:nvSpPr>
        <p:spPr bwMode="auto">
          <a:xfrm>
            <a:off x="4724400" y="381000"/>
            <a:ext cx="152400" cy="762000"/>
          </a:xfrm>
          <a:prstGeom prst="downArrow">
            <a:avLst>
              <a:gd name="adj1" fmla="val 50000"/>
              <a:gd name="adj2" fmla="val 125000"/>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82" name="Text Box 1070"/>
          <p:cNvSpPr txBox="1">
            <a:spLocks noChangeArrowheads="1"/>
          </p:cNvSpPr>
          <p:nvPr/>
        </p:nvSpPr>
        <p:spPr bwMode="auto">
          <a:xfrm>
            <a:off x="4878388" y="228600"/>
            <a:ext cx="303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rgbClr val="006600"/>
                </a:solidFill>
              </a:rPr>
              <a:t>f</a:t>
            </a:r>
            <a:endParaRPr lang="en-US" altLang="zh-CN" sz="2800"/>
          </a:p>
        </p:txBody>
      </p:sp>
      <p:sp useBgFill="1">
        <p:nvSpPr>
          <p:cNvPr id="193583" name="Rectangle 1071"/>
          <p:cNvSpPr>
            <a:spLocks noChangeArrowheads="1"/>
          </p:cNvSpPr>
          <p:nvPr/>
        </p:nvSpPr>
        <p:spPr bwMode="auto">
          <a:xfrm>
            <a:off x="5105400" y="0"/>
            <a:ext cx="5334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3584" name="AutoShape 1072"/>
          <p:cNvSpPr>
            <a:spLocks noChangeArrowheads="1"/>
          </p:cNvSpPr>
          <p:nvPr/>
        </p:nvSpPr>
        <p:spPr bwMode="auto">
          <a:xfrm>
            <a:off x="2362200" y="1295400"/>
            <a:ext cx="152400" cy="762000"/>
          </a:xfrm>
          <a:prstGeom prst="downArrow">
            <a:avLst>
              <a:gd name="adj1" fmla="val 50000"/>
              <a:gd name="adj2" fmla="val 125000"/>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85" name="Text Box 1073"/>
          <p:cNvSpPr txBox="1">
            <a:spLocks noChangeArrowheads="1"/>
          </p:cNvSpPr>
          <p:nvPr/>
        </p:nvSpPr>
        <p:spPr bwMode="auto">
          <a:xfrm>
            <a:off x="1960563" y="1066800"/>
            <a:ext cx="4016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A50021"/>
                </a:solidFill>
              </a:rPr>
              <a:t>T</a:t>
            </a:r>
            <a:endParaRPr lang="en-US" altLang="zh-CN" sz="2800"/>
          </a:p>
        </p:txBody>
      </p:sp>
      <p:sp useBgFill="1">
        <p:nvSpPr>
          <p:cNvPr id="193586" name="Rectangle 1074"/>
          <p:cNvSpPr>
            <a:spLocks noChangeArrowheads="1"/>
          </p:cNvSpPr>
          <p:nvPr/>
        </p:nvSpPr>
        <p:spPr bwMode="auto">
          <a:xfrm>
            <a:off x="4114800" y="0"/>
            <a:ext cx="533400" cy="1143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3587" name="AutoShape 1075"/>
          <p:cNvSpPr>
            <a:spLocks noChangeArrowheads="1"/>
          </p:cNvSpPr>
          <p:nvPr/>
        </p:nvSpPr>
        <p:spPr bwMode="auto">
          <a:xfrm>
            <a:off x="3830638" y="2362200"/>
            <a:ext cx="152400" cy="762000"/>
          </a:xfrm>
          <a:prstGeom prst="downArrow">
            <a:avLst>
              <a:gd name="adj1" fmla="val 50000"/>
              <a:gd name="adj2" fmla="val 125000"/>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88" name="Text Box 1076"/>
          <p:cNvSpPr txBox="1">
            <a:spLocks noChangeArrowheads="1"/>
          </p:cNvSpPr>
          <p:nvPr/>
        </p:nvSpPr>
        <p:spPr bwMode="auto">
          <a:xfrm>
            <a:off x="3560763" y="2057400"/>
            <a:ext cx="4016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A50021"/>
                </a:solidFill>
              </a:rPr>
              <a:t>T</a:t>
            </a:r>
            <a:endParaRPr lang="en-US" altLang="zh-CN" sz="2800"/>
          </a:p>
        </p:txBody>
      </p:sp>
      <p:sp>
        <p:nvSpPr>
          <p:cNvPr id="193589" name="AutoShape 1077"/>
          <p:cNvSpPr>
            <a:spLocks noChangeArrowheads="1"/>
          </p:cNvSpPr>
          <p:nvPr/>
        </p:nvSpPr>
        <p:spPr bwMode="auto">
          <a:xfrm>
            <a:off x="2667000" y="3657600"/>
            <a:ext cx="152400" cy="762000"/>
          </a:xfrm>
          <a:prstGeom prst="downArrow">
            <a:avLst>
              <a:gd name="adj1" fmla="val 50000"/>
              <a:gd name="adj2" fmla="val 125000"/>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90" name="Text Box 1078"/>
          <p:cNvSpPr txBox="1">
            <a:spLocks noChangeArrowheads="1"/>
          </p:cNvSpPr>
          <p:nvPr/>
        </p:nvSpPr>
        <p:spPr bwMode="auto">
          <a:xfrm>
            <a:off x="2265363" y="3429000"/>
            <a:ext cx="4016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A50021"/>
                </a:solidFill>
              </a:rPr>
              <a:t>T</a:t>
            </a:r>
            <a:endParaRPr lang="en-US" altLang="zh-CN" sz="2800"/>
          </a:p>
        </p:txBody>
      </p:sp>
      <p:sp>
        <p:nvSpPr>
          <p:cNvPr id="193591" name="AutoShape 1079"/>
          <p:cNvSpPr>
            <a:spLocks noChangeArrowheads="1"/>
          </p:cNvSpPr>
          <p:nvPr/>
        </p:nvSpPr>
        <p:spPr bwMode="auto">
          <a:xfrm>
            <a:off x="2078038" y="4724400"/>
            <a:ext cx="152400" cy="762000"/>
          </a:xfrm>
          <a:prstGeom prst="downArrow">
            <a:avLst>
              <a:gd name="adj1" fmla="val 50000"/>
              <a:gd name="adj2" fmla="val 125000"/>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92" name="Text Box 1080"/>
          <p:cNvSpPr txBox="1">
            <a:spLocks noChangeArrowheads="1"/>
          </p:cNvSpPr>
          <p:nvPr/>
        </p:nvSpPr>
        <p:spPr bwMode="auto">
          <a:xfrm>
            <a:off x="1676400" y="4495800"/>
            <a:ext cx="4016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A50021"/>
                </a:solidFill>
              </a:rPr>
              <a:t>T</a:t>
            </a:r>
            <a:endParaRPr lang="en-US" altLang="zh-CN" sz="2800"/>
          </a:p>
        </p:txBody>
      </p:sp>
      <p:sp>
        <p:nvSpPr>
          <p:cNvPr id="193593" name="AutoShape 1081"/>
          <p:cNvSpPr>
            <a:spLocks noChangeArrowheads="1"/>
          </p:cNvSpPr>
          <p:nvPr/>
        </p:nvSpPr>
        <p:spPr bwMode="auto">
          <a:xfrm>
            <a:off x="2667000" y="1219200"/>
            <a:ext cx="152400" cy="762000"/>
          </a:xfrm>
          <a:prstGeom prst="downArrow">
            <a:avLst>
              <a:gd name="adj1" fmla="val 50000"/>
              <a:gd name="adj2" fmla="val 125000"/>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94" name="Text Box 1082"/>
          <p:cNvSpPr txBox="1">
            <a:spLocks noChangeArrowheads="1"/>
          </p:cNvSpPr>
          <p:nvPr/>
        </p:nvSpPr>
        <p:spPr bwMode="auto">
          <a:xfrm>
            <a:off x="2820988" y="1066800"/>
            <a:ext cx="303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rgbClr val="006600"/>
                </a:solidFill>
              </a:rPr>
              <a:t>f</a:t>
            </a:r>
            <a:endParaRPr lang="en-US" altLang="zh-CN" sz="2800"/>
          </a:p>
        </p:txBody>
      </p:sp>
      <p:sp>
        <p:nvSpPr>
          <p:cNvPr id="193595" name="AutoShape 1083"/>
          <p:cNvSpPr>
            <a:spLocks noChangeArrowheads="1"/>
          </p:cNvSpPr>
          <p:nvPr/>
        </p:nvSpPr>
        <p:spPr bwMode="auto">
          <a:xfrm>
            <a:off x="4038600" y="2438400"/>
            <a:ext cx="152400" cy="762000"/>
          </a:xfrm>
          <a:prstGeom prst="downArrow">
            <a:avLst>
              <a:gd name="adj1" fmla="val 50000"/>
              <a:gd name="adj2" fmla="val 125000"/>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96" name="Text Box 1084"/>
          <p:cNvSpPr txBox="1">
            <a:spLocks noChangeArrowheads="1"/>
          </p:cNvSpPr>
          <p:nvPr/>
        </p:nvSpPr>
        <p:spPr bwMode="auto">
          <a:xfrm>
            <a:off x="4192588" y="2362200"/>
            <a:ext cx="303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rgbClr val="006600"/>
                </a:solidFill>
              </a:rPr>
              <a:t>f</a:t>
            </a:r>
            <a:endParaRPr lang="en-US" altLang="zh-CN" sz="2800"/>
          </a:p>
        </p:txBody>
      </p:sp>
      <p:sp>
        <p:nvSpPr>
          <p:cNvPr id="193597" name="AutoShape 1085"/>
          <p:cNvSpPr>
            <a:spLocks noChangeArrowheads="1"/>
          </p:cNvSpPr>
          <p:nvPr/>
        </p:nvSpPr>
        <p:spPr bwMode="auto">
          <a:xfrm>
            <a:off x="2971800" y="3581400"/>
            <a:ext cx="152400" cy="762000"/>
          </a:xfrm>
          <a:prstGeom prst="downArrow">
            <a:avLst>
              <a:gd name="adj1" fmla="val 50000"/>
              <a:gd name="adj2" fmla="val 125000"/>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598" name="Text Box 1086"/>
          <p:cNvSpPr txBox="1">
            <a:spLocks noChangeArrowheads="1"/>
          </p:cNvSpPr>
          <p:nvPr/>
        </p:nvSpPr>
        <p:spPr bwMode="auto">
          <a:xfrm>
            <a:off x="3125788" y="3429000"/>
            <a:ext cx="303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rgbClr val="006600"/>
                </a:solidFill>
              </a:rPr>
              <a:t>f</a:t>
            </a:r>
            <a:endParaRPr lang="en-US" altLang="zh-CN" sz="2800"/>
          </a:p>
        </p:txBody>
      </p:sp>
      <p:sp useBgFill="1">
        <p:nvSpPr>
          <p:cNvPr id="193599" name="Rectangle 1087"/>
          <p:cNvSpPr>
            <a:spLocks noChangeArrowheads="1"/>
          </p:cNvSpPr>
          <p:nvPr/>
        </p:nvSpPr>
        <p:spPr bwMode="auto">
          <a:xfrm>
            <a:off x="4572000" y="228600"/>
            <a:ext cx="533400" cy="914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93600" name="Rectangle 1088"/>
          <p:cNvSpPr>
            <a:spLocks noChangeArrowheads="1"/>
          </p:cNvSpPr>
          <p:nvPr/>
        </p:nvSpPr>
        <p:spPr bwMode="auto">
          <a:xfrm>
            <a:off x="1981200" y="1066800"/>
            <a:ext cx="533400" cy="990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93601" name="Rectangle 1089"/>
          <p:cNvSpPr>
            <a:spLocks noChangeArrowheads="1"/>
          </p:cNvSpPr>
          <p:nvPr/>
        </p:nvSpPr>
        <p:spPr bwMode="auto">
          <a:xfrm>
            <a:off x="2590800" y="1066800"/>
            <a:ext cx="457200" cy="914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93603" name="Rectangle 1091"/>
          <p:cNvSpPr>
            <a:spLocks noChangeArrowheads="1"/>
          </p:cNvSpPr>
          <p:nvPr/>
        </p:nvSpPr>
        <p:spPr bwMode="auto">
          <a:xfrm>
            <a:off x="3657600" y="2057400"/>
            <a:ext cx="381000" cy="990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93604" name="Rectangle 1092"/>
          <p:cNvSpPr>
            <a:spLocks noChangeArrowheads="1"/>
          </p:cNvSpPr>
          <p:nvPr/>
        </p:nvSpPr>
        <p:spPr bwMode="auto">
          <a:xfrm>
            <a:off x="3810000" y="2362200"/>
            <a:ext cx="6096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93605" name="Rectangle 1093"/>
          <p:cNvSpPr>
            <a:spLocks noChangeArrowheads="1"/>
          </p:cNvSpPr>
          <p:nvPr/>
        </p:nvSpPr>
        <p:spPr bwMode="auto">
          <a:xfrm>
            <a:off x="2286000" y="3505200"/>
            <a:ext cx="533400" cy="914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3606" name="AutoShape 1094"/>
          <p:cNvSpPr>
            <a:spLocks noChangeArrowheads="1"/>
          </p:cNvSpPr>
          <p:nvPr/>
        </p:nvSpPr>
        <p:spPr bwMode="auto">
          <a:xfrm>
            <a:off x="2762250" y="3657600"/>
            <a:ext cx="152400" cy="762000"/>
          </a:xfrm>
          <a:prstGeom prst="downArrow">
            <a:avLst>
              <a:gd name="adj1" fmla="val 50000"/>
              <a:gd name="adj2" fmla="val 125000"/>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3607" name="Text Box 1095"/>
          <p:cNvSpPr txBox="1">
            <a:spLocks noChangeArrowheads="1"/>
          </p:cNvSpPr>
          <p:nvPr/>
        </p:nvSpPr>
        <p:spPr bwMode="auto">
          <a:xfrm>
            <a:off x="2438400" y="33528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FF00FF"/>
                </a:solidFill>
              </a:rPr>
              <a:t>p</a:t>
            </a:r>
            <a:endParaRPr lang="en-US" altLang="zh-CN" sz="2800"/>
          </a:p>
        </p:txBody>
      </p:sp>
      <p:sp>
        <p:nvSpPr>
          <p:cNvPr id="193609" name="Freeform 1097"/>
          <p:cNvSpPr>
            <a:spLocks/>
          </p:cNvSpPr>
          <p:nvPr/>
        </p:nvSpPr>
        <p:spPr bwMode="auto">
          <a:xfrm>
            <a:off x="4572000" y="457200"/>
            <a:ext cx="1066800" cy="762000"/>
          </a:xfrm>
          <a:custGeom>
            <a:avLst/>
            <a:gdLst>
              <a:gd name="T0" fmla="*/ 672 w 672"/>
              <a:gd name="T1" fmla="*/ 0 h 480"/>
              <a:gd name="T2" fmla="*/ 192 w 672"/>
              <a:gd name="T3" fmla="*/ 240 h 480"/>
              <a:gd name="T4" fmla="*/ 480 w 672"/>
              <a:gd name="T5" fmla="*/ 240 h 480"/>
              <a:gd name="T6" fmla="*/ 0 w 672"/>
              <a:gd name="T7" fmla="*/ 480 h 480"/>
            </a:gdLst>
            <a:ahLst/>
            <a:cxnLst>
              <a:cxn ang="0">
                <a:pos x="T0" y="T1"/>
              </a:cxn>
              <a:cxn ang="0">
                <a:pos x="T2" y="T3"/>
              </a:cxn>
              <a:cxn ang="0">
                <a:pos x="T4" y="T5"/>
              </a:cxn>
              <a:cxn ang="0">
                <a:pos x="T6" y="T7"/>
              </a:cxn>
            </a:cxnLst>
            <a:rect l="0" t="0" r="r" b="b"/>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a:solidFill>
              <a:srgbClr val="FF00FF"/>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3612" name="AutoShape 1100">
            <a:hlinkClick r:id="" action="ppaction://hlinkshowjump?jump=previousslide" highlightClick="1"/>
          </p:cNvPr>
          <p:cNvSpPr>
            <a:spLocks noChangeArrowheads="1"/>
          </p:cNvSpPr>
          <p:nvPr/>
        </p:nvSpPr>
        <p:spPr bwMode="auto">
          <a:xfrm>
            <a:off x="8382000" y="60960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7555086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93538"/>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93545"/>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93539"/>
                                        </p:tgtEl>
                                        <p:attrNameLst>
                                          <p:attrName>style.visibility</p:attrName>
                                        </p:attrNameLst>
                                      </p:cBhvr>
                                      <p:to>
                                        <p:strVal val="visible"/>
                                      </p:to>
                                    </p:set>
                                  </p:childTnLst>
                                </p:cTn>
                              </p:par>
                            </p:childTnLst>
                          </p:cTn>
                        </p:par>
                        <p:par>
                          <p:cTn id="13" fill="hold" nodeType="afterGroup">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93547"/>
                                        </p:tgtEl>
                                        <p:attrNameLst>
                                          <p:attrName>style.visibility</p:attrName>
                                        </p:attrNameLst>
                                      </p:cBhvr>
                                      <p:to>
                                        <p:strVal val="visible"/>
                                      </p:to>
                                    </p:set>
                                  </p:childTnLst>
                                </p:cTn>
                              </p:par>
                            </p:childTnLst>
                          </p:cTn>
                        </p:par>
                        <p:par>
                          <p:cTn id="16" fill="hold" nodeType="afterGroup">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193540"/>
                                        </p:tgtEl>
                                        <p:attrNameLst>
                                          <p:attrName>style.visibility</p:attrName>
                                        </p:attrNameLst>
                                      </p:cBhvr>
                                      <p:to>
                                        <p:strVal val="visible"/>
                                      </p:to>
                                    </p:set>
                                  </p:childTnLst>
                                </p:cTn>
                              </p:par>
                            </p:childTnLst>
                          </p:cTn>
                        </p:par>
                        <p:par>
                          <p:cTn id="19" fill="hold" nodeType="afterGroup">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193548"/>
                                        </p:tgtEl>
                                        <p:attrNameLst>
                                          <p:attrName>style.visibility</p:attrName>
                                        </p:attrNameLst>
                                      </p:cBhvr>
                                      <p:to>
                                        <p:strVal val="visible"/>
                                      </p:to>
                                    </p:set>
                                  </p:childTnLst>
                                </p:cTn>
                              </p:par>
                            </p:childTnLst>
                          </p:cTn>
                        </p:par>
                        <p:par>
                          <p:cTn id="22" fill="hold" nodeType="afterGroup">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193543"/>
                                        </p:tgtEl>
                                        <p:attrNameLst>
                                          <p:attrName>style.visibility</p:attrName>
                                        </p:attrNameLst>
                                      </p:cBhvr>
                                      <p:to>
                                        <p:strVal val="visible"/>
                                      </p:to>
                                    </p:set>
                                  </p:childTnLst>
                                </p:cTn>
                              </p:par>
                            </p:childTnLst>
                          </p:cTn>
                        </p:par>
                        <p:par>
                          <p:cTn id="25" fill="hold" nodeType="afterGroup">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193549"/>
                                        </p:tgtEl>
                                        <p:attrNameLst>
                                          <p:attrName>style.visibility</p:attrName>
                                        </p:attrNameLst>
                                      </p:cBhvr>
                                      <p:to>
                                        <p:strVal val="visible"/>
                                      </p:to>
                                    </p:set>
                                  </p:childTnLst>
                                </p:cTn>
                              </p:par>
                            </p:childTnLst>
                          </p:cTn>
                        </p:par>
                        <p:par>
                          <p:cTn id="28" fill="hold" nodeType="afterGroup">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193544"/>
                                        </p:tgtEl>
                                        <p:attrNameLst>
                                          <p:attrName>style.visibility</p:attrName>
                                        </p:attrNameLst>
                                      </p:cBhvr>
                                      <p:to>
                                        <p:strVal val="visible"/>
                                      </p:to>
                                    </p:set>
                                  </p:childTnLst>
                                </p:cTn>
                              </p:par>
                            </p:childTnLst>
                          </p:cTn>
                        </p:par>
                        <p:par>
                          <p:cTn id="31" fill="hold" nodeType="afterGroup">
                            <p:stCondLst>
                              <p:cond delay="4500"/>
                            </p:stCondLst>
                            <p:childTnLst>
                              <p:par>
                                <p:cTn id="32" presetID="1" presetClass="entr" presetSubtype="0" fill="hold" grpId="0" nodeType="afterEffect">
                                  <p:stCondLst>
                                    <p:cond delay="0"/>
                                  </p:stCondLst>
                                  <p:childTnLst>
                                    <p:set>
                                      <p:cBhvr>
                                        <p:cTn id="33" dur="1" fill="hold">
                                          <p:stCondLst>
                                            <p:cond delay="499"/>
                                          </p:stCondLst>
                                        </p:cTn>
                                        <p:tgtEl>
                                          <p:spTgt spid="193546"/>
                                        </p:tgtEl>
                                        <p:attrNameLst>
                                          <p:attrName>style.visibility</p:attrName>
                                        </p:attrNameLst>
                                      </p:cBhvr>
                                      <p:to>
                                        <p:strVal val="visible"/>
                                      </p:to>
                                    </p:set>
                                  </p:childTnLst>
                                </p:cTn>
                              </p:par>
                            </p:childTnLst>
                          </p:cTn>
                        </p:par>
                        <p:par>
                          <p:cTn id="34" fill="hold" nodeType="afterGroup">
                            <p:stCondLst>
                              <p:cond delay="5000"/>
                            </p:stCondLst>
                            <p:childTnLst>
                              <p:par>
                                <p:cTn id="35" presetID="1" presetClass="entr" presetSubtype="0" fill="hold" grpId="0" nodeType="afterEffect">
                                  <p:stCondLst>
                                    <p:cond delay="0"/>
                                  </p:stCondLst>
                                  <p:childTnLst>
                                    <p:set>
                                      <p:cBhvr>
                                        <p:cTn id="36" dur="1" fill="hold">
                                          <p:stCondLst>
                                            <p:cond delay="499"/>
                                          </p:stCondLst>
                                        </p:cTn>
                                        <p:tgtEl>
                                          <p:spTgt spid="193541"/>
                                        </p:tgtEl>
                                        <p:attrNameLst>
                                          <p:attrName>style.visibility</p:attrName>
                                        </p:attrNameLst>
                                      </p:cBhvr>
                                      <p:to>
                                        <p:strVal val="visible"/>
                                      </p:to>
                                    </p:set>
                                  </p:childTnLst>
                                </p:cTn>
                              </p:par>
                            </p:childTnLst>
                          </p:cTn>
                        </p:par>
                        <p:par>
                          <p:cTn id="37" fill="hold" nodeType="afterGroup">
                            <p:stCondLst>
                              <p:cond delay="5500"/>
                            </p:stCondLst>
                            <p:childTnLst>
                              <p:par>
                                <p:cTn id="38" presetID="1" presetClass="entr" presetSubtype="0" fill="hold" grpId="0" nodeType="afterEffect">
                                  <p:stCondLst>
                                    <p:cond delay="0"/>
                                  </p:stCondLst>
                                  <p:childTnLst>
                                    <p:set>
                                      <p:cBhvr>
                                        <p:cTn id="39" dur="1" fill="hold">
                                          <p:stCondLst>
                                            <p:cond delay="499"/>
                                          </p:stCondLst>
                                        </p:cTn>
                                        <p:tgtEl>
                                          <p:spTgt spid="193550"/>
                                        </p:tgtEl>
                                        <p:attrNameLst>
                                          <p:attrName>style.visibility</p:attrName>
                                        </p:attrNameLst>
                                      </p:cBhvr>
                                      <p:to>
                                        <p:strVal val="visible"/>
                                      </p:to>
                                    </p:set>
                                  </p:childTnLst>
                                </p:cTn>
                              </p:par>
                            </p:childTnLst>
                          </p:cTn>
                        </p:par>
                        <p:par>
                          <p:cTn id="40" fill="hold" nodeType="afterGroup">
                            <p:stCondLst>
                              <p:cond delay="6000"/>
                            </p:stCondLst>
                            <p:childTnLst>
                              <p:par>
                                <p:cTn id="41" presetID="22" presetClass="entr" presetSubtype="1" fill="hold" grpId="0" nodeType="afterEffect">
                                  <p:stCondLst>
                                    <p:cond delay="0"/>
                                  </p:stCondLst>
                                  <p:childTnLst>
                                    <p:set>
                                      <p:cBhvr>
                                        <p:cTn id="42" dur="1" fill="hold">
                                          <p:stCondLst>
                                            <p:cond delay="0"/>
                                          </p:stCondLst>
                                        </p:cTn>
                                        <p:tgtEl>
                                          <p:spTgt spid="193609"/>
                                        </p:tgtEl>
                                        <p:attrNameLst>
                                          <p:attrName>style.visibility</p:attrName>
                                        </p:attrNameLst>
                                      </p:cBhvr>
                                      <p:to>
                                        <p:strVal val="visible"/>
                                      </p:to>
                                    </p:set>
                                    <p:animEffect transition="in" filter="wipe(up)">
                                      <p:cBhvr>
                                        <p:cTn id="43" dur="500"/>
                                        <p:tgtEl>
                                          <p:spTgt spid="193609"/>
                                        </p:tgtEl>
                                      </p:cBhvr>
                                    </p:animEffect>
                                  </p:childTnLst>
                                </p:cTn>
                              </p:par>
                            </p:childTnLst>
                          </p:cTn>
                        </p:par>
                        <p:par>
                          <p:cTn id="44" fill="hold" nodeType="afterGroup">
                            <p:stCondLst>
                              <p:cond delay="6500"/>
                            </p:stCondLst>
                            <p:childTnLst>
                              <p:par>
                                <p:cTn id="45" presetID="1" presetClass="entr" presetSubtype="0" fill="hold" grpId="0" nodeType="afterEffect">
                                  <p:stCondLst>
                                    <p:cond delay="0"/>
                                  </p:stCondLst>
                                  <p:childTnLst>
                                    <p:set>
                                      <p:cBhvr>
                                        <p:cTn id="46" dur="1" fill="hold">
                                          <p:stCondLst>
                                            <p:cond delay="499"/>
                                          </p:stCondLst>
                                        </p:cTn>
                                        <p:tgtEl>
                                          <p:spTgt spid="193542"/>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193556"/>
                                        </p:tgtEl>
                                        <p:attrNameLst>
                                          <p:attrName>style.visibility</p:attrName>
                                        </p:attrNameLst>
                                      </p:cBhvr>
                                      <p:to>
                                        <p:strVal val="visible"/>
                                      </p:to>
                                    </p:set>
                                    <p:anim calcmode="lin" valueType="num">
                                      <p:cBhvr additive="base">
                                        <p:cTn id="51" dur="500" fill="hold"/>
                                        <p:tgtEl>
                                          <p:spTgt spid="193556"/>
                                        </p:tgtEl>
                                        <p:attrNameLst>
                                          <p:attrName>ppt_x</p:attrName>
                                        </p:attrNameLst>
                                      </p:cBhvr>
                                      <p:tavLst>
                                        <p:tav tm="0">
                                          <p:val>
                                            <p:strVal val="0-#ppt_w/2"/>
                                          </p:val>
                                        </p:tav>
                                        <p:tav tm="100000">
                                          <p:val>
                                            <p:strVal val="#ppt_x"/>
                                          </p:val>
                                        </p:tav>
                                      </p:tavLst>
                                    </p:anim>
                                    <p:anim calcmode="lin" valueType="num">
                                      <p:cBhvr additive="base">
                                        <p:cTn id="52" dur="500" fill="hold"/>
                                        <p:tgtEl>
                                          <p:spTgt spid="193556"/>
                                        </p:tgtEl>
                                        <p:attrNameLst>
                                          <p:attrName>ppt_y</p:attrName>
                                        </p:attrNameLst>
                                      </p:cBhvr>
                                      <p:tavLst>
                                        <p:tav tm="0">
                                          <p:val>
                                            <p:strVal val="#ppt_y"/>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93552"/>
                                        </p:tgtEl>
                                        <p:attrNameLst>
                                          <p:attrName>style.visibility</p:attrName>
                                        </p:attrNameLst>
                                      </p:cBhvr>
                                      <p:to>
                                        <p:strVal val="visible"/>
                                      </p:to>
                                    </p:set>
                                    <p:animEffect transition="in" filter="wipe(up)">
                                      <p:cBhvr>
                                        <p:cTn id="57" dur="500"/>
                                        <p:tgtEl>
                                          <p:spTgt spid="193552"/>
                                        </p:tgtEl>
                                      </p:cBhvr>
                                    </p:animEffect>
                                  </p:childTnLst>
                                </p:cTn>
                              </p:par>
                            </p:childTnLst>
                          </p:cTn>
                        </p:par>
                        <p:par>
                          <p:cTn id="58" fill="hold" nodeType="afterGroup">
                            <p:stCondLst>
                              <p:cond delay="500"/>
                            </p:stCondLst>
                            <p:childTnLst>
                              <p:par>
                                <p:cTn id="59" presetID="2" presetClass="entr" presetSubtype="6" fill="hold" grpId="0" nodeType="afterEffect">
                                  <p:stCondLst>
                                    <p:cond delay="0"/>
                                  </p:stCondLst>
                                  <p:childTnLst>
                                    <p:set>
                                      <p:cBhvr>
                                        <p:cTn id="60" dur="1" fill="hold">
                                          <p:stCondLst>
                                            <p:cond delay="0"/>
                                          </p:stCondLst>
                                        </p:cTn>
                                        <p:tgtEl>
                                          <p:spTgt spid="193612"/>
                                        </p:tgtEl>
                                        <p:attrNameLst>
                                          <p:attrName>style.visibility</p:attrName>
                                        </p:attrNameLst>
                                      </p:cBhvr>
                                      <p:to>
                                        <p:strVal val="visible"/>
                                      </p:to>
                                    </p:set>
                                    <p:anim calcmode="lin" valueType="num">
                                      <p:cBhvr additive="base">
                                        <p:cTn id="61" dur="500" fill="hold"/>
                                        <p:tgtEl>
                                          <p:spTgt spid="193612"/>
                                        </p:tgtEl>
                                        <p:attrNameLst>
                                          <p:attrName>ppt_x</p:attrName>
                                        </p:attrNameLst>
                                      </p:cBhvr>
                                      <p:tavLst>
                                        <p:tav tm="0">
                                          <p:val>
                                            <p:strVal val="1+#ppt_w/2"/>
                                          </p:val>
                                        </p:tav>
                                        <p:tav tm="100000">
                                          <p:val>
                                            <p:strVal val="#ppt_x"/>
                                          </p:val>
                                        </p:tav>
                                      </p:tavLst>
                                    </p:anim>
                                    <p:anim calcmode="lin" valueType="num">
                                      <p:cBhvr additive="base">
                                        <p:cTn id="62" dur="500" fill="hold"/>
                                        <p:tgtEl>
                                          <p:spTgt spid="193612"/>
                                        </p:tgtEl>
                                        <p:attrNameLst>
                                          <p:attrName>ppt_y</p:attrName>
                                        </p:attrNameLst>
                                      </p:cBhvr>
                                      <p:tavLst>
                                        <p:tav tm="0">
                                          <p:val>
                                            <p:strVal val="1+#ppt_h/2"/>
                                          </p:val>
                                        </p:tav>
                                        <p:tav tm="100000">
                                          <p:val>
                                            <p:strVal val="#ppt_y"/>
                                          </p:val>
                                        </p:tav>
                                      </p:tavLst>
                                    </p:anim>
                                  </p:childTnLst>
                                </p:cTn>
                              </p:par>
                            </p:childTnLst>
                          </p:cTn>
                        </p:par>
                        <p:par>
                          <p:cTn id="63" fill="hold" nodeType="afterGroup">
                            <p:stCondLst>
                              <p:cond delay="1000"/>
                            </p:stCondLst>
                            <p:childTnLst>
                              <p:par>
                                <p:cTn id="64" presetID="22" presetClass="entr" presetSubtype="1" fill="hold" grpId="0" nodeType="afterEffect">
                                  <p:stCondLst>
                                    <p:cond delay="0"/>
                                  </p:stCondLst>
                                  <p:childTnLst>
                                    <p:set>
                                      <p:cBhvr>
                                        <p:cTn id="65" dur="1" fill="hold">
                                          <p:stCondLst>
                                            <p:cond delay="0"/>
                                          </p:stCondLst>
                                        </p:cTn>
                                        <p:tgtEl>
                                          <p:spTgt spid="193553"/>
                                        </p:tgtEl>
                                        <p:attrNameLst>
                                          <p:attrName>style.visibility</p:attrName>
                                        </p:attrNameLst>
                                      </p:cBhvr>
                                      <p:to>
                                        <p:strVal val="visible"/>
                                      </p:to>
                                    </p:set>
                                    <p:animEffect transition="in" filter="wipe(up)">
                                      <p:cBhvr>
                                        <p:cTn id="66" dur="500"/>
                                        <p:tgtEl>
                                          <p:spTgt spid="19355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193554"/>
                                        </p:tgtEl>
                                        <p:attrNameLst>
                                          <p:attrName>style.visibility</p:attrName>
                                        </p:attrNameLst>
                                      </p:cBhvr>
                                      <p:to>
                                        <p:strVal val="visible"/>
                                      </p:to>
                                    </p:set>
                                    <p:animEffect transition="in" filter="wipe(up)">
                                      <p:cBhvr>
                                        <p:cTn id="71" dur="500"/>
                                        <p:tgtEl>
                                          <p:spTgt spid="193554"/>
                                        </p:tgtEl>
                                      </p:cBhvr>
                                    </p:animEffect>
                                  </p:childTnLst>
                                </p:cTn>
                              </p:par>
                            </p:childTnLst>
                          </p:cTn>
                        </p:par>
                        <p:par>
                          <p:cTn id="72" fill="hold" nodeType="afterGroup">
                            <p:stCondLst>
                              <p:cond delay="500"/>
                            </p:stCondLst>
                            <p:childTnLst>
                              <p:par>
                                <p:cTn id="73" presetID="22" presetClass="entr" presetSubtype="1" fill="hold" grpId="0" nodeType="afterEffect">
                                  <p:stCondLst>
                                    <p:cond delay="0"/>
                                  </p:stCondLst>
                                  <p:childTnLst>
                                    <p:set>
                                      <p:cBhvr>
                                        <p:cTn id="74" dur="1" fill="hold">
                                          <p:stCondLst>
                                            <p:cond delay="0"/>
                                          </p:stCondLst>
                                        </p:cTn>
                                        <p:tgtEl>
                                          <p:spTgt spid="193555"/>
                                        </p:tgtEl>
                                        <p:attrNameLst>
                                          <p:attrName>style.visibility</p:attrName>
                                        </p:attrNameLst>
                                      </p:cBhvr>
                                      <p:to>
                                        <p:strVal val="visible"/>
                                      </p:to>
                                    </p:set>
                                    <p:animEffect transition="in" filter="wipe(up)">
                                      <p:cBhvr>
                                        <p:cTn id="75" dur="500"/>
                                        <p:tgtEl>
                                          <p:spTgt spid="193555"/>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grpId="0" nodeType="clickEffect">
                                  <p:stCondLst>
                                    <p:cond delay="0"/>
                                  </p:stCondLst>
                                  <p:childTnLst>
                                    <p:set>
                                      <p:cBhvr>
                                        <p:cTn id="79" dur="1" fill="hold">
                                          <p:stCondLst>
                                            <p:cond delay="0"/>
                                          </p:stCondLst>
                                        </p:cTn>
                                        <p:tgtEl>
                                          <p:spTgt spid="193561"/>
                                        </p:tgtEl>
                                        <p:attrNameLst>
                                          <p:attrName>style.visibility</p:attrName>
                                        </p:attrNameLst>
                                      </p:cBhvr>
                                      <p:to>
                                        <p:strVal val="visible"/>
                                      </p:to>
                                    </p:set>
                                    <p:animEffect transition="in" filter="wipe(up)">
                                      <p:cBhvr>
                                        <p:cTn id="80" dur="500"/>
                                        <p:tgtEl>
                                          <p:spTgt spid="193561"/>
                                        </p:tgtEl>
                                      </p:cBhvr>
                                    </p:animEffect>
                                  </p:childTnLst>
                                </p:cTn>
                              </p:par>
                            </p:childTnLst>
                          </p:cTn>
                        </p:par>
                        <p:par>
                          <p:cTn id="81" fill="hold" nodeType="afterGroup">
                            <p:stCondLst>
                              <p:cond delay="500"/>
                            </p:stCondLst>
                            <p:childTnLst>
                              <p:par>
                                <p:cTn id="82" presetID="22" presetClass="entr" presetSubtype="1" fill="hold" grpId="0" nodeType="afterEffect">
                                  <p:stCondLst>
                                    <p:cond delay="0"/>
                                  </p:stCondLst>
                                  <p:childTnLst>
                                    <p:set>
                                      <p:cBhvr>
                                        <p:cTn id="83" dur="1" fill="hold">
                                          <p:stCondLst>
                                            <p:cond delay="0"/>
                                          </p:stCondLst>
                                        </p:cTn>
                                        <p:tgtEl>
                                          <p:spTgt spid="193557"/>
                                        </p:tgtEl>
                                        <p:attrNameLst>
                                          <p:attrName>style.visibility</p:attrName>
                                        </p:attrNameLst>
                                      </p:cBhvr>
                                      <p:to>
                                        <p:strVal val="visible"/>
                                      </p:to>
                                    </p:set>
                                    <p:animEffect transition="in" filter="wipe(up)">
                                      <p:cBhvr>
                                        <p:cTn id="84" dur="500"/>
                                        <p:tgtEl>
                                          <p:spTgt spid="193557"/>
                                        </p:tgtEl>
                                      </p:cBhvr>
                                    </p:animEffect>
                                  </p:childTnLst>
                                </p:cTn>
                              </p:par>
                            </p:childTnLst>
                          </p:cTn>
                        </p:par>
                        <p:par>
                          <p:cTn id="85" fill="hold" nodeType="afterGroup">
                            <p:stCondLst>
                              <p:cond delay="1000"/>
                            </p:stCondLst>
                            <p:childTnLst>
                              <p:par>
                                <p:cTn id="86" presetID="22" presetClass="entr" presetSubtype="1" fill="hold" grpId="0" nodeType="afterEffect">
                                  <p:stCondLst>
                                    <p:cond delay="0"/>
                                  </p:stCondLst>
                                  <p:childTnLst>
                                    <p:set>
                                      <p:cBhvr>
                                        <p:cTn id="87" dur="1" fill="hold">
                                          <p:stCondLst>
                                            <p:cond delay="0"/>
                                          </p:stCondLst>
                                        </p:cTn>
                                        <p:tgtEl>
                                          <p:spTgt spid="193558"/>
                                        </p:tgtEl>
                                        <p:attrNameLst>
                                          <p:attrName>style.visibility</p:attrName>
                                        </p:attrNameLst>
                                      </p:cBhvr>
                                      <p:to>
                                        <p:strVal val="visible"/>
                                      </p:to>
                                    </p:set>
                                    <p:animEffect transition="in" filter="wipe(up)">
                                      <p:cBhvr>
                                        <p:cTn id="88" dur="500"/>
                                        <p:tgtEl>
                                          <p:spTgt spid="193558"/>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1" fill="hold" grpId="0" nodeType="clickEffect">
                                  <p:stCondLst>
                                    <p:cond delay="0"/>
                                  </p:stCondLst>
                                  <p:childTnLst>
                                    <p:set>
                                      <p:cBhvr>
                                        <p:cTn id="92" dur="1" fill="hold">
                                          <p:stCondLst>
                                            <p:cond delay="0"/>
                                          </p:stCondLst>
                                        </p:cTn>
                                        <p:tgtEl>
                                          <p:spTgt spid="193562"/>
                                        </p:tgtEl>
                                        <p:attrNameLst>
                                          <p:attrName>style.visibility</p:attrName>
                                        </p:attrNameLst>
                                      </p:cBhvr>
                                      <p:to>
                                        <p:strVal val="visible"/>
                                      </p:to>
                                    </p:set>
                                    <p:animEffect transition="in" filter="wipe(up)">
                                      <p:cBhvr>
                                        <p:cTn id="93" dur="500"/>
                                        <p:tgtEl>
                                          <p:spTgt spid="193562"/>
                                        </p:tgtEl>
                                      </p:cBhvr>
                                    </p:animEffect>
                                  </p:childTnLst>
                                </p:cTn>
                              </p:par>
                            </p:childTnLst>
                          </p:cTn>
                        </p:par>
                        <p:par>
                          <p:cTn id="94" fill="hold" nodeType="afterGroup">
                            <p:stCondLst>
                              <p:cond delay="500"/>
                            </p:stCondLst>
                            <p:childTnLst>
                              <p:par>
                                <p:cTn id="95" presetID="22" presetClass="entr" presetSubtype="1" fill="hold" grpId="0" nodeType="afterEffect">
                                  <p:stCondLst>
                                    <p:cond delay="0"/>
                                  </p:stCondLst>
                                  <p:childTnLst>
                                    <p:set>
                                      <p:cBhvr>
                                        <p:cTn id="96" dur="1" fill="hold">
                                          <p:stCondLst>
                                            <p:cond delay="0"/>
                                          </p:stCondLst>
                                        </p:cTn>
                                        <p:tgtEl>
                                          <p:spTgt spid="193559"/>
                                        </p:tgtEl>
                                        <p:attrNameLst>
                                          <p:attrName>style.visibility</p:attrName>
                                        </p:attrNameLst>
                                      </p:cBhvr>
                                      <p:to>
                                        <p:strVal val="visible"/>
                                      </p:to>
                                    </p:set>
                                    <p:animEffect transition="in" filter="wipe(up)">
                                      <p:cBhvr>
                                        <p:cTn id="97" dur="500"/>
                                        <p:tgtEl>
                                          <p:spTgt spid="193559"/>
                                        </p:tgtEl>
                                      </p:cBhvr>
                                    </p:animEffect>
                                  </p:childTnLst>
                                </p:cTn>
                              </p:par>
                            </p:childTnLst>
                          </p:cTn>
                        </p:par>
                        <p:par>
                          <p:cTn id="98" fill="hold" nodeType="afterGroup">
                            <p:stCondLst>
                              <p:cond delay="1000"/>
                            </p:stCondLst>
                            <p:childTnLst>
                              <p:par>
                                <p:cTn id="99" presetID="22" presetClass="entr" presetSubtype="1" fill="hold" grpId="0" nodeType="afterEffect">
                                  <p:stCondLst>
                                    <p:cond delay="0"/>
                                  </p:stCondLst>
                                  <p:childTnLst>
                                    <p:set>
                                      <p:cBhvr>
                                        <p:cTn id="100" dur="1" fill="hold">
                                          <p:stCondLst>
                                            <p:cond delay="0"/>
                                          </p:stCondLst>
                                        </p:cTn>
                                        <p:tgtEl>
                                          <p:spTgt spid="193560"/>
                                        </p:tgtEl>
                                        <p:attrNameLst>
                                          <p:attrName>style.visibility</p:attrName>
                                        </p:attrNameLst>
                                      </p:cBhvr>
                                      <p:to>
                                        <p:strVal val="visible"/>
                                      </p:to>
                                    </p:set>
                                    <p:animEffect transition="in" filter="wipe(up)">
                                      <p:cBhvr>
                                        <p:cTn id="101" dur="500"/>
                                        <p:tgtEl>
                                          <p:spTgt spid="193560"/>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1" fill="hold" grpId="0" nodeType="clickEffect">
                                  <p:stCondLst>
                                    <p:cond delay="0"/>
                                  </p:stCondLst>
                                  <p:childTnLst>
                                    <p:set>
                                      <p:cBhvr>
                                        <p:cTn id="105" dur="1" fill="hold">
                                          <p:stCondLst>
                                            <p:cond delay="0"/>
                                          </p:stCondLst>
                                        </p:cTn>
                                        <p:tgtEl>
                                          <p:spTgt spid="193565"/>
                                        </p:tgtEl>
                                        <p:attrNameLst>
                                          <p:attrName>style.visibility</p:attrName>
                                        </p:attrNameLst>
                                      </p:cBhvr>
                                      <p:to>
                                        <p:strVal val="visible"/>
                                      </p:to>
                                    </p:set>
                                    <p:animEffect transition="in" filter="wipe(up)">
                                      <p:cBhvr>
                                        <p:cTn id="106" dur="500"/>
                                        <p:tgtEl>
                                          <p:spTgt spid="193565"/>
                                        </p:tgtEl>
                                      </p:cBhvr>
                                    </p:animEffect>
                                  </p:childTnLst>
                                </p:cTn>
                              </p:par>
                            </p:childTnLst>
                          </p:cTn>
                        </p:par>
                        <p:par>
                          <p:cTn id="107" fill="hold" nodeType="afterGroup">
                            <p:stCondLst>
                              <p:cond delay="500"/>
                            </p:stCondLst>
                            <p:childTnLst>
                              <p:par>
                                <p:cTn id="108" presetID="22" presetClass="entr" presetSubtype="1" fill="hold" grpId="0" nodeType="afterEffect">
                                  <p:stCondLst>
                                    <p:cond delay="0"/>
                                  </p:stCondLst>
                                  <p:childTnLst>
                                    <p:set>
                                      <p:cBhvr>
                                        <p:cTn id="109" dur="1" fill="hold">
                                          <p:stCondLst>
                                            <p:cond delay="0"/>
                                          </p:stCondLst>
                                        </p:cTn>
                                        <p:tgtEl>
                                          <p:spTgt spid="193563"/>
                                        </p:tgtEl>
                                        <p:attrNameLst>
                                          <p:attrName>style.visibility</p:attrName>
                                        </p:attrNameLst>
                                      </p:cBhvr>
                                      <p:to>
                                        <p:strVal val="visible"/>
                                      </p:to>
                                    </p:set>
                                    <p:animEffect transition="in" filter="wipe(up)">
                                      <p:cBhvr>
                                        <p:cTn id="110" dur="500"/>
                                        <p:tgtEl>
                                          <p:spTgt spid="193563"/>
                                        </p:tgtEl>
                                      </p:cBhvr>
                                    </p:animEffect>
                                  </p:childTnLst>
                                </p:cTn>
                              </p:par>
                            </p:childTnLst>
                          </p:cTn>
                        </p:par>
                        <p:par>
                          <p:cTn id="111" fill="hold" nodeType="afterGroup">
                            <p:stCondLst>
                              <p:cond delay="1000"/>
                            </p:stCondLst>
                            <p:childTnLst>
                              <p:par>
                                <p:cTn id="112" presetID="22" presetClass="entr" presetSubtype="1" fill="hold" grpId="0" nodeType="afterEffect">
                                  <p:stCondLst>
                                    <p:cond delay="0"/>
                                  </p:stCondLst>
                                  <p:childTnLst>
                                    <p:set>
                                      <p:cBhvr>
                                        <p:cTn id="113" dur="1" fill="hold">
                                          <p:stCondLst>
                                            <p:cond delay="0"/>
                                          </p:stCondLst>
                                        </p:cTn>
                                        <p:tgtEl>
                                          <p:spTgt spid="193564"/>
                                        </p:tgtEl>
                                        <p:attrNameLst>
                                          <p:attrName>style.visibility</p:attrName>
                                        </p:attrNameLst>
                                      </p:cBhvr>
                                      <p:to>
                                        <p:strVal val="visible"/>
                                      </p:to>
                                    </p:set>
                                    <p:animEffect transition="in" filter="wipe(up)">
                                      <p:cBhvr>
                                        <p:cTn id="114" dur="500"/>
                                        <p:tgtEl>
                                          <p:spTgt spid="193564"/>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1" fill="hold" grpId="0" nodeType="clickEffect">
                                  <p:stCondLst>
                                    <p:cond delay="0"/>
                                  </p:stCondLst>
                                  <p:childTnLst>
                                    <p:set>
                                      <p:cBhvr>
                                        <p:cTn id="118" dur="1" fill="hold">
                                          <p:stCondLst>
                                            <p:cond delay="0"/>
                                          </p:stCondLst>
                                        </p:cTn>
                                        <p:tgtEl>
                                          <p:spTgt spid="193568"/>
                                        </p:tgtEl>
                                        <p:attrNameLst>
                                          <p:attrName>style.visibility</p:attrName>
                                        </p:attrNameLst>
                                      </p:cBhvr>
                                      <p:to>
                                        <p:strVal val="visible"/>
                                      </p:to>
                                    </p:set>
                                    <p:animEffect transition="in" filter="wipe(up)">
                                      <p:cBhvr>
                                        <p:cTn id="119" dur="500"/>
                                        <p:tgtEl>
                                          <p:spTgt spid="193568"/>
                                        </p:tgtEl>
                                      </p:cBhvr>
                                    </p:animEffect>
                                  </p:childTnLst>
                                </p:cTn>
                              </p:par>
                            </p:childTnLst>
                          </p:cTn>
                        </p:par>
                        <p:par>
                          <p:cTn id="120" fill="hold" nodeType="afterGroup">
                            <p:stCondLst>
                              <p:cond delay="500"/>
                            </p:stCondLst>
                            <p:childTnLst>
                              <p:par>
                                <p:cTn id="121" presetID="22" presetClass="entr" presetSubtype="1" fill="hold" grpId="0" nodeType="afterEffect">
                                  <p:stCondLst>
                                    <p:cond delay="0"/>
                                  </p:stCondLst>
                                  <p:childTnLst>
                                    <p:set>
                                      <p:cBhvr>
                                        <p:cTn id="122" dur="1" fill="hold">
                                          <p:stCondLst>
                                            <p:cond delay="0"/>
                                          </p:stCondLst>
                                        </p:cTn>
                                        <p:tgtEl>
                                          <p:spTgt spid="193566"/>
                                        </p:tgtEl>
                                        <p:attrNameLst>
                                          <p:attrName>style.visibility</p:attrName>
                                        </p:attrNameLst>
                                      </p:cBhvr>
                                      <p:to>
                                        <p:strVal val="visible"/>
                                      </p:to>
                                    </p:set>
                                    <p:animEffect transition="in" filter="wipe(up)">
                                      <p:cBhvr>
                                        <p:cTn id="123" dur="500"/>
                                        <p:tgtEl>
                                          <p:spTgt spid="193566"/>
                                        </p:tgtEl>
                                      </p:cBhvr>
                                    </p:animEffect>
                                  </p:childTnLst>
                                </p:cTn>
                              </p:par>
                            </p:childTnLst>
                          </p:cTn>
                        </p:par>
                        <p:par>
                          <p:cTn id="124" fill="hold" nodeType="afterGroup">
                            <p:stCondLst>
                              <p:cond delay="1000"/>
                            </p:stCondLst>
                            <p:childTnLst>
                              <p:par>
                                <p:cTn id="125" presetID="22" presetClass="entr" presetSubtype="1" fill="hold" grpId="0" nodeType="afterEffect">
                                  <p:stCondLst>
                                    <p:cond delay="0"/>
                                  </p:stCondLst>
                                  <p:childTnLst>
                                    <p:set>
                                      <p:cBhvr>
                                        <p:cTn id="126" dur="1" fill="hold">
                                          <p:stCondLst>
                                            <p:cond delay="0"/>
                                          </p:stCondLst>
                                        </p:cTn>
                                        <p:tgtEl>
                                          <p:spTgt spid="193567"/>
                                        </p:tgtEl>
                                        <p:attrNameLst>
                                          <p:attrName>style.visibility</p:attrName>
                                        </p:attrNameLst>
                                      </p:cBhvr>
                                      <p:to>
                                        <p:strVal val="visible"/>
                                      </p:to>
                                    </p:set>
                                    <p:animEffect transition="in" filter="wipe(up)">
                                      <p:cBhvr>
                                        <p:cTn id="127" dur="500"/>
                                        <p:tgtEl>
                                          <p:spTgt spid="193567"/>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1" fill="hold" grpId="0" nodeType="clickEffect">
                                  <p:stCondLst>
                                    <p:cond delay="0"/>
                                  </p:stCondLst>
                                  <p:childTnLst>
                                    <p:set>
                                      <p:cBhvr>
                                        <p:cTn id="131" dur="1" fill="hold">
                                          <p:stCondLst>
                                            <p:cond delay="0"/>
                                          </p:stCondLst>
                                        </p:cTn>
                                        <p:tgtEl>
                                          <p:spTgt spid="193570"/>
                                        </p:tgtEl>
                                        <p:attrNameLst>
                                          <p:attrName>style.visibility</p:attrName>
                                        </p:attrNameLst>
                                      </p:cBhvr>
                                      <p:to>
                                        <p:strVal val="visible"/>
                                      </p:to>
                                    </p:set>
                                    <p:animEffect transition="in" filter="wipe(up)">
                                      <p:cBhvr>
                                        <p:cTn id="132" dur="500"/>
                                        <p:tgtEl>
                                          <p:spTgt spid="193570"/>
                                        </p:tgtEl>
                                      </p:cBhvr>
                                    </p:animEffect>
                                  </p:childTnLst>
                                </p:cTn>
                              </p:par>
                            </p:childTnLst>
                          </p:cTn>
                        </p:par>
                        <p:par>
                          <p:cTn id="133" fill="hold" nodeType="afterGroup">
                            <p:stCondLst>
                              <p:cond delay="500"/>
                            </p:stCondLst>
                            <p:childTnLst>
                              <p:par>
                                <p:cTn id="134" presetID="22" presetClass="entr" presetSubtype="1" fill="hold" grpId="0" nodeType="afterEffect">
                                  <p:stCondLst>
                                    <p:cond delay="0"/>
                                  </p:stCondLst>
                                  <p:childTnLst>
                                    <p:set>
                                      <p:cBhvr>
                                        <p:cTn id="135" dur="1" fill="hold">
                                          <p:stCondLst>
                                            <p:cond delay="0"/>
                                          </p:stCondLst>
                                        </p:cTn>
                                        <p:tgtEl>
                                          <p:spTgt spid="193572"/>
                                        </p:tgtEl>
                                        <p:attrNameLst>
                                          <p:attrName>style.visibility</p:attrName>
                                        </p:attrNameLst>
                                      </p:cBhvr>
                                      <p:to>
                                        <p:strVal val="visible"/>
                                      </p:to>
                                    </p:set>
                                    <p:animEffect transition="in" filter="wipe(up)">
                                      <p:cBhvr>
                                        <p:cTn id="136" dur="500"/>
                                        <p:tgtEl>
                                          <p:spTgt spid="193572"/>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193569"/>
                                        </p:tgtEl>
                                        <p:attrNameLst>
                                          <p:attrName>style.visibility</p:attrName>
                                        </p:attrNameLst>
                                      </p:cBhvr>
                                      <p:to>
                                        <p:strVal val="visible"/>
                                      </p:to>
                                    </p:set>
                                    <p:animEffect transition="in" filter="wipe(left)">
                                      <p:cBhvr>
                                        <p:cTn id="141" dur="500"/>
                                        <p:tgtEl>
                                          <p:spTgt spid="193569"/>
                                        </p:tgtEl>
                                      </p:cBhvr>
                                    </p:animEffect>
                                  </p:childTnLst>
                                </p:cTn>
                              </p:par>
                            </p:childTnLst>
                          </p:cTn>
                        </p:par>
                        <p:par>
                          <p:cTn id="142" fill="hold" nodeType="afterGroup">
                            <p:stCondLst>
                              <p:cond delay="500"/>
                            </p:stCondLst>
                            <p:childTnLst>
                              <p:par>
                                <p:cTn id="143" presetID="22" presetClass="entr" presetSubtype="1" fill="hold" grpId="0" nodeType="afterEffect">
                                  <p:stCondLst>
                                    <p:cond delay="0"/>
                                  </p:stCondLst>
                                  <p:childTnLst>
                                    <p:set>
                                      <p:cBhvr>
                                        <p:cTn id="144" dur="1" fill="hold">
                                          <p:stCondLst>
                                            <p:cond delay="0"/>
                                          </p:stCondLst>
                                        </p:cTn>
                                        <p:tgtEl>
                                          <p:spTgt spid="193575"/>
                                        </p:tgtEl>
                                        <p:attrNameLst>
                                          <p:attrName>style.visibility</p:attrName>
                                        </p:attrNameLst>
                                      </p:cBhvr>
                                      <p:to>
                                        <p:strVal val="visible"/>
                                      </p:to>
                                    </p:set>
                                    <p:animEffect transition="in" filter="wipe(up)">
                                      <p:cBhvr>
                                        <p:cTn id="145" dur="500"/>
                                        <p:tgtEl>
                                          <p:spTgt spid="193575"/>
                                        </p:tgtEl>
                                      </p:cBhvr>
                                    </p:animEffect>
                                  </p:childTnLst>
                                </p:cTn>
                              </p:par>
                            </p:childTnLst>
                          </p:cTn>
                        </p:par>
                        <p:par>
                          <p:cTn id="146" fill="hold" nodeType="afterGroup">
                            <p:stCondLst>
                              <p:cond delay="1000"/>
                            </p:stCondLst>
                            <p:childTnLst>
                              <p:par>
                                <p:cTn id="147" presetID="22" presetClass="entr" presetSubtype="1" fill="hold" grpId="0" nodeType="afterEffect">
                                  <p:stCondLst>
                                    <p:cond delay="0"/>
                                  </p:stCondLst>
                                  <p:childTnLst>
                                    <p:set>
                                      <p:cBhvr>
                                        <p:cTn id="148" dur="1" fill="hold">
                                          <p:stCondLst>
                                            <p:cond delay="0"/>
                                          </p:stCondLst>
                                        </p:cTn>
                                        <p:tgtEl>
                                          <p:spTgt spid="193578"/>
                                        </p:tgtEl>
                                        <p:attrNameLst>
                                          <p:attrName>style.visibility</p:attrName>
                                        </p:attrNameLst>
                                      </p:cBhvr>
                                      <p:to>
                                        <p:strVal val="visible"/>
                                      </p:to>
                                    </p:set>
                                    <p:animEffect transition="in" filter="wipe(up)">
                                      <p:cBhvr>
                                        <p:cTn id="149" dur="500"/>
                                        <p:tgtEl>
                                          <p:spTgt spid="193578"/>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2" presetClass="entr" presetSubtype="1" fill="hold" grpId="0" nodeType="clickEffect">
                                  <p:stCondLst>
                                    <p:cond delay="0"/>
                                  </p:stCondLst>
                                  <p:childTnLst>
                                    <p:set>
                                      <p:cBhvr>
                                        <p:cTn id="153" dur="1" fill="hold">
                                          <p:stCondLst>
                                            <p:cond delay="0"/>
                                          </p:stCondLst>
                                        </p:cTn>
                                        <p:tgtEl>
                                          <p:spTgt spid="193573"/>
                                        </p:tgtEl>
                                        <p:attrNameLst>
                                          <p:attrName>style.visibility</p:attrName>
                                        </p:attrNameLst>
                                      </p:cBhvr>
                                      <p:to>
                                        <p:strVal val="visible"/>
                                      </p:to>
                                    </p:set>
                                    <p:animEffect transition="in" filter="wipe(up)">
                                      <p:cBhvr>
                                        <p:cTn id="154" dur="500"/>
                                        <p:tgtEl>
                                          <p:spTgt spid="193573"/>
                                        </p:tgtEl>
                                      </p:cBhvr>
                                    </p:animEffect>
                                  </p:childTnLst>
                                </p:cTn>
                              </p:par>
                            </p:childTnLst>
                          </p:cTn>
                        </p:par>
                        <p:par>
                          <p:cTn id="155" fill="hold" nodeType="afterGroup">
                            <p:stCondLst>
                              <p:cond delay="500"/>
                            </p:stCondLst>
                            <p:childTnLst>
                              <p:par>
                                <p:cTn id="156" presetID="22" presetClass="entr" presetSubtype="1" fill="hold" grpId="0" nodeType="afterEffect">
                                  <p:stCondLst>
                                    <p:cond delay="0"/>
                                  </p:stCondLst>
                                  <p:childTnLst>
                                    <p:set>
                                      <p:cBhvr>
                                        <p:cTn id="157" dur="1" fill="hold">
                                          <p:stCondLst>
                                            <p:cond delay="0"/>
                                          </p:stCondLst>
                                        </p:cTn>
                                        <p:tgtEl>
                                          <p:spTgt spid="193574"/>
                                        </p:tgtEl>
                                        <p:attrNameLst>
                                          <p:attrName>style.visibility</p:attrName>
                                        </p:attrNameLst>
                                      </p:cBhvr>
                                      <p:to>
                                        <p:strVal val="visible"/>
                                      </p:to>
                                    </p:set>
                                    <p:animEffect transition="in" filter="wipe(up)">
                                      <p:cBhvr>
                                        <p:cTn id="158" dur="500"/>
                                        <p:tgtEl>
                                          <p:spTgt spid="193574"/>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22" presetClass="entr" presetSubtype="1" fill="hold" grpId="0" nodeType="clickEffect">
                                  <p:stCondLst>
                                    <p:cond delay="0"/>
                                  </p:stCondLst>
                                  <p:childTnLst>
                                    <p:set>
                                      <p:cBhvr>
                                        <p:cTn id="162" dur="1" fill="hold">
                                          <p:stCondLst>
                                            <p:cond delay="0"/>
                                          </p:stCondLst>
                                        </p:cTn>
                                        <p:tgtEl>
                                          <p:spTgt spid="193576"/>
                                        </p:tgtEl>
                                        <p:attrNameLst>
                                          <p:attrName>style.visibility</p:attrName>
                                        </p:attrNameLst>
                                      </p:cBhvr>
                                      <p:to>
                                        <p:strVal val="visible"/>
                                      </p:to>
                                    </p:set>
                                    <p:animEffect transition="in" filter="wipe(up)">
                                      <p:cBhvr>
                                        <p:cTn id="163" dur="500"/>
                                        <p:tgtEl>
                                          <p:spTgt spid="193576"/>
                                        </p:tgtEl>
                                      </p:cBhvr>
                                    </p:animEffect>
                                  </p:childTnLst>
                                </p:cTn>
                              </p:par>
                            </p:childTnLst>
                          </p:cTn>
                        </p:par>
                        <p:par>
                          <p:cTn id="164" fill="hold" nodeType="afterGroup">
                            <p:stCondLst>
                              <p:cond delay="500"/>
                            </p:stCondLst>
                            <p:childTnLst>
                              <p:par>
                                <p:cTn id="165" presetID="22" presetClass="entr" presetSubtype="1" fill="hold" grpId="0" nodeType="afterEffect">
                                  <p:stCondLst>
                                    <p:cond delay="0"/>
                                  </p:stCondLst>
                                  <p:childTnLst>
                                    <p:set>
                                      <p:cBhvr>
                                        <p:cTn id="166" dur="1" fill="hold">
                                          <p:stCondLst>
                                            <p:cond delay="0"/>
                                          </p:stCondLst>
                                        </p:cTn>
                                        <p:tgtEl>
                                          <p:spTgt spid="193577"/>
                                        </p:tgtEl>
                                        <p:attrNameLst>
                                          <p:attrName>style.visibility</p:attrName>
                                        </p:attrNameLst>
                                      </p:cBhvr>
                                      <p:to>
                                        <p:strVal val="visible"/>
                                      </p:to>
                                    </p:set>
                                    <p:animEffect transition="in" filter="wipe(up)">
                                      <p:cBhvr>
                                        <p:cTn id="167" dur="500"/>
                                        <p:tgtEl>
                                          <p:spTgt spid="193577"/>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1" fill="hold" grpId="0" nodeType="clickEffect">
                                  <p:stCondLst>
                                    <p:cond delay="0"/>
                                  </p:stCondLst>
                                  <p:childTnLst>
                                    <p:set>
                                      <p:cBhvr>
                                        <p:cTn id="171" dur="1" fill="hold">
                                          <p:stCondLst>
                                            <p:cond delay="0"/>
                                          </p:stCondLst>
                                        </p:cTn>
                                        <p:tgtEl>
                                          <p:spTgt spid="193583"/>
                                        </p:tgtEl>
                                        <p:attrNameLst>
                                          <p:attrName>style.visibility</p:attrName>
                                        </p:attrNameLst>
                                      </p:cBhvr>
                                      <p:to>
                                        <p:strVal val="visible"/>
                                      </p:to>
                                    </p:set>
                                    <p:animEffect transition="in" filter="wipe(up)">
                                      <p:cBhvr>
                                        <p:cTn id="172" dur="500"/>
                                        <p:tgtEl>
                                          <p:spTgt spid="193583"/>
                                        </p:tgtEl>
                                      </p:cBhvr>
                                    </p:animEffect>
                                  </p:childTnLst>
                                </p:cTn>
                              </p:par>
                            </p:childTnLst>
                          </p:cTn>
                        </p:par>
                        <p:par>
                          <p:cTn id="173" fill="hold" nodeType="afterGroup">
                            <p:stCondLst>
                              <p:cond delay="500"/>
                            </p:stCondLst>
                            <p:childTnLst>
                              <p:par>
                                <p:cTn id="174" presetID="22" presetClass="entr" presetSubtype="1" fill="hold" grpId="0" nodeType="afterEffect">
                                  <p:stCondLst>
                                    <p:cond delay="0"/>
                                  </p:stCondLst>
                                  <p:childTnLst>
                                    <p:set>
                                      <p:cBhvr>
                                        <p:cTn id="175" dur="1" fill="hold">
                                          <p:stCondLst>
                                            <p:cond delay="0"/>
                                          </p:stCondLst>
                                        </p:cTn>
                                        <p:tgtEl>
                                          <p:spTgt spid="193581"/>
                                        </p:tgtEl>
                                        <p:attrNameLst>
                                          <p:attrName>style.visibility</p:attrName>
                                        </p:attrNameLst>
                                      </p:cBhvr>
                                      <p:to>
                                        <p:strVal val="visible"/>
                                      </p:to>
                                    </p:set>
                                    <p:animEffect transition="in" filter="wipe(up)">
                                      <p:cBhvr>
                                        <p:cTn id="176" dur="500"/>
                                        <p:tgtEl>
                                          <p:spTgt spid="193581"/>
                                        </p:tgtEl>
                                      </p:cBhvr>
                                    </p:animEffect>
                                  </p:childTnLst>
                                </p:cTn>
                              </p:par>
                            </p:childTnLst>
                          </p:cTn>
                        </p:par>
                        <p:par>
                          <p:cTn id="177" fill="hold" nodeType="afterGroup">
                            <p:stCondLst>
                              <p:cond delay="1000"/>
                            </p:stCondLst>
                            <p:childTnLst>
                              <p:par>
                                <p:cTn id="178" presetID="22" presetClass="entr" presetSubtype="1" fill="hold" grpId="0" nodeType="afterEffect">
                                  <p:stCondLst>
                                    <p:cond delay="0"/>
                                  </p:stCondLst>
                                  <p:childTnLst>
                                    <p:set>
                                      <p:cBhvr>
                                        <p:cTn id="179" dur="1" fill="hold">
                                          <p:stCondLst>
                                            <p:cond delay="0"/>
                                          </p:stCondLst>
                                        </p:cTn>
                                        <p:tgtEl>
                                          <p:spTgt spid="193582"/>
                                        </p:tgtEl>
                                        <p:attrNameLst>
                                          <p:attrName>style.visibility</p:attrName>
                                        </p:attrNameLst>
                                      </p:cBhvr>
                                      <p:to>
                                        <p:strVal val="visible"/>
                                      </p:to>
                                    </p:set>
                                    <p:animEffect transition="in" filter="wipe(up)">
                                      <p:cBhvr>
                                        <p:cTn id="180" dur="500"/>
                                        <p:tgtEl>
                                          <p:spTgt spid="193582"/>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22" presetClass="entr" presetSubtype="1" fill="hold" grpId="0" nodeType="clickEffect">
                                  <p:stCondLst>
                                    <p:cond delay="0"/>
                                  </p:stCondLst>
                                  <p:childTnLst>
                                    <p:set>
                                      <p:cBhvr>
                                        <p:cTn id="184" dur="1" fill="hold">
                                          <p:stCondLst>
                                            <p:cond delay="0"/>
                                          </p:stCondLst>
                                        </p:cTn>
                                        <p:tgtEl>
                                          <p:spTgt spid="193586"/>
                                        </p:tgtEl>
                                        <p:attrNameLst>
                                          <p:attrName>style.visibility</p:attrName>
                                        </p:attrNameLst>
                                      </p:cBhvr>
                                      <p:to>
                                        <p:strVal val="visible"/>
                                      </p:to>
                                    </p:set>
                                    <p:animEffect transition="in" filter="wipe(up)">
                                      <p:cBhvr>
                                        <p:cTn id="185" dur="500"/>
                                        <p:tgtEl>
                                          <p:spTgt spid="193586"/>
                                        </p:tgtEl>
                                      </p:cBhvr>
                                    </p:animEffect>
                                  </p:childTnLst>
                                </p:cTn>
                              </p:par>
                            </p:childTnLst>
                          </p:cTn>
                        </p:par>
                        <p:par>
                          <p:cTn id="186" fill="hold" nodeType="afterGroup">
                            <p:stCondLst>
                              <p:cond delay="500"/>
                            </p:stCondLst>
                            <p:childTnLst>
                              <p:par>
                                <p:cTn id="187" presetID="22" presetClass="entr" presetSubtype="1" fill="hold" grpId="0" nodeType="afterEffect">
                                  <p:stCondLst>
                                    <p:cond delay="0"/>
                                  </p:stCondLst>
                                  <p:childTnLst>
                                    <p:set>
                                      <p:cBhvr>
                                        <p:cTn id="188" dur="1" fill="hold">
                                          <p:stCondLst>
                                            <p:cond delay="0"/>
                                          </p:stCondLst>
                                        </p:cTn>
                                        <p:tgtEl>
                                          <p:spTgt spid="193584"/>
                                        </p:tgtEl>
                                        <p:attrNameLst>
                                          <p:attrName>style.visibility</p:attrName>
                                        </p:attrNameLst>
                                      </p:cBhvr>
                                      <p:to>
                                        <p:strVal val="visible"/>
                                      </p:to>
                                    </p:set>
                                    <p:animEffect transition="in" filter="wipe(up)">
                                      <p:cBhvr>
                                        <p:cTn id="189" dur="500"/>
                                        <p:tgtEl>
                                          <p:spTgt spid="193584"/>
                                        </p:tgtEl>
                                      </p:cBhvr>
                                    </p:animEffect>
                                  </p:childTnLst>
                                </p:cTn>
                              </p:par>
                            </p:childTnLst>
                          </p:cTn>
                        </p:par>
                        <p:par>
                          <p:cTn id="190" fill="hold" nodeType="afterGroup">
                            <p:stCondLst>
                              <p:cond delay="1000"/>
                            </p:stCondLst>
                            <p:childTnLst>
                              <p:par>
                                <p:cTn id="191" presetID="22" presetClass="entr" presetSubtype="1" fill="hold" grpId="0" nodeType="afterEffect">
                                  <p:stCondLst>
                                    <p:cond delay="0"/>
                                  </p:stCondLst>
                                  <p:childTnLst>
                                    <p:set>
                                      <p:cBhvr>
                                        <p:cTn id="192" dur="1" fill="hold">
                                          <p:stCondLst>
                                            <p:cond delay="0"/>
                                          </p:stCondLst>
                                        </p:cTn>
                                        <p:tgtEl>
                                          <p:spTgt spid="193585"/>
                                        </p:tgtEl>
                                        <p:attrNameLst>
                                          <p:attrName>style.visibility</p:attrName>
                                        </p:attrNameLst>
                                      </p:cBhvr>
                                      <p:to>
                                        <p:strVal val="visible"/>
                                      </p:to>
                                    </p:set>
                                    <p:animEffect transition="in" filter="wipe(up)">
                                      <p:cBhvr>
                                        <p:cTn id="193" dur="500"/>
                                        <p:tgtEl>
                                          <p:spTgt spid="193585"/>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2" presetClass="entr" presetSubtype="1" fill="hold" grpId="0" nodeType="clickEffect">
                                  <p:stCondLst>
                                    <p:cond delay="0"/>
                                  </p:stCondLst>
                                  <p:childTnLst>
                                    <p:set>
                                      <p:cBhvr>
                                        <p:cTn id="197" dur="1" fill="hold">
                                          <p:stCondLst>
                                            <p:cond delay="0"/>
                                          </p:stCondLst>
                                        </p:cTn>
                                        <p:tgtEl>
                                          <p:spTgt spid="193599"/>
                                        </p:tgtEl>
                                        <p:attrNameLst>
                                          <p:attrName>style.visibility</p:attrName>
                                        </p:attrNameLst>
                                      </p:cBhvr>
                                      <p:to>
                                        <p:strVal val="visible"/>
                                      </p:to>
                                    </p:set>
                                    <p:animEffect transition="in" filter="wipe(up)">
                                      <p:cBhvr>
                                        <p:cTn id="198" dur="500"/>
                                        <p:tgtEl>
                                          <p:spTgt spid="193599"/>
                                        </p:tgtEl>
                                      </p:cBhvr>
                                    </p:animEffect>
                                  </p:childTnLst>
                                </p:cTn>
                              </p:par>
                            </p:childTnLst>
                          </p:cTn>
                        </p:par>
                        <p:par>
                          <p:cTn id="199" fill="hold" nodeType="afterGroup">
                            <p:stCondLst>
                              <p:cond delay="500"/>
                            </p:stCondLst>
                            <p:childTnLst>
                              <p:par>
                                <p:cTn id="200" presetID="22" presetClass="entr" presetSubtype="1" fill="hold" grpId="0" nodeType="afterEffect">
                                  <p:stCondLst>
                                    <p:cond delay="0"/>
                                  </p:stCondLst>
                                  <p:childTnLst>
                                    <p:set>
                                      <p:cBhvr>
                                        <p:cTn id="201" dur="1" fill="hold">
                                          <p:stCondLst>
                                            <p:cond delay="0"/>
                                          </p:stCondLst>
                                        </p:cTn>
                                        <p:tgtEl>
                                          <p:spTgt spid="193593"/>
                                        </p:tgtEl>
                                        <p:attrNameLst>
                                          <p:attrName>style.visibility</p:attrName>
                                        </p:attrNameLst>
                                      </p:cBhvr>
                                      <p:to>
                                        <p:strVal val="visible"/>
                                      </p:to>
                                    </p:set>
                                    <p:animEffect transition="in" filter="wipe(up)">
                                      <p:cBhvr>
                                        <p:cTn id="202" dur="500"/>
                                        <p:tgtEl>
                                          <p:spTgt spid="193593"/>
                                        </p:tgtEl>
                                      </p:cBhvr>
                                    </p:animEffect>
                                  </p:childTnLst>
                                </p:cTn>
                              </p:par>
                            </p:childTnLst>
                          </p:cTn>
                        </p:par>
                        <p:par>
                          <p:cTn id="203" fill="hold" nodeType="afterGroup">
                            <p:stCondLst>
                              <p:cond delay="1000"/>
                            </p:stCondLst>
                            <p:childTnLst>
                              <p:par>
                                <p:cTn id="204" presetID="22" presetClass="entr" presetSubtype="1" fill="hold" grpId="0" nodeType="afterEffect">
                                  <p:stCondLst>
                                    <p:cond delay="0"/>
                                  </p:stCondLst>
                                  <p:childTnLst>
                                    <p:set>
                                      <p:cBhvr>
                                        <p:cTn id="205" dur="1" fill="hold">
                                          <p:stCondLst>
                                            <p:cond delay="0"/>
                                          </p:stCondLst>
                                        </p:cTn>
                                        <p:tgtEl>
                                          <p:spTgt spid="193594"/>
                                        </p:tgtEl>
                                        <p:attrNameLst>
                                          <p:attrName>style.visibility</p:attrName>
                                        </p:attrNameLst>
                                      </p:cBhvr>
                                      <p:to>
                                        <p:strVal val="visible"/>
                                      </p:to>
                                    </p:set>
                                    <p:animEffect transition="in" filter="wipe(up)">
                                      <p:cBhvr>
                                        <p:cTn id="206" dur="500"/>
                                        <p:tgtEl>
                                          <p:spTgt spid="193594"/>
                                        </p:tgtEl>
                                      </p:cBhvr>
                                    </p:animEffect>
                                  </p:childTnLst>
                                </p:cTn>
                              </p:par>
                            </p:childTnLst>
                          </p:cTn>
                        </p:par>
                      </p:childTnLst>
                    </p:cTn>
                  </p:par>
                  <p:par>
                    <p:cTn id="207" fill="hold" nodeType="clickPar">
                      <p:stCondLst>
                        <p:cond delay="indefinite"/>
                      </p:stCondLst>
                      <p:childTnLst>
                        <p:par>
                          <p:cTn id="208" fill="hold" nodeType="withGroup">
                            <p:stCondLst>
                              <p:cond delay="0"/>
                            </p:stCondLst>
                            <p:childTnLst>
                              <p:par>
                                <p:cTn id="209" presetID="22" presetClass="entr" presetSubtype="1" fill="hold" grpId="0" nodeType="clickEffect">
                                  <p:stCondLst>
                                    <p:cond delay="0"/>
                                  </p:stCondLst>
                                  <p:childTnLst>
                                    <p:set>
                                      <p:cBhvr>
                                        <p:cTn id="210" dur="1" fill="hold">
                                          <p:stCondLst>
                                            <p:cond delay="0"/>
                                          </p:stCondLst>
                                        </p:cTn>
                                        <p:tgtEl>
                                          <p:spTgt spid="193600"/>
                                        </p:tgtEl>
                                        <p:attrNameLst>
                                          <p:attrName>style.visibility</p:attrName>
                                        </p:attrNameLst>
                                      </p:cBhvr>
                                      <p:to>
                                        <p:strVal val="visible"/>
                                      </p:to>
                                    </p:set>
                                    <p:animEffect transition="in" filter="wipe(up)">
                                      <p:cBhvr>
                                        <p:cTn id="211" dur="500"/>
                                        <p:tgtEl>
                                          <p:spTgt spid="193600"/>
                                        </p:tgtEl>
                                      </p:cBhvr>
                                    </p:animEffect>
                                  </p:childTnLst>
                                </p:cTn>
                              </p:par>
                            </p:childTnLst>
                          </p:cTn>
                        </p:par>
                        <p:par>
                          <p:cTn id="212" fill="hold" nodeType="afterGroup">
                            <p:stCondLst>
                              <p:cond delay="500"/>
                            </p:stCondLst>
                            <p:childTnLst>
                              <p:par>
                                <p:cTn id="213" presetID="22" presetClass="entr" presetSubtype="1" fill="hold" grpId="0" nodeType="afterEffect">
                                  <p:stCondLst>
                                    <p:cond delay="0"/>
                                  </p:stCondLst>
                                  <p:childTnLst>
                                    <p:set>
                                      <p:cBhvr>
                                        <p:cTn id="214" dur="1" fill="hold">
                                          <p:stCondLst>
                                            <p:cond delay="0"/>
                                          </p:stCondLst>
                                        </p:cTn>
                                        <p:tgtEl>
                                          <p:spTgt spid="193587"/>
                                        </p:tgtEl>
                                        <p:attrNameLst>
                                          <p:attrName>style.visibility</p:attrName>
                                        </p:attrNameLst>
                                      </p:cBhvr>
                                      <p:to>
                                        <p:strVal val="visible"/>
                                      </p:to>
                                    </p:set>
                                    <p:animEffect transition="in" filter="wipe(up)">
                                      <p:cBhvr>
                                        <p:cTn id="215" dur="500"/>
                                        <p:tgtEl>
                                          <p:spTgt spid="193587"/>
                                        </p:tgtEl>
                                      </p:cBhvr>
                                    </p:animEffect>
                                  </p:childTnLst>
                                </p:cTn>
                              </p:par>
                            </p:childTnLst>
                          </p:cTn>
                        </p:par>
                        <p:par>
                          <p:cTn id="216" fill="hold" nodeType="afterGroup">
                            <p:stCondLst>
                              <p:cond delay="1000"/>
                            </p:stCondLst>
                            <p:childTnLst>
                              <p:par>
                                <p:cTn id="217" presetID="22" presetClass="entr" presetSubtype="1" fill="hold" grpId="0" nodeType="afterEffect">
                                  <p:stCondLst>
                                    <p:cond delay="0"/>
                                  </p:stCondLst>
                                  <p:childTnLst>
                                    <p:set>
                                      <p:cBhvr>
                                        <p:cTn id="218" dur="1" fill="hold">
                                          <p:stCondLst>
                                            <p:cond delay="0"/>
                                          </p:stCondLst>
                                        </p:cTn>
                                        <p:tgtEl>
                                          <p:spTgt spid="193588"/>
                                        </p:tgtEl>
                                        <p:attrNameLst>
                                          <p:attrName>style.visibility</p:attrName>
                                        </p:attrNameLst>
                                      </p:cBhvr>
                                      <p:to>
                                        <p:strVal val="visible"/>
                                      </p:to>
                                    </p:set>
                                    <p:animEffect transition="in" filter="wipe(up)">
                                      <p:cBhvr>
                                        <p:cTn id="219" dur="500"/>
                                        <p:tgtEl>
                                          <p:spTgt spid="193588"/>
                                        </p:tgtEl>
                                      </p:cBhvr>
                                    </p:animEffect>
                                  </p:childTnLst>
                                </p:cTn>
                              </p:par>
                            </p:childTnLst>
                          </p:cTn>
                        </p:par>
                      </p:childTnLst>
                    </p:cTn>
                  </p:par>
                  <p:par>
                    <p:cTn id="220" fill="hold" nodeType="clickPar">
                      <p:stCondLst>
                        <p:cond delay="indefinite"/>
                      </p:stCondLst>
                      <p:childTnLst>
                        <p:par>
                          <p:cTn id="221" fill="hold" nodeType="withGroup">
                            <p:stCondLst>
                              <p:cond delay="0"/>
                            </p:stCondLst>
                            <p:childTnLst>
                              <p:par>
                                <p:cTn id="222" presetID="22" presetClass="entr" presetSubtype="1" fill="hold" grpId="0" nodeType="clickEffect">
                                  <p:stCondLst>
                                    <p:cond delay="0"/>
                                  </p:stCondLst>
                                  <p:childTnLst>
                                    <p:set>
                                      <p:cBhvr>
                                        <p:cTn id="223" dur="1" fill="hold">
                                          <p:stCondLst>
                                            <p:cond delay="0"/>
                                          </p:stCondLst>
                                        </p:cTn>
                                        <p:tgtEl>
                                          <p:spTgt spid="193601"/>
                                        </p:tgtEl>
                                        <p:attrNameLst>
                                          <p:attrName>style.visibility</p:attrName>
                                        </p:attrNameLst>
                                      </p:cBhvr>
                                      <p:to>
                                        <p:strVal val="visible"/>
                                      </p:to>
                                    </p:set>
                                    <p:animEffect transition="in" filter="wipe(up)">
                                      <p:cBhvr>
                                        <p:cTn id="224" dur="500"/>
                                        <p:tgtEl>
                                          <p:spTgt spid="193601"/>
                                        </p:tgtEl>
                                      </p:cBhvr>
                                    </p:animEffect>
                                  </p:childTnLst>
                                </p:cTn>
                              </p:par>
                            </p:childTnLst>
                          </p:cTn>
                        </p:par>
                        <p:par>
                          <p:cTn id="225" fill="hold" nodeType="afterGroup">
                            <p:stCondLst>
                              <p:cond delay="500"/>
                            </p:stCondLst>
                            <p:childTnLst>
                              <p:par>
                                <p:cTn id="226" presetID="22" presetClass="entr" presetSubtype="1" fill="hold" grpId="0" nodeType="afterEffect">
                                  <p:stCondLst>
                                    <p:cond delay="0"/>
                                  </p:stCondLst>
                                  <p:childTnLst>
                                    <p:set>
                                      <p:cBhvr>
                                        <p:cTn id="227" dur="1" fill="hold">
                                          <p:stCondLst>
                                            <p:cond delay="0"/>
                                          </p:stCondLst>
                                        </p:cTn>
                                        <p:tgtEl>
                                          <p:spTgt spid="193595"/>
                                        </p:tgtEl>
                                        <p:attrNameLst>
                                          <p:attrName>style.visibility</p:attrName>
                                        </p:attrNameLst>
                                      </p:cBhvr>
                                      <p:to>
                                        <p:strVal val="visible"/>
                                      </p:to>
                                    </p:set>
                                    <p:animEffect transition="in" filter="wipe(up)">
                                      <p:cBhvr>
                                        <p:cTn id="228" dur="500"/>
                                        <p:tgtEl>
                                          <p:spTgt spid="193595"/>
                                        </p:tgtEl>
                                      </p:cBhvr>
                                    </p:animEffect>
                                  </p:childTnLst>
                                </p:cTn>
                              </p:par>
                            </p:childTnLst>
                          </p:cTn>
                        </p:par>
                        <p:par>
                          <p:cTn id="229" fill="hold" nodeType="afterGroup">
                            <p:stCondLst>
                              <p:cond delay="1000"/>
                            </p:stCondLst>
                            <p:childTnLst>
                              <p:par>
                                <p:cTn id="230" presetID="22" presetClass="entr" presetSubtype="1" fill="hold" grpId="0" nodeType="afterEffect">
                                  <p:stCondLst>
                                    <p:cond delay="0"/>
                                  </p:stCondLst>
                                  <p:childTnLst>
                                    <p:set>
                                      <p:cBhvr>
                                        <p:cTn id="231" dur="1" fill="hold">
                                          <p:stCondLst>
                                            <p:cond delay="0"/>
                                          </p:stCondLst>
                                        </p:cTn>
                                        <p:tgtEl>
                                          <p:spTgt spid="193596"/>
                                        </p:tgtEl>
                                        <p:attrNameLst>
                                          <p:attrName>style.visibility</p:attrName>
                                        </p:attrNameLst>
                                      </p:cBhvr>
                                      <p:to>
                                        <p:strVal val="visible"/>
                                      </p:to>
                                    </p:set>
                                    <p:animEffect transition="in" filter="wipe(up)">
                                      <p:cBhvr>
                                        <p:cTn id="232" dur="500"/>
                                        <p:tgtEl>
                                          <p:spTgt spid="193596"/>
                                        </p:tgtEl>
                                      </p:cBhvr>
                                    </p:animEffect>
                                  </p:childTnLst>
                                </p:cTn>
                              </p:par>
                            </p:childTnLst>
                          </p:cTn>
                        </p:par>
                      </p:childTnLst>
                    </p:cTn>
                  </p:par>
                  <p:par>
                    <p:cTn id="233" fill="hold" nodeType="clickPar">
                      <p:stCondLst>
                        <p:cond delay="indefinite"/>
                      </p:stCondLst>
                      <p:childTnLst>
                        <p:par>
                          <p:cTn id="234" fill="hold" nodeType="withGroup">
                            <p:stCondLst>
                              <p:cond delay="0"/>
                            </p:stCondLst>
                            <p:childTnLst>
                              <p:par>
                                <p:cTn id="235" presetID="22" presetClass="entr" presetSubtype="1" fill="hold" grpId="0" nodeType="clickEffect">
                                  <p:stCondLst>
                                    <p:cond delay="0"/>
                                  </p:stCondLst>
                                  <p:childTnLst>
                                    <p:set>
                                      <p:cBhvr>
                                        <p:cTn id="236" dur="1" fill="hold">
                                          <p:stCondLst>
                                            <p:cond delay="0"/>
                                          </p:stCondLst>
                                        </p:cTn>
                                        <p:tgtEl>
                                          <p:spTgt spid="193603"/>
                                        </p:tgtEl>
                                        <p:attrNameLst>
                                          <p:attrName>style.visibility</p:attrName>
                                        </p:attrNameLst>
                                      </p:cBhvr>
                                      <p:to>
                                        <p:strVal val="visible"/>
                                      </p:to>
                                    </p:set>
                                    <p:animEffect transition="in" filter="wipe(up)">
                                      <p:cBhvr>
                                        <p:cTn id="237" dur="500"/>
                                        <p:tgtEl>
                                          <p:spTgt spid="193603"/>
                                        </p:tgtEl>
                                      </p:cBhvr>
                                    </p:animEffect>
                                  </p:childTnLst>
                                </p:cTn>
                              </p:par>
                            </p:childTnLst>
                          </p:cTn>
                        </p:par>
                        <p:par>
                          <p:cTn id="238" fill="hold" nodeType="afterGroup">
                            <p:stCondLst>
                              <p:cond delay="500"/>
                            </p:stCondLst>
                            <p:childTnLst>
                              <p:par>
                                <p:cTn id="239" presetID="22" presetClass="entr" presetSubtype="1" fill="hold" grpId="0" nodeType="afterEffect">
                                  <p:stCondLst>
                                    <p:cond delay="0"/>
                                  </p:stCondLst>
                                  <p:childTnLst>
                                    <p:set>
                                      <p:cBhvr>
                                        <p:cTn id="240" dur="1" fill="hold">
                                          <p:stCondLst>
                                            <p:cond delay="0"/>
                                          </p:stCondLst>
                                        </p:cTn>
                                        <p:tgtEl>
                                          <p:spTgt spid="193589"/>
                                        </p:tgtEl>
                                        <p:attrNameLst>
                                          <p:attrName>style.visibility</p:attrName>
                                        </p:attrNameLst>
                                      </p:cBhvr>
                                      <p:to>
                                        <p:strVal val="visible"/>
                                      </p:to>
                                    </p:set>
                                    <p:animEffect transition="in" filter="wipe(up)">
                                      <p:cBhvr>
                                        <p:cTn id="241" dur="500"/>
                                        <p:tgtEl>
                                          <p:spTgt spid="193589"/>
                                        </p:tgtEl>
                                      </p:cBhvr>
                                    </p:animEffect>
                                  </p:childTnLst>
                                </p:cTn>
                              </p:par>
                            </p:childTnLst>
                          </p:cTn>
                        </p:par>
                        <p:par>
                          <p:cTn id="242" fill="hold" nodeType="afterGroup">
                            <p:stCondLst>
                              <p:cond delay="1000"/>
                            </p:stCondLst>
                            <p:childTnLst>
                              <p:par>
                                <p:cTn id="243" presetID="22" presetClass="entr" presetSubtype="1" fill="hold" grpId="0" nodeType="afterEffect">
                                  <p:stCondLst>
                                    <p:cond delay="0"/>
                                  </p:stCondLst>
                                  <p:childTnLst>
                                    <p:set>
                                      <p:cBhvr>
                                        <p:cTn id="244" dur="1" fill="hold">
                                          <p:stCondLst>
                                            <p:cond delay="0"/>
                                          </p:stCondLst>
                                        </p:cTn>
                                        <p:tgtEl>
                                          <p:spTgt spid="193590"/>
                                        </p:tgtEl>
                                        <p:attrNameLst>
                                          <p:attrName>style.visibility</p:attrName>
                                        </p:attrNameLst>
                                      </p:cBhvr>
                                      <p:to>
                                        <p:strVal val="visible"/>
                                      </p:to>
                                    </p:set>
                                    <p:animEffect transition="in" filter="wipe(up)">
                                      <p:cBhvr>
                                        <p:cTn id="245" dur="500"/>
                                        <p:tgtEl>
                                          <p:spTgt spid="193590"/>
                                        </p:tgtEl>
                                      </p:cBhvr>
                                    </p:animEffect>
                                  </p:childTnLst>
                                </p:cTn>
                              </p:par>
                            </p:childTnLst>
                          </p:cTn>
                        </p:par>
                      </p:childTnLst>
                    </p:cTn>
                  </p:par>
                  <p:par>
                    <p:cTn id="246" fill="hold" nodeType="clickPar">
                      <p:stCondLst>
                        <p:cond delay="indefinite"/>
                      </p:stCondLst>
                      <p:childTnLst>
                        <p:par>
                          <p:cTn id="247" fill="hold" nodeType="withGroup">
                            <p:stCondLst>
                              <p:cond delay="0"/>
                            </p:stCondLst>
                            <p:childTnLst>
                              <p:par>
                                <p:cTn id="248" presetID="22" presetClass="entr" presetSubtype="1" fill="hold" grpId="0" nodeType="clickEffect">
                                  <p:stCondLst>
                                    <p:cond delay="0"/>
                                  </p:stCondLst>
                                  <p:childTnLst>
                                    <p:set>
                                      <p:cBhvr>
                                        <p:cTn id="249" dur="1" fill="hold">
                                          <p:stCondLst>
                                            <p:cond delay="0"/>
                                          </p:stCondLst>
                                        </p:cTn>
                                        <p:tgtEl>
                                          <p:spTgt spid="193604"/>
                                        </p:tgtEl>
                                        <p:attrNameLst>
                                          <p:attrName>style.visibility</p:attrName>
                                        </p:attrNameLst>
                                      </p:cBhvr>
                                      <p:to>
                                        <p:strVal val="visible"/>
                                      </p:to>
                                    </p:set>
                                    <p:animEffect transition="in" filter="wipe(up)">
                                      <p:cBhvr>
                                        <p:cTn id="250" dur="500"/>
                                        <p:tgtEl>
                                          <p:spTgt spid="193604"/>
                                        </p:tgtEl>
                                      </p:cBhvr>
                                    </p:animEffect>
                                  </p:childTnLst>
                                </p:cTn>
                              </p:par>
                            </p:childTnLst>
                          </p:cTn>
                        </p:par>
                        <p:par>
                          <p:cTn id="251" fill="hold" nodeType="afterGroup">
                            <p:stCondLst>
                              <p:cond delay="500"/>
                            </p:stCondLst>
                            <p:childTnLst>
                              <p:par>
                                <p:cTn id="252" presetID="22" presetClass="entr" presetSubtype="1" fill="hold" grpId="0" nodeType="afterEffect">
                                  <p:stCondLst>
                                    <p:cond delay="0"/>
                                  </p:stCondLst>
                                  <p:childTnLst>
                                    <p:set>
                                      <p:cBhvr>
                                        <p:cTn id="253" dur="1" fill="hold">
                                          <p:stCondLst>
                                            <p:cond delay="0"/>
                                          </p:stCondLst>
                                        </p:cTn>
                                        <p:tgtEl>
                                          <p:spTgt spid="193597"/>
                                        </p:tgtEl>
                                        <p:attrNameLst>
                                          <p:attrName>style.visibility</p:attrName>
                                        </p:attrNameLst>
                                      </p:cBhvr>
                                      <p:to>
                                        <p:strVal val="visible"/>
                                      </p:to>
                                    </p:set>
                                    <p:animEffect transition="in" filter="wipe(up)">
                                      <p:cBhvr>
                                        <p:cTn id="254" dur="500"/>
                                        <p:tgtEl>
                                          <p:spTgt spid="193597"/>
                                        </p:tgtEl>
                                      </p:cBhvr>
                                    </p:animEffect>
                                  </p:childTnLst>
                                </p:cTn>
                              </p:par>
                            </p:childTnLst>
                          </p:cTn>
                        </p:par>
                        <p:par>
                          <p:cTn id="255" fill="hold" nodeType="afterGroup">
                            <p:stCondLst>
                              <p:cond delay="1000"/>
                            </p:stCondLst>
                            <p:childTnLst>
                              <p:par>
                                <p:cTn id="256" presetID="22" presetClass="entr" presetSubtype="1" fill="hold" grpId="0" nodeType="afterEffect">
                                  <p:stCondLst>
                                    <p:cond delay="0"/>
                                  </p:stCondLst>
                                  <p:childTnLst>
                                    <p:set>
                                      <p:cBhvr>
                                        <p:cTn id="257" dur="1" fill="hold">
                                          <p:stCondLst>
                                            <p:cond delay="0"/>
                                          </p:stCondLst>
                                        </p:cTn>
                                        <p:tgtEl>
                                          <p:spTgt spid="193598"/>
                                        </p:tgtEl>
                                        <p:attrNameLst>
                                          <p:attrName>style.visibility</p:attrName>
                                        </p:attrNameLst>
                                      </p:cBhvr>
                                      <p:to>
                                        <p:strVal val="visible"/>
                                      </p:to>
                                    </p:set>
                                    <p:animEffect transition="in" filter="wipe(up)">
                                      <p:cBhvr>
                                        <p:cTn id="258" dur="500"/>
                                        <p:tgtEl>
                                          <p:spTgt spid="193598"/>
                                        </p:tgtEl>
                                      </p:cBhvr>
                                    </p:animEffect>
                                  </p:childTnLst>
                                </p:cTn>
                              </p:par>
                            </p:childTnLst>
                          </p:cTn>
                        </p:par>
                      </p:childTnLst>
                    </p:cTn>
                  </p:par>
                  <p:par>
                    <p:cTn id="259" fill="hold" nodeType="clickPar">
                      <p:stCondLst>
                        <p:cond delay="indefinite"/>
                      </p:stCondLst>
                      <p:childTnLst>
                        <p:par>
                          <p:cTn id="260" fill="hold" nodeType="withGroup">
                            <p:stCondLst>
                              <p:cond delay="0"/>
                            </p:stCondLst>
                            <p:childTnLst>
                              <p:par>
                                <p:cTn id="261" presetID="22" presetClass="entr" presetSubtype="1" fill="hold" grpId="0" nodeType="clickEffect">
                                  <p:stCondLst>
                                    <p:cond delay="0"/>
                                  </p:stCondLst>
                                  <p:childTnLst>
                                    <p:set>
                                      <p:cBhvr>
                                        <p:cTn id="262" dur="1" fill="hold">
                                          <p:stCondLst>
                                            <p:cond delay="0"/>
                                          </p:stCondLst>
                                        </p:cTn>
                                        <p:tgtEl>
                                          <p:spTgt spid="193605"/>
                                        </p:tgtEl>
                                        <p:attrNameLst>
                                          <p:attrName>style.visibility</p:attrName>
                                        </p:attrNameLst>
                                      </p:cBhvr>
                                      <p:to>
                                        <p:strVal val="visible"/>
                                      </p:to>
                                    </p:set>
                                    <p:animEffect transition="in" filter="wipe(up)">
                                      <p:cBhvr>
                                        <p:cTn id="263" dur="500"/>
                                        <p:tgtEl>
                                          <p:spTgt spid="193605"/>
                                        </p:tgtEl>
                                      </p:cBhvr>
                                    </p:animEffect>
                                  </p:childTnLst>
                                </p:cTn>
                              </p:par>
                            </p:childTnLst>
                          </p:cTn>
                        </p:par>
                        <p:par>
                          <p:cTn id="264" fill="hold" nodeType="afterGroup">
                            <p:stCondLst>
                              <p:cond delay="500"/>
                            </p:stCondLst>
                            <p:childTnLst>
                              <p:par>
                                <p:cTn id="265" presetID="22" presetClass="entr" presetSubtype="1" fill="hold" grpId="0" nodeType="afterEffect">
                                  <p:stCondLst>
                                    <p:cond delay="0"/>
                                  </p:stCondLst>
                                  <p:childTnLst>
                                    <p:set>
                                      <p:cBhvr>
                                        <p:cTn id="266" dur="1" fill="hold">
                                          <p:stCondLst>
                                            <p:cond delay="0"/>
                                          </p:stCondLst>
                                        </p:cTn>
                                        <p:tgtEl>
                                          <p:spTgt spid="193591"/>
                                        </p:tgtEl>
                                        <p:attrNameLst>
                                          <p:attrName>style.visibility</p:attrName>
                                        </p:attrNameLst>
                                      </p:cBhvr>
                                      <p:to>
                                        <p:strVal val="visible"/>
                                      </p:to>
                                    </p:set>
                                    <p:animEffect transition="in" filter="wipe(up)">
                                      <p:cBhvr>
                                        <p:cTn id="267" dur="500"/>
                                        <p:tgtEl>
                                          <p:spTgt spid="193591"/>
                                        </p:tgtEl>
                                      </p:cBhvr>
                                    </p:animEffect>
                                  </p:childTnLst>
                                </p:cTn>
                              </p:par>
                            </p:childTnLst>
                          </p:cTn>
                        </p:par>
                        <p:par>
                          <p:cTn id="268" fill="hold" nodeType="afterGroup">
                            <p:stCondLst>
                              <p:cond delay="1000"/>
                            </p:stCondLst>
                            <p:childTnLst>
                              <p:par>
                                <p:cTn id="269" presetID="22" presetClass="entr" presetSubtype="1" fill="hold" grpId="0" nodeType="afterEffect">
                                  <p:stCondLst>
                                    <p:cond delay="0"/>
                                  </p:stCondLst>
                                  <p:childTnLst>
                                    <p:set>
                                      <p:cBhvr>
                                        <p:cTn id="270" dur="1" fill="hold">
                                          <p:stCondLst>
                                            <p:cond delay="0"/>
                                          </p:stCondLst>
                                        </p:cTn>
                                        <p:tgtEl>
                                          <p:spTgt spid="193592"/>
                                        </p:tgtEl>
                                        <p:attrNameLst>
                                          <p:attrName>style.visibility</p:attrName>
                                        </p:attrNameLst>
                                      </p:cBhvr>
                                      <p:to>
                                        <p:strVal val="visible"/>
                                      </p:to>
                                    </p:set>
                                    <p:animEffect transition="in" filter="wipe(up)">
                                      <p:cBhvr>
                                        <p:cTn id="271" dur="500"/>
                                        <p:tgtEl>
                                          <p:spTgt spid="193592"/>
                                        </p:tgtEl>
                                      </p:cBhvr>
                                    </p:animEffect>
                                  </p:childTnLst>
                                </p:cTn>
                              </p:par>
                            </p:childTnLst>
                          </p:cTn>
                        </p:par>
                      </p:childTnLst>
                    </p:cTn>
                  </p:par>
                  <p:par>
                    <p:cTn id="272" fill="hold" nodeType="clickPar">
                      <p:stCondLst>
                        <p:cond delay="indefinite"/>
                      </p:stCondLst>
                      <p:childTnLst>
                        <p:par>
                          <p:cTn id="273" fill="hold" nodeType="withGroup">
                            <p:stCondLst>
                              <p:cond delay="0"/>
                            </p:stCondLst>
                            <p:childTnLst>
                              <p:par>
                                <p:cTn id="274" presetID="22" presetClass="entr" presetSubtype="1" fill="hold" grpId="0" nodeType="clickEffect">
                                  <p:stCondLst>
                                    <p:cond delay="0"/>
                                  </p:stCondLst>
                                  <p:childTnLst>
                                    <p:set>
                                      <p:cBhvr>
                                        <p:cTn id="275" dur="1" fill="hold">
                                          <p:stCondLst>
                                            <p:cond delay="0"/>
                                          </p:stCondLst>
                                        </p:cTn>
                                        <p:tgtEl>
                                          <p:spTgt spid="193606"/>
                                        </p:tgtEl>
                                        <p:attrNameLst>
                                          <p:attrName>style.visibility</p:attrName>
                                        </p:attrNameLst>
                                      </p:cBhvr>
                                      <p:to>
                                        <p:strVal val="visible"/>
                                      </p:to>
                                    </p:set>
                                    <p:animEffect transition="in" filter="wipe(up)">
                                      <p:cBhvr>
                                        <p:cTn id="276" dur="500"/>
                                        <p:tgtEl>
                                          <p:spTgt spid="193606"/>
                                        </p:tgtEl>
                                      </p:cBhvr>
                                    </p:animEffect>
                                  </p:childTnLst>
                                </p:cTn>
                              </p:par>
                            </p:childTnLst>
                          </p:cTn>
                        </p:par>
                        <p:par>
                          <p:cTn id="277" fill="hold" nodeType="afterGroup">
                            <p:stCondLst>
                              <p:cond delay="500"/>
                            </p:stCondLst>
                            <p:childTnLst>
                              <p:par>
                                <p:cTn id="278" presetID="22" presetClass="entr" presetSubtype="1" fill="hold" grpId="0" nodeType="afterEffect">
                                  <p:stCondLst>
                                    <p:cond delay="0"/>
                                  </p:stCondLst>
                                  <p:childTnLst>
                                    <p:set>
                                      <p:cBhvr>
                                        <p:cTn id="279" dur="1" fill="hold">
                                          <p:stCondLst>
                                            <p:cond delay="0"/>
                                          </p:stCondLst>
                                        </p:cTn>
                                        <p:tgtEl>
                                          <p:spTgt spid="193607"/>
                                        </p:tgtEl>
                                        <p:attrNameLst>
                                          <p:attrName>style.visibility</p:attrName>
                                        </p:attrNameLst>
                                      </p:cBhvr>
                                      <p:to>
                                        <p:strVal val="visible"/>
                                      </p:to>
                                    </p:set>
                                    <p:animEffect transition="in" filter="wipe(up)">
                                      <p:cBhvr>
                                        <p:cTn id="280" dur="500"/>
                                        <p:tgtEl>
                                          <p:spTgt spid="193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8" grpId="0" animBg="1" autoUpdateAnimBg="0"/>
      <p:bldP spid="193539" grpId="0" animBg="1" autoUpdateAnimBg="0"/>
      <p:bldP spid="193540" grpId="0" animBg="1" autoUpdateAnimBg="0"/>
      <p:bldP spid="193541" grpId="0" animBg="1" autoUpdateAnimBg="0"/>
      <p:bldP spid="193542" grpId="0" animBg="1" autoUpdateAnimBg="0"/>
      <p:bldP spid="193543" grpId="0" animBg="1" autoUpdateAnimBg="0"/>
      <p:bldP spid="193544" grpId="0" animBg="1" autoUpdateAnimBg="0"/>
      <p:bldP spid="193545" grpId="0" animBg="1"/>
      <p:bldP spid="193546" grpId="0" animBg="1"/>
      <p:bldP spid="193547" grpId="0" animBg="1"/>
      <p:bldP spid="193548" grpId="0" animBg="1"/>
      <p:bldP spid="193549" grpId="0" animBg="1"/>
      <p:bldP spid="193550" grpId="0" animBg="1"/>
      <p:bldP spid="193552" grpId="0" animBg="1"/>
      <p:bldP spid="193553" grpId="0" autoUpdateAnimBg="0"/>
      <p:bldP spid="193554" grpId="0" animBg="1"/>
      <p:bldP spid="193555" grpId="0" autoUpdateAnimBg="0"/>
      <p:bldP spid="193556" grpId="0" autoUpdateAnimBg="0"/>
      <p:bldP spid="193557" grpId="0" animBg="1"/>
      <p:bldP spid="193558" grpId="0" autoUpdateAnimBg="0"/>
      <p:bldP spid="193559" grpId="0" animBg="1"/>
      <p:bldP spid="193560" grpId="0" autoUpdateAnimBg="0"/>
      <p:bldP spid="193561" grpId="0" animBg="1"/>
      <p:bldP spid="193562" grpId="0" animBg="1"/>
      <p:bldP spid="193563" grpId="0" animBg="1"/>
      <p:bldP spid="193564" grpId="0" autoUpdateAnimBg="0"/>
      <p:bldP spid="193565" grpId="0" animBg="1"/>
      <p:bldP spid="193566" grpId="0" animBg="1"/>
      <p:bldP spid="193567" grpId="0" autoUpdateAnimBg="0"/>
      <p:bldP spid="193568" grpId="0" animBg="1" autoUpdateAnimBg="0"/>
      <p:bldP spid="193569" grpId="0" animBg="1" autoUpdateAnimBg="0"/>
      <p:bldP spid="193570" grpId="0" animBg="1"/>
      <p:bldP spid="193572" grpId="0" autoUpdateAnimBg="0"/>
      <p:bldP spid="193573" grpId="0" animBg="1"/>
      <p:bldP spid="193574" grpId="0" autoUpdateAnimBg="0"/>
      <p:bldP spid="193575" grpId="0" animBg="1"/>
      <p:bldP spid="193576" grpId="0" animBg="1"/>
      <p:bldP spid="193577" grpId="0" autoUpdateAnimBg="0"/>
      <p:bldP spid="193578" grpId="0" animBg="1"/>
      <p:bldP spid="193581" grpId="0" animBg="1"/>
      <p:bldP spid="193582" grpId="0" autoUpdateAnimBg="0"/>
      <p:bldP spid="193583" grpId="0" animBg="1"/>
      <p:bldP spid="193584" grpId="0" animBg="1"/>
      <p:bldP spid="193585" grpId="0" autoUpdateAnimBg="0"/>
      <p:bldP spid="193586" grpId="0" animBg="1"/>
      <p:bldP spid="193587" grpId="0" animBg="1"/>
      <p:bldP spid="193588" grpId="0" autoUpdateAnimBg="0"/>
      <p:bldP spid="193589" grpId="0" animBg="1"/>
      <p:bldP spid="193590" grpId="0" autoUpdateAnimBg="0"/>
      <p:bldP spid="193591" grpId="0" animBg="1"/>
      <p:bldP spid="193592" grpId="0" autoUpdateAnimBg="0"/>
      <p:bldP spid="193593" grpId="0" animBg="1"/>
      <p:bldP spid="193594" grpId="0" autoUpdateAnimBg="0"/>
      <p:bldP spid="193595" grpId="0" animBg="1"/>
      <p:bldP spid="193596" grpId="0" autoUpdateAnimBg="0"/>
      <p:bldP spid="193597" grpId="0" animBg="1"/>
      <p:bldP spid="193598" grpId="0" autoUpdateAnimBg="0"/>
      <p:bldP spid="193599" grpId="0" animBg="1"/>
      <p:bldP spid="193600" grpId="0" animBg="1"/>
      <p:bldP spid="193601" grpId="0" animBg="1"/>
      <p:bldP spid="193603" grpId="0" animBg="1"/>
      <p:bldP spid="193604" grpId="0" animBg="1"/>
      <p:bldP spid="193605" grpId="0" animBg="1"/>
      <p:bldP spid="193606" grpId="0" animBg="1"/>
      <p:bldP spid="193607" grpId="0" autoUpdateAnimBg="0"/>
      <p:bldP spid="193609" grpId="0" animBg="1"/>
      <p:bldP spid="193612"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9683" name="Rectangle 3"/>
          <p:cNvSpPr>
            <a:spLocks noGrp="1" noChangeArrowheads="1"/>
          </p:cNvSpPr>
          <p:nvPr>
            <p:ph type="body" idx="1"/>
          </p:nvPr>
        </p:nvSpPr>
        <p:spPr>
          <a:xfrm>
            <a:off x="762000" y="1905000"/>
            <a:ext cx="7772400" cy="1600200"/>
          </a:xfrm>
        </p:spPr>
        <p:txBody>
          <a:bodyPr/>
          <a:lstStyle/>
          <a:p>
            <a:pPr>
              <a:lnSpc>
                <a:spcPct val="120000"/>
              </a:lnSpc>
            </a:pPr>
            <a:r>
              <a:rPr lang="zh-CN" altLang="en-US" sz="3600">
                <a:solidFill>
                  <a:srgbClr val="A50021"/>
                </a:solidFill>
              </a:rPr>
              <a:t>根据动态查找表的定义</a:t>
            </a:r>
            <a:r>
              <a:rPr lang="zh-CN" altLang="en-US" sz="3600" b="1">
                <a:solidFill>
                  <a:srgbClr val="A50021"/>
                </a:solidFill>
              </a:rPr>
              <a:t>，“插入”操作在</a:t>
            </a:r>
            <a:r>
              <a:rPr lang="zh-CN" altLang="en-US" sz="3600" b="1">
                <a:solidFill>
                  <a:srgbClr val="FF0000"/>
                </a:solidFill>
              </a:rPr>
              <a:t>查找不成功</a:t>
            </a:r>
            <a:r>
              <a:rPr lang="zh-CN" altLang="en-US" sz="3600" b="1">
                <a:solidFill>
                  <a:srgbClr val="A50021"/>
                </a:solidFill>
              </a:rPr>
              <a:t>时才进行</a:t>
            </a:r>
            <a:r>
              <a:rPr lang="zh-CN" altLang="en-US" sz="3600">
                <a:solidFill>
                  <a:srgbClr val="A50021"/>
                </a:solidFill>
              </a:rPr>
              <a:t>；</a:t>
            </a:r>
          </a:p>
        </p:txBody>
      </p:sp>
      <p:sp>
        <p:nvSpPr>
          <p:cNvPr id="199684" name="Text Box 4"/>
          <p:cNvSpPr txBox="1">
            <a:spLocks noChangeArrowheads="1"/>
          </p:cNvSpPr>
          <p:nvPr>
            <p:ph type="title"/>
          </p:nvPr>
        </p:nvSpPr>
        <p:spPr>
          <a:xfrm>
            <a:off x="685800" y="457200"/>
            <a:ext cx="7772400" cy="1143000"/>
          </a:xfrm>
          <a:noFill/>
          <a:ln/>
        </p:spPr>
        <p:txBody>
          <a:bodyPr/>
          <a:lstStyle/>
          <a:p>
            <a:r>
              <a:rPr lang="en-US" altLang="zh-CN" sz="4800" b="1">
                <a:solidFill>
                  <a:srgbClr val="FF00FF"/>
                </a:solidFill>
                <a:ea typeface="楷体_GB2312" charset="0"/>
              </a:rPr>
              <a:t>3</a:t>
            </a:r>
            <a:r>
              <a:rPr lang="zh-CN" altLang="en-US" sz="4800" b="1">
                <a:solidFill>
                  <a:srgbClr val="FF00FF"/>
                </a:solidFill>
                <a:ea typeface="楷体_GB2312" charset="0"/>
              </a:rPr>
              <a:t>．二叉排序树的插入算法</a:t>
            </a:r>
            <a:endParaRPr lang="zh-CN" altLang="en-US" sz="4800"/>
          </a:p>
        </p:txBody>
      </p:sp>
      <p:sp>
        <p:nvSpPr>
          <p:cNvPr id="199685" name="Rectangle 5"/>
          <p:cNvSpPr>
            <a:spLocks noChangeArrowheads="1"/>
          </p:cNvSpPr>
          <p:nvPr/>
        </p:nvSpPr>
        <p:spPr bwMode="auto">
          <a:xfrm>
            <a:off x="762000" y="3505200"/>
            <a:ext cx="77724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spcBef>
                <a:spcPct val="20000"/>
              </a:spcBef>
              <a:buChar char="•"/>
              <a:defRPr kumimoji="1" sz="3200">
                <a:solidFill>
                  <a:schemeClr val="tx1"/>
                </a:solidFill>
                <a:latin typeface="Times New Roman" charset="0"/>
                <a:ea typeface="宋体" charset="-122"/>
              </a:defRPr>
            </a:lvl1pPr>
            <a:lvl2pPr marL="742950" indent="-285750">
              <a:spcBef>
                <a:spcPct val="20000"/>
              </a:spcBef>
              <a:buChar char="–"/>
              <a:defRPr kumimoji="1" sz="2800">
                <a:solidFill>
                  <a:schemeClr val="tx1"/>
                </a:solidFill>
                <a:latin typeface="Times New Roman" charset="0"/>
                <a:ea typeface="宋体" charset="-122"/>
              </a:defRPr>
            </a:lvl2pPr>
            <a:lvl3pPr marL="1143000" indent="-228600">
              <a:spcBef>
                <a:spcPct val="20000"/>
              </a:spcBef>
              <a:buChar char="•"/>
              <a:defRPr kumimoji="1" sz="2400">
                <a:solidFill>
                  <a:schemeClr val="tx1"/>
                </a:solidFill>
                <a:latin typeface="Times New Roman" charset="0"/>
                <a:ea typeface="宋体" charset="-122"/>
              </a:defRPr>
            </a:lvl3pPr>
            <a:lvl4pPr marL="1600200" indent="-228600">
              <a:spcBef>
                <a:spcPct val="20000"/>
              </a:spcBef>
              <a:buChar char="–"/>
              <a:defRPr kumimoji="1" sz="2000">
                <a:solidFill>
                  <a:schemeClr val="tx1"/>
                </a:solidFill>
                <a:latin typeface="Times New Roman" charset="0"/>
                <a:ea typeface="宋体" charset="-122"/>
              </a:defRPr>
            </a:lvl4pPr>
            <a:lvl5pPr marL="2057400" indent="-228600">
              <a:spcBef>
                <a:spcPct val="20000"/>
              </a:spcBef>
              <a:buChar char="»"/>
              <a:defRPr kumimoji="1" sz="2000">
                <a:solidFill>
                  <a:schemeClr val="tx1"/>
                </a:solidFill>
                <a:latin typeface="Times New Roman" charset="0"/>
                <a:ea typeface="宋体" charset="-122"/>
              </a:defRPr>
            </a:lvl5pPr>
            <a:lvl6pPr marL="2514600" indent="-228600" fontAlgn="base">
              <a:spcBef>
                <a:spcPct val="20000"/>
              </a:spcBef>
              <a:spcAft>
                <a:spcPct val="0"/>
              </a:spcAft>
              <a:buChar char="»"/>
              <a:defRPr kumimoji="1" sz="2000">
                <a:solidFill>
                  <a:schemeClr val="tx1"/>
                </a:solidFill>
                <a:latin typeface="Times New Roman" charset="0"/>
                <a:ea typeface="宋体" charset="-122"/>
              </a:defRPr>
            </a:lvl6pPr>
            <a:lvl7pPr marL="2971800" indent="-228600" fontAlgn="base">
              <a:spcBef>
                <a:spcPct val="20000"/>
              </a:spcBef>
              <a:spcAft>
                <a:spcPct val="0"/>
              </a:spcAft>
              <a:buChar char="»"/>
              <a:defRPr kumimoji="1" sz="2000">
                <a:solidFill>
                  <a:schemeClr val="tx1"/>
                </a:solidFill>
                <a:latin typeface="Times New Roman" charset="0"/>
                <a:ea typeface="宋体" charset="-122"/>
              </a:defRPr>
            </a:lvl7pPr>
            <a:lvl8pPr marL="3429000" indent="-228600" fontAlgn="base">
              <a:spcBef>
                <a:spcPct val="20000"/>
              </a:spcBef>
              <a:spcAft>
                <a:spcPct val="0"/>
              </a:spcAft>
              <a:buChar char="»"/>
              <a:defRPr kumimoji="1" sz="2000">
                <a:solidFill>
                  <a:schemeClr val="tx1"/>
                </a:solidFill>
                <a:latin typeface="Times New Roman" charset="0"/>
                <a:ea typeface="宋体" charset="-122"/>
              </a:defRPr>
            </a:lvl8pPr>
            <a:lvl9pPr marL="3886200" indent="-228600" fontAlgn="base">
              <a:spcBef>
                <a:spcPct val="20000"/>
              </a:spcBef>
              <a:spcAft>
                <a:spcPct val="0"/>
              </a:spcAft>
              <a:buChar char="»"/>
              <a:defRPr kumimoji="1" sz="2000">
                <a:solidFill>
                  <a:schemeClr val="tx1"/>
                </a:solidFill>
                <a:latin typeface="Times New Roman" charset="0"/>
                <a:ea typeface="宋体" charset="-122"/>
              </a:defRPr>
            </a:lvl9pPr>
          </a:lstStyle>
          <a:p>
            <a:pPr>
              <a:lnSpc>
                <a:spcPct val="120000"/>
              </a:lnSpc>
            </a:pPr>
            <a:r>
              <a:rPr lang="zh-CN" altLang="en-US" sz="3600">
                <a:solidFill>
                  <a:srgbClr val="A50021"/>
                </a:solidFill>
              </a:rPr>
              <a:t>若二叉排序树为</a:t>
            </a:r>
            <a:r>
              <a:rPr lang="zh-CN" altLang="en-US" sz="3600" b="1">
                <a:solidFill>
                  <a:srgbClr val="A50021"/>
                </a:solidFill>
              </a:rPr>
              <a:t>空树</a:t>
            </a:r>
            <a:r>
              <a:rPr lang="zh-CN" altLang="en-US" sz="3600">
                <a:solidFill>
                  <a:srgbClr val="A50021"/>
                </a:solidFill>
              </a:rPr>
              <a:t>，则新插入的结点为</a:t>
            </a:r>
            <a:r>
              <a:rPr lang="zh-CN" altLang="en-US" sz="3600" b="1">
                <a:solidFill>
                  <a:srgbClr val="FF0000"/>
                </a:solidFill>
              </a:rPr>
              <a:t>新的根结点</a:t>
            </a:r>
            <a:r>
              <a:rPr lang="zh-CN" altLang="en-US" sz="3600">
                <a:solidFill>
                  <a:srgbClr val="A50021"/>
                </a:solidFill>
              </a:rPr>
              <a:t>；否则，新插入的结点必为一个</a:t>
            </a:r>
            <a:r>
              <a:rPr lang="zh-CN" altLang="en-US" sz="3600" b="1">
                <a:solidFill>
                  <a:srgbClr val="FF0000"/>
                </a:solidFill>
              </a:rPr>
              <a:t>新的叶子结点</a:t>
            </a:r>
            <a:r>
              <a:rPr lang="zh-CN" altLang="en-US" sz="3600">
                <a:solidFill>
                  <a:srgbClr val="A50021"/>
                </a:solidFill>
              </a:rPr>
              <a:t>，其</a:t>
            </a:r>
            <a:r>
              <a:rPr lang="zh-CN" altLang="en-US" sz="3600" b="1">
                <a:solidFill>
                  <a:srgbClr val="A50021"/>
                </a:solidFill>
              </a:rPr>
              <a:t>插入位置</a:t>
            </a:r>
            <a:r>
              <a:rPr lang="zh-CN" altLang="en-US" sz="3600">
                <a:solidFill>
                  <a:srgbClr val="A50021"/>
                </a:solidFill>
              </a:rPr>
              <a:t>由查找过程得到。</a:t>
            </a:r>
          </a:p>
        </p:txBody>
      </p:sp>
    </p:spTree>
    <p:extLst>
      <p:ext uri="{BB962C8B-B14F-4D97-AF65-F5344CB8AC3E}">
        <p14:creationId xmlns:p14="http://schemas.microsoft.com/office/powerpoint/2010/main" val="7333988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199684"/>
                                        </p:tgtEl>
                                        <p:attrNameLst>
                                          <p:attrName>style.visibility</p:attrName>
                                        </p:attrNameLst>
                                      </p:cBhvr>
                                      <p:to>
                                        <p:strVal val="visible"/>
                                      </p:to>
                                    </p:set>
                                    <p:animEffect transition="in" filter="blinds(vertical)">
                                      <p:cBhvr>
                                        <p:cTn id="7" dur="500"/>
                                        <p:tgtEl>
                                          <p:spTgt spid="1996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99683">
                                            <p:txEl>
                                              <p:pRg st="0" end="0"/>
                                            </p:txEl>
                                          </p:spTgt>
                                        </p:tgtEl>
                                        <p:attrNameLst>
                                          <p:attrName>style.visibility</p:attrName>
                                        </p:attrNameLst>
                                      </p:cBhvr>
                                      <p:to>
                                        <p:strVal val="visible"/>
                                      </p:to>
                                    </p:set>
                                    <p:animEffect transition="in" filter="wipe(left)">
                                      <p:cBhvr>
                                        <p:cTn id="12" dur="300"/>
                                        <p:tgtEl>
                                          <p:spTgt spid="19968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99685"/>
                                        </p:tgtEl>
                                        <p:attrNameLst>
                                          <p:attrName>style.visibility</p:attrName>
                                        </p:attrNameLst>
                                      </p:cBhvr>
                                      <p:to>
                                        <p:strVal val="visible"/>
                                      </p:to>
                                    </p:set>
                                    <p:animEffect transition="in" filter="wipe(left)">
                                      <p:cBhvr>
                                        <p:cTn id="17" dur="300"/>
                                        <p:tgtEl>
                                          <p:spTgt spid="199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uild="p" autoUpdateAnimBg="0"/>
      <p:bldP spid="199684" grpId="0" autoUpdateAnimBg="0"/>
      <p:bldP spid="199685"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p:cNvSpPr txBox="1">
            <a:spLocks noChangeArrowheads="1"/>
          </p:cNvSpPr>
          <p:nvPr/>
        </p:nvSpPr>
        <p:spPr bwMode="auto">
          <a:xfrm>
            <a:off x="228600" y="279400"/>
            <a:ext cx="8915400" cy="604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600" b="1">
                <a:solidFill>
                  <a:srgbClr val="A50021"/>
                </a:solidFill>
                <a:ea typeface="楷体_GB2312" charset="0"/>
              </a:rPr>
              <a:t>Status</a:t>
            </a:r>
            <a:r>
              <a:rPr lang="en-US" altLang="zh-CN" sz="3600">
                <a:solidFill>
                  <a:srgbClr val="A50021"/>
                </a:solidFill>
                <a:ea typeface="楷体_GB2312" charset="0"/>
              </a:rPr>
              <a:t> Insert BST(BiTree </a:t>
            </a:r>
            <a:r>
              <a:rPr lang="en-US" altLang="zh-CN" sz="3600" b="1">
                <a:solidFill>
                  <a:srgbClr val="A50021"/>
                </a:solidFill>
                <a:ea typeface="楷体_GB2312" charset="0"/>
              </a:rPr>
              <a:t>&amp;</a:t>
            </a:r>
            <a:r>
              <a:rPr lang="en-US" altLang="zh-CN" sz="3600">
                <a:solidFill>
                  <a:srgbClr val="A50021"/>
                </a:solidFill>
                <a:ea typeface="楷体_GB2312" charset="0"/>
              </a:rPr>
              <a:t>T, ElemType e )</a:t>
            </a:r>
            <a:r>
              <a:rPr lang="en-US" altLang="zh-CN" sz="3600">
                <a:ea typeface="楷体_GB2312" charset="0"/>
              </a:rPr>
              <a:t> </a:t>
            </a:r>
          </a:p>
          <a:p>
            <a:pPr>
              <a:lnSpc>
                <a:spcPct val="125000"/>
              </a:lnSpc>
            </a:pPr>
            <a:r>
              <a:rPr lang="en-US" altLang="zh-CN" sz="3600" b="1">
                <a:solidFill>
                  <a:srgbClr val="A50021"/>
                </a:solidFill>
                <a:ea typeface="楷体_GB2312" charset="0"/>
              </a:rPr>
              <a:t>{</a:t>
            </a:r>
            <a:endParaRPr lang="en-US" altLang="zh-CN" sz="3600">
              <a:ea typeface="楷体_GB2312" charset="0"/>
            </a:endParaRPr>
          </a:p>
          <a:p>
            <a:pPr>
              <a:lnSpc>
                <a:spcPct val="125000"/>
              </a:lnSpc>
            </a:pPr>
            <a:r>
              <a:rPr lang="en-US" altLang="zh-CN" sz="3200" b="1">
                <a:ea typeface="楷体_GB2312" charset="0"/>
              </a:rPr>
              <a:t>  // </a:t>
            </a:r>
            <a:r>
              <a:rPr lang="zh-CN" altLang="zh-CN" sz="3200" b="1">
                <a:ea typeface="楷体_GB2312" charset="0"/>
              </a:rPr>
              <a:t>当二叉排序树中不存在关键字等于 </a:t>
            </a:r>
            <a:r>
              <a:rPr lang="en-US" altLang="zh-CN" sz="3200" b="1">
                <a:ea typeface="楷体_GB2312" charset="0"/>
              </a:rPr>
              <a:t>e.key </a:t>
            </a:r>
            <a:r>
              <a:rPr lang="zh-CN" altLang="zh-CN" sz="3200" b="1">
                <a:ea typeface="楷体_GB2312" charset="0"/>
              </a:rPr>
              <a:t>的</a:t>
            </a:r>
          </a:p>
          <a:p>
            <a:pPr>
              <a:lnSpc>
                <a:spcPct val="125000"/>
              </a:lnSpc>
            </a:pPr>
            <a:r>
              <a:rPr lang="zh-CN" altLang="zh-CN" sz="3200" b="1">
                <a:ea typeface="楷体_GB2312" charset="0"/>
              </a:rPr>
              <a:t>  // 数据元素时，插入元素值为 </a:t>
            </a:r>
            <a:r>
              <a:rPr lang="en-US" altLang="zh-CN" sz="3200" b="1">
                <a:ea typeface="楷体_GB2312" charset="0"/>
              </a:rPr>
              <a:t>e </a:t>
            </a:r>
            <a:r>
              <a:rPr lang="zh-CN" altLang="zh-CN" sz="3200" b="1">
                <a:ea typeface="楷体_GB2312" charset="0"/>
              </a:rPr>
              <a:t>的结点，并返</a:t>
            </a:r>
          </a:p>
          <a:p>
            <a:pPr>
              <a:lnSpc>
                <a:spcPct val="125000"/>
              </a:lnSpc>
            </a:pPr>
            <a:r>
              <a:rPr lang="zh-CN" altLang="zh-CN" sz="3200" b="1">
                <a:ea typeface="楷体_GB2312" charset="0"/>
              </a:rPr>
              <a:t>  // 回 </a:t>
            </a:r>
            <a:r>
              <a:rPr lang="en-US" altLang="zh-CN" sz="3200" b="1">
                <a:ea typeface="楷体_GB2312" charset="0"/>
              </a:rPr>
              <a:t>TRUE; </a:t>
            </a:r>
            <a:r>
              <a:rPr lang="zh-CN" altLang="zh-CN" sz="3200" b="1">
                <a:ea typeface="楷体_GB2312" charset="0"/>
              </a:rPr>
              <a:t>否则，不进行插入并返回</a:t>
            </a:r>
            <a:r>
              <a:rPr lang="en-US" altLang="zh-CN" sz="3200" b="1">
                <a:ea typeface="楷体_GB2312" charset="0"/>
              </a:rPr>
              <a:t>FALSE</a:t>
            </a:r>
          </a:p>
          <a:p>
            <a:pPr>
              <a:lnSpc>
                <a:spcPct val="125000"/>
              </a:lnSpc>
            </a:pPr>
            <a:r>
              <a:rPr lang="en-US" altLang="zh-CN" sz="3200" b="1">
                <a:ea typeface="楷体_GB2312" charset="0"/>
              </a:rPr>
              <a:t>   </a:t>
            </a:r>
            <a:r>
              <a:rPr lang="en-US" altLang="zh-CN" sz="3600" b="1">
                <a:solidFill>
                  <a:srgbClr val="A50021"/>
                </a:solidFill>
                <a:ea typeface="楷体_GB2312" charset="0"/>
              </a:rPr>
              <a:t>if</a:t>
            </a:r>
            <a:r>
              <a:rPr lang="en-US" altLang="zh-CN" sz="3600">
                <a:ea typeface="楷体_GB2312" charset="0"/>
              </a:rPr>
              <a:t> </a:t>
            </a:r>
            <a:r>
              <a:rPr lang="en-US" altLang="zh-CN" sz="3600">
                <a:solidFill>
                  <a:srgbClr val="FF0000"/>
                </a:solidFill>
                <a:ea typeface="楷体_GB2312" charset="0"/>
              </a:rPr>
              <a:t>(</a:t>
            </a:r>
            <a:r>
              <a:rPr lang="en-US" altLang="zh-CN" sz="3600" b="1">
                <a:solidFill>
                  <a:srgbClr val="FF0000"/>
                </a:solidFill>
                <a:ea typeface="楷体_GB2312" charset="0"/>
              </a:rPr>
              <a:t>!</a:t>
            </a:r>
            <a:r>
              <a:rPr lang="en-US" altLang="zh-CN" sz="3600">
                <a:solidFill>
                  <a:srgbClr val="FF0000"/>
                </a:solidFill>
                <a:ea typeface="楷体_GB2312" charset="0"/>
              </a:rPr>
              <a:t>SearchBST ( T, e.key, NULL, p ))</a:t>
            </a:r>
          </a:p>
          <a:p>
            <a:pPr>
              <a:lnSpc>
                <a:spcPct val="125000"/>
              </a:lnSpc>
            </a:pPr>
            <a:r>
              <a:rPr lang="en-US" altLang="zh-CN" sz="3600">
                <a:solidFill>
                  <a:srgbClr val="FF0000"/>
                </a:solidFill>
                <a:ea typeface="楷体_GB2312" charset="0"/>
              </a:rPr>
              <a:t>    </a:t>
            </a:r>
            <a:r>
              <a:rPr lang="en-US" altLang="zh-CN" sz="3600">
                <a:ea typeface="楷体_GB2312" charset="0"/>
              </a:rPr>
              <a:t> </a:t>
            </a:r>
            <a:r>
              <a:rPr lang="en-US" altLang="zh-CN" sz="3600" b="1">
                <a:solidFill>
                  <a:srgbClr val="A50021"/>
                </a:solidFill>
                <a:ea typeface="楷体_GB2312" charset="0"/>
              </a:rPr>
              <a:t>{ </a:t>
            </a:r>
            <a:r>
              <a:rPr lang="en-US" altLang="zh-CN" sz="3600">
                <a:solidFill>
                  <a:srgbClr val="A50021"/>
                </a:solidFill>
                <a:ea typeface="楷体_GB2312" charset="0"/>
              </a:rPr>
              <a:t>                         </a:t>
            </a:r>
            <a:r>
              <a:rPr lang="en-US" altLang="zh-CN" sz="3600" b="1">
                <a:solidFill>
                  <a:srgbClr val="A50021"/>
                </a:solidFill>
                <a:ea typeface="楷体_GB2312" charset="0"/>
              </a:rPr>
              <a:t>   }</a:t>
            </a:r>
          </a:p>
          <a:p>
            <a:pPr>
              <a:lnSpc>
                <a:spcPct val="125000"/>
              </a:lnSpc>
            </a:pPr>
            <a:r>
              <a:rPr lang="en-US" altLang="zh-CN" sz="3600" b="1">
                <a:solidFill>
                  <a:srgbClr val="A50021"/>
                </a:solidFill>
                <a:ea typeface="楷体_GB2312" charset="0"/>
              </a:rPr>
              <a:t>   else return FALSE</a:t>
            </a:r>
            <a:r>
              <a:rPr lang="en-US" altLang="zh-CN" sz="3600">
                <a:solidFill>
                  <a:srgbClr val="A50021"/>
                </a:solidFill>
                <a:ea typeface="楷体_GB2312" charset="0"/>
              </a:rPr>
              <a:t>;</a:t>
            </a:r>
          </a:p>
          <a:p>
            <a:pPr>
              <a:lnSpc>
                <a:spcPct val="125000"/>
              </a:lnSpc>
            </a:pPr>
            <a:r>
              <a:rPr lang="en-US" altLang="zh-CN" sz="3600" b="1">
                <a:solidFill>
                  <a:srgbClr val="A50021"/>
                </a:solidFill>
                <a:ea typeface="楷体_GB2312" charset="0"/>
              </a:rPr>
              <a:t>}</a:t>
            </a:r>
            <a:r>
              <a:rPr lang="en-US" altLang="zh-CN" sz="3600">
                <a:solidFill>
                  <a:srgbClr val="A50021"/>
                </a:solidFill>
                <a:ea typeface="楷体_GB2312" charset="0"/>
              </a:rPr>
              <a:t> // Insert BST</a:t>
            </a:r>
          </a:p>
        </p:txBody>
      </p:sp>
      <p:sp>
        <p:nvSpPr>
          <p:cNvPr id="76805" name="Text Box 5">
            <a:hlinkClick r:id="" action="ppaction://hlinkshowjump?jump=nextslide" highlightClick="1"/>
          </p:cNvPr>
          <p:cNvSpPr txBox="1">
            <a:spLocks noChangeArrowheads="1"/>
          </p:cNvSpPr>
          <p:nvPr/>
        </p:nvSpPr>
        <p:spPr bwMode="auto">
          <a:xfrm>
            <a:off x="1219200" y="4191000"/>
            <a:ext cx="3048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4000" b="1">
                <a:solidFill>
                  <a:srgbClr val="FF00FF"/>
                </a:solidFill>
              </a:rPr>
              <a:t>    …    …</a:t>
            </a:r>
            <a:endParaRPr lang="en-US" altLang="zh-CN" sz="3600"/>
          </a:p>
        </p:txBody>
      </p:sp>
      <p:sp>
        <p:nvSpPr>
          <p:cNvPr id="76806" name="AutoShape 6">
            <a:hlinkClick r:id="rId2" action="ppaction://hlinksldjump" highlightClick="1"/>
          </p:cNvPr>
          <p:cNvSpPr>
            <a:spLocks noChangeArrowheads="1"/>
          </p:cNvSpPr>
          <p:nvPr/>
        </p:nvSpPr>
        <p:spPr bwMode="auto">
          <a:xfrm>
            <a:off x="83820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1240989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9" fill="hold" grpId="0" nodeType="afterEffect">
                                  <p:stCondLst>
                                    <p:cond delay="0"/>
                                  </p:stCondLst>
                                  <p:childTnLst>
                                    <p:set>
                                      <p:cBhvr>
                                        <p:cTn id="6" dur="1" fill="hold">
                                          <p:stCondLst>
                                            <p:cond delay="0"/>
                                          </p:stCondLst>
                                        </p:cTn>
                                        <p:tgtEl>
                                          <p:spTgt spid="76802"/>
                                        </p:tgtEl>
                                        <p:attrNameLst>
                                          <p:attrName>style.visibility</p:attrName>
                                        </p:attrNameLst>
                                      </p:cBhvr>
                                      <p:to>
                                        <p:strVal val="visible"/>
                                      </p:to>
                                    </p:set>
                                    <p:animEffect transition="in" filter="strips(upLeft)">
                                      <p:cBhvr>
                                        <p:cTn id="7" dur="500"/>
                                        <p:tgtEl>
                                          <p:spTgt spid="76802"/>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76805"/>
                                        </p:tgtEl>
                                        <p:attrNameLst>
                                          <p:attrName>style.visibility</p:attrName>
                                        </p:attrNameLst>
                                      </p:cBhvr>
                                      <p:to>
                                        <p:strVal val="visible"/>
                                      </p:to>
                                    </p:set>
                                    <p:animEffect transition="in" filter="slide(fromLeft)">
                                      <p:cBhvr>
                                        <p:cTn id="11" dur="500"/>
                                        <p:tgtEl>
                                          <p:spTgt spid="76805"/>
                                        </p:tgtEl>
                                      </p:cBhvr>
                                    </p:animEffect>
                                  </p:childTnLst>
                                </p:cTn>
                              </p:par>
                            </p:childTnLst>
                          </p:cTn>
                        </p:par>
                        <p:par>
                          <p:cTn id="12" fill="hold" nodeType="afterGroup">
                            <p:stCondLst>
                              <p:cond delay="1000"/>
                            </p:stCondLst>
                            <p:childTnLst>
                              <p:par>
                                <p:cTn id="13" presetID="2" presetClass="entr" presetSubtype="6" fill="hold" grpId="0" nodeType="afterEffect">
                                  <p:stCondLst>
                                    <p:cond delay="0"/>
                                  </p:stCondLst>
                                  <p:childTnLst>
                                    <p:set>
                                      <p:cBhvr>
                                        <p:cTn id="14" dur="1" fill="hold">
                                          <p:stCondLst>
                                            <p:cond delay="0"/>
                                          </p:stCondLst>
                                        </p:cTn>
                                        <p:tgtEl>
                                          <p:spTgt spid="76806"/>
                                        </p:tgtEl>
                                        <p:attrNameLst>
                                          <p:attrName>style.visibility</p:attrName>
                                        </p:attrNameLst>
                                      </p:cBhvr>
                                      <p:to>
                                        <p:strVal val="visible"/>
                                      </p:to>
                                    </p:set>
                                    <p:anim calcmode="lin" valueType="num">
                                      <p:cBhvr additive="base">
                                        <p:cTn id="15" dur="500" fill="hold"/>
                                        <p:tgtEl>
                                          <p:spTgt spid="76806"/>
                                        </p:tgtEl>
                                        <p:attrNameLst>
                                          <p:attrName>ppt_x</p:attrName>
                                        </p:attrNameLst>
                                      </p:cBhvr>
                                      <p:tavLst>
                                        <p:tav tm="0">
                                          <p:val>
                                            <p:strVal val="1+#ppt_w/2"/>
                                          </p:val>
                                        </p:tav>
                                        <p:tav tm="100000">
                                          <p:val>
                                            <p:strVal val="#ppt_x"/>
                                          </p:val>
                                        </p:tav>
                                      </p:tavLst>
                                    </p:anim>
                                    <p:anim calcmode="lin" valueType="num">
                                      <p:cBhvr additive="base">
                                        <p:cTn id="16" dur="500" fill="hold"/>
                                        <p:tgtEl>
                                          <p:spTgt spid="768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autoUpdateAnimBg="0"/>
      <p:bldP spid="76805" grpId="0" autoUpdateAnimBg="0"/>
      <p:bldP spid="7680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ChangeArrowheads="1"/>
          </p:cNvSpPr>
          <p:nvPr/>
        </p:nvSpPr>
        <p:spPr bwMode="auto">
          <a:xfrm>
            <a:off x="533400" y="239713"/>
            <a:ext cx="7591425" cy="239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A50021"/>
                </a:solidFill>
                <a:ea typeface="楷体_GB2312" charset="0"/>
              </a:rPr>
              <a:t>s = (BiTree)</a:t>
            </a:r>
            <a:r>
              <a:rPr lang="en-US" altLang="zh-CN" sz="3600" b="1">
                <a:solidFill>
                  <a:srgbClr val="A50021"/>
                </a:solidFill>
                <a:ea typeface="楷体_GB2312" charset="0"/>
              </a:rPr>
              <a:t> malloc</a:t>
            </a:r>
            <a:r>
              <a:rPr lang="en-US" altLang="zh-CN" sz="3600">
                <a:solidFill>
                  <a:srgbClr val="A50021"/>
                </a:solidFill>
                <a:ea typeface="楷体_GB2312" charset="0"/>
              </a:rPr>
              <a:t> (</a:t>
            </a:r>
            <a:r>
              <a:rPr lang="en-US" altLang="zh-CN" sz="3600" b="1">
                <a:solidFill>
                  <a:srgbClr val="A50021"/>
                </a:solidFill>
                <a:ea typeface="楷体_GB2312" charset="0"/>
              </a:rPr>
              <a:t>sizeof</a:t>
            </a:r>
            <a:r>
              <a:rPr lang="en-US" altLang="zh-CN" sz="3600">
                <a:solidFill>
                  <a:srgbClr val="A50021"/>
                </a:solidFill>
                <a:ea typeface="楷体_GB2312" charset="0"/>
              </a:rPr>
              <a:t> (BiTNode));</a:t>
            </a:r>
          </a:p>
          <a:p>
            <a:r>
              <a:rPr lang="en-US" altLang="zh-CN" sz="3600">
                <a:solidFill>
                  <a:srgbClr val="A50021"/>
                </a:solidFill>
                <a:ea typeface="楷体_GB2312" charset="0"/>
              </a:rPr>
              <a:t>                       </a:t>
            </a:r>
            <a:r>
              <a:rPr lang="en-US" altLang="zh-CN" sz="3200">
                <a:solidFill>
                  <a:srgbClr val="A50021"/>
                </a:solidFill>
                <a:ea typeface="楷体_GB2312" charset="0"/>
              </a:rPr>
              <a:t>// </a:t>
            </a:r>
            <a:r>
              <a:rPr lang="zh-CN" altLang="en-US" sz="3200">
                <a:solidFill>
                  <a:srgbClr val="A50021"/>
                </a:solidFill>
                <a:ea typeface="楷体_GB2312" charset="0"/>
              </a:rPr>
              <a:t>为新结点分配空间</a:t>
            </a:r>
          </a:p>
          <a:p>
            <a:r>
              <a:rPr lang="en-US" altLang="zh-CN" sz="3600">
                <a:solidFill>
                  <a:srgbClr val="A50021"/>
                </a:solidFill>
                <a:ea typeface="楷体_GB2312" charset="0"/>
              </a:rPr>
              <a:t>s-&gt;data = e;  </a:t>
            </a:r>
          </a:p>
          <a:p>
            <a:pPr>
              <a:lnSpc>
                <a:spcPct val="120000"/>
              </a:lnSpc>
            </a:pPr>
            <a:r>
              <a:rPr lang="en-US" altLang="zh-CN" sz="3600">
                <a:solidFill>
                  <a:srgbClr val="A50021"/>
                </a:solidFill>
                <a:ea typeface="楷体_GB2312" charset="0"/>
              </a:rPr>
              <a:t>s-&gt;lchild = s-&gt;rchild = </a:t>
            </a:r>
            <a:r>
              <a:rPr lang="en-US" altLang="zh-CN" sz="3600" b="1">
                <a:solidFill>
                  <a:srgbClr val="A50021"/>
                </a:solidFill>
                <a:ea typeface="楷体_GB2312" charset="0"/>
              </a:rPr>
              <a:t>NULL</a:t>
            </a:r>
            <a:r>
              <a:rPr lang="en-US" altLang="zh-CN" sz="3600">
                <a:solidFill>
                  <a:srgbClr val="A50021"/>
                </a:solidFill>
                <a:ea typeface="楷体_GB2312" charset="0"/>
              </a:rPr>
              <a:t>;  </a:t>
            </a:r>
          </a:p>
        </p:txBody>
      </p:sp>
      <p:sp>
        <p:nvSpPr>
          <p:cNvPr id="200707" name="Rectangle 3"/>
          <p:cNvSpPr>
            <a:spLocks noChangeArrowheads="1"/>
          </p:cNvSpPr>
          <p:nvPr/>
        </p:nvSpPr>
        <p:spPr bwMode="auto">
          <a:xfrm>
            <a:off x="533400" y="2649538"/>
            <a:ext cx="7416800" cy="77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600" b="1">
                <a:solidFill>
                  <a:srgbClr val="FF0000"/>
                </a:solidFill>
                <a:ea typeface="楷体_GB2312" charset="0"/>
              </a:rPr>
              <a:t>if</a:t>
            </a:r>
            <a:r>
              <a:rPr lang="en-US" altLang="zh-CN" sz="3600">
                <a:solidFill>
                  <a:srgbClr val="FF0000"/>
                </a:solidFill>
                <a:ea typeface="楷体_GB2312" charset="0"/>
              </a:rPr>
              <a:t>  ( </a:t>
            </a:r>
            <a:r>
              <a:rPr lang="en-US" altLang="zh-CN" sz="3600" b="1">
                <a:solidFill>
                  <a:srgbClr val="FF0000"/>
                </a:solidFill>
                <a:ea typeface="楷体_GB2312" charset="0"/>
              </a:rPr>
              <a:t>!</a:t>
            </a:r>
            <a:r>
              <a:rPr lang="en-US" altLang="zh-CN" sz="3600">
                <a:solidFill>
                  <a:srgbClr val="FF0000"/>
                </a:solidFill>
                <a:ea typeface="楷体_GB2312" charset="0"/>
              </a:rPr>
              <a:t>p )  T = s;     </a:t>
            </a:r>
            <a:r>
              <a:rPr lang="en-US" altLang="zh-CN" sz="3200">
                <a:solidFill>
                  <a:srgbClr val="FF0000"/>
                </a:solidFill>
                <a:ea typeface="楷体_GB2312" charset="0"/>
              </a:rPr>
              <a:t>// </a:t>
            </a:r>
            <a:r>
              <a:rPr lang="zh-CN" altLang="en-US" sz="3200">
                <a:solidFill>
                  <a:srgbClr val="FF0000"/>
                </a:solidFill>
                <a:ea typeface="楷体_GB2312" charset="0"/>
              </a:rPr>
              <a:t>插入 </a:t>
            </a:r>
            <a:r>
              <a:rPr lang="en-US" altLang="zh-CN" sz="3200">
                <a:solidFill>
                  <a:srgbClr val="FF0000"/>
                </a:solidFill>
                <a:ea typeface="楷体_GB2312" charset="0"/>
              </a:rPr>
              <a:t>s </a:t>
            </a:r>
            <a:r>
              <a:rPr lang="zh-CN" altLang="en-US" sz="3200">
                <a:solidFill>
                  <a:srgbClr val="FF0000"/>
                </a:solidFill>
                <a:ea typeface="楷体_GB2312" charset="0"/>
              </a:rPr>
              <a:t>为新的根结点</a:t>
            </a:r>
            <a:endParaRPr lang="zh-CN" altLang="en-US" sz="3600">
              <a:solidFill>
                <a:srgbClr val="0000FF"/>
              </a:solidFill>
              <a:ea typeface="楷体_GB2312" charset="0"/>
            </a:endParaRPr>
          </a:p>
        </p:txBody>
      </p:sp>
      <p:sp>
        <p:nvSpPr>
          <p:cNvPr id="200708" name="Rectangle 4"/>
          <p:cNvSpPr>
            <a:spLocks noChangeArrowheads="1"/>
          </p:cNvSpPr>
          <p:nvPr/>
        </p:nvSpPr>
        <p:spPr bwMode="auto">
          <a:xfrm>
            <a:off x="533400" y="3484563"/>
            <a:ext cx="8537575" cy="215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600" b="1">
                <a:solidFill>
                  <a:srgbClr val="A50021"/>
                </a:solidFill>
                <a:ea typeface="楷体_GB2312" charset="0"/>
              </a:rPr>
              <a:t>else   if</a:t>
            </a:r>
            <a:r>
              <a:rPr lang="en-US" altLang="zh-CN" sz="3600">
                <a:solidFill>
                  <a:srgbClr val="A50021"/>
                </a:solidFill>
                <a:ea typeface="楷体_GB2312" charset="0"/>
              </a:rPr>
              <a:t> ( </a:t>
            </a:r>
            <a:r>
              <a:rPr lang="en-US" altLang="zh-CN" sz="3200">
                <a:solidFill>
                  <a:srgbClr val="FF00FF"/>
                </a:solidFill>
                <a:ea typeface="楷体_GB2312" charset="0"/>
              </a:rPr>
              <a:t>LT(e.key, p-&gt;data.key)</a:t>
            </a:r>
            <a:r>
              <a:rPr lang="en-US" altLang="zh-CN" sz="3200">
                <a:solidFill>
                  <a:srgbClr val="A50021"/>
                </a:solidFill>
                <a:ea typeface="楷体_GB2312" charset="0"/>
              </a:rPr>
              <a:t> ) </a:t>
            </a:r>
          </a:p>
          <a:p>
            <a:pPr>
              <a:lnSpc>
                <a:spcPct val="125000"/>
              </a:lnSpc>
            </a:pPr>
            <a:r>
              <a:rPr lang="en-US" altLang="zh-CN" sz="3200">
                <a:solidFill>
                  <a:srgbClr val="A50021"/>
                </a:solidFill>
                <a:ea typeface="楷体_GB2312" charset="0"/>
              </a:rPr>
              <a:t>       </a:t>
            </a:r>
            <a:r>
              <a:rPr lang="en-US" altLang="zh-CN" sz="3200">
                <a:solidFill>
                  <a:srgbClr val="FF00FF"/>
                </a:solidFill>
                <a:ea typeface="楷体_GB2312" charset="0"/>
              </a:rPr>
              <a:t>p-&gt;lchild = s;</a:t>
            </a:r>
            <a:r>
              <a:rPr lang="en-US" altLang="zh-CN" sz="3600">
                <a:solidFill>
                  <a:srgbClr val="A50021"/>
                </a:solidFill>
                <a:ea typeface="楷体_GB2312" charset="0"/>
              </a:rPr>
              <a:t>       </a:t>
            </a:r>
            <a:r>
              <a:rPr lang="en-US" altLang="zh-CN" sz="3200">
                <a:solidFill>
                  <a:srgbClr val="A50021"/>
                </a:solidFill>
                <a:ea typeface="楷体_GB2312" charset="0"/>
              </a:rPr>
              <a:t>// </a:t>
            </a:r>
            <a:r>
              <a:rPr lang="zh-CN" altLang="en-US" sz="3200">
                <a:solidFill>
                  <a:srgbClr val="A50021"/>
                </a:solidFill>
                <a:ea typeface="楷体_GB2312" charset="0"/>
              </a:rPr>
              <a:t>插入 *</a:t>
            </a:r>
            <a:r>
              <a:rPr lang="en-US" altLang="zh-CN" sz="3200">
                <a:solidFill>
                  <a:srgbClr val="A50021"/>
                </a:solidFill>
                <a:ea typeface="楷体_GB2312" charset="0"/>
              </a:rPr>
              <a:t>s </a:t>
            </a:r>
            <a:r>
              <a:rPr lang="zh-CN" altLang="en-US" sz="3200">
                <a:solidFill>
                  <a:srgbClr val="A50021"/>
                </a:solidFill>
                <a:ea typeface="楷体_GB2312" charset="0"/>
              </a:rPr>
              <a:t>为 *</a:t>
            </a:r>
            <a:r>
              <a:rPr lang="en-US" altLang="zh-CN" sz="3200">
                <a:solidFill>
                  <a:srgbClr val="A50021"/>
                </a:solidFill>
                <a:ea typeface="楷体_GB2312" charset="0"/>
              </a:rPr>
              <a:t>p </a:t>
            </a:r>
            <a:r>
              <a:rPr lang="zh-CN" altLang="en-US" sz="3200">
                <a:solidFill>
                  <a:srgbClr val="A50021"/>
                </a:solidFill>
                <a:ea typeface="楷体_GB2312" charset="0"/>
              </a:rPr>
              <a:t>的左孩子</a:t>
            </a:r>
          </a:p>
          <a:p>
            <a:pPr>
              <a:lnSpc>
                <a:spcPct val="125000"/>
              </a:lnSpc>
            </a:pPr>
            <a:r>
              <a:rPr lang="en-US" altLang="zh-CN" sz="3600" b="1">
                <a:solidFill>
                  <a:srgbClr val="A50021"/>
                </a:solidFill>
                <a:ea typeface="楷体_GB2312" charset="0"/>
              </a:rPr>
              <a:t>else</a:t>
            </a:r>
            <a:r>
              <a:rPr lang="en-US" altLang="zh-CN" sz="3600">
                <a:solidFill>
                  <a:srgbClr val="A50021"/>
                </a:solidFill>
                <a:ea typeface="楷体_GB2312" charset="0"/>
              </a:rPr>
              <a:t>  p-&gt;rchild = s;     </a:t>
            </a:r>
            <a:r>
              <a:rPr lang="en-US" altLang="zh-CN" sz="3200">
                <a:solidFill>
                  <a:srgbClr val="A50021"/>
                </a:solidFill>
                <a:ea typeface="楷体_GB2312" charset="0"/>
              </a:rPr>
              <a:t>// </a:t>
            </a:r>
            <a:r>
              <a:rPr lang="zh-CN" altLang="en-US" sz="3200">
                <a:solidFill>
                  <a:srgbClr val="A50021"/>
                </a:solidFill>
                <a:ea typeface="楷体_GB2312" charset="0"/>
              </a:rPr>
              <a:t>插入 *</a:t>
            </a:r>
            <a:r>
              <a:rPr lang="en-US" altLang="zh-CN" sz="3200">
                <a:solidFill>
                  <a:srgbClr val="A50021"/>
                </a:solidFill>
                <a:ea typeface="楷体_GB2312" charset="0"/>
              </a:rPr>
              <a:t>s </a:t>
            </a:r>
            <a:r>
              <a:rPr lang="zh-CN" altLang="en-US" sz="3200">
                <a:solidFill>
                  <a:srgbClr val="A50021"/>
                </a:solidFill>
                <a:ea typeface="楷体_GB2312" charset="0"/>
              </a:rPr>
              <a:t>为 *</a:t>
            </a:r>
            <a:r>
              <a:rPr lang="en-US" altLang="zh-CN" sz="3200">
                <a:solidFill>
                  <a:srgbClr val="A50021"/>
                </a:solidFill>
                <a:ea typeface="楷体_GB2312" charset="0"/>
              </a:rPr>
              <a:t>p </a:t>
            </a:r>
            <a:r>
              <a:rPr lang="zh-CN" altLang="en-US" sz="3200">
                <a:solidFill>
                  <a:srgbClr val="A50021"/>
                </a:solidFill>
                <a:ea typeface="楷体_GB2312" charset="0"/>
              </a:rPr>
              <a:t>的右孩子</a:t>
            </a:r>
            <a:endParaRPr lang="zh-CN" altLang="en-US" sz="3600">
              <a:ea typeface="楷体_GB2312" charset="0"/>
            </a:endParaRPr>
          </a:p>
        </p:txBody>
      </p:sp>
      <p:sp>
        <p:nvSpPr>
          <p:cNvPr id="200709" name="Rectangle 5"/>
          <p:cNvSpPr>
            <a:spLocks noChangeArrowheads="1"/>
          </p:cNvSpPr>
          <p:nvPr/>
        </p:nvSpPr>
        <p:spPr bwMode="auto">
          <a:xfrm>
            <a:off x="533400" y="5791200"/>
            <a:ext cx="5489575"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600" b="1">
                <a:solidFill>
                  <a:srgbClr val="A50021"/>
                </a:solidFill>
                <a:ea typeface="楷体_GB2312" charset="0"/>
              </a:rPr>
              <a:t>return TRUE</a:t>
            </a:r>
            <a:r>
              <a:rPr lang="en-US" altLang="zh-CN" sz="3600">
                <a:solidFill>
                  <a:srgbClr val="A50021"/>
                </a:solidFill>
                <a:ea typeface="楷体_GB2312" charset="0"/>
              </a:rPr>
              <a:t>;     </a:t>
            </a:r>
            <a:r>
              <a:rPr lang="en-US" altLang="zh-CN" sz="3200">
                <a:solidFill>
                  <a:srgbClr val="A50021"/>
                </a:solidFill>
                <a:ea typeface="楷体_GB2312" charset="0"/>
              </a:rPr>
              <a:t>// </a:t>
            </a:r>
            <a:r>
              <a:rPr lang="zh-CN" altLang="en-US" sz="3200">
                <a:solidFill>
                  <a:srgbClr val="A50021"/>
                </a:solidFill>
                <a:ea typeface="楷体_GB2312" charset="0"/>
              </a:rPr>
              <a:t>插入成功</a:t>
            </a:r>
            <a:endParaRPr lang="zh-CN" altLang="en-US" sz="3600">
              <a:ea typeface="楷体_GB2312" charset="0"/>
            </a:endParaRPr>
          </a:p>
        </p:txBody>
      </p:sp>
      <p:sp>
        <p:nvSpPr>
          <p:cNvPr id="200711" name="AutoShape 7">
            <a:hlinkClick r:id="" action="ppaction://hlinkshowjump?jump=previousslide" highlightClick="1"/>
          </p:cNvPr>
          <p:cNvSpPr>
            <a:spLocks noChangeArrowheads="1"/>
          </p:cNvSpPr>
          <p:nvPr/>
        </p:nvSpPr>
        <p:spPr bwMode="auto">
          <a:xfrm>
            <a:off x="8458200" y="61722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87799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0706"/>
                                        </p:tgtEl>
                                        <p:attrNameLst>
                                          <p:attrName>style.visibility</p:attrName>
                                        </p:attrNameLst>
                                      </p:cBhvr>
                                      <p:to>
                                        <p:strVal val="visible"/>
                                      </p:to>
                                    </p:set>
                                    <p:animEffect transition="in" filter="wipe(left)">
                                      <p:cBhvr>
                                        <p:cTn id="7" dur="500"/>
                                        <p:tgtEl>
                                          <p:spTgt spid="2007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0707"/>
                                        </p:tgtEl>
                                        <p:attrNameLst>
                                          <p:attrName>style.visibility</p:attrName>
                                        </p:attrNameLst>
                                      </p:cBhvr>
                                      <p:to>
                                        <p:strVal val="visible"/>
                                      </p:to>
                                    </p:set>
                                    <p:animEffect transition="in" filter="wipe(left)">
                                      <p:cBhvr>
                                        <p:cTn id="12" dur="500"/>
                                        <p:tgtEl>
                                          <p:spTgt spid="2007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0708"/>
                                        </p:tgtEl>
                                        <p:attrNameLst>
                                          <p:attrName>style.visibility</p:attrName>
                                        </p:attrNameLst>
                                      </p:cBhvr>
                                      <p:to>
                                        <p:strVal val="visible"/>
                                      </p:to>
                                    </p:set>
                                    <p:animEffect transition="in" filter="wipe(left)">
                                      <p:cBhvr>
                                        <p:cTn id="17" dur="500"/>
                                        <p:tgtEl>
                                          <p:spTgt spid="2007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0709"/>
                                        </p:tgtEl>
                                        <p:attrNameLst>
                                          <p:attrName>style.visibility</p:attrName>
                                        </p:attrNameLst>
                                      </p:cBhvr>
                                      <p:to>
                                        <p:strVal val="visible"/>
                                      </p:to>
                                    </p:set>
                                    <p:animEffect transition="in" filter="wipe(left)">
                                      <p:cBhvr>
                                        <p:cTn id="22" dur="500"/>
                                        <p:tgtEl>
                                          <p:spTgt spid="200709"/>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200711"/>
                                        </p:tgtEl>
                                        <p:attrNameLst>
                                          <p:attrName>style.visibility</p:attrName>
                                        </p:attrNameLst>
                                      </p:cBhvr>
                                      <p:to>
                                        <p:strVal val="visible"/>
                                      </p:to>
                                    </p:set>
                                    <p:anim calcmode="lin" valueType="num">
                                      <p:cBhvr additive="base">
                                        <p:cTn id="26" dur="500" fill="hold"/>
                                        <p:tgtEl>
                                          <p:spTgt spid="200711"/>
                                        </p:tgtEl>
                                        <p:attrNameLst>
                                          <p:attrName>ppt_x</p:attrName>
                                        </p:attrNameLst>
                                      </p:cBhvr>
                                      <p:tavLst>
                                        <p:tav tm="0">
                                          <p:val>
                                            <p:strVal val="1+#ppt_w/2"/>
                                          </p:val>
                                        </p:tav>
                                        <p:tav tm="100000">
                                          <p:val>
                                            <p:strVal val="#ppt_x"/>
                                          </p:val>
                                        </p:tav>
                                      </p:tavLst>
                                    </p:anim>
                                    <p:anim calcmode="lin" valueType="num">
                                      <p:cBhvr additive="base">
                                        <p:cTn id="27" dur="500" fill="hold"/>
                                        <p:tgtEl>
                                          <p:spTgt spid="2007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6" grpId="0" autoUpdateAnimBg="0"/>
      <p:bldP spid="200707" grpId="0" autoUpdateAnimBg="0"/>
      <p:bldP spid="200708" grpId="0" autoUpdateAnimBg="0"/>
      <p:bldP spid="200709" grpId="0" autoUpdateAnimBg="0"/>
      <p:bldP spid="200711" grpId="0" animBg="1"/>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1" name="Rectangle 3"/>
          <p:cNvSpPr>
            <a:spLocks noGrp="1" noChangeArrowheads="1"/>
          </p:cNvSpPr>
          <p:nvPr>
            <p:ph type="body" idx="4294967295"/>
          </p:nvPr>
        </p:nvSpPr>
        <p:spPr>
          <a:xfrm>
            <a:off x="609600" y="3733800"/>
            <a:ext cx="7772400" cy="2743200"/>
          </a:xfrm>
        </p:spPr>
        <p:txBody>
          <a:bodyPr/>
          <a:lstStyle/>
          <a:p>
            <a:r>
              <a:rPr lang="zh-CN" altLang="en-US">
                <a:ea typeface="楷体_GB2312" charset="0"/>
              </a:rPr>
              <a:t>（</a:t>
            </a:r>
            <a:r>
              <a:rPr lang="en-US" altLang="zh-CN">
                <a:ea typeface="楷体_GB2312" charset="0"/>
              </a:rPr>
              <a:t>1</a:t>
            </a:r>
            <a:r>
              <a:rPr lang="zh-CN" altLang="en-US">
                <a:ea typeface="楷体_GB2312" charset="0"/>
              </a:rPr>
              <a:t>）被删除的结点</a:t>
            </a:r>
            <a:r>
              <a:rPr lang="zh-CN" altLang="en-US">
                <a:solidFill>
                  <a:srgbClr val="0000FF"/>
                </a:solidFill>
                <a:ea typeface="楷体_GB2312" charset="0"/>
              </a:rPr>
              <a:t>是叶子</a:t>
            </a:r>
            <a:r>
              <a:rPr lang="zh-CN" altLang="en-US">
                <a:ea typeface="楷体_GB2312" charset="0"/>
              </a:rPr>
              <a:t>；</a:t>
            </a:r>
          </a:p>
          <a:p>
            <a:r>
              <a:rPr lang="zh-CN" altLang="en-US">
                <a:ea typeface="楷体_GB2312" charset="0"/>
              </a:rPr>
              <a:t>（</a:t>
            </a:r>
            <a:r>
              <a:rPr lang="en-US" altLang="zh-CN">
                <a:ea typeface="楷体_GB2312" charset="0"/>
              </a:rPr>
              <a:t>2</a:t>
            </a:r>
            <a:r>
              <a:rPr lang="zh-CN" altLang="en-US">
                <a:ea typeface="楷体_GB2312" charset="0"/>
              </a:rPr>
              <a:t>）被删除的结点</a:t>
            </a:r>
            <a:r>
              <a:rPr lang="zh-CN" altLang="en-US">
                <a:solidFill>
                  <a:srgbClr val="0000FF"/>
                </a:solidFill>
                <a:ea typeface="楷体_GB2312" charset="0"/>
              </a:rPr>
              <a:t>只有左子树</a:t>
            </a:r>
            <a:r>
              <a:rPr lang="zh-CN" altLang="en-US">
                <a:ea typeface="楷体_GB2312" charset="0"/>
              </a:rPr>
              <a:t>或者</a:t>
            </a:r>
            <a:r>
              <a:rPr lang="zh-CN" altLang="en-US">
                <a:solidFill>
                  <a:srgbClr val="0000FF"/>
                </a:solidFill>
                <a:ea typeface="楷体_GB2312" charset="0"/>
              </a:rPr>
              <a:t>只有右子树</a:t>
            </a:r>
            <a:r>
              <a:rPr lang="zh-CN" altLang="en-US">
                <a:ea typeface="楷体_GB2312" charset="0"/>
              </a:rPr>
              <a:t>；</a:t>
            </a:r>
          </a:p>
          <a:p>
            <a:r>
              <a:rPr lang="zh-CN" altLang="en-US">
                <a:ea typeface="楷体_GB2312" charset="0"/>
              </a:rPr>
              <a:t>（</a:t>
            </a:r>
            <a:r>
              <a:rPr lang="en-US" altLang="zh-CN">
                <a:ea typeface="楷体_GB2312" charset="0"/>
              </a:rPr>
              <a:t>3</a:t>
            </a:r>
            <a:r>
              <a:rPr lang="zh-CN" altLang="en-US">
                <a:ea typeface="楷体_GB2312" charset="0"/>
              </a:rPr>
              <a:t>）被删除的结点</a:t>
            </a:r>
            <a:r>
              <a:rPr lang="zh-CN" altLang="en-US">
                <a:solidFill>
                  <a:srgbClr val="0000FF"/>
                </a:solidFill>
                <a:ea typeface="楷体_GB2312" charset="0"/>
              </a:rPr>
              <a:t>既有左子树，也有右子树</a:t>
            </a:r>
            <a:r>
              <a:rPr lang="zh-CN" altLang="en-US">
                <a:ea typeface="楷体_GB2312" charset="0"/>
              </a:rPr>
              <a:t>。</a:t>
            </a:r>
          </a:p>
        </p:txBody>
      </p:sp>
      <p:sp>
        <p:nvSpPr>
          <p:cNvPr id="78852" name="Text Box 4"/>
          <p:cNvSpPr txBox="1">
            <a:spLocks noChangeArrowheads="1"/>
          </p:cNvSpPr>
          <p:nvPr/>
        </p:nvSpPr>
        <p:spPr bwMode="auto">
          <a:xfrm>
            <a:off x="381000" y="152400"/>
            <a:ext cx="6078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FF"/>
                </a:solidFill>
                <a:ea typeface="楷体_GB2312" charset="0"/>
              </a:rPr>
              <a:t>4</a:t>
            </a:r>
            <a:r>
              <a:rPr lang="zh-CN" altLang="en-US" sz="4000" b="1">
                <a:solidFill>
                  <a:srgbClr val="FF00FF"/>
                </a:solidFill>
                <a:ea typeface="楷体_GB2312" charset="0"/>
              </a:rPr>
              <a:t>．二叉排序树的删除算法</a:t>
            </a:r>
          </a:p>
        </p:txBody>
      </p:sp>
      <p:sp>
        <p:nvSpPr>
          <p:cNvPr id="78853" name="Text Box 5"/>
          <p:cNvSpPr txBox="1">
            <a:spLocks noChangeArrowheads="1"/>
          </p:cNvSpPr>
          <p:nvPr/>
        </p:nvSpPr>
        <p:spPr bwMode="auto">
          <a:xfrm>
            <a:off x="381000" y="2971800"/>
            <a:ext cx="4298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ea typeface="楷体_GB2312" charset="0"/>
              </a:rPr>
              <a:t>可分</a:t>
            </a:r>
            <a:r>
              <a:rPr lang="zh-CN" altLang="en-US" sz="3600">
                <a:solidFill>
                  <a:srgbClr val="0000FF"/>
                </a:solidFill>
                <a:ea typeface="楷体_GB2312" charset="0"/>
              </a:rPr>
              <a:t>三种情况</a:t>
            </a:r>
            <a:r>
              <a:rPr lang="zh-CN" altLang="en-US" sz="3600">
                <a:ea typeface="楷体_GB2312" charset="0"/>
              </a:rPr>
              <a:t>讨论：</a:t>
            </a:r>
            <a:endParaRPr lang="zh-CN" altLang="en-US" sz="4000">
              <a:ea typeface="楷体_GB2312" charset="0"/>
            </a:endParaRPr>
          </a:p>
        </p:txBody>
      </p:sp>
      <p:sp>
        <p:nvSpPr>
          <p:cNvPr id="78854" name="Text Box 6"/>
          <p:cNvSpPr txBox="1">
            <a:spLocks noChangeArrowheads="1"/>
          </p:cNvSpPr>
          <p:nvPr/>
        </p:nvSpPr>
        <p:spPr bwMode="auto">
          <a:xfrm>
            <a:off x="533400" y="990600"/>
            <a:ext cx="86868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3200">
                <a:solidFill>
                  <a:srgbClr val="A50021"/>
                </a:solidFill>
                <a:ea typeface="楷体_GB2312" charset="0"/>
              </a:rPr>
              <a:t>    </a:t>
            </a:r>
            <a:r>
              <a:rPr lang="zh-CN" altLang="en-US" sz="3200">
                <a:solidFill>
                  <a:srgbClr val="A50021"/>
                </a:solidFill>
                <a:ea typeface="楷体_GB2312" charset="0"/>
              </a:rPr>
              <a:t>和插入相反，删除在</a:t>
            </a:r>
            <a:r>
              <a:rPr lang="zh-CN" altLang="en-US" sz="3200" b="1">
                <a:solidFill>
                  <a:srgbClr val="FF0000"/>
                </a:solidFill>
                <a:ea typeface="楷体_GB2312" charset="0"/>
              </a:rPr>
              <a:t>查找成功</a:t>
            </a:r>
            <a:r>
              <a:rPr lang="zh-CN" altLang="en-US" sz="3200">
                <a:solidFill>
                  <a:srgbClr val="A50021"/>
                </a:solidFill>
                <a:ea typeface="楷体_GB2312" charset="0"/>
              </a:rPr>
              <a:t>之后进行，并且要求在删除二叉排序树上某个结点之后，</a:t>
            </a:r>
            <a:r>
              <a:rPr lang="zh-CN" altLang="en-US" sz="3200" b="1">
                <a:solidFill>
                  <a:srgbClr val="FF0000"/>
                </a:solidFill>
                <a:ea typeface="楷体_GB2312" charset="0"/>
              </a:rPr>
              <a:t>仍然保持二叉排序树的特性</a:t>
            </a:r>
            <a:r>
              <a:rPr lang="zh-CN" altLang="en-US" sz="3200">
                <a:solidFill>
                  <a:srgbClr val="A50021"/>
                </a:solidFill>
                <a:ea typeface="楷体_GB2312" charset="0"/>
              </a:rPr>
              <a:t>。</a:t>
            </a:r>
          </a:p>
        </p:txBody>
      </p:sp>
    </p:spTree>
    <p:extLst>
      <p:ext uri="{BB962C8B-B14F-4D97-AF65-F5344CB8AC3E}">
        <p14:creationId xmlns:p14="http://schemas.microsoft.com/office/powerpoint/2010/main" val="5862645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78852"/>
                                        </p:tgtEl>
                                        <p:attrNameLst>
                                          <p:attrName>style.visibility</p:attrName>
                                        </p:attrNameLst>
                                      </p:cBhvr>
                                      <p:to>
                                        <p:strVal val="visible"/>
                                      </p:to>
                                    </p:set>
                                    <p:animEffect transition="in" filter="blinds(vertical)">
                                      <p:cBhvr>
                                        <p:cTn id="7" dur="500"/>
                                        <p:tgtEl>
                                          <p:spTgt spid="78852"/>
                                        </p:tgtEl>
                                      </p:cBhvr>
                                    </p:animEffect>
                                  </p:childTnLst>
                                </p:cTn>
                              </p:par>
                            </p:childTnLst>
                          </p:cTn>
                        </p:par>
                        <p:par>
                          <p:cTn id="8" fill="hold" nodeType="afterGroup">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78854"/>
                                        </p:tgtEl>
                                        <p:attrNameLst>
                                          <p:attrName>style.visibility</p:attrName>
                                        </p:attrNameLst>
                                      </p:cBhvr>
                                      <p:to>
                                        <p:strVal val="visible"/>
                                      </p:to>
                                    </p:set>
                                    <p:animEffect transition="in" filter="strips(downRight)">
                                      <p:cBhvr>
                                        <p:cTn id="11" dur="500"/>
                                        <p:tgtEl>
                                          <p:spTgt spid="7885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8853"/>
                                        </p:tgtEl>
                                        <p:attrNameLst>
                                          <p:attrName>style.visibility</p:attrName>
                                        </p:attrNameLst>
                                      </p:cBhvr>
                                      <p:to>
                                        <p:strVal val="visible"/>
                                      </p:to>
                                    </p:set>
                                    <p:animEffect transition="in" filter="wipe(left)">
                                      <p:cBhvr>
                                        <p:cTn id="16" dur="500"/>
                                        <p:tgtEl>
                                          <p:spTgt spid="78853"/>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78851">
                                            <p:txEl>
                                              <p:pRg st="0" end="0"/>
                                            </p:txEl>
                                          </p:spTgt>
                                        </p:tgtEl>
                                        <p:attrNameLst>
                                          <p:attrName>style.visibility</p:attrName>
                                        </p:attrNameLst>
                                      </p:cBhvr>
                                      <p:to>
                                        <p:strVal val="visible"/>
                                      </p:to>
                                    </p:set>
                                    <p:animEffect transition="in" filter="wipe(left)">
                                      <p:cBhvr>
                                        <p:cTn id="20" dur="500"/>
                                        <p:tgtEl>
                                          <p:spTgt spid="78851">
                                            <p:txEl>
                                              <p:pRg st="0" end="0"/>
                                            </p:txEl>
                                          </p:spTgt>
                                        </p:tgtEl>
                                      </p:cBhvr>
                                    </p:animEffect>
                                  </p:childTnLst>
                                </p:cTn>
                              </p:par>
                            </p:childTnLst>
                          </p:cTn>
                        </p:par>
                        <p:par>
                          <p:cTn id="21" fill="hold" nodeType="afterGroup">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78851">
                                            <p:txEl>
                                              <p:pRg st="1" end="1"/>
                                            </p:txEl>
                                          </p:spTgt>
                                        </p:tgtEl>
                                        <p:attrNameLst>
                                          <p:attrName>style.visibility</p:attrName>
                                        </p:attrNameLst>
                                      </p:cBhvr>
                                      <p:to>
                                        <p:strVal val="visible"/>
                                      </p:to>
                                    </p:set>
                                    <p:animEffect transition="in" filter="wipe(left)">
                                      <p:cBhvr>
                                        <p:cTn id="24" dur="500"/>
                                        <p:tgtEl>
                                          <p:spTgt spid="78851">
                                            <p:txEl>
                                              <p:pRg st="1" end="1"/>
                                            </p:txEl>
                                          </p:spTgt>
                                        </p:tgtEl>
                                      </p:cBhvr>
                                    </p:animEffect>
                                  </p:childTnLst>
                                </p:cTn>
                              </p:par>
                            </p:childTnLst>
                          </p:cTn>
                        </p:par>
                        <p:par>
                          <p:cTn id="25" fill="hold" nodeType="afterGroup">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78851">
                                            <p:txEl>
                                              <p:pRg st="2" end="2"/>
                                            </p:txEl>
                                          </p:spTgt>
                                        </p:tgtEl>
                                        <p:attrNameLst>
                                          <p:attrName>style.visibility</p:attrName>
                                        </p:attrNameLst>
                                      </p:cBhvr>
                                      <p:to>
                                        <p:strVal val="visible"/>
                                      </p:to>
                                    </p:set>
                                    <p:animEffect transition="in" filter="wipe(left)">
                                      <p:cBhvr>
                                        <p:cTn id="28" dur="500"/>
                                        <p:tgtEl>
                                          <p:spTgt spid="788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build="p" autoUpdateAnimBg="0" advAuto="0"/>
      <p:bldP spid="78852" grpId="0" autoUpdateAnimBg="0"/>
      <p:bldP spid="78853" grpId="0" autoUpdateAnimBg="0"/>
      <p:bldP spid="78854"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Oval 1026"/>
          <p:cNvSpPr>
            <a:spLocks noChangeArrowheads="1"/>
          </p:cNvSpPr>
          <p:nvPr/>
        </p:nvSpPr>
        <p:spPr bwMode="auto">
          <a:xfrm>
            <a:off x="3200400" y="16764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50</a:t>
            </a:r>
            <a:endParaRPr lang="en-US" altLang="zh-CN"/>
          </a:p>
        </p:txBody>
      </p:sp>
      <p:sp>
        <p:nvSpPr>
          <p:cNvPr id="194563" name="Oval 1027"/>
          <p:cNvSpPr>
            <a:spLocks noChangeArrowheads="1"/>
          </p:cNvSpPr>
          <p:nvPr/>
        </p:nvSpPr>
        <p:spPr bwMode="auto">
          <a:xfrm>
            <a:off x="1752600" y="22098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30</a:t>
            </a:r>
            <a:endParaRPr lang="en-US" altLang="zh-CN"/>
          </a:p>
        </p:txBody>
      </p:sp>
      <p:sp>
        <p:nvSpPr>
          <p:cNvPr id="194564" name="Oval 1028"/>
          <p:cNvSpPr>
            <a:spLocks noChangeArrowheads="1"/>
          </p:cNvSpPr>
          <p:nvPr/>
        </p:nvSpPr>
        <p:spPr bwMode="auto">
          <a:xfrm>
            <a:off x="4648200" y="22098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80</a:t>
            </a:r>
            <a:endParaRPr lang="en-US" altLang="zh-CN"/>
          </a:p>
        </p:txBody>
      </p:sp>
      <p:sp>
        <p:nvSpPr>
          <p:cNvPr id="194565" name="Oval 1029"/>
          <p:cNvSpPr>
            <a:spLocks noChangeArrowheads="1"/>
          </p:cNvSpPr>
          <p:nvPr/>
        </p:nvSpPr>
        <p:spPr bwMode="auto">
          <a:xfrm>
            <a:off x="609600" y="28956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20</a:t>
            </a:r>
            <a:endParaRPr lang="en-US" altLang="zh-CN"/>
          </a:p>
        </p:txBody>
      </p:sp>
      <p:sp>
        <p:nvSpPr>
          <p:cNvPr id="194566" name="Oval 1030"/>
          <p:cNvSpPr>
            <a:spLocks noChangeArrowheads="1"/>
          </p:cNvSpPr>
          <p:nvPr/>
        </p:nvSpPr>
        <p:spPr bwMode="auto">
          <a:xfrm>
            <a:off x="5791200" y="28956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90</a:t>
            </a:r>
            <a:endParaRPr lang="en-US" altLang="zh-CN"/>
          </a:p>
        </p:txBody>
      </p:sp>
      <p:sp>
        <p:nvSpPr>
          <p:cNvPr id="194568" name="Oval 1032"/>
          <p:cNvSpPr>
            <a:spLocks noChangeArrowheads="1"/>
          </p:cNvSpPr>
          <p:nvPr/>
        </p:nvSpPr>
        <p:spPr bwMode="auto">
          <a:xfrm>
            <a:off x="4953000" y="37338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85</a:t>
            </a:r>
            <a:endParaRPr lang="en-US" altLang="zh-CN"/>
          </a:p>
        </p:txBody>
      </p:sp>
      <p:sp>
        <p:nvSpPr>
          <p:cNvPr id="194569" name="Oval 1033"/>
          <p:cNvSpPr>
            <a:spLocks noChangeArrowheads="1"/>
          </p:cNvSpPr>
          <p:nvPr/>
        </p:nvSpPr>
        <p:spPr bwMode="auto">
          <a:xfrm>
            <a:off x="2895600" y="28956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40</a:t>
            </a:r>
            <a:endParaRPr lang="en-US" altLang="zh-CN"/>
          </a:p>
        </p:txBody>
      </p:sp>
      <p:sp>
        <p:nvSpPr>
          <p:cNvPr id="194570" name="Oval 1034"/>
          <p:cNvSpPr>
            <a:spLocks noChangeArrowheads="1"/>
          </p:cNvSpPr>
          <p:nvPr/>
        </p:nvSpPr>
        <p:spPr bwMode="auto">
          <a:xfrm>
            <a:off x="1981200" y="37338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35</a:t>
            </a:r>
            <a:endParaRPr lang="en-US" altLang="zh-CN"/>
          </a:p>
        </p:txBody>
      </p:sp>
      <p:sp>
        <p:nvSpPr>
          <p:cNvPr id="194573" name="Oval 1037"/>
          <p:cNvSpPr>
            <a:spLocks noChangeArrowheads="1"/>
          </p:cNvSpPr>
          <p:nvPr/>
        </p:nvSpPr>
        <p:spPr bwMode="auto">
          <a:xfrm>
            <a:off x="6248400" y="45720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88</a:t>
            </a:r>
            <a:endParaRPr lang="en-US" altLang="zh-CN"/>
          </a:p>
        </p:txBody>
      </p:sp>
      <p:sp>
        <p:nvSpPr>
          <p:cNvPr id="194574" name="Line 1038"/>
          <p:cNvSpPr>
            <a:spLocks noChangeShapeType="1"/>
          </p:cNvSpPr>
          <p:nvPr/>
        </p:nvSpPr>
        <p:spPr bwMode="auto">
          <a:xfrm flipH="1">
            <a:off x="2362200" y="1981200"/>
            <a:ext cx="8382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75" name="Line 1039"/>
          <p:cNvSpPr>
            <a:spLocks noChangeShapeType="1"/>
          </p:cNvSpPr>
          <p:nvPr/>
        </p:nvSpPr>
        <p:spPr bwMode="auto">
          <a:xfrm flipH="1">
            <a:off x="1219200" y="2667000"/>
            <a:ext cx="533400" cy="304800"/>
          </a:xfrm>
          <a:prstGeom prst="line">
            <a:avLst/>
          </a:prstGeom>
          <a:noFill/>
          <a:ln w="38100">
            <a:solidFill>
              <a:srgbClr val="66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76" name="Line 1040"/>
          <p:cNvSpPr>
            <a:spLocks noChangeShapeType="1"/>
          </p:cNvSpPr>
          <p:nvPr/>
        </p:nvSpPr>
        <p:spPr bwMode="auto">
          <a:xfrm>
            <a:off x="3886200" y="1981200"/>
            <a:ext cx="7620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77" name="Line 1041"/>
          <p:cNvSpPr>
            <a:spLocks noChangeShapeType="1"/>
          </p:cNvSpPr>
          <p:nvPr/>
        </p:nvSpPr>
        <p:spPr bwMode="auto">
          <a:xfrm>
            <a:off x="2362200" y="2590800"/>
            <a:ext cx="6096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81" name="Line 1045"/>
          <p:cNvSpPr>
            <a:spLocks noChangeShapeType="1"/>
          </p:cNvSpPr>
          <p:nvPr/>
        </p:nvSpPr>
        <p:spPr bwMode="auto">
          <a:xfrm flipH="1">
            <a:off x="2438400" y="3352800"/>
            <a:ext cx="5334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82" name="Line 1046"/>
          <p:cNvSpPr>
            <a:spLocks noChangeShapeType="1"/>
          </p:cNvSpPr>
          <p:nvPr/>
        </p:nvSpPr>
        <p:spPr bwMode="auto">
          <a:xfrm>
            <a:off x="5257800" y="2667000"/>
            <a:ext cx="609600" cy="3048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83" name="Line 1047"/>
          <p:cNvSpPr>
            <a:spLocks noChangeShapeType="1"/>
          </p:cNvSpPr>
          <p:nvPr/>
        </p:nvSpPr>
        <p:spPr bwMode="auto">
          <a:xfrm flipH="1">
            <a:off x="5410200" y="3429000"/>
            <a:ext cx="5334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84" name="Line 1048"/>
          <p:cNvSpPr>
            <a:spLocks noChangeShapeType="1"/>
          </p:cNvSpPr>
          <p:nvPr/>
        </p:nvSpPr>
        <p:spPr bwMode="auto">
          <a:xfrm>
            <a:off x="5562600" y="4191000"/>
            <a:ext cx="762000" cy="4572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86" name="Oval 1050"/>
          <p:cNvSpPr>
            <a:spLocks noChangeArrowheads="1"/>
          </p:cNvSpPr>
          <p:nvPr/>
        </p:nvSpPr>
        <p:spPr bwMode="auto">
          <a:xfrm>
            <a:off x="990600" y="45720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32</a:t>
            </a:r>
            <a:endParaRPr lang="en-US" altLang="zh-CN"/>
          </a:p>
        </p:txBody>
      </p:sp>
      <p:sp>
        <p:nvSpPr>
          <p:cNvPr id="194587" name="Line 1051"/>
          <p:cNvSpPr>
            <a:spLocks noChangeShapeType="1"/>
          </p:cNvSpPr>
          <p:nvPr/>
        </p:nvSpPr>
        <p:spPr bwMode="auto">
          <a:xfrm flipH="1">
            <a:off x="1447800" y="4114800"/>
            <a:ext cx="609600" cy="4572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88" name="Rectangle 1052"/>
          <p:cNvSpPr>
            <a:spLocks noChangeArrowheads="1"/>
          </p:cNvSpPr>
          <p:nvPr/>
        </p:nvSpPr>
        <p:spPr bwMode="auto">
          <a:xfrm>
            <a:off x="76200" y="155575"/>
            <a:ext cx="63690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chemeClr val="accent2"/>
                </a:solidFill>
                <a:ea typeface="楷体_GB2312" charset="0"/>
              </a:rPr>
              <a:t>（</a:t>
            </a:r>
            <a:r>
              <a:rPr lang="en-US" altLang="zh-CN" sz="3600">
                <a:solidFill>
                  <a:schemeClr val="accent2"/>
                </a:solidFill>
                <a:ea typeface="楷体_GB2312" charset="0"/>
              </a:rPr>
              <a:t>1</a:t>
            </a:r>
            <a:r>
              <a:rPr lang="zh-CN" altLang="en-US" sz="3600">
                <a:solidFill>
                  <a:schemeClr val="accent2"/>
                </a:solidFill>
                <a:ea typeface="楷体_GB2312" charset="0"/>
              </a:rPr>
              <a:t>）被删除的结点是</a:t>
            </a:r>
            <a:r>
              <a:rPr lang="zh-CN" altLang="en-US" sz="3600" b="1">
                <a:solidFill>
                  <a:srgbClr val="FF00FF"/>
                </a:solidFill>
                <a:ea typeface="楷体_GB2312" charset="0"/>
              </a:rPr>
              <a:t>叶子结点</a:t>
            </a:r>
            <a:endParaRPr lang="zh-CN" altLang="en-US">
              <a:solidFill>
                <a:srgbClr val="0000FF"/>
              </a:solidFill>
              <a:ea typeface="楷体_GB2312" charset="0"/>
            </a:endParaRPr>
          </a:p>
        </p:txBody>
      </p:sp>
      <p:sp useBgFill="1">
        <p:nvSpPr>
          <p:cNvPr id="194590" name="Rectangle 1054"/>
          <p:cNvSpPr>
            <a:spLocks noChangeArrowheads="1"/>
          </p:cNvSpPr>
          <p:nvPr/>
        </p:nvSpPr>
        <p:spPr bwMode="auto">
          <a:xfrm>
            <a:off x="457200" y="2590800"/>
            <a:ext cx="1295400" cy="1219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94591" name="Rectangle 1055"/>
          <p:cNvSpPr>
            <a:spLocks noChangeArrowheads="1"/>
          </p:cNvSpPr>
          <p:nvPr/>
        </p:nvSpPr>
        <p:spPr bwMode="auto">
          <a:xfrm>
            <a:off x="5562600" y="4191000"/>
            <a:ext cx="1447800" cy="990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92" name="Text Box 1056"/>
          <p:cNvSpPr txBox="1">
            <a:spLocks noChangeArrowheads="1"/>
          </p:cNvSpPr>
          <p:nvPr/>
        </p:nvSpPr>
        <p:spPr bwMode="auto">
          <a:xfrm>
            <a:off x="288925" y="882650"/>
            <a:ext cx="1257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3333FF"/>
                </a:solidFill>
                <a:ea typeface="楷体_GB2312" charset="0"/>
              </a:rPr>
              <a:t>例如</a:t>
            </a:r>
            <a:r>
              <a:rPr lang="en-US" altLang="zh-CN" sz="3600" b="1">
                <a:solidFill>
                  <a:srgbClr val="3333FF"/>
                </a:solidFill>
                <a:ea typeface="楷体_GB2312" charset="0"/>
              </a:rPr>
              <a:t>:</a:t>
            </a:r>
            <a:endParaRPr lang="en-US" altLang="zh-CN" sz="3600">
              <a:ea typeface="楷体_GB2312" charset="0"/>
            </a:endParaRPr>
          </a:p>
        </p:txBody>
      </p:sp>
      <p:sp>
        <p:nvSpPr>
          <p:cNvPr id="194593" name="Text Box 1057"/>
          <p:cNvSpPr txBox="1">
            <a:spLocks noChangeArrowheads="1"/>
          </p:cNvSpPr>
          <p:nvPr/>
        </p:nvSpPr>
        <p:spPr bwMode="auto">
          <a:xfrm>
            <a:off x="5241925" y="958850"/>
            <a:ext cx="3432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3333FF"/>
                </a:solidFill>
                <a:ea typeface="楷体_GB2312" charset="0"/>
              </a:rPr>
              <a:t>被删关键字 </a:t>
            </a:r>
            <a:r>
              <a:rPr lang="en-US" altLang="zh-CN" sz="3600" b="1">
                <a:solidFill>
                  <a:srgbClr val="3333FF"/>
                </a:solidFill>
                <a:ea typeface="楷体_GB2312" charset="0"/>
              </a:rPr>
              <a:t>= 20</a:t>
            </a:r>
            <a:endParaRPr lang="en-US" altLang="zh-CN" sz="3600">
              <a:ea typeface="楷体_GB2312" charset="0"/>
            </a:endParaRPr>
          </a:p>
        </p:txBody>
      </p:sp>
      <p:sp useBgFill="1">
        <p:nvSpPr>
          <p:cNvPr id="194594" name="Text Box 1058"/>
          <p:cNvSpPr txBox="1">
            <a:spLocks noChangeArrowheads="1"/>
          </p:cNvSpPr>
          <p:nvPr/>
        </p:nvSpPr>
        <p:spPr bwMode="auto">
          <a:xfrm>
            <a:off x="8045450" y="958850"/>
            <a:ext cx="641350" cy="64135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006600"/>
                </a:solidFill>
              </a:rPr>
              <a:t>88</a:t>
            </a:r>
            <a:endParaRPr lang="en-US" altLang="zh-CN" sz="3600"/>
          </a:p>
        </p:txBody>
      </p:sp>
      <p:sp>
        <p:nvSpPr>
          <p:cNvPr id="194595" name="Text Box 1059"/>
          <p:cNvSpPr txBox="1">
            <a:spLocks noChangeArrowheads="1"/>
          </p:cNvSpPr>
          <p:nvPr/>
        </p:nvSpPr>
        <p:spPr bwMode="auto">
          <a:xfrm>
            <a:off x="441325" y="5578475"/>
            <a:ext cx="8470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A50021"/>
                </a:solidFill>
                <a:ea typeface="楷体_GB2312" charset="0"/>
              </a:rPr>
              <a:t>其双亲结点中相应指针域的值改为“空”</a:t>
            </a:r>
            <a:endParaRPr lang="zh-CN" altLang="en-US" sz="3600">
              <a:ea typeface="楷体_GB2312" charset="0"/>
            </a:endParaRPr>
          </a:p>
        </p:txBody>
      </p:sp>
      <p:sp>
        <p:nvSpPr>
          <p:cNvPr id="194596" name="Freeform 1060"/>
          <p:cNvSpPr>
            <a:spLocks/>
          </p:cNvSpPr>
          <p:nvPr/>
        </p:nvSpPr>
        <p:spPr bwMode="auto">
          <a:xfrm>
            <a:off x="3505200" y="914400"/>
            <a:ext cx="1066800" cy="762000"/>
          </a:xfrm>
          <a:custGeom>
            <a:avLst/>
            <a:gdLst>
              <a:gd name="T0" fmla="*/ 672 w 672"/>
              <a:gd name="T1" fmla="*/ 0 h 480"/>
              <a:gd name="T2" fmla="*/ 192 w 672"/>
              <a:gd name="T3" fmla="*/ 240 h 480"/>
              <a:gd name="T4" fmla="*/ 480 w 672"/>
              <a:gd name="T5" fmla="*/ 240 h 480"/>
              <a:gd name="T6" fmla="*/ 0 w 672"/>
              <a:gd name="T7" fmla="*/ 480 h 480"/>
            </a:gdLst>
            <a:ahLst/>
            <a:cxnLst>
              <a:cxn ang="0">
                <a:pos x="T0" y="T1"/>
              </a:cxn>
              <a:cxn ang="0">
                <a:pos x="T2" y="T3"/>
              </a:cxn>
              <a:cxn ang="0">
                <a:pos x="T4" y="T5"/>
              </a:cxn>
              <a:cxn ang="0">
                <a:pos x="T6" y="T7"/>
              </a:cxn>
            </a:cxnLst>
            <a:rect l="0" t="0" r="r" b="b"/>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a:solidFill>
              <a:srgbClr val="A50021"/>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097837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94588"/>
                                        </p:tgtEl>
                                        <p:attrNameLst>
                                          <p:attrName>style.visibility</p:attrName>
                                        </p:attrNameLst>
                                      </p:cBhvr>
                                      <p:to>
                                        <p:strVal val="visible"/>
                                      </p:to>
                                    </p:set>
                                    <p:anim calcmode="lin" valueType="num">
                                      <p:cBhvr additive="base">
                                        <p:cTn id="7" dur="500" fill="hold"/>
                                        <p:tgtEl>
                                          <p:spTgt spid="194588"/>
                                        </p:tgtEl>
                                        <p:attrNameLst>
                                          <p:attrName>ppt_x</p:attrName>
                                        </p:attrNameLst>
                                      </p:cBhvr>
                                      <p:tavLst>
                                        <p:tav tm="0">
                                          <p:val>
                                            <p:strVal val="0-#ppt_w/2"/>
                                          </p:val>
                                        </p:tav>
                                        <p:tav tm="100000">
                                          <p:val>
                                            <p:strVal val="#ppt_x"/>
                                          </p:val>
                                        </p:tav>
                                      </p:tavLst>
                                    </p:anim>
                                    <p:anim calcmode="lin" valueType="num">
                                      <p:cBhvr additive="base">
                                        <p:cTn id="8" dur="500" fill="hold"/>
                                        <p:tgtEl>
                                          <p:spTgt spid="19458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4592"/>
                                        </p:tgtEl>
                                        <p:attrNameLst>
                                          <p:attrName>style.visibility</p:attrName>
                                        </p:attrNameLst>
                                      </p:cBhvr>
                                      <p:to>
                                        <p:strVal val="visible"/>
                                      </p:to>
                                    </p:set>
                                    <p:anim calcmode="lin" valueType="num">
                                      <p:cBhvr additive="base">
                                        <p:cTn id="13" dur="500" fill="hold"/>
                                        <p:tgtEl>
                                          <p:spTgt spid="194592"/>
                                        </p:tgtEl>
                                        <p:attrNameLst>
                                          <p:attrName>ppt_x</p:attrName>
                                        </p:attrNameLst>
                                      </p:cBhvr>
                                      <p:tavLst>
                                        <p:tav tm="0">
                                          <p:val>
                                            <p:strVal val="0-#ppt_w/2"/>
                                          </p:val>
                                        </p:tav>
                                        <p:tav tm="100000">
                                          <p:val>
                                            <p:strVal val="#ppt_x"/>
                                          </p:val>
                                        </p:tav>
                                      </p:tavLst>
                                    </p:anim>
                                    <p:anim calcmode="lin" valueType="num">
                                      <p:cBhvr additive="base">
                                        <p:cTn id="14" dur="500" fill="hold"/>
                                        <p:tgtEl>
                                          <p:spTgt spid="19459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94596"/>
                                        </p:tgtEl>
                                        <p:attrNameLst>
                                          <p:attrName>style.visibility</p:attrName>
                                        </p:attrNameLst>
                                      </p:cBhvr>
                                      <p:to>
                                        <p:strVal val="visible"/>
                                      </p:to>
                                    </p:set>
                                    <p:animEffect transition="in" filter="wipe(up)">
                                      <p:cBhvr>
                                        <p:cTn id="19" dur="500"/>
                                        <p:tgtEl>
                                          <p:spTgt spid="194596"/>
                                        </p:tgtEl>
                                      </p:cBhvr>
                                    </p:animEffect>
                                  </p:childTnLst>
                                </p:cTn>
                              </p:par>
                            </p:childTnLst>
                          </p:cTn>
                        </p:par>
                        <p:par>
                          <p:cTn id="20" fill="hold" nodeType="afterGroup">
                            <p:stCondLst>
                              <p:cond delay="500"/>
                            </p:stCondLst>
                            <p:childTnLst>
                              <p:par>
                                <p:cTn id="21" presetID="12" presetClass="entr" presetSubtype="1" fill="hold" grpId="0" nodeType="afterEffect">
                                  <p:stCondLst>
                                    <p:cond delay="0"/>
                                  </p:stCondLst>
                                  <p:childTnLst>
                                    <p:set>
                                      <p:cBhvr>
                                        <p:cTn id="22" dur="1" fill="hold">
                                          <p:stCondLst>
                                            <p:cond delay="0"/>
                                          </p:stCondLst>
                                        </p:cTn>
                                        <p:tgtEl>
                                          <p:spTgt spid="194562"/>
                                        </p:tgtEl>
                                        <p:attrNameLst>
                                          <p:attrName>style.visibility</p:attrName>
                                        </p:attrNameLst>
                                      </p:cBhvr>
                                      <p:to>
                                        <p:strVal val="visible"/>
                                      </p:to>
                                    </p:set>
                                    <p:animEffect transition="in" filter="slide(fromTop)">
                                      <p:cBhvr>
                                        <p:cTn id="23" dur="500"/>
                                        <p:tgtEl>
                                          <p:spTgt spid="194562"/>
                                        </p:tgtEl>
                                      </p:cBhvr>
                                    </p:animEffect>
                                  </p:childTnLst>
                                </p:cTn>
                              </p:par>
                            </p:childTnLst>
                          </p:cTn>
                        </p:par>
                        <p:par>
                          <p:cTn id="24" fill="hold" nodeType="afterGroup">
                            <p:stCondLst>
                              <p:cond delay="1000"/>
                            </p:stCondLst>
                            <p:childTnLst>
                              <p:par>
                                <p:cTn id="25" presetID="1" presetClass="entr" presetSubtype="0" fill="hold" grpId="0" nodeType="afterEffect">
                                  <p:stCondLst>
                                    <p:cond delay="0"/>
                                  </p:stCondLst>
                                  <p:childTnLst>
                                    <p:set>
                                      <p:cBhvr>
                                        <p:cTn id="26" dur="1" fill="hold">
                                          <p:stCondLst>
                                            <p:cond delay="499"/>
                                          </p:stCondLst>
                                        </p:cTn>
                                        <p:tgtEl>
                                          <p:spTgt spid="194563"/>
                                        </p:tgtEl>
                                        <p:attrNameLst>
                                          <p:attrName>style.visibility</p:attrName>
                                        </p:attrNameLst>
                                      </p:cBhvr>
                                      <p:to>
                                        <p:strVal val="visible"/>
                                      </p:to>
                                    </p:set>
                                  </p:childTnLst>
                                </p:cTn>
                              </p:par>
                            </p:childTnLst>
                          </p:cTn>
                        </p:par>
                        <p:par>
                          <p:cTn id="27" fill="hold" nodeType="afterGroup">
                            <p:stCondLst>
                              <p:cond delay="1500"/>
                            </p:stCondLst>
                            <p:childTnLst>
                              <p:par>
                                <p:cTn id="28" presetID="1" presetClass="entr" presetSubtype="0" fill="hold" grpId="0" nodeType="afterEffect">
                                  <p:stCondLst>
                                    <p:cond delay="0"/>
                                  </p:stCondLst>
                                  <p:childTnLst>
                                    <p:set>
                                      <p:cBhvr>
                                        <p:cTn id="29" dur="1" fill="hold">
                                          <p:stCondLst>
                                            <p:cond delay="499"/>
                                          </p:stCondLst>
                                        </p:cTn>
                                        <p:tgtEl>
                                          <p:spTgt spid="194564"/>
                                        </p:tgtEl>
                                        <p:attrNameLst>
                                          <p:attrName>style.visibility</p:attrName>
                                        </p:attrNameLst>
                                      </p:cBhvr>
                                      <p:to>
                                        <p:strVal val="visible"/>
                                      </p:to>
                                    </p:set>
                                  </p:childTnLst>
                                </p:cTn>
                              </p:par>
                            </p:childTnLst>
                          </p:cTn>
                        </p:par>
                        <p:par>
                          <p:cTn id="30" fill="hold" nodeType="afterGroup">
                            <p:stCondLst>
                              <p:cond delay="2000"/>
                            </p:stCondLst>
                            <p:childTnLst>
                              <p:par>
                                <p:cTn id="31" presetID="1" presetClass="entr" presetSubtype="0" fill="hold" grpId="0" nodeType="afterEffect">
                                  <p:stCondLst>
                                    <p:cond delay="0"/>
                                  </p:stCondLst>
                                  <p:childTnLst>
                                    <p:set>
                                      <p:cBhvr>
                                        <p:cTn id="32" dur="1" fill="hold">
                                          <p:stCondLst>
                                            <p:cond delay="499"/>
                                          </p:stCondLst>
                                        </p:cTn>
                                        <p:tgtEl>
                                          <p:spTgt spid="194565"/>
                                        </p:tgtEl>
                                        <p:attrNameLst>
                                          <p:attrName>style.visibility</p:attrName>
                                        </p:attrNameLst>
                                      </p:cBhvr>
                                      <p:to>
                                        <p:strVal val="visible"/>
                                      </p:to>
                                    </p:set>
                                  </p:childTnLst>
                                </p:cTn>
                              </p:par>
                            </p:childTnLst>
                          </p:cTn>
                        </p:par>
                        <p:par>
                          <p:cTn id="33" fill="hold" nodeType="afterGroup">
                            <p:stCondLst>
                              <p:cond delay="2500"/>
                            </p:stCondLst>
                            <p:childTnLst>
                              <p:par>
                                <p:cTn id="34" presetID="1" presetClass="entr" presetSubtype="0" fill="hold" grpId="0" nodeType="afterEffect">
                                  <p:stCondLst>
                                    <p:cond delay="0"/>
                                  </p:stCondLst>
                                  <p:childTnLst>
                                    <p:set>
                                      <p:cBhvr>
                                        <p:cTn id="35" dur="1" fill="hold">
                                          <p:stCondLst>
                                            <p:cond delay="499"/>
                                          </p:stCondLst>
                                        </p:cTn>
                                        <p:tgtEl>
                                          <p:spTgt spid="194566"/>
                                        </p:tgtEl>
                                        <p:attrNameLst>
                                          <p:attrName>style.visibility</p:attrName>
                                        </p:attrNameLst>
                                      </p:cBhvr>
                                      <p:to>
                                        <p:strVal val="visible"/>
                                      </p:to>
                                    </p:set>
                                  </p:childTnLst>
                                </p:cTn>
                              </p:par>
                            </p:childTnLst>
                          </p:cTn>
                        </p:par>
                        <p:par>
                          <p:cTn id="36" fill="hold" nodeType="afterGroup">
                            <p:stCondLst>
                              <p:cond delay="3000"/>
                            </p:stCondLst>
                            <p:childTnLst>
                              <p:par>
                                <p:cTn id="37" presetID="1" presetClass="entr" presetSubtype="0" fill="hold" grpId="0" nodeType="afterEffect">
                                  <p:stCondLst>
                                    <p:cond delay="0"/>
                                  </p:stCondLst>
                                  <p:childTnLst>
                                    <p:set>
                                      <p:cBhvr>
                                        <p:cTn id="38" dur="1" fill="hold">
                                          <p:stCondLst>
                                            <p:cond delay="499"/>
                                          </p:stCondLst>
                                        </p:cTn>
                                        <p:tgtEl>
                                          <p:spTgt spid="194568"/>
                                        </p:tgtEl>
                                        <p:attrNameLst>
                                          <p:attrName>style.visibility</p:attrName>
                                        </p:attrNameLst>
                                      </p:cBhvr>
                                      <p:to>
                                        <p:strVal val="visible"/>
                                      </p:to>
                                    </p:set>
                                  </p:childTnLst>
                                </p:cTn>
                              </p:par>
                            </p:childTnLst>
                          </p:cTn>
                        </p:par>
                        <p:par>
                          <p:cTn id="39" fill="hold" nodeType="afterGroup">
                            <p:stCondLst>
                              <p:cond delay="3500"/>
                            </p:stCondLst>
                            <p:childTnLst>
                              <p:par>
                                <p:cTn id="40" presetID="1" presetClass="entr" presetSubtype="0" fill="hold" grpId="0" nodeType="afterEffect">
                                  <p:stCondLst>
                                    <p:cond delay="0"/>
                                  </p:stCondLst>
                                  <p:childTnLst>
                                    <p:set>
                                      <p:cBhvr>
                                        <p:cTn id="41" dur="1" fill="hold">
                                          <p:stCondLst>
                                            <p:cond delay="499"/>
                                          </p:stCondLst>
                                        </p:cTn>
                                        <p:tgtEl>
                                          <p:spTgt spid="194569"/>
                                        </p:tgtEl>
                                        <p:attrNameLst>
                                          <p:attrName>style.visibility</p:attrName>
                                        </p:attrNameLst>
                                      </p:cBhvr>
                                      <p:to>
                                        <p:strVal val="visible"/>
                                      </p:to>
                                    </p:set>
                                  </p:childTnLst>
                                </p:cTn>
                              </p:par>
                            </p:childTnLst>
                          </p:cTn>
                        </p:par>
                        <p:par>
                          <p:cTn id="42" fill="hold" nodeType="afterGroup">
                            <p:stCondLst>
                              <p:cond delay="4000"/>
                            </p:stCondLst>
                            <p:childTnLst>
                              <p:par>
                                <p:cTn id="43" presetID="1" presetClass="entr" presetSubtype="0" fill="hold" grpId="0" nodeType="afterEffect">
                                  <p:stCondLst>
                                    <p:cond delay="0"/>
                                  </p:stCondLst>
                                  <p:childTnLst>
                                    <p:set>
                                      <p:cBhvr>
                                        <p:cTn id="44" dur="1" fill="hold">
                                          <p:stCondLst>
                                            <p:cond delay="499"/>
                                          </p:stCondLst>
                                        </p:cTn>
                                        <p:tgtEl>
                                          <p:spTgt spid="194570"/>
                                        </p:tgtEl>
                                        <p:attrNameLst>
                                          <p:attrName>style.visibility</p:attrName>
                                        </p:attrNameLst>
                                      </p:cBhvr>
                                      <p:to>
                                        <p:strVal val="visible"/>
                                      </p:to>
                                    </p:set>
                                  </p:childTnLst>
                                </p:cTn>
                              </p:par>
                            </p:childTnLst>
                          </p:cTn>
                        </p:par>
                        <p:par>
                          <p:cTn id="45" fill="hold" nodeType="afterGroup">
                            <p:stCondLst>
                              <p:cond delay="4500"/>
                            </p:stCondLst>
                            <p:childTnLst>
                              <p:par>
                                <p:cTn id="46" presetID="1" presetClass="entr" presetSubtype="0" fill="hold" grpId="0" nodeType="afterEffect">
                                  <p:stCondLst>
                                    <p:cond delay="0"/>
                                  </p:stCondLst>
                                  <p:childTnLst>
                                    <p:set>
                                      <p:cBhvr>
                                        <p:cTn id="47" dur="1" fill="hold">
                                          <p:stCondLst>
                                            <p:cond delay="499"/>
                                          </p:stCondLst>
                                        </p:cTn>
                                        <p:tgtEl>
                                          <p:spTgt spid="194586"/>
                                        </p:tgtEl>
                                        <p:attrNameLst>
                                          <p:attrName>style.visibility</p:attrName>
                                        </p:attrNameLst>
                                      </p:cBhvr>
                                      <p:to>
                                        <p:strVal val="visible"/>
                                      </p:to>
                                    </p:set>
                                  </p:childTnLst>
                                </p:cTn>
                              </p:par>
                            </p:childTnLst>
                          </p:cTn>
                        </p:par>
                        <p:par>
                          <p:cTn id="48" fill="hold" nodeType="afterGroup">
                            <p:stCondLst>
                              <p:cond delay="5000"/>
                            </p:stCondLst>
                            <p:childTnLst>
                              <p:par>
                                <p:cTn id="49" presetID="1" presetClass="entr" presetSubtype="0" fill="hold" grpId="0" nodeType="afterEffect">
                                  <p:stCondLst>
                                    <p:cond delay="0"/>
                                  </p:stCondLst>
                                  <p:childTnLst>
                                    <p:set>
                                      <p:cBhvr>
                                        <p:cTn id="50" dur="1" fill="hold">
                                          <p:stCondLst>
                                            <p:cond delay="499"/>
                                          </p:stCondLst>
                                        </p:cTn>
                                        <p:tgtEl>
                                          <p:spTgt spid="194573"/>
                                        </p:tgtEl>
                                        <p:attrNameLst>
                                          <p:attrName>style.visibility</p:attrName>
                                        </p:attrNameLst>
                                      </p:cBhvr>
                                      <p:to>
                                        <p:strVal val="visible"/>
                                      </p:to>
                                    </p:set>
                                  </p:childTnLst>
                                </p:cTn>
                              </p:par>
                            </p:childTnLst>
                          </p:cTn>
                        </p:par>
                        <p:par>
                          <p:cTn id="51" fill="hold" nodeType="afterGroup">
                            <p:stCondLst>
                              <p:cond delay="5500"/>
                            </p:stCondLst>
                            <p:childTnLst>
                              <p:par>
                                <p:cTn id="52" presetID="1" presetClass="entr" presetSubtype="0" fill="hold" grpId="0" nodeType="afterEffect">
                                  <p:stCondLst>
                                    <p:cond delay="0"/>
                                  </p:stCondLst>
                                  <p:childTnLst>
                                    <p:set>
                                      <p:cBhvr>
                                        <p:cTn id="53" dur="1" fill="hold">
                                          <p:stCondLst>
                                            <p:cond delay="499"/>
                                          </p:stCondLst>
                                        </p:cTn>
                                        <p:tgtEl>
                                          <p:spTgt spid="194574"/>
                                        </p:tgtEl>
                                        <p:attrNameLst>
                                          <p:attrName>style.visibility</p:attrName>
                                        </p:attrNameLst>
                                      </p:cBhvr>
                                      <p:to>
                                        <p:strVal val="visible"/>
                                      </p:to>
                                    </p:set>
                                  </p:childTnLst>
                                </p:cTn>
                              </p:par>
                            </p:childTnLst>
                          </p:cTn>
                        </p:par>
                        <p:par>
                          <p:cTn id="54" fill="hold" nodeType="afterGroup">
                            <p:stCondLst>
                              <p:cond delay="6000"/>
                            </p:stCondLst>
                            <p:childTnLst>
                              <p:par>
                                <p:cTn id="55" presetID="1" presetClass="entr" presetSubtype="0" fill="hold" grpId="0" nodeType="afterEffect">
                                  <p:stCondLst>
                                    <p:cond delay="0"/>
                                  </p:stCondLst>
                                  <p:childTnLst>
                                    <p:set>
                                      <p:cBhvr>
                                        <p:cTn id="56" dur="1" fill="hold">
                                          <p:stCondLst>
                                            <p:cond delay="499"/>
                                          </p:stCondLst>
                                        </p:cTn>
                                        <p:tgtEl>
                                          <p:spTgt spid="194575"/>
                                        </p:tgtEl>
                                        <p:attrNameLst>
                                          <p:attrName>style.visibility</p:attrName>
                                        </p:attrNameLst>
                                      </p:cBhvr>
                                      <p:to>
                                        <p:strVal val="visible"/>
                                      </p:to>
                                    </p:set>
                                  </p:childTnLst>
                                </p:cTn>
                              </p:par>
                            </p:childTnLst>
                          </p:cTn>
                        </p:par>
                        <p:par>
                          <p:cTn id="57" fill="hold" nodeType="afterGroup">
                            <p:stCondLst>
                              <p:cond delay="6500"/>
                            </p:stCondLst>
                            <p:childTnLst>
                              <p:par>
                                <p:cTn id="58" presetID="1" presetClass="entr" presetSubtype="0" fill="hold" grpId="0" nodeType="afterEffect">
                                  <p:stCondLst>
                                    <p:cond delay="0"/>
                                  </p:stCondLst>
                                  <p:childTnLst>
                                    <p:set>
                                      <p:cBhvr>
                                        <p:cTn id="59" dur="1" fill="hold">
                                          <p:stCondLst>
                                            <p:cond delay="499"/>
                                          </p:stCondLst>
                                        </p:cTn>
                                        <p:tgtEl>
                                          <p:spTgt spid="194576"/>
                                        </p:tgtEl>
                                        <p:attrNameLst>
                                          <p:attrName>style.visibility</p:attrName>
                                        </p:attrNameLst>
                                      </p:cBhvr>
                                      <p:to>
                                        <p:strVal val="visible"/>
                                      </p:to>
                                    </p:set>
                                  </p:childTnLst>
                                </p:cTn>
                              </p:par>
                            </p:childTnLst>
                          </p:cTn>
                        </p:par>
                        <p:par>
                          <p:cTn id="60" fill="hold" nodeType="afterGroup">
                            <p:stCondLst>
                              <p:cond delay="7000"/>
                            </p:stCondLst>
                            <p:childTnLst>
                              <p:par>
                                <p:cTn id="61" presetID="1" presetClass="entr" presetSubtype="0" fill="hold" grpId="0" nodeType="afterEffect">
                                  <p:stCondLst>
                                    <p:cond delay="0"/>
                                  </p:stCondLst>
                                  <p:childTnLst>
                                    <p:set>
                                      <p:cBhvr>
                                        <p:cTn id="62" dur="1" fill="hold">
                                          <p:stCondLst>
                                            <p:cond delay="499"/>
                                          </p:stCondLst>
                                        </p:cTn>
                                        <p:tgtEl>
                                          <p:spTgt spid="194577"/>
                                        </p:tgtEl>
                                        <p:attrNameLst>
                                          <p:attrName>style.visibility</p:attrName>
                                        </p:attrNameLst>
                                      </p:cBhvr>
                                      <p:to>
                                        <p:strVal val="visible"/>
                                      </p:to>
                                    </p:set>
                                  </p:childTnLst>
                                </p:cTn>
                              </p:par>
                            </p:childTnLst>
                          </p:cTn>
                        </p:par>
                        <p:par>
                          <p:cTn id="63" fill="hold" nodeType="afterGroup">
                            <p:stCondLst>
                              <p:cond delay="7500"/>
                            </p:stCondLst>
                            <p:childTnLst>
                              <p:par>
                                <p:cTn id="64" presetID="1" presetClass="entr" presetSubtype="0" fill="hold" grpId="0" nodeType="afterEffect">
                                  <p:stCondLst>
                                    <p:cond delay="0"/>
                                  </p:stCondLst>
                                  <p:childTnLst>
                                    <p:set>
                                      <p:cBhvr>
                                        <p:cTn id="65" dur="1" fill="hold">
                                          <p:stCondLst>
                                            <p:cond delay="499"/>
                                          </p:stCondLst>
                                        </p:cTn>
                                        <p:tgtEl>
                                          <p:spTgt spid="194581"/>
                                        </p:tgtEl>
                                        <p:attrNameLst>
                                          <p:attrName>style.visibility</p:attrName>
                                        </p:attrNameLst>
                                      </p:cBhvr>
                                      <p:to>
                                        <p:strVal val="visible"/>
                                      </p:to>
                                    </p:set>
                                  </p:childTnLst>
                                </p:cTn>
                              </p:par>
                            </p:childTnLst>
                          </p:cTn>
                        </p:par>
                        <p:par>
                          <p:cTn id="66" fill="hold" nodeType="afterGroup">
                            <p:stCondLst>
                              <p:cond delay="8000"/>
                            </p:stCondLst>
                            <p:childTnLst>
                              <p:par>
                                <p:cTn id="67" presetID="1" presetClass="entr" presetSubtype="0" fill="hold" grpId="0" nodeType="afterEffect">
                                  <p:stCondLst>
                                    <p:cond delay="0"/>
                                  </p:stCondLst>
                                  <p:childTnLst>
                                    <p:set>
                                      <p:cBhvr>
                                        <p:cTn id="68" dur="1" fill="hold">
                                          <p:stCondLst>
                                            <p:cond delay="499"/>
                                          </p:stCondLst>
                                        </p:cTn>
                                        <p:tgtEl>
                                          <p:spTgt spid="194587"/>
                                        </p:tgtEl>
                                        <p:attrNameLst>
                                          <p:attrName>style.visibility</p:attrName>
                                        </p:attrNameLst>
                                      </p:cBhvr>
                                      <p:to>
                                        <p:strVal val="visible"/>
                                      </p:to>
                                    </p:set>
                                  </p:childTnLst>
                                </p:cTn>
                              </p:par>
                            </p:childTnLst>
                          </p:cTn>
                        </p:par>
                        <p:par>
                          <p:cTn id="69" fill="hold" nodeType="afterGroup">
                            <p:stCondLst>
                              <p:cond delay="8500"/>
                            </p:stCondLst>
                            <p:childTnLst>
                              <p:par>
                                <p:cTn id="70" presetID="1" presetClass="entr" presetSubtype="0" fill="hold" grpId="0" nodeType="afterEffect">
                                  <p:stCondLst>
                                    <p:cond delay="0"/>
                                  </p:stCondLst>
                                  <p:childTnLst>
                                    <p:set>
                                      <p:cBhvr>
                                        <p:cTn id="71" dur="1" fill="hold">
                                          <p:stCondLst>
                                            <p:cond delay="499"/>
                                          </p:stCondLst>
                                        </p:cTn>
                                        <p:tgtEl>
                                          <p:spTgt spid="194582"/>
                                        </p:tgtEl>
                                        <p:attrNameLst>
                                          <p:attrName>style.visibility</p:attrName>
                                        </p:attrNameLst>
                                      </p:cBhvr>
                                      <p:to>
                                        <p:strVal val="visible"/>
                                      </p:to>
                                    </p:set>
                                  </p:childTnLst>
                                </p:cTn>
                              </p:par>
                            </p:childTnLst>
                          </p:cTn>
                        </p:par>
                        <p:par>
                          <p:cTn id="72" fill="hold" nodeType="afterGroup">
                            <p:stCondLst>
                              <p:cond delay="9000"/>
                            </p:stCondLst>
                            <p:childTnLst>
                              <p:par>
                                <p:cTn id="73" presetID="1" presetClass="entr" presetSubtype="0" fill="hold" grpId="0" nodeType="afterEffect">
                                  <p:stCondLst>
                                    <p:cond delay="0"/>
                                  </p:stCondLst>
                                  <p:childTnLst>
                                    <p:set>
                                      <p:cBhvr>
                                        <p:cTn id="74" dur="1" fill="hold">
                                          <p:stCondLst>
                                            <p:cond delay="499"/>
                                          </p:stCondLst>
                                        </p:cTn>
                                        <p:tgtEl>
                                          <p:spTgt spid="194583"/>
                                        </p:tgtEl>
                                        <p:attrNameLst>
                                          <p:attrName>style.visibility</p:attrName>
                                        </p:attrNameLst>
                                      </p:cBhvr>
                                      <p:to>
                                        <p:strVal val="visible"/>
                                      </p:to>
                                    </p:set>
                                  </p:childTnLst>
                                </p:cTn>
                              </p:par>
                            </p:childTnLst>
                          </p:cTn>
                        </p:par>
                        <p:par>
                          <p:cTn id="75" fill="hold" nodeType="afterGroup">
                            <p:stCondLst>
                              <p:cond delay="9500"/>
                            </p:stCondLst>
                            <p:childTnLst>
                              <p:par>
                                <p:cTn id="76" presetID="1" presetClass="entr" presetSubtype="0" fill="hold" grpId="0" nodeType="afterEffect">
                                  <p:stCondLst>
                                    <p:cond delay="0"/>
                                  </p:stCondLst>
                                  <p:childTnLst>
                                    <p:set>
                                      <p:cBhvr>
                                        <p:cTn id="77" dur="1" fill="hold">
                                          <p:stCondLst>
                                            <p:cond delay="499"/>
                                          </p:stCondLst>
                                        </p:cTn>
                                        <p:tgtEl>
                                          <p:spTgt spid="194584"/>
                                        </p:tgtEl>
                                        <p:attrNameLst>
                                          <p:attrName>style.visibility</p:attrName>
                                        </p:attrNameLst>
                                      </p:cBhvr>
                                      <p:to>
                                        <p:strVal val="visible"/>
                                      </p:to>
                                    </p:set>
                                  </p:childTnLst>
                                </p:cTn>
                              </p:par>
                            </p:childTnLst>
                          </p:cTn>
                        </p:par>
                      </p:childTnLst>
                    </p:cTn>
                  </p:par>
                  <p:par>
                    <p:cTn id="78" fill="hold" nodeType="clickPar">
                      <p:stCondLst>
                        <p:cond delay="indefinite"/>
                      </p:stCondLst>
                      <p:childTnLst>
                        <p:par>
                          <p:cTn id="79" fill="hold" nodeType="withGroup">
                            <p:stCondLst>
                              <p:cond delay="0"/>
                            </p:stCondLst>
                            <p:childTnLst>
                              <p:par>
                                <p:cTn id="80" presetID="2" presetClass="entr" presetSubtype="1" fill="hold" grpId="0" nodeType="clickEffect">
                                  <p:stCondLst>
                                    <p:cond delay="0"/>
                                  </p:stCondLst>
                                  <p:childTnLst>
                                    <p:set>
                                      <p:cBhvr>
                                        <p:cTn id="81" dur="1" fill="hold">
                                          <p:stCondLst>
                                            <p:cond delay="0"/>
                                          </p:stCondLst>
                                        </p:cTn>
                                        <p:tgtEl>
                                          <p:spTgt spid="194593"/>
                                        </p:tgtEl>
                                        <p:attrNameLst>
                                          <p:attrName>style.visibility</p:attrName>
                                        </p:attrNameLst>
                                      </p:cBhvr>
                                      <p:to>
                                        <p:strVal val="visible"/>
                                      </p:to>
                                    </p:set>
                                    <p:anim calcmode="lin" valueType="num">
                                      <p:cBhvr additive="base">
                                        <p:cTn id="82" dur="500" fill="hold"/>
                                        <p:tgtEl>
                                          <p:spTgt spid="194593"/>
                                        </p:tgtEl>
                                        <p:attrNameLst>
                                          <p:attrName>ppt_x</p:attrName>
                                        </p:attrNameLst>
                                      </p:cBhvr>
                                      <p:tavLst>
                                        <p:tav tm="0">
                                          <p:val>
                                            <p:strVal val="#ppt_x"/>
                                          </p:val>
                                        </p:tav>
                                        <p:tav tm="100000">
                                          <p:val>
                                            <p:strVal val="#ppt_x"/>
                                          </p:val>
                                        </p:tav>
                                      </p:tavLst>
                                    </p:anim>
                                    <p:anim calcmode="lin" valueType="num">
                                      <p:cBhvr additive="base">
                                        <p:cTn id="83" dur="500" fill="hold"/>
                                        <p:tgtEl>
                                          <p:spTgt spid="194593"/>
                                        </p:tgtEl>
                                        <p:attrNameLst>
                                          <p:attrName>ppt_y</p:attrName>
                                        </p:attrNameLst>
                                      </p:cBhvr>
                                      <p:tavLst>
                                        <p:tav tm="0">
                                          <p:val>
                                            <p:strVal val="0-#ppt_h/2"/>
                                          </p:val>
                                        </p:tav>
                                        <p:tav tm="100000">
                                          <p:val>
                                            <p:strVal val="#ppt_y"/>
                                          </p:val>
                                        </p:tav>
                                      </p:tavLst>
                                    </p:anim>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1" fill="hold" grpId="0" nodeType="clickEffect">
                                  <p:stCondLst>
                                    <p:cond delay="0"/>
                                  </p:stCondLst>
                                  <p:childTnLst>
                                    <p:set>
                                      <p:cBhvr>
                                        <p:cTn id="87" dur="1" fill="hold">
                                          <p:stCondLst>
                                            <p:cond delay="0"/>
                                          </p:stCondLst>
                                        </p:cTn>
                                        <p:tgtEl>
                                          <p:spTgt spid="194590"/>
                                        </p:tgtEl>
                                        <p:attrNameLst>
                                          <p:attrName>style.visibility</p:attrName>
                                        </p:attrNameLst>
                                      </p:cBhvr>
                                      <p:to>
                                        <p:strVal val="visible"/>
                                      </p:to>
                                    </p:set>
                                    <p:animEffect transition="in" filter="wipe(up)">
                                      <p:cBhvr>
                                        <p:cTn id="88" dur="500"/>
                                        <p:tgtEl>
                                          <p:spTgt spid="194590"/>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94594"/>
                                        </p:tgtEl>
                                        <p:attrNameLst>
                                          <p:attrName>style.visibility</p:attrName>
                                        </p:attrNameLst>
                                      </p:cBhvr>
                                      <p:to>
                                        <p:strVal val="visible"/>
                                      </p:to>
                                    </p:set>
                                    <p:animEffect transition="in" filter="wipe(left)">
                                      <p:cBhvr>
                                        <p:cTn id="93" dur="500"/>
                                        <p:tgtEl>
                                          <p:spTgt spid="194594"/>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1" fill="hold" grpId="0" nodeType="clickEffect">
                                  <p:stCondLst>
                                    <p:cond delay="0"/>
                                  </p:stCondLst>
                                  <p:childTnLst>
                                    <p:set>
                                      <p:cBhvr>
                                        <p:cTn id="97" dur="1" fill="hold">
                                          <p:stCondLst>
                                            <p:cond delay="0"/>
                                          </p:stCondLst>
                                        </p:cTn>
                                        <p:tgtEl>
                                          <p:spTgt spid="194591"/>
                                        </p:tgtEl>
                                        <p:attrNameLst>
                                          <p:attrName>style.visibility</p:attrName>
                                        </p:attrNameLst>
                                      </p:cBhvr>
                                      <p:to>
                                        <p:strVal val="visible"/>
                                      </p:to>
                                    </p:set>
                                    <p:animEffect transition="in" filter="wipe(up)">
                                      <p:cBhvr>
                                        <p:cTn id="98" dur="500"/>
                                        <p:tgtEl>
                                          <p:spTgt spid="194591"/>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194595"/>
                                        </p:tgtEl>
                                        <p:attrNameLst>
                                          <p:attrName>style.visibility</p:attrName>
                                        </p:attrNameLst>
                                      </p:cBhvr>
                                      <p:to>
                                        <p:strVal val="visible"/>
                                      </p:to>
                                    </p:set>
                                    <p:anim calcmode="lin" valueType="num">
                                      <p:cBhvr additive="base">
                                        <p:cTn id="103" dur="500" fill="hold"/>
                                        <p:tgtEl>
                                          <p:spTgt spid="194595"/>
                                        </p:tgtEl>
                                        <p:attrNameLst>
                                          <p:attrName>ppt_x</p:attrName>
                                        </p:attrNameLst>
                                      </p:cBhvr>
                                      <p:tavLst>
                                        <p:tav tm="0">
                                          <p:val>
                                            <p:strVal val="0-#ppt_w/2"/>
                                          </p:val>
                                        </p:tav>
                                        <p:tav tm="100000">
                                          <p:val>
                                            <p:strVal val="#ppt_x"/>
                                          </p:val>
                                        </p:tav>
                                      </p:tavLst>
                                    </p:anim>
                                    <p:anim calcmode="lin" valueType="num">
                                      <p:cBhvr additive="base">
                                        <p:cTn id="104" dur="500" fill="hold"/>
                                        <p:tgtEl>
                                          <p:spTgt spid="1945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2" grpId="0" animBg="1" autoUpdateAnimBg="0"/>
      <p:bldP spid="194563" grpId="0" animBg="1" autoUpdateAnimBg="0"/>
      <p:bldP spid="194564" grpId="0" animBg="1" autoUpdateAnimBg="0"/>
      <p:bldP spid="194565" grpId="0" animBg="1" autoUpdateAnimBg="0"/>
      <p:bldP spid="194566" grpId="0" animBg="1" autoUpdateAnimBg="0"/>
      <p:bldP spid="194568" grpId="0" animBg="1" autoUpdateAnimBg="0"/>
      <p:bldP spid="194569" grpId="0" animBg="1" autoUpdateAnimBg="0"/>
      <p:bldP spid="194570" grpId="0" animBg="1" autoUpdateAnimBg="0"/>
      <p:bldP spid="194573" grpId="0" animBg="1" autoUpdateAnimBg="0"/>
      <p:bldP spid="194574" grpId="0" animBg="1"/>
      <p:bldP spid="194575" grpId="0" animBg="1"/>
      <p:bldP spid="194576" grpId="0" animBg="1"/>
      <p:bldP spid="194577" grpId="0" animBg="1"/>
      <p:bldP spid="194581" grpId="0" animBg="1"/>
      <p:bldP spid="194582" grpId="0" animBg="1"/>
      <p:bldP spid="194583" grpId="0" animBg="1"/>
      <p:bldP spid="194584" grpId="0" animBg="1"/>
      <p:bldP spid="194586" grpId="0" animBg="1" autoUpdateAnimBg="0"/>
      <p:bldP spid="194587" grpId="0" animBg="1"/>
      <p:bldP spid="194588" grpId="0" autoUpdateAnimBg="0"/>
      <p:bldP spid="194590" grpId="0" animBg="1"/>
      <p:bldP spid="194591" grpId="0" animBg="1"/>
      <p:bldP spid="194592" grpId="0" autoUpdateAnimBg="0"/>
      <p:bldP spid="194593" grpId="0" autoUpdateAnimBg="0"/>
      <p:bldP spid="194594" grpId="0" animBg="1" autoUpdateAnimBg="0"/>
      <p:bldP spid="194595" grpId="0" autoUpdateAnimBg="0"/>
      <p:bldP spid="19459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Oval 1026"/>
          <p:cNvSpPr>
            <a:spLocks noChangeArrowheads="1"/>
          </p:cNvSpPr>
          <p:nvPr/>
        </p:nvSpPr>
        <p:spPr bwMode="auto">
          <a:xfrm>
            <a:off x="3276600" y="16764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50</a:t>
            </a:r>
            <a:endParaRPr lang="en-US" altLang="zh-CN"/>
          </a:p>
        </p:txBody>
      </p:sp>
      <p:sp>
        <p:nvSpPr>
          <p:cNvPr id="195587" name="Oval 1027"/>
          <p:cNvSpPr>
            <a:spLocks noChangeArrowheads="1"/>
          </p:cNvSpPr>
          <p:nvPr/>
        </p:nvSpPr>
        <p:spPr bwMode="auto">
          <a:xfrm>
            <a:off x="1828800" y="22098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30</a:t>
            </a:r>
            <a:endParaRPr lang="en-US" altLang="zh-CN"/>
          </a:p>
        </p:txBody>
      </p:sp>
      <p:sp>
        <p:nvSpPr>
          <p:cNvPr id="195588" name="Oval 1028"/>
          <p:cNvSpPr>
            <a:spLocks noChangeArrowheads="1"/>
          </p:cNvSpPr>
          <p:nvPr/>
        </p:nvSpPr>
        <p:spPr bwMode="auto">
          <a:xfrm>
            <a:off x="4724400" y="22098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80</a:t>
            </a:r>
            <a:endParaRPr lang="en-US" altLang="zh-CN"/>
          </a:p>
        </p:txBody>
      </p:sp>
      <p:sp>
        <p:nvSpPr>
          <p:cNvPr id="195589" name="Oval 1029"/>
          <p:cNvSpPr>
            <a:spLocks noChangeArrowheads="1"/>
          </p:cNvSpPr>
          <p:nvPr/>
        </p:nvSpPr>
        <p:spPr bwMode="auto">
          <a:xfrm>
            <a:off x="685800" y="28956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20</a:t>
            </a:r>
            <a:endParaRPr lang="en-US" altLang="zh-CN"/>
          </a:p>
        </p:txBody>
      </p:sp>
      <p:sp>
        <p:nvSpPr>
          <p:cNvPr id="195590" name="Oval 1030"/>
          <p:cNvSpPr>
            <a:spLocks noChangeArrowheads="1"/>
          </p:cNvSpPr>
          <p:nvPr/>
        </p:nvSpPr>
        <p:spPr bwMode="auto">
          <a:xfrm>
            <a:off x="5867400" y="28956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90</a:t>
            </a:r>
            <a:endParaRPr lang="en-US" altLang="zh-CN"/>
          </a:p>
        </p:txBody>
      </p:sp>
      <p:sp>
        <p:nvSpPr>
          <p:cNvPr id="195591" name="Oval 1031"/>
          <p:cNvSpPr>
            <a:spLocks noChangeArrowheads="1"/>
          </p:cNvSpPr>
          <p:nvPr/>
        </p:nvSpPr>
        <p:spPr bwMode="auto">
          <a:xfrm>
            <a:off x="5029200" y="37338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85</a:t>
            </a:r>
            <a:endParaRPr lang="en-US" altLang="zh-CN"/>
          </a:p>
        </p:txBody>
      </p:sp>
      <p:sp>
        <p:nvSpPr>
          <p:cNvPr id="195592" name="Oval 1032"/>
          <p:cNvSpPr>
            <a:spLocks noChangeArrowheads="1"/>
          </p:cNvSpPr>
          <p:nvPr/>
        </p:nvSpPr>
        <p:spPr bwMode="auto">
          <a:xfrm>
            <a:off x="2971800" y="28956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40</a:t>
            </a:r>
            <a:endParaRPr lang="en-US" altLang="zh-CN"/>
          </a:p>
        </p:txBody>
      </p:sp>
      <p:sp>
        <p:nvSpPr>
          <p:cNvPr id="195593" name="Oval 1033"/>
          <p:cNvSpPr>
            <a:spLocks noChangeArrowheads="1"/>
          </p:cNvSpPr>
          <p:nvPr/>
        </p:nvSpPr>
        <p:spPr bwMode="auto">
          <a:xfrm>
            <a:off x="2057400" y="37338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35</a:t>
            </a:r>
            <a:endParaRPr lang="en-US" altLang="zh-CN"/>
          </a:p>
        </p:txBody>
      </p:sp>
      <p:sp>
        <p:nvSpPr>
          <p:cNvPr id="195594" name="Oval 1034"/>
          <p:cNvSpPr>
            <a:spLocks noChangeArrowheads="1"/>
          </p:cNvSpPr>
          <p:nvPr/>
        </p:nvSpPr>
        <p:spPr bwMode="auto">
          <a:xfrm>
            <a:off x="6324600" y="45720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88</a:t>
            </a:r>
            <a:endParaRPr lang="en-US" altLang="zh-CN"/>
          </a:p>
        </p:txBody>
      </p:sp>
      <p:sp>
        <p:nvSpPr>
          <p:cNvPr id="195595" name="Line 1035"/>
          <p:cNvSpPr>
            <a:spLocks noChangeShapeType="1"/>
          </p:cNvSpPr>
          <p:nvPr/>
        </p:nvSpPr>
        <p:spPr bwMode="auto">
          <a:xfrm flipH="1">
            <a:off x="2438400" y="1981200"/>
            <a:ext cx="8382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5596" name="Line 1036"/>
          <p:cNvSpPr>
            <a:spLocks noChangeShapeType="1"/>
          </p:cNvSpPr>
          <p:nvPr/>
        </p:nvSpPr>
        <p:spPr bwMode="auto">
          <a:xfrm flipH="1">
            <a:off x="1295400" y="2590800"/>
            <a:ext cx="609600" cy="381000"/>
          </a:xfrm>
          <a:prstGeom prst="line">
            <a:avLst/>
          </a:prstGeom>
          <a:noFill/>
          <a:ln w="38100">
            <a:solidFill>
              <a:srgbClr val="66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5597" name="Line 1037"/>
          <p:cNvSpPr>
            <a:spLocks noChangeShapeType="1"/>
          </p:cNvSpPr>
          <p:nvPr/>
        </p:nvSpPr>
        <p:spPr bwMode="auto">
          <a:xfrm>
            <a:off x="3962400" y="1981200"/>
            <a:ext cx="7620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5598" name="Line 1038"/>
          <p:cNvSpPr>
            <a:spLocks noChangeShapeType="1"/>
          </p:cNvSpPr>
          <p:nvPr/>
        </p:nvSpPr>
        <p:spPr bwMode="auto">
          <a:xfrm>
            <a:off x="2438400" y="2590800"/>
            <a:ext cx="6096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5599" name="Line 1039"/>
          <p:cNvSpPr>
            <a:spLocks noChangeShapeType="1"/>
          </p:cNvSpPr>
          <p:nvPr/>
        </p:nvSpPr>
        <p:spPr bwMode="auto">
          <a:xfrm flipH="1">
            <a:off x="2514600" y="3352800"/>
            <a:ext cx="5334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5600" name="Line 1040"/>
          <p:cNvSpPr>
            <a:spLocks noChangeShapeType="1"/>
          </p:cNvSpPr>
          <p:nvPr/>
        </p:nvSpPr>
        <p:spPr bwMode="auto">
          <a:xfrm>
            <a:off x="5334000" y="2667000"/>
            <a:ext cx="609600" cy="3048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5601" name="Line 1041"/>
          <p:cNvSpPr>
            <a:spLocks noChangeShapeType="1"/>
          </p:cNvSpPr>
          <p:nvPr/>
        </p:nvSpPr>
        <p:spPr bwMode="auto">
          <a:xfrm flipH="1">
            <a:off x="5486400" y="3429000"/>
            <a:ext cx="5334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5602" name="Line 1042"/>
          <p:cNvSpPr>
            <a:spLocks noChangeShapeType="1"/>
          </p:cNvSpPr>
          <p:nvPr/>
        </p:nvSpPr>
        <p:spPr bwMode="auto">
          <a:xfrm>
            <a:off x="5638800" y="4191000"/>
            <a:ext cx="762000" cy="4572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5603" name="Oval 1043"/>
          <p:cNvSpPr>
            <a:spLocks noChangeArrowheads="1"/>
          </p:cNvSpPr>
          <p:nvPr/>
        </p:nvSpPr>
        <p:spPr bwMode="auto">
          <a:xfrm>
            <a:off x="1066800" y="45720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32</a:t>
            </a:r>
            <a:endParaRPr lang="en-US" altLang="zh-CN"/>
          </a:p>
        </p:txBody>
      </p:sp>
      <p:sp>
        <p:nvSpPr>
          <p:cNvPr id="195604" name="Line 1044"/>
          <p:cNvSpPr>
            <a:spLocks noChangeShapeType="1"/>
          </p:cNvSpPr>
          <p:nvPr/>
        </p:nvSpPr>
        <p:spPr bwMode="auto">
          <a:xfrm flipH="1">
            <a:off x="1524000" y="4114800"/>
            <a:ext cx="609600" cy="4572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5605" name="Rectangle 1045"/>
          <p:cNvSpPr>
            <a:spLocks noChangeArrowheads="1"/>
          </p:cNvSpPr>
          <p:nvPr/>
        </p:nvSpPr>
        <p:spPr bwMode="auto">
          <a:xfrm>
            <a:off x="152400" y="114300"/>
            <a:ext cx="6372225"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lang="zh-CN" altLang="en-US" sz="3600">
                <a:solidFill>
                  <a:schemeClr val="accent2"/>
                </a:solidFill>
                <a:ea typeface="楷体_GB2312" charset="0"/>
              </a:rPr>
              <a:t>（</a:t>
            </a:r>
            <a:r>
              <a:rPr lang="en-US" altLang="zh-CN" sz="3600">
                <a:solidFill>
                  <a:schemeClr val="accent2"/>
                </a:solidFill>
                <a:ea typeface="楷体_GB2312" charset="0"/>
              </a:rPr>
              <a:t>2</a:t>
            </a:r>
            <a:r>
              <a:rPr lang="zh-CN" altLang="en-US" sz="3600">
                <a:solidFill>
                  <a:schemeClr val="accent2"/>
                </a:solidFill>
                <a:ea typeface="楷体_GB2312" charset="0"/>
              </a:rPr>
              <a:t>）被删除的结点</a:t>
            </a:r>
            <a:r>
              <a:rPr lang="zh-CN" altLang="en-US" sz="3600" b="1">
                <a:solidFill>
                  <a:srgbClr val="FF00FF"/>
                </a:solidFill>
                <a:ea typeface="楷体_GB2312" charset="0"/>
              </a:rPr>
              <a:t>只有左子树</a:t>
            </a:r>
            <a:endParaRPr lang="zh-CN" altLang="en-US" sz="3600">
              <a:solidFill>
                <a:schemeClr val="accent2"/>
              </a:solidFill>
              <a:ea typeface="楷体_GB2312" charset="0"/>
            </a:endParaRPr>
          </a:p>
          <a:p>
            <a:pPr>
              <a:lnSpc>
                <a:spcPct val="120000"/>
              </a:lnSpc>
            </a:pPr>
            <a:r>
              <a:rPr lang="zh-CN" altLang="en-US" sz="3600">
                <a:solidFill>
                  <a:schemeClr val="accent2"/>
                </a:solidFill>
                <a:ea typeface="楷体_GB2312" charset="0"/>
              </a:rPr>
              <a:t>或者</a:t>
            </a:r>
            <a:r>
              <a:rPr lang="zh-CN" altLang="en-US" sz="3600" b="1">
                <a:solidFill>
                  <a:srgbClr val="FF00FF"/>
                </a:solidFill>
                <a:ea typeface="楷体_GB2312" charset="0"/>
              </a:rPr>
              <a:t>只有右子树</a:t>
            </a:r>
            <a:endParaRPr lang="zh-CN" altLang="en-US">
              <a:solidFill>
                <a:schemeClr val="accent2"/>
              </a:solidFill>
              <a:ea typeface="楷体_GB2312" charset="0"/>
            </a:endParaRPr>
          </a:p>
        </p:txBody>
      </p:sp>
      <p:sp>
        <p:nvSpPr>
          <p:cNvPr id="195607" name="AutoShape 1047"/>
          <p:cNvSpPr>
            <a:spLocks noChangeArrowheads="1"/>
          </p:cNvSpPr>
          <p:nvPr/>
        </p:nvSpPr>
        <p:spPr bwMode="auto">
          <a:xfrm>
            <a:off x="2438400" y="2590800"/>
            <a:ext cx="152400" cy="1143000"/>
          </a:xfrm>
          <a:prstGeom prst="downArrow">
            <a:avLst>
              <a:gd name="adj1" fmla="val 50000"/>
              <a:gd name="adj2" fmla="val 187500"/>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useBgFill="1">
        <p:nvSpPr>
          <p:cNvPr id="195608" name="Rectangle 1048"/>
          <p:cNvSpPr>
            <a:spLocks noChangeArrowheads="1"/>
          </p:cNvSpPr>
          <p:nvPr/>
        </p:nvSpPr>
        <p:spPr bwMode="auto">
          <a:xfrm>
            <a:off x="2590800" y="2590800"/>
            <a:ext cx="1143000" cy="1143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5609" name="Line 1049"/>
          <p:cNvSpPr>
            <a:spLocks noChangeShapeType="1"/>
          </p:cNvSpPr>
          <p:nvPr/>
        </p:nvSpPr>
        <p:spPr bwMode="auto">
          <a:xfrm>
            <a:off x="3962400" y="1981200"/>
            <a:ext cx="1981200" cy="990600"/>
          </a:xfrm>
          <a:prstGeom prst="line">
            <a:avLst/>
          </a:prstGeom>
          <a:noFill/>
          <a:ln w="635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95611" name="Rectangle 1051"/>
          <p:cNvSpPr>
            <a:spLocks noChangeArrowheads="1"/>
          </p:cNvSpPr>
          <p:nvPr/>
        </p:nvSpPr>
        <p:spPr bwMode="auto">
          <a:xfrm>
            <a:off x="4648200" y="2133600"/>
            <a:ext cx="838200" cy="685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5612" name="Line 1052"/>
          <p:cNvSpPr>
            <a:spLocks noChangeShapeType="1"/>
          </p:cNvSpPr>
          <p:nvPr/>
        </p:nvSpPr>
        <p:spPr bwMode="auto">
          <a:xfrm>
            <a:off x="3962400" y="1981200"/>
            <a:ext cx="1981200" cy="990600"/>
          </a:xfrm>
          <a:prstGeom prst="line">
            <a:avLst/>
          </a:prstGeom>
          <a:noFill/>
          <a:ln w="635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5613" name="Text Box 1053"/>
          <p:cNvSpPr txBox="1">
            <a:spLocks noChangeArrowheads="1"/>
          </p:cNvSpPr>
          <p:nvPr/>
        </p:nvSpPr>
        <p:spPr bwMode="auto">
          <a:xfrm>
            <a:off x="228600" y="5295900"/>
            <a:ext cx="86868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spcBef>
                <a:spcPct val="50000"/>
              </a:spcBef>
            </a:pPr>
            <a:r>
              <a:rPr lang="en-US" altLang="zh-CN" sz="3600" b="1">
                <a:solidFill>
                  <a:srgbClr val="A50021"/>
                </a:solidFill>
                <a:ea typeface="楷体_GB2312" charset="0"/>
              </a:rPr>
              <a:t>      </a:t>
            </a:r>
            <a:r>
              <a:rPr lang="zh-CN" altLang="en-US" sz="3600" b="1">
                <a:solidFill>
                  <a:srgbClr val="A50021"/>
                </a:solidFill>
                <a:ea typeface="楷体_GB2312" charset="0"/>
              </a:rPr>
              <a:t>其双亲结点的相应指针域的值改为 “指向被删除结点的左子树或右子树”。</a:t>
            </a:r>
            <a:endParaRPr lang="zh-CN" altLang="en-US" sz="3600">
              <a:ea typeface="楷体_GB2312" charset="0"/>
            </a:endParaRPr>
          </a:p>
        </p:txBody>
      </p:sp>
      <p:sp>
        <p:nvSpPr>
          <p:cNvPr id="195614" name="Freeform 1054"/>
          <p:cNvSpPr>
            <a:spLocks/>
          </p:cNvSpPr>
          <p:nvPr/>
        </p:nvSpPr>
        <p:spPr bwMode="auto">
          <a:xfrm>
            <a:off x="3581400" y="914400"/>
            <a:ext cx="1066800" cy="762000"/>
          </a:xfrm>
          <a:custGeom>
            <a:avLst/>
            <a:gdLst>
              <a:gd name="T0" fmla="*/ 672 w 672"/>
              <a:gd name="T1" fmla="*/ 0 h 480"/>
              <a:gd name="T2" fmla="*/ 192 w 672"/>
              <a:gd name="T3" fmla="*/ 240 h 480"/>
              <a:gd name="T4" fmla="*/ 480 w 672"/>
              <a:gd name="T5" fmla="*/ 240 h 480"/>
              <a:gd name="T6" fmla="*/ 0 w 672"/>
              <a:gd name="T7" fmla="*/ 480 h 480"/>
            </a:gdLst>
            <a:ahLst/>
            <a:cxnLst>
              <a:cxn ang="0">
                <a:pos x="T0" y="T1"/>
              </a:cxn>
              <a:cxn ang="0">
                <a:pos x="T2" y="T3"/>
              </a:cxn>
              <a:cxn ang="0">
                <a:pos x="T4" y="T5"/>
              </a:cxn>
              <a:cxn ang="0">
                <a:pos x="T6" y="T7"/>
              </a:cxn>
            </a:cxnLst>
            <a:rect l="0" t="0" r="r" b="b"/>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a:solidFill>
              <a:srgbClr val="A50021"/>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5615" name="Text Box 1055"/>
          <p:cNvSpPr txBox="1">
            <a:spLocks noChangeArrowheads="1"/>
          </p:cNvSpPr>
          <p:nvPr/>
        </p:nvSpPr>
        <p:spPr bwMode="auto">
          <a:xfrm>
            <a:off x="5486400" y="958850"/>
            <a:ext cx="3416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3333FF"/>
                </a:solidFill>
                <a:ea typeface="楷体_GB2312" charset="0"/>
              </a:rPr>
              <a:t>被删关键字 </a:t>
            </a:r>
            <a:r>
              <a:rPr lang="en-US" altLang="zh-CN" sz="3600" b="1">
                <a:solidFill>
                  <a:srgbClr val="3333FF"/>
                </a:solidFill>
                <a:ea typeface="楷体_GB2312" charset="0"/>
              </a:rPr>
              <a:t>= 40</a:t>
            </a:r>
            <a:endParaRPr lang="en-US" altLang="zh-CN" sz="3600">
              <a:ea typeface="楷体_GB2312" charset="0"/>
            </a:endParaRPr>
          </a:p>
        </p:txBody>
      </p:sp>
      <p:sp useBgFill="1">
        <p:nvSpPr>
          <p:cNvPr id="195616" name="Rectangle 1056"/>
          <p:cNvSpPr>
            <a:spLocks noChangeArrowheads="1"/>
          </p:cNvSpPr>
          <p:nvPr/>
        </p:nvSpPr>
        <p:spPr bwMode="auto">
          <a:xfrm>
            <a:off x="8274050" y="958850"/>
            <a:ext cx="641350" cy="64135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FF0000"/>
                </a:solidFill>
                <a:ea typeface="楷体_GB2312" charset="0"/>
              </a:rPr>
              <a:t>80</a:t>
            </a:r>
            <a:endParaRPr lang="en-US" altLang="zh-CN" sz="3600" b="1">
              <a:solidFill>
                <a:srgbClr val="3333FF"/>
              </a:solidFill>
              <a:ea typeface="楷体_GB2312" charset="0"/>
            </a:endParaRPr>
          </a:p>
        </p:txBody>
      </p:sp>
    </p:spTree>
    <p:extLst>
      <p:ext uri="{BB962C8B-B14F-4D97-AF65-F5344CB8AC3E}">
        <p14:creationId xmlns:p14="http://schemas.microsoft.com/office/powerpoint/2010/main" val="1120521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95605"/>
                                        </p:tgtEl>
                                        <p:attrNameLst>
                                          <p:attrName>style.visibility</p:attrName>
                                        </p:attrNameLst>
                                      </p:cBhvr>
                                      <p:to>
                                        <p:strVal val="visible"/>
                                      </p:to>
                                    </p:set>
                                    <p:anim calcmode="lin" valueType="num">
                                      <p:cBhvr additive="base">
                                        <p:cTn id="7" dur="500" fill="hold"/>
                                        <p:tgtEl>
                                          <p:spTgt spid="195605"/>
                                        </p:tgtEl>
                                        <p:attrNameLst>
                                          <p:attrName>ppt_x</p:attrName>
                                        </p:attrNameLst>
                                      </p:cBhvr>
                                      <p:tavLst>
                                        <p:tav tm="0">
                                          <p:val>
                                            <p:strVal val="0-#ppt_w/2"/>
                                          </p:val>
                                        </p:tav>
                                        <p:tav tm="100000">
                                          <p:val>
                                            <p:strVal val="#ppt_x"/>
                                          </p:val>
                                        </p:tav>
                                      </p:tavLst>
                                    </p:anim>
                                    <p:anim calcmode="lin" valueType="num">
                                      <p:cBhvr additive="base">
                                        <p:cTn id="8" dur="500" fill="hold"/>
                                        <p:tgtEl>
                                          <p:spTgt spid="19560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95614"/>
                                        </p:tgtEl>
                                        <p:attrNameLst>
                                          <p:attrName>style.visibility</p:attrName>
                                        </p:attrNameLst>
                                      </p:cBhvr>
                                      <p:to>
                                        <p:strVal val="visible"/>
                                      </p:to>
                                    </p:set>
                                    <p:animEffect transition="in" filter="wipe(up)">
                                      <p:cBhvr>
                                        <p:cTn id="13" dur="500"/>
                                        <p:tgtEl>
                                          <p:spTgt spid="195614"/>
                                        </p:tgtEl>
                                      </p:cBhvr>
                                    </p:animEffect>
                                  </p:childTnLst>
                                </p:cTn>
                              </p:par>
                            </p:childTnLst>
                          </p:cTn>
                        </p:par>
                        <p:par>
                          <p:cTn id="14" fill="hold" nodeType="afterGroup">
                            <p:stCondLst>
                              <p:cond delay="500"/>
                            </p:stCondLst>
                            <p:childTnLst>
                              <p:par>
                                <p:cTn id="15" presetID="22" presetClass="entr" presetSubtype="1" fill="hold" grpId="0" nodeType="afterEffect">
                                  <p:stCondLst>
                                    <p:cond delay="0"/>
                                  </p:stCondLst>
                                  <p:childTnLst>
                                    <p:set>
                                      <p:cBhvr>
                                        <p:cTn id="16" dur="1" fill="hold">
                                          <p:stCondLst>
                                            <p:cond delay="0"/>
                                          </p:stCondLst>
                                        </p:cTn>
                                        <p:tgtEl>
                                          <p:spTgt spid="195586"/>
                                        </p:tgtEl>
                                        <p:attrNameLst>
                                          <p:attrName>style.visibility</p:attrName>
                                        </p:attrNameLst>
                                      </p:cBhvr>
                                      <p:to>
                                        <p:strVal val="visible"/>
                                      </p:to>
                                    </p:set>
                                    <p:animEffect transition="in" filter="wipe(up)">
                                      <p:cBhvr>
                                        <p:cTn id="17" dur="500"/>
                                        <p:tgtEl>
                                          <p:spTgt spid="195586"/>
                                        </p:tgtEl>
                                      </p:cBhvr>
                                    </p:animEffect>
                                  </p:childTnLst>
                                </p:cTn>
                              </p:par>
                            </p:childTnLst>
                          </p:cTn>
                        </p:par>
                        <p:par>
                          <p:cTn id="18" fill="hold" nodeType="afterGroup">
                            <p:stCondLst>
                              <p:cond delay="1000"/>
                            </p:stCondLst>
                            <p:childTnLst>
                              <p:par>
                                <p:cTn id="19" presetID="1" presetClass="entr" presetSubtype="0" fill="hold" grpId="0" nodeType="afterEffect">
                                  <p:stCondLst>
                                    <p:cond delay="0"/>
                                  </p:stCondLst>
                                  <p:childTnLst>
                                    <p:set>
                                      <p:cBhvr>
                                        <p:cTn id="20" dur="1" fill="hold">
                                          <p:stCondLst>
                                            <p:cond delay="499"/>
                                          </p:stCondLst>
                                        </p:cTn>
                                        <p:tgtEl>
                                          <p:spTgt spid="195587"/>
                                        </p:tgtEl>
                                        <p:attrNameLst>
                                          <p:attrName>style.visibility</p:attrName>
                                        </p:attrNameLst>
                                      </p:cBhvr>
                                      <p:to>
                                        <p:strVal val="visible"/>
                                      </p:to>
                                    </p:set>
                                  </p:childTnLst>
                                </p:cTn>
                              </p:par>
                            </p:childTnLst>
                          </p:cTn>
                        </p:par>
                        <p:par>
                          <p:cTn id="21" fill="hold" nodeType="afterGroup">
                            <p:stCondLst>
                              <p:cond delay="1500"/>
                            </p:stCondLst>
                            <p:childTnLst>
                              <p:par>
                                <p:cTn id="22" presetID="1" presetClass="entr" presetSubtype="0" fill="hold" grpId="0" nodeType="afterEffect">
                                  <p:stCondLst>
                                    <p:cond delay="0"/>
                                  </p:stCondLst>
                                  <p:childTnLst>
                                    <p:set>
                                      <p:cBhvr>
                                        <p:cTn id="23" dur="1" fill="hold">
                                          <p:stCondLst>
                                            <p:cond delay="499"/>
                                          </p:stCondLst>
                                        </p:cTn>
                                        <p:tgtEl>
                                          <p:spTgt spid="195588"/>
                                        </p:tgtEl>
                                        <p:attrNameLst>
                                          <p:attrName>style.visibility</p:attrName>
                                        </p:attrNameLst>
                                      </p:cBhvr>
                                      <p:to>
                                        <p:strVal val="visible"/>
                                      </p:to>
                                    </p:set>
                                  </p:childTnLst>
                                </p:cTn>
                              </p:par>
                            </p:childTnLst>
                          </p:cTn>
                        </p:par>
                        <p:par>
                          <p:cTn id="24" fill="hold" nodeType="afterGroup">
                            <p:stCondLst>
                              <p:cond delay="2000"/>
                            </p:stCondLst>
                            <p:childTnLst>
                              <p:par>
                                <p:cTn id="25" presetID="1" presetClass="entr" presetSubtype="0" fill="hold" grpId="0" nodeType="afterEffect">
                                  <p:stCondLst>
                                    <p:cond delay="0"/>
                                  </p:stCondLst>
                                  <p:childTnLst>
                                    <p:set>
                                      <p:cBhvr>
                                        <p:cTn id="26" dur="1" fill="hold">
                                          <p:stCondLst>
                                            <p:cond delay="499"/>
                                          </p:stCondLst>
                                        </p:cTn>
                                        <p:tgtEl>
                                          <p:spTgt spid="195589"/>
                                        </p:tgtEl>
                                        <p:attrNameLst>
                                          <p:attrName>style.visibility</p:attrName>
                                        </p:attrNameLst>
                                      </p:cBhvr>
                                      <p:to>
                                        <p:strVal val="visible"/>
                                      </p:to>
                                    </p:set>
                                  </p:childTnLst>
                                </p:cTn>
                              </p:par>
                            </p:childTnLst>
                          </p:cTn>
                        </p:par>
                        <p:par>
                          <p:cTn id="27" fill="hold" nodeType="afterGroup">
                            <p:stCondLst>
                              <p:cond delay="2500"/>
                            </p:stCondLst>
                            <p:childTnLst>
                              <p:par>
                                <p:cTn id="28" presetID="1" presetClass="entr" presetSubtype="0" fill="hold" grpId="0" nodeType="afterEffect">
                                  <p:stCondLst>
                                    <p:cond delay="0"/>
                                  </p:stCondLst>
                                  <p:childTnLst>
                                    <p:set>
                                      <p:cBhvr>
                                        <p:cTn id="29" dur="1" fill="hold">
                                          <p:stCondLst>
                                            <p:cond delay="499"/>
                                          </p:stCondLst>
                                        </p:cTn>
                                        <p:tgtEl>
                                          <p:spTgt spid="195590"/>
                                        </p:tgtEl>
                                        <p:attrNameLst>
                                          <p:attrName>style.visibility</p:attrName>
                                        </p:attrNameLst>
                                      </p:cBhvr>
                                      <p:to>
                                        <p:strVal val="visible"/>
                                      </p:to>
                                    </p:set>
                                  </p:childTnLst>
                                </p:cTn>
                              </p:par>
                            </p:childTnLst>
                          </p:cTn>
                        </p:par>
                        <p:par>
                          <p:cTn id="30" fill="hold" nodeType="afterGroup">
                            <p:stCondLst>
                              <p:cond delay="3000"/>
                            </p:stCondLst>
                            <p:childTnLst>
                              <p:par>
                                <p:cTn id="31" presetID="1" presetClass="entr" presetSubtype="0" fill="hold" grpId="0" nodeType="afterEffect">
                                  <p:stCondLst>
                                    <p:cond delay="0"/>
                                  </p:stCondLst>
                                  <p:childTnLst>
                                    <p:set>
                                      <p:cBhvr>
                                        <p:cTn id="32" dur="1" fill="hold">
                                          <p:stCondLst>
                                            <p:cond delay="499"/>
                                          </p:stCondLst>
                                        </p:cTn>
                                        <p:tgtEl>
                                          <p:spTgt spid="195591"/>
                                        </p:tgtEl>
                                        <p:attrNameLst>
                                          <p:attrName>style.visibility</p:attrName>
                                        </p:attrNameLst>
                                      </p:cBhvr>
                                      <p:to>
                                        <p:strVal val="visible"/>
                                      </p:to>
                                    </p:set>
                                  </p:childTnLst>
                                </p:cTn>
                              </p:par>
                            </p:childTnLst>
                          </p:cTn>
                        </p:par>
                        <p:par>
                          <p:cTn id="33" fill="hold" nodeType="afterGroup">
                            <p:stCondLst>
                              <p:cond delay="3500"/>
                            </p:stCondLst>
                            <p:childTnLst>
                              <p:par>
                                <p:cTn id="34" presetID="1" presetClass="entr" presetSubtype="0" fill="hold" grpId="0" nodeType="afterEffect">
                                  <p:stCondLst>
                                    <p:cond delay="0"/>
                                  </p:stCondLst>
                                  <p:childTnLst>
                                    <p:set>
                                      <p:cBhvr>
                                        <p:cTn id="35" dur="1" fill="hold">
                                          <p:stCondLst>
                                            <p:cond delay="499"/>
                                          </p:stCondLst>
                                        </p:cTn>
                                        <p:tgtEl>
                                          <p:spTgt spid="195592"/>
                                        </p:tgtEl>
                                        <p:attrNameLst>
                                          <p:attrName>style.visibility</p:attrName>
                                        </p:attrNameLst>
                                      </p:cBhvr>
                                      <p:to>
                                        <p:strVal val="visible"/>
                                      </p:to>
                                    </p:set>
                                  </p:childTnLst>
                                </p:cTn>
                              </p:par>
                            </p:childTnLst>
                          </p:cTn>
                        </p:par>
                        <p:par>
                          <p:cTn id="36" fill="hold" nodeType="afterGroup">
                            <p:stCondLst>
                              <p:cond delay="4000"/>
                            </p:stCondLst>
                            <p:childTnLst>
                              <p:par>
                                <p:cTn id="37" presetID="1" presetClass="entr" presetSubtype="0" fill="hold" grpId="0" nodeType="afterEffect">
                                  <p:stCondLst>
                                    <p:cond delay="0"/>
                                  </p:stCondLst>
                                  <p:childTnLst>
                                    <p:set>
                                      <p:cBhvr>
                                        <p:cTn id="38" dur="1" fill="hold">
                                          <p:stCondLst>
                                            <p:cond delay="499"/>
                                          </p:stCondLst>
                                        </p:cTn>
                                        <p:tgtEl>
                                          <p:spTgt spid="195593"/>
                                        </p:tgtEl>
                                        <p:attrNameLst>
                                          <p:attrName>style.visibility</p:attrName>
                                        </p:attrNameLst>
                                      </p:cBhvr>
                                      <p:to>
                                        <p:strVal val="visible"/>
                                      </p:to>
                                    </p:set>
                                  </p:childTnLst>
                                </p:cTn>
                              </p:par>
                            </p:childTnLst>
                          </p:cTn>
                        </p:par>
                        <p:par>
                          <p:cTn id="39" fill="hold" nodeType="afterGroup">
                            <p:stCondLst>
                              <p:cond delay="4500"/>
                            </p:stCondLst>
                            <p:childTnLst>
                              <p:par>
                                <p:cTn id="40" presetID="1" presetClass="entr" presetSubtype="0" fill="hold" grpId="0" nodeType="afterEffect">
                                  <p:stCondLst>
                                    <p:cond delay="0"/>
                                  </p:stCondLst>
                                  <p:childTnLst>
                                    <p:set>
                                      <p:cBhvr>
                                        <p:cTn id="41" dur="1" fill="hold">
                                          <p:stCondLst>
                                            <p:cond delay="499"/>
                                          </p:stCondLst>
                                        </p:cTn>
                                        <p:tgtEl>
                                          <p:spTgt spid="195603"/>
                                        </p:tgtEl>
                                        <p:attrNameLst>
                                          <p:attrName>style.visibility</p:attrName>
                                        </p:attrNameLst>
                                      </p:cBhvr>
                                      <p:to>
                                        <p:strVal val="visible"/>
                                      </p:to>
                                    </p:set>
                                  </p:childTnLst>
                                </p:cTn>
                              </p:par>
                            </p:childTnLst>
                          </p:cTn>
                        </p:par>
                        <p:par>
                          <p:cTn id="42" fill="hold" nodeType="afterGroup">
                            <p:stCondLst>
                              <p:cond delay="5000"/>
                            </p:stCondLst>
                            <p:childTnLst>
                              <p:par>
                                <p:cTn id="43" presetID="1" presetClass="entr" presetSubtype="0" fill="hold" grpId="0" nodeType="afterEffect">
                                  <p:stCondLst>
                                    <p:cond delay="0"/>
                                  </p:stCondLst>
                                  <p:childTnLst>
                                    <p:set>
                                      <p:cBhvr>
                                        <p:cTn id="44" dur="1" fill="hold">
                                          <p:stCondLst>
                                            <p:cond delay="499"/>
                                          </p:stCondLst>
                                        </p:cTn>
                                        <p:tgtEl>
                                          <p:spTgt spid="195594"/>
                                        </p:tgtEl>
                                        <p:attrNameLst>
                                          <p:attrName>style.visibility</p:attrName>
                                        </p:attrNameLst>
                                      </p:cBhvr>
                                      <p:to>
                                        <p:strVal val="visible"/>
                                      </p:to>
                                    </p:set>
                                  </p:childTnLst>
                                </p:cTn>
                              </p:par>
                            </p:childTnLst>
                          </p:cTn>
                        </p:par>
                        <p:par>
                          <p:cTn id="45" fill="hold" nodeType="afterGroup">
                            <p:stCondLst>
                              <p:cond delay="5500"/>
                            </p:stCondLst>
                            <p:childTnLst>
                              <p:par>
                                <p:cTn id="46" presetID="1" presetClass="entr" presetSubtype="0" fill="hold" grpId="0" nodeType="afterEffect">
                                  <p:stCondLst>
                                    <p:cond delay="0"/>
                                  </p:stCondLst>
                                  <p:childTnLst>
                                    <p:set>
                                      <p:cBhvr>
                                        <p:cTn id="47" dur="1" fill="hold">
                                          <p:stCondLst>
                                            <p:cond delay="499"/>
                                          </p:stCondLst>
                                        </p:cTn>
                                        <p:tgtEl>
                                          <p:spTgt spid="195595"/>
                                        </p:tgtEl>
                                        <p:attrNameLst>
                                          <p:attrName>style.visibility</p:attrName>
                                        </p:attrNameLst>
                                      </p:cBhvr>
                                      <p:to>
                                        <p:strVal val="visible"/>
                                      </p:to>
                                    </p:set>
                                  </p:childTnLst>
                                </p:cTn>
                              </p:par>
                            </p:childTnLst>
                          </p:cTn>
                        </p:par>
                        <p:par>
                          <p:cTn id="48" fill="hold" nodeType="afterGroup">
                            <p:stCondLst>
                              <p:cond delay="6000"/>
                            </p:stCondLst>
                            <p:childTnLst>
                              <p:par>
                                <p:cTn id="49" presetID="1" presetClass="entr" presetSubtype="0" fill="hold" grpId="0" nodeType="afterEffect">
                                  <p:stCondLst>
                                    <p:cond delay="0"/>
                                  </p:stCondLst>
                                  <p:childTnLst>
                                    <p:set>
                                      <p:cBhvr>
                                        <p:cTn id="50" dur="1" fill="hold">
                                          <p:stCondLst>
                                            <p:cond delay="499"/>
                                          </p:stCondLst>
                                        </p:cTn>
                                        <p:tgtEl>
                                          <p:spTgt spid="195596"/>
                                        </p:tgtEl>
                                        <p:attrNameLst>
                                          <p:attrName>style.visibility</p:attrName>
                                        </p:attrNameLst>
                                      </p:cBhvr>
                                      <p:to>
                                        <p:strVal val="visible"/>
                                      </p:to>
                                    </p:set>
                                  </p:childTnLst>
                                </p:cTn>
                              </p:par>
                            </p:childTnLst>
                          </p:cTn>
                        </p:par>
                        <p:par>
                          <p:cTn id="51" fill="hold" nodeType="afterGroup">
                            <p:stCondLst>
                              <p:cond delay="6500"/>
                            </p:stCondLst>
                            <p:childTnLst>
                              <p:par>
                                <p:cTn id="52" presetID="1" presetClass="entr" presetSubtype="0" fill="hold" grpId="0" nodeType="afterEffect">
                                  <p:stCondLst>
                                    <p:cond delay="0"/>
                                  </p:stCondLst>
                                  <p:childTnLst>
                                    <p:set>
                                      <p:cBhvr>
                                        <p:cTn id="53" dur="1" fill="hold">
                                          <p:stCondLst>
                                            <p:cond delay="499"/>
                                          </p:stCondLst>
                                        </p:cTn>
                                        <p:tgtEl>
                                          <p:spTgt spid="195597"/>
                                        </p:tgtEl>
                                        <p:attrNameLst>
                                          <p:attrName>style.visibility</p:attrName>
                                        </p:attrNameLst>
                                      </p:cBhvr>
                                      <p:to>
                                        <p:strVal val="visible"/>
                                      </p:to>
                                    </p:set>
                                  </p:childTnLst>
                                </p:cTn>
                              </p:par>
                            </p:childTnLst>
                          </p:cTn>
                        </p:par>
                        <p:par>
                          <p:cTn id="54" fill="hold" nodeType="afterGroup">
                            <p:stCondLst>
                              <p:cond delay="7000"/>
                            </p:stCondLst>
                            <p:childTnLst>
                              <p:par>
                                <p:cTn id="55" presetID="1" presetClass="entr" presetSubtype="0" fill="hold" grpId="0" nodeType="afterEffect">
                                  <p:stCondLst>
                                    <p:cond delay="0"/>
                                  </p:stCondLst>
                                  <p:childTnLst>
                                    <p:set>
                                      <p:cBhvr>
                                        <p:cTn id="56" dur="1" fill="hold">
                                          <p:stCondLst>
                                            <p:cond delay="499"/>
                                          </p:stCondLst>
                                        </p:cTn>
                                        <p:tgtEl>
                                          <p:spTgt spid="195598"/>
                                        </p:tgtEl>
                                        <p:attrNameLst>
                                          <p:attrName>style.visibility</p:attrName>
                                        </p:attrNameLst>
                                      </p:cBhvr>
                                      <p:to>
                                        <p:strVal val="visible"/>
                                      </p:to>
                                    </p:set>
                                  </p:childTnLst>
                                </p:cTn>
                              </p:par>
                            </p:childTnLst>
                          </p:cTn>
                        </p:par>
                        <p:par>
                          <p:cTn id="57" fill="hold" nodeType="afterGroup">
                            <p:stCondLst>
                              <p:cond delay="7500"/>
                            </p:stCondLst>
                            <p:childTnLst>
                              <p:par>
                                <p:cTn id="58" presetID="1" presetClass="entr" presetSubtype="0" fill="hold" grpId="0" nodeType="afterEffect">
                                  <p:stCondLst>
                                    <p:cond delay="0"/>
                                  </p:stCondLst>
                                  <p:childTnLst>
                                    <p:set>
                                      <p:cBhvr>
                                        <p:cTn id="59" dur="1" fill="hold">
                                          <p:stCondLst>
                                            <p:cond delay="499"/>
                                          </p:stCondLst>
                                        </p:cTn>
                                        <p:tgtEl>
                                          <p:spTgt spid="195599"/>
                                        </p:tgtEl>
                                        <p:attrNameLst>
                                          <p:attrName>style.visibility</p:attrName>
                                        </p:attrNameLst>
                                      </p:cBhvr>
                                      <p:to>
                                        <p:strVal val="visible"/>
                                      </p:to>
                                    </p:set>
                                  </p:childTnLst>
                                </p:cTn>
                              </p:par>
                            </p:childTnLst>
                          </p:cTn>
                        </p:par>
                        <p:par>
                          <p:cTn id="60" fill="hold" nodeType="afterGroup">
                            <p:stCondLst>
                              <p:cond delay="8000"/>
                            </p:stCondLst>
                            <p:childTnLst>
                              <p:par>
                                <p:cTn id="61" presetID="1" presetClass="entr" presetSubtype="0" fill="hold" grpId="0" nodeType="afterEffect">
                                  <p:stCondLst>
                                    <p:cond delay="0"/>
                                  </p:stCondLst>
                                  <p:childTnLst>
                                    <p:set>
                                      <p:cBhvr>
                                        <p:cTn id="62" dur="1" fill="hold">
                                          <p:stCondLst>
                                            <p:cond delay="499"/>
                                          </p:stCondLst>
                                        </p:cTn>
                                        <p:tgtEl>
                                          <p:spTgt spid="195604"/>
                                        </p:tgtEl>
                                        <p:attrNameLst>
                                          <p:attrName>style.visibility</p:attrName>
                                        </p:attrNameLst>
                                      </p:cBhvr>
                                      <p:to>
                                        <p:strVal val="visible"/>
                                      </p:to>
                                    </p:set>
                                  </p:childTnLst>
                                </p:cTn>
                              </p:par>
                            </p:childTnLst>
                          </p:cTn>
                        </p:par>
                        <p:par>
                          <p:cTn id="63" fill="hold" nodeType="afterGroup">
                            <p:stCondLst>
                              <p:cond delay="8500"/>
                            </p:stCondLst>
                            <p:childTnLst>
                              <p:par>
                                <p:cTn id="64" presetID="1" presetClass="entr" presetSubtype="0" fill="hold" grpId="0" nodeType="afterEffect">
                                  <p:stCondLst>
                                    <p:cond delay="0"/>
                                  </p:stCondLst>
                                  <p:childTnLst>
                                    <p:set>
                                      <p:cBhvr>
                                        <p:cTn id="65" dur="1" fill="hold">
                                          <p:stCondLst>
                                            <p:cond delay="499"/>
                                          </p:stCondLst>
                                        </p:cTn>
                                        <p:tgtEl>
                                          <p:spTgt spid="195600"/>
                                        </p:tgtEl>
                                        <p:attrNameLst>
                                          <p:attrName>style.visibility</p:attrName>
                                        </p:attrNameLst>
                                      </p:cBhvr>
                                      <p:to>
                                        <p:strVal val="visible"/>
                                      </p:to>
                                    </p:set>
                                  </p:childTnLst>
                                </p:cTn>
                              </p:par>
                            </p:childTnLst>
                          </p:cTn>
                        </p:par>
                        <p:par>
                          <p:cTn id="66" fill="hold" nodeType="afterGroup">
                            <p:stCondLst>
                              <p:cond delay="9000"/>
                            </p:stCondLst>
                            <p:childTnLst>
                              <p:par>
                                <p:cTn id="67" presetID="1" presetClass="entr" presetSubtype="0" fill="hold" grpId="0" nodeType="afterEffect">
                                  <p:stCondLst>
                                    <p:cond delay="0"/>
                                  </p:stCondLst>
                                  <p:childTnLst>
                                    <p:set>
                                      <p:cBhvr>
                                        <p:cTn id="68" dur="1" fill="hold">
                                          <p:stCondLst>
                                            <p:cond delay="499"/>
                                          </p:stCondLst>
                                        </p:cTn>
                                        <p:tgtEl>
                                          <p:spTgt spid="195601"/>
                                        </p:tgtEl>
                                        <p:attrNameLst>
                                          <p:attrName>style.visibility</p:attrName>
                                        </p:attrNameLst>
                                      </p:cBhvr>
                                      <p:to>
                                        <p:strVal val="visible"/>
                                      </p:to>
                                    </p:set>
                                  </p:childTnLst>
                                </p:cTn>
                              </p:par>
                            </p:childTnLst>
                          </p:cTn>
                        </p:par>
                        <p:par>
                          <p:cTn id="69" fill="hold" nodeType="afterGroup">
                            <p:stCondLst>
                              <p:cond delay="9500"/>
                            </p:stCondLst>
                            <p:childTnLst>
                              <p:par>
                                <p:cTn id="70" presetID="1" presetClass="entr" presetSubtype="0" fill="hold" grpId="0" nodeType="afterEffect">
                                  <p:stCondLst>
                                    <p:cond delay="0"/>
                                  </p:stCondLst>
                                  <p:childTnLst>
                                    <p:set>
                                      <p:cBhvr>
                                        <p:cTn id="71" dur="1" fill="hold">
                                          <p:stCondLst>
                                            <p:cond delay="499"/>
                                          </p:stCondLst>
                                        </p:cTn>
                                        <p:tgtEl>
                                          <p:spTgt spid="195602"/>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 presetClass="entr" presetSubtype="1" fill="hold" grpId="0" nodeType="clickEffect">
                                  <p:stCondLst>
                                    <p:cond delay="0"/>
                                  </p:stCondLst>
                                  <p:childTnLst>
                                    <p:set>
                                      <p:cBhvr>
                                        <p:cTn id="75" dur="1" fill="hold">
                                          <p:stCondLst>
                                            <p:cond delay="0"/>
                                          </p:stCondLst>
                                        </p:cTn>
                                        <p:tgtEl>
                                          <p:spTgt spid="195615"/>
                                        </p:tgtEl>
                                        <p:attrNameLst>
                                          <p:attrName>style.visibility</p:attrName>
                                        </p:attrNameLst>
                                      </p:cBhvr>
                                      <p:to>
                                        <p:strVal val="visible"/>
                                      </p:to>
                                    </p:set>
                                    <p:anim calcmode="lin" valueType="num">
                                      <p:cBhvr additive="base">
                                        <p:cTn id="76" dur="500" fill="hold"/>
                                        <p:tgtEl>
                                          <p:spTgt spid="195615"/>
                                        </p:tgtEl>
                                        <p:attrNameLst>
                                          <p:attrName>ppt_x</p:attrName>
                                        </p:attrNameLst>
                                      </p:cBhvr>
                                      <p:tavLst>
                                        <p:tav tm="0">
                                          <p:val>
                                            <p:strVal val="#ppt_x"/>
                                          </p:val>
                                        </p:tav>
                                        <p:tav tm="100000">
                                          <p:val>
                                            <p:strVal val="#ppt_x"/>
                                          </p:val>
                                        </p:tav>
                                      </p:tavLst>
                                    </p:anim>
                                    <p:anim calcmode="lin" valueType="num">
                                      <p:cBhvr additive="base">
                                        <p:cTn id="77" dur="500" fill="hold"/>
                                        <p:tgtEl>
                                          <p:spTgt spid="195615"/>
                                        </p:tgtEl>
                                        <p:attrNameLst>
                                          <p:attrName>ppt_y</p:attrName>
                                        </p:attrNameLst>
                                      </p:cBhvr>
                                      <p:tavLst>
                                        <p:tav tm="0">
                                          <p:val>
                                            <p:strVal val="0-#ppt_h/2"/>
                                          </p:val>
                                        </p:tav>
                                        <p:tav tm="100000">
                                          <p:val>
                                            <p:strVal val="#ppt_y"/>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195607"/>
                                        </p:tgtEl>
                                        <p:attrNameLst>
                                          <p:attrName>style.visibility</p:attrName>
                                        </p:attrNameLst>
                                      </p:cBhvr>
                                      <p:to>
                                        <p:strVal val="visible"/>
                                      </p:to>
                                    </p:set>
                                    <p:animEffect transition="in" filter="wipe(up)">
                                      <p:cBhvr>
                                        <p:cTn id="82" dur="500"/>
                                        <p:tgtEl>
                                          <p:spTgt spid="19560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195608"/>
                                        </p:tgtEl>
                                        <p:attrNameLst>
                                          <p:attrName>style.visibility</p:attrName>
                                        </p:attrNameLst>
                                      </p:cBhvr>
                                      <p:to>
                                        <p:strVal val="visible"/>
                                      </p:to>
                                    </p:set>
                                    <p:animEffect transition="in" filter="wipe(up)">
                                      <p:cBhvr>
                                        <p:cTn id="87" dur="500"/>
                                        <p:tgtEl>
                                          <p:spTgt spid="19560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95616"/>
                                        </p:tgtEl>
                                        <p:attrNameLst>
                                          <p:attrName>style.visibility</p:attrName>
                                        </p:attrNameLst>
                                      </p:cBhvr>
                                      <p:to>
                                        <p:strVal val="visible"/>
                                      </p:to>
                                    </p:set>
                                    <p:animEffect transition="in" filter="wipe(left)">
                                      <p:cBhvr>
                                        <p:cTn id="92" dur="500"/>
                                        <p:tgtEl>
                                          <p:spTgt spid="195616"/>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195609"/>
                                        </p:tgtEl>
                                        <p:attrNameLst>
                                          <p:attrName>style.visibility</p:attrName>
                                        </p:attrNameLst>
                                      </p:cBhvr>
                                      <p:to>
                                        <p:strVal val="visible"/>
                                      </p:to>
                                    </p:set>
                                    <p:animEffect transition="in" filter="wipe(up)">
                                      <p:cBhvr>
                                        <p:cTn id="97" dur="500"/>
                                        <p:tgtEl>
                                          <p:spTgt spid="195609"/>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1" fill="hold" grpId="0" nodeType="clickEffect">
                                  <p:stCondLst>
                                    <p:cond delay="0"/>
                                  </p:stCondLst>
                                  <p:childTnLst>
                                    <p:set>
                                      <p:cBhvr>
                                        <p:cTn id="101" dur="1" fill="hold">
                                          <p:stCondLst>
                                            <p:cond delay="0"/>
                                          </p:stCondLst>
                                        </p:cTn>
                                        <p:tgtEl>
                                          <p:spTgt spid="195611"/>
                                        </p:tgtEl>
                                        <p:attrNameLst>
                                          <p:attrName>style.visibility</p:attrName>
                                        </p:attrNameLst>
                                      </p:cBhvr>
                                      <p:to>
                                        <p:strVal val="visible"/>
                                      </p:to>
                                    </p:set>
                                    <p:animEffect transition="in" filter="wipe(up)">
                                      <p:cBhvr>
                                        <p:cTn id="102" dur="500"/>
                                        <p:tgtEl>
                                          <p:spTgt spid="195611"/>
                                        </p:tgtEl>
                                      </p:cBhvr>
                                    </p:animEffect>
                                  </p:childTnLst>
                                </p:cTn>
                              </p:par>
                            </p:childTnLst>
                          </p:cTn>
                        </p:par>
                        <p:par>
                          <p:cTn id="103" fill="hold" nodeType="afterGroup">
                            <p:stCondLst>
                              <p:cond delay="500"/>
                            </p:stCondLst>
                            <p:childTnLst>
                              <p:par>
                                <p:cTn id="104" presetID="1" presetClass="entr" presetSubtype="0" fill="hold" grpId="0" nodeType="afterEffect">
                                  <p:stCondLst>
                                    <p:cond delay="0"/>
                                  </p:stCondLst>
                                  <p:childTnLst>
                                    <p:set>
                                      <p:cBhvr>
                                        <p:cTn id="105" dur="1" fill="hold">
                                          <p:stCondLst>
                                            <p:cond delay="499"/>
                                          </p:stCondLst>
                                        </p:cTn>
                                        <p:tgtEl>
                                          <p:spTgt spid="195612"/>
                                        </p:tgtEl>
                                        <p:attrNameLst>
                                          <p:attrName>style.visibility</p:attrName>
                                        </p:attrNameLst>
                                      </p:cBhvr>
                                      <p:to>
                                        <p:strVal val="visible"/>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195613"/>
                                        </p:tgtEl>
                                        <p:attrNameLst>
                                          <p:attrName>style.visibility</p:attrName>
                                        </p:attrNameLst>
                                      </p:cBhvr>
                                      <p:to>
                                        <p:strVal val="visible"/>
                                      </p:to>
                                    </p:set>
                                    <p:animEffect transition="in" filter="wipe(left)">
                                      <p:cBhvr>
                                        <p:cTn id="110" dur="500"/>
                                        <p:tgtEl>
                                          <p:spTgt spid="195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6" grpId="0" animBg="1" autoUpdateAnimBg="0"/>
      <p:bldP spid="195587" grpId="0" animBg="1" autoUpdateAnimBg="0"/>
      <p:bldP spid="195588" grpId="0" animBg="1" autoUpdateAnimBg="0"/>
      <p:bldP spid="195589" grpId="0" animBg="1" autoUpdateAnimBg="0"/>
      <p:bldP spid="195590" grpId="0" animBg="1" autoUpdateAnimBg="0"/>
      <p:bldP spid="195591" grpId="0" animBg="1" autoUpdateAnimBg="0"/>
      <p:bldP spid="195592" grpId="0" animBg="1" autoUpdateAnimBg="0"/>
      <p:bldP spid="195593" grpId="0" animBg="1" autoUpdateAnimBg="0"/>
      <p:bldP spid="195594" grpId="0" animBg="1" autoUpdateAnimBg="0"/>
      <p:bldP spid="195595" grpId="0" animBg="1"/>
      <p:bldP spid="195596" grpId="0" animBg="1"/>
      <p:bldP spid="195597" grpId="0" animBg="1"/>
      <p:bldP spid="195598" grpId="0" animBg="1"/>
      <p:bldP spid="195599" grpId="0" animBg="1"/>
      <p:bldP spid="195600" grpId="0" animBg="1"/>
      <p:bldP spid="195601" grpId="0" animBg="1"/>
      <p:bldP spid="195602" grpId="0" animBg="1"/>
      <p:bldP spid="195603" grpId="0" animBg="1" autoUpdateAnimBg="0"/>
      <p:bldP spid="195604" grpId="0" animBg="1"/>
      <p:bldP spid="195605" grpId="0" autoUpdateAnimBg="0"/>
      <p:bldP spid="195607" grpId="0" animBg="1"/>
      <p:bldP spid="195608" grpId="0" animBg="1"/>
      <p:bldP spid="195609" grpId="0" animBg="1"/>
      <p:bldP spid="195611" grpId="0" animBg="1"/>
      <p:bldP spid="195612" grpId="0" animBg="1"/>
      <p:bldP spid="195613" grpId="0" autoUpdateAnimBg="0"/>
      <p:bldP spid="195614" grpId="0" animBg="1"/>
      <p:bldP spid="195615" grpId="0" autoUpdateAnimBg="0"/>
      <p:bldP spid="195616" grpId="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Oval 1026"/>
          <p:cNvSpPr>
            <a:spLocks noChangeArrowheads="1"/>
          </p:cNvSpPr>
          <p:nvPr/>
        </p:nvSpPr>
        <p:spPr bwMode="auto">
          <a:xfrm>
            <a:off x="3429000" y="14478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50</a:t>
            </a:r>
            <a:endParaRPr lang="en-US" altLang="zh-CN"/>
          </a:p>
        </p:txBody>
      </p:sp>
      <p:sp>
        <p:nvSpPr>
          <p:cNvPr id="196611" name="Oval 1027"/>
          <p:cNvSpPr>
            <a:spLocks noChangeArrowheads="1"/>
          </p:cNvSpPr>
          <p:nvPr/>
        </p:nvSpPr>
        <p:spPr bwMode="auto">
          <a:xfrm>
            <a:off x="1981200" y="19812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30</a:t>
            </a:r>
            <a:endParaRPr lang="en-US" altLang="zh-CN"/>
          </a:p>
        </p:txBody>
      </p:sp>
      <p:sp>
        <p:nvSpPr>
          <p:cNvPr id="196612" name="Oval 1028"/>
          <p:cNvSpPr>
            <a:spLocks noChangeArrowheads="1"/>
          </p:cNvSpPr>
          <p:nvPr/>
        </p:nvSpPr>
        <p:spPr bwMode="auto">
          <a:xfrm>
            <a:off x="4876800" y="19812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80</a:t>
            </a:r>
            <a:endParaRPr lang="en-US" altLang="zh-CN"/>
          </a:p>
        </p:txBody>
      </p:sp>
      <p:sp>
        <p:nvSpPr>
          <p:cNvPr id="196613" name="Oval 1029"/>
          <p:cNvSpPr>
            <a:spLocks noChangeArrowheads="1"/>
          </p:cNvSpPr>
          <p:nvPr/>
        </p:nvSpPr>
        <p:spPr bwMode="auto">
          <a:xfrm>
            <a:off x="838200" y="26670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20</a:t>
            </a:r>
            <a:endParaRPr lang="en-US" altLang="zh-CN"/>
          </a:p>
        </p:txBody>
      </p:sp>
      <p:sp>
        <p:nvSpPr>
          <p:cNvPr id="196614" name="Oval 1030"/>
          <p:cNvSpPr>
            <a:spLocks noChangeArrowheads="1"/>
          </p:cNvSpPr>
          <p:nvPr/>
        </p:nvSpPr>
        <p:spPr bwMode="auto">
          <a:xfrm>
            <a:off x="6019800" y="26670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90</a:t>
            </a:r>
            <a:endParaRPr lang="en-US" altLang="zh-CN"/>
          </a:p>
        </p:txBody>
      </p:sp>
      <p:sp>
        <p:nvSpPr>
          <p:cNvPr id="196615" name="Oval 1031"/>
          <p:cNvSpPr>
            <a:spLocks noChangeArrowheads="1"/>
          </p:cNvSpPr>
          <p:nvPr/>
        </p:nvSpPr>
        <p:spPr bwMode="auto">
          <a:xfrm>
            <a:off x="5181600" y="35052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85</a:t>
            </a:r>
            <a:endParaRPr lang="en-US" altLang="zh-CN"/>
          </a:p>
        </p:txBody>
      </p:sp>
      <p:sp>
        <p:nvSpPr>
          <p:cNvPr id="196616" name="Oval 1032"/>
          <p:cNvSpPr>
            <a:spLocks noChangeArrowheads="1"/>
          </p:cNvSpPr>
          <p:nvPr/>
        </p:nvSpPr>
        <p:spPr bwMode="auto">
          <a:xfrm>
            <a:off x="3124200" y="26670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40</a:t>
            </a:r>
            <a:endParaRPr lang="en-US" altLang="zh-CN"/>
          </a:p>
        </p:txBody>
      </p:sp>
      <p:sp>
        <p:nvSpPr>
          <p:cNvPr id="196617" name="Oval 1033"/>
          <p:cNvSpPr>
            <a:spLocks noChangeArrowheads="1"/>
          </p:cNvSpPr>
          <p:nvPr/>
        </p:nvSpPr>
        <p:spPr bwMode="auto">
          <a:xfrm>
            <a:off x="2209800" y="35052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35</a:t>
            </a:r>
            <a:endParaRPr lang="en-US" altLang="zh-CN"/>
          </a:p>
        </p:txBody>
      </p:sp>
      <p:sp>
        <p:nvSpPr>
          <p:cNvPr id="196618" name="Oval 1034"/>
          <p:cNvSpPr>
            <a:spLocks noChangeArrowheads="1"/>
          </p:cNvSpPr>
          <p:nvPr/>
        </p:nvSpPr>
        <p:spPr bwMode="auto">
          <a:xfrm>
            <a:off x="6477000" y="43434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88</a:t>
            </a:r>
            <a:endParaRPr lang="en-US" altLang="zh-CN"/>
          </a:p>
        </p:txBody>
      </p:sp>
      <p:sp>
        <p:nvSpPr>
          <p:cNvPr id="196619" name="Line 1035"/>
          <p:cNvSpPr>
            <a:spLocks noChangeShapeType="1"/>
          </p:cNvSpPr>
          <p:nvPr/>
        </p:nvSpPr>
        <p:spPr bwMode="auto">
          <a:xfrm flipH="1">
            <a:off x="2590800" y="1752600"/>
            <a:ext cx="8382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20" name="Line 1036"/>
          <p:cNvSpPr>
            <a:spLocks noChangeShapeType="1"/>
          </p:cNvSpPr>
          <p:nvPr/>
        </p:nvSpPr>
        <p:spPr bwMode="auto">
          <a:xfrm flipH="1">
            <a:off x="1447800" y="2362200"/>
            <a:ext cx="609600" cy="381000"/>
          </a:xfrm>
          <a:prstGeom prst="line">
            <a:avLst/>
          </a:prstGeom>
          <a:noFill/>
          <a:ln w="38100">
            <a:solidFill>
              <a:srgbClr val="66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21" name="Line 1037"/>
          <p:cNvSpPr>
            <a:spLocks noChangeShapeType="1"/>
          </p:cNvSpPr>
          <p:nvPr/>
        </p:nvSpPr>
        <p:spPr bwMode="auto">
          <a:xfrm>
            <a:off x="4114800" y="1752600"/>
            <a:ext cx="7620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22" name="Line 1038"/>
          <p:cNvSpPr>
            <a:spLocks noChangeShapeType="1"/>
          </p:cNvSpPr>
          <p:nvPr/>
        </p:nvSpPr>
        <p:spPr bwMode="auto">
          <a:xfrm>
            <a:off x="2590800" y="2362200"/>
            <a:ext cx="6096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23" name="Line 1039"/>
          <p:cNvSpPr>
            <a:spLocks noChangeShapeType="1"/>
          </p:cNvSpPr>
          <p:nvPr/>
        </p:nvSpPr>
        <p:spPr bwMode="auto">
          <a:xfrm flipH="1">
            <a:off x="2667000" y="3124200"/>
            <a:ext cx="5334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24" name="Line 1040"/>
          <p:cNvSpPr>
            <a:spLocks noChangeShapeType="1"/>
          </p:cNvSpPr>
          <p:nvPr/>
        </p:nvSpPr>
        <p:spPr bwMode="auto">
          <a:xfrm>
            <a:off x="5486400" y="2438400"/>
            <a:ext cx="609600" cy="3048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25" name="Line 1041"/>
          <p:cNvSpPr>
            <a:spLocks noChangeShapeType="1"/>
          </p:cNvSpPr>
          <p:nvPr/>
        </p:nvSpPr>
        <p:spPr bwMode="auto">
          <a:xfrm flipH="1">
            <a:off x="5638800" y="3200400"/>
            <a:ext cx="533400" cy="3810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26" name="Line 1042"/>
          <p:cNvSpPr>
            <a:spLocks noChangeShapeType="1"/>
          </p:cNvSpPr>
          <p:nvPr/>
        </p:nvSpPr>
        <p:spPr bwMode="auto">
          <a:xfrm>
            <a:off x="5791200" y="3962400"/>
            <a:ext cx="762000" cy="4572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27" name="Oval 1043"/>
          <p:cNvSpPr>
            <a:spLocks noChangeArrowheads="1"/>
          </p:cNvSpPr>
          <p:nvPr/>
        </p:nvSpPr>
        <p:spPr bwMode="auto">
          <a:xfrm>
            <a:off x="1219200" y="4343400"/>
            <a:ext cx="685800" cy="533400"/>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32</a:t>
            </a:r>
            <a:endParaRPr lang="en-US" altLang="zh-CN"/>
          </a:p>
        </p:txBody>
      </p:sp>
      <p:sp>
        <p:nvSpPr>
          <p:cNvPr id="196628" name="Line 1044"/>
          <p:cNvSpPr>
            <a:spLocks noChangeShapeType="1"/>
          </p:cNvSpPr>
          <p:nvPr/>
        </p:nvSpPr>
        <p:spPr bwMode="auto">
          <a:xfrm flipH="1">
            <a:off x="1676400" y="3886200"/>
            <a:ext cx="609600" cy="45720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29" name="Rectangle 1045"/>
          <p:cNvSpPr>
            <a:spLocks noChangeArrowheads="1"/>
          </p:cNvSpPr>
          <p:nvPr/>
        </p:nvSpPr>
        <p:spPr bwMode="auto">
          <a:xfrm>
            <a:off x="-76200" y="196850"/>
            <a:ext cx="91344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chemeClr val="accent2"/>
                </a:solidFill>
                <a:ea typeface="楷体_GB2312" charset="0"/>
              </a:rPr>
              <a:t>（</a:t>
            </a:r>
            <a:r>
              <a:rPr lang="en-US" altLang="zh-CN" sz="3600">
                <a:solidFill>
                  <a:schemeClr val="accent2"/>
                </a:solidFill>
                <a:ea typeface="楷体_GB2312" charset="0"/>
              </a:rPr>
              <a:t>3</a:t>
            </a:r>
            <a:r>
              <a:rPr lang="zh-CN" altLang="en-US" sz="3600">
                <a:solidFill>
                  <a:schemeClr val="accent2"/>
                </a:solidFill>
                <a:ea typeface="楷体_GB2312" charset="0"/>
              </a:rPr>
              <a:t>）被删除的结点</a:t>
            </a:r>
            <a:r>
              <a:rPr lang="zh-CN" altLang="en-US" sz="3600" b="1">
                <a:solidFill>
                  <a:srgbClr val="FF00FF"/>
                </a:solidFill>
                <a:ea typeface="楷体_GB2312" charset="0"/>
              </a:rPr>
              <a:t>既有左子树，也有右子树</a:t>
            </a:r>
            <a:endParaRPr lang="zh-CN" altLang="en-US">
              <a:ea typeface="楷体_GB2312" charset="0"/>
            </a:endParaRPr>
          </a:p>
        </p:txBody>
      </p:sp>
      <p:sp>
        <p:nvSpPr>
          <p:cNvPr id="196630" name="Oval 1046"/>
          <p:cNvSpPr>
            <a:spLocks noChangeArrowheads="1"/>
          </p:cNvSpPr>
          <p:nvPr/>
        </p:nvSpPr>
        <p:spPr bwMode="auto">
          <a:xfrm>
            <a:off x="3124200" y="2667000"/>
            <a:ext cx="685800" cy="533400"/>
          </a:xfrm>
          <a:prstGeom prst="ellipse">
            <a:avLst/>
          </a:prstGeom>
          <a:solidFill>
            <a:srgbClr val="FFFF99">
              <a:alpha val="50000"/>
            </a:srgbClr>
          </a:solidFill>
          <a:ln w="34925" cap="sq">
            <a:solidFill>
              <a:srgbClr val="8000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a:solidFill>
                  <a:srgbClr val="990033"/>
                </a:solidFill>
              </a:rPr>
              <a:t>40</a:t>
            </a:r>
            <a:endParaRPr lang="en-US" altLang="zh-CN"/>
          </a:p>
        </p:txBody>
      </p:sp>
      <p:sp>
        <p:nvSpPr>
          <p:cNvPr id="196631" name="Oval 1047"/>
          <p:cNvSpPr>
            <a:spLocks noChangeArrowheads="1"/>
          </p:cNvSpPr>
          <p:nvPr/>
        </p:nvSpPr>
        <p:spPr bwMode="auto">
          <a:xfrm>
            <a:off x="3429000" y="1447800"/>
            <a:ext cx="685800" cy="533400"/>
          </a:xfrm>
          <a:prstGeom prst="ellipse">
            <a:avLst/>
          </a:prstGeom>
          <a:solidFill>
            <a:srgbClr val="FFFF99"/>
          </a:solidFill>
          <a:ln w="34925" cap="sq">
            <a:solidFill>
              <a:srgbClr val="8000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rgbClr val="990033"/>
                </a:solidFill>
              </a:rPr>
              <a:t>40</a:t>
            </a:r>
            <a:endParaRPr lang="en-US" altLang="zh-CN"/>
          </a:p>
        </p:txBody>
      </p:sp>
      <p:sp>
        <p:nvSpPr>
          <p:cNvPr id="196632" name="Rectangle 1048"/>
          <p:cNvSpPr>
            <a:spLocks noChangeArrowheads="1"/>
          </p:cNvSpPr>
          <p:nvPr/>
        </p:nvSpPr>
        <p:spPr bwMode="auto">
          <a:xfrm>
            <a:off x="228600" y="5943600"/>
            <a:ext cx="4038600" cy="381000"/>
          </a:xfrm>
          <a:prstGeom prst="rect">
            <a:avLst/>
          </a:prstGeom>
          <a:solidFill>
            <a:schemeClr val="hlink"/>
          </a:solidFill>
          <a:ln w="9525">
            <a:solidFill>
              <a:srgbClr val="A5002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33" name="Oval 1049"/>
          <p:cNvSpPr>
            <a:spLocks noChangeArrowheads="1"/>
          </p:cNvSpPr>
          <p:nvPr/>
        </p:nvSpPr>
        <p:spPr bwMode="auto">
          <a:xfrm>
            <a:off x="2667000" y="5943600"/>
            <a:ext cx="381000" cy="381000"/>
          </a:xfrm>
          <a:prstGeom prst="ellipse">
            <a:avLst/>
          </a:prstGeom>
          <a:solidFill>
            <a:srgbClr val="FFEDCD"/>
          </a:solidFill>
          <a:ln w="9525">
            <a:solidFill>
              <a:srgbClr val="A5002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34" name="Oval 1050"/>
          <p:cNvSpPr>
            <a:spLocks noChangeArrowheads="1"/>
          </p:cNvSpPr>
          <p:nvPr/>
        </p:nvSpPr>
        <p:spPr bwMode="auto">
          <a:xfrm>
            <a:off x="2209800" y="5943600"/>
            <a:ext cx="381000" cy="381000"/>
          </a:xfrm>
          <a:prstGeom prst="ellipse">
            <a:avLst/>
          </a:prstGeom>
          <a:solidFill>
            <a:srgbClr val="FFFF00"/>
          </a:solidFill>
          <a:ln w="9525">
            <a:solidFill>
              <a:srgbClr val="A5002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35" name="Oval 1051"/>
          <p:cNvSpPr>
            <a:spLocks noChangeArrowheads="1"/>
          </p:cNvSpPr>
          <p:nvPr/>
        </p:nvSpPr>
        <p:spPr bwMode="auto">
          <a:xfrm>
            <a:off x="228600" y="5943600"/>
            <a:ext cx="381000" cy="381000"/>
          </a:xfrm>
          <a:prstGeom prst="ellipse">
            <a:avLst/>
          </a:prstGeom>
          <a:solidFill>
            <a:srgbClr val="FFEDCD"/>
          </a:solidFill>
          <a:ln w="9525">
            <a:solidFill>
              <a:srgbClr val="A5002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36" name="Oval 1052"/>
          <p:cNvSpPr>
            <a:spLocks noChangeArrowheads="1"/>
          </p:cNvSpPr>
          <p:nvPr/>
        </p:nvSpPr>
        <p:spPr bwMode="auto">
          <a:xfrm>
            <a:off x="3886200" y="5943600"/>
            <a:ext cx="381000" cy="381000"/>
          </a:xfrm>
          <a:prstGeom prst="ellipse">
            <a:avLst/>
          </a:prstGeom>
          <a:solidFill>
            <a:srgbClr val="FFEDCD"/>
          </a:solidFill>
          <a:ln w="9525">
            <a:solidFill>
              <a:srgbClr val="A5002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96637" name="Oval 1053"/>
          <p:cNvSpPr>
            <a:spLocks noChangeArrowheads="1"/>
          </p:cNvSpPr>
          <p:nvPr/>
        </p:nvSpPr>
        <p:spPr bwMode="auto">
          <a:xfrm>
            <a:off x="990600" y="6096000"/>
            <a:ext cx="76200" cy="76200"/>
          </a:xfrm>
          <a:prstGeom prst="ellipse">
            <a:avLst/>
          </a:prstGeom>
          <a:ln w="9525">
            <a:solidFill>
              <a:srgbClr val="A5002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96638" name="Oval 1054"/>
          <p:cNvSpPr>
            <a:spLocks noChangeArrowheads="1"/>
          </p:cNvSpPr>
          <p:nvPr/>
        </p:nvSpPr>
        <p:spPr bwMode="auto">
          <a:xfrm>
            <a:off x="1219200" y="6096000"/>
            <a:ext cx="76200" cy="76200"/>
          </a:xfrm>
          <a:prstGeom prst="ellipse">
            <a:avLst/>
          </a:prstGeom>
          <a:ln w="9525">
            <a:solidFill>
              <a:srgbClr val="A5002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96639" name="Oval 1055"/>
          <p:cNvSpPr>
            <a:spLocks noChangeArrowheads="1"/>
          </p:cNvSpPr>
          <p:nvPr/>
        </p:nvSpPr>
        <p:spPr bwMode="auto">
          <a:xfrm>
            <a:off x="1447800" y="6096000"/>
            <a:ext cx="76200" cy="76200"/>
          </a:xfrm>
          <a:prstGeom prst="ellipse">
            <a:avLst/>
          </a:prstGeom>
          <a:ln w="9525">
            <a:solidFill>
              <a:srgbClr val="A5002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96640" name="Oval 1056"/>
          <p:cNvSpPr>
            <a:spLocks noChangeArrowheads="1"/>
          </p:cNvSpPr>
          <p:nvPr/>
        </p:nvSpPr>
        <p:spPr bwMode="auto">
          <a:xfrm>
            <a:off x="3200400" y="6096000"/>
            <a:ext cx="76200" cy="76200"/>
          </a:xfrm>
          <a:prstGeom prst="ellipse">
            <a:avLst/>
          </a:prstGeom>
          <a:ln w="9525">
            <a:solidFill>
              <a:srgbClr val="A5002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96641" name="Oval 1057"/>
          <p:cNvSpPr>
            <a:spLocks noChangeArrowheads="1"/>
          </p:cNvSpPr>
          <p:nvPr/>
        </p:nvSpPr>
        <p:spPr bwMode="auto">
          <a:xfrm>
            <a:off x="3429000" y="6096000"/>
            <a:ext cx="76200" cy="76200"/>
          </a:xfrm>
          <a:prstGeom prst="ellipse">
            <a:avLst/>
          </a:prstGeom>
          <a:ln w="9525">
            <a:solidFill>
              <a:srgbClr val="A5002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96642" name="Oval 1058"/>
          <p:cNvSpPr>
            <a:spLocks noChangeArrowheads="1"/>
          </p:cNvSpPr>
          <p:nvPr/>
        </p:nvSpPr>
        <p:spPr bwMode="auto">
          <a:xfrm>
            <a:off x="3657600" y="6096000"/>
            <a:ext cx="76200" cy="76200"/>
          </a:xfrm>
          <a:prstGeom prst="ellipse">
            <a:avLst/>
          </a:prstGeom>
          <a:ln w="9525">
            <a:solidFill>
              <a:srgbClr val="A5002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44" name="Oval 1060"/>
          <p:cNvSpPr>
            <a:spLocks noChangeArrowheads="1"/>
          </p:cNvSpPr>
          <p:nvPr/>
        </p:nvSpPr>
        <p:spPr bwMode="auto">
          <a:xfrm>
            <a:off x="2667000" y="5943600"/>
            <a:ext cx="381000" cy="381000"/>
          </a:xfrm>
          <a:prstGeom prst="ellipse">
            <a:avLst/>
          </a:prstGeom>
          <a:solidFill>
            <a:srgbClr val="FFFF00"/>
          </a:solidFill>
          <a:ln w="9525">
            <a:solidFill>
              <a:srgbClr val="A5002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45" name="Oval 1061"/>
          <p:cNvSpPr>
            <a:spLocks noChangeArrowheads="1"/>
          </p:cNvSpPr>
          <p:nvPr/>
        </p:nvSpPr>
        <p:spPr bwMode="auto">
          <a:xfrm>
            <a:off x="2209800" y="5943600"/>
            <a:ext cx="381000" cy="381000"/>
          </a:xfrm>
          <a:prstGeom prst="ellipse">
            <a:avLst/>
          </a:prstGeom>
          <a:solidFill>
            <a:schemeClr val="hlink"/>
          </a:solidFill>
          <a:ln w="9525">
            <a:solidFill>
              <a:schemeClr val="hlink"/>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46" name="Text Box 1062"/>
          <p:cNvSpPr txBox="1">
            <a:spLocks noChangeArrowheads="1"/>
          </p:cNvSpPr>
          <p:nvPr/>
        </p:nvSpPr>
        <p:spPr bwMode="auto">
          <a:xfrm>
            <a:off x="4724400" y="5067300"/>
            <a:ext cx="4359275"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zh-CN" altLang="en-US" sz="3600" b="1">
                <a:solidFill>
                  <a:srgbClr val="A50021"/>
                </a:solidFill>
                <a:ea typeface="楷体_GB2312" charset="0"/>
              </a:rPr>
              <a:t>以其前驱替代之，然后再删除该前驱结点</a:t>
            </a:r>
          </a:p>
        </p:txBody>
      </p:sp>
      <p:sp>
        <p:nvSpPr>
          <p:cNvPr id="196647" name="AutoShape 1063"/>
          <p:cNvSpPr>
            <a:spLocks noChangeArrowheads="1"/>
          </p:cNvSpPr>
          <p:nvPr/>
        </p:nvSpPr>
        <p:spPr bwMode="auto">
          <a:xfrm>
            <a:off x="2514600" y="2362200"/>
            <a:ext cx="152400" cy="1143000"/>
          </a:xfrm>
          <a:prstGeom prst="downArrow">
            <a:avLst>
              <a:gd name="adj1" fmla="val 50000"/>
              <a:gd name="adj2" fmla="val 187500"/>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useBgFill="1">
        <p:nvSpPr>
          <p:cNvPr id="196648" name="Rectangle 1064"/>
          <p:cNvSpPr>
            <a:spLocks noChangeArrowheads="1"/>
          </p:cNvSpPr>
          <p:nvPr/>
        </p:nvSpPr>
        <p:spPr bwMode="auto">
          <a:xfrm>
            <a:off x="2667000" y="2362200"/>
            <a:ext cx="1295400" cy="1143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50" name="AutoShape 1066"/>
          <p:cNvSpPr>
            <a:spLocks noChangeArrowheads="1"/>
          </p:cNvSpPr>
          <p:nvPr/>
        </p:nvSpPr>
        <p:spPr bwMode="auto">
          <a:xfrm>
            <a:off x="2819400" y="5334000"/>
            <a:ext cx="76200" cy="609600"/>
          </a:xfrm>
          <a:prstGeom prst="downArrow">
            <a:avLst>
              <a:gd name="adj1" fmla="val 50000"/>
              <a:gd name="adj2" fmla="val 200000"/>
            </a:avLst>
          </a:prstGeom>
          <a:solidFill>
            <a:srgbClr val="A50021"/>
          </a:solidFill>
          <a:ln w="9525">
            <a:solidFill>
              <a:srgbClr val="A5002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6651" name="Text Box 1067"/>
          <p:cNvSpPr txBox="1">
            <a:spLocks noChangeArrowheads="1"/>
          </p:cNvSpPr>
          <p:nvPr/>
        </p:nvSpPr>
        <p:spPr bwMode="auto">
          <a:xfrm>
            <a:off x="2813050" y="5029200"/>
            <a:ext cx="1606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2800">
                <a:solidFill>
                  <a:srgbClr val="A50021"/>
                </a:solidFill>
                <a:ea typeface="楷体_GB2312" charset="0"/>
              </a:rPr>
              <a:t>被删结点</a:t>
            </a:r>
            <a:endParaRPr lang="zh-CN" altLang="en-US" sz="3200"/>
          </a:p>
        </p:txBody>
      </p:sp>
      <p:sp>
        <p:nvSpPr>
          <p:cNvPr id="196653" name="AutoShape 1069"/>
          <p:cNvSpPr>
            <a:spLocks noChangeArrowheads="1"/>
          </p:cNvSpPr>
          <p:nvPr/>
        </p:nvSpPr>
        <p:spPr bwMode="auto">
          <a:xfrm>
            <a:off x="2368550" y="5334000"/>
            <a:ext cx="76200" cy="609600"/>
          </a:xfrm>
          <a:prstGeom prst="downArrow">
            <a:avLst>
              <a:gd name="adj1" fmla="val 50000"/>
              <a:gd name="adj2" fmla="val 200000"/>
            </a:avLst>
          </a:prstGeom>
          <a:solidFill>
            <a:srgbClr val="006600"/>
          </a:solidFill>
          <a:ln w="9525">
            <a:solidFill>
              <a:srgbClr val="0066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196654" name="Text Box 1070"/>
          <p:cNvSpPr txBox="1">
            <a:spLocks noChangeArrowheads="1"/>
          </p:cNvSpPr>
          <p:nvPr/>
        </p:nvSpPr>
        <p:spPr bwMode="auto">
          <a:xfrm>
            <a:off x="831850" y="5029200"/>
            <a:ext cx="1606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2800">
                <a:solidFill>
                  <a:srgbClr val="006600"/>
                </a:solidFill>
                <a:ea typeface="楷体_GB2312" charset="0"/>
              </a:rPr>
              <a:t>前驱结点</a:t>
            </a:r>
            <a:endParaRPr lang="zh-CN" altLang="en-US" sz="3200"/>
          </a:p>
        </p:txBody>
      </p:sp>
      <p:sp>
        <p:nvSpPr>
          <p:cNvPr id="196655" name="Freeform 1071"/>
          <p:cNvSpPr>
            <a:spLocks/>
          </p:cNvSpPr>
          <p:nvPr/>
        </p:nvSpPr>
        <p:spPr bwMode="auto">
          <a:xfrm>
            <a:off x="3810000" y="685800"/>
            <a:ext cx="1066800" cy="762000"/>
          </a:xfrm>
          <a:custGeom>
            <a:avLst/>
            <a:gdLst>
              <a:gd name="T0" fmla="*/ 672 w 672"/>
              <a:gd name="T1" fmla="*/ 0 h 480"/>
              <a:gd name="T2" fmla="*/ 192 w 672"/>
              <a:gd name="T3" fmla="*/ 240 h 480"/>
              <a:gd name="T4" fmla="*/ 480 w 672"/>
              <a:gd name="T5" fmla="*/ 240 h 480"/>
              <a:gd name="T6" fmla="*/ 0 w 672"/>
              <a:gd name="T7" fmla="*/ 480 h 480"/>
            </a:gdLst>
            <a:ahLst/>
            <a:cxnLst>
              <a:cxn ang="0">
                <a:pos x="T0" y="T1"/>
              </a:cxn>
              <a:cxn ang="0">
                <a:pos x="T2" y="T3"/>
              </a:cxn>
              <a:cxn ang="0">
                <a:pos x="T4" y="T5"/>
              </a:cxn>
              <a:cxn ang="0">
                <a:pos x="T6" y="T7"/>
              </a:cxn>
            </a:cxnLst>
            <a:rect l="0" t="0" r="r" b="b"/>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a:solidFill>
              <a:srgbClr val="A50021"/>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56" name="Text Box 1072"/>
          <p:cNvSpPr txBox="1">
            <a:spLocks noChangeArrowheads="1"/>
          </p:cNvSpPr>
          <p:nvPr/>
        </p:nvSpPr>
        <p:spPr bwMode="auto">
          <a:xfrm>
            <a:off x="5486400" y="958850"/>
            <a:ext cx="3416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3333FF"/>
                </a:solidFill>
                <a:ea typeface="楷体_GB2312" charset="0"/>
              </a:rPr>
              <a:t>被删关键字 </a:t>
            </a:r>
            <a:r>
              <a:rPr lang="en-US" altLang="zh-CN" sz="3600" b="1">
                <a:solidFill>
                  <a:srgbClr val="3333FF"/>
                </a:solidFill>
                <a:ea typeface="楷体_GB2312" charset="0"/>
              </a:rPr>
              <a:t>= 50</a:t>
            </a:r>
            <a:endParaRPr lang="en-US" altLang="zh-CN" sz="3600">
              <a:ea typeface="楷体_GB2312" charset="0"/>
            </a:endParaRPr>
          </a:p>
        </p:txBody>
      </p:sp>
    </p:spTree>
    <p:extLst>
      <p:ext uri="{BB962C8B-B14F-4D97-AF65-F5344CB8AC3E}">
        <p14:creationId xmlns:p14="http://schemas.microsoft.com/office/powerpoint/2010/main" val="20659441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96629"/>
                                        </p:tgtEl>
                                        <p:attrNameLst>
                                          <p:attrName>style.visibility</p:attrName>
                                        </p:attrNameLst>
                                      </p:cBhvr>
                                      <p:to>
                                        <p:strVal val="visible"/>
                                      </p:to>
                                    </p:set>
                                    <p:anim calcmode="lin" valueType="num">
                                      <p:cBhvr additive="base">
                                        <p:cTn id="7" dur="500" fill="hold"/>
                                        <p:tgtEl>
                                          <p:spTgt spid="196629"/>
                                        </p:tgtEl>
                                        <p:attrNameLst>
                                          <p:attrName>ppt_x</p:attrName>
                                        </p:attrNameLst>
                                      </p:cBhvr>
                                      <p:tavLst>
                                        <p:tav tm="0">
                                          <p:val>
                                            <p:strVal val="0-#ppt_w/2"/>
                                          </p:val>
                                        </p:tav>
                                        <p:tav tm="100000">
                                          <p:val>
                                            <p:strVal val="#ppt_x"/>
                                          </p:val>
                                        </p:tav>
                                      </p:tavLst>
                                    </p:anim>
                                    <p:anim calcmode="lin" valueType="num">
                                      <p:cBhvr additive="base">
                                        <p:cTn id="8" dur="500" fill="hold"/>
                                        <p:tgtEl>
                                          <p:spTgt spid="19662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96655"/>
                                        </p:tgtEl>
                                        <p:attrNameLst>
                                          <p:attrName>style.visibility</p:attrName>
                                        </p:attrNameLst>
                                      </p:cBhvr>
                                      <p:to>
                                        <p:strVal val="visible"/>
                                      </p:to>
                                    </p:set>
                                    <p:animEffect transition="in" filter="wipe(up)">
                                      <p:cBhvr>
                                        <p:cTn id="13" dur="500"/>
                                        <p:tgtEl>
                                          <p:spTgt spid="196655"/>
                                        </p:tgtEl>
                                      </p:cBhvr>
                                    </p:animEffect>
                                  </p:childTnLst>
                                </p:cTn>
                              </p:par>
                            </p:childTnLst>
                          </p:cTn>
                        </p:par>
                        <p:par>
                          <p:cTn id="14" fill="hold" nodeType="afterGroup">
                            <p:stCondLst>
                              <p:cond delay="500"/>
                            </p:stCondLst>
                            <p:childTnLst>
                              <p:par>
                                <p:cTn id="15" presetID="17" presetClass="entr" presetSubtype="1" fill="hold" grpId="0" nodeType="afterEffect">
                                  <p:stCondLst>
                                    <p:cond delay="0"/>
                                  </p:stCondLst>
                                  <p:childTnLst>
                                    <p:set>
                                      <p:cBhvr>
                                        <p:cTn id="16" dur="1" fill="hold">
                                          <p:stCondLst>
                                            <p:cond delay="0"/>
                                          </p:stCondLst>
                                        </p:cTn>
                                        <p:tgtEl>
                                          <p:spTgt spid="196610"/>
                                        </p:tgtEl>
                                        <p:attrNameLst>
                                          <p:attrName>style.visibility</p:attrName>
                                        </p:attrNameLst>
                                      </p:cBhvr>
                                      <p:to>
                                        <p:strVal val="visible"/>
                                      </p:to>
                                    </p:set>
                                    <p:anim calcmode="lin" valueType="num">
                                      <p:cBhvr>
                                        <p:cTn id="17" dur="500" fill="hold"/>
                                        <p:tgtEl>
                                          <p:spTgt spid="196610"/>
                                        </p:tgtEl>
                                        <p:attrNameLst>
                                          <p:attrName>ppt_x</p:attrName>
                                        </p:attrNameLst>
                                      </p:cBhvr>
                                      <p:tavLst>
                                        <p:tav tm="0">
                                          <p:val>
                                            <p:strVal val="#ppt_x"/>
                                          </p:val>
                                        </p:tav>
                                        <p:tav tm="100000">
                                          <p:val>
                                            <p:strVal val="#ppt_x"/>
                                          </p:val>
                                        </p:tav>
                                      </p:tavLst>
                                    </p:anim>
                                    <p:anim calcmode="lin" valueType="num">
                                      <p:cBhvr>
                                        <p:cTn id="18" dur="500" fill="hold"/>
                                        <p:tgtEl>
                                          <p:spTgt spid="196610"/>
                                        </p:tgtEl>
                                        <p:attrNameLst>
                                          <p:attrName>ppt_y</p:attrName>
                                        </p:attrNameLst>
                                      </p:cBhvr>
                                      <p:tavLst>
                                        <p:tav tm="0">
                                          <p:val>
                                            <p:strVal val="#ppt_y-#ppt_h/2"/>
                                          </p:val>
                                        </p:tav>
                                        <p:tav tm="100000">
                                          <p:val>
                                            <p:strVal val="#ppt_y"/>
                                          </p:val>
                                        </p:tav>
                                      </p:tavLst>
                                    </p:anim>
                                    <p:anim calcmode="lin" valueType="num">
                                      <p:cBhvr>
                                        <p:cTn id="19" dur="500" fill="hold"/>
                                        <p:tgtEl>
                                          <p:spTgt spid="196610"/>
                                        </p:tgtEl>
                                        <p:attrNameLst>
                                          <p:attrName>ppt_w</p:attrName>
                                        </p:attrNameLst>
                                      </p:cBhvr>
                                      <p:tavLst>
                                        <p:tav tm="0">
                                          <p:val>
                                            <p:strVal val="#ppt_w"/>
                                          </p:val>
                                        </p:tav>
                                        <p:tav tm="100000">
                                          <p:val>
                                            <p:strVal val="#ppt_w"/>
                                          </p:val>
                                        </p:tav>
                                      </p:tavLst>
                                    </p:anim>
                                    <p:anim calcmode="lin" valueType="num">
                                      <p:cBhvr>
                                        <p:cTn id="20" dur="500" fill="hold"/>
                                        <p:tgtEl>
                                          <p:spTgt spid="196610"/>
                                        </p:tgtEl>
                                        <p:attrNameLst>
                                          <p:attrName>ppt_h</p:attrName>
                                        </p:attrNameLst>
                                      </p:cBhvr>
                                      <p:tavLst>
                                        <p:tav tm="0">
                                          <p:val>
                                            <p:fltVal val="0"/>
                                          </p:val>
                                        </p:tav>
                                        <p:tav tm="100000">
                                          <p:val>
                                            <p:strVal val="#ppt_h"/>
                                          </p:val>
                                        </p:tav>
                                      </p:tavLst>
                                    </p:anim>
                                  </p:childTnLst>
                                </p:cTn>
                              </p:par>
                            </p:childTnLst>
                          </p:cTn>
                        </p:par>
                        <p:par>
                          <p:cTn id="21" fill="hold" nodeType="afterGroup">
                            <p:stCondLst>
                              <p:cond delay="1000"/>
                            </p:stCondLst>
                            <p:childTnLst>
                              <p:par>
                                <p:cTn id="22" presetID="1" presetClass="entr" presetSubtype="0" fill="hold" grpId="0" nodeType="afterEffect">
                                  <p:stCondLst>
                                    <p:cond delay="0"/>
                                  </p:stCondLst>
                                  <p:childTnLst>
                                    <p:set>
                                      <p:cBhvr>
                                        <p:cTn id="23" dur="1" fill="hold">
                                          <p:stCondLst>
                                            <p:cond delay="499"/>
                                          </p:stCondLst>
                                        </p:cTn>
                                        <p:tgtEl>
                                          <p:spTgt spid="196611"/>
                                        </p:tgtEl>
                                        <p:attrNameLst>
                                          <p:attrName>style.visibility</p:attrName>
                                        </p:attrNameLst>
                                      </p:cBhvr>
                                      <p:to>
                                        <p:strVal val="visible"/>
                                      </p:to>
                                    </p:set>
                                  </p:childTnLst>
                                </p:cTn>
                              </p:par>
                            </p:childTnLst>
                          </p:cTn>
                        </p:par>
                        <p:par>
                          <p:cTn id="24" fill="hold" nodeType="afterGroup">
                            <p:stCondLst>
                              <p:cond delay="1500"/>
                            </p:stCondLst>
                            <p:childTnLst>
                              <p:par>
                                <p:cTn id="25" presetID="1" presetClass="entr" presetSubtype="0" fill="hold" grpId="0" nodeType="afterEffect">
                                  <p:stCondLst>
                                    <p:cond delay="0"/>
                                  </p:stCondLst>
                                  <p:childTnLst>
                                    <p:set>
                                      <p:cBhvr>
                                        <p:cTn id="26" dur="1" fill="hold">
                                          <p:stCondLst>
                                            <p:cond delay="499"/>
                                          </p:stCondLst>
                                        </p:cTn>
                                        <p:tgtEl>
                                          <p:spTgt spid="196612"/>
                                        </p:tgtEl>
                                        <p:attrNameLst>
                                          <p:attrName>style.visibility</p:attrName>
                                        </p:attrNameLst>
                                      </p:cBhvr>
                                      <p:to>
                                        <p:strVal val="visible"/>
                                      </p:to>
                                    </p:set>
                                  </p:childTnLst>
                                </p:cTn>
                              </p:par>
                            </p:childTnLst>
                          </p:cTn>
                        </p:par>
                        <p:par>
                          <p:cTn id="27" fill="hold" nodeType="afterGroup">
                            <p:stCondLst>
                              <p:cond delay="2000"/>
                            </p:stCondLst>
                            <p:childTnLst>
                              <p:par>
                                <p:cTn id="28" presetID="1" presetClass="entr" presetSubtype="0" fill="hold" grpId="0" nodeType="afterEffect">
                                  <p:stCondLst>
                                    <p:cond delay="0"/>
                                  </p:stCondLst>
                                  <p:childTnLst>
                                    <p:set>
                                      <p:cBhvr>
                                        <p:cTn id="29" dur="1" fill="hold">
                                          <p:stCondLst>
                                            <p:cond delay="499"/>
                                          </p:stCondLst>
                                        </p:cTn>
                                        <p:tgtEl>
                                          <p:spTgt spid="196613"/>
                                        </p:tgtEl>
                                        <p:attrNameLst>
                                          <p:attrName>style.visibility</p:attrName>
                                        </p:attrNameLst>
                                      </p:cBhvr>
                                      <p:to>
                                        <p:strVal val="visible"/>
                                      </p:to>
                                    </p:set>
                                  </p:childTnLst>
                                </p:cTn>
                              </p:par>
                            </p:childTnLst>
                          </p:cTn>
                        </p:par>
                        <p:par>
                          <p:cTn id="30" fill="hold" nodeType="afterGroup">
                            <p:stCondLst>
                              <p:cond delay="2500"/>
                            </p:stCondLst>
                            <p:childTnLst>
                              <p:par>
                                <p:cTn id="31" presetID="1" presetClass="entr" presetSubtype="0" fill="hold" grpId="0" nodeType="afterEffect">
                                  <p:stCondLst>
                                    <p:cond delay="0"/>
                                  </p:stCondLst>
                                  <p:childTnLst>
                                    <p:set>
                                      <p:cBhvr>
                                        <p:cTn id="32" dur="1" fill="hold">
                                          <p:stCondLst>
                                            <p:cond delay="499"/>
                                          </p:stCondLst>
                                        </p:cTn>
                                        <p:tgtEl>
                                          <p:spTgt spid="196614"/>
                                        </p:tgtEl>
                                        <p:attrNameLst>
                                          <p:attrName>style.visibility</p:attrName>
                                        </p:attrNameLst>
                                      </p:cBhvr>
                                      <p:to>
                                        <p:strVal val="visible"/>
                                      </p:to>
                                    </p:set>
                                  </p:childTnLst>
                                </p:cTn>
                              </p:par>
                            </p:childTnLst>
                          </p:cTn>
                        </p:par>
                        <p:par>
                          <p:cTn id="33" fill="hold" nodeType="afterGroup">
                            <p:stCondLst>
                              <p:cond delay="3000"/>
                            </p:stCondLst>
                            <p:childTnLst>
                              <p:par>
                                <p:cTn id="34" presetID="1" presetClass="entr" presetSubtype="0" fill="hold" grpId="0" nodeType="afterEffect">
                                  <p:stCondLst>
                                    <p:cond delay="0"/>
                                  </p:stCondLst>
                                  <p:childTnLst>
                                    <p:set>
                                      <p:cBhvr>
                                        <p:cTn id="35" dur="1" fill="hold">
                                          <p:stCondLst>
                                            <p:cond delay="499"/>
                                          </p:stCondLst>
                                        </p:cTn>
                                        <p:tgtEl>
                                          <p:spTgt spid="196615"/>
                                        </p:tgtEl>
                                        <p:attrNameLst>
                                          <p:attrName>style.visibility</p:attrName>
                                        </p:attrNameLst>
                                      </p:cBhvr>
                                      <p:to>
                                        <p:strVal val="visible"/>
                                      </p:to>
                                    </p:set>
                                  </p:childTnLst>
                                </p:cTn>
                              </p:par>
                            </p:childTnLst>
                          </p:cTn>
                        </p:par>
                        <p:par>
                          <p:cTn id="36" fill="hold" nodeType="afterGroup">
                            <p:stCondLst>
                              <p:cond delay="3500"/>
                            </p:stCondLst>
                            <p:childTnLst>
                              <p:par>
                                <p:cTn id="37" presetID="1" presetClass="entr" presetSubtype="0" fill="hold" grpId="0" nodeType="afterEffect">
                                  <p:stCondLst>
                                    <p:cond delay="0"/>
                                  </p:stCondLst>
                                  <p:childTnLst>
                                    <p:set>
                                      <p:cBhvr>
                                        <p:cTn id="38" dur="1" fill="hold">
                                          <p:stCondLst>
                                            <p:cond delay="499"/>
                                          </p:stCondLst>
                                        </p:cTn>
                                        <p:tgtEl>
                                          <p:spTgt spid="196616"/>
                                        </p:tgtEl>
                                        <p:attrNameLst>
                                          <p:attrName>style.visibility</p:attrName>
                                        </p:attrNameLst>
                                      </p:cBhvr>
                                      <p:to>
                                        <p:strVal val="visible"/>
                                      </p:to>
                                    </p:set>
                                  </p:childTnLst>
                                </p:cTn>
                              </p:par>
                            </p:childTnLst>
                          </p:cTn>
                        </p:par>
                        <p:par>
                          <p:cTn id="39" fill="hold" nodeType="afterGroup">
                            <p:stCondLst>
                              <p:cond delay="4000"/>
                            </p:stCondLst>
                            <p:childTnLst>
                              <p:par>
                                <p:cTn id="40" presetID="1" presetClass="entr" presetSubtype="0" fill="hold" grpId="0" nodeType="afterEffect">
                                  <p:stCondLst>
                                    <p:cond delay="0"/>
                                  </p:stCondLst>
                                  <p:childTnLst>
                                    <p:set>
                                      <p:cBhvr>
                                        <p:cTn id="41" dur="1" fill="hold">
                                          <p:stCondLst>
                                            <p:cond delay="499"/>
                                          </p:stCondLst>
                                        </p:cTn>
                                        <p:tgtEl>
                                          <p:spTgt spid="196617"/>
                                        </p:tgtEl>
                                        <p:attrNameLst>
                                          <p:attrName>style.visibility</p:attrName>
                                        </p:attrNameLst>
                                      </p:cBhvr>
                                      <p:to>
                                        <p:strVal val="visible"/>
                                      </p:to>
                                    </p:set>
                                  </p:childTnLst>
                                </p:cTn>
                              </p:par>
                            </p:childTnLst>
                          </p:cTn>
                        </p:par>
                        <p:par>
                          <p:cTn id="42" fill="hold" nodeType="afterGroup">
                            <p:stCondLst>
                              <p:cond delay="4500"/>
                            </p:stCondLst>
                            <p:childTnLst>
                              <p:par>
                                <p:cTn id="43" presetID="1" presetClass="entr" presetSubtype="0" fill="hold" grpId="0" nodeType="afterEffect">
                                  <p:stCondLst>
                                    <p:cond delay="0"/>
                                  </p:stCondLst>
                                  <p:childTnLst>
                                    <p:set>
                                      <p:cBhvr>
                                        <p:cTn id="44" dur="1" fill="hold">
                                          <p:stCondLst>
                                            <p:cond delay="499"/>
                                          </p:stCondLst>
                                        </p:cTn>
                                        <p:tgtEl>
                                          <p:spTgt spid="196627"/>
                                        </p:tgtEl>
                                        <p:attrNameLst>
                                          <p:attrName>style.visibility</p:attrName>
                                        </p:attrNameLst>
                                      </p:cBhvr>
                                      <p:to>
                                        <p:strVal val="visible"/>
                                      </p:to>
                                    </p:set>
                                  </p:childTnLst>
                                </p:cTn>
                              </p:par>
                            </p:childTnLst>
                          </p:cTn>
                        </p:par>
                        <p:par>
                          <p:cTn id="45" fill="hold" nodeType="afterGroup">
                            <p:stCondLst>
                              <p:cond delay="5000"/>
                            </p:stCondLst>
                            <p:childTnLst>
                              <p:par>
                                <p:cTn id="46" presetID="1" presetClass="entr" presetSubtype="0" fill="hold" grpId="0" nodeType="afterEffect">
                                  <p:stCondLst>
                                    <p:cond delay="0"/>
                                  </p:stCondLst>
                                  <p:childTnLst>
                                    <p:set>
                                      <p:cBhvr>
                                        <p:cTn id="47" dur="1" fill="hold">
                                          <p:stCondLst>
                                            <p:cond delay="499"/>
                                          </p:stCondLst>
                                        </p:cTn>
                                        <p:tgtEl>
                                          <p:spTgt spid="196618"/>
                                        </p:tgtEl>
                                        <p:attrNameLst>
                                          <p:attrName>style.visibility</p:attrName>
                                        </p:attrNameLst>
                                      </p:cBhvr>
                                      <p:to>
                                        <p:strVal val="visible"/>
                                      </p:to>
                                    </p:set>
                                  </p:childTnLst>
                                </p:cTn>
                              </p:par>
                            </p:childTnLst>
                          </p:cTn>
                        </p:par>
                        <p:par>
                          <p:cTn id="48" fill="hold" nodeType="afterGroup">
                            <p:stCondLst>
                              <p:cond delay="5500"/>
                            </p:stCondLst>
                            <p:childTnLst>
                              <p:par>
                                <p:cTn id="49" presetID="1" presetClass="entr" presetSubtype="0" fill="hold" grpId="0" nodeType="afterEffect">
                                  <p:stCondLst>
                                    <p:cond delay="0"/>
                                  </p:stCondLst>
                                  <p:childTnLst>
                                    <p:set>
                                      <p:cBhvr>
                                        <p:cTn id="50" dur="1" fill="hold">
                                          <p:stCondLst>
                                            <p:cond delay="499"/>
                                          </p:stCondLst>
                                        </p:cTn>
                                        <p:tgtEl>
                                          <p:spTgt spid="196619"/>
                                        </p:tgtEl>
                                        <p:attrNameLst>
                                          <p:attrName>style.visibility</p:attrName>
                                        </p:attrNameLst>
                                      </p:cBhvr>
                                      <p:to>
                                        <p:strVal val="visible"/>
                                      </p:to>
                                    </p:set>
                                  </p:childTnLst>
                                </p:cTn>
                              </p:par>
                            </p:childTnLst>
                          </p:cTn>
                        </p:par>
                        <p:par>
                          <p:cTn id="51" fill="hold" nodeType="afterGroup">
                            <p:stCondLst>
                              <p:cond delay="6000"/>
                            </p:stCondLst>
                            <p:childTnLst>
                              <p:par>
                                <p:cTn id="52" presetID="1" presetClass="entr" presetSubtype="0" fill="hold" grpId="0" nodeType="afterEffect">
                                  <p:stCondLst>
                                    <p:cond delay="0"/>
                                  </p:stCondLst>
                                  <p:childTnLst>
                                    <p:set>
                                      <p:cBhvr>
                                        <p:cTn id="53" dur="1" fill="hold">
                                          <p:stCondLst>
                                            <p:cond delay="499"/>
                                          </p:stCondLst>
                                        </p:cTn>
                                        <p:tgtEl>
                                          <p:spTgt spid="196620"/>
                                        </p:tgtEl>
                                        <p:attrNameLst>
                                          <p:attrName>style.visibility</p:attrName>
                                        </p:attrNameLst>
                                      </p:cBhvr>
                                      <p:to>
                                        <p:strVal val="visible"/>
                                      </p:to>
                                    </p:set>
                                  </p:childTnLst>
                                </p:cTn>
                              </p:par>
                            </p:childTnLst>
                          </p:cTn>
                        </p:par>
                        <p:par>
                          <p:cTn id="54" fill="hold" nodeType="afterGroup">
                            <p:stCondLst>
                              <p:cond delay="6500"/>
                            </p:stCondLst>
                            <p:childTnLst>
                              <p:par>
                                <p:cTn id="55" presetID="1" presetClass="entr" presetSubtype="0" fill="hold" grpId="0" nodeType="afterEffect">
                                  <p:stCondLst>
                                    <p:cond delay="0"/>
                                  </p:stCondLst>
                                  <p:childTnLst>
                                    <p:set>
                                      <p:cBhvr>
                                        <p:cTn id="56" dur="1" fill="hold">
                                          <p:stCondLst>
                                            <p:cond delay="499"/>
                                          </p:stCondLst>
                                        </p:cTn>
                                        <p:tgtEl>
                                          <p:spTgt spid="196621"/>
                                        </p:tgtEl>
                                        <p:attrNameLst>
                                          <p:attrName>style.visibility</p:attrName>
                                        </p:attrNameLst>
                                      </p:cBhvr>
                                      <p:to>
                                        <p:strVal val="visible"/>
                                      </p:to>
                                    </p:set>
                                  </p:childTnLst>
                                </p:cTn>
                              </p:par>
                            </p:childTnLst>
                          </p:cTn>
                        </p:par>
                        <p:par>
                          <p:cTn id="57" fill="hold" nodeType="afterGroup">
                            <p:stCondLst>
                              <p:cond delay="7000"/>
                            </p:stCondLst>
                            <p:childTnLst>
                              <p:par>
                                <p:cTn id="58" presetID="1" presetClass="entr" presetSubtype="0" fill="hold" grpId="0" nodeType="afterEffect">
                                  <p:stCondLst>
                                    <p:cond delay="0"/>
                                  </p:stCondLst>
                                  <p:childTnLst>
                                    <p:set>
                                      <p:cBhvr>
                                        <p:cTn id="59" dur="1" fill="hold">
                                          <p:stCondLst>
                                            <p:cond delay="499"/>
                                          </p:stCondLst>
                                        </p:cTn>
                                        <p:tgtEl>
                                          <p:spTgt spid="196622"/>
                                        </p:tgtEl>
                                        <p:attrNameLst>
                                          <p:attrName>style.visibility</p:attrName>
                                        </p:attrNameLst>
                                      </p:cBhvr>
                                      <p:to>
                                        <p:strVal val="visible"/>
                                      </p:to>
                                    </p:set>
                                  </p:childTnLst>
                                </p:cTn>
                              </p:par>
                            </p:childTnLst>
                          </p:cTn>
                        </p:par>
                        <p:par>
                          <p:cTn id="60" fill="hold" nodeType="afterGroup">
                            <p:stCondLst>
                              <p:cond delay="7500"/>
                            </p:stCondLst>
                            <p:childTnLst>
                              <p:par>
                                <p:cTn id="61" presetID="1" presetClass="entr" presetSubtype="0" fill="hold" grpId="0" nodeType="afterEffect">
                                  <p:stCondLst>
                                    <p:cond delay="0"/>
                                  </p:stCondLst>
                                  <p:childTnLst>
                                    <p:set>
                                      <p:cBhvr>
                                        <p:cTn id="62" dur="1" fill="hold">
                                          <p:stCondLst>
                                            <p:cond delay="499"/>
                                          </p:stCondLst>
                                        </p:cTn>
                                        <p:tgtEl>
                                          <p:spTgt spid="196623"/>
                                        </p:tgtEl>
                                        <p:attrNameLst>
                                          <p:attrName>style.visibility</p:attrName>
                                        </p:attrNameLst>
                                      </p:cBhvr>
                                      <p:to>
                                        <p:strVal val="visible"/>
                                      </p:to>
                                    </p:set>
                                  </p:childTnLst>
                                </p:cTn>
                              </p:par>
                            </p:childTnLst>
                          </p:cTn>
                        </p:par>
                        <p:par>
                          <p:cTn id="63" fill="hold" nodeType="afterGroup">
                            <p:stCondLst>
                              <p:cond delay="8000"/>
                            </p:stCondLst>
                            <p:childTnLst>
                              <p:par>
                                <p:cTn id="64" presetID="1" presetClass="entr" presetSubtype="0" fill="hold" grpId="0" nodeType="afterEffect">
                                  <p:stCondLst>
                                    <p:cond delay="0"/>
                                  </p:stCondLst>
                                  <p:childTnLst>
                                    <p:set>
                                      <p:cBhvr>
                                        <p:cTn id="65" dur="1" fill="hold">
                                          <p:stCondLst>
                                            <p:cond delay="499"/>
                                          </p:stCondLst>
                                        </p:cTn>
                                        <p:tgtEl>
                                          <p:spTgt spid="196628"/>
                                        </p:tgtEl>
                                        <p:attrNameLst>
                                          <p:attrName>style.visibility</p:attrName>
                                        </p:attrNameLst>
                                      </p:cBhvr>
                                      <p:to>
                                        <p:strVal val="visible"/>
                                      </p:to>
                                    </p:set>
                                  </p:childTnLst>
                                </p:cTn>
                              </p:par>
                            </p:childTnLst>
                          </p:cTn>
                        </p:par>
                        <p:par>
                          <p:cTn id="66" fill="hold" nodeType="afterGroup">
                            <p:stCondLst>
                              <p:cond delay="8500"/>
                            </p:stCondLst>
                            <p:childTnLst>
                              <p:par>
                                <p:cTn id="67" presetID="1" presetClass="entr" presetSubtype="0" fill="hold" grpId="0" nodeType="afterEffect">
                                  <p:stCondLst>
                                    <p:cond delay="0"/>
                                  </p:stCondLst>
                                  <p:childTnLst>
                                    <p:set>
                                      <p:cBhvr>
                                        <p:cTn id="68" dur="1" fill="hold">
                                          <p:stCondLst>
                                            <p:cond delay="499"/>
                                          </p:stCondLst>
                                        </p:cTn>
                                        <p:tgtEl>
                                          <p:spTgt spid="196624"/>
                                        </p:tgtEl>
                                        <p:attrNameLst>
                                          <p:attrName>style.visibility</p:attrName>
                                        </p:attrNameLst>
                                      </p:cBhvr>
                                      <p:to>
                                        <p:strVal val="visible"/>
                                      </p:to>
                                    </p:set>
                                  </p:childTnLst>
                                </p:cTn>
                              </p:par>
                            </p:childTnLst>
                          </p:cTn>
                        </p:par>
                        <p:par>
                          <p:cTn id="69" fill="hold" nodeType="afterGroup">
                            <p:stCondLst>
                              <p:cond delay="9000"/>
                            </p:stCondLst>
                            <p:childTnLst>
                              <p:par>
                                <p:cTn id="70" presetID="1" presetClass="entr" presetSubtype="0" fill="hold" grpId="0" nodeType="afterEffect">
                                  <p:stCondLst>
                                    <p:cond delay="0"/>
                                  </p:stCondLst>
                                  <p:childTnLst>
                                    <p:set>
                                      <p:cBhvr>
                                        <p:cTn id="71" dur="1" fill="hold">
                                          <p:stCondLst>
                                            <p:cond delay="499"/>
                                          </p:stCondLst>
                                        </p:cTn>
                                        <p:tgtEl>
                                          <p:spTgt spid="196625"/>
                                        </p:tgtEl>
                                        <p:attrNameLst>
                                          <p:attrName>style.visibility</p:attrName>
                                        </p:attrNameLst>
                                      </p:cBhvr>
                                      <p:to>
                                        <p:strVal val="visible"/>
                                      </p:to>
                                    </p:set>
                                  </p:childTnLst>
                                </p:cTn>
                              </p:par>
                            </p:childTnLst>
                          </p:cTn>
                        </p:par>
                        <p:par>
                          <p:cTn id="72" fill="hold" nodeType="afterGroup">
                            <p:stCondLst>
                              <p:cond delay="9500"/>
                            </p:stCondLst>
                            <p:childTnLst>
                              <p:par>
                                <p:cTn id="73" presetID="1" presetClass="entr" presetSubtype="0" fill="hold" grpId="0" nodeType="afterEffect">
                                  <p:stCondLst>
                                    <p:cond delay="0"/>
                                  </p:stCondLst>
                                  <p:childTnLst>
                                    <p:set>
                                      <p:cBhvr>
                                        <p:cTn id="74" dur="1" fill="hold">
                                          <p:stCondLst>
                                            <p:cond delay="499"/>
                                          </p:stCondLst>
                                        </p:cTn>
                                        <p:tgtEl>
                                          <p:spTgt spid="196626"/>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3" fill="hold" grpId="0" nodeType="clickEffect">
                                  <p:stCondLst>
                                    <p:cond delay="0"/>
                                  </p:stCondLst>
                                  <p:childTnLst>
                                    <p:set>
                                      <p:cBhvr>
                                        <p:cTn id="78" dur="1" fill="hold">
                                          <p:stCondLst>
                                            <p:cond delay="0"/>
                                          </p:stCondLst>
                                        </p:cTn>
                                        <p:tgtEl>
                                          <p:spTgt spid="196656"/>
                                        </p:tgtEl>
                                        <p:attrNameLst>
                                          <p:attrName>style.visibility</p:attrName>
                                        </p:attrNameLst>
                                      </p:cBhvr>
                                      <p:to>
                                        <p:strVal val="visible"/>
                                      </p:to>
                                    </p:set>
                                    <p:anim calcmode="lin" valueType="num">
                                      <p:cBhvr additive="base">
                                        <p:cTn id="79" dur="500" fill="hold"/>
                                        <p:tgtEl>
                                          <p:spTgt spid="196656"/>
                                        </p:tgtEl>
                                        <p:attrNameLst>
                                          <p:attrName>ppt_x</p:attrName>
                                        </p:attrNameLst>
                                      </p:cBhvr>
                                      <p:tavLst>
                                        <p:tav tm="0">
                                          <p:val>
                                            <p:strVal val="1+#ppt_w/2"/>
                                          </p:val>
                                        </p:tav>
                                        <p:tav tm="100000">
                                          <p:val>
                                            <p:strVal val="#ppt_x"/>
                                          </p:val>
                                        </p:tav>
                                      </p:tavLst>
                                    </p:anim>
                                    <p:anim calcmode="lin" valueType="num">
                                      <p:cBhvr additive="base">
                                        <p:cTn id="80" dur="500" fill="hold"/>
                                        <p:tgtEl>
                                          <p:spTgt spid="196656"/>
                                        </p:tgtEl>
                                        <p:attrNameLst>
                                          <p:attrName>ppt_y</p:attrName>
                                        </p:attrNameLst>
                                      </p:cBhvr>
                                      <p:tavLst>
                                        <p:tav tm="0">
                                          <p:val>
                                            <p:strVal val="0-#ppt_h/2"/>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96632"/>
                                        </p:tgtEl>
                                        <p:attrNameLst>
                                          <p:attrName>style.visibility</p:attrName>
                                        </p:attrNameLst>
                                      </p:cBhvr>
                                      <p:to>
                                        <p:strVal val="visible"/>
                                      </p:to>
                                    </p:set>
                                    <p:animEffect transition="in" filter="wipe(left)">
                                      <p:cBhvr>
                                        <p:cTn id="85" dur="500"/>
                                        <p:tgtEl>
                                          <p:spTgt spid="196632"/>
                                        </p:tgtEl>
                                      </p:cBhvr>
                                    </p:animEffect>
                                  </p:childTnLst>
                                </p:cTn>
                              </p:par>
                            </p:childTnLst>
                          </p:cTn>
                        </p:par>
                        <p:par>
                          <p:cTn id="86" fill="hold" nodeType="afterGroup">
                            <p:stCondLst>
                              <p:cond delay="500"/>
                            </p:stCondLst>
                            <p:childTnLst>
                              <p:par>
                                <p:cTn id="87" presetID="22" presetClass="entr" presetSubtype="8" fill="hold" grpId="0" nodeType="afterEffect">
                                  <p:stCondLst>
                                    <p:cond delay="0"/>
                                  </p:stCondLst>
                                  <p:childTnLst>
                                    <p:set>
                                      <p:cBhvr>
                                        <p:cTn id="88" dur="1" fill="hold">
                                          <p:stCondLst>
                                            <p:cond delay="0"/>
                                          </p:stCondLst>
                                        </p:cTn>
                                        <p:tgtEl>
                                          <p:spTgt spid="196635"/>
                                        </p:tgtEl>
                                        <p:attrNameLst>
                                          <p:attrName>style.visibility</p:attrName>
                                        </p:attrNameLst>
                                      </p:cBhvr>
                                      <p:to>
                                        <p:strVal val="visible"/>
                                      </p:to>
                                    </p:set>
                                    <p:animEffect transition="in" filter="wipe(left)">
                                      <p:cBhvr>
                                        <p:cTn id="89" dur="500"/>
                                        <p:tgtEl>
                                          <p:spTgt spid="196635"/>
                                        </p:tgtEl>
                                      </p:cBhvr>
                                    </p:animEffect>
                                  </p:childTnLst>
                                </p:cTn>
                              </p:par>
                            </p:childTnLst>
                          </p:cTn>
                        </p:par>
                        <p:par>
                          <p:cTn id="90" fill="hold" nodeType="afterGroup">
                            <p:stCondLst>
                              <p:cond delay="1000"/>
                            </p:stCondLst>
                            <p:childTnLst>
                              <p:par>
                                <p:cTn id="91" presetID="22" presetClass="entr" presetSubtype="8" fill="hold" grpId="0" nodeType="afterEffect">
                                  <p:stCondLst>
                                    <p:cond delay="0"/>
                                  </p:stCondLst>
                                  <p:childTnLst>
                                    <p:set>
                                      <p:cBhvr>
                                        <p:cTn id="92" dur="1" fill="hold">
                                          <p:stCondLst>
                                            <p:cond delay="0"/>
                                          </p:stCondLst>
                                        </p:cTn>
                                        <p:tgtEl>
                                          <p:spTgt spid="196637"/>
                                        </p:tgtEl>
                                        <p:attrNameLst>
                                          <p:attrName>style.visibility</p:attrName>
                                        </p:attrNameLst>
                                      </p:cBhvr>
                                      <p:to>
                                        <p:strVal val="visible"/>
                                      </p:to>
                                    </p:set>
                                    <p:animEffect transition="in" filter="wipe(left)">
                                      <p:cBhvr>
                                        <p:cTn id="93" dur="500"/>
                                        <p:tgtEl>
                                          <p:spTgt spid="196637"/>
                                        </p:tgtEl>
                                      </p:cBhvr>
                                    </p:animEffect>
                                  </p:childTnLst>
                                </p:cTn>
                              </p:par>
                            </p:childTnLst>
                          </p:cTn>
                        </p:par>
                        <p:par>
                          <p:cTn id="94" fill="hold" nodeType="afterGroup">
                            <p:stCondLst>
                              <p:cond delay="1500"/>
                            </p:stCondLst>
                            <p:childTnLst>
                              <p:par>
                                <p:cTn id="95" presetID="22" presetClass="entr" presetSubtype="8" fill="hold" grpId="0" nodeType="afterEffect">
                                  <p:stCondLst>
                                    <p:cond delay="0"/>
                                  </p:stCondLst>
                                  <p:childTnLst>
                                    <p:set>
                                      <p:cBhvr>
                                        <p:cTn id="96" dur="1" fill="hold">
                                          <p:stCondLst>
                                            <p:cond delay="0"/>
                                          </p:stCondLst>
                                        </p:cTn>
                                        <p:tgtEl>
                                          <p:spTgt spid="196638"/>
                                        </p:tgtEl>
                                        <p:attrNameLst>
                                          <p:attrName>style.visibility</p:attrName>
                                        </p:attrNameLst>
                                      </p:cBhvr>
                                      <p:to>
                                        <p:strVal val="visible"/>
                                      </p:to>
                                    </p:set>
                                    <p:animEffect transition="in" filter="wipe(left)">
                                      <p:cBhvr>
                                        <p:cTn id="97" dur="500"/>
                                        <p:tgtEl>
                                          <p:spTgt spid="196638"/>
                                        </p:tgtEl>
                                      </p:cBhvr>
                                    </p:animEffect>
                                  </p:childTnLst>
                                </p:cTn>
                              </p:par>
                            </p:childTnLst>
                          </p:cTn>
                        </p:par>
                        <p:par>
                          <p:cTn id="98" fill="hold" nodeType="afterGroup">
                            <p:stCondLst>
                              <p:cond delay="2000"/>
                            </p:stCondLst>
                            <p:childTnLst>
                              <p:par>
                                <p:cTn id="99" presetID="22" presetClass="entr" presetSubtype="8" fill="hold" grpId="0" nodeType="afterEffect">
                                  <p:stCondLst>
                                    <p:cond delay="0"/>
                                  </p:stCondLst>
                                  <p:childTnLst>
                                    <p:set>
                                      <p:cBhvr>
                                        <p:cTn id="100" dur="1" fill="hold">
                                          <p:stCondLst>
                                            <p:cond delay="0"/>
                                          </p:stCondLst>
                                        </p:cTn>
                                        <p:tgtEl>
                                          <p:spTgt spid="196639"/>
                                        </p:tgtEl>
                                        <p:attrNameLst>
                                          <p:attrName>style.visibility</p:attrName>
                                        </p:attrNameLst>
                                      </p:cBhvr>
                                      <p:to>
                                        <p:strVal val="visible"/>
                                      </p:to>
                                    </p:set>
                                    <p:animEffect transition="in" filter="wipe(left)">
                                      <p:cBhvr>
                                        <p:cTn id="101" dur="500"/>
                                        <p:tgtEl>
                                          <p:spTgt spid="196639"/>
                                        </p:tgtEl>
                                      </p:cBhvr>
                                    </p:animEffect>
                                  </p:childTnLst>
                                </p:cTn>
                              </p:par>
                            </p:childTnLst>
                          </p:cTn>
                        </p:par>
                        <p:par>
                          <p:cTn id="102" fill="hold" nodeType="afterGroup">
                            <p:stCondLst>
                              <p:cond delay="2500"/>
                            </p:stCondLst>
                            <p:childTnLst>
                              <p:par>
                                <p:cTn id="103" presetID="22" presetClass="entr" presetSubtype="8" fill="hold" grpId="0" nodeType="afterEffect">
                                  <p:stCondLst>
                                    <p:cond delay="0"/>
                                  </p:stCondLst>
                                  <p:childTnLst>
                                    <p:set>
                                      <p:cBhvr>
                                        <p:cTn id="104" dur="1" fill="hold">
                                          <p:stCondLst>
                                            <p:cond delay="0"/>
                                          </p:stCondLst>
                                        </p:cTn>
                                        <p:tgtEl>
                                          <p:spTgt spid="196633"/>
                                        </p:tgtEl>
                                        <p:attrNameLst>
                                          <p:attrName>style.visibility</p:attrName>
                                        </p:attrNameLst>
                                      </p:cBhvr>
                                      <p:to>
                                        <p:strVal val="visible"/>
                                      </p:to>
                                    </p:set>
                                    <p:animEffect transition="in" filter="wipe(left)">
                                      <p:cBhvr>
                                        <p:cTn id="105" dur="500"/>
                                        <p:tgtEl>
                                          <p:spTgt spid="196633"/>
                                        </p:tgtEl>
                                      </p:cBhvr>
                                    </p:animEffect>
                                  </p:childTnLst>
                                </p:cTn>
                              </p:par>
                            </p:childTnLst>
                          </p:cTn>
                        </p:par>
                        <p:par>
                          <p:cTn id="106" fill="hold" nodeType="afterGroup">
                            <p:stCondLst>
                              <p:cond delay="3000"/>
                            </p:stCondLst>
                            <p:childTnLst>
                              <p:par>
                                <p:cTn id="107" presetID="22" presetClass="entr" presetSubtype="8" fill="hold" grpId="0" nodeType="afterEffect">
                                  <p:stCondLst>
                                    <p:cond delay="0"/>
                                  </p:stCondLst>
                                  <p:childTnLst>
                                    <p:set>
                                      <p:cBhvr>
                                        <p:cTn id="108" dur="1" fill="hold">
                                          <p:stCondLst>
                                            <p:cond delay="0"/>
                                          </p:stCondLst>
                                        </p:cTn>
                                        <p:tgtEl>
                                          <p:spTgt spid="196640"/>
                                        </p:tgtEl>
                                        <p:attrNameLst>
                                          <p:attrName>style.visibility</p:attrName>
                                        </p:attrNameLst>
                                      </p:cBhvr>
                                      <p:to>
                                        <p:strVal val="visible"/>
                                      </p:to>
                                    </p:set>
                                    <p:animEffect transition="in" filter="wipe(left)">
                                      <p:cBhvr>
                                        <p:cTn id="109" dur="500"/>
                                        <p:tgtEl>
                                          <p:spTgt spid="196640"/>
                                        </p:tgtEl>
                                      </p:cBhvr>
                                    </p:animEffect>
                                  </p:childTnLst>
                                </p:cTn>
                              </p:par>
                            </p:childTnLst>
                          </p:cTn>
                        </p:par>
                        <p:par>
                          <p:cTn id="110" fill="hold" nodeType="afterGroup">
                            <p:stCondLst>
                              <p:cond delay="3500"/>
                            </p:stCondLst>
                            <p:childTnLst>
                              <p:par>
                                <p:cTn id="111" presetID="22" presetClass="entr" presetSubtype="8" fill="hold" grpId="0" nodeType="afterEffect">
                                  <p:stCondLst>
                                    <p:cond delay="0"/>
                                  </p:stCondLst>
                                  <p:childTnLst>
                                    <p:set>
                                      <p:cBhvr>
                                        <p:cTn id="112" dur="1" fill="hold">
                                          <p:stCondLst>
                                            <p:cond delay="0"/>
                                          </p:stCondLst>
                                        </p:cTn>
                                        <p:tgtEl>
                                          <p:spTgt spid="196641"/>
                                        </p:tgtEl>
                                        <p:attrNameLst>
                                          <p:attrName>style.visibility</p:attrName>
                                        </p:attrNameLst>
                                      </p:cBhvr>
                                      <p:to>
                                        <p:strVal val="visible"/>
                                      </p:to>
                                    </p:set>
                                    <p:animEffect transition="in" filter="wipe(left)">
                                      <p:cBhvr>
                                        <p:cTn id="113" dur="500"/>
                                        <p:tgtEl>
                                          <p:spTgt spid="196641"/>
                                        </p:tgtEl>
                                      </p:cBhvr>
                                    </p:animEffect>
                                  </p:childTnLst>
                                </p:cTn>
                              </p:par>
                            </p:childTnLst>
                          </p:cTn>
                        </p:par>
                        <p:par>
                          <p:cTn id="114" fill="hold" nodeType="afterGroup">
                            <p:stCondLst>
                              <p:cond delay="4000"/>
                            </p:stCondLst>
                            <p:childTnLst>
                              <p:par>
                                <p:cTn id="115" presetID="22" presetClass="entr" presetSubtype="8" fill="hold" grpId="0" nodeType="afterEffect">
                                  <p:stCondLst>
                                    <p:cond delay="0"/>
                                  </p:stCondLst>
                                  <p:childTnLst>
                                    <p:set>
                                      <p:cBhvr>
                                        <p:cTn id="116" dur="1" fill="hold">
                                          <p:stCondLst>
                                            <p:cond delay="0"/>
                                          </p:stCondLst>
                                        </p:cTn>
                                        <p:tgtEl>
                                          <p:spTgt spid="196642"/>
                                        </p:tgtEl>
                                        <p:attrNameLst>
                                          <p:attrName>style.visibility</p:attrName>
                                        </p:attrNameLst>
                                      </p:cBhvr>
                                      <p:to>
                                        <p:strVal val="visible"/>
                                      </p:to>
                                    </p:set>
                                    <p:animEffect transition="in" filter="wipe(left)">
                                      <p:cBhvr>
                                        <p:cTn id="117" dur="500"/>
                                        <p:tgtEl>
                                          <p:spTgt spid="196642"/>
                                        </p:tgtEl>
                                      </p:cBhvr>
                                    </p:animEffect>
                                  </p:childTnLst>
                                </p:cTn>
                              </p:par>
                            </p:childTnLst>
                          </p:cTn>
                        </p:par>
                        <p:par>
                          <p:cTn id="118" fill="hold" nodeType="afterGroup">
                            <p:stCondLst>
                              <p:cond delay="4500"/>
                            </p:stCondLst>
                            <p:childTnLst>
                              <p:par>
                                <p:cTn id="119" presetID="22" presetClass="entr" presetSubtype="8" fill="hold" grpId="0" nodeType="afterEffect">
                                  <p:stCondLst>
                                    <p:cond delay="0"/>
                                  </p:stCondLst>
                                  <p:childTnLst>
                                    <p:set>
                                      <p:cBhvr>
                                        <p:cTn id="120" dur="1" fill="hold">
                                          <p:stCondLst>
                                            <p:cond delay="0"/>
                                          </p:stCondLst>
                                        </p:cTn>
                                        <p:tgtEl>
                                          <p:spTgt spid="196636"/>
                                        </p:tgtEl>
                                        <p:attrNameLst>
                                          <p:attrName>style.visibility</p:attrName>
                                        </p:attrNameLst>
                                      </p:cBhvr>
                                      <p:to>
                                        <p:strVal val="visible"/>
                                      </p:to>
                                    </p:set>
                                    <p:animEffect transition="in" filter="wipe(left)">
                                      <p:cBhvr>
                                        <p:cTn id="121" dur="500"/>
                                        <p:tgtEl>
                                          <p:spTgt spid="196636"/>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17" presetClass="entr" presetSubtype="1" fill="hold" grpId="0" nodeType="clickEffect">
                                  <p:stCondLst>
                                    <p:cond delay="0"/>
                                  </p:stCondLst>
                                  <p:childTnLst>
                                    <p:set>
                                      <p:cBhvr>
                                        <p:cTn id="125" dur="1" fill="hold">
                                          <p:stCondLst>
                                            <p:cond delay="0"/>
                                          </p:stCondLst>
                                        </p:cTn>
                                        <p:tgtEl>
                                          <p:spTgt spid="196650"/>
                                        </p:tgtEl>
                                        <p:attrNameLst>
                                          <p:attrName>style.visibility</p:attrName>
                                        </p:attrNameLst>
                                      </p:cBhvr>
                                      <p:to>
                                        <p:strVal val="visible"/>
                                      </p:to>
                                    </p:set>
                                    <p:anim calcmode="lin" valueType="num">
                                      <p:cBhvr>
                                        <p:cTn id="126" dur="500" fill="hold"/>
                                        <p:tgtEl>
                                          <p:spTgt spid="196650"/>
                                        </p:tgtEl>
                                        <p:attrNameLst>
                                          <p:attrName>ppt_x</p:attrName>
                                        </p:attrNameLst>
                                      </p:cBhvr>
                                      <p:tavLst>
                                        <p:tav tm="0">
                                          <p:val>
                                            <p:strVal val="#ppt_x"/>
                                          </p:val>
                                        </p:tav>
                                        <p:tav tm="100000">
                                          <p:val>
                                            <p:strVal val="#ppt_x"/>
                                          </p:val>
                                        </p:tav>
                                      </p:tavLst>
                                    </p:anim>
                                    <p:anim calcmode="lin" valueType="num">
                                      <p:cBhvr>
                                        <p:cTn id="127" dur="500" fill="hold"/>
                                        <p:tgtEl>
                                          <p:spTgt spid="196650"/>
                                        </p:tgtEl>
                                        <p:attrNameLst>
                                          <p:attrName>ppt_y</p:attrName>
                                        </p:attrNameLst>
                                      </p:cBhvr>
                                      <p:tavLst>
                                        <p:tav tm="0">
                                          <p:val>
                                            <p:strVal val="#ppt_y-#ppt_h/2"/>
                                          </p:val>
                                        </p:tav>
                                        <p:tav tm="100000">
                                          <p:val>
                                            <p:strVal val="#ppt_y"/>
                                          </p:val>
                                        </p:tav>
                                      </p:tavLst>
                                    </p:anim>
                                    <p:anim calcmode="lin" valueType="num">
                                      <p:cBhvr>
                                        <p:cTn id="128" dur="500" fill="hold"/>
                                        <p:tgtEl>
                                          <p:spTgt spid="196650"/>
                                        </p:tgtEl>
                                        <p:attrNameLst>
                                          <p:attrName>ppt_w</p:attrName>
                                        </p:attrNameLst>
                                      </p:cBhvr>
                                      <p:tavLst>
                                        <p:tav tm="0">
                                          <p:val>
                                            <p:strVal val="#ppt_w"/>
                                          </p:val>
                                        </p:tav>
                                        <p:tav tm="100000">
                                          <p:val>
                                            <p:strVal val="#ppt_w"/>
                                          </p:val>
                                        </p:tav>
                                      </p:tavLst>
                                    </p:anim>
                                    <p:anim calcmode="lin" valueType="num">
                                      <p:cBhvr>
                                        <p:cTn id="129" dur="500" fill="hold"/>
                                        <p:tgtEl>
                                          <p:spTgt spid="196650"/>
                                        </p:tgtEl>
                                        <p:attrNameLst>
                                          <p:attrName>ppt_h</p:attrName>
                                        </p:attrNameLst>
                                      </p:cBhvr>
                                      <p:tavLst>
                                        <p:tav tm="0">
                                          <p:val>
                                            <p:fltVal val="0"/>
                                          </p:val>
                                        </p:tav>
                                        <p:tav tm="100000">
                                          <p:val>
                                            <p:strVal val="#ppt_h"/>
                                          </p:val>
                                        </p:tav>
                                      </p:tavLst>
                                    </p:anim>
                                  </p:childTnLst>
                                </p:cTn>
                              </p:par>
                            </p:childTnLst>
                          </p:cTn>
                        </p:par>
                        <p:par>
                          <p:cTn id="130" fill="hold" nodeType="afterGroup">
                            <p:stCondLst>
                              <p:cond delay="500"/>
                            </p:stCondLst>
                            <p:childTnLst>
                              <p:par>
                                <p:cTn id="131" presetID="12" presetClass="entr" presetSubtype="8" fill="hold" grpId="0" nodeType="afterEffect">
                                  <p:stCondLst>
                                    <p:cond delay="0"/>
                                  </p:stCondLst>
                                  <p:childTnLst>
                                    <p:set>
                                      <p:cBhvr>
                                        <p:cTn id="132" dur="1" fill="hold">
                                          <p:stCondLst>
                                            <p:cond delay="0"/>
                                          </p:stCondLst>
                                        </p:cTn>
                                        <p:tgtEl>
                                          <p:spTgt spid="196651"/>
                                        </p:tgtEl>
                                        <p:attrNameLst>
                                          <p:attrName>style.visibility</p:attrName>
                                        </p:attrNameLst>
                                      </p:cBhvr>
                                      <p:to>
                                        <p:strVal val="visible"/>
                                      </p:to>
                                    </p:set>
                                    <p:animEffect transition="in" filter="slide(fromLeft)">
                                      <p:cBhvr>
                                        <p:cTn id="133" dur="500"/>
                                        <p:tgtEl>
                                          <p:spTgt spid="196651"/>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17" presetClass="entr" presetSubtype="1" fill="hold" grpId="0" nodeType="clickEffect">
                                  <p:stCondLst>
                                    <p:cond delay="0"/>
                                  </p:stCondLst>
                                  <p:childTnLst>
                                    <p:set>
                                      <p:cBhvr>
                                        <p:cTn id="137" dur="1" fill="hold">
                                          <p:stCondLst>
                                            <p:cond delay="0"/>
                                          </p:stCondLst>
                                        </p:cTn>
                                        <p:tgtEl>
                                          <p:spTgt spid="196653"/>
                                        </p:tgtEl>
                                        <p:attrNameLst>
                                          <p:attrName>style.visibility</p:attrName>
                                        </p:attrNameLst>
                                      </p:cBhvr>
                                      <p:to>
                                        <p:strVal val="visible"/>
                                      </p:to>
                                    </p:set>
                                    <p:anim calcmode="lin" valueType="num">
                                      <p:cBhvr>
                                        <p:cTn id="138" dur="500" fill="hold"/>
                                        <p:tgtEl>
                                          <p:spTgt spid="196653"/>
                                        </p:tgtEl>
                                        <p:attrNameLst>
                                          <p:attrName>ppt_x</p:attrName>
                                        </p:attrNameLst>
                                      </p:cBhvr>
                                      <p:tavLst>
                                        <p:tav tm="0">
                                          <p:val>
                                            <p:strVal val="#ppt_x"/>
                                          </p:val>
                                        </p:tav>
                                        <p:tav tm="100000">
                                          <p:val>
                                            <p:strVal val="#ppt_x"/>
                                          </p:val>
                                        </p:tav>
                                      </p:tavLst>
                                    </p:anim>
                                    <p:anim calcmode="lin" valueType="num">
                                      <p:cBhvr>
                                        <p:cTn id="139" dur="500" fill="hold"/>
                                        <p:tgtEl>
                                          <p:spTgt spid="196653"/>
                                        </p:tgtEl>
                                        <p:attrNameLst>
                                          <p:attrName>ppt_y</p:attrName>
                                        </p:attrNameLst>
                                      </p:cBhvr>
                                      <p:tavLst>
                                        <p:tav tm="0">
                                          <p:val>
                                            <p:strVal val="#ppt_y-#ppt_h/2"/>
                                          </p:val>
                                        </p:tav>
                                        <p:tav tm="100000">
                                          <p:val>
                                            <p:strVal val="#ppt_y"/>
                                          </p:val>
                                        </p:tav>
                                      </p:tavLst>
                                    </p:anim>
                                    <p:anim calcmode="lin" valueType="num">
                                      <p:cBhvr>
                                        <p:cTn id="140" dur="500" fill="hold"/>
                                        <p:tgtEl>
                                          <p:spTgt spid="196653"/>
                                        </p:tgtEl>
                                        <p:attrNameLst>
                                          <p:attrName>ppt_w</p:attrName>
                                        </p:attrNameLst>
                                      </p:cBhvr>
                                      <p:tavLst>
                                        <p:tav tm="0">
                                          <p:val>
                                            <p:strVal val="#ppt_w"/>
                                          </p:val>
                                        </p:tav>
                                        <p:tav tm="100000">
                                          <p:val>
                                            <p:strVal val="#ppt_w"/>
                                          </p:val>
                                        </p:tav>
                                      </p:tavLst>
                                    </p:anim>
                                    <p:anim calcmode="lin" valueType="num">
                                      <p:cBhvr>
                                        <p:cTn id="141" dur="500" fill="hold"/>
                                        <p:tgtEl>
                                          <p:spTgt spid="196653"/>
                                        </p:tgtEl>
                                        <p:attrNameLst>
                                          <p:attrName>ppt_h</p:attrName>
                                        </p:attrNameLst>
                                      </p:cBhvr>
                                      <p:tavLst>
                                        <p:tav tm="0">
                                          <p:val>
                                            <p:fltVal val="0"/>
                                          </p:val>
                                        </p:tav>
                                        <p:tav tm="100000">
                                          <p:val>
                                            <p:strVal val="#ppt_h"/>
                                          </p:val>
                                        </p:tav>
                                      </p:tavLst>
                                    </p:anim>
                                  </p:childTnLst>
                                </p:cTn>
                              </p:par>
                            </p:childTnLst>
                          </p:cTn>
                        </p:par>
                        <p:par>
                          <p:cTn id="142" fill="hold" nodeType="afterGroup">
                            <p:stCondLst>
                              <p:cond delay="500"/>
                            </p:stCondLst>
                            <p:childTnLst>
                              <p:par>
                                <p:cTn id="143" presetID="12" presetClass="entr" presetSubtype="8" fill="hold" grpId="0" nodeType="afterEffect">
                                  <p:stCondLst>
                                    <p:cond delay="0"/>
                                  </p:stCondLst>
                                  <p:childTnLst>
                                    <p:set>
                                      <p:cBhvr>
                                        <p:cTn id="144" dur="1" fill="hold">
                                          <p:stCondLst>
                                            <p:cond delay="0"/>
                                          </p:stCondLst>
                                        </p:cTn>
                                        <p:tgtEl>
                                          <p:spTgt spid="196654"/>
                                        </p:tgtEl>
                                        <p:attrNameLst>
                                          <p:attrName>style.visibility</p:attrName>
                                        </p:attrNameLst>
                                      </p:cBhvr>
                                      <p:to>
                                        <p:strVal val="visible"/>
                                      </p:to>
                                    </p:set>
                                    <p:animEffect transition="in" filter="slide(fromLeft)">
                                      <p:cBhvr>
                                        <p:cTn id="145" dur="500"/>
                                        <p:tgtEl>
                                          <p:spTgt spid="196654"/>
                                        </p:tgtEl>
                                      </p:cBhvr>
                                    </p:animEffect>
                                  </p:childTnLst>
                                </p:cTn>
                              </p:par>
                            </p:childTnLst>
                          </p:cTn>
                        </p:par>
                        <p:par>
                          <p:cTn id="146" fill="hold" nodeType="afterGroup">
                            <p:stCondLst>
                              <p:cond delay="1000"/>
                            </p:stCondLst>
                            <p:childTnLst>
                              <p:par>
                                <p:cTn id="147" presetID="22" presetClass="entr" presetSubtype="8" fill="hold" grpId="0" nodeType="afterEffect">
                                  <p:stCondLst>
                                    <p:cond delay="0"/>
                                  </p:stCondLst>
                                  <p:childTnLst>
                                    <p:set>
                                      <p:cBhvr>
                                        <p:cTn id="148" dur="1" fill="hold">
                                          <p:stCondLst>
                                            <p:cond delay="0"/>
                                          </p:stCondLst>
                                        </p:cTn>
                                        <p:tgtEl>
                                          <p:spTgt spid="196634"/>
                                        </p:tgtEl>
                                        <p:attrNameLst>
                                          <p:attrName>style.visibility</p:attrName>
                                        </p:attrNameLst>
                                      </p:cBhvr>
                                      <p:to>
                                        <p:strVal val="visible"/>
                                      </p:to>
                                    </p:set>
                                    <p:animEffect transition="in" filter="wipe(left)">
                                      <p:cBhvr>
                                        <p:cTn id="149" dur="500"/>
                                        <p:tgtEl>
                                          <p:spTgt spid="196634"/>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196644"/>
                                        </p:tgtEl>
                                        <p:attrNameLst>
                                          <p:attrName>style.visibility</p:attrName>
                                        </p:attrNameLst>
                                      </p:cBhvr>
                                      <p:to>
                                        <p:strVal val="visible"/>
                                      </p:to>
                                    </p:set>
                                    <p:animEffect transition="in" filter="wipe(left)">
                                      <p:cBhvr>
                                        <p:cTn id="154" dur="500"/>
                                        <p:tgtEl>
                                          <p:spTgt spid="196644"/>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2" presetClass="entr" presetSubtype="8" fill="hold" grpId="0" nodeType="clickEffect">
                                  <p:stCondLst>
                                    <p:cond delay="0"/>
                                  </p:stCondLst>
                                  <p:childTnLst>
                                    <p:set>
                                      <p:cBhvr>
                                        <p:cTn id="158" dur="1" fill="hold">
                                          <p:stCondLst>
                                            <p:cond delay="0"/>
                                          </p:stCondLst>
                                        </p:cTn>
                                        <p:tgtEl>
                                          <p:spTgt spid="196645"/>
                                        </p:tgtEl>
                                        <p:attrNameLst>
                                          <p:attrName>style.visibility</p:attrName>
                                        </p:attrNameLst>
                                      </p:cBhvr>
                                      <p:to>
                                        <p:strVal val="visible"/>
                                      </p:to>
                                    </p:set>
                                    <p:animEffect transition="in" filter="wipe(left)">
                                      <p:cBhvr>
                                        <p:cTn id="159" dur="500"/>
                                        <p:tgtEl>
                                          <p:spTgt spid="196645"/>
                                        </p:tgtEl>
                                      </p:cBhvr>
                                    </p:animEffect>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196630"/>
                                        </p:tgtEl>
                                        <p:attrNameLst>
                                          <p:attrName>style.visibility</p:attrName>
                                        </p:attrNameLst>
                                      </p:cBhvr>
                                      <p:to>
                                        <p:strVal val="visible"/>
                                      </p:to>
                                    </p:set>
                                    <p:animEffect transition="in" filter="wipe(left)">
                                      <p:cBhvr>
                                        <p:cTn id="164" dur="500"/>
                                        <p:tgtEl>
                                          <p:spTgt spid="196630"/>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22" presetClass="entr" presetSubtype="8" fill="hold" grpId="0" nodeType="clickEffect">
                                  <p:stCondLst>
                                    <p:cond delay="0"/>
                                  </p:stCondLst>
                                  <p:childTnLst>
                                    <p:set>
                                      <p:cBhvr>
                                        <p:cTn id="168" dur="1" fill="hold">
                                          <p:stCondLst>
                                            <p:cond delay="0"/>
                                          </p:stCondLst>
                                        </p:cTn>
                                        <p:tgtEl>
                                          <p:spTgt spid="196631"/>
                                        </p:tgtEl>
                                        <p:attrNameLst>
                                          <p:attrName>style.visibility</p:attrName>
                                        </p:attrNameLst>
                                      </p:cBhvr>
                                      <p:to>
                                        <p:strVal val="visible"/>
                                      </p:to>
                                    </p:set>
                                    <p:animEffect transition="in" filter="wipe(left)">
                                      <p:cBhvr>
                                        <p:cTn id="169" dur="500"/>
                                        <p:tgtEl>
                                          <p:spTgt spid="196631"/>
                                        </p:tgtEl>
                                      </p:cBhvr>
                                    </p:animEffec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22" presetClass="entr" presetSubtype="1" fill="hold" grpId="0" nodeType="clickEffect">
                                  <p:stCondLst>
                                    <p:cond delay="0"/>
                                  </p:stCondLst>
                                  <p:childTnLst>
                                    <p:set>
                                      <p:cBhvr>
                                        <p:cTn id="173" dur="1" fill="hold">
                                          <p:stCondLst>
                                            <p:cond delay="0"/>
                                          </p:stCondLst>
                                        </p:cTn>
                                        <p:tgtEl>
                                          <p:spTgt spid="196647"/>
                                        </p:tgtEl>
                                        <p:attrNameLst>
                                          <p:attrName>style.visibility</p:attrName>
                                        </p:attrNameLst>
                                      </p:cBhvr>
                                      <p:to>
                                        <p:strVal val="visible"/>
                                      </p:to>
                                    </p:set>
                                    <p:animEffect transition="in" filter="wipe(up)">
                                      <p:cBhvr>
                                        <p:cTn id="174" dur="500"/>
                                        <p:tgtEl>
                                          <p:spTgt spid="196647"/>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22" presetClass="entr" presetSubtype="1" fill="hold" grpId="0" nodeType="clickEffect">
                                  <p:stCondLst>
                                    <p:cond delay="0"/>
                                  </p:stCondLst>
                                  <p:childTnLst>
                                    <p:set>
                                      <p:cBhvr>
                                        <p:cTn id="178" dur="1" fill="hold">
                                          <p:stCondLst>
                                            <p:cond delay="0"/>
                                          </p:stCondLst>
                                        </p:cTn>
                                        <p:tgtEl>
                                          <p:spTgt spid="196648"/>
                                        </p:tgtEl>
                                        <p:attrNameLst>
                                          <p:attrName>style.visibility</p:attrName>
                                        </p:attrNameLst>
                                      </p:cBhvr>
                                      <p:to>
                                        <p:strVal val="visible"/>
                                      </p:to>
                                    </p:set>
                                    <p:animEffect transition="in" filter="wipe(up)">
                                      <p:cBhvr>
                                        <p:cTn id="179" dur="500"/>
                                        <p:tgtEl>
                                          <p:spTgt spid="196648"/>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22" presetClass="entr" presetSubtype="8" fill="hold" grpId="0" nodeType="clickEffect">
                                  <p:stCondLst>
                                    <p:cond delay="0"/>
                                  </p:stCondLst>
                                  <p:childTnLst>
                                    <p:set>
                                      <p:cBhvr>
                                        <p:cTn id="183" dur="1" fill="hold">
                                          <p:stCondLst>
                                            <p:cond delay="0"/>
                                          </p:stCondLst>
                                        </p:cTn>
                                        <p:tgtEl>
                                          <p:spTgt spid="196646"/>
                                        </p:tgtEl>
                                        <p:attrNameLst>
                                          <p:attrName>style.visibility</p:attrName>
                                        </p:attrNameLst>
                                      </p:cBhvr>
                                      <p:to>
                                        <p:strVal val="visible"/>
                                      </p:to>
                                    </p:set>
                                    <p:animEffect transition="in" filter="wipe(left)">
                                      <p:cBhvr>
                                        <p:cTn id="184" dur="500"/>
                                        <p:tgtEl>
                                          <p:spTgt spid="196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0" grpId="0" animBg="1" autoUpdateAnimBg="0"/>
      <p:bldP spid="196611" grpId="0" animBg="1" autoUpdateAnimBg="0"/>
      <p:bldP spid="196612" grpId="0" animBg="1" autoUpdateAnimBg="0"/>
      <p:bldP spid="196613" grpId="0" animBg="1" autoUpdateAnimBg="0"/>
      <p:bldP spid="196614" grpId="0" animBg="1" autoUpdateAnimBg="0"/>
      <p:bldP spid="196615" grpId="0" animBg="1" autoUpdateAnimBg="0"/>
      <p:bldP spid="196616" grpId="0" animBg="1" autoUpdateAnimBg="0"/>
      <p:bldP spid="196617" grpId="0" animBg="1" autoUpdateAnimBg="0"/>
      <p:bldP spid="196618" grpId="0" animBg="1" autoUpdateAnimBg="0"/>
      <p:bldP spid="196619" grpId="0" animBg="1"/>
      <p:bldP spid="196620" grpId="0" animBg="1"/>
      <p:bldP spid="196621" grpId="0" animBg="1"/>
      <p:bldP spid="196622" grpId="0" animBg="1"/>
      <p:bldP spid="196623" grpId="0" animBg="1"/>
      <p:bldP spid="196624" grpId="0" animBg="1"/>
      <p:bldP spid="196625" grpId="0" animBg="1"/>
      <p:bldP spid="196626" grpId="0" animBg="1"/>
      <p:bldP spid="196627" grpId="0" animBg="1" autoUpdateAnimBg="0"/>
      <p:bldP spid="196628" grpId="0" animBg="1"/>
      <p:bldP spid="196629" grpId="0" autoUpdateAnimBg="0"/>
      <p:bldP spid="196630" grpId="0" animBg="1" autoUpdateAnimBg="0"/>
      <p:bldP spid="196631" grpId="0" animBg="1" autoUpdateAnimBg="0"/>
      <p:bldP spid="196632" grpId="0" animBg="1"/>
      <p:bldP spid="196633" grpId="0" animBg="1"/>
      <p:bldP spid="196634" grpId="0" animBg="1"/>
      <p:bldP spid="196635" grpId="0" animBg="1"/>
      <p:bldP spid="196636" grpId="0" animBg="1"/>
      <p:bldP spid="196637" grpId="0" animBg="1"/>
      <p:bldP spid="196638" grpId="0" animBg="1"/>
      <p:bldP spid="196639" grpId="0" animBg="1"/>
      <p:bldP spid="196640" grpId="0" animBg="1"/>
      <p:bldP spid="196641" grpId="0" animBg="1"/>
      <p:bldP spid="196642" grpId="0" animBg="1"/>
      <p:bldP spid="196644" grpId="0" animBg="1"/>
      <p:bldP spid="196645" grpId="0" animBg="1"/>
      <p:bldP spid="196646" grpId="0" autoUpdateAnimBg="0"/>
      <p:bldP spid="196647" grpId="0" animBg="1"/>
      <p:bldP spid="196648" grpId="0" animBg="1"/>
      <p:bldP spid="196650" grpId="0" animBg="1"/>
      <p:bldP spid="196651" grpId="0" autoUpdateAnimBg="0"/>
      <p:bldP spid="196653" grpId="0" animBg="1"/>
      <p:bldP spid="196654" grpId="0" autoUpdateAnimBg="0"/>
      <p:bldP spid="196655" grpId="0" animBg="1"/>
      <p:bldP spid="196656"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258763" y="1042988"/>
            <a:ext cx="8656637" cy="535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600" b="1">
                <a:solidFill>
                  <a:srgbClr val="A50021"/>
                </a:solidFill>
                <a:ea typeface="楷体_GB2312" charset="0"/>
              </a:rPr>
              <a:t>Status</a:t>
            </a:r>
            <a:r>
              <a:rPr lang="en-US" altLang="zh-CN" sz="3600">
                <a:solidFill>
                  <a:srgbClr val="A50021"/>
                </a:solidFill>
                <a:ea typeface="楷体_GB2312" charset="0"/>
              </a:rPr>
              <a:t> </a:t>
            </a:r>
            <a:r>
              <a:rPr lang="en-US" altLang="zh-CN" sz="3600">
                <a:solidFill>
                  <a:srgbClr val="FF0000"/>
                </a:solidFill>
                <a:ea typeface="楷体_GB2312" charset="0"/>
              </a:rPr>
              <a:t>DeleteBST (</a:t>
            </a:r>
            <a:r>
              <a:rPr lang="en-US" altLang="zh-CN" sz="3200">
                <a:solidFill>
                  <a:srgbClr val="FF0000"/>
                </a:solidFill>
                <a:ea typeface="楷体_GB2312" charset="0"/>
              </a:rPr>
              <a:t>BiTree </a:t>
            </a:r>
            <a:r>
              <a:rPr lang="en-US" altLang="zh-CN" sz="3200" b="1">
                <a:solidFill>
                  <a:srgbClr val="FF0000"/>
                </a:solidFill>
                <a:ea typeface="楷体_GB2312" charset="0"/>
              </a:rPr>
              <a:t>&amp;</a:t>
            </a:r>
            <a:r>
              <a:rPr lang="en-US" altLang="zh-CN" sz="3200">
                <a:solidFill>
                  <a:srgbClr val="FF0000"/>
                </a:solidFill>
                <a:ea typeface="楷体_GB2312" charset="0"/>
              </a:rPr>
              <a:t>T,  KeyType key )</a:t>
            </a:r>
            <a:r>
              <a:rPr lang="en-US" altLang="zh-CN" sz="3200">
                <a:solidFill>
                  <a:srgbClr val="A50021"/>
                </a:solidFill>
                <a:ea typeface="楷体_GB2312" charset="0"/>
              </a:rPr>
              <a:t> </a:t>
            </a:r>
            <a:r>
              <a:rPr lang="en-US" altLang="zh-CN" sz="3600" b="1">
                <a:solidFill>
                  <a:srgbClr val="A50021"/>
                </a:solidFill>
                <a:ea typeface="楷体_GB2312" charset="0"/>
              </a:rPr>
              <a:t>{</a:t>
            </a:r>
            <a:endParaRPr lang="en-US" altLang="zh-CN" sz="3600">
              <a:solidFill>
                <a:srgbClr val="A50021"/>
              </a:solidFill>
              <a:ea typeface="楷体_GB2312" charset="0"/>
            </a:endParaRPr>
          </a:p>
          <a:p>
            <a:pPr>
              <a:lnSpc>
                <a:spcPct val="125000"/>
              </a:lnSpc>
            </a:pPr>
            <a:r>
              <a:rPr lang="en-US" altLang="zh-CN" sz="3200" b="1">
                <a:solidFill>
                  <a:srgbClr val="A50021"/>
                </a:solidFill>
                <a:ea typeface="楷体_GB2312" charset="0"/>
              </a:rPr>
              <a:t>  // </a:t>
            </a:r>
            <a:r>
              <a:rPr lang="zh-CN" altLang="en-US" sz="3200" b="1">
                <a:solidFill>
                  <a:srgbClr val="A50021"/>
                </a:solidFill>
                <a:ea typeface="楷体_GB2312" charset="0"/>
              </a:rPr>
              <a:t>若二叉排序树 </a:t>
            </a:r>
            <a:r>
              <a:rPr lang="en-US" altLang="zh-CN" sz="3200" b="1">
                <a:solidFill>
                  <a:srgbClr val="A50021"/>
                </a:solidFill>
                <a:ea typeface="楷体_GB2312" charset="0"/>
              </a:rPr>
              <a:t>T </a:t>
            </a:r>
            <a:r>
              <a:rPr lang="zh-CN" altLang="en-US" sz="3200" b="1">
                <a:solidFill>
                  <a:srgbClr val="A50021"/>
                </a:solidFill>
                <a:ea typeface="楷体_GB2312" charset="0"/>
              </a:rPr>
              <a:t>中存在其关键字等于 </a:t>
            </a:r>
            <a:r>
              <a:rPr lang="en-US" altLang="zh-CN" sz="3200" b="1">
                <a:solidFill>
                  <a:srgbClr val="A50021"/>
                </a:solidFill>
                <a:ea typeface="楷体_GB2312" charset="0"/>
              </a:rPr>
              <a:t>key </a:t>
            </a:r>
            <a:r>
              <a:rPr lang="zh-CN" altLang="en-US" sz="3200" b="1">
                <a:solidFill>
                  <a:srgbClr val="A50021"/>
                </a:solidFill>
                <a:ea typeface="楷体_GB2312" charset="0"/>
              </a:rPr>
              <a:t>的</a:t>
            </a:r>
          </a:p>
          <a:p>
            <a:pPr>
              <a:lnSpc>
                <a:spcPct val="125000"/>
              </a:lnSpc>
            </a:pPr>
            <a:r>
              <a:rPr lang="zh-CN" altLang="en-US" sz="3200" b="1">
                <a:solidFill>
                  <a:srgbClr val="A50021"/>
                </a:solidFill>
                <a:ea typeface="楷体_GB2312" charset="0"/>
              </a:rPr>
              <a:t>  </a:t>
            </a:r>
            <a:r>
              <a:rPr lang="en-US" altLang="zh-CN" sz="3200" b="1">
                <a:solidFill>
                  <a:srgbClr val="A50021"/>
                </a:solidFill>
                <a:ea typeface="楷体_GB2312" charset="0"/>
              </a:rPr>
              <a:t>// </a:t>
            </a:r>
            <a:r>
              <a:rPr lang="zh-CN" altLang="en-US" sz="3200" b="1">
                <a:solidFill>
                  <a:srgbClr val="A50021"/>
                </a:solidFill>
                <a:ea typeface="楷体_GB2312" charset="0"/>
              </a:rPr>
              <a:t>数据元素，则删除该数据元素结点，并返回</a:t>
            </a:r>
          </a:p>
          <a:p>
            <a:pPr>
              <a:lnSpc>
                <a:spcPct val="125000"/>
              </a:lnSpc>
            </a:pPr>
            <a:r>
              <a:rPr lang="zh-CN" altLang="en-US" sz="3200" b="1">
                <a:solidFill>
                  <a:srgbClr val="A50021"/>
                </a:solidFill>
                <a:ea typeface="楷体_GB2312" charset="0"/>
              </a:rPr>
              <a:t>  </a:t>
            </a:r>
            <a:r>
              <a:rPr lang="en-US" altLang="zh-CN" sz="3200" b="1">
                <a:solidFill>
                  <a:srgbClr val="A50021"/>
                </a:solidFill>
                <a:ea typeface="楷体_GB2312" charset="0"/>
              </a:rPr>
              <a:t>// </a:t>
            </a:r>
            <a:r>
              <a:rPr lang="zh-CN" altLang="en-US" sz="3200" b="1">
                <a:solidFill>
                  <a:srgbClr val="A50021"/>
                </a:solidFill>
                <a:ea typeface="楷体_GB2312" charset="0"/>
              </a:rPr>
              <a:t>函数值 </a:t>
            </a:r>
            <a:r>
              <a:rPr lang="en-US" altLang="zh-CN" sz="3200" b="1">
                <a:solidFill>
                  <a:srgbClr val="A50021"/>
                </a:solidFill>
                <a:ea typeface="楷体_GB2312" charset="0"/>
              </a:rPr>
              <a:t>TRUE</a:t>
            </a:r>
            <a:r>
              <a:rPr lang="zh-CN" altLang="en-US" sz="3200" b="1">
                <a:solidFill>
                  <a:srgbClr val="A50021"/>
                </a:solidFill>
                <a:ea typeface="楷体_GB2312" charset="0"/>
              </a:rPr>
              <a:t>，否则返回函数值 </a:t>
            </a:r>
            <a:r>
              <a:rPr lang="en-US" altLang="zh-CN" sz="3200" b="1">
                <a:solidFill>
                  <a:srgbClr val="A50021"/>
                </a:solidFill>
                <a:ea typeface="楷体_GB2312" charset="0"/>
              </a:rPr>
              <a:t>FALSE</a:t>
            </a:r>
          </a:p>
          <a:p>
            <a:pPr>
              <a:lnSpc>
                <a:spcPct val="125000"/>
              </a:lnSpc>
            </a:pPr>
            <a:r>
              <a:rPr lang="en-US" altLang="zh-CN" sz="3600" b="1">
                <a:solidFill>
                  <a:srgbClr val="A50021"/>
                </a:solidFill>
                <a:ea typeface="楷体_GB2312" charset="0"/>
              </a:rPr>
              <a:t>  </a:t>
            </a:r>
            <a:r>
              <a:rPr lang="en-US" altLang="zh-CN" sz="3600" b="1">
                <a:solidFill>
                  <a:srgbClr val="FF00FF"/>
                </a:solidFill>
                <a:ea typeface="楷体_GB2312" charset="0"/>
              </a:rPr>
              <a:t>if</a:t>
            </a:r>
            <a:r>
              <a:rPr lang="en-US" altLang="zh-CN" sz="3600">
                <a:solidFill>
                  <a:srgbClr val="FF00FF"/>
                </a:solidFill>
                <a:ea typeface="楷体_GB2312" charset="0"/>
              </a:rPr>
              <a:t> (</a:t>
            </a:r>
            <a:r>
              <a:rPr lang="en-US" altLang="zh-CN" sz="3600" b="1">
                <a:solidFill>
                  <a:srgbClr val="FF00FF"/>
                </a:solidFill>
                <a:ea typeface="楷体_GB2312" charset="0"/>
              </a:rPr>
              <a:t>!T</a:t>
            </a:r>
            <a:r>
              <a:rPr lang="en-US" altLang="zh-CN" sz="3600">
                <a:solidFill>
                  <a:srgbClr val="FF00FF"/>
                </a:solidFill>
                <a:ea typeface="楷体_GB2312" charset="0"/>
              </a:rPr>
              <a:t>)  </a:t>
            </a:r>
            <a:r>
              <a:rPr lang="en-US" altLang="zh-CN" sz="3600" b="1">
                <a:solidFill>
                  <a:srgbClr val="FF00FF"/>
                </a:solidFill>
                <a:ea typeface="楷体_GB2312" charset="0"/>
              </a:rPr>
              <a:t>return FALSE</a:t>
            </a:r>
            <a:r>
              <a:rPr lang="en-US" altLang="zh-CN" sz="3600">
                <a:solidFill>
                  <a:srgbClr val="FF00FF"/>
                </a:solidFill>
                <a:ea typeface="楷体_GB2312" charset="0"/>
              </a:rPr>
              <a:t>;</a:t>
            </a:r>
          </a:p>
          <a:p>
            <a:pPr>
              <a:lnSpc>
                <a:spcPct val="125000"/>
              </a:lnSpc>
            </a:pPr>
            <a:r>
              <a:rPr lang="en-US" altLang="zh-CN" sz="3600">
                <a:solidFill>
                  <a:srgbClr val="A50021"/>
                </a:solidFill>
                <a:ea typeface="楷体_GB2312" charset="0"/>
              </a:rPr>
              <a:t>      	// </a:t>
            </a:r>
            <a:r>
              <a:rPr lang="zh-CN" altLang="en-US" sz="3600">
                <a:solidFill>
                  <a:srgbClr val="A50021"/>
                </a:solidFill>
                <a:ea typeface="楷体_GB2312" charset="0"/>
              </a:rPr>
              <a:t>不存在关键字等于</a:t>
            </a:r>
            <a:r>
              <a:rPr lang="en-US" altLang="zh-CN" sz="3600">
                <a:solidFill>
                  <a:srgbClr val="A50021"/>
                </a:solidFill>
                <a:ea typeface="楷体_GB2312" charset="0"/>
              </a:rPr>
              <a:t>key</a:t>
            </a:r>
            <a:r>
              <a:rPr lang="zh-CN" altLang="en-US" sz="3600">
                <a:solidFill>
                  <a:srgbClr val="A50021"/>
                </a:solidFill>
                <a:ea typeface="楷体_GB2312" charset="0"/>
              </a:rPr>
              <a:t>的数据元素</a:t>
            </a:r>
          </a:p>
          <a:p>
            <a:pPr>
              <a:lnSpc>
                <a:spcPct val="125000"/>
              </a:lnSpc>
            </a:pPr>
            <a:r>
              <a:rPr lang="zh-CN" altLang="en-US" sz="3600">
                <a:solidFill>
                  <a:srgbClr val="A50021"/>
                </a:solidFill>
                <a:ea typeface="楷体_GB2312" charset="0"/>
              </a:rPr>
              <a:t>  </a:t>
            </a:r>
            <a:r>
              <a:rPr lang="en-US" altLang="zh-CN" sz="3600" b="1">
                <a:solidFill>
                  <a:srgbClr val="FF00FF"/>
                </a:solidFill>
                <a:ea typeface="楷体_GB2312" charset="0"/>
              </a:rPr>
              <a:t>else {                       }</a:t>
            </a:r>
            <a:endParaRPr lang="en-US" altLang="zh-CN" sz="3600" b="1">
              <a:solidFill>
                <a:srgbClr val="A50021"/>
              </a:solidFill>
              <a:ea typeface="楷体_GB2312" charset="0"/>
            </a:endParaRPr>
          </a:p>
          <a:p>
            <a:pPr>
              <a:lnSpc>
                <a:spcPct val="125000"/>
              </a:lnSpc>
            </a:pPr>
            <a:r>
              <a:rPr lang="en-US" altLang="zh-CN" sz="3600" b="1">
                <a:solidFill>
                  <a:srgbClr val="A50021"/>
                </a:solidFill>
                <a:ea typeface="楷体_GB2312" charset="0"/>
              </a:rPr>
              <a:t>}</a:t>
            </a:r>
            <a:r>
              <a:rPr lang="en-US" altLang="zh-CN" sz="3600">
                <a:solidFill>
                  <a:srgbClr val="A50021"/>
                </a:solidFill>
                <a:ea typeface="楷体_GB2312" charset="0"/>
              </a:rPr>
              <a:t> // DeleteBST</a:t>
            </a:r>
          </a:p>
        </p:txBody>
      </p:sp>
      <p:sp>
        <p:nvSpPr>
          <p:cNvPr id="79875" name="Text Box 3"/>
          <p:cNvSpPr txBox="1">
            <a:spLocks noChangeArrowheads="1"/>
          </p:cNvSpPr>
          <p:nvPr/>
        </p:nvSpPr>
        <p:spPr bwMode="auto">
          <a:xfrm>
            <a:off x="685800" y="304800"/>
            <a:ext cx="34067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A50021"/>
                </a:solidFill>
                <a:ea typeface="楷体_GB2312" charset="0"/>
              </a:rPr>
              <a:t>算法描述如下：</a:t>
            </a:r>
            <a:endParaRPr lang="zh-CN" altLang="en-US" sz="3600">
              <a:ea typeface="楷体_GB2312" charset="0"/>
            </a:endParaRPr>
          </a:p>
        </p:txBody>
      </p:sp>
      <p:sp>
        <p:nvSpPr>
          <p:cNvPr id="79876" name="Text Box 4">
            <a:hlinkClick r:id="" action="ppaction://hlinkshowjump?jump=nextslide"/>
          </p:cNvPr>
          <p:cNvSpPr txBox="1">
            <a:spLocks noChangeArrowheads="1"/>
          </p:cNvSpPr>
          <p:nvPr/>
        </p:nvSpPr>
        <p:spPr bwMode="auto">
          <a:xfrm>
            <a:off x="1676400" y="4953000"/>
            <a:ext cx="2286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4000" b="1">
                <a:solidFill>
                  <a:srgbClr val="FF00FF"/>
                </a:solidFill>
              </a:rPr>
              <a:t>    … …</a:t>
            </a:r>
            <a:endParaRPr lang="en-US" altLang="zh-CN" sz="3600"/>
          </a:p>
        </p:txBody>
      </p:sp>
      <p:sp>
        <p:nvSpPr>
          <p:cNvPr id="79878" name="AutoShape 6">
            <a:hlinkClick r:id="rId2" action="ppaction://hlinksldjump" highlightClick="1"/>
          </p:cNvPr>
          <p:cNvSpPr>
            <a:spLocks noChangeArrowheads="1"/>
          </p:cNvSpPr>
          <p:nvPr/>
        </p:nvSpPr>
        <p:spPr bwMode="auto">
          <a:xfrm>
            <a:off x="83058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333264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9875"/>
                                        </p:tgtEl>
                                        <p:attrNameLst>
                                          <p:attrName>style.visibility</p:attrName>
                                        </p:attrNameLst>
                                      </p:cBhvr>
                                      <p:to>
                                        <p:strVal val="visible"/>
                                      </p:to>
                                    </p:set>
                                    <p:anim calcmode="lin" valueType="num">
                                      <p:cBhvr additive="base">
                                        <p:cTn id="7" dur="500" fill="hold"/>
                                        <p:tgtEl>
                                          <p:spTgt spid="79875"/>
                                        </p:tgtEl>
                                        <p:attrNameLst>
                                          <p:attrName>ppt_x</p:attrName>
                                        </p:attrNameLst>
                                      </p:cBhvr>
                                      <p:tavLst>
                                        <p:tav tm="0">
                                          <p:val>
                                            <p:strVal val="0-#ppt_w/2"/>
                                          </p:val>
                                        </p:tav>
                                        <p:tav tm="100000">
                                          <p:val>
                                            <p:strVal val="#ppt_x"/>
                                          </p:val>
                                        </p:tav>
                                      </p:tavLst>
                                    </p:anim>
                                    <p:anim calcmode="lin" valueType="num">
                                      <p:cBhvr additive="base">
                                        <p:cTn id="8" dur="500" fill="hold"/>
                                        <p:tgtEl>
                                          <p:spTgt spid="7987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79874"/>
                                        </p:tgtEl>
                                        <p:attrNameLst>
                                          <p:attrName>style.visibility</p:attrName>
                                        </p:attrNameLst>
                                      </p:cBhvr>
                                      <p:to>
                                        <p:strVal val="visible"/>
                                      </p:to>
                                    </p:set>
                                    <p:animEffect transition="in" filter="strips(downLeft)">
                                      <p:cBhvr>
                                        <p:cTn id="13" dur="500"/>
                                        <p:tgtEl>
                                          <p:spTgt spid="79874"/>
                                        </p:tgtEl>
                                      </p:cBhvr>
                                    </p:animEffect>
                                  </p:childTnLst>
                                </p:cTn>
                              </p:par>
                            </p:childTnLst>
                          </p:cTn>
                        </p:par>
                        <p:par>
                          <p:cTn id="14" fill="hold" nodeType="afterGroup">
                            <p:stCondLst>
                              <p:cond delay="500"/>
                            </p:stCondLst>
                            <p:childTnLst>
                              <p:par>
                                <p:cTn id="15" presetID="12" presetClass="entr" presetSubtype="8" fill="hold" grpId="0" nodeType="afterEffect">
                                  <p:stCondLst>
                                    <p:cond delay="0"/>
                                  </p:stCondLst>
                                  <p:childTnLst>
                                    <p:set>
                                      <p:cBhvr>
                                        <p:cTn id="16" dur="1" fill="hold">
                                          <p:stCondLst>
                                            <p:cond delay="0"/>
                                          </p:stCondLst>
                                        </p:cTn>
                                        <p:tgtEl>
                                          <p:spTgt spid="79876"/>
                                        </p:tgtEl>
                                        <p:attrNameLst>
                                          <p:attrName>style.visibility</p:attrName>
                                        </p:attrNameLst>
                                      </p:cBhvr>
                                      <p:to>
                                        <p:strVal val="visible"/>
                                      </p:to>
                                    </p:set>
                                    <p:animEffect transition="in" filter="slide(fromLeft)">
                                      <p:cBhvr>
                                        <p:cTn id="17" dur="500"/>
                                        <p:tgtEl>
                                          <p:spTgt spid="79876"/>
                                        </p:tgtEl>
                                      </p:cBhvr>
                                    </p:animEffect>
                                  </p:childTnLst>
                                </p:cTn>
                              </p:par>
                            </p:childTnLst>
                          </p:cTn>
                        </p:par>
                        <p:par>
                          <p:cTn id="18" fill="hold" nodeType="afterGroup">
                            <p:stCondLst>
                              <p:cond delay="1000"/>
                            </p:stCondLst>
                            <p:childTnLst>
                              <p:par>
                                <p:cTn id="19" presetID="2" presetClass="entr" presetSubtype="6" fill="hold" grpId="0" nodeType="afterEffect">
                                  <p:stCondLst>
                                    <p:cond delay="0"/>
                                  </p:stCondLst>
                                  <p:childTnLst>
                                    <p:set>
                                      <p:cBhvr>
                                        <p:cTn id="20" dur="1" fill="hold">
                                          <p:stCondLst>
                                            <p:cond delay="0"/>
                                          </p:stCondLst>
                                        </p:cTn>
                                        <p:tgtEl>
                                          <p:spTgt spid="79878"/>
                                        </p:tgtEl>
                                        <p:attrNameLst>
                                          <p:attrName>style.visibility</p:attrName>
                                        </p:attrNameLst>
                                      </p:cBhvr>
                                      <p:to>
                                        <p:strVal val="visible"/>
                                      </p:to>
                                    </p:set>
                                    <p:anim calcmode="lin" valueType="num">
                                      <p:cBhvr additive="base">
                                        <p:cTn id="21" dur="500" fill="hold"/>
                                        <p:tgtEl>
                                          <p:spTgt spid="79878"/>
                                        </p:tgtEl>
                                        <p:attrNameLst>
                                          <p:attrName>ppt_x</p:attrName>
                                        </p:attrNameLst>
                                      </p:cBhvr>
                                      <p:tavLst>
                                        <p:tav tm="0">
                                          <p:val>
                                            <p:strVal val="1+#ppt_w/2"/>
                                          </p:val>
                                        </p:tav>
                                        <p:tav tm="100000">
                                          <p:val>
                                            <p:strVal val="#ppt_x"/>
                                          </p:val>
                                        </p:tav>
                                      </p:tavLst>
                                    </p:anim>
                                    <p:anim calcmode="lin" valueType="num">
                                      <p:cBhvr additive="base">
                                        <p:cTn id="22" dur="500" fill="hold"/>
                                        <p:tgtEl>
                                          <p:spTgt spid="798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autoUpdateAnimBg="0"/>
      <p:bldP spid="79875" grpId="0" autoUpdateAnimBg="0"/>
      <p:bldP spid="79876" grpId="0" autoUpdateAnimBg="0"/>
      <p:bldP spid="7987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1026"/>
          <p:cNvSpPr>
            <a:spLocks noChangeArrowheads="1"/>
          </p:cNvSpPr>
          <p:nvPr/>
        </p:nvSpPr>
        <p:spPr bwMode="auto">
          <a:xfrm>
            <a:off x="1149350" y="304800"/>
            <a:ext cx="7004050" cy="547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lang="en-US" altLang="zh-CN" sz="3600" b="1">
                <a:solidFill>
                  <a:srgbClr val="A50021"/>
                </a:solidFill>
                <a:ea typeface="楷体_GB2312" charset="0"/>
              </a:rPr>
              <a:t>if</a:t>
            </a:r>
            <a:r>
              <a:rPr lang="en-US" altLang="zh-CN" sz="3600">
                <a:solidFill>
                  <a:srgbClr val="A50021"/>
                </a:solidFill>
                <a:ea typeface="楷体_GB2312" charset="0"/>
              </a:rPr>
              <a:t> ( EQ (key, T-&gt;data.key) ) </a:t>
            </a:r>
          </a:p>
          <a:p>
            <a:pPr>
              <a:lnSpc>
                <a:spcPct val="140000"/>
              </a:lnSpc>
            </a:pPr>
            <a:endParaRPr lang="en-US" altLang="zh-CN" sz="3600">
              <a:solidFill>
                <a:srgbClr val="A50021"/>
              </a:solidFill>
              <a:ea typeface="楷体_GB2312" charset="0"/>
            </a:endParaRPr>
          </a:p>
          <a:p>
            <a:pPr>
              <a:lnSpc>
                <a:spcPct val="140000"/>
              </a:lnSpc>
            </a:pPr>
            <a:r>
              <a:rPr lang="en-US" altLang="zh-CN" sz="3600">
                <a:solidFill>
                  <a:srgbClr val="A50021"/>
                </a:solidFill>
                <a:ea typeface="楷体_GB2312" charset="0"/>
              </a:rPr>
              <a:t>	 </a:t>
            </a:r>
            <a:r>
              <a:rPr lang="en-US" altLang="zh-CN" sz="3200">
                <a:solidFill>
                  <a:srgbClr val="A50021"/>
                </a:solidFill>
                <a:ea typeface="楷体_GB2312" charset="0"/>
              </a:rPr>
              <a:t>// </a:t>
            </a:r>
            <a:r>
              <a:rPr lang="zh-CN" altLang="en-US" sz="3200">
                <a:solidFill>
                  <a:srgbClr val="A50021"/>
                </a:solidFill>
                <a:ea typeface="楷体_GB2312" charset="0"/>
              </a:rPr>
              <a:t>找到关键字等于</a:t>
            </a:r>
            <a:r>
              <a:rPr lang="en-US" altLang="zh-CN" sz="3200">
                <a:solidFill>
                  <a:srgbClr val="A50021"/>
                </a:solidFill>
                <a:ea typeface="楷体_GB2312" charset="0"/>
              </a:rPr>
              <a:t>key</a:t>
            </a:r>
            <a:r>
              <a:rPr lang="zh-CN" altLang="en-US" sz="3200">
                <a:solidFill>
                  <a:srgbClr val="A50021"/>
                </a:solidFill>
                <a:ea typeface="楷体_GB2312" charset="0"/>
              </a:rPr>
              <a:t>的数据元素</a:t>
            </a:r>
          </a:p>
          <a:p>
            <a:pPr>
              <a:lnSpc>
                <a:spcPct val="140000"/>
              </a:lnSpc>
            </a:pPr>
            <a:r>
              <a:rPr lang="en-US" altLang="zh-CN" sz="3600" b="1">
                <a:solidFill>
                  <a:srgbClr val="A50021"/>
                </a:solidFill>
                <a:ea typeface="楷体_GB2312" charset="0"/>
              </a:rPr>
              <a:t>else if</a:t>
            </a:r>
            <a:r>
              <a:rPr lang="en-US" altLang="zh-CN" sz="3600">
                <a:solidFill>
                  <a:srgbClr val="A50021"/>
                </a:solidFill>
                <a:ea typeface="楷体_GB2312" charset="0"/>
              </a:rPr>
              <a:t> ( LT (key, T-&gt;data.key) )</a:t>
            </a:r>
          </a:p>
          <a:p>
            <a:pPr>
              <a:lnSpc>
                <a:spcPct val="140000"/>
              </a:lnSpc>
            </a:pPr>
            <a:r>
              <a:rPr lang="en-US" altLang="zh-CN" sz="3600">
                <a:solidFill>
                  <a:srgbClr val="A50021"/>
                </a:solidFill>
                <a:ea typeface="楷体_GB2312" charset="0"/>
              </a:rPr>
              <a:t> </a:t>
            </a:r>
          </a:p>
          <a:p>
            <a:pPr>
              <a:lnSpc>
                <a:spcPct val="140000"/>
              </a:lnSpc>
            </a:pPr>
            <a:endParaRPr lang="en-US" altLang="zh-CN" sz="3600">
              <a:solidFill>
                <a:srgbClr val="A50021"/>
              </a:solidFill>
              <a:ea typeface="楷体_GB2312" charset="0"/>
            </a:endParaRPr>
          </a:p>
          <a:p>
            <a:pPr>
              <a:lnSpc>
                <a:spcPct val="140000"/>
              </a:lnSpc>
            </a:pPr>
            <a:r>
              <a:rPr lang="en-US" altLang="zh-CN" sz="3600" b="1">
                <a:solidFill>
                  <a:srgbClr val="A50021"/>
                </a:solidFill>
                <a:ea typeface="楷体_GB2312" charset="0"/>
              </a:rPr>
              <a:t>else</a:t>
            </a:r>
            <a:endParaRPr lang="en-US" altLang="zh-CN" sz="3200">
              <a:solidFill>
                <a:schemeClr val="accent2"/>
              </a:solidFill>
              <a:ea typeface="楷体_GB2312" charset="0"/>
            </a:endParaRPr>
          </a:p>
        </p:txBody>
      </p:sp>
      <p:sp>
        <p:nvSpPr>
          <p:cNvPr id="202755" name="Rectangle 1027">
            <a:hlinkClick r:id="" action="ppaction://hlinkshowjump?jump=nextslide"/>
          </p:cNvPr>
          <p:cNvSpPr>
            <a:spLocks noChangeArrowheads="1"/>
          </p:cNvSpPr>
          <p:nvPr/>
        </p:nvSpPr>
        <p:spPr bwMode="auto">
          <a:xfrm>
            <a:off x="1654175" y="1120775"/>
            <a:ext cx="6194425"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lang="en-US" altLang="zh-CN" sz="3600" b="1">
                <a:solidFill>
                  <a:srgbClr val="FF00FF"/>
                </a:solidFill>
                <a:ea typeface="楷体_GB2312" charset="0"/>
              </a:rPr>
              <a:t>{  Delete (T)</a:t>
            </a:r>
            <a:r>
              <a:rPr lang="en-US" altLang="zh-CN" sz="3600">
                <a:solidFill>
                  <a:srgbClr val="FF00FF"/>
                </a:solidFill>
                <a:ea typeface="楷体_GB2312" charset="0"/>
              </a:rPr>
              <a:t>;   </a:t>
            </a:r>
            <a:r>
              <a:rPr lang="en-US" altLang="zh-CN" sz="3600" b="1">
                <a:solidFill>
                  <a:srgbClr val="FF00FF"/>
                </a:solidFill>
                <a:ea typeface="楷体_GB2312" charset="0"/>
              </a:rPr>
              <a:t>return TRUE</a:t>
            </a:r>
            <a:r>
              <a:rPr lang="en-US" altLang="zh-CN" sz="3600">
                <a:solidFill>
                  <a:srgbClr val="FF00FF"/>
                </a:solidFill>
                <a:ea typeface="楷体_GB2312" charset="0"/>
              </a:rPr>
              <a:t>;  </a:t>
            </a:r>
            <a:r>
              <a:rPr lang="en-US" altLang="zh-CN" sz="3600" b="1">
                <a:solidFill>
                  <a:srgbClr val="FF00FF"/>
                </a:solidFill>
                <a:ea typeface="楷体_GB2312" charset="0"/>
              </a:rPr>
              <a:t>}</a:t>
            </a:r>
            <a:endParaRPr lang="en-US" altLang="zh-CN" sz="3600">
              <a:solidFill>
                <a:srgbClr val="A50021"/>
              </a:solidFill>
              <a:ea typeface="楷体_GB2312" charset="0"/>
            </a:endParaRPr>
          </a:p>
        </p:txBody>
      </p:sp>
      <p:sp>
        <p:nvSpPr>
          <p:cNvPr id="202756" name="Rectangle 1028"/>
          <p:cNvSpPr>
            <a:spLocks noChangeArrowheads="1"/>
          </p:cNvSpPr>
          <p:nvPr/>
        </p:nvSpPr>
        <p:spPr bwMode="auto">
          <a:xfrm>
            <a:off x="1143000" y="3352800"/>
            <a:ext cx="6638925"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lang="en-US" altLang="zh-CN" sz="3600">
                <a:solidFill>
                  <a:srgbClr val="A50021"/>
                </a:solidFill>
                <a:ea typeface="楷体_GB2312" charset="0"/>
              </a:rPr>
              <a:t>	 </a:t>
            </a:r>
            <a:r>
              <a:rPr lang="en-US" altLang="zh-CN" sz="3600">
                <a:solidFill>
                  <a:schemeClr val="accent2"/>
                </a:solidFill>
                <a:ea typeface="楷体_GB2312" charset="0"/>
              </a:rPr>
              <a:t>DeleteBST ( T-&gt;lchild, key );</a:t>
            </a:r>
          </a:p>
          <a:p>
            <a:pPr>
              <a:lnSpc>
                <a:spcPct val="140000"/>
              </a:lnSpc>
            </a:pPr>
            <a:r>
              <a:rPr lang="en-US" altLang="zh-CN" sz="3600">
                <a:solidFill>
                  <a:schemeClr val="accent2"/>
                </a:solidFill>
                <a:ea typeface="楷体_GB2312" charset="0"/>
              </a:rPr>
              <a:t>            </a:t>
            </a:r>
            <a:r>
              <a:rPr lang="en-US" altLang="zh-CN" sz="3200">
                <a:solidFill>
                  <a:schemeClr val="accent2"/>
                </a:solidFill>
                <a:ea typeface="楷体_GB2312" charset="0"/>
              </a:rPr>
              <a:t>// </a:t>
            </a:r>
            <a:r>
              <a:rPr lang="zh-CN" altLang="en-US" sz="3200">
                <a:solidFill>
                  <a:schemeClr val="accent2"/>
                </a:solidFill>
                <a:ea typeface="楷体_GB2312" charset="0"/>
              </a:rPr>
              <a:t>继续在左子树中进行查找</a:t>
            </a:r>
          </a:p>
        </p:txBody>
      </p:sp>
      <p:sp>
        <p:nvSpPr>
          <p:cNvPr id="202757" name="Rectangle 1029"/>
          <p:cNvSpPr>
            <a:spLocks noChangeArrowheads="1"/>
          </p:cNvSpPr>
          <p:nvPr/>
        </p:nvSpPr>
        <p:spPr bwMode="auto">
          <a:xfrm>
            <a:off x="2133600" y="4933950"/>
            <a:ext cx="5635625"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lang="en-US" altLang="zh-CN" sz="3600">
                <a:solidFill>
                  <a:schemeClr val="accent2"/>
                </a:solidFill>
                <a:ea typeface="楷体_GB2312" charset="0"/>
              </a:rPr>
              <a:t>DeleteBST ( T-&gt;rchild, key );</a:t>
            </a:r>
          </a:p>
          <a:p>
            <a:pPr>
              <a:lnSpc>
                <a:spcPct val="140000"/>
              </a:lnSpc>
            </a:pPr>
            <a:r>
              <a:rPr lang="en-US" altLang="zh-CN" sz="3200">
                <a:solidFill>
                  <a:schemeClr val="accent2"/>
                </a:solidFill>
                <a:ea typeface="楷体_GB2312" charset="0"/>
              </a:rPr>
              <a:t>   // </a:t>
            </a:r>
            <a:r>
              <a:rPr lang="zh-CN" altLang="en-US" sz="3200">
                <a:solidFill>
                  <a:schemeClr val="accent2"/>
                </a:solidFill>
                <a:ea typeface="楷体_GB2312" charset="0"/>
              </a:rPr>
              <a:t>继续在右子树中进行查找</a:t>
            </a:r>
          </a:p>
        </p:txBody>
      </p:sp>
      <p:sp>
        <p:nvSpPr>
          <p:cNvPr id="202759" name="AutoShape 1031">
            <a:hlinkClick r:id="" action="ppaction://hlinkshowjump?jump=previousslide" highlightClick="1"/>
          </p:cNvPr>
          <p:cNvSpPr>
            <a:spLocks noChangeArrowheads="1"/>
          </p:cNvSpPr>
          <p:nvPr/>
        </p:nvSpPr>
        <p:spPr bwMode="auto">
          <a:xfrm>
            <a:off x="8305800" y="60960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8636774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02754"/>
                                        </p:tgtEl>
                                        <p:attrNameLst>
                                          <p:attrName>style.visibility</p:attrName>
                                        </p:attrNameLst>
                                      </p:cBhvr>
                                      <p:to>
                                        <p:strVal val="visible"/>
                                      </p:to>
                                    </p:set>
                                    <p:animEffect transition="in" filter="strips(downRight)">
                                      <p:cBhvr>
                                        <p:cTn id="7" dur="500"/>
                                        <p:tgtEl>
                                          <p:spTgt spid="2027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2755"/>
                                        </p:tgtEl>
                                        <p:attrNameLst>
                                          <p:attrName>style.visibility</p:attrName>
                                        </p:attrNameLst>
                                      </p:cBhvr>
                                      <p:to>
                                        <p:strVal val="visible"/>
                                      </p:to>
                                    </p:set>
                                    <p:animEffect transition="in" filter="wipe(left)">
                                      <p:cBhvr>
                                        <p:cTn id="12" dur="500"/>
                                        <p:tgtEl>
                                          <p:spTgt spid="2027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2756"/>
                                        </p:tgtEl>
                                        <p:attrNameLst>
                                          <p:attrName>style.visibility</p:attrName>
                                        </p:attrNameLst>
                                      </p:cBhvr>
                                      <p:to>
                                        <p:strVal val="visible"/>
                                      </p:to>
                                    </p:set>
                                    <p:animEffect transition="in" filter="wipe(left)">
                                      <p:cBhvr>
                                        <p:cTn id="17" dur="500"/>
                                        <p:tgtEl>
                                          <p:spTgt spid="2027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2757"/>
                                        </p:tgtEl>
                                        <p:attrNameLst>
                                          <p:attrName>style.visibility</p:attrName>
                                        </p:attrNameLst>
                                      </p:cBhvr>
                                      <p:to>
                                        <p:strVal val="visible"/>
                                      </p:to>
                                    </p:set>
                                    <p:animEffect transition="in" filter="wipe(left)">
                                      <p:cBhvr>
                                        <p:cTn id="22" dur="500"/>
                                        <p:tgtEl>
                                          <p:spTgt spid="202757"/>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202759"/>
                                        </p:tgtEl>
                                        <p:attrNameLst>
                                          <p:attrName>style.visibility</p:attrName>
                                        </p:attrNameLst>
                                      </p:cBhvr>
                                      <p:to>
                                        <p:strVal val="visible"/>
                                      </p:to>
                                    </p:set>
                                    <p:anim calcmode="lin" valueType="num">
                                      <p:cBhvr additive="base">
                                        <p:cTn id="26" dur="500" fill="hold"/>
                                        <p:tgtEl>
                                          <p:spTgt spid="202759"/>
                                        </p:tgtEl>
                                        <p:attrNameLst>
                                          <p:attrName>ppt_x</p:attrName>
                                        </p:attrNameLst>
                                      </p:cBhvr>
                                      <p:tavLst>
                                        <p:tav tm="0">
                                          <p:val>
                                            <p:strVal val="1+#ppt_w/2"/>
                                          </p:val>
                                        </p:tav>
                                        <p:tav tm="100000">
                                          <p:val>
                                            <p:strVal val="#ppt_x"/>
                                          </p:val>
                                        </p:tav>
                                      </p:tavLst>
                                    </p:anim>
                                    <p:anim calcmode="lin" valueType="num">
                                      <p:cBhvr additive="base">
                                        <p:cTn id="27" dur="500" fill="hold"/>
                                        <p:tgtEl>
                                          <p:spTgt spid="2027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4" grpId="0" autoUpdateAnimBg="0"/>
      <p:bldP spid="202755" grpId="0" autoUpdateAnimBg="0"/>
      <p:bldP spid="202756" grpId="0" autoUpdateAnimBg="0"/>
      <p:bldP spid="202757" grpId="0" autoUpdateAnimBg="0"/>
      <p:bldP spid="202759"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762000" y="1058863"/>
            <a:ext cx="7391400" cy="5113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35000"/>
              </a:lnSpc>
            </a:pPr>
            <a:r>
              <a:rPr lang="en-US" altLang="zh-CN" sz="3600" b="1">
                <a:solidFill>
                  <a:srgbClr val="A50021"/>
                </a:solidFill>
                <a:ea typeface="楷体_GB2312" charset="0"/>
              </a:rPr>
              <a:t>void</a:t>
            </a:r>
            <a:r>
              <a:rPr lang="en-US" altLang="zh-CN" sz="3600">
                <a:solidFill>
                  <a:srgbClr val="A50021"/>
                </a:solidFill>
                <a:ea typeface="楷体_GB2312" charset="0"/>
              </a:rPr>
              <a:t> Delete ( BiTree </a:t>
            </a:r>
            <a:r>
              <a:rPr lang="en-US" altLang="zh-CN" sz="3600" b="1">
                <a:solidFill>
                  <a:srgbClr val="A50021"/>
                </a:solidFill>
                <a:ea typeface="楷体_GB2312" charset="0"/>
              </a:rPr>
              <a:t>&amp;</a:t>
            </a:r>
            <a:r>
              <a:rPr lang="en-US" altLang="zh-CN" sz="3600">
                <a:solidFill>
                  <a:srgbClr val="A50021"/>
                </a:solidFill>
                <a:ea typeface="楷体_GB2312" charset="0"/>
              </a:rPr>
              <a:t>p )</a:t>
            </a:r>
            <a:r>
              <a:rPr lang="en-US" altLang="zh-CN" sz="3600" b="1">
                <a:solidFill>
                  <a:srgbClr val="A50021"/>
                </a:solidFill>
                <a:ea typeface="楷体_GB2312" charset="0"/>
              </a:rPr>
              <a:t>{</a:t>
            </a:r>
          </a:p>
          <a:p>
            <a:pPr>
              <a:lnSpc>
                <a:spcPct val="135000"/>
              </a:lnSpc>
            </a:pPr>
            <a:r>
              <a:rPr lang="en-US" altLang="zh-CN" sz="3200">
                <a:solidFill>
                  <a:srgbClr val="A50021"/>
                </a:solidFill>
                <a:ea typeface="楷体_GB2312" charset="0"/>
              </a:rPr>
              <a:t>   // </a:t>
            </a:r>
            <a:r>
              <a:rPr lang="zh-CN" altLang="zh-CN" sz="3200">
                <a:solidFill>
                  <a:srgbClr val="A50021"/>
                </a:solidFill>
                <a:ea typeface="楷体_GB2312" charset="0"/>
              </a:rPr>
              <a:t>从</a:t>
            </a:r>
            <a:r>
              <a:rPr lang="zh-CN" altLang="en-US" sz="3200">
                <a:solidFill>
                  <a:srgbClr val="A50021"/>
                </a:solidFill>
                <a:ea typeface="楷体_GB2312" charset="0"/>
              </a:rPr>
              <a:t>二叉排序树中删除结点 </a:t>
            </a:r>
            <a:r>
              <a:rPr lang="en-US" altLang="zh-CN" sz="3200">
                <a:solidFill>
                  <a:srgbClr val="A50021"/>
                </a:solidFill>
                <a:ea typeface="楷体_GB2312" charset="0"/>
              </a:rPr>
              <a:t>p</a:t>
            </a:r>
            <a:r>
              <a:rPr lang="zh-CN" altLang="en-US" sz="3200">
                <a:solidFill>
                  <a:srgbClr val="A50021"/>
                </a:solidFill>
                <a:ea typeface="楷体_GB2312" charset="0"/>
              </a:rPr>
              <a:t>，</a:t>
            </a:r>
          </a:p>
          <a:p>
            <a:pPr>
              <a:lnSpc>
                <a:spcPct val="135000"/>
              </a:lnSpc>
            </a:pPr>
            <a:r>
              <a:rPr lang="zh-CN" altLang="en-US" sz="3200">
                <a:solidFill>
                  <a:srgbClr val="A50021"/>
                </a:solidFill>
                <a:ea typeface="楷体_GB2312" charset="0"/>
              </a:rPr>
              <a:t>   </a:t>
            </a:r>
            <a:r>
              <a:rPr lang="en-US" altLang="zh-CN" sz="3200">
                <a:solidFill>
                  <a:srgbClr val="A50021"/>
                </a:solidFill>
                <a:ea typeface="楷体_GB2312" charset="0"/>
              </a:rPr>
              <a:t>// </a:t>
            </a:r>
            <a:r>
              <a:rPr lang="zh-CN" altLang="en-US" sz="3200">
                <a:solidFill>
                  <a:srgbClr val="A50021"/>
                </a:solidFill>
                <a:ea typeface="楷体_GB2312" charset="0"/>
              </a:rPr>
              <a:t>并重接它的左子树或右子树</a:t>
            </a:r>
            <a:endParaRPr lang="zh-CN" altLang="en-US" sz="3200">
              <a:ea typeface="楷体_GB2312" charset="0"/>
            </a:endParaRPr>
          </a:p>
          <a:p>
            <a:pPr>
              <a:lnSpc>
                <a:spcPct val="135000"/>
              </a:lnSpc>
            </a:pPr>
            <a:r>
              <a:rPr lang="zh-CN" altLang="en-US" sz="3600" b="1">
                <a:solidFill>
                  <a:srgbClr val="A50021"/>
                </a:solidFill>
                <a:ea typeface="楷体_GB2312" charset="0"/>
              </a:rPr>
              <a:t>   </a:t>
            </a:r>
            <a:r>
              <a:rPr lang="en-US" altLang="zh-CN" sz="3600" b="1">
                <a:solidFill>
                  <a:srgbClr val="A50021"/>
                </a:solidFill>
                <a:ea typeface="楷体_GB2312" charset="0"/>
              </a:rPr>
              <a:t>if</a:t>
            </a:r>
            <a:r>
              <a:rPr lang="en-US" altLang="zh-CN" sz="3600">
                <a:ea typeface="楷体_GB2312" charset="0"/>
              </a:rPr>
              <a:t> </a:t>
            </a:r>
            <a:r>
              <a:rPr lang="en-US" altLang="zh-CN" sz="3600">
                <a:solidFill>
                  <a:srgbClr val="FF0000"/>
                </a:solidFill>
                <a:ea typeface="楷体_GB2312" charset="0"/>
              </a:rPr>
              <a:t>(</a:t>
            </a:r>
            <a:r>
              <a:rPr lang="en-US" altLang="zh-CN" sz="3600" b="1">
                <a:solidFill>
                  <a:srgbClr val="FF0000"/>
                </a:solidFill>
                <a:ea typeface="楷体_GB2312" charset="0"/>
              </a:rPr>
              <a:t>!</a:t>
            </a:r>
            <a:r>
              <a:rPr lang="en-US" altLang="zh-CN" sz="3600">
                <a:solidFill>
                  <a:srgbClr val="FF0000"/>
                </a:solidFill>
                <a:ea typeface="楷体_GB2312" charset="0"/>
              </a:rPr>
              <a:t>p-&gt;rchild) </a:t>
            </a:r>
            <a:r>
              <a:rPr lang="en-US" altLang="zh-CN" sz="3600">
                <a:ea typeface="楷体_GB2312" charset="0"/>
              </a:rPr>
              <a:t> </a:t>
            </a:r>
            <a:r>
              <a:rPr lang="en-US" altLang="zh-CN" sz="3600" b="1">
                <a:solidFill>
                  <a:srgbClr val="A50021"/>
                </a:solidFill>
                <a:ea typeface="楷体_GB2312" charset="0"/>
              </a:rPr>
              <a:t>{               }</a:t>
            </a:r>
            <a:r>
              <a:rPr lang="en-US" altLang="zh-CN" sz="3600">
                <a:solidFill>
                  <a:srgbClr val="A50021"/>
                </a:solidFill>
                <a:ea typeface="楷体_GB2312" charset="0"/>
              </a:rPr>
              <a:t> </a:t>
            </a:r>
          </a:p>
          <a:p>
            <a:pPr>
              <a:lnSpc>
                <a:spcPct val="135000"/>
              </a:lnSpc>
            </a:pPr>
            <a:r>
              <a:rPr lang="en-US" altLang="zh-CN" sz="3600" b="1">
                <a:solidFill>
                  <a:srgbClr val="A50021"/>
                </a:solidFill>
                <a:ea typeface="楷体_GB2312" charset="0"/>
              </a:rPr>
              <a:t>   else if</a:t>
            </a:r>
            <a:r>
              <a:rPr lang="en-US" altLang="zh-CN" sz="3600">
                <a:ea typeface="楷体_GB2312" charset="0"/>
              </a:rPr>
              <a:t> </a:t>
            </a:r>
            <a:r>
              <a:rPr lang="en-US" altLang="zh-CN" sz="3600">
                <a:solidFill>
                  <a:srgbClr val="FF0000"/>
                </a:solidFill>
                <a:ea typeface="楷体_GB2312" charset="0"/>
              </a:rPr>
              <a:t>(</a:t>
            </a:r>
            <a:r>
              <a:rPr lang="en-US" altLang="zh-CN" sz="3600" b="1">
                <a:solidFill>
                  <a:srgbClr val="FF0000"/>
                </a:solidFill>
                <a:ea typeface="楷体_GB2312" charset="0"/>
              </a:rPr>
              <a:t>!</a:t>
            </a:r>
            <a:r>
              <a:rPr lang="en-US" altLang="zh-CN" sz="3600">
                <a:solidFill>
                  <a:srgbClr val="FF0000"/>
                </a:solidFill>
                <a:ea typeface="楷体_GB2312" charset="0"/>
              </a:rPr>
              <a:t>p-&gt;lchild)</a:t>
            </a:r>
            <a:r>
              <a:rPr lang="en-US" altLang="zh-CN" sz="3600">
                <a:ea typeface="楷体_GB2312" charset="0"/>
              </a:rPr>
              <a:t> </a:t>
            </a:r>
            <a:r>
              <a:rPr lang="en-US" altLang="zh-CN" sz="3600" b="1">
                <a:solidFill>
                  <a:srgbClr val="A50021"/>
                </a:solidFill>
                <a:ea typeface="楷体_GB2312" charset="0"/>
              </a:rPr>
              <a:t>{                }</a:t>
            </a:r>
            <a:r>
              <a:rPr lang="en-US" altLang="zh-CN" sz="3600">
                <a:ea typeface="楷体_GB2312" charset="0"/>
              </a:rPr>
              <a:t> </a:t>
            </a:r>
          </a:p>
          <a:p>
            <a:pPr>
              <a:lnSpc>
                <a:spcPct val="135000"/>
              </a:lnSpc>
            </a:pPr>
            <a:r>
              <a:rPr lang="en-US" altLang="zh-CN" sz="3600">
                <a:ea typeface="楷体_GB2312" charset="0"/>
              </a:rPr>
              <a:t>   </a:t>
            </a:r>
            <a:r>
              <a:rPr lang="en-US" altLang="zh-CN" sz="3600" b="1">
                <a:solidFill>
                  <a:srgbClr val="A50021"/>
                </a:solidFill>
                <a:ea typeface="楷体_GB2312" charset="0"/>
              </a:rPr>
              <a:t>else {              }</a:t>
            </a:r>
            <a:endParaRPr lang="en-US" altLang="zh-CN" sz="3600">
              <a:solidFill>
                <a:srgbClr val="A50021"/>
              </a:solidFill>
              <a:ea typeface="楷体_GB2312" charset="0"/>
            </a:endParaRPr>
          </a:p>
          <a:p>
            <a:pPr>
              <a:lnSpc>
                <a:spcPct val="135000"/>
              </a:lnSpc>
            </a:pPr>
            <a:r>
              <a:rPr lang="en-US" altLang="zh-CN" sz="3600" b="1">
                <a:solidFill>
                  <a:srgbClr val="A50021"/>
                </a:solidFill>
                <a:ea typeface="楷体_GB2312" charset="0"/>
              </a:rPr>
              <a:t>}</a:t>
            </a:r>
            <a:r>
              <a:rPr lang="en-US" altLang="zh-CN" sz="3600">
                <a:solidFill>
                  <a:srgbClr val="A50021"/>
                </a:solidFill>
                <a:ea typeface="楷体_GB2312" charset="0"/>
              </a:rPr>
              <a:t> // Delete</a:t>
            </a:r>
          </a:p>
        </p:txBody>
      </p:sp>
      <p:sp>
        <p:nvSpPr>
          <p:cNvPr id="80899" name="Text Box 3"/>
          <p:cNvSpPr txBox="1">
            <a:spLocks noChangeArrowheads="1"/>
          </p:cNvSpPr>
          <p:nvPr/>
        </p:nvSpPr>
        <p:spPr bwMode="auto">
          <a:xfrm>
            <a:off x="304800" y="228600"/>
            <a:ext cx="6597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chemeClr val="accent2"/>
                </a:solidFill>
                <a:ea typeface="楷体_GB2312" charset="0"/>
              </a:rPr>
              <a:t>其中</a:t>
            </a:r>
            <a:r>
              <a:rPr lang="zh-CN" altLang="en-US" sz="3600" b="1">
                <a:solidFill>
                  <a:srgbClr val="FF00FF"/>
                </a:solidFill>
                <a:ea typeface="楷体_GB2312" charset="0"/>
              </a:rPr>
              <a:t>删除操作</a:t>
            </a:r>
            <a:r>
              <a:rPr lang="zh-CN" altLang="en-US" sz="3600">
                <a:solidFill>
                  <a:schemeClr val="accent2"/>
                </a:solidFill>
                <a:ea typeface="楷体_GB2312" charset="0"/>
              </a:rPr>
              <a:t>过程如下所描述：</a:t>
            </a:r>
            <a:endParaRPr lang="zh-CN" altLang="en-US" sz="3600">
              <a:ea typeface="楷体_GB2312" charset="0"/>
            </a:endParaRPr>
          </a:p>
        </p:txBody>
      </p:sp>
      <p:sp>
        <p:nvSpPr>
          <p:cNvPr id="80900" name="Text Box 4">
            <a:hlinkClick r:id="" action="ppaction://hlinkshowjump?jump=nextslide"/>
          </p:cNvPr>
          <p:cNvSpPr txBox="1">
            <a:spLocks noChangeArrowheads="1"/>
          </p:cNvSpPr>
          <p:nvPr/>
        </p:nvSpPr>
        <p:spPr bwMode="auto">
          <a:xfrm>
            <a:off x="4343400" y="3184525"/>
            <a:ext cx="1327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FF"/>
                </a:solidFill>
              </a:rPr>
              <a:t>… …</a:t>
            </a:r>
            <a:endParaRPr lang="en-US" altLang="zh-CN" sz="3600"/>
          </a:p>
        </p:txBody>
      </p:sp>
      <p:sp>
        <p:nvSpPr>
          <p:cNvPr id="80901" name="Text Box 5">
            <a:hlinkClick r:id="rId2" action="ppaction://hlinksldjump"/>
          </p:cNvPr>
          <p:cNvSpPr txBox="1">
            <a:spLocks noChangeArrowheads="1"/>
          </p:cNvSpPr>
          <p:nvPr/>
        </p:nvSpPr>
        <p:spPr bwMode="auto">
          <a:xfrm>
            <a:off x="5073650" y="3886200"/>
            <a:ext cx="1327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FF"/>
                </a:solidFill>
              </a:rPr>
              <a:t>… …</a:t>
            </a:r>
            <a:endParaRPr lang="en-US" altLang="zh-CN" sz="3600"/>
          </a:p>
        </p:txBody>
      </p:sp>
      <p:sp>
        <p:nvSpPr>
          <p:cNvPr id="80902" name="Text Box 6">
            <a:hlinkClick r:id="rId3" action="ppaction://hlinksldjump"/>
          </p:cNvPr>
          <p:cNvSpPr txBox="1">
            <a:spLocks noChangeArrowheads="1"/>
          </p:cNvSpPr>
          <p:nvPr/>
        </p:nvSpPr>
        <p:spPr bwMode="auto">
          <a:xfrm>
            <a:off x="2330450" y="4648200"/>
            <a:ext cx="1327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FF"/>
                </a:solidFill>
              </a:rPr>
              <a:t>… …</a:t>
            </a:r>
            <a:endParaRPr lang="en-US" altLang="zh-CN" sz="3600"/>
          </a:p>
        </p:txBody>
      </p:sp>
      <p:sp>
        <p:nvSpPr>
          <p:cNvPr id="80905" name="AutoShape 9">
            <a:hlinkClick r:id="" action="ppaction://hlinkshowjump?jump=previousslide" highlightClick="1"/>
          </p:cNvPr>
          <p:cNvSpPr>
            <a:spLocks noChangeArrowheads="1"/>
          </p:cNvSpPr>
          <p:nvPr/>
        </p:nvSpPr>
        <p:spPr bwMode="auto">
          <a:xfrm>
            <a:off x="8458200" y="61722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0675145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0899"/>
                                        </p:tgtEl>
                                        <p:attrNameLst>
                                          <p:attrName>style.visibility</p:attrName>
                                        </p:attrNameLst>
                                      </p:cBhvr>
                                      <p:to>
                                        <p:strVal val="visible"/>
                                      </p:to>
                                    </p:set>
                                    <p:animEffect transition="in" filter="slide(fromTop)">
                                      <p:cBhvr>
                                        <p:cTn id="7" dur="500"/>
                                        <p:tgtEl>
                                          <p:spTgt spid="808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80898"/>
                                        </p:tgtEl>
                                        <p:attrNameLst>
                                          <p:attrName>style.visibility</p:attrName>
                                        </p:attrNameLst>
                                      </p:cBhvr>
                                      <p:to>
                                        <p:strVal val="visible"/>
                                      </p:to>
                                    </p:set>
                                    <p:animEffect transition="in" filter="strips(upRight)">
                                      <p:cBhvr>
                                        <p:cTn id="12" dur="500"/>
                                        <p:tgtEl>
                                          <p:spTgt spid="80898"/>
                                        </p:tgtEl>
                                      </p:cBhvr>
                                    </p:animEffect>
                                  </p:childTnLst>
                                </p:cTn>
                              </p:par>
                            </p:childTnLst>
                          </p:cTn>
                        </p:par>
                        <p:par>
                          <p:cTn id="13" fill="hold" nodeType="afterGroup">
                            <p:stCondLst>
                              <p:cond delay="500"/>
                            </p:stCondLst>
                            <p:childTnLst>
                              <p:par>
                                <p:cTn id="14" presetID="17" presetClass="entr" presetSubtype="10" fill="hold" grpId="0" nodeType="afterEffect">
                                  <p:stCondLst>
                                    <p:cond delay="0"/>
                                  </p:stCondLst>
                                  <p:childTnLst>
                                    <p:set>
                                      <p:cBhvr>
                                        <p:cTn id="15" dur="1" fill="hold">
                                          <p:stCondLst>
                                            <p:cond delay="0"/>
                                          </p:stCondLst>
                                        </p:cTn>
                                        <p:tgtEl>
                                          <p:spTgt spid="80900"/>
                                        </p:tgtEl>
                                        <p:attrNameLst>
                                          <p:attrName>style.visibility</p:attrName>
                                        </p:attrNameLst>
                                      </p:cBhvr>
                                      <p:to>
                                        <p:strVal val="visible"/>
                                      </p:to>
                                    </p:set>
                                    <p:anim calcmode="lin" valueType="num">
                                      <p:cBhvr>
                                        <p:cTn id="16" dur="500" fill="hold"/>
                                        <p:tgtEl>
                                          <p:spTgt spid="80900"/>
                                        </p:tgtEl>
                                        <p:attrNameLst>
                                          <p:attrName>ppt_w</p:attrName>
                                        </p:attrNameLst>
                                      </p:cBhvr>
                                      <p:tavLst>
                                        <p:tav tm="0">
                                          <p:val>
                                            <p:fltVal val="0"/>
                                          </p:val>
                                        </p:tav>
                                        <p:tav tm="100000">
                                          <p:val>
                                            <p:strVal val="#ppt_w"/>
                                          </p:val>
                                        </p:tav>
                                      </p:tavLst>
                                    </p:anim>
                                    <p:anim calcmode="lin" valueType="num">
                                      <p:cBhvr>
                                        <p:cTn id="17" dur="500" fill="hold"/>
                                        <p:tgtEl>
                                          <p:spTgt spid="80900"/>
                                        </p:tgtEl>
                                        <p:attrNameLst>
                                          <p:attrName>ppt_h</p:attrName>
                                        </p:attrNameLst>
                                      </p:cBhvr>
                                      <p:tavLst>
                                        <p:tav tm="0">
                                          <p:val>
                                            <p:strVal val="#ppt_h"/>
                                          </p:val>
                                        </p:tav>
                                        <p:tav tm="100000">
                                          <p:val>
                                            <p:strVal val="#ppt_h"/>
                                          </p:val>
                                        </p:tav>
                                      </p:tavLst>
                                    </p:anim>
                                  </p:childTnLst>
                                </p:cTn>
                              </p:par>
                            </p:childTnLst>
                          </p:cTn>
                        </p:par>
                        <p:par>
                          <p:cTn id="18" fill="hold" nodeType="afterGroup">
                            <p:stCondLst>
                              <p:cond delay="1000"/>
                            </p:stCondLst>
                            <p:childTnLst>
                              <p:par>
                                <p:cTn id="19" presetID="17" presetClass="entr" presetSubtype="10" fill="hold" grpId="0" nodeType="afterEffect">
                                  <p:stCondLst>
                                    <p:cond delay="0"/>
                                  </p:stCondLst>
                                  <p:childTnLst>
                                    <p:set>
                                      <p:cBhvr>
                                        <p:cTn id="20" dur="1" fill="hold">
                                          <p:stCondLst>
                                            <p:cond delay="0"/>
                                          </p:stCondLst>
                                        </p:cTn>
                                        <p:tgtEl>
                                          <p:spTgt spid="80901"/>
                                        </p:tgtEl>
                                        <p:attrNameLst>
                                          <p:attrName>style.visibility</p:attrName>
                                        </p:attrNameLst>
                                      </p:cBhvr>
                                      <p:to>
                                        <p:strVal val="visible"/>
                                      </p:to>
                                    </p:set>
                                    <p:anim calcmode="lin" valueType="num">
                                      <p:cBhvr>
                                        <p:cTn id="21" dur="500" fill="hold"/>
                                        <p:tgtEl>
                                          <p:spTgt spid="80901"/>
                                        </p:tgtEl>
                                        <p:attrNameLst>
                                          <p:attrName>ppt_w</p:attrName>
                                        </p:attrNameLst>
                                      </p:cBhvr>
                                      <p:tavLst>
                                        <p:tav tm="0">
                                          <p:val>
                                            <p:fltVal val="0"/>
                                          </p:val>
                                        </p:tav>
                                        <p:tav tm="100000">
                                          <p:val>
                                            <p:strVal val="#ppt_w"/>
                                          </p:val>
                                        </p:tav>
                                      </p:tavLst>
                                    </p:anim>
                                    <p:anim calcmode="lin" valueType="num">
                                      <p:cBhvr>
                                        <p:cTn id="22" dur="500" fill="hold"/>
                                        <p:tgtEl>
                                          <p:spTgt spid="80901"/>
                                        </p:tgtEl>
                                        <p:attrNameLst>
                                          <p:attrName>ppt_h</p:attrName>
                                        </p:attrNameLst>
                                      </p:cBhvr>
                                      <p:tavLst>
                                        <p:tav tm="0">
                                          <p:val>
                                            <p:strVal val="#ppt_h"/>
                                          </p:val>
                                        </p:tav>
                                        <p:tav tm="100000">
                                          <p:val>
                                            <p:strVal val="#ppt_h"/>
                                          </p:val>
                                        </p:tav>
                                      </p:tavLst>
                                    </p:anim>
                                  </p:childTnLst>
                                </p:cTn>
                              </p:par>
                            </p:childTnLst>
                          </p:cTn>
                        </p:par>
                        <p:par>
                          <p:cTn id="23" fill="hold" nodeType="afterGroup">
                            <p:stCondLst>
                              <p:cond delay="1500"/>
                            </p:stCondLst>
                            <p:childTnLst>
                              <p:par>
                                <p:cTn id="24" presetID="17" presetClass="entr" presetSubtype="10" fill="hold" grpId="0" nodeType="afterEffect">
                                  <p:stCondLst>
                                    <p:cond delay="0"/>
                                  </p:stCondLst>
                                  <p:childTnLst>
                                    <p:set>
                                      <p:cBhvr>
                                        <p:cTn id="25" dur="1" fill="hold">
                                          <p:stCondLst>
                                            <p:cond delay="0"/>
                                          </p:stCondLst>
                                        </p:cTn>
                                        <p:tgtEl>
                                          <p:spTgt spid="80902"/>
                                        </p:tgtEl>
                                        <p:attrNameLst>
                                          <p:attrName>style.visibility</p:attrName>
                                        </p:attrNameLst>
                                      </p:cBhvr>
                                      <p:to>
                                        <p:strVal val="visible"/>
                                      </p:to>
                                    </p:set>
                                    <p:anim calcmode="lin" valueType="num">
                                      <p:cBhvr>
                                        <p:cTn id="26" dur="500" fill="hold"/>
                                        <p:tgtEl>
                                          <p:spTgt spid="80902"/>
                                        </p:tgtEl>
                                        <p:attrNameLst>
                                          <p:attrName>ppt_w</p:attrName>
                                        </p:attrNameLst>
                                      </p:cBhvr>
                                      <p:tavLst>
                                        <p:tav tm="0">
                                          <p:val>
                                            <p:fltVal val="0"/>
                                          </p:val>
                                        </p:tav>
                                        <p:tav tm="100000">
                                          <p:val>
                                            <p:strVal val="#ppt_w"/>
                                          </p:val>
                                        </p:tav>
                                      </p:tavLst>
                                    </p:anim>
                                    <p:anim calcmode="lin" valueType="num">
                                      <p:cBhvr>
                                        <p:cTn id="27" dur="500" fill="hold"/>
                                        <p:tgtEl>
                                          <p:spTgt spid="80902"/>
                                        </p:tgtEl>
                                        <p:attrNameLst>
                                          <p:attrName>ppt_h</p:attrName>
                                        </p:attrNameLst>
                                      </p:cBhvr>
                                      <p:tavLst>
                                        <p:tav tm="0">
                                          <p:val>
                                            <p:strVal val="#ppt_h"/>
                                          </p:val>
                                        </p:tav>
                                        <p:tav tm="100000">
                                          <p:val>
                                            <p:strVal val="#ppt_h"/>
                                          </p:val>
                                        </p:tav>
                                      </p:tavLst>
                                    </p:anim>
                                  </p:childTnLst>
                                </p:cTn>
                              </p:par>
                            </p:childTnLst>
                          </p:cTn>
                        </p:par>
                        <p:par>
                          <p:cTn id="28" fill="hold" nodeType="afterGroup">
                            <p:stCondLst>
                              <p:cond delay="2000"/>
                            </p:stCondLst>
                            <p:childTnLst>
                              <p:par>
                                <p:cTn id="29" presetID="2" presetClass="entr" presetSubtype="6" fill="hold" grpId="0" nodeType="afterEffect">
                                  <p:stCondLst>
                                    <p:cond delay="0"/>
                                  </p:stCondLst>
                                  <p:childTnLst>
                                    <p:set>
                                      <p:cBhvr>
                                        <p:cTn id="30" dur="1" fill="hold">
                                          <p:stCondLst>
                                            <p:cond delay="0"/>
                                          </p:stCondLst>
                                        </p:cTn>
                                        <p:tgtEl>
                                          <p:spTgt spid="80905"/>
                                        </p:tgtEl>
                                        <p:attrNameLst>
                                          <p:attrName>style.visibility</p:attrName>
                                        </p:attrNameLst>
                                      </p:cBhvr>
                                      <p:to>
                                        <p:strVal val="visible"/>
                                      </p:to>
                                    </p:set>
                                    <p:anim calcmode="lin" valueType="num">
                                      <p:cBhvr additive="base">
                                        <p:cTn id="31" dur="500" fill="hold"/>
                                        <p:tgtEl>
                                          <p:spTgt spid="80905"/>
                                        </p:tgtEl>
                                        <p:attrNameLst>
                                          <p:attrName>ppt_x</p:attrName>
                                        </p:attrNameLst>
                                      </p:cBhvr>
                                      <p:tavLst>
                                        <p:tav tm="0">
                                          <p:val>
                                            <p:strVal val="1+#ppt_w/2"/>
                                          </p:val>
                                        </p:tav>
                                        <p:tav tm="100000">
                                          <p:val>
                                            <p:strVal val="#ppt_x"/>
                                          </p:val>
                                        </p:tav>
                                      </p:tavLst>
                                    </p:anim>
                                    <p:anim calcmode="lin" valueType="num">
                                      <p:cBhvr additive="base">
                                        <p:cTn id="32" dur="500" fill="hold"/>
                                        <p:tgtEl>
                                          <p:spTgt spid="809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autoUpdateAnimBg="0"/>
      <p:bldP spid="80899" grpId="0" autoUpdateAnimBg="0"/>
      <p:bldP spid="80900" grpId="0" autoUpdateAnimBg="0"/>
      <p:bldP spid="80901" grpId="0" autoUpdateAnimBg="0"/>
      <p:bldP spid="80902" grpId="0" autoUpdateAnimBg="0"/>
      <p:bldP spid="8090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ChangeArrowheads="1"/>
          </p:cNvSpPr>
          <p:nvPr/>
        </p:nvSpPr>
        <p:spPr bwMode="auto">
          <a:xfrm>
            <a:off x="533400" y="685800"/>
            <a:ext cx="79819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50000"/>
              </a:lnSpc>
            </a:pPr>
            <a:r>
              <a:rPr lang="en-US" altLang="zh-CN" sz="3600">
                <a:solidFill>
                  <a:srgbClr val="A50021"/>
                </a:solidFill>
                <a:ea typeface="楷体_GB2312" charset="0"/>
              </a:rPr>
              <a:t> // </a:t>
            </a:r>
            <a:r>
              <a:rPr lang="zh-CN" altLang="en-US" sz="3600">
                <a:solidFill>
                  <a:srgbClr val="A50021"/>
                </a:solidFill>
                <a:ea typeface="楷体_GB2312" charset="0"/>
              </a:rPr>
              <a:t>右子树为空树则只需重接它的左子树</a:t>
            </a:r>
          </a:p>
        </p:txBody>
      </p:sp>
      <p:sp>
        <p:nvSpPr>
          <p:cNvPr id="197638" name="Rectangle 6"/>
          <p:cNvSpPr>
            <a:spLocks noChangeArrowheads="1"/>
          </p:cNvSpPr>
          <p:nvPr/>
        </p:nvSpPr>
        <p:spPr bwMode="auto">
          <a:xfrm>
            <a:off x="1447800" y="1736725"/>
            <a:ext cx="62087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A50021"/>
                </a:solidFill>
                <a:ea typeface="楷体_GB2312" charset="0"/>
              </a:rPr>
              <a:t>q = p;  p = p-&gt;lchild;  free(q);</a:t>
            </a:r>
            <a:endParaRPr lang="en-US" altLang="zh-CN" sz="3600">
              <a:solidFill>
                <a:srgbClr val="A50021"/>
              </a:solidFill>
              <a:ea typeface="楷体_GB2312" charset="0"/>
            </a:endParaRPr>
          </a:p>
        </p:txBody>
      </p:sp>
      <p:sp>
        <p:nvSpPr>
          <p:cNvPr id="197639" name="Rectangle 7"/>
          <p:cNvSpPr>
            <a:spLocks noChangeArrowheads="1"/>
          </p:cNvSpPr>
          <p:nvPr/>
        </p:nvSpPr>
        <p:spPr bwMode="auto">
          <a:xfrm>
            <a:off x="2895600" y="3429000"/>
            <a:ext cx="381000" cy="457200"/>
          </a:xfrm>
          <a:prstGeom prst="rect">
            <a:avLst/>
          </a:prstGeom>
          <a:solidFill>
            <a:srgbClr val="CCFFCC"/>
          </a:solidFill>
          <a:ln w="28575">
            <a:solidFill>
              <a:srgbClr val="008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40" name="Rectangle 8"/>
          <p:cNvSpPr>
            <a:spLocks noChangeArrowheads="1"/>
          </p:cNvSpPr>
          <p:nvPr/>
        </p:nvSpPr>
        <p:spPr bwMode="auto">
          <a:xfrm>
            <a:off x="6248400" y="3429000"/>
            <a:ext cx="381000" cy="457200"/>
          </a:xfrm>
          <a:prstGeom prst="rect">
            <a:avLst/>
          </a:prstGeom>
          <a:solidFill>
            <a:srgbClr val="CCFFCC"/>
          </a:solidFill>
          <a:ln w="28575">
            <a:solidFill>
              <a:srgbClr val="008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41" name="Rectangle 9"/>
          <p:cNvSpPr>
            <a:spLocks noChangeArrowheads="1"/>
          </p:cNvSpPr>
          <p:nvPr/>
        </p:nvSpPr>
        <p:spPr bwMode="auto">
          <a:xfrm>
            <a:off x="3276600" y="3429000"/>
            <a:ext cx="762000" cy="457200"/>
          </a:xfrm>
          <a:prstGeom prst="rect">
            <a:avLst/>
          </a:prstGeom>
          <a:solidFill>
            <a:srgbClr val="FFFFCC"/>
          </a:solidFill>
          <a:ln w="28575">
            <a:solidFill>
              <a:srgbClr val="008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42" name="Line 10"/>
          <p:cNvSpPr>
            <a:spLocks noChangeShapeType="1"/>
          </p:cNvSpPr>
          <p:nvPr/>
        </p:nvSpPr>
        <p:spPr bwMode="auto">
          <a:xfrm>
            <a:off x="3657600" y="3429000"/>
            <a:ext cx="0" cy="457200"/>
          </a:xfrm>
          <a:prstGeom prst="line">
            <a:avLst/>
          </a:prstGeom>
          <a:noFill/>
          <a:ln w="95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43" name="Oval 11"/>
          <p:cNvSpPr>
            <a:spLocks noChangeArrowheads="1"/>
          </p:cNvSpPr>
          <p:nvPr/>
        </p:nvSpPr>
        <p:spPr bwMode="auto">
          <a:xfrm>
            <a:off x="1905000" y="4267200"/>
            <a:ext cx="533400" cy="533400"/>
          </a:xfrm>
          <a:prstGeom prst="ellipse">
            <a:avLst/>
          </a:prstGeom>
          <a:solidFill>
            <a:srgbClr val="006600"/>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45" name="Rectangle 13"/>
          <p:cNvSpPr>
            <a:spLocks noChangeArrowheads="1"/>
          </p:cNvSpPr>
          <p:nvPr/>
        </p:nvSpPr>
        <p:spPr bwMode="auto">
          <a:xfrm>
            <a:off x="5486400" y="3429000"/>
            <a:ext cx="762000" cy="457200"/>
          </a:xfrm>
          <a:prstGeom prst="rect">
            <a:avLst/>
          </a:prstGeom>
          <a:solidFill>
            <a:srgbClr val="FFFFCC"/>
          </a:solidFill>
          <a:ln w="28575">
            <a:solidFill>
              <a:srgbClr val="008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46" name="Line 14"/>
          <p:cNvSpPr>
            <a:spLocks noChangeShapeType="1"/>
          </p:cNvSpPr>
          <p:nvPr/>
        </p:nvSpPr>
        <p:spPr bwMode="auto">
          <a:xfrm>
            <a:off x="5867400" y="3429000"/>
            <a:ext cx="0" cy="457200"/>
          </a:xfrm>
          <a:prstGeom prst="line">
            <a:avLst/>
          </a:prstGeom>
          <a:noFill/>
          <a:ln w="95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47" name="Oval 15"/>
          <p:cNvSpPr>
            <a:spLocks noChangeArrowheads="1"/>
          </p:cNvSpPr>
          <p:nvPr/>
        </p:nvSpPr>
        <p:spPr bwMode="auto">
          <a:xfrm>
            <a:off x="1219200" y="5029200"/>
            <a:ext cx="533400" cy="533400"/>
          </a:xfrm>
          <a:prstGeom prst="ellipse">
            <a:avLst/>
          </a:prstGeom>
          <a:solidFill>
            <a:schemeClr val="hlink"/>
          </a:solidFill>
          <a:ln>
            <a:noFill/>
          </a:ln>
          <a:effectLst/>
          <a:extLst>
            <a:ext uri="{91240B29-F687-4F45-9708-019B960494DF}">
              <a14:hiddenLine xmlns:a14="http://schemas.microsoft.com/office/drawing/2010/main" w="9525">
                <a:solidFill>
                  <a:srgbClr val="008080"/>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48" name="Line 16"/>
          <p:cNvSpPr>
            <a:spLocks noChangeShapeType="1"/>
          </p:cNvSpPr>
          <p:nvPr/>
        </p:nvSpPr>
        <p:spPr bwMode="auto">
          <a:xfrm flipH="1">
            <a:off x="914400" y="5486400"/>
            <a:ext cx="381000" cy="533400"/>
          </a:xfrm>
          <a:prstGeom prst="line">
            <a:avLst/>
          </a:prstGeom>
          <a:noFill/>
          <a:ln w="28575">
            <a:solidFill>
              <a:srgbClr val="66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49" name="Line 17"/>
          <p:cNvSpPr>
            <a:spLocks noChangeShapeType="1"/>
          </p:cNvSpPr>
          <p:nvPr/>
        </p:nvSpPr>
        <p:spPr bwMode="auto">
          <a:xfrm>
            <a:off x="1676400" y="5486400"/>
            <a:ext cx="228600" cy="533400"/>
          </a:xfrm>
          <a:prstGeom prst="line">
            <a:avLst/>
          </a:prstGeom>
          <a:noFill/>
          <a:ln w="28575">
            <a:solidFill>
              <a:srgbClr val="66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51" name="Line 19"/>
          <p:cNvSpPr>
            <a:spLocks noChangeShapeType="1"/>
          </p:cNvSpPr>
          <p:nvPr/>
        </p:nvSpPr>
        <p:spPr bwMode="auto">
          <a:xfrm flipH="1">
            <a:off x="1600200" y="4724400"/>
            <a:ext cx="381000" cy="381000"/>
          </a:xfrm>
          <a:prstGeom prst="line">
            <a:avLst/>
          </a:prstGeom>
          <a:noFill/>
          <a:ln w="3175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52" name="Line 20"/>
          <p:cNvSpPr>
            <a:spLocks noChangeShapeType="1"/>
          </p:cNvSpPr>
          <p:nvPr/>
        </p:nvSpPr>
        <p:spPr bwMode="auto">
          <a:xfrm flipH="1">
            <a:off x="2362200" y="3657600"/>
            <a:ext cx="685800" cy="685800"/>
          </a:xfrm>
          <a:prstGeom prst="line">
            <a:avLst/>
          </a:prstGeom>
          <a:noFill/>
          <a:ln w="3175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54" name="Oval 22"/>
          <p:cNvSpPr>
            <a:spLocks noChangeArrowheads="1"/>
          </p:cNvSpPr>
          <p:nvPr/>
        </p:nvSpPr>
        <p:spPr bwMode="auto">
          <a:xfrm>
            <a:off x="6858000" y="4267200"/>
            <a:ext cx="533400" cy="533400"/>
          </a:xfrm>
          <a:prstGeom prst="ellipse">
            <a:avLst/>
          </a:prstGeom>
          <a:solidFill>
            <a:srgbClr val="006600"/>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55" name="Oval 23"/>
          <p:cNvSpPr>
            <a:spLocks noChangeArrowheads="1"/>
          </p:cNvSpPr>
          <p:nvPr/>
        </p:nvSpPr>
        <p:spPr bwMode="auto">
          <a:xfrm>
            <a:off x="6172200" y="5029200"/>
            <a:ext cx="533400" cy="533400"/>
          </a:xfrm>
          <a:prstGeom prst="ellipse">
            <a:avLst/>
          </a:prstGeom>
          <a:solidFill>
            <a:schemeClr val="hlink"/>
          </a:solidFill>
          <a:ln>
            <a:noFill/>
          </a:ln>
          <a:effectLst/>
          <a:extLst>
            <a:ext uri="{91240B29-F687-4F45-9708-019B960494DF}">
              <a14:hiddenLine xmlns:a14="http://schemas.microsoft.com/office/drawing/2010/main" w="9525">
                <a:solidFill>
                  <a:srgbClr val="008080"/>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56" name="Line 24"/>
          <p:cNvSpPr>
            <a:spLocks noChangeShapeType="1"/>
          </p:cNvSpPr>
          <p:nvPr/>
        </p:nvSpPr>
        <p:spPr bwMode="auto">
          <a:xfrm flipH="1">
            <a:off x="5867400" y="5486400"/>
            <a:ext cx="381000" cy="533400"/>
          </a:xfrm>
          <a:prstGeom prst="line">
            <a:avLst/>
          </a:prstGeom>
          <a:noFill/>
          <a:ln w="28575">
            <a:solidFill>
              <a:srgbClr val="66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57" name="Line 25"/>
          <p:cNvSpPr>
            <a:spLocks noChangeShapeType="1"/>
          </p:cNvSpPr>
          <p:nvPr/>
        </p:nvSpPr>
        <p:spPr bwMode="auto">
          <a:xfrm>
            <a:off x="6629400" y="5486400"/>
            <a:ext cx="228600" cy="533400"/>
          </a:xfrm>
          <a:prstGeom prst="line">
            <a:avLst/>
          </a:prstGeom>
          <a:noFill/>
          <a:ln w="28575">
            <a:solidFill>
              <a:srgbClr val="66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58" name="Line 26"/>
          <p:cNvSpPr>
            <a:spLocks noChangeShapeType="1"/>
          </p:cNvSpPr>
          <p:nvPr/>
        </p:nvSpPr>
        <p:spPr bwMode="auto">
          <a:xfrm flipH="1">
            <a:off x="6553200" y="4724400"/>
            <a:ext cx="381000" cy="381000"/>
          </a:xfrm>
          <a:prstGeom prst="line">
            <a:avLst/>
          </a:prstGeom>
          <a:noFill/>
          <a:ln w="3175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60" name="Line 28"/>
          <p:cNvSpPr>
            <a:spLocks noChangeShapeType="1"/>
          </p:cNvSpPr>
          <p:nvPr/>
        </p:nvSpPr>
        <p:spPr bwMode="auto">
          <a:xfrm>
            <a:off x="6400800" y="3657600"/>
            <a:ext cx="609600" cy="609600"/>
          </a:xfrm>
          <a:prstGeom prst="line">
            <a:avLst/>
          </a:prstGeom>
          <a:noFill/>
          <a:ln w="3175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61" name="Line 29"/>
          <p:cNvSpPr>
            <a:spLocks noChangeShapeType="1"/>
          </p:cNvSpPr>
          <p:nvPr/>
        </p:nvSpPr>
        <p:spPr bwMode="auto">
          <a:xfrm flipH="1">
            <a:off x="1600200" y="3657600"/>
            <a:ext cx="1447800" cy="1447800"/>
          </a:xfrm>
          <a:prstGeom prst="line">
            <a:avLst/>
          </a:prstGeom>
          <a:noFill/>
          <a:ln w="412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62" name="Line 30"/>
          <p:cNvSpPr>
            <a:spLocks noChangeShapeType="1"/>
          </p:cNvSpPr>
          <p:nvPr/>
        </p:nvSpPr>
        <p:spPr bwMode="auto">
          <a:xfrm>
            <a:off x="6400800" y="3657600"/>
            <a:ext cx="152400" cy="1447800"/>
          </a:xfrm>
          <a:prstGeom prst="line">
            <a:avLst/>
          </a:prstGeom>
          <a:noFill/>
          <a:ln w="412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63" name="Text Box 31"/>
          <p:cNvSpPr txBox="1">
            <a:spLocks noChangeArrowheads="1"/>
          </p:cNvSpPr>
          <p:nvPr/>
        </p:nvSpPr>
        <p:spPr bwMode="auto">
          <a:xfrm>
            <a:off x="2482850" y="33528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008080"/>
                </a:solidFill>
              </a:rPr>
              <a:t>p</a:t>
            </a:r>
            <a:endParaRPr lang="en-US" altLang="zh-CN" sz="3600"/>
          </a:p>
        </p:txBody>
      </p:sp>
      <p:sp>
        <p:nvSpPr>
          <p:cNvPr id="197664" name="Text Box 32"/>
          <p:cNvSpPr txBox="1">
            <a:spLocks noChangeArrowheads="1"/>
          </p:cNvSpPr>
          <p:nvPr/>
        </p:nvSpPr>
        <p:spPr bwMode="auto">
          <a:xfrm>
            <a:off x="6750050" y="33972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008080"/>
                </a:solidFill>
              </a:rPr>
              <a:t>p</a:t>
            </a:r>
            <a:endParaRPr lang="en-US" altLang="zh-CN" sz="3600"/>
          </a:p>
        </p:txBody>
      </p:sp>
      <p:sp>
        <p:nvSpPr>
          <p:cNvPr id="197665" name="AutoShape 33">
            <a:hlinkClick r:id="" action="ppaction://hlinkshowjump?jump=lastslideviewed" highlightClick="1"/>
          </p:cNvPr>
          <p:cNvSpPr>
            <a:spLocks noChangeArrowheads="1"/>
          </p:cNvSpPr>
          <p:nvPr/>
        </p:nvSpPr>
        <p:spPr bwMode="auto">
          <a:xfrm>
            <a:off x="8305800" y="60960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9490800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7634"/>
                                        </p:tgtEl>
                                        <p:attrNameLst>
                                          <p:attrName>style.visibility</p:attrName>
                                        </p:attrNameLst>
                                      </p:cBhvr>
                                      <p:to>
                                        <p:strVal val="visible"/>
                                      </p:to>
                                    </p:set>
                                    <p:animEffect transition="in" filter="wipe(left)">
                                      <p:cBhvr>
                                        <p:cTn id="7" dur="500"/>
                                        <p:tgtEl>
                                          <p:spTgt spid="1976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7638"/>
                                        </p:tgtEl>
                                        <p:attrNameLst>
                                          <p:attrName>style.visibility</p:attrName>
                                        </p:attrNameLst>
                                      </p:cBhvr>
                                      <p:to>
                                        <p:strVal val="visible"/>
                                      </p:to>
                                    </p:set>
                                    <p:animEffect transition="in" filter="wipe(left)">
                                      <p:cBhvr>
                                        <p:cTn id="12" dur="500"/>
                                        <p:tgtEl>
                                          <p:spTgt spid="1976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7639"/>
                                        </p:tgtEl>
                                        <p:attrNameLst>
                                          <p:attrName>style.visibility</p:attrName>
                                        </p:attrNameLst>
                                      </p:cBhvr>
                                      <p:to>
                                        <p:strVal val="visible"/>
                                      </p:to>
                                    </p:set>
                                    <p:animEffect transition="in" filter="wipe(left)">
                                      <p:cBhvr>
                                        <p:cTn id="17" dur="500"/>
                                        <p:tgtEl>
                                          <p:spTgt spid="197639"/>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97641"/>
                                        </p:tgtEl>
                                        <p:attrNameLst>
                                          <p:attrName>style.visibility</p:attrName>
                                        </p:attrNameLst>
                                      </p:cBhvr>
                                      <p:to>
                                        <p:strVal val="visible"/>
                                      </p:to>
                                    </p:set>
                                    <p:animEffect transition="in" filter="wipe(left)">
                                      <p:cBhvr>
                                        <p:cTn id="21" dur="500"/>
                                        <p:tgtEl>
                                          <p:spTgt spid="197641"/>
                                        </p:tgtEl>
                                      </p:cBhvr>
                                    </p:animEffect>
                                  </p:childTnLst>
                                </p:cTn>
                              </p:par>
                            </p:childTnLst>
                          </p:cTn>
                        </p:par>
                        <p:par>
                          <p:cTn id="22" fill="hold" nodeType="afterGroup">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197642"/>
                                        </p:tgtEl>
                                        <p:attrNameLst>
                                          <p:attrName>style.visibility</p:attrName>
                                        </p:attrNameLst>
                                      </p:cBhvr>
                                      <p:to>
                                        <p:strVal val="visible"/>
                                      </p:to>
                                    </p:set>
                                    <p:animEffect transition="in" filter="wipe(left)">
                                      <p:cBhvr>
                                        <p:cTn id="25" dur="500"/>
                                        <p:tgtEl>
                                          <p:spTgt spid="197642"/>
                                        </p:tgtEl>
                                      </p:cBhvr>
                                    </p:animEffect>
                                  </p:childTnLst>
                                </p:cTn>
                              </p:par>
                            </p:childTnLst>
                          </p:cTn>
                        </p:par>
                        <p:par>
                          <p:cTn id="26" fill="hold" nodeType="afterGroup">
                            <p:stCondLst>
                              <p:cond delay="1500"/>
                            </p:stCondLst>
                            <p:childTnLst>
                              <p:par>
                                <p:cTn id="27" presetID="22" presetClass="entr" presetSubtype="1" fill="hold" grpId="0" nodeType="afterEffect">
                                  <p:stCondLst>
                                    <p:cond delay="0"/>
                                  </p:stCondLst>
                                  <p:childTnLst>
                                    <p:set>
                                      <p:cBhvr>
                                        <p:cTn id="28" dur="1" fill="hold">
                                          <p:stCondLst>
                                            <p:cond delay="0"/>
                                          </p:stCondLst>
                                        </p:cTn>
                                        <p:tgtEl>
                                          <p:spTgt spid="197652"/>
                                        </p:tgtEl>
                                        <p:attrNameLst>
                                          <p:attrName>style.visibility</p:attrName>
                                        </p:attrNameLst>
                                      </p:cBhvr>
                                      <p:to>
                                        <p:strVal val="visible"/>
                                      </p:to>
                                    </p:set>
                                    <p:animEffect transition="in" filter="wipe(up)">
                                      <p:cBhvr>
                                        <p:cTn id="29" dur="500"/>
                                        <p:tgtEl>
                                          <p:spTgt spid="197652"/>
                                        </p:tgtEl>
                                      </p:cBhvr>
                                    </p:animEffect>
                                  </p:childTnLst>
                                </p:cTn>
                              </p:par>
                            </p:childTnLst>
                          </p:cTn>
                        </p:par>
                        <p:par>
                          <p:cTn id="30" fill="hold" nodeType="afterGroup">
                            <p:stCondLst>
                              <p:cond delay="2000"/>
                            </p:stCondLst>
                            <p:childTnLst>
                              <p:par>
                                <p:cTn id="31" presetID="2" presetClass="entr" presetSubtype="6" fill="hold" grpId="0" nodeType="afterEffect">
                                  <p:stCondLst>
                                    <p:cond delay="0"/>
                                  </p:stCondLst>
                                  <p:childTnLst>
                                    <p:set>
                                      <p:cBhvr>
                                        <p:cTn id="32" dur="1" fill="hold">
                                          <p:stCondLst>
                                            <p:cond delay="0"/>
                                          </p:stCondLst>
                                        </p:cTn>
                                        <p:tgtEl>
                                          <p:spTgt spid="197665"/>
                                        </p:tgtEl>
                                        <p:attrNameLst>
                                          <p:attrName>style.visibility</p:attrName>
                                        </p:attrNameLst>
                                      </p:cBhvr>
                                      <p:to>
                                        <p:strVal val="visible"/>
                                      </p:to>
                                    </p:set>
                                    <p:anim calcmode="lin" valueType="num">
                                      <p:cBhvr additive="base">
                                        <p:cTn id="33" dur="500" fill="hold"/>
                                        <p:tgtEl>
                                          <p:spTgt spid="197665"/>
                                        </p:tgtEl>
                                        <p:attrNameLst>
                                          <p:attrName>ppt_x</p:attrName>
                                        </p:attrNameLst>
                                      </p:cBhvr>
                                      <p:tavLst>
                                        <p:tav tm="0">
                                          <p:val>
                                            <p:strVal val="1+#ppt_w/2"/>
                                          </p:val>
                                        </p:tav>
                                        <p:tav tm="100000">
                                          <p:val>
                                            <p:strVal val="#ppt_x"/>
                                          </p:val>
                                        </p:tav>
                                      </p:tavLst>
                                    </p:anim>
                                    <p:anim calcmode="lin" valueType="num">
                                      <p:cBhvr additive="base">
                                        <p:cTn id="34" dur="500" fill="hold"/>
                                        <p:tgtEl>
                                          <p:spTgt spid="197665"/>
                                        </p:tgtEl>
                                        <p:attrNameLst>
                                          <p:attrName>ppt_y</p:attrName>
                                        </p:attrNameLst>
                                      </p:cBhvr>
                                      <p:tavLst>
                                        <p:tav tm="0">
                                          <p:val>
                                            <p:strVal val="1+#ppt_h/2"/>
                                          </p:val>
                                        </p:tav>
                                        <p:tav tm="100000">
                                          <p:val>
                                            <p:strVal val="#ppt_y"/>
                                          </p:val>
                                        </p:tav>
                                      </p:tavLst>
                                    </p:anim>
                                  </p:childTnLst>
                                </p:cTn>
                              </p:par>
                            </p:childTnLst>
                          </p:cTn>
                        </p:par>
                        <p:par>
                          <p:cTn id="35" fill="hold" nodeType="afterGroup">
                            <p:stCondLst>
                              <p:cond delay="2500"/>
                            </p:stCondLst>
                            <p:childTnLst>
                              <p:par>
                                <p:cTn id="36" presetID="22" presetClass="entr" presetSubtype="1" fill="hold" grpId="0" nodeType="afterEffect">
                                  <p:stCondLst>
                                    <p:cond delay="0"/>
                                  </p:stCondLst>
                                  <p:childTnLst>
                                    <p:set>
                                      <p:cBhvr>
                                        <p:cTn id="37" dur="1" fill="hold">
                                          <p:stCondLst>
                                            <p:cond delay="0"/>
                                          </p:stCondLst>
                                        </p:cTn>
                                        <p:tgtEl>
                                          <p:spTgt spid="197643"/>
                                        </p:tgtEl>
                                        <p:attrNameLst>
                                          <p:attrName>style.visibility</p:attrName>
                                        </p:attrNameLst>
                                      </p:cBhvr>
                                      <p:to>
                                        <p:strVal val="visible"/>
                                      </p:to>
                                    </p:set>
                                    <p:animEffect transition="in" filter="wipe(up)">
                                      <p:cBhvr>
                                        <p:cTn id="38" dur="500"/>
                                        <p:tgtEl>
                                          <p:spTgt spid="197643"/>
                                        </p:tgtEl>
                                      </p:cBhvr>
                                    </p:animEffect>
                                  </p:childTnLst>
                                </p:cTn>
                              </p:par>
                            </p:childTnLst>
                          </p:cTn>
                        </p:par>
                        <p:par>
                          <p:cTn id="39" fill="hold" nodeType="afterGroup">
                            <p:stCondLst>
                              <p:cond delay="3000"/>
                            </p:stCondLst>
                            <p:childTnLst>
                              <p:par>
                                <p:cTn id="40" presetID="22" presetClass="entr" presetSubtype="1" fill="hold" grpId="0" nodeType="afterEffect">
                                  <p:stCondLst>
                                    <p:cond delay="0"/>
                                  </p:stCondLst>
                                  <p:childTnLst>
                                    <p:set>
                                      <p:cBhvr>
                                        <p:cTn id="41" dur="1" fill="hold">
                                          <p:stCondLst>
                                            <p:cond delay="0"/>
                                          </p:stCondLst>
                                        </p:cTn>
                                        <p:tgtEl>
                                          <p:spTgt spid="197651"/>
                                        </p:tgtEl>
                                        <p:attrNameLst>
                                          <p:attrName>style.visibility</p:attrName>
                                        </p:attrNameLst>
                                      </p:cBhvr>
                                      <p:to>
                                        <p:strVal val="visible"/>
                                      </p:to>
                                    </p:set>
                                    <p:animEffect transition="in" filter="wipe(up)">
                                      <p:cBhvr>
                                        <p:cTn id="42" dur="500"/>
                                        <p:tgtEl>
                                          <p:spTgt spid="197651"/>
                                        </p:tgtEl>
                                      </p:cBhvr>
                                    </p:animEffect>
                                  </p:childTnLst>
                                </p:cTn>
                              </p:par>
                            </p:childTnLst>
                          </p:cTn>
                        </p:par>
                        <p:par>
                          <p:cTn id="43" fill="hold" nodeType="afterGroup">
                            <p:stCondLst>
                              <p:cond delay="3500"/>
                            </p:stCondLst>
                            <p:childTnLst>
                              <p:par>
                                <p:cTn id="44" presetID="22" presetClass="entr" presetSubtype="1" fill="hold" grpId="0" nodeType="afterEffect">
                                  <p:stCondLst>
                                    <p:cond delay="0"/>
                                  </p:stCondLst>
                                  <p:childTnLst>
                                    <p:set>
                                      <p:cBhvr>
                                        <p:cTn id="45" dur="1" fill="hold">
                                          <p:stCondLst>
                                            <p:cond delay="0"/>
                                          </p:stCondLst>
                                        </p:cTn>
                                        <p:tgtEl>
                                          <p:spTgt spid="197647"/>
                                        </p:tgtEl>
                                        <p:attrNameLst>
                                          <p:attrName>style.visibility</p:attrName>
                                        </p:attrNameLst>
                                      </p:cBhvr>
                                      <p:to>
                                        <p:strVal val="visible"/>
                                      </p:to>
                                    </p:set>
                                    <p:animEffect transition="in" filter="wipe(up)">
                                      <p:cBhvr>
                                        <p:cTn id="46" dur="500"/>
                                        <p:tgtEl>
                                          <p:spTgt spid="197647"/>
                                        </p:tgtEl>
                                      </p:cBhvr>
                                    </p:animEffect>
                                  </p:childTnLst>
                                </p:cTn>
                              </p:par>
                            </p:childTnLst>
                          </p:cTn>
                        </p:par>
                        <p:par>
                          <p:cTn id="47" fill="hold" nodeType="afterGroup">
                            <p:stCondLst>
                              <p:cond delay="4000"/>
                            </p:stCondLst>
                            <p:childTnLst>
                              <p:par>
                                <p:cTn id="48" presetID="22" presetClass="entr" presetSubtype="1" fill="hold" grpId="0" nodeType="afterEffect">
                                  <p:stCondLst>
                                    <p:cond delay="0"/>
                                  </p:stCondLst>
                                  <p:childTnLst>
                                    <p:set>
                                      <p:cBhvr>
                                        <p:cTn id="49" dur="1" fill="hold">
                                          <p:stCondLst>
                                            <p:cond delay="0"/>
                                          </p:stCondLst>
                                        </p:cTn>
                                        <p:tgtEl>
                                          <p:spTgt spid="197648"/>
                                        </p:tgtEl>
                                        <p:attrNameLst>
                                          <p:attrName>style.visibility</p:attrName>
                                        </p:attrNameLst>
                                      </p:cBhvr>
                                      <p:to>
                                        <p:strVal val="visible"/>
                                      </p:to>
                                    </p:set>
                                    <p:animEffect transition="in" filter="wipe(up)">
                                      <p:cBhvr>
                                        <p:cTn id="50" dur="500"/>
                                        <p:tgtEl>
                                          <p:spTgt spid="197648"/>
                                        </p:tgtEl>
                                      </p:cBhvr>
                                    </p:animEffect>
                                  </p:childTnLst>
                                </p:cTn>
                              </p:par>
                            </p:childTnLst>
                          </p:cTn>
                        </p:par>
                        <p:par>
                          <p:cTn id="51" fill="hold" nodeType="afterGroup">
                            <p:stCondLst>
                              <p:cond delay="4500"/>
                            </p:stCondLst>
                            <p:childTnLst>
                              <p:par>
                                <p:cTn id="52" presetID="22" presetClass="entr" presetSubtype="1" fill="hold" grpId="0" nodeType="afterEffect">
                                  <p:stCondLst>
                                    <p:cond delay="0"/>
                                  </p:stCondLst>
                                  <p:childTnLst>
                                    <p:set>
                                      <p:cBhvr>
                                        <p:cTn id="53" dur="1" fill="hold">
                                          <p:stCondLst>
                                            <p:cond delay="0"/>
                                          </p:stCondLst>
                                        </p:cTn>
                                        <p:tgtEl>
                                          <p:spTgt spid="197649"/>
                                        </p:tgtEl>
                                        <p:attrNameLst>
                                          <p:attrName>style.visibility</p:attrName>
                                        </p:attrNameLst>
                                      </p:cBhvr>
                                      <p:to>
                                        <p:strVal val="visible"/>
                                      </p:to>
                                    </p:set>
                                    <p:animEffect transition="in" filter="wipe(up)">
                                      <p:cBhvr>
                                        <p:cTn id="54" dur="500"/>
                                        <p:tgtEl>
                                          <p:spTgt spid="19764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2" presetClass="entr" presetSubtype="8" fill="hold" grpId="0" nodeType="clickEffect">
                                  <p:stCondLst>
                                    <p:cond delay="0"/>
                                  </p:stCondLst>
                                  <p:childTnLst>
                                    <p:set>
                                      <p:cBhvr>
                                        <p:cTn id="58" dur="1" fill="hold">
                                          <p:stCondLst>
                                            <p:cond delay="0"/>
                                          </p:stCondLst>
                                        </p:cTn>
                                        <p:tgtEl>
                                          <p:spTgt spid="197663"/>
                                        </p:tgtEl>
                                        <p:attrNameLst>
                                          <p:attrName>style.visibility</p:attrName>
                                        </p:attrNameLst>
                                      </p:cBhvr>
                                      <p:to>
                                        <p:strVal val="visible"/>
                                      </p:to>
                                    </p:set>
                                    <p:animEffect transition="in" filter="slide(fromLeft)">
                                      <p:cBhvr>
                                        <p:cTn id="59" dur="500"/>
                                        <p:tgtEl>
                                          <p:spTgt spid="19766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197661"/>
                                        </p:tgtEl>
                                        <p:attrNameLst>
                                          <p:attrName>style.visibility</p:attrName>
                                        </p:attrNameLst>
                                      </p:cBhvr>
                                      <p:to>
                                        <p:strVal val="visible"/>
                                      </p:to>
                                    </p:set>
                                    <p:animEffect transition="in" filter="wipe(up)">
                                      <p:cBhvr>
                                        <p:cTn id="64" dur="500"/>
                                        <p:tgtEl>
                                          <p:spTgt spid="19766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2" fill="hold" grpId="0" nodeType="clickEffect">
                                  <p:stCondLst>
                                    <p:cond delay="0"/>
                                  </p:stCondLst>
                                  <p:childTnLst>
                                    <p:set>
                                      <p:cBhvr>
                                        <p:cTn id="68" dur="1" fill="hold">
                                          <p:stCondLst>
                                            <p:cond delay="0"/>
                                          </p:stCondLst>
                                        </p:cTn>
                                        <p:tgtEl>
                                          <p:spTgt spid="197640"/>
                                        </p:tgtEl>
                                        <p:attrNameLst>
                                          <p:attrName>style.visibility</p:attrName>
                                        </p:attrNameLst>
                                      </p:cBhvr>
                                      <p:to>
                                        <p:strVal val="visible"/>
                                      </p:to>
                                    </p:set>
                                    <p:animEffect transition="in" filter="wipe(right)">
                                      <p:cBhvr>
                                        <p:cTn id="69" dur="500"/>
                                        <p:tgtEl>
                                          <p:spTgt spid="197640"/>
                                        </p:tgtEl>
                                      </p:cBhvr>
                                    </p:animEffect>
                                  </p:childTnLst>
                                </p:cTn>
                              </p:par>
                            </p:childTnLst>
                          </p:cTn>
                        </p:par>
                        <p:par>
                          <p:cTn id="70" fill="hold" nodeType="afterGroup">
                            <p:stCondLst>
                              <p:cond delay="500"/>
                            </p:stCondLst>
                            <p:childTnLst>
                              <p:par>
                                <p:cTn id="71" presetID="22" presetClass="entr" presetSubtype="2" fill="hold" grpId="0" nodeType="afterEffect">
                                  <p:stCondLst>
                                    <p:cond delay="0"/>
                                  </p:stCondLst>
                                  <p:childTnLst>
                                    <p:set>
                                      <p:cBhvr>
                                        <p:cTn id="72" dur="1" fill="hold">
                                          <p:stCondLst>
                                            <p:cond delay="0"/>
                                          </p:stCondLst>
                                        </p:cTn>
                                        <p:tgtEl>
                                          <p:spTgt spid="197645"/>
                                        </p:tgtEl>
                                        <p:attrNameLst>
                                          <p:attrName>style.visibility</p:attrName>
                                        </p:attrNameLst>
                                      </p:cBhvr>
                                      <p:to>
                                        <p:strVal val="visible"/>
                                      </p:to>
                                    </p:set>
                                    <p:animEffect transition="in" filter="wipe(right)">
                                      <p:cBhvr>
                                        <p:cTn id="73" dur="500"/>
                                        <p:tgtEl>
                                          <p:spTgt spid="197645"/>
                                        </p:tgtEl>
                                      </p:cBhvr>
                                    </p:animEffect>
                                  </p:childTnLst>
                                </p:cTn>
                              </p:par>
                            </p:childTnLst>
                          </p:cTn>
                        </p:par>
                        <p:par>
                          <p:cTn id="74" fill="hold" nodeType="afterGroup">
                            <p:stCondLst>
                              <p:cond delay="1000"/>
                            </p:stCondLst>
                            <p:childTnLst>
                              <p:par>
                                <p:cTn id="75" presetID="22" presetClass="entr" presetSubtype="2" fill="hold" grpId="0" nodeType="afterEffect">
                                  <p:stCondLst>
                                    <p:cond delay="0"/>
                                  </p:stCondLst>
                                  <p:childTnLst>
                                    <p:set>
                                      <p:cBhvr>
                                        <p:cTn id="76" dur="1" fill="hold">
                                          <p:stCondLst>
                                            <p:cond delay="0"/>
                                          </p:stCondLst>
                                        </p:cTn>
                                        <p:tgtEl>
                                          <p:spTgt spid="197646"/>
                                        </p:tgtEl>
                                        <p:attrNameLst>
                                          <p:attrName>style.visibility</p:attrName>
                                        </p:attrNameLst>
                                      </p:cBhvr>
                                      <p:to>
                                        <p:strVal val="visible"/>
                                      </p:to>
                                    </p:set>
                                    <p:animEffect transition="in" filter="wipe(right)">
                                      <p:cBhvr>
                                        <p:cTn id="77" dur="500"/>
                                        <p:tgtEl>
                                          <p:spTgt spid="197646"/>
                                        </p:tgtEl>
                                      </p:cBhvr>
                                    </p:animEffect>
                                  </p:childTnLst>
                                </p:cTn>
                              </p:par>
                            </p:childTnLst>
                          </p:cTn>
                        </p:par>
                        <p:par>
                          <p:cTn id="78" fill="hold" nodeType="afterGroup">
                            <p:stCondLst>
                              <p:cond delay="1500"/>
                            </p:stCondLst>
                            <p:childTnLst>
                              <p:par>
                                <p:cTn id="79" presetID="22" presetClass="entr" presetSubtype="1" fill="hold" grpId="0" nodeType="afterEffect">
                                  <p:stCondLst>
                                    <p:cond delay="0"/>
                                  </p:stCondLst>
                                  <p:childTnLst>
                                    <p:set>
                                      <p:cBhvr>
                                        <p:cTn id="80" dur="1" fill="hold">
                                          <p:stCondLst>
                                            <p:cond delay="0"/>
                                          </p:stCondLst>
                                        </p:cTn>
                                        <p:tgtEl>
                                          <p:spTgt spid="197660"/>
                                        </p:tgtEl>
                                        <p:attrNameLst>
                                          <p:attrName>style.visibility</p:attrName>
                                        </p:attrNameLst>
                                      </p:cBhvr>
                                      <p:to>
                                        <p:strVal val="visible"/>
                                      </p:to>
                                    </p:set>
                                    <p:animEffect transition="in" filter="wipe(up)">
                                      <p:cBhvr>
                                        <p:cTn id="81" dur="500"/>
                                        <p:tgtEl>
                                          <p:spTgt spid="197660"/>
                                        </p:tgtEl>
                                      </p:cBhvr>
                                    </p:animEffect>
                                  </p:childTnLst>
                                </p:cTn>
                              </p:par>
                            </p:childTnLst>
                          </p:cTn>
                        </p:par>
                        <p:par>
                          <p:cTn id="82" fill="hold" nodeType="afterGroup">
                            <p:stCondLst>
                              <p:cond delay="2000"/>
                            </p:stCondLst>
                            <p:childTnLst>
                              <p:par>
                                <p:cTn id="83" presetID="22" presetClass="entr" presetSubtype="1" fill="hold" grpId="0" nodeType="afterEffect">
                                  <p:stCondLst>
                                    <p:cond delay="0"/>
                                  </p:stCondLst>
                                  <p:childTnLst>
                                    <p:set>
                                      <p:cBhvr>
                                        <p:cTn id="84" dur="1" fill="hold">
                                          <p:stCondLst>
                                            <p:cond delay="0"/>
                                          </p:stCondLst>
                                        </p:cTn>
                                        <p:tgtEl>
                                          <p:spTgt spid="197654"/>
                                        </p:tgtEl>
                                        <p:attrNameLst>
                                          <p:attrName>style.visibility</p:attrName>
                                        </p:attrNameLst>
                                      </p:cBhvr>
                                      <p:to>
                                        <p:strVal val="visible"/>
                                      </p:to>
                                    </p:set>
                                    <p:animEffect transition="in" filter="wipe(up)">
                                      <p:cBhvr>
                                        <p:cTn id="85" dur="500"/>
                                        <p:tgtEl>
                                          <p:spTgt spid="197654"/>
                                        </p:tgtEl>
                                      </p:cBhvr>
                                    </p:animEffect>
                                  </p:childTnLst>
                                </p:cTn>
                              </p:par>
                            </p:childTnLst>
                          </p:cTn>
                        </p:par>
                        <p:par>
                          <p:cTn id="86" fill="hold" nodeType="afterGroup">
                            <p:stCondLst>
                              <p:cond delay="2500"/>
                            </p:stCondLst>
                            <p:childTnLst>
                              <p:par>
                                <p:cTn id="87" presetID="22" presetClass="entr" presetSubtype="1" fill="hold" grpId="0" nodeType="afterEffect">
                                  <p:stCondLst>
                                    <p:cond delay="0"/>
                                  </p:stCondLst>
                                  <p:childTnLst>
                                    <p:set>
                                      <p:cBhvr>
                                        <p:cTn id="88" dur="1" fill="hold">
                                          <p:stCondLst>
                                            <p:cond delay="0"/>
                                          </p:stCondLst>
                                        </p:cTn>
                                        <p:tgtEl>
                                          <p:spTgt spid="197658"/>
                                        </p:tgtEl>
                                        <p:attrNameLst>
                                          <p:attrName>style.visibility</p:attrName>
                                        </p:attrNameLst>
                                      </p:cBhvr>
                                      <p:to>
                                        <p:strVal val="visible"/>
                                      </p:to>
                                    </p:set>
                                    <p:animEffect transition="in" filter="wipe(up)">
                                      <p:cBhvr>
                                        <p:cTn id="89" dur="500"/>
                                        <p:tgtEl>
                                          <p:spTgt spid="197658"/>
                                        </p:tgtEl>
                                      </p:cBhvr>
                                    </p:animEffect>
                                  </p:childTnLst>
                                </p:cTn>
                              </p:par>
                            </p:childTnLst>
                          </p:cTn>
                        </p:par>
                        <p:par>
                          <p:cTn id="90" fill="hold" nodeType="afterGroup">
                            <p:stCondLst>
                              <p:cond delay="3000"/>
                            </p:stCondLst>
                            <p:childTnLst>
                              <p:par>
                                <p:cTn id="91" presetID="22" presetClass="entr" presetSubtype="1" fill="hold" grpId="0" nodeType="afterEffect">
                                  <p:stCondLst>
                                    <p:cond delay="0"/>
                                  </p:stCondLst>
                                  <p:childTnLst>
                                    <p:set>
                                      <p:cBhvr>
                                        <p:cTn id="92" dur="1" fill="hold">
                                          <p:stCondLst>
                                            <p:cond delay="0"/>
                                          </p:stCondLst>
                                        </p:cTn>
                                        <p:tgtEl>
                                          <p:spTgt spid="197655"/>
                                        </p:tgtEl>
                                        <p:attrNameLst>
                                          <p:attrName>style.visibility</p:attrName>
                                        </p:attrNameLst>
                                      </p:cBhvr>
                                      <p:to>
                                        <p:strVal val="visible"/>
                                      </p:to>
                                    </p:set>
                                    <p:animEffect transition="in" filter="wipe(up)">
                                      <p:cBhvr>
                                        <p:cTn id="93" dur="500"/>
                                        <p:tgtEl>
                                          <p:spTgt spid="197655"/>
                                        </p:tgtEl>
                                      </p:cBhvr>
                                    </p:animEffect>
                                  </p:childTnLst>
                                </p:cTn>
                              </p:par>
                            </p:childTnLst>
                          </p:cTn>
                        </p:par>
                        <p:par>
                          <p:cTn id="94" fill="hold" nodeType="afterGroup">
                            <p:stCondLst>
                              <p:cond delay="3500"/>
                            </p:stCondLst>
                            <p:childTnLst>
                              <p:par>
                                <p:cTn id="95" presetID="22" presetClass="entr" presetSubtype="1" fill="hold" grpId="0" nodeType="afterEffect">
                                  <p:stCondLst>
                                    <p:cond delay="0"/>
                                  </p:stCondLst>
                                  <p:childTnLst>
                                    <p:set>
                                      <p:cBhvr>
                                        <p:cTn id="96" dur="1" fill="hold">
                                          <p:stCondLst>
                                            <p:cond delay="0"/>
                                          </p:stCondLst>
                                        </p:cTn>
                                        <p:tgtEl>
                                          <p:spTgt spid="197656"/>
                                        </p:tgtEl>
                                        <p:attrNameLst>
                                          <p:attrName>style.visibility</p:attrName>
                                        </p:attrNameLst>
                                      </p:cBhvr>
                                      <p:to>
                                        <p:strVal val="visible"/>
                                      </p:to>
                                    </p:set>
                                    <p:animEffect transition="in" filter="wipe(up)">
                                      <p:cBhvr>
                                        <p:cTn id="97" dur="500"/>
                                        <p:tgtEl>
                                          <p:spTgt spid="197656"/>
                                        </p:tgtEl>
                                      </p:cBhvr>
                                    </p:animEffect>
                                  </p:childTnLst>
                                </p:cTn>
                              </p:par>
                            </p:childTnLst>
                          </p:cTn>
                        </p:par>
                        <p:par>
                          <p:cTn id="98" fill="hold" nodeType="afterGroup">
                            <p:stCondLst>
                              <p:cond delay="4000"/>
                            </p:stCondLst>
                            <p:childTnLst>
                              <p:par>
                                <p:cTn id="99" presetID="22" presetClass="entr" presetSubtype="1" fill="hold" grpId="0" nodeType="afterEffect">
                                  <p:stCondLst>
                                    <p:cond delay="0"/>
                                  </p:stCondLst>
                                  <p:childTnLst>
                                    <p:set>
                                      <p:cBhvr>
                                        <p:cTn id="100" dur="1" fill="hold">
                                          <p:stCondLst>
                                            <p:cond delay="0"/>
                                          </p:stCondLst>
                                        </p:cTn>
                                        <p:tgtEl>
                                          <p:spTgt spid="197657"/>
                                        </p:tgtEl>
                                        <p:attrNameLst>
                                          <p:attrName>style.visibility</p:attrName>
                                        </p:attrNameLst>
                                      </p:cBhvr>
                                      <p:to>
                                        <p:strVal val="visible"/>
                                      </p:to>
                                    </p:set>
                                    <p:animEffect transition="in" filter="wipe(up)">
                                      <p:cBhvr>
                                        <p:cTn id="101" dur="500"/>
                                        <p:tgtEl>
                                          <p:spTgt spid="197657"/>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2" presetClass="entr" presetSubtype="2" fill="hold" grpId="0" nodeType="clickEffect">
                                  <p:stCondLst>
                                    <p:cond delay="0"/>
                                  </p:stCondLst>
                                  <p:childTnLst>
                                    <p:set>
                                      <p:cBhvr>
                                        <p:cTn id="105" dur="1" fill="hold">
                                          <p:stCondLst>
                                            <p:cond delay="0"/>
                                          </p:stCondLst>
                                        </p:cTn>
                                        <p:tgtEl>
                                          <p:spTgt spid="197664"/>
                                        </p:tgtEl>
                                        <p:attrNameLst>
                                          <p:attrName>style.visibility</p:attrName>
                                        </p:attrNameLst>
                                      </p:cBhvr>
                                      <p:to>
                                        <p:strVal val="visible"/>
                                      </p:to>
                                    </p:set>
                                    <p:animEffect transition="in" filter="slide(fromRight)">
                                      <p:cBhvr>
                                        <p:cTn id="106" dur="500"/>
                                        <p:tgtEl>
                                          <p:spTgt spid="197664"/>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1" fill="hold" grpId="0" nodeType="clickEffect">
                                  <p:stCondLst>
                                    <p:cond delay="0"/>
                                  </p:stCondLst>
                                  <p:childTnLst>
                                    <p:set>
                                      <p:cBhvr>
                                        <p:cTn id="110" dur="1" fill="hold">
                                          <p:stCondLst>
                                            <p:cond delay="0"/>
                                          </p:stCondLst>
                                        </p:cTn>
                                        <p:tgtEl>
                                          <p:spTgt spid="197662"/>
                                        </p:tgtEl>
                                        <p:attrNameLst>
                                          <p:attrName>style.visibility</p:attrName>
                                        </p:attrNameLst>
                                      </p:cBhvr>
                                      <p:to>
                                        <p:strVal val="visible"/>
                                      </p:to>
                                    </p:set>
                                    <p:animEffect transition="in" filter="wipe(up)">
                                      <p:cBhvr>
                                        <p:cTn id="111" dur="500"/>
                                        <p:tgtEl>
                                          <p:spTgt spid="1976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4" grpId="0" autoUpdateAnimBg="0"/>
      <p:bldP spid="197638" grpId="0" autoUpdateAnimBg="0"/>
      <p:bldP spid="197639" grpId="0" animBg="1"/>
      <p:bldP spid="197640" grpId="0" animBg="1"/>
      <p:bldP spid="197641" grpId="0" animBg="1"/>
      <p:bldP spid="197642" grpId="0" animBg="1"/>
      <p:bldP spid="197643" grpId="0" animBg="1"/>
      <p:bldP spid="197645" grpId="0" animBg="1"/>
      <p:bldP spid="197646" grpId="0" animBg="1"/>
      <p:bldP spid="197647" grpId="0" animBg="1"/>
      <p:bldP spid="197648" grpId="0" animBg="1"/>
      <p:bldP spid="197649" grpId="0" animBg="1"/>
      <p:bldP spid="197651" grpId="0" animBg="1"/>
      <p:bldP spid="197652" grpId="0" animBg="1"/>
      <p:bldP spid="197654" grpId="0" animBg="1"/>
      <p:bldP spid="197655" grpId="0" animBg="1"/>
      <p:bldP spid="197656" grpId="0" animBg="1"/>
      <p:bldP spid="197657" grpId="0" animBg="1"/>
      <p:bldP spid="197658" grpId="0" animBg="1"/>
      <p:bldP spid="197660" grpId="0" animBg="1"/>
      <p:bldP spid="197661" grpId="0" animBg="1"/>
      <p:bldP spid="197662" grpId="0" animBg="1"/>
      <p:bldP spid="197663" grpId="0" autoUpdateAnimBg="0"/>
      <p:bldP spid="197664" grpId="0" autoUpdateAnimBg="0"/>
      <p:bldP spid="197665"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1026"/>
          <p:cNvSpPr>
            <a:spLocks noChangeArrowheads="1"/>
          </p:cNvSpPr>
          <p:nvPr/>
        </p:nvSpPr>
        <p:spPr bwMode="auto">
          <a:xfrm>
            <a:off x="838200" y="457200"/>
            <a:ext cx="7410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50000"/>
              </a:lnSpc>
            </a:pPr>
            <a:r>
              <a:rPr lang="en-US" altLang="zh-CN" sz="3600">
                <a:solidFill>
                  <a:srgbClr val="A50021"/>
                </a:solidFill>
                <a:ea typeface="楷体_GB2312" charset="0"/>
              </a:rPr>
              <a:t>// </a:t>
            </a:r>
            <a:r>
              <a:rPr lang="zh-CN" altLang="en-US" sz="3600">
                <a:solidFill>
                  <a:srgbClr val="A50021"/>
                </a:solidFill>
                <a:ea typeface="楷体_GB2312" charset="0"/>
              </a:rPr>
              <a:t>左子树为空树只需重接它的右子树</a:t>
            </a:r>
          </a:p>
        </p:txBody>
      </p:sp>
      <p:sp>
        <p:nvSpPr>
          <p:cNvPr id="209923" name="Rectangle 1027"/>
          <p:cNvSpPr>
            <a:spLocks noChangeArrowheads="1"/>
          </p:cNvSpPr>
          <p:nvPr/>
        </p:nvSpPr>
        <p:spPr bwMode="auto">
          <a:xfrm>
            <a:off x="1447800" y="1508125"/>
            <a:ext cx="62372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A50021"/>
                </a:solidFill>
                <a:ea typeface="楷体_GB2312" charset="0"/>
              </a:rPr>
              <a:t>q = p;  p = p-&gt;rchild;  free(q);</a:t>
            </a:r>
            <a:endParaRPr lang="en-US" altLang="zh-CN" sz="3600">
              <a:solidFill>
                <a:srgbClr val="A50021"/>
              </a:solidFill>
              <a:ea typeface="楷体_GB2312" charset="0"/>
            </a:endParaRPr>
          </a:p>
        </p:txBody>
      </p:sp>
      <p:sp>
        <p:nvSpPr>
          <p:cNvPr id="209925" name="Rectangle 1029"/>
          <p:cNvSpPr>
            <a:spLocks noChangeArrowheads="1"/>
          </p:cNvSpPr>
          <p:nvPr/>
        </p:nvSpPr>
        <p:spPr bwMode="auto">
          <a:xfrm>
            <a:off x="2209800" y="3429000"/>
            <a:ext cx="381000" cy="457200"/>
          </a:xfrm>
          <a:prstGeom prst="rect">
            <a:avLst/>
          </a:prstGeom>
          <a:solidFill>
            <a:srgbClr val="CCFFCC"/>
          </a:solidFill>
          <a:ln w="28575">
            <a:solidFill>
              <a:srgbClr val="008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26" name="Rectangle 1030"/>
          <p:cNvSpPr>
            <a:spLocks noChangeArrowheads="1"/>
          </p:cNvSpPr>
          <p:nvPr/>
        </p:nvSpPr>
        <p:spPr bwMode="auto">
          <a:xfrm>
            <a:off x="5867400" y="3429000"/>
            <a:ext cx="381000" cy="457200"/>
          </a:xfrm>
          <a:prstGeom prst="rect">
            <a:avLst/>
          </a:prstGeom>
          <a:solidFill>
            <a:srgbClr val="CCFFCC"/>
          </a:solidFill>
          <a:ln w="28575">
            <a:solidFill>
              <a:srgbClr val="008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27" name="Rectangle 1031"/>
          <p:cNvSpPr>
            <a:spLocks noChangeArrowheads="1"/>
          </p:cNvSpPr>
          <p:nvPr/>
        </p:nvSpPr>
        <p:spPr bwMode="auto">
          <a:xfrm>
            <a:off x="2590800" y="3429000"/>
            <a:ext cx="762000" cy="457200"/>
          </a:xfrm>
          <a:prstGeom prst="rect">
            <a:avLst/>
          </a:prstGeom>
          <a:solidFill>
            <a:srgbClr val="FFFFCC"/>
          </a:solidFill>
          <a:ln w="28575">
            <a:solidFill>
              <a:srgbClr val="008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28" name="Line 1032"/>
          <p:cNvSpPr>
            <a:spLocks noChangeShapeType="1"/>
          </p:cNvSpPr>
          <p:nvPr/>
        </p:nvSpPr>
        <p:spPr bwMode="auto">
          <a:xfrm>
            <a:off x="2971800" y="3429000"/>
            <a:ext cx="0" cy="457200"/>
          </a:xfrm>
          <a:prstGeom prst="line">
            <a:avLst/>
          </a:prstGeom>
          <a:noFill/>
          <a:ln w="95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29" name="Oval 1033"/>
          <p:cNvSpPr>
            <a:spLocks noChangeArrowheads="1"/>
          </p:cNvSpPr>
          <p:nvPr/>
        </p:nvSpPr>
        <p:spPr bwMode="auto">
          <a:xfrm>
            <a:off x="1219200" y="4267200"/>
            <a:ext cx="533400" cy="533400"/>
          </a:xfrm>
          <a:prstGeom prst="ellipse">
            <a:avLst/>
          </a:prstGeom>
          <a:solidFill>
            <a:srgbClr val="006600"/>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30" name="Rectangle 1034"/>
          <p:cNvSpPr>
            <a:spLocks noChangeArrowheads="1"/>
          </p:cNvSpPr>
          <p:nvPr/>
        </p:nvSpPr>
        <p:spPr bwMode="auto">
          <a:xfrm>
            <a:off x="5105400" y="3429000"/>
            <a:ext cx="762000" cy="457200"/>
          </a:xfrm>
          <a:prstGeom prst="rect">
            <a:avLst/>
          </a:prstGeom>
          <a:solidFill>
            <a:srgbClr val="FFFFCC"/>
          </a:solidFill>
          <a:ln w="28575">
            <a:solidFill>
              <a:srgbClr val="00808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31" name="Line 1035"/>
          <p:cNvSpPr>
            <a:spLocks noChangeShapeType="1"/>
          </p:cNvSpPr>
          <p:nvPr/>
        </p:nvSpPr>
        <p:spPr bwMode="auto">
          <a:xfrm>
            <a:off x="5486400" y="3429000"/>
            <a:ext cx="0" cy="457200"/>
          </a:xfrm>
          <a:prstGeom prst="line">
            <a:avLst/>
          </a:prstGeom>
          <a:noFill/>
          <a:ln w="95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32" name="Oval 1036"/>
          <p:cNvSpPr>
            <a:spLocks noChangeArrowheads="1"/>
          </p:cNvSpPr>
          <p:nvPr/>
        </p:nvSpPr>
        <p:spPr bwMode="auto">
          <a:xfrm>
            <a:off x="1981200" y="5029200"/>
            <a:ext cx="533400" cy="533400"/>
          </a:xfrm>
          <a:prstGeom prst="ellipse">
            <a:avLst/>
          </a:prstGeom>
          <a:solidFill>
            <a:schemeClr val="hlink"/>
          </a:solidFill>
          <a:ln>
            <a:noFill/>
          </a:ln>
          <a:effectLst/>
          <a:extLst>
            <a:ext uri="{91240B29-F687-4F45-9708-019B960494DF}">
              <a14:hiddenLine xmlns:a14="http://schemas.microsoft.com/office/drawing/2010/main" w="9525">
                <a:solidFill>
                  <a:srgbClr val="008080"/>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33" name="Line 1037"/>
          <p:cNvSpPr>
            <a:spLocks noChangeShapeType="1"/>
          </p:cNvSpPr>
          <p:nvPr/>
        </p:nvSpPr>
        <p:spPr bwMode="auto">
          <a:xfrm flipH="1">
            <a:off x="1676400" y="5486400"/>
            <a:ext cx="381000" cy="533400"/>
          </a:xfrm>
          <a:prstGeom prst="line">
            <a:avLst/>
          </a:prstGeom>
          <a:noFill/>
          <a:ln w="28575">
            <a:solidFill>
              <a:srgbClr val="66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34" name="Line 1038"/>
          <p:cNvSpPr>
            <a:spLocks noChangeShapeType="1"/>
          </p:cNvSpPr>
          <p:nvPr/>
        </p:nvSpPr>
        <p:spPr bwMode="auto">
          <a:xfrm>
            <a:off x="2438400" y="5486400"/>
            <a:ext cx="228600" cy="533400"/>
          </a:xfrm>
          <a:prstGeom prst="line">
            <a:avLst/>
          </a:prstGeom>
          <a:noFill/>
          <a:ln w="28575">
            <a:solidFill>
              <a:srgbClr val="66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35" name="Line 1039"/>
          <p:cNvSpPr>
            <a:spLocks noChangeShapeType="1"/>
          </p:cNvSpPr>
          <p:nvPr/>
        </p:nvSpPr>
        <p:spPr bwMode="auto">
          <a:xfrm>
            <a:off x="1676400" y="4724400"/>
            <a:ext cx="381000" cy="381000"/>
          </a:xfrm>
          <a:prstGeom prst="line">
            <a:avLst/>
          </a:prstGeom>
          <a:noFill/>
          <a:ln w="3175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36" name="Line 1040"/>
          <p:cNvSpPr>
            <a:spLocks noChangeShapeType="1"/>
          </p:cNvSpPr>
          <p:nvPr/>
        </p:nvSpPr>
        <p:spPr bwMode="auto">
          <a:xfrm flipH="1">
            <a:off x="1676400" y="3657600"/>
            <a:ext cx="685800" cy="685800"/>
          </a:xfrm>
          <a:prstGeom prst="line">
            <a:avLst/>
          </a:prstGeom>
          <a:noFill/>
          <a:ln w="3175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37" name="Oval 1041"/>
          <p:cNvSpPr>
            <a:spLocks noChangeArrowheads="1"/>
          </p:cNvSpPr>
          <p:nvPr/>
        </p:nvSpPr>
        <p:spPr bwMode="auto">
          <a:xfrm>
            <a:off x="6553200" y="4267200"/>
            <a:ext cx="533400" cy="533400"/>
          </a:xfrm>
          <a:prstGeom prst="ellipse">
            <a:avLst/>
          </a:prstGeom>
          <a:solidFill>
            <a:srgbClr val="006600"/>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38" name="Oval 1042"/>
          <p:cNvSpPr>
            <a:spLocks noChangeArrowheads="1"/>
          </p:cNvSpPr>
          <p:nvPr/>
        </p:nvSpPr>
        <p:spPr bwMode="auto">
          <a:xfrm>
            <a:off x="7315200" y="5029200"/>
            <a:ext cx="533400" cy="533400"/>
          </a:xfrm>
          <a:prstGeom prst="ellipse">
            <a:avLst/>
          </a:prstGeom>
          <a:solidFill>
            <a:schemeClr val="hlink"/>
          </a:solidFill>
          <a:ln>
            <a:noFill/>
          </a:ln>
          <a:effectLst/>
          <a:extLst>
            <a:ext uri="{91240B29-F687-4F45-9708-019B960494DF}">
              <a14:hiddenLine xmlns:a14="http://schemas.microsoft.com/office/drawing/2010/main" w="9525">
                <a:solidFill>
                  <a:srgbClr val="008080"/>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39" name="Line 1043"/>
          <p:cNvSpPr>
            <a:spLocks noChangeShapeType="1"/>
          </p:cNvSpPr>
          <p:nvPr/>
        </p:nvSpPr>
        <p:spPr bwMode="auto">
          <a:xfrm flipH="1">
            <a:off x="7010400" y="5486400"/>
            <a:ext cx="381000" cy="533400"/>
          </a:xfrm>
          <a:prstGeom prst="line">
            <a:avLst/>
          </a:prstGeom>
          <a:noFill/>
          <a:ln w="28575">
            <a:solidFill>
              <a:srgbClr val="66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40" name="Line 1044"/>
          <p:cNvSpPr>
            <a:spLocks noChangeShapeType="1"/>
          </p:cNvSpPr>
          <p:nvPr/>
        </p:nvSpPr>
        <p:spPr bwMode="auto">
          <a:xfrm>
            <a:off x="7772400" y="5486400"/>
            <a:ext cx="228600" cy="533400"/>
          </a:xfrm>
          <a:prstGeom prst="line">
            <a:avLst/>
          </a:prstGeom>
          <a:noFill/>
          <a:ln w="28575">
            <a:solidFill>
              <a:srgbClr val="66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41" name="Line 1045"/>
          <p:cNvSpPr>
            <a:spLocks noChangeShapeType="1"/>
          </p:cNvSpPr>
          <p:nvPr/>
        </p:nvSpPr>
        <p:spPr bwMode="auto">
          <a:xfrm>
            <a:off x="7010400" y="4724400"/>
            <a:ext cx="381000" cy="381000"/>
          </a:xfrm>
          <a:prstGeom prst="line">
            <a:avLst/>
          </a:prstGeom>
          <a:noFill/>
          <a:ln w="3175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42" name="Line 1046"/>
          <p:cNvSpPr>
            <a:spLocks noChangeShapeType="1"/>
          </p:cNvSpPr>
          <p:nvPr/>
        </p:nvSpPr>
        <p:spPr bwMode="auto">
          <a:xfrm>
            <a:off x="6019800" y="3657600"/>
            <a:ext cx="685800" cy="685800"/>
          </a:xfrm>
          <a:prstGeom prst="line">
            <a:avLst/>
          </a:prstGeom>
          <a:noFill/>
          <a:ln w="3175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43" name="Line 1047"/>
          <p:cNvSpPr>
            <a:spLocks noChangeShapeType="1"/>
          </p:cNvSpPr>
          <p:nvPr/>
        </p:nvSpPr>
        <p:spPr bwMode="auto">
          <a:xfrm flipH="1">
            <a:off x="2057400" y="3657600"/>
            <a:ext cx="304800" cy="1447800"/>
          </a:xfrm>
          <a:prstGeom prst="line">
            <a:avLst/>
          </a:prstGeom>
          <a:noFill/>
          <a:ln w="412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44" name="Line 1048"/>
          <p:cNvSpPr>
            <a:spLocks noChangeShapeType="1"/>
          </p:cNvSpPr>
          <p:nvPr/>
        </p:nvSpPr>
        <p:spPr bwMode="auto">
          <a:xfrm>
            <a:off x="6019800" y="3657600"/>
            <a:ext cx="1371600" cy="1447800"/>
          </a:xfrm>
          <a:prstGeom prst="line">
            <a:avLst/>
          </a:prstGeom>
          <a:noFill/>
          <a:ln w="412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9945" name="Text Box 1049"/>
          <p:cNvSpPr txBox="1">
            <a:spLocks noChangeArrowheads="1"/>
          </p:cNvSpPr>
          <p:nvPr/>
        </p:nvSpPr>
        <p:spPr bwMode="auto">
          <a:xfrm>
            <a:off x="1797050" y="33528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008080"/>
                </a:solidFill>
              </a:rPr>
              <a:t>p</a:t>
            </a:r>
            <a:endParaRPr lang="en-US" altLang="zh-CN" sz="3600"/>
          </a:p>
        </p:txBody>
      </p:sp>
      <p:sp>
        <p:nvSpPr>
          <p:cNvPr id="209946" name="Text Box 1050"/>
          <p:cNvSpPr txBox="1">
            <a:spLocks noChangeArrowheads="1"/>
          </p:cNvSpPr>
          <p:nvPr/>
        </p:nvSpPr>
        <p:spPr bwMode="auto">
          <a:xfrm>
            <a:off x="6369050" y="33972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008080"/>
                </a:solidFill>
              </a:rPr>
              <a:t>p</a:t>
            </a:r>
            <a:endParaRPr lang="en-US" altLang="zh-CN" sz="3600"/>
          </a:p>
        </p:txBody>
      </p:sp>
      <p:sp>
        <p:nvSpPr>
          <p:cNvPr id="209947" name="AutoShape 1051">
            <a:hlinkClick r:id="" action="ppaction://hlinkshowjump?jump=lastslideviewed" highlightClick="1"/>
          </p:cNvPr>
          <p:cNvSpPr>
            <a:spLocks noChangeArrowheads="1"/>
          </p:cNvSpPr>
          <p:nvPr/>
        </p:nvSpPr>
        <p:spPr bwMode="auto">
          <a:xfrm>
            <a:off x="8305800" y="60960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778757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9922"/>
                                        </p:tgtEl>
                                        <p:attrNameLst>
                                          <p:attrName>style.visibility</p:attrName>
                                        </p:attrNameLst>
                                      </p:cBhvr>
                                      <p:to>
                                        <p:strVal val="visible"/>
                                      </p:to>
                                    </p:set>
                                    <p:animEffect transition="in" filter="wipe(left)">
                                      <p:cBhvr>
                                        <p:cTn id="7" dur="500"/>
                                        <p:tgtEl>
                                          <p:spTgt spid="2099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09923"/>
                                        </p:tgtEl>
                                        <p:attrNameLst>
                                          <p:attrName>style.visibility</p:attrName>
                                        </p:attrNameLst>
                                      </p:cBhvr>
                                      <p:to>
                                        <p:strVal val="visible"/>
                                      </p:to>
                                    </p:set>
                                    <p:animEffect transition="in" filter="wipe(left)">
                                      <p:cBhvr>
                                        <p:cTn id="12" dur="300"/>
                                        <p:tgtEl>
                                          <p:spTgt spid="2099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9925"/>
                                        </p:tgtEl>
                                        <p:attrNameLst>
                                          <p:attrName>style.visibility</p:attrName>
                                        </p:attrNameLst>
                                      </p:cBhvr>
                                      <p:to>
                                        <p:strVal val="visible"/>
                                      </p:to>
                                    </p:set>
                                    <p:animEffect transition="in" filter="wipe(left)">
                                      <p:cBhvr>
                                        <p:cTn id="17" dur="500"/>
                                        <p:tgtEl>
                                          <p:spTgt spid="209925"/>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09927"/>
                                        </p:tgtEl>
                                        <p:attrNameLst>
                                          <p:attrName>style.visibility</p:attrName>
                                        </p:attrNameLst>
                                      </p:cBhvr>
                                      <p:to>
                                        <p:strVal val="visible"/>
                                      </p:to>
                                    </p:set>
                                    <p:animEffect transition="in" filter="wipe(left)">
                                      <p:cBhvr>
                                        <p:cTn id="21" dur="500"/>
                                        <p:tgtEl>
                                          <p:spTgt spid="209927"/>
                                        </p:tgtEl>
                                      </p:cBhvr>
                                    </p:animEffect>
                                  </p:childTnLst>
                                </p:cTn>
                              </p:par>
                            </p:childTnLst>
                          </p:cTn>
                        </p:par>
                        <p:par>
                          <p:cTn id="22" fill="hold" nodeType="afterGroup">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209928"/>
                                        </p:tgtEl>
                                        <p:attrNameLst>
                                          <p:attrName>style.visibility</p:attrName>
                                        </p:attrNameLst>
                                      </p:cBhvr>
                                      <p:to>
                                        <p:strVal val="visible"/>
                                      </p:to>
                                    </p:set>
                                    <p:animEffect transition="in" filter="wipe(left)">
                                      <p:cBhvr>
                                        <p:cTn id="25" dur="500"/>
                                        <p:tgtEl>
                                          <p:spTgt spid="209928"/>
                                        </p:tgtEl>
                                      </p:cBhvr>
                                    </p:animEffect>
                                  </p:childTnLst>
                                </p:cTn>
                              </p:par>
                            </p:childTnLst>
                          </p:cTn>
                        </p:par>
                        <p:par>
                          <p:cTn id="26" fill="hold" nodeType="afterGroup">
                            <p:stCondLst>
                              <p:cond delay="1500"/>
                            </p:stCondLst>
                            <p:childTnLst>
                              <p:par>
                                <p:cTn id="27" presetID="22" presetClass="entr" presetSubtype="1" fill="hold" grpId="0" nodeType="afterEffect">
                                  <p:stCondLst>
                                    <p:cond delay="0"/>
                                  </p:stCondLst>
                                  <p:childTnLst>
                                    <p:set>
                                      <p:cBhvr>
                                        <p:cTn id="28" dur="1" fill="hold">
                                          <p:stCondLst>
                                            <p:cond delay="0"/>
                                          </p:stCondLst>
                                        </p:cTn>
                                        <p:tgtEl>
                                          <p:spTgt spid="209936"/>
                                        </p:tgtEl>
                                        <p:attrNameLst>
                                          <p:attrName>style.visibility</p:attrName>
                                        </p:attrNameLst>
                                      </p:cBhvr>
                                      <p:to>
                                        <p:strVal val="visible"/>
                                      </p:to>
                                    </p:set>
                                    <p:animEffect transition="in" filter="wipe(up)">
                                      <p:cBhvr>
                                        <p:cTn id="29" dur="500"/>
                                        <p:tgtEl>
                                          <p:spTgt spid="209936"/>
                                        </p:tgtEl>
                                      </p:cBhvr>
                                    </p:animEffect>
                                  </p:childTnLst>
                                </p:cTn>
                              </p:par>
                            </p:childTnLst>
                          </p:cTn>
                        </p:par>
                        <p:par>
                          <p:cTn id="30" fill="hold" nodeType="afterGroup">
                            <p:stCondLst>
                              <p:cond delay="2000"/>
                            </p:stCondLst>
                            <p:childTnLst>
                              <p:par>
                                <p:cTn id="31" presetID="2" presetClass="entr" presetSubtype="6" fill="hold" grpId="0" nodeType="afterEffect">
                                  <p:stCondLst>
                                    <p:cond delay="0"/>
                                  </p:stCondLst>
                                  <p:childTnLst>
                                    <p:set>
                                      <p:cBhvr>
                                        <p:cTn id="32" dur="1" fill="hold">
                                          <p:stCondLst>
                                            <p:cond delay="0"/>
                                          </p:stCondLst>
                                        </p:cTn>
                                        <p:tgtEl>
                                          <p:spTgt spid="209947"/>
                                        </p:tgtEl>
                                        <p:attrNameLst>
                                          <p:attrName>style.visibility</p:attrName>
                                        </p:attrNameLst>
                                      </p:cBhvr>
                                      <p:to>
                                        <p:strVal val="visible"/>
                                      </p:to>
                                    </p:set>
                                    <p:anim calcmode="lin" valueType="num">
                                      <p:cBhvr additive="base">
                                        <p:cTn id="33" dur="500" fill="hold"/>
                                        <p:tgtEl>
                                          <p:spTgt spid="209947"/>
                                        </p:tgtEl>
                                        <p:attrNameLst>
                                          <p:attrName>ppt_x</p:attrName>
                                        </p:attrNameLst>
                                      </p:cBhvr>
                                      <p:tavLst>
                                        <p:tav tm="0">
                                          <p:val>
                                            <p:strVal val="1+#ppt_w/2"/>
                                          </p:val>
                                        </p:tav>
                                        <p:tav tm="100000">
                                          <p:val>
                                            <p:strVal val="#ppt_x"/>
                                          </p:val>
                                        </p:tav>
                                      </p:tavLst>
                                    </p:anim>
                                    <p:anim calcmode="lin" valueType="num">
                                      <p:cBhvr additive="base">
                                        <p:cTn id="34" dur="500" fill="hold"/>
                                        <p:tgtEl>
                                          <p:spTgt spid="209947"/>
                                        </p:tgtEl>
                                        <p:attrNameLst>
                                          <p:attrName>ppt_y</p:attrName>
                                        </p:attrNameLst>
                                      </p:cBhvr>
                                      <p:tavLst>
                                        <p:tav tm="0">
                                          <p:val>
                                            <p:strVal val="1+#ppt_h/2"/>
                                          </p:val>
                                        </p:tav>
                                        <p:tav tm="100000">
                                          <p:val>
                                            <p:strVal val="#ppt_y"/>
                                          </p:val>
                                        </p:tav>
                                      </p:tavLst>
                                    </p:anim>
                                  </p:childTnLst>
                                </p:cTn>
                              </p:par>
                            </p:childTnLst>
                          </p:cTn>
                        </p:par>
                        <p:par>
                          <p:cTn id="35" fill="hold" nodeType="afterGroup">
                            <p:stCondLst>
                              <p:cond delay="2500"/>
                            </p:stCondLst>
                            <p:childTnLst>
                              <p:par>
                                <p:cTn id="36" presetID="22" presetClass="entr" presetSubtype="1" fill="hold" grpId="0" nodeType="afterEffect">
                                  <p:stCondLst>
                                    <p:cond delay="0"/>
                                  </p:stCondLst>
                                  <p:childTnLst>
                                    <p:set>
                                      <p:cBhvr>
                                        <p:cTn id="37" dur="1" fill="hold">
                                          <p:stCondLst>
                                            <p:cond delay="0"/>
                                          </p:stCondLst>
                                        </p:cTn>
                                        <p:tgtEl>
                                          <p:spTgt spid="209929"/>
                                        </p:tgtEl>
                                        <p:attrNameLst>
                                          <p:attrName>style.visibility</p:attrName>
                                        </p:attrNameLst>
                                      </p:cBhvr>
                                      <p:to>
                                        <p:strVal val="visible"/>
                                      </p:to>
                                    </p:set>
                                    <p:animEffect transition="in" filter="wipe(up)">
                                      <p:cBhvr>
                                        <p:cTn id="38" dur="500"/>
                                        <p:tgtEl>
                                          <p:spTgt spid="209929"/>
                                        </p:tgtEl>
                                      </p:cBhvr>
                                    </p:animEffect>
                                  </p:childTnLst>
                                </p:cTn>
                              </p:par>
                            </p:childTnLst>
                          </p:cTn>
                        </p:par>
                        <p:par>
                          <p:cTn id="39" fill="hold" nodeType="afterGroup">
                            <p:stCondLst>
                              <p:cond delay="3000"/>
                            </p:stCondLst>
                            <p:childTnLst>
                              <p:par>
                                <p:cTn id="40" presetID="22" presetClass="entr" presetSubtype="1" fill="hold" grpId="0" nodeType="afterEffect">
                                  <p:stCondLst>
                                    <p:cond delay="0"/>
                                  </p:stCondLst>
                                  <p:childTnLst>
                                    <p:set>
                                      <p:cBhvr>
                                        <p:cTn id="41" dur="1" fill="hold">
                                          <p:stCondLst>
                                            <p:cond delay="0"/>
                                          </p:stCondLst>
                                        </p:cTn>
                                        <p:tgtEl>
                                          <p:spTgt spid="209935"/>
                                        </p:tgtEl>
                                        <p:attrNameLst>
                                          <p:attrName>style.visibility</p:attrName>
                                        </p:attrNameLst>
                                      </p:cBhvr>
                                      <p:to>
                                        <p:strVal val="visible"/>
                                      </p:to>
                                    </p:set>
                                    <p:animEffect transition="in" filter="wipe(up)">
                                      <p:cBhvr>
                                        <p:cTn id="42" dur="500"/>
                                        <p:tgtEl>
                                          <p:spTgt spid="209935"/>
                                        </p:tgtEl>
                                      </p:cBhvr>
                                    </p:animEffect>
                                  </p:childTnLst>
                                </p:cTn>
                              </p:par>
                            </p:childTnLst>
                          </p:cTn>
                        </p:par>
                        <p:par>
                          <p:cTn id="43" fill="hold" nodeType="afterGroup">
                            <p:stCondLst>
                              <p:cond delay="3500"/>
                            </p:stCondLst>
                            <p:childTnLst>
                              <p:par>
                                <p:cTn id="44" presetID="22" presetClass="entr" presetSubtype="1" fill="hold" grpId="0" nodeType="afterEffect">
                                  <p:stCondLst>
                                    <p:cond delay="0"/>
                                  </p:stCondLst>
                                  <p:childTnLst>
                                    <p:set>
                                      <p:cBhvr>
                                        <p:cTn id="45" dur="1" fill="hold">
                                          <p:stCondLst>
                                            <p:cond delay="0"/>
                                          </p:stCondLst>
                                        </p:cTn>
                                        <p:tgtEl>
                                          <p:spTgt spid="209932"/>
                                        </p:tgtEl>
                                        <p:attrNameLst>
                                          <p:attrName>style.visibility</p:attrName>
                                        </p:attrNameLst>
                                      </p:cBhvr>
                                      <p:to>
                                        <p:strVal val="visible"/>
                                      </p:to>
                                    </p:set>
                                    <p:animEffect transition="in" filter="wipe(up)">
                                      <p:cBhvr>
                                        <p:cTn id="46" dur="500"/>
                                        <p:tgtEl>
                                          <p:spTgt spid="209932"/>
                                        </p:tgtEl>
                                      </p:cBhvr>
                                    </p:animEffect>
                                  </p:childTnLst>
                                </p:cTn>
                              </p:par>
                            </p:childTnLst>
                          </p:cTn>
                        </p:par>
                        <p:par>
                          <p:cTn id="47" fill="hold" nodeType="afterGroup">
                            <p:stCondLst>
                              <p:cond delay="4000"/>
                            </p:stCondLst>
                            <p:childTnLst>
                              <p:par>
                                <p:cTn id="48" presetID="22" presetClass="entr" presetSubtype="1" fill="hold" grpId="0" nodeType="afterEffect">
                                  <p:stCondLst>
                                    <p:cond delay="0"/>
                                  </p:stCondLst>
                                  <p:childTnLst>
                                    <p:set>
                                      <p:cBhvr>
                                        <p:cTn id="49" dur="1" fill="hold">
                                          <p:stCondLst>
                                            <p:cond delay="0"/>
                                          </p:stCondLst>
                                        </p:cTn>
                                        <p:tgtEl>
                                          <p:spTgt spid="209933"/>
                                        </p:tgtEl>
                                        <p:attrNameLst>
                                          <p:attrName>style.visibility</p:attrName>
                                        </p:attrNameLst>
                                      </p:cBhvr>
                                      <p:to>
                                        <p:strVal val="visible"/>
                                      </p:to>
                                    </p:set>
                                    <p:animEffect transition="in" filter="wipe(up)">
                                      <p:cBhvr>
                                        <p:cTn id="50" dur="500"/>
                                        <p:tgtEl>
                                          <p:spTgt spid="209933"/>
                                        </p:tgtEl>
                                      </p:cBhvr>
                                    </p:animEffect>
                                  </p:childTnLst>
                                </p:cTn>
                              </p:par>
                            </p:childTnLst>
                          </p:cTn>
                        </p:par>
                        <p:par>
                          <p:cTn id="51" fill="hold" nodeType="afterGroup">
                            <p:stCondLst>
                              <p:cond delay="4500"/>
                            </p:stCondLst>
                            <p:childTnLst>
                              <p:par>
                                <p:cTn id="52" presetID="22" presetClass="entr" presetSubtype="1" fill="hold" grpId="0" nodeType="afterEffect">
                                  <p:stCondLst>
                                    <p:cond delay="0"/>
                                  </p:stCondLst>
                                  <p:childTnLst>
                                    <p:set>
                                      <p:cBhvr>
                                        <p:cTn id="53" dur="1" fill="hold">
                                          <p:stCondLst>
                                            <p:cond delay="0"/>
                                          </p:stCondLst>
                                        </p:cTn>
                                        <p:tgtEl>
                                          <p:spTgt spid="209934"/>
                                        </p:tgtEl>
                                        <p:attrNameLst>
                                          <p:attrName>style.visibility</p:attrName>
                                        </p:attrNameLst>
                                      </p:cBhvr>
                                      <p:to>
                                        <p:strVal val="visible"/>
                                      </p:to>
                                    </p:set>
                                    <p:animEffect transition="in" filter="wipe(up)">
                                      <p:cBhvr>
                                        <p:cTn id="54" dur="500"/>
                                        <p:tgtEl>
                                          <p:spTgt spid="20993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2" presetClass="entr" presetSubtype="8" fill="hold" grpId="0" nodeType="clickEffect">
                                  <p:stCondLst>
                                    <p:cond delay="0"/>
                                  </p:stCondLst>
                                  <p:childTnLst>
                                    <p:set>
                                      <p:cBhvr>
                                        <p:cTn id="58" dur="1" fill="hold">
                                          <p:stCondLst>
                                            <p:cond delay="0"/>
                                          </p:stCondLst>
                                        </p:cTn>
                                        <p:tgtEl>
                                          <p:spTgt spid="209945"/>
                                        </p:tgtEl>
                                        <p:attrNameLst>
                                          <p:attrName>style.visibility</p:attrName>
                                        </p:attrNameLst>
                                      </p:cBhvr>
                                      <p:to>
                                        <p:strVal val="visible"/>
                                      </p:to>
                                    </p:set>
                                    <p:animEffect transition="in" filter="slide(fromLeft)">
                                      <p:cBhvr>
                                        <p:cTn id="59" dur="500"/>
                                        <p:tgtEl>
                                          <p:spTgt spid="20994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209943"/>
                                        </p:tgtEl>
                                        <p:attrNameLst>
                                          <p:attrName>style.visibility</p:attrName>
                                        </p:attrNameLst>
                                      </p:cBhvr>
                                      <p:to>
                                        <p:strVal val="visible"/>
                                      </p:to>
                                    </p:set>
                                    <p:animEffect transition="in" filter="wipe(up)">
                                      <p:cBhvr>
                                        <p:cTn id="64" dur="500"/>
                                        <p:tgtEl>
                                          <p:spTgt spid="20994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2" fill="hold" grpId="0" nodeType="clickEffect">
                                  <p:stCondLst>
                                    <p:cond delay="0"/>
                                  </p:stCondLst>
                                  <p:childTnLst>
                                    <p:set>
                                      <p:cBhvr>
                                        <p:cTn id="68" dur="1" fill="hold">
                                          <p:stCondLst>
                                            <p:cond delay="0"/>
                                          </p:stCondLst>
                                        </p:cTn>
                                        <p:tgtEl>
                                          <p:spTgt spid="209926"/>
                                        </p:tgtEl>
                                        <p:attrNameLst>
                                          <p:attrName>style.visibility</p:attrName>
                                        </p:attrNameLst>
                                      </p:cBhvr>
                                      <p:to>
                                        <p:strVal val="visible"/>
                                      </p:to>
                                    </p:set>
                                    <p:animEffect transition="in" filter="wipe(right)">
                                      <p:cBhvr>
                                        <p:cTn id="69" dur="500"/>
                                        <p:tgtEl>
                                          <p:spTgt spid="209926"/>
                                        </p:tgtEl>
                                      </p:cBhvr>
                                    </p:animEffect>
                                  </p:childTnLst>
                                </p:cTn>
                              </p:par>
                            </p:childTnLst>
                          </p:cTn>
                        </p:par>
                        <p:par>
                          <p:cTn id="70" fill="hold" nodeType="afterGroup">
                            <p:stCondLst>
                              <p:cond delay="500"/>
                            </p:stCondLst>
                            <p:childTnLst>
                              <p:par>
                                <p:cTn id="71" presetID="22" presetClass="entr" presetSubtype="2" fill="hold" grpId="0" nodeType="afterEffect">
                                  <p:stCondLst>
                                    <p:cond delay="0"/>
                                  </p:stCondLst>
                                  <p:childTnLst>
                                    <p:set>
                                      <p:cBhvr>
                                        <p:cTn id="72" dur="1" fill="hold">
                                          <p:stCondLst>
                                            <p:cond delay="0"/>
                                          </p:stCondLst>
                                        </p:cTn>
                                        <p:tgtEl>
                                          <p:spTgt spid="209930"/>
                                        </p:tgtEl>
                                        <p:attrNameLst>
                                          <p:attrName>style.visibility</p:attrName>
                                        </p:attrNameLst>
                                      </p:cBhvr>
                                      <p:to>
                                        <p:strVal val="visible"/>
                                      </p:to>
                                    </p:set>
                                    <p:animEffect transition="in" filter="wipe(right)">
                                      <p:cBhvr>
                                        <p:cTn id="73" dur="500"/>
                                        <p:tgtEl>
                                          <p:spTgt spid="209930"/>
                                        </p:tgtEl>
                                      </p:cBhvr>
                                    </p:animEffect>
                                  </p:childTnLst>
                                </p:cTn>
                              </p:par>
                            </p:childTnLst>
                          </p:cTn>
                        </p:par>
                        <p:par>
                          <p:cTn id="74" fill="hold" nodeType="afterGroup">
                            <p:stCondLst>
                              <p:cond delay="1000"/>
                            </p:stCondLst>
                            <p:childTnLst>
                              <p:par>
                                <p:cTn id="75" presetID="22" presetClass="entr" presetSubtype="2" fill="hold" grpId="0" nodeType="afterEffect">
                                  <p:stCondLst>
                                    <p:cond delay="0"/>
                                  </p:stCondLst>
                                  <p:childTnLst>
                                    <p:set>
                                      <p:cBhvr>
                                        <p:cTn id="76" dur="1" fill="hold">
                                          <p:stCondLst>
                                            <p:cond delay="0"/>
                                          </p:stCondLst>
                                        </p:cTn>
                                        <p:tgtEl>
                                          <p:spTgt spid="209931"/>
                                        </p:tgtEl>
                                        <p:attrNameLst>
                                          <p:attrName>style.visibility</p:attrName>
                                        </p:attrNameLst>
                                      </p:cBhvr>
                                      <p:to>
                                        <p:strVal val="visible"/>
                                      </p:to>
                                    </p:set>
                                    <p:animEffect transition="in" filter="wipe(right)">
                                      <p:cBhvr>
                                        <p:cTn id="77" dur="500"/>
                                        <p:tgtEl>
                                          <p:spTgt spid="209931"/>
                                        </p:tgtEl>
                                      </p:cBhvr>
                                    </p:animEffect>
                                  </p:childTnLst>
                                </p:cTn>
                              </p:par>
                            </p:childTnLst>
                          </p:cTn>
                        </p:par>
                        <p:par>
                          <p:cTn id="78" fill="hold" nodeType="afterGroup">
                            <p:stCondLst>
                              <p:cond delay="1500"/>
                            </p:stCondLst>
                            <p:childTnLst>
                              <p:par>
                                <p:cTn id="79" presetID="22" presetClass="entr" presetSubtype="1" fill="hold" grpId="0" nodeType="afterEffect">
                                  <p:stCondLst>
                                    <p:cond delay="0"/>
                                  </p:stCondLst>
                                  <p:childTnLst>
                                    <p:set>
                                      <p:cBhvr>
                                        <p:cTn id="80" dur="1" fill="hold">
                                          <p:stCondLst>
                                            <p:cond delay="0"/>
                                          </p:stCondLst>
                                        </p:cTn>
                                        <p:tgtEl>
                                          <p:spTgt spid="209942"/>
                                        </p:tgtEl>
                                        <p:attrNameLst>
                                          <p:attrName>style.visibility</p:attrName>
                                        </p:attrNameLst>
                                      </p:cBhvr>
                                      <p:to>
                                        <p:strVal val="visible"/>
                                      </p:to>
                                    </p:set>
                                    <p:animEffect transition="in" filter="wipe(up)">
                                      <p:cBhvr>
                                        <p:cTn id="81" dur="500"/>
                                        <p:tgtEl>
                                          <p:spTgt spid="209942"/>
                                        </p:tgtEl>
                                      </p:cBhvr>
                                    </p:animEffect>
                                  </p:childTnLst>
                                </p:cTn>
                              </p:par>
                            </p:childTnLst>
                          </p:cTn>
                        </p:par>
                        <p:par>
                          <p:cTn id="82" fill="hold" nodeType="afterGroup">
                            <p:stCondLst>
                              <p:cond delay="2000"/>
                            </p:stCondLst>
                            <p:childTnLst>
                              <p:par>
                                <p:cTn id="83" presetID="22" presetClass="entr" presetSubtype="1" fill="hold" grpId="0" nodeType="afterEffect">
                                  <p:stCondLst>
                                    <p:cond delay="0"/>
                                  </p:stCondLst>
                                  <p:childTnLst>
                                    <p:set>
                                      <p:cBhvr>
                                        <p:cTn id="84" dur="1" fill="hold">
                                          <p:stCondLst>
                                            <p:cond delay="0"/>
                                          </p:stCondLst>
                                        </p:cTn>
                                        <p:tgtEl>
                                          <p:spTgt spid="209937"/>
                                        </p:tgtEl>
                                        <p:attrNameLst>
                                          <p:attrName>style.visibility</p:attrName>
                                        </p:attrNameLst>
                                      </p:cBhvr>
                                      <p:to>
                                        <p:strVal val="visible"/>
                                      </p:to>
                                    </p:set>
                                    <p:animEffect transition="in" filter="wipe(up)">
                                      <p:cBhvr>
                                        <p:cTn id="85" dur="500"/>
                                        <p:tgtEl>
                                          <p:spTgt spid="209937"/>
                                        </p:tgtEl>
                                      </p:cBhvr>
                                    </p:animEffect>
                                  </p:childTnLst>
                                </p:cTn>
                              </p:par>
                            </p:childTnLst>
                          </p:cTn>
                        </p:par>
                        <p:par>
                          <p:cTn id="86" fill="hold" nodeType="afterGroup">
                            <p:stCondLst>
                              <p:cond delay="2500"/>
                            </p:stCondLst>
                            <p:childTnLst>
                              <p:par>
                                <p:cTn id="87" presetID="22" presetClass="entr" presetSubtype="1" fill="hold" grpId="0" nodeType="afterEffect">
                                  <p:stCondLst>
                                    <p:cond delay="0"/>
                                  </p:stCondLst>
                                  <p:childTnLst>
                                    <p:set>
                                      <p:cBhvr>
                                        <p:cTn id="88" dur="1" fill="hold">
                                          <p:stCondLst>
                                            <p:cond delay="0"/>
                                          </p:stCondLst>
                                        </p:cTn>
                                        <p:tgtEl>
                                          <p:spTgt spid="209941"/>
                                        </p:tgtEl>
                                        <p:attrNameLst>
                                          <p:attrName>style.visibility</p:attrName>
                                        </p:attrNameLst>
                                      </p:cBhvr>
                                      <p:to>
                                        <p:strVal val="visible"/>
                                      </p:to>
                                    </p:set>
                                    <p:animEffect transition="in" filter="wipe(up)">
                                      <p:cBhvr>
                                        <p:cTn id="89" dur="500"/>
                                        <p:tgtEl>
                                          <p:spTgt spid="209941"/>
                                        </p:tgtEl>
                                      </p:cBhvr>
                                    </p:animEffect>
                                  </p:childTnLst>
                                </p:cTn>
                              </p:par>
                            </p:childTnLst>
                          </p:cTn>
                        </p:par>
                        <p:par>
                          <p:cTn id="90" fill="hold" nodeType="afterGroup">
                            <p:stCondLst>
                              <p:cond delay="3000"/>
                            </p:stCondLst>
                            <p:childTnLst>
                              <p:par>
                                <p:cTn id="91" presetID="22" presetClass="entr" presetSubtype="1" fill="hold" grpId="0" nodeType="afterEffect">
                                  <p:stCondLst>
                                    <p:cond delay="0"/>
                                  </p:stCondLst>
                                  <p:childTnLst>
                                    <p:set>
                                      <p:cBhvr>
                                        <p:cTn id="92" dur="1" fill="hold">
                                          <p:stCondLst>
                                            <p:cond delay="0"/>
                                          </p:stCondLst>
                                        </p:cTn>
                                        <p:tgtEl>
                                          <p:spTgt spid="209938"/>
                                        </p:tgtEl>
                                        <p:attrNameLst>
                                          <p:attrName>style.visibility</p:attrName>
                                        </p:attrNameLst>
                                      </p:cBhvr>
                                      <p:to>
                                        <p:strVal val="visible"/>
                                      </p:to>
                                    </p:set>
                                    <p:animEffect transition="in" filter="wipe(up)">
                                      <p:cBhvr>
                                        <p:cTn id="93" dur="500"/>
                                        <p:tgtEl>
                                          <p:spTgt spid="209938"/>
                                        </p:tgtEl>
                                      </p:cBhvr>
                                    </p:animEffect>
                                  </p:childTnLst>
                                </p:cTn>
                              </p:par>
                            </p:childTnLst>
                          </p:cTn>
                        </p:par>
                        <p:par>
                          <p:cTn id="94" fill="hold" nodeType="afterGroup">
                            <p:stCondLst>
                              <p:cond delay="3500"/>
                            </p:stCondLst>
                            <p:childTnLst>
                              <p:par>
                                <p:cTn id="95" presetID="22" presetClass="entr" presetSubtype="1" fill="hold" grpId="0" nodeType="afterEffect">
                                  <p:stCondLst>
                                    <p:cond delay="0"/>
                                  </p:stCondLst>
                                  <p:childTnLst>
                                    <p:set>
                                      <p:cBhvr>
                                        <p:cTn id="96" dur="1" fill="hold">
                                          <p:stCondLst>
                                            <p:cond delay="0"/>
                                          </p:stCondLst>
                                        </p:cTn>
                                        <p:tgtEl>
                                          <p:spTgt spid="209939"/>
                                        </p:tgtEl>
                                        <p:attrNameLst>
                                          <p:attrName>style.visibility</p:attrName>
                                        </p:attrNameLst>
                                      </p:cBhvr>
                                      <p:to>
                                        <p:strVal val="visible"/>
                                      </p:to>
                                    </p:set>
                                    <p:animEffect transition="in" filter="wipe(up)">
                                      <p:cBhvr>
                                        <p:cTn id="97" dur="500"/>
                                        <p:tgtEl>
                                          <p:spTgt spid="209939"/>
                                        </p:tgtEl>
                                      </p:cBhvr>
                                    </p:animEffect>
                                  </p:childTnLst>
                                </p:cTn>
                              </p:par>
                            </p:childTnLst>
                          </p:cTn>
                        </p:par>
                        <p:par>
                          <p:cTn id="98" fill="hold" nodeType="afterGroup">
                            <p:stCondLst>
                              <p:cond delay="4000"/>
                            </p:stCondLst>
                            <p:childTnLst>
                              <p:par>
                                <p:cTn id="99" presetID="22" presetClass="entr" presetSubtype="1" fill="hold" grpId="0" nodeType="afterEffect">
                                  <p:stCondLst>
                                    <p:cond delay="0"/>
                                  </p:stCondLst>
                                  <p:childTnLst>
                                    <p:set>
                                      <p:cBhvr>
                                        <p:cTn id="100" dur="1" fill="hold">
                                          <p:stCondLst>
                                            <p:cond delay="0"/>
                                          </p:stCondLst>
                                        </p:cTn>
                                        <p:tgtEl>
                                          <p:spTgt spid="209940"/>
                                        </p:tgtEl>
                                        <p:attrNameLst>
                                          <p:attrName>style.visibility</p:attrName>
                                        </p:attrNameLst>
                                      </p:cBhvr>
                                      <p:to>
                                        <p:strVal val="visible"/>
                                      </p:to>
                                    </p:set>
                                    <p:animEffect transition="in" filter="wipe(up)">
                                      <p:cBhvr>
                                        <p:cTn id="101" dur="500"/>
                                        <p:tgtEl>
                                          <p:spTgt spid="209940"/>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2" presetClass="entr" presetSubtype="2" fill="hold" grpId="0" nodeType="clickEffect">
                                  <p:stCondLst>
                                    <p:cond delay="0"/>
                                  </p:stCondLst>
                                  <p:childTnLst>
                                    <p:set>
                                      <p:cBhvr>
                                        <p:cTn id="105" dur="1" fill="hold">
                                          <p:stCondLst>
                                            <p:cond delay="0"/>
                                          </p:stCondLst>
                                        </p:cTn>
                                        <p:tgtEl>
                                          <p:spTgt spid="209946"/>
                                        </p:tgtEl>
                                        <p:attrNameLst>
                                          <p:attrName>style.visibility</p:attrName>
                                        </p:attrNameLst>
                                      </p:cBhvr>
                                      <p:to>
                                        <p:strVal val="visible"/>
                                      </p:to>
                                    </p:set>
                                    <p:animEffect transition="in" filter="slide(fromRight)">
                                      <p:cBhvr>
                                        <p:cTn id="106" dur="500"/>
                                        <p:tgtEl>
                                          <p:spTgt spid="209946"/>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1" fill="hold" grpId="0" nodeType="clickEffect">
                                  <p:stCondLst>
                                    <p:cond delay="0"/>
                                  </p:stCondLst>
                                  <p:childTnLst>
                                    <p:set>
                                      <p:cBhvr>
                                        <p:cTn id="110" dur="1" fill="hold">
                                          <p:stCondLst>
                                            <p:cond delay="0"/>
                                          </p:stCondLst>
                                        </p:cTn>
                                        <p:tgtEl>
                                          <p:spTgt spid="209944"/>
                                        </p:tgtEl>
                                        <p:attrNameLst>
                                          <p:attrName>style.visibility</p:attrName>
                                        </p:attrNameLst>
                                      </p:cBhvr>
                                      <p:to>
                                        <p:strVal val="visible"/>
                                      </p:to>
                                    </p:set>
                                    <p:animEffect transition="in" filter="wipe(up)">
                                      <p:cBhvr>
                                        <p:cTn id="111" dur="500"/>
                                        <p:tgtEl>
                                          <p:spTgt spid="2099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2" grpId="0" autoUpdateAnimBg="0"/>
      <p:bldP spid="209923" grpId="0" autoUpdateAnimBg="0"/>
      <p:bldP spid="209925" grpId="0" animBg="1"/>
      <p:bldP spid="209926" grpId="0" animBg="1"/>
      <p:bldP spid="209927" grpId="0" animBg="1"/>
      <p:bldP spid="209928" grpId="0" animBg="1"/>
      <p:bldP spid="209929" grpId="0" animBg="1"/>
      <p:bldP spid="209930" grpId="0" animBg="1"/>
      <p:bldP spid="209931" grpId="0" animBg="1"/>
      <p:bldP spid="209932" grpId="0" animBg="1"/>
      <p:bldP spid="209933" grpId="0" animBg="1"/>
      <p:bldP spid="209934" grpId="0" animBg="1"/>
      <p:bldP spid="209935" grpId="0" animBg="1"/>
      <p:bldP spid="209936" grpId="0" animBg="1"/>
      <p:bldP spid="209937" grpId="0" animBg="1"/>
      <p:bldP spid="209938" grpId="0" animBg="1"/>
      <p:bldP spid="209939" grpId="0" animBg="1"/>
      <p:bldP spid="209940" grpId="0" animBg="1"/>
      <p:bldP spid="209941" grpId="0" animBg="1"/>
      <p:bldP spid="209942" grpId="0" animBg="1"/>
      <p:bldP spid="209943" grpId="0" animBg="1"/>
      <p:bldP spid="209944" grpId="0" animBg="1"/>
      <p:bldP spid="209945" grpId="0" autoUpdateAnimBg="0"/>
      <p:bldP spid="209946" grpId="0" autoUpdateAnimBg="0"/>
      <p:bldP spid="20994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381000" y="885825"/>
            <a:ext cx="7845425"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600">
                <a:solidFill>
                  <a:srgbClr val="A50021"/>
                </a:solidFill>
                <a:ea typeface="楷体_GB2312" charset="0"/>
              </a:rPr>
              <a:t>q = p;  s = p-&gt;lchild;</a:t>
            </a:r>
          </a:p>
          <a:p>
            <a:pPr>
              <a:lnSpc>
                <a:spcPct val="125000"/>
              </a:lnSpc>
            </a:pPr>
            <a:r>
              <a:rPr lang="en-US" altLang="zh-CN" sz="3600" b="1">
                <a:solidFill>
                  <a:srgbClr val="FF00FF"/>
                </a:solidFill>
                <a:ea typeface="楷体_GB2312" charset="0"/>
              </a:rPr>
              <a:t>while </a:t>
            </a:r>
            <a:r>
              <a:rPr lang="en-US" altLang="zh-CN" sz="3600">
                <a:solidFill>
                  <a:srgbClr val="FF00FF"/>
                </a:solidFill>
                <a:ea typeface="楷体_GB2312" charset="0"/>
              </a:rPr>
              <a:t>(</a:t>
            </a:r>
            <a:r>
              <a:rPr lang="en-US" altLang="zh-CN" sz="3600" b="1">
                <a:solidFill>
                  <a:srgbClr val="FF00FF"/>
                </a:solidFill>
                <a:ea typeface="楷体_GB2312" charset="0"/>
              </a:rPr>
              <a:t>!</a:t>
            </a:r>
            <a:r>
              <a:rPr lang="en-US" altLang="zh-CN" sz="3600">
                <a:solidFill>
                  <a:srgbClr val="FF00FF"/>
                </a:solidFill>
                <a:ea typeface="楷体_GB2312" charset="0"/>
              </a:rPr>
              <a:t>s-&gt;rchild) </a:t>
            </a:r>
            <a:r>
              <a:rPr lang="en-US" altLang="zh-CN" sz="3600" b="1">
                <a:solidFill>
                  <a:srgbClr val="FF00FF"/>
                </a:solidFill>
                <a:ea typeface="楷体_GB2312" charset="0"/>
              </a:rPr>
              <a:t>{</a:t>
            </a:r>
            <a:r>
              <a:rPr lang="en-US" altLang="zh-CN" sz="3600">
                <a:solidFill>
                  <a:srgbClr val="FF00FF"/>
                </a:solidFill>
                <a:ea typeface="楷体_GB2312" charset="0"/>
              </a:rPr>
              <a:t> q = s;  s = s-&gt;rchild; </a:t>
            </a:r>
            <a:r>
              <a:rPr lang="en-US" altLang="zh-CN" sz="3600" b="1">
                <a:solidFill>
                  <a:srgbClr val="FF00FF"/>
                </a:solidFill>
                <a:ea typeface="楷体_GB2312" charset="0"/>
              </a:rPr>
              <a:t>}</a:t>
            </a:r>
            <a:endParaRPr lang="en-US" altLang="zh-CN" sz="3600" b="1">
              <a:solidFill>
                <a:srgbClr val="A50021"/>
              </a:solidFill>
              <a:ea typeface="楷体_GB2312" charset="0"/>
            </a:endParaRPr>
          </a:p>
          <a:p>
            <a:pPr>
              <a:lnSpc>
                <a:spcPct val="125000"/>
              </a:lnSpc>
            </a:pPr>
            <a:r>
              <a:rPr lang="en-US" altLang="zh-CN" sz="3600">
                <a:solidFill>
                  <a:srgbClr val="A50021"/>
                </a:solidFill>
                <a:ea typeface="楷体_GB2312" charset="0"/>
              </a:rPr>
              <a:t>                       // s </a:t>
            </a:r>
            <a:r>
              <a:rPr lang="zh-CN" altLang="en-US" sz="3600">
                <a:solidFill>
                  <a:srgbClr val="A50021"/>
                </a:solidFill>
                <a:ea typeface="楷体_GB2312" charset="0"/>
              </a:rPr>
              <a:t>指向被删结点的前驱</a:t>
            </a:r>
          </a:p>
        </p:txBody>
      </p:sp>
      <p:sp>
        <p:nvSpPr>
          <p:cNvPr id="81924" name="Rectangle 4"/>
          <p:cNvSpPr>
            <a:spLocks noChangeArrowheads="1"/>
          </p:cNvSpPr>
          <p:nvPr/>
        </p:nvSpPr>
        <p:spPr bwMode="auto">
          <a:xfrm>
            <a:off x="1143000" y="304800"/>
            <a:ext cx="3752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A50021"/>
                </a:solidFill>
                <a:ea typeface="楷体_GB2312" charset="0"/>
              </a:rPr>
              <a:t>// </a:t>
            </a:r>
            <a:r>
              <a:rPr lang="zh-CN" altLang="en-US" sz="3600">
                <a:solidFill>
                  <a:srgbClr val="A50021"/>
                </a:solidFill>
                <a:ea typeface="楷体_GB2312" charset="0"/>
              </a:rPr>
              <a:t>左右子树均不空</a:t>
            </a:r>
          </a:p>
        </p:txBody>
      </p:sp>
      <p:sp>
        <p:nvSpPr>
          <p:cNvPr id="81925" name="Rectangle 5"/>
          <p:cNvSpPr>
            <a:spLocks noChangeArrowheads="1"/>
          </p:cNvSpPr>
          <p:nvPr/>
        </p:nvSpPr>
        <p:spPr bwMode="auto">
          <a:xfrm>
            <a:off x="381000" y="3048000"/>
            <a:ext cx="7756525" cy="352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600">
                <a:solidFill>
                  <a:srgbClr val="A50021"/>
                </a:solidFill>
                <a:ea typeface="楷体_GB2312" charset="0"/>
              </a:rPr>
              <a:t>p-&gt;data = s-&gt;data;</a:t>
            </a:r>
          </a:p>
          <a:p>
            <a:pPr>
              <a:lnSpc>
                <a:spcPct val="125000"/>
              </a:lnSpc>
            </a:pPr>
            <a:r>
              <a:rPr lang="en-US" altLang="zh-CN" sz="3600" b="1">
                <a:solidFill>
                  <a:srgbClr val="FF00FF"/>
                </a:solidFill>
                <a:ea typeface="楷体_GB2312" charset="0"/>
              </a:rPr>
              <a:t>if</a:t>
            </a:r>
            <a:r>
              <a:rPr lang="en-US" altLang="zh-CN" sz="3600">
                <a:solidFill>
                  <a:srgbClr val="FF00FF"/>
                </a:solidFill>
                <a:ea typeface="楷体_GB2312" charset="0"/>
              </a:rPr>
              <a:t> (q </a:t>
            </a:r>
            <a:r>
              <a:rPr lang="en-US" altLang="zh-CN" sz="3600" b="1">
                <a:solidFill>
                  <a:srgbClr val="FF00FF"/>
                </a:solidFill>
                <a:ea typeface="楷体_GB2312" charset="0"/>
              </a:rPr>
              <a:t>!=</a:t>
            </a:r>
            <a:r>
              <a:rPr lang="en-US" altLang="zh-CN" sz="3600">
                <a:solidFill>
                  <a:srgbClr val="FF00FF"/>
                </a:solidFill>
                <a:ea typeface="楷体_GB2312" charset="0"/>
              </a:rPr>
              <a:t> p )  q-&gt;rchild = s-&gt;lchild;             </a:t>
            </a:r>
          </a:p>
          <a:p>
            <a:pPr>
              <a:lnSpc>
                <a:spcPct val="125000"/>
              </a:lnSpc>
            </a:pPr>
            <a:r>
              <a:rPr lang="en-US" altLang="zh-CN" sz="3600" b="1">
                <a:solidFill>
                  <a:srgbClr val="FF00FF"/>
                </a:solidFill>
                <a:ea typeface="楷体_GB2312" charset="0"/>
              </a:rPr>
              <a:t>else</a:t>
            </a:r>
            <a:r>
              <a:rPr lang="en-US" altLang="zh-CN" sz="3600">
                <a:solidFill>
                  <a:srgbClr val="FF00FF"/>
                </a:solidFill>
                <a:ea typeface="楷体_GB2312" charset="0"/>
              </a:rPr>
              <a:t>  q-&gt;lchild = s-&gt;lchild;</a:t>
            </a:r>
          </a:p>
          <a:p>
            <a:pPr>
              <a:lnSpc>
                <a:spcPct val="125000"/>
              </a:lnSpc>
            </a:pPr>
            <a:r>
              <a:rPr lang="en-US" altLang="zh-CN" sz="3600">
                <a:solidFill>
                  <a:srgbClr val="A50021"/>
                </a:solidFill>
                <a:ea typeface="楷体_GB2312" charset="0"/>
              </a:rPr>
              <a:t>                         // </a:t>
            </a:r>
            <a:r>
              <a:rPr lang="zh-CN" altLang="en-US" sz="3600">
                <a:solidFill>
                  <a:srgbClr val="A50021"/>
                </a:solidFill>
                <a:ea typeface="楷体_GB2312" charset="0"/>
              </a:rPr>
              <a:t>重接*</a:t>
            </a:r>
            <a:r>
              <a:rPr lang="en-US" altLang="zh-CN" sz="3600">
                <a:solidFill>
                  <a:srgbClr val="A50021"/>
                </a:solidFill>
                <a:ea typeface="楷体_GB2312" charset="0"/>
              </a:rPr>
              <a:t>q</a:t>
            </a:r>
            <a:r>
              <a:rPr lang="zh-CN" altLang="en-US" sz="3600">
                <a:solidFill>
                  <a:srgbClr val="A50021"/>
                </a:solidFill>
                <a:ea typeface="楷体_GB2312" charset="0"/>
              </a:rPr>
              <a:t>的左子树</a:t>
            </a:r>
          </a:p>
          <a:p>
            <a:pPr>
              <a:lnSpc>
                <a:spcPct val="125000"/>
              </a:lnSpc>
            </a:pPr>
            <a:r>
              <a:rPr lang="en-US" altLang="zh-CN" sz="3600">
                <a:solidFill>
                  <a:srgbClr val="A50021"/>
                </a:solidFill>
                <a:ea typeface="楷体_GB2312" charset="0"/>
              </a:rPr>
              <a:t>free(s);</a:t>
            </a:r>
          </a:p>
        </p:txBody>
      </p:sp>
      <p:sp>
        <p:nvSpPr>
          <p:cNvPr id="81926" name="Oval 6"/>
          <p:cNvSpPr>
            <a:spLocks noChangeArrowheads="1"/>
          </p:cNvSpPr>
          <p:nvPr/>
        </p:nvSpPr>
        <p:spPr bwMode="auto">
          <a:xfrm>
            <a:off x="7924800" y="5334000"/>
            <a:ext cx="381000" cy="381000"/>
          </a:xfrm>
          <a:prstGeom prst="ellipse">
            <a:avLst/>
          </a:prstGeom>
          <a:solidFill>
            <a:srgbClr val="FFFFCC"/>
          </a:solidFill>
          <a:ln w="19050">
            <a:solidFill>
              <a:srgbClr val="8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1928" name="Line 8"/>
          <p:cNvSpPr>
            <a:spLocks noChangeShapeType="1"/>
          </p:cNvSpPr>
          <p:nvPr/>
        </p:nvSpPr>
        <p:spPr bwMode="auto">
          <a:xfrm>
            <a:off x="8077200" y="4800600"/>
            <a:ext cx="0" cy="533400"/>
          </a:xfrm>
          <a:prstGeom prst="line">
            <a:avLst/>
          </a:prstGeom>
          <a:noFill/>
          <a:ln w="9525">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1929" name="Text Box 9"/>
          <p:cNvSpPr txBox="1">
            <a:spLocks noChangeArrowheads="1"/>
          </p:cNvSpPr>
          <p:nvPr/>
        </p:nvSpPr>
        <p:spPr bwMode="auto">
          <a:xfrm>
            <a:off x="8115300" y="45259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a:solidFill>
                  <a:srgbClr val="A50021"/>
                </a:solidFill>
              </a:rPr>
              <a:t>p</a:t>
            </a:r>
            <a:endParaRPr lang="en-US" altLang="zh-CN" sz="3200"/>
          </a:p>
        </p:txBody>
      </p:sp>
      <p:sp>
        <p:nvSpPr>
          <p:cNvPr id="81930" name="Line 10"/>
          <p:cNvSpPr>
            <a:spLocks noChangeShapeType="1"/>
          </p:cNvSpPr>
          <p:nvPr/>
        </p:nvSpPr>
        <p:spPr bwMode="auto">
          <a:xfrm flipH="1">
            <a:off x="7696200" y="5638800"/>
            <a:ext cx="304800" cy="3048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1931" name="Oval 11"/>
          <p:cNvSpPr>
            <a:spLocks noChangeArrowheads="1"/>
          </p:cNvSpPr>
          <p:nvPr/>
        </p:nvSpPr>
        <p:spPr bwMode="auto">
          <a:xfrm>
            <a:off x="7391400" y="5867400"/>
            <a:ext cx="381000" cy="381000"/>
          </a:xfrm>
          <a:prstGeom prst="ellipse">
            <a:avLst/>
          </a:prstGeom>
          <a:solidFill>
            <a:srgbClr val="006600"/>
          </a:solidFill>
          <a:ln w="9525">
            <a:solidFill>
              <a:srgbClr val="0066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1932" name="Line 12"/>
          <p:cNvSpPr>
            <a:spLocks noChangeShapeType="1"/>
          </p:cNvSpPr>
          <p:nvPr/>
        </p:nvSpPr>
        <p:spPr bwMode="auto">
          <a:xfrm flipH="1">
            <a:off x="7086600" y="61722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1933" name="Text Box 13"/>
          <p:cNvSpPr txBox="1">
            <a:spLocks noChangeArrowheads="1"/>
          </p:cNvSpPr>
          <p:nvPr/>
        </p:nvSpPr>
        <p:spPr bwMode="auto">
          <a:xfrm>
            <a:off x="7620000" y="4506913"/>
            <a:ext cx="6635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ltLang="zh-CN" sz="3200">
                <a:solidFill>
                  <a:srgbClr val="FF00FF"/>
                </a:solidFill>
              </a:rPr>
              <a:t>q</a:t>
            </a:r>
            <a:endParaRPr lang="en-US" altLang="zh-CN" sz="3200"/>
          </a:p>
        </p:txBody>
      </p:sp>
      <p:sp>
        <p:nvSpPr>
          <p:cNvPr id="81934" name="Line 14"/>
          <p:cNvSpPr>
            <a:spLocks noChangeShapeType="1"/>
          </p:cNvSpPr>
          <p:nvPr/>
        </p:nvSpPr>
        <p:spPr bwMode="auto">
          <a:xfrm flipH="1">
            <a:off x="7086600" y="5638800"/>
            <a:ext cx="914400" cy="91440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1935" name="Text Box 15"/>
          <p:cNvSpPr txBox="1">
            <a:spLocks noChangeArrowheads="1"/>
          </p:cNvSpPr>
          <p:nvPr/>
        </p:nvSpPr>
        <p:spPr bwMode="auto">
          <a:xfrm>
            <a:off x="7562850" y="5302250"/>
            <a:ext cx="36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rgbClr val="008080"/>
                </a:solidFill>
              </a:rPr>
              <a:t>s</a:t>
            </a:r>
            <a:endParaRPr lang="en-US" altLang="zh-CN" sz="3200"/>
          </a:p>
        </p:txBody>
      </p:sp>
      <p:sp>
        <p:nvSpPr>
          <p:cNvPr id="81936" name="AutoShape 16">
            <a:hlinkClick r:id="" action="ppaction://hlinkshowjump?jump=lastslideviewed" highlightClick="1"/>
          </p:cNvPr>
          <p:cNvSpPr>
            <a:spLocks noChangeArrowheads="1"/>
          </p:cNvSpPr>
          <p:nvPr/>
        </p:nvSpPr>
        <p:spPr bwMode="auto">
          <a:xfrm>
            <a:off x="8305800" y="60960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651271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1924"/>
                                        </p:tgtEl>
                                        <p:attrNameLst>
                                          <p:attrName>style.visibility</p:attrName>
                                        </p:attrNameLst>
                                      </p:cBhvr>
                                      <p:to>
                                        <p:strVal val="visible"/>
                                      </p:to>
                                    </p:set>
                                    <p:anim calcmode="lin" valueType="num">
                                      <p:cBhvr additive="base">
                                        <p:cTn id="7" dur="500" fill="hold"/>
                                        <p:tgtEl>
                                          <p:spTgt spid="81924"/>
                                        </p:tgtEl>
                                        <p:attrNameLst>
                                          <p:attrName>ppt_x</p:attrName>
                                        </p:attrNameLst>
                                      </p:cBhvr>
                                      <p:tavLst>
                                        <p:tav tm="0">
                                          <p:val>
                                            <p:strVal val="#ppt_x"/>
                                          </p:val>
                                        </p:tav>
                                        <p:tav tm="100000">
                                          <p:val>
                                            <p:strVal val="#ppt_x"/>
                                          </p:val>
                                        </p:tav>
                                      </p:tavLst>
                                    </p:anim>
                                    <p:anim calcmode="lin" valueType="num">
                                      <p:cBhvr additive="base">
                                        <p:cTn id="8" dur="500" fill="hold"/>
                                        <p:tgtEl>
                                          <p:spTgt spid="8192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81922"/>
                                        </p:tgtEl>
                                        <p:attrNameLst>
                                          <p:attrName>style.visibility</p:attrName>
                                        </p:attrNameLst>
                                      </p:cBhvr>
                                      <p:to>
                                        <p:strVal val="visible"/>
                                      </p:to>
                                    </p:set>
                                    <p:animEffect transition="in" filter="strips(downRight)">
                                      <p:cBhvr>
                                        <p:cTn id="13" dur="500"/>
                                        <p:tgtEl>
                                          <p:spTgt spid="8192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81925"/>
                                        </p:tgtEl>
                                        <p:attrNameLst>
                                          <p:attrName>style.visibility</p:attrName>
                                        </p:attrNameLst>
                                      </p:cBhvr>
                                      <p:to>
                                        <p:strVal val="visible"/>
                                      </p:to>
                                    </p:set>
                                    <p:animEffect transition="in" filter="strips(downRight)">
                                      <p:cBhvr>
                                        <p:cTn id="18" dur="500"/>
                                        <p:tgtEl>
                                          <p:spTgt spid="8192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81926"/>
                                        </p:tgtEl>
                                        <p:attrNameLst>
                                          <p:attrName>style.visibility</p:attrName>
                                        </p:attrNameLst>
                                      </p:cBhvr>
                                      <p:to>
                                        <p:strVal val="visible"/>
                                      </p:to>
                                    </p:set>
                                    <p:animEffect transition="in" filter="wipe(up)">
                                      <p:cBhvr>
                                        <p:cTn id="23" dur="500"/>
                                        <p:tgtEl>
                                          <p:spTgt spid="81926"/>
                                        </p:tgtEl>
                                      </p:cBhvr>
                                    </p:animEffect>
                                  </p:childTnLst>
                                </p:cTn>
                              </p:par>
                            </p:childTnLst>
                          </p:cTn>
                        </p:par>
                        <p:par>
                          <p:cTn id="24" fill="hold" nodeType="afterGroup">
                            <p:stCondLst>
                              <p:cond delay="500"/>
                            </p:stCondLst>
                            <p:childTnLst>
                              <p:par>
                                <p:cTn id="25" presetID="22" presetClass="entr" presetSubtype="1" fill="hold" grpId="0" nodeType="afterEffect">
                                  <p:stCondLst>
                                    <p:cond delay="0"/>
                                  </p:stCondLst>
                                  <p:childTnLst>
                                    <p:set>
                                      <p:cBhvr>
                                        <p:cTn id="26" dur="1" fill="hold">
                                          <p:stCondLst>
                                            <p:cond delay="0"/>
                                          </p:stCondLst>
                                        </p:cTn>
                                        <p:tgtEl>
                                          <p:spTgt spid="81930"/>
                                        </p:tgtEl>
                                        <p:attrNameLst>
                                          <p:attrName>style.visibility</p:attrName>
                                        </p:attrNameLst>
                                      </p:cBhvr>
                                      <p:to>
                                        <p:strVal val="visible"/>
                                      </p:to>
                                    </p:set>
                                    <p:animEffect transition="in" filter="wipe(up)">
                                      <p:cBhvr>
                                        <p:cTn id="27" dur="500"/>
                                        <p:tgtEl>
                                          <p:spTgt spid="81930"/>
                                        </p:tgtEl>
                                      </p:cBhvr>
                                    </p:animEffect>
                                  </p:childTnLst>
                                </p:cTn>
                              </p:par>
                            </p:childTnLst>
                          </p:cTn>
                        </p:par>
                        <p:par>
                          <p:cTn id="28" fill="hold" nodeType="afterGroup">
                            <p:stCondLst>
                              <p:cond delay="1000"/>
                            </p:stCondLst>
                            <p:childTnLst>
                              <p:par>
                                <p:cTn id="29" presetID="22" presetClass="entr" presetSubtype="1" fill="hold" grpId="0" nodeType="afterEffect">
                                  <p:stCondLst>
                                    <p:cond delay="0"/>
                                  </p:stCondLst>
                                  <p:childTnLst>
                                    <p:set>
                                      <p:cBhvr>
                                        <p:cTn id="30" dur="1" fill="hold">
                                          <p:stCondLst>
                                            <p:cond delay="0"/>
                                          </p:stCondLst>
                                        </p:cTn>
                                        <p:tgtEl>
                                          <p:spTgt spid="81931"/>
                                        </p:tgtEl>
                                        <p:attrNameLst>
                                          <p:attrName>style.visibility</p:attrName>
                                        </p:attrNameLst>
                                      </p:cBhvr>
                                      <p:to>
                                        <p:strVal val="visible"/>
                                      </p:to>
                                    </p:set>
                                    <p:animEffect transition="in" filter="wipe(up)">
                                      <p:cBhvr>
                                        <p:cTn id="31" dur="500"/>
                                        <p:tgtEl>
                                          <p:spTgt spid="81931"/>
                                        </p:tgtEl>
                                      </p:cBhvr>
                                    </p:animEffect>
                                  </p:childTnLst>
                                </p:cTn>
                              </p:par>
                            </p:childTnLst>
                          </p:cTn>
                        </p:par>
                        <p:par>
                          <p:cTn id="32" fill="hold" nodeType="afterGroup">
                            <p:stCondLst>
                              <p:cond delay="1500"/>
                            </p:stCondLst>
                            <p:childTnLst>
                              <p:par>
                                <p:cTn id="33" presetID="2" presetClass="entr" presetSubtype="6" fill="hold" grpId="0" nodeType="afterEffect">
                                  <p:stCondLst>
                                    <p:cond delay="0"/>
                                  </p:stCondLst>
                                  <p:childTnLst>
                                    <p:set>
                                      <p:cBhvr>
                                        <p:cTn id="34" dur="1" fill="hold">
                                          <p:stCondLst>
                                            <p:cond delay="0"/>
                                          </p:stCondLst>
                                        </p:cTn>
                                        <p:tgtEl>
                                          <p:spTgt spid="81936"/>
                                        </p:tgtEl>
                                        <p:attrNameLst>
                                          <p:attrName>style.visibility</p:attrName>
                                        </p:attrNameLst>
                                      </p:cBhvr>
                                      <p:to>
                                        <p:strVal val="visible"/>
                                      </p:to>
                                    </p:set>
                                    <p:anim calcmode="lin" valueType="num">
                                      <p:cBhvr additive="base">
                                        <p:cTn id="35" dur="500" fill="hold"/>
                                        <p:tgtEl>
                                          <p:spTgt spid="81936"/>
                                        </p:tgtEl>
                                        <p:attrNameLst>
                                          <p:attrName>ppt_x</p:attrName>
                                        </p:attrNameLst>
                                      </p:cBhvr>
                                      <p:tavLst>
                                        <p:tav tm="0">
                                          <p:val>
                                            <p:strVal val="1+#ppt_w/2"/>
                                          </p:val>
                                        </p:tav>
                                        <p:tav tm="100000">
                                          <p:val>
                                            <p:strVal val="#ppt_x"/>
                                          </p:val>
                                        </p:tav>
                                      </p:tavLst>
                                    </p:anim>
                                    <p:anim calcmode="lin" valueType="num">
                                      <p:cBhvr additive="base">
                                        <p:cTn id="36" dur="500" fill="hold"/>
                                        <p:tgtEl>
                                          <p:spTgt spid="81936"/>
                                        </p:tgtEl>
                                        <p:attrNameLst>
                                          <p:attrName>ppt_y</p:attrName>
                                        </p:attrNameLst>
                                      </p:cBhvr>
                                      <p:tavLst>
                                        <p:tav tm="0">
                                          <p:val>
                                            <p:strVal val="1+#ppt_h/2"/>
                                          </p:val>
                                        </p:tav>
                                        <p:tav tm="100000">
                                          <p:val>
                                            <p:strVal val="#ppt_y"/>
                                          </p:val>
                                        </p:tav>
                                      </p:tavLst>
                                    </p:anim>
                                  </p:childTnLst>
                                </p:cTn>
                              </p:par>
                            </p:childTnLst>
                          </p:cTn>
                        </p:par>
                        <p:par>
                          <p:cTn id="37" fill="hold" nodeType="afterGroup">
                            <p:stCondLst>
                              <p:cond delay="2000"/>
                            </p:stCondLst>
                            <p:childTnLst>
                              <p:par>
                                <p:cTn id="38" presetID="22" presetClass="entr" presetSubtype="1" fill="hold" grpId="0" nodeType="afterEffect">
                                  <p:stCondLst>
                                    <p:cond delay="0"/>
                                  </p:stCondLst>
                                  <p:childTnLst>
                                    <p:set>
                                      <p:cBhvr>
                                        <p:cTn id="39" dur="1" fill="hold">
                                          <p:stCondLst>
                                            <p:cond delay="0"/>
                                          </p:stCondLst>
                                        </p:cTn>
                                        <p:tgtEl>
                                          <p:spTgt spid="81932"/>
                                        </p:tgtEl>
                                        <p:attrNameLst>
                                          <p:attrName>style.visibility</p:attrName>
                                        </p:attrNameLst>
                                      </p:cBhvr>
                                      <p:to>
                                        <p:strVal val="visible"/>
                                      </p:to>
                                    </p:set>
                                    <p:animEffect transition="in" filter="wipe(up)">
                                      <p:cBhvr>
                                        <p:cTn id="40" dur="500"/>
                                        <p:tgtEl>
                                          <p:spTgt spid="81932"/>
                                        </p:tgtEl>
                                      </p:cBhvr>
                                    </p:animEffect>
                                  </p:childTnLst>
                                </p:cTn>
                              </p:par>
                            </p:childTnLst>
                          </p:cTn>
                        </p:par>
                        <p:par>
                          <p:cTn id="41" fill="hold" nodeType="afterGroup">
                            <p:stCondLst>
                              <p:cond delay="2500"/>
                            </p:stCondLst>
                            <p:childTnLst>
                              <p:par>
                                <p:cTn id="42" presetID="22" presetClass="entr" presetSubtype="1" fill="hold" grpId="0" nodeType="afterEffect">
                                  <p:stCondLst>
                                    <p:cond delay="0"/>
                                  </p:stCondLst>
                                  <p:childTnLst>
                                    <p:set>
                                      <p:cBhvr>
                                        <p:cTn id="43" dur="1" fill="hold">
                                          <p:stCondLst>
                                            <p:cond delay="0"/>
                                          </p:stCondLst>
                                        </p:cTn>
                                        <p:tgtEl>
                                          <p:spTgt spid="81928"/>
                                        </p:tgtEl>
                                        <p:attrNameLst>
                                          <p:attrName>style.visibility</p:attrName>
                                        </p:attrNameLst>
                                      </p:cBhvr>
                                      <p:to>
                                        <p:strVal val="visible"/>
                                      </p:to>
                                    </p:set>
                                    <p:animEffect transition="in" filter="wipe(up)">
                                      <p:cBhvr>
                                        <p:cTn id="44" dur="500"/>
                                        <p:tgtEl>
                                          <p:spTgt spid="8192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81929"/>
                                        </p:tgtEl>
                                        <p:attrNameLst>
                                          <p:attrName>style.visibility</p:attrName>
                                        </p:attrNameLst>
                                      </p:cBhvr>
                                      <p:to>
                                        <p:strVal val="visible"/>
                                      </p:to>
                                    </p:set>
                                    <p:animEffect transition="in" filter="wipe(up)">
                                      <p:cBhvr>
                                        <p:cTn id="49" dur="500"/>
                                        <p:tgtEl>
                                          <p:spTgt spid="8192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81933"/>
                                        </p:tgtEl>
                                        <p:attrNameLst>
                                          <p:attrName>style.visibility</p:attrName>
                                        </p:attrNameLst>
                                      </p:cBhvr>
                                      <p:to>
                                        <p:strVal val="visible"/>
                                      </p:to>
                                    </p:set>
                                    <p:animEffect transition="in" filter="wipe(up)">
                                      <p:cBhvr>
                                        <p:cTn id="54" dur="500"/>
                                        <p:tgtEl>
                                          <p:spTgt spid="8193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2" presetClass="entr" presetSubtype="8" fill="hold" grpId="0" nodeType="clickEffect">
                                  <p:stCondLst>
                                    <p:cond delay="0"/>
                                  </p:stCondLst>
                                  <p:childTnLst>
                                    <p:set>
                                      <p:cBhvr>
                                        <p:cTn id="58" dur="1" fill="hold">
                                          <p:stCondLst>
                                            <p:cond delay="0"/>
                                          </p:stCondLst>
                                        </p:cTn>
                                        <p:tgtEl>
                                          <p:spTgt spid="81935"/>
                                        </p:tgtEl>
                                        <p:attrNameLst>
                                          <p:attrName>style.visibility</p:attrName>
                                        </p:attrNameLst>
                                      </p:cBhvr>
                                      <p:to>
                                        <p:strVal val="visible"/>
                                      </p:to>
                                    </p:set>
                                    <p:animEffect transition="in" filter="slide(fromLeft)">
                                      <p:cBhvr>
                                        <p:cTn id="59" dur="500"/>
                                        <p:tgtEl>
                                          <p:spTgt spid="8193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81934"/>
                                        </p:tgtEl>
                                        <p:attrNameLst>
                                          <p:attrName>style.visibility</p:attrName>
                                        </p:attrNameLst>
                                      </p:cBhvr>
                                      <p:to>
                                        <p:strVal val="visible"/>
                                      </p:to>
                                    </p:set>
                                    <p:animEffect transition="in" filter="wipe(up)">
                                      <p:cBhvr>
                                        <p:cTn id="64" dur="500"/>
                                        <p:tgtEl>
                                          <p:spTgt spid="81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autoUpdateAnimBg="0"/>
      <p:bldP spid="81924" grpId="0" autoUpdateAnimBg="0"/>
      <p:bldP spid="81925" grpId="0" autoUpdateAnimBg="0"/>
      <p:bldP spid="81926" grpId="0" animBg="1"/>
      <p:bldP spid="81928" grpId="0" animBg="1"/>
      <p:bldP spid="81929" grpId="0" autoUpdateAnimBg="0"/>
      <p:bldP spid="81930" grpId="0" animBg="1"/>
      <p:bldP spid="81931" grpId="0" animBg="1"/>
      <p:bldP spid="81932" grpId="0" animBg="1"/>
      <p:bldP spid="81933" grpId="0" autoUpdateAnimBg="0"/>
      <p:bldP spid="81934" grpId="0" animBg="1"/>
      <p:bldP spid="81935" grpId="0" autoUpdateAnimBg="0"/>
      <p:bldP spid="81936"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457200" y="228600"/>
            <a:ext cx="49720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400" b="1">
                <a:solidFill>
                  <a:srgbClr val="FF00FF"/>
                </a:solidFill>
                <a:ea typeface="楷体_GB2312" charset="0"/>
              </a:rPr>
              <a:t>5</a:t>
            </a:r>
            <a:r>
              <a:rPr lang="zh-CN" altLang="en-US" sz="4400" b="1">
                <a:solidFill>
                  <a:srgbClr val="FF00FF"/>
                </a:solidFill>
                <a:ea typeface="楷体_GB2312" charset="0"/>
              </a:rPr>
              <a:t>．查找性能的分析</a:t>
            </a:r>
            <a:endParaRPr lang="zh-CN" altLang="en-US"/>
          </a:p>
        </p:txBody>
      </p:sp>
      <p:sp>
        <p:nvSpPr>
          <p:cNvPr id="83971" name="Text Box 3"/>
          <p:cNvSpPr txBox="1">
            <a:spLocks noChangeArrowheads="1"/>
          </p:cNvSpPr>
          <p:nvPr/>
        </p:nvSpPr>
        <p:spPr bwMode="auto">
          <a:xfrm>
            <a:off x="285750" y="1143000"/>
            <a:ext cx="870585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lang="en-US" altLang="zh-CN">
                <a:ea typeface="楷体_GB2312" charset="0"/>
              </a:rPr>
              <a:t>              </a:t>
            </a:r>
            <a:r>
              <a:rPr lang="zh-CN" altLang="en-US" sz="4000">
                <a:solidFill>
                  <a:srgbClr val="A50021"/>
                </a:solidFill>
                <a:ea typeface="楷体_GB2312" charset="0"/>
              </a:rPr>
              <a:t>对于每一棵特定的二叉排序树，均可按照平均查找长度的定义来求它的 </a:t>
            </a:r>
            <a:r>
              <a:rPr lang="en-US" altLang="zh-CN" sz="4000" b="1" i="1">
                <a:solidFill>
                  <a:srgbClr val="A50021"/>
                </a:solidFill>
                <a:ea typeface="楷体_GB2312" charset="0"/>
              </a:rPr>
              <a:t>ASL </a:t>
            </a:r>
            <a:r>
              <a:rPr lang="zh-CN" altLang="en-US" sz="4000">
                <a:solidFill>
                  <a:srgbClr val="A50021"/>
                </a:solidFill>
                <a:ea typeface="楷体_GB2312" charset="0"/>
              </a:rPr>
              <a:t>值，显然，由值相同的 </a:t>
            </a:r>
            <a:r>
              <a:rPr lang="en-US" altLang="zh-CN" sz="4000" b="1" i="1">
                <a:solidFill>
                  <a:srgbClr val="A50021"/>
                </a:solidFill>
                <a:ea typeface="楷体_GB2312" charset="0"/>
              </a:rPr>
              <a:t>n </a:t>
            </a:r>
            <a:r>
              <a:rPr lang="zh-CN" altLang="en-US" sz="4000">
                <a:solidFill>
                  <a:srgbClr val="A50021"/>
                </a:solidFill>
                <a:ea typeface="楷体_GB2312" charset="0"/>
              </a:rPr>
              <a:t>个关键字，构造所得的不同形态的各棵二叉排序树的平均查找长 度的值不同，甚至可能差别很大。</a:t>
            </a:r>
            <a:endParaRPr lang="zh-CN" altLang="en-US">
              <a:solidFill>
                <a:srgbClr val="A50021"/>
              </a:solidFill>
              <a:ea typeface="楷体_GB2312" charset="0"/>
            </a:endParaRPr>
          </a:p>
        </p:txBody>
      </p:sp>
    </p:spTree>
    <p:extLst>
      <p:ext uri="{BB962C8B-B14F-4D97-AF65-F5344CB8AC3E}">
        <p14:creationId xmlns:p14="http://schemas.microsoft.com/office/powerpoint/2010/main" val="93209741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slide(fromTop)">
                                      <p:cBhvr>
                                        <p:cTn id="7" dur="500"/>
                                        <p:tgtEl>
                                          <p:spTgt spid="839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83971"/>
                                        </p:tgtEl>
                                        <p:attrNameLst>
                                          <p:attrName>style.visibility</p:attrName>
                                        </p:attrNameLst>
                                      </p:cBhvr>
                                      <p:to>
                                        <p:strVal val="visible"/>
                                      </p:to>
                                    </p:set>
                                    <p:animEffect transition="in" filter="strips(downRight)">
                                      <p:cBhvr>
                                        <p:cTn id="12" dur="300"/>
                                        <p:tgtEl>
                                          <p:spTgt spid="83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autoUpdateAnimBg="0"/>
      <p:bldP spid="83971"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Text Box 3"/>
          <p:cNvSpPr txBox="1">
            <a:spLocks noChangeArrowheads="1"/>
          </p:cNvSpPr>
          <p:nvPr/>
        </p:nvSpPr>
        <p:spPr bwMode="auto">
          <a:xfrm>
            <a:off x="179388" y="3357563"/>
            <a:ext cx="6248400" cy="135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5000"/>
              </a:lnSpc>
            </a:pPr>
            <a:r>
              <a:rPr lang="zh-CN" altLang="en-US" sz="3600">
                <a:ea typeface="楷体_GB2312" charset="0"/>
              </a:rPr>
              <a:t>由关键字序列 </a:t>
            </a:r>
            <a:r>
              <a:rPr lang="en-US" altLang="zh-CN" sz="3600" b="1">
                <a:solidFill>
                  <a:srgbClr val="006600"/>
                </a:solidFill>
                <a:ea typeface="楷体_GB2312" charset="0"/>
              </a:rPr>
              <a:t>3</a:t>
            </a:r>
            <a:r>
              <a:rPr lang="zh-CN" altLang="en-US" sz="3600" b="1">
                <a:solidFill>
                  <a:srgbClr val="006600"/>
                </a:solidFill>
                <a:ea typeface="楷体_GB2312" charset="0"/>
              </a:rPr>
              <a:t>，</a:t>
            </a:r>
            <a:r>
              <a:rPr lang="en-US" altLang="zh-CN" sz="3600" b="1">
                <a:solidFill>
                  <a:srgbClr val="006600"/>
                </a:solidFill>
                <a:ea typeface="楷体_GB2312" charset="0"/>
              </a:rPr>
              <a:t>1</a:t>
            </a:r>
            <a:r>
              <a:rPr lang="zh-CN" altLang="en-US" sz="3600" b="1">
                <a:solidFill>
                  <a:srgbClr val="006600"/>
                </a:solidFill>
                <a:ea typeface="楷体_GB2312" charset="0"/>
              </a:rPr>
              <a:t>，</a:t>
            </a:r>
            <a:r>
              <a:rPr lang="en-US" altLang="zh-CN" sz="3600" b="1">
                <a:solidFill>
                  <a:srgbClr val="006600"/>
                </a:solidFill>
                <a:ea typeface="楷体_GB2312" charset="0"/>
              </a:rPr>
              <a:t>2</a:t>
            </a:r>
            <a:r>
              <a:rPr lang="zh-CN" altLang="en-US" sz="3600" b="1">
                <a:solidFill>
                  <a:srgbClr val="006600"/>
                </a:solidFill>
                <a:ea typeface="楷体_GB2312" charset="0"/>
              </a:rPr>
              <a:t>，</a:t>
            </a:r>
            <a:r>
              <a:rPr lang="en-US" altLang="zh-CN" sz="3600" b="1">
                <a:solidFill>
                  <a:srgbClr val="006600"/>
                </a:solidFill>
                <a:ea typeface="楷体_GB2312" charset="0"/>
              </a:rPr>
              <a:t>5</a:t>
            </a:r>
            <a:r>
              <a:rPr lang="zh-CN" altLang="en-US" sz="3600" b="1">
                <a:solidFill>
                  <a:srgbClr val="006600"/>
                </a:solidFill>
                <a:ea typeface="楷体_GB2312" charset="0"/>
              </a:rPr>
              <a:t>，</a:t>
            </a:r>
            <a:r>
              <a:rPr lang="en-US" altLang="zh-CN" sz="3600" b="1">
                <a:solidFill>
                  <a:srgbClr val="006600"/>
                </a:solidFill>
                <a:ea typeface="楷体_GB2312" charset="0"/>
              </a:rPr>
              <a:t>4</a:t>
            </a:r>
            <a:r>
              <a:rPr lang="zh-CN" altLang="en-US" sz="3600">
                <a:ea typeface="楷体_GB2312" charset="0"/>
              </a:rPr>
              <a:t>构造而得的二叉排序树，</a:t>
            </a:r>
            <a:endParaRPr lang="zh-CN" altLang="en-US" sz="4000">
              <a:solidFill>
                <a:srgbClr val="CC3300"/>
              </a:solidFill>
            </a:endParaRPr>
          </a:p>
        </p:txBody>
      </p:sp>
      <p:sp>
        <p:nvSpPr>
          <p:cNvPr id="82948" name="Text Box 4"/>
          <p:cNvSpPr txBox="1">
            <a:spLocks noChangeArrowheads="1"/>
          </p:cNvSpPr>
          <p:nvPr/>
        </p:nvSpPr>
        <p:spPr bwMode="auto">
          <a:xfrm>
            <a:off x="304800" y="838200"/>
            <a:ext cx="6172200" cy="135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5000"/>
              </a:lnSpc>
            </a:pPr>
            <a:r>
              <a:rPr lang="zh-CN" altLang="en-US" sz="3600">
                <a:ea typeface="楷体_GB2312" charset="0"/>
              </a:rPr>
              <a:t>由关键字序列 </a:t>
            </a:r>
            <a:r>
              <a:rPr lang="en-US" altLang="zh-CN" sz="3600" b="1">
                <a:solidFill>
                  <a:srgbClr val="006600"/>
                </a:solidFill>
                <a:ea typeface="楷体_GB2312" charset="0"/>
              </a:rPr>
              <a:t>1</a:t>
            </a:r>
            <a:r>
              <a:rPr lang="zh-CN" altLang="en-US" sz="3600" b="1">
                <a:solidFill>
                  <a:srgbClr val="006600"/>
                </a:solidFill>
                <a:ea typeface="楷体_GB2312" charset="0"/>
              </a:rPr>
              <a:t>，</a:t>
            </a:r>
            <a:r>
              <a:rPr lang="en-US" altLang="zh-CN" sz="3600" b="1">
                <a:solidFill>
                  <a:srgbClr val="006600"/>
                </a:solidFill>
                <a:ea typeface="楷体_GB2312" charset="0"/>
              </a:rPr>
              <a:t>2</a:t>
            </a:r>
            <a:r>
              <a:rPr lang="zh-CN" altLang="en-US" sz="3600" b="1">
                <a:solidFill>
                  <a:srgbClr val="006600"/>
                </a:solidFill>
                <a:ea typeface="楷体_GB2312" charset="0"/>
              </a:rPr>
              <a:t>，</a:t>
            </a:r>
            <a:r>
              <a:rPr lang="en-US" altLang="zh-CN" sz="3600" b="1">
                <a:solidFill>
                  <a:srgbClr val="006600"/>
                </a:solidFill>
                <a:ea typeface="楷体_GB2312" charset="0"/>
              </a:rPr>
              <a:t>3</a:t>
            </a:r>
            <a:r>
              <a:rPr lang="zh-CN" altLang="en-US" sz="3600" b="1">
                <a:solidFill>
                  <a:srgbClr val="006600"/>
                </a:solidFill>
                <a:ea typeface="楷体_GB2312" charset="0"/>
              </a:rPr>
              <a:t>，</a:t>
            </a:r>
            <a:r>
              <a:rPr lang="en-US" altLang="zh-CN" sz="3600" b="1">
                <a:solidFill>
                  <a:srgbClr val="006600"/>
                </a:solidFill>
                <a:ea typeface="楷体_GB2312" charset="0"/>
              </a:rPr>
              <a:t>4</a:t>
            </a:r>
            <a:r>
              <a:rPr lang="zh-CN" altLang="en-US" sz="3600" b="1">
                <a:solidFill>
                  <a:srgbClr val="006600"/>
                </a:solidFill>
                <a:ea typeface="楷体_GB2312" charset="0"/>
              </a:rPr>
              <a:t>，</a:t>
            </a:r>
            <a:r>
              <a:rPr lang="en-US" altLang="zh-CN" sz="3600" b="1">
                <a:solidFill>
                  <a:srgbClr val="006600"/>
                </a:solidFill>
                <a:ea typeface="楷体_GB2312" charset="0"/>
              </a:rPr>
              <a:t>5</a:t>
            </a:r>
            <a:r>
              <a:rPr lang="zh-CN" altLang="en-US" sz="3600">
                <a:ea typeface="楷体_GB2312" charset="0"/>
              </a:rPr>
              <a:t>构造而得的二叉排序树，</a:t>
            </a:r>
          </a:p>
        </p:txBody>
      </p:sp>
      <p:sp>
        <p:nvSpPr>
          <p:cNvPr id="82949" name="Text Box 5"/>
          <p:cNvSpPr txBox="1">
            <a:spLocks noChangeArrowheads="1"/>
          </p:cNvSpPr>
          <p:nvPr/>
        </p:nvSpPr>
        <p:spPr bwMode="auto">
          <a:xfrm>
            <a:off x="304800" y="152400"/>
            <a:ext cx="15652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A50021"/>
                </a:solidFill>
                <a:ea typeface="楷体_GB2312" charset="0"/>
              </a:rPr>
              <a:t>例如：</a:t>
            </a:r>
            <a:endParaRPr lang="zh-CN" altLang="en-US" sz="3600">
              <a:ea typeface="楷体_GB2312" charset="0"/>
            </a:endParaRPr>
          </a:p>
        </p:txBody>
      </p:sp>
      <p:sp>
        <p:nvSpPr>
          <p:cNvPr id="82950" name="Oval 6"/>
          <p:cNvSpPr>
            <a:spLocks noChangeArrowheads="1"/>
          </p:cNvSpPr>
          <p:nvPr/>
        </p:nvSpPr>
        <p:spPr bwMode="auto">
          <a:xfrm>
            <a:off x="6934200" y="914400"/>
            <a:ext cx="381000" cy="3810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b="1">
                <a:solidFill>
                  <a:srgbClr val="006600"/>
                </a:solidFill>
              </a:rPr>
              <a:t>2</a:t>
            </a:r>
            <a:endParaRPr lang="en-US" altLang="zh-CN"/>
          </a:p>
        </p:txBody>
      </p:sp>
      <p:sp>
        <p:nvSpPr>
          <p:cNvPr id="82951" name="Oval 7"/>
          <p:cNvSpPr>
            <a:spLocks noChangeArrowheads="1"/>
          </p:cNvSpPr>
          <p:nvPr/>
        </p:nvSpPr>
        <p:spPr bwMode="auto">
          <a:xfrm>
            <a:off x="6400800" y="457200"/>
            <a:ext cx="381000" cy="3810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b="1">
                <a:solidFill>
                  <a:srgbClr val="006600"/>
                </a:solidFill>
              </a:rPr>
              <a:t>1</a:t>
            </a:r>
            <a:endParaRPr lang="en-US" altLang="zh-CN"/>
          </a:p>
        </p:txBody>
      </p:sp>
      <p:sp>
        <p:nvSpPr>
          <p:cNvPr id="82952" name="Oval 8"/>
          <p:cNvSpPr>
            <a:spLocks noChangeArrowheads="1"/>
          </p:cNvSpPr>
          <p:nvPr/>
        </p:nvSpPr>
        <p:spPr bwMode="auto">
          <a:xfrm>
            <a:off x="7391400" y="1371600"/>
            <a:ext cx="381000" cy="3810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b="1">
                <a:solidFill>
                  <a:srgbClr val="006600"/>
                </a:solidFill>
              </a:rPr>
              <a:t>3</a:t>
            </a:r>
            <a:endParaRPr lang="en-US" altLang="zh-CN"/>
          </a:p>
        </p:txBody>
      </p:sp>
      <p:sp>
        <p:nvSpPr>
          <p:cNvPr id="82953" name="Oval 9"/>
          <p:cNvSpPr>
            <a:spLocks noChangeArrowheads="1"/>
          </p:cNvSpPr>
          <p:nvPr/>
        </p:nvSpPr>
        <p:spPr bwMode="auto">
          <a:xfrm>
            <a:off x="7924800" y="1828800"/>
            <a:ext cx="381000" cy="3810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b="1">
                <a:solidFill>
                  <a:srgbClr val="006600"/>
                </a:solidFill>
              </a:rPr>
              <a:t>4</a:t>
            </a:r>
            <a:endParaRPr lang="en-US" altLang="zh-CN"/>
          </a:p>
        </p:txBody>
      </p:sp>
      <p:sp>
        <p:nvSpPr>
          <p:cNvPr id="82954" name="Oval 10"/>
          <p:cNvSpPr>
            <a:spLocks noChangeArrowheads="1"/>
          </p:cNvSpPr>
          <p:nvPr/>
        </p:nvSpPr>
        <p:spPr bwMode="auto">
          <a:xfrm>
            <a:off x="8458200" y="2362200"/>
            <a:ext cx="381000" cy="3810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b="1">
                <a:solidFill>
                  <a:srgbClr val="006600"/>
                </a:solidFill>
              </a:rPr>
              <a:t>5</a:t>
            </a:r>
            <a:endParaRPr lang="en-US" altLang="zh-CN"/>
          </a:p>
        </p:txBody>
      </p:sp>
      <p:sp>
        <p:nvSpPr>
          <p:cNvPr id="82955" name="Line 11"/>
          <p:cNvSpPr>
            <a:spLocks noChangeShapeType="1"/>
          </p:cNvSpPr>
          <p:nvPr/>
        </p:nvSpPr>
        <p:spPr bwMode="auto">
          <a:xfrm>
            <a:off x="6705600" y="762000"/>
            <a:ext cx="304800" cy="228600"/>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2956" name="Line 12"/>
          <p:cNvSpPr>
            <a:spLocks noChangeShapeType="1"/>
          </p:cNvSpPr>
          <p:nvPr/>
        </p:nvSpPr>
        <p:spPr bwMode="auto">
          <a:xfrm>
            <a:off x="7239000" y="1219200"/>
            <a:ext cx="304800" cy="228600"/>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2957" name="Line 13"/>
          <p:cNvSpPr>
            <a:spLocks noChangeShapeType="1"/>
          </p:cNvSpPr>
          <p:nvPr/>
        </p:nvSpPr>
        <p:spPr bwMode="auto">
          <a:xfrm>
            <a:off x="7772400" y="1676400"/>
            <a:ext cx="304800" cy="228600"/>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2958" name="Line 14"/>
          <p:cNvSpPr>
            <a:spLocks noChangeShapeType="1"/>
          </p:cNvSpPr>
          <p:nvPr/>
        </p:nvSpPr>
        <p:spPr bwMode="auto">
          <a:xfrm>
            <a:off x="8229600" y="2133600"/>
            <a:ext cx="304800" cy="228600"/>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2959" name="Oval 15"/>
          <p:cNvSpPr>
            <a:spLocks noChangeArrowheads="1"/>
          </p:cNvSpPr>
          <p:nvPr/>
        </p:nvSpPr>
        <p:spPr bwMode="auto">
          <a:xfrm>
            <a:off x="7543800" y="3213100"/>
            <a:ext cx="381000" cy="3810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b="1">
                <a:solidFill>
                  <a:srgbClr val="006600"/>
                </a:solidFill>
              </a:rPr>
              <a:t>3</a:t>
            </a:r>
            <a:endParaRPr lang="en-US" altLang="zh-CN"/>
          </a:p>
        </p:txBody>
      </p:sp>
      <p:sp>
        <p:nvSpPr>
          <p:cNvPr id="82960" name="Oval 16"/>
          <p:cNvSpPr>
            <a:spLocks noChangeArrowheads="1"/>
          </p:cNvSpPr>
          <p:nvPr/>
        </p:nvSpPr>
        <p:spPr bwMode="auto">
          <a:xfrm>
            <a:off x="8458200" y="3898900"/>
            <a:ext cx="381000" cy="3810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b="1">
                <a:solidFill>
                  <a:srgbClr val="006600"/>
                </a:solidFill>
              </a:rPr>
              <a:t>5</a:t>
            </a:r>
            <a:endParaRPr lang="en-US" altLang="zh-CN"/>
          </a:p>
        </p:txBody>
      </p:sp>
      <p:sp>
        <p:nvSpPr>
          <p:cNvPr id="82961" name="Oval 17"/>
          <p:cNvSpPr>
            <a:spLocks noChangeArrowheads="1"/>
          </p:cNvSpPr>
          <p:nvPr/>
        </p:nvSpPr>
        <p:spPr bwMode="auto">
          <a:xfrm>
            <a:off x="7924800" y="4737100"/>
            <a:ext cx="381000" cy="3810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b="1">
                <a:solidFill>
                  <a:srgbClr val="006600"/>
                </a:solidFill>
              </a:rPr>
              <a:t>4</a:t>
            </a:r>
            <a:endParaRPr lang="en-US" altLang="zh-CN"/>
          </a:p>
        </p:txBody>
      </p:sp>
      <p:sp>
        <p:nvSpPr>
          <p:cNvPr id="82962" name="Oval 18"/>
          <p:cNvSpPr>
            <a:spLocks noChangeArrowheads="1"/>
          </p:cNvSpPr>
          <p:nvPr/>
        </p:nvSpPr>
        <p:spPr bwMode="auto">
          <a:xfrm>
            <a:off x="6629400" y="3898900"/>
            <a:ext cx="381000" cy="3810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b="1">
                <a:solidFill>
                  <a:srgbClr val="006600"/>
                </a:solidFill>
              </a:rPr>
              <a:t>1</a:t>
            </a:r>
            <a:endParaRPr lang="en-US" altLang="zh-CN"/>
          </a:p>
        </p:txBody>
      </p:sp>
      <p:sp>
        <p:nvSpPr>
          <p:cNvPr id="82963" name="Oval 19"/>
          <p:cNvSpPr>
            <a:spLocks noChangeArrowheads="1"/>
          </p:cNvSpPr>
          <p:nvPr/>
        </p:nvSpPr>
        <p:spPr bwMode="auto">
          <a:xfrm>
            <a:off x="7162800" y="4737100"/>
            <a:ext cx="381000" cy="3810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b="1">
                <a:solidFill>
                  <a:srgbClr val="006600"/>
                </a:solidFill>
              </a:rPr>
              <a:t>2</a:t>
            </a:r>
            <a:endParaRPr lang="en-US" altLang="zh-CN"/>
          </a:p>
        </p:txBody>
      </p:sp>
      <p:sp>
        <p:nvSpPr>
          <p:cNvPr id="82964" name="Line 20"/>
          <p:cNvSpPr>
            <a:spLocks noChangeShapeType="1"/>
          </p:cNvSpPr>
          <p:nvPr/>
        </p:nvSpPr>
        <p:spPr bwMode="auto">
          <a:xfrm flipH="1">
            <a:off x="6858000" y="3441700"/>
            <a:ext cx="685800" cy="457200"/>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2965" name="Line 21"/>
          <p:cNvSpPr>
            <a:spLocks noChangeShapeType="1"/>
          </p:cNvSpPr>
          <p:nvPr/>
        </p:nvSpPr>
        <p:spPr bwMode="auto">
          <a:xfrm>
            <a:off x="7924800" y="3441700"/>
            <a:ext cx="609600" cy="457200"/>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2966" name="Line 22"/>
          <p:cNvSpPr>
            <a:spLocks noChangeShapeType="1"/>
          </p:cNvSpPr>
          <p:nvPr/>
        </p:nvSpPr>
        <p:spPr bwMode="auto">
          <a:xfrm>
            <a:off x="6858000" y="4279900"/>
            <a:ext cx="381000" cy="457200"/>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2967" name="Line 23"/>
          <p:cNvSpPr>
            <a:spLocks noChangeShapeType="1"/>
          </p:cNvSpPr>
          <p:nvPr/>
        </p:nvSpPr>
        <p:spPr bwMode="auto">
          <a:xfrm flipH="1">
            <a:off x="8229600" y="4279900"/>
            <a:ext cx="304800" cy="457200"/>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2978" name="Rectangle 34"/>
          <p:cNvSpPr>
            <a:spLocks noChangeArrowheads="1"/>
          </p:cNvSpPr>
          <p:nvPr/>
        </p:nvSpPr>
        <p:spPr bwMode="auto">
          <a:xfrm>
            <a:off x="323850" y="2209800"/>
            <a:ext cx="6985000"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5000"/>
              </a:lnSpc>
            </a:pPr>
            <a:r>
              <a:rPr lang="en-US" altLang="zh-CN" sz="4000">
                <a:solidFill>
                  <a:srgbClr val="CC3300"/>
                </a:solidFill>
                <a:ea typeface="楷体_GB2312" charset="0"/>
              </a:rPr>
              <a:t>ASL =</a:t>
            </a:r>
            <a:r>
              <a:rPr lang="zh-CN" altLang="en-US" sz="4000">
                <a:solidFill>
                  <a:srgbClr val="CC3300"/>
                </a:solidFill>
                <a:ea typeface="楷体_GB2312" charset="0"/>
              </a:rPr>
              <a:t>（</a:t>
            </a:r>
            <a:r>
              <a:rPr lang="en-US" altLang="zh-CN" sz="4000">
                <a:solidFill>
                  <a:srgbClr val="CC3300"/>
                </a:solidFill>
                <a:ea typeface="楷体_GB2312" charset="0"/>
              </a:rPr>
              <a:t>1+2+3+4+5</a:t>
            </a:r>
            <a:r>
              <a:rPr lang="zh-CN" altLang="en-US" sz="4000">
                <a:solidFill>
                  <a:srgbClr val="CC3300"/>
                </a:solidFill>
                <a:ea typeface="楷体_GB2312" charset="0"/>
              </a:rPr>
              <a:t>）</a:t>
            </a:r>
            <a:r>
              <a:rPr lang="en-US" altLang="zh-CN" sz="4000">
                <a:solidFill>
                  <a:srgbClr val="CC3300"/>
                </a:solidFill>
                <a:ea typeface="楷体_GB2312" charset="0"/>
              </a:rPr>
              <a:t>/ 5 = 3</a:t>
            </a:r>
          </a:p>
        </p:txBody>
      </p:sp>
      <p:sp>
        <p:nvSpPr>
          <p:cNvPr id="82979" name="Rectangle 35"/>
          <p:cNvSpPr>
            <a:spLocks noChangeArrowheads="1"/>
          </p:cNvSpPr>
          <p:nvPr/>
        </p:nvSpPr>
        <p:spPr bwMode="auto">
          <a:xfrm>
            <a:off x="179388" y="4652963"/>
            <a:ext cx="63373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5000"/>
              </a:lnSpc>
            </a:pPr>
            <a:r>
              <a:rPr lang="en-US" altLang="zh-CN" sz="3600">
                <a:solidFill>
                  <a:srgbClr val="CC3300"/>
                </a:solidFill>
                <a:ea typeface="楷体_GB2312" charset="0"/>
              </a:rPr>
              <a:t>ASL =</a:t>
            </a:r>
            <a:r>
              <a:rPr lang="zh-CN" altLang="en-US" sz="3600">
                <a:solidFill>
                  <a:srgbClr val="CC3300"/>
                </a:solidFill>
                <a:ea typeface="楷体_GB2312" charset="0"/>
              </a:rPr>
              <a:t>（</a:t>
            </a:r>
            <a:r>
              <a:rPr lang="en-US" altLang="zh-CN" sz="3600">
                <a:solidFill>
                  <a:srgbClr val="CC3300"/>
                </a:solidFill>
                <a:ea typeface="楷体_GB2312" charset="0"/>
              </a:rPr>
              <a:t>1+2+3+2+3</a:t>
            </a:r>
            <a:r>
              <a:rPr lang="zh-CN" altLang="en-US" sz="3600">
                <a:solidFill>
                  <a:srgbClr val="CC3300"/>
                </a:solidFill>
                <a:ea typeface="楷体_GB2312" charset="0"/>
              </a:rPr>
              <a:t>）</a:t>
            </a:r>
            <a:r>
              <a:rPr lang="en-US" altLang="zh-CN" sz="3600">
                <a:solidFill>
                  <a:srgbClr val="CC3300"/>
                </a:solidFill>
                <a:ea typeface="楷体_GB2312" charset="0"/>
              </a:rPr>
              <a:t>/ 5 = 2.2</a:t>
            </a:r>
          </a:p>
        </p:txBody>
      </p:sp>
      <p:sp>
        <p:nvSpPr>
          <p:cNvPr id="113672" name="Text Box 8"/>
          <p:cNvSpPr txBox="1">
            <a:spLocks noChangeArrowheads="1"/>
          </p:cNvSpPr>
          <p:nvPr/>
        </p:nvSpPr>
        <p:spPr bwMode="auto">
          <a:xfrm>
            <a:off x="231775" y="5595938"/>
            <a:ext cx="8012113" cy="1217612"/>
          </a:xfrm>
          <a:prstGeom prst="rect">
            <a:avLst/>
          </a:prstGeom>
          <a:noFill/>
          <a:ln w="38100">
            <a:solidFill>
              <a:schemeClr val="accent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10800" rIns="0" bIns="0">
            <a:spAutoFit/>
          </a:bodyPr>
          <a:lstStyle/>
          <a:p>
            <a:pPr eaLnBrk="0" hangingPunct="0">
              <a:lnSpc>
                <a:spcPct val="120000"/>
              </a:lnSpc>
            </a:pPr>
            <a:r>
              <a:rPr lang="zh-CN" altLang="en-US" sz="3200">
                <a:ea typeface="楷体_GB2312" charset="0"/>
              </a:rPr>
              <a:t>二叉排序树的查找性能取决于二叉排序树的形状，在</a:t>
            </a:r>
            <a:r>
              <a:rPr lang="en-US" altLang="zh-CN" sz="3200">
                <a:ea typeface="楷体_GB2312" charset="0"/>
              </a:rPr>
              <a:t>O(log2n)</a:t>
            </a:r>
            <a:r>
              <a:rPr lang="zh-CN" altLang="en-US" sz="3200">
                <a:ea typeface="楷体_GB2312" charset="0"/>
              </a:rPr>
              <a:t>和</a:t>
            </a:r>
            <a:r>
              <a:rPr lang="en-US" altLang="zh-CN" sz="3200">
                <a:ea typeface="楷体_GB2312" charset="0"/>
              </a:rPr>
              <a:t>O(n)</a:t>
            </a:r>
            <a:r>
              <a:rPr lang="zh-CN" altLang="en-US" sz="3200">
                <a:ea typeface="楷体_GB2312" charset="0"/>
              </a:rPr>
              <a:t>之间。</a:t>
            </a:r>
            <a:r>
              <a:rPr kumimoji="0" lang="zh-CN" altLang="en-US" sz="2800" b="1"/>
              <a:t> </a:t>
            </a:r>
          </a:p>
        </p:txBody>
      </p:sp>
    </p:spTree>
    <p:extLst>
      <p:ext uri="{BB962C8B-B14F-4D97-AF65-F5344CB8AC3E}">
        <p14:creationId xmlns:p14="http://schemas.microsoft.com/office/powerpoint/2010/main" val="1920778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82949"/>
                                        </p:tgtEl>
                                        <p:attrNameLst>
                                          <p:attrName>style.visibility</p:attrName>
                                        </p:attrNameLst>
                                      </p:cBhvr>
                                      <p:to>
                                        <p:strVal val="visible"/>
                                      </p:to>
                                    </p:set>
                                    <p:anim calcmode="lin" valueType="num">
                                      <p:cBhvr>
                                        <p:cTn id="7" dur="500" fill="hold"/>
                                        <p:tgtEl>
                                          <p:spTgt spid="82949"/>
                                        </p:tgtEl>
                                        <p:attrNameLst>
                                          <p:attrName>ppt_w</p:attrName>
                                        </p:attrNameLst>
                                      </p:cBhvr>
                                      <p:tavLst>
                                        <p:tav tm="0">
                                          <p:val>
                                            <p:fltVal val="0"/>
                                          </p:val>
                                        </p:tav>
                                        <p:tav tm="100000">
                                          <p:val>
                                            <p:strVal val="#ppt_w"/>
                                          </p:val>
                                        </p:tav>
                                      </p:tavLst>
                                    </p:anim>
                                    <p:anim calcmode="lin" valueType="num">
                                      <p:cBhvr>
                                        <p:cTn id="8" dur="500" fill="hold"/>
                                        <p:tgtEl>
                                          <p:spTgt spid="82949"/>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82948"/>
                                        </p:tgtEl>
                                        <p:attrNameLst>
                                          <p:attrName>style.visibility</p:attrName>
                                        </p:attrNameLst>
                                      </p:cBhvr>
                                      <p:to>
                                        <p:strVal val="visible"/>
                                      </p:to>
                                    </p:set>
                                    <p:animEffect transition="in" filter="blinds(vertical)">
                                      <p:cBhvr>
                                        <p:cTn id="13" dur="500"/>
                                        <p:tgtEl>
                                          <p:spTgt spid="8294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82951"/>
                                        </p:tgtEl>
                                        <p:attrNameLst>
                                          <p:attrName>style.visibility</p:attrName>
                                        </p:attrNameLst>
                                      </p:cBhvr>
                                      <p:to>
                                        <p:strVal val="visible"/>
                                      </p:to>
                                    </p:set>
                                    <p:animEffect transition="in" filter="wipe(up)">
                                      <p:cBhvr>
                                        <p:cTn id="18" dur="500"/>
                                        <p:tgtEl>
                                          <p:spTgt spid="8295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82955"/>
                                        </p:tgtEl>
                                        <p:attrNameLst>
                                          <p:attrName>style.visibility</p:attrName>
                                        </p:attrNameLst>
                                      </p:cBhvr>
                                      <p:to>
                                        <p:strVal val="visible"/>
                                      </p:to>
                                    </p:set>
                                    <p:animEffect transition="in" filter="wipe(up)">
                                      <p:cBhvr>
                                        <p:cTn id="23" dur="500"/>
                                        <p:tgtEl>
                                          <p:spTgt spid="82955"/>
                                        </p:tgtEl>
                                      </p:cBhvr>
                                    </p:animEffect>
                                  </p:childTnLst>
                                </p:cTn>
                              </p:par>
                            </p:childTnLst>
                          </p:cTn>
                        </p:par>
                        <p:par>
                          <p:cTn id="24" fill="hold" nodeType="afterGroup">
                            <p:stCondLst>
                              <p:cond delay="500"/>
                            </p:stCondLst>
                            <p:childTnLst>
                              <p:par>
                                <p:cTn id="25" presetID="22" presetClass="entr" presetSubtype="1" fill="hold" grpId="0" nodeType="afterEffect">
                                  <p:stCondLst>
                                    <p:cond delay="0"/>
                                  </p:stCondLst>
                                  <p:childTnLst>
                                    <p:set>
                                      <p:cBhvr>
                                        <p:cTn id="26" dur="1" fill="hold">
                                          <p:stCondLst>
                                            <p:cond delay="0"/>
                                          </p:stCondLst>
                                        </p:cTn>
                                        <p:tgtEl>
                                          <p:spTgt spid="82950"/>
                                        </p:tgtEl>
                                        <p:attrNameLst>
                                          <p:attrName>style.visibility</p:attrName>
                                        </p:attrNameLst>
                                      </p:cBhvr>
                                      <p:to>
                                        <p:strVal val="visible"/>
                                      </p:to>
                                    </p:set>
                                    <p:animEffect transition="in" filter="wipe(up)">
                                      <p:cBhvr>
                                        <p:cTn id="27" dur="500"/>
                                        <p:tgtEl>
                                          <p:spTgt spid="8295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82956"/>
                                        </p:tgtEl>
                                        <p:attrNameLst>
                                          <p:attrName>style.visibility</p:attrName>
                                        </p:attrNameLst>
                                      </p:cBhvr>
                                      <p:to>
                                        <p:strVal val="visible"/>
                                      </p:to>
                                    </p:set>
                                    <p:animEffect transition="in" filter="wipe(up)">
                                      <p:cBhvr>
                                        <p:cTn id="32" dur="500"/>
                                        <p:tgtEl>
                                          <p:spTgt spid="82956"/>
                                        </p:tgtEl>
                                      </p:cBhvr>
                                    </p:animEffect>
                                  </p:childTnLst>
                                </p:cTn>
                              </p:par>
                            </p:childTnLst>
                          </p:cTn>
                        </p:par>
                        <p:par>
                          <p:cTn id="33" fill="hold" nodeType="afterGroup">
                            <p:stCondLst>
                              <p:cond delay="500"/>
                            </p:stCondLst>
                            <p:childTnLst>
                              <p:par>
                                <p:cTn id="34" presetID="22" presetClass="entr" presetSubtype="1" fill="hold" grpId="0" nodeType="afterEffect">
                                  <p:stCondLst>
                                    <p:cond delay="0"/>
                                  </p:stCondLst>
                                  <p:childTnLst>
                                    <p:set>
                                      <p:cBhvr>
                                        <p:cTn id="35" dur="1" fill="hold">
                                          <p:stCondLst>
                                            <p:cond delay="0"/>
                                          </p:stCondLst>
                                        </p:cTn>
                                        <p:tgtEl>
                                          <p:spTgt spid="82952"/>
                                        </p:tgtEl>
                                        <p:attrNameLst>
                                          <p:attrName>style.visibility</p:attrName>
                                        </p:attrNameLst>
                                      </p:cBhvr>
                                      <p:to>
                                        <p:strVal val="visible"/>
                                      </p:to>
                                    </p:set>
                                    <p:animEffect transition="in" filter="wipe(up)">
                                      <p:cBhvr>
                                        <p:cTn id="36" dur="500"/>
                                        <p:tgtEl>
                                          <p:spTgt spid="8295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82957"/>
                                        </p:tgtEl>
                                        <p:attrNameLst>
                                          <p:attrName>style.visibility</p:attrName>
                                        </p:attrNameLst>
                                      </p:cBhvr>
                                      <p:to>
                                        <p:strVal val="visible"/>
                                      </p:to>
                                    </p:set>
                                    <p:animEffect transition="in" filter="wipe(up)">
                                      <p:cBhvr>
                                        <p:cTn id="41" dur="500"/>
                                        <p:tgtEl>
                                          <p:spTgt spid="82957"/>
                                        </p:tgtEl>
                                      </p:cBhvr>
                                    </p:animEffect>
                                  </p:childTnLst>
                                </p:cTn>
                              </p:par>
                            </p:childTnLst>
                          </p:cTn>
                        </p:par>
                        <p:par>
                          <p:cTn id="42" fill="hold" nodeType="afterGroup">
                            <p:stCondLst>
                              <p:cond delay="500"/>
                            </p:stCondLst>
                            <p:childTnLst>
                              <p:par>
                                <p:cTn id="43" presetID="22" presetClass="entr" presetSubtype="1" fill="hold" grpId="0" nodeType="afterEffect">
                                  <p:stCondLst>
                                    <p:cond delay="0"/>
                                  </p:stCondLst>
                                  <p:childTnLst>
                                    <p:set>
                                      <p:cBhvr>
                                        <p:cTn id="44" dur="1" fill="hold">
                                          <p:stCondLst>
                                            <p:cond delay="0"/>
                                          </p:stCondLst>
                                        </p:cTn>
                                        <p:tgtEl>
                                          <p:spTgt spid="82953"/>
                                        </p:tgtEl>
                                        <p:attrNameLst>
                                          <p:attrName>style.visibility</p:attrName>
                                        </p:attrNameLst>
                                      </p:cBhvr>
                                      <p:to>
                                        <p:strVal val="visible"/>
                                      </p:to>
                                    </p:set>
                                    <p:animEffect transition="in" filter="wipe(up)">
                                      <p:cBhvr>
                                        <p:cTn id="45" dur="500"/>
                                        <p:tgtEl>
                                          <p:spTgt spid="8295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82958"/>
                                        </p:tgtEl>
                                        <p:attrNameLst>
                                          <p:attrName>style.visibility</p:attrName>
                                        </p:attrNameLst>
                                      </p:cBhvr>
                                      <p:to>
                                        <p:strVal val="visible"/>
                                      </p:to>
                                    </p:set>
                                    <p:animEffect transition="in" filter="wipe(up)">
                                      <p:cBhvr>
                                        <p:cTn id="50" dur="500"/>
                                        <p:tgtEl>
                                          <p:spTgt spid="82958"/>
                                        </p:tgtEl>
                                      </p:cBhvr>
                                    </p:animEffect>
                                  </p:childTnLst>
                                </p:cTn>
                              </p:par>
                            </p:childTnLst>
                          </p:cTn>
                        </p:par>
                        <p:par>
                          <p:cTn id="51" fill="hold" nodeType="afterGroup">
                            <p:stCondLst>
                              <p:cond delay="500"/>
                            </p:stCondLst>
                            <p:childTnLst>
                              <p:par>
                                <p:cTn id="52" presetID="22" presetClass="entr" presetSubtype="1" fill="hold" grpId="0" nodeType="afterEffect">
                                  <p:stCondLst>
                                    <p:cond delay="0"/>
                                  </p:stCondLst>
                                  <p:childTnLst>
                                    <p:set>
                                      <p:cBhvr>
                                        <p:cTn id="53" dur="1" fill="hold">
                                          <p:stCondLst>
                                            <p:cond delay="0"/>
                                          </p:stCondLst>
                                        </p:cTn>
                                        <p:tgtEl>
                                          <p:spTgt spid="82954"/>
                                        </p:tgtEl>
                                        <p:attrNameLst>
                                          <p:attrName>style.visibility</p:attrName>
                                        </p:attrNameLst>
                                      </p:cBhvr>
                                      <p:to>
                                        <p:strVal val="visible"/>
                                      </p:to>
                                    </p:set>
                                    <p:animEffect transition="in" filter="wipe(up)">
                                      <p:cBhvr>
                                        <p:cTn id="54" dur="500"/>
                                        <p:tgtEl>
                                          <p:spTgt spid="8295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iterate type="wd">
                                    <p:tmPct val="100000"/>
                                  </p:iterate>
                                  <p:childTnLst>
                                    <p:set>
                                      <p:cBhvr>
                                        <p:cTn id="58" dur="1" fill="hold">
                                          <p:stCondLst>
                                            <p:cond delay="0"/>
                                          </p:stCondLst>
                                        </p:cTn>
                                        <p:tgtEl>
                                          <p:spTgt spid="82978"/>
                                        </p:tgtEl>
                                        <p:attrNameLst>
                                          <p:attrName>style.visibility</p:attrName>
                                        </p:attrNameLst>
                                      </p:cBhvr>
                                      <p:to>
                                        <p:strVal val="visible"/>
                                      </p:to>
                                    </p:set>
                                    <p:animEffect transition="in" filter="wipe(left)">
                                      <p:cBhvr>
                                        <p:cTn id="59" dur="300"/>
                                        <p:tgtEl>
                                          <p:spTgt spid="82978"/>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5" fill="hold" grpId="0" nodeType="clickEffect">
                                  <p:stCondLst>
                                    <p:cond delay="0"/>
                                  </p:stCondLst>
                                  <p:childTnLst>
                                    <p:set>
                                      <p:cBhvr>
                                        <p:cTn id="63" dur="1" fill="hold">
                                          <p:stCondLst>
                                            <p:cond delay="0"/>
                                          </p:stCondLst>
                                        </p:cTn>
                                        <p:tgtEl>
                                          <p:spTgt spid="82947"/>
                                        </p:tgtEl>
                                        <p:attrNameLst>
                                          <p:attrName>style.visibility</p:attrName>
                                        </p:attrNameLst>
                                      </p:cBhvr>
                                      <p:to>
                                        <p:strVal val="visible"/>
                                      </p:to>
                                    </p:set>
                                    <p:animEffect transition="in" filter="blinds(vertical)">
                                      <p:cBhvr>
                                        <p:cTn id="64" dur="500"/>
                                        <p:tgtEl>
                                          <p:spTgt spid="82947"/>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82959"/>
                                        </p:tgtEl>
                                        <p:attrNameLst>
                                          <p:attrName>style.visibility</p:attrName>
                                        </p:attrNameLst>
                                      </p:cBhvr>
                                      <p:to>
                                        <p:strVal val="visible"/>
                                      </p:to>
                                    </p:set>
                                    <p:animEffect transition="in" filter="wipe(up)">
                                      <p:cBhvr>
                                        <p:cTn id="69" dur="500"/>
                                        <p:tgtEl>
                                          <p:spTgt spid="82959"/>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82964"/>
                                        </p:tgtEl>
                                        <p:attrNameLst>
                                          <p:attrName>style.visibility</p:attrName>
                                        </p:attrNameLst>
                                      </p:cBhvr>
                                      <p:to>
                                        <p:strVal val="visible"/>
                                      </p:to>
                                    </p:set>
                                    <p:animEffect transition="in" filter="wipe(up)">
                                      <p:cBhvr>
                                        <p:cTn id="74" dur="500"/>
                                        <p:tgtEl>
                                          <p:spTgt spid="82964"/>
                                        </p:tgtEl>
                                      </p:cBhvr>
                                    </p:animEffect>
                                  </p:childTnLst>
                                </p:cTn>
                              </p:par>
                            </p:childTnLst>
                          </p:cTn>
                        </p:par>
                        <p:par>
                          <p:cTn id="75" fill="hold" nodeType="afterGroup">
                            <p:stCondLst>
                              <p:cond delay="500"/>
                            </p:stCondLst>
                            <p:childTnLst>
                              <p:par>
                                <p:cTn id="76" presetID="22" presetClass="entr" presetSubtype="1" fill="hold" grpId="0" nodeType="afterEffect">
                                  <p:stCondLst>
                                    <p:cond delay="0"/>
                                  </p:stCondLst>
                                  <p:childTnLst>
                                    <p:set>
                                      <p:cBhvr>
                                        <p:cTn id="77" dur="1" fill="hold">
                                          <p:stCondLst>
                                            <p:cond delay="0"/>
                                          </p:stCondLst>
                                        </p:cTn>
                                        <p:tgtEl>
                                          <p:spTgt spid="82962"/>
                                        </p:tgtEl>
                                        <p:attrNameLst>
                                          <p:attrName>style.visibility</p:attrName>
                                        </p:attrNameLst>
                                      </p:cBhvr>
                                      <p:to>
                                        <p:strVal val="visible"/>
                                      </p:to>
                                    </p:set>
                                    <p:animEffect transition="in" filter="wipe(up)">
                                      <p:cBhvr>
                                        <p:cTn id="78" dur="500"/>
                                        <p:tgtEl>
                                          <p:spTgt spid="8296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1" fill="hold" grpId="0" nodeType="clickEffect">
                                  <p:stCondLst>
                                    <p:cond delay="0"/>
                                  </p:stCondLst>
                                  <p:childTnLst>
                                    <p:set>
                                      <p:cBhvr>
                                        <p:cTn id="82" dur="1" fill="hold">
                                          <p:stCondLst>
                                            <p:cond delay="0"/>
                                          </p:stCondLst>
                                        </p:cTn>
                                        <p:tgtEl>
                                          <p:spTgt spid="82966"/>
                                        </p:tgtEl>
                                        <p:attrNameLst>
                                          <p:attrName>style.visibility</p:attrName>
                                        </p:attrNameLst>
                                      </p:cBhvr>
                                      <p:to>
                                        <p:strVal val="visible"/>
                                      </p:to>
                                    </p:set>
                                    <p:animEffect transition="in" filter="wipe(up)">
                                      <p:cBhvr>
                                        <p:cTn id="83" dur="500"/>
                                        <p:tgtEl>
                                          <p:spTgt spid="82966"/>
                                        </p:tgtEl>
                                      </p:cBhvr>
                                    </p:animEffect>
                                  </p:childTnLst>
                                </p:cTn>
                              </p:par>
                            </p:childTnLst>
                          </p:cTn>
                        </p:par>
                        <p:par>
                          <p:cTn id="84" fill="hold" nodeType="afterGroup">
                            <p:stCondLst>
                              <p:cond delay="500"/>
                            </p:stCondLst>
                            <p:childTnLst>
                              <p:par>
                                <p:cTn id="85" presetID="22" presetClass="entr" presetSubtype="1" fill="hold" grpId="0" nodeType="afterEffect">
                                  <p:stCondLst>
                                    <p:cond delay="0"/>
                                  </p:stCondLst>
                                  <p:childTnLst>
                                    <p:set>
                                      <p:cBhvr>
                                        <p:cTn id="86" dur="1" fill="hold">
                                          <p:stCondLst>
                                            <p:cond delay="0"/>
                                          </p:stCondLst>
                                        </p:cTn>
                                        <p:tgtEl>
                                          <p:spTgt spid="82963"/>
                                        </p:tgtEl>
                                        <p:attrNameLst>
                                          <p:attrName>style.visibility</p:attrName>
                                        </p:attrNameLst>
                                      </p:cBhvr>
                                      <p:to>
                                        <p:strVal val="visible"/>
                                      </p:to>
                                    </p:set>
                                    <p:animEffect transition="in" filter="wipe(up)">
                                      <p:cBhvr>
                                        <p:cTn id="87" dur="500"/>
                                        <p:tgtEl>
                                          <p:spTgt spid="8296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82965"/>
                                        </p:tgtEl>
                                        <p:attrNameLst>
                                          <p:attrName>style.visibility</p:attrName>
                                        </p:attrNameLst>
                                      </p:cBhvr>
                                      <p:to>
                                        <p:strVal val="visible"/>
                                      </p:to>
                                    </p:set>
                                    <p:animEffect transition="in" filter="wipe(up)">
                                      <p:cBhvr>
                                        <p:cTn id="92" dur="500"/>
                                        <p:tgtEl>
                                          <p:spTgt spid="82965"/>
                                        </p:tgtEl>
                                      </p:cBhvr>
                                    </p:animEffect>
                                  </p:childTnLst>
                                </p:cTn>
                              </p:par>
                            </p:childTnLst>
                          </p:cTn>
                        </p:par>
                        <p:par>
                          <p:cTn id="93" fill="hold" nodeType="afterGroup">
                            <p:stCondLst>
                              <p:cond delay="500"/>
                            </p:stCondLst>
                            <p:childTnLst>
                              <p:par>
                                <p:cTn id="94" presetID="22" presetClass="entr" presetSubtype="1" fill="hold" grpId="0" nodeType="afterEffect">
                                  <p:stCondLst>
                                    <p:cond delay="0"/>
                                  </p:stCondLst>
                                  <p:childTnLst>
                                    <p:set>
                                      <p:cBhvr>
                                        <p:cTn id="95" dur="1" fill="hold">
                                          <p:stCondLst>
                                            <p:cond delay="0"/>
                                          </p:stCondLst>
                                        </p:cTn>
                                        <p:tgtEl>
                                          <p:spTgt spid="82960"/>
                                        </p:tgtEl>
                                        <p:attrNameLst>
                                          <p:attrName>style.visibility</p:attrName>
                                        </p:attrNameLst>
                                      </p:cBhvr>
                                      <p:to>
                                        <p:strVal val="visible"/>
                                      </p:to>
                                    </p:set>
                                    <p:animEffect transition="in" filter="wipe(up)">
                                      <p:cBhvr>
                                        <p:cTn id="96" dur="500"/>
                                        <p:tgtEl>
                                          <p:spTgt spid="82960"/>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1" fill="hold" grpId="0" nodeType="clickEffect">
                                  <p:stCondLst>
                                    <p:cond delay="0"/>
                                  </p:stCondLst>
                                  <p:childTnLst>
                                    <p:set>
                                      <p:cBhvr>
                                        <p:cTn id="100" dur="1" fill="hold">
                                          <p:stCondLst>
                                            <p:cond delay="0"/>
                                          </p:stCondLst>
                                        </p:cTn>
                                        <p:tgtEl>
                                          <p:spTgt spid="82967"/>
                                        </p:tgtEl>
                                        <p:attrNameLst>
                                          <p:attrName>style.visibility</p:attrName>
                                        </p:attrNameLst>
                                      </p:cBhvr>
                                      <p:to>
                                        <p:strVal val="visible"/>
                                      </p:to>
                                    </p:set>
                                    <p:animEffect transition="in" filter="wipe(up)">
                                      <p:cBhvr>
                                        <p:cTn id="101" dur="500"/>
                                        <p:tgtEl>
                                          <p:spTgt spid="82967"/>
                                        </p:tgtEl>
                                      </p:cBhvr>
                                    </p:animEffect>
                                  </p:childTnLst>
                                </p:cTn>
                              </p:par>
                            </p:childTnLst>
                          </p:cTn>
                        </p:par>
                        <p:par>
                          <p:cTn id="102" fill="hold" nodeType="afterGroup">
                            <p:stCondLst>
                              <p:cond delay="500"/>
                            </p:stCondLst>
                            <p:childTnLst>
                              <p:par>
                                <p:cTn id="103" presetID="22" presetClass="entr" presetSubtype="1" fill="hold" grpId="0" nodeType="afterEffect">
                                  <p:stCondLst>
                                    <p:cond delay="0"/>
                                  </p:stCondLst>
                                  <p:childTnLst>
                                    <p:set>
                                      <p:cBhvr>
                                        <p:cTn id="104" dur="1" fill="hold">
                                          <p:stCondLst>
                                            <p:cond delay="0"/>
                                          </p:stCondLst>
                                        </p:cTn>
                                        <p:tgtEl>
                                          <p:spTgt spid="82961"/>
                                        </p:tgtEl>
                                        <p:attrNameLst>
                                          <p:attrName>style.visibility</p:attrName>
                                        </p:attrNameLst>
                                      </p:cBhvr>
                                      <p:to>
                                        <p:strVal val="visible"/>
                                      </p:to>
                                    </p:set>
                                    <p:animEffect transition="in" filter="wipe(up)">
                                      <p:cBhvr>
                                        <p:cTn id="105" dur="500"/>
                                        <p:tgtEl>
                                          <p:spTgt spid="82961"/>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grpId="0" nodeType="clickEffect">
                                  <p:stCondLst>
                                    <p:cond delay="0"/>
                                  </p:stCondLst>
                                  <p:iterate type="wd">
                                    <p:tmPct val="100000"/>
                                  </p:iterate>
                                  <p:childTnLst>
                                    <p:set>
                                      <p:cBhvr>
                                        <p:cTn id="109" dur="1" fill="hold">
                                          <p:stCondLst>
                                            <p:cond delay="0"/>
                                          </p:stCondLst>
                                        </p:cTn>
                                        <p:tgtEl>
                                          <p:spTgt spid="82979"/>
                                        </p:tgtEl>
                                        <p:attrNameLst>
                                          <p:attrName>style.visibility</p:attrName>
                                        </p:attrNameLst>
                                      </p:cBhvr>
                                      <p:to>
                                        <p:strVal val="visible"/>
                                      </p:to>
                                    </p:set>
                                    <p:animEffect transition="in" filter="wipe(left)">
                                      <p:cBhvr>
                                        <p:cTn id="110" dur="300"/>
                                        <p:tgtEl>
                                          <p:spTgt spid="82979"/>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136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autoUpdateAnimBg="0"/>
      <p:bldP spid="82948" grpId="0" autoUpdateAnimBg="0"/>
      <p:bldP spid="82949" grpId="0" autoUpdateAnimBg="0"/>
      <p:bldP spid="82950" grpId="0" animBg="1" autoUpdateAnimBg="0"/>
      <p:bldP spid="82951" grpId="0" animBg="1" autoUpdateAnimBg="0"/>
      <p:bldP spid="82952" grpId="0" animBg="1" autoUpdateAnimBg="0"/>
      <p:bldP spid="82953" grpId="0" animBg="1" autoUpdateAnimBg="0"/>
      <p:bldP spid="82954" grpId="0" animBg="1" autoUpdateAnimBg="0"/>
      <p:bldP spid="82955" grpId="0" animBg="1"/>
      <p:bldP spid="82956" grpId="0" animBg="1"/>
      <p:bldP spid="82957" grpId="0" animBg="1"/>
      <p:bldP spid="82958" grpId="0" animBg="1"/>
      <p:bldP spid="82959" grpId="0" animBg="1" autoUpdateAnimBg="0"/>
      <p:bldP spid="82960" grpId="0" animBg="1" autoUpdateAnimBg="0"/>
      <p:bldP spid="82961" grpId="0" animBg="1" autoUpdateAnimBg="0"/>
      <p:bldP spid="82962" grpId="0" animBg="1" autoUpdateAnimBg="0"/>
      <p:bldP spid="82963" grpId="0" animBg="1" autoUpdateAnimBg="0"/>
      <p:bldP spid="82964" grpId="0" animBg="1"/>
      <p:bldP spid="82965" grpId="0" animBg="1"/>
      <p:bldP spid="82966" grpId="0" animBg="1"/>
      <p:bldP spid="82967" grpId="0" animBg="1"/>
      <p:bldP spid="82978" grpId="0" autoUpdateAnimBg="0"/>
      <p:bldP spid="82979" grpId="0" autoUpdateAnimBg="0"/>
      <p:bldP spid="113672"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p:cNvSpPr txBox="1">
            <a:spLocks noChangeArrowheads="1"/>
          </p:cNvSpPr>
          <p:nvPr/>
        </p:nvSpPr>
        <p:spPr bwMode="auto">
          <a:xfrm>
            <a:off x="228600" y="152400"/>
            <a:ext cx="48371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ea typeface="楷体_GB2312" charset="0"/>
              </a:rPr>
              <a:t>   </a:t>
            </a:r>
            <a:r>
              <a:rPr lang="zh-CN" altLang="en-US" sz="4000" b="1">
                <a:solidFill>
                  <a:schemeClr val="accent2"/>
                </a:solidFill>
                <a:ea typeface="隶书" charset="0"/>
              </a:rPr>
              <a:t>下面讨论平均情况</a:t>
            </a:r>
            <a:r>
              <a:rPr lang="en-US" altLang="zh-CN" sz="4000" b="1">
                <a:solidFill>
                  <a:schemeClr val="accent2"/>
                </a:solidFill>
                <a:ea typeface="隶书" charset="0"/>
              </a:rPr>
              <a:t>:</a:t>
            </a:r>
            <a:endParaRPr lang="en-US" altLang="zh-CN" sz="4000">
              <a:ea typeface="楷体_GB2312" charset="0"/>
            </a:endParaRPr>
          </a:p>
        </p:txBody>
      </p:sp>
      <p:sp>
        <p:nvSpPr>
          <p:cNvPr id="84995" name="Text Box 3"/>
          <p:cNvSpPr txBox="1">
            <a:spLocks noChangeArrowheads="1"/>
          </p:cNvSpPr>
          <p:nvPr/>
        </p:nvSpPr>
        <p:spPr bwMode="auto">
          <a:xfrm>
            <a:off x="158750" y="838200"/>
            <a:ext cx="8985250" cy="291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4000">
                <a:ea typeface="楷体_GB2312" charset="0"/>
              </a:rPr>
              <a:t>    </a:t>
            </a:r>
            <a:r>
              <a:rPr lang="zh-CN" altLang="en-US" sz="3600">
                <a:solidFill>
                  <a:srgbClr val="A50021"/>
                </a:solidFill>
                <a:ea typeface="楷体_GB2312" charset="0"/>
              </a:rPr>
              <a:t>不失一般性，假设长度为</a:t>
            </a:r>
            <a:r>
              <a:rPr lang="zh-CN" altLang="en-US" sz="3600" b="1" i="1">
                <a:solidFill>
                  <a:srgbClr val="FF0000"/>
                </a:solidFill>
                <a:ea typeface="楷体_GB2312" charset="0"/>
              </a:rPr>
              <a:t> </a:t>
            </a:r>
            <a:r>
              <a:rPr lang="en-US" altLang="zh-CN" sz="3600" b="1" i="1">
                <a:solidFill>
                  <a:srgbClr val="FF0000"/>
                </a:solidFill>
                <a:ea typeface="楷体_GB2312" charset="0"/>
              </a:rPr>
              <a:t>n</a:t>
            </a:r>
            <a:r>
              <a:rPr lang="en-US" altLang="zh-CN" sz="3600">
                <a:solidFill>
                  <a:srgbClr val="A50021"/>
                </a:solidFill>
                <a:ea typeface="楷体_GB2312" charset="0"/>
              </a:rPr>
              <a:t> </a:t>
            </a:r>
            <a:r>
              <a:rPr lang="zh-CN" altLang="en-US" sz="3600">
                <a:solidFill>
                  <a:srgbClr val="A50021"/>
                </a:solidFill>
                <a:ea typeface="楷体_GB2312" charset="0"/>
              </a:rPr>
              <a:t>的序列中有 </a:t>
            </a:r>
            <a:r>
              <a:rPr lang="en-US" altLang="zh-CN" sz="3600" b="1" i="1">
                <a:solidFill>
                  <a:srgbClr val="FF0000"/>
                </a:solidFill>
                <a:ea typeface="楷体_GB2312" charset="0"/>
              </a:rPr>
              <a:t>k</a:t>
            </a:r>
            <a:r>
              <a:rPr lang="en-US" altLang="zh-CN" sz="3600">
                <a:solidFill>
                  <a:srgbClr val="FF0000"/>
                </a:solidFill>
                <a:ea typeface="楷体_GB2312" charset="0"/>
              </a:rPr>
              <a:t> </a:t>
            </a:r>
            <a:r>
              <a:rPr lang="zh-CN" altLang="en-US" sz="3600">
                <a:solidFill>
                  <a:srgbClr val="A50021"/>
                </a:solidFill>
                <a:ea typeface="楷体_GB2312" charset="0"/>
              </a:rPr>
              <a:t>个关键字</a:t>
            </a:r>
            <a:r>
              <a:rPr lang="zh-CN" altLang="en-US" sz="3600" b="1">
                <a:solidFill>
                  <a:srgbClr val="FF0000"/>
                </a:solidFill>
                <a:ea typeface="楷体_GB2312" charset="0"/>
              </a:rPr>
              <a:t>小于</a:t>
            </a:r>
            <a:r>
              <a:rPr lang="zh-CN" altLang="en-US" sz="3600">
                <a:solidFill>
                  <a:srgbClr val="A50021"/>
                </a:solidFill>
                <a:ea typeface="楷体_GB2312" charset="0"/>
              </a:rPr>
              <a:t>第一个关键字，则必有 </a:t>
            </a:r>
            <a:r>
              <a:rPr lang="en-US" altLang="zh-CN" sz="3600" b="1" i="1">
                <a:solidFill>
                  <a:srgbClr val="FF0000"/>
                </a:solidFill>
                <a:ea typeface="楷体_GB2312" charset="0"/>
              </a:rPr>
              <a:t>n-k-1</a:t>
            </a:r>
            <a:r>
              <a:rPr lang="en-US" altLang="zh-CN" sz="3600">
                <a:solidFill>
                  <a:srgbClr val="A50021"/>
                </a:solidFill>
                <a:ea typeface="楷体_GB2312" charset="0"/>
              </a:rPr>
              <a:t> </a:t>
            </a:r>
            <a:r>
              <a:rPr lang="zh-CN" altLang="en-US" sz="3600">
                <a:solidFill>
                  <a:srgbClr val="A50021"/>
                </a:solidFill>
                <a:ea typeface="楷体_GB2312" charset="0"/>
              </a:rPr>
              <a:t>个关键字</a:t>
            </a:r>
            <a:r>
              <a:rPr lang="zh-CN" altLang="en-US" sz="3600" b="1">
                <a:solidFill>
                  <a:srgbClr val="FF0000"/>
                </a:solidFill>
                <a:ea typeface="楷体_GB2312" charset="0"/>
              </a:rPr>
              <a:t>大于</a:t>
            </a:r>
            <a:r>
              <a:rPr lang="zh-CN" altLang="en-US" sz="3600">
                <a:solidFill>
                  <a:srgbClr val="A50021"/>
                </a:solidFill>
                <a:ea typeface="楷体_GB2312" charset="0"/>
              </a:rPr>
              <a:t>第一个关键字</a:t>
            </a:r>
            <a:r>
              <a:rPr lang="en-US" altLang="zh-CN" sz="3600">
                <a:solidFill>
                  <a:srgbClr val="A50021"/>
                </a:solidFill>
                <a:ea typeface="楷体_GB2312" charset="0"/>
              </a:rPr>
              <a:t>,</a:t>
            </a:r>
            <a:r>
              <a:rPr lang="zh-CN" altLang="en-US" sz="3600">
                <a:solidFill>
                  <a:srgbClr val="A50021"/>
                </a:solidFill>
                <a:ea typeface="楷体_GB2312" charset="0"/>
              </a:rPr>
              <a:t>由它构造的二叉排序树：</a:t>
            </a:r>
            <a:endParaRPr lang="zh-CN" altLang="en-US" sz="3600">
              <a:solidFill>
                <a:srgbClr val="A50021"/>
              </a:solidFill>
            </a:endParaRPr>
          </a:p>
        </p:txBody>
      </p:sp>
      <p:sp>
        <p:nvSpPr>
          <p:cNvPr id="84997" name="Oval 5"/>
          <p:cNvSpPr>
            <a:spLocks noChangeArrowheads="1"/>
          </p:cNvSpPr>
          <p:nvPr/>
        </p:nvSpPr>
        <p:spPr bwMode="auto">
          <a:xfrm>
            <a:off x="4114800" y="3276600"/>
            <a:ext cx="685800" cy="533400"/>
          </a:xfrm>
          <a:prstGeom prst="ellipse">
            <a:avLst/>
          </a:prstGeom>
          <a:noFill/>
          <a:ln w="9525">
            <a:solidFill>
              <a:srgbClr val="A5002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5000" name="Oval 8"/>
          <p:cNvSpPr>
            <a:spLocks noChangeArrowheads="1"/>
          </p:cNvSpPr>
          <p:nvPr/>
        </p:nvSpPr>
        <p:spPr bwMode="auto">
          <a:xfrm>
            <a:off x="5181600" y="3962400"/>
            <a:ext cx="1295400" cy="609600"/>
          </a:xfrm>
          <a:prstGeom prst="ellipse">
            <a:avLst/>
          </a:prstGeom>
          <a:noFill/>
          <a:ln w="9525">
            <a:solidFill>
              <a:srgbClr val="A5002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i="1">
                <a:solidFill>
                  <a:srgbClr val="FF00FF"/>
                </a:solidFill>
              </a:rPr>
              <a:t>n-k-1</a:t>
            </a:r>
            <a:endParaRPr lang="en-US" altLang="zh-CN">
              <a:solidFill>
                <a:srgbClr val="FF00FF"/>
              </a:solidFill>
            </a:endParaRPr>
          </a:p>
        </p:txBody>
      </p:sp>
      <p:sp>
        <p:nvSpPr>
          <p:cNvPr id="85001" name="Line 9"/>
          <p:cNvSpPr>
            <a:spLocks noChangeShapeType="1"/>
          </p:cNvSpPr>
          <p:nvPr/>
        </p:nvSpPr>
        <p:spPr bwMode="auto">
          <a:xfrm>
            <a:off x="4800600" y="3581400"/>
            <a:ext cx="1066800" cy="381000"/>
          </a:xfrm>
          <a:prstGeom prst="line">
            <a:avLst/>
          </a:prstGeom>
          <a:noFill/>
          <a:ln w="9525">
            <a:solidFill>
              <a:srgbClr val="A5002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5005" name="Oval 13"/>
          <p:cNvSpPr>
            <a:spLocks noChangeArrowheads="1"/>
          </p:cNvSpPr>
          <p:nvPr/>
        </p:nvSpPr>
        <p:spPr bwMode="auto">
          <a:xfrm>
            <a:off x="2362200" y="3962400"/>
            <a:ext cx="1295400" cy="609600"/>
          </a:xfrm>
          <a:prstGeom prst="ellipse">
            <a:avLst/>
          </a:prstGeom>
          <a:noFill/>
          <a:ln w="9525">
            <a:solidFill>
              <a:srgbClr val="A5002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i="1">
                <a:solidFill>
                  <a:srgbClr val="FF00FF"/>
                </a:solidFill>
              </a:rPr>
              <a:t>k</a:t>
            </a:r>
            <a:endParaRPr lang="en-US" altLang="zh-CN" b="1" i="1">
              <a:solidFill>
                <a:srgbClr val="FF00FF"/>
              </a:solidFill>
            </a:endParaRPr>
          </a:p>
        </p:txBody>
      </p:sp>
      <p:sp>
        <p:nvSpPr>
          <p:cNvPr id="85006" name="Line 14"/>
          <p:cNvSpPr>
            <a:spLocks noChangeShapeType="1"/>
          </p:cNvSpPr>
          <p:nvPr/>
        </p:nvSpPr>
        <p:spPr bwMode="auto">
          <a:xfrm flipH="1">
            <a:off x="2971800" y="3581400"/>
            <a:ext cx="1143000" cy="381000"/>
          </a:xfrm>
          <a:prstGeom prst="line">
            <a:avLst/>
          </a:prstGeom>
          <a:noFill/>
          <a:ln w="9525">
            <a:solidFill>
              <a:srgbClr val="A5002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5007" name="Text Box 15"/>
          <p:cNvSpPr txBox="1">
            <a:spLocks noChangeArrowheads="1"/>
          </p:cNvSpPr>
          <p:nvPr/>
        </p:nvSpPr>
        <p:spPr bwMode="auto">
          <a:xfrm>
            <a:off x="152400" y="4921250"/>
            <a:ext cx="6559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A50021"/>
                </a:solidFill>
                <a:ea typeface="楷体_GB2312" charset="0"/>
              </a:rPr>
              <a:t>的平均查找长度是 </a:t>
            </a:r>
            <a:r>
              <a:rPr lang="en-US" altLang="zh-CN" sz="3600" i="1">
                <a:solidFill>
                  <a:srgbClr val="A50021"/>
                </a:solidFill>
                <a:ea typeface="楷体_GB2312" charset="0"/>
              </a:rPr>
              <a:t>n</a:t>
            </a:r>
            <a:r>
              <a:rPr lang="en-US" altLang="zh-CN" sz="3600">
                <a:solidFill>
                  <a:srgbClr val="A50021"/>
                </a:solidFill>
                <a:ea typeface="楷体_GB2312" charset="0"/>
              </a:rPr>
              <a:t> </a:t>
            </a:r>
            <a:r>
              <a:rPr lang="zh-CN" altLang="en-US" sz="3600">
                <a:solidFill>
                  <a:srgbClr val="A50021"/>
                </a:solidFill>
                <a:ea typeface="楷体_GB2312" charset="0"/>
              </a:rPr>
              <a:t>和 </a:t>
            </a:r>
            <a:r>
              <a:rPr lang="en-US" altLang="zh-CN" sz="3600" i="1">
                <a:solidFill>
                  <a:srgbClr val="A50021"/>
                </a:solidFill>
                <a:ea typeface="楷体_GB2312" charset="0"/>
              </a:rPr>
              <a:t>k </a:t>
            </a:r>
            <a:r>
              <a:rPr lang="zh-CN" altLang="en-US" sz="3600">
                <a:solidFill>
                  <a:srgbClr val="A50021"/>
                </a:solidFill>
                <a:ea typeface="楷体_GB2312" charset="0"/>
              </a:rPr>
              <a:t>的函数</a:t>
            </a:r>
            <a:endParaRPr lang="zh-CN" altLang="en-US">
              <a:solidFill>
                <a:srgbClr val="A50021"/>
              </a:solidFill>
            </a:endParaRPr>
          </a:p>
        </p:txBody>
      </p:sp>
      <p:sp>
        <p:nvSpPr>
          <p:cNvPr id="85009" name="Text Box 17"/>
          <p:cNvSpPr txBox="1">
            <a:spLocks noChangeArrowheads="1"/>
          </p:cNvSpPr>
          <p:nvPr/>
        </p:nvSpPr>
        <p:spPr bwMode="auto">
          <a:xfrm>
            <a:off x="2066925" y="5775325"/>
            <a:ext cx="56467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i="1">
                <a:solidFill>
                  <a:srgbClr val="FF0000"/>
                </a:solidFill>
              </a:rPr>
              <a:t>P(n, k)      ( 0</a:t>
            </a:r>
            <a:r>
              <a:rPr lang="en-US" altLang="zh-CN" sz="4000" b="1" i="1">
                <a:solidFill>
                  <a:srgbClr val="FF0000"/>
                </a:solidFill>
                <a:sym typeface="Symbol" charset="2"/>
              </a:rPr>
              <a:t> k  n-1 )</a:t>
            </a:r>
            <a:r>
              <a:rPr lang="zh-CN" altLang="en-US" sz="4000" b="1" i="1">
                <a:solidFill>
                  <a:srgbClr val="FF0000"/>
                </a:solidFill>
                <a:sym typeface="Symbol" charset="2"/>
              </a:rPr>
              <a:t>。</a:t>
            </a:r>
            <a:endParaRPr lang="zh-CN" altLang="en-US"/>
          </a:p>
        </p:txBody>
      </p:sp>
    </p:spTree>
    <p:extLst>
      <p:ext uri="{BB962C8B-B14F-4D97-AF65-F5344CB8AC3E}">
        <p14:creationId xmlns:p14="http://schemas.microsoft.com/office/powerpoint/2010/main" val="103825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4994"/>
                                        </p:tgtEl>
                                        <p:attrNameLst>
                                          <p:attrName>style.visibility</p:attrName>
                                        </p:attrNameLst>
                                      </p:cBhvr>
                                      <p:to>
                                        <p:strVal val="visible"/>
                                      </p:to>
                                    </p:set>
                                    <p:animEffect transition="in" filter="wipe(left)">
                                      <p:cBhvr>
                                        <p:cTn id="7" dur="500"/>
                                        <p:tgtEl>
                                          <p:spTgt spid="849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84995"/>
                                        </p:tgtEl>
                                        <p:attrNameLst>
                                          <p:attrName>style.visibility</p:attrName>
                                        </p:attrNameLst>
                                      </p:cBhvr>
                                      <p:to>
                                        <p:strVal val="visible"/>
                                      </p:to>
                                    </p:set>
                                    <p:animEffect transition="in" filter="strips(downRight)">
                                      <p:cBhvr>
                                        <p:cTn id="12" dur="500"/>
                                        <p:tgtEl>
                                          <p:spTgt spid="849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4997"/>
                                        </p:tgtEl>
                                        <p:attrNameLst>
                                          <p:attrName>style.visibility</p:attrName>
                                        </p:attrNameLst>
                                      </p:cBhvr>
                                      <p:to>
                                        <p:strVal val="visible"/>
                                      </p:to>
                                    </p:set>
                                    <p:animEffect transition="in" filter="wipe(up)">
                                      <p:cBhvr>
                                        <p:cTn id="17" dur="500"/>
                                        <p:tgtEl>
                                          <p:spTgt spid="849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5006"/>
                                        </p:tgtEl>
                                        <p:attrNameLst>
                                          <p:attrName>style.visibility</p:attrName>
                                        </p:attrNameLst>
                                      </p:cBhvr>
                                      <p:to>
                                        <p:strVal val="visible"/>
                                      </p:to>
                                    </p:set>
                                    <p:animEffect transition="in" filter="wipe(up)">
                                      <p:cBhvr>
                                        <p:cTn id="22" dur="500"/>
                                        <p:tgtEl>
                                          <p:spTgt spid="85006"/>
                                        </p:tgtEl>
                                      </p:cBhvr>
                                    </p:animEffect>
                                  </p:childTnLst>
                                </p:cTn>
                              </p:par>
                            </p:childTnLst>
                          </p:cTn>
                        </p:par>
                        <p:par>
                          <p:cTn id="23" fill="hold" nodeType="afterGroup">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85005"/>
                                        </p:tgtEl>
                                        <p:attrNameLst>
                                          <p:attrName>style.visibility</p:attrName>
                                        </p:attrNameLst>
                                      </p:cBhvr>
                                      <p:to>
                                        <p:strVal val="visible"/>
                                      </p:to>
                                    </p:set>
                                    <p:animEffect transition="in" filter="wipe(up)">
                                      <p:cBhvr>
                                        <p:cTn id="26" dur="500"/>
                                        <p:tgtEl>
                                          <p:spTgt spid="8500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85001"/>
                                        </p:tgtEl>
                                        <p:attrNameLst>
                                          <p:attrName>style.visibility</p:attrName>
                                        </p:attrNameLst>
                                      </p:cBhvr>
                                      <p:to>
                                        <p:strVal val="visible"/>
                                      </p:to>
                                    </p:set>
                                    <p:animEffect transition="in" filter="wipe(up)">
                                      <p:cBhvr>
                                        <p:cTn id="31" dur="500"/>
                                        <p:tgtEl>
                                          <p:spTgt spid="85001"/>
                                        </p:tgtEl>
                                      </p:cBhvr>
                                    </p:animEffect>
                                  </p:childTnLst>
                                </p:cTn>
                              </p:par>
                            </p:childTnLst>
                          </p:cTn>
                        </p:par>
                        <p:par>
                          <p:cTn id="32" fill="hold" nodeType="afterGroup">
                            <p:stCondLst>
                              <p:cond delay="500"/>
                            </p:stCondLst>
                            <p:childTnLst>
                              <p:par>
                                <p:cTn id="33" presetID="22" presetClass="entr" presetSubtype="1" fill="hold" grpId="0" nodeType="afterEffect">
                                  <p:stCondLst>
                                    <p:cond delay="0"/>
                                  </p:stCondLst>
                                  <p:childTnLst>
                                    <p:set>
                                      <p:cBhvr>
                                        <p:cTn id="34" dur="1" fill="hold">
                                          <p:stCondLst>
                                            <p:cond delay="0"/>
                                          </p:stCondLst>
                                        </p:cTn>
                                        <p:tgtEl>
                                          <p:spTgt spid="85000"/>
                                        </p:tgtEl>
                                        <p:attrNameLst>
                                          <p:attrName>style.visibility</p:attrName>
                                        </p:attrNameLst>
                                      </p:cBhvr>
                                      <p:to>
                                        <p:strVal val="visible"/>
                                      </p:to>
                                    </p:set>
                                    <p:animEffect transition="in" filter="wipe(up)">
                                      <p:cBhvr>
                                        <p:cTn id="35" dur="500"/>
                                        <p:tgtEl>
                                          <p:spTgt spid="8500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85007"/>
                                        </p:tgtEl>
                                        <p:attrNameLst>
                                          <p:attrName>style.visibility</p:attrName>
                                        </p:attrNameLst>
                                      </p:cBhvr>
                                      <p:to>
                                        <p:strVal val="visible"/>
                                      </p:to>
                                    </p:set>
                                    <p:animEffect transition="in" filter="wipe(left)">
                                      <p:cBhvr>
                                        <p:cTn id="40" dur="500"/>
                                        <p:tgtEl>
                                          <p:spTgt spid="8500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85009"/>
                                        </p:tgtEl>
                                        <p:attrNameLst>
                                          <p:attrName>style.visibility</p:attrName>
                                        </p:attrNameLst>
                                      </p:cBhvr>
                                      <p:to>
                                        <p:strVal val="visible"/>
                                      </p:to>
                                    </p:set>
                                    <p:animEffect transition="in" filter="wipe(left)">
                                      <p:cBhvr>
                                        <p:cTn id="45" dur="500"/>
                                        <p:tgtEl>
                                          <p:spTgt spid="85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4" grpId="0" autoUpdateAnimBg="0"/>
      <p:bldP spid="84995" grpId="0" autoUpdateAnimBg="0"/>
      <p:bldP spid="84997" grpId="0" animBg="1"/>
      <p:bldP spid="85000" grpId="0" animBg="1" autoUpdateAnimBg="0"/>
      <p:bldP spid="85001" grpId="0" animBg="1"/>
      <p:bldP spid="85005" grpId="0" animBg="1" autoUpdateAnimBg="0"/>
      <p:bldP spid="85006" grpId="0" animBg="1"/>
      <p:bldP spid="85007" grpId="0" autoUpdateAnimBg="0"/>
      <p:bldP spid="85009"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Text Box 2"/>
          <p:cNvSpPr txBox="1">
            <a:spLocks noChangeArrowheads="1"/>
          </p:cNvSpPr>
          <p:nvPr/>
        </p:nvSpPr>
        <p:spPr bwMode="auto">
          <a:xfrm>
            <a:off x="152400" y="228600"/>
            <a:ext cx="8458200" cy="206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3600">
                <a:latin typeface="楷体_GB2312" charset="0"/>
                <a:ea typeface="楷体_GB2312" charset="0"/>
              </a:rPr>
              <a:t> </a:t>
            </a:r>
            <a:r>
              <a:rPr lang="zh-CN" altLang="en-US" sz="3600">
                <a:solidFill>
                  <a:srgbClr val="A50021"/>
                </a:solidFill>
                <a:latin typeface="楷体_GB2312" charset="0"/>
                <a:ea typeface="楷体_GB2312" charset="0"/>
              </a:rPr>
              <a:t>假设 </a:t>
            </a:r>
            <a:r>
              <a:rPr lang="en-US" altLang="zh-CN" sz="3600" i="1">
                <a:solidFill>
                  <a:srgbClr val="A50021"/>
                </a:solidFill>
                <a:ea typeface="楷体_GB2312" charset="0"/>
              </a:rPr>
              <a:t>n </a:t>
            </a:r>
            <a:r>
              <a:rPr lang="zh-CN" altLang="en-US" sz="3600">
                <a:solidFill>
                  <a:srgbClr val="A50021"/>
                </a:solidFill>
                <a:latin typeface="楷体_GB2312" charset="0"/>
                <a:ea typeface="楷体_GB2312" charset="0"/>
              </a:rPr>
              <a:t>个关键字可能出现的 </a:t>
            </a:r>
            <a:r>
              <a:rPr lang="en-US" altLang="zh-CN" sz="3600" i="1">
                <a:solidFill>
                  <a:srgbClr val="A50021"/>
                </a:solidFill>
                <a:ea typeface="楷体_GB2312" charset="0"/>
              </a:rPr>
              <a:t>n! </a:t>
            </a:r>
            <a:r>
              <a:rPr lang="zh-CN" altLang="en-US" sz="3600">
                <a:solidFill>
                  <a:srgbClr val="A50021"/>
                </a:solidFill>
                <a:latin typeface="楷体_GB2312" charset="0"/>
                <a:ea typeface="楷体_GB2312" charset="0"/>
              </a:rPr>
              <a:t>种排列的可能性相同，则含 </a:t>
            </a:r>
            <a:r>
              <a:rPr lang="en-US" altLang="zh-CN" sz="3600" i="1">
                <a:solidFill>
                  <a:srgbClr val="A50021"/>
                </a:solidFill>
                <a:ea typeface="楷体_GB2312" charset="0"/>
              </a:rPr>
              <a:t>n </a:t>
            </a:r>
            <a:r>
              <a:rPr lang="zh-CN" altLang="en-US" sz="3600">
                <a:solidFill>
                  <a:srgbClr val="A50021"/>
                </a:solidFill>
                <a:latin typeface="楷体_GB2312" charset="0"/>
                <a:ea typeface="楷体_GB2312" charset="0"/>
              </a:rPr>
              <a:t>个关键字的二叉排序树的平均查找长度：</a:t>
            </a:r>
          </a:p>
        </p:txBody>
      </p:sp>
      <p:graphicFrame>
        <p:nvGraphicFramePr>
          <p:cNvPr id="182275" name="Object 3"/>
          <p:cNvGraphicFramePr>
            <a:graphicFrameLocks noChangeAspect="1"/>
          </p:cNvGraphicFramePr>
          <p:nvPr/>
        </p:nvGraphicFramePr>
        <p:xfrm>
          <a:off x="1108075" y="2501900"/>
          <a:ext cx="6172200" cy="1412875"/>
        </p:xfrm>
        <a:graphic>
          <a:graphicData uri="http://schemas.openxmlformats.org/presentationml/2006/ole">
            <mc:AlternateContent xmlns:mc="http://schemas.openxmlformats.org/markup-compatibility/2006">
              <mc:Choice xmlns:v="urn:schemas-microsoft-com:vml" Requires="v">
                <p:oleObj spid="_x0000_s1363971" name="公式" r:id="rId3" imgW="2082600" imgH="507960" progId="Equation.3">
                  <p:embed/>
                </p:oleObj>
              </mc:Choice>
              <mc:Fallback>
                <p:oleObj name="公式" r:id="rId3" imgW="2082600" imgH="5079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8075" y="2501900"/>
                        <a:ext cx="6172200" cy="141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82276" name="Object 4"/>
          <p:cNvGraphicFramePr>
            <a:graphicFrameLocks noChangeAspect="1"/>
          </p:cNvGraphicFramePr>
          <p:nvPr/>
        </p:nvGraphicFramePr>
        <p:xfrm>
          <a:off x="2057400" y="5029200"/>
          <a:ext cx="4406900" cy="1028700"/>
        </p:xfrm>
        <a:graphic>
          <a:graphicData uri="http://schemas.openxmlformats.org/presentationml/2006/ole">
            <mc:AlternateContent xmlns:mc="http://schemas.openxmlformats.org/markup-compatibility/2006">
              <mc:Choice xmlns:v="urn:schemas-microsoft-com:vml" Requires="v">
                <p:oleObj spid="_x0000_s1363972" name="公式" r:id="rId5" imgW="4406760" imgH="1028520" progId="Equation.3">
                  <p:embed/>
                </p:oleObj>
              </mc:Choice>
              <mc:Fallback>
                <p:oleObj name="公式" r:id="rId5" imgW="4406760" imgH="102852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5029200"/>
                        <a:ext cx="4406900"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82277" name="Text Box 5"/>
          <p:cNvSpPr txBox="1">
            <a:spLocks noChangeArrowheads="1"/>
          </p:cNvSpPr>
          <p:nvPr/>
        </p:nvSpPr>
        <p:spPr bwMode="auto">
          <a:xfrm>
            <a:off x="212725" y="405923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endParaRPr lang="zh-CN" altLang="zh-CN"/>
          </a:p>
        </p:txBody>
      </p:sp>
      <p:sp>
        <p:nvSpPr>
          <p:cNvPr id="182278" name="Text Box 6"/>
          <p:cNvSpPr txBox="1">
            <a:spLocks noChangeArrowheads="1"/>
          </p:cNvSpPr>
          <p:nvPr/>
        </p:nvSpPr>
        <p:spPr bwMode="auto">
          <a:xfrm>
            <a:off x="212725" y="4075113"/>
            <a:ext cx="52292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A50021"/>
                </a:solidFill>
                <a:latin typeface="楷体_GB2312" charset="0"/>
                <a:ea typeface="楷体_GB2312" charset="0"/>
              </a:rPr>
              <a:t>在</a:t>
            </a:r>
            <a:r>
              <a:rPr lang="zh-CN" altLang="en-US" sz="3600" b="1">
                <a:solidFill>
                  <a:srgbClr val="FF00FF"/>
                </a:solidFill>
                <a:latin typeface="楷体_GB2312" charset="0"/>
                <a:ea typeface="楷体_GB2312" charset="0"/>
              </a:rPr>
              <a:t>等概率查找</a:t>
            </a:r>
            <a:r>
              <a:rPr lang="zh-CN" altLang="en-US" sz="3600">
                <a:solidFill>
                  <a:srgbClr val="A50021"/>
                </a:solidFill>
                <a:latin typeface="楷体_GB2312" charset="0"/>
                <a:ea typeface="楷体_GB2312" charset="0"/>
              </a:rPr>
              <a:t>的情况下，</a:t>
            </a:r>
            <a:endParaRPr lang="zh-CN" altLang="en-US" sz="4000">
              <a:latin typeface="楷体_GB2312" charset="0"/>
              <a:ea typeface="楷体_GB2312" charset="0"/>
            </a:endParaRPr>
          </a:p>
        </p:txBody>
      </p:sp>
    </p:spTree>
    <p:extLst>
      <p:ext uri="{BB962C8B-B14F-4D97-AF65-F5344CB8AC3E}">
        <p14:creationId xmlns:p14="http://schemas.microsoft.com/office/powerpoint/2010/main" val="5533849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2274"/>
                                        </p:tgtEl>
                                        <p:attrNameLst>
                                          <p:attrName>style.visibility</p:attrName>
                                        </p:attrNameLst>
                                      </p:cBhvr>
                                      <p:to>
                                        <p:strVal val="visible"/>
                                      </p:to>
                                    </p:set>
                                    <p:animEffect transition="in" filter="wipe(left)">
                                      <p:cBhvr>
                                        <p:cTn id="7" dur="500"/>
                                        <p:tgtEl>
                                          <p:spTgt spid="18227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82275"/>
                                        </p:tgtEl>
                                        <p:attrNameLst>
                                          <p:attrName>style.visibility</p:attrName>
                                        </p:attrNameLst>
                                      </p:cBhvr>
                                      <p:to>
                                        <p:strVal val="visible"/>
                                      </p:to>
                                    </p:set>
                                    <p:animEffect transition="in" filter="wipe(left)">
                                      <p:cBhvr>
                                        <p:cTn id="11" dur="500"/>
                                        <p:tgtEl>
                                          <p:spTgt spid="18227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82278"/>
                                        </p:tgtEl>
                                        <p:attrNameLst>
                                          <p:attrName>style.visibility</p:attrName>
                                        </p:attrNameLst>
                                      </p:cBhvr>
                                      <p:to>
                                        <p:strVal val="visible"/>
                                      </p:to>
                                    </p:set>
                                    <p:animEffect transition="in" filter="wipe(left)">
                                      <p:cBhvr>
                                        <p:cTn id="16" dur="500"/>
                                        <p:tgtEl>
                                          <p:spTgt spid="18227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82276"/>
                                        </p:tgtEl>
                                        <p:attrNameLst>
                                          <p:attrName>style.visibility</p:attrName>
                                        </p:attrNameLst>
                                      </p:cBhvr>
                                      <p:to>
                                        <p:strVal val="visible"/>
                                      </p:to>
                                    </p:set>
                                    <p:animEffect transition="in" filter="wipe(left)">
                                      <p:cBhvr>
                                        <p:cTn id="21" dur="500"/>
                                        <p:tgtEl>
                                          <p:spTgt spid="182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4" grpId="0" autoUpdateAnimBg="0"/>
      <p:bldP spid="182278"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045" name="Object 5"/>
          <p:cNvGraphicFramePr>
            <a:graphicFrameLocks noChangeAspect="1"/>
          </p:cNvGraphicFramePr>
          <p:nvPr/>
        </p:nvGraphicFramePr>
        <p:xfrm>
          <a:off x="862013" y="927100"/>
          <a:ext cx="6453187" cy="977900"/>
        </p:xfrm>
        <a:graphic>
          <a:graphicData uri="http://schemas.openxmlformats.org/presentationml/2006/ole">
            <mc:AlternateContent xmlns:mc="http://schemas.openxmlformats.org/markup-compatibility/2006">
              <mc:Choice xmlns:v="urn:schemas-microsoft-com:vml" Requires="v">
                <p:oleObj spid="_x0000_s1364996" name="公式" r:id="rId3" imgW="6451560" imgH="977760" progId="Equation.3">
                  <p:embed/>
                </p:oleObj>
              </mc:Choice>
              <mc:Fallback>
                <p:oleObj name="公式" r:id="rId3" imgW="6451560" imgH="9777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013" y="927100"/>
                        <a:ext cx="6453187"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87046" name="Object 6"/>
          <p:cNvGraphicFramePr>
            <a:graphicFrameLocks noChangeAspect="1"/>
          </p:cNvGraphicFramePr>
          <p:nvPr/>
        </p:nvGraphicFramePr>
        <p:xfrm>
          <a:off x="862013" y="2616200"/>
          <a:ext cx="7672387" cy="889000"/>
        </p:xfrm>
        <a:graphic>
          <a:graphicData uri="http://schemas.openxmlformats.org/presentationml/2006/ole">
            <mc:AlternateContent xmlns:mc="http://schemas.openxmlformats.org/markup-compatibility/2006">
              <mc:Choice xmlns:v="urn:schemas-microsoft-com:vml" Requires="v">
                <p:oleObj spid="_x0000_s1364997" name="公式" r:id="rId5" imgW="7670520" imgH="888840" progId="Equation.3">
                  <p:embed/>
                </p:oleObj>
              </mc:Choice>
              <mc:Fallback>
                <p:oleObj name="公式" r:id="rId5" imgW="7670520" imgH="8888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2013" y="2616200"/>
                        <a:ext cx="7672387"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87047" name="Object 7"/>
          <p:cNvGraphicFramePr>
            <a:graphicFrameLocks noChangeAspect="1"/>
          </p:cNvGraphicFramePr>
          <p:nvPr/>
        </p:nvGraphicFramePr>
        <p:xfrm>
          <a:off x="838200" y="4140200"/>
          <a:ext cx="6719888" cy="889000"/>
        </p:xfrm>
        <a:graphic>
          <a:graphicData uri="http://schemas.openxmlformats.org/presentationml/2006/ole">
            <mc:AlternateContent xmlns:mc="http://schemas.openxmlformats.org/markup-compatibility/2006">
              <mc:Choice xmlns:v="urn:schemas-microsoft-com:vml" Requires="v">
                <p:oleObj spid="_x0000_s1364998" name="公式" r:id="rId7" imgW="6717960" imgH="888840" progId="Equation.3">
                  <p:embed/>
                </p:oleObj>
              </mc:Choice>
              <mc:Fallback>
                <p:oleObj name="公式" r:id="rId7" imgW="6717960" imgH="8888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4140200"/>
                        <a:ext cx="6719888"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56303932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87045"/>
                                        </p:tgtEl>
                                        <p:attrNameLst>
                                          <p:attrName>style.visibility</p:attrName>
                                        </p:attrNameLst>
                                      </p:cBhvr>
                                      <p:to>
                                        <p:strVal val="visible"/>
                                      </p:to>
                                    </p:set>
                                    <p:animEffect transition="in" filter="wipe(left)">
                                      <p:cBhvr>
                                        <p:cTn id="7" dur="500"/>
                                        <p:tgtEl>
                                          <p:spTgt spid="870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7046"/>
                                        </p:tgtEl>
                                        <p:attrNameLst>
                                          <p:attrName>style.visibility</p:attrName>
                                        </p:attrNameLst>
                                      </p:cBhvr>
                                      <p:to>
                                        <p:strVal val="visible"/>
                                      </p:to>
                                    </p:set>
                                    <p:animEffect transition="in" filter="wipe(left)">
                                      <p:cBhvr>
                                        <p:cTn id="12" dur="500"/>
                                        <p:tgtEl>
                                          <p:spTgt spid="870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7047"/>
                                        </p:tgtEl>
                                        <p:attrNameLst>
                                          <p:attrName>style.visibility</p:attrName>
                                        </p:attrNameLst>
                                      </p:cBhvr>
                                      <p:to>
                                        <p:strVal val="visible"/>
                                      </p:to>
                                    </p:set>
                                    <p:animEffect transition="in" filter="wipe(left)">
                                      <p:cBhvr>
                                        <p:cTn id="17" dur="500"/>
                                        <p:tgtEl>
                                          <p:spTgt spid="870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Text Box 4"/>
          <p:cNvSpPr txBox="1">
            <a:spLocks noChangeArrowheads="1"/>
          </p:cNvSpPr>
          <p:nvPr/>
        </p:nvSpPr>
        <p:spPr bwMode="auto">
          <a:xfrm>
            <a:off x="517525" y="420688"/>
            <a:ext cx="120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a:solidFill>
                  <a:srgbClr val="CC3300"/>
                </a:solidFill>
                <a:ea typeface="隶书" charset="0"/>
              </a:rPr>
              <a:t>由此</a:t>
            </a:r>
          </a:p>
        </p:txBody>
      </p:sp>
      <p:sp>
        <p:nvSpPr>
          <p:cNvPr id="88069" name="Text Box 5"/>
          <p:cNvSpPr txBox="1">
            <a:spLocks noChangeArrowheads="1"/>
          </p:cNvSpPr>
          <p:nvPr/>
        </p:nvSpPr>
        <p:spPr bwMode="auto">
          <a:xfrm>
            <a:off x="228600" y="3886200"/>
            <a:ext cx="841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A50021"/>
                </a:solidFill>
                <a:ea typeface="楷体_GB2312" charset="0"/>
              </a:rPr>
              <a:t>可类似于解差分方程，此递归方程有解：</a:t>
            </a:r>
            <a:endParaRPr lang="zh-CN" altLang="en-US"/>
          </a:p>
        </p:txBody>
      </p:sp>
      <p:graphicFrame>
        <p:nvGraphicFramePr>
          <p:cNvPr id="88070" name="Object 6"/>
          <p:cNvGraphicFramePr>
            <a:graphicFrameLocks noChangeAspect="1"/>
          </p:cNvGraphicFramePr>
          <p:nvPr/>
        </p:nvGraphicFramePr>
        <p:xfrm>
          <a:off x="1143000" y="4876800"/>
          <a:ext cx="4343400" cy="1187450"/>
        </p:xfrm>
        <a:graphic>
          <a:graphicData uri="http://schemas.openxmlformats.org/presentationml/2006/ole">
            <mc:AlternateContent xmlns:mc="http://schemas.openxmlformats.org/markup-compatibility/2006">
              <mc:Choice xmlns:v="urn:schemas-microsoft-com:vml" Requires="v">
                <p:oleObj spid="_x0000_s1366020" name="文档" r:id="rId3" imgW="1440720" imgH="393840" progId="Word.Document.8">
                  <p:embed/>
                </p:oleObj>
              </mc:Choice>
              <mc:Fallback>
                <p:oleObj name="文档" r:id="rId3" imgW="1440720" imgH="39384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4876800"/>
                        <a:ext cx="4343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88072" name="Object 8"/>
          <p:cNvGraphicFramePr>
            <a:graphicFrameLocks noChangeAspect="1"/>
          </p:cNvGraphicFramePr>
          <p:nvPr/>
        </p:nvGraphicFramePr>
        <p:xfrm>
          <a:off x="366713" y="1270000"/>
          <a:ext cx="8624887" cy="1016000"/>
        </p:xfrm>
        <a:graphic>
          <a:graphicData uri="http://schemas.openxmlformats.org/presentationml/2006/ole">
            <mc:AlternateContent xmlns:mc="http://schemas.openxmlformats.org/markup-compatibility/2006">
              <mc:Choice xmlns:v="urn:schemas-microsoft-com:vml" Requires="v">
                <p:oleObj spid="_x0000_s1366021" name="公式" r:id="rId5" imgW="8623080" imgH="1015920" progId="Equation.3">
                  <p:embed/>
                </p:oleObj>
              </mc:Choice>
              <mc:Fallback>
                <p:oleObj name="公式" r:id="rId5" imgW="8623080" imgH="101592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6713" y="1270000"/>
                        <a:ext cx="8624887"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88073" name="Object 9"/>
          <p:cNvGraphicFramePr>
            <a:graphicFrameLocks noChangeAspect="1"/>
          </p:cNvGraphicFramePr>
          <p:nvPr/>
        </p:nvGraphicFramePr>
        <p:xfrm>
          <a:off x="1219200" y="2489200"/>
          <a:ext cx="3175000" cy="939800"/>
        </p:xfrm>
        <a:graphic>
          <a:graphicData uri="http://schemas.openxmlformats.org/presentationml/2006/ole">
            <mc:AlternateContent xmlns:mc="http://schemas.openxmlformats.org/markup-compatibility/2006">
              <mc:Choice xmlns:v="urn:schemas-microsoft-com:vml" Requires="v">
                <p:oleObj spid="_x0000_s1366022" name="公式" r:id="rId7" imgW="3174840" imgH="939600" progId="Equation.3">
                  <p:embed/>
                </p:oleObj>
              </mc:Choice>
              <mc:Fallback>
                <p:oleObj name="公式" r:id="rId7" imgW="3174840" imgH="939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2489200"/>
                        <a:ext cx="31750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88074" name="AutoShape 10">
            <a:hlinkClick r:id="rId9" action="ppaction://hlinksldjump" highlightClick="1"/>
          </p:cNvPr>
          <p:cNvSpPr>
            <a:spLocks noChangeArrowheads="1"/>
          </p:cNvSpPr>
          <p:nvPr/>
        </p:nvSpPr>
        <p:spPr bwMode="auto">
          <a:xfrm>
            <a:off x="83820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0048877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8068"/>
                                        </p:tgtEl>
                                        <p:attrNameLst>
                                          <p:attrName>style.visibility</p:attrName>
                                        </p:attrNameLst>
                                      </p:cBhvr>
                                      <p:to>
                                        <p:strVal val="visible"/>
                                      </p:to>
                                    </p:set>
                                    <p:anim calcmode="lin" valueType="num">
                                      <p:cBhvr additive="base">
                                        <p:cTn id="7" dur="500" fill="hold"/>
                                        <p:tgtEl>
                                          <p:spTgt spid="88068"/>
                                        </p:tgtEl>
                                        <p:attrNameLst>
                                          <p:attrName>ppt_x</p:attrName>
                                        </p:attrNameLst>
                                      </p:cBhvr>
                                      <p:tavLst>
                                        <p:tav tm="0">
                                          <p:val>
                                            <p:strVal val="0-#ppt_w/2"/>
                                          </p:val>
                                        </p:tav>
                                        <p:tav tm="100000">
                                          <p:val>
                                            <p:strVal val="#ppt_x"/>
                                          </p:val>
                                        </p:tav>
                                      </p:tavLst>
                                    </p:anim>
                                    <p:anim calcmode="lin" valueType="num">
                                      <p:cBhvr additive="base">
                                        <p:cTn id="8" dur="500" fill="hold"/>
                                        <p:tgtEl>
                                          <p:spTgt spid="8806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88072"/>
                                        </p:tgtEl>
                                        <p:attrNameLst>
                                          <p:attrName>style.visibility</p:attrName>
                                        </p:attrNameLst>
                                      </p:cBhvr>
                                      <p:to>
                                        <p:strVal val="visible"/>
                                      </p:to>
                                    </p:set>
                                    <p:animEffect transition="in" filter="wipe(left)">
                                      <p:cBhvr>
                                        <p:cTn id="13" dur="500"/>
                                        <p:tgtEl>
                                          <p:spTgt spid="8807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88073"/>
                                        </p:tgtEl>
                                        <p:attrNameLst>
                                          <p:attrName>style.visibility</p:attrName>
                                        </p:attrNameLst>
                                      </p:cBhvr>
                                      <p:to>
                                        <p:strVal val="visible"/>
                                      </p:to>
                                    </p:set>
                                    <p:animEffect transition="in" filter="wipe(left)">
                                      <p:cBhvr>
                                        <p:cTn id="18" dur="500"/>
                                        <p:tgtEl>
                                          <p:spTgt spid="8807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8069"/>
                                        </p:tgtEl>
                                        <p:attrNameLst>
                                          <p:attrName>style.visibility</p:attrName>
                                        </p:attrNameLst>
                                      </p:cBhvr>
                                      <p:to>
                                        <p:strVal val="visible"/>
                                      </p:to>
                                    </p:set>
                                    <p:animEffect transition="in" filter="wipe(left)">
                                      <p:cBhvr>
                                        <p:cTn id="23" dur="500"/>
                                        <p:tgtEl>
                                          <p:spTgt spid="8806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88070"/>
                                        </p:tgtEl>
                                        <p:attrNameLst>
                                          <p:attrName>style.visibility</p:attrName>
                                        </p:attrNameLst>
                                      </p:cBhvr>
                                      <p:to>
                                        <p:strVal val="visible"/>
                                      </p:to>
                                    </p:set>
                                    <p:animEffect transition="in" filter="wipe(left)">
                                      <p:cBhvr>
                                        <p:cTn id="28" dur="500"/>
                                        <p:tgtEl>
                                          <p:spTgt spid="88070"/>
                                        </p:tgtEl>
                                      </p:cBhvr>
                                    </p:animEffect>
                                  </p:childTnLst>
                                </p:cTn>
                              </p:par>
                            </p:childTnLst>
                          </p:cTn>
                        </p:par>
                        <p:par>
                          <p:cTn id="29" fill="hold" nodeType="afterGroup">
                            <p:stCondLst>
                              <p:cond delay="500"/>
                            </p:stCondLst>
                            <p:childTnLst>
                              <p:par>
                                <p:cTn id="30" presetID="2" presetClass="entr" presetSubtype="6" fill="hold" grpId="0" nodeType="afterEffect">
                                  <p:stCondLst>
                                    <p:cond delay="0"/>
                                  </p:stCondLst>
                                  <p:childTnLst>
                                    <p:set>
                                      <p:cBhvr>
                                        <p:cTn id="31" dur="1" fill="hold">
                                          <p:stCondLst>
                                            <p:cond delay="0"/>
                                          </p:stCondLst>
                                        </p:cTn>
                                        <p:tgtEl>
                                          <p:spTgt spid="88074"/>
                                        </p:tgtEl>
                                        <p:attrNameLst>
                                          <p:attrName>style.visibility</p:attrName>
                                        </p:attrNameLst>
                                      </p:cBhvr>
                                      <p:to>
                                        <p:strVal val="visible"/>
                                      </p:to>
                                    </p:set>
                                    <p:anim calcmode="lin" valueType="num">
                                      <p:cBhvr additive="base">
                                        <p:cTn id="32" dur="500" fill="hold"/>
                                        <p:tgtEl>
                                          <p:spTgt spid="88074"/>
                                        </p:tgtEl>
                                        <p:attrNameLst>
                                          <p:attrName>ppt_x</p:attrName>
                                        </p:attrNameLst>
                                      </p:cBhvr>
                                      <p:tavLst>
                                        <p:tav tm="0">
                                          <p:val>
                                            <p:strVal val="1+#ppt_w/2"/>
                                          </p:val>
                                        </p:tav>
                                        <p:tav tm="100000">
                                          <p:val>
                                            <p:strVal val="#ppt_x"/>
                                          </p:val>
                                        </p:tav>
                                      </p:tavLst>
                                    </p:anim>
                                    <p:anim calcmode="lin" valueType="num">
                                      <p:cBhvr additive="base">
                                        <p:cTn id="33" dur="500" fill="hold"/>
                                        <p:tgtEl>
                                          <p:spTgt spid="880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autoUpdateAnimBg="0"/>
      <p:bldP spid="88069" grpId="0" autoUpdateAnimBg="0"/>
      <p:bldP spid="88074" grpId="0" animBg="1"/>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r>
              <a:rPr lang="zh-CN" altLang="en-US" sz="6000" b="1">
                <a:solidFill>
                  <a:schemeClr val="accent2"/>
                </a:solidFill>
              </a:rPr>
              <a:t>二、二叉平衡树</a:t>
            </a:r>
            <a:endParaRPr lang="zh-CN" altLang="en-US"/>
          </a:p>
        </p:txBody>
      </p:sp>
      <p:sp>
        <p:nvSpPr>
          <p:cNvPr id="203779" name="Rectangle 3"/>
          <p:cNvSpPr>
            <a:spLocks noGrp="1" noChangeArrowheads="1"/>
          </p:cNvSpPr>
          <p:nvPr>
            <p:ph type="body" idx="1"/>
          </p:nvPr>
        </p:nvSpPr>
        <p:spPr>
          <a:xfrm>
            <a:off x="1600200" y="2438400"/>
            <a:ext cx="6324600" cy="762000"/>
          </a:xfrm>
        </p:spPr>
        <p:txBody>
          <a:bodyPr/>
          <a:lstStyle/>
          <a:p>
            <a:r>
              <a:rPr lang="zh-CN" altLang="en-US" sz="4000" b="1">
                <a:solidFill>
                  <a:srgbClr val="3333FF"/>
                </a:solidFill>
                <a:ea typeface="楷体_GB2312" charset="0"/>
              </a:rPr>
              <a:t>何谓“二叉平衡树”？</a:t>
            </a:r>
          </a:p>
        </p:txBody>
      </p:sp>
      <p:sp>
        <p:nvSpPr>
          <p:cNvPr id="203781" name="Rectangle 5"/>
          <p:cNvSpPr>
            <a:spLocks noChangeArrowheads="1"/>
          </p:cNvSpPr>
          <p:nvPr/>
        </p:nvSpPr>
        <p:spPr bwMode="auto">
          <a:xfrm>
            <a:off x="1600200" y="5029200"/>
            <a:ext cx="6858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spcBef>
                <a:spcPct val="20000"/>
              </a:spcBef>
              <a:buChar char="•"/>
              <a:defRPr kumimoji="1" sz="3200">
                <a:solidFill>
                  <a:schemeClr val="tx1"/>
                </a:solidFill>
                <a:latin typeface="Times New Roman" charset="0"/>
                <a:ea typeface="宋体" charset="-122"/>
              </a:defRPr>
            </a:lvl1pPr>
            <a:lvl2pPr marL="742950" indent="-285750">
              <a:spcBef>
                <a:spcPct val="20000"/>
              </a:spcBef>
              <a:buChar char="–"/>
              <a:defRPr kumimoji="1" sz="2800">
                <a:solidFill>
                  <a:schemeClr val="tx1"/>
                </a:solidFill>
                <a:latin typeface="Times New Roman" charset="0"/>
                <a:ea typeface="宋体" charset="-122"/>
              </a:defRPr>
            </a:lvl2pPr>
            <a:lvl3pPr marL="1143000" indent="-228600">
              <a:spcBef>
                <a:spcPct val="20000"/>
              </a:spcBef>
              <a:buChar char="•"/>
              <a:defRPr kumimoji="1" sz="2400">
                <a:solidFill>
                  <a:schemeClr val="tx1"/>
                </a:solidFill>
                <a:latin typeface="Times New Roman" charset="0"/>
                <a:ea typeface="宋体" charset="-122"/>
              </a:defRPr>
            </a:lvl3pPr>
            <a:lvl4pPr marL="1600200" indent="-228600">
              <a:spcBef>
                <a:spcPct val="20000"/>
              </a:spcBef>
              <a:buChar char="–"/>
              <a:defRPr kumimoji="1" sz="2000">
                <a:solidFill>
                  <a:schemeClr val="tx1"/>
                </a:solidFill>
                <a:latin typeface="Times New Roman" charset="0"/>
                <a:ea typeface="宋体" charset="-122"/>
              </a:defRPr>
            </a:lvl4pPr>
            <a:lvl5pPr marL="2057400" indent="-228600">
              <a:spcBef>
                <a:spcPct val="20000"/>
              </a:spcBef>
              <a:buChar char="»"/>
              <a:defRPr kumimoji="1" sz="2000">
                <a:solidFill>
                  <a:schemeClr val="tx1"/>
                </a:solidFill>
                <a:latin typeface="Times New Roman" charset="0"/>
                <a:ea typeface="宋体" charset="-122"/>
              </a:defRPr>
            </a:lvl5pPr>
            <a:lvl6pPr marL="2514600" indent="-228600" fontAlgn="base">
              <a:spcBef>
                <a:spcPct val="20000"/>
              </a:spcBef>
              <a:spcAft>
                <a:spcPct val="0"/>
              </a:spcAft>
              <a:buChar char="»"/>
              <a:defRPr kumimoji="1" sz="2000">
                <a:solidFill>
                  <a:schemeClr val="tx1"/>
                </a:solidFill>
                <a:latin typeface="Times New Roman" charset="0"/>
                <a:ea typeface="宋体" charset="-122"/>
              </a:defRPr>
            </a:lvl6pPr>
            <a:lvl7pPr marL="2971800" indent="-228600" fontAlgn="base">
              <a:spcBef>
                <a:spcPct val="20000"/>
              </a:spcBef>
              <a:spcAft>
                <a:spcPct val="0"/>
              </a:spcAft>
              <a:buChar char="»"/>
              <a:defRPr kumimoji="1" sz="2000">
                <a:solidFill>
                  <a:schemeClr val="tx1"/>
                </a:solidFill>
                <a:latin typeface="Times New Roman" charset="0"/>
                <a:ea typeface="宋体" charset="-122"/>
              </a:defRPr>
            </a:lvl7pPr>
            <a:lvl8pPr marL="3429000" indent="-228600" fontAlgn="base">
              <a:spcBef>
                <a:spcPct val="20000"/>
              </a:spcBef>
              <a:spcAft>
                <a:spcPct val="0"/>
              </a:spcAft>
              <a:buChar char="»"/>
              <a:defRPr kumimoji="1" sz="2000">
                <a:solidFill>
                  <a:schemeClr val="tx1"/>
                </a:solidFill>
                <a:latin typeface="Times New Roman" charset="0"/>
                <a:ea typeface="宋体" charset="-122"/>
              </a:defRPr>
            </a:lvl8pPr>
            <a:lvl9pPr marL="3886200" indent="-228600" fontAlgn="base">
              <a:spcBef>
                <a:spcPct val="20000"/>
              </a:spcBef>
              <a:spcAft>
                <a:spcPct val="0"/>
              </a:spcAft>
              <a:buChar char="»"/>
              <a:defRPr kumimoji="1" sz="2000">
                <a:solidFill>
                  <a:schemeClr val="tx1"/>
                </a:solidFill>
                <a:latin typeface="Times New Roman" charset="0"/>
                <a:ea typeface="宋体" charset="-122"/>
              </a:defRPr>
            </a:lvl9pPr>
          </a:lstStyle>
          <a:p>
            <a:r>
              <a:rPr lang="zh-CN" altLang="en-US" sz="4000" b="1">
                <a:solidFill>
                  <a:srgbClr val="3333FF"/>
                </a:solidFill>
                <a:ea typeface="楷体_GB2312" charset="0"/>
              </a:rPr>
              <a:t>二叉平衡树的查找性能分析</a:t>
            </a:r>
          </a:p>
        </p:txBody>
      </p:sp>
      <p:sp>
        <p:nvSpPr>
          <p:cNvPr id="203783" name="Rectangle 7"/>
          <p:cNvSpPr>
            <a:spLocks noChangeArrowheads="1"/>
          </p:cNvSpPr>
          <p:nvPr/>
        </p:nvSpPr>
        <p:spPr bwMode="auto">
          <a:xfrm>
            <a:off x="1600200" y="3733800"/>
            <a:ext cx="6858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spcBef>
                <a:spcPct val="20000"/>
              </a:spcBef>
              <a:buChar char="•"/>
              <a:defRPr kumimoji="1" sz="3200">
                <a:solidFill>
                  <a:schemeClr val="tx1"/>
                </a:solidFill>
                <a:latin typeface="Times New Roman" charset="0"/>
                <a:ea typeface="宋体" charset="-122"/>
              </a:defRPr>
            </a:lvl1pPr>
            <a:lvl2pPr marL="742950" indent="-285750">
              <a:spcBef>
                <a:spcPct val="20000"/>
              </a:spcBef>
              <a:buChar char="–"/>
              <a:defRPr kumimoji="1" sz="2800">
                <a:solidFill>
                  <a:schemeClr val="tx1"/>
                </a:solidFill>
                <a:latin typeface="Times New Roman" charset="0"/>
                <a:ea typeface="宋体" charset="-122"/>
              </a:defRPr>
            </a:lvl2pPr>
            <a:lvl3pPr marL="1143000" indent="-228600">
              <a:spcBef>
                <a:spcPct val="20000"/>
              </a:spcBef>
              <a:buChar char="•"/>
              <a:defRPr kumimoji="1" sz="2400">
                <a:solidFill>
                  <a:schemeClr val="tx1"/>
                </a:solidFill>
                <a:latin typeface="Times New Roman" charset="0"/>
                <a:ea typeface="宋体" charset="-122"/>
              </a:defRPr>
            </a:lvl3pPr>
            <a:lvl4pPr marL="1600200" indent="-228600">
              <a:spcBef>
                <a:spcPct val="20000"/>
              </a:spcBef>
              <a:buChar char="–"/>
              <a:defRPr kumimoji="1" sz="2000">
                <a:solidFill>
                  <a:schemeClr val="tx1"/>
                </a:solidFill>
                <a:latin typeface="Times New Roman" charset="0"/>
                <a:ea typeface="宋体" charset="-122"/>
              </a:defRPr>
            </a:lvl4pPr>
            <a:lvl5pPr marL="2057400" indent="-228600">
              <a:spcBef>
                <a:spcPct val="20000"/>
              </a:spcBef>
              <a:buChar char="»"/>
              <a:defRPr kumimoji="1" sz="2000">
                <a:solidFill>
                  <a:schemeClr val="tx1"/>
                </a:solidFill>
                <a:latin typeface="Times New Roman" charset="0"/>
                <a:ea typeface="宋体" charset="-122"/>
              </a:defRPr>
            </a:lvl5pPr>
            <a:lvl6pPr marL="2514600" indent="-228600" fontAlgn="base">
              <a:spcBef>
                <a:spcPct val="20000"/>
              </a:spcBef>
              <a:spcAft>
                <a:spcPct val="0"/>
              </a:spcAft>
              <a:buChar char="»"/>
              <a:defRPr kumimoji="1" sz="2000">
                <a:solidFill>
                  <a:schemeClr val="tx1"/>
                </a:solidFill>
                <a:latin typeface="Times New Roman" charset="0"/>
                <a:ea typeface="宋体" charset="-122"/>
              </a:defRPr>
            </a:lvl6pPr>
            <a:lvl7pPr marL="2971800" indent="-228600" fontAlgn="base">
              <a:spcBef>
                <a:spcPct val="20000"/>
              </a:spcBef>
              <a:spcAft>
                <a:spcPct val="0"/>
              </a:spcAft>
              <a:buChar char="»"/>
              <a:defRPr kumimoji="1" sz="2000">
                <a:solidFill>
                  <a:schemeClr val="tx1"/>
                </a:solidFill>
                <a:latin typeface="Times New Roman" charset="0"/>
                <a:ea typeface="宋体" charset="-122"/>
              </a:defRPr>
            </a:lvl7pPr>
            <a:lvl8pPr marL="3429000" indent="-228600" fontAlgn="base">
              <a:spcBef>
                <a:spcPct val="20000"/>
              </a:spcBef>
              <a:spcAft>
                <a:spcPct val="0"/>
              </a:spcAft>
              <a:buChar char="»"/>
              <a:defRPr kumimoji="1" sz="2000">
                <a:solidFill>
                  <a:schemeClr val="tx1"/>
                </a:solidFill>
                <a:latin typeface="Times New Roman" charset="0"/>
                <a:ea typeface="宋体" charset="-122"/>
              </a:defRPr>
            </a:lvl8pPr>
            <a:lvl9pPr marL="3886200" indent="-228600" fontAlgn="base">
              <a:spcBef>
                <a:spcPct val="20000"/>
              </a:spcBef>
              <a:spcAft>
                <a:spcPct val="0"/>
              </a:spcAft>
              <a:buChar char="»"/>
              <a:defRPr kumimoji="1" sz="2000">
                <a:solidFill>
                  <a:schemeClr val="tx1"/>
                </a:solidFill>
                <a:latin typeface="Times New Roman" charset="0"/>
                <a:ea typeface="宋体" charset="-122"/>
              </a:defRPr>
            </a:lvl9pPr>
          </a:lstStyle>
          <a:p>
            <a:r>
              <a:rPr lang="zh-CN" altLang="en-US" sz="4000" b="1">
                <a:solidFill>
                  <a:srgbClr val="3333FF"/>
                </a:solidFill>
                <a:ea typeface="楷体_GB2312" charset="0"/>
              </a:rPr>
              <a:t>如何构造“二叉平衡树”</a:t>
            </a:r>
          </a:p>
        </p:txBody>
      </p:sp>
      <p:sp>
        <p:nvSpPr>
          <p:cNvPr id="203784" name="Rectangle 8">
            <a:hlinkClick r:id="" action="ppaction://hlinkshowjump?jump=nextslide"/>
          </p:cNvPr>
          <p:cNvSpPr>
            <a:spLocks noChangeArrowheads="1"/>
          </p:cNvSpPr>
          <p:nvPr/>
        </p:nvSpPr>
        <p:spPr bwMode="auto">
          <a:xfrm>
            <a:off x="1981200" y="2514600"/>
            <a:ext cx="5105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3785" name="Rectangle 9">
            <a:hlinkClick r:id="rId2" action="ppaction://hlinksldjump"/>
          </p:cNvPr>
          <p:cNvSpPr>
            <a:spLocks noChangeArrowheads="1"/>
          </p:cNvSpPr>
          <p:nvPr/>
        </p:nvSpPr>
        <p:spPr bwMode="auto">
          <a:xfrm>
            <a:off x="1981200" y="3733800"/>
            <a:ext cx="5562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3786" name="Rectangle 10">
            <a:hlinkClick r:id="rId3" action="ppaction://hlinksldjump"/>
          </p:cNvPr>
          <p:cNvSpPr>
            <a:spLocks noChangeArrowheads="1"/>
          </p:cNvSpPr>
          <p:nvPr/>
        </p:nvSpPr>
        <p:spPr bwMode="auto">
          <a:xfrm>
            <a:off x="1981200" y="5105400"/>
            <a:ext cx="6324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3788" name="AutoShape 12">
            <a:hlinkClick r:id="rId4" action="ppaction://hlinksldjump" highlightClick="1"/>
          </p:cNvPr>
          <p:cNvSpPr>
            <a:spLocks noChangeArrowheads="1"/>
          </p:cNvSpPr>
          <p:nvPr/>
        </p:nvSpPr>
        <p:spPr bwMode="auto">
          <a:xfrm>
            <a:off x="83058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51614844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03778"/>
                                        </p:tgtEl>
                                        <p:attrNameLst>
                                          <p:attrName>style.visibility</p:attrName>
                                        </p:attrNameLst>
                                      </p:cBhvr>
                                      <p:to>
                                        <p:strVal val="visible"/>
                                      </p:to>
                                    </p:set>
                                    <p:animEffect transition="in" filter="checkerboard(across)">
                                      <p:cBhvr>
                                        <p:cTn id="7" dur="500"/>
                                        <p:tgtEl>
                                          <p:spTgt spid="2037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203779">
                                            <p:txEl>
                                              <p:pRg st="0" end="0"/>
                                            </p:txEl>
                                          </p:spTgt>
                                        </p:tgtEl>
                                        <p:attrNameLst>
                                          <p:attrName>style.visibility</p:attrName>
                                        </p:attrNameLst>
                                      </p:cBhvr>
                                      <p:to>
                                        <p:strVal val="visible"/>
                                      </p:to>
                                    </p:set>
                                    <p:animEffect transition="in" filter="slide(fromLeft)">
                                      <p:cBhvr>
                                        <p:cTn id="12" dur="500"/>
                                        <p:tgtEl>
                                          <p:spTgt spid="203779">
                                            <p:txEl>
                                              <p:pRg st="0" end="0"/>
                                            </p:txEl>
                                          </p:spTgt>
                                        </p:tgtEl>
                                      </p:cBhvr>
                                    </p:animEffect>
                                  </p:childTnLst>
                                </p:cTn>
                              </p:par>
                            </p:childTnLst>
                          </p:cTn>
                        </p:par>
                        <p:par>
                          <p:cTn id="13" fill="hold" nodeType="afterGroup">
                            <p:stCondLst>
                              <p:cond delay="500"/>
                            </p:stCondLst>
                            <p:childTnLst>
                              <p:par>
                                <p:cTn id="14" presetID="12" presetClass="entr" presetSubtype="8" fill="hold" grpId="0" nodeType="afterEffect">
                                  <p:stCondLst>
                                    <p:cond delay="0"/>
                                  </p:stCondLst>
                                  <p:childTnLst>
                                    <p:set>
                                      <p:cBhvr>
                                        <p:cTn id="15" dur="1" fill="hold">
                                          <p:stCondLst>
                                            <p:cond delay="0"/>
                                          </p:stCondLst>
                                        </p:cTn>
                                        <p:tgtEl>
                                          <p:spTgt spid="203783"/>
                                        </p:tgtEl>
                                        <p:attrNameLst>
                                          <p:attrName>style.visibility</p:attrName>
                                        </p:attrNameLst>
                                      </p:cBhvr>
                                      <p:to>
                                        <p:strVal val="visible"/>
                                      </p:to>
                                    </p:set>
                                    <p:animEffect transition="in" filter="slide(fromLeft)">
                                      <p:cBhvr>
                                        <p:cTn id="16" dur="500"/>
                                        <p:tgtEl>
                                          <p:spTgt spid="203783"/>
                                        </p:tgtEl>
                                      </p:cBhvr>
                                    </p:animEffect>
                                  </p:childTnLst>
                                </p:cTn>
                              </p:par>
                            </p:childTnLst>
                          </p:cTn>
                        </p:par>
                        <p:par>
                          <p:cTn id="17" fill="hold" nodeType="afterGroup">
                            <p:stCondLst>
                              <p:cond delay="1000"/>
                            </p:stCondLst>
                            <p:childTnLst>
                              <p:par>
                                <p:cTn id="18" presetID="12" presetClass="entr" presetSubtype="8" fill="hold" grpId="0" nodeType="afterEffect">
                                  <p:stCondLst>
                                    <p:cond delay="0"/>
                                  </p:stCondLst>
                                  <p:childTnLst>
                                    <p:set>
                                      <p:cBhvr>
                                        <p:cTn id="19" dur="1" fill="hold">
                                          <p:stCondLst>
                                            <p:cond delay="0"/>
                                          </p:stCondLst>
                                        </p:cTn>
                                        <p:tgtEl>
                                          <p:spTgt spid="203781"/>
                                        </p:tgtEl>
                                        <p:attrNameLst>
                                          <p:attrName>style.visibility</p:attrName>
                                        </p:attrNameLst>
                                      </p:cBhvr>
                                      <p:to>
                                        <p:strVal val="visible"/>
                                      </p:to>
                                    </p:set>
                                    <p:animEffect transition="in" filter="slide(fromLeft)">
                                      <p:cBhvr>
                                        <p:cTn id="20" dur="500"/>
                                        <p:tgtEl>
                                          <p:spTgt spid="203781"/>
                                        </p:tgtEl>
                                      </p:cBhvr>
                                    </p:animEffect>
                                  </p:childTnLst>
                                </p:cTn>
                              </p:par>
                            </p:childTnLst>
                          </p:cTn>
                        </p:par>
                        <p:par>
                          <p:cTn id="21" fill="hold" nodeType="afterGroup">
                            <p:stCondLst>
                              <p:cond delay="1500"/>
                            </p:stCondLst>
                            <p:childTnLst>
                              <p:par>
                                <p:cTn id="22" presetID="2" presetClass="entr" presetSubtype="6" fill="hold" grpId="0" nodeType="afterEffect">
                                  <p:stCondLst>
                                    <p:cond delay="0"/>
                                  </p:stCondLst>
                                  <p:childTnLst>
                                    <p:set>
                                      <p:cBhvr>
                                        <p:cTn id="23" dur="1" fill="hold">
                                          <p:stCondLst>
                                            <p:cond delay="0"/>
                                          </p:stCondLst>
                                        </p:cTn>
                                        <p:tgtEl>
                                          <p:spTgt spid="203788"/>
                                        </p:tgtEl>
                                        <p:attrNameLst>
                                          <p:attrName>style.visibility</p:attrName>
                                        </p:attrNameLst>
                                      </p:cBhvr>
                                      <p:to>
                                        <p:strVal val="visible"/>
                                      </p:to>
                                    </p:set>
                                    <p:anim calcmode="lin" valueType="num">
                                      <p:cBhvr additive="base">
                                        <p:cTn id="24" dur="500" fill="hold"/>
                                        <p:tgtEl>
                                          <p:spTgt spid="203788"/>
                                        </p:tgtEl>
                                        <p:attrNameLst>
                                          <p:attrName>ppt_x</p:attrName>
                                        </p:attrNameLst>
                                      </p:cBhvr>
                                      <p:tavLst>
                                        <p:tav tm="0">
                                          <p:val>
                                            <p:strVal val="1+#ppt_w/2"/>
                                          </p:val>
                                        </p:tav>
                                        <p:tav tm="100000">
                                          <p:val>
                                            <p:strVal val="#ppt_x"/>
                                          </p:val>
                                        </p:tav>
                                      </p:tavLst>
                                    </p:anim>
                                    <p:anim calcmode="lin" valueType="num">
                                      <p:cBhvr additive="base">
                                        <p:cTn id="25" dur="500" fill="hold"/>
                                        <p:tgtEl>
                                          <p:spTgt spid="2037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8" grpId="0" autoUpdateAnimBg="0"/>
      <p:bldP spid="203779" grpId="0" build="p" autoUpdateAnimBg="0"/>
      <p:bldP spid="203781" grpId="0" autoUpdateAnimBg="0"/>
      <p:bldP spid="203783" grpId="0" autoUpdateAnimBg="0"/>
      <p:bldP spid="203788"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p:cNvSpPr txBox="1">
            <a:spLocks noChangeArrowheads="1"/>
          </p:cNvSpPr>
          <p:nvPr/>
        </p:nvSpPr>
        <p:spPr bwMode="auto">
          <a:xfrm>
            <a:off x="304800" y="228600"/>
            <a:ext cx="8686800" cy="148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4000">
                <a:ea typeface="楷体_GB2312" charset="0"/>
              </a:rPr>
              <a:t>   </a:t>
            </a:r>
            <a:r>
              <a:rPr lang="zh-CN" altLang="en-US" sz="3600" b="1">
                <a:solidFill>
                  <a:srgbClr val="FF0000"/>
                </a:solidFill>
                <a:ea typeface="楷体_GB2312" charset="0"/>
              </a:rPr>
              <a:t>二叉平衡树</a:t>
            </a:r>
            <a:r>
              <a:rPr lang="zh-CN" altLang="en-US" sz="3600">
                <a:solidFill>
                  <a:srgbClr val="A50021"/>
                </a:solidFill>
                <a:ea typeface="楷体_GB2312" charset="0"/>
              </a:rPr>
              <a:t>是二叉查找树的另一种形式，其特点为：</a:t>
            </a:r>
            <a:endParaRPr lang="zh-CN" altLang="en-US"/>
          </a:p>
        </p:txBody>
      </p:sp>
      <p:sp>
        <p:nvSpPr>
          <p:cNvPr id="89093" name="Rectangle 5"/>
          <p:cNvSpPr>
            <a:spLocks noChangeArrowheads="1"/>
          </p:cNvSpPr>
          <p:nvPr/>
        </p:nvSpPr>
        <p:spPr bwMode="auto">
          <a:xfrm>
            <a:off x="457200" y="1828800"/>
            <a:ext cx="83058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4000" b="1">
                <a:solidFill>
                  <a:srgbClr val="3333FF"/>
                </a:solidFill>
                <a:ea typeface="楷体_GB2312" charset="0"/>
              </a:rPr>
              <a:t>    </a:t>
            </a:r>
            <a:r>
              <a:rPr lang="zh-CN" altLang="en-US" sz="4000" b="1">
                <a:solidFill>
                  <a:srgbClr val="3333FF"/>
                </a:solidFill>
                <a:ea typeface="楷体_GB2312" charset="0"/>
              </a:rPr>
              <a:t>树中每个结点的</a:t>
            </a:r>
            <a:r>
              <a:rPr lang="zh-CN" altLang="en-US" sz="4000" b="1">
                <a:solidFill>
                  <a:srgbClr val="0000FF"/>
                </a:solidFill>
                <a:ea typeface="楷体_GB2312" charset="0"/>
              </a:rPr>
              <a:t>左、右子树深度之差的绝对值不大于</a:t>
            </a:r>
            <a:r>
              <a:rPr lang="en-US" altLang="zh-CN" sz="4000" b="1">
                <a:solidFill>
                  <a:srgbClr val="0000FF"/>
                </a:solidFill>
                <a:ea typeface="楷体_GB2312" charset="0"/>
              </a:rPr>
              <a:t>1                   </a:t>
            </a:r>
            <a:r>
              <a:rPr lang="zh-CN" altLang="en-US" sz="4000">
                <a:solidFill>
                  <a:srgbClr val="3333FF"/>
                </a:solidFill>
                <a:ea typeface="楷体_GB2312" charset="0"/>
              </a:rPr>
              <a:t>。</a:t>
            </a:r>
          </a:p>
        </p:txBody>
      </p:sp>
      <p:sp>
        <p:nvSpPr>
          <p:cNvPr id="89094" name="Text Box 6"/>
          <p:cNvSpPr txBox="1">
            <a:spLocks noChangeArrowheads="1"/>
          </p:cNvSpPr>
          <p:nvPr/>
        </p:nvSpPr>
        <p:spPr bwMode="auto">
          <a:xfrm>
            <a:off x="304800" y="3473450"/>
            <a:ext cx="1257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A50021"/>
                </a:solidFill>
                <a:ea typeface="隶书" charset="0"/>
              </a:rPr>
              <a:t>例如</a:t>
            </a:r>
            <a:r>
              <a:rPr lang="en-US" altLang="zh-CN" sz="3600" b="1">
                <a:solidFill>
                  <a:srgbClr val="A50021"/>
                </a:solidFill>
                <a:ea typeface="隶书" charset="0"/>
              </a:rPr>
              <a:t>:</a:t>
            </a:r>
            <a:endParaRPr lang="en-US" altLang="zh-CN" sz="3600">
              <a:ea typeface="隶书" charset="0"/>
            </a:endParaRPr>
          </a:p>
        </p:txBody>
      </p:sp>
      <p:graphicFrame>
        <p:nvGraphicFramePr>
          <p:cNvPr id="89098" name="Object 10"/>
          <p:cNvGraphicFramePr>
            <a:graphicFrameLocks noChangeAspect="1"/>
          </p:cNvGraphicFramePr>
          <p:nvPr/>
        </p:nvGraphicFramePr>
        <p:xfrm>
          <a:off x="5791200" y="2743200"/>
          <a:ext cx="1701800" cy="508000"/>
        </p:xfrm>
        <a:graphic>
          <a:graphicData uri="http://schemas.openxmlformats.org/presentationml/2006/ole">
            <mc:AlternateContent xmlns:mc="http://schemas.openxmlformats.org/markup-compatibility/2006">
              <mc:Choice xmlns:v="urn:schemas-microsoft-com:vml" Requires="v">
                <p:oleObj spid="_x0000_s1368066" name="公式" r:id="rId3" imgW="1701720" imgH="507960" progId="Equation.3">
                  <p:embed/>
                </p:oleObj>
              </mc:Choice>
              <mc:Fallback>
                <p:oleObj name="公式" r:id="rId3" imgW="1701720" imgH="5079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2743200"/>
                        <a:ext cx="17018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89099" name="Oval 11"/>
          <p:cNvSpPr>
            <a:spLocks noChangeArrowheads="1"/>
          </p:cNvSpPr>
          <p:nvPr/>
        </p:nvSpPr>
        <p:spPr bwMode="auto">
          <a:xfrm>
            <a:off x="2209800" y="38100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5</a:t>
            </a:r>
            <a:endParaRPr lang="en-US" altLang="zh-CN"/>
          </a:p>
        </p:txBody>
      </p:sp>
      <p:sp>
        <p:nvSpPr>
          <p:cNvPr id="89101" name="Oval 13"/>
          <p:cNvSpPr>
            <a:spLocks noChangeArrowheads="1"/>
          </p:cNvSpPr>
          <p:nvPr/>
        </p:nvSpPr>
        <p:spPr bwMode="auto">
          <a:xfrm>
            <a:off x="1447800" y="45720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4</a:t>
            </a:r>
            <a:endParaRPr lang="en-US" altLang="zh-CN"/>
          </a:p>
        </p:txBody>
      </p:sp>
      <p:sp>
        <p:nvSpPr>
          <p:cNvPr id="89102" name="Oval 14"/>
          <p:cNvSpPr>
            <a:spLocks noChangeArrowheads="1"/>
          </p:cNvSpPr>
          <p:nvPr/>
        </p:nvSpPr>
        <p:spPr bwMode="auto">
          <a:xfrm>
            <a:off x="2971800" y="45720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8</a:t>
            </a:r>
            <a:endParaRPr lang="en-US" altLang="zh-CN"/>
          </a:p>
        </p:txBody>
      </p:sp>
      <p:sp>
        <p:nvSpPr>
          <p:cNvPr id="89103" name="Oval 15"/>
          <p:cNvSpPr>
            <a:spLocks noChangeArrowheads="1"/>
          </p:cNvSpPr>
          <p:nvPr/>
        </p:nvSpPr>
        <p:spPr bwMode="auto">
          <a:xfrm>
            <a:off x="685800" y="53340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2</a:t>
            </a:r>
            <a:endParaRPr lang="en-US" altLang="zh-CN"/>
          </a:p>
        </p:txBody>
      </p:sp>
      <p:sp>
        <p:nvSpPr>
          <p:cNvPr id="89104" name="Oval 16"/>
          <p:cNvSpPr>
            <a:spLocks noChangeArrowheads="1"/>
          </p:cNvSpPr>
          <p:nvPr/>
        </p:nvSpPr>
        <p:spPr bwMode="auto">
          <a:xfrm>
            <a:off x="6400800" y="38100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5</a:t>
            </a:r>
            <a:endParaRPr lang="en-US" altLang="zh-CN"/>
          </a:p>
        </p:txBody>
      </p:sp>
      <p:sp>
        <p:nvSpPr>
          <p:cNvPr id="89105" name="Oval 17"/>
          <p:cNvSpPr>
            <a:spLocks noChangeArrowheads="1"/>
          </p:cNvSpPr>
          <p:nvPr/>
        </p:nvSpPr>
        <p:spPr bwMode="auto">
          <a:xfrm>
            <a:off x="5638800" y="45720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4</a:t>
            </a:r>
            <a:endParaRPr lang="en-US" altLang="zh-CN"/>
          </a:p>
        </p:txBody>
      </p:sp>
      <p:sp>
        <p:nvSpPr>
          <p:cNvPr id="89106" name="Oval 18"/>
          <p:cNvSpPr>
            <a:spLocks noChangeArrowheads="1"/>
          </p:cNvSpPr>
          <p:nvPr/>
        </p:nvSpPr>
        <p:spPr bwMode="auto">
          <a:xfrm>
            <a:off x="7162800" y="45720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8</a:t>
            </a:r>
            <a:endParaRPr lang="en-US" altLang="zh-CN"/>
          </a:p>
        </p:txBody>
      </p:sp>
      <p:sp>
        <p:nvSpPr>
          <p:cNvPr id="89107" name="Oval 19"/>
          <p:cNvSpPr>
            <a:spLocks noChangeArrowheads="1"/>
          </p:cNvSpPr>
          <p:nvPr/>
        </p:nvSpPr>
        <p:spPr bwMode="auto">
          <a:xfrm>
            <a:off x="4876800" y="53340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2</a:t>
            </a:r>
            <a:endParaRPr lang="en-US" altLang="zh-CN"/>
          </a:p>
        </p:txBody>
      </p:sp>
      <p:sp>
        <p:nvSpPr>
          <p:cNvPr id="89108" name="Oval 20"/>
          <p:cNvSpPr>
            <a:spLocks noChangeArrowheads="1"/>
          </p:cNvSpPr>
          <p:nvPr/>
        </p:nvSpPr>
        <p:spPr bwMode="auto">
          <a:xfrm>
            <a:off x="4114800" y="60960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1</a:t>
            </a:r>
            <a:endParaRPr lang="en-US" altLang="zh-CN"/>
          </a:p>
        </p:txBody>
      </p:sp>
      <p:sp>
        <p:nvSpPr>
          <p:cNvPr id="89109" name="Line 21"/>
          <p:cNvSpPr>
            <a:spLocks noChangeShapeType="1"/>
          </p:cNvSpPr>
          <p:nvPr/>
        </p:nvSpPr>
        <p:spPr bwMode="auto">
          <a:xfrm flipH="1">
            <a:off x="1828800" y="4191000"/>
            <a:ext cx="457200" cy="4572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110" name="Line 22"/>
          <p:cNvSpPr>
            <a:spLocks noChangeShapeType="1"/>
          </p:cNvSpPr>
          <p:nvPr/>
        </p:nvSpPr>
        <p:spPr bwMode="auto">
          <a:xfrm flipH="1">
            <a:off x="1066800" y="4953000"/>
            <a:ext cx="457200" cy="4572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111" name="Line 23"/>
          <p:cNvSpPr>
            <a:spLocks noChangeShapeType="1"/>
          </p:cNvSpPr>
          <p:nvPr/>
        </p:nvSpPr>
        <p:spPr bwMode="auto">
          <a:xfrm flipH="1">
            <a:off x="6019800" y="4191000"/>
            <a:ext cx="457200" cy="4572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112" name="Line 24"/>
          <p:cNvSpPr>
            <a:spLocks noChangeShapeType="1"/>
          </p:cNvSpPr>
          <p:nvPr/>
        </p:nvSpPr>
        <p:spPr bwMode="auto">
          <a:xfrm flipH="1">
            <a:off x="5257800" y="4953000"/>
            <a:ext cx="457200" cy="4572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113" name="Line 25"/>
          <p:cNvSpPr>
            <a:spLocks noChangeShapeType="1"/>
          </p:cNvSpPr>
          <p:nvPr/>
        </p:nvSpPr>
        <p:spPr bwMode="auto">
          <a:xfrm flipH="1">
            <a:off x="4495800" y="5715000"/>
            <a:ext cx="457200" cy="4572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114" name="Line 26"/>
          <p:cNvSpPr>
            <a:spLocks noChangeShapeType="1"/>
          </p:cNvSpPr>
          <p:nvPr/>
        </p:nvSpPr>
        <p:spPr bwMode="auto">
          <a:xfrm>
            <a:off x="2590800" y="4191000"/>
            <a:ext cx="457200" cy="4572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115" name="Line 27"/>
          <p:cNvSpPr>
            <a:spLocks noChangeShapeType="1"/>
          </p:cNvSpPr>
          <p:nvPr/>
        </p:nvSpPr>
        <p:spPr bwMode="auto">
          <a:xfrm>
            <a:off x="6781800" y="4191000"/>
            <a:ext cx="457200" cy="4572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116" name="Text Box 28"/>
          <p:cNvSpPr txBox="1">
            <a:spLocks noChangeArrowheads="1"/>
          </p:cNvSpPr>
          <p:nvPr/>
        </p:nvSpPr>
        <p:spPr bwMode="auto">
          <a:xfrm>
            <a:off x="1327150" y="5807075"/>
            <a:ext cx="2025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FF0000"/>
                </a:solidFill>
                <a:ea typeface="隶书" charset="0"/>
              </a:rPr>
              <a:t>是平衡树</a:t>
            </a:r>
            <a:endParaRPr lang="zh-CN" altLang="en-US" sz="3600">
              <a:ea typeface="隶书" charset="0"/>
            </a:endParaRPr>
          </a:p>
        </p:txBody>
      </p:sp>
      <p:sp>
        <p:nvSpPr>
          <p:cNvPr id="89117" name="Text Box 29"/>
          <p:cNvSpPr txBox="1">
            <a:spLocks noChangeArrowheads="1"/>
          </p:cNvSpPr>
          <p:nvPr/>
        </p:nvSpPr>
        <p:spPr bwMode="auto">
          <a:xfrm>
            <a:off x="5943600" y="5791200"/>
            <a:ext cx="2486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FF0000"/>
                </a:solidFill>
                <a:ea typeface="隶书" charset="0"/>
              </a:rPr>
              <a:t>不是平衡树</a:t>
            </a:r>
            <a:endParaRPr lang="zh-CN" altLang="en-US" sz="3600">
              <a:ea typeface="隶书" charset="0"/>
            </a:endParaRPr>
          </a:p>
        </p:txBody>
      </p:sp>
      <p:sp>
        <p:nvSpPr>
          <p:cNvPr id="89119" name="AutoShape 31">
            <a:hlinkClick r:id="rId5" action="ppaction://hlinksldjump" highlightClick="1"/>
          </p:cNvPr>
          <p:cNvSpPr>
            <a:spLocks noChangeArrowheads="1"/>
          </p:cNvSpPr>
          <p:nvPr/>
        </p:nvSpPr>
        <p:spPr bwMode="auto">
          <a:xfrm>
            <a:off x="8458200" y="62484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5255253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89090"/>
                                        </p:tgtEl>
                                        <p:attrNameLst>
                                          <p:attrName>style.visibility</p:attrName>
                                        </p:attrNameLst>
                                      </p:cBhvr>
                                      <p:to>
                                        <p:strVal val="visible"/>
                                      </p:to>
                                    </p:set>
                                    <p:animEffect transition="in" filter="barn(outVertical)">
                                      <p:cBhvr>
                                        <p:cTn id="7" dur="500"/>
                                        <p:tgtEl>
                                          <p:spTgt spid="890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89093"/>
                                        </p:tgtEl>
                                        <p:attrNameLst>
                                          <p:attrName>style.visibility</p:attrName>
                                        </p:attrNameLst>
                                      </p:cBhvr>
                                      <p:to>
                                        <p:strVal val="visible"/>
                                      </p:to>
                                    </p:set>
                                    <p:anim calcmode="lin" valueType="num">
                                      <p:cBhvr additive="base">
                                        <p:cTn id="12" dur="500" fill="hold"/>
                                        <p:tgtEl>
                                          <p:spTgt spid="89093"/>
                                        </p:tgtEl>
                                        <p:attrNameLst>
                                          <p:attrName>ppt_x</p:attrName>
                                        </p:attrNameLst>
                                      </p:cBhvr>
                                      <p:tavLst>
                                        <p:tav tm="0">
                                          <p:val>
                                            <p:strVal val="0-#ppt_w/2"/>
                                          </p:val>
                                        </p:tav>
                                        <p:tav tm="100000">
                                          <p:val>
                                            <p:strVal val="#ppt_x"/>
                                          </p:val>
                                        </p:tav>
                                      </p:tavLst>
                                    </p:anim>
                                    <p:anim calcmode="lin" valueType="num">
                                      <p:cBhvr additive="base">
                                        <p:cTn id="13" dur="500" fill="hold"/>
                                        <p:tgtEl>
                                          <p:spTgt spid="89093"/>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89098"/>
                                        </p:tgtEl>
                                        <p:attrNameLst>
                                          <p:attrName>style.visibility</p:attrName>
                                        </p:attrNameLst>
                                      </p:cBhvr>
                                      <p:to>
                                        <p:strVal val="visible"/>
                                      </p:to>
                                    </p:set>
                                    <p:animEffect transition="in" filter="wipe(left)">
                                      <p:cBhvr>
                                        <p:cTn id="17" dur="500"/>
                                        <p:tgtEl>
                                          <p:spTgt spid="890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89094"/>
                                        </p:tgtEl>
                                        <p:attrNameLst>
                                          <p:attrName>style.visibility</p:attrName>
                                        </p:attrNameLst>
                                      </p:cBhvr>
                                      <p:to>
                                        <p:strVal val="visible"/>
                                      </p:to>
                                    </p:set>
                                    <p:anim calcmode="lin" valueType="num">
                                      <p:cBhvr additive="base">
                                        <p:cTn id="22" dur="500" fill="hold"/>
                                        <p:tgtEl>
                                          <p:spTgt spid="89094"/>
                                        </p:tgtEl>
                                        <p:attrNameLst>
                                          <p:attrName>ppt_x</p:attrName>
                                        </p:attrNameLst>
                                      </p:cBhvr>
                                      <p:tavLst>
                                        <p:tav tm="0">
                                          <p:val>
                                            <p:strVal val="0-#ppt_w/2"/>
                                          </p:val>
                                        </p:tav>
                                        <p:tav tm="100000">
                                          <p:val>
                                            <p:strVal val="#ppt_x"/>
                                          </p:val>
                                        </p:tav>
                                      </p:tavLst>
                                    </p:anim>
                                    <p:anim calcmode="lin" valueType="num">
                                      <p:cBhvr additive="base">
                                        <p:cTn id="23" dur="500" fill="hold"/>
                                        <p:tgtEl>
                                          <p:spTgt spid="89094"/>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89099"/>
                                        </p:tgtEl>
                                        <p:attrNameLst>
                                          <p:attrName>style.visibility</p:attrName>
                                        </p:attrNameLst>
                                      </p:cBhvr>
                                      <p:to>
                                        <p:strVal val="visible"/>
                                      </p:to>
                                    </p:set>
                                    <p:animEffect transition="in" filter="wipe(up)">
                                      <p:cBhvr>
                                        <p:cTn id="28" dur="500"/>
                                        <p:tgtEl>
                                          <p:spTgt spid="89099"/>
                                        </p:tgtEl>
                                      </p:cBhvr>
                                    </p:animEffect>
                                  </p:childTnLst>
                                </p:cTn>
                              </p:par>
                            </p:childTnLst>
                          </p:cTn>
                        </p:par>
                        <p:par>
                          <p:cTn id="29" fill="hold" nodeType="afterGroup">
                            <p:stCondLst>
                              <p:cond delay="500"/>
                            </p:stCondLst>
                            <p:childTnLst>
                              <p:par>
                                <p:cTn id="30" presetID="22" presetClass="entr" presetSubtype="1" fill="hold" grpId="0" nodeType="afterEffect">
                                  <p:stCondLst>
                                    <p:cond delay="0"/>
                                  </p:stCondLst>
                                  <p:childTnLst>
                                    <p:set>
                                      <p:cBhvr>
                                        <p:cTn id="31" dur="1" fill="hold">
                                          <p:stCondLst>
                                            <p:cond delay="0"/>
                                          </p:stCondLst>
                                        </p:cTn>
                                        <p:tgtEl>
                                          <p:spTgt spid="89109"/>
                                        </p:tgtEl>
                                        <p:attrNameLst>
                                          <p:attrName>style.visibility</p:attrName>
                                        </p:attrNameLst>
                                      </p:cBhvr>
                                      <p:to>
                                        <p:strVal val="visible"/>
                                      </p:to>
                                    </p:set>
                                    <p:animEffect transition="in" filter="wipe(up)">
                                      <p:cBhvr>
                                        <p:cTn id="32" dur="500"/>
                                        <p:tgtEl>
                                          <p:spTgt spid="89109"/>
                                        </p:tgtEl>
                                      </p:cBhvr>
                                    </p:animEffect>
                                  </p:childTnLst>
                                </p:cTn>
                              </p:par>
                            </p:childTnLst>
                          </p:cTn>
                        </p:par>
                        <p:par>
                          <p:cTn id="33" fill="hold" nodeType="afterGroup">
                            <p:stCondLst>
                              <p:cond delay="1000"/>
                            </p:stCondLst>
                            <p:childTnLst>
                              <p:par>
                                <p:cTn id="34" presetID="22" presetClass="entr" presetSubtype="1" fill="hold" grpId="0" nodeType="afterEffect">
                                  <p:stCondLst>
                                    <p:cond delay="0"/>
                                  </p:stCondLst>
                                  <p:childTnLst>
                                    <p:set>
                                      <p:cBhvr>
                                        <p:cTn id="35" dur="1" fill="hold">
                                          <p:stCondLst>
                                            <p:cond delay="0"/>
                                          </p:stCondLst>
                                        </p:cTn>
                                        <p:tgtEl>
                                          <p:spTgt spid="89101"/>
                                        </p:tgtEl>
                                        <p:attrNameLst>
                                          <p:attrName>style.visibility</p:attrName>
                                        </p:attrNameLst>
                                      </p:cBhvr>
                                      <p:to>
                                        <p:strVal val="visible"/>
                                      </p:to>
                                    </p:set>
                                    <p:animEffect transition="in" filter="wipe(up)">
                                      <p:cBhvr>
                                        <p:cTn id="36" dur="500"/>
                                        <p:tgtEl>
                                          <p:spTgt spid="89101"/>
                                        </p:tgtEl>
                                      </p:cBhvr>
                                    </p:animEffect>
                                  </p:childTnLst>
                                </p:cTn>
                              </p:par>
                            </p:childTnLst>
                          </p:cTn>
                        </p:par>
                        <p:par>
                          <p:cTn id="37" fill="hold" nodeType="afterGroup">
                            <p:stCondLst>
                              <p:cond delay="1500"/>
                            </p:stCondLst>
                            <p:childTnLst>
                              <p:par>
                                <p:cTn id="38" presetID="22" presetClass="entr" presetSubtype="1" fill="hold" grpId="0" nodeType="afterEffect">
                                  <p:stCondLst>
                                    <p:cond delay="0"/>
                                  </p:stCondLst>
                                  <p:childTnLst>
                                    <p:set>
                                      <p:cBhvr>
                                        <p:cTn id="39" dur="1" fill="hold">
                                          <p:stCondLst>
                                            <p:cond delay="0"/>
                                          </p:stCondLst>
                                        </p:cTn>
                                        <p:tgtEl>
                                          <p:spTgt spid="89114"/>
                                        </p:tgtEl>
                                        <p:attrNameLst>
                                          <p:attrName>style.visibility</p:attrName>
                                        </p:attrNameLst>
                                      </p:cBhvr>
                                      <p:to>
                                        <p:strVal val="visible"/>
                                      </p:to>
                                    </p:set>
                                    <p:animEffect transition="in" filter="wipe(up)">
                                      <p:cBhvr>
                                        <p:cTn id="40" dur="500"/>
                                        <p:tgtEl>
                                          <p:spTgt spid="89114"/>
                                        </p:tgtEl>
                                      </p:cBhvr>
                                    </p:animEffect>
                                  </p:childTnLst>
                                </p:cTn>
                              </p:par>
                            </p:childTnLst>
                          </p:cTn>
                        </p:par>
                        <p:par>
                          <p:cTn id="41" fill="hold" nodeType="afterGroup">
                            <p:stCondLst>
                              <p:cond delay="2000"/>
                            </p:stCondLst>
                            <p:childTnLst>
                              <p:par>
                                <p:cTn id="42" presetID="22" presetClass="entr" presetSubtype="1" fill="hold" grpId="0" nodeType="afterEffect">
                                  <p:stCondLst>
                                    <p:cond delay="0"/>
                                  </p:stCondLst>
                                  <p:childTnLst>
                                    <p:set>
                                      <p:cBhvr>
                                        <p:cTn id="43" dur="1" fill="hold">
                                          <p:stCondLst>
                                            <p:cond delay="0"/>
                                          </p:stCondLst>
                                        </p:cTn>
                                        <p:tgtEl>
                                          <p:spTgt spid="89102"/>
                                        </p:tgtEl>
                                        <p:attrNameLst>
                                          <p:attrName>style.visibility</p:attrName>
                                        </p:attrNameLst>
                                      </p:cBhvr>
                                      <p:to>
                                        <p:strVal val="visible"/>
                                      </p:to>
                                    </p:set>
                                    <p:animEffect transition="in" filter="wipe(up)">
                                      <p:cBhvr>
                                        <p:cTn id="44" dur="500"/>
                                        <p:tgtEl>
                                          <p:spTgt spid="89102"/>
                                        </p:tgtEl>
                                      </p:cBhvr>
                                    </p:animEffect>
                                  </p:childTnLst>
                                </p:cTn>
                              </p:par>
                            </p:childTnLst>
                          </p:cTn>
                        </p:par>
                        <p:par>
                          <p:cTn id="45" fill="hold" nodeType="afterGroup">
                            <p:stCondLst>
                              <p:cond delay="2500"/>
                            </p:stCondLst>
                            <p:childTnLst>
                              <p:par>
                                <p:cTn id="46" presetID="22" presetClass="entr" presetSubtype="1" fill="hold" grpId="0" nodeType="afterEffect">
                                  <p:stCondLst>
                                    <p:cond delay="0"/>
                                  </p:stCondLst>
                                  <p:childTnLst>
                                    <p:set>
                                      <p:cBhvr>
                                        <p:cTn id="47" dur="1" fill="hold">
                                          <p:stCondLst>
                                            <p:cond delay="0"/>
                                          </p:stCondLst>
                                        </p:cTn>
                                        <p:tgtEl>
                                          <p:spTgt spid="89110"/>
                                        </p:tgtEl>
                                        <p:attrNameLst>
                                          <p:attrName>style.visibility</p:attrName>
                                        </p:attrNameLst>
                                      </p:cBhvr>
                                      <p:to>
                                        <p:strVal val="visible"/>
                                      </p:to>
                                    </p:set>
                                    <p:animEffect transition="in" filter="wipe(up)">
                                      <p:cBhvr>
                                        <p:cTn id="48" dur="500"/>
                                        <p:tgtEl>
                                          <p:spTgt spid="89110"/>
                                        </p:tgtEl>
                                      </p:cBhvr>
                                    </p:animEffect>
                                  </p:childTnLst>
                                </p:cTn>
                              </p:par>
                            </p:childTnLst>
                          </p:cTn>
                        </p:par>
                        <p:par>
                          <p:cTn id="49" fill="hold" nodeType="afterGroup">
                            <p:stCondLst>
                              <p:cond delay="3000"/>
                            </p:stCondLst>
                            <p:childTnLst>
                              <p:par>
                                <p:cTn id="50" presetID="22" presetClass="entr" presetSubtype="1" fill="hold" grpId="0" nodeType="afterEffect">
                                  <p:stCondLst>
                                    <p:cond delay="0"/>
                                  </p:stCondLst>
                                  <p:childTnLst>
                                    <p:set>
                                      <p:cBhvr>
                                        <p:cTn id="51" dur="1" fill="hold">
                                          <p:stCondLst>
                                            <p:cond delay="0"/>
                                          </p:stCondLst>
                                        </p:cTn>
                                        <p:tgtEl>
                                          <p:spTgt spid="89103"/>
                                        </p:tgtEl>
                                        <p:attrNameLst>
                                          <p:attrName>style.visibility</p:attrName>
                                        </p:attrNameLst>
                                      </p:cBhvr>
                                      <p:to>
                                        <p:strVal val="visible"/>
                                      </p:to>
                                    </p:set>
                                    <p:animEffect transition="in" filter="wipe(up)">
                                      <p:cBhvr>
                                        <p:cTn id="52" dur="500"/>
                                        <p:tgtEl>
                                          <p:spTgt spid="8910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iterate type="wd">
                                    <p:tmPct val="100000"/>
                                  </p:iterate>
                                  <p:childTnLst>
                                    <p:set>
                                      <p:cBhvr>
                                        <p:cTn id="56" dur="1" fill="hold">
                                          <p:stCondLst>
                                            <p:cond delay="0"/>
                                          </p:stCondLst>
                                        </p:cTn>
                                        <p:tgtEl>
                                          <p:spTgt spid="89116"/>
                                        </p:tgtEl>
                                        <p:attrNameLst>
                                          <p:attrName>style.visibility</p:attrName>
                                        </p:attrNameLst>
                                      </p:cBhvr>
                                      <p:to>
                                        <p:strVal val="visible"/>
                                      </p:to>
                                    </p:set>
                                    <p:animEffect transition="in" filter="wipe(left)">
                                      <p:cBhvr>
                                        <p:cTn id="57" dur="300"/>
                                        <p:tgtEl>
                                          <p:spTgt spid="8911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89104"/>
                                        </p:tgtEl>
                                        <p:attrNameLst>
                                          <p:attrName>style.visibility</p:attrName>
                                        </p:attrNameLst>
                                      </p:cBhvr>
                                      <p:to>
                                        <p:strVal val="visible"/>
                                      </p:to>
                                    </p:set>
                                    <p:animEffect transition="in" filter="wipe(up)">
                                      <p:cBhvr>
                                        <p:cTn id="62" dur="500"/>
                                        <p:tgtEl>
                                          <p:spTgt spid="89104"/>
                                        </p:tgtEl>
                                      </p:cBhvr>
                                    </p:animEffect>
                                  </p:childTnLst>
                                </p:cTn>
                              </p:par>
                            </p:childTnLst>
                          </p:cTn>
                        </p:par>
                        <p:par>
                          <p:cTn id="63" fill="hold" nodeType="afterGroup">
                            <p:stCondLst>
                              <p:cond delay="500"/>
                            </p:stCondLst>
                            <p:childTnLst>
                              <p:par>
                                <p:cTn id="64" presetID="22" presetClass="entr" presetSubtype="1" fill="hold" grpId="0" nodeType="afterEffect">
                                  <p:stCondLst>
                                    <p:cond delay="0"/>
                                  </p:stCondLst>
                                  <p:childTnLst>
                                    <p:set>
                                      <p:cBhvr>
                                        <p:cTn id="65" dur="1" fill="hold">
                                          <p:stCondLst>
                                            <p:cond delay="0"/>
                                          </p:stCondLst>
                                        </p:cTn>
                                        <p:tgtEl>
                                          <p:spTgt spid="89111"/>
                                        </p:tgtEl>
                                        <p:attrNameLst>
                                          <p:attrName>style.visibility</p:attrName>
                                        </p:attrNameLst>
                                      </p:cBhvr>
                                      <p:to>
                                        <p:strVal val="visible"/>
                                      </p:to>
                                    </p:set>
                                    <p:animEffect transition="in" filter="wipe(up)">
                                      <p:cBhvr>
                                        <p:cTn id="66" dur="500"/>
                                        <p:tgtEl>
                                          <p:spTgt spid="89111"/>
                                        </p:tgtEl>
                                      </p:cBhvr>
                                    </p:animEffect>
                                  </p:childTnLst>
                                </p:cTn>
                              </p:par>
                            </p:childTnLst>
                          </p:cTn>
                        </p:par>
                        <p:par>
                          <p:cTn id="67" fill="hold" nodeType="afterGroup">
                            <p:stCondLst>
                              <p:cond delay="1000"/>
                            </p:stCondLst>
                            <p:childTnLst>
                              <p:par>
                                <p:cTn id="68" presetID="22" presetClass="entr" presetSubtype="1" fill="hold" grpId="0" nodeType="afterEffect">
                                  <p:stCondLst>
                                    <p:cond delay="0"/>
                                  </p:stCondLst>
                                  <p:childTnLst>
                                    <p:set>
                                      <p:cBhvr>
                                        <p:cTn id="69" dur="1" fill="hold">
                                          <p:stCondLst>
                                            <p:cond delay="0"/>
                                          </p:stCondLst>
                                        </p:cTn>
                                        <p:tgtEl>
                                          <p:spTgt spid="89105"/>
                                        </p:tgtEl>
                                        <p:attrNameLst>
                                          <p:attrName>style.visibility</p:attrName>
                                        </p:attrNameLst>
                                      </p:cBhvr>
                                      <p:to>
                                        <p:strVal val="visible"/>
                                      </p:to>
                                    </p:set>
                                    <p:animEffect transition="in" filter="wipe(up)">
                                      <p:cBhvr>
                                        <p:cTn id="70" dur="500"/>
                                        <p:tgtEl>
                                          <p:spTgt spid="89105"/>
                                        </p:tgtEl>
                                      </p:cBhvr>
                                    </p:animEffect>
                                  </p:childTnLst>
                                </p:cTn>
                              </p:par>
                            </p:childTnLst>
                          </p:cTn>
                        </p:par>
                        <p:par>
                          <p:cTn id="71" fill="hold" nodeType="afterGroup">
                            <p:stCondLst>
                              <p:cond delay="1500"/>
                            </p:stCondLst>
                            <p:childTnLst>
                              <p:par>
                                <p:cTn id="72" presetID="22" presetClass="entr" presetSubtype="1" fill="hold" grpId="0" nodeType="afterEffect">
                                  <p:stCondLst>
                                    <p:cond delay="0"/>
                                  </p:stCondLst>
                                  <p:childTnLst>
                                    <p:set>
                                      <p:cBhvr>
                                        <p:cTn id="73" dur="1" fill="hold">
                                          <p:stCondLst>
                                            <p:cond delay="0"/>
                                          </p:stCondLst>
                                        </p:cTn>
                                        <p:tgtEl>
                                          <p:spTgt spid="89115"/>
                                        </p:tgtEl>
                                        <p:attrNameLst>
                                          <p:attrName>style.visibility</p:attrName>
                                        </p:attrNameLst>
                                      </p:cBhvr>
                                      <p:to>
                                        <p:strVal val="visible"/>
                                      </p:to>
                                    </p:set>
                                    <p:animEffect transition="in" filter="wipe(up)">
                                      <p:cBhvr>
                                        <p:cTn id="74" dur="500"/>
                                        <p:tgtEl>
                                          <p:spTgt spid="89115"/>
                                        </p:tgtEl>
                                      </p:cBhvr>
                                    </p:animEffect>
                                  </p:childTnLst>
                                </p:cTn>
                              </p:par>
                            </p:childTnLst>
                          </p:cTn>
                        </p:par>
                        <p:par>
                          <p:cTn id="75" fill="hold" nodeType="afterGroup">
                            <p:stCondLst>
                              <p:cond delay="2000"/>
                            </p:stCondLst>
                            <p:childTnLst>
                              <p:par>
                                <p:cTn id="76" presetID="2" presetClass="entr" presetSubtype="6" fill="hold" grpId="0" nodeType="afterEffect">
                                  <p:stCondLst>
                                    <p:cond delay="0"/>
                                  </p:stCondLst>
                                  <p:childTnLst>
                                    <p:set>
                                      <p:cBhvr>
                                        <p:cTn id="77" dur="1" fill="hold">
                                          <p:stCondLst>
                                            <p:cond delay="0"/>
                                          </p:stCondLst>
                                        </p:cTn>
                                        <p:tgtEl>
                                          <p:spTgt spid="89119"/>
                                        </p:tgtEl>
                                        <p:attrNameLst>
                                          <p:attrName>style.visibility</p:attrName>
                                        </p:attrNameLst>
                                      </p:cBhvr>
                                      <p:to>
                                        <p:strVal val="visible"/>
                                      </p:to>
                                    </p:set>
                                    <p:anim calcmode="lin" valueType="num">
                                      <p:cBhvr additive="base">
                                        <p:cTn id="78" dur="500" fill="hold"/>
                                        <p:tgtEl>
                                          <p:spTgt spid="89119"/>
                                        </p:tgtEl>
                                        <p:attrNameLst>
                                          <p:attrName>ppt_x</p:attrName>
                                        </p:attrNameLst>
                                      </p:cBhvr>
                                      <p:tavLst>
                                        <p:tav tm="0">
                                          <p:val>
                                            <p:strVal val="1+#ppt_w/2"/>
                                          </p:val>
                                        </p:tav>
                                        <p:tav tm="100000">
                                          <p:val>
                                            <p:strVal val="#ppt_x"/>
                                          </p:val>
                                        </p:tav>
                                      </p:tavLst>
                                    </p:anim>
                                    <p:anim calcmode="lin" valueType="num">
                                      <p:cBhvr additive="base">
                                        <p:cTn id="79" dur="500" fill="hold"/>
                                        <p:tgtEl>
                                          <p:spTgt spid="89119"/>
                                        </p:tgtEl>
                                        <p:attrNameLst>
                                          <p:attrName>ppt_y</p:attrName>
                                        </p:attrNameLst>
                                      </p:cBhvr>
                                      <p:tavLst>
                                        <p:tav tm="0">
                                          <p:val>
                                            <p:strVal val="1+#ppt_h/2"/>
                                          </p:val>
                                        </p:tav>
                                        <p:tav tm="100000">
                                          <p:val>
                                            <p:strVal val="#ppt_y"/>
                                          </p:val>
                                        </p:tav>
                                      </p:tavLst>
                                    </p:anim>
                                  </p:childTnLst>
                                </p:cTn>
                              </p:par>
                            </p:childTnLst>
                          </p:cTn>
                        </p:par>
                        <p:par>
                          <p:cTn id="80" fill="hold" nodeType="afterGroup">
                            <p:stCondLst>
                              <p:cond delay="2500"/>
                            </p:stCondLst>
                            <p:childTnLst>
                              <p:par>
                                <p:cTn id="81" presetID="22" presetClass="entr" presetSubtype="1" fill="hold" grpId="0" nodeType="afterEffect">
                                  <p:stCondLst>
                                    <p:cond delay="0"/>
                                  </p:stCondLst>
                                  <p:childTnLst>
                                    <p:set>
                                      <p:cBhvr>
                                        <p:cTn id="82" dur="1" fill="hold">
                                          <p:stCondLst>
                                            <p:cond delay="0"/>
                                          </p:stCondLst>
                                        </p:cTn>
                                        <p:tgtEl>
                                          <p:spTgt spid="89106"/>
                                        </p:tgtEl>
                                        <p:attrNameLst>
                                          <p:attrName>style.visibility</p:attrName>
                                        </p:attrNameLst>
                                      </p:cBhvr>
                                      <p:to>
                                        <p:strVal val="visible"/>
                                      </p:to>
                                    </p:set>
                                    <p:animEffect transition="in" filter="wipe(up)">
                                      <p:cBhvr>
                                        <p:cTn id="83" dur="500"/>
                                        <p:tgtEl>
                                          <p:spTgt spid="89106"/>
                                        </p:tgtEl>
                                      </p:cBhvr>
                                    </p:animEffect>
                                  </p:childTnLst>
                                </p:cTn>
                              </p:par>
                            </p:childTnLst>
                          </p:cTn>
                        </p:par>
                        <p:par>
                          <p:cTn id="84" fill="hold" nodeType="afterGroup">
                            <p:stCondLst>
                              <p:cond delay="3000"/>
                            </p:stCondLst>
                            <p:childTnLst>
                              <p:par>
                                <p:cTn id="85" presetID="22" presetClass="entr" presetSubtype="1" fill="hold" grpId="0" nodeType="afterEffect">
                                  <p:stCondLst>
                                    <p:cond delay="0"/>
                                  </p:stCondLst>
                                  <p:childTnLst>
                                    <p:set>
                                      <p:cBhvr>
                                        <p:cTn id="86" dur="1" fill="hold">
                                          <p:stCondLst>
                                            <p:cond delay="0"/>
                                          </p:stCondLst>
                                        </p:cTn>
                                        <p:tgtEl>
                                          <p:spTgt spid="89112"/>
                                        </p:tgtEl>
                                        <p:attrNameLst>
                                          <p:attrName>style.visibility</p:attrName>
                                        </p:attrNameLst>
                                      </p:cBhvr>
                                      <p:to>
                                        <p:strVal val="visible"/>
                                      </p:to>
                                    </p:set>
                                    <p:animEffect transition="in" filter="wipe(up)">
                                      <p:cBhvr>
                                        <p:cTn id="87" dur="500"/>
                                        <p:tgtEl>
                                          <p:spTgt spid="89112"/>
                                        </p:tgtEl>
                                      </p:cBhvr>
                                    </p:animEffect>
                                  </p:childTnLst>
                                </p:cTn>
                              </p:par>
                            </p:childTnLst>
                          </p:cTn>
                        </p:par>
                        <p:par>
                          <p:cTn id="88" fill="hold" nodeType="afterGroup">
                            <p:stCondLst>
                              <p:cond delay="3500"/>
                            </p:stCondLst>
                            <p:childTnLst>
                              <p:par>
                                <p:cTn id="89" presetID="22" presetClass="entr" presetSubtype="1" fill="hold" grpId="0" nodeType="afterEffect">
                                  <p:stCondLst>
                                    <p:cond delay="0"/>
                                  </p:stCondLst>
                                  <p:childTnLst>
                                    <p:set>
                                      <p:cBhvr>
                                        <p:cTn id="90" dur="1" fill="hold">
                                          <p:stCondLst>
                                            <p:cond delay="0"/>
                                          </p:stCondLst>
                                        </p:cTn>
                                        <p:tgtEl>
                                          <p:spTgt spid="89107"/>
                                        </p:tgtEl>
                                        <p:attrNameLst>
                                          <p:attrName>style.visibility</p:attrName>
                                        </p:attrNameLst>
                                      </p:cBhvr>
                                      <p:to>
                                        <p:strVal val="visible"/>
                                      </p:to>
                                    </p:set>
                                    <p:animEffect transition="in" filter="wipe(up)">
                                      <p:cBhvr>
                                        <p:cTn id="91" dur="500"/>
                                        <p:tgtEl>
                                          <p:spTgt spid="89107"/>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1" fill="hold" grpId="0" nodeType="clickEffect">
                                  <p:stCondLst>
                                    <p:cond delay="0"/>
                                  </p:stCondLst>
                                  <p:childTnLst>
                                    <p:set>
                                      <p:cBhvr>
                                        <p:cTn id="95" dur="1" fill="hold">
                                          <p:stCondLst>
                                            <p:cond delay="0"/>
                                          </p:stCondLst>
                                        </p:cTn>
                                        <p:tgtEl>
                                          <p:spTgt spid="89113"/>
                                        </p:tgtEl>
                                        <p:attrNameLst>
                                          <p:attrName>style.visibility</p:attrName>
                                        </p:attrNameLst>
                                      </p:cBhvr>
                                      <p:to>
                                        <p:strVal val="visible"/>
                                      </p:to>
                                    </p:set>
                                    <p:animEffect transition="in" filter="wipe(up)">
                                      <p:cBhvr>
                                        <p:cTn id="96" dur="500"/>
                                        <p:tgtEl>
                                          <p:spTgt spid="89113"/>
                                        </p:tgtEl>
                                      </p:cBhvr>
                                    </p:animEffect>
                                  </p:childTnLst>
                                </p:cTn>
                              </p:par>
                            </p:childTnLst>
                          </p:cTn>
                        </p:par>
                        <p:par>
                          <p:cTn id="97" fill="hold" nodeType="afterGroup">
                            <p:stCondLst>
                              <p:cond delay="500"/>
                            </p:stCondLst>
                            <p:childTnLst>
                              <p:par>
                                <p:cTn id="98" presetID="22" presetClass="entr" presetSubtype="1" fill="hold" grpId="0" nodeType="afterEffect">
                                  <p:stCondLst>
                                    <p:cond delay="0"/>
                                  </p:stCondLst>
                                  <p:childTnLst>
                                    <p:set>
                                      <p:cBhvr>
                                        <p:cTn id="99" dur="1" fill="hold">
                                          <p:stCondLst>
                                            <p:cond delay="0"/>
                                          </p:stCondLst>
                                        </p:cTn>
                                        <p:tgtEl>
                                          <p:spTgt spid="89108"/>
                                        </p:tgtEl>
                                        <p:attrNameLst>
                                          <p:attrName>style.visibility</p:attrName>
                                        </p:attrNameLst>
                                      </p:cBhvr>
                                      <p:to>
                                        <p:strVal val="visible"/>
                                      </p:to>
                                    </p:set>
                                    <p:animEffect transition="in" filter="wipe(up)">
                                      <p:cBhvr>
                                        <p:cTn id="100" dur="500"/>
                                        <p:tgtEl>
                                          <p:spTgt spid="89108"/>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grpId="0" nodeType="clickEffect">
                                  <p:stCondLst>
                                    <p:cond delay="0"/>
                                  </p:stCondLst>
                                  <p:iterate type="wd">
                                    <p:tmPct val="100000"/>
                                  </p:iterate>
                                  <p:childTnLst>
                                    <p:set>
                                      <p:cBhvr>
                                        <p:cTn id="104" dur="1" fill="hold">
                                          <p:stCondLst>
                                            <p:cond delay="0"/>
                                          </p:stCondLst>
                                        </p:cTn>
                                        <p:tgtEl>
                                          <p:spTgt spid="89117"/>
                                        </p:tgtEl>
                                        <p:attrNameLst>
                                          <p:attrName>style.visibility</p:attrName>
                                        </p:attrNameLst>
                                      </p:cBhvr>
                                      <p:to>
                                        <p:strVal val="visible"/>
                                      </p:to>
                                    </p:set>
                                    <p:animEffect transition="in" filter="wipe(left)">
                                      <p:cBhvr>
                                        <p:cTn id="105" dur="300"/>
                                        <p:tgtEl>
                                          <p:spTgt spid="89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autoUpdateAnimBg="0"/>
      <p:bldP spid="89093" grpId="0" autoUpdateAnimBg="0"/>
      <p:bldP spid="89094" grpId="0" autoUpdateAnimBg="0"/>
      <p:bldP spid="89099" grpId="0" animBg="1" autoUpdateAnimBg="0"/>
      <p:bldP spid="89101" grpId="0" animBg="1" autoUpdateAnimBg="0"/>
      <p:bldP spid="89102" grpId="0" animBg="1" autoUpdateAnimBg="0"/>
      <p:bldP spid="89103" grpId="0" animBg="1" autoUpdateAnimBg="0"/>
      <p:bldP spid="89104" grpId="0" animBg="1" autoUpdateAnimBg="0"/>
      <p:bldP spid="89105" grpId="0" animBg="1" autoUpdateAnimBg="0"/>
      <p:bldP spid="89106" grpId="0" animBg="1" autoUpdateAnimBg="0"/>
      <p:bldP spid="89107" grpId="0" animBg="1" autoUpdateAnimBg="0"/>
      <p:bldP spid="89108" grpId="0" animBg="1" autoUpdateAnimBg="0"/>
      <p:bldP spid="89109" grpId="0" animBg="1"/>
      <p:bldP spid="89110" grpId="0" animBg="1"/>
      <p:bldP spid="89111" grpId="0" animBg="1"/>
      <p:bldP spid="89112" grpId="0" animBg="1"/>
      <p:bldP spid="89113" grpId="0" animBg="1"/>
      <p:bldP spid="89114" grpId="0" animBg="1"/>
      <p:bldP spid="89115" grpId="0" animBg="1"/>
      <p:bldP spid="89116" grpId="0" autoUpdateAnimBg="0"/>
      <p:bldP spid="89117" grpId="0" autoUpdateAnimBg="0"/>
      <p:bldP spid="89119"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Text Box 2"/>
          <p:cNvSpPr txBox="1">
            <a:spLocks noChangeArrowheads="1"/>
          </p:cNvSpPr>
          <p:nvPr/>
        </p:nvSpPr>
        <p:spPr bwMode="auto">
          <a:xfrm>
            <a:off x="152400" y="288925"/>
            <a:ext cx="88201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4000">
                <a:ea typeface="楷体_GB2312" charset="0"/>
              </a:rPr>
              <a:t>    </a:t>
            </a:r>
            <a:r>
              <a:rPr lang="zh-CN" altLang="en-US" sz="4000">
                <a:solidFill>
                  <a:srgbClr val="A50021"/>
                </a:solidFill>
                <a:ea typeface="楷体_GB2312" charset="0"/>
              </a:rPr>
              <a:t>构造二叉平衡（查找）树的方法是：</a:t>
            </a:r>
            <a:endParaRPr lang="zh-CN" altLang="en-US" sz="4000">
              <a:ea typeface="楷体_GB2312" charset="0"/>
            </a:endParaRPr>
          </a:p>
          <a:p>
            <a:pPr>
              <a:lnSpc>
                <a:spcPct val="125000"/>
              </a:lnSpc>
            </a:pPr>
            <a:r>
              <a:rPr lang="zh-CN" altLang="en-US" sz="4000" b="1">
                <a:solidFill>
                  <a:srgbClr val="3333FF"/>
                </a:solidFill>
                <a:ea typeface="楷体_GB2312" charset="0"/>
              </a:rPr>
              <a:t>在插入过程中，采用平衡旋转技术。</a:t>
            </a:r>
            <a:endParaRPr lang="zh-CN" altLang="en-US" sz="4000"/>
          </a:p>
        </p:txBody>
      </p:sp>
      <p:sp>
        <p:nvSpPr>
          <p:cNvPr id="204803" name="Text Box 3"/>
          <p:cNvSpPr txBox="1">
            <a:spLocks noChangeArrowheads="1"/>
          </p:cNvSpPr>
          <p:nvPr/>
        </p:nvSpPr>
        <p:spPr bwMode="auto">
          <a:xfrm>
            <a:off x="381000" y="2330450"/>
            <a:ext cx="7854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A50021"/>
                </a:solidFill>
                <a:ea typeface="楷体_GB2312" charset="0"/>
              </a:rPr>
              <a:t>例如</a:t>
            </a:r>
            <a:r>
              <a:rPr lang="en-US" altLang="zh-CN" sz="3600">
                <a:solidFill>
                  <a:srgbClr val="A50021"/>
                </a:solidFill>
                <a:ea typeface="楷体_GB2312" charset="0"/>
              </a:rPr>
              <a:t>:</a:t>
            </a:r>
            <a:r>
              <a:rPr lang="zh-CN" altLang="en-US" sz="3600">
                <a:solidFill>
                  <a:srgbClr val="A50021"/>
                </a:solidFill>
                <a:ea typeface="楷体_GB2312" charset="0"/>
              </a:rPr>
              <a:t>依次插入的关键字为</a:t>
            </a:r>
            <a:r>
              <a:rPr lang="en-US" altLang="zh-CN" sz="3600">
                <a:solidFill>
                  <a:srgbClr val="A50021"/>
                </a:solidFill>
                <a:ea typeface="楷体_GB2312" charset="0"/>
              </a:rPr>
              <a:t>5, 4, 2, 8, 6, 9</a:t>
            </a:r>
          </a:p>
        </p:txBody>
      </p:sp>
      <p:sp>
        <p:nvSpPr>
          <p:cNvPr id="204804" name="Oval 4"/>
          <p:cNvSpPr>
            <a:spLocks noChangeArrowheads="1"/>
          </p:cNvSpPr>
          <p:nvPr/>
        </p:nvSpPr>
        <p:spPr bwMode="auto">
          <a:xfrm>
            <a:off x="1905000" y="3505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5</a:t>
            </a:r>
            <a:endParaRPr lang="en-US" altLang="zh-CN"/>
          </a:p>
        </p:txBody>
      </p:sp>
      <p:sp>
        <p:nvSpPr>
          <p:cNvPr id="204805" name="Oval 5"/>
          <p:cNvSpPr>
            <a:spLocks noChangeArrowheads="1"/>
          </p:cNvSpPr>
          <p:nvPr/>
        </p:nvSpPr>
        <p:spPr bwMode="auto">
          <a:xfrm>
            <a:off x="1143000" y="4267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4</a:t>
            </a:r>
            <a:endParaRPr lang="en-US" altLang="zh-CN"/>
          </a:p>
        </p:txBody>
      </p:sp>
      <p:sp>
        <p:nvSpPr>
          <p:cNvPr id="204806" name="Oval 6"/>
          <p:cNvSpPr>
            <a:spLocks noChangeArrowheads="1"/>
          </p:cNvSpPr>
          <p:nvPr/>
        </p:nvSpPr>
        <p:spPr bwMode="auto">
          <a:xfrm>
            <a:off x="381000" y="5029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2</a:t>
            </a:r>
            <a:endParaRPr lang="en-US" altLang="zh-CN"/>
          </a:p>
        </p:txBody>
      </p:sp>
      <p:sp>
        <p:nvSpPr>
          <p:cNvPr id="204807" name="Line 7"/>
          <p:cNvSpPr>
            <a:spLocks noChangeShapeType="1"/>
          </p:cNvSpPr>
          <p:nvPr/>
        </p:nvSpPr>
        <p:spPr bwMode="auto">
          <a:xfrm flipH="1">
            <a:off x="1524000" y="3886200"/>
            <a:ext cx="457200" cy="4572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08" name="Line 8"/>
          <p:cNvSpPr>
            <a:spLocks noChangeShapeType="1"/>
          </p:cNvSpPr>
          <p:nvPr/>
        </p:nvSpPr>
        <p:spPr bwMode="auto">
          <a:xfrm flipH="1">
            <a:off x="762000" y="4648200"/>
            <a:ext cx="457200" cy="4572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09" name="AutoShape 9"/>
          <p:cNvSpPr>
            <a:spLocks noChangeArrowheads="1"/>
          </p:cNvSpPr>
          <p:nvPr/>
        </p:nvSpPr>
        <p:spPr bwMode="auto">
          <a:xfrm>
            <a:off x="2438400" y="4495800"/>
            <a:ext cx="381000" cy="457200"/>
          </a:xfrm>
          <a:prstGeom prst="rightArrow">
            <a:avLst>
              <a:gd name="adj1" fmla="val 50000"/>
              <a:gd name="adj2" fmla="val 25000"/>
            </a:avLst>
          </a:prstGeom>
          <a:solidFill>
            <a:srgbClr val="FFCC99"/>
          </a:solidFill>
          <a:ln w="9525">
            <a:solidFill>
              <a:srgbClr val="9933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10" name="Oval 10"/>
          <p:cNvSpPr>
            <a:spLocks noChangeArrowheads="1"/>
          </p:cNvSpPr>
          <p:nvPr/>
        </p:nvSpPr>
        <p:spPr bwMode="auto">
          <a:xfrm>
            <a:off x="3733800" y="3505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4</a:t>
            </a:r>
            <a:endParaRPr lang="en-US" altLang="zh-CN"/>
          </a:p>
        </p:txBody>
      </p:sp>
      <p:sp>
        <p:nvSpPr>
          <p:cNvPr id="204811" name="Oval 11"/>
          <p:cNvSpPr>
            <a:spLocks noChangeArrowheads="1"/>
          </p:cNvSpPr>
          <p:nvPr/>
        </p:nvSpPr>
        <p:spPr bwMode="auto">
          <a:xfrm>
            <a:off x="2971800" y="4267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2</a:t>
            </a:r>
            <a:endParaRPr lang="en-US" altLang="zh-CN"/>
          </a:p>
        </p:txBody>
      </p:sp>
      <p:sp>
        <p:nvSpPr>
          <p:cNvPr id="204812" name="Line 12"/>
          <p:cNvSpPr>
            <a:spLocks noChangeShapeType="1"/>
          </p:cNvSpPr>
          <p:nvPr/>
        </p:nvSpPr>
        <p:spPr bwMode="auto">
          <a:xfrm flipH="1">
            <a:off x="3352800" y="3886200"/>
            <a:ext cx="457200" cy="4572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13" name="Oval 13"/>
          <p:cNvSpPr>
            <a:spLocks noChangeArrowheads="1"/>
          </p:cNvSpPr>
          <p:nvPr/>
        </p:nvSpPr>
        <p:spPr bwMode="auto">
          <a:xfrm>
            <a:off x="4495800" y="4267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5</a:t>
            </a:r>
            <a:endParaRPr lang="en-US" altLang="zh-CN"/>
          </a:p>
        </p:txBody>
      </p:sp>
      <p:sp>
        <p:nvSpPr>
          <p:cNvPr id="204814" name="Line 14"/>
          <p:cNvSpPr>
            <a:spLocks noChangeShapeType="1"/>
          </p:cNvSpPr>
          <p:nvPr/>
        </p:nvSpPr>
        <p:spPr bwMode="auto">
          <a:xfrm>
            <a:off x="4114800" y="3886200"/>
            <a:ext cx="457200" cy="45720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15" name="Line 15"/>
          <p:cNvSpPr>
            <a:spLocks noChangeShapeType="1"/>
          </p:cNvSpPr>
          <p:nvPr/>
        </p:nvSpPr>
        <p:spPr bwMode="auto">
          <a:xfrm>
            <a:off x="1447800" y="3048000"/>
            <a:ext cx="533400" cy="533400"/>
          </a:xfrm>
          <a:prstGeom prst="line">
            <a:avLst/>
          </a:prstGeom>
          <a:noFill/>
          <a:ln w="28575">
            <a:solidFill>
              <a:srgbClr val="A5002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16" name="Line 16"/>
          <p:cNvSpPr>
            <a:spLocks noChangeShapeType="1"/>
          </p:cNvSpPr>
          <p:nvPr/>
        </p:nvSpPr>
        <p:spPr bwMode="auto">
          <a:xfrm>
            <a:off x="3352800" y="3124200"/>
            <a:ext cx="457200" cy="457200"/>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17" name="AutoShape 17"/>
          <p:cNvSpPr>
            <a:spLocks noChangeArrowheads="1"/>
          </p:cNvSpPr>
          <p:nvPr/>
        </p:nvSpPr>
        <p:spPr bwMode="auto">
          <a:xfrm>
            <a:off x="5715000" y="4495800"/>
            <a:ext cx="381000" cy="457200"/>
          </a:xfrm>
          <a:prstGeom prst="rightArrow">
            <a:avLst>
              <a:gd name="adj1" fmla="val 50000"/>
              <a:gd name="adj2" fmla="val 25000"/>
            </a:avLst>
          </a:prstGeom>
          <a:solidFill>
            <a:srgbClr val="FFCC99"/>
          </a:solidFill>
          <a:ln w="9525">
            <a:solidFill>
              <a:srgbClr val="9933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18" name="Oval 18"/>
          <p:cNvSpPr>
            <a:spLocks noChangeArrowheads="1"/>
          </p:cNvSpPr>
          <p:nvPr/>
        </p:nvSpPr>
        <p:spPr bwMode="auto">
          <a:xfrm>
            <a:off x="5181600" y="5029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8</a:t>
            </a:r>
            <a:endParaRPr lang="en-US" altLang="zh-CN"/>
          </a:p>
        </p:txBody>
      </p:sp>
      <p:sp>
        <p:nvSpPr>
          <p:cNvPr id="204819" name="Line 19"/>
          <p:cNvSpPr>
            <a:spLocks noChangeShapeType="1"/>
          </p:cNvSpPr>
          <p:nvPr/>
        </p:nvSpPr>
        <p:spPr bwMode="auto">
          <a:xfrm>
            <a:off x="4876800" y="4648200"/>
            <a:ext cx="457200" cy="4572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20" name="Oval 20"/>
          <p:cNvSpPr>
            <a:spLocks noChangeArrowheads="1"/>
          </p:cNvSpPr>
          <p:nvPr/>
        </p:nvSpPr>
        <p:spPr bwMode="auto">
          <a:xfrm>
            <a:off x="4495800" y="5791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6</a:t>
            </a:r>
            <a:endParaRPr lang="en-US" altLang="zh-CN"/>
          </a:p>
        </p:txBody>
      </p:sp>
      <p:sp>
        <p:nvSpPr>
          <p:cNvPr id="204821" name="Line 21"/>
          <p:cNvSpPr>
            <a:spLocks noChangeShapeType="1"/>
          </p:cNvSpPr>
          <p:nvPr/>
        </p:nvSpPr>
        <p:spPr bwMode="auto">
          <a:xfrm flipH="1">
            <a:off x="4800600" y="5410200"/>
            <a:ext cx="457200" cy="4572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22" name="Rectangle 22"/>
          <p:cNvSpPr>
            <a:spLocks noChangeArrowheads="1"/>
          </p:cNvSpPr>
          <p:nvPr/>
        </p:nvSpPr>
        <p:spPr bwMode="auto">
          <a:xfrm>
            <a:off x="4343400" y="4191000"/>
            <a:ext cx="1371600" cy="2133600"/>
          </a:xfrm>
          <a:prstGeom prst="rect">
            <a:avLst/>
          </a:prstGeom>
          <a:solidFill>
            <a:srgbClr val="FFFF99">
              <a:alpha val="50000"/>
            </a:srgbClr>
          </a:solidFill>
          <a:ln w="9525">
            <a:solidFill>
              <a:srgbClr val="FFFFCC"/>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26" name="Line 26"/>
          <p:cNvSpPr>
            <a:spLocks noChangeShapeType="1"/>
          </p:cNvSpPr>
          <p:nvPr/>
        </p:nvSpPr>
        <p:spPr bwMode="auto">
          <a:xfrm>
            <a:off x="7391400" y="3886200"/>
            <a:ext cx="457200" cy="457200"/>
          </a:xfrm>
          <a:prstGeom prst="line">
            <a:avLst/>
          </a:prstGeom>
          <a:noFill/>
          <a:ln w="317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27" name="Line 27"/>
          <p:cNvSpPr>
            <a:spLocks noChangeShapeType="1"/>
          </p:cNvSpPr>
          <p:nvPr/>
        </p:nvSpPr>
        <p:spPr bwMode="auto">
          <a:xfrm>
            <a:off x="6553200" y="3048000"/>
            <a:ext cx="533400" cy="533400"/>
          </a:xfrm>
          <a:prstGeom prst="line">
            <a:avLst/>
          </a:prstGeom>
          <a:noFill/>
          <a:ln w="28575">
            <a:solidFill>
              <a:srgbClr val="A5002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28" name="Oval 28"/>
          <p:cNvSpPr>
            <a:spLocks noChangeArrowheads="1"/>
          </p:cNvSpPr>
          <p:nvPr/>
        </p:nvSpPr>
        <p:spPr bwMode="auto">
          <a:xfrm>
            <a:off x="7772400" y="4267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6</a:t>
            </a:r>
            <a:endParaRPr lang="en-US" altLang="zh-CN"/>
          </a:p>
        </p:txBody>
      </p:sp>
      <p:sp>
        <p:nvSpPr>
          <p:cNvPr id="204829" name="Oval 29"/>
          <p:cNvSpPr>
            <a:spLocks noChangeArrowheads="1"/>
          </p:cNvSpPr>
          <p:nvPr/>
        </p:nvSpPr>
        <p:spPr bwMode="auto">
          <a:xfrm>
            <a:off x="7010400" y="5029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5</a:t>
            </a:r>
            <a:endParaRPr lang="en-US" altLang="zh-CN"/>
          </a:p>
        </p:txBody>
      </p:sp>
      <p:sp>
        <p:nvSpPr>
          <p:cNvPr id="204830" name="Line 30"/>
          <p:cNvSpPr>
            <a:spLocks noChangeShapeType="1"/>
          </p:cNvSpPr>
          <p:nvPr/>
        </p:nvSpPr>
        <p:spPr bwMode="auto">
          <a:xfrm flipH="1">
            <a:off x="7391400" y="4648200"/>
            <a:ext cx="457200" cy="45720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31" name="Line 31"/>
          <p:cNvSpPr>
            <a:spLocks noChangeShapeType="1"/>
          </p:cNvSpPr>
          <p:nvPr/>
        </p:nvSpPr>
        <p:spPr bwMode="auto">
          <a:xfrm>
            <a:off x="8153400" y="4648200"/>
            <a:ext cx="457200" cy="457200"/>
          </a:xfrm>
          <a:prstGeom prst="line">
            <a:avLst/>
          </a:prstGeom>
          <a:noFill/>
          <a:ln w="317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33" name="Oval 33"/>
          <p:cNvSpPr>
            <a:spLocks noChangeArrowheads="1"/>
          </p:cNvSpPr>
          <p:nvPr/>
        </p:nvSpPr>
        <p:spPr bwMode="auto">
          <a:xfrm>
            <a:off x="8534400" y="5029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8</a:t>
            </a:r>
            <a:endParaRPr lang="en-US" altLang="zh-CN"/>
          </a:p>
        </p:txBody>
      </p:sp>
      <p:sp>
        <p:nvSpPr>
          <p:cNvPr id="204834" name="Oval 34"/>
          <p:cNvSpPr>
            <a:spLocks noChangeArrowheads="1"/>
          </p:cNvSpPr>
          <p:nvPr/>
        </p:nvSpPr>
        <p:spPr bwMode="auto">
          <a:xfrm>
            <a:off x="7010400" y="3505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4</a:t>
            </a:r>
            <a:endParaRPr lang="en-US" altLang="zh-CN"/>
          </a:p>
        </p:txBody>
      </p:sp>
      <p:sp>
        <p:nvSpPr>
          <p:cNvPr id="204835" name="Oval 35"/>
          <p:cNvSpPr>
            <a:spLocks noChangeArrowheads="1"/>
          </p:cNvSpPr>
          <p:nvPr/>
        </p:nvSpPr>
        <p:spPr bwMode="auto">
          <a:xfrm>
            <a:off x="6248400" y="4267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2</a:t>
            </a:r>
            <a:endParaRPr lang="en-US" altLang="zh-CN"/>
          </a:p>
        </p:txBody>
      </p:sp>
      <p:sp>
        <p:nvSpPr>
          <p:cNvPr id="204836" name="Line 36"/>
          <p:cNvSpPr>
            <a:spLocks noChangeShapeType="1"/>
          </p:cNvSpPr>
          <p:nvPr/>
        </p:nvSpPr>
        <p:spPr bwMode="auto">
          <a:xfrm flipH="1">
            <a:off x="6629400" y="3886200"/>
            <a:ext cx="457200" cy="4572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4837" name="AutoShape 37"/>
          <p:cNvSpPr>
            <a:spLocks noChangeArrowheads="1"/>
          </p:cNvSpPr>
          <p:nvPr/>
        </p:nvSpPr>
        <p:spPr bwMode="auto">
          <a:xfrm>
            <a:off x="2438400" y="5791200"/>
            <a:ext cx="1524000" cy="838200"/>
          </a:xfrm>
          <a:prstGeom prst="wedgeRoundRectCallout">
            <a:avLst>
              <a:gd name="adj1" fmla="val -43125"/>
              <a:gd name="adj2" fmla="val -158144"/>
              <a:gd name="adj3" fmla="val 16667"/>
            </a:avLst>
          </a:prstGeom>
          <a:solidFill>
            <a:srgbClr val="FFFFCC"/>
          </a:solidFill>
          <a:ln w="9525">
            <a:solidFill>
              <a:srgbClr val="8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zh-CN" altLang="en-US" sz="2800">
                <a:solidFill>
                  <a:srgbClr val="A50021"/>
                </a:solidFill>
                <a:ea typeface="隶书" charset="0"/>
              </a:rPr>
              <a:t>向右旋转</a:t>
            </a:r>
          </a:p>
          <a:p>
            <a:pPr algn="ctr"/>
            <a:r>
              <a:rPr lang="zh-CN" altLang="en-US" sz="2800">
                <a:solidFill>
                  <a:srgbClr val="A50021"/>
                </a:solidFill>
                <a:ea typeface="隶书" charset="0"/>
              </a:rPr>
              <a:t>一次</a:t>
            </a:r>
            <a:endParaRPr lang="zh-CN" altLang="en-US" sz="2800"/>
          </a:p>
        </p:txBody>
      </p:sp>
      <p:sp>
        <p:nvSpPr>
          <p:cNvPr id="204838" name="AutoShape 38"/>
          <p:cNvSpPr>
            <a:spLocks noChangeArrowheads="1"/>
          </p:cNvSpPr>
          <p:nvPr/>
        </p:nvSpPr>
        <p:spPr bwMode="auto">
          <a:xfrm>
            <a:off x="6096000" y="5791200"/>
            <a:ext cx="1981200" cy="914400"/>
          </a:xfrm>
          <a:prstGeom prst="wedgeRoundRectCallout">
            <a:avLst>
              <a:gd name="adj1" fmla="val -65384"/>
              <a:gd name="adj2" fmla="val -150870"/>
              <a:gd name="adj3" fmla="val 16667"/>
            </a:avLst>
          </a:prstGeom>
          <a:solidFill>
            <a:srgbClr val="FFFFCC"/>
          </a:solidFill>
          <a:ln w="9525">
            <a:solidFill>
              <a:srgbClr val="9933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zh-CN" altLang="en-US" sz="2800">
                <a:solidFill>
                  <a:srgbClr val="A50021"/>
                </a:solidFill>
                <a:ea typeface="隶书" charset="0"/>
              </a:rPr>
              <a:t>先向右旋转</a:t>
            </a:r>
          </a:p>
          <a:p>
            <a:pPr algn="ctr"/>
            <a:r>
              <a:rPr lang="zh-CN" altLang="en-US" sz="2800">
                <a:solidFill>
                  <a:srgbClr val="A50021"/>
                </a:solidFill>
                <a:ea typeface="隶书" charset="0"/>
              </a:rPr>
              <a:t>再向左旋转</a:t>
            </a:r>
            <a:endParaRPr lang="zh-CN" altLang="en-US" sz="3200"/>
          </a:p>
        </p:txBody>
      </p:sp>
      <p:sp>
        <p:nvSpPr>
          <p:cNvPr id="204839" name="Rectangle 39"/>
          <p:cNvSpPr>
            <a:spLocks noChangeArrowheads="1"/>
          </p:cNvSpPr>
          <p:nvPr/>
        </p:nvSpPr>
        <p:spPr bwMode="auto">
          <a:xfrm>
            <a:off x="304800" y="3276600"/>
            <a:ext cx="2133600" cy="2286000"/>
          </a:xfrm>
          <a:prstGeom prst="rect">
            <a:avLst/>
          </a:prstGeom>
          <a:solidFill>
            <a:srgbClr val="FF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9837237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04802"/>
                                        </p:tgtEl>
                                        <p:attrNameLst>
                                          <p:attrName>style.visibility</p:attrName>
                                        </p:attrNameLst>
                                      </p:cBhvr>
                                      <p:to>
                                        <p:strVal val="visible"/>
                                      </p:to>
                                    </p:set>
                                    <p:animEffect transition="in" filter="strips(downRight)">
                                      <p:cBhvr>
                                        <p:cTn id="7" dur="500"/>
                                        <p:tgtEl>
                                          <p:spTgt spid="2048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204803"/>
                                        </p:tgtEl>
                                        <p:attrNameLst>
                                          <p:attrName>style.visibility</p:attrName>
                                        </p:attrNameLst>
                                      </p:cBhvr>
                                      <p:to>
                                        <p:strVal val="visible"/>
                                      </p:to>
                                    </p:set>
                                    <p:anim calcmode="lin" valueType="num">
                                      <p:cBhvr additive="base">
                                        <p:cTn id="12" dur="500" fill="hold"/>
                                        <p:tgtEl>
                                          <p:spTgt spid="204803"/>
                                        </p:tgtEl>
                                        <p:attrNameLst>
                                          <p:attrName>ppt_x</p:attrName>
                                        </p:attrNameLst>
                                      </p:cBhvr>
                                      <p:tavLst>
                                        <p:tav tm="0">
                                          <p:val>
                                            <p:strVal val="1+#ppt_w/2"/>
                                          </p:val>
                                        </p:tav>
                                        <p:tav tm="100000">
                                          <p:val>
                                            <p:strVal val="#ppt_x"/>
                                          </p:val>
                                        </p:tav>
                                      </p:tavLst>
                                    </p:anim>
                                    <p:anim calcmode="lin" valueType="num">
                                      <p:cBhvr additive="base">
                                        <p:cTn id="13" dur="500" fill="hold"/>
                                        <p:tgtEl>
                                          <p:spTgt spid="20480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04815"/>
                                        </p:tgtEl>
                                        <p:attrNameLst>
                                          <p:attrName>style.visibility</p:attrName>
                                        </p:attrNameLst>
                                      </p:cBhvr>
                                      <p:to>
                                        <p:strVal val="visible"/>
                                      </p:to>
                                    </p:set>
                                    <p:animEffect transition="in" filter="wipe(up)">
                                      <p:cBhvr>
                                        <p:cTn id="18" dur="500"/>
                                        <p:tgtEl>
                                          <p:spTgt spid="204815"/>
                                        </p:tgtEl>
                                      </p:cBhvr>
                                    </p:animEffect>
                                  </p:childTnLst>
                                </p:cTn>
                              </p:par>
                            </p:childTnLst>
                          </p:cTn>
                        </p:par>
                        <p:par>
                          <p:cTn id="19" fill="hold" nodeType="afterGroup">
                            <p:stCondLst>
                              <p:cond delay="500"/>
                            </p:stCondLst>
                            <p:childTnLst>
                              <p:par>
                                <p:cTn id="20" presetID="22" presetClass="entr" presetSubtype="1" fill="hold" grpId="0" nodeType="afterEffect">
                                  <p:stCondLst>
                                    <p:cond delay="0"/>
                                  </p:stCondLst>
                                  <p:childTnLst>
                                    <p:set>
                                      <p:cBhvr>
                                        <p:cTn id="21" dur="1" fill="hold">
                                          <p:stCondLst>
                                            <p:cond delay="0"/>
                                          </p:stCondLst>
                                        </p:cTn>
                                        <p:tgtEl>
                                          <p:spTgt spid="204804"/>
                                        </p:tgtEl>
                                        <p:attrNameLst>
                                          <p:attrName>style.visibility</p:attrName>
                                        </p:attrNameLst>
                                      </p:cBhvr>
                                      <p:to>
                                        <p:strVal val="visible"/>
                                      </p:to>
                                    </p:set>
                                    <p:animEffect transition="in" filter="wipe(up)">
                                      <p:cBhvr>
                                        <p:cTn id="22" dur="500"/>
                                        <p:tgtEl>
                                          <p:spTgt spid="20480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04807"/>
                                        </p:tgtEl>
                                        <p:attrNameLst>
                                          <p:attrName>style.visibility</p:attrName>
                                        </p:attrNameLst>
                                      </p:cBhvr>
                                      <p:to>
                                        <p:strVal val="visible"/>
                                      </p:to>
                                    </p:set>
                                    <p:animEffect transition="in" filter="wipe(up)">
                                      <p:cBhvr>
                                        <p:cTn id="27" dur="500"/>
                                        <p:tgtEl>
                                          <p:spTgt spid="204807"/>
                                        </p:tgtEl>
                                      </p:cBhvr>
                                    </p:animEffect>
                                  </p:childTnLst>
                                </p:cTn>
                              </p:par>
                            </p:childTnLst>
                          </p:cTn>
                        </p:par>
                        <p:par>
                          <p:cTn id="28" fill="hold" nodeType="afterGroup">
                            <p:stCondLst>
                              <p:cond delay="500"/>
                            </p:stCondLst>
                            <p:childTnLst>
                              <p:par>
                                <p:cTn id="29" presetID="22" presetClass="entr" presetSubtype="1" fill="hold" grpId="0" nodeType="afterEffect">
                                  <p:stCondLst>
                                    <p:cond delay="0"/>
                                  </p:stCondLst>
                                  <p:childTnLst>
                                    <p:set>
                                      <p:cBhvr>
                                        <p:cTn id="30" dur="1" fill="hold">
                                          <p:stCondLst>
                                            <p:cond delay="0"/>
                                          </p:stCondLst>
                                        </p:cTn>
                                        <p:tgtEl>
                                          <p:spTgt spid="204805"/>
                                        </p:tgtEl>
                                        <p:attrNameLst>
                                          <p:attrName>style.visibility</p:attrName>
                                        </p:attrNameLst>
                                      </p:cBhvr>
                                      <p:to>
                                        <p:strVal val="visible"/>
                                      </p:to>
                                    </p:set>
                                    <p:animEffect transition="in" filter="wipe(up)">
                                      <p:cBhvr>
                                        <p:cTn id="31" dur="500"/>
                                        <p:tgtEl>
                                          <p:spTgt spid="20480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204808"/>
                                        </p:tgtEl>
                                        <p:attrNameLst>
                                          <p:attrName>style.visibility</p:attrName>
                                        </p:attrNameLst>
                                      </p:cBhvr>
                                      <p:to>
                                        <p:strVal val="visible"/>
                                      </p:to>
                                    </p:set>
                                    <p:animEffect transition="in" filter="wipe(up)">
                                      <p:cBhvr>
                                        <p:cTn id="36" dur="500"/>
                                        <p:tgtEl>
                                          <p:spTgt spid="204808"/>
                                        </p:tgtEl>
                                      </p:cBhvr>
                                    </p:animEffect>
                                  </p:childTnLst>
                                </p:cTn>
                              </p:par>
                            </p:childTnLst>
                          </p:cTn>
                        </p:par>
                        <p:par>
                          <p:cTn id="37" fill="hold" nodeType="afterGroup">
                            <p:stCondLst>
                              <p:cond delay="500"/>
                            </p:stCondLst>
                            <p:childTnLst>
                              <p:par>
                                <p:cTn id="38" presetID="22" presetClass="entr" presetSubtype="1" fill="hold" grpId="0" nodeType="afterEffect">
                                  <p:stCondLst>
                                    <p:cond delay="0"/>
                                  </p:stCondLst>
                                  <p:childTnLst>
                                    <p:set>
                                      <p:cBhvr>
                                        <p:cTn id="39" dur="1" fill="hold">
                                          <p:stCondLst>
                                            <p:cond delay="0"/>
                                          </p:stCondLst>
                                        </p:cTn>
                                        <p:tgtEl>
                                          <p:spTgt spid="204806"/>
                                        </p:tgtEl>
                                        <p:attrNameLst>
                                          <p:attrName>style.visibility</p:attrName>
                                        </p:attrNameLst>
                                      </p:cBhvr>
                                      <p:to>
                                        <p:strVal val="visible"/>
                                      </p:to>
                                    </p:set>
                                    <p:animEffect transition="in" filter="wipe(up)">
                                      <p:cBhvr>
                                        <p:cTn id="40" dur="500"/>
                                        <p:tgtEl>
                                          <p:spTgt spid="20480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04839"/>
                                        </p:tgtEl>
                                        <p:attrNameLst>
                                          <p:attrName>style.visibility</p:attrName>
                                        </p:attrNameLst>
                                      </p:cBhvr>
                                      <p:to>
                                        <p:strVal val="visible"/>
                                      </p:to>
                                    </p:set>
                                    <p:animEffect transition="in" filter="wipe(left)">
                                      <p:cBhvr>
                                        <p:cTn id="45" dur="500"/>
                                        <p:tgtEl>
                                          <p:spTgt spid="20483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7" presetClass="entr" presetSubtype="8" fill="hold" grpId="0" nodeType="clickEffect">
                                  <p:stCondLst>
                                    <p:cond delay="0"/>
                                  </p:stCondLst>
                                  <p:childTnLst>
                                    <p:set>
                                      <p:cBhvr>
                                        <p:cTn id="49" dur="1" fill="hold">
                                          <p:stCondLst>
                                            <p:cond delay="0"/>
                                          </p:stCondLst>
                                        </p:cTn>
                                        <p:tgtEl>
                                          <p:spTgt spid="204809"/>
                                        </p:tgtEl>
                                        <p:attrNameLst>
                                          <p:attrName>style.visibility</p:attrName>
                                        </p:attrNameLst>
                                      </p:cBhvr>
                                      <p:to>
                                        <p:strVal val="visible"/>
                                      </p:to>
                                    </p:set>
                                    <p:anim calcmode="lin" valueType="num">
                                      <p:cBhvr>
                                        <p:cTn id="50" dur="500" fill="hold"/>
                                        <p:tgtEl>
                                          <p:spTgt spid="204809"/>
                                        </p:tgtEl>
                                        <p:attrNameLst>
                                          <p:attrName>ppt_x</p:attrName>
                                        </p:attrNameLst>
                                      </p:cBhvr>
                                      <p:tavLst>
                                        <p:tav tm="0">
                                          <p:val>
                                            <p:strVal val="#ppt_x-#ppt_w/2"/>
                                          </p:val>
                                        </p:tav>
                                        <p:tav tm="100000">
                                          <p:val>
                                            <p:strVal val="#ppt_x"/>
                                          </p:val>
                                        </p:tav>
                                      </p:tavLst>
                                    </p:anim>
                                    <p:anim calcmode="lin" valueType="num">
                                      <p:cBhvr>
                                        <p:cTn id="51" dur="500" fill="hold"/>
                                        <p:tgtEl>
                                          <p:spTgt spid="204809"/>
                                        </p:tgtEl>
                                        <p:attrNameLst>
                                          <p:attrName>ppt_y</p:attrName>
                                        </p:attrNameLst>
                                      </p:cBhvr>
                                      <p:tavLst>
                                        <p:tav tm="0">
                                          <p:val>
                                            <p:strVal val="#ppt_y"/>
                                          </p:val>
                                        </p:tav>
                                        <p:tav tm="100000">
                                          <p:val>
                                            <p:strVal val="#ppt_y"/>
                                          </p:val>
                                        </p:tav>
                                      </p:tavLst>
                                    </p:anim>
                                    <p:anim calcmode="lin" valueType="num">
                                      <p:cBhvr>
                                        <p:cTn id="52" dur="500" fill="hold"/>
                                        <p:tgtEl>
                                          <p:spTgt spid="204809"/>
                                        </p:tgtEl>
                                        <p:attrNameLst>
                                          <p:attrName>ppt_w</p:attrName>
                                        </p:attrNameLst>
                                      </p:cBhvr>
                                      <p:tavLst>
                                        <p:tav tm="0">
                                          <p:val>
                                            <p:fltVal val="0"/>
                                          </p:val>
                                        </p:tav>
                                        <p:tav tm="100000">
                                          <p:val>
                                            <p:strVal val="#ppt_w"/>
                                          </p:val>
                                        </p:tav>
                                      </p:tavLst>
                                    </p:anim>
                                    <p:anim calcmode="lin" valueType="num">
                                      <p:cBhvr>
                                        <p:cTn id="53" dur="500" fill="hold"/>
                                        <p:tgtEl>
                                          <p:spTgt spid="204809"/>
                                        </p:tgtEl>
                                        <p:attrNameLst>
                                          <p:attrName>ppt_h</p:attrName>
                                        </p:attrNameLst>
                                      </p:cBhvr>
                                      <p:tavLst>
                                        <p:tav tm="0">
                                          <p:val>
                                            <p:strVal val="#ppt_h"/>
                                          </p:val>
                                        </p:tav>
                                        <p:tav tm="100000">
                                          <p:val>
                                            <p:strVal val="#ppt_h"/>
                                          </p:val>
                                        </p:tav>
                                      </p:tavLst>
                                    </p:anim>
                                  </p:childTnLst>
                                </p:cTn>
                              </p:par>
                            </p:childTnLst>
                          </p:cTn>
                        </p:par>
                        <p:par>
                          <p:cTn id="54" fill="hold" nodeType="afterGroup">
                            <p:stCondLst>
                              <p:cond delay="500"/>
                            </p:stCondLst>
                            <p:childTnLst>
                              <p:par>
                                <p:cTn id="55" presetID="12" presetClass="entr" presetSubtype="4" fill="hold" grpId="0" nodeType="afterEffect">
                                  <p:stCondLst>
                                    <p:cond delay="0"/>
                                  </p:stCondLst>
                                  <p:childTnLst>
                                    <p:set>
                                      <p:cBhvr>
                                        <p:cTn id="56" dur="1" fill="hold">
                                          <p:stCondLst>
                                            <p:cond delay="0"/>
                                          </p:stCondLst>
                                        </p:cTn>
                                        <p:tgtEl>
                                          <p:spTgt spid="204837"/>
                                        </p:tgtEl>
                                        <p:attrNameLst>
                                          <p:attrName>style.visibility</p:attrName>
                                        </p:attrNameLst>
                                      </p:cBhvr>
                                      <p:to>
                                        <p:strVal val="visible"/>
                                      </p:to>
                                    </p:set>
                                    <p:animEffect transition="in" filter="slide(fromBottom)">
                                      <p:cBhvr>
                                        <p:cTn id="57" dur="500"/>
                                        <p:tgtEl>
                                          <p:spTgt spid="20483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204816"/>
                                        </p:tgtEl>
                                        <p:attrNameLst>
                                          <p:attrName>style.visibility</p:attrName>
                                        </p:attrNameLst>
                                      </p:cBhvr>
                                      <p:to>
                                        <p:strVal val="visible"/>
                                      </p:to>
                                    </p:set>
                                    <p:animEffect transition="in" filter="wipe(up)">
                                      <p:cBhvr>
                                        <p:cTn id="62" dur="500"/>
                                        <p:tgtEl>
                                          <p:spTgt spid="204816"/>
                                        </p:tgtEl>
                                      </p:cBhvr>
                                    </p:animEffect>
                                  </p:childTnLst>
                                </p:cTn>
                              </p:par>
                            </p:childTnLst>
                          </p:cTn>
                        </p:par>
                        <p:par>
                          <p:cTn id="63" fill="hold" nodeType="afterGroup">
                            <p:stCondLst>
                              <p:cond delay="500"/>
                            </p:stCondLst>
                            <p:childTnLst>
                              <p:par>
                                <p:cTn id="64" presetID="22" presetClass="entr" presetSubtype="1" fill="hold" grpId="0" nodeType="afterEffect">
                                  <p:stCondLst>
                                    <p:cond delay="0"/>
                                  </p:stCondLst>
                                  <p:childTnLst>
                                    <p:set>
                                      <p:cBhvr>
                                        <p:cTn id="65" dur="1" fill="hold">
                                          <p:stCondLst>
                                            <p:cond delay="0"/>
                                          </p:stCondLst>
                                        </p:cTn>
                                        <p:tgtEl>
                                          <p:spTgt spid="204810"/>
                                        </p:tgtEl>
                                        <p:attrNameLst>
                                          <p:attrName>style.visibility</p:attrName>
                                        </p:attrNameLst>
                                      </p:cBhvr>
                                      <p:to>
                                        <p:strVal val="visible"/>
                                      </p:to>
                                    </p:set>
                                    <p:animEffect transition="in" filter="wipe(up)">
                                      <p:cBhvr>
                                        <p:cTn id="66" dur="500"/>
                                        <p:tgtEl>
                                          <p:spTgt spid="204810"/>
                                        </p:tgtEl>
                                      </p:cBhvr>
                                    </p:animEffect>
                                  </p:childTnLst>
                                </p:cTn>
                              </p:par>
                            </p:childTnLst>
                          </p:cTn>
                        </p:par>
                        <p:par>
                          <p:cTn id="67" fill="hold" nodeType="afterGroup">
                            <p:stCondLst>
                              <p:cond delay="1000"/>
                            </p:stCondLst>
                            <p:childTnLst>
                              <p:par>
                                <p:cTn id="68" presetID="1" presetClass="entr" presetSubtype="0" fill="hold" grpId="0" nodeType="afterEffect">
                                  <p:stCondLst>
                                    <p:cond delay="0"/>
                                  </p:stCondLst>
                                  <p:childTnLst>
                                    <p:set>
                                      <p:cBhvr>
                                        <p:cTn id="69" dur="1" fill="hold">
                                          <p:stCondLst>
                                            <p:cond delay="499"/>
                                          </p:stCondLst>
                                        </p:cTn>
                                        <p:tgtEl>
                                          <p:spTgt spid="204812"/>
                                        </p:tgtEl>
                                        <p:attrNameLst>
                                          <p:attrName>style.visibility</p:attrName>
                                        </p:attrNameLst>
                                      </p:cBhvr>
                                      <p:to>
                                        <p:strVal val="visible"/>
                                      </p:to>
                                    </p:set>
                                  </p:childTnLst>
                                </p:cTn>
                              </p:par>
                            </p:childTnLst>
                          </p:cTn>
                        </p:par>
                        <p:par>
                          <p:cTn id="70" fill="hold" nodeType="afterGroup">
                            <p:stCondLst>
                              <p:cond delay="1500"/>
                            </p:stCondLst>
                            <p:childTnLst>
                              <p:par>
                                <p:cTn id="71" presetID="1" presetClass="entr" presetSubtype="0" fill="hold" grpId="0" nodeType="afterEffect">
                                  <p:stCondLst>
                                    <p:cond delay="0"/>
                                  </p:stCondLst>
                                  <p:childTnLst>
                                    <p:set>
                                      <p:cBhvr>
                                        <p:cTn id="72" dur="1" fill="hold">
                                          <p:stCondLst>
                                            <p:cond delay="499"/>
                                          </p:stCondLst>
                                        </p:cTn>
                                        <p:tgtEl>
                                          <p:spTgt spid="204811"/>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204814"/>
                                        </p:tgtEl>
                                        <p:attrNameLst>
                                          <p:attrName>style.visibility</p:attrName>
                                        </p:attrNameLst>
                                      </p:cBhvr>
                                      <p:to>
                                        <p:strVal val="visible"/>
                                      </p:to>
                                    </p:set>
                                    <p:animEffect transition="in" filter="wipe(up)">
                                      <p:cBhvr>
                                        <p:cTn id="77" dur="500"/>
                                        <p:tgtEl>
                                          <p:spTgt spid="204814"/>
                                        </p:tgtEl>
                                      </p:cBhvr>
                                    </p:animEffect>
                                  </p:childTnLst>
                                </p:cTn>
                              </p:par>
                            </p:childTnLst>
                          </p:cTn>
                        </p:par>
                        <p:par>
                          <p:cTn id="78" fill="hold" nodeType="afterGroup">
                            <p:stCondLst>
                              <p:cond delay="500"/>
                            </p:stCondLst>
                            <p:childTnLst>
                              <p:par>
                                <p:cTn id="79" presetID="22" presetClass="entr" presetSubtype="1" fill="hold" grpId="0" nodeType="afterEffect">
                                  <p:stCondLst>
                                    <p:cond delay="0"/>
                                  </p:stCondLst>
                                  <p:childTnLst>
                                    <p:set>
                                      <p:cBhvr>
                                        <p:cTn id="80" dur="1" fill="hold">
                                          <p:stCondLst>
                                            <p:cond delay="0"/>
                                          </p:stCondLst>
                                        </p:cTn>
                                        <p:tgtEl>
                                          <p:spTgt spid="204813"/>
                                        </p:tgtEl>
                                        <p:attrNameLst>
                                          <p:attrName>style.visibility</p:attrName>
                                        </p:attrNameLst>
                                      </p:cBhvr>
                                      <p:to>
                                        <p:strVal val="visible"/>
                                      </p:to>
                                    </p:set>
                                    <p:animEffect transition="in" filter="wipe(up)">
                                      <p:cBhvr>
                                        <p:cTn id="81" dur="500"/>
                                        <p:tgtEl>
                                          <p:spTgt spid="204813"/>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1" fill="hold" grpId="0" nodeType="clickEffect">
                                  <p:stCondLst>
                                    <p:cond delay="0"/>
                                  </p:stCondLst>
                                  <p:childTnLst>
                                    <p:set>
                                      <p:cBhvr>
                                        <p:cTn id="85" dur="1" fill="hold">
                                          <p:stCondLst>
                                            <p:cond delay="0"/>
                                          </p:stCondLst>
                                        </p:cTn>
                                        <p:tgtEl>
                                          <p:spTgt spid="204819"/>
                                        </p:tgtEl>
                                        <p:attrNameLst>
                                          <p:attrName>style.visibility</p:attrName>
                                        </p:attrNameLst>
                                      </p:cBhvr>
                                      <p:to>
                                        <p:strVal val="visible"/>
                                      </p:to>
                                    </p:set>
                                    <p:animEffect transition="in" filter="wipe(up)">
                                      <p:cBhvr>
                                        <p:cTn id="86" dur="500"/>
                                        <p:tgtEl>
                                          <p:spTgt spid="204819"/>
                                        </p:tgtEl>
                                      </p:cBhvr>
                                    </p:animEffect>
                                  </p:childTnLst>
                                </p:cTn>
                              </p:par>
                            </p:childTnLst>
                          </p:cTn>
                        </p:par>
                        <p:par>
                          <p:cTn id="87" fill="hold" nodeType="afterGroup">
                            <p:stCondLst>
                              <p:cond delay="500"/>
                            </p:stCondLst>
                            <p:childTnLst>
                              <p:par>
                                <p:cTn id="88" presetID="22" presetClass="entr" presetSubtype="1" fill="hold" grpId="0" nodeType="afterEffect">
                                  <p:stCondLst>
                                    <p:cond delay="0"/>
                                  </p:stCondLst>
                                  <p:childTnLst>
                                    <p:set>
                                      <p:cBhvr>
                                        <p:cTn id="89" dur="1" fill="hold">
                                          <p:stCondLst>
                                            <p:cond delay="0"/>
                                          </p:stCondLst>
                                        </p:cTn>
                                        <p:tgtEl>
                                          <p:spTgt spid="204818"/>
                                        </p:tgtEl>
                                        <p:attrNameLst>
                                          <p:attrName>style.visibility</p:attrName>
                                        </p:attrNameLst>
                                      </p:cBhvr>
                                      <p:to>
                                        <p:strVal val="visible"/>
                                      </p:to>
                                    </p:set>
                                    <p:animEffect transition="in" filter="wipe(up)">
                                      <p:cBhvr>
                                        <p:cTn id="90" dur="500"/>
                                        <p:tgtEl>
                                          <p:spTgt spid="204818"/>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grpId="0" nodeType="clickEffect">
                                  <p:stCondLst>
                                    <p:cond delay="0"/>
                                  </p:stCondLst>
                                  <p:childTnLst>
                                    <p:set>
                                      <p:cBhvr>
                                        <p:cTn id="94" dur="1" fill="hold">
                                          <p:stCondLst>
                                            <p:cond delay="0"/>
                                          </p:stCondLst>
                                        </p:cTn>
                                        <p:tgtEl>
                                          <p:spTgt spid="204821"/>
                                        </p:tgtEl>
                                        <p:attrNameLst>
                                          <p:attrName>style.visibility</p:attrName>
                                        </p:attrNameLst>
                                      </p:cBhvr>
                                      <p:to>
                                        <p:strVal val="visible"/>
                                      </p:to>
                                    </p:set>
                                    <p:animEffect transition="in" filter="wipe(up)">
                                      <p:cBhvr>
                                        <p:cTn id="95" dur="500"/>
                                        <p:tgtEl>
                                          <p:spTgt spid="204821"/>
                                        </p:tgtEl>
                                      </p:cBhvr>
                                    </p:animEffect>
                                  </p:childTnLst>
                                </p:cTn>
                              </p:par>
                            </p:childTnLst>
                          </p:cTn>
                        </p:par>
                        <p:par>
                          <p:cTn id="96" fill="hold" nodeType="afterGroup">
                            <p:stCondLst>
                              <p:cond delay="500"/>
                            </p:stCondLst>
                            <p:childTnLst>
                              <p:par>
                                <p:cTn id="97" presetID="22" presetClass="entr" presetSubtype="1" fill="hold" grpId="0" nodeType="afterEffect">
                                  <p:stCondLst>
                                    <p:cond delay="0"/>
                                  </p:stCondLst>
                                  <p:childTnLst>
                                    <p:set>
                                      <p:cBhvr>
                                        <p:cTn id="98" dur="1" fill="hold">
                                          <p:stCondLst>
                                            <p:cond delay="0"/>
                                          </p:stCondLst>
                                        </p:cTn>
                                        <p:tgtEl>
                                          <p:spTgt spid="204820"/>
                                        </p:tgtEl>
                                        <p:attrNameLst>
                                          <p:attrName>style.visibility</p:attrName>
                                        </p:attrNameLst>
                                      </p:cBhvr>
                                      <p:to>
                                        <p:strVal val="visible"/>
                                      </p:to>
                                    </p:set>
                                    <p:animEffect transition="in" filter="wipe(up)">
                                      <p:cBhvr>
                                        <p:cTn id="99" dur="500"/>
                                        <p:tgtEl>
                                          <p:spTgt spid="204820"/>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204822"/>
                                        </p:tgtEl>
                                        <p:attrNameLst>
                                          <p:attrName>style.visibility</p:attrName>
                                        </p:attrNameLst>
                                      </p:cBhvr>
                                      <p:to>
                                        <p:strVal val="visible"/>
                                      </p:to>
                                    </p:set>
                                    <p:animEffect transition="in" filter="wipe(left)">
                                      <p:cBhvr>
                                        <p:cTn id="104" dur="500"/>
                                        <p:tgtEl>
                                          <p:spTgt spid="204822"/>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7" presetClass="entr" presetSubtype="8" fill="hold" grpId="0" nodeType="clickEffect">
                                  <p:stCondLst>
                                    <p:cond delay="0"/>
                                  </p:stCondLst>
                                  <p:childTnLst>
                                    <p:set>
                                      <p:cBhvr>
                                        <p:cTn id="108" dur="1" fill="hold">
                                          <p:stCondLst>
                                            <p:cond delay="0"/>
                                          </p:stCondLst>
                                        </p:cTn>
                                        <p:tgtEl>
                                          <p:spTgt spid="204817"/>
                                        </p:tgtEl>
                                        <p:attrNameLst>
                                          <p:attrName>style.visibility</p:attrName>
                                        </p:attrNameLst>
                                      </p:cBhvr>
                                      <p:to>
                                        <p:strVal val="visible"/>
                                      </p:to>
                                    </p:set>
                                    <p:anim calcmode="lin" valueType="num">
                                      <p:cBhvr>
                                        <p:cTn id="109" dur="500" fill="hold"/>
                                        <p:tgtEl>
                                          <p:spTgt spid="204817"/>
                                        </p:tgtEl>
                                        <p:attrNameLst>
                                          <p:attrName>ppt_x</p:attrName>
                                        </p:attrNameLst>
                                      </p:cBhvr>
                                      <p:tavLst>
                                        <p:tav tm="0">
                                          <p:val>
                                            <p:strVal val="#ppt_x-#ppt_w/2"/>
                                          </p:val>
                                        </p:tav>
                                        <p:tav tm="100000">
                                          <p:val>
                                            <p:strVal val="#ppt_x"/>
                                          </p:val>
                                        </p:tav>
                                      </p:tavLst>
                                    </p:anim>
                                    <p:anim calcmode="lin" valueType="num">
                                      <p:cBhvr>
                                        <p:cTn id="110" dur="500" fill="hold"/>
                                        <p:tgtEl>
                                          <p:spTgt spid="204817"/>
                                        </p:tgtEl>
                                        <p:attrNameLst>
                                          <p:attrName>ppt_y</p:attrName>
                                        </p:attrNameLst>
                                      </p:cBhvr>
                                      <p:tavLst>
                                        <p:tav tm="0">
                                          <p:val>
                                            <p:strVal val="#ppt_y"/>
                                          </p:val>
                                        </p:tav>
                                        <p:tav tm="100000">
                                          <p:val>
                                            <p:strVal val="#ppt_y"/>
                                          </p:val>
                                        </p:tav>
                                      </p:tavLst>
                                    </p:anim>
                                    <p:anim calcmode="lin" valueType="num">
                                      <p:cBhvr>
                                        <p:cTn id="111" dur="500" fill="hold"/>
                                        <p:tgtEl>
                                          <p:spTgt spid="204817"/>
                                        </p:tgtEl>
                                        <p:attrNameLst>
                                          <p:attrName>ppt_w</p:attrName>
                                        </p:attrNameLst>
                                      </p:cBhvr>
                                      <p:tavLst>
                                        <p:tav tm="0">
                                          <p:val>
                                            <p:fltVal val="0"/>
                                          </p:val>
                                        </p:tav>
                                        <p:tav tm="100000">
                                          <p:val>
                                            <p:strVal val="#ppt_w"/>
                                          </p:val>
                                        </p:tav>
                                      </p:tavLst>
                                    </p:anim>
                                    <p:anim calcmode="lin" valueType="num">
                                      <p:cBhvr>
                                        <p:cTn id="112" dur="500" fill="hold"/>
                                        <p:tgtEl>
                                          <p:spTgt spid="204817"/>
                                        </p:tgtEl>
                                        <p:attrNameLst>
                                          <p:attrName>ppt_h</p:attrName>
                                        </p:attrNameLst>
                                      </p:cBhvr>
                                      <p:tavLst>
                                        <p:tav tm="0">
                                          <p:val>
                                            <p:strVal val="#ppt_h"/>
                                          </p:val>
                                        </p:tav>
                                        <p:tav tm="100000">
                                          <p:val>
                                            <p:strVal val="#ppt_h"/>
                                          </p:val>
                                        </p:tav>
                                      </p:tavLst>
                                    </p:anim>
                                  </p:childTnLst>
                                </p:cTn>
                              </p:par>
                            </p:childTnLst>
                          </p:cTn>
                        </p:par>
                        <p:par>
                          <p:cTn id="113" fill="hold" nodeType="afterGroup">
                            <p:stCondLst>
                              <p:cond delay="500"/>
                            </p:stCondLst>
                            <p:childTnLst>
                              <p:par>
                                <p:cTn id="114" presetID="12" presetClass="entr" presetSubtype="4" fill="hold" grpId="0" nodeType="afterEffect">
                                  <p:stCondLst>
                                    <p:cond delay="0"/>
                                  </p:stCondLst>
                                  <p:childTnLst>
                                    <p:set>
                                      <p:cBhvr>
                                        <p:cTn id="115" dur="1" fill="hold">
                                          <p:stCondLst>
                                            <p:cond delay="0"/>
                                          </p:stCondLst>
                                        </p:cTn>
                                        <p:tgtEl>
                                          <p:spTgt spid="204838"/>
                                        </p:tgtEl>
                                        <p:attrNameLst>
                                          <p:attrName>style.visibility</p:attrName>
                                        </p:attrNameLst>
                                      </p:cBhvr>
                                      <p:to>
                                        <p:strVal val="visible"/>
                                      </p:to>
                                    </p:set>
                                    <p:animEffect transition="in" filter="slide(fromBottom)">
                                      <p:cBhvr>
                                        <p:cTn id="116" dur="500"/>
                                        <p:tgtEl>
                                          <p:spTgt spid="204838"/>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1" fill="hold" grpId="0" nodeType="clickEffect">
                                  <p:stCondLst>
                                    <p:cond delay="0"/>
                                  </p:stCondLst>
                                  <p:childTnLst>
                                    <p:set>
                                      <p:cBhvr>
                                        <p:cTn id="120" dur="1" fill="hold">
                                          <p:stCondLst>
                                            <p:cond delay="0"/>
                                          </p:stCondLst>
                                        </p:cTn>
                                        <p:tgtEl>
                                          <p:spTgt spid="204827"/>
                                        </p:tgtEl>
                                        <p:attrNameLst>
                                          <p:attrName>style.visibility</p:attrName>
                                        </p:attrNameLst>
                                      </p:cBhvr>
                                      <p:to>
                                        <p:strVal val="visible"/>
                                      </p:to>
                                    </p:set>
                                    <p:animEffect transition="in" filter="wipe(up)">
                                      <p:cBhvr>
                                        <p:cTn id="121" dur="500"/>
                                        <p:tgtEl>
                                          <p:spTgt spid="204827"/>
                                        </p:tgtEl>
                                      </p:cBhvr>
                                    </p:animEffect>
                                  </p:childTnLst>
                                </p:cTn>
                              </p:par>
                            </p:childTnLst>
                          </p:cTn>
                        </p:par>
                        <p:par>
                          <p:cTn id="122" fill="hold" nodeType="afterGroup">
                            <p:stCondLst>
                              <p:cond delay="500"/>
                            </p:stCondLst>
                            <p:childTnLst>
                              <p:par>
                                <p:cTn id="123" presetID="22" presetClass="entr" presetSubtype="1" fill="hold" grpId="0" nodeType="afterEffect">
                                  <p:stCondLst>
                                    <p:cond delay="0"/>
                                  </p:stCondLst>
                                  <p:childTnLst>
                                    <p:set>
                                      <p:cBhvr>
                                        <p:cTn id="124" dur="1" fill="hold">
                                          <p:stCondLst>
                                            <p:cond delay="0"/>
                                          </p:stCondLst>
                                        </p:cTn>
                                        <p:tgtEl>
                                          <p:spTgt spid="204834"/>
                                        </p:tgtEl>
                                        <p:attrNameLst>
                                          <p:attrName>style.visibility</p:attrName>
                                        </p:attrNameLst>
                                      </p:cBhvr>
                                      <p:to>
                                        <p:strVal val="visible"/>
                                      </p:to>
                                    </p:set>
                                    <p:animEffect transition="in" filter="wipe(up)">
                                      <p:cBhvr>
                                        <p:cTn id="125" dur="500"/>
                                        <p:tgtEl>
                                          <p:spTgt spid="204834"/>
                                        </p:tgtEl>
                                      </p:cBhvr>
                                    </p:animEffect>
                                  </p:childTnLst>
                                </p:cTn>
                              </p:par>
                            </p:childTnLst>
                          </p:cTn>
                        </p:par>
                        <p:par>
                          <p:cTn id="126" fill="hold" nodeType="afterGroup">
                            <p:stCondLst>
                              <p:cond delay="1000"/>
                            </p:stCondLst>
                            <p:childTnLst>
                              <p:par>
                                <p:cTn id="127" presetID="1" presetClass="entr" presetSubtype="0" fill="hold" grpId="0" nodeType="afterEffect">
                                  <p:stCondLst>
                                    <p:cond delay="0"/>
                                  </p:stCondLst>
                                  <p:childTnLst>
                                    <p:set>
                                      <p:cBhvr>
                                        <p:cTn id="128" dur="1" fill="hold">
                                          <p:stCondLst>
                                            <p:cond delay="499"/>
                                          </p:stCondLst>
                                        </p:cTn>
                                        <p:tgtEl>
                                          <p:spTgt spid="204836"/>
                                        </p:tgtEl>
                                        <p:attrNameLst>
                                          <p:attrName>style.visibility</p:attrName>
                                        </p:attrNameLst>
                                      </p:cBhvr>
                                      <p:to>
                                        <p:strVal val="visible"/>
                                      </p:to>
                                    </p:set>
                                  </p:childTnLst>
                                </p:cTn>
                              </p:par>
                            </p:childTnLst>
                          </p:cTn>
                        </p:par>
                        <p:par>
                          <p:cTn id="129" fill="hold" nodeType="afterGroup">
                            <p:stCondLst>
                              <p:cond delay="1500"/>
                            </p:stCondLst>
                            <p:childTnLst>
                              <p:par>
                                <p:cTn id="130" presetID="1" presetClass="entr" presetSubtype="0" fill="hold" grpId="0" nodeType="afterEffect">
                                  <p:stCondLst>
                                    <p:cond delay="0"/>
                                  </p:stCondLst>
                                  <p:childTnLst>
                                    <p:set>
                                      <p:cBhvr>
                                        <p:cTn id="131" dur="1" fill="hold">
                                          <p:stCondLst>
                                            <p:cond delay="499"/>
                                          </p:stCondLst>
                                        </p:cTn>
                                        <p:tgtEl>
                                          <p:spTgt spid="204835"/>
                                        </p:tgtEl>
                                        <p:attrNameLst>
                                          <p:attrName>style.visibility</p:attrName>
                                        </p:attrNameLst>
                                      </p:cBhvr>
                                      <p:to>
                                        <p:strVal val="visible"/>
                                      </p:to>
                                    </p:se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1" fill="hold" grpId="0" nodeType="clickEffect">
                                  <p:stCondLst>
                                    <p:cond delay="0"/>
                                  </p:stCondLst>
                                  <p:childTnLst>
                                    <p:set>
                                      <p:cBhvr>
                                        <p:cTn id="135" dur="1" fill="hold">
                                          <p:stCondLst>
                                            <p:cond delay="0"/>
                                          </p:stCondLst>
                                        </p:cTn>
                                        <p:tgtEl>
                                          <p:spTgt spid="204828"/>
                                        </p:tgtEl>
                                        <p:attrNameLst>
                                          <p:attrName>style.visibility</p:attrName>
                                        </p:attrNameLst>
                                      </p:cBhvr>
                                      <p:to>
                                        <p:strVal val="visible"/>
                                      </p:to>
                                    </p:set>
                                    <p:animEffect transition="in" filter="wipe(up)">
                                      <p:cBhvr>
                                        <p:cTn id="136" dur="500"/>
                                        <p:tgtEl>
                                          <p:spTgt spid="204828"/>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1" fill="hold" grpId="0" nodeType="clickEffect">
                                  <p:stCondLst>
                                    <p:cond delay="0"/>
                                  </p:stCondLst>
                                  <p:childTnLst>
                                    <p:set>
                                      <p:cBhvr>
                                        <p:cTn id="140" dur="1" fill="hold">
                                          <p:stCondLst>
                                            <p:cond delay="0"/>
                                          </p:stCondLst>
                                        </p:cTn>
                                        <p:tgtEl>
                                          <p:spTgt spid="204831"/>
                                        </p:tgtEl>
                                        <p:attrNameLst>
                                          <p:attrName>style.visibility</p:attrName>
                                        </p:attrNameLst>
                                      </p:cBhvr>
                                      <p:to>
                                        <p:strVal val="visible"/>
                                      </p:to>
                                    </p:set>
                                    <p:animEffect transition="in" filter="wipe(up)">
                                      <p:cBhvr>
                                        <p:cTn id="141" dur="500"/>
                                        <p:tgtEl>
                                          <p:spTgt spid="204831"/>
                                        </p:tgtEl>
                                      </p:cBhvr>
                                    </p:animEffect>
                                  </p:childTnLst>
                                </p:cTn>
                              </p:par>
                            </p:childTnLst>
                          </p:cTn>
                        </p:par>
                        <p:par>
                          <p:cTn id="142" fill="hold" nodeType="afterGroup">
                            <p:stCondLst>
                              <p:cond delay="500"/>
                            </p:stCondLst>
                            <p:childTnLst>
                              <p:par>
                                <p:cTn id="143" presetID="22" presetClass="entr" presetSubtype="1" fill="hold" grpId="0" nodeType="afterEffect">
                                  <p:stCondLst>
                                    <p:cond delay="0"/>
                                  </p:stCondLst>
                                  <p:childTnLst>
                                    <p:set>
                                      <p:cBhvr>
                                        <p:cTn id="144" dur="1" fill="hold">
                                          <p:stCondLst>
                                            <p:cond delay="0"/>
                                          </p:stCondLst>
                                        </p:cTn>
                                        <p:tgtEl>
                                          <p:spTgt spid="204833"/>
                                        </p:tgtEl>
                                        <p:attrNameLst>
                                          <p:attrName>style.visibility</p:attrName>
                                        </p:attrNameLst>
                                      </p:cBhvr>
                                      <p:to>
                                        <p:strVal val="visible"/>
                                      </p:to>
                                    </p:set>
                                    <p:animEffect transition="in" filter="wipe(up)">
                                      <p:cBhvr>
                                        <p:cTn id="145" dur="500"/>
                                        <p:tgtEl>
                                          <p:spTgt spid="204833"/>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1" fill="hold" grpId="0" nodeType="clickEffect">
                                  <p:stCondLst>
                                    <p:cond delay="0"/>
                                  </p:stCondLst>
                                  <p:childTnLst>
                                    <p:set>
                                      <p:cBhvr>
                                        <p:cTn id="149" dur="1" fill="hold">
                                          <p:stCondLst>
                                            <p:cond delay="0"/>
                                          </p:stCondLst>
                                        </p:cTn>
                                        <p:tgtEl>
                                          <p:spTgt spid="204830"/>
                                        </p:tgtEl>
                                        <p:attrNameLst>
                                          <p:attrName>style.visibility</p:attrName>
                                        </p:attrNameLst>
                                      </p:cBhvr>
                                      <p:to>
                                        <p:strVal val="visible"/>
                                      </p:to>
                                    </p:set>
                                    <p:animEffect transition="in" filter="wipe(up)">
                                      <p:cBhvr>
                                        <p:cTn id="150" dur="500"/>
                                        <p:tgtEl>
                                          <p:spTgt spid="204830"/>
                                        </p:tgtEl>
                                      </p:cBhvr>
                                    </p:animEffect>
                                  </p:childTnLst>
                                </p:cTn>
                              </p:par>
                            </p:childTnLst>
                          </p:cTn>
                        </p:par>
                        <p:par>
                          <p:cTn id="151" fill="hold" nodeType="afterGroup">
                            <p:stCondLst>
                              <p:cond delay="500"/>
                            </p:stCondLst>
                            <p:childTnLst>
                              <p:par>
                                <p:cTn id="152" presetID="22" presetClass="entr" presetSubtype="1" fill="hold" grpId="0" nodeType="afterEffect">
                                  <p:stCondLst>
                                    <p:cond delay="0"/>
                                  </p:stCondLst>
                                  <p:childTnLst>
                                    <p:set>
                                      <p:cBhvr>
                                        <p:cTn id="153" dur="1" fill="hold">
                                          <p:stCondLst>
                                            <p:cond delay="0"/>
                                          </p:stCondLst>
                                        </p:cTn>
                                        <p:tgtEl>
                                          <p:spTgt spid="204829"/>
                                        </p:tgtEl>
                                        <p:attrNameLst>
                                          <p:attrName>style.visibility</p:attrName>
                                        </p:attrNameLst>
                                      </p:cBhvr>
                                      <p:to>
                                        <p:strVal val="visible"/>
                                      </p:to>
                                    </p:set>
                                    <p:animEffect transition="in" filter="wipe(up)">
                                      <p:cBhvr>
                                        <p:cTn id="154" dur="500"/>
                                        <p:tgtEl>
                                          <p:spTgt spid="204829"/>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2" presetClass="entr" presetSubtype="1" fill="hold" grpId="0" nodeType="clickEffect">
                                  <p:stCondLst>
                                    <p:cond delay="0"/>
                                  </p:stCondLst>
                                  <p:childTnLst>
                                    <p:set>
                                      <p:cBhvr>
                                        <p:cTn id="158" dur="1" fill="hold">
                                          <p:stCondLst>
                                            <p:cond delay="0"/>
                                          </p:stCondLst>
                                        </p:cTn>
                                        <p:tgtEl>
                                          <p:spTgt spid="204826"/>
                                        </p:tgtEl>
                                        <p:attrNameLst>
                                          <p:attrName>style.visibility</p:attrName>
                                        </p:attrNameLst>
                                      </p:cBhvr>
                                      <p:to>
                                        <p:strVal val="visible"/>
                                      </p:to>
                                    </p:set>
                                    <p:animEffect transition="in" filter="wipe(up)">
                                      <p:cBhvr>
                                        <p:cTn id="159" dur="500"/>
                                        <p:tgtEl>
                                          <p:spTgt spid="204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autoUpdateAnimBg="0"/>
      <p:bldP spid="204803" grpId="0" autoUpdateAnimBg="0"/>
      <p:bldP spid="204804" grpId="0" animBg="1" autoUpdateAnimBg="0"/>
      <p:bldP spid="204805" grpId="0" animBg="1" autoUpdateAnimBg="0"/>
      <p:bldP spid="204806" grpId="0" animBg="1" autoUpdateAnimBg="0"/>
      <p:bldP spid="204807" grpId="0" animBg="1"/>
      <p:bldP spid="204808" grpId="0" animBg="1"/>
      <p:bldP spid="204809" grpId="0" animBg="1"/>
      <p:bldP spid="204810" grpId="0" animBg="1" autoUpdateAnimBg="0"/>
      <p:bldP spid="204811" grpId="0" animBg="1" autoUpdateAnimBg="0"/>
      <p:bldP spid="204812" grpId="0" animBg="1"/>
      <p:bldP spid="204813" grpId="0" animBg="1" autoUpdateAnimBg="0"/>
      <p:bldP spid="204814" grpId="0" animBg="1"/>
      <p:bldP spid="204815" grpId="0" animBg="1"/>
      <p:bldP spid="204816" grpId="0" animBg="1"/>
      <p:bldP spid="204817" grpId="0" animBg="1"/>
      <p:bldP spid="204818" grpId="0" animBg="1" autoUpdateAnimBg="0"/>
      <p:bldP spid="204819" grpId="0" animBg="1"/>
      <p:bldP spid="204820" grpId="0" animBg="1" autoUpdateAnimBg="0"/>
      <p:bldP spid="204821" grpId="0" animBg="1"/>
      <p:bldP spid="204822" grpId="0" animBg="1"/>
      <p:bldP spid="204826" grpId="0" animBg="1"/>
      <p:bldP spid="204827" grpId="0" animBg="1"/>
      <p:bldP spid="204828" grpId="0" animBg="1" autoUpdateAnimBg="0"/>
      <p:bldP spid="204829" grpId="0" animBg="1" autoUpdateAnimBg="0"/>
      <p:bldP spid="204830" grpId="0" animBg="1"/>
      <p:bldP spid="204831" grpId="0" animBg="1"/>
      <p:bldP spid="204833" grpId="0" animBg="1" autoUpdateAnimBg="0"/>
      <p:bldP spid="204834" grpId="0" animBg="1" autoUpdateAnimBg="0"/>
      <p:bldP spid="204835" grpId="0" animBg="1" autoUpdateAnimBg="0"/>
      <p:bldP spid="204836" grpId="0" animBg="1"/>
      <p:bldP spid="204837" grpId="0" animBg="1" autoUpdateAnimBg="0"/>
      <p:bldP spid="204838" grpId="0" animBg="1" autoUpdateAnimBg="0"/>
      <p:bldP spid="204839"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Oval 2"/>
          <p:cNvSpPr>
            <a:spLocks noChangeArrowheads="1"/>
          </p:cNvSpPr>
          <p:nvPr/>
        </p:nvSpPr>
        <p:spPr bwMode="auto">
          <a:xfrm>
            <a:off x="1676400" y="12954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4</a:t>
            </a:r>
            <a:endParaRPr lang="en-US" altLang="zh-CN"/>
          </a:p>
        </p:txBody>
      </p:sp>
      <p:sp>
        <p:nvSpPr>
          <p:cNvPr id="210947" name="Oval 3"/>
          <p:cNvSpPr>
            <a:spLocks noChangeArrowheads="1"/>
          </p:cNvSpPr>
          <p:nvPr/>
        </p:nvSpPr>
        <p:spPr bwMode="auto">
          <a:xfrm>
            <a:off x="914400" y="20574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2</a:t>
            </a:r>
            <a:endParaRPr lang="en-US" altLang="zh-CN"/>
          </a:p>
        </p:txBody>
      </p:sp>
      <p:sp>
        <p:nvSpPr>
          <p:cNvPr id="210948" name="Line 4"/>
          <p:cNvSpPr>
            <a:spLocks noChangeShapeType="1"/>
          </p:cNvSpPr>
          <p:nvPr/>
        </p:nvSpPr>
        <p:spPr bwMode="auto">
          <a:xfrm flipH="1">
            <a:off x="1295400" y="1676400"/>
            <a:ext cx="457200" cy="4572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0949" name="Line 5"/>
          <p:cNvSpPr>
            <a:spLocks noChangeShapeType="1"/>
          </p:cNvSpPr>
          <p:nvPr/>
        </p:nvSpPr>
        <p:spPr bwMode="auto">
          <a:xfrm>
            <a:off x="2057400" y="1676400"/>
            <a:ext cx="457200" cy="457200"/>
          </a:xfrm>
          <a:prstGeom prst="line">
            <a:avLst/>
          </a:prstGeom>
          <a:noFill/>
          <a:ln w="3175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0950" name="Line 6"/>
          <p:cNvSpPr>
            <a:spLocks noChangeShapeType="1"/>
          </p:cNvSpPr>
          <p:nvPr/>
        </p:nvSpPr>
        <p:spPr bwMode="auto">
          <a:xfrm>
            <a:off x="1295400" y="914400"/>
            <a:ext cx="457200" cy="457200"/>
          </a:xfrm>
          <a:prstGeom prst="line">
            <a:avLst/>
          </a:prstGeom>
          <a:noFill/>
          <a:ln w="28575">
            <a:solidFill>
              <a:srgbClr val="A5002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0951" name="Oval 7"/>
          <p:cNvSpPr>
            <a:spLocks noChangeArrowheads="1"/>
          </p:cNvSpPr>
          <p:nvPr/>
        </p:nvSpPr>
        <p:spPr bwMode="auto">
          <a:xfrm>
            <a:off x="2438400" y="20574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6</a:t>
            </a:r>
            <a:endParaRPr lang="en-US" altLang="zh-CN"/>
          </a:p>
        </p:txBody>
      </p:sp>
      <p:sp>
        <p:nvSpPr>
          <p:cNvPr id="210952" name="Oval 8"/>
          <p:cNvSpPr>
            <a:spLocks noChangeArrowheads="1"/>
          </p:cNvSpPr>
          <p:nvPr/>
        </p:nvSpPr>
        <p:spPr bwMode="auto">
          <a:xfrm>
            <a:off x="1676400" y="28194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5</a:t>
            </a:r>
            <a:endParaRPr lang="en-US" altLang="zh-CN"/>
          </a:p>
        </p:txBody>
      </p:sp>
      <p:sp>
        <p:nvSpPr>
          <p:cNvPr id="210953" name="Line 9"/>
          <p:cNvSpPr>
            <a:spLocks noChangeShapeType="1"/>
          </p:cNvSpPr>
          <p:nvPr/>
        </p:nvSpPr>
        <p:spPr bwMode="auto">
          <a:xfrm flipH="1">
            <a:off x="2057400" y="2438400"/>
            <a:ext cx="457200" cy="457200"/>
          </a:xfrm>
          <a:prstGeom prst="line">
            <a:avLst/>
          </a:prstGeom>
          <a:noFill/>
          <a:ln w="381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0954" name="Line 10"/>
          <p:cNvSpPr>
            <a:spLocks noChangeShapeType="1"/>
          </p:cNvSpPr>
          <p:nvPr/>
        </p:nvSpPr>
        <p:spPr bwMode="auto">
          <a:xfrm>
            <a:off x="2819400" y="2438400"/>
            <a:ext cx="457200" cy="457200"/>
          </a:xfrm>
          <a:prstGeom prst="line">
            <a:avLst/>
          </a:prstGeom>
          <a:noFill/>
          <a:ln w="3175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0955" name="Oval 11"/>
          <p:cNvSpPr>
            <a:spLocks noChangeArrowheads="1"/>
          </p:cNvSpPr>
          <p:nvPr/>
        </p:nvSpPr>
        <p:spPr bwMode="auto">
          <a:xfrm>
            <a:off x="3200400" y="28194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8</a:t>
            </a:r>
            <a:endParaRPr lang="en-US" altLang="zh-CN"/>
          </a:p>
        </p:txBody>
      </p:sp>
      <p:sp>
        <p:nvSpPr>
          <p:cNvPr id="210956" name="Oval 12"/>
          <p:cNvSpPr>
            <a:spLocks noChangeArrowheads="1"/>
          </p:cNvSpPr>
          <p:nvPr/>
        </p:nvSpPr>
        <p:spPr bwMode="auto">
          <a:xfrm>
            <a:off x="3962400" y="35814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9</a:t>
            </a:r>
            <a:endParaRPr lang="en-US" altLang="zh-CN"/>
          </a:p>
        </p:txBody>
      </p:sp>
      <p:sp>
        <p:nvSpPr>
          <p:cNvPr id="210957" name="Line 13"/>
          <p:cNvSpPr>
            <a:spLocks noChangeShapeType="1"/>
          </p:cNvSpPr>
          <p:nvPr/>
        </p:nvSpPr>
        <p:spPr bwMode="auto">
          <a:xfrm>
            <a:off x="3581400" y="3200400"/>
            <a:ext cx="457200" cy="457200"/>
          </a:xfrm>
          <a:prstGeom prst="line">
            <a:avLst/>
          </a:prstGeom>
          <a:noFill/>
          <a:ln w="3175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0958" name="Rectangle 14"/>
          <p:cNvSpPr>
            <a:spLocks noChangeArrowheads="1"/>
          </p:cNvSpPr>
          <p:nvPr/>
        </p:nvSpPr>
        <p:spPr bwMode="auto">
          <a:xfrm>
            <a:off x="685800" y="838200"/>
            <a:ext cx="3962400" cy="3352800"/>
          </a:xfrm>
          <a:prstGeom prst="rect">
            <a:avLst/>
          </a:prstGeom>
          <a:solidFill>
            <a:srgbClr val="FF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0959" name="Oval 15"/>
          <p:cNvSpPr>
            <a:spLocks noChangeArrowheads="1"/>
          </p:cNvSpPr>
          <p:nvPr/>
        </p:nvSpPr>
        <p:spPr bwMode="auto">
          <a:xfrm>
            <a:off x="6553200" y="3505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6</a:t>
            </a:r>
            <a:endParaRPr lang="en-US" altLang="zh-CN"/>
          </a:p>
        </p:txBody>
      </p:sp>
      <p:sp>
        <p:nvSpPr>
          <p:cNvPr id="210960" name="Oval 16"/>
          <p:cNvSpPr>
            <a:spLocks noChangeArrowheads="1"/>
          </p:cNvSpPr>
          <p:nvPr/>
        </p:nvSpPr>
        <p:spPr bwMode="auto">
          <a:xfrm>
            <a:off x="5715000" y="4267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4</a:t>
            </a:r>
            <a:endParaRPr lang="en-US" altLang="zh-CN"/>
          </a:p>
        </p:txBody>
      </p:sp>
      <p:sp>
        <p:nvSpPr>
          <p:cNvPr id="210961" name="Oval 17"/>
          <p:cNvSpPr>
            <a:spLocks noChangeArrowheads="1"/>
          </p:cNvSpPr>
          <p:nvPr/>
        </p:nvSpPr>
        <p:spPr bwMode="auto">
          <a:xfrm>
            <a:off x="4953000" y="5029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2</a:t>
            </a:r>
            <a:endParaRPr lang="en-US" altLang="zh-CN"/>
          </a:p>
        </p:txBody>
      </p:sp>
      <p:sp>
        <p:nvSpPr>
          <p:cNvPr id="210962" name="Line 18"/>
          <p:cNvSpPr>
            <a:spLocks noChangeShapeType="1"/>
          </p:cNvSpPr>
          <p:nvPr/>
        </p:nvSpPr>
        <p:spPr bwMode="auto">
          <a:xfrm flipH="1">
            <a:off x="5334000" y="4648200"/>
            <a:ext cx="457200" cy="4572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0963" name="Line 19"/>
          <p:cNvSpPr>
            <a:spLocks noChangeShapeType="1"/>
          </p:cNvSpPr>
          <p:nvPr/>
        </p:nvSpPr>
        <p:spPr bwMode="auto">
          <a:xfrm flipH="1">
            <a:off x="6096000" y="3886200"/>
            <a:ext cx="457200" cy="45720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0964" name="Line 20"/>
          <p:cNvSpPr>
            <a:spLocks noChangeShapeType="1"/>
          </p:cNvSpPr>
          <p:nvPr/>
        </p:nvSpPr>
        <p:spPr bwMode="auto">
          <a:xfrm>
            <a:off x="6934200" y="3886200"/>
            <a:ext cx="457200" cy="457200"/>
          </a:xfrm>
          <a:prstGeom prst="line">
            <a:avLst/>
          </a:prstGeom>
          <a:noFill/>
          <a:ln w="3175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0965" name="Oval 21"/>
          <p:cNvSpPr>
            <a:spLocks noChangeArrowheads="1"/>
          </p:cNvSpPr>
          <p:nvPr/>
        </p:nvSpPr>
        <p:spPr bwMode="auto">
          <a:xfrm>
            <a:off x="7315200" y="4267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8</a:t>
            </a:r>
            <a:endParaRPr lang="en-US" altLang="zh-CN"/>
          </a:p>
        </p:txBody>
      </p:sp>
      <p:sp>
        <p:nvSpPr>
          <p:cNvPr id="210966" name="Oval 22"/>
          <p:cNvSpPr>
            <a:spLocks noChangeArrowheads="1"/>
          </p:cNvSpPr>
          <p:nvPr/>
        </p:nvSpPr>
        <p:spPr bwMode="auto">
          <a:xfrm>
            <a:off x="8077200" y="50292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9</a:t>
            </a:r>
            <a:endParaRPr lang="en-US" altLang="zh-CN"/>
          </a:p>
        </p:txBody>
      </p:sp>
      <p:sp>
        <p:nvSpPr>
          <p:cNvPr id="210967" name="Line 23"/>
          <p:cNvSpPr>
            <a:spLocks noChangeShapeType="1"/>
          </p:cNvSpPr>
          <p:nvPr/>
        </p:nvSpPr>
        <p:spPr bwMode="auto">
          <a:xfrm>
            <a:off x="7696200" y="4648200"/>
            <a:ext cx="457200" cy="457200"/>
          </a:xfrm>
          <a:prstGeom prst="line">
            <a:avLst/>
          </a:prstGeom>
          <a:noFill/>
          <a:ln w="3175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0968" name="Line 24"/>
          <p:cNvSpPr>
            <a:spLocks noChangeShapeType="1"/>
          </p:cNvSpPr>
          <p:nvPr/>
        </p:nvSpPr>
        <p:spPr bwMode="auto">
          <a:xfrm>
            <a:off x="6172200" y="3124200"/>
            <a:ext cx="457200" cy="457200"/>
          </a:xfrm>
          <a:prstGeom prst="line">
            <a:avLst/>
          </a:prstGeom>
          <a:noFill/>
          <a:ln w="28575">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0969" name="Oval 25"/>
          <p:cNvSpPr>
            <a:spLocks noChangeArrowheads="1"/>
          </p:cNvSpPr>
          <p:nvPr/>
        </p:nvSpPr>
        <p:spPr bwMode="auto">
          <a:xfrm>
            <a:off x="6477000" y="5105400"/>
            <a:ext cx="457200" cy="4572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5</a:t>
            </a:r>
            <a:endParaRPr lang="en-US" altLang="zh-CN"/>
          </a:p>
        </p:txBody>
      </p:sp>
      <p:sp>
        <p:nvSpPr>
          <p:cNvPr id="210970" name="Line 26"/>
          <p:cNvSpPr>
            <a:spLocks noChangeShapeType="1"/>
          </p:cNvSpPr>
          <p:nvPr/>
        </p:nvSpPr>
        <p:spPr bwMode="auto">
          <a:xfrm>
            <a:off x="6096000" y="4648200"/>
            <a:ext cx="533400" cy="533400"/>
          </a:xfrm>
          <a:prstGeom prst="line">
            <a:avLst/>
          </a:prstGeom>
          <a:noFill/>
          <a:ln w="317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0971" name="AutoShape 27"/>
          <p:cNvSpPr>
            <a:spLocks noChangeArrowheads="1"/>
          </p:cNvSpPr>
          <p:nvPr/>
        </p:nvSpPr>
        <p:spPr bwMode="auto">
          <a:xfrm rot="5487719">
            <a:off x="5371307" y="1562894"/>
            <a:ext cx="760412" cy="1447800"/>
          </a:xfrm>
          <a:custGeom>
            <a:avLst/>
            <a:gdLst>
              <a:gd name="G0" fmla="+- 15150 0 0"/>
              <a:gd name="G1" fmla="+- 2900 0 0"/>
              <a:gd name="G2" fmla="+- 12158 0 2900"/>
              <a:gd name="G3" fmla="+- G2 0 2900"/>
              <a:gd name="G4" fmla="*/ G3 32768 32059"/>
              <a:gd name="G5" fmla="*/ G4 1 2"/>
              <a:gd name="G6" fmla="+- 21600 0 15150"/>
              <a:gd name="G7" fmla="*/ G6 2900 6079"/>
              <a:gd name="G8" fmla="+- G7 15150 0"/>
              <a:gd name="T0" fmla="*/ 15150 w 21600"/>
              <a:gd name="T1" fmla="*/ 0 h 21600"/>
              <a:gd name="T2" fmla="*/ 15150 w 21600"/>
              <a:gd name="T3" fmla="*/ 12158 h 21600"/>
              <a:gd name="T4" fmla="*/ 3250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50" y="0"/>
                </a:lnTo>
                <a:lnTo>
                  <a:pt x="15150" y="2900"/>
                </a:lnTo>
                <a:lnTo>
                  <a:pt x="12427" y="2900"/>
                </a:lnTo>
                <a:cubicBezTo>
                  <a:pt x="5564" y="2900"/>
                  <a:pt x="0" y="7045"/>
                  <a:pt x="0" y="12158"/>
                </a:cubicBezTo>
                <a:lnTo>
                  <a:pt x="0" y="21600"/>
                </a:lnTo>
                <a:lnTo>
                  <a:pt x="6499" y="21600"/>
                </a:lnTo>
                <a:lnTo>
                  <a:pt x="6499" y="12158"/>
                </a:lnTo>
                <a:cubicBezTo>
                  <a:pt x="6499" y="10556"/>
                  <a:pt x="9153" y="9258"/>
                  <a:pt x="12427" y="9258"/>
                </a:cubicBezTo>
                <a:lnTo>
                  <a:pt x="15150" y="9258"/>
                </a:lnTo>
                <a:lnTo>
                  <a:pt x="15150" y="12158"/>
                </a:lnTo>
                <a:close/>
              </a:path>
            </a:pathLst>
          </a:custGeom>
          <a:solidFill>
            <a:srgbClr val="FFCC99"/>
          </a:solidFill>
          <a:ln w="9525">
            <a:solidFill>
              <a:srgbClr val="9933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0972" name="AutoShape 28"/>
          <p:cNvSpPr>
            <a:spLocks noChangeArrowheads="1"/>
          </p:cNvSpPr>
          <p:nvPr/>
        </p:nvSpPr>
        <p:spPr bwMode="auto">
          <a:xfrm>
            <a:off x="5791200" y="762000"/>
            <a:ext cx="2209800" cy="533400"/>
          </a:xfrm>
          <a:prstGeom prst="wedgeRoundRectCallout">
            <a:avLst>
              <a:gd name="adj1" fmla="val -63361"/>
              <a:gd name="adj2" fmla="val 153569"/>
              <a:gd name="adj3" fmla="val 16667"/>
            </a:avLst>
          </a:prstGeom>
          <a:solidFill>
            <a:srgbClr val="FFFFCC"/>
          </a:solidFill>
          <a:ln w="9525">
            <a:solidFill>
              <a:srgbClr val="9933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zh-CN" altLang="en-US" sz="2800">
                <a:solidFill>
                  <a:srgbClr val="A50021"/>
                </a:solidFill>
                <a:ea typeface="隶书" charset="0"/>
              </a:rPr>
              <a:t>向左旋转一次</a:t>
            </a:r>
            <a:endParaRPr lang="zh-CN" altLang="en-US" sz="2800">
              <a:ea typeface="隶书" charset="0"/>
            </a:endParaRPr>
          </a:p>
        </p:txBody>
      </p:sp>
      <p:sp>
        <p:nvSpPr>
          <p:cNvPr id="210973" name="Text Box 29"/>
          <p:cNvSpPr txBox="1">
            <a:spLocks noChangeArrowheads="1"/>
          </p:cNvSpPr>
          <p:nvPr/>
        </p:nvSpPr>
        <p:spPr bwMode="auto">
          <a:xfrm>
            <a:off x="403225" y="4876800"/>
            <a:ext cx="40163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zh-CN" altLang="en-US" sz="3600">
                <a:solidFill>
                  <a:srgbClr val="A50021"/>
                </a:solidFill>
                <a:ea typeface="楷体_GB2312" charset="0"/>
              </a:rPr>
              <a:t>继续插入关键字 </a:t>
            </a:r>
            <a:r>
              <a:rPr lang="en-US" altLang="zh-CN" sz="3600">
                <a:solidFill>
                  <a:srgbClr val="A50021"/>
                </a:solidFill>
                <a:ea typeface="楷体_GB2312" charset="0"/>
              </a:rPr>
              <a:t>9</a:t>
            </a:r>
            <a:endParaRPr lang="en-US" altLang="zh-CN" sz="3600">
              <a:ea typeface="楷体_GB2312" charset="0"/>
            </a:endParaRPr>
          </a:p>
        </p:txBody>
      </p:sp>
      <p:sp>
        <p:nvSpPr>
          <p:cNvPr id="210975" name="AutoShape 31">
            <a:hlinkClick r:id="rId2"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13558879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0950"/>
                                        </p:tgtEl>
                                        <p:attrNameLst>
                                          <p:attrName>style.visibility</p:attrName>
                                        </p:attrNameLst>
                                      </p:cBhvr>
                                      <p:to>
                                        <p:strVal val="visible"/>
                                      </p:to>
                                    </p:set>
                                    <p:animEffect transition="in" filter="wipe(up)">
                                      <p:cBhvr>
                                        <p:cTn id="7" dur="500"/>
                                        <p:tgtEl>
                                          <p:spTgt spid="210950"/>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210946"/>
                                        </p:tgtEl>
                                        <p:attrNameLst>
                                          <p:attrName>style.visibility</p:attrName>
                                        </p:attrNameLst>
                                      </p:cBhvr>
                                      <p:to>
                                        <p:strVal val="visible"/>
                                      </p:to>
                                    </p:set>
                                  </p:childTnLst>
                                </p:cTn>
                              </p:par>
                            </p:childTnLst>
                          </p:cTn>
                        </p:par>
                        <p:par>
                          <p:cTn id="11" fill="hold" nodeType="afterGroup">
                            <p:stCondLst>
                              <p:cond delay="1000"/>
                            </p:stCondLst>
                            <p:childTnLst>
                              <p:par>
                                <p:cTn id="12" presetID="1" presetClass="entr" presetSubtype="0" fill="hold" grpId="0" nodeType="afterEffect">
                                  <p:stCondLst>
                                    <p:cond delay="0"/>
                                  </p:stCondLst>
                                  <p:childTnLst>
                                    <p:set>
                                      <p:cBhvr>
                                        <p:cTn id="13" dur="1" fill="hold">
                                          <p:stCondLst>
                                            <p:cond delay="499"/>
                                          </p:stCondLst>
                                        </p:cTn>
                                        <p:tgtEl>
                                          <p:spTgt spid="210948"/>
                                        </p:tgtEl>
                                        <p:attrNameLst>
                                          <p:attrName>style.visibility</p:attrName>
                                        </p:attrNameLst>
                                      </p:cBhvr>
                                      <p:to>
                                        <p:strVal val="visible"/>
                                      </p:to>
                                    </p:set>
                                  </p:childTnLst>
                                </p:cTn>
                              </p:par>
                            </p:childTnLst>
                          </p:cTn>
                        </p:par>
                        <p:par>
                          <p:cTn id="14" fill="hold" nodeType="afterGroup">
                            <p:stCondLst>
                              <p:cond delay="1500"/>
                            </p:stCondLst>
                            <p:childTnLst>
                              <p:par>
                                <p:cTn id="15" presetID="1" presetClass="entr" presetSubtype="0" fill="hold" grpId="0" nodeType="afterEffect">
                                  <p:stCondLst>
                                    <p:cond delay="0"/>
                                  </p:stCondLst>
                                  <p:childTnLst>
                                    <p:set>
                                      <p:cBhvr>
                                        <p:cTn id="16" dur="1" fill="hold">
                                          <p:stCondLst>
                                            <p:cond delay="499"/>
                                          </p:stCondLst>
                                        </p:cTn>
                                        <p:tgtEl>
                                          <p:spTgt spid="210947"/>
                                        </p:tgtEl>
                                        <p:attrNameLst>
                                          <p:attrName>style.visibility</p:attrName>
                                        </p:attrNameLst>
                                      </p:cBhvr>
                                      <p:to>
                                        <p:strVal val="visible"/>
                                      </p:to>
                                    </p:set>
                                  </p:childTnLst>
                                </p:cTn>
                              </p:par>
                            </p:childTnLst>
                          </p:cTn>
                        </p:par>
                        <p:par>
                          <p:cTn id="17" fill="hold" nodeType="afterGroup">
                            <p:stCondLst>
                              <p:cond delay="2000"/>
                            </p:stCondLst>
                            <p:childTnLst>
                              <p:par>
                                <p:cTn id="18" presetID="1" presetClass="entr" presetSubtype="0" fill="hold" grpId="0" nodeType="afterEffect">
                                  <p:stCondLst>
                                    <p:cond delay="0"/>
                                  </p:stCondLst>
                                  <p:childTnLst>
                                    <p:set>
                                      <p:cBhvr>
                                        <p:cTn id="19" dur="1" fill="hold">
                                          <p:stCondLst>
                                            <p:cond delay="499"/>
                                          </p:stCondLst>
                                        </p:cTn>
                                        <p:tgtEl>
                                          <p:spTgt spid="210949"/>
                                        </p:tgtEl>
                                        <p:attrNameLst>
                                          <p:attrName>style.visibility</p:attrName>
                                        </p:attrNameLst>
                                      </p:cBhvr>
                                      <p:to>
                                        <p:strVal val="visible"/>
                                      </p:to>
                                    </p:set>
                                  </p:childTnLst>
                                </p:cTn>
                              </p:par>
                            </p:childTnLst>
                          </p:cTn>
                        </p:par>
                        <p:par>
                          <p:cTn id="20" fill="hold" nodeType="afterGroup">
                            <p:stCondLst>
                              <p:cond delay="2500"/>
                            </p:stCondLst>
                            <p:childTnLst>
                              <p:par>
                                <p:cTn id="21" presetID="1" presetClass="entr" presetSubtype="0" fill="hold" grpId="0" nodeType="afterEffect">
                                  <p:stCondLst>
                                    <p:cond delay="0"/>
                                  </p:stCondLst>
                                  <p:childTnLst>
                                    <p:set>
                                      <p:cBhvr>
                                        <p:cTn id="22" dur="1" fill="hold">
                                          <p:stCondLst>
                                            <p:cond delay="499"/>
                                          </p:stCondLst>
                                        </p:cTn>
                                        <p:tgtEl>
                                          <p:spTgt spid="210951"/>
                                        </p:tgtEl>
                                        <p:attrNameLst>
                                          <p:attrName>style.visibility</p:attrName>
                                        </p:attrNameLst>
                                      </p:cBhvr>
                                      <p:to>
                                        <p:strVal val="visible"/>
                                      </p:to>
                                    </p:set>
                                  </p:childTnLst>
                                </p:cTn>
                              </p:par>
                            </p:childTnLst>
                          </p:cTn>
                        </p:par>
                        <p:par>
                          <p:cTn id="23" fill="hold" nodeType="afterGroup">
                            <p:stCondLst>
                              <p:cond delay="3000"/>
                            </p:stCondLst>
                            <p:childTnLst>
                              <p:par>
                                <p:cTn id="24" presetID="1" presetClass="entr" presetSubtype="0" fill="hold" grpId="0" nodeType="afterEffect">
                                  <p:stCondLst>
                                    <p:cond delay="0"/>
                                  </p:stCondLst>
                                  <p:childTnLst>
                                    <p:set>
                                      <p:cBhvr>
                                        <p:cTn id="25" dur="1" fill="hold">
                                          <p:stCondLst>
                                            <p:cond delay="499"/>
                                          </p:stCondLst>
                                        </p:cTn>
                                        <p:tgtEl>
                                          <p:spTgt spid="210953"/>
                                        </p:tgtEl>
                                        <p:attrNameLst>
                                          <p:attrName>style.visibility</p:attrName>
                                        </p:attrNameLst>
                                      </p:cBhvr>
                                      <p:to>
                                        <p:strVal val="visible"/>
                                      </p:to>
                                    </p:set>
                                  </p:childTnLst>
                                </p:cTn>
                              </p:par>
                            </p:childTnLst>
                          </p:cTn>
                        </p:par>
                        <p:par>
                          <p:cTn id="26" fill="hold" nodeType="afterGroup">
                            <p:stCondLst>
                              <p:cond delay="3500"/>
                            </p:stCondLst>
                            <p:childTnLst>
                              <p:par>
                                <p:cTn id="27" presetID="1" presetClass="entr" presetSubtype="0" fill="hold" grpId="0" nodeType="afterEffect">
                                  <p:stCondLst>
                                    <p:cond delay="0"/>
                                  </p:stCondLst>
                                  <p:childTnLst>
                                    <p:set>
                                      <p:cBhvr>
                                        <p:cTn id="28" dur="1" fill="hold">
                                          <p:stCondLst>
                                            <p:cond delay="499"/>
                                          </p:stCondLst>
                                        </p:cTn>
                                        <p:tgtEl>
                                          <p:spTgt spid="210952"/>
                                        </p:tgtEl>
                                        <p:attrNameLst>
                                          <p:attrName>style.visibility</p:attrName>
                                        </p:attrNameLst>
                                      </p:cBhvr>
                                      <p:to>
                                        <p:strVal val="visible"/>
                                      </p:to>
                                    </p:set>
                                  </p:childTnLst>
                                </p:cTn>
                              </p:par>
                            </p:childTnLst>
                          </p:cTn>
                        </p:par>
                        <p:par>
                          <p:cTn id="29" fill="hold" nodeType="afterGroup">
                            <p:stCondLst>
                              <p:cond delay="4000"/>
                            </p:stCondLst>
                            <p:childTnLst>
                              <p:par>
                                <p:cTn id="30" presetID="1" presetClass="entr" presetSubtype="0" fill="hold" grpId="0" nodeType="afterEffect">
                                  <p:stCondLst>
                                    <p:cond delay="0"/>
                                  </p:stCondLst>
                                  <p:childTnLst>
                                    <p:set>
                                      <p:cBhvr>
                                        <p:cTn id="31" dur="1" fill="hold">
                                          <p:stCondLst>
                                            <p:cond delay="499"/>
                                          </p:stCondLst>
                                        </p:cTn>
                                        <p:tgtEl>
                                          <p:spTgt spid="210954"/>
                                        </p:tgtEl>
                                        <p:attrNameLst>
                                          <p:attrName>style.visibility</p:attrName>
                                        </p:attrNameLst>
                                      </p:cBhvr>
                                      <p:to>
                                        <p:strVal val="visible"/>
                                      </p:to>
                                    </p:set>
                                  </p:childTnLst>
                                </p:cTn>
                              </p:par>
                            </p:childTnLst>
                          </p:cTn>
                        </p:par>
                        <p:par>
                          <p:cTn id="32" fill="hold" nodeType="afterGroup">
                            <p:stCondLst>
                              <p:cond delay="4500"/>
                            </p:stCondLst>
                            <p:childTnLst>
                              <p:par>
                                <p:cTn id="33" presetID="1" presetClass="entr" presetSubtype="0" fill="hold" grpId="0" nodeType="afterEffect">
                                  <p:stCondLst>
                                    <p:cond delay="0"/>
                                  </p:stCondLst>
                                  <p:childTnLst>
                                    <p:set>
                                      <p:cBhvr>
                                        <p:cTn id="34" dur="1" fill="hold">
                                          <p:stCondLst>
                                            <p:cond delay="499"/>
                                          </p:stCondLst>
                                        </p:cTn>
                                        <p:tgtEl>
                                          <p:spTgt spid="210955"/>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10973"/>
                                        </p:tgtEl>
                                        <p:attrNameLst>
                                          <p:attrName>style.visibility</p:attrName>
                                        </p:attrNameLst>
                                      </p:cBhvr>
                                      <p:to>
                                        <p:strVal val="visible"/>
                                      </p:to>
                                    </p:set>
                                    <p:animEffect transition="in" filter="wipe(left)">
                                      <p:cBhvr>
                                        <p:cTn id="39" dur="500"/>
                                        <p:tgtEl>
                                          <p:spTgt spid="21097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210957"/>
                                        </p:tgtEl>
                                        <p:attrNameLst>
                                          <p:attrName>style.visibility</p:attrName>
                                        </p:attrNameLst>
                                      </p:cBhvr>
                                      <p:to>
                                        <p:strVal val="visible"/>
                                      </p:to>
                                    </p:set>
                                    <p:animEffect transition="in" filter="wipe(up)">
                                      <p:cBhvr>
                                        <p:cTn id="44" dur="500"/>
                                        <p:tgtEl>
                                          <p:spTgt spid="210957"/>
                                        </p:tgtEl>
                                      </p:cBhvr>
                                    </p:animEffect>
                                  </p:childTnLst>
                                </p:cTn>
                              </p:par>
                            </p:childTnLst>
                          </p:cTn>
                        </p:par>
                        <p:par>
                          <p:cTn id="45" fill="hold" nodeType="afterGroup">
                            <p:stCondLst>
                              <p:cond delay="500"/>
                            </p:stCondLst>
                            <p:childTnLst>
                              <p:par>
                                <p:cTn id="46" presetID="22" presetClass="entr" presetSubtype="1" fill="hold" grpId="0" nodeType="afterEffect">
                                  <p:stCondLst>
                                    <p:cond delay="0"/>
                                  </p:stCondLst>
                                  <p:childTnLst>
                                    <p:set>
                                      <p:cBhvr>
                                        <p:cTn id="47" dur="1" fill="hold">
                                          <p:stCondLst>
                                            <p:cond delay="0"/>
                                          </p:stCondLst>
                                        </p:cTn>
                                        <p:tgtEl>
                                          <p:spTgt spid="210956"/>
                                        </p:tgtEl>
                                        <p:attrNameLst>
                                          <p:attrName>style.visibility</p:attrName>
                                        </p:attrNameLst>
                                      </p:cBhvr>
                                      <p:to>
                                        <p:strVal val="visible"/>
                                      </p:to>
                                    </p:set>
                                    <p:animEffect transition="in" filter="wipe(up)">
                                      <p:cBhvr>
                                        <p:cTn id="48" dur="500"/>
                                        <p:tgtEl>
                                          <p:spTgt spid="21095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10958"/>
                                        </p:tgtEl>
                                        <p:attrNameLst>
                                          <p:attrName>style.visibility</p:attrName>
                                        </p:attrNameLst>
                                      </p:cBhvr>
                                      <p:to>
                                        <p:strVal val="visible"/>
                                      </p:to>
                                    </p:set>
                                    <p:animEffect transition="in" filter="wipe(left)">
                                      <p:cBhvr>
                                        <p:cTn id="53" dur="500"/>
                                        <p:tgtEl>
                                          <p:spTgt spid="21095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10971"/>
                                        </p:tgtEl>
                                        <p:attrNameLst>
                                          <p:attrName>style.visibility</p:attrName>
                                        </p:attrNameLst>
                                      </p:cBhvr>
                                      <p:to>
                                        <p:strVal val="visible"/>
                                      </p:to>
                                    </p:set>
                                    <p:animEffect transition="in" filter="wipe(left)">
                                      <p:cBhvr>
                                        <p:cTn id="58" dur="500"/>
                                        <p:tgtEl>
                                          <p:spTgt spid="210971"/>
                                        </p:tgtEl>
                                      </p:cBhvr>
                                    </p:animEffect>
                                  </p:childTnLst>
                                </p:cTn>
                              </p:par>
                            </p:childTnLst>
                          </p:cTn>
                        </p:par>
                        <p:par>
                          <p:cTn id="59" fill="hold" nodeType="afterGroup">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210972"/>
                                        </p:tgtEl>
                                        <p:attrNameLst>
                                          <p:attrName>style.visibility</p:attrName>
                                        </p:attrNameLst>
                                      </p:cBhvr>
                                      <p:to>
                                        <p:strVal val="visible"/>
                                      </p:to>
                                    </p:set>
                                    <p:animEffect transition="in" filter="wipe(left)">
                                      <p:cBhvr>
                                        <p:cTn id="62" dur="500"/>
                                        <p:tgtEl>
                                          <p:spTgt spid="210972"/>
                                        </p:tgtEl>
                                      </p:cBhvr>
                                    </p:animEffect>
                                  </p:childTnLst>
                                </p:cTn>
                              </p:par>
                            </p:childTnLst>
                          </p:cTn>
                        </p:par>
                        <p:par>
                          <p:cTn id="63" fill="hold" nodeType="afterGroup">
                            <p:stCondLst>
                              <p:cond delay="1000"/>
                            </p:stCondLst>
                            <p:childTnLst>
                              <p:par>
                                <p:cTn id="64" presetID="2" presetClass="entr" presetSubtype="6" fill="hold" grpId="0" nodeType="afterEffect">
                                  <p:stCondLst>
                                    <p:cond delay="0"/>
                                  </p:stCondLst>
                                  <p:childTnLst>
                                    <p:set>
                                      <p:cBhvr>
                                        <p:cTn id="65" dur="1" fill="hold">
                                          <p:stCondLst>
                                            <p:cond delay="0"/>
                                          </p:stCondLst>
                                        </p:cTn>
                                        <p:tgtEl>
                                          <p:spTgt spid="210975"/>
                                        </p:tgtEl>
                                        <p:attrNameLst>
                                          <p:attrName>style.visibility</p:attrName>
                                        </p:attrNameLst>
                                      </p:cBhvr>
                                      <p:to>
                                        <p:strVal val="visible"/>
                                      </p:to>
                                    </p:set>
                                    <p:anim calcmode="lin" valueType="num">
                                      <p:cBhvr additive="base">
                                        <p:cTn id="66" dur="500" fill="hold"/>
                                        <p:tgtEl>
                                          <p:spTgt spid="210975"/>
                                        </p:tgtEl>
                                        <p:attrNameLst>
                                          <p:attrName>ppt_x</p:attrName>
                                        </p:attrNameLst>
                                      </p:cBhvr>
                                      <p:tavLst>
                                        <p:tav tm="0">
                                          <p:val>
                                            <p:strVal val="1+#ppt_w/2"/>
                                          </p:val>
                                        </p:tav>
                                        <p:tav tm="100000">
                                          <p:val>
                                            <p:strVal val="#ppt_x"/>
                                          </p:val>
                                        </p:tav>
                                      </p:tavLst>
                                    </p:anim>
                                    <p:anim calcmode="lin" valueType="num">
                                      <p:cBhvr additive="base">
                                        <p:cTn id="67" dur="500" fill="hold"/>
                                        <p:tgtEl>
                                          <p:spTgt spid="210975"/>
                                        </p:tgtEl>
                                        <p:attrNameLst>
                                          <p:attrName>ppt_y</p:attrName>
                                        </p:attrNameLst>
                                      </p:cBhvr>
                                      <p:tavLst>
                                        <p:tav tm="0">
                                          <p:val>
                                            <p:strVal val="1+#ppt_h/2"/>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210968"/>
                                        </p:tgtEl>
                                        <p:attrNameLst>
                                          <p:attrName>style.visibility</p:attrName>
                                        </p:attrNameLst>
                                      </p:cBhvr>
                                      <p:to>
                                        <p:strVal val="visible"/>
                                      </p:to>
                                    </p:set>
                                    <p:animEffect transition="in" filter="wipe(up)">
                                      <p:cBhvr>
                                        <p:cTn id="72" dur="500"/>
                                        <p:tgtEl>
                                          <p:spTgt spid="210968"/>
                                        </p:tgtEl>
                                      </p:cBhvr>
                                    </p:animEffect>
                                  </p:childTnLst>
                                </p:cTn>
                              </p:par>
                            </p:childTnLst>
                          </p:cTn>
                        </p:par>
                        <p:par>
                          <p:cTn id="73" fill="hold" nodeType="afterGroup">
                            <p:stCondLst>
                              <p:cond delay="500"/>
                            </p:stCondLst>
                            <p:childTnLst>
                              <p:par>
                                <p:cTn id="74" presetID="22" presetClass="entr" presetSubtype="1" fill="hold" grpId="0" nodeType="afterEffect">
                                  <p:stCondLst>
                                    <p:cond delay="0"/>
                                  </p:stCondLst>
                                  <p:childTnLst>
                                    <p:set>
                                      <p:cBhvr>
                                        <p:cTn id="75" dur="1" fill="hold">
                                          <p:stCondLst>
                                            <p:cond delay="0"/>
                                          </p:stCondLst>
                                        </p:cTn>
                                        <p:tgtEl>
                                          <p:spTgt spid="210959"/>
                                        </p:tgtEl>
                                        <p:attrNameLst>
                                          <p:attrName>style.visibility</p:attrName>
                                        </p:attrNameLst>
                                      </p:cBhvr>
                                      <p:to>
                                        <p:strVal val="visible"/>
                                      </p:to>
                                    </p:set>
                                    <p:animEffect transition="in" filter="wipe(up)">
                                      <p:cBhvr>
                                        <p:cTn id="76" dur="500"/>
                                        <p:tgtEl>
                                          <p:spTgt spid="210959"/>
                                        </p:tgtEl>
                                      </p:cBhvr>
                                    </p:animEffect>
                                  </p:childTnLst>
                                </p:cTn>
                              </p:par>
                            </p:childTnLst>
                          </p:cTn>
                        </p:par>
                        <p:par>
                          <p:cTn id="77" fill="hold" nodeType="afterGroup">
                            <p:stCondLst>
                              <p:cond delay="1000"/>
                            </p:stCondLst>
                            <p:childTnLst>
                              <p:par>
                                <p:cTn id="78" presetID="22" presetClass="entr" presetSubtype="1" fill="hold" grpId="0" nodeType="afterEffect">
                                  <p:stCondLst>
                                    <p:cond delay="0"/>
                                  </p:stCondLst>
                                  <p:childTnLst>
                                    <p:set>
                                      <p:cBhvr>
                                        <p:cTn id="79" dur="1" fill="hold">
                                          <p:stCondLst>
                                            <p:cond delay="0"/>
                                          </p:stCondLst>
                                        </p:cTn>
                                        <p:tgtEl>
                                          <p:spTgt spid="210964"/>
                                        </p:tgtEl>
                                        <p:attrNameLst>
                                          <p:attrName>style.visibility</p:attrName>
                                        </p:attrNameLst>
                                      </p:cBhvr>
                                      <p:to>
                                        <p:strVal val="visible"/>
                                      </p:to>
                                    </p:set>
                                    <p:animEffect transition="in" filter="wipe(up)">
                                      <p:cBhvr>
                                        <p:cTn id="80" dur="500"/>
                                        <p:tgtEl>
                                          <p:spTgt spid="210964"/>
                                        </p:tgtEl>
                                      </p:cBhvr>
                                    </p:animEffect>
                                  </p:childTnLst>
                                </p:cTn>
                              </p:par>
                            </p:childTnLst>
                          </p:cTn>
                        </p:par>
                        <p:par>
                          <p:cTn id="81" fill="hold" nodeType="afterGroup">
                            <p:stCondLst>
                              <p:cond delay="1500"/>
                            </p:stCondLst>
                            <p:childTnLst>
                              <p:par>
                                <p:cTn id="82" presetID="22" presetClass="entr" presetSubtype="1" fill="hold" grpId="0" nodeType="afterEffect">
                                  <p:stCondLst>
                                    <p:cond delay="0"/>
                                  </p:stCondLst>
                                  <p:childTnLst>
                                    <p:set>
                                      <p:cBhvr>
                                        <p:cTn id="83" dur="1" fill="hold">
                                          <p:stCondLst>
                                            <p:cond delay="0"/>
                                          </p:stCondLst>
                                        </p:cTn>
                                        <p:tgtEl>
                                          <p:spTgt spid="210965"/>
                                        </p:tgtEl>
                                        <p:attrNameLst>
                                          <p:attrName>style.visibility</p:attrName>
                                        </p:attrNameLst>
                                      </p:cBhvr>
                                      <p:to>
                                        <p:strVal val="visible"/>
                                      </p:to>
                                    </p:set>
                                    <p:animEffect transition="in" filter="wipe(up)">
                                      <p:cBhvr>
                                        <p:cTn id="84" dur="500"/>
                                        <p:tgtEl>
                                          <p:spTgt spid="210965"/>
                                        </p:tgtEl>
                                      </p:cBhvr>
                                    </p:animEffect>
                                  </p:childTnLst>
                                </p:cTn>
                              </p:par>
                            </p:childTnLst>
                          </p:cTn>
                        </p:par>
                        <p:par>
                          <p:cTn id="85" fill="hold" nodeType="afterGroup">
                            <p:stCondLst>
                              <p:cond delay="2000"/>
                            </p:stCondLst>
                            <p:childTnLst>
                              <p:par>
                                <p:cTn id="86" presetID="22" presetClass="entr" presetSubtype="1" fill="hold" grpId="0" nodeType="afterEffect">
                                  <p:stCondLst>
                                    <p:cond delay="0"/>
                                  </p:stCondLst>
                                  <p:childTnLst>
                                    <p:set>
                                      <p:cBhvr>
                                        <p:cTn id="87" dur="1" fill="hold">
                                          <p:stCondLst>
                                            <p:cond delay="0"/>
                                          </p:stCondLst>
                                        </p:cTn>
                                        <p:tgtEl>
                                          <p:spTgt spid="210967"/>
                                        </p:tgtEl>
                                        <p:attrNameLst>
                                          <p:attrName>style.visibility</p:attrName>
                                        </p:attrNameLst>
                                      </p:cBhvr>
                                      <p:to>
                                        <p:strVal val="visible"/>
                                      </p:to>
                                    </p:set>
                                    <p:animEffect transition="in" filter="wipe(up)">
                                      <p:cBhvr>
                                        <p:cTn id="88" dur="500"/>
                                        <p:tgtEl>
                                          <p:spTgt spid="210967"/>
                                        </p:tgtEl>
                                      </p:cBhvr>
                                    </p:animEffect>
                                  </p:childTnLst>
                                </p:cTn>
                              </p:par>
                            </p:childTnLst>
                          </p:cTn>
                        </p:par>
                        <p:par>
                          <p:cTn id="89" fill="hold" nodeType="afterGroup">
                            <p:stCondLst>
                              <p:cond delay="2500"/>
                            </p:stCondLst>
                            <p:childTnLst>
                              <p:par>
                                <p:cTn id="90" presetID="22" presetClass="entr" presetSubtype="1" fill="hold" grpId="0" nodeType="afterEffect">
                                  <p:stCondLst>
                                    <p:cond delay="0"/>
                                  </p:stCondLst>
                                  <p:childTnLst>
                                    <p:set>
                                      <p:cBhvr>
                                        <p:cTn id="91" dur="1" fill="hold">
                                          <p:stCondLst>
                                            <p:cond delay="0"/>
                                          </p:stCondLst>
                                        </p:cTn>
                                        <p:tgtEl>
                                          <p:spTgt spid="210966"/>
                                        </p:tgtEl>
                                        <p:attrNameLst>
                                          <p:attrName>style.visibility</p:attrName>
                                        </p:attrNameLst>
                                      </p:cBhvr>
                                      <p:to>
                                        <p:strVal val="visible"/>
                                      </p:to>
                                    </p:set>
                                    <p:animEffect transition="in" filter="wipe(up)">
                                      <p:cBhvr>
                                        <p:cTn id="92" dur="500"/>
                                        <p:tgtEl>
                                          <p:spTgt spid="210966"/>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210963"/>
                                        </p:tgtEl>
                                        <p:attrNameLst>
                                          <p:attrName>style.visibility</p:attrName>
                                        </p:attrNameLst>
                                      </p:cBhvr>
                                      <p:to>
                                        <p:strVal val="visible"/>
                                      </p:to>
                                    </p:set>
                                    <p:animEffect transition="in" filter="wipe(up)">
                                      <p:cBhvr>
                                        <p:cTn id="97" dur="500"/>
                                        <p:tgtEl>
                                          <p:spTgt spid="210963"/>
                                        </p:tgtEl>
                                      </p:cBhvr>
                                    </p:animEffect>
                                  </p:childTnLst>
                                </p:cTn>
                              </p:par>
                            </p:childTnLst>
                          </p:cTn>
                        </p:par>
                        <p:par>
                          <p:cTn id="98" fill="hold" nodeType="afterGroup">
                            <p:stCondLst>
                              <p:cond delay="500"/>
                            </p:stCondLst>
                            <p:childTnLst>
                              <p:par>
                                <p:cTn id="99" presetID="22" presetClass="entr" presetSubtype="1" fill="hold" grpId="0" nodeType="afterEffect">
                                  <p:stCondLst>
                                    <p:cond delay="0"/>
                                  </p:stCondLst>
                                  <p:childTnLst>
                                    <p:set>
                                      <p:cBhvr>
                                        <p:cTn id="100" dur="1" fill="hold">
                                          <p:stCondLst>
                                            <p:cond delay="0"/>
                                          </p:stCondLst>
                                        </p:cTn>
                                        <p:tgtEl>
                                          <p:spTgt spid="210960"/>
                                        </p:tgtEl>
                                        <p:attrNameLst>
                                          <p:attrName>style.visibility</p:attrName>
                                        </p:attrNameLst>
                                      </p:cBhvr>
                                      <p:to>
                                        <p:strVal val="visible"/>
                                      </p:to>
                                    </p:set>
                                    <p:animEffect transition="in" filter="wipe(up)">
                                      <p:cBhvr>
                                        <p:cTn id="101" dur="500"/>
                                        <p:tgtEl>
                                          <p:spTgt spid="210960"/>
                                        </p:tgtEl>
                                      </p:cBhvr>
                                    </p:animEffect>
                                  </p:childTnLst>
                                </p:cTn>
                              </p:par>
                            </p:childTnLst>
                          </p:cTn>
                        </p:par>
                        <p:par>
                          <p:cTn id="102" fill="hold" nodeType="afterGroup">
                            <p:stCondLst>
                              <p:cond delay="1000"/>
                            </p:stCondLst>
                            <p:childTnLst>
                              <p:par>
                                <p:cTn id="103" presetID="1" presetClass="entr" presetSubtype="0" fill="hold" grpId="0" nodeType="afterEffect">
                                  <p:stCondLst>
                                    <p:cond delay="0"/>
                                  </p:stCondLst>
                                  <p:childTnLst>
                                    <p:set>
                                      <p:cBhvr>
                                        <p:cTn id="104" dur="1" fill="hold">
                                          <p:stCondLst>
                                            <p:cond delay="499"/>
                                          </p:stCondLst>
                                        </p:cTn>
                                        <p:tgtEl>
                                          <p:spTgt spid="210962"/>
                                        </p:tgtEl>
                                        <p:attrNameLst>
                                          <p:attrName>style.visibility</p:attrName>
                                        </p:attrNameLst>
                                      </p:cBhvr>
                                      <p:to>
                                        <p:strVal val="visible"/>
                                      </p:to>
                                    </p:set>
                                  </p:childTnLst>
                                </p:cTn>
                              </p:par>
                            </p:childTnLst>
                          </p:cTn>
                        </p:par>
                        <p:par>
                          <p:cTn id="105" fill="hold" nodeType="afterGroup">
                            <p:stCondLst>
                              <p:cond delay="1500"/>
                            </p:stCondLst>
                            <p:childTnLst>
                              <p:par>
                                <p:cTn id="106" presetID="1" presetClass="entr" presetSubtype="0" fill="hold" grpId="0" nodeType="afterEffect">
                                  <p:stCondLst>
                                    <p:cond delay="0"/>
                                  </p:stCondLst>
                                  <p:childTnLst>
                                    <p:set>
                                      <p:cBhvr>
                                        <p:cTn id="107" dur="1" fill="hold">
                                          <p:stCondLst>
                                            <p:cond delay="499"/>
                                          </p:stCondLst>
                                        </p:cTn>
                                        <p:tgtEl>
                                          <p:spTgt spid="210961"/>
                                        </p:tgtEl>
                                        <p:attrNameLst>
                                          <p:attrName>style.visibility</p:attrName>
                                        </p:attrNameLst>
                                      </p:cBhvr>
                                      <p:to>
                                        <p:strVal val="visible"/>
                                      </p:to>
                                    </p:se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1" fill="hold" grpId="0" nodeType="clickEffect">
                                  <p:stCondLst>
                                    <p:cond delay="0"/>
                                  </p:stCondLst>
                                  <p:childTnLst>
                                    <p:set>
                                      <p:cBhvr>
                                        <p:cTn id="111" dur="1" fill="hold">
                                          <p:stCondLst>
                                            <p:cond delay="0"/>
                                          </p:stCondLst>
                                        </p:cTn>
                                        <p:tgtEl>
                                          <p:spTgt spid="210970"/>
                                        </p:tgtEl>
                                        <p:attrNameLst>
                                          <p:attrName>style.visibility</p:attrName>
                                        </p:attrNameLst>
                                      </p:cBhvr>
                                      <p:to>
                                        <p:strVal val="visible"/>
                                      </p:to>
                                    </p:set>
                                    <p:animEffect transition="in" filter="wipe(up)">
                                      <p:cBhvr>
                                        <p:cTn id="112" dur="500"/>
                                        <p:tgtEl>
                                          <p:spTgt spid="210970"/>
                                        </p:tgtEl>
                                      </p:cBhvr>
                                    </p:animEffect>
                                  </p:childTnLst>
                                </p:cTn>
                              </p:par>
                            </p:childTnLst>
                          </p:cTn>
                        </p:par>
                        <p:par>
                          <p:cTn id="113" fill="hold" nodeType="afterGroup">
                            <p:stCondLst>
                              <p:cond delay="500"/>
                            </p:stCondLst>
                            <p:childTnLst>
                              <p:par>
                                <p:cTn id="114" presetID="22" presetClass="entr" presetSubtype="1" fill="hold" grpId="0" nodeType="afterEffect">
                                  <p:stCondLst>
                                    <p:cond delay="0"/>
                                  </p:stCondLst>
                                  <p:childTnLst>
                                    <p:set>
                                      <p:cBhvr>
                                        <p:cTn id="115" dur="1" fill="hold">
                                          <p:stCondLst>
                                            <p:cond delay="0"/>
                                          </p:stCondLst>
                                        </p:cTn>
                                        <p:tgtEl>
                                          <p:spTgt spid="210969"/>
                                        </p:tgtEl>
                                        <p:attrNameLst>
                                          <p:attrName>style.visibility</p:attrName>
                                        </p:attrNameLst>
                                      </p:cBhvr>
                                      <p:to>
                                        <p:strVal val="visible"/>
                                      </p:to>
                                    </p:set>
                                    <p:animEffect transition="in" filter="wipe(up)">
                                      <p:cBhvr>
                                        <p:cTn id="116" dur="500"/>
                                        <p:tgtEl>
                                          <p:spTgt spid="2109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6" grpId="0" animBg="1" autoUpdateAnimBg="0"/>
      <p:bldP spid="210947" grpId="0" animBg="1" autoUpdateAnimBg="0"/>
      <p:bldP spid="210948" grpId="0" animBg="1"/>
      <p:bldP spid="210949" grpId="0" animBg="1"/>
      <p:bldP spid="210950" grpId="0" animBg="1"/>
      <p:bldP spid="210951" grpId="0" animBg="1" autoUpdateAnimBg="0"/>
      <p:bldP spid="210952" grpId="0" animBg="1" autoUpdateAnimBg="0"/>
      <p:bldP spid="210953" grpId="0" animBg="1"/>
      <p:bldP spid="210954" grpId="0" animBg="1"/>
      <p:bldP spid="210955" grpId="0" animBg="1" autoUpdateAnimBg="0"/>
      <p:bldP spid="210956" grpId="0" animBg="1" autoUpdateAnimBg="0"/>
      <p:bldP spid="210957" grpId="0" animBg="1"/>
      <p:bldP spid="210958" grpId="0" animBg="1"/>
      <p:bldP spid="210959" grpId="0" animBg="1" autoUpdateAnimBg="0"/>
      <p:bldP spid="210960" grpId="0" animBg="1" autoUpdateAnimBg="0"/>
      <p:bldP spid="210961" grpId="0" animBg="1" autoUpdateAnimBg="0"/>
      <p:bldP spid="210962" grpId="0" animBg="1"/>
      <p:bldP spid="210963" grpId="0" animBg="1"/>
      <p:bldP spid="210964" grpId="0" animBg="1"/>
      <p:bldP spid="210965" grpId="0" animBg="1" autoUpdateAnimBg="0"/>
      <p:bldP spid="210966" grpId="0" animBg="1" autoUpdateAnimBg="0"/>
      <p:bldP spid="210967" grpId="0" animBg="1"/>
      <p:bldP spid="210968" grpId="0" animBg="1"/>
      <p:bldP spid="210969" grpId="0" animBg="1" autoUpdateAnimBg="0"/>
      <p:bldP spid="210970" grpId="0" animBg="1"/>
      <p:bldP spid="210971" grpId="0" animBg="1"/>
      <p:bldP spid="210972" grpId="0" animBg="1" autoUpdateAnimBg="0"/>
      <p:bldP spid="210973" grpId="0" autoUpdateAnimBg="0"/>
      <p:bldP spid="21097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Text Box 2"/>
          <p:cNvSpPr txBox="1">
            <a:spLocks noChangeArrowheads="1"/>
          </p:cNvSpPr>
          <p:nvPr/>
        </p:nvSpPr>
        <p:spPr bwMode="auto">
          <a:xfrm>
            <a:off x="385763" y="1673225"/>
            <a:ext cx="8281987"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rIns="0">
            <a:spAutoFit/>
          </a:bodyPr>
          <a:lstStyle/>
          <a:p>
            <a:pPr eaLnBrk="0" hangingPunct="0">
              <a:lnSpc>
                <a:spcPct val="120000"/>
              </a:lnSpc>
            </a:pPr>
            <a:r>
              <a:rPr kumimoji="0" lang="zh-CN" altLang="en-US" sz="2800" b="1">
                <a:solidFill>
                  <a:srgbClr val="FF3300"/>
                </a:solidFill>
                <a:latin typeface="Arial" charset="0"/>
              </a:rPr>
              <a:t>最小不平衡子树：</a:t>
            </a:r>
            <a:r>
              <a:rPr kumimoji="0" lang="zh-CN" altLang="en-US" sz="2800" b="1"/>
              <a:t>在平衡二叉树的构造过程中，</a:t>
            </a:r>
            <a:r>
              <a:rPr kumimoji="0" lang="zh-CN" altLang="en-US" sz="2800" b="1">
                <a:latin typeface="宋体" charset="-122"/>
              </a:rPr>
              <a:t>以距离</a:t>
            </a:r>
            <a:r>
              <a:rPr kumimoji="0" lang="zh-CN" altLang="en-US" sz="2800" b="1">
                <a:solidFill>
                  <a:srgbClr val="FF3300"/>
                </a:solidFill>
                <a:latin typeface="宋体" charset="-122"/>
              </a:rPr>
              <a:t>插入结点</a:t>
            </a:r>
            <a:r>
              <a:rPr kumimoji="0" lang="zh-CN" altLang="en-US" sz="2800" b="1">
                <a:latin typeface="宋体" charset="-122"/>
              </a:rPr>
              <a:t>最近的、且平衡因子的绝对值大于</a:t>
            </a:r>
            <a:r>
              <a:rPr kumimoji="0" lang="en-US" altLang="zh-CN" sz="2800" b="1"/>
              <a:t>1</a:t>
            </a:r>
            <a:r>
              <a:rPr kumimoji="0" lang="zh-CN" altLang="en-US" sz="2800" b="1">
                <a:latin typeface="宋体" charset="-122"/>
              </a:rPr>
              <a:t>的结点为</a:t>
            </a:r>
            <a:r>
              <a:rPr kumimoji="0" lang="zh-CN" altLang="en-US" sz="2800" b="1">
                <a:solidFill>
                  <a:srgbClr val="FF3300"/>
                </a:solidFill>
                <a:latin typeface="宋体" charset="-122"/>
              </a:rPr>
              <a:t>根</a:t>
            </a:r>
            <a:r>
              <a:rPr kumimoji="0" lang="zh-CN" altLang="en-US" sz="2800" b="1">
                <a:latin typeface="宋体" charset="-122"/>
              </a:rPr>
              <a:t>的子树。</a:t>
            </a:r>
            <a:r>
              <a:rPr kumimoji="0" lang="zh-CN" altLang="en-US" sz="2800" b="1"/>
              <a:t> </a:t>
            </a:r>
          </a:p>
        </p:txBody>
      </p:sp>
      <p:grpSp>
        <p:nvGrpSpPr>
          <p:cNvPr id="303108" name="Group 4"/>
          <p:cNvGrpSpPr>
            <a:grpSpLocks/>
          </p:cNvGrpSpPr>
          <p:nvPr/>
        </p:nvGrpSpPr>
        <p:grpSpPr bwMode="auto">
          <a:xfrm>
            <a:off x="3402013" y="3249613"/>
            <a:ext cx="3105150" cy="2339975"/>
            <a:chOff x="2200" y="1848"/>
            <a:chExt cx="1956" cy="1474"/>
          </a:xfrm>
        </p:grpSpPr>
        <p:sp>
          <p:nvSpPr>
            <p:cNvPr id="303109" name="Oval 5"/>
            <p:cNvSpPr>
              <a:spLocks noChangeArrowheads="1"/>
            </p:cNvSpPr>
            <p:nvPr/>
          </p:nvSpPr>
          <p:spPr bwMode="auto">
            <a:xfrm>
              <a:off x="3249" y="1848"/>
              <a:ext cx="340" cy="340"/>
            </a:xfrm>
            <a:prstGeom prst="ellipse">
              <a:avLst/>
            </a:prstGeom>
            <a:gradFill rotWithShape="1">
              <a:gsLst>
                <a:gs pos="0">
                  <a:srgbClr val="00CC66"/>
                </a:gs>
                <a:gs pos="100000">
                  <a:srgbClr val="00CC66">
                    <a:gamma/>
                    <a:shade val="46275"/>
                    <a:invGamma/>
                  </a:srgbClr>
                </a:gs>
              </a:gsLst>
              <a:path path="rect">
                <a:fillToRect r="100000" b="100000"/>
              </a:path>
            </a:gradFill>
            <a:ln>
              <a:noFill/>
            </a:ln>
            <a:effectLst/>
            <a:extLst>
              <a:ext uri="{91240B29-F687-4F45-9708-019B960494DF}">
                <a14:hiddenLine xmlns:a14="http://schemas.microsoft.com/office/drawing/2010/main" w="19050">
                  <a:solidFill>
                    <a:srgbClr val="003300"/>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2800" b="1">
                  <a:solidFill>
                    <a:srgbClr val="FFFF66"/>
                  </a:solidFill>
                </a:rPr>
                <a:t>5</a:t>
              </a:r>
              <a:endParaRPr lang="en-US" altLang="zh-CN" sz="2800">
                <a:solidFill>
                  <a:srgbClr val="FFFF66"/>
                </a:solidFill>
              </a:endParaRPr>
            </a:p>
          </p:txBody>
        </p:sp>
        <p:sp>
          <p:nvSpPr>
            <p:cNvPr id="303110" name="Line 6"/>
            <p:cNvSpPr>
              <a:spLocks noChangeShapeType="1"/>
            </p:cNvSpPr>
            <p:nvPr/>
          </p:nvSpPr>
          <p:spPr bwMode="auto">
            <a:xfrm flipH="1">
              <a:off x="2965" y="2132"/>
              <a:ext cx="328" cy="311"/>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3111" name="Line 7"/>
            <p:cNvSpPr>
              <a:spLocks noChangeShapeType="1"/>
            </p:cNvSpPr>
            <p:nvPr/>
          </p:nvSpPr>
          <p:spPr bwMode="auto">
            <a:xfrm flipH="1">
              <a:off x="2436" y="2660"/>
              <a:ext cx="300" cy="34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3112" name="Line 8"/>
            <p:cNvSpPr>
              <a:spLocks noChangeShapeType="1"/>
            </p:cNvSpPr>
            <p:nvPr/>
          </p:nvSpPr>
          <p:spPr bwMode="auto">
            <a:xfrm>
              <a:off x="3560" y="2103"/>
              <a:ext cx="341" cy="284"/>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3113" name="Oval 9"/>
            <p:cNvSpPr>
              <a:spLocks noChangeArrowheads="1"/>
            </p:cNvSpPr>
            <p:nvPr/>
          </p:nvSpPr>
          <p:spPr bwMode="auto">
            <a:xfrm>
              <a:off x="2682" y="2358"/>
              <a:ext cx="340" cy="340"/>
            </a:xfrm>
            <a:prstGeom prst="ellipse">
              <a:avLst/>
            </a:prstGeom>
            <a:gradFill rotWithShape="1">
              <a:gsLst>
                <a:gs pos="0">
                  <a:srgbClr val="00CC66"/>
                </a:gs>
                <a:gs pos="100000">
                  <a:srgbClr val="00CC66">
                    <a:gamma/>
                    <a:shade val="46275"/>
                    <a:invGamma/>
                  </a:srgbClr>
                </a:gs>
              </a:gsLst>
              <a:path path="rect">
                <a:fillToRect r="100000" b="100000"/>
              </a:path>
            </a:gradFill>
            <a:ln>
              <a:noFill/>
            </a:ln>
            <a:effectLst/>
            <a:extLst>
              <a:ext uri="{91240B29-F687-4F45-9708-019B960494DF}">
                <a14:hiddenLine xmlns:a14="http://schemas.microsoft.com/office/drawing/2010/main" w="19050">
                  <a:solidFill>
                    <a:srgbClr val="003300"/>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2800" b="1">
                  <a:solidFill>
                    <a:srgbClr val="FFFF66"/>
                  </a:solidFill>
                </a:rPr>
                <a:t>4</a:t>
              </a:r>
              <a:endParaRPr lang="en-US" altLang="zh-CN" sz="2800">
                <a:solidFill>
                  <a:srgbClr val="FFFF66"/>
                </a:solidFill>
              </a:endParaRPr>
            </a:p>
          </p:txBody>
        </p:sp>
        <p:sp>
          <p:nvSpPr>
            <p:cNvPr id="303114" name="Oval 10"/>
            <p:cNvSpPr>
              <a:spLocks noChangeArrowheads="1"/>
            </p:cNvSpPr>
            <p:nvPr/>
          </p:nvSpPr>
          <p:spPr bwMode="auto">
            <a:xfrm>
              <a:off x="2200" y="2982"/>
              <a:ext cx="340" cy="340"/>
            </a:xfrm>
            <a:prstGeom prst="ellipse">
              <a:avLst/>
            </a:prstGeom>
            <a:gradFill rotWithShape="1">
              <a:gsLst>
                <a:gs pos="0">
                  <a:srgbClr val="00CC66"/>
                </a:gs>
                <a:gs pos="100000">
                  <a:srgbClr val="00CC66">
                    <a:gamma/>
                    <a:shade val="46275"/>
                    <a:invGamma/>
                  </a:srgbClr>
                </a:gs>
              </a:gsLst>
              <a:path path="rect">
                <a:fillToRect r="100000" b="100000"/>
              </a:path>
            </a:gradFill>
            <a:ln>
              <a:noFill/>
            </a:ln>
            <a:effectLst/>
            <a:extLst>
              <a:ext uri="{91240B29-F687-4F45-9708-019B960494DF}">
                <a14:hiddenLine xmlns:a14="http://schemas.microsoft.com/office/drawing/2010/main" w="19050">
                  <a:solidFill>
                    <a:srgbClr val="003300"/>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2800" b="1">
                  <a:solidFill>
                    <a:srgbClr val="FFFF66"/>
                  </a:solidFill>
                </a:rPr>
                <a:t>2</a:t>
              </a:r>
              <a:endParaRPr lang="en-US" altLang="zh-CN" sz="2800">
                <a:solidFill>
                  <a:srgbClr val="FFFF66"/>
                </a:solidFill>
              </a:endParaRPr>
            </a:p>
          </p:txBody>
        </p:sp>
        <p:sp>
          <p:nvSpPr>
            <p:cNvPr id="303115" name="Oval 11"/>
            <p:cNvSpPr>
              <a:spLocks noChangeArrowheads="1"/>
            </p:cNvSpPr>
            <p:nvPr/>
          </p:nvSpPr>
          <p:spPr bwMode="auto">
            <a:xfrm>
              <a:off x="3816" y="2358"/>
              <a:ext cx="340" cy="340"/>
            </a:xfrm>
            <a:prstGeom prst="ellipse">
              <a:avLst/>
            </a:prstGeom>
            <a:gradFill rotWithShape="1">
              <a:gsLst>
                <a:gs pos="0">
                  <a:srgbClr val="00CC66"/>
                </a:gs>
                <a:gs pos="100000">
                  <a:srgbClr val="00CC66">
                    <a:gamma/>
                    <a:shade val="46275"/>
                    <a:invGamma/>
                  </a:srgbClr>
                </a:gs>
              </a:gsLst>
              <a:path path="rect">
                <a:fillToRect r="100000" b="100000"/>
              </a:path>
            </a:gradFill>
            <a:ln>
              <a:noFill/>
            </a:ln>
            <a:effectLst/>
            <a:extLst>
              <a:ext uri="{91240B29-F687-4F45-9708-019B960494DF}">
                <a14:hiddenLine xmlns:a14="http://schemas.microsoft.com/office/drawing/2010/main" w="19050">
                  <a:solidFill>
                    <a:srgbClr val="003300"/>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2800" b="1">
                  <a:solidFill>
                    <a:srgbClr val="FFFF66"/>
                  </a:solidFill>
                </a:rPr>
                <a:t>8</a:t>
              </a:r>
              <a:endParaRPr lang="en-US" altLang="zh-CN" sz="2800">
                <a:solidFill>
                  <a:srgbClr val="FFFF66"/>
                </a:solidFill>
              </a:endParaRPr>
            </a:p>
          </p:txBody>
        </p:sp>
      </p:grpSp>
      <p:grpSp>
        <p:nvGrpSpPr>
          <p:cNvPr id="303116" name="Group 12"/>
          <p:cNvGrpSpPr>
            <a:grpSpLocks/>
          </p:cNvGrpSpPr>
          <p:nvPr/>
        </p:nvGrpSpPr>
        <p:grpSpPr bwMode="auto">
          <a:xfrm>
            <a:off x="2636838" y="5500688"/>
            <a:ext cx="836612" cy="1079500"/>
            <a:chOff x="1661" y="3465"/>
            <a:chExt cx="527" cy="680"/>
          </a:xfrm>
        </p:grpSpPr>
        <p:sp>
          <p:nvSpPr>
            <p:cNvPr id="303117" name="Line 13"/>
            <p:cNvSpPr>
              <a:spLocks noChangeShapeType="1"/>
            </p:cNvSpPr>
            <p:nvPr/>
          </p:nvSpPr>
          <p:spPr bwMode="auto">
            <a:xfrm flipH="1">
              <a:off x="1887" y="3465"/>
              <a:ext cx="301" cy="368"/>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3118" name="Oval 14"/>
            <p:cNvSpPr>
              <a:spLocks noChangeArrowheads="1"/>
            </p:cNvSpPr>
            <p:nvPr/>
          </p:nvSpPr>
          <p:spPr bwMode="auto">
            <a:xfrm>
              <a:off x="1661" y="3805"/>
              <a:ext cx="340" cy="340"/>
            </a:xfrm>
            <a:prstGeom prst="ellipse">
              <a:avLst/>
            </a:prstGeom>
            <a:gradFill rotWithShape="1">
              <a:gsLst>
                <a:gs pos="0">
                  <a:srgbClr val="00CC66"/>
                </a:gs>
                <a:gs pos="100000">
                  <a:srgbClr val="00CC66">
                    <a:gamma/>
                    <a:shade val="46275"/>
                    <a:invGamma/>
                  </a:srgbClr>
                </a:gs>
              </a:gsLst>
              <a:path path="rect">
                <a:fillToRect r="100000" b="100000"/>
              </a:path>
            </a:gradFill>
            <a:ln>
              <a:noFill/>
            </a:ln>
            <a:effectLst/>
            <a:extLst>
              <a:ext uri="{91240B29-F687-4F45-9708-019B960494DF}">
                <a14:hiddenLine xmlns:a14="http://schemas.microsoft.com/office/drawing/2010/main" w="19050">
                  <a:solidFill>
                    <a:srgbClr val="003300"/>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2800" b="1">
                  <a:solidFill>
                    <a:srgbClr val="FFFF66"/>
                  </a:solidFill>
                </a:rPr>
                <a:t>1</a:t>
              </a:r>
              <a:endParaRPr lang="en-US" altLang="zh-CN" sz="2800">
                <a:solidFill>
                  <a:srgbClr val="FFFF66"/>
                </a:solidFill>
              </a:endParaRPr>
            </a:p>
          </p:txBody>
        </p:sp>
      </p:grpSp>
      <p:sp>
        <p:nvSpPr>
          <p:cNvPr id="303119" name="Oval 15"/>
          <p:cNvSpPr>
            <a:spLocks noChangeArrowheads="1"/>
          </p:cNvSpPr>
          <p:nvPr/>
        </p:nvSpPr>
        <p:spPr bwMode="auto">
          <a:xfrm>
            <a:off x="4151313" y="4059238"/>
            <a:ext cx="576262" cy="576262"/>
          </a:xfrm>
          <a:prstGeom prst="ellipse">
            <a:avLst/>
          </a:prstGeom>
          <a:gradFill rotWithShape="1">
            <a:gsLst>
              <a:gs pos="0">
                <a:srgbClr val="FF5050"/>
              </a:gs>
              <a:gs pos="100000">
                <a:srgbClr val="FF5050">
                  <a:gamma/>
                  <a:shade val="46275"/>
                  <a:invGamma/>
                </a:srgbClr>
              </a:gs>
            </a:gsLst>
            <a:path path="rect">
              <a:fillToRect l="100000" b="100000"/>
            </a:path>
          </a:gradFill>
          <a:ln>
            <a:noFill/>
          </a:ln>
          <a:effectLst/>
          <a:extLst>
            <a:ext uri="{91240B29-F687-4F45-9708-019B960494DF}">
              <a14:hiddenLine xmlns:a14="http://schemas.microsoft.com/office/drawing/2010/main" w="19050">
                <a:solidFill>
                  <a:srgbClr val="003300"/>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chemeClr val="bg1"/>
                </a:solidFill>
              </a:rPr>
              <a:t>4</a:t>
            </a:r>
            <a:endParaRPr lang="en-US" altLang="zh-CN">
              <a:solidFill>
                <a:schemeClr val="bg1"/>
              </a:solidFill>
            </a:endParaRPr>
          </a:p>
        </p:txBody>
      </p:sp>
      <p:sp>
        <p:nvSpPr>
          <p:cNvPr id="303120" name="Text Box 16"/>
          <p:cNvSpPr txBox="1">
            <a:spLocks noChangeArrowheads="1"/>
          </p:cNvSpPr>
          <p:nvPr/>
        </p:nvSpPr>
        <p:spPr bwMode="auto">
          <a:xfrm>
            <a:off x="152400" y="1079500"/>
            <a:ext cx="6400800" cy="579438"/>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spcBef>
                <a:spcPct val="50000"/>
              </a:spcBef>
            </a:pPr>
            <a:r>
              <a:rPr kumimoji="0" lang="zh-CN" altLang="en-US" sz="3200" b="1">
                <a:solidFill>
                  <a:srgbClr val="0033CC"/>
                </a:solidFill>
                <a:latin typeface="宋体" charset="-122"/>
              </a:rPr>
              <a:t>平衡二叉树</a:t>
            </a:r>
            <a:endParaRPr kumimoji="0" lang="zh-CN" altLang="en-US" sz="3200" b="1">
              <a:solidFill>
                <a:srgbClr val="0033CC"/>
              </a:solidFill>
            </a:endParaRPr>
          </a:p>
        </p:txBody>
      </p:sp>
    </p:spTree>
    <p:extLst>
      <p:ext uri="{BB962C8B-B14F-4D97-AF65-F5344CB8AC3E}">
        <p14:creationId xmlns:p14="http://schemas.microsoft.com/office/powerpoint/2010/main" val="714863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03108"/>
                                        </p:tgtEl>
                                        <p:attrNameLst>
                                          <p:attrName>style.visibility</p:attrName>
                                        </p:attrNameLst>
                                      </p:cBhvr>
                                      <p:to>
                                        <p:strVal val="visible"/>
                                      </p:to>
                                    </p:set>
                                    <p:animEffect transition="in" filter="box(in)">
                                      <p:cBhvr>
                                        <p:cTn id="7" dur="500"/>
                                        <p:tgtEl>
                                          <p:spTgt spid="3031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03116"/>
                                        </p:tgtEl>
                                        <p:attrNameLst>
                                          <p:attrName>style.visibility</p:attrName>
                                        </p:attrNameLst>
                                      </p:cBhvr>
                                      <p:to>
                                        <p:strVal val="visible"/>
                                      </p:to>
                                    </p:set>
                                    <p:animEffect transition="in" filter="wipe(up)">
                                      <p:cBhvr>
                                        <p:cTn id="12" dur="500"/>
                                        <p:tgtEl>
                                          <p:spTgt spid="3031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3119"/>
                                        </p:tgtEl>
                                        <p:attrNameLst>
                                          <p:attrName>style.visibility</p:attrName>
                                        </p:attrNameLst>
                                      </p:cBhvr>
                                      <p:to>
                                        <p:strVal val="visible"/>
                                      </p:to>
                                    </p:set>
                                    <p:animEffect transition="in" filter="blinds(horizontal)">
                                      <p:cBhvr>
                                        <p:cTn id="17" dur="500"/>
                                        <p:tgtEl>
                                          <p:spTgt spid="303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19"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Text Box 2"/>
          <p:cNvSpPr txBox="1">
            <a:spLocks noChangeArrowheads="1"/>
          </p:cNvSpPr>
          <p:nvPr/>
        </p:nvSpPr>
        <p:spPr bwMode="auto">
          <a:xfrm>
            <a:off x="250825" y="1989138"/>
            <a:ext cx="8382000" cy="222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rIns="0">
            <a:spAutoFit/>
          </a:bodyPr>
          <a:lstStyle/>
          <a:p>
            <a:pPr eaLnBrk="0" hangingPunct="0">
              <a:spcBef>
                <a:spcPct val="50000"/>
              </a:spcBef>
            </a:pPr>
            <a:r>
              <a:rPr kumimoji="0" lang="zh-CN" altLang="en-US" sz="2800" b="1">
                <a:solidFill>
                  <a:srgbClr val="FF3300"/>
                </a:solidFill>
              </a:rPr>
              <a:t>基本思想</a:t>
            </a:r>
            <a:r>
              <a:rPr kumimoji="0" lang="zh-CN" altLang="en-US" sz="2800" b="1"/>
              <a:t>：在构造二叉排序树的过程中，每插入一个结点时，首先检查是否因插入而破坏了树的平衡性，若是，则找出最小不平衡子树，在保持二叉排序树特性的前提下，调整最小不平衡子树中各结点之间的链接关系，进行相应的旋转，使之成为新的平衡子树。</a:t>
            </a:r>
          </a:p>
        </p:txBody>
      </p:sp>
      <p:sp>
        <p:nvSpPr>
          <p:cNvPr id="304132" name="Text Box 4"/>
          <p:cNvSpPr txBox="1">
            <a:spLocks noChangeArrowheads="1"/>
          </p:cNvSpPr>
          <p:nvPr/>
        </p:nvSpPr>
        <p:spPr bwMode="auto">
          <a:xfrm>
            <a:off x="152400" y="1079500"/>
            <a:ext cx="6400800" cy="579438"/>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spcBef>
                <a:spcPct val="50000"/>
              </a:spcBef>
            </a:pPr>
            <a:r>
              <a:rPr kumimoji="0" lang="zh-CN" altLang="en-US" sz="3200" b="1">
                <a:solidFill>
                  <a:srgbClr val="0033CC"/>
                </a:solidFill>
                <a:latin typeface="宋体" charset="-122"/>
              </a:rPr>
              <a:t>平衡二叉树</a:t>
            </a:r>
            <a:endParaRPr kumimoji="0" lang="zh-CN" altLang="en-US" sz="3200" b="1">
              <a:solidFill>
                <a:srgbClr val="0033CC"/>
              </a:solidFill>
            </a:endParaRPr>
          </a:p>
        </p:txBody>
      </p:sp>
    </p:spTree>
    <p:extLst>
      <p:ext uri="{BB962C8B-B14F-4D97-AF65-F5344CB8AC3E}">
        <p14:creationId xmlns:p14="http://schemas.microsoft.com/office/powerpoint/2010/main" val="484448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Text Box 2"/>
          <p:cNvSpPr txBox="1">
            <a:spLocks noChangeArrowheads="1"/>
          </p:cNvSpPr>
          <p:nvPr/>
        </p:nvSpPr>
        <p:spPr bwMode="auto">
          <a:xfrm>
            <a:off x="217488" y="1403350"/>
            <a:ext cx="88471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latin typeface="宋体" charset="-122"/>
              </a:rPr>
              <a:t>例：设序列</a:t>
            </a:r>
            <a:r>
              <a:rPr kumimoji="0" lang="en-US" altLang="zh-CN" sz="2800" b="1"/>
              <a:t>{20</a:t>
            </a:r>
            <a:r>
              <a:rPr kumimoji="0" lang="zh-CN" altLang="en-US" sz="2800" b="1">
                <a:latin typeface="宋体" charset="-122"/>
              </a:rPr>
              <a:t>，</a:t>
            </a:r>
            <a:r>
              <a:rPr kumimoji="0" lang="en-US" altLang="zh-CN" sz="2800" b="1"/>
              <a:t>35</a:t>
            </a:r>
            <a:r>
              <a:rPr kumimoji="0" lang="zh-CN" altLang="en-US" sz="2800" b="1">
                <a:latin typeface="宋体" charset="-122"/>
              </a:rPr>
              <a:t>，</a:t>
            </a:r>
            <a:r>
              <a:rPr kumimoji="0" lang="en-US" altLang="zh-CN" sz="2800" b="1"/>
              <a:t>40</a:t>
            </a:r>
            <a:r>
              <a:rPr kumimoji="0" lang="zh-CN" altLang="en-US" sz="2800" b="1">
                <a:latin typeface="宋体" charset="-122"/>
              </a:rPr>
              <a:t>，</a:t>
            </a:r>
            <a:r>
              <a:rPr kumimoji="0" lang="en-US" altLang="zh-CN" sz="2800" b="1"/>
              <a:t>15</a:t>
            </a:r>
            <a:r>
              <a:rPr kumimoji="0" lang="zh-CN" altLang="en-US" sz="2800" b="1">
                <a:latin typeface="宋体" charset="-122"/>
              </a:rPr>
              <a:t>，</a:t>
            </a:r>
            <a:r>
              <a:rPr kumimoji="0" lang="en-US" altLang="zh-CN" sz="2800" b="1"/>
              <a:t>30</a:t>
            </a:r>
            <a:r>
              <a:rPr kumimoji="0" lang="zh-CN" altLang="en-US" sz="2800" b="1">
                <a:latin typeface="宋体" charset="-122"/>
              </a:rPr>
              <a:t>，</a:t>
            </a:r>
            <a:r>
              <a:rPr kumimoji="0" lang="en-US" altLang="zh-CN" sz="2800" b="1"/>
              <a:t>25} </a:t>
            </a:r>
            <a:r>
              <a:rPr kumimoji="0" lang="zh-CN" altLang="en-US" sz="2800" b="1"/>
              <a:t>，构造平衡树。</a:t>
            </a:r>
          </a:p>
        </p:txBody>
      </p:sp>
      <p:sp>
        <p:nvSpPr>
          <p:cNvPr id="305155" name="Oval 3"/>
          <p:cNvSpPr>
            <a:spLocks noChangeArrowheads="1"/>
          </p:cNvSpPr>
          <p:nvPr/>
        </p:nvSpPr>
        <p:spPr bwMode="auto">
          <a:xfrm>
            <a:off x="762000" y="2425700"/>
            <a:ext cx="539750" cy="53975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10800" anchor="ctr"/>
          <a:lstStyle/>
          <a:p>
            <a:pPr algn="ctr" eaLnBrk="0" hangingPunct="0"/>
            <a:r>
              <a:rPr kumimoji="0" lang="en-US" altLang="zh-CN" sz="2800" b="1">
                <a:solidFill>
                  <a:schemeClr val="bg1"/>
                </a:solidFill>
              </a:rPr>
              <a:t>20</a:t>
            </a:r>
          </a:p>
        </p:txBody>
      </p:sp>
      <p:grpSp>
        <p:nvGrpSpPr>
          <p:cNvPr id="305156" name="Group 4"/>
          <p:cNvGrpSpPr>
            <a:grpSpLocks/>
          </p:cNvGrpSpPr>
          <p:nvPr/>
        </p:nvGrpSpPr>
        <p:grpSpPr bwMode="auto">
          <a:xfrm>
            <a:off x="1219200" y="2882900"/>
            <a:ext cx="663575" cy="1012825"/>
            <a:chOff x="768" y="2016"/>
            <a:chExt cx="418" cy="638"/>
          </a:xfrm>
        </p:grpSpPr>
        <p:sp>
          <p:nvSpPr>
            <p:cNvPr id="305157" name="Oval 5"/>
            <p:cNvSpPr>
              <a:spLocks noChangeArrowheads="1"/>
            </p:cNvSpPr>
            <p:nvPr/>
          </p:nvSpPr>
          <p:spPr bwMode="auto">
            <a:xfrm>
              <a:off x="846" y="2314"/>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35</a:t>
              </a:r>
            </a:p>
          </p:txBody>
        </p:sp>
        <p:sp>
          <p:nvSpPr>
            <p:cNvPr id="305158" name="Line 6"/>
            <p:cNvSpPr>
              <a:spLocks noChangeShapeType="1"/>
            </p:cNvSpPr>
            <p:nvPr/>
          </p:nvSpPr>
          <p:spPr bwMode="auto">
            <a:xfrm>
              <a:off x="768" y="2016"/>
              <a:ext cx="184" cy="314"/>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grpSp>
        <p:nvGrpSpPr>
          <p:cNvPr id="305159" name="Group 7"/>
          <p:cNvGrpSpPr>
            <a:grpSpLocks/>
          </p:cNvGrpSpPr>
          <p:nvPr/>
        </p:nvGrpSpPr>
        <p:grpSpPr bwMode="auto">
          <a:xfrm>
            <a:off x="1781175" y="3832225"/>
            <a:ext cx="720725" cy="1079500"/>
            <a:chOff x="1122" y="2614"/>
            <a:chExt cx="454" cy="680"/>
          </a:xfrm>
        </p:grpSpPr>
        <p:sp>
          <p:nvSpPr>
            <p:cNvPr id="305160" name="Oval 8"/>
            <p:cNvSpPr>
              <a:spLocks noChangeArrowheads="1"/>
            </p:cNvSpPr>
            <p:nvPr/>
          </p:nvSpPr>
          <p:spPr bwMode="auto">
            <a:xfrm>
              <a:off x="1236" y="2954"/>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40</a:t>
              </a:r>
            </a:p>
          </p:txBody>
        </p:sp>
        <p:sp>
          <p:nvSpPr>
            <p:cNvPr id="305161" name="Line 9"/>
            <p:cNvSpPr>
              <a:spLocks noChangeShapeType="1"/>
            </p:cNvSpPr>
            <p:nvPr/>
          </p:nvSpPr>
          <p:spPr bwMode="auto">
            <a:xfrm>
              <a:off x="1122" y="2614"/>
              <a:ext cx="199" cy="368"/>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305162" name="AutoShape 10"/>
          <p:cNvSpPr>
            <a:spLocks noChangeArrowheads="1"/>
          </p:cNvSpPr>
          <p:nvPr/>
        </p:nvSpPr>
        <p:spPr bwMode="auto">
          <a:xfrm>
            <a:off x="2997200" y="3563938"/>
            <a:ext cx="762000" cy="228600"/>
          </a:xfrm>
          <a:prstGeom prst="rightArrow">
            <a:avLst>
              <a:gd name="adj1" fmla="val 50000"/>
              <a:gd name="adj2" fmla="val 83333"/>
            </a:avLst>
          </a:prstGeom>
          <a:solidFill>
            <a:schemeClr val="accent1"/>
          </a:solidFill>
          <a:ln>
            <a:noFill/>
          </a:ln>
          <a:effectLst/>
          <a:extLst>
            <a:ext uri="{91240B29-F687-4F45-9708-019B960494DF}">
              <a14:hiddenLine xmlns:a14="http://schemas.microsoft.com/office/drawing/2010/main" w="57150">
                <a:solidFill>
                  <a:srgbClr val="8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5164" name="AutoShape 12"/>
          <p:cNvSpPr>
            <a:spLocks noChangeArrowheads="1"/>
          </p:cNvSpPr>
          <p:nvPr/>
        </p:nvSpPr>
        <p:spPr bwMode="auto">
          <a:xfrm>
            <a:off x="915988" y="2976563"/>
            <a:ext cx="134937" cy="223837"/>
          </a:xfrm>
          <a:prstGeom prst="triangle">
            <a:avLst>
              <a:gd name="adj" fmla="val 50000"/>
            </a:avLst>
          </a:prstGeom>
          <a:solidFill>
            <a:srgbClr val="FF33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305165" name="AutoShape 13"/>
          <p:cNvSpPr>
            <a:spLocks noChangeArrowheads="1"/>
          </p:cNvSpPr>
          <p:nvPr/>
        </p:nvSpPr>
        <p:spPr bwMode="auto">
          <a:xfrm>
            <a:off x="1501775" y="3921125"/>
            <a:ext cx="134938" cy="223838"/>
          </a:xfrm>
          <a:prstGeom prst="triangle">
            <a:avLst>
              <a:gd name="adj" fmla="val 50000"/>
            </a:avLst>
          </a:prstGeom>
          <a:solidFill>
            <a:srgbClr val="FF33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grpSp>
        <p:nvGrpSpPr>
          <p:cNvPr id="305166" name="Group 14"/>
          <p:cNvGrpSpPr>
            <a:grpSpLocks/>
          </p:cNvGrpSpPr>
          <p:nvPr/>
        </p:nvGrpSpPr>
        <p:grpSpPr bwMode="auto">
          <a:xfrm>
            <a:off x="5207000" y="2351088"/>
            <a:ext cx="1955800" cy="1439862"/>
            <a:chOff x="2200" y="1791"/>
            <a:chExt cx="1232" cy="907"/>
          </a:xfrm>
        </p:grpSpPr>
        <p:sp>
          <p:nvSpPr>
            <p:cNvPr id="305167" name="Line 15"/>
            <p:cNvSpPr>
              <a:spLocks noChangeShapeType="1"/>
            </p:cNvSpPr>
            <p:nvPr/>
          </p:nvSpPr>
          <p:spPr bwMode="auto">
            <a:xfrm>
              <a:off x="2955" y="2045"/>
              <a:ext cx="237" cy="342"/>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5168" name="Line 16"/>
            <p:cNvSpPr>
              <a:spLocks noChangeShapeType="1"/>
            </p:cNvSpPr>
            <p:nvPr/>
          </p:nvSpPr>
          <p:spPr bwMode="auto">
            <a:xfrm flipH="1">
              <a:off x="2426" y="2047"/>
              <a:ext cx="249" cy="340"/>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5169" name="Oval 17"/>
            <p:cNvSpPr>
              <a:spLocks noChangeArrowheads="1"/>
            </p:cNvSpPr>
            <p:nvPr/>
          </p:nvSpPr>
          <p:spPr bwMode="auto">
            <a:xfrm>
              <a:off x="2653" y="1791"/>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35</a:t>
              </a:r>
            </a:p>
          </p:txBody>
        </p:sp>
        <p:sp>
          <p:nvSpPr>
            <p:cNvPr id="305170" name="Oval 18"/>
            <p:cNvSpPr>
              <a:spLocks noChangeArrowheads="1"/>
            </p:cNvSpPr>
            <p:nvPr/>
          </p:nvSpPr>
          <p:spPr bwMode="auto">
            <a:xfrm>
              <a:off x="2200" y="2358"/>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10800" anchor="ctr"/>
            <a:lstStyle/>
            <a:p>
              <a:pPr algn="ctr" eaLnBrk="0" hangingPunct="0"/>
              <a:r>
                <a:rPr kumimoji="0" lang="en-US" altLang="zh-CN" sz="2800" b="1">
                  <a:solidFill>
                    <a:schemeClr val="bg1"/>
                  </a:solidFill>
                </a:rPr>
                <a:t>20</a:t>
              </a:r>
            </a:p>
          </p:txBody>
        </p:sp>
        <p:sp>
          <p:nvSpPr>
            <p:cNvPr id="305171" name="Oval 19"/>
            <p:cNvSpPr>
              <a:spLocks noChangeArrowheads="1"/>
            </p:cNvSpPr>
            <p:nvPr/>
          </p:nvSpPr>
          <p:spPr bwMode="auto">
            <a:xfrm>
              <a:off x="3092" y="2358"/>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40</a:t>
              </a:r>
            </a:p>
          </p:txBody>
        </p:sp>
      </p:grpSp>
      <p:grpSp>
        <p:nvGrpSpPr>
          <p:cNvPr id="305172" name="Group 20"/>
          <p:cNvGrpSpPr>
            <a:grpSpLocks/>
          </p:cNvGrpSpPr>
          <p:nvPr/>
        </p:nvGrpSpPr>
        <p:grpSpPr bwMode="auto">
          <a:xfrm>
            <a:off x="4589463" y="3702050"/>
            <a:ext cx="706437" cy="1114425"/>
            <a:chOff x="1811" y="2592"/>
            <a:chExt cx="445" cy="702"/>
          </a:xfrm>
        </p:grpSpPr>
        <p:sp>
          <p:nvSpPr>
            <p:cNvPr id="305173" name="Oval 21"/>
            <p:cNvSpPr>
              <a:spLocks noChangeArrowheads="1"/>
            </p:cNvSpPr>
            <p:nvPr/>
          </p:nvSpPr>
          <p:spPr bwMode="auto">
            <a:xfrm>
              <a:off x="1811" y="2954"/>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15</a:t>
              </a:r>
            </a:p>
          </p:txBody>
        </p:sp>
        <p:sp>
          <p:nvSpPr>
            <p:cNvPr id="305174" name="Line 22"/>
            <p:cNvSpPr>
              <a:spLocks noChangeShapeType="1"/>
            </p:cNvSpPr>
            <p:nvPr/>
          </p:nvSpPr>
          <p:spPr bwMode="auto">
            <a:xfrm flipH="1">
              <a:off x="2030" y="2592"/>
              <a:ext cx="226" cy="362"/>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grpSp>
        <p:nvGrpSpPr>
          <p:cNvPr id="305175" name="Group 23"/>
          <p:cNvGrpSpPr>
            <a:grpSpLocks/>
          </p:cNvGrpSpPr>
          <p:nvPr/>
        </p:nvGrpSpPr>
        <p:grpSpPr bwMode="auto">
          <a:xfrm>
            <a:off x="5640388" y="3721100"/>
            <a:ext cx="720725" cy="1139825"/>
            <a:chOff x="2473" y="2604"/>
            <a:chExt cx="454" cy="718"/>
          </a:xfrm>
        </p:grpSpPr>
        <p:sp>
          <p:nvSpPr>
            <p:cNvPr id="305176" name="Oval 24"/>
            <p:cNvSpPr>
              <a:spLocks noChangeArrowheads="1"/>
            </p:cNvSpPr>
            <p:nvPr/>
          </p:nvSpPr>
          <p:spPr bwMode="auto">
            <a:xfrm>
              <a:off x="2587" y="2982"/>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30</a:t>
              </a:r>
            </a:p>
          </p:txBody>
        </p:sp>
        <p:sp>
          <p:nvSpPr>
            <p:cNvPr id="305177" name="Line 25"/>
            <p:cNvSpPr>
              <a:spLocks noChangeShapeType="1"/>
            </p:cNvSpPr>
            <p:nvPr/>
          </p:nvSpPr>
          <p:spPr bwMode="auto">
            <a:xfrm>
              <a:off x="2473" y="2604"/>
              <a:ext cx="237" cy="406"/>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grpSp>
        <p:nvGrpSpPr>
          <p:cNvPr id="305178" name="Group 26"/>
          <p:cNvGrpSpPr>
            <a:grpSpLocks/>
          </p:cNvGrpSpPr>
          <p:nvPr/>
        </p:nvGrpSpPr>
        <p:grpSpPr bwMode="auto">
          <a:xfrm>
            <a:off x="5267325" y="4829175"/>
            <a:ext cx="706438" cy="1114425"/>
            <a:chOff x="1811" y="2592"/>
            <a:chExt cx="445" cy="702"/>
          </a:xfrm>
        </p:grpSpPr>
        <p:sp>
          <p:nvSpPr>
            <p:cNvPr id="305179" name="Oval 27"/>
            <p:cNvSpPr>
              <a:spLocks noChangeArrowheads="1"/>
            </p:cNvSpPr>
            <p:nvPr/>
          </p:nvSpPr>
          <p:spPr bwMode="auto">
            <a:xfrm>
              <a:off x="1811" y="2954"/>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15</a:t>
              </a:r>
            </a:p>
          </p:txBody>
        </p:sp>
        <p:sp>
          <p:nvSpPr>
            <p:cNvPr id="305180" name="Line 28"/>
            <p:cNvSpPr>
              <a:spLocks noChangeShapeType="1"/>
            </p:cNvSpPr>
            <p:nvPr/>
          </p:nvSpPr>
          <p:spPr bwMode="auto">
            <a:xfrm flipH="1">
              <a:off x="2030" y="2592"/>
              <a:ext cx="226" cy="362"/>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305181" name="AutoShape 29"/>
          <p:cNvSpPr>
            <a:spLocks noChangeArrowheads="1"/>
          </p:cNvSpPr>
          <p:nvPr/>
        </p:nvSpPr>
        <p:spPr bwMode="auto">
          <a:xfrm>
            <a:off x="6107113" y="2881313"/>
            <a:ext cx="134937" cy="223837"/>
          </a:xfrm>
          <a:prstGeom prst="triangle">
            <a:avLst>
              <a:gd name="adj" fmla="val 50000"/>
            </a:avLst>
          </a:prstGeom>
          <a:solidFill>
            <a:srgbClr val="FF33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199950575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5155"/>
                                        </p:tgtEl>
                                        <p:attrNameLst>
                                          <p:attrName>style.visibility</p:attrName>
                                        </p:attrNameLst>
                                      </p:cBhvr>
                                      <p:to>
                                        <p:strVal val="visible"/>
                                      </p:to>
                                    </p:set>
                                    <p:animEffect transition="in" filter="wipe(down)">
                                      <p:cBhvr>
                                        <p:cTn id="7" dur="500"/>
                                        <p:tgtEl>
                                          <p:spTgt spid="3051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05156"/>
                                        </p:tgtEl>
                                        <p:attrNameLst>
                                          <p:attrName>style.visibility</p:attrName>
                                        </p:attrNameLst>
                                      </p:cBhvr>
                                      <p:to>
                                        <p:strVal val="visible"/>
                                      </p:to>
                                    </p:set>
                                    <p:animEffect transition="in" filter="wipe(up)">
                                      <p:cBhvr>
                                        <p:cTn id="12" dur="500"/>
                                        <p:tgtEl>
                                          <p:spTgt spid="3051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05159"/>
                                        </p:tgtEl>
                                        <p:attrNameLst>
                                          <p:attrName>style.visibility</p:attrName>
                                        </p:attrNameLst>
                                      </p:cBhvr>
                                      <p:to>
                                        <p:strVal val="visible"/>
                                      </p:to>
                                    </p:set>
                                    <p:animEffect transition="in" filter="wipe(up)">
                                      <p:cBhvr>
                                        <p:cTn id="17" dur="500"/>
                                        <p:tgtEl>
                                          <p:spTgt spid="30515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05164"/>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305164"/>
                                        </p:tgtEl>
                                        <p:attrNameLst>
                                          <p:attrName>style.visibility</p:attrName>
                                        </p:attrNameLst>
                                      </p:cBhvr>
                                      <p:to>
                                        <p:strVal val="hidden"/>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05165"/>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305162"/>
                                        </p:tgtEl>
                                        <p:attrNameLst>
                                          <p:attrName>style.visibility</p:attrName>
                                        </p:attrNameLst>
                                      </p:cBhvr>
                                      <p:to>
                                        <p:strVal val="visible"/>
                                      </p:to>
                                    </p:set>
                                    <p:animEffect transition="in" filter="wipe(down)">
                                      <p:cBhvr>
                                        <p:cTn id="34" dur="500"/>
                                        <p:tgtEl>
                                          <p:spTgt spid="30516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05166"/>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305172"/>
                                        </p:tgtEl>
                                        <p:attrNameLst>
                                          <p:attrName>style.visibility</p:attrName>
                                        </p:attrNameLst>
                                      </p:cBhvr>
                                      <p:to>
                                        <p:strVal val="visible"/>
                                      </p:to>
                                    </p:set>
                                    <p:animEffect transition="in" filter="wipe(up)">
                                      <p:cBhvr>
                                        <p:cTn id="43" dur="500"/>
                                        <p:tgtEl>
                                          <p:spTgt spid="30517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305175"/>
                                        </p:tgtEl>
                                        <p:attrNameLst>
                                          <p:attrName>style.visibility</p:attrName>
                                        </p:attrNameLst>
                                      </p:cBhvr>
                                      <p:to>
                                        <p:strVal val="visible"/>
                                      </p:to>
                                    </p:set>
                                    <p:animEffect transition="in" filter="wipe(up)">
                                      <p:cBhvr>
                                        <p:cTn id="48" dur="500"/>
                                        <p:tgtEl>
                                          <p:spTgt spid="30517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nodeType="clickEffect">
                                  <p:stCondLst>
                                    <p:cond delay="0"/>
                                  </p:stCondLst>
                                  <p:childTnLst>
                                    <p:set>
                                      <p:cBhvr>
                                        <p:cTn id="52" dur="1" fill="hold">
                                          <p:stCondLst>
                                            <p:cond delay="0"/>
                                          </p:stCondLst>
                                        </p:cTn>
                                        <p:tgtEl>
                                          <p:spTgt spid="305178"/>
                                        </p:tgtEl>
                                        <p:attrNameLst>
                                          <p:attrName>style.visibility</p:attrName>
                                        </p:attrNameLst>
                                      </p:cBhvr>
                                      <p:to>
                                        <p:strVal val="visible"/>
                                      </p:to>
                                    </p:set>
                                    <p:animEffect transition="in" filter="wipe(up)">
                                      <p:cBhvr>
                                        <p:cTn id="53" dur="500"/>
                                        <p:tgtEl>
                                          <p:spTgt spid="30517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051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5" grpId="0" animBg="1"/>
      <p:bldP spid="305162" grpId="0" animBg="1"/>
      <p:bldP spid="305164" grpId="0" animBg="1"/>
      <p:bldP spid="305164" grpId="1" animBg="1"/>
      <p:bldP spid="305165" grpId="0" animBg="1"/>
      <p:bldP spid="305181"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Text Box 2"/>
          <p:cNvSpPr txBox="1">
            <a:spLocks noChangeArrowheads="1"/>
          </p:cNvSpPr>
          <p:nvPr/>
        </p:nvSpPr>
        <p:spPr bwMode="auto">
          <a:xfrm>
            <a:off x="217488" y="1403350"/>
            <a:ext cx="88471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latin typeface="宋体" charset="-122"/>
              </a:rPr>
              <a:t>例：设序列</a:t>
            </a:r>
            <a:r>
              <a:rPr kumimoji="0" lang="en-US" altLang="zh-CN" sz="2800" b="1"/>
              <a:t>{20</a:t>
            </a:r>
            <a:r>
              <a:rPr kumimoji="0" lang="zh-CN" altLang="en-US" sz="2800" b="1">
                <a:latin typeface="宋体" charset="-122"/>
              </a:rPr>
              <a:t>，</a:t>
            </a:r>
            <a:r>
              <a:rPr kumimoji="0" lang="en-US" altLang="zh-CN" sz="2800" b="1"/>
              <a:t>35</a:t>
            </a:r>
            <a:r>
              <a:rPr kumimoji="0" lang="zh-CN" altLang="en-US" sz="2800" b="1">
                <a:latin typeface="宋体" charset="-122"/>
              </a:rPr>
              <a:t>，</a:t>
            </a:r>
            <a:r>
              <a:rPr kumimoji="0" lang="en-US" altLang="zh-CN" sz="2800" b="1"/>
              <a:t>40</a:t>
            </a:r>
            <a:r>
              <a:rPr kumimoji="0" lang="zh-CN" altLang="en-US" sz="2800" b="1">
                <a:latin typeface="宋体" charset="-122"/>
              </a:rPr>
              <a:t>，</a:t>
            </a:r>
            <a:r>
              <a:rPr kumimoji="0" lang="en-US" altLang="zh-CN" sz="2800" b="1"/>
              <a:t>15</a:t>
            </a:r>
            <a:r>
              <a:rPr kumimoji="0" lang="zh-CN" altLang="en-US" sz="2800" b="1">
                <a:latin typeface="宋体" charset="-122"/>
              </a:rPr>
              <a:t>，</a:t>
            </a:r>
            <a:r>
              <a:rPr kumimoji="0" lang="en-US" altLang="zh-CN" sz="2800" b="1"/>
              <a:t>30</a:t>
            </a:r>
            <a:r>
              <a:rPr kumimoji="0" lang="zh-CN" altLang="en-US" sz="2800" b="1">
                <a:latin typeface="宋体" charset="-122"/>
              </a:rPr>
              <a:t>，</a:t>
            </a:r>
            <a:r>
              <a:rPr kumimoji="0" lang="en-US" altLang="zh-CN" sz="2800" b="1"/>
              <a:t>25} </a:t>
            </a:r>
            <a:r>
              <a:rPr kumimoji="0" lang="zh-CN" altLang="en-US" sz="2800" b="1"/>
              <a:t>，构造平衡树。</a:t>
            </a:r>
          </a:p>
        </p:txBody>
      </p:sp>
      <p:grpSp>
        <p:nvGrpSpPr>
          <p:cNvPr id="306180" name="Group 4"/>
          <p:cNvGrpSpPr>
            <a:grpSpLocks/>
          </p:cNvGrpSpPr>
          <p:nvPr/>
        </p:nvGrpSpPr>
        <p:grpSpPr bwMode="auto">
          <a:xfrm>
            <a:off x="666750" y="2351088"/>
            <a:ext cx="1955800" cy="1439862"/>
            <a:chOff x="2200" y="1791"/>
            <a:chExt cx="1232" cy="907"/>
          </a:xfrm>
        </p:grpSpPr>
        <p:sp>
          <p:nvSpPr>
            <p:cNvPr id="306181" name="Line 5"/>
            <p:cNvSpPr>
              <a:spLocks noChangeShapeType="1"/>
            </p:cNvSpPr>
            <p:nvPr/>
          </p:nvSpPr>
          <p:spPr bwMode="auto">
            <a:xfrm>
              <a:off x="2955" y="2045"/>
              <a:ext cx="237" cy="342"/>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6182" name="Line 6"/>
            <p:cNvSpPr>
              <a:spLocks noChangeShapeType="1"/>
            </p:cNvSpPr>
            <p:nvPr/>
          </p:nvSpPr>
          <p:spPr bwMode="auto">
            <a:xfrm flipH="1">
              <a:off x="2426" y="2047"/>
              <a:ext cx="249" cy="340"/>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6183" name="Oval 7"/>
            <p:cNvSpPr>
              <a:spLocks noChangeArrowheads="1"/>
            </p:cNvSpPr>
            <p:nvPr/>
          </p:nvSpPr>
          <p:spPr bwMode="auto">
            <a:xfrm>
              <a:off x="2653" y="1791"/>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35</a:t>
              </a:r>
            </a:p>
          </p:txBody>
        </p:sp>
        <p:sp>
          <p:nvSpPr>
            <p:cNvPr id="306184" name="Oval 8"/>
            <p:cNvSpPr>
              <a:spLocks noChangeArrowheads="1"/>
            </p:cNvSpPr>
            <p:nvPr/>
          </p:nvSpPr>
          <p:spPr bwMode="auto">
            <a:xfrm>
              <a:off x="2200" y="2358"/>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10800" anchor="ctr"/>
            <a:lstStyle/>
            <a:p>
              <a:pPr algn="ctr" eaLnBrk="0" hangingPunct="0"/>
              <a:r>
                <a:rPr kumimoji="0" lang="en-US" altLang="zh-CN" sz="2800" b="1">
                  <a:solidFill>
                    <a:schemeClr val="bg1"/>
                  </a:solidFill>
                </a:rPr>
                <a:t>20</a:t>
              </a:r>
            </a:p>
          </p:txBody>
        </p:sp>
        <p:sp>
          <p:nvSpPr>
            <p:cNvPr id="306185" name="Oval 9"/>
            <p:cNvSpPr>
              <a:spLocks noChangeArrowheads="1"/>
            </p:cNvSpPr>
            <p:nvPr/>
          </p:nvSpPr>
          <p:spPr bwMode="auto">
            <a:xfrm>
              <a:off x="3092" y="2358"/>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40</a:t>
              </a:r>
            </a:p>
          </p:txBody>
        </p:sp>
      </p:grpSp>
      <p:grpSp>
        <p:nvGrpSpPr>
          <p:cNvPr id="306186" name="Group 10"/>
          <p:cNvGrpSpPr>
            <a:grpSpLocks/>
          </p:cNvGrpSpPr>
          <p:nvPr/>
        </p:nvGrpSpPr>
        <p:grpSpPr bwMode="auto">
          <a:xfrm>
            <a:off x="49213" y="3702050"/>
            <a:ext cx="706437" cy="1114425"/>
            <a:chOff x="1811" y="2592"/>
            <a:chExt cx="445" cy="702"/>
          </a:xfrm>
        </p:grpSpPr>
        <p:sp>
          <p:nvSpPr>
            <p:cNvPr id="306187" name="Oval 11"/>
            <p:cNvSpPr>
              <a:spLocks noChangeArrowheads="1"/>
            </p:cNvSpPr>
            <p:nvPr/>
          </p:nvSpPr>
          <p:spPr bwMode="auto">
            <a:xfrm>
              <a:off x="1811" y="2954"/>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15</a:t>
              </a:r>
            </a:p>
          </p:txBody>
        </p:sp>
        <p:sp>
          <p:nvSpPr>
            <p:cNvPr id="306188" name="Line 12"/>
            <p:cNvSpPr>
              <a:spLocks noChangeShapeType="1"/>
            </p:cNvSpPr>
            <p:nvPr/>
          </p:nvSpPr>
          <p:spPr bwMode="auto">
            <a:xfrm flipH="1">
              <a:off x="2030" y="2592"/>
              <a:ext cx="226" cy="362"/>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grpSp>
        <p:nvGrpSpPr>
          <p:cNvPr id="306189" name="Group 13"/>
          <p:cNvGrpSpPr>
            <a:grpSpLocks/>
          </p:cNvGrpSpPr>
          <p:nvPr/>
        </p:nvGrpSpPr>
        <p:grpSpPr bwMode="auto">
          <a:xfrm>
            <a:off x="1100138" y="3721100"/>
            <a:ext cx="720725" cy="1139825"/>
            <a:chOff x="2473" y="2604"/>
            <a:chExt cx="454" cy="718"/>
          </a:xfrm>
        </p:grpSpPr>
        <p:sp>
          <p:nvSpPr>
            <p:cNvPr id="306190" name="Oval 14"/>
            <p:cNvSpPr>
              <a:spLocks noChangeArrowheads="1"/>
            </p:cNvSpPr>
            <p:nvPr/>
          </p:nvSpPr>
          <p:spPr bwMode="auto">
            <a:xfrm>
              <a:off x="2587" y="2982"/>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30</a:t>
              </a:r>
            </a:p>
          </p:txBody>
        </p:sp>
        <p:sp>
          <p:nvSpPr>
            <p:cNvPr id="306191" name="Line 15"/>
            <p:cNvSpPr>
              <a:spLocks noChangeShapeType="1"/>
            </p:cNvSpPr>
            <p:nvPr/>
          </p:nvSpPr>
          <p:spPr bwMode="auto">
            <a:xfrm>
              <a:off x="2473" y="2604"/>
              <a:ext cx="237" cy="406"/>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grpSp>
        <p:nvGrpSpPr>
          <p:cNvPr id="306192" name="Group 16"/>
          <p:cNvGrpSpPr>
            <a:grpSpLocks/>
          </p:cNvGrpSpPr>
          <p:nvPr/>
        </p:nvGrpSpPr>
        <p:grpSpPr bwMode="auto">
          <a:xfrm>
            <a:off x="727075" y="4829175"/>
            <a:ext cx="706438" cy="1114425"/>
            <a:chOff x="1811" y="2592"/>
            <a:chExt cx="445" cy="702"/>
          </a:xfrm>
        </p:grpSpPr>
        <p:sp>
          <p:nvSpPr>
            <p:cNvPr id="306193" name="Oval 17"/>
            <p:cNvSpPr>
              <a:spLocks noChangeArrowheads="1"/>
            </p:cNvSpPr>
            <p:nvPr/>
          </p:nvSpPr>
          <p:spPr bwMode="auto">
            <a:xfrm>
              <a:off x="1811" y="2954"/>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25</a:t>
              </a:r>
            </a:p>
          </p:txBody>
        </p:sp>
        <p:sp>
          <p:nvSpPr>
            <p:cNvPr id="306194" name="Line 18"/>
            <p:cNvSpPr>
              <a:spLocks noChangeShapeType="1"/>
            </p:cNvSpPr>
            <p:nvPr/>
          </p:nvSpPr>
          <p:spPr bwMode="auto">
            <a:xfrm flipH="1">
              <a:off x="2030" y="2592"/>
              <a:ext cx="226" cy="362"/>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306195" name="AutoShape 19"/>
          <p:cNvSpPr>
            <a:spLocks noChangeArrowheads="1"/>
          </p:cNvSpPr>
          <p:nvPr/>
        </p:nvSpPr>
        <p:spPr bwMode="auto">
          <a:xfrm>
            <a:off x="1566863" y="2881313"/>
            <a:ext cx="134937" cy="223837"/>
          </a:xfrm>
          <a:prstGeom prst="triangle">
            <a:avLst>
              <a:gd name="adj" fmla="val 50000"/>
            </a:avLst>
          </a:prstGeom>
          <a:solidFill>
            <a:srgbClr val="FF33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306196" name="AutoShape 20"/>
          <p:cNvSpPr>
            <a:spLocks noChangeArrowheads="1"/>
          </p:cNvSpPr>
          <p:nvPr/>
        </p:nvSpPr>
        <p:spPr bwMode="auto">
          <a:xfrm>
            <a:off x="2751138" y="3878263"/>
            <a:ext cx="719137" cy="228600"/>
          </a:xfrm>
          <a:prstGeom prst="rightArrow">
            <a:avLst>
              <a:gd name="adj1" fmla="val 50000"/>
              <a:gd name="adj2" fmla="val 78646"/>
            </a:avLst>
          </a:prstGeom>
          <a:solidFill>
            <a:schemeClr val="accent1"/>
          </a:solidFill>
          <a:ln>
            <a:noFill/>
          </a:ln>
          <a:effectLst/>
          <a:extLst>
            <a:ext uri="{91240B29-F687-4F45-9708-019B960494DF}">
              <a14:hiddenLine xmlns:a14="http://schemas.microsoft.com/office/drawing/2010/main" w="57150">
                <a:solidFill>
                  <a:srgbClr val="8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kumimoji="0" lang="zh-CN" altLang="zh-CN" sz="1800" b="1">
              <a:solidFill>
                <a:schemeClr val="accent2"/>
              </a:solidFill>
              <a:latin typeface="Arial" charset="0"/>
              <a:ea typeface="华文行楷" charset="-122"/>
            </a:endParaRPr>
          </a:p>
        </p:txBody>
      </p:sp>
      <p:grpSp>
        <p:nvGrpSpPr>
          <p:cNvPr id="306197" name="Group 21"/>
          <p:cNvGrpSpPr>
            <a:grpSpLocks/>
          </p:cNvGrpSpPr>
          <p:nvPr/>
        </p:nvGrpSpPr>
        <p:grpSpPr bwMode="auto">
          <a:xfrm>
            <a:off x="3394075" y="3711575"/>
            <a:ext cx="706438" cy="1114425"/>
            <a:chOff x="1811" y="2592"/>
            <a:chExt cx="445" cy="702"/>
          </a:xfrm>
        </p:grpSpPr>
        <p:sp>
          <p:nvSpPr>
            <p:cNvPr id="306198" name="Oval 22"/>
            <p:cNvSpPr>
              <a:spLocks noChangeArrowheads="1"/>
            </p:cNvSpPr>
            <p:nvPr/>
          </p:nvSpPr>
          <p:spPr bwMode="auto">
            <a:xfrm>
              <a:off x="1811" y="2954"/>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20</a:t>
              </a:r>
            </a:p>
          </p:txBody>
        </p:sp>
        <p:sp>
          <p:nvSpPr>
            <p:cNvPr id="306199" name="Line 23"/>
            <p:cNvSpPr>
              <a:spLocks noChangeShapeType="1"/>
            </p:cNvSpPr>
            <p:nvPr/>
          </p:nvSpPr>
          <p:spPr bwMode="auto">
            <a:xfrm flipH="1">
              <a:off x="2030" y="2592"/>
              <a:ext cx="226" cy="362"/>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grpSp>
        <p:nvGrpSpPr>
          <p:cNvPr id="306200" name="Group 24"/>
          <p:cNvGrpSpPr>
            <a:grpSpLocks/>
          </p:cNvGrpSpPr>
          <p:nvPr/>
        </p:nvGrpSpPr>
        <p:grpSpPr bwMode="auto">
          <a:xfrm>
            <a:off x="3825875" y="4778375"/>
            <a:ext cx="720725" cy="1139825"/>
            <a:chOff x="2473" y="2604"/>
            <a:chExt cx="454" cy="718"/>
          </a:xfrm>
        </p:grpSpPr>
        <p:sp>
          <p:nvSpPr>
            <p:cNvPr id="306201" name="Oval 25"/>
            <p:cNvSpPr>
              <a:spLocks noChangeArrowheads="1"/>
            </p:cNvSpPr>
            <p:nvPr/>
          </p:nvSpPr>
          <p:spPr bwMode="auto">
            <a:xfrm>
              <a:off x="2587" y="2982"/>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25</a:t>
              </a:r>
            </a:p>
          </p:txBody>
        </p:sp>
        <p:sp>
          <p:nvSpPr>
            <p:cNvPr id="306202" name="Line 26"/>
            <p:cNvSpPr>
              <a:spLocks noChangeShapeType="1"/>
            </p:cNvSpPr>
            <p:nvPr/>
          </p:nvSpPr>
          <p:spPr bwMode="auto">
            <a:xfrm>
              <a:off x="2473" y="2604"/>
              <a:ext cx="237" cy="406"/>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grpSp>
        <p:nvGrpSpPr>
          <p:cNvPr id="306203" name="Group 27"/>
          <p:cNvGrpSpPr>
            <a:grpSpLocks/>
          </p:cNvGrpSpPr>
          <p:nvPr/>
        </p:nvGrpSpPr>
        <p:grpSpPr bwMode="auto">
          <a:xfrm>
            <a:off x="2808288" y="4792663"/>
            <a:ext cx="706437" cy="1114425"/>
            <a:chOff x="1811" y="2592"/>
            <a:chExt cx="445" cy="702"/>
          </a:xfrm>
        </p:grpSpPr>
        <p:sp>
          <p:nvSpPr>
            <p:cNvPr id="306204" name="Oval 28"/>
            <p:cNvSpPr>
              <a:spLocks noChangeArrowheads="1"/>
            </p:cNvSpPr>
            <p:nvPr/>
          </p:nvSpPr>
          <p:spPr bwMode="auto">
            <a:xfrm>
              <a:off x="1811" y="2954"/>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15</a:t>
              </a:r>
            </a:p>
          </p:txBody>
        </p:sp>
        <p:sp>
          <p:nvSpPr>
            <p:cNvPr id="306205" name="Line 29"/>
            <p:cNvSpPr>
              <a:spLocks noChangeShapeType="1"/>
            </p:cNvSpPr>
            <p:nvPr/>
          </p:nvSpPr>
          <p:spPr bwMode="auto">
            <a:xfrm flipH="1">
              <a:off x="2030" y="2592"/>
              <a:ext cx="226" cy="362"/>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306206" name="AutoShape 30"/>
          <p:cNvSpPr>
            <a:spLocks noChangeArrowheads="1"/>
          </p:cNvSpPr>
          <p:nvPr/>
        </p:nvSpPr>
        <p:spPr bwMode="auto">
          <a:xfrm>
            <a:off x="4860925" y="2889250"/>
            <a:ext cx="134938" cy="223838"/>
          </a:xfrm>
          <a:prstGeom prst="triangle">
            <a:avLst>
              <a:gd name="adj" fmla="val 50000"/>
            </a:avLst>
          </a:prstGeom>
          <a:solidFill>
            <a:srgbClr val="FF33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306207" name="AutoShape 31"/>
          <p:cNvSpPr>
            <a:spLocks noChangeArrowheads="1"/>
          </p:cNvSpPr>
          <p:nvPr/>
        </p:nvSpPr>
        <p:spPr bwMode="auto">
          <a:xfrm>
            <a:off x="831850" y="3789363"/>
            <a:ext cx="134938" cy="223837"/>
          </a:xfrm>
          <a:prstGeom prst="triangle">
            <a:avLst>
              <a:gd name="adj" fmla="val 50000"/>
            </a:avLst>
          </a:prstGeom>
          <a:solidFill>
            <a:srgbClr val="FF33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grpSp>
        <p:nvGrpSpPr>
          <p:cNvPr id="306208" name="Group 32"/>
          <p:cNvGrpSpPr>
            <a:grpSpLocks/>
          </p:cNvGrpSpPr>
          <p:nvPr/>
        </p:nvGrpSpPr>
        <p:grpSpPr bwMode="auto">
          <a:xfrm>
            <a:off x="4319588" y="2349500"/>
            <a:ext cx="1597025" cy="1439863"/>
            <a:chOff x="2721" y="1480"/>
            <a:chExt cx="1006" cy="907"/>
          </a:xfrm>
        </p:grpSpPr>
        <p:sp>
          <p:nvSpPr>
            <p:cNvPr id="306209" name="Line 33"/>
            <p:cNvSpPr>
              <a:spLocks noChangeShapeType="1"/>
            </p:cNvSpPr>
            <p:nvPr/>
          </p:nvSpPr>
          <p:spPr bwMode="auto">
            <a:xfrm>
              <a:off x="3250" y="1734"/>
              <a:ext cx="237" cy="342"/>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6210" name="Oval 34"/>
            <p:cNvSpPr>
              <a:spLocks noChangeArrowheads="1"/>
            </p:cNvSpPr>
            <p:nvPr/>
          </p:nvSpPr>
          <p:spPr bwMode="auto">
            <a:xfrm>
              <a:off x="2948" y="1480"/>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35</a:t>
              </a:r>
            </a:p>
          </p:txBody>
        </p:sp>
        <p:sp>
          <p:nvSpPr>
            <p:cNvPr id="306211" name="Oval 35"/>
            <p:cNvSpPr>
              <a:spLocks noChangeArrowheads="1"/>
            </p:cNvSpPr>
            <p:nvPr/>
          </p:nvSpPr>
          <p:spPr bwMode="auto">
            <a:xfrm>
              <a:off x="3387" y="2047"/>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40</a:t>
              </a:r>
            </a:p>
          </p:txBody>
        </p:sp>
        <p:sp>
          <p:nvSpPr>
            <p:cNvPr id="306212" name="Line 36"/>
            <p:cNvSpPr>
              <a:spLocks noChangeShapeType="1"/>
            </p:cNvSpPr>
            <p:nvPr/>
          </p:nvSpPr>
          <p:spPr bwMode="auto">
            <a:xfrm flipH="1">
              <a:off x="2721" y="1736"/>
              <a:ext cx="249" cy="340"/>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306213" name="Oval 37"/>
          <p:cNvSpPr>
            <a:spLocks noChangeArrowheads="1"/>
          </p:cNvSpPr>
          <p:nvPr/>
        </p:nvSpPr>
        <p:spPr bwMode="auto">
          <a:xfrm>
            <a:off x="3960813" y="3249613"/>
            <a:ext cx="539750" cy="53975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10800" anchor="ctr"/>
          <a:lstStyle/>
          <a:p>
            <a:pPr algn="ctr" eaLnBrk="0" hangingPunct="0"/>
            <a:r>
              <a:rPr kumimoji="0" lang="en-US" altLang="zh-CN" sz="2800" b="1">
                <a:solidFill>
                  <a:schemeClr val="bg1"/>
                </a:solidFill>
              </a:rPr>
              <a:t>30</a:t>
            </a:r>
          </a:p>
        </p:txBody>
      </p:sp>
      <p:sp>
        <p:nvSpPr>
          <p:cNvPr id="306214" name="AutoShape 38"/>
          <p:cNvSpPr>
            <a:spLocks noChangeArrowheads="1"/>
          </p:cNvSpPr>
          <p:nvPr/>
        </p:nvSpPr>
        <p:spPr bwMode="auto">
          <a:xfrm>
            <a:off x="4186238" y="3789363"/>
            <a:ext cx="134937" cy="223837"/>
          </a:xfrm>
          <a:prstGeom prst="triangle">
            <a:avLst>
              <a:gd name="adj" fmla="val 50000"/>
            </a:avLst>
          </a:prstGeom>
          <a:solidFill>
            <a:srgbClr val="FF33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306215" name="AutoShape 39"/>
          <p:cNvSpPr>
            <a:spLocks noChangeArrowheads="1"/>
          </p:cNvSpPr>
          <p:nvPr/>
        </p:nvSpPr>
        <p:spPr bwMode="auto">
          <a:xfrm>
            <a:off x="5756275" y="4078288"/>
            <a:ext cx="719138" cy="228600"/>
          </a:xfrm>
          <a:prstGeom prst="rightArrow">
            <a:avLst>
              <a:gd name="adj1" fmla="val 50000"/>
              <a:gd name="adj2" fmla="val 78646"/>
            </a:avLst>
          </a:prstGeom>
          <a:solidFill>
            <a:schemeClr val="accent1"/>
          </a:solidFill>
          <a:ln>
            <a:noFill/>
          </a:ln>
          <a:effectLst/>
          <a:extLst>
            <a:ext uri="{91240B29-F687-4F45-9708-019B960494DF}">
              <a14:hiddenLine xmlns:a14="http://schemas.microsoft.com/office/drawing/2010/main" w="57150">
                <a:solidFill>
                  <a:srgbClr val="8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kumimoji="0" lang="zh-CN" altLang="zh-CN" sz="1800" b="1">
              <a:solidFill>
                <a:schemeClr val="accent2"/>
              </a:solidFill>
              <a:latin typeface="Arial" charset="0"/>
              <a:ea typeface="华文行楷" charset="-122"/>
            </a:endParaRPr>
          </a:p>
        </p:txBody>
      </p:sp>
      <p:grpSp>
        <p:nvGrpSpPr>
          <p:cNvPr id="306216" name="Group 40"/>
          <p:cNvGrpSpPr>
            <a:grpSpLocks/>
          </p:cNvGrpSpPr>
          <p:nvPr/>
        </p:nvGrpSpPr>
        <p:grpSpPr bwMode="auto">
          <a:xfrm>
            <a:off x="7704138" y="3752850"/>
            <a:ext cx="750887" cy="1109663"/>
            <a:chOff x="4788" y="2453"/>
            <a:chExt cx="473" cy="699"/>
          </a:xfrm>
        </p:grpSpPr>
        <p:sp>
          <p:nvSpPr>
            <p:cNvPr id="306217" name="Line 41"/>
            <p:cNvSpPr>
              <a:spLocks noChangeShapeType="1"/>
            </p:cNvSpPr>
            <p:nvPr/>
          </p:nvSpPr>
          <p:spPr bwMode="auto">
            <a:xfrm flipH="1" flipV="1">
              <a:off x="4788" y="2453"/>
              <a:ext cx="218" cy="387"/>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6218" name="Oval 42"/>
            <p:cNvSpPr>
              <a:spLocks noChangeArrowheads="1"/>
            </p:cNvSpPr>
            <p:nvPr/>
          </p:nvSpPr>
          <p:spPr bwMode="auto">
            <a:xfrm>
              <a:off x="4921" y="2812"/>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35</a:t>
              </a:r>
            </a:p>
          </p:txBody>
        </p:sp>
      </p:grpSp>
      <p:grpSp>
        <p:nvGrpSpPr>
          <p:cNvPr id="306219" name="Group 43"/>
          <p:cNvGrpSpPr>
            <a:grpSpLocks/>
          </p:cNvGrpSpPr>
          <p:nvPr/>
        </p:nvGrpSpPr>
        <p:grpSpPr bwMode="auto">
          <a:xfrm>
            <a:off x="8328025" y="4816475"/>
            <a:ext cx="665163" cy="1125538"/>
            <a:chOff x="5181" y="3123"/>
            <a:chExt cx="419" cy="709"/>
          </a:xfrm>
        </p:grpSpPr>
        <p:sp>
          <p:nvSpPr>
            <p:cNvPr id="306220" name="Line 44"/>
            <p:cNvSpPr>
              <a:spLocks noChangeShapeType="1"/>
            </p:cNvSpPr>
            <p:nvPr/>
          </p:nvSpPr>
          <p:spPr bwMode="auto">
            <a:xfrm>
              <a:off x="5181" y="3123"/>
              <a:ext cx="222" cy="398"/>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6221" name="Oval 45"/>
            <p:cNvSpPr>
              <a:spLocks noChangeArrowheads="1"/>
            </p:cNvSpPr>
            <p:nvPr/>
          </p:nvSpPr>
          <p:spPr bwMode="auto">
            <a:xfrm>
              <a:off x="5260" y="3492"/>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40</a:t>
              </a:r>
            </a:p>
          </p:txBody>
        </p:sp>
      </p:grpSp>
      <p:grpSp>
        <p:nvGrpSpPr>
          <p:cNvPr id="306222" name="Group 46"/>
          <p:cNvGrpSpPr>
            <a:grpSpLocks/>
          </p:cNvGrpSpPr>
          <p:nvPr/>
        </p:nvGrpSpPr>
        <p:grpSpPr bwMode="auto">
          <a:xfrm>
            <a:off x="6138863" y="3287713"/>
            <a:ext cx="1738312" cy="2668587"/>
            <a:chOff x="3802" y="2160"/>
            <a:chExt cx="1095" cy="1681"/>
          </a:xfrm>
        </p:grpSpPr>
        <p:sp>
          <p:nvSpPr>
            <p:cNvPr id="306223" name="Oval 47"/>
            <p:cNvSpPr>
              <a:spLocks noChangeArrowheads="1"/>
            </p:cNvSpPr>
            <p:nvPr/>
          </p:nvSpPr>
          <p:spPr bwMode="auto">
            <a:xfrm>
              <a:off x="4528" y="2160"/>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10800" anchor="ctr"/>
            <a:lstStyle/>
            <a:p>
              <a:pPr algn="ctr" eaLnBrk="0" hangingPunct="0"/>
              <a:r>
                <a:rPr kumimoji="0" lang="en-US" altLang="zh-CN" sz="2800" b="1">
                  <a:solidFill>
                    <a:schemeClr val="bg1"/>
                  </a:solidFill>
                </a:rPr>
                <a:t>30</a:t>
              </a:r>
            </a:p>
          </p:txBody>
        </p:sp>
        <p:grpSp>
          <p:nvGrpSpPr>
            <p:cNvPr id="306224" name="Group 48"/>
            <p:cNvGrpSpPr>
              <a:grpSpLocks/>
            </p:cNvGrpSpPr>
            <p:nvPr/>
          </p:nvGrpSpPr>
          <p:grpSpPr bwMode="auto">
            <a:xfrm>
              <a:off x="4171" y="2451"/>
              <a:ext cx="445" cy="702"/>
              <a:chOff x="1811" y="2592"/>
              <a:chExt cx="445" cy="702"/>
            </a:xfrm>
          </p:grpSpPr>
          <p:sp>
            <p:nvSpPr>
              <p:cNvPr id="306225" name="Oval 49"/>
              <p:cNvSpPr>
                <a:spLocks noChangeArrowheads="1"/>
              </p:cNvSpPr>
              <p:nvPr/>
            </p:nvSpPr>
            <p:spPr bwMode="auto">
              <a:xfrm>
                <a:off x="1811" y="2954"/>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20</a:t>
                </a:r>
              </a:p>
            </p:txBody>
          </p:sp>
          <p:sp>
            <p:nvSpPr>
              <p:cNvPr id="306226" name="Line 50"/>
              <p:cNvSpPr>
                <a:spLocks noChangeShapeType="1"/>
              </p:cNvSpPr>
              <p:nvPr/>
            </p:nvSpPr>
            <p:spPr bwMode="auto">
              <a:xfrm flipH="1">
                <a:off x="2030" y="2592"/>
                <a:ext cx="226" cy="362"/>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grpSp>
          <p:nvGrpSpPr>
            <p:cNvPr id="306227" name="Group 51"/>
            <p:cNvGrpSpPr>
              <a:grpSpLocks/>
            </p:cNvGrpSpPr>
            <p:nvPr/>
          </p:nvGrpSpPr>
          <p:grpSpPr bwMode="auto">
            <a:xfrm>
              <a:off x="4443" y="3123"/>
              <a:ext cx="454" cy="718"/>
              <a:chOff x="2473" y="2604"/>
              <a:chExt cx="454" cy="718"/>
            </a:xfrm>
          </p:grpSpPr>
          <p:sp>
            <p:nvSpPr>
              <p:cNvPr id="306228" name="Oval 52"/>
              <p:cNvSpPr>
                <a:spLocks noChangeArrowheads="1"/>
              </p:cNvSpPr>
              <p:nvPr/>
            </p:nvSpPr>
            <p:spPr bwMode="auto">
              <a:xfrm>
                <a:off x="2587" y="2982"/>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25</a:t>
                </a:r>
              </a:p>
            </p:txBody>
          </p:sp>
          <p:sp>
            <p:nvSpPr>
              <p:cNvPr id="306229" name="Line 53"/>
              <p:cNvSpPr>
                <a:spLocks noChangeShapeType="1"/>
              </p:cNvSpPr>
              <p:nvPr/>
            </p:nvSpPr>
            <p:spPr bwMode="auto">
              <a:xfrm>
                <a:off x="2473" y="2604"/>
                <a:ext cx="237" cy="406"/>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grpSp>
          <p:nvGrpSpPr>
            <p:cNvPr id="306230" name="Group 54"/>
            <p:cNvGrpSpPr>
              <a:grpSpLocks/>
            </p:cNvGrpSpPr>
            <p:nvPr/>
          </p:nvGrpSpPr>
          <p:grpSpPr bwMode="auto">
            <a:xfrm>
              <a:off x="3802" y="3132"/>
              <a:ext cx="445" cy="702"/>
              <a:chOff x="1811" y="2592"/>
              <a:chExt cx="445" cy="702"/>
            </a:xfrm>
          </p:grpSpPr>
          <p:sp>
            <p:nvSpPr>
              <p:cNvPr id="306231" name="Oval 55"/>
              <p:cNvSpPr>
                <a:spLocks noChangeArrowheads="1"/>
              </p:cNvSpPr>
              <p:nvPr/>
            </p:nvSpPr>
            <p:spPr bwMode="auto">
              <a:xfrm>
                <a:off x="1811" y="2954"/>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tIns="0" anchor="ctr"/>
              <a:lstStyle/>
              <a:p>
                <a:pPr algn="ctr" eaLnBrk="0" hangingPunct="0"/>
                <a:r>
                  <a:rPr kumimoji="0" lang="en-US" altLang="zh-CN" sz="2800" b="1">
                    <a:solidFill>
                      <a:schemeClr val="bg1"/>
                    </a:solidFill>
                  </a:rPr>
                  <a:t>15</a:t>
                </a:r>
              </a:p>
            </p:txBody>
          </p:sp>
          <p:sp>
            <p:nvSpPr>
              <p:cNvPr id="306232" name="Line 56"/>
              <p:cNvSpPr>
                <a:spLocks noChangeShapeType="1"/>
              </p:cNvSpPr>
              <p:nvPr/>
            </p:nvSpPr>
            <p:spPr bwMode="auto">
              <a:xfrm flipH="1">
                <a:off x="2030" y="2592"/>
                <a:ext cx="226" cy="362"/>
              </a:xfrm>
              <a:prstGeom prst="line">
                <a:avLst/>
              </a:prstGeom>
              <a:noFill/>
              <a:ln w="38100">
                <a:solidFill>
                  <a:srgbClr val="00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306233" name="AutoShape 57"/>
            <p:cNvSpPr>
              <a:spLocks noChangeArrowheads="1"/>
            </p:cNvSpPr>
            <p:nvPr/>
          </p:nvSpPr>
          <p:spPr bwMode="auto">
            <a:xfrm>
              <a:off x="4670" y="2500"/>
              <a:ext cx="85" cy="141"/>
            </a:xfrm>
            <a:prstGeom prst="triangle">
              <a:avLst>
                <a:gd name="adj" fmla="val 50000"/>
              </a:avLst>
            </a:prstGeom>
            <a:solidFill>
              <a:srgbClr val="FF33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grpSp>
    </p:spTree>
    <p:extLst>
      <p:ext uri="{BB962C8B-B14F-4D97-AF65-F5344CB8AC3E}">
        <p14:creationId xmlns:p14="http://schemas.microsoft.com/office/powerpoint/2010/main" val="4933764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62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306196"/>
                                        </p:tgtEl>
                                        <p:attrNameLst>
                                          <p:attrName>style.visibility</p:attrName>
                                        </p:attrNameLst>
                                      </p:cBhvr>
                                      <p:to>
                                        <p:strVal val="visible"/>
                                      </p:to>
                                    </p:set>
                                    <p:animEffect transition="in" filter="wipe(down)">
                                      <p:cBhvr>
                                        <p:cTn id="11" dur="500"/>
                                        <p:tgtEl>
                                          <p:spTgt spid="30619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306208"/>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06213"/>
                                        </p:tgtEl>
                                        <p:attrNameLst>
                                          <p:attrName>style.visibility</p:attrName>
                                        </p:attrNameLst>
                                      </p:cBhvr>
                                      <p:to>
                                        <p:strVal val="visible"/>
                                      </p:to>
                                    </p:set>
                                    <p:animEffect transition="in" filter="wipe(down)">
                                      <p:cBhvr>
                                        <p:cTn id="20" dur="500"/>
                                        <p:tgtEl>
                                          <p:spTgt spid="30621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306197"/>
                                        </p:tgtEl>
                                        <p:attrNameLst>
                                          <p:attrName>style.visibility</p:attrName>
                                        </p:attrNameLst>
                                      </p:cBhvr>
                                      <p:to>
                                        <p:strVal val="visible"/>
                                      </p:to>
                                    </p:set>
                                    <p:animEffect transition="in" filter="wipe(up)">
                                      <p:cBhvr>
                                        <p:cTn id="25" dur="500"/>
                                        <p:tgtEl>
                                          <p:spTgt spid="30619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306203"/>
                                        </p:tgtEl>
                                        <p:attrNameLst>
                                          <p:attrName>style.visibility</p:attrName>
                                        </p:attrNameLst>
                                      </p:cBhvr>
                                      <p:to>
                                        <p:strVal val="visible"/>
                                      </p:to>
                                    </p:set>
                                    <p:animEffect transition="in" filter="wipe(up)">
                                      <p:cBhvr>
                                        <p:cTn id="30" dur="500"/>
                                        <p:tgtEl>
                                          <p:spTgt spid="30620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306200"/>
                                        </p:tgtEl>
                                        <p:attrNameLst>
                                          <p:attrName>style.visibility</p:attrName>
                                        </p:attrNameLst>
                                      </p:cBhvr>
                                      <p:to>
                                        <p:strVal val="visible"/>
                                      </p:to>
                                    </p:set>
                                    <p:animEffect transition="in" filter="wipe(up)">
                                      <p:cBhvr>
                                        <p:cTn id="35" dur="500"/>
                                        <p:tgtEl>
                                          <p:spTgt spid="30620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06206"/>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06214"/>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306215"/>
                                        </p:tgtEl>
                                        <p:attrNameLst>
                                          <p:attrName>style.visibility</p:attrName>
                                        </p:attrNameLst>
                                      </p:cBhvr>
                                      <p:to>
                                        <p:strVal val="visible"/>
                                      </p:to>
                                    </p:set>
                                    <p:animEffect transition="in" filter="wipe(down)">
                                      <p:cBhvr>
                                        <p:cTn id="48" dur="500"/>
                                        <p:tgtEl>
                                          <p:spTgt spid="30621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306222"/>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nodeType="clickEffect">
                                  <p:stCondLst>
                                    <p:cond delay="0"/>
                                  </p:stCondLst>
                                  <p:childTnLst>
                                    <p:set>
                                      <p:cBhvr>
                                        <p:cTn id="56" dur="1" fill="hold">
                                          <p:stCondLst>
                                            <p:cond delay="0"/>
                                          </p:stCondLst>
                                        </p:cTn>
                                        <p:tgtEl>
                                          <p:spTgt spid="306216"/>
                                        </p:tgtEl>
                                        <p:attrNameLst>
                                          <p:attrName>style.visibility</p:attrName>
                                        </p:attrNameLst>
                                      </p:cBhvr>
                                      <p:to>
                                        <p:strVal val="visible"/>
                                      </p:to>
                                    </p:set>
                                    <p:animEffect transition="in" filter="wipe(up)">
                                      <p:cBhvr>
                                        <p:cTn id="57" dur="500"/>
                                        <p:tgtEl>
                                          <p:spTgt spid="30621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306219"/>
                                        </p:tgtEl>
                                        <p:attrNameLst>
                                          <p:attrName>style.visibility</p:attrName>
                                        </p:attrNameLst>
                                      </p:cBhvr>
                                      <p:to>
                                        <p:strVal val="visible"/>
                                      </p:to>
                                    </p:set>
                                    <p:animEffect transition="in" filter="wipe(up)">
                                      <p:cBhvr>
                                        <p:cTn id="62" dur="500"/>
                                        <p:tgtEl>
                                          <p:spTgt spid="306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96" grpId="0" animBg="1"/>
      <p:bldP spid="306206" grpId="0" animBg="1"/>
      <p:bldP spid="306207" grpId="0" animBg="1"/>
      <p:bldP spid="306213" grpId="0" animBg="1"/>
      <p:bldP spid="306214" grpId="0" animBg="1"/>
      <p:bldP spid="306215"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Text Box 2"/>
          <p:cNvSpPr txBox="1">
            <a:spLocks noChangeArrowheads="1"/>
          </p:cNvSpPr>
          <p:nvPr/>
        </p:nvSpPr>
        <p:spPr bwMode="auto">
          <a:xfrm>
            <a:off x="412750" y="1943100"/>
            <a:ext cx="8377238" cy="351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lnSpc>
                <a:spcPct val="120000"/>
              </a:lnSpc>
              <a:spcBef>
                <a:spcPct val="20000"/>
              </a:spcBef>
            </a:pPr>
            <a:r>
              <a:rPr kumimoji="0" lang="zh-CN" altLang="en-US" sz="2800" b="1"/>
              <a:t>设结点</a:t>
            </a:r>
            <a:r>
              <a:rPr kumimoji="0" lang="en-US" altLang="zh-CN" sz="2800" b="1"/>
              <a:t>A</a:t>
            </a:r>
            <a:r>
              <a:rPr kumimoji="0" lang="zh-CN" altLang="en-US" sz="2800" b="1"/>
              <a:t>为</a:t>
            </a:r>
            <a:r>
              <a:rPr kumimoji="0" lang="zh-CN" altLang="en-US" sz="2800" b="1">
                <a:solidFill>
                  <a:srgbClr val="FF3300"/>
                </a:solidFill>
              </a:rPr>
              <a:t>最小不平衡子树</a:t>
            </a:r>
            <a:r>
              <a:rPr kumimoji="0" lang="zh-CN" altLang="en-US" sz="2800" b="1"/>
              <a:t>的根结点，对该子树进行平衡调整归纳起来有以下四种情况：</a:t>
            </a:r>
          </a:p>
          <a:p>
            <a:pPr eaLnBrk="0" hangingPunct="0">
              <a:lnSpc>
                <a:spcPct val="120000"/>
              </a:lnSpc>
              <a:spcBef>
                <a:spcPct val="20000"/>
              </a:spcBef>
            </a:pPr>
            <a:r>
              <a:rPr kumimoji="0" lang="zh-CN" altLang="en-US" sz="2800" b="1"/>
              <a:t>  </a:t>
            </a:r>
            <a:r>
              <a:rPr kumimoji="0" lang="en-US" altLang="zh-CN" sz="2800" b="1"/>
              <a:t>1. LL</a:t>
            </a:r>
            <a:r>
              <a:rPr kumimoji="0" lang="zh-CN" altLang="en-US" sz="2800" b="1"/>
              <a:t>型</a:t>
            </a:r>
          </a:p>
          <a:p>
            <a:pPr eaLnBrk="0" hangingPunct="0">
              <a:lnSpc>
                <a:spcPct val="120000"/>
              </a:lnSpc>
              <a:spcBef>
                <a:spcPct val="20000"/>
              </a:spcBef>
            </a:pPr>
            <a:r>
              <a:rPr kumimoji="0" lang="zh-CN" altLang="en-US" sz="2800" b="1"/>
              <a:t>  </a:t>
            </a:r>
            <a:r>
              <a:rPr kumimoji="0" lang="en-US" altLang="zh-CN" sz="2800" b="1"/>
              <a:t>2. RR</a:t>
            </a:r>
            <a:r>
              <a:rPr kumimoji="0" lang="zh-CN" altLang="en-US" sz="2800" b="1"/>
              <a:t>型</a:t>
            </a:r>
          </a:p>
          <a:p>
            <a:pPr eaLnBrk="0" hangingPunct="0">
              <a:lnSpc>
                <a:spcPct val="120000"/>
              </a:lnSpc>
              <a:spcBef>
                <a:spcPct val="20000"/>
              </a:spcBef>
            </a:pPr>
            <a:r>
              <a:rPr kumimoji="0" lang="zh-CN" altLang="en-US" sz="2800" b="1"/>
              <a:t>  </a:t>
            </a:r>
            <a:r>
              <a:rPr kumimoji="0" lang="en-US" altLang="zh-CN" sz="2800" b="1"/>
              <a:t>3. LR</a:t>
            </a:r>
            <a:r>
              <a:rPr kumimoji="0" lang="zh-CN" altLang="en-US" sz="2800" b="1"/>
              <a:t>型</a:t>
            </a:r>
          </a:p>
          <a:p>
            <a:pPr eaLnBrk="0" hangingPunct="0">
              <a:lnSpc>
                <a:spcPct val="120000"/>
              </a:lnSpc>
              <a:spcBef>
                <a:spcPct val="20000"/>
              </a:spcBef>
            </a:pPr>
            <a:r>
              <a:rPr kumimoji="0" lang="zh-CN" altLang="en-US" sz="2800" b="1"/>
              <a:t>  </a:t>
            </a:r>
            <a:r>
              <a:rPr kumimoji="0" lang="en-US" altLang="zh-CN" sz="2800" b="1"/>
              <a:t>4. RL</a:t>
            </a:r>
            <a:r>
              <a:rPr kumimoji="0" lang="zh-CN" altLang="en-US" sz="2800" b="1"/>
              <a:t>型</a:t>
            </a:r>
          </a:p>
        </p:txBody>
      </p:sp>
      <p:sp>
        <p:nvSpPr>
          <p:cNvPr id="307204" name="Text Box 4"/>
          <p:cNvSpPr txBox="1">
            <a:spLocks noChangeArrowheads="1"/>
          </p:cNvSpPr>
          <p:nvPr/>
        </p:nvSpPr>
        <p:spPr bwMode="auto">
          <a:xfrm>
            <a:off x="152400" y="1079500"/>
            <a:ext cx="6400800" cy="579438"/>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spcBef>
                <a:spcPct val="50000"/>
              </a:spcBef>
            </a:pPr>
            <a:r>
              <a:rPr kumimoji="0" lang="zh-CN" altLang="en-US" sz="3200" b="1">
                <a:solidFill>
                  <a:srgbClr val="0033CC"/>
                </a:solidFill>
                <a:latin typeface="宋体" charset="-122"/>
              </a:rPr>
              <a:t>平衡二叉树</a:t>
            </a:r>
            <a:endParaRPr kumimoji="0" lang="zh-CN" altLang="en-US" sz="3200" b="1">
              <a:solidFill>
                <a:srgbClr val="0033CC"/>
              </a:solidFill>
            </a:endParaRPr>
          </a:p>
        </p:txBody>
      </p:sp>
    </p:spTree>
    <p:extLst>
      <p:ext uri="{BB962C8B-B14F-4D97-AF65-F5344CB8AC3E}">
        <p14:creationId xmlns:p14="http://schemas.microsoft.com/office/powerpoint/2010/main" val="20545417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Text Box 2"/>
          <p:cNvSpPr txBox="1">
            <a:spLocks noChangeArrowheads="1"/>
          </p:cNvSpPr>
          <p:nvPr/>
        </p:nvSpPr>
        <p:spPr bwMode="auto">
          <a:xfrm>
            <a:off x="825500" y="5229225"/>
            <a:ext cx="782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eaLnBrk="0" hangingPunct="0"/>
            <a:r>
              <a:rPr kumimoji="0" lang="zh-CN" altLang="en-US" sz="2800" b="1"/>
              <a:t>插入前                 </a:t>
            </a:r>
            <a:r>
              <a:rPr kumimoji="0" lang="zh-CN" altLang="en-US" sz="2800" b="1">
                <a:latin typeface="Arial" charset="0"/>
              </a:rPr>
              <a:t>插入后，调整前           调整后</a:t>
            </a:r>
            <a:endParaRPr kumimoji="0" lang="zh-CN" altLang="en-US" sz="2800">
              <a:latin typeface="Arial" charset="0"/>
            </a:endParaRPr>
          </a:p>
          <a:p>
            <a:pPr algn="just" eaLnBrk="0" hangingPunct="0"/>
            <a:endParaRPr kumimoji="0" lang="zh-CN" altLang="en-US" sz="2800" b="1">
              <a:latin typeface="Arial" charset="0"/>
            </a:endParaRPr>
          </a:p>
        </p:txBody>
      </p:sp>
      <p:sp>
        <p:nvSpPr>
          <p:cNvPr id="308228" name="Text Box 4"/>
          <p:cNvSpPr txBox="1">
            <a:spLocks noChangeArrowheads="1"/>
          </p:cNvSpPr>
          <p:nvPr/>
        </p:nvSpPr>
        <p:spPr bwMode="auto">
          <a:xfrm>
            <a:off x="152400" y="1079500"/>
            <a:ext cx="6400800" cy="579438"/>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spcBef>
                <a:spcPct val="50000"/>
              </a:spcBef>
            </a:pPr>
            <a:r>
              <a:rPr kumimoji="0" lang="zh-CN" altLang="en-US" sz="3200" b="1">
                <a:solidFill>
                  <a:srgbClr val="0033CC"/>
                </a:solidFill>
              </a:rPr>
              <a:t>平衡二叉树</a:t>
            </a:r>
            <a:r>
              <a:rPr kumimoji="0" lang="en-US" altLang="zh-CN" sz="3200" b="1">
                <a:solidFill>
                  <a:srgbClr val="0033CC"/>
                </a:solidFill>
              </a:rPr>
              <a:t>——LL</a:t>
            </a:r>
            <a:r>
              <a:rPr kumimoji="0" lang="zh-CN" altLang="en-US" sz="3200" b="1">
                <a:solidFill>
                  <a:srgbClr val="0033CC"/>
                </a:solidFill>
              </a:rPr>
              <a:t>型</a:t>
            </a:r>
          </a:p>
        </p:txBody>
      </p:sp>
      <p:grpSp>
        <p:nvGrpSpPr>
          <p:cNvPr id="308229" name="Group 5"/>
          <p:cNvGrpSpPr>
            <a:grpSpLocks/>
          </p:cNvGrpSpPr>
          <p:nvPr/>
        </p:nvGrpSpPr>
        <p:grpSpPr bwMode="auto">
          <a:xfrm>
            <a:off x="249238" y="1819275"/>
            <a:ext cx="2911475" cy="2293938"/>
            <a:chOff x="157" y="1146"/>
            <a:chExt cx="1834" cy="1445"/>
          </a:xfrm>
        </p:grpSpPr>
        <p:sp>
          <p:nvSpPr>
            <p:cNvPr id="308230" name="Oval 6"/>
            <p:cNvSpPr>
              <a:spLocks noChangeArrowheads="1"/>
            </p:cNvSpPr>
            <p:nvPr/>
          </p:nvSpPr>
          <p:spPr bwMode="auto">
            <a:xfrm>
              <a:off x="1151" y="1224"/>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A</a:t>
              </a:r>
            </a:p>
          </p:txBody>
        </p:sp>
        <p:sp>
          <p:nvSpPr>
            <p:cNvPr id="308231" name="Text Box 7"/>
            <p:cNvSpPr txBox="1">
              <a:spLocks noChangeArrowheads="1"/>
            </p:cNvSpPr>
            <p:nvPr/>
          </p:nvSpPr>
          <p:spPr bwMode="auto">
            <a:xfrm>
              <a:off x="1427" y="1146"/>
              <a:ext cx="17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2000" b="1"/>
                <a:t>1</a:t>
              </a:r>
            </a:p>
          </p:txBody>
        </p:sp>
        <p:sp>
          <p:nvSpPr>
            <p:cNvPr id="308232" name="Text Box 8" descr="白色大理石"/>
            <p:cNvSpPr txBox="1">
              <a:spLocks noChangeArrowheads="1"/>
            </p:cNvSpPr>
            <p:nvPr/>
          </p:nvSpPr>
          <p:spPr bwMode="auto">
            <a:xfrm>
              <a:off x="359" y="2052"/>
              <a:ext cx="218" cy="525"/>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B</a:t>
              </a:r>
              <a:r>
                <a:rPr kumimoji="0" lang="en-US" altLang="zh-CN" sz="2000" b="1" baseline="-25000"/>
                <a:t>L</a:t>
              </a:r>
              <a:endParaRPr kumimoji="0" lang="en-US" altLang="zh-CN" sz="2000" b="1"/>
            </a:p>
          </p:txBody>
        </p:sp>
        <p:sp>
          <p:nvSpPr>
            <p:cNvPr id="308233" name="Line 9"/>
            <p:cNvSpPr>
              <a:spLocks noChangeShapeType="1"/>
            </p:cNvSpPr>
            <p:nvPr/>
          </p:nvSpPr>
          <p:spPr bwMode="auto">
            <a:xfrm>
              <a:off x="229" y="2052"/>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34" name="Line 10"/>
            <p:cNvSpPr>
              <a:spLocks noChangeShapeType="1"/>
            </p:cNvSpPr>
            <p:nvPr/>
          </p:nvSpPr>
          <p:spPr bwMode="auto">
            <a:xfrm>
              <a:off x="225" y="2569"/>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35" name="Text Box 11"/>
            <p:cNvSpPr txBox="1">
              <a:spLocks noChangeArrowheads="1"/>
            </p:cNvSpPr>
            <p:nvPr/>
          </p:nvSpPr>
          <p:spPr bwMode="auto">
            <a:xfrm>
              <a:off x="157" y="2224"/>
              <a:ext cx="21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08236" name="Line 12"/>
            <p:cNvSpPr>
              <a:spLocks noChangeShapeType="1"/>
            </p:cNvSpPr>
            <p:nvPr/>
          </p:nvSpPr>
          <p:spPr bwMode="auto">
            <a:xfrm flipH="1">
              <a:off x="278" y="2062"/>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37" name="Line 13"/>
            <p:cNvSpPr>
              <a:spLocks noChangeShapeType="1"/>
            </p:cNvSpPr>
            <p:nvPr/>
          </p:nvSpPr>
          <p:spPr bwMode="auto">
            <a:xfrm>
              <a:off x="261" y="2429"/>
              <a:ext cx="0" cy="1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38" name="Freeform 14"/>
            <p:cNvSpPr>
              <a:spLocks/>
            </p:cNvSpPr>
            <p:nvPr/>
          </p:nvSpPr>
          <p:spPr bwMode="auto">
            <a:xfrm>
              <a:off x="1406" y="1451"/>
              <a:ext cx="248" cy="256"/>
            </a:xfrm>
            <a:custGeom>
              <a:avLst/>
              <a:gdLst>
                <a:gd name="T0" fmla="*/ 0 w 235"/>
                <a:gd name="T1" fmla="*/ 0 h 232"/>
                <a:gd name="T2" fmla="*/ 235 w 235"/>
                <a:gd name="T3" fmla="*/ 232 h 232"/>
              </a:gdLst>
              <a:ahLst/>
              <a:cxnLst>
                <a:cxn ang="0">
                  <a:pos x="T0" y="T1"/>
                </a:cxn>
                <a:cxn ang="0">
                  <a:pos x="T2" y="T3"/>
                </a:cxn>
              </a:cxnLst>
              <a:rect l="0" t="0" r="r" b="b"/>
              <a:pathLst>
                <a:path w="235" h="232">
                  <a:moveTo>
                    <a:pt x="0" y="0"/>
                  </a:moveTo>
                  <a:lnTo>
                    <a:pt x="235" y="232"/>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8239" name="Line 15"/>
            <p:cNvSpPr>
              <a:spLocks noChangeShapeType="1"/>
            </p:cNvSpPr>
            <p:nvPr/>
          </p:nvSpPr>
          <p:spPr bwMode="auto">
            <a:xfrm>
              <a:off x="1793" y="1704"/>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40" name="Text Box 16" descr="白色大理石"/>
            <p:cNvSpPr txBox="1">
              <a:spLocks noChangeArrowheads="1"/>
            </p:cNvSpPr>
            <p:nvPr/>
          </p:nvSpPr>
          <p:spPr bwMode="auto">
            <a:xfrm>
              <a:off x="1077" y="2060"/>
              <a:ext cx="217" cy="526"/>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B</a:t>
              </a:r>
              <a:r>
                <a:rPr kumimoji="0" lang="en-US" altLang="zh-CN" sz="2000" b="1" baseline="-25000"/>
                <a:t>R</a:t>
              </a:r>
              <a:endParaRPr kumimoji="0" lang="en-US" altLang="zh-CN" sz="2000" b="1"/>
            </a:p>
          </p:txBody>
        </p:sp>
        <p:sp>
          <p:nvSpPr>
            <p:cNvPr id="308241" name="Line 17"/>
            <p:cNvSpPr>
              <a:spLocks noChangeShapeType="1"/>
            </p:cNvSpPr>
            <p:nvPr/>
          </p:nvSpPr>
          <p:spPr bwMode="auto">
            <a:xfrm>
              <a:off x="947" y="2063"/>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42" name="Line 18"/>
            <p:cNvSpPr>
              <a:spLocks noChangeShapeType="1"/>
            </p:cNvSpPr>
            <p:nvPr/>
          </p:nvSpPr>
          <p:spPr bwMode="auto">
            <a:xfrm>
              <a:off x="943" y="2591"/>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43" name="Text Box 19"/>
            <p:cNvSpPr txBox="1">
              <a:spLocks noChangeArrowheads="1"/>
            </p:cNvSpPr>
            <p:nvPr/>
          </p:nvSpPr>
          <p:spPr bwMode="auto">
            <a:xfrm>
              <a:off x="872" y="2225"/>
              <a:ext cx="21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08244" name="Line 20"/>
            <p:cNvSpPr>
              <a:spLocks noChangeShapeType="1"/>
            </p:cNvSpPr>
            <p:nvPr/>
          </p:nvSpPr>
          <p:spPr bwMode="auto">
            <a:xfrm flipH="1">
              <a:off x="995" y="2066"/>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45" name="Freeform 21"/>
            <p:cNvSpPr>
              <a:spLocks/>
            </p:cNvSpPr>
            <p:nvPr/>
          </p:nvSpPr>
          <p:spPr bwMode="auto">
            <a:xfrm>
              <a:off x="951" y="1834"/>
              <a:ext cx="208" cy="218"/>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8246" name="Freeform 22"/>
            <p:cNvSpPr>
              <a:spLocks/>
            </p:cNvSpPr>
            <p:nvPr/>
          </p:nvSpPr>
          <p:spPr bwMode="auto">
            <a:xfrm>
              <a:off x="479" y="1834"/>
              <a:ext cx="223" cy="214"/>
            </a:xfrm>
            <a:custGeom>
              <a:avLst/>
              <a:gdLst>
                <a:gd name="T0" fmla="*/ 257 w 257"/>
                <a:gd name="T1" fmla="*/ 0 h 240"/>
                <a:gd name="T2" fmla="*/ 0 w 257"/>
                <a:gd name="T3" fmla="*/ 240 h 240"/>
              </a:gdLst>
              <a:ahLst/>
              <a:cxnLst>
                <a:cxn ang="0">
                  <a:pos x="T0" y="T1"/>
                </a:cxn>
                <a:cxn ang="0">
                  <a:pos x="T2" y="T3"/>
                </a:cxn>
              </a:cxnLst>
              <a:rect l="0" t="0" r="r" b="b"/>
              <a:pathLst>
                <a:path w="257" h="240">
                  <a:moveTo>
                    <a:pt x="257" y="0"/>
                  </a:moveTo>
                  <a:lnTo>
                    <a:pt x="0" y="240"/>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8247" name="Line 23"/>
            <p:cNvSpPr>
              <a:spLocks noChangeShapeType="1"/>
            </p:cNvSpPr>
            <p:nvPr/>
          </p:nvSpPr>
          <p:spPr bwMode="auto">
            <a:xfrm>
              <a:off x="985" y="2434"/>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48" name="Text Box 24"/>
            <p:cNvSpPr txBox="1">
              <a:spLocks noChangeArrowheads="1"/>
            </p:cNvSpPr>
            <p:nvPr/>
          </p:nvSpPr>
          <p:spPr bwMode="auto">
            <a:xfrm>
              <a:off x="951" y="1580"/>
              <a:ext cx="21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a:t>0</a:t>
              </a:r>
              <a:endParaRPr kumimoji="0" lang="en-US" altLang="zh-CN" b="1"/>
            </a:p>
          </p:txBody>
        </p:sp>
        <p:sp>
          <p:nvSpPr>
            <p:cNvPr id="308249" name="Text Box 25" descr="白色大理石"/>
            <p:cNvSpPr txBox="1">
              <a:spLocks noChangeArrowheads="1"/>
            </p:cNvSpPr>
            <p:nvPr/>
          </p:nvSpPr>
          <p:spPr bwMode="auto">
            <a:xfrm>
              <a:off x="1564" y="1705"/>
              <a:ext cx="218" cy="525"/>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r>
                <a:rPr kumimoji="0" lang="en-US" altLang="zh-CN" sz="2000" b="1"/>
                <a:t>A</a:t>
              </a:r>
              <a:r>
                <a:rPr kumimoji="0" lang="en-US" altLang="zh-CN" b="1" baseline="-25000"/>
                <a:t>R</a:t>
              </a:r>
              <a:endParaRPr kumimoji="0" lang="en-US" altLang="zh-CN" b="1"/>
            </a:p>
          </p:txBody>
        </p:sp>
        <p:sp>
          <p:nvSpPr>
            <p:cNvPr id="308250" name="Line 26"/>
            <p:cNvSpPr>
              <a:spLocks noChangeShapeType="1"/>
            </p:cNvSpPr>
            <p:nvPr/>
          </p:nvSpPr>
          <p:spPr bwMode="auto">
            <a:xfrm>
              <a:off x="1788" y="2229"/>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51" name="Text Box 27"/>
            <p:cNvSpPr txBox="1">
              <a:spLocks noChangeArrowheads="1"/>
            </p:cNvSpPr>
            <p:nvPr/>
          </p:nvSpPr>
          <p:spPr bwMode="auto">
            <a:xfrm>
              <a:off x="1772" y="1883"/>
              <a:ext cx="219"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p>
          </p:txBody>
        </p:sp>
        <p:sp>
          <p:nvSpPr>
            <p:cNvPr id="308252" name="Line 28"/>
            <p:cNvSpPr>
              <a:spLocks noChangeShapeType="1"/>
            </p:cNvSpPr>
            <p:nvPr/>
          </p:nvSpPr>
          <p:spPr bwMode="auto">
            <a:xfrm flipH="1">
              <a:off x="1883" y="1724"/>
              <a:ext cx="0" cy="1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53" name="Line 29"/>
            <p:cNvSpPr>
              <a:spLocks noChangeShapeType="1"/>
            </p:cNvSpPr>
            <p:nvPr/>
          </p:nvSpPr>
          <p:spPr bwMode="auto">
            <a:xfrm>
              <a:off x="1867" y="2086"/>
              <a:ext cx="0" cy="1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54" name="Freeform 30"/>
            <p:cNvSpPr>
              <a:spLocks/>
            </p:cNvSpPr>
            <p:nvPr/>
          </p:nvSpPr>
          <p:spPr bwMode="auto">
            <a:xfrm>
              <a:off x="898" y="1459"/>
              <a:ext cx="274" cy="198"/>
            </a:xfrm>
            <a:custGeom>
              <a:avLst/>
              <a:gdLst>
                <a:gd name="T0" fmla="*/ 315 w 315"/>
                <a:gd name="T1" fmla="*/ 0 h 223"/>
                <a:gd name="T2" fmla="*/ 0 w 315"/>
                <a:gd name="T3" fmla="*/ 223 h 223"/>
              </a:gdLst>
              <a:ahLst/>
              <a:cxnLst>
                <a:cxn ang="0">
                  <a:pos x="T0" y="T1"/>
                </a:cxn>
                <a:cxn ang="0">
                  <a:pos x="T2" y="T3"/>
                </a:cxn>
              </a:cxnLst>
              <a:rect l="0" t="0" r="r" b="b"/>
              <a:pathLst>
                <a:path w="315" h="223">
                  <a:moveTo>
                    <a:pt x="315" y="0"/>
                  </a:moveTo>
                  <a:lnTo>
                    <a:pt x="0" y="223"/>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8255" name="Oval 31"/>
            <p:cNvSpPr>
              <a:spLocks noChangeArrowheads="1"/>
            </p:cNvSpPr>
            <p:nvPr/>
          </p:nvSpPr>
          <p:spPr bwMode="auto">
            <a:xfrm>
              <a:off x="681" y="1603"/>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B</a:t>
              </a:r>
            </a:p>
          </p:txBody>
        </p:sp>
      </p:grpSp>
      <p:grpSp>
        <p:nvGrpSpPr>
          <p:cNvPr id="308256" name="Group 32"/>
          <p:cNvGrpSpPr>
            <a:grpSpLocks/>
          </p:cNvGrpSpPr>
          <p:nvPr/>
        </p:nvGrpSpPr>
        <p:grpSpPr bwMode="auto">
          <a:xfrm>
            <a:off x="3236913" y="1868488"/>
            <a:ext cx="2879725" cy="3154362"/>
            <a:chOff x="2039" y="1177"/>
            <a:chExt cx="1814" cy="1987"/>
          </a:xfrm>
        </p:grpSpPr>
        <p:sp>
          <p:nvSpPr>
            <p:cNvPr id="308257" name="Text Box 33"/>
            <p:cNvSpPr txBox="1">
              <a:spLocks noChangeArrowheads="1"/>
            </p:cNvSpPr>
            <p:nvPr/>
          </p:nvSpPr>
          <p:spPr bwMode="auto">
            <a:xfrm>
              <a:off x="3634" y="1883"/>
              <a:ext cx="219"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p>
          </p:txBody>
        </p:sp>
        <p:sp>
          <p:nvSpPr>
            <p:cNvPr id="308258" name="Text Box 34"/>
            <p:cNvSpPr txBox="1">
              <a:spLocks noChangeArrowheads="1"/>
            </p:cNvSpPr>
            <p:nvPr/>
          </p:nvSpPr>
          <p:spPr bwMode="auto">
            <a:xfrm>
              <a:off x="3335" y="1177"/>
              <a:ext cx="17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2000" b="1"/>
                <a:t>2</a:t>
              </a:r>
            </a:p>
          </p:txBody>
        </p:sp>
        <p:sp>
          <p:nvSpPr>
            <p:cNvPr id="308259" name="Text Box 35" descr="白色大理石"/>
            <p:cNvSpPr txBox="1">
              <a:spLocks noChangeArrowheads="1"/>
            </p:cNvSpPr>
            <p:nvPr/>
          </p:nvSpPr>
          <p:spPr bwMode="auto">
            <a:xfrm>
              <a:off x="2231" y="2052"/>
              <a:ext cx="218" cy="525"/>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B</a:t>
              </a:r>
              <a:r>
                <a:rPr kumimoji="0" lang="en-US" altLang="zh-CN" sz="2000" b="1" baseline="-25000"/>
                <a:t>L</a:t>
              </a:r>
              <a:endParaRPr kumimoji="0" lang="en-US" altLang="zh-CN" sz="2000" b="1"/>
            </a:p>
          </p:txBody>
        </p:sp>
        <p:sp>
          <p:nvSpPr>
            <p:cNvPr id="308260" name="Line 36"/>
            <p:cNvSpPr>
              <a:spLocks noChangeShapeType="1"/>
            </p:cNvSpPr>
            <p:nvPr/>
          </p:nvSpPr>
          <p:spPr bwMode="auto">
            <a:xfrm>
              <a:off x="2101" y="2052"/>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61" name="Line 37"/>
            <p:cNvSpPr>
              <a:spLocks noChangeShapeType="1"/>
            </p:cNvSpPr>
            <p:nvPr/>
          </p:nvSpPr>
          <p:spPr bwMode="auto">
            <a:xfrm>
              <a:off x="2097" y="2569"/>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62" name="Text Box 38"/>
            <p:cNvSpPr txBox="1">
              <a:spLocks noChangeArrowheads="1"/>
            </p:cNvSpPr>
            <p:nvPr/>
          </p:nvSpPr>
          <p:spPr bwMode="auto">
            <a:xfrm>
              <a:off x="2039" y="2234"/>
              <a:ext cx="21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08263" name="Line 39"/>
            <p:cNvSpPr>
              <a:spLocks noChangeShapeType="1"/>
            </p:cNvSpPr>
            <p:nvPr/>
          </p:nvSpPr>
          <p:spPr bwMode="auto">
            <a:xfrm flipH="1">
              <a:off x="2150" y="2062"/>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64" name="Line 40"/>
            <p:cNvSpPr>
              <a:spLocks noChangeShapeType="1"/>
            </p:cNvSpPr>
            <p:nvPr/>
          </p:nvSpPr>
          <p:spPr bwMode="auto">
            <a:xfrm>
              <a:off x="2133" y="2429"/>
              <a:ext cx="0" cy="1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65" name="Freeform 41"/>
            <p:cNvSpPr>
              <a:spLocks/>
            </p:cNvSpPr>
            <p:nvPr/>
          </p:nvSpPr>
          <p:spPr bwMode="auto">
            <a:xfrm>
              <a:off x="3270" y="1451"/>
              <a:ext cx="255" cy="256"/>
            </a:xfrm>
            <a:custGeom>
              <a:avLst/>
              <a:gdLst>
                <a:gd name="T0" fmla="*/ 0 w 235"/>
                <a:gd name="T1" fmla="*/ 0 h 232"/>
                <a:gd name="T2" fmla="*/ 235 w 235"/>
                <a:gd name="T3" fmla="*/ 232 h 232"/>
              </a:gdLst>
              <a:ahLst/>
              <a:cxnLst>
                <a:cxn ang="0">
                  <a:pos x="T0" y="T1"/>
                </a:cxn>
                <a:cxn ang="0">
                  <a:pos x="T2" y="T3"/>
                </a:cxn>
              </a:cxnLst>
              <a:rect l="0" t="0" r="r" b="b"/>
              <a:pathLst>
                <a:path w="235" h="232">
                  <a:moveTo>
                    <a:pt x="0" y="0"/>
                  </a:moveTo>
                  <a:lnTo>
                    <a:pt x="235" y="232"/>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8266" name="Line 42"/>
            <p:cNvSpPr>
              <a:spLocks noChangeShapeType="1"/>
            </p:cNvSpPr>
            <p:nvPr/>
          </p:nvSpPr>
          <p:spPr bwMode="auto">
            <a:xfrm>
              <a:off x="3675" y="1704"/>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67" name="Text Box 43" descr="白色大理石"/>
            <p:cNvSpPr txBox="1">
              <a:spLocks noChangeArrowheads="1"/>
            </p:cNvSpPr>
            <p:nvPr/>
          </p:nvSpPr>
          <p:spPr bwMode="auto">
            <a:xfrm>
              <a:off x="2949" y="2060"/>
              <a:ext cx="217" cy="526"/>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B</a:t>
              </a:r>
              <a:r>
                <a:rPr kumimoji="0" lang="en-US" altLang="zh-CN" sz="2000" b="1" baseline="-25000"/>
                <a:t>R</a:t>
              </a:r>
              <a:endParaRPr kumimoji="0" lang="en-US" altLang="zh-CN" sz="2000" b="1"/>
            </a:p>
          </p:txBody>
        </p:sp>
        <p:sp>
          <p:nvSpPr>
            <p:cNvPr id="308268" name="Line 44"/>
            <p:cNvSpPr>
              <a:spLocks noChangeShapeType="1"/>
            </p:cNvSpPr>
            <p:nvPr/>
          </p:nvSpPr>
          <p:spPr bwMode="auto">
            <a:xfrm>
              <a:off x="2819" y="2063"/>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69" name="Line 45"/>
            <p:cNvSpPr>
              <a:spLocks noChangeShapeType="1"/>
            </p:cNvSpPr>
            <p:nvPr/>
          </p:nvSpPr>
          <p:spPr bwMode="auto">
            <a:xfrm>
              <a:off x="2815" y="2591"/>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70" name="Text Box 46"/>
            <p:cNvSpPr txBox="1">
              <a:spLocks noChangeArrowheads="1"/>
            </p:cNvSpPr>
            <p:nvPr/>
          </p:nvSpPr>
          <p:spPr bwMode="auto">
            <a:xfrm>
              <a:off x="2744" y="2235"/>
              <a:ext cx="21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08271" name="Line 47"/>
            <p:cNvSpPr>
              <a:spLocks noChangeShapeType="1"/>
            </p:cNvSpPr>
            <p:nvPr/>
          </p:nvSpPr>
          <p:spPr bwMode="auto">
            <a:xfrm flipH="1">
              <a:off x="2867" y="2066"/>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72" name="Freeform 48"/>
            <p:cNvSpPr>
              <a:spLocks/>
            </p:cNvSpPr>
            <p:nvPr/>
          </p:nvSpPr>
          <p:spPr bwMode="auto">
            <a:xfrm>
              <a:off x="2823" y="1834"/>
              <a:ext cx="208" cy="218"/>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8273" name="Freeform 49"/>
            <p:cNvSpPr>
              <a:spLocks/>
            </p:cNvSpPr>
            <p:nvPr/>
          </p:nvSpPr>
          <p:spPr bwMode="auto">
            <a:xfrm>
              <a:off x="2351" y="1834"/>
              <a:ext cx="223" cy="214"/>
            </a:xfrm>
            <a:custGeom>
              <a:avLst/>
              <a:gdLst>
                <a:gd name="T0" fmla="*/ 257 w 257"/>
                <a:gd name="T1" fmla="*/ 0 h 240"/>
                <a:gd name="T2" fmla="*/ 0 w 257"/>
                <a:gd name="T3" fmla="*/ 240 h 240"/>
              </a:gdLst>
              <a:ahLst/>
              <a:cxnLst>
                <a:cxn ang="0">
                  <a:pos x="T0" y="T1"/>
                </a:cxn>
                <a:cxn ang="0">
                  <a:pos x="T2" y="T3"/>
                </a:cxn>
              </a:cxnLst>
              <a:rect l="0" t="0" r="r" b="b"/>
              <a:pathLst>
                <a:path w="257" h="240">
                  <a:moveTo>
                    <a:pt x="257" y="0"/>
                  </a:moveTo>
                  <a:lnTo>
                    <a:pt x="0" y="240"/>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8274" name="Line 50"/>
            <p:cNvSpPr>
              <a:spLocks noChangeShapeType="1"/>
            </p:cNvSpPr>
            <p:nvPr/>
          </p:nvSpPr>
          <p:spPr bwMode="auto">
            <a:xfrm>
              <a:off x="2857" y="2434"/>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75" name="Text Box 51"/>
            <p:cNvSpPr txBox="1">
              <a:spLocks noChangeArrowheads="1"/>
            </p:cNvSpPr>
            <p:nvPr/>
          </p:nvSpPr>
          <p:spPr bwMode="auto">
            <a:xfrm>
              <a:off x="2823" y="1580"/>
              <a:ext cx="21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a:t>1</a:t>
              </a:r>
              <a:endParaRPr kumimoji="0" lang="en-US" altLang="zh-CN" b="1"/>
            </a:p>
          </p:txBody>
        </p:sp>
        <p:sp>
          <p:nvSpPr>
            <p:cNvPr id="308276" name="Text Box 52" descr="白色大理石"/>
            <p:cNvSpPr txBox="1">
              <a:spLocks noChangeArrowheads="1"/>
            </p:cNvSpPr>
            <p:nvPr/>
          </p:nvSpPr>
          <p:spPr bwMode="auto">
            <a:xfrm>
              <a:off x="3436" y="1705"/>
              <a:ext cx="218" cy="525"/>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r>
                <a:rPr kumimoji="0" lang="en-US" altLang="zh-CN" sz="2000" b="1"/>
                <a:t>A</a:t>
              </a:r>
              <a:r>
                <a:rPr kumimoji="0" lang="en-US" altLang="zh-CN" b="1" baseline="-25000"/>
                <a:t>R</a:t>
              </a:r>
              <a:endParaRPr kumimoji="0" lang="en-US" altLang="zh-CN" b="1"/>
            </a:p>
          </p:txBody>
        </p:sp>
        <p:sp>
          <p:nvSpPr>
            <p:cNvPr id="308277" name="Line 53"/>
            <p:cNvSpPr>
              <a:spLocks noChangeShapeType="1"/>
            </p:cNvSpPr>
            <p:nvPr/>
          </p:nvSpPr>
          <p:spPr bwMode="auto">
            <a:xfrm>
              <a:off x="3660" y="2229"/>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78" name="Line 54"/>
            <p:cNvSpPr>
              <a:spLocks noChangeShapeType="1"/>
            </p:cNvSpPr>
            <p:nvPr/>
          </p:nvSpPr>
          <p:spPr bwMode="auto">
            <a:xfrm flipH="1">
              <a:off x="3755" y="1718"/>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79" name="Line 55"/>
            <p:cNvSpPr>
              <a:spLocks noChangeShapeType="1"/>
            </p:cNvSpPr>
            <p:nvPr/>
          </p:nvSpPr>
          <p:spPr bwMode="auto">
            <a:xfrm>
              <a:off x="3739" y="2086"/>
              <a:ext cx="0" cy="1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80" name="Freeform 56"/>
            <p:cNvSpPr>
              <a:spLocks/>
            </p:cNvSpPr>
            <p:nvPr/>
          </p:nvSpPr>
          <p:spPr bwMode="auto">
            <a:xfrm>
              <a:off x="2770" y="1459"/>
              <a:ext cx="274" cy="198"/>
            </a:xfrm>
            <a:custGeom>
              <a:avLst/>
              <a:gdLst>
                <a:gd name="T0" fmla="*/ 315 w 315"/>
                <a:gd name="T1" fmla="*/ 0 h 223"/>
                <a:gd name="T2" fmla="*/ 0 w 315"/>
                <a:gd name="T3" fmla="*/ 223 h 223"/>
              </a:gdLst>
              <a:ahLst/>
              <a:cxnLst>
                <a:cxn ang="0">
                  <a:pos x="T0" y="T1"/>
                </a:cxn>
                <a:cxn ang="0">
                  <a:pos x="T2" y="T3"/>
                </a:cxn>
              </a:cxnLst>
              <a:rect l="0" t="0" r="r" b="b"/>
              <a:pathLst>
                <a:path w="315" h="223">
                  <a:moveTo>
                    <a:pt x="315" y="0"/>
                  </a:moveTo>
                  <a:lnTo>
                    <a:pt x="0" y="223"/>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8281" name="Line 57"/>
            <p:cNvSpPr>
              <a:spLocks noChangeShapeType="1"/>
            </p:cNvSpPr>
            <p:nvPr/>
          </p:nvSpPr>
          <p:spPr bwMode="auto">
            <a:xfrm>
              <a:off x="2333" y="2572"/>
              <a:ext cx="1" cy="297"/>
            </a:xfrm>
            <a:prstGeom prst="line">
              <a:avLst/>
            </a:prstGeom>
            <a:noFill/>
            <a:ln w="38100">
              <a:solidFill>
                <a:srgbClr val="FF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8282" name="Oval 58"/>
            <p:cNvSpPr>
              <a:spLocks noChangeArrowheads="1"/>
            </p:cNvSpPr>
            <p:nvPr/>
          </p:nvSpPr>
          <p:spPr bwMode="auto">
            <a:xfrm>
              <a:off x="3016" y="1226"/>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A</a:t>
              </a:r>
            </a:p>
          </p:txBody>
        </p:sp>
        <p:sp>
          <p:nvSpPr>
            <p:cNvPr id="308283" name="Oval 59"/>
            <p:cNvSpPr>
              <a:spLocks noChangeArrowheads="1"/>
            </p:cNvSpPr>
            <p:nvPr/>
          </p:nvSpPr>
          <p:spPr bwMode="auto">
            <a:xfrm>
              <a:off x="2532" y="1622"/>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B</a:t>
              </a:r>
            </a:p>
          </p:txBody>
        </p:sp>
        <p:sp>
          <p:nvSpPr>
            <p:cNvPr id="308284" name="Oval 60"/>
            <p:cNvSpPr>
              <a:spLocks noChangeArrowheads="1"/>
            </p:cNvSpPr>
            <p:nvPr/>
          </p:nvSpPr>
          <p:spPr bwMode="auto">
            <a:xfrm>
              <a:off x="2192" y="2869"/>
              <a:ext cx="295" cy="295"/>
            </a:xfrm>
            <a:prstGeom prst="ellipse">
              <a:avLst/>
            </a:prstGeom>
            <a:gradFill rotWithShape="0">
              <a:gsLst>
                <a:gs pos="0">
                  <a:srgbClr val="FF7C80"/>
                </a:gs>
                <a:gs pos="100000">
                  <a:srgbClr val="FF7C80">
                    <a:gamma/>
                    <a:shade val="46275"/>
                    <a:invGamma/>
                  </a:srgb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rgbClr val="FFFF66"/>
                  </a:solidFill>
                </a:rPr>
                <a:t>X</a:t>
              </a:r>
            </a:p>
          </p:txBody>
        </p:sp>
      </p:grpSp>
      <p:grpSp>
        <p:nvGrpSpPr>
          <p:cNvPr id="308285" name="Group 61"/>
          <p:cNvGrpSpPr>
            <a:grpSpLocks/>
          </p:cNvGrpSpPr>
          <p:nvPr/>
        </p:nvGrpSpPr>
        <p:grpSpPr bwMode="auto">
          <a:xfrm>
            <a:off x="6043613" y="1806575"/>
            <a:ext cx="2941637" cy="2819400"/>
            <a:chOff x="3807" y="1138"/>
            <a:chExt cx="1853" cy="1776"/>
          </a:xfrm>
        </p:grpSpPr>
        <p:sp>
          <p:nvSpPr>
            <p:cNvPr id="308286" name="Text Box 62"/>
            <p:cNvSpPr txBox="1">
              <a:spLocks noChangeArrowheads="1"/>
            </p:cNvSpPr>
            <p:nvPr/>
          </p:nvSpPr>
          <p:spPr bwMode="auto">
            <a:xfrm>
              <a:off x="3807" y="2158"/>
              <a:ext cx="482"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2000" b="1" i="1"/>
                <a:t>h</a:t>
              </a:r>
              <a:r>
                <a:rPr kumimoji="0" lang="en-US" altLang="zh-CN" sz="2000" b="1"/>
                <a:t>+1</a:t>
              </a:r>
            </a:p>
          </p:txBody>
        </p:sp>
        <p:sp>
          <p:nvSpPr>
            <p:cNvPr id="308287" name="Text Box 63" descr="白色大理石"/>
            <p:cNvSpPr txBox="1">
              <a:spLocks noChangeArrowheads="1"/>
            </p:cNvSpPr>
            <p:nvPr/>
          </p:nvSpPr>
          <p:spPr bwMode="auto">
            <a:xfrm>
              <a:off x="4181" y="1720"/>
              <a:ext cx="229" cy="600"/>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b="1"/>
            </a:p>
            <a:p>
              <a:pPr algn="ctr" eaLnBrk="0" hangingPunct="0">
                <a:lnSpc>
                  <a:spcPct val="90000"/>
                </a:lnSpc>
              </a:pPr>
              <a:r>
                <a:rPr kumimoji="0" lang="en-US" altLang="zh-CN" b="1"/>
                <a:t>B</a:t>
              </a:r>
              <a:r>
                <a:rPr kumimoji="0" lang="en-US" altLang="zh-CN" b="1" baseline="-25000"/>
                <a:t>L</a:t>
              </a:r>
              <a:endParaRPr kumimoji="0" lang="en-US" altLang="zh-CN" b="1"/>
            </a:p>
          </p:txBody>
        </p:sp>
        <p:sp>
          <p:nvSpPr>
            <p:cNvPr id="308288" name="Line 64"/>
            <p:cNvSpPr>
              <a:spLocks noChangeShapeType="1"/>
            </p:cNvSpPr>
            <p:nvPr/>
          </p:nvSpPr>
          <p:spPr bwMode="auto">
            <a:xfrm>
              <a:off x="4015" y="1720"/>
              <a:ext cx="11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89" name="Line 65"/>
            <p:cNvSpPr>
              <a:spLocks noChangeShapeType="1"/>
            </p:cNvSpPr>
            <p:nvPr/>
          </p:nvSpPr>
          <p:spPr bwMode="auto">
            <a:xfrm>
              <a:off x="4010" y="2771"/>
              <a:ext cx="12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90" name="Line 66"/>
            <p:cNvSpPr>
              <a:spLocks noChangeShapeType="1"/>
            </p:cNvSpPr>
            <p:nvPr/>
          </p:nvSpPr>
          <p:spPr bwMode="auto">
            <a:xfrm flipH="1">
              <a:off x="4052" y="1746"/>
              <a:ext cx="0" cy="43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91" name="Line 67"/>
            <p:cNvSpPr>
              <a:spLocks noChangeShapeType="1"/>
            </p:cNvSpPr>
            <p:nvPr/>
          </p:nvSpPr>
          <p:spPr bwMode="auto">
            <a:xfrm>
              <a:off x="4062" y="2391"/>
              <a:ext cx="0" cy="3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92" name="Freeform 68"/>
            <p:cNvSpPr>
              <a:spLocks/>
            </p:cNvSpPr>
            <p:nvPr/>
          </p:nvSpPr>
          <p:spPr bwMode="auto">
            <a:xfrm>
              <a:off x="4823" y="1451"/>
              <a:ext cx="191" cy="247"/>
            </a:xfrm>
            <a:custGeom>
              <a:avLst/>
              <a:gdLst>
                <a:gd name="T0" fmla="*/ 0 w 202"/>
                <a:gd name="T1" fmla="*/ 0 h 182"/>
                <a:gd name="T2" fmla="*/ 202 w 202"/>
                <a:gd name="T3" fmla="*/ 182 h 182"/>
              </a:gdLst>
              <a:ahLst/>
              <a:cxnLst>
                <a:cxn ang="0">
                  <a:pos x="T0" y="T1"/>
                </a:cxn>
                <a:cxn ang="0">
                  <a:pos x="T2" y="T3"/>
                </a:cxn>
              </a:cxnLst>
              <a:rect l="0" t="0" r="r" b="b"/>
              <a:pathLst>
                <a:path w="202" h="182">
                  <a:moveTo>
                    <a:pt x="0" y="0"/>
                  </a:moveTo>
                  <a:lnTo>
                    <a:pt x="202" y="182"/>
                  </a:lnTo>
                </a:path>
              </a:pathLst>
            </a:custGeom>
            <a:noFill/>
            <a:ln w="38100" cmpd="sng">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8293" name="Line 69"/>
            <p:cNvSpPr>
              <a:spLocks noChangeShapeType="1"/>
            </p:cNvSpPr>
            <p:nvPr/>
          </p:nvSpPr>
          <p:spPr bwMode="auto">
            <a:xfrm>
              <a:off x="5454" y="2129"/>
              <a:ext cx="12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94" name="Line 70"/>
            <p:cNvSpPr>
              <a:spLocks noChangeShapeType="1"/>
            </p:cNvSpPr>
            <p:nvPr/>
          </p:nvSpPr>
          <p:spPr bwMode="auto">
            <a:xfrm>
              <a:off x="5446" y="2714"/>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95" name="Text Box 71"/>
            <p:cNvSpPr txBox="1">
              <a:spLocks noChangeArrowheads="1"/>
            </p:cNvSpPr>
            <p:nvPr/>
          </p:nvSpPr>
          <p:spPr bwMode="auto">
            <a:xfrm>
              <a:off x="5432" y="2342"/>
              <a:ext cx="228"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08296" name="Line 72"/>
            <p:cNvSpPr>
              <a:spLocks noChangeShapeType="1"/>
            </p:cNvSpPr>
            <p:nvPr/>
          </p:nvSpPr>
          <p:spPr bwMode="auto">
            <a:xfrm flipH="1">
              <a:off x="5541" y="2146"/>
              <a:ext cx="0" cy="1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97" name="Line 73"/>
            <p:cNvSpPr>
              <a:spLocks noChangeShapeType="1"/>
            </p:cNvSpPr>
            <p:nvPr/>
          </p:nvSpPr>
          <p:spPr bwMode="auto">
            <a:xfrm>
              <a:off x="5540" y="2554"/>
              <a:ext cx="0" cy="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298" name="Text Box 74" descr="白色大理石"/>
            <p:cNvSpPr txBox="1">
              <a:spLocks noChangeArrowheads="1"/>
            </p:cNvSpPr>
            <p:nvPr/>
          </p:nvSpPr>
          <p:spPr bwMode="auto">
            <a:xfrm>
              <a:off x="5199" y="2121"/>
              <a:ext cx="228" cy="600"/>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A</a:t>
              </a:r>
              <a:r>
                <a:rPr kumimoji="0" lang="en-US" altLang="zh-CN" b="1" baseline="-25000"/>
                <a:t>R</a:t>
              </a:r>
              <a:endParaRPr kumimoji="0" lang="en-US" altLang="zh-CN" b="1"/>
            </a:p>
          </p:txBody>
        </p:sp>
        <p:sp>
          <p:nvSpPr>
            <p:cNvPr id="308299" name="Text Box 75" descr="白色大理石"/>
            <p:cNvSpPr txBox="1">
              <a:spLocks noChangeArrowheads="1"/>
            </p:cNvSpPr>
            <p:nvPr/>
          </p:nvSpPr>
          <p:spPr bwMode="auto">
            <a:xfrm>
              <a:off x="4733" y="2121"/>
              <a:ext cx="229" cy="600"/>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b="1"/>
            </a:p>
            <a:p>
              <a:pPr algn="ctr" eaLnBrk="0" hangingPunct="0">
                <a:lnSpc>
                  <a:spcPct val="90000"/>
                </a:lnSpc>
              </a:pPr>
              <a:r>
                <a:rPr kumimoji="0" lang="en-US" altLang="zh-CN" b="1"/>
                <a:t>B</a:t>
              </a:r>
              <a:r>
                <a:rPr kumimoji="0" lang="en-US" altLang="zh-CN" b="1" baseline="-25000"/>
                <a:t>R</a:t>
              </a:r>
              <a:endParaRPr kumimoji="0" lang="en-US" altLang="zh-CN" b="1"/>
            </a:p>
          </p:txBody>
        </p:sp>
        <p:sp>
          <p:nvSpPr>
            <p:cNvPr id="308300" name="Line 76"/>
            <p:cNvSpPr>
              <a:spLocks noChangeShapeType="1"/>
            </p:cNvSpPr>
            <p:nvPr/>
          </p:nvSpPr>
          <p:spPr bwMode="auto">
            <a:xfrm>
              <a:off x="4596" y="2121"/>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301" name="Line 77"/>
            <p:cNvSpPr>
              <a:spLocks noChangeShapeType="1"/>
            </p:cNvSpPr>
            <p:nvPr/>
          </p:nvSpPr>
          <p:spPr bwMode="auto">
            <a:xfrm>
              <a:off x="4592" y="2727"/>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302" name="Text Box 78"/>
            <p:cNvSpPr txBox="1">
              <a:spLocks noChangeArrowheads="1"/>
            </p:cNvSpPr>
            <p:nvPr/>
          </p:nvSpPr>
          <p:spPr bwMode="auto">
            <a:xfrm>
              <a:off x="4524" y="2330"/>
              <a:ext cx="229"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08303" name="Line 79"/>
            <p:cNvSpPr>
              <a:spLocks noChangeShapeType="1"/>
            </p:cNvSpPr>
            <p:nvPr/>
          </p:nvSpPr>
          <p:spPr bwMode="auto">
            <a:xfrm flipH="1">
              <a:off x="4647" y="2163"/>
              <a:ext cx="0" cy="1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304" name="Line 80"/>
            <p:cNvSpPr>
              <a:spLocks noChangeShapeType="1"/>
            </p:cNvSpPr>
            <p:nvPr/>
          </p:nvSpPr>
          <p:spPr bwMode="auto">
            <a:xfrm>
              <a:off x="4644" y="2551"/>
              <a:ext cx="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305" name="Line 81"/>
            <p:cNvSpPr>
              <a:spLocks noChangeShapeType="1"/>
            </p:cNvSpPr>
            <p:nvPr/>
          </p:nvSpPr>
          <p:spPr bwMode="auto">
            <a:xfrm>
              <a:off x="5181" y="1939"/>
              <a:ext cx="127" cy="182"/>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306" name="Line 82"/>
            <p:cNvSpPr>
              <a:spLocks noChangeShapeType="1"/>
            </p:cNvSpPr>
            <p:nvPr/>
          </p:nvSpPr>
          <p:spPr bwMode="auto">
            <a:xfrm flipH="1">
              <a:off x="4870" y="1939"/>
              <a:ext cx="127" cy="182"/>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8307" name="Freeform 83"/>
            <p:cNvSpPr>
              <a:spLocks/>
            </p:cNvSpPr>
            <p:nvPr/>
          </p:nvSpPr>
          <p:spPr bwMode="auto">
            <a:xfrm>
              <a:off x="4342" y="1471"/>
              <a:ext cx="246" cy="244"/>
            </a:xfrm>
            <a:custGeom>
              <a:avLst/>
              <a:gdLst>
                <a:gd name="T0" fmla="*/ 255 w 255"/>
                <a:gd name="T1" fmla="*/ 0 h 225"/>
                <a:gd name="T2" fmla="*/ 0 w 255"/>
                <a:gd name="T3" fmla="*/ 225 h 225"/>
              </a:gdLst>
              <a:ahLst/>
              <a:cxnLst>
                <a:cxn ang="0">
                  <a:pos x="T0" y="T1"/>
                </a:cxn>
                <a:cxn ang="0">
                  <a:pos x="T2" y="T3"/>
                </a:cxn>
              </a:cxnLst>
              <a:rect l="0" t="0" r="r" b="b"/>
              <a:pathLst>
                <a:path w="255" h="225">
                  <a:moveTo>
                    <a:pt x="255" y="0"/>
                  </a:moveTo>
                  <a:lnTo>
                    <a:pt x="0" y="225"/>
                  </a:lnTo>
                </a:path>
              </a:pathLst>
            </a:custGeom>
            <a:noFill/>
            <a:ln w="38100" cmpd="sng">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8308" name="Text Box 84"/>
            <p:cNvSpPr txBox="1">
              <a:spLocks noChangeArrowheads="1"/>
            </p:cNvSpPr>
            <p:nvPr/>
          </p:nvSpPr>
          <p:spPr bwMode="auto">
            <a:xfrm>
              <a:off x="5218" y="1612"/>
              <a:ext cx="22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a:t>0</a:t>
              </a:r>
              <a:endParaRPr kumimoji="0" lang="en-US" altLang="zh-CN" b="1"/>
            </a:p>
          </p:txBody>
        </p:sp>
        <p:grpSp>
          <p:nvGrpSpPr>
            <p:cNvPr id="308309" name="Group 85"/>
            <p:cNvGrpSpPr>
              <a:grpSpLocks/>
            </p:cNvGrpSpPr>
            <p:nvPr/>
          </p:nvGrpSpPr>
          <p:grpSpPr bwMode="auto">
            <a:xfrm>
              <a:off x="4768" y="1138"/>
              <a:ext cx="274" cy="240"/>
              <a:chOff x="5264" y="4164"/>
              <a:chExt cx="300" cy="327"/>
            </a:xfrm>
          </p:grpSpPr>
          <p:sp>
            <p:nvSpPr>
              <p:cNvPr id="308310" name="Text Box 86"/>
              <p:cNvSpPr txBox="1">
                <a:spLocks noChangeArrowheads="1"/>
              </p:cNvSpPr>
              <p:nvPr/>
            </p:nvSpPr>
            <p:spPr bwMode="auto">
              <a:xfrm>
                <a:off x="5304" y="4164"/>
                <a:ext cx="2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a:t>0</a:t>
                </a:r>
              </a:p>
            </p:txBody>
          </p:sp>
          <p:sp>
            <p:nvSpPr>
              <p:cNvPr id="308311" name="Oval 87"/>
              <p:cNvSpPr>
                <a:spLocks noChangeArrowheads="1"/>
              </p:cNvSpPr>
              <p:nvPr/>
            </p:nvSpPr>
            <p:spPr bwMode="auto">
              <a:xfrm>
                <a:off x="5264" y="4207"/>
                <a:ext cx="300" cy="28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08312" name="Oval 88"/>
            <p:cNvSpPr>
              <a:spLocks noChangeArrowheads="1"/>
            </p:cNvSpPr>
            <p:nvPr/>
          </p:nvSpPr>
          <p:spPr bwMode="auto">
            <a:xfrm>
              <a:off x="4562" y="1243"/>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B</a:t>
              </a:r>
            </a:p>
          </p:txBody>
        </p:sp>
        <p:sp>
          <p:nvSpPr>
            <p:cNvPr id="308313" name="Oval 89"/>
            <p:cNvSpPr>
              <a:spLocks noChangeArrowheads="1"/>
            </p:cNvSpPr>
            <p:nvPr/>
          </p:nvSpPr>
          <p:spPr bwMode="auto">
            <a:xfrm>
              <a:off x="4947" y="1691"/>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A</a:t>
              </a:r>
            </a:p>
          </p:txBody>
        </p:sp>
        <p:sp>
          <p:nvSpPr>
            <p:cNvPr id="308314" name="Line 90"/>
            <p:cNvSpPr>
              <a:spLocks noChangeShapeType="1"/>
            </p:cNvSpPr>
            <p:nvPr/>
          </p:nvSpPr>
          <p:spPr bwMode="auto">
            <a:xfrm>
              <a:off x="4305" y="2322"/>
              <a:ext cx="0" cy="312"/>
            </a:xfrm>
            <a:prstGeom prst="line">
              <a:avLst/>
            </a:prstGeom>
            <a:noFill/>
            <a:ln w="38100">
              <a:solidFill>
                <a:srgbClr val="FF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8315" name="Oval 91"/>
            <p:cNvSpPr>
              <a:spLocks noChangeArrowheads="1"/>
            </p:cNvSpPr>
            <p:nvPr/>
          </p:nvSpPr>
          <p:spPr bwMode="auto">
            <a:xfrm>
              <a:off x="4164" y="2619"/>
              <a:ext cx="295" cy="295"/>
            </a:xfrm>
            <a:prstGeom prst="ellipse">
              <a:avLst/>
            </a:prstGeom>
            <a:gradFill rotWithShape="0">
              <a:gsLst>
                <a:gs pos="0">
                  <a:srgbClr val="FF7C80"/>
                </a:gs>
                <a:gs pos="100000">
                  <a:srgbClr val="FF7C80">
                    <a:gamma/>
                    <a:shade val="46275"/>
                    <a:invGamma/>
                  </a:srgb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rgbClr val="FFFF66"/>
                  </a:solidFill>
                </a:rPr>
                <a:t>X</a:t>
              </a:r>
            </a:p>
          </p:txBody>
        </p:sp>
      </p:grpSp>
      <p:sp>
        <p:nvSpPr>
          <p:cNvPr id="308316" name="Text Box 92"/>
          <p:cNvSpPr txBox="1">
            <a:spLocks noChangeArrowheads="1"/>
          </p:cNvSpPr>
          <p:nvPr/>
        </p:nvSpPr>
        <p:spPr bwMode="auto">
          <a:xfrm>
            <a:off x="1555750" y="6038850"/>
            <a:ext cx="5670550" cy="5397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0" rIns="18000" bIns="0"/>
          <a:lstStyle/>
          <a:p>
            <a:pPr algn="just" eaLnBrk="0" hangingPunct="0"/>
            <a:r>
              <a:rPr kumimoji="0" lang="zh-CN" altLang="en-US" sz="2800" b="1">
                <a:solidFill>
                  <a:srgbClr val="0000FF"/>
                </a:solidFill>
              </a:rPr>
              <a:t>旋转：扁担原理；冲突：旋转优先</a:t>
            </a:r>
            <a:endParaRPr kumimoji="0" lang="zh-CN" altLang="en-US" sz="2800" b="1">
              <a:solidFill>
                <a:srgbClr val="0000FF"/>
              </a:solidFill>
              <a:latin typeface="Arial" charset="0"/>
            </a:endParaRPr>
          </a:p>
        </p:txBody>
      </p:sp>
    </p:spTree>
    <p:extLst>
      <p:ext uri="{BB962C8B-B14F-4D97-AF65-F5344CB8AC3E}">
        <p14:creationId xmlns:p14="http://schemas.microsoft.com/office/powerpoint/2010/main" val="16373147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8316"/>
                                        </p:tgtEl>
                                        <p:attrNameLst>
                                          <p:attrName>style.visibility</p:attrName>
                                        </p:attrNameLst>
                                      </p:cBhvr>
                                      <p:to>
                                        <p:strVal val="visible"/>
                                      </p:to>
                                    </p:set>
                                    <p:animEffect transition="in" filter="wipe(down)">
                                      <p:cBhvr>
                                        <p:cTn id="7" dur="500"/>
                                        <p:tgtEl>
                                          <p:spTgt spid="308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316"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9250" name="Group 2"/>
          <p:cNvGrpSpPr>
            <a:grpSpLocks/>
          </p:cNvGrpSpPr>
          <p:nvPr/>
        </p:nvGrpSpPr>
        <p:grpSpPr bwMode="auto">
          <a:xfrm>
            <a:off x="566738" y="5035550"/>
            <a:ext cx="719137" cy="1304925"/>
            <a:chOff x="357" y="3181"/>
            <a:chExt cx="453" cy="822"/>
          </a:xfrm>
        </p:grpSpPr>
        <p:sp>
          <p:nvSpPr>
            <p:cNvPr id="309251" name="Oval 3"/>
            <p:cNvSpPr>
              <a:spLocks noChangeArrowheads="1"/>
            </p:cNvSpPr>
            <p:nvPr/>
          </p:nvSpPr>
          <p:spPr bwMode="auto">
            <a:xfrm>
              <a:off x="357" y="3663"/>
              <a:ext cx="340" cy="340"/>
            </a:xfrm>
            <a:prstGeom prst="ellipse">
              <a:avLst/>
            </a:prstGeom>
            <a:gradFill rotWithShape="0">
              <a:gsLst>
                <a:gs pos="0">
                  <a:schemeClr val="bg1"/>
                </a:gs>
                <a:gs pos="100000">
                  <a:srgbClr val="CC00FF"/>
                </a:gs>
              </a:gsLst>
              <a:path path="shape">
                <a:fillToRect l="50000" t="50000" r="50000" b="50000"/>
              </a:path>
            </a:gradFill>
            <a:ln>
              <a:noFill/>
            </a:ln>
            <a:effectLst/>
            <a:extLst>
              <a:ext uri="{91240B29-F687-4F45-9708-019B960494DF}">
                <a14:hiddenLine xmlns:a14="http://schemas.microsoft.com/office/drawing/2010/main" w="9525">
                  <a:solidFill>
                    <a:srgbClr val="CC00FF"/>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kumimoji="0" lang="en-US" altLang="zh-CN" sz="2800" b="1"/>
                <a:t>6</a:t>
              </a:r>
            </a:p>
          </p:txBody>
        </p:sp>
        <p:sp>
          <p:nvSpPr>
            <p:cNvPr id="309252" name="Line 4"/>
            <p:cNvSpPr>
              <a:spLocks noChangeShapeType="1"/>
            </p:cNvSpPr>
            <p:nvPr/>
          </p:nvSpPr>
          <p:spPr bwMode="auto">
            <a:xfrm flipH="1">
              <a:off x="555" y="3181"/>
              <a:ext cx="255" cy="482"/>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309253" name="AutoShape 5"/>
          <p:cNvSpPr>
            <a:spLocks noChangeArrowheads="1"/>
          </p:cNvSpPr>
          <p:nvPr/>
        </p:nvSpPr>
        <p:spPr bwMode="auto">
          <a:xfrm>
            <a:off x="4346575" y="4194175"/>
            <a:ext cx="809625" cy="314325"/>
          </a:xfrm>
          <a:prstGeom prst="rightArrow">
            <a:avLst>
              <a:gd name="adj1" fmla="val 50000"/>
              <a:gd name="adj2" fmla="val 64394"/>
            </a:avLst>
          </a:prstGeom>
          <a:solidFill>
            <a:schemeClr val="accent1"/>
          </a:solidFill>
          <a:ln>
            <a:noFill/>
          </a:ln>
          <a:effectLst/>
          <a:extLst>
            <a:ext uri="{91240B29-F687-4F45-9708-019B960494DF}">
              <a14:hiddenLine xmlns:a14="http://schemas.microsoft.com/office/drawing/2010/main" w="57150">
                <a:solidFill>
                  <a:srgbClr val="660033"/>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9254" name="Text Box 6"/>
          <p:cNvSpPr txBox="1">
            <a:spLocks noChangeArrowheads="1"/>
          </p:cNvSpPr>
          <p:nvPr/>
        </p:nvSpPr>
        <p:spPr bwMode="auto">
          <a:xfrm>
            <a:off x="3375025" y="2259013"/>
            <a:ext cx="919163" cy="49847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8000" tIns="10800" rIns="0" bIns="0">
            <a:spAutoFit/>
          </a:bodyPr>
          <a:lstStyle/>
          <a:p>
            <a:pPr eaLnBrk="0" hangingPunct="0">
              <a:spcBef>
                <a:spcPct val="50000"/>
              </a:spcBef>
            </a:pPr>
            <a:r>
              <a:rPr kumimoji="0" lang="en-US" altLang="zh-CN" sz="3200" b="1"/>
              <a:t>1→2</a:t>
            </a:r>
          </a:p>
        </p:txBody>
      </p:sp>
      <p:sp>
        <p:nvSpPr>
          <p:cNvPr id="309255" name="Text Box 7"/>
          <p:cNvSpPr txBox="1">
            <a:spLocks noChangeArrowheads="1"/>
          </p:cNvSpPr>
          <p:nvPr/>
        </p:nvSpPr>
        <p:spPr bwMode="auto">
          <a:xfrm>
            <a:off x="304800" y="1371600"/>
            <a:ext cx="167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latin typeface="宋体" charset="-122"/>
              </a:rPr>
              <a:t>例</a:t>
            </a:r>
            <a:r>
              <a:rPr kumimoji="0" lang="en-US" altLang="zh-CN" sz="2800" b="1">
                <a:latin typeface="宋体" charset="-122"/>
              </a:rPr>
              <a:t>:</a:t>
            </a:r>
            <a:r>
              <a:rPr kumimoji="0" lang="en-US" altLang="zh-CN" sz="2800" b="1"/>
              <a:t>LL</a:t>
            </a:r>
            <a:r>
              <a:rPr kumimoji="0" lang="zh-CN" altLang="en-US" sz="2800" b="1">
                <a:latin typeface="宋体" charset="-122"/>
              </a:rPr>
              <a:t>型</a:t>
            </a:r>
            <a:r>
              <a:rPr kumimoji="0" lang="zh-CN" altLang="en-US" sz="2800"/>
              <a:t> </a:t>
            </a:r>
          </a:p>
        </p:txBody>
      </p:sp>
      <p:grpSp>
        <p:nvGrpSpPr>
          <p:cNvPr id="309257" name="Group 9"/>
          <p:cNvGrpSpPr>
            <a:grpSpLocks/>
          </p:cNvGrpSpPr>
          <p:nvPr/>
        </p:nvGrpSpPr>
        <p:grpSpPr bwMode="auto">
          <a:xfrm>
            <a:off x="1177925" y="2303463"/>
            <a:ext cx="2744788" cy="2790825"/>
            <a:chOff x="742" y="1451"/>
            <a:chExt cx="1729" cy="1758"/>
          </a:xfrm>
        </p:grpSpPr>
        <p:sp>
          <p:nvSpPr>
            <p:cNvPr id="309258" name="Line 10"/>
            <p:cNvSpPr>
              <a:spLocks noChangeShapeType="1"/>
            </p:cNvSpPr>
            <p:nvPr/>
          </p:nvSpPr>
          <p:spPr bwMode="auto">
            <a:xfrm>
              <a:off x="1933" y="1735"/>
              <a:ext cx="283" cy="397"/>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9259" name="Line 11"/>
            <p:cNvSpPr>
              <a:spLocks noChangeShapeType="1"/>
            </p:cNvSpPr>
            <p:nvPr/>
          </p:nvSpPr>
          <p:spPr bwMode="auto">
            <a:xfrm flipH="1">
              <a:off x="952" y="2415"/>
              <a:ext cx="255" cy="45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9260" name="Line 12"/>
            <p:cNvSpPr>
              <a:spLocks noChangeShapeType="1"/>
            </p:cNvSpPr>
            <p:nvPr/>
          </p:nvSpPr>
          <p:spPr bwMode="auto">
            <a:xfrm>
              <a:off x="1394" y="2415"/>
              <a:ext cx="227" cy="482"/>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9261" name="Line 13"/>
            <p:cNvSpPr>
              <a:spLocks noChangeShapeType="1"/>
            </p:cNvSpPr>
            <p:nvPr/>
          </p:nvSpPr>
          <p:spPr bwMode="auto">
            <a:xfrm flipH="1">
              <a:off x="1360" y="1735"/>
              <a:ext cx="329" cy="387"/>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9262" name="Oval 14"/>
            <p:cNvSpPr>
              <a:spLocks noChangeArrowheads="1"/>
            </p:cNvSpPr>
            <p:nvPr/>
          </p:nvSpPr>
          <p:spPr bwMode="auto">
            <a:xfrm>
              <a:off x="1649" y="1451"/>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lIns="18000" tIns="0" rIns="0" bIns="0"/>
            <a:lstStyle/>
            <a:p>
              <a:pPr algn="just" eaLnBrk="0" hangingPunct="0">
                <a:lnSpc>
                  <a:spcPct val="90000"/>
                </a:lnSpc>
              </a:pPr>
              <a:r>
                <a:rPr kumimoji="0" lang="en-US" altLang="zh-CN" sz="2800" b="1">
                  <a:solidFill>
                    <a:schemeClr val="bg1"/>
                  </a:solidFill>
                </a:rPr>
                <a:t>10</a:t>
              </a:r>
            </a:p>
          </p:txBody>
        </p:sp>
        <p:sp>
          <p:nvSpPr>
            <p:cNvPr id="309263" name="Oval 15"/>
            <p:cNvSpPr>
              <a:spLocks noChangeArrowheads="1"/>
            </p:cNvSpPr>
            <p:nvPr/>
          </p:nvSpPr>
          <p:spPr bwMode="auto">
            <a:xfrm>
              <a:off x="1138" y="2103"/>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lIns="90000" tIns="0" rIns="0" bIns="0"/>
            <a:lstStyle/>
            <a:p>
              <a:pPr algn="just" eaLnBrk="0" hangingPunct="0">
                <a:lnSpc>
                  <a:spcPct val="90000"/>
                </a:lnSpc>
              </a:pPr>
              <a:r>
                <a:rPr kumimoji="0" lang="en-US" altLang="zh-CN" sz="2800" b="1">
                  <a:solidFill>
                    <a:schemeClr val="bg1"/>
                  </a:solidFill>
                </a:rPr>
                <a:t>8</a:t>
              </a:r>
            </a:p>
          </p:txBody>
        </p:sp>
        <p:sp>
          <p:nvSpPr>
            <p:cNvPr id="309264" name="Oval 16"/>
            <p:cNvSpPr>
              <a:spLocks noChangeArrowheads="1"/>
            </p:cNvSpPr>
            <p:nvPr/>
          </p:nvSpPr>
          <p:spPr bwMode="auto">
            <a:xfrm>
              <a:off x="742" y="2869"/>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lIns="90000" tIns="0" rIns="0" bIns="0"/>
            <a:lstStyle/>
            <a:p>
              <a:pPr algn="just" eaLnBrk="0" hangingPunct="0">
                <a:lnSpc>
                  <a:spcPct val="90000"/>
                </a:lnSpc>
              </a:pPr>
              <a:r>
                <a:rPr kumimoji="0" lang="en-US" altLang="zh-CN" sz="2800" b="1">
                  <a:solidFill>
                    <a:schemeClr val="bg1"/>
                  </a:solidFill>
                </a:rPr>
                <a:t>7</a:t>
              </a:r>
            </a:p>
          </p:txBody>
        </p:sp>
        <p:sp>
          <p:nvSpPr>
            <p:cNvPr id="309265" name="Oval 17"/>
            <p:cNvSpPr>
              <a:spLocks noChangeArrowheads="1"/>
            </p:cNvSpPr>
            <p:nvPr/>
          </p:nvSpPr>
          <p:spPr bwMode="auto">
            <a:xfrm>
              <a:off x="1481" y="2869"/>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lIns="90000" tIns="0" rIns="0" bIns="0"/>
            <a:lstStyle/>
            <a:p>
              <a:pPr algn="just" eaLnBrk="0" hangingPunct="0">
                <a:lnSpc>
                  <a:spcPct val="90000"/>
                </a:lnSpc>
              </a:pPr>
              <a:r>
                <a:rPr kumimoji="0" lang="en-US" altLang="zh-CN" sz="2800" b="1">
                  <a:solidFill>
                    <a:schemeClr val="bg1"/>
                  </a:solidFill>
                </a:rPr>
                <a:t>9</a:t>
              </a:r>
            </a:p>
          </p:txBody>
        </p:sp>
        <p:sp>
          <p:nvSpPr>
            <p:cNvPr id="309266" name="Oval 18"/>
            <p:cNvSpPr>
              <a:spLocks noChangeArrowheads="1"/>
            </p:cNvSpPr>
            <p:nvPr/>
          </p:nvSpPr>
          <p:spPr bwMode="auto">
            <a:xfrm>
              <a:off x="2131" y="2103"/>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lIns="18000" tIns="0" rIns="0" bIns="0"/>
            <a:lstStyle/>
            <a:p>
              <a:pPr algn="just" eaLnBrk="0" hangingPunct="0">
                <a:lnSpc>
                  <a:spcPct val="90000"/>
                </a:lnSpc>
              </a:pPr>
              <a:r>
                <a:rPr kumimoji="0" lang="en-US" altLang="zh-CN" sz="2800" b="1">
                  <a:solidFill>
                    <a:schemeClr val="bg1"/>
                  </a:solidFill>
                </a:rPr>
                <a:t>12</a:t>
              </a:r>
            </a:p>
          </p:txBody>
        </p:sp>
      </p:grpSp>
      <p:grpSp>
        <p:nvGrpSpPr>
          <p:cNvPr id="309267" name="Group 19"/>
          <p:cNvGrpSpPr>
            <a:grpSpLocks/>
          </p:cNvGrpSpPr>
          <p:nvPr/>
        </p:nvGrpSpPr>
        <p:grpSpPr bwMode="auto">
          <a:xfrm>
            <a:off x="7138988" y="3922713"/>
            <a:ext cx="674687" cy="1260475"/>
            <a:chOff x="4497" y="2471"/>
            <a:chExt cx="425" cy="794"/>
          </a:xfrm>
        </p:grpSpPr>
        <p:sp>
          <p:nvSpPr>
            <p:cNvPr id="309268" name="Line 20"/>
            <p:cNvSpPr>
              <a:spLocks noChangeShapeType="1"/>
            </p:cNvSpPr>
            <p:nvPr/>
          </p:nvSpPr>
          <p:spPr bwMode="auto">
            <a:xfrm flipH="1">
              <a:off x="4697" y="2471"/>
              <a:ext cx="225" cy="466"/>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9269" name="Oval 21"/>
            <p:cNvSpPr>
              <a:spLocks noChangeArrowheads="1"/>
            </p:cNvSpPr>
            <p:nvPr/>
          </p:nvSpPr>
          <p:spPr bwMode="auto">
            <a:xfrm>
              <a:off x="4497" y="2925"/>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lIns="90000" tIns="0" rIns="0" bIns="0"/>
            <a:lstStyle/>
            <a:p>
              <a:pPr algn="just" eaLnBrk="0" hangingPunct="0">
                <a:lnSpc>
                  <a:spcPct val="90000"/>
                </a:lnSpc>
              </a:pPr>
              <a:r>
                <a:rPr kumimoji="0" lang="en-US" altLang="zh-CN" sz="2800" b="1">
                  <a:solidFill>
                    <a:schemeClr val="bg1"/>
                  </a:solidFill>
                </a:rPr>
                <a:t>9</a:t>
              </a:r>
            </a:p>
          </p:txBody>
        </p:sp>
      </p:grpSp>
      <p:grpSp>
        <p:nvGrpSpPr>
          <p:cNvPr id="309270" name="Group 22"/>
          <p:cNvGrpSpPr>
            <a:grpSpLocks/>
          </p:cNvGrpSpPr>
          <p:nvPr/>
        </p:nvGrpSpPr>
        <p:grpSpPr bwMode="auto">
          <a:xfrm>
            <a:off x="7659688" y="3473450"/>
            <a:ext cx="1019175" cy="1709738"/>
            <a:chOff x="4825" y="2188"/>
            <a:chExt cx="642" cy="1077"/>
          </a:xfrm>
        </p:grpSpPr>
        <p:sp>
          <p:nvSpPr>
            <p:cNvPr id="309271" name="Line 23"/>
            <p:cNvSpPr>
              <a:spLocks noChangeShapeType="1"/>
            </p:cNvSpPr>
            <p:nvPr/>
          </p:nvSpPr>
          <p:spPr bwMode="auto">
            <a:xfrm>
              <a:off x="5064" y="2500"/>
              <a:ext cx="198" cy="425"/>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9272" name="Oval 24"/>
            <p:cNvSpPr>
              <a:spLocks noChangeArrowheads="1"/>
            </p:cNvSpPr>
            <p:nvPr/>
          </p:nvSpPr>
          <p:spPr bwMode="auto">
            <a:xfrm>
              <a:off x="4825" y="2188"/>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lIns="18000" tIns="0" rIns="0" bIns="0"/>
            <a:lstStyle/>
            <a:p>
              <a:pPr algn="just" eaLnBrk="0" hangingPunct="0">
                <a:lnSpc>
                  <a:spcPct val="90000"/>
                </a:lnSpc>
              </a:pPr>
              <a:r>
                <a:rPr kumimoji="0" lang="en-US" altLang="zh-CN" sz="2800" b="1">
                  <a:solidFill>
                    <a:schemeClr val="bg1"/>
                  </a:solidFill>
                </a:rPr>
                <a:t>10</a:t>
              </a:r>
            </a:p>
          </p:txBody>
        </p:sp>
        <p:sp>
          <p:nvSpPr>
            <p:cNvPr id="309273" name="Oval 25"/>
            <p:cNvSpPr>
              <a:spLocks noChangeArrowheads="1"/>
            </p:cNvSpPr>
            <p:nvPr/>
          </p:nvSpPr>
          <p:spPr bwMode="auto">
            <a:xfrm>
              <a:off x="5127" y="2925"/>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lIns="18000" tIns="0" rIns="0" bIns="0"/>
            <a:lstStyle/>
            <a:p>
              <a:pPr algn="just" eaLnBrk="0" hangingPunct="0">
                <a:lnSpc>
                  <a:spcPct val="90000"/>
                </a:lnSpc>
              </a:pPr>
              <a:r>
                <a:rPr kumimoji="0" lang="en-US" altLang="zh-CN" sz="2800" b="1">
                  <a:solidFill>
                    <a:schemeClr val="bg1"/>
                  </a:solidFill>
                </a:rPr>
                <a:t>12</a:t>
              </a:r>
            </a:p>
          </p:txBody>
        </p:sp>
      </p:grpSp>
      <p:grpSp>
        <p:nvGrpSpPr>
          <p:cNvPr id="309274" name="Group 26"/>
          <p:cNvGrpSpPr>
            <a:grpSpLocks/>
          </p:cNvGrpSpPr>
          <p:nvPr/>
        </p:nvGrpSpPr>
        <p:grpSpPr bwMode="auto">
          <a:xfrm>
            <a:off x="5672138" y="2259013"/>
            <a:ext cx="2141537" cy="2879725"/>
            <a:chOff x="3573" y="1423"/>
            <a:chExt cx="1349" cy="1814"/>
          </a:xfrm>
        </p:grpSpPr>
        <p:sp>
          <p:nvSpPr>
            <p:cNvPr id="309275" name="Line 27"/>
            <p:cNvSpPr>
              <a:spLocks noChangeShapeType="1"/>
            </p:cNvSpPr>
            <p:nvPr/>
          </p:nvSpPr>
          <p:spPr bwMode="auto">
            <a:xfrm flipH="1">
              <a:off x="4157" y="1707"/>
              <a:ext cx="280" cy="482"/>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9276" name="Line 28"/>
            <p:cNvSpPr>
              <a:spLocks noChangeShapeType="1"/>
            </p:cNvSpPr>
            <p:nvPr/>
          </p:nvSpPr>
          <p:spPr bwMode="auto">
            <a:xfrm>
              <a:off x="4667" y="1706"/>
              <a:ext cx="255" cy="482"/>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9277" name="Line 29"/>
            <p:cNvSpPr>
              <a:spLocks noChangeShapeType="1"/>
            </p:cNvSpPr>
            <p:nvPr/>
          </p:nvSpPr>
          <p:spPr bwMode="auto">
            <a:xfrm flipH="1">
              <a:off x="3788" y="2472"/>
              <a:ext cx="232" cy="453"/>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9278" name="Oval 30"/>
            <p:cNvSpPr>
              <a:spLocks noChangeArrowheads="1"/>
            </p:cNvSpPr>
            <p:nvPr/>
          </p:nvSpPr>
          <p:spPr bwMode="auto">
            <a:xfrm>
              <a:off x="4383" y="1423"/>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lIns="90000" tIns="0" rIns="0" bIns="0"/>
            <a:lstStyle/>
            <a:p>
              <a:pPr algn="just" eaLnBrk="0" hangingPunct="0">
                <a:lnSpc>
                  <a:spcPct val="90000"/>
                </a:lnSpc>
              </a:pPr>
              <a:r>
                <a:rPr kumimoji="0" lang="en-US" altLang="zh-CN" sz="2800" b="1">
                  <a:solidFill>
                    <a:schemeClr val="bg1"/>
                  </a:solidFill>
                </a:rPr>
                <a:t>8</a:t>
              </a:r>
            </a:p>
          </p:txBody>
        </p:sp>
        <p:sp>
          <p:nvSpPr>
            <p:cNvPr id="309279" name="Oval 31"/>
            <p:cNvSpPr>
              <a:spLocks noChangeArrowheads="1"/>
            </p:cNvSpPr>
            <p:nvPr/>
          </p:nvSpPr>
          <p:spPr bwMode="auto">
            <a:xfrm>
              <a:off x="3920" y="2160"/>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lIns="90000" tIns="0" rIns="0" bIns="0"/>
            <a:lstStyle/>
            <a:p>
              <a:pPr algn="just" eaLnBrk="0" hangingPunct="0">
                <a:lnSpc>
                  <a:spcPct val="90000"/>
                </a:lnSpc>
              </a:pPr>
              <a:r>
                <a:rPr kumimoji="0" lang="en-US" altLang="zh-CN" sz="2800" b="1">
                  <a:solidFill>
                    <a:schemeClr val="bg1"/>
                  </a:solidFill>
                </a:rPr>
                <a:t>7</a:t>
              </a:r>
            </a:p>
          </p:txBody>
        </p:sp>
        <p:sp>
          <p:nvSpPr>
            <p:cNvPr id="309280" name="Oval 32"/>
            <p:cNvSpPr>
              <a:spLocks noChangeArrowheads="1"/>
            </p:cNvSpPr>
            <p:nvPr/>
          </p:nvSpPr>
          <p:spPr bwMode="auto">
            <a:xfrm>
              <a:off x="3573" y="2897"/>
              <a:ext cx="340" cy="34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lIns="90000" tIns="0" rIns="0" bIns="0"/>
            <a:lstStyle/>
            <a:p>
              <a:pPr algn="just" eaLnBrk="0" hangingPunct="0">
                <a:lnSpc>
                  <a:spcPct val="90000"/>
                </a:lnSpc>
              </a:pPr>
              <a:r>
                <a:rPr kumimoji="0" lang="en-US" altLang="zh-CN" sz="2800" b="1">
                  <a:solidFill>
                    <a:schemeClr val="bg1"/>
                  </a:solidFill>
                </a:rPr>
                <a:t>6</a:t>
              </a:r>
            </a:p>
          </p:txBody>
        </p:sp>
      </p:grpSp>
    </p:spTree>
    <p:extLst>
      <p:ext uri="{BB962C8B-B14F-4D97-AF65-F5344CB8AC3E}">
        <p14:creationId xmlns:p14="http://schemas.microsoft.com/office/powerpoint/2010/main" val="672150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92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309250"/>
                                        </p:tgtEl>
                                        <p:attrNameLst>
                                          <p:attrName>style.visibility</p:attrName>
                                        </p:attrNameLst>
                                      </p:cBhvr>
                                      <p:to>
                                        <p:strVal val="visible"/>
                                      </p:to>
                                    </p:set>
                                    <p:animEffect transition="in" filter="wipe(up)">
                                      <p:cBhvr>
                                        <p:cTn id="11" dur="500"/>
                                        <p:tgtEl>
                                          <p:spTgt spid="30925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0925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09253"/>
                                        </p:tgtEl>
                                        <p:attrNameLst>
                                          <p:attrName>style.visibility</p:attrName>
                                        </p:attrNameLst>
                                      </p:cBhvr>
                                      <p:to>
                                        <p:strVal val="visible"/>
                                      </p:to>
                                    </p:set>
                                    <p:animEffect transition="in" filter="wipe(down)">
                                      <p:cBhvr>
                                        <p:cTn id="20" dur="500"/>
                                        <p:tgtEl>
                                          <p:spTgt spid="30925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0927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309270"/>
                                        </p:tgtEl>
                                        <p:attrNameLst>
                                          <p:attrName>style.visibility</p:attrName>
                                        </p:attrNameLst>
                                      </p:cBhvr>
                                      <p:to>
                                        <p:strVal val="visible"/>
                                      </p:to>
                                    </p:set>
                                    <p:animEffect transition="in" filter="wipe(up)">
                                      <p:cBhvr>
                                        <p:cTn id="29" dur="500"/>
                                        <p:tgtEl>
                                          <p:spTgt spid="30927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309267"/>
                                        </p:tgtEl>
                                        <p:attrNameLst>
                                          <p:attrName>style.visibility</p:attrName>
                                        </p:attrNameLst>
                                      </p:cBhvr>
                                      <p:to>
                                        <p:strVal val="visible"/>
                                      </p:to>
                                    </p:set>
                                    <p:animEffect transition="in" filter="wipe(up)">
                                      <p:cBhvr>
                                        <p:cTn id="34" dur="500"/>
                                        <p:tgtEl>
                                          <p:spTgt spid="309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3" grpId="0" animBg="1"/>
      <p:bldP spid="309254"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Text Box 2"/>
          <p:cNvSpPr txBox="1">
            <a:spLocks noChangeArrowheads="1"/>
          </p:cNvSpPr>
          <p:nvPr/>
        </p:nvSpPr>
        <p:spPr bwMode="auto">
          <a:xfrm>
            <a:off x="152400" y="1079500"/>
            <a:ext cx="6400800" cy="579438"/>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spcBef>
                <a:spcPct val="50000"/>
              </a:spcBef>
            </a:pPr>
            <a:r>
              <a:rPr kumimoji="0" lang="zh-CN" altLang="en-US" sz="3200" b="1">
                <a:solidFill>
                  <a:srgbClr val="0033CC"/>
                </a:solidFill>
              </a:rPr>
              <a:t>平衡二叉树</a:t>
            </a:r>
            <a:r>
              <a:rPr kumimoji="0" lang="en-US" altLang="zh-CN" sz="3200" b="1">
                <a:solidFill>
                  <a:srgbClr val="0033CC"/>
                </a:solidFill>
              </a:rPr>
              <a:t>——RR</a:t>
            </a:r>
            <a:r>
              <a:rPr kumimoji="0" lang="zh-CN" altLang="en-US" sz="3200" b="1">
                <a:solidFill>
                  <a:srgbClr val="0033CC"/>
                </a:solidFill>
              </a:rPr>
              <a:t>型</a:t>
            </a:r>
          </a:p>
        </p:txBody>
      </p:sp>
      <p:sp>
        <p:nvSpPr>
          <p:cNvPr id="310276" name="Text Box 4"/>
          <p:cNvSpPr txBox="1">
            <a:spLocks noChangeArrowheads="1"/>
          </p:cNvSpPr>
          <p:nvPr/>
        </p:nvSpPr>
        <p:spPr bwMode="auto">
          <a:xfrm>
            <a:off x="927100" y="5634038"/>
            <a:ext cx="782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eaLnBrk="0" hangingPunct="0"/>
            <a:r>
              <a:rPr kumimoji="0" lang="zh-CN" altLang="en-US" sz="2800" b="1"/>
              <a:t>插入前             </a:t>
            </a:r>
            <a:r>
              <a:rPr kumimoji="0" lang="zh-CN" altLang="en-US" sz="2800" b="1">
                <a:latin typeface="Arial" charset="0"/>
              </a:rPr>
              <a:t>插入后，调整前           调整后</a:t>
            </a:r>
            <a:endParaRPr kumimoji="0" lang="zh-CN" altLang="en-US" sz="2800">
              <a:latin typeface="Arial" charset="0"/>
            </a:endParaRPr>
          </a:p>
          <a:p>
            <a:pPr algn="just" eaLnBrk="0" hangingPunct="0"/>
            <a:endParaRPr kumimoji="0" lang="zh-CN" altLang="en-US" sz="2800" b="1">
              <a:latin typeface="Arial" charset="0"/>
            </a:endParaRPr>
          </a:p>
        </p:txBody>
      </p:sp>
      <p:grpSp>
        <p:nvGrpSpPr>
          <p:cNvPr id="310277" name="Group 5"/>
          <p:cNvGrpSpPr>
            <a:grpSpLocks/>
          </p:cNvGrpSpPr>
          <p:nvPr/>
        </p:nvGrpSpPr>
        <p:grpSpPr bwMode="auto">
          <a:xfrm>
            <a:off x="273050" y="2043113"/>
            <a:ext cx="2614613" cy="2473325"/>
            <a:chOff x="172" y="1287"/>
            <a:chExt cx="1647" cy="1558"/>
          </a:xfrm>
        </p:grpSpPr>
        <p:sp>
          <p:nvSpPr>
            <p:cNvPr id="310278" name="Oval 6"/>
            <p:cNvSpPr>
              <a:spLocks noChangeArrowheads="1"/>
            </p:cNvSpPr>
            <p:nvPr/>
          </p:nvSpPr>
          <p:spPr bwMode="auto">
            <a:xfrm>
              <a:off x="782" y="1395"/>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A</a:t>
              </a:r>
            </a:p>
          </p:txBody>
        </p:sp>
        <p:sp>
          <p:nvSpPr>
            <p:cNvPr id="310279" name="Text Box 7"/>
            <p:cNvSpPr txBox="1">
              <a:spLocks noChangeArrowheads="1"/>
            </p:cNvSpPr>
            <p:nvPr/>
          </p:nvSpPr>
          <p:spPr bwMode="auto">
            <a:xfrm>
              <a:off x="1078" y="1287"/>
              <a:ext cx="17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2000" b="1"/>
                <a:t>-1</a:t>
              </a:r>
            </a:p>
          </p:txBody>
        </p:sp>
        <p:sp>
          <p:nvSpPr>
            <p:cNvPr id="310280" name="Text Box 8" descr="白色大理石"/>
            <p:cNvSpPr txBox="1">
              <a:spLocks noChangeArrowheads="1"/>
            </p:cNvSpPr>
            <p:nvPr/>
          </p:nvSpPr>
          <p:spPr bwMode="auto">
            <a:xfrm>
              <a:off x="884" y="2306"/>
              <a:ext cx="218" cy="525"/>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B</a:t>
              </a:r>
              <a:r>
                <a:rPr kumimoji="0" lang="en-US" altLang="zh-CN" sz="2000" b="1" baseline="-25000"/>
                <a:t>L</a:t>
              </a:r>
              <a:endParaRPr kumimoji="0" lang="en-US" altLang="zh-CN" sz="2000" b="1"/>
            </a:p>
          </p:txBody>
        </p:sp>
        <p:sp>
          <p:nvSpPr>
            <p:cNvPr id="310281" name="Line 9"/>
            <p:cNvSpPr>
              <a:spLocks noChangeShapeType="1"/>
            </p:cNvSpPr>
            <p:nvPr/>
          </p:nvSpPr>
          <p:spPr bwMode="auto">
            <a:xfrm>
              <a:off x="754" y="2306"/>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282" name="Line 10"/>
            <p:cNvSpPr>
              <a:spLocks noChangeShapeType="1"/>
            </p:cNvSpPr>
            <p:nvPr/>
          </p:nvSpPr>
          <p:spPr bwMode="auto">
            <a:xfrm>
              <a:off x="750" y="2823"/>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283" name="Text Box 11"/>
            <p:cNvSpPr txBox="1">
              <a:spLocks noChangeArrowheads="1"/>
            </p:cNvSpPr>
            <p:nvPr/>
          </p:nvSpPr>
          <p:spPr bwMode="auto">
            <a:xfrm>
              <a:off x="697" y="2472"/>
              <a:ext cx="21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10284" name="Line 12"/>
            <p:cNvSpPr>
              <a:spLocks noChangeShapeType="1"/>
            </p:cNvSpPr>
            <p:nvPr/>
          </p:nvSpPr>
          <p:spPr bwMode="auto">
            <a:xfrm flipH="1">
              <a:off x="793" y="2316"/>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285" name="Line 13"/>
            <p:cNvSpPr>
              <a:spLocks noChangeShapeType="1"/>
            </p:cNvSpPr>
            <p:nvPr/>
          </p:nvSpPr>
          <p:spPr bwMode="auto">
            <a:xfrm>
              <a:off x="786" y="2683"/>
              <a:ext cx="0" cy="1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286" name="Freeform 14"/>
            <p:cNvSpPr>
              <a:spLocks/>
            </p:cNvSpPr>
            <p:nvPr/>
          </p:nvSpPr>
          <p:spPr bwMode="auto">
            <a:xfrm>
              <a:off x="1037" y="1622"/>
              <a:ext cx="248" cy="256"/>
            </a:xfrm>
            <a:custGeom>
              <a:avLst/>
              <a:gdLst>
                <a:gd name="T0" fmla="*/ 0 w 235"/>
                <a:gd name="T1" fmla="*/ 0 h 232"/>
                <a:gd name="T2" fmla="*/ 235 w 235"/>
                <a:gd name="T3" fmla="*/ 232 h 232"/>
              </a:gdLst>
              <a:ahLst/>
              <a:cxnLst>
                <a:cxn ang="0">
                  <a:pos x="T0" y="T1"/>
                </a:cxn>
                <a:cxn ang="0">
                  <a:pos x="T2" y="T3"/>
                </a:cxn>
              </a:cxnLst>
              <a:rect l="0" t="0" r="r" b="b"/>
              <a:pathLst>
                <a:path w="235" h="232">
                  <a:moveTo>
                    <a:pt x="0" y="0"/>
                  </a:moveTo>
                  <a:lnTo>
                    <a:pt x="235" y="232"/>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287" name="Line 15"/>
            <p:cNvSpPr>
              <a:spLocks noChangeShapeType="1"/>
            </p:cNvSpPr>
            <p:nvPr/>
          </p:nvSpPr>
          <p:spPr bwMode="auto">
            <a:xfrm>
              <a:off x="254" y="1829"/>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288" name="Text Box 16" descr="白色大理石"/>
            <p:cNvSpPr txBox="1">
              <a:spLocks noChangeArrowheads="1"/>
            </p:cNvSpPr>
            <p:nvPr/>
          </p:nvSpPr>
          <p:spPr bwMode="auto">
            <a:xfrm>
              <a:off x="1602" y="2314"/>
              <a:ext cx="217" cy="526"/>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B</a:t>
              </a:r>
              <a:r>
                <a:rPr kumimoji="0" lang="en-US" altLang="zh-CN" sz="2000" b="1" baseline="-25000"/>
                <a:t>R</a:t>
              </a:r>
              <a:endParaRPr kumimoji="0" lang="en-US" altLang="zh-CN" sz="2000" b="1"/>
            </a:p>
          </p:txBody>
        </p:sp>
        <p:sp>
          <p:nvSpPr>
            <p:cNvPr id="310289" name="Line 17"/>
            <p:cNvSpPr>
              <a:spLocks noChangeShapeType="1"/>
            </p:cNvSpPr>
            <p:nvPr/>
          </p:nvSpPr>
          <p:spPr bwMode="auto">
            <a:xfrm>
              <a:off x="1472" y="2317"/>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290" name="Line 18"/>
            <p:cNvSpPr>
              <a:spLocks noChangeShapeType="1"/>
            </p:cNvSpPr>
            <p:nvPr/>
          </p:nvSpPr>
          <p:spPr bwMode="auto">
            <a:xfrm>
              <a:off x="1468" y="2845"/>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291" name="Text Box 19"/>
            <p:cNvSpPr txBox="1">
              <a:spLocks noChangeArrowheads="1"/>
            </p:cNvSpPr>
            <p:nvPr/>
          </p:nvSpPr>
          <p:spPr bwMode="auto">
            <a:xfrm>
              <a:off x="1397" y="2489"/>
              <a:ext cx="21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10292" name="Line 20"/>
            <p:cNvSpPr>
              <a:spLocks noChangeShapeType="1"/>
            </p:cNvSpPr>
            <p:nvPr/>
          </p:nvSpPr>
          <p:spPr bwMode="auto">
            <a:xfrm flipH="1">
              <a:off x="1520" y="2330"/>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293" name="Freeform 21"/>
            <p:cNvSpPr>
              <a:spLocks/>
            </p:cNvSpPr>
            <p:nvPr/>
          </p:nvSpPr>
          <p:spPr bwMode="auto">
            <a:xfrm>
              <a:off x="1476" y="2088"/>
              <a:ext cx="208" cy="218"/>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294" name="Freeform 22"/>
            <p:cNvSpPr>
              <a:spLocks/>
            </p:cNvSpPr>
            <p:nvPr/>
          </p:nvSpPr>
          <p:spPr bwMode="auto">
            <a:xfrm>
              <a:off x="1004" y="2088"/>
              <a:ext cx="223" cy="214"/>
            </a:xfrm>
            <a:custGeom>
              <a:avLst/>
              <a:gdLst>
                <a:gd name="T0" fmla="*/ 257 w 257"/>
                <a:gd name="T1" fmla="*/ 0 h 240"/>
                <a:gd name="T2" fmla="*/ 0 w 257"/>
                <a:gd name="T3" fmla="*/ 240 h 240"/>
              </a:gdLst>
              <a:ahLst/>
              <a:cxnLst>
                <a:cxn ang="0">
                  <a:pos x="T0" y="T1"/>
                </a:cxn>
                <a:cxn ang="0">
                  <a:pos x="T2" y="T3"/>
                </a:cxn>
              </a:cxnLst>
              <a:rect l="0" t="0" r="r" b="b"/>
              <a:pathLst>
                <a:path w="257" h="240">
                  <a:moveTo>
                    <a:pt x="257" y="0"/>
                  </a:moveTo>
                  <a:lnTo>
                    <a:pt x="0" y="240"/>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295" name="Line 23"/>
            <p:cNvSpPr>
              <a:spLocks noChangeShapeType="1"/>
            </p:cNvSpPr>
            <p:nvPr/>
          </p:nvSpPr>
          <p:spPr bwMode="auto">
            <a:xfrm>
              <a:off x="1510" y="2688"/>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296" name="Text Box 24"/>
            <p:cNvSpPr txBox="1">
              <a:spLocks noChangeArrowheads="1"/>
            </p:cNvSpPr>
            <p:nvPr/>
          </p:nvSpPr>
          <p:spPr bwMode="auto">
            <a:xfrm>
              <a:off x="1476" y="1834"/>
              <a:ext cx="21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a:t>0</a:t>
              </a:r>
              <a:endParaRPr kumimoji="0" lang="en-US" altLang="zh-CN" b="1"/>
            </a:p>
          </p:txBody>
        </p:sp>
        <p:sp>
          <p:nvSpPr>
            <p:cNvPr id="310297" name="Text Box 25" descr="白色大理石"/>
            <p:cNvSpPr txBox="1">
              <a:spLocks noChangeArrowheads="1"/>
            </p:cNvSpPr>
            <p:nvPr/>
          </p:nvSpPr>
          <p:spPr bwMode="auto">
            <a:xfrm>
              <a:off x="385" y="1820"/>
              <a:ext cx="218" cy="525"/>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A</a:t>
              </a:r>
              <a:r>
                <a:rPr kumimoji="0" lang="en-US" altLang="zh-CN" b="1" baseline="-25000"/>
                <a:t>L</a:t>
              </a:r>
              <a:endParaRPr kumimoji="0" lang="en-US" altLang="zh-CN" b="1"/>
            </a:p>
          </p:txBody>
        </p:sp>
        <p:sp>
          <p:nvSpPr>
            <p:cNvPr id="310298" name="Line 26"/>
            <p:cNvSpPr>
              <a:spLocks noChangeShapeType="1"/>
            </p:cNvSpPr>
            <p:nvPr/>
          </p:nvSpPr>
          <p:spPr bwMode="auto">
            <a:xfrm>
              <a:off x="249" y="2344"/>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299" name="Text Box 27"/>
            <p:cNvSpPr txBox="1">
              <a:spLocks noChangeArrowheads="1"/>
            </p:cNvSpPr>
            <p:nvPr/>
          </p:nvSpPr>
          <p:spPr bwMode="auto">
            <a:xfrm>
              <a:off x="172" y="1993"/>
              <a:ext cx="219"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p>
          </p:txBody>
        </p:sp>
        <p:sp>
          <p:nvSpPr>
            <p:cNvPr id="310300" name="Line 28"/>
            <p:cNvSpPr>
              <a:spLocks noChangeShapeType="1"/>
            </p:cNvSpPr>
            <p:nvPr/>
          </p:nvSpPr>
          <p:spPr bwMode="auto">
            <a:xfrm flipH="1">
              <a:off x="294" y="1839"/>
              <a:ext cx="0" cy="1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01" name="Line 29"/>
            <p:cNvSpPr>
              <a:spLocks noChangeShapeType="1"/>
            </p:cNvSpPr>
            <p:nvPr/>
          </p:nvSpPr>
          <p:spPr bwMode="auto">
            <a:xfrm>
              <a:off x="288" y="2201"/>
              <a:ext cx="0" cy="1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02" name="Freeform 30"/>
            <p:cNvSpPr>
              <a:spLocks/>
            </p:cNvSpPr>
            <p:nvPr/>
          </p:nvSpPr>
          <p:spPr bwMode="auto">
            <a:xfrm>
              <a:off x="527" y="1621"/>
              <a:ext cx="274" cy="198"/>
            </a:xfrm>
            <a:custGeom>
              <a:avLst/>
              <a:gdLst>
                <a:gd name="T0" fmla="*/ 315 w 315"/>
                <a:gd name="T1" fmla="*/ 0 h 223"/>
                <a:gd name="T2" fmla="*/ 0 w 315"/>
                <a:gd name="T3" fmla="*/ 223 h 223"/>
              </a:gdLst>
              <a:ahLst/>
              <a:cxnLst>
                <a:cxn ang="0">
                  <a:pos x="T0" y="T1"/>
                </a:cxn>
                <a:cxn ang="0">
                  <a:pos x="T2" y="T3"/>
                </a:cxn>
              </a:cxnLst>
              <a:rect l="0" t="0" r="r" b="b"/>
              <a:pathLst>
                <a:path w="315" h="223">
                  <a:moveTo>
                    <a:pt x="315" y="0"/>
                  </a:moveTo>
                  <a:lnTo>
                    <a:pt x="0" y="223"/>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303" name="Oval 31"/>
            <p:cNvSpPr>
              <a:spLocks noChangeArrowheads="1"/>
            </p:cNvSpPr>
            <p:nvPr/>
          </p:nvSpPr>
          <p:spPr bwMode="auto">
            <a:xfrm>
              <a:off x="1206" y="1857"/>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B</a:t>
              </a:r>
            </a:p>
          </p:txBody>
        </p:sp>
      </p:grpSp>
      <p:grpSp>
        <p:nvGrpSpPr>
          <p:cNvPr id="310304" name="Group 32"/>
          <p:cNvGrpSpPr>
            <a:grpSpLocks/>
          </p:cNvGrpSpPr>
          <p:nvPr/>
        </p:nvGrpSpPr>
        <p:grpSpPr bwMode="auto">
          <a:xfrm>
            <a:off x="3089275" y="2032000"/>
            <a:ext cx="2670175" cy="3416300"/>
            <a:chOff x="1986" y="1280"/>
            <a:chExt cx="1682" cy="2152"/>
          </a:xfrm>
        </p:grpSpPr>
        <p:sp>
          <p:nvSpPr>
            <p:cNvPr id="310305" name="Line 33"/>
            <p:cNvSpPr>
              <a:spLocks noChangeShapeType="1"/>
            </p:cNvSpPr>
            <p:nvPr/>
          </p:nvSpPr>
          <p:spPr bwMode="auto">
            <a:xfrm>
              <a:off x="3514" y="2840"/>
              <a:ext cx="1" cy="297"/>
            </a:xfrm>
            <a:prstGeom prst="line">
              <a:avLst/>
            </a:prstGeom>
            <a:noFill/>
            <a:ln w="38100">
              <a:solidFill>
                <a:srgbClr val="FF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10306" name="Oval 34"/>
            <p:cNvSpPr>
              <a:spLocks noChangeArrowheads="1"/>
            </p:cNvSpPr>
            <p:nvPr/>
          </p:nvSpPr>
          <p:spPr bwMode="auto">
            <a:xfrm>
              <a:off x="3373" y="3137"/>
              <a:ext cx="295" cy="295"/>
            </a:xfrm>
            <a:prstGeom prst="ellipse">
              <a:avLst/>
            </a:prstGeom>
            <a:gradFill rotWithShape="0">
              <a:gsLst>
                <a:gs pos="0">
                  <a:srgbClr val="FF7C80"/>
                </a:gs>
                <a:gs pos="100000">
                  <a:srgbClr val="FF7C80">
                    <a:gamma/>
                    <a:shade val="46275"/>
                    <a:invGamma/>
                  </a:srgb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rgbClr val="FFFF66"/>
                  </a:solidFill>
                </a:rPr>
                <a:t>X</a:t>
              </a:r>
            </a:p>
          </p:txBody>
        </p:sp>
        <p:sp>
          <p:nvSpPr>
            <p:cNvPr id="310307" name="Oval 35"/>
            <p:cNvSpPr>
              <a:spLocks noChangeArrowheads="1"/>
            </p:cNvSpPr>
            <p:nvPr/>
          </p:nvSpPr>
          <p:spPr bwMode="auto">
            <a:xfrm>
              <a:off x="2596" y="1388"/>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A</a:t>
              </a:r>
            </a:p>
          </p:txBody>
        </p:sp>
        <p:sp>
          <p:nvSpPr>
            <p:cNvPr id="310308" name="Text Box 36"/>
            <p:cNvSpPr txBox="1">
              <a:spLocks noChangeArrowheads="1"/>
            </p:cNvSpPr>
            <p:nvPr/>
          </p:nvSpPr>
          <p:spPr bwMode="auto">
            <a:xfrm>
              <a:off x="2892" y="1280"/>
              <a:ext cx="17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2000" b="1"/>
                <a:t>-2</a:t>
              </a:r>
            </a:p>
          </p:txBody>
        </p:sp>
        <p:sp>
          <p:nvSpPr>
            <p:cNvPr id="310309" name="Text Box 37" descr="白色大理石"/>
            <p:cNvSpPr txBox="1">
              <a:spLocks noChangeArrowheads="1"/>
            </p:cNvSpPr>
            <p:nvPr/>
          </p:nvSpPr>
          <p:spPr bwMode="auto">
            <a:xfrm>
              <a:off x="2698" y="2299"/>
              <a:ext cx="218" cy="525"/>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B</a:t>
              </a:r>
              <a:r>
                <a:rPr kumimoji="0" lang="en-US" altLang="zh-CN" sz="2000" b="1" baseline="-25000"/>
                <a:t>L</a:t>
              </a:r>
              <a:endParaRPr kumimoji="0" lang="en-US" altLang="zh-CN" sz="2000" b="1"/>
            </a:p>
          </p:txBody>
        </p:sp>
        <p:sp>
          <p:nvSpPr>
            <p:cNvPr id="310310" name="Line 38"/>
            <p:cNvSpPr>
              <a:spLocks noChangeShapeType="1"/>
            </p:cNvSpPr>
            <p:nvPr/>
          </p:nvSpPr>
          <p:spPr bwMode="auto">
            <a:xfrm>
              <a:off x="2568" y="2299"/>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11" name="Line 39"/>
            <p:cNvSpPr>
              <a:spLocks noChangeShapeType="1"/>
            </p:cNvSpPr>
            <p:nvPr/>
          </p:nvSpPr>
          <p:spPr bwMode="auto">
            <a:xfrm>
              <a:off x="2564" y="2816"/>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12" name="Text Box 40"/>
            <p:cNvSpPr txBox="1">
              <a:spLocks noChangeArrowheads="1"/>
            </p:cNvSpPr>
            <p:nvPr/>
          </p:nvSpPr>
          <p:spPr bwMode="auto">
            <a:xfrm>
              <a:off x="2483" y="2472"/>
              <a:ext cx="21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10313" name="Line 41"/>
            <p:cNvSpPr>
              <a:spLocks noChangeShapeType="1"/>
            </p:cNvSpPr>
            <p:nvPr/>
          </p:nvSpPr>
          <p:spPr bwMode="auto">
            <a:xfrm flipH="1">
              <a:off x="2607" y="2309"/>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14" name="Line 42"/>
            <p:cNvSpPr>
              <a:spLocks noChangeShapeType="1"/>
            </p:cNvSpPr>
            <p:nvPr/>
          </p:nvSpPr>
          <p:spPr bwMode="auto">
            <a:xfrm>
              <a:off x="2600" y="2676"/>
              <a:ext cx="0" cy="1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15" name="Freeform 43"/>
            <p:cNvSpPr>
              <a:spLocks/>
            </p:cNvSpPr>
            <p:nvPr/>
          </p:nvSpPr>
          <p:spPr bwMode="auto">
            <a:xfrm>
              <a:off x="2851" y="1615"/>
              <a:ext cx="248" cy="256"/>
            </a:xfrm>
            <a:custGeom>
              <a:avLst/>
              <a:gdLst>
                <a:gd name="T0" fmla="*/ 0 w 235"/>
                <a:gd name="T1" fmla="*/ 0 h 232"/>
                <a:gd name="T2" fmla="*/ 235 w 235"/>
                <a:gd name="T3" fmla="*/ 232 h 232"/>
              </a:gdLst>
              <a:ahLst/>
              <a:cxnLst>
                <a:cxn ang="0">
                  <a:pos x="T0" y="T1"/>
                </a:cxn>
                <a:cxn ang="0">
                  <a:pos x="T2" y="T3"/>
                </a:cxn>
              </a:cxnLst>
              <a:rect l="0" t="0" r="r" b="b"/>
              <a:pathLst>
                <a:path w="235" h="232">
                  <a:moveTo>
                    <a:pt x="0" y="0"/>
                  </a:moveTo>
                  <a:lnTo>
                    <a:pt x="235" y="232"/>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316" name="Line 44"/>
            <p:cNvSpPr>
              <a:spLocks noChangeShapeType="1"/>
            </p:cNvSpPr>
            <p:nvPr/>
          </p:nvSpPr>
          <p:spPr bwMode="auto">
            <a:xfrm>
              <a:off x="2068" y="1822"/>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17" name="Text Box 45" descr="白色大理石"/>
            <p:cNvSpPr txBox="1">
              <a:spLocks noChangeArrowheads="1"/>
            </p:cNvSpPr>
            <p:nvPr/>
          </p:nvSpPr>
          <p:spPr bwMode="auto">
            <a:xfrm>
              <a:off x="3416" y="2307"/>
              <a:ext cx="217" cy="526"/>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B</a:t>
              </a:r>
              <a:r>
                <a:rPr kumimoji="0" lang="en-US" altLang="zh-CN" sz="2000" b="1" baseline="-25000"/>
                <a:t>R</a:t>
              </a:r>
              <a:endParaRPr kumimoji="0" lang="en-US" altLang="zh-CN" sz="2000" b="1"/>
            </a:p>
          </p:txBody>
        </p:sp>
        <p:sp>
          <p:nvSpPr>
            <p:cNvPr id="310318" name="Line 46"/>
            <p:cNvSpPr>
              <a:spLocks noChangeShapeType="1"/>
            </p:cNvSpPr>
            <p:nvPr/>
          </p:nvSpPr>
          <p:spPr bwMode="auto">
            <a:xfrm>
              <a:off x="3286" y="2310"/>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19" name="Line 47"/>
            <p:cNvSpPr>
              <a:spLocks noChangeShapeType="1"/>
            </p:cNvSpPr>
            <p:nvPr/>
          </p:nvSpPr>
          <p:spPr bwMode="auto">
            <a:xfrm>
              <a:off x="3282" y="2838"/>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20" name="Text Box 48"/>
            <p:cNvSpPr txBox="1">
              <a:spLocks noChangeArrowheads="1"/>
            </p:cNvSpPr>
            <p:nvPr/>
          </p:nvSpPr>
          <p:spPr bwMode="auto">
            <a:xfrm>
              <a:off x="3220" y="2472"/>
              <a:ext cx="21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10321" name="Line 49"/>
            <p:cNvSpPr>
              <a:spLocks noChangeShapeType="1"/>
            </p:cNvSpPr>
            <p:nvPr/>
          </p:nvSpPr>
          <p:spPr bwMode="auto">
            <a:xfrm flipH="1">
              <a:off x="3324" y="2313"/>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22" name="Freeform 50"/>
            <p:cNvSpPr>
              <a:spLocks/>
            </p:cNvSpPr>
            <p:nvPr/>
          </p:nvSpPr>
          <p:spPr bwMode="auto">
            <a:xfrm>
              <a:off x="3290" y="2081"/>
              <a:ext cx="208" cy="218"/>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323" name="Freeform 51"/>
            <p:cNvSpPr>
              <a:spLocks/>
            </p:cNvSpPr>
            <p:nvPr/>
          </p:nvSpPr>
          <p:spPr bwMode="auto">
            <a:xfrm>
              <a:off x="2818" y="2081"/>
              <a:ext cx="223" cy="214"/>
            </a:xfrm>
            <a:custGeom>
              <a:avLst/>
              <a:gdLst>
                <a:gd name="T0" fmla="*/ 257 w 257"/>
                <a:gd name="T1" fmla="*/ 0 h 240"/>
                <a:gd name="T2" fmla="*/ 0 w 257"/>
                <a:gd name="T3" fmla="*/ 240 h 240"/>
              </a:gdLst>
              <a:ahLst/>
              <a:cxnLst>
                <a:cxn ang="0">
                  <a:pos x="T0" y="T1"/>
                </a:cxn>
                <a:cxn ang="0">
                  <a:pos x="T2" y="T3"/>
                </a:cxn>
              </a:cxnLst>
              <a:rect l="0" t="0" r="r" b="b"/>
              <a:pathLst>
                <a:path w="257" h="240">
                  <a:moveTo>
                    <a:pt x="257" y="0"/>
                  </a:moveTo>
                  <a:lnTo>
                    <a:pt x="0" y="240"/>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324" name="Line 52"/>
            <p:cNvSpPr>
              <a:spLocks noChangeShapeType="1"/>
            </p:cNvSpPr>
            <p:nvPr/>
          </p:nvSpPr>
          <p:spPr bwMode="auto">
            <a:xfrm>
              <a:off x="3324" y="2681"/>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25" name="Text Box 53"/>
            <p:cNvSpPr txBox="1">
              <a:spLocks noChangeArrowheads="1"/>
            </p:cNvSpPr>
            <p:nvPr/>
          </p:nvSpPr>
          <p:spPr bwMode="auto">
            <a:xfrm>
              <a:off x="3290" y="1827"/>
              <a:ext cx="21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a:t>0</a:t>
              </a:r>
              <a:endParaRPr kumimoji="0" lang="en-US" altLang="zh-CN" b="1"/>
            </a:p>
          </p:txBody>
        </p:sp>
        <p:sp>
          <p:nvSpPr>
            <p:cNvPr id="310326" name="Text Box 54" descr="白色大理石"/>
            <p:cNvSpPr txBox="1">
              <a:spLocks noChangeArrowheads="1"/>
            </p:cNvSpPr>
            <p:nvPr/>
          </p:nvSpPr>
          <p:spPr bwMode="auto">
            <a:xfrm>
              <a:off x="2199" y="1813"/>
              <a:ext cx="218" cy="525"/>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A</a:t>
              </a:r>
              <a:r>
                <a:rPr kumimoji="0" lang="en-US" altLang="zh-CN" b="1" baseline="-25000"/>
                <a:t>L</a:t>
              </a:r>
              <a:endParaRPr kumimoji="0" lang="en-US" altLang="zh-CN" b="1"/>
            </a:p>
          </p:txBody>
        </p:sp>
        <p:sp>
          <p:nvSpPr>
            <p:cNvPr id="310327" name="Line 55"/>
            <p:cNvSpPr>
              <a:spLocks noChangeShapeType="1"/>
            </p:cNvSpPr>
            <p:nvPr/>
          </p:nvSpPr>
          <p:spPr bwMode="auto">
            <a:xfrm>
              <a:off x="2063" y="2337"/>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28" name="Text Box 56"/>
            <p:cNvSpPr txBox="1">
              <a:spLocks noChangeArrowheads="1"/>
            </p:cNvSpPr>
            <p:nvPr/>
          </p:nvSpPr>
          <p:spPr bwMode="auto">
            <a:xfrm>
              <a:off x="1986" y="1996"/>
              <a:ext cx="219"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p>
          </p:txBody>
        </p:sp>
        <p:sp>
          <p:nvSpPr>
            <p:cNvPr id="310329" name="Line 57"/>
            <p:cNvSpPr>
              <a:spLocks noChangeShapeType="1"/>
            </p:cNvSpPr>
            <p:nvPr/>
          </p:nvSpPr>
          <p:spPr bwMode="auto">
            <a:xfrm flipH="1">
              <a:off x="2108" y="1832"/>
              <a:ext cx="0" cy="1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30" name="Line 58"/>
            <p:cNvSpPr>
              <a:spLocks noChangeShapeType="1"/>
            </p:cNvSpPr>
            <p:nvPr/>
          </p:nvSpPr>
          <p:spPr bwMode="auto">
            <a:xfrm>
              <a:off x="2092" y="2194"/>
              <a:ext cx="0" cy="1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31" name="Freeform 59"/>
            <p:cNvSpPr>
              <a:spLocks/>
            </p:cNvSpPr>
            <p:nvPr/>
          </p:nvSpPr>
          <p:spPr bwMode="auto">
            <a:xfrm>
              <a:off x="2341" y="1614"/>
              <a:ext cx="274" cy="198"/>
            </a:xfrm>
            <a:custGeom>
              <a:avLst/>
              <a:gdLst>
                <a:gd name="T0" fmla="*/ 315 w 315"/>
                <a:gd name="T1" fmla="*/ 0 h 223"/>
                <a:gd name="T2" fmla="*/ 0 w 315"/>
                <a:gd name="T3" fmla="*/ 223 h 223"/>
              </a:gdLst>
              <a:ahLst/>
              <a:cxnLst>
                <a:cxn ang="0">
                  <a:pos x="T0" y="T1"/>
                </a:cxn>
                <a:cxn ang="0">
                  <a:pos x="T2" y="T3"/>
                </a:cxn>
              </a:cxnLst>
              <a:rect l="0" t="0" r="r" b="b"/>
              <a:pathLst>
                <a:path w="315" h="223">
                  <a:moveTo>
                    <a:pt x="315" y="0"/>
                  </a:moveTo>
                  <a:lnTo>
                    <a:pt x="0" y="223"/>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332" name="Oval 60"/>
            <p:cNvSpPr>
              <a:spLocks noChangeArrowheads="1"/>
            </p:cNvSpPr>
            <p:nvPr/>
          </p:nvSpPr>
          <p:spPr bwMode="auto">
            <a:xfrm>
              <a:off x="3020" y="1850"/>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B</a:t>
              </a:r>
            </a:p>
          </p:txBody>
        </p:sp>
      </p:grpSp>
      <p:grpSp>
        <p:nvGrpSpPr>
          <p:cNvPr id="310333" name="Group 61"/>
          <p:cNvGrpSpPr>
            <a:grpSpLocks/>
          </p:cNvGrpSpPr>
          <p:nvPr/>
        </p:nvGrpSpPr>
        <p:grpSpPr bwMode="auto">
          <a:xfrm>
            <a:off x="5951538" y="2128838"/>
            <a:ext cx="3105150" cy="2784475"/>
            <a:chOff x="3929" y="1281"/>
            <a:chExt cx="1956" cy="1754"/>
          </a:xfrm>
        </p:grpSpPr>
        <p:sp>
          <p:nvSpPr>
            <p:cNvPr id="310334" name="Oval 62"/>
            <p:cNvSpPr>
              <a:spLocks noChangeArrowheads="1"/>
            </p:cNvSpPr>
            <p:nvPr/>
          </p:nvSpPr>
          <p:spPr bwMode="auto">
            <a:xfrm>
              <a:off x="4920" y="1423"/>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B</a:t>
              </a:r>
            </a:p>
          </p:txBody>
        </p:sp>
        <p:sp>
          <p:nvSpPr>
            <p:cNvPr id="310335" name="Text Box 63" descr="白色大理石"/>
            <p:cNvSpPr txBox="1">
              <a:spLocks noChangeArrowheads="1"/>
            </p:cNvSpPr>
            <p:nvPr/>
          </p:nvSpPr>
          <p:spPr bwMode="auto">
            <a:xfrm>
              <a:off x="4128" y="2251"/>
              <a:ext cx="218" cy="525"/>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A</a:t>
              </a:r>
              <a:r>
                <a:rPr kumimoji="0" lang="en-US" altLang="zh-CN" sz="2000" b="1" baseline="-25000"/>
                <a:t>L</a:t>
              </a:r>
              <a:endParaRPr kumimoji="0" lang="en-US" altLang="zh-CN" sz="2000" b="1"/>
            </a:p>
          </p:txBody>
        </p:sp>
        <p:sp>
          <p:nvSpPr>
            <p:cNvPr id="310336" name="Line 64"/>
            <p:cNvSpPr>
              <a:spLocks noChangeShapeType="1"/>
            </p:cNvSpPr>
            <p:nvPr/>
          </p:nvSpPr>
          <p:spPr bwMode="auto">
            <a:xfrm>
              <a:off x="3998" y="2251"/>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37" name="Line 65"/>
            <p:cNvSpPr>
              <a:spLocks noChangeShapeType="1"/>
            </p:cNvSpPr>
            <p:nvPr/>
          </p:nvSpPr>
          <p:spPr bwMode="auto">
            <a:xfrm>
              <a:off x="3994" y="2768"/>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38" name="Text Box 66"/>
            <p:cNvSpPr txBox="1">
              <a:spLocks noChangeArrowheads="1"/>
            </p:cNvSpPr>
            <p:nvPr/>
          </p:nvSpPr>
          <p:spPr bwMode="auto">
            <a:xfrm>
              <a:off x="3929" y="2415"/>
              <a:ext cx="21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10339" name="Line 67"/>
            <p:cNvSpPr>
              <a:spLocks noChangeShapeType="1"/>
            </p:cNvSpPr>
            <p:nvPr/>
          </p:nvSpPr>
          <p:spPr bwMode="auto">
            <a:xfrm flipH="1">
              <a:off x="4037" y="2261"/>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40" name="Line 68"/>
            <p:cNvSpPr>
              <a:spLocks noChangeShapeType="1"/>
            </p:cNvSpPr>
            <p:nvPr/>
          </p:nvSpPr>
          <p:spPr bwMode="auto">
            <a:xfrm>
              <a:off x="4030" y="2628"/>
              <a:ext cx="0" cy="1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41" name="Freeform 69"/>
            <p:cNvSpPr>
              <a:spLocks/>
            </p:cNvSpPr>
            <p:nvPr/>
          </p:nvSpPr>
          <p:spPr bwMode="auto">
            <a:xfrm>
              <a:off x="5175" y="1650"/>
              <a:ext cx="248" cy="256"/>
            </a:xfrm>
            <a:custGeom>
              <a:avLst/>
              <a:gdLst>
                <a:gd name="T0" fmla="*/ 0 w 235"/>
                <a:gd name="T1" fmla="*/ 0 h 232"/>
                <a:gd name="T2" fmla="*/ 235 w 235"/>
                <a:gd name="T3" fmla="*/ 232 h 232"/>
              </a:gdLst>
              <a:ahLst/>
              <a:cxnLst>
                <a:cxn ang="0">
                  <a:pos x="T0" y="T1"/>
                </a:cxn>
                <a:cxn ang="0">
                  <a:pos x="T2" y="T3"/>
                </a:cxn>
              </a:cxnLst>
              <a:rect l="0" t="0" r="r" b="b"/>
              <a:pathLst>
                <a:path w="235" h="232">
                  <a:moveTo>
                    <a:pt x="0" y="0"/>
                  </a:moveTo>
                  <a:lnTo>
                    <a:pt x="235" y="232"/>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342" name="Line 70"/>
            <p:cNvSpPr>
              <a:spLocks noChangeShapeType="1"/>
            </p:cNvSpPr>
            <p:nvPr/>
          </p:nvSpPr>
          <p:spPr bwMode="auto">
            <a:xfrm>
              <a:off x="5572" y="1903"/>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43" name="Text Box 71" descr="白色大理石"/>
            <p:cNvSpPr txBox="1">
              <a:spLocks noChangeArrowheads="1"/>
            </p:cNvSpPr>
            <p:nvPr/>
          </p:nvSpPr>
          <p:spPr bwMode="auto">
            <a:xfrm>
              <a:off x="4846" y="2259"/>
              <a:ext cx="217" cy="526"/>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B</a:t>
              </a:r>
              <a:r>
                <a:rPr kumimoji="0" lang="en-US" altLang="zh-CN" sz="2000" b="1" baseline="-25000"/>
                <a:t>L</a:t>
              </a:r>
              <a:endParaRPr kumimoji="0" lang="en-US" altLang="zh-CN" sz="2000" b="1"/>
            </a:p>
          </p:txBody>
        </p:sp>
        <p:sp>
          <p:nvSpPr>
            <p:cNvPr id="310344" name="Line 72"/>
            <p:cNvSpPr>
              <a:spLocks noChangeShapeType="1"/>
            </p:cNvSpPr>
            <p:nvPr/>
          </p:nvSpPr>
          <p:spPr bwMode="auto">
            <a:xfrm>
              <a:off x="4716" y="2262"/>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45" name="Line 73"/>
            <p:cNvSpPr>
              <a:spLocks noChangeShapeType="1"/>
            </p:cNvSpPr>
            <p:nvPr/>
          </p:nvSpPr>
          <p:spPr bwMode="auto">
            <a:xfrm>
              <a:off x="4712" y="2790"/>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46" name="Text Box 74"/>
            <p:cNvSpPr txBox="1">
              <a:spLocks noChangeArrowheads="1"/>
            </p:cNvSpPr>
            <p:nvPr/>
          </p:nvSpPr>
          <p:spPr bwMode="auto">
            <a:xfrm>
              <a:off x="4638" y="2415"/>
              <a:ext cx="21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10347" name="Line 75"/>
            <p:cNvSpPr>
              <a:spLocks noChangeShapeType="1"/>
            </p:cNvSpPr>
            <p:nvPr/>
          </p:nvSpPr>
          <p:spPr bwMode="auto">
            <a:xfrm flipH="1">
              <a:off x="4764" y="2265"/>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48" name="Freeform 76"/>
            <p:cNvSpPr>
              <a:spLocks/>
            </p:cNvSpPr>
            <p:nvPr/>
          </p:nvSpPr>
          <p:spPr bwMode="auto">
            <a:xfrm>
              <a:off x="4720" y="2033"/>
              <a:ext cx="208" cy="218"/>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349" name="Freeform 77"/>
            <p:cNvSpPr>
              <a:spLocks/>
            </p:cNvSpPr>
            <p:nvPr/>
          </p:nvSpPr>
          <p:spPr bwMode="auto">
            <a:xfrm>
              <a:off x="4248" y="2033"/>
              <a:ext cx="223" cy="214"/>
            </a:xfrm>
            <a:custGeom>
              <a:avLst/>
              <a:gdLst>
                <a:gd name="T0" fmla="*/ 257 w 257"/>
                <a:gd name="T1" fmla="*/ 0 h 240"/>
                <a:gd name="T2" fmla="*/ 0 w 257"/>
                <a:gd name="T3" fmla="*/ 240 h 240"/>
              </a:gdLst>
              <a:ahLst/>
              <a:cxnLst>
                <a:cxn ang="0">
                  <a:pos x="T0" y="T1"/>
                </a:cxn>
                <a:cxn ang="0">
                  <a:pos x="T2" y="T3"/>
                </a:cxn>
              </a:cxnLst>
              <a:rect l="0" t="0" r="r" b="b"/>
              <a:pathLst>
                <a:path w="257" h="240">
                  <a:moveTo>
                    <a:pt x="257" y="0"/>
                  </a:moveTo>
                  <a:lnTo>
                    <a:pt x="0" y="240"/>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350" name="Line 78"/>
            <p:cNvSpPr>
              <a:spLocks noChangeShapeType="1"/>
            </p:cNvSpPr>
            <p:nvPr/>
          </p:nvSpPr>
          <p:spPr bwMode="auto">
            <a:xfrm>
              <a:off x="4754" y="2633"/>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51" name="Text Box 79"/>
            <p:cNvSpPr txBox="1">
              <a:spLocks noChangeArrowheads="1"/>
            </p:cNvSpPr>
            <p:nvPr/>
          </p:nvSpPr>
          <p:spPr bwMode="auto">
            <a:xfrm>
              <a:off x="4720" y="1779"/>
              <a:ext cx="21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a:t>0</a:t>
              </a:r>
              <a:endParaRPr kumimoji="0" lang="en-US" altLang="zh-CN" b="1"/>
            </a:p>
          </p:txBody>
        </p:sp>
        <p:sp>
          <p:nvSpPr>
            <p:cNvPr id="310352" name="Text Box 80" descr="白色大理石"/>
            <p:cNvSpPr txBox="1">
              <a:spLocks noChangeArrowheads="1"/>
            </p:cNvSpPr>
            <p:nvPr/>
          </p:nvSpPr>
          <p:spPr bwMode="auto">
            <a:xfrm>
              <a:off x="5333" y="1904"/>
              <a:ext cx="218" cy="525"/>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r>
                <a:rPr kumimoji="0" lang="en-US" altLang="zh-CN" sz="2000" b="1"/>
                <a:t>B</a:t>
              </a:r>
              <a:r>
                <a:rPr kumimoji="0" lang="en-US" altLang="zh-CN" b="1" baseline="-25000"/>
                <a:t>R</a:t>
              </a:r>
              <a:endParaRPr kumimoji="0" lang="en-US" altLang="zh-CN" b="1"/>
            </a:p>
          </p:txBody>
        </p:sp>
        <p:sp>
          <p:nvSpPr>
            <p:cNvPr id="310353" name="Line 81"/>
            <p:cNvSpPr>
              <a:spLocks noChangeShapeType="1"/>
            </p:cNvSpPr>
            <p:nvPr/>
          </p:nvSpPr>
          <p:spPr bwMode="auto">
            <a:xfrm>
              <a:off x="5606" y="2897"/>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54" name="Text Box 82"/>
            <p:cNvSpPr txBox="1">
              <a:spLocks noChangeArrowheads="1"/>
            </p:cNvSpPr>
            <p:nvPr/>
          </p:nvSpPr>
          <p:spPr bwMode="auto">
            <a:xfrm>
              <a:off x="5541" y="2273"/>
              <a:ext cx="344"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2000" b="1" i="1"/>
                <a:t>h</a:t>
              </a:r>
              <a:r>
                <a:rPr kumimoji="0" lang="en-US" altLang="zh-CN" sz="2000" b="1"/>
                <a:t>+1</a:t>
              </a:r>
            </a:p>
          </p:txBody>
        </p:sp>
        <p:sp>
          <p:nvSpPr>
            <p:cNvPr id="310355" name="Line 83"/>
            <p:cNvSpPr>
              <a:spLocks noChangeShapeType="1"/>
            </p:cNvSpPr>
            <p:nvPr/>
          </p:nvSpPr>
          <p:spPr bwMode="auto">
            <a:xfrm>
              <a:off x="5658" y="1902"/>
              <a:ext cx="0" cy="28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56" name="Line 84"/>
            <p:cNvSpPr>
              <a:spLocks noChangeShapeType="1"/>
            </p:cNvSpPr>
            <p:nvPr/>
          </p:nvSpPr>
          <p:spPr bwMode="auto">
            <a:xfrm flipH="1">
              <a:off x="5674" y="2529"/>
              <a:ext cx="6" cy="3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357" name="Freeform 85"/>
            <p:cNvSpPr>
              <a:spLocks/>
            </p:cNvSpPr>
            <p:nvPr/>
          </p:nvSpPr>
          <p:spPr bwMode="auto">
            <a:xfrm>
              <a:off x="4667" y="1658"/>
              <a:ext cx="274" cy="198"/>
            </a:xfrm>
            <a:custGeom>
              <a:avLst/>
              <a:gdLst>
                <a:gd name="T0" fmla="*/ 315 w 315"/>
                <a:gd name="T1" fmla="*/ 0 h 223"/>
                <a:gd name="T2" fmla="*/ 0 w 315"/>
                <a:gd name="T3" fmla="*/ 223 h 223"/>
              </a:gdLst>
              <a:ahLst/>
              <a:cxnLst>
                <a:cxn ang="0">
                  <a:pos x="T0" y="T1"/>
                </a:cxn>
                <a:cxn ang="0">
                  <a:pos x="T2" y="T3"/>
                </a:cxn>
              </a:cxnLst>
              <a:rect l="0" t="0" r="r" b="b"/>
              <a:pathLst>
                <a:path w="315" h="223">
                  <a:moveTo>
                    <a:pt x="315" y="0"/>
                  </a:moveTo>
                  <a:lnTo>
                    <a:pt x="0" y="223"/>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358" name="Oval 86"/>
            <p:cNvSpPr>
              <a:spLocks noChangeArrowheads="1"/>
            </p:cNvSpPr>
            <p:nvPr/>
          </p:nvSpPr>
          <p:spPr bwMode="auto">
            <a:xfrm>
              <a:off x="4450" y="1802"/>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A</a:t>
              </a:r>
            </a:p>
          </p:txBody>
        </p:sp>
        <p:sp>
          <p:nvSpPr>
            <p:cNvPr id="310359" name="Line 87"/>
            <p:cNvSpPr>
              <a:spLocks noChangeShapeType="1"/>
            </p:cNvSpPr>
            <p:nvPr/>
          </p:nvSpPr>
          <p:spPr bwMode="auto">
            <a:xfrm>
              <a:off x="5451" y="2443"/>
              <a:ext cx="1" cy="297"/>
            </a:xfrm>
            <a:prstGeom prst="line">
              <a:avLst/>
            </a:prstGeom>
            <a:noFill/>
            <a:ln w="38100">
              <a:solidFill>
                <a:srgbClr val="FF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10360" name="Oval 88"/>
            <p:cNvSpPr>
              <a:spLocks noChangeArrowheads="1"/>
            </p:cNvSpPr>
            <p:nvPr/>
          </p:nvSpPr>
          <p:spPr bwMode="auto">
            <a:xfrm>
              <a:off x="5310" y="2740"/>
              <a:ext cx="295" cy="295"/>
            </a:xfrm>
            <a:prstGeom prst="ellipse">
              <a:avLst/>
            </a:prstGeom>
            <a:gradFill rotWithShape="0">
              <a:gsLst>
                <a:gs pos="0">
                  <a:srgbClr val="FF7C80"/>
                </a:gs>
                <a:gs pos="100000">
                  <a:srgbClr val="FF7C80">
                    <a:gamma/>
                    <a:shade val="46275"/>
                    <a:invGamma/>
                  </a:srgb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rgbClr val="FFFF66"/>
                  </a:solidFill>
                </a:rPr>
                <a:t>X</a:t>
              </a:r>
            </a:p>
          </p:txBody>
        </p:sp>
        <p:sp>
          <p:nvSpPr>
            <p:cNvPr id="310361" name="Text Box 89"/>
            <p:cNvSpPr txBox="1">
              <a:spLocks noChangeArrowheads="1"/>
            </p:cNvSpPr>
            <p:nvPr/>
          </p:nvSpPr>
          <p:spPr bwMode="auto">
            <a:xfrm>
              <a:off x="5176" y="1281"/>
              <a:ext cx="21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a:t>0</a:t>
              </a:r>
              <a:endParaRPr kumimoji="0" lang="en-US" altLang="zh-CN" b="1"/>
            </a:p>
          </p:txBody>
        </p:sp>
      </p:grpSp>
    </p:spTree>
    <p:extLst>
      <p:ext uri="{BB962C8B-B14F-4D97-AF65-F5344CB8AC3E}">
        <p14:creationId xmlns:p14="http://schemas.microsoft.com/office/powerpoint/2010/main" val="1238466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Text Box 2"/>
          <p:cNvSpPr txBox="1">
            <a:spLocks noChangeArrowheads="1"/>
          </p:cNvSpPr>
          <p:nvPr/>
        </p:nvSpPr>
        <p:spPr bwMode="auto">
          <a:xfrm>
            <a:off x="409575" y="5859463"/>
            <a:ext cx="8734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eaLnBrk="0" hangingPunct="0">
              <a:lnSpc>
                <a:spcPct val="80000"/>
              </a:lnSpc>
            </a:pPr>
            <a:r>
              <a:rPr kumimoji="0" lang="zh-CN" altLang="en-US" b="1"/>
              <a:t>插入后，调整前           先顺时针旋转                再逆时针旋转</a:t>
            </a:r>
          </a:p>
        </p:txBody>
      </p:sp>
      <p:sp>
        <p:nvSpPr>
          <p:cNvPr id="311300" name="Text Box 4"/>
          <p:cNvSpPr txBox="1">
            <a:spLocks noChangeArrowheads="1"/>
          </p:cNvSpPr>
          <p:nvPr/>
        </p:nvSpPr>
        <p:spPr bwMode="auto">
          <a:xfrm>
            <a:off x="152400" y="1079500"/>
            <a:ext cx="6400800" cy="579438"/>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spcBef>
                <a:spcPct val="50000"/>
              </a:spcBef>
            </a:pPr>
            <a:r>
              <a:rPr kumimoji="0" lang="zh-CN" altLang="en-US" sz="3200" b="1">
                <a:solidFill>
                  <a:srgbClr val="0033CC"/>
                </a:solidFill>
              </a:rPr>
              <a:t>平衡二叉树</a:t>
            </a:r>
            <a:r>
              <a:rPr kumimoji="0" lang="en-US" altLang="zh-CN" sz="3200" b="1">
                <a:solidFill>
                  <a:srgbClr val="0033CC"/>
                </a:solidFill>
              </a:rPr>
              <a:t>——LR</a:t>
            </a:r>
            <a:r>
              <a:rPr kumimoji="0" lang="zh-CN" altLang="en-US" sz="3200" b="1">
                <a:solidFill>
                  <a:srgbClr val="0033CC"/>
                </a:solidFill>
              </a:rPr>
              <a:t>型</a:t>
            </a:r>
          </a:p>
        </p:txBody>
      </p:sp>
      <p:grpSp>
        <p:nvGrpSpPr>
          <p:cNvPr id="311301" name="Group 5"/>
          <p:cNvGrpSpPr>
            <a:grpSpLocks/>
          </p:cNvGrpSpPr>
          <p:nvPr/>
        </p:nvGrpSpPr>
        <p:grpSpPr bwMode="auto">
          <a:xfrm>
            <a:off x="-26988" y="1854200"/>
            <a:ext cx="2760663" cy="3722688"/>
            <a:chOff x="-17" y="1168"/>
            <a:chExt cx="1739" cy="2345"/>
          </a:xfrm>
        </p:grpSpPr>
        <p:sp>
          <p:nvSpPr>
            <p:cNvPr id="311302" name="Oval 6"/>
            <p:cNvSpPr>
              <a:spLocks noChangeArrowheads="1"/>
            </p:cNvSpPr>
            <p:nvPr/>
          </p:nvSpPr>
          <p:spPr bwMode="auto">
            <a:xfrm>
              <a:off x="910" y="1276"/>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A</a:t>
              </a:r>
            </a:p>
          </p:txBody>
        </p:sp>
        <p:sp>
          <p:nvSpPr>
            <p:cNvPr id="311303" name="Text Box 7"/>
            <p:cNvSpPr txBox="1">
              <a:spLocks noChangeArrowheads="1"/>
            </p:cNvSpPr>
            <p:nvPr/>
          </p:nvSpPr>
          <p:spPr bwMode="auto">
            <a:xfrm>
              <a:off x="1206" y="1168"/>
              <a:ext cx="17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2000" b="1"/>
                <a:t>2</a:t>
              </a:r>
            </a:p>
          </p:txBody>
        </p:sp>
        <p:sp>
          <p:nvSpPr>
            <p:cNvPr id="311304" name="Text Box 8" descr="白色大理石"/>
            <p:cNvSpPr txBox="1">
              <a:spLocks noChangeArrowheads="1"/>
            </p:cNvSpPr>
            <p:nvPr/>
          </p:nvSpPr>
          <p:spPr bwMode="auto">
            <a:xfrm>
              <a:off x="578" y="2690"/>
              <a:ext cx="218" cy="397"/>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C</a:t>
              </a:r>
              <a:r>
                <a:rPr kumimoji="0" lang="en-US" altLang="zh-CN" sz="2000" b="1" baseline="-25000"/>
                <a:t>L</a:t>
              </a:r>
              <a:endParaRPr kumimoji="0" lang="en-US" altLang="zh-CN" sz="2000" b="1"/>
            </a:p>
          </p:txBody>
        </p:sp>
        <p:sp>
          <p:nvSpPr>
            <p:cNvPr id="311305" name="Line 9"/>
            <p:cNvSpPr>
              <a:spLocks noChangeShapeType="1"/>
            </p:cNvSpPr>
            <p:nvPr/>
          </p:nvSpPr>
          <p:spPr bwMode="auto">
            <a:xfrm>
              <a:off x="448" y="2690"/>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06" name="Line 10"/>
            <p:cNvSpPr>
              <a:spLocks noChangeShapeType="1"/>
            </p:cNvSpPr>
            <p:nvPr/>
          </p:nvSpPr>
          <p:spPr bwMode="auto">
            <a:xfrm>
              <a:off x="443" y="3087"/>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07" name="Text Box 11"/>
            <p:cNvSpPr txBox="1">
              <a:spLocks noChangeArrowheads="1"/>
            </p:cNvSpPr>
            <p:nvPr/>
          </p:nvSpPr>
          <p:spPr bwMode="auto">
            <a:xfrm>
              <a:off x="338" y="2790"/>
              <a:ext cx="255"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kumimoji="0" lang="en-US" altLang="zh-CN" sz="2000" b="1" i="1"/>
                <a:t>h</a:t>
              </a:r>
              <a:r>
                <a:rPr kumimoji="0" lang="en-US" altLang="zh-CN" sz="2000" b="1"/>
                <a:t>-1</a:t>
              </a:r>
            </a:p>
          </p:txBody>
        </p:sp>
        <p:sp>
          <p:nvSpPr>
            <p:cNvPr id="311308" name="Line 12"/>
            <p:cNvSpPr>
              <a:spLocks noChangeShapeType="1"/>
            </p:cNvSpPr>
            <p:nvPr/>
          </p:nvSpPr>
          <p:spPr bwMode="auto">
            <a:xfrm flipH="1">
              <a:off x="487" y="2700"/>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09" name="Freeform 13"/>
            <p:cNvSpPr>
              <a:spLocks/>
            </p:cNvSpPr>
            <p:nvPr/>
          </p:nvSpPr>
          <p:spPr bwMode="auto">
            <a:xfrm>
              <a:off x="1165" y="1503"/>
              <a:ext cx="248" cy="256"/>
            </a:xfrm>
            <a:custGeom>
              <a:avLst/>
              <a:gdLst>
                <a:gd name="T0" fmla="*/ 0 w 235"/>
                <a:gd name="T1" fmla="*/ 0 h 232"/>
                <a:gd name="T2" fmla="*/ 235 w 235"/>
                <a:gd name="T3" fmla="*/ 232 h 232"/>
              </a:gdLst>
              <a:ahLst/>
              <a:cxnLst>
                <a:cxn ang="0">
                  <a:pos x="T0" y="T1"/>
                </a:cxn>
                <a:cxn ang="0">
                  <a:pos x="T2" y="T3"/>
                </a:cxn>
              </a:cxnLst>
              <a:rect l="0" t="0" r="r" b="b"/>
              <a:pathLst>
                <a:path w="235" h="232">
                  <a:moveTo>
                    <a:pt x="0" y="0"/>
                  </a:moveTo>
                  <a:lnTo>
                    <a:pt x="235" y="232"/>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10" name="Line 14"/>
            <p:cNvSpPr>
              <a:spLocks noChangeShapeType="1"/>
            </p:cNvSpPr>
            <p:nvPr/>
          </p:nvSpPr>
          <p:spPr bwMode="auto">
            <a:xfrm>
              <a:off x="1548" y="1771"/>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11" name="Text Box 15" descr="白色大理石"/>
            <p:cNvSpPr txBox="1">
              <a:spLocks noChangeArrowheads="1"/>
            </p:cNvSpPr>
            <p:nvPr/>
          </p:nvSpPr>
          <p:spPr bwMode="auto">
            <a:xfrm>
              <a:off x="191" y="2227"/>
              <a:ext cx="217" cy="526"/>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B</a:t>
              </a:r>
              <a:r>
                <a:rPr kumimoji="0" lang="en-US" altLang="zh-CN" sz="2000" b="1" baseline="-25000"/>
                <a:t>L</a:t>
              </a:r>
              <a:endParaRPr kumimoji="0" lang="en-US" altLang="zh-CN" sz="2000" b="1"/>
            </a:p>
          </p:txBody>
        </p:sp>
        <p:sp>
          <p:nvSpPr>
            <p:cNvPr id="311312" name="Line 16"/>
            <p:cNvSpPr>
              <a:spLocks noChangeShapeType="1"/>
            </p:cNvSpPr>
            <p:nvPr/>
          </p:nvSpPr>
          <p:spPr bwMode="auto">
            <a:xfrm>
              <a:off x="61" y="2230"/>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13" name="Line 17"/>
            <p:cNvSpPr>
              <a:spLocks noChangeShapeType="1"/>
            </p:cNvSpPr>
            <p:nvPr/>
          </p:nvSpPr>
          <p:spPr bwMode="auto">
            <a:xfrm>
              <a:off x="57" y="2758"/>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14" name="Text Box 18"/>
            <p:cNvSpPr txBox="1">
              <a:spLocks noChangeArrowheads="1"/>
            </p:cNvSpPr>
            <p:nvPr/>
          </p:nvSpPr>
          <p:spPr bwMode="auto">
            <a:xfrm>
              <a:off x="-17" y="2395"/>
              <a:ext cx="21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11315" name="Line 19"/>
            <p:cNvSpPr>
              <a:spLocks noChangeShapeType="1"/>
            </p:cNvSpPr>
            <p:nvPr/>
          </p:nvSpPr>
          <p:spPr bwMode="auto">
            <a:xfrm flipH="1">
              <a:off x="99" y="2233"/>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16" name="Freeform 20"/>
            <p:cNvSpPr>
              <a:spLocks/>
            </p:cNvSpPr>
            <p:nvPr/>
          </p:nvSpPr>
          <p:spPr bwMode="auto">
            <a:xfrm>
              <a:off x="710" y="2018"/>
              <a:ext cx="142" cy="199"/>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17" name="Freeform 21"/>
            <p:cNvSpPr>
              <a:spLocks/>
            </p:cNvSpPr>
            <p:nvPr/>
          </p:nvSpPr>
          <p:spPr bwMode="auto">
            <a:xfrm>
              <a:off x="342" y="1990"/>
              <a:ext cx="170" cy="227"/>
            </a:xfrm>
            <a:custGeom>
              <a:avLst/>
              <a:gdLst>
                <a:gd name="T0" fmla="*/ 257 w 257"/>
                <a:gd name="T1" fmla="*/ 0 h 240"/>
                <a:gd name="T2" fmla="*/ 0 w 257"/>
                <a:gd name="T3" fmla="*/ 240 h 240"/>
              </a:gdLst>
              <a:ahLst/>
              <a:cxnLst>
                <a:cxn ang="0">
                  <a:pos x="T0" y="T1"/>
                </a:cxn>
                <a:cxn ang="0">
                  <a:pos x="T2" y="T3"/>
                </a:cxn>
              </a:cxnLst>
              <a:rect l="0" t="0" r="r" b="b"/>
              <a:pathLst>
                <a:path w="257" h="240">
                  <a:moveTo>
                    <a:pt x="257" y="0"/>
                  </a:moveTo>
                  <a:lnTo>
                    <a:pt x="0" y="240"/>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18" name="Line 22"/>
            <p:cNvSpPr>
              <a:spLocks noChangeShapeType="1"/>
            </p:cNvSpPr>
            <p:nvPr/>
          </p:nvSpPr>
          <p:spPr bwMode="auto">
            <a:xfrm>
              <a:off x="99" y="2601"/>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19" name="Text Box 23"/>
            <p:cNvSpPr txBox="1">
              <a:spLocks noChangeArrowheads="1"/>
            </p:cNvSpPr>
            <p:nvPr/>
          </p:nvSpPr>
          <p:spPr bwMode="auto">
            <a:xfrm>
              <a:off x="753" y="1740"/>
              <a:ext cx="21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a:t>-1</a:t>
              </a:r>
              <a:endParaRPr kumimoji="0" lang="en-US" altLang="zh-CN" b="1"/>
            </a:p>
          </p:txBody>
        </p:sp>
        <p:sp>
          <p:nvSpPr>
            <p:cNvPr id="311320" name="Text Box 24" descr="白色大理石"/>
            <p:cNvSpPr txBox="1">
              <a:spLocks noChangeArrowheads="1"/>
            </p:cNvSpPr>
            <p:nvPr/>
          </p:nvSpPr>
          <p:spPr bwMode="auto">
            <a:xfrm>
              <a:off x="1306" y="1763"/>
              <a:ext cx="218" cy="525"/>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A</a:t>
              </a:r>
              <a:r>
                <a:rPr kumimoji="0" lang="en-US" altLang="zh-CN" b="1" baseline="-25000"/>
                <a:t>R</a:t>
              </a:r>
              <a:endParaRPr kumimoji="0" lang="en-US" altLang="zh-CN" b="1"/>
            </a:p>
          </p:txBody>
        </p:sp>
        <p:sp>
          <p:nvSpPr>
            <p:cNvPr id="311321" name="Line 25"/>
            <p:cNvSpPr>
              <a:spLocks noChangeShapeType="1"/>
            </p:cNvSpPr>
            <p:nvPr/>
          </p:nvSpPr>
          <p:spPr bwMode="auto">
            <a:xfrm>
              <a:off x="1536" y="2287"/>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22" name="Text Box 26"/>
            <p:cNvSpPr txBox="1">
              <a:spLocks noChangeArrowheads="1"/>
            </p:cNvSpPr>
            <p:nvPr/>
          </p:nvSpPr>
          <p:spPr bwMode="auto">
            <a:xfrm>
              <a:off x="1503" y="1936"/>
              <a:ext cx="219"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p>
          </p:txBody>
        </p:sp>
        <p:sp>
          <p:nvSpPr>
            <p:cNvPr id="311323" name="Line 27"/>
            <p:cNvSpPr>
              <a:spLocks noChangeShapeType="1"/>
            </p:cNvSpPr>
            <p:nvPr/>
          </p:nvSpPr>
          <p:spPr bwMode="auto">
            <a:xfrm flipH="1">
              <a:off x="1625" y="1773"/>
              <a:ext cx="0" cy="1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24" name="Line 28"/>
            <p:cNvSpPr>
              <a:spLocks noChangeShapeType="1"/>
            </p:cNvSpPr>
            <p:nvPr/>
          </p:nvSpPr>
          <p:spPr bwMode="auto">
            <a:xfrm>
              <a:off x="1627" y="2169"/>
              <a:ext cx="0" cy="1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25" name="Freeform 29"/>
            <p:cNvSpPr>
              <a:spLocks/>
            </p:cNvSpPr>
            <p:nvPr/>
          </p:nvSpPr>
          <p:spPr bwMode="auto">
            <a:xfrm>
              <a:off x="640" y="1502"/>
              <a:ext cx="289" cy="261"/>
            </a:xfrm>
            <a:custGeom>
              <a:avLst/>
              <a:gdLst>
                <a:gd name="T0" fmla="*/ 315 w 315"/>
                <a:gd name="T1" fmla="*/ 0 h 223"/>
                <a:gd name="T2" fmla="*/ 0 w 315"/>
                <a:gd name="T3" fmla="*/ 223 h 223"/>
              </a:gdLst>
              <a:ahLst/>
              <a:cxnLst>
                <a:cxn ang="0">
                  <a:pos x="T0" y="T1"/>
                </a:cxn>
                <a:cxn ang="0">
                  <a:pos x="T2" y="T3"/>
                </a:cxn>
              </a:cxnLst>
              <a:rect l="0" t="0" r="r" b="b"/>
              <a:pathLst>
                <a:path w="315" h="223">
                  <a:moveTo>
                    <a:pt x="315" y="0"/>
                  </a:moveTo>
                  <a:lnTo>
                    <a:pt x="0" y="223"/>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26" name="Oval 30"/>
            <p:cNvSpPr>
              <a:spLocks noChangeArrowheads="1"/>
            </p:cNvSpPr>
            <p:nvPr/>
          </p:nvSpPr>
          <p:spPr bwMode="auto">
            <a:xfrm>
              <a:off x="483" y="1763"/>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B</a:t>
              </a:r>
            </a:p>
          </p:txBody>
        </p:sp>
        <p:sp>
          <p:nvSpPr>
            <p:cNvPr id="311327" name="Oval 31"/>
            <p:cNvSpPr>
              <a:spLocks noChangeArrowheads="1"/>
            </p:cNvSpPr>
            <p:nvPr/>
          </p:nvSpPr>
          <p:spPr bwMode="auto">
            <a:xfrm>
              <a:off x="770" y="2206"/>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C</a:t>
              </a:r>
            </a:p>
          </p:txBody>
        </p:sp>
        <p:sp>
          <p:nvSpPr>
            <p:cNvPr id="311328" name="Line 32"/>
            <p:cNvSpPr>
              <a:spLocks noChangeShapeType="1"/>
            </p:cNvSpPr>
            <p:nvPr/>
          </p:nvSpPr>
          <p:spPr bwMode="auto">
            <a:xfrm flipH="1">
              <a:off x="483" y="2972"/>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29" name="Text Box 33" descr="白色大理石"/>
            <p:cNvSpPr txBox="1">
              <a:spLocks noChangeArrowheads="1"/>
            </p:cNvSpPr>
            <p:nvPr/>
          </p:nvSpPr>
          <p:spPr bwMode="auto">
            <a:xfrm>
              <a:off x="1010" y="2688"/>
              <a:ext cx="218" cy="397"/>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C</a:t>
              </a:r>
              <a:r>
                <a:rPr kumimoji="0" lang="en-US" altLang="zh-CN" sz="2000" b="1" baseline="-25000"/>
                <a:t>R</a:t>
              </a:r>
              <a:endParaRPr kumimoji="0" lang="en-US" altLang="zh-CN" sz="2000" b="1"/>
            </a:p>
          </p:txBody>
        </p:sp>
        <p:sp>
          <p:nvSpPr>
            <p:cNvPr id="311330" name="Line 34"/>
            <p:cNvSpPr>
              <a:spLocks noChangeShapeType="1"/>
            </p:cNvSpPr>
            <p:nvPr/>
          </p:nvSpPr>
          <p:spPr bwMode="auto">
            <a:xfrm>
              <a:off x="1250" y="2688"/>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31" name="Line 35"/>
            <p:cNvSpPr>
              <a:spLocks noChangeShapeType="1"/>
            </p:cNvSpPr>
            <p:nvPr/>
          </p:nvSpPr>
          <p:spPr bwMode="auto">
            <a:xfrm>
              <a:off x="1254" y="3085"/>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32" name="Text Box 36"/>
            <p:cNvSpPr txBox="1">
              <a:spLocks noChangeArrowheads="1"/>
            </p:cNvSpPr>
            <p:nvPr/>
          </p:nvSpPr>
          <p:spPr bwMode="auto">
            <a:xfrm>
              <a:off x="1249" y="2784"/>
              <a:ext cx="255"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kumimoji="0" lang="en-US" altLang="zh-CN" sz="2000" b="1" i="1"/>
                <a:t>h</a:t>
              </a:r>
              <a:r>
                <a:rPr kumimoji="0" lang="en-US" altLang="zh-CN" sz="2000" b="1"/>
                <a:t>-1</a:t>
              </a:r>
            </a:p>
          </p:txBody>
        </p:sp>
        <p:sp>
          <p:nvSpPr>
            <p:cNvPr id="311333" name="Line 37"/>
            <p:cNvSpPr>
              <a:spLocks noChangeShapeType="1"/>
            </p:cNvSpPr>
            <p:nvPr/>
          </p:nvSpPr>
          <p:spPr bwMode="auto">
            <a:xfrm flipH="1">
              <a:off x="1339" y="2698"/>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34" name="Line 38"/>
            <p:cNvSpPr>
              <a:spLocks noChangeShapeType="1"/>
            </p:cNvSpPr>
            <p:nvPr/>
          </p:nvSpPr>
          <p:spPr bwMode="auto">
            <a:xfrm flipH="1">
              <a:off x="1334" y="2970"/>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35" name="Freeform 39"/>
            <p:cNvSpPr>
              <a:spLocks/>
            </p:cNvSpPr>
            <p:nvPr/>
          </p:nvSpPr>
          <p:spPr bwMode="auto">
            <a:xfrm>
              <a:off x="699" y="2453"/>
              <a:ext cx="136" cy="246"/>
            </a:xfrm>
            <a:custGeom>
              <a:avLst/>
              <a:gdLst>
                <a:gd name="T0" fmla="*/ 257 w 257"/>
                <a:gd name="T1" fmla="*/ 0 h 240"/>
                <a:gd name="T2" fmla="*/ 0 w 257"/>
                <a:gd name="T3" fmla="*/ 240 h 240"/>
              </a:gdLst>
              <a:ahLst/>
              <a:cxnLst>
                <a:cxn ang="0">
                  <a:pos x="T0" y="T1"/>
                </a:cxn>
                <a:cxn ang="0">
                  <a:pos x="T2" y="T3"/>
                </a:cxn>
              </a:cxnLst>
              <a:rect l="0" t="0" r="r" b="b"/>
              <a:pathLst>
                <a:path w="257" h="240">
                  <a:moveTo>
                    <a:pt x="257" y="0"/>
                  </a:moveTo>
                  <a:lnTo>
                    <a:pt x="0" y="240"/>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36" name="Freeform 40"/>
            <p:cNvSpPr>
              <a:spLocks/>
            </p:cNvSpPr>
            <p:nvPr/>
          </p:nvSpPr>
          <p:spPr bwMode="auto">
            <a:xfrm>
              <a:off x="997" y="2469"/>
              <a:ext cx="113" cy="219"/>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37" name="Line 41"/>
            <p:cNvSpPr>
              <a:spLocks noChangeShapeType="1"/>
            </p:cNvSpPr>
            <p:nvPr/>
          </p:nvSpPr>
          <p:spPr bwMode="auto">
            <a:xfrm>
              <a:off x="679" y="3083"/>
              <a:ext cx="0" cy="136"/>
            </a:xfrm>
            <a:prstGeom prst="line">
              <a:avLst/>
            </a:prstGeom>
            <a:noFill/>
            <a:ln w="38100">
              <a:solidFill>
                <a:srgbClr val="FF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11338" name="Oval 42"/>
            <p:cNvSpPr>
              <a:spLocks noChangeArrowheads="1"/>
            </p:cNvSpPr>
            <p:nvPr/>
          </p:nvSpPr>
          <p:spPr bwMode="auto">
            <a:xfrm>
              <a:off x="530" y="3218"/>
              <a:ext cx="295" cy="295"/>
            </a:xfrm>
            <a:prstGeom prst="ellipse">
              <a:avLst/>
            </a:prstGeom>
            <a:gradFill rotWithShape="0">
              <a:gsLst>
                <a:gs pos="0">
                  <a:srgbClr val="FF7C80"/>
                </a:gs>
                <a:gs pos="100000">
                  <a:srgbClr val="FF7C80">
                    <a:gamma/>
                    <a:shade val="46275"/>
                    <a:invGamma/>
                  </a:srgb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rgbClr val="FFFF66"/>
                  </a:solidFill>
                </a:rPr>
                <a:t>X</a:t>
              </a:r>
            </a:p>
          </p:txBody>
        </p:sp>
      </p:grpSp>
      <p:grpSp>
        <p:nvGrpSpPr>
          <p:cNvPr id="311339" name="Group 43"/>
          <p:cNvGrpSpPr>
            <a:grpSpLocks/>
          </p:cNvGrpSpPr>
          <p:nvPr/>
        </p:nvGrpSpPr>
        <p:grpSpPr bwMode="auto">
          <a:xfrm>
            <a:off x="2693988" y="2019300"/>
            <a:ext cx="3114675" cy="3640138"/>
            <a:chOff x="1697" y="1281"/>
            <a:chExt cx="1962" cy="2293"/>
          </a:xfrm>
        </p:grpSpPr>
        <p:sp>
          <p:nvSpPr>
            <p:cNvPr id="311340" name="Line 44"/>
            <p:cNvSpPr>
              <a:spLocks noChangeShapeType="1"/>
            </p:cNvSpPr>
            <p:nvPr/>
          </p:nvSpPr>
          <p:spPr bwMode="auto">
            <a:xfrm>
              <a:off x="2436" y="3137"/>
              <a:ext cx="0" cy="136"/>
            </a:xfrm>
            <a:prstGeom prst="line">
              <a:avLst/>
            </a:prstGeom>
            <a:noFill/>
            <a:ln w="38100">
              <a:solidFill>
                <a:srgbClr val="FF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11341" name="Oval 45"/>
            <p:cNvSpPr>
              <a:spLocks noChangeArrowheads="1"/>
            </p:cNvSpPr>
            <p:nvPr/>
          </p:nvSpPr>
          <p:spPr bwMode="auto">
            <a:xfrm>
              <a:off x="2293" y="3279"/>
              <a:ext cx="295" cy="295"/>
            </a:xfrm>
            <a:prstGeom prst="ellipse">
              <a:avLst/>
            </a:prstGeom>
            <a:gradFill rotWithShape="0">
              <a:gsLst>
                <a:gs pos="0">
                  <a:srgbClr val="FF7C80"/>
                </a:gs>
                <a:gs pos="100000">
                  <a:srgbClr val="FF7C80">
                    <a:gamma/>
                    <a:shade val="46275"/>
                    <a:invGamma/>
                  </a:srgb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rgbClr val="FFFF66"/>
                  </a:solidFill>
                </a:rPr>
                <a:t>X</a:t>
              </a:r>
            </a:p>
          </p:txBody>
        </p:sp>
        <p:sp>
          <p:nvSpPr>
            <p:cNvPr id="311342" name="Oval 46"/>
            <p:cNvSpPr>
              <a:spLocks noChangeArrowheads="1"/>
            </p:cNvSpPr>
            <p:nvPr/>
          </p:nvSpPr>
          <p:spPr bwMode="auto">
            <a:xfrm>
              <a:off x="2820" y="1281"/>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A</a:t>
              </a:r>
            </a:p>
          </p:txBody>
        </p:sp>
        <p:sp>
          <p:nvSpPr>
            <p:cNvPr id="311343" name="Text Box 47" descr="白色大理石"/>
            <p:cNvSpPr txBox="1">
              <a:spLocks noChangeArrowheads="1"/>
            </p:cNvSpPr>
            <p:nvPr/>
          </p:nvSpPr>
          <p:spPr bwMode="auto">
            <a:xfrm>
              <a:off x="2323" y="2730"/>
              <a:ext cx="218" cy="397"/>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C</a:t>
              </a:r>
              <a:r>
                <a:rPr kumimoji="0" lang="en-US" altLang="zh-CN" sz="2000" b="1" baseline="-25000"/>
                <a:t>L</a:t>
              </a:r>
              <a:endParaRPr kumimoji="0" lang="en-US" altLang="zh-CN" sz="2000" b="1"/>
            </a:p>
          </p:txBody>
        </p:sp>
        <p:sp>
          <p:nvSpPr>
            <p:cNvPr id="311344" name="Line 48"/>
            <p:cNvSpPr>
              <a:spLocks noChangeShapeType="1"/>
            </p:cNvSpPr>
            <p:nvPr/>
          </p:nvSpPr>
          <p:spPr bwMode="auto">
            <a:xfrm>
              <a:off x="2563" y="2730"/>
              <a:ext cx="13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45" name="Line 49"/>
            <p:cNvSpPr>
              <a:spLocks noChangeShapeType="1"/>
            </p:cNvSpPr>
            <p:nvPr/>
          </p:nvSpPr>
          <p:spPr bwMode="auto">
            <a:xfrm>
              <a:off x="2579" y="3127"/>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46" name="Text Box 50"/>
            <p:cNvSpPr txBox="1">
              <a:spLocks noChangeArrowheads="1"/>
            </p:cNvSpPr>
            <p:nvPr/>
          </p:nvSpPr>
          <p:spPr bwMode="auto">
            <a:xfrm>
              <a:off x="2583" y="2830"/>
              <a:ext cx="255"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kumimoji="0" lang="en-US" altLang="zh-CN" sz="2000" b="1" i="1"/>
                <a:t>h</a:t>
              </a:r>
              <a:r>
                <a:rPr kumimoji="0" lang="en-US" altLang="zh-CN" sz="2000" b="1"/>
                <a:t>-1</a:t>
              </a:r>
            </a:p>
          </p:txBody>
        </p:sp>
        <p:sp>
          <p:nvSpPr>
            <p:cNvPr id="311347" name="Line 51"/>
            <p:cNvSpPr>
              <a:spLocks noChangeShapeType="1"/>
            </p:cNvSpPr>
            <p:nvPr/>
          </p:nvSpPr>
          <p:spPr bwMode="auto">
            <a:xfrm flipH="1">
              <a:off x="2662" y="2740"/>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48" name="Freeform 52"/>
            <p:cNvSpPr>
              <a:spLocks/>
            </p:cNvSpPr>
            <p:nvPr/>
          </p:nvSpPr>
          <p:spPr bwMode="auto">
            <a:xfrm>
              <a:off x="3075" y="1508"/>
              <a:ext cx="248" cy="256"/>
            </a:xfrm>
            <a:custGeom>
              <a:avLst/>
              <a:gdLst>
                <a:gd name="T0" fmla="*/ 0 w 235"/>
                <a:gd name="T1" fmla="*/ 0 h 232"/>
                <a:gd name="T2" fmla="*/ 235 w 235"/>
                <a:gd name="T3" fmla="*/ 232 h 232"/>
              </a:gdLst>
              <a:ahLst/>
              <a:cxnLst>
                <a:cxn ang="0">
                  <a:pos x="T0" y="T1"/>
                </a:cxn>
                <a:cxn ang="0">
                  <a:pos x="T2" y="T3"/>
                </a:cxn>
              </a:cxnLst>
              <a:rect l="0" t="0" r="r" b="b"/>
              <a:pathLst>
                <a:path w="235" h="232">
                  <a:moveTo>
                    <a:pt x="0" y="0"/>
                  </a:moveTo>
                  <a:lnTo>
                    <a:pt x="235" y="232"/>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49" name="Freeform 53"/>
            <p:cNvSpPr>
              <a:spLocks/>
            </p:cNvSpPr>
            <p:nvPr/>
          </p:nvSpPr>
          <p:spPr bwMode="auto">
            <a:xfrm>
              <a:off x="2301" y="2531"/>
              <a:ext cx="121" cy="196"/>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50" name="Freeform 54"/>
            <p:cNvSpPr>
              <a:spLocks/>
            </p:cNvSpPr>
            <p:nvPr/>
          </p:nvSpPr>
          <p:spPr bwMode="auto">
            <a:xfrm>
              <a:off x="1997" y="2522"/>
              <a:ext cx="129" cy="205"/>
            </a:xfrm>
            <a:custGeom>
              <a:avLst/>
              <a:gdLst>
                <a:gd name="T0" fmla="*/ 257 w 257"/>
                <a:gd name="T1" fmla="*/ 0 h 240"/>
                <a:gd name="T2" fmla="*/ 0 w 257"/>
                <a:gd name="T3" fmla="*/ 240 h 240"/>
              </a:gdLst>
              <a:ahLst/>
              <a:cxnLst>
                <a:cxn ang="0">
                  <a:pos x="T0" y="T1"/>
                </a:cxn>
                <a:cxn ang="0">
                  <a:pos x="T2" y="T3"/>
                </a:cxn>
              </a:cxnLst>
              <a:rect l="0" t="0" r="r" b="b"/>
              <a:pathLst>
                <a:path w="257" h="240">
                  <a:moveTo>
                    <a:pt x="257" y="0"/>
                  </a:moveTo>
                  <a:lnTo>
                    <a:pt x="0" y="240"/>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51" name="Oval 55"/>
            <p:cNvSpPr>
              <a:spLocks noChangeArrowheads="1"/>
            </p:cNvSpPr>
            <p:nvPr/>
          </p:nvSpPr>
          <p:spPr bwMode="auto">
            <a:xfrm>
              <a:off x="2434" y="1743"/>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C</a:t>
              </a:r>
            </a:p>
          </p:txBody>
        </p:sp>
        <p:sp>
          <p:nvSpPr>
            <p:cNvPr id="311352" name="Oval 56"/>
            <p:cNvSpPr>
              <a:spLocks noChangeArrowheads="1"/>
            </p:cNvSpPr>
            <p:nvPr/>
          </p:nvSpPr>
          <p:spPr bwMode="auto">
            <a:xfrm>
              <a:off x="2080" y="2273"/>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B</a:t>
              </a:r>
            </a:p>
          </p:txBody>
        </p:sp>
        <p:sp>
          <p:nvSpPr>
            <p:cNvPr id="311353" name="Line 57"/>
            <p:cNvSpPr>
              <a:spLocks noChangeShapeType="1"/>
            </p:cNvSpPr>
            <p:nvPr/>
          </p:nvSpPr>
          <p:spPr bwMode="auto">
            <a:xfrm flipH="1">
              <a:off x="2658" y="3012"/>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54" name="Text Box 58" descr="白色大理石"/>
            <p:cNvSpPr txBox="1">
              <a:spLocks noChangeArrowheads="1"/>
            </p:cNvSpPr>
            <p:nvPr/>
          </p:nvSpPr>
          <p:spPr bwMode="auto">
            <a:xfrm>
              <a:off x="2817" y="2245"/>
              <a:ext cx="218" cy="397"/>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C</a:t>
              </a:r>
              <a:r>
                <a:rPr kumimoji="0" lang="en-US" altLang="zh-CN" sz="2000" b="1" baseline="-25000"/>
                <a:t>R</a:t>
              </a:r>
              <a:endParaRPr kumimoji="0" lang="en-US" altLang="zh-CN" sz="2000" b="1"/>
            </a:p>
          </p:txBody>
        </p:sp>
        <p:sp>
          <p:nvSpPr>
            <p:cNvPr id="311355" name="Line 59"/>
            <p:cNvSpPr>
              <a:spLocks noChangeShapeType="1"/>
            </p:cNvSpPr>
            <p:nvPr/>
          </p:nvSpPr>
          <p:spPr bwMode="auto">
            <a:xfrm>
              <a:off x="3047" y="2245"/>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56" name="Line 60"/>
            <p:cNvSpPr>
              <a:spLocks noChangeShapeType="1"/>
            </p:cNvSpPr>
            <p:nvPr/>
          </p:nvSpPr>
          <p:spPr bwMode="auto">
            <a:xfrm>
              <a:off x="3033" y="2642"/>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57" name="Text Box 61"/>
            <p:cNvSpPr txBox="1">
              <a:spLocks noChangeArrowheads="1"/>
            </p:cNvSpPr>
            <p:nvPr/>
          </p:nvSpPr>
          <p:spPr bwMode="auto">
            <a:xfrm>
              <a:off x="3047" y="2345"/>
              <a:ext cx="255"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kumimoji="0" lang="en-US" altLang="zh-CN" sz="2000" b="1" i="1"/>
                <a:t>h</a:t>
              </a:r>
              <a:r>
                <a:rPr kumimoji="0" lang="en-US" altLang="zh-CN" sz="2000" b="1"/>
                <a:t>-1</a:t>
              </a:r>
            </a:p>
          </p:txBody>
        </p:sp>
        <p:sp>
          <p:nvSpPr>
            <p:cNvPr id="311358" name="Line 62"/>
            <p:cNvSpPr>
              <a:spLocks noChangeShapeType="1"/>
            </p:cNvSpPr>
            <p:nvPr/>
          </p:nvSpPr>
          <p:spPr bwMode="auto">
            <a:xfrm flipH="1">
              <a:off x="3126" y="2256"/>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59" name="Line 63"/>
            <p:cNvSpPr>
              <a:spLocks noChangeShapeType="1"/>
            </p:cNvSpPr>
            <p:nvPr/>
          </p:nvSpPr>
          <p:spPr bwMode="auto">
            <a:xfrm flipH="1">
              <a:off x="3122" y="2527"/>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60" name="Freeform 64"/>
            <p:cNvSpPr>
              <a:spLocks/>
            </p:cNvSpPr>
            <p:nvPr/>
          </p:nvSpPr>
          <p:spPr bwMode="auto">
            <a:xfrm>
              <a:off x="2252" y="1979"/>
              <a:ext cx="212" cy="323"/>
            </a:xfrm>
            <a:custGeom>
              <a:avLst/>
              <a:gdLst>
                <a:gd name="T0" fmla="*/ 257 w 257"/>
                <a:gd name="T1" fmla="*/ 0 h 240"/>
                <a:gd name="T2" fmla="*/ 0 w 257"/>
                <a:gd name="T3" fmla="*/ 240 h 240"/>
              </a:gdLst>
              <a:ahLst/>
              <a:cxnLst>
                <a:cxn ang="0">
                  <a:pos x="T0" y="T1"/>
                </a:cxn>
                <a:cxn ang="0">
                  <a:pos x="T2" y="T3"/>
                </a:cxn>
              </a:cxnLst>
              <a:rect l="0" t="0" r="r" b="b"/>
              <a:pathLst>
                <a:path w="257" h="240">
                  <a:moveTo>
                    <a:pt x="257" y="0"/>
                  </a:moveTo>
                  <a:lnTo>
                    <a:pt x="0" y="240"/>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61" name="Freeform 65"/>
            <p:cNvSpPr>
              <a:spLocks/>
            </p:cNvSpPr>
            <p:nvPr/>
          </p:nvSpPr>
          <p:spPr bwMode="auto">
            <a:xfrm>
              <a:off x="2691" y="1989"/>
              <a:ext cx="226" cy="255"/>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62" name="Freeform 66"/>
            <p:cNvSpPr>
              <a:spLocks/>
            </p:cNvSpPr>
            <p:nvPr/>
          </p:nvSpPr>
          <p:spPr bwMode="auto">
            <a:xfrm>
              <a:off x="2621" y="1499"/>
              <a:ext cx="227" cy="255"/>
            </a:xfrm>
            <a:custGeom>
              <a:avLst/>
              <a:gdLst>
                <a:gd name="T0" fmla="*/ 315 w 315"/>
                <a:gd name="T1" fmla="*/ 0 h 223"/>
                <a:gd name="T2" fmla="*/ 0 w 315"/>
                <a:gd name="T3" fmla="*/ 223 h 223"/>
              </a:gdLst>
              <a:ahLst/>
              <a:cxnLst>
                <a:cxn ang="0">
                  <a:pos x="T0" y="T1"/>
                </a:cxn>
                <a:cxn ang="0">
                  <a:pos x="T2" y="T3"/>
                </a:cxn>
              </a:cxnLst>
              <a:rect l="0" t="0" r="r" b="b"/>
              <a:pathLst>
                <a:path w="315" h="223">
                  <a:moveTo>
                    <a:pt x="315" y="0"/>
                  </a:moveTo>
                  <a:lnTo>
                    <a:pt x="0" y="223"/>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63" name="Line 67"/>
            <p:cNvSpPr>
              <a:spLocks noChangeShapeType="1"/>
            </p:cNvSpPr>
            <p:nvPr/>
          </p:nvSpPr>
          <p:spPr bwMode="auto">
            <a:xfrm>
              <a:off x="3482" y="1771"/>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64" name="Text Box 68" descr="白色大理石"/>
            <p:cNvSpPr txBox="1">
              <a:spLocks noChangeArrowheads="1"/>
            </p:cNvSpPr>
            <p:nvPr/>
          </p:nvSpPr>
          <p:spPr bwMode="auto">
            <a:xfrm>
              <a:off x="3243" y="1763"/>
              <a:ext cx="218" cy="525"/>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A</a:t>
              </a:r>
              <a:r>
                <a:rPr kumimoji="0" lang="en-US" altLang="zh-CN" b="1" baseline="-25000"/>
                <a:t>R</a:t>
              </a:r>
              <a:endParaRPr kumimoji="0" lang="en-US" altLang="zh-CN" b="1"/>
            </a:p>
          </p:txBody>
        </p:sp>
        <p:sp>
          <p:nvSpPr>
            <p:cNvPr id="311365" name="Line 69"/>
            <p:cNvSpPr>
              <a:spLocks noChangeShapeType="1"/>
            </p:cNvSpPr>
            <p:nvPr/>
          </p:nvSpPr>
          <p:spPr bwMode="auto">
            <a:xfrm>
              <a:off x="3482" y="2287"/>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66" name="Text Box 70"/>
            <p:cNvSpPr txBox="1">
              <a:spLocks noChangeArrowheads="1"/>
            </p:cNvSpPr>
            <p:nvPr/>
          </p:nvSpPr>
          <p:spPr bwMode="auto">
            <a:xfrm>
              <a:off x="3440" y="1936"/>
              <a:ext cx="219"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p>
          </p:txBody>
        </p:sp>
        <p:sp>
          <p:nvSpPr>
            <p:cNvPr id="311367" name="Line 71"/>
            <p:cNvSpPr>
              <a:spLocks noChangeShapeType="1"/>
            </p:cNvSpPr>
            <p:nvPr/>
          </p:nvSpPr>
          <p:spPr bwMode="auto">
            <a:xfrm flipH="1">
              <a:off x="3562" y="1782"/>
              <a:ext cx="0" cy="1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68" name="Line 72"/>
            <p:cNvSpPr>
              <a:spLocks noChangeShapeType="1"/>
            </p:cNvSpPr>
            <p:nvPr/>
          </p:nvSpPr>
          <p:spPr bwMode="auto">
            <a:xfrm>
              <a:off x="3564" y="2144"/>
              <a:ext cx="0" cy="1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69" name="Text Box 73" descr="白色大理石"/>
            <p:cNvSpPr txBox="1">
              <a:spLocks noChangeArrowheads="1"/>
            </p:cNvSpPr>
            <p:nvPr/>
          </p:nvSpPr>
          <p:spPr bwMode="auto">
            <a:xfrm>
              <a:off x="1905" y="2721"/>
              <a:ext cx="217" cy="526"/>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B</a:t>
              </a:r>
              <a:r>
                <a:rPr kumimoji="0" lang="en-US" altLang="zh-CN" sz="2000" b="1" baseline="-25000"/>
                <a:t>L</a:t>
              </a:r>
              <a:endParaRPr kumimoji="0" lang="en-US" altLang="zh-CN" sz="2000" b="1"/>
            </a:p>
          </p:txBody>
        </p:sp>
        <p:sp>
          <p:nvSpPr>
            <p:cNvPr id="311370" name="Line 74"/>
            <p:cNvSpPr>
              <a:spLocks noChangeShapeType="1"/>
            </p:cNvSpPr>
            <p:nvPr/>
          </p:nvSpPr>
          <p:spPr bwMode="auto">
            <a:xfrm>
              <a:off x="1775" y="2715"/>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71" name="Line 75"/>
            <p:cNvSpPr>
              <a:spLocks noChangeShapeType="1"/>
            </p:cNvSpPr>
            <p:nvPr/>
          </p:nvSpPr>
          <p:spPr bwMode="auto">
            <a:xfrm>
              <a:off x="1771" y="3252"/>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72" name="Text Box 76"/>
            <p:cNvSpPr txBox="1">
              <a:spLocks noChangeArrowheads="1"/>
            </p:cNvSpPr>
            <p:nvPr/>
          </p:nvSpPr>
          <p:spPr bwMode="auto">
            <a:xfrm>
              <a:off x="1697" y="2889"/>
              <a:ext cx="21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11373" name="Line 77"/>
            <p:cNvSpPr>
              <a:spLocks noChangeShapeType="1"/>
            </p:cNvSpPr>
            <p:nvPr/>
          </p:nvSpPr>
          <p:spPr bwMode="auto">
            <a:xfrm flipH="1">
              <a:off x="1813" y="2727"/>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74" name="Line 78"/>
            <p:cNvSpPr>
              <a:spLocks noChangeShapeType="1"/>
            </p:cNvSpPr>
            <p:nvPr/>
          </p:nvSpPr>
          <p:spPr bwMode="auto">
            <a:xfrm>
              <a:off x="1813" y="3104"/>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1375" name="Group 79"/>
          <p:cNvGrpSpPr>
            <a:grpSpLocks/>
          </p:cNvGrpSpPr>
          <p:nvPr/>
        </p:nvGrpSpPr>
        <p:grpSpPr bwMode="auto">
          <a:xfrm>
            <a:off x="5942013" y="1779588"/>
            <a:ext cx="3216275" cy="3076575"/>
            <a:chOff x="3743" y="1139"/>
            <a:chExt cx="2026" cy="1938"/>
          </a:xfrm>
        </p:grpSpPr>
        <p:sp>
          <p:nvSpPr>
            <p:cNvPr id="311376" name="Text Box 80" descr="白色大理石"/>
            <p:cNvSpPr txBox="1">
              <a:spLocks noChangeArrowheads="1"/>
            </p:cNvSpPr>
            <p:nvPr/>
          </p:nvSpPr>
          <p:spPr bwMode="auto">
            <a:xfrm>
              <a:off x="5347" y="2241"/>
              <a:ext cx="217" cy="526"/>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A</a:t>
              </a:r>
              <a:r>
                <a:rPr kumimoji="0" lang="en-US" altLang="zh-CN" sz="2000" b="1" baseline="-25000"/>
                <a:t>R</a:t>
              </a:r>
              <a:endParaRPr kumimoji="0" lang="en-US" altLang="zh-CN" sz="2000" b="1"/>
            </a:p>
          </p:txBody>
        </p:sp>
        <p:sp>
          <p:nvSpPr>
            <p:cNvPr id="311377" name="Line 81"/>
            <p:cNvSpPr>
              <a:spLocks noChangeShapeType="1"/>
            </p:cNvSpPr>
            <p:nvPr/>
          </p:nvSpPr>
          <p:spPr bwMode="auto">
            <a:xfrm>
              <a:off x="5577" y="2244"/>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78" name="Line 82"/>
            <p:cNvSpPr>
              <a:spLocks noChangeShapeType="1"/>
            </p:cNvSpPr>
            <p:nvPr/>
          </p:nvSpPr>
          <p:spPr bwMode="auto">
            <a:xfrm>
              <a:off x="5573" y="2772"/>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79" name="Text Box 83"/>
            <p:cNvSpPr txBox="1">
              <a:spLocks noChangeArrowheads="1"/>
            </p:cNvSpPr>
            <p:nvPr/>
          </p:nvSpPr>
          <p:spPr bwMode="auto">
            <a:xfrm>
              <a:off x="5551" y="2406"/>
              <a:ext cx="21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11380" name="Line 84"/>
            <p:cNvSpPr>
              <a:spLocks noChangeShapeType="1"/>
            </p:cNvSpPr>
            <p:nvPr/>
          </p:nvSpPr>
          <p:spPr bwMode="auto">
            <a:xfrm flipH="1">
              <a:off x="5655" y="2247"/>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81" name="Freeform 85"/>
            <p:cNvSpPr>
              <a:spLocks/>
            </p:cNvSpPr>
            <p:nvPr/>
          </p:nvSpPr>
          <p:spPr bwMode="auto">
            <a:xfrm>
              <a:off x="5303" y="2047"/>
              <a:ext cx="167" cy="198"/>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82" name="Freeform 86"/>
            <p:cNvSpPr>
              <a:spLocks/>
            </p:cNvSpPr>
            <p:nvPr/>
          </p:nvSpPr>
          <p:spPr bwMode="auto">
            <a:xfrm>
              <a:off x="4961" y="2045"/>
              <a:ext cx="178" cy="209"/>
            </a:xfrm>
            <a:custGeom>
              <a:avLst/>
              <a:gdLst>
                <a:gd name="T0" fmla="*/ 257 w 257"/>
                <a:gd name="T1" fmla="*/ 0 h 240"/>
                <a:gd name="T2" fmla="*/ 0 w 257"/>
                <a:gd name="T3" fmla="*/ 240 h 240"/>
              </a:gdLst>
              <a:ahLst/>
              <a:cxnLst>
                <a:cxn ang="0">
                  <a:pos x="T0" y="T1"/>
                </a:cxn>
                <a:cxn ang="0">
                  <a:pos x="T2" y="T3"/>
                </a:cxn>
              </a:cxnLst>
              <a:rect l="0" t="0" r="r" b="b"/>
              <a:pathLst>
                <a:path w="257" h="240">
                  <a:moveTo>
                    <a:pt x="257" y="0"/>
                  </a:moveTo>
                  <a:lnTo>
                    <a:pt x="0" y="240"/>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83" name="Line 87"/>
            <p:cNvSpPr>
              <a:spLocks noChangeShapeType="1"/>
            </p:cNvSpPr>
            <p:nvPr/>
          </p:nvSpPr>
          <p:spPr bwMode="auto">
            <a:xfrm>
              <a:off x="5655" y="2615"/>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84" name="Oval 88"/>
            <p:cNvSpPr>
              <a:spLocks noChangeArrowheads="1"/>
            </p:cNvSpPr>
            <p:nvPr/>
          </p:nvSpPr>
          <p:spPr bwMode="auto">
            <a:xfrm>
              <a:off x="4688" y="1281"/>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C</a:t>
              </a:r>
            </a:p>
          </p:txBody>
        </p:sp>
        <p:sp>
          <p:nvSpPr>
            <p:cNvPr id="311385" name="Oval 89"/>
            <p:cNvSpPr>
              <a:spLocks noChangeArrowheads="1"/>
            </p:cNvSpPr>
            <p:nvPr/>
          </p:nvSpPr>
          <p:spPr bwMode="auto">
            <a:xfrm>
              <a:off x="5076" y="1791"/>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A</a:t>
              </a:r>
            </a:p>
          </p:txBody>
        </p:sp>
        <p:sp>
          <p:nvSpPr>
            <p:cNvPr id="311386" name="Text Box 90" descr="白色大理石"/>
            <p:cNvSpPr txBox="1">
              <a:spLocks noChangeArrowheads="1"/>
            </p:cNvSpPr>
            <p:nvPr/>
          </p:nvSpPr>
          <p:spPr bwMode="auto">
            <a:xfrm>
              <a:off x="4872" y="2252"/>
              <a:ext cx="218" cy="397"/>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C</a:t>
              </a:r>
              <a:r>
                <a:rPr kumimoji="0" lang="en-US" altLang="zh-CN" sz="2000" b="1" baseline="-25000"/>
                <a:t>R</a:t>
              </a:r>
              <a:endParaRPr kumimoji="0" lang="en-US" altLang="zh-CN" sz="2000" b="1"/>
            </a:p>
          </p:txBody>
        </p:sp>
        <p:sp>
          <p:nvSpPr>
            <p:cNvPr id="311387" name="Line 91"/>
            <p:cNvSpPr>
              <a:spLocks noChangeShapeType="1"/>
            </p:cNvSpPr>
            <p:nvPr/>
          </p:nvSpPr>
          <p:spPr bwMode="auto">
            <a:xfrm>
              <a:off x="4742" y="2252"/>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88" name="Line 92"/>
            <p:cNvSpPr>
              <a:spLocks noChangeShapeType="1"/>
            </p:cNvSpPr>
            <p:nvPr/>
          </p:nvSpPr>
          <p:spPr bwMode="auto">
            <a:xfrm>
              <a:off x="4728" y="2649"/>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89" name="Text Box 93"/>
            <p:cNvSpPr txBox="1">
              <a:spLocks noChangeArrowheads="1"/>
            </p:cNvSpPr>
            <p:nvPr/>
          </p:nvSpPr>
          <p:spPr bwMode="auto">
            <a:xfrm>
              <a:off x="4652" y="2352"/>
              <a:ext cx="255"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kumimoji="0" lang="en-US" altLang="zh-CN" sz="2000" b="1" i="1"/>
                <a:t>h</a:t>
              </a:r>
              <a:r>
                <a:rPr kumimoji="0" lang="en-US" altLang="zh-CN" sz="2000" b="1"/>
                <a:t>-1</a:t>
              </a:r>
            </a:p>
          </p:txBody>
        </p:sp>
        <p:sp>
          <p:nvSpPr>
            <p:cNvPr id="311390" name="Line 94"/>
            <p:cNvSpPr>
              <a:spLocks noChangeShapeType="1"/>
            </p:cNvSpPr>
            <p:nvPr/>
          </p:nvSpPr>
          <p:spPr bwMode="auto">
            <a:xfrm flipH="1">
              <a:off x="4771" y="2263"/>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91" name="Line 95"/>
            <p:cNvSpPr>
              <a:spLocks noChangeShapeType="1"/>
            </p:cNvSpPr>
            <p:nvPr/>
          </p:nvSpPr>
          <p:spPr bwMode="auto">
            <a:xfrm flipH="1">
              <a:off x="4767" y="2534"/>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92" name="Freeform 96"/>
            <p:cNvSpPr>
              <a:spLocks/>
            </p:cNvSpPr>
            <p:nvPr/>
          </p:nvSpPr>
          <p:spPr bwMode="auto">
            <a:xfrm>
              <a:off x="4945" y="1527"/>
              <a:ext cx="225" cy="264"/>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93" name="Oval 97"/>
            <p:cNvSpPr>
              <a:spLocks noChangeArrowheads="1"/>
            </p:cNvSpPr>
            <p:nvPr/>
          </p:nvSpPr>
          <p:spPr bwMode="auto">
            <a:xfrm>
              <a:off x="4206" y="1763"/>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B</a:t>
              </a:r>
            </a:p>
          </p:txBody>
        </p:sp>
        <p:sp>
          <p:nvSpPr>
            <p:cNvPr id="311394" name="Freeform 98"/>
            <p:cNvSpPr>
              <a:spLocks/>
            </p:cNvSpPr>
            <p:nvPr/>
          </p:nvSpPr>
          <p:spPr bwMode="auto">
            <a:xfrm>
              <a:off x="4064" y="1992"/>
              <a:ext cx="194" cy="253"/>
            </a:xfrm>
            <a:custGeom>
              <a:avLst/>
              <a:gdLst>
                <a:gd name="T0" fmla="*/ 315 w 315"/>
                <a:gd name="T1" fmla="*/ 0 h 223"/>
                <a:gd name="T2" fmla="*/ 0 w 315"/>
                <a:gd name="T3" fmla="*/ 223 h 223"/>
              </a:gdLst>
              <a:ahLst/>
              <a:cxnLst>
                <a:cxn ang="0">
                  <a:pos x="T0" y="T1"/>
                </a:cxn>
                <a:cxn ang="0">
                  <a:pos x="T2" y="T3"/>
                </a:cxn>
              </a:cxnLst>
              <a:rect l="0" t="0" r="r" b="b"/>
              <a:pathLst>
                <a:path w="315" h="223">
                  <a:moveTo>
                    <a:pt x="315" y="0"/>
                  </a:moveTo>
                  <a:lnTo>
                    <a:pt x="0" y="223"/>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95" name="Freeform 99"/>
            <p:cNvSpPr>
              <a:spLocks/>
            </p:cNvSpPr>
            <p:nvPr/>
          </p:nvSpPr>
          <p:spPr bwMode="auto">
            <a:xfrm>
              <a:off x="4432" y="1499"/>
              <a:ext cx="275" cy="292"/>
            </a:xfrm>
            <a:custGeom>
              <a:avLst/>
              <a:gdLst>
                <a:gd name="T0" fmla="*/ 315 w 315"/>
                <a:gd name="T1" fmla="*/ 0 h 223"/>
                <a:gd name="T2" fmla="*/ 0 w 315"/>
                <a:gd name="T3" fmla="*/ 223 h 223"/>
              </a:gdLst>
              <a:ahLst/>
              <a:cxnLst>
                <a:cxn ang="0">
                  <a:pos x="T0" y="T1"/>
                </a:cxn>
                <a:cxn ang="0">
                  <a:pos x="T2" y="T3"/>
                </a:cxn>
              </a:cxnLst>
              <a:rect l="0" t="0" r="r" b="b"/>
              <a:pathLst>
                <a:path w="315" h="223">
                  <a:moveTo>
                    <a:pt x="315" y="0"/>
                  </a:moveTo>
                  <a:lnTo>
                    <a:pt x="0" y="223"/>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396" name="Text Box 100" descr="白色大理石"/>
            <p:cNvSpPr txBox="1">
              <a:spLocks noChangeArrowheads="1"/>
            </p:cNvSpPr>
            <p:nvPr/>
          </p:nvSpPr>
          <p:spPr bwMode="auto">
            <a:xfrm>
              <a:off x="4404" y="2252"/>
              <a:ext cx="218" cy="397"/>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C</a:t>
              </a:r>
              <a:r>
                <a:rPr kumimoji="0" lang="en-US" altLang="zh-CN" sz="2000" b="1" baseline="-25000"/>
                <a:t>L</a:t>
              </a:r>
              <a:endParaRPr kumimoji="0" lang="en-US" altLang="zh-CN" sz="2000" b="1"/>
            </a:p>
          </p:txBody>
        </p:sp>
        <p:sp>
          <p:nvSpPr>
            <p:cNvPr id="311397" name="Line 101"/>
            <p:cNvSpPr>
              <a:spLocks noChangeShapeType="1"/>
            </p:cNvSpPr>
            <p:nvPr/>
          </p:nvSpPr>
          <p:spPr bwMode="auto">
            <a:xfrm>
              <a:off x="4274" y="2252"/>
              <a:ext cx="13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98" name="Line 102"/>
            <p:cNvSpPr>
              <a:spLocks noChangeShapeType="1"/>
            </p:cNvSpPr>
            <p:nvPr/>
          </p:nvSpPr>
          <p:spPr bwMode="auto">
            <a:xfrm>
              <a:off x="4260" y="2649"/>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99" name="Text Box 103"/>
            <p:cNvSpPr txBox="1">
              <a:spLocks noChangeArrowheads="1"/>
            </p:cNvSpPr>
            <p:nvPr/>
          </p:nvSpPr>
          <p:spPr bwMode="auto">
            <a:xfrm>
              <a:off x="4164" y="2316"/>
              <a:ext cx="255"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kumimoji="0" lang="en-US" altLang="zh-CN" sz="2000" b="1" i="1"/>
                <a:t>h</a:t>
              </a:r>
              <a:r>
                <a:rPr kumimoji="0" lang="en-US" altLang="zh-CN" sz="2000" b="1"/>
                <a:t>-1</a:t>
              </a:r>
            </a:p>
          </p:txBody>
        </p:sp>
        <p:sp>
          <p:nvSpPr>
            <p:cNvPr id="311400" name="Line 104"/>
            <p:cNvSpPr>
              <a:spLocks noChangeShapeType="1"/>
            </p:cNvSpPr>
            <p:nvPr/>
          </p:nvSpPr>
          <p:spPr bwMode="auto">
            <a:xfrm flipH="1">
              <a:off x="4313" y="2262"/>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401" name="Line 105"/>
            <p:cNvSpPr>
              <a:spLocks noChangeShapeType="1"/>
            </p:cNvSpPr>
            <p:nvPr/>
          </p:nvSpPr>
          <p:spPr bwMode="auto">
            <a:xfrm flipH="1">
              <a:off x="4309" y="2534"/>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402" name="Line 106"/>
            <p:cNvSpPr>
              <a:spLocks noChangeShapeType="1"/>
            </p:cNvSpPr>
            <p:nvPr/>
          </p:nvSpPr>
          <p:spPr bwMode="auto">
            <a:xfrm>
              <a:off x="4509" y="2647"/>
              <a:ext cx="0" cy="136"/>
            </a:xfrm>
            <a:prstGeom prst="line">
              <a:avLst/>
            </a:prstGeom>
            <a:noFill/>
            <a:ln w="38100">
              <a:solidFill>
                <a:srgbClr val="FF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11403" name="Oval 107"/>
            <p:cNvSpPr>
              <a:spLocks noChangeArrowheads="1"/>
            </p:cNvSpPr>
            <p:nvPr/>
          </p:nvSpPr>
          <p:spPr bwMode="auto">
            <a:xfrm>
              <a:off x="4360" y="2782"/>
              <a:ext cx="295" cy="295"/>
            </a:xfrm>
            <a:prstGeom prst="ellipse">
              <a:avLst/>
            </a:prstGeom>
            <a:gradFill rotWithShape="0">
              <a:gsLst>
                <a:gs pos="0">
                  <a:srgbClr val="FF7C80"/>
                </a:gs>
                <a:gs pos="100000">
                  <a:srgbClr val="FF7C80">
                    <a:gamma/>
                    <a:shade val="46275"/>
                    <a:invGamma/>
                  </a:srgb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rgbClr val="FFFF66"/>
                  </a:solidFill>
                </a:rPr>
                <a:t>X</a:t>
              </a:r>
            </a:p>
          </p:txBody>
        </p:sp>
        <p:sp>
          <p:nvSpPr>
            <p:cNvPr id="311404" name="Freeform 108"/>
            <p:cNvSpPr>
              <a:spLocks/>
            </p:cNvSpPr>
            <p:nvPr/>
          </p:nvSpPr>
          <p:spPr bwMode="auto">
            <a:xfrm>
              <a:off x="4413" y="2027"/>
              <a:ext cx="114" cy="227"/>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11405" name="Group 109"/>
            <p:cNvGrpSpPr>
              <a:grpSpLocks/>
            </p:cNvGrpSpPr>
            <p:nvPr/>
          </p:nvGrpSpPr>
          <p:grpSpPr bwMode="auto">
            <a:xfrm>
              <a:off x="4490" y="1139"/>
              <a:ext cx="972" cy="811"/>
              <a:chOff x="4553" y="1139"/>
              <a:chExt cx="972" cy="811"/>
            </a:xfrm>
          </p:grpSpPr>
          <p:sp>
            <p:nvSpPr>
              <p:cNvPr id="311406" name="Text Box 110"/>
              <p:cNvSpPr txBox="1">
                <a:spLocks noChangeArrowheads="1"/>
              </p:cNvSpPr>
              <p:nvPr/>
            </p:nvSpPr>
            <p:spPr bwMode="auto">
              <a:xfrm>
                <a:off x="5006" y="1139"/>
                <a:ext cx="17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2000" b="1"/>
                  <a:t>0</a:t>
                </a:r>
              </a:p>
            </p:txBody>
          </p:sp>
          <p:sp>
            <p:nvSpPr>
              <p:cNvPr id="311407" name="Text Box 111"/>
              <p:cNvSpPr txBox="1">
                <a:spLocks noChangeArrowheads="1"/>
              </p:cNvSpPr>
              <p:nvPr/>
            </p:nvSpPr>
            <p:spPr bwMode="auto">
              <a:xfrm>
                <a:off x="5346" y="1621"/>
                <a:ext cx="17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2000" b="1"/>
                  <a:t>-1</a:t>
                </a:r>
              </a:p>
            </p:txBody>
          </p:sp>
          <p:sp>
            <p:nvSpPr>
              <p:cNvPr id="311408" name="Text Box 112"/>
              <p:cNvSpPr txBox="1">
                <a:spLocks noChangeArrowheads="1"/>
              </p:cNvSpPr>
              <p:nvPr/>
            </p:nvSpPr>
            <p:spPr bwMode="auto">
              <a:xfrm>
                <a:off x="4553" y="1706"/>
                <a:ext cx="17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2000" b="1"/>
                  <a:t>0</a:t>
                </a:r>
              </a:p>
            </p:txBody>
          </p:sp>
        </p:grpSp>
        <p:sp>
          <p:nvSpPr>
            <p:cNvPr id="311409" name="Text Box 113" descr="白色大理石"/>
            <p:cNvSpPr txBox="1">
              <a:spLocks noChangeArrowheads="1"/>
            </p:cNvSpPr>
            <p:nvPr/>
          </p:nvSpPr>
          <p:spPr bwMode="auto">
            <a:xfrm>
              <a:off x="3951" y="2245"/>
              <a:ext cx="217" cy="526"/>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B</a:t>
              </a:r>
              <a:r>
                <a:rPr kumimoji="0" lang="en-US" altLang="zh-CN" sz="2000" b="1" baseline="-25000"/>
                <a:t>L</a:t>
              </a:r>
              <a:endParaRPr kumimoji="0" lang="en-US" altLang="zh-CN" sz="2000" b="1"/>
            </a:p>
          </p:txBody>
        </p:sp>
        <p:sp>
          <p:nvSpPr>
            <p:cNvPr id="311410" name="Line 114"/>
            <p:cNvSpPr>
              <a:spLocks noChangeShapeType="1"/>
            </p:cNvSpPr>
            <p:nvPr/>
          </p:nvSpPr>
          <p:spPr bwMode="auto">
            <a:xfrm>
              <a:off x="3821" y="2239"/>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411" name="Line 115"/>
            <p:cNvSpPr>
              <a:spLocks noChangeShapeType="1"/>
            </p:cNvSpPr>
            <p:nvPr/>
          </p:nvSpPr>
          <p:spPr bwMode="auto">
            <a:xfrm>
              <a:off x="3817" y="2776"/>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412" name="Text Box 116"/>
            <p:cNvSpPr txBox="1">
              <a:spLocks noChangeArrowheads="1"/>
            </p:cNvSpPr>
            <p:nvPr/>
          </p:nvSpPr>
          <p:spPr bwMode="auto">
            <a:xfrm>
              <a:off x="3743" y="2413"/>
              <a:ext cx="21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11413" name="Line 117"/>
            <p:cNvSpPr>
              <a:spLocks noChangeShapeType="1"/>
            </p:cNvSpPr>
            <p:nvPr/>
          </p:nvSpPr>
          <p:spPr bwMode="auto">
            <a:xfrm flipH="1">
              <a:off x="3859" y="2251"/>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414" name="Line 118"/>
            <p:cNvSpPr>
              <a:spLocks noChangeShapeType="1"/>
            </p:cNvSpPr>
            <p:nvPr/>
          </p:nvSpPr>
          <p:spPr bwMode="auto">
            <a:xfrm>
              <a:off x="3859" y="2628"/>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78536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Text Box 2"/>
          <p:cNvSpPr txBox="1">
            <a:spLocks noChangeArrowheads="1"/>
          </p:cNvSpPr>
          <p:nvPr/>
        </p:nvSpPr>
        <p:spPr bwMode="auto">
          <a:xfrm>
            <a:off x="409575" y="5903913"/>
            <a:ext cx="8734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eaLnBrk="0" hangingPunct="0">
              <a:lnSpc>
                <a:spcPct val="80000"/>
              </a:lnSpc>
            </a:pPr>
            <a:r>
              <a:rPr kumimoji="0" lang="zh-CN" altLang="en-US" b="1"/>
              <a:t>插入后，调整前           先顺时针旋转                再逆时针旋转</a:t>
            </a:r>
          </a:p>
        </p:txBody>
      </p:sp>
      <p:sp>
        <p:nvSpPr>
          <p:cNvPr id="312324" name="Text Box 4"/>
          <p:cNvSpPr txBox="1">
            <a:spLocks noChangeArrowheads="1"/>
          </p:cNvSpPr>
          <p:nvPr/>
        </p:nvSpPr>
        <p:spPr bwMode="auto">
          <a:xfrm>
            <a:off x="152400" y="1079500"/>
            <a:ext cx="6400800" cy="579438"/>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spcBef>
                <a:spcPct val="50000"/>
              </a:spcBef>
            </a:pPr>
            <a:r>
              <a:rPr kumimoji="0" lang="zh-CN" altLang="en-US" sz="3200" b="1">
                <a:solidFill>
                  <a:srgbClr val="0033CC"/>
                </a:solidFill>
              </a:rPr>
              <a:t>平衡二叉树</a:t>
            </a:r>
            <a:r>
              <a:rPr kumimoji="0" lang="en-US" altLang="zh-CN" sz="3200" b="1">
                <a:solidFill>
                  <a:srgbClr val="0033CC"/>
                </a:solidFill>
              </a:rPr>
              <a:t>——RL</a:t>
            </a:r>
            <a:r>
              <a:rPr kumimoji="0" lang="zh-CN" altLang="en-US" sz="3200" b="1">
                <a:solidFill>
                  <a:srgbClr val="0033CC"/>
                </a:solidFill>
              </a:rPr>
              <a:t>型</a:t>
            </a:r>
          </a:p>
        </p:txBody>
      </p:sp>
      <p:grpSp>
        <p:nvGrpSpPr>
          <p:cNvPr id="312325" name="Group 5"/>
          <p:cNvGrpSpPr>
            <a:grpSpLocks/>
          </p:cNvGrpSpPr>
          <p:nvPr/>
        </p:nvGrpSpPr>
        <p:grpSpPr bwMode="auto">
          <a:xfrm>
            <a:off x="2862263" y="2033588"/>
            <a:ext cx="3354387" cy="3559175"/>
            <a:chOff x="2007" y="1395"/>
            <a:chExt cx="2113" cy="2242"/>
          </a:xfrm>
        </p:grpSpPr>
        <p:sp>
          <p:nvSpPr>
            <p:cNvPr id="312326" name="Line 6"/>
            <p:cNvSpPr>
              <a:spLocks noChangeShapeType="1"/>
            </p:cNvSpPr>
            <p:nvPr/>
          </p:nvSpPr>
          <p:spPr bwMode="auto">
            <a:xfrm>
              <a:off x="3304" y="3207"/>
              <a:ext cx="0" cy="136"/>
            </a:xfrm>
            <a:prstGeom prst="line">
              <a:avLst/>
            </a:prstGeom>
            <a:noFill/>
            <a:ln w="38100">
              <a:solidFill>
                <a:srgbClr val="FF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12327" name="Oval 7"/>
            <p:cNvSpPr>
              <a:spLocks noChangeArrowheads="1"/>
            </p:cNvSpPr>
            <p:nvPr/>
          </p:nvSpPr>
          <p:spPr bwMode="auto">
            <a:xfrm>
              <a:off x="3155" y="3342"/>
              <a:ext cx="295" cy="295"/>
            </a:xfrm>
            <a:prstGeom prst="ellipse">
              <a:avLst/>
            </a:prstGeom>
            <a:gradFill rotWithShape="0">
              <a:gsLst>
                <a:gs pos="0">
                  <a:srgbClr val="FF7C80"/>
                </a:gs>
                <a:gs pos="100000">
                  <a:srgbClr val="FF7C80">
                    <a:gamma/>
                    <a:shade val="46275"/>
                    <a:invGamma/>
                  </a:srgb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rgbClr val="FFFF66"/>
                  </a:solidFill>
                </a:rPr>
                <a:t>X</a:t>
              </a:r>
            </a:p>
          </p:txBody>
        </p:sp>
        <p:sp>
          <p:nvSpPr>
            <p:cNvPr id="312328" name="Oval 8"/>
            <p:cNvSpPr>
              <a:spLocks noChangeArrowheads="1"/>
            </p:cNvSpPr>
            <p:nvPr/>
          </p:nvSpPr>
          <p:spPr bwMode="auto">
            <a:xfrm>
              <a:off x="2633" y="1395"/>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A</a:t>
              </a:r>
            </a:p>
          </p:txBody>
        </p:sp>
        <p:sp>
          <p:nvSpPr>
            <p:cNvPr id="312329" name="Text Box 9" descr="白色大理石"/>
            <p:cNvSpPr txBox="1">
              <a:spLocks noChangeArrowheads="1"/>
            </p:cNvSpPr>
            <p:nvPr/>
          </p:nvSpPr>
          <p:spPr bwMode="auto">
            <a:xfrm>
              <a:off x="2713" y="2403"/>
              <a:ext cx="218" cy="397"/>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C</a:t>
              </a:r>
              <a:r>
                <a:rPr kumimoji="0" lang="en-US" altLang="zh-CN" sz="2000" b="1" baseline="-25000"/>
                <a:t>L</a:t>
              </a:r>
              <a:endParaRPr kumimoji="0" lang="en-US" altLang="zh-CN" sz="2000" b="1"/>
            </a:p>
          </p:txBody>
        </p:sp>
        <p:sp>
          <p:nvSpPr>
            <p:cNvPr id="312330" name="Line 10"/>
            <p:cNvSpPr>
              <a:spLocks noChangeShapeType="1"/>
            </p:cNvSpPr>
            <p:nvPr/>
          </p:nvSpPr>
          <p:spPr bwMode="auto">
            <a:xfrm>
              <a:off x="2583" y="2403"/>
              <a:ext cx="13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31" name="Line 11"/>
            <p:cNvSpPr>
              <a:spLocks noChangeShapeType="1"/>
            </p:cNvSpPr>
            <p:nvPr/>
          </p:nvSpPr>
          <p:spPr bwMode="auto">
            <a:xfrm>
              <a:off x="2569" y="2800"/>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32" name="Text Box 12"/>
            <p:cNvSpPr txBox="1">
              <a:spLocks noChangeArrowheads="1"/>
            </p:cNvSpPr>
            <p:nvPr/>
          </p:nvSpPr>
          <p:spPr bwMode="auto">
            <a:xfrm>
              <a:off x="2473" y="2503"/>
              <a:ext cx="255"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kumimoji="0" lang="en-US" altLang="zh-CN" sz="2000" b="1" i="1"/>
                <a:t>h</a:t>
              </a:r>
              <a:r>
                <a:rPr kumimoji="0" lang="en-US" altLang="zh-CN" sz="2000" b="1"/>
                <a:t>-1</a:t>
              </a:r>
            </a:p>
          </p:txBody>
        </p:sp>
        <p:sp>
          <p:nvSpPr>
            <p:cNvPr id="312333" name="Line 13"/>
            <p:cNvSpPr>
              <a:spLocks noChangeShapeType="1"/>
            </p:cNvSpPr>
            <p:nvPr/>
          </p:nvSpPr>
          <p:spPr bwMode="auto">
            <a:xfrm flipH="1">
              <a:off x="2622" y="2413"/>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34" name="Freeform 14"/>
            <p:cNvSpPr>
              <a:spLocks/>
            </p:cNvSpPr>
            <p:nvPr/>
          </p:nvSpPr>
          <p:spPr bwMode="auto">
            <a:xfrm>
              <a:off x="2888" y="1622"/>
              <a:ext cx="248" cy="256"/>
            </a:xfrm>
            <a:custGeom>
              <a:avLst/>
              <a:gdLst>
                <a:gd name="T0" fmla="*/ 0 w 235"/>
                <a:gd name="T1" fmla="*/ 0 h 232"/>
                <a:gd name="T2" fmla="*/ 235 w 235"/>
                <a:gd name="T3" fmla="*/ 232 h 232"/>
              </a:gdLst>
              <a:ahLst/>
              <a:cxnLst>
                <a:cxn ang="0">
                  <a:pos x="T0" y="T1"/>
                </a:cxn>
                <a:cxn ang="0">
                  <a:pos x="T2" y="T3"/>
                </a:cxn>
              </a:cxnLst>
              <a:rect l="0" t="0" r="r" b="b"/>
              <a:pathLst>
                <a:path w="235" h="232">
                  <a:moveTo>
                    <a:pt x="0" y="0"/>
                  </a:moveTo>
                  <a:lnTo>
                    <a:pt x="235" y="232"/>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335" name="Text Box 15" descr="白色大理石"/>
            <p:cNvSpPr txBox="1">
              <a:spLocks noChangeArrowheads="1"/>
            </p:cNvSpPr>
            <p:nvPr/>
          </p:nvSpPr>
          <p:spPr bwMode="auto">
            <a:xfrm>
              <a:off x="3698" y="2808"/>
              <a:ext cx="217" cy="526"/>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B</a:t>
              </a:r>
              <a:r>
                <a:rPr kumimoji="0" lang="en-US" altLang="zh-CN" sz="2000" b="1" baseline="-25000"/>
                <a:t>R</a:t>
              </a:r>
              <a:endParaRPr kumimoji="0" lang="en-US" altLang="zh-CN" sz="2000" b="1"/>
            </a:p>
          </p:txBody>
        </p:sp>
        <p:sp>
          <p:nvSpPr>
            <p:cNvPr id="312336" name="Line 16"/>
            <p:cNvSpPr>
              <a:spLocks noChangeShapeType="1"/>
            </p:cNvSpPr>
            <p:nvPr/>
          </p:nvSpPr>
          <p:spPr bwMode="auto">
            <a:xfrm>
              <a:off x="3928" y="2811"/>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37" name="Line 17"/>
            <p:cNvSpPr>
              <a:spLocks noChangeShapeType="1"/>
            </p:cNvSpPr>
            <p:nvPr/>
          </p:nvSpPr>
          <p:spPr bwMode="auto">
            <a:xfrm>
              <a:off x="3924" y="3339"/>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38" name="Text Box 18"/>
            <p:cNvSpPr txBox="1">
              <a:spLocks noChangeArrowheads="1"/>
            </p:cNvSpPr>
            <p:nvPr/>
          </p:nvSpPr>
          <p:spPr bwMode="auto">
            <a:xfrm>
              <a:off x="3902" y="2973"/>
              <a:ext cx="21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12339" name="Line 19"/>
            <p:cNvSpPr>
              <a:spLocks noChangeShapeType="1"/>
            </p:cNvSpPr>
            <p:nvPr/>
          </p:nvSpPr>
          <p:spPr bwMode="auto">
            <a:xfrm flipH="1">
              <a:off x="4006" y="2814"/>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40" name="Freeform 20"/>
            <p:cNvSpPr>
              <a:spLocks/>
            </p:cNvSpPr>
            <p:nvPr/>
          </p:nvSpPr>
          <p:spPr bwMode="auto">
            <a:xfrm>
              <a:off x="3663" y="2605"/>
              <a:ext cx="153" cy="179"/>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341" name="Freeform 21"/>
            <p:cNvSpPr>
              <a:spLocks/>
            </p:cNvSpPr>
            <p:nvPr/>
          </p:nvSpPr>
          <p:spPr bwMode="auto">
            <a:xfrm>
              <a:off x="3334" y="2612"/>
              <a:ext cx="156" cy="200"/>
            </a:xfrm>
            <a:custGeom>
              <a:avLst/>
              <a:gdLst>
                <a:gd name="T0" fmla="*/ 257 w 257"/>
                <a:gd name="T1" fmla="*/ 0 h 240"/>
                <a:gd name="T2" fmla="*/ 0 w 257"/>
                <a:gd name="T3" fmla="*/ 240 h 240"/>
              </a:gdLst>
              <a:ahLst/>
              <a:cxnLst>
                <a:cxn ang="0">
                  <a:pos x="T0" y="T1"/>
                </a:cxn>
                <a:cxn ang="0">
                  <a:pos x="T2" y="T3"/>
                </a:cxn>
              </a:cxnLst>
              <a:rect l="0" t="0" r="r" b="b"/>
              <a:pathLst>
                <a:path w="257" h="240">
                  <a:moveTo>
                    <a:pt x="257" y="0"/>
                  </a:moveTo>
                  <a:lnTo>
                    <a:pt x="0" y="240"/>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342" name="Line 22"/>
            <p:cNvSpPr>
              <a:spLocks noChangeShapeType="1"/>
            </p:cNvSpPr>
            <p:nvPr/>
          </p:nvSpPr>
          <p:spPr bwMode="auto">
            <a:xfrm>
              <a:off x="4006" y="3182"/>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43" name="Oval 23"/>
            <p:cNvSpPr>
              <a:spLocks noChangeArrowheads="1"/>
            </p:cNvSpPr>
            <p:nvPr/>
          </p:nvSpPr>
          <p:spPr bwMode="auto">
            <a:xfrm>
              <a:off x="3057" y="1857"/>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C</a:t>
              </a:r>
            </a:p>
          </p:txBody>
        </p:sp>
        <p:sp>
          <p:nvSpPr>
            <p:cNvPr id="312344" name="Oval 24"/>
            <p:cNvSpPr>
              <a:spLocks noChangeArrowheads="1"/>
            </p:cNvSpPr>
            <p:nvPr/>
          </p:nvSpPr>
          <p:spPr bwMode="auto">
            <a:xfrm>
              <a:off x="3427" y="2358"/>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B</a:t>
              </a:r>
            </a:p>
          </p:txBody>
        </p:sp>
        <p:sp>
          <p:nvSpPr>
            <p:cNvPr id="312345" name="Line 25"/>
            <p:cNvSpPr>
              <a:spLocks noChangeShapeType="1"/>
            </p:cNvSpPr>
            <p:nvPr/>
          </p:nvSpPr>
          <p:spPr bwMode="auto">
            <a:xfrm flipH="1">
              <a:off x="2618" y="2685"/>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46" name="Text Box 26" descr="白色大理石"/>
            <p:cNvSpPr txBox="1">
              <a:spLocks noChangeArrowheads="1"/>
            </p:cNvSpPr>
            <p:nvPr/>
          </p:nvSpPr>
          <p:spPr bwMode="auto">
            <a:xfrm>
              <a:off x="3210" y="2812"/>
              <a:ext cx="218" cy="397"/>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C</a:t>
              </a:r>
              <a:r>
                <a:rPr kumimoji="0" lang="en-US" altLang="zh-CN" sz="2000" b="1" baseline="-25000"/>
                <a:t>R</a:t>
              </a:r>
              <a:endParaRPr kumimoji="0" lang="en-US" altLang="zh-CN" sz="2000" b="1"/>
            </a:p>
          </p:txBody>
        </p:sp>
        <p:sp>
          <p:nvSpPr>
            <p:cNvPr id="312347" name="Line 27"/>
            <p:cNvSpPr>
              <a:spLocks noChangeShapeType="1"/>
            </p:cNvSpPr>
            <p:nvPr/>
          </p:nvSpPr>
          <p:spPr bwMode="auto">
            <a:xfrm>
              <a:off x="3080" y="2812"/>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48" name="Line 28"/>
            <p:cNvSpPr>
              <a:spLocks noChangeShapeType="1"/>
            </p:cNvSpPr>
            <p:nvPr/>
          </p:nvSpPr>
          <p:spPr bwMode="auto">
            <a:xfrm>
              <a:off x="3066" y="3209"/>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49" name="Text Box 29"/>
            <p:cNvSpPr txBox="1">
              <a:spLocks noChangeArrowheads="1"/>
            </p:cNvSpPr>
            <p:nvPr/>
          </p:nvSpPr>
          <p:spPr bwMode="auto">
            <a:xfrm>
              <a:off x="2990" y="2912"/>
              <a:ext cx="255"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kumimoji="0" lang="en-US" altLang="zh-CN" sz="2000" b="1" i="1"/>
                <a:t>h</a:t>
              </a:r>
              <a:r>
                <a:rPr kumimoji="0" lang="en-US" altLang="zh-CN" sz="2000" b="1"/>
                <a:t>-1</a:t>
              </a:r>
            </a:p>
          </p:txBody>
        </p:sp>
        <p:sp>
          <p:nvSpPr>
            <p:cNvPr id="312350" name="Line 30"/>
            <p:cNvSpPr>
              <a:spLocks noChangeShapeType="1"/>
            </p:cNvSpPr>
            <p:nvPr/>
          </p:nvSpPr>
          <p:spPr bwMode="auto">
            <a:xfrm flipH="1">
              <a:off x="3109" y="2823"/>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51" name="Line 31"/>
            <p:cNvSpPr>
              <a:spLocks noChangeShapeType="1"/>
            </p:cNvSpPr>
            <p:nvPr/>
          </p:nvSpPr>
          <p:spPr bwMode="auto">
            <a:xfrm flipH="1">
              <a:off x="3105" y="3094"/>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52" name="Freeform 32"/>
            <p:cNvSpPr>
              <a:spLocks/>
            </p:cNvSpPr>
            <p:nvPr/>
          </p:nvSpPr>
          <p:spPr bwMode="auto">
            <a:xfrm>
              <a:off x="2803" y="2093"/>
              <a:ext cx="284" cy="312"/>
            </a:xfrm>
            <a:custGeom>
              <a:avLst/>
              <a:gdLst>
                <a:gd name="T0" fmla="*/ 257 w 257"/>
                <a:gd name="T1" fmla="*/ 0 h 240"/>
                <a:gd name="T2" fmla="*/ 0 w 257"/>
                <a:gd name="T3" fmla="*/ 240 h 240"/>
              </a:gdLst>
              <a:ahLst/>
              <a:cxnLst>
                <a:cxn ang="0">
                  <a:pos x="T0" y="T1"/>
                </a:cxn>
                <a:cxn ang="0">
                  <a:pos x="T2" y="T3"/>
                </a:cxn>
              </a:cxnLst>
              <a:rect l="0" t="0" r="r" b="b"/>
              <a:pathLst>
                <a:path w="257" h="240">
                  <a:moveTo>
                    <a:pt x="257" y="0"/>
                  </a:moveTo>
                  <a:lnTo>
                    <a:pt x="0" y="240"/>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353" name="Freeform 33"/>
            <p:cNvSpPr>
              <a:spLocks/>
            </p:cNvSpPr>
            <p:nvPr/>
          </p:nvSpPr>
          <p:spPr bwMode="auto">
            <a:xfrm>
              <a:off x="3314" y="2103"/>
              <a:ext cx="226" cy="255"/>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354" name="Line 34"/>
            <p:cNvSpPr>
              <a:spLocks noChangeShapeType="1"/>
            </p:cNvSpPr>
            <p:nvPr/>
          </p:nvSpPr>
          <p:spPr bwMode="auto">
            <a:xfrm>
              <a:off x="2089" y="1894"/>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55" name="Text Box 35" descr="白色大理石"/>
            <p:cNvSpPr txBox="1">
              <a:spLocks noChangeArrowheads="1"/>
            </p:cNvSpPr>
            <p:nvPr/>
          </p:nvSpPr>
          <p:spPr bwMode="auto">
            <a:xfrm>
              <a:off x="2220" y="1885"/>
              <a:ext cx="218" cy="525"/>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A</a:t>
              </a:r>
              <a:r>
                <a:rPr kumimoji="0" lang="en-US" altLang="zh-CN" b="1" baseline="-25000"/>
                <a:t>L</a:t>
              </a:r>
              <a:endParaRPr kumimoji="0" lang="en-US" altLang="zh-CN" b="1"/>
            </a:p>
          </p:txBody>
        </p:sp>
        <p:sp>
          <p:nvSpPr>
            <p:cNvPr id="312356" name="Line 36"/>
            <p:cNvSpPr>
              <a:spLocks noChangeShapeType="1"/>
            </p:cNvSpPr>
            <p:nvPr/>
          </p:nvSpPr>
          <p:spPr bwMode="auto">
            <a:xfrm>
              <a:off x="2084" y="2409"/>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57" name="Text Box 37"/>
            <p:cNvSpPr txBox="1">
              <a:spLocks noChangeArrowheads="1"/>
            </p:cNvSpPr>
            <p:nvPr/>
          </p:nvSpPr>
          <p:spPr bwMode="auto">
            <a:xfrm>
              <a:off x="2007" y="2068"/>
              <a:ext cx="219"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p>
          </p:txBody>
        </p:sp>
        <p:sp>
          <p:nvSpPr>
            <p:cNvPr id="312358" name="Line 38"/>
            <p:cNvSpPr>
              <a:spLocks noChangeShapeType="1"/>
            </p:cNvSpPr>
            <p:nvPr/>
          </p:nvSpPr>
          <p:spPr bwMode="auto">
            <a:xfrm flipH="1">
              <a:off x="2129" y="1904"/>
              <a:ext cx="0" cy="1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59" name="Line 39"/>
            <p:cNvSpPr>
              <a:spLocks noChangeShapeType="1"/>
            </p:cNvSpPr>
            <p:nvPr/>
          </p:nvSpPr>
          <p:spPr bwMode="auto">
            <a:xfrm>
              <a:off x="2113" y="2266"/>
              <a:ext cx="0" cy="1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60" name="Freeform 40"/>
            <p:cNvSpPr>
              <a:spLocks/>
            </p:cNvSpPr>
            <p:nvPr/>
          </p:nvSpPr>
          <p:spPr bwMode="auto">
            <a:xfrm>
              <a:off x="2390" y="1624"/>
              <a:ext cx="289" cy="261"/>
            </a:xfrm>
            <a:custGeom>
              <a:avLst/>
              <a:gdLst>
                <a:gd name="T0" fmla="*/ 315 w 315"/>
                <a:gd name="T1" fmla="*/ 0 h 223"/>
                <a:gd name="T2" fmla="*/ 0 w 315"/>
                <a:gd name="T3" fmla="*/ 223 h 223"/>
              </a:gdLst>
              <a:ahLst/>
              <a:cxnLst>
                <a:cxn ang="0">
                  <a:pos x="T0" y="T1"/>
                </a:cxn>
                <a:cxn ang="0">
                  <a:pos x="T2" y="T3"/>
                </a:cxn>
              </a:cxnLst>
              <a:rect l="0" t="0" r="r" b="b"/>
              <a:pathLst>
                <a:path w="315" h="223">
                  <a:moveTo>
                    <a:pt x="315" y="0"/>
                  </a:moveTo>
                  <a:lnTo>
                    <a:pt x="0" y="223"/>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12361" name="Group 41"/>
          <p:cNvGrpSpPr>
            <a:grpSpLocks/>
          </p:cNvGrpSpPr>
          <p:nvPr/>
        </p:nvGrpSpPr>
        <p:grpSpPr bwMode="auto">
          <a:xfrm>
            <a:off x="26988" y="1854200"/>
            <a:ext cx="2992437" cy="3649663"/>
            <a:chOff x="17" y="1168"/>
            <a:chExt cx="1885" cy="2299"/>
          </a:xfrm>
        </p:grpSpPr>
        <p:sp>
          <p:nvSpPr>
            <p:cNvPr id="312362" name="Oval 42"/>
            <p:cNvSpPr>
              <a:spLocks noChangeArrowheads="1"/>
            </p:cNvSpPr>
            <p:nvPr/>
          </p:nvSpPr>
          <p:spPr bwMode="auto">
            <a:xfrm>
              <a:off x="670" y="1276"/>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A</a:t>
              </a:r>
            </a:p>
          </p:txBody>
        </p:sp>
        <p:sp>
          <p:nvSpPr>
            <p:cNvPr id="312363" name="Text Box 43"/>
            <p:cNvSpPr txBox="1">
              <a:spLocks noChangeArrowheads="1"/>
            </p:cNvSpPr>
            <p:nvPr/>
          </p:nvSpPr>
          <p:spPr bwMode="auto">
            <a:xfrm>
              <a:off x="966" y="1168"/>
              <a:ext cx="17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2000" b="1"/>
                <a:t>-2</a:t>
              </a:r>
            </a:p>
          </p:txBody>
        </p:sp>
        <p:sp>
          <p:nvSpPr>
            <p:cNvPr id="312364" name="Text Box 44" descr="白色大理石"/>
            <p:cNvSpPr txBox="1">
              <a:spLocks noChangeArrowheads="1"/>
            </p:cNvSpPr>
            <p:nvPr/>
          </p:nvSpPr>
          <p:spPr bwMode="auto">
            <a:xfrm>
              <a:off x="470" y="2644"/>
              <a:ext cx="218" cy="397"/>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C</a:t>
              </a:r>
              <a:r>
                <a:rPr kumimoji="0" lang="en-US" altLang="zh-CN" sz="2000" b="1" baseline="-25000"/>
                <a:t>L</a:t>
              </a:r>
              <a:endParaRPr kumimoji="0" lang="en-US" altLang="zh-CN" sz="2000" b="1"/>
            </a:p>
          </p:txBody>
        </p:sp>
        <p:sp>
          <p:nvSpPr>
            <p:cNvPr id="312365" name="Line 45"/>
            <p:cNvSpPr>
              <a:spLocks noChangeShapeType="1"/>
            </p:cNvSpPr>
            <p:nvPr/>
          </p:nvSpPr>
          <p:spPr bwMode="auto">
            <a:xfrm>
              <a:off x="340" y="2644"/>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66" name="Line 46"/>
            <p:cNvSpPr>
              <a:spLocks noChangeShapeType="1"/>
            </p:cNvSpPr>
            <p:nvPr/>
          </p:nvSpPr>
          <p:spPr bwMode="auto">
            <a:xfrm>
              <a:off x="326" y="3041"/>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67" name="Text Box 47"/>
            <p:cNvSpPr txBox="1">
              <a:spLocks noChangeArrowheads="1"/>
            </p:cNvSpPr>
            <p:nvPr/>
          </p:nvSpPr>
          <p:spPr bwMode="auto">
            <a:xfrm>
              <a:off x="230" y="2744"/>
              <a:ext cx="255"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kumimoji="0" lang="en-US" altLang="zh-CN" sz="2000" b="1" i="1"/>
                <a:t>h</a:t>
              </a:r>
              <a:r>
                <a:rPr kumimoji="0" lang="en-US" altLang="zh-CN" sz="2000" b="1"/>
                <a:t>-1</a:t>
              </a:r>
            </a:p>
          </p:txBody>
        </p:sp>
        <p:sp>
          <p:nvSpPr>
            <p:cNvPr id="312368" name="Line 48"/>
            <p:cNvSpPr>
              <a:spLocks noChangeShapeType="1"/>
            </p:cNvSpPr>
            <p:nvPr/>
          </p:nvSpPr>
          <p:spPr bwMode="auto">
            <a:xfrm flipH="1">
              <a:off x="379" y="2654"/>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69" name="Freeform 49"/>
            <p:cNvSpPr>
              <a:spLocks/>
            </p:cNvSpPr>
            <p:nvPr/>
          </p:nvSpPr>
          <p:spPr bwMode="auto">
            <a:xfrm>
              <a:off x="925" y="1503"/>
              <a:ext cx="248" cy="256"/>
            </a:xfrm>
            <a:custGeom>
              <a:avLst/>
              <a:gdLst>
                <a:gd name="T0" fmla="*/ 0 w 235"/>
                <a:gd name="T1" fmla="*/ 0 h 232"/>
                <a:gd name="T2" fmla="*/ 235 w 235"/>
                <a:gd name="T3" fmla="*/ 232 h 232"/>
              </a:gdLst>
              <a:ahLst/>
              <a:cxnLst>
                <a:cxn ang="0">
                  <a:pos x="T0" y="T1"/>
                </a:cxn>
                <a:cxn ang="0">
                  <a:pos x="T2" y="T3"/>
                </a:cxn>
              </a:cxnLst>
              <a:rect l="0" t="0" r="r" b="b"/>
              <a:pathLst>
                <a:path w="235" h="232">
                  <a:moveTo>
                    <a:pt x="0" y="0"/>
                  </a:moveTo>
                  <a:lnTo>
                    <a:pt x="235" y="232"/>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370" name="Line 50"/>
            <p:cNvSpPr>
              <a:spLocks noChangeShapeType="1"/>
            </p:cNvSpPr>
            <p:nvPr/>
          </p:nvSpPr>
          <p:spPr bwMode="auto">
            <a:xfrm>
              <a:off x="99" y="1772"/>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71" name="Text Box 51" descr="白色大理石"/>
            <p:cNvSpPr txBox="1">
              <a:spLocks noChangeArrowheads="1"/>
            </p:cNvSpPr>
            <p:nvPr/>
          </p:nvSpPr>
          <p:spPr bwMode="auto">
            <a:xfrm>
              <a:off x="1460" y="2195"/>
              <a:ext cx="217" cy="526"/>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B</a:t>
              </a:r>
              <a:r>
                <a:rPr kumimoji="0" lang="en-US" altLang="zh-CN" sz="2000" b="1" baseline="-25000"/>
                <a:t>R</a:t>
              </a:r>
              <a:endParaRPr kumimoji="0" lang="en-US" altLang="zh-CN" sz="2000" b="1"/>
            </a:p>
          </p:txBody>
        </p:sp>
        <p:sp>
          <p:nvSpPr>
            <p:cNvPr id="312372" name="Line 52"/>
            <p:cNvSpPr>
              <a:spLocks noChangeShapeType="1"/>
            </p:cNvSpPr>
            <p:nvPr/>
          </p:nvSpPr>
          <p:spPr bwMode="auto">
            <a:xfrm>
              <a:off x="1690" y="2198"/>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73" name="Line 53"/>
            <p:cNvSpPr>
              <a:spLocks noChangeShapeType="1"/>
            </p:cNvSpPr>
            <p:nvPr/>
          </p:nvSpPr>
          <p:spPr bwMode="auto">
            <a:xfrm>
              <a:off x="1686" y="2726"/>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74" name="Text Box 54"/>
            <p:cNvSpPr txBox="1">
              <a:spLocks noChangeArrowheads="1"/>
            </p:cNvSpPr>
            <p:nvPr/>
          </p:nvSpPr>
          <p:spPr bwMode="auto">
            <a:xfrm>
              <a:off x="1684" y="2360"/>
              <a:ext cx="21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12375" name="Line 55"/>
            <p:cNvSpPr>
              <a:spLocks noChangeShapeType="1"/>
            </p:cNvSpPr>
            <p:nvPr/>
          </p:nvSpPr>
          <p:spPr bwMode="auto">
            <a:xfrm flipH="1">
              <a:off x="1778" y="2201"/>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76" name="Freeform 56"/>
            <p:cNvSpPr>
              <a:spLocks/>
            </p:cNvSpPr>
            <p:nvPr/>
          </p:nvSpPr>
          <p:spPr bwMode="auto">
            <a:xfrm>
              <a:off x="1364" y="1969"/>
              <a:ext cx="208" cy="218"/>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377" name="Freeform 57"/>
            <p:cNvSpPr>
              <a:spLocks/>
            </p:cNvSpPr>
            <p:nvPr/>
          </p:nvSpPr>
          <p:spPr bwMode="auto">
            <a:xfrm>
              <a:off x="892" y="1969"/>
              <a:ext cx="223" cy="214"/>
            </a:xfrm>
            <a:custGeom>
              <a:avLst/>
              <a:gdLst>
                <a:gd name="T0" fmla="*/ 257 w 257"/>
                <a:gd name="T1" fmla="*/ 0 h 240"/>
                <a:gd name="T2" fmla="*/ 0 w 257"/>
                <a:gd name="T3" fmla="*/ 240 h 240"/>
              </a:gdLst>
              <a:ahLst/>
              <a:cxnLst>
                <a:cxn ang="0">
                  <a:pos x="T0" y="T1"/>
                </a:cxn>
                <a:cxn ang="0">
                  <a:pos x="T2" y="T3"/>
                </a:cxn>
              </a:cxnLst>
              <a:rect l="0" t="0" r="r" b="b"/>
              <a:pathLst>
                <a:path w="257" h="240">
                  <a:moveTo>
                    <a:pt x="257" y="0"/>
                  </a:moveTo>
                  <a:lnTo>
                    <a:pt x="0" y="240"/>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378" name="Line 58"/>
            <p:cNvSpPr>
              <a:spLocks noChangeShapeType="1"/>
            </p:cNvSpPr>
            <p:nvPr/>
          </p:nvSpPr>
          <p:spPr bwMode="auto">
            <a:xfrm>
              <a:off x="1778" y="2569"/>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79" name="Text Box 59"/>
            <p:cNvSpPr txBox="1">
              <a:spLocks noChangeArrowheads="1"/>
            </p:cNvSpPr>
            <p:nvPr/>
          </p:nvSpPr>
          <p:spPr bwMode="auto">
            <a:xfrm>
              <a:off x="1364" y="1715"/>
              <a:ext cx="21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a:t>1</a:t>
              </a:r>
              <a:endParaRPr kumimoji="0" lang="en-US" altLang="zh-CN" b="1"/>
            </a:p>
          </p:txBody>
        </p:sp>
        <p:sp>
          <p:nvSpPr>
            <p:cNvPr id="312380" name="Text Box 60" descr="白色大理石"/>
            <p:cNvSpPr txBox="1">
              <a:spLocks noChangeArrowheads="1"/>
            </p:cNvSpPr>
            <p:nvPr/>
          </p:nvSpPr>
          <p:spPr bwMode="auto">
            <a:xfrm>
              <a:off x="230" y="1763"/>
              <a:ext cx="218" cy="525"/>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A</a:t>
              </a:r>
              <a:r>
                <a:rPr kumimoji="0" lang="en-US" altLang="zh-CN" b="1" baseline="-25000"/>
                <a:t>L</a:t>
              </a:r>
              <a:endParaRPr kumimoji="0" lang="en-US" altLang="zh-CN" b="1"/>
            </a:p>
          </p:txBody>
        </p:sp>
        <p:sp>
          <p:nvSpPr>
            <p:cNvPr id="312381" name="Line 61"/>
            <p:cNvSpPr>
              <a:spLocks noChangeShapeType="1"/>
            </p:cNvSpPr>
            <p:nvPr/>
          </p:nvSpPr>
          <p:spPr bwMode="auto">
            <a:xfrm>
              <a:off x="94" y="2287"/>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82" name="Text Box 62"/>
            <p:cNvSpPr txBox="1">
              <a:spLocks noChangeArrowheads="1"/>
            </p:cNvSpPr>
            <p:nvPr/>
          </p:nvSpPr>
          <p:spPr bwMode="auto">
            <a:xfrm>
              <a:off x="17" y="1946"/>
              <a:ext cx="219"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p>
          </p:txBody>
        </p:sp>
        <p:sp>
          <p:nvSpPr>
            <p:cNvPr id="312383" name="Line 63"/>
            <p:cNvSpPr>
              <a:spLocks noChangeShapeType="1"/>
            </p:cNvSpPr>
            <p:nvPr/>
          </p:nvSpPr>
          <p:spPr bwMode="auto">
            <a:xfrm flipH="1">
              <a:off x="139" y="1782"/>
              <a:ext cx="0" cy="1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84" name="Line 64"/>
            <p:cNvSpPr>
              <a:spLocks noChangeShapeType="1"/>
            </p:cNvSpPr>
            <p:nvPr/>
          </p:nvSpPr>
          <p:spPr bwMode="auto">
            <a:xfrm>
              <a:off x="123" y="2144"/>
              <a:ext cx="0" cy="1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85" name="Freeform 65"/>
            <p:cNvSpPr>
              <a:spLocks/>
            </p:cNvSpPr>
            <p:nvPr/>
          </p:nvSpPr>
          <p:spPr bwMode="auto">
            <a:xfrm>
              <a:off x="400" y="1502"/>
              <a:ext cx="289" cy="261"/>
            </a:xfrm>
            <a:custGeom>
              <a:avLst/>
              <a:gdLst>
                <a:gd name="T0" fmla="*/ 315 w 315"/>
                <a:gd name="T1" fmla="*/ 0 h 223"/>
                <a:gd name="T2" fmla="*/ 0 w 315"/>
                <a:gd name="T3" fmla="*/ 223 h 223"/>
              </a:gdLst>
              <a:ahLst/>
              <a:cxnLst>
                <a:cxn ang="0">
                  <a:pos x="T0" y="T1"/>
                </a:cxn>
                <a:cxn ang="0">
                  <a:pos x="T2" y="T3"/>
                </a:cxn>
              </a:cxnLst>
              <a:rect l="0" t="0" r="r" b="b"/>
              <a:pathLst>
                <a:path w="315" h="223">
                  <a:moveTo>
                    <a:pt x="315" y="0"/>
                  </a:moveTo>
                  <a:lnTo>
                    <a:pt x="0" y="223"/>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386" name="Oval 66"/>
            <p:cNvSpPr>
              <a:spLocks noChangeArrowheads="1"/>
            </p:cNvSpPr>
            <p:nvPr/>
          </p:nvSpPr>
          <p:spPr bwMode="auto">
            <a:xfrm>
              <a:off x="1094" y="1738"/>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B</a:t>
              </a:r>
            </a:p>
          </p:txBody>
        </p:sp>
        <p:sp>
          <p:nvSpPr>
            <p:cNvPr id="312387" name="Oval 67"/>
            <p:cNvSpPr>
              <a:spLocks noChangeArrowheads="1"/>
            </p:cNvSpPr>
            <p:nvPr/>
          </p:nvSpPr>
          <p:spPr bwMode="auto">
            <a:xfrm>
              <a:off x="712" y="2160"/>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C</a:t>
              </a:r>
            </a:p>
          </p:txBody>
        </p:sp>
        <p:sp>
          <p:nvSpPr>
            <p:cNvPr id="312388" name="Line 68"/>
            <p:cNvSpPr>
              <a:spLocks noChangeShapeType="1"/>
            </p:cNvSpPr>
            <p:nvPr/>
          </p:nvSpPr>
          <p:spPr bwMode="auto">
            <a:xfrm flipH="1">
              <a:off x="375" y="2926"/>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89" name="Text Box 69" descr="白色大理石"/>
            <p:cNvSpPr txBox="1">
              <a:spLocks noChangeArrowheads="1"/>
            </p:cNvSpPr>
            <p:nvPr/>
          </p:nvSpPr>
          <p:spPr bwMode="auto">
            <a:xfrm>
              <a:off x="952" y="2642"/>
              <a:ext cx="218" cy="397"/>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C</a:t>
              </a:r>
              <a:r>
                <a:rPr kumimoji="0" lang="en-US" altLang="zh-CN" sz="2000" b="1" baseline="-25000"/>
                <a:t>R</a:t>
              </a:r>
              <a:endParaRPr kumimoji="0" lang="en-US" altLang="zh-CN" sz="2000" b="1"/>
            </a:p>
          </p:txBody>
        </p:sp>
        <p:sp>
          <p:nvSpPr>
            <p:cNvPr id="312390" name="Line 70"/>
            <p:cNvSpPr>
              <a:spLocks noChangeShapeType="1"/>
            </p:cNvSpPr>
            <p:nvPr/>
          </p:nvSpPr>
          <p:spPr bwMode="auto">
            <a:xfrm>
              <a:off x="1192" y="2642"/>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91" name="Line 71"/>
            <p:cNvSpPr>
              <a:spLocks noChangeShapeType="1"/>
            </p:cNvSpPr>
            <p:nvPr/>
          </p:nvSpPr>
          <p:spPr bwMode="auto">
            <a:xfrm>
              <a:off x="1178" y="3039"/>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92" name="Text Box 72"/>
            <p:cNvSpPr txBox="1">
              <a:spLocks noChangeArrowheads="1"/>
            </p:cNvSpPr>
            <p:nvPr/>
          </p:nvSpPr>
          <p:spPr bwMode="auto">
            <a:xfrm>
              <a:off x="1172" y="2742"/>
              <a:ext cx="255"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kumimoji="0" lang="en-US" altLang="zh-CN" sz="2000" b="1" i="1"/>
                <a:t>h</a:t>
              </a:r>
              <a:r>
                <a:rPr kumimoji="0" lang="en-US" altLang="zh-CN" sz="2000" b="1"/>
                <a:t>-1</a:t>
              </a:r>
            </a:p>
          </p:txBody>
        </p:sp>
        <p:sp>
          <p:nvSpPr>
            <p:cNvPr id="312393" name="Line 73"/>
            <p:cNvSpPr>
              <a:spLocks noChangeShapeType="1"/>
            </p:cNvSpPr>
            <p:nvPr/>
          </p:nvSpPr>
          <p:spPr bwMode="auto">
            <a:xfrm flipH="1">
              <a:off x="1281" y="2652"/>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94" name="Line 74"/>
            <p:cNvSpPr>
              <a:spLocks noChangeShapeType="1"/>
            </p:cNvSpPr>
            <p:nvPr/>
          </p:nvSpPr>
          <p:spPr bwMode="auto">
            <a:xfrm flipH="1">
              <a:off x="1267" y="2924"/>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395" name="Freeform 75"/>
            <p:cNvSpPr>
              <a:spLocks/>
            </p:cNvSpPr>
            <p:nvPr/>
          </p:nvSpPr>
          <p:spPr bwMode="auto">
            <a:xfrm>
              <a:off x="571" y="2387"/>
              <a:ext cx="176" cy="255"/>
            </a:xfrm>
            <a:custGeom>
              <a:avLst/>
              <a:gdLst>
                <a:gd name="T0" fmla="*/ 257 w 257"/>
                <a:gd name="T1" fmla="*/ 0 h 240"/>
                <a:gd name="T2" fmla="*/ 0 w 257"/>
                <a:gd name="T3" fmla="*/ 240 h 240"/>
              </a:gdLst>
              <a:ahLst/>
              <a:cxnLst>
                <a:cxn ang="0">
                  <a:pos x="T0" y="T1"/>
                </a:cxn>
                <a:cxn ang="0">
                  <a:pos x="T2" y="T3"/>
                </a:cxn>
              </a:cxnLst>
              <a:rect l="0" t="0" r="r" b="b"/>
              <a:pathLst>
                <a:path w="257" h="240">
                  <a:moveTo>
                    <a:pt x="257" y="0"/>
                  </a:moveTo>
                  <a:lnTo>
                    <a:pt x="0" y="240"/>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396" name="Freeform 76"/>
            <p:cNvSpPr>
              <a:spLocks/>
            </p:cNvSpPr>
            <p:nvPr/>
          </p:nvSpPr>
          <p:spPr bwMode="auto">
            <a:xfrm>
              <a:off x="939" y="2423"/>
              <a:ext cx="113" cy="219"/>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397" name="Line 77"/>
            <p:cNvSpPr>
              <a:spLocks noChangeShapeType="1"/>
            </p:cNvSpPr>
            <p:nvPr/>
          </p:nvSpPr>
          <p:spPr bwMode="auto">
            <a:xfrm>
              <a:off x="1051" y="3037"/>
              <a:ext cx="0" cy="136"/>
            </a:xfrm>
            <a:prstGeom prst="line">
              <a:avLst/>
            </a:prstGeom>
            <a:noFill/>
            <a:ln w="38100">
              <a:solidFill>
                <a:srgbClr val="FF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12398" name="Oval 78"/>
            <p:cNvSpPr>
              <a:spLocks noChangeArrowheads="1"/>
            </p:cNvSpPr>
            <p:nvPr/>
          </p:nvSpPr>
          <p:spPr bwMode="auto">
            <a:xfrm>
              <a:off x="902" y="3172"/>
              <a:ext cx="295" cy="295"/>
            </a:xfrm>
            <a:prstGeom prst="ellipse">
              <a:avLst/>
            </a:prstGeom>
            <a:gradFill rotWithShape="0">
              <a:gsLst>
                <a:gs pos="0">
                  <a:srgbClr val="FF7C80"/>
                </a:gs>
                <a:gs pos="100000">
                  <a:srgbClr val="FF7C80">
                    <a:gamma/>
                    <a:shade val="46275"/>
                    <a:invGamma/>
                  </a:srgb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rgbClr val="FFFF66"/>
                  </a:solidFill>
                </a:rPr>
                <a:t>X</a:t>
              </a:r>
            </a:p>
          </p:txBody>
        </p:sp>
      </p:grpSp>
      <p:grpSp>
        <p:nvGrpSpPr>
          <p:cNvPr id="312399" name="Group 79"/>
          <p:cNvGrpSpPr>
            <a:grpSpLocks/>
          </p:cNvGrpSpPr>
          <p:nvPr/>
        </p:nvGrpSpPr>
        <p:grpSpPr bwMode="auto">
          <a:xfrm>
            <a:off x="6019800" y="2033588"/>
            <a:ext cx="3209925" cy="2851150"/>
            <a:chOff x="3906" y="1035"/>
            <a:chExt cx="2022" cy="1796"/>
          </a:xfrm>
        </p:grpSpPr>
        <p:sp>
          <p:nvSpPr>
            <p:cNvPr id="312400" name="Text Box 80" descr="白色大理石"/>
            <p:cNvSpPr txBox="1">
              <a:spLocks noChangeArrowheads="1"/>
            </p:cNvSpPr>
            <p:nvPr/>
          </p:nvSpPr>
          <p:spPr bwMode="auto">
            <a:xfrm>
              <a:off x="5506" y="1986"/>
              <a:ext cx="217" cy="526"/>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lnSpc>
                  <a:spcPct val="90000"/>
                </a:lnSpc>
              </a:pPr>
              <a:endParaRPr kumimoji="0" lang="en-US" altLang="zh-CN" sz="2000" b="1"/>
            </a:p>
            <a:p>
              <a:pPr algn="ctr" eaLnBrk="0" hangingPunct="0">
                <a:lnSpc>
                  <a:spcPct val="90000"/>
                </a:lnSpc>
              </a:pPr>
              <a:r>
                <a:rPr kumimoji="0" lang="en-US" altLang="zh-CN" sz="2000" b="1"/>
                <a:t>B</a:t>
              </a:r>
              <a:r>
                <a:rPr kumimoji="0" lang="en-US" altLang="zh-CN" sz="2000" b="1" baseline="-25000"/>
                <a:t>R</a:t>
              </a:r>
              <a:endParaRPr kumimoji="0" lang="en-US" altLang="zh-CN" sz="2000" b="1"/>
            </a:p>
          </p:txBody>
        </p:sp>
        <p:sp>
          <p:nvSpPr>
            <p:cNvPr id="312401" name="Line 81"/>
            <p:cNvSpPr>
              <a:spLocks noChangeShapeType="1"/>
            </p:cNvSpPr>
            <p:nvPr/>
          </p:nvSpPr>
          <p:spPr bwMode="auto">
            <a:xfrm>
              <a:off x="5736" y="1989"/>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02" name="Line 82"/>
            <p:cNvSpPr>
              <a:spLocks noChangeShapeType="1"/>
            </p:cNvSpPr>
            <p:nvPr/>
          </p:nvSpPr>
          <p:spPr bwMode="auto">
            <a:xfrm>
              <a:off x="5732" y="2517"/>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03" name="Text Box 83"/>
            <p:cNvSpPr txBox="1">
              <a:spLocks noChangeArrowheads="1"/>
            </p:cNvSpPr>
            <p:nvPr/>
          </p:nvSpPr>
          <p:spPr bwMode="auto">
            <a:xfrm>
              <a:off x="5710" y="2151"/>
              <a:ext cx="21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endParaRPr kumimoji="0" lang="en-US" altLang="zh-CN" sz="2000" b="1"/>
            </a:p>
          </p:txBody>
        </p:sp>
        <p:sp>
          <p:nvSpPr>
            <p:cNvPr id="312404" name="Line 84"/>
            <p:cNvSpPr>
              <a:spLocks noChangeShapeType="1"/>
            </p:cNvSpPr>
            <p:nvPr/>
          </p:nvSpPr>
          <p:spPr bwMode="auto">
            <a:xfrm flipH="1">
              <a:off x="5814" y="1992"/>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05" name="Freeform 85"/>
            <p:cNvSpPr>
              <a:spLocks/>
            </p:cNvSpPr>
            <p:nvPr/>
          </p:nvSpPr>
          <p:spPr bwMode="auto">
            <a:xfrm>
              <a:off x="5462" y="1792"/>
              <a:ext cx="167" cy="198"/>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406" name="Freeform 86"/>
            <p:cNvSpPr>
              <a:spLocks/>
            </p:cNvSpPr>
            <p:nvPr/>
          </p:nvSpPr>
          <p:spPr bwMode="auto">
            <a:xfrm>
              <a:off x="5120" y="1790"/>
              <a:ext cx="178" cy="209"/>
            </a:xfrm>
            <a:custGeom>
              <a:avLst/>
              <a:gdLst>
                <a:gd name="T0" fmla="*/ 257 w 257"/>
                <a:gd name="T1" fmla="*/ 0 h 240"/>
                <a:gd name="T2" fmla="*/ 0 w 257"/>
                <a:gd name="T3" fmla="*/ 240 h 240"/>
              </a:gdLst>
              <a:ahLst/>
              <a:cxnLst>
                <a:cxn ang="0">
                  <a:pos x="T0" y="T1"/>
                </a:cxn>
                <a:cxn ang="0">
                  <a:pos x="T2" y="T3"/>
                </a:cxn>
              </a:cxnLst>
              <a:rect l="0" t="0" r="r" b="b"/>
              <a:pathLst>
                <a:path w="257" h="240">
                  <a:moveTo>
                    <a:pt x="257" y="0"/>
                  </a:moveTo>
                  <a:lnTo>
                    <a:pt x="0" y="240"/>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407" name="Line 87"/>
            <p:cNvSpPr>
              <a:spLocks noChangeShapeType="1"/>
            </p:cNvSpPr>
            <p:nvPr/>
          </p:nvSpPr>
          <p:spPr bwMode="auto">
            <a:xfrm>
              <a:off x="5814" y="2360"/>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08" name="Oval 88"/>
            <p:cNvSpPr>
              <a:spLocks noChangeArrowheads="1"/>
            </p:cNvSpPr>
            <p:nvPr/>
          </p:nvSpPr>
          <p:spPr bwMode="auto">
            <a:xfrm>
              <a:off x="4865" y="1035"/>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C</a:t>
              </a:r>
            </a:p>
          </p:txBody>
        </p:sp>
        <p:sp>
          <p:nvSpPr>
            <p:cNvPr id="312409" name="Oval 89"/>
            <p:cNvSpPr>
              <a:spLocks noChangeArrowheads="1"/>
            </p:cNvSpPr>
            <p:nvPr/>
          </p:nvSpPr>
          <p:spPr bwMode="auto">
            <a:xfrm>
              <a:off x="5235" y="1536"/>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B</a:t>
              </a:r>
            </a:p>
          </p:txBody>
        </p:sp>
        <p:sp>
          <p:nvSpPr>
            <p:cNvPr id="312410" name="Text Box 90" descr="白色大理石"/>
            <p:cNvSpPr txBox="1">
              <a:spLocks noChangeArrowheads="1"/>
            </p:cNvSpPr>
            <p:nvPr/>
          </p:nvSpPr>
          <p:spPr bwMode="auto">
            <a:xfrm>
              <a:off x="5031" y="1997"/>
              <a:ext cx="218" cy="397"/>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C</a:t>
              </a:r>
              <a:r>
                <a:rPr kumimoji="0" lang="en-US" altLang="zh-CN" sz="2000" b="1" baseline="-25000"/>
                <a:t>R</a:t>
              </a:r>
              <a:endParaRPr kumimoji="0" lang="en-US" altLang="zh-CN" sz="2000" b="1"/>
            </a:p>
          </p:txBody>
        </p:sp>
        <p:sp>
          <p:nvSpPr>
            <p:cNvPr id="312411" name="Line 91"/>
            <p:cNvSpPr>
              <a:spLocks noChangeShapeType="1"/>
            </p:cNvSpPr>
            <p:nvPr/>
          </p:nvSpPr>
          <p:spPr bwMode="auto">
            <a:xfrm>
              <a:off x="4901" y="1997"/>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12" name="Line 92"/>
            <p:cNvSpPr>
              <a:spLocks noChangeShapeType="1"/>
            </p:cNvSpPr>
            <p:nvPr/>
          </p:nvSpPr>
          <p:spPr bwMode="auto">
            <a:xfrm>
              <a:off x="4887" y="2394"/>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13" name="Text Box 93"/>
            <p:cNvSpPr txBox="1">
              <a:spLocks noChangeArrowheads="1"/>
            </p:cNvSpPr>
            <p:nvPr/>
          </p:nvSpPr>
          <p:spPr bwMode="auto">
            <a:xfrm>
              <a:off x="4811" y="2097"/>
              <a:ext cx="255"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kumimoji="0" lang="en-US" altLang="zh-CN" sz="2000" b="1" i="1"/>
                <a:t>h</a:t>
              </a:r>
              <a:r>
                <a:rPr kumimoji="0" lang="en-US" altLang="zh-CN" sz="2000" b="1"/>
                <a:t>-1</a:t>
              </a:r>
            </a:p>
          </p:txBody>
        </p:sp>
        <p:sp>
          <p:nvSpPr>
            <p:cNvPr id="312414" name="Line 94"/>
            <p:cNvSpPr>
              <a:spLocks noChangeShapeType="1"/>
            </p:cNvSpPr>
            <p:nvPr/>
          </p:nvSpPr>
          <p:spPr bwMode="auto">
            <a:xfrm flipH="1">
              <a:off x="4930" y="2008"/>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15" name="Line 95"/>
            <p:cNvSpPr>
              <a:spLocks noChangeShapeType="1"/>
            </p:cNvSpPr>
            <p:nvPr/>
          </p:nvSpPr>
          <p:spPr bwMode="auto">
            <a:xfrm flipH="1">
              <a:off x="4926" y="2279"/>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16" name="Freeform 96"/>
            <p:cNvSpPr>
              <a:spLocks/>
            </p:cNvSpPr>
            <p:nvPr/>
          </p:nvSpPr>
          <p:spPr bwMode="auto">
            <a:xfrm>
              <a:off x="5122" y="1281"/>
              <a:ext cx="226" cy="255"/>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417" name="Oval 97"/>
            <p:cNvSpPr>
              <a:spLocks noChangeArrowheads="1"/>
            </p:cNvSpPr>
            <p:nvPr/>
          </p:nvSpPr>
          <p:spPr bwMode="auto">
            <a:xfrm>
              <a:off x="4383" y="1517"/>
              <a:ext cx="295" cy="295"/>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chemeClr val="bg1"/>
                  </a:solidFill>
                </a:rPr>
                <a:t>A</a:t>
              </a:r>
            </a:p>
          </p:txBody>
        </p:sp>
        <p:sp>
          <p:nvSpPr>
            <p:cNvPr id="312418" name="Line 98"/>
            <p:cNvSpPr>
              <a:spLocks noChangeShapeType="1"/>
            </p:cNvSpPr>
            <p:nvPr/>
          </p:nvSpPr>
          <p:spPr bwMode="auto">
            <a:xfrm>
              <a:off x="3988" y="2010"/>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19" name="Text Box 99" descr="白色大理石"/>
            <p:cNvSpPr txBox="1">
              <a:spLocks noChangeArrowheads="1"/>
            </p:cNvSpPr>
            <p:nvPr/>
          </p:nvSpPr>
          <p:spPr bwMode="auto">
            <a:xfrm>
              <a:off x="4119" y="2001"/>
              <a:ext cx="218" cy="525"/>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A</a:t>
              </a:r>
              <a:r>
                <a:rPr kumimoji="0" lang="en-US" altLang="zh-CN" b="1" baseline="-25000"/>
                <a:t>L</a:t>
              </a:r>
              <a:endParaRPr kumimoji="0" lang="en-US" altLang="zh-CN" b="1"/>
            </a:p>
          </p:txBody>
        </p:sp>
        <p:sp>
          <p:nvSpPr>
            <p:cNvPr id="312420" name="Line 100"/>
            <p:cNvSpPr>
              <a:spLocks noChangeShapeType="1"/>
            </p:cNvSpPr>
            <p:nvPr/>
          </p:nvSpPr>
          <p:spPr bwMode="auto">
            <a:xfrm>
              <a:off x="3986" y="2525"/>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21" name="Text Box 101"/>
            <p:cNvSpPr txBox="1">
              <a:spLocks noChangeArrowheads="1"/>
            </p:cNvSpPr>
            <p:nvPr/>
          </p:nvSpPr>
          <p:spPr bwMode="auto">
            <a:xfrm>
              <a:off x="3906" y="2184"/>
              <a:ext cx="219"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p>
              <a:pPr algn="ctr" eaLnBrk="0" hangingPunct="0"/>
              <a:r>
                <a:rPr kumimoji="0" lang="en-US" altLang="zh-CN" sz="2000" b="1" i="1"/>
                <a:t>h</a:t>
              </a:r>
            </a:p>
          </p:txBody>
        </p:sp>
        <p:sp>
          <p:nvSpPr>
            <p:cNvPr id="312422" name="Line 102"/>
            <p:cNvSpPr>
              <a:spLocks noChangeShapeType="1"/>
            </p:cNvSpPr>
            <p:nvPr/>
          </p:nvSpPr>
          <p:spPr bwMode="auto">
            <a:xfrm flipH="1">
              <a:off x="4028" y="2020"/>
              <a:ext cx="0" cy="1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23" name="Line 103"/>
            <p:cNvSpPr>
              <a:spLocks noChangeShapeType="1"/>
            </p:cNvSpPr>
            <p:nvPr/>
          </p:nvSpPr>
          <p:spPr bwMode="auto">
            <a:xfrm>
              <a:off x="4012" y="2387"/>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24" name="Freeform 104"/>
            <p:cNvSpPr>
              <a:spLocks/>
            </p:cNvSpPr>
            <p:nvPr/>
          </p:nvSpPr>
          <p:spPr bwMode="auto">
            <a:xfrm>
              <a:off x="4241" y="1746"/>
              <a:ext cx="194" cy="253"/>
            </a:xfrm>
            <a:custGeom>
              <a:avLst/>
              <a:gdLst>
                <a:gd name="T0" fmla="*/ 315 w 315"/>
                <a:gd name="T1" fmla="*/ 0 h 223"/>
                <a:gd name="T2" fmla="*/ 0 w 315"/>
                <a:gd name="T3" fmla="*/ 223 h 223"/>
              </a:gdLst>
              <a:ahLst/>
              <a:cxnLst>
                <a:cxn ang="0">
                  <a:pos x="T0" y="T1"/>
                </a:cxn>
                <a:cxn ang="0">
                  <a:pos x="T2" y="T3"/>
                </a:cxn>
              </a:cxnLst>
              <a:rect l="0" t="0" r="r" b="b"/>
              <a:pathLst>
                <a:path w="315" h="223">
                  <a:moveTo>
                    <a:pt x="315" y="0"/>
                  </a:moveTo>
                  <a:lnTo>
                    <a:pt x="0" y="223"/>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425" name="Freeform 105"/>
            <p:cNvSpPr>
              <a:spLocks/>
            </p:cNvSpPr>
            <p:nvPr/>
          </p:nvSpPr>
          <p:spPr bwMode="auto">
            <a:xfrm>
              <a:off x="4609" y="1253"/>
              <a:ext cx="275" cy="292"/>
            </a:xfrm>
            <a:custGeom>
              <a:avLst/>
              <a:gdLst>
                <a:gd name="T0" fmla="*/ 315 w 315"/>
                <a:gd name="T1" fmla="*/ 0 h 223"/>
                <a:gd name="T2" fmla="*/ 0 w 315"/>
                <a:gd name="T3" fmla="*/ 223 h 223"/>
              </a:gdLst>
              <a:ahLst/>
              <a:cxnLst>
                <a:cxn ang="0">
                  <a:pos x="T0" y="T1"/>
                </a:cxn>
                <a:cxn ang="0">
                  <a:pos x="T2" y="T3"/>
                </a:cxn>
              </a:cxnLst>
              <a:rect l="0" t="0" r="r" b="b"/>
              <a:pathLst>
                <a:path w="315" h="223">
                  <a:moveTo>
                    <a:pt x="315" y="0"/>
                  </a:moveTo>
                  <a:lnTo>
                    <a:pt x="0" y="223"/>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2426" name="Text Box 106" descr="白色大理石"/>
            <p:cNvSpPr txBox="1">
              <a:spLocks noChangeArrowheads="1"/>
            </p:cNvSpPr>
            <p:nvPr/>
          </p:nvSpPr>
          <p:spPr bwMode="auto">
            <a:xfrm>
              <a:off x="4581" y="2006"/>
              <a:ext cx="218" cy="397"/>
            </a:xfrm>
            <a:prstGeom prst="rect">
              <a:avLst/>
            </a:prstGeom>
            <a:blipFill dpi="0" rotWithShape="0">
              <a:blip r:embed="rId2"/>
              <a:srcRect/>
              <a:tile tx="0" ty="0" sx="100000" sy="100000" flip="none" algn="tl"/>
            </a:blipFill>
            <a:ln w="9525">
              <a:solidFill>
                <a:srgbClr val="000000"/>
              </a:solidFill>
              <a:miter lim="800000"/>
              <a:headEnd/>
              <a:tailEnd/>
            </a:ln>
          </p:spPr>
          <p:txBody>
            <a:bodyPr lIns="0" tIns="72000" rIns="0" bIns="0"/>
            <a:lstStyle/>
            <a:p>
              <a:pPr algn="ctr" eaLnBrk="0" hangingPunct="0">
                <a:spcBef>
                  <a:spcPct val="50000"/>
                </a:spcBef>
              </a:pPr>
              <a:r>
                <a:rPr kumimoji="0" lang="en-US" altLang="zh-CN" sz="2000" b="1"/>
                <a:t>C</a:t>
              </a:r>
              <a:r>
                <a:rPr kumimoji="0" lang="en-US" altLang="zh-CN" sz="2000" b="1" baseline="-25000"/>
                <a:t>L</a:t>
              </a:r>
              <a:endParaRPr kumimoji="0" lang="en-US" altLang="zh-CN" sz="2000" b="1"/>
            </a:p>
          </p:txBody>
        </p:sp>
        <p:sp>
          <p:nvSpPr>
            <p:cNvPr id="312427" name="Line 107"/>
            <p:cNvSpPr>
              <a:spLocks noChangeShapeType="1"/>
            </p:cNvSpPr>
            <p:nvPr/>
          </p:nvSpPr>
          <p:spPr bwMode="auto">
            <a:xfrm>
              <a:off x="4451" y="2006"/>
              <a:ext cx="13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28" name="Line 108"/>
            <p:cNvSpPr>
              <a:spLocks noChangeShapeType="1"/>
            </p:cNvSpPr>
            <p:nvPr/>
          </p:nvSpPr>
          <p:spPr bwMode="auto">
            <a:xfrm>
              <a:off x="4437" y="2403"/>
              <a:ext cx="1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29" name="Text Box 109"/>
            <p:cNvSpPr txBox="1">
              <a:spLocks noChangeArrowheads="1"/>
            </p:cNvSpPr>
            <p:nvPr/>
          </p:nvSpPr>
          <p:spPr bwMode="auto">
            <a:xfrm>
              <a:off x="4341" y="2070"/>
              <a:ext cx="255"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kumimoji="0" lang="en-US" altLang="zh-CN" sz="2000" b="1" i="1"/>
                <a:t>h</a:t>
              </a:r>
              <a:r>
                <a:rPr kumimoji="0" lang="en-US" altLang="zh-CN" sz="2000" b="1"/>
                <a:t>-1</a:t>
              </a:r>
            </a:p>
          </p:txBody>
        </p:sp>
        <p:sp>
          <p:nvSpPr>
            <p:cNvPr id="312430" name="Line 110"/>
            <p:cNvSpPr>
              <a:spLocks noChangeShapeType="1"/>
            </p:cNvSpPr>
            <p:nvPr/>
          </p:nvSpPr>
          <p:spPr bwMode="auto">
            <a:xfrm flipH="1">
              <a:off x="4490" y="2016"/>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31" name="Line 111"/>
            <p:cNvSpPr>
              <a:spLocks noChangeShapeType="1"/>
            </p:cNvSpPr>
            <p:nvPr/>
          </p:nvSpPr>
          <p:spPr bwMode="auto">
            <a:xfrm flipH="1">
              <a:off x="4486" y="2288"/>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2432" name="Line 112"/>
            <p:cNvSpPr>
              <a:spLocks noChangeShapeType="1"/>
            </p:cNvSpPr>
            <p:nvPr/>
          </p:nvSpPr>
          <p:spPr bwMode="auto">
            <a:xfrm>
              <a:off x="5136" y="2401"/>
              <a:ext cx="0" cy="136"/>
            </a:xfrm>
            <a:prstGeom prst="line">
              <a:avLst/>
            </a:prstGeom>
            <a:noFill/>
            <a:ln w="38100">
              <a:solidFill>
                <a:srgbClr val="FF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12433" name="Oval 113"/>
            <p:cNvSpPr>
              <a:spLocks noChangeArrowheads="1"/>
            </p:cNvSpPr>
            <p:nvPr/>
          </p:nvSpPr>
          <p:spPr bwMode="auto">
            <a:xfrm>
              <a:off x="4987" y="2536"/>
              <a:ext cx="295" cy="295"/>
            </a:xfrm>
            <a:prstGeom prst="ellipse">
              <a:avLst/>
            </a:prstGeom>
            <a:gradFill rotWithShape="0">
              <a:gsLst>
                <a:gs pos="0">
                  <a:srgbClr val="FF7C80"/>
                </a:gs>
                <a:gs pos="100000">
                  <a:srgbClr val="FF7C80">
                    <a:gamma/>
                    <a:shade val="46275"/>
                    <a:invGamma/>
                  </a:srgbClr>
                </a:gs>
              </a:gsLst>
              <a:path path="rect">
                <a:fillToRect r="100000" b="100000"/>
              </a:path>
            </a:gradFill>
            <a:ln>
              <a:noFill/>
            </a:ln>
            <a:extLst>
              <a:ext uri="{91240B29-F687-4F45-9708-019B960494DF}">
                <a14:hiddenLine xmlns:a14="http://schemas.microsoft.com/office/drawing/2010/main" w="38100">
                  <a:solidFill>
                    <a:srgbClr val="800000"/>
                  </a:solidFill>
                  <a:round/>
                  <a:headEnd/>
                  <a:tailEnd/>
                </a14:hiddenLine>
              </a:ext>
            </a:extLst>
          </p:spPr>
          <p:txBody>
            <a:bodyPr tIns="0" bIns="0"/>
            <a:lstStyle/>
            <a:p>
              <a:pPr algn="just" eaLnBrk="0" hangingPunct="0">
                <a:lnSpc>
                  <a:spcPct val="90000"/>
                </a:lnSpc>
              </a:pPr>
              <a:r>
                <a:rPr kumimoji="0" lang="en-US" altLang="zh-CN" b="1">
                  <a:solidFill>
                    <a:srgbClr val="FFFF66"/>
                  </a:solidFill>
                </a:rPr>
                <a:t>X</a:t>
              </a:r>
            </a:p>
          </p:txBody>
        </p:sp>
        <p:sp>
          <p:nvSpPr>
            <p:cNvPr id="312434" name="Freeform 114"/>
            <p:cNvSpPr>
              <a:spLocks/>
            </p:cNvSpPr>
            <p:nvPr/>
          </p:nvSpPr>
          <p:spPr bwMode="auto">
            <a:xfrm>
              <a:off x="4590" y="1781"/>
              <a:ext cx="114" cy="227"/>
            </a:xfrm>
            <a:custGeom>
              <a:avLst/>
              <a:gdLst>
                <a:gd name="T0" fmla="*/ 0 w 240"/>
                <a:gd name="T1" fmla="*/ 0 h 244"/>
                <a:gd name="T2" fmla="*/ 240 w 240"/>
                <a:gd name="T3" fmla="*/ 244 h 244"/>
              </a:gdLst>
              <a:ahLst/>
              <a:cxnLst>
                <a:cxn ang="0">
                  <a:pos x="T0" y="T1"/>
                </a:cxn>
                <a:cxn ang="0">
                  <a:pos x="T2" y="T3"/>
                </a:cxn>
              </a:cxnLst>
              <a:rect l="0" t="0" r="r" b="b"/>
              <a:pathLst>
                <a:path w="240" h="244">
                  <a:moveTo>
                    <a:pt x="0" y="0"/>
                  </a:moveTo>
                  <a:lnTo>
                    <a:pt x="240" y="244"/>
                  </a:lnTo>
                </a:path>
              </a:pathLst>
            </a:custGeom>
            <a:noFill/>
            <a:ln w="38100" cmpd="sng">
              <a:solidFill>
                <a:srgbClr val="0066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12435" name="Group 115"/>
          <p:cNvGrpSpPr>
            <a:grpSpLocks/>
          </p:cNvGrpSpPr>
          <p:nvPr/>
        </p:nvGrpSpPr>
        <p:grpSpPr bwMode="auto">
          <a:xfrm>
            <a:off x="7227888" y="1808163"/>
            <a:ext cx="1543050" cy="1287462"/>
            <a:chOff x="4553" y="1139"/>
            <a:chExt cx="972" cy="811"/>
          </a:xfrm>
        </p:grpSpPr>
        <p:sp>
          <p:nvSpPr>
            <p:cNvPr id="312436" name="Text Box 116"/>
            <p:cNvSpPr txBox="1">
              <a:spLocks noChangeArrowheads="1"/>
            </p:cNvSpPr>
            <p:nvPr/>
          </p:nvSpPr>
          <p:spPr bwMode="auto">
            <a:xfrm>
              <a:off x="5006" y="1139"/>
              <a:ext cx="17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2000" b="1"/>
                <a:t>0</a:t>
              </a:r>
            </a:p>
          </p:txBody>
        </p:sp>
        <p:sp>
          <p:nvSpPr>
            <p:cNvPr id="312437" name="Text Box 117"/>
            <p:cNvSpPr txBox="1">
              <a:spLocks noChangeArrowheads="1"/>
            </p:cNvSpPr>
            <p:nvPr/>
          </p:nvSpPr>
          <p:spPr bwMode="auto">
            <a:xfrm>
              <a:off x="5346" y="1621"/>
              <a:ext cx="17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2000" b="1"/>
                <a:t>0</a:t>
              </a:r>
            </a:p>
          </p:txBody>
        </p:sp>
        <p:sp>
          <p:nvSpPr>
            <p:cNvPr id="312438" name="Text Box 118"/>
            <p:cNvSpPr txBox="1">
              <a:spLocks noChangeArrowheads="1"/>
            </p:cNvSpPr>
            <p:nvPr/>
          </p:nvSpPr>
          <p:spPr bwMode="auto">
            <a:xfrm>
              <a:off x="4553" y="1706"/>
              <a:ext cx="17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hangingPunct="0"/>
              <a:r>
                <a:rPr kumimoji="0" lang="en-US" altLang="zh-CN" sz="2000" b="1"/>
                <a:t>1</a:t>
              </a:r>
            </a:p>
          </p:txBody>
        </p:sp>
      </p:grpSp>
    </p:spTree>
    <p:extLst>
      <p:ext uri="{BB962C8B-B14F-4D97-AF65-F5344CB8AC3E}">
        <p14:creationId xmlns:p14="http://schemas.microsoft.com/office/powerpoint/2010/main" val="2808110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Text Box 2"/>
          <p:cNvSpPr txBox="1">
            <a:spLocks noChangeArrowheads="1"/>
          </p:cNvSpPr>
          <p:nvPr/>
        </p:nvSpPr>
        <p:spPr bwMode="auto">
          <a:xfrm>
            <a:off x="152400" y="1219200"/>
            <a:ext cx="8740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rIns="0">
            <a:spAutoFit/>
          </a:bodyPr>
          <a:lstStyle/>
          <a:p>
            <a:r>
              <a:rPr lang="zh-CN" altLang="en-US" sz="2800" b="1">
                <a:solidFill>
                  <a:srgbClr val="003366"/>
                </a:solidFill>
                <a:ea typeface="楷体_GB2312" charset="0"/>
              </a:rPr>
              <a:t>设有关键码序列</a:t>
            </a:r>
            <a:r>
              <a:rPr lang="en-US" altLang="zh-CN" sz="2800" b="1">
                <a:solidFill>
                  <a:srgbClr val="003366"/>
                </a:solidFill>
                <a:ea typeface="楷体_GB2312" charset="0"/>
              </a:rPr>
              <a:t>{5, 4, 2, 8, 6, 9}</a:t>
            </a:r>
            <a:r>
              <a:rPr lang="zh-CN" altLang="en-US" sz="2800" b="1">
                <a:solidFill>
                  <a:srgbClr val="003366"/>
                </a:solidFill>
                <a:ea typeface="楷体_GB2312" charset="0"/>
              </a:rPr>
              <a:t>，构造平衡树</a:t>
            </a:r>
          </a:p>
        </p:txBody>
      </p:sp>
      <p:grpSp>
        <p:nvGrpSpPr>
          <p:cNvPr id="313347" name="Group 3"/>
          <p:cNvGrpSpPr>
            <a:grpSpLocks/>
          </p:cNvGrpSpPr>
          <p:nvPr/>
        </p:nvGrpSpPr>
        <p:grpSpPr bwMode="auto">
          <a:xfrm>
            <a:off x="1154113" y="2959100"/>
            <a:ext cx="1825625" cy="1733550"/>
            <a:chOff x="465" y="1848"/>
            <a:chExt cx="1150" cy="1092"/>
          </a:xfrm>
        </p:grpSpPr>
        <p:sp>
          <p:nvSpPr>
            <p:cNvPr id="313348" name="Oval 4"/>
            <p:cNvSpPr>
              <a:spLocks noChangeArrowheads="1"/>
            </p:cNvSpPr>
            <p:nvPr/>
          </p:nvSpPr>
          <p:spPr bwMode="auto">
            <a:xfrm>
              <a:off x="1349" y="1848"/>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5</a:t>
              </a:r>
              <a:endParaRPr lang="en-US" altLang="zh-CN"/>
            </a:p>
          </p:txBody>
        </p:sp>
        <p:sp>
          <p:nvSpPr>
            <p:cNvPr id="313349" name="Oval 5"/>
            <p:cNvSpPr>
              <a:spLocks noChangeArrowheads="1"/>
            </p:cNvSpPr>
            <p:nvPr/>
          </p:nvSpPr>
          <p:spPr bwMode="auto">
            <a:xfrm>
              <a:off x="907" y="2268"/>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4</a:t>
              </a:r>
              <a:endParaRPr lang="en-US" altLang="zh-CN"/>
            </a:p>
          </p:txBody>
        </p:sp>
        <p:sp>
          <p:nvSpPr>
            <p:cNvPr id="313350" name="Oval 6"/>
            <p:cNvSpPr>
              <a:spLocks noChangeArrowheads="1"/>
            </p:cNvSpPr>
            <p:nvPr/>
          </p:nvSpPr>
          <p:spPr bwMode="auto">
            <a:xfrm>
              <a:off x="465" y="2688"/>
              <a:ext cx="265"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2</a:t>
              </a:r>
              <a:endParaRPr lang="en-US" altLang="zh-CN"/>
            </a:p>
          </p:txBody>
        </p:sp>
        <p:sp>
          <p:nvSpPr>
            <p:cNvPr id="313351" name="Line 7"/>
            <p:cNvSpPr>
              <a:spLocks noChangeShapeType="1"/>
            </p:cNvSpPr>
            <p:nvPr/>
          </p:nvSpPr>
          <p:spPr bwMode="auto">
            <a:xfrm flipH="1">
              <a:off x="1128" y="2058"/>
              <a:ext cx="266" cy="25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3352" name="Line 8"/>
            <p:cNvSpPr>
              <a:spLocks noChangeShapeType="1"/>
            </p:cNvSpPr>
            <p:nvPr/>
          </p:nvSpPr>
          <p:spPr bwMode="auto">
            <a:xfrm flipH="1">
              <a:off x="686" y="2478"/>
              <a:ext cx="266" cy="25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313354" name="Group 10"/>
          <p:cNvGrpSpPr>
            <a:grpSpLocks/>
          </p:cNvGrpSpPr>
          <p:nvPr/>
        </p:nvGrpSpPr>
        <p:grpSpPr bwMode="auto">
          <a:xfrm>
            <a:off x="3170238" y="3409950"/>
            <a:ext cx="979487" cy="844550"/>
            <a:chOff x="1997" y="2148"/>
            <a:chExt cx="617" cy="532"/>
          </a:xfrm>
        </p:grpSpPr>
        <p:sp>
          <p:nvSpPr>
            <p:cNvPr id="313355" name="AutoShape 11"/>
            <p:cNvSpPr>
              <a:spLocks noChangeArrowheads="1"/>
            </p:cNvSpPr>
            <p:nvPr/>
          </p:nvSpPr>
          <p:spPr bwMode="auto">
            <a:xfrm>
              <a:off x="2047" y="2431"/>
              <a:ext cx="567" cy="249"/>
            </a:xfrm>
            <a:prstGeom prst="rightArrow">
              <a:avLst>
                <a:gd name="adj1" fmla="val 50000"/>
                <a:gd name="adj2" fmla="val 56928"/>
              </a:avLst>
            </a:prstGeom>
            <a:solidFill>
              <a:schemeClr val="accent1"/>
            </a:solidFill>
            <a:ln>
              <a:noFill/>
            </a:ln>
            <a:effectLst/>
            <a:extLst>
              <a:ext uri="{91240B29-F687-4F45-9708-019B960494DF}">
                <a14:hiddenLine xmlns:a14="http://schemas.microsoft.com/office/drawing/2010/main" w="9525">
                  <a:solidFill>
                    <a:srgbClr val="9933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3356" name="Text Box 12"/>
            <p:cNvSpPr txBox="1">
              <a:spLocks noChangeArrowheads="1"/>
            </p:cNvSpPr>
            <p:nvPr/>
          </p:nvSpPr>
          <p:spPr bwMode="auto">
            <a:xfrm>
              <a:off x="1997" y="2148"/>
              <a:ext cx="5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spcBef>
                  <a:spcPct val="50000"/>
                </a:spcBef>
              </a:pPr>
              <a:r>
                <a:rPr kumimoji="0" lang="en-US" altLang="zh-CN" b="1">
                  <a:solidFill>
                    <a:schemeClr val="accent2"/>
                  </a:solidFill>
                  <a:ea typeface="华文行楷" charset="-122"/>
                </a:rPr>
                <a:t>LL</a:t>
              </a:r>
              <a:r>
                <a:rPr kumimoji="0" lang="zh-CN" altLang="en-US" b="1">
                  <a:solidFill>
                    <a:schemeClr val="accent2"/>
                  </a:solidFill>
                </a:rPr>
                <a:t>型</a:t>
              </a:r>
            </a:p>
          </p:txBody>
        </p:sp>
      </p:grpSp>
      <p:grpSp>
        <p:nvGrpSpPr>
          <p:cNvPr id="313357" name="Group 13"/>
          <p:cNvGrpSpPr>
            <a:grpSpLocks/>
          </p:cNvGrpSpPr>
          <p:nvPr/>
        </p:nvGrpSpPr>
        <p:grpSpPr bwMode="auto">
          <a:xfrm>
            <a:off x="4926013" y="3184525"/>
            <a:ext cx="1825625" cy="1066800"/>
            <a:chOff x="3260" y="1366"/>
            <a:chExt cx="1150" cy="672"/>
          </a:xfrm>
        </p:grpSpPr>
        <p:sp>
          <p:nvSpPr>
            <p:cNvPr id="313358" name="Oval 14"/>
            <p:cNvSpPr>
              <a:spLocks noChangeArrowheads="1"/>
            </p:cNvSpPr>
            <p:nvPr/>
          </p:nvSpPr>
          <p:spPr bwMode="auto">
            <a:xfrm>
              <a:off x="3702" y="1366"/>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4</a:t>
              </a:r>
              <a:endParaRPr lang="en-US" altLang="zh-CN"/>
            </a:p>
          </p:txBody>
        </p:sp>
        <p:sp>
          <p:nvSpPr>
            <p:cNvPr id="313359" name="Oval 15"/>
            <p:cNvSpPr>
              <a:spLocks noChangeArrowheads="1"/>
            </p:cNvSpPr>
            <p:nvPr/>
          </p:nvSpPr>
          <p:spPr bwMode="auto">
            <a:xfrm>
              <a:off x="3260" y="1786"/>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2</a:t>
              </a:r>
              <a:endParaRPr lang="en-US" altLang="zh-CN"/>
            </a:p>
          </p:txBody>
        </p:sp>
        <p:sp>
          <p:nvSpPr>
            <p:cNvPr id="313360" name="Line 16"/>
            <p:cNvSpPr>
              <a:spLocks noChangeShapeType="1"/>
            </p:cNvSpPr>
            <p:nvPr/>
          </p:nvSpPr>
          <p:spPr bwMode="auto">
            <a:xfrm flipH="1">
              <a:off x="3481" y="1576"/>
              <a:ext cx="266" cy="25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3361" name="Oval 17"/>
            <p:cNvSpPr>
              <a:spLocks noChangeArrowheads="1"/>
            </p:cNvSpPr>
            <p:nvPr/>
          </p:nvSpPr>
          <p:spPr bwMode="auto">
            <a:xfrm>
              <a:off x="4145" y="1786"/>
              <a:ext cx="265"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5</a:t>
              </a:r>
              <a:endParaRPr lang="en-US" altLang="zh-CN"/>
            </a:p>
          </p:txBody>
        </p:sp>
        <p:sp>
          <p:nvSpPr>
            <p:cNvPr id="313362" name="Line 18"/>
            <p:cNvSpPr>
              <a:spLocks noChangeShapeType="1"/>
            </p:cNvSpPr>
            <p:nvPr/>
          </p:nvSpPr>
          <p:spPr bwMode="auto">
            <a:xfrm>
              <a:off x="3926" y="1565"/>
              <a:ext cx="265" cy="25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313363" name="Group 19"/>
          <p:cNvGrpSpPr>
            <a:grpSpLocks/>
          </p:cNvGrpSpPr>
          <p:nvPr/>
        </p:nvGrpSpPr>
        <p:grpSpPr bwMode="auto">
          <a:xfrm>
            <a:off x="6415088" y="4219575"/>
            <a:ext cx="949325" cy="1587500"/>
            <a:chOff x="4041" y="2658"/>
            <a:chExt cx="598" cy="1000"/>
          </a:xfrm>
        </p:grpSpPr>
        <p:sp>
          <p:nvSpPr>
            <p:cNvPr id="313364" name="Oval 20"/>
            <p:cNvSpPr>
              <a:spLocks noChangeArrowheads="1"/>
            </p:cNvSpPr>
            <p:nvPr/>
          </p:nvSpPr>
          <p:spPr bwMode="auto">
            <a:xfrm>
              <a:off x="4373" y="2895"/>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8</a:t>
              </a:r>
              <a:endParaRPr lang="en-US" altLang="zh-CN"/>
            </a:p>
          </p:txBody>
        </p:sp>
        <p:sp>
          <p:nvSpPr>
            <p:cNvPr id="313365" name="Line 21"/>
            <p:cNvSpPr>
              <a:spLocks noChangeShapeType="1"/>
            </p:cNvSpPr>
            <p:nvPr/>
          </p:nvSpPr>
          <p:spPr bwMode="auto">
            <a:xfrm>
              <a:off x="4196" y="2658"/>
              <a:ext cx="265" cy="25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3366" name="Oval 22"/>
            <p:cNvSpPr>
              <a:spLocks noChangeArrowheads="1"/>
            </p:cNvSpPr>
            <p:nvPr/>
          </p:nvSpPr>
          <p:spPr bwMode="auto">
            <a:xfrm>
              <a:off x="4041" y="3406"/>
              <a:ext cx="265"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6</a:t>
              </a:r>
              <a:endParaRPr lang="en-US" altLang="zh-CN"/>
            </a:p>
          </p:txBody>
        </p:sp>
        <p:sp>
          <p:nvSpPr>
            <p:cNvPr id="313367" name="Line 23"/>
            <p:cNvSpPr>
              <a:spLocks noChangeShapeType="1"/>
            </p:cNvSpPr>
            <p:nvPr/>
          </p:nvSpPr>
          <p:spPr bwMode="auto">
            <a:xfrm flipH="1">
              <a:off x="4212" y="3124"/>
              <a:ext cx="227" cy="301"/>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0986867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13347"/>
                                        </p:tgtEl>
                                        <p:attrNameLst>
                                          <p:attrName>style.visibility</p:attrName>
                                        </p:attrNameLst>
                                      </p:cBhvr>
                                      <p:to>
                                        <p:strVal val="visible"/>
                                      </p:to>
                                    </p:set>
                                    <p:animEffect transition="in" filter="wipe(up)">
                                      <p:cBhvr>
                                        <p:cTn id="7" dur="500"/>
                                        <p:tgtEl>
                                          <p:spTgt spid="3133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13354"/>
                                        </p:tgtEl>
                                        <p:attrNameLst>
                                          <p:attrName>style.visibility</p:attrName>
                                        </p:attrNameLst>
                                      </p:cBhvr>
                                      <p:to>
                                        <p:strVal val="visible"/>
                                      </p:to>
                                    </p:set>
                                    <p:animEffect transition="in" filter="wipe(down)">
                                      <p:cBhvr>
                                        <p:cTn id="12" dur="500"/>
                                        <p:tgtEl>
                                          <p:spTgt spid="3133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1335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313363"/>
                                        </p:tgtEl>
                                        <p:attrNameLst>
                                          <p:attrName>style.visibility</p:attrName>
                                        </p:attrNameLst>
                                      </p:cBhvr>
                                      <p:to>
                                        <p:strVal val="visible"/>
                                      </p:to>
                                    </p:set>
                                    <p:animEffect transition="in" filter="wipe(up)">
                                      <p:cBhvr>
                                        <p:cTn id="21" dur="500"/>
                                        <p:tgtEl>
                                          <p:spTgt spid="313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4370" name="Group 2"/>
          <p:cNvGrpSpPr>
            <a:grpSpLocks/>
          </p:cNvGrpSpPr>
          <p:nvPr/>
        </p:nvGrpSpPr>
        <p:grpSpPr bwMode="auto">
          <a:xfrm>
            <a:off x="836613" y="2033588"/>
            <a:ext cx="2447925" cy="2605087"/>
            <a:chOff x="119" y="2544"/>
            <a:chExt cx="1542" cy="1641"/>
          </a:xfrm>
        </p:grpSpPr>
        <p:sp>
          <p:nvSpPr>
            <p:cNvPr id="314371" name="Oval 3"/>
            <p:cNvSpPr>
              <a:spLocks noChangeArrowheads="1"/>
            </p:cNvSpPr>
            <p:nvPr/>
          </p:nvSpPr>
          <p:spPr bwMode="auto">
            <a:xfrm>
              <a:off x="1395" y="3422"/>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8</a:t>
              </a:r>
              <a:endParaRPr lang="en-US" altLang="zh-CN"/>
            </a:p>
          </p:txBody>
        </p:sp>
        <p:sp>
          <p:nvSpPr>
            <p:cNvPr id="314372" name="Line 4"/>
            <p:cNvSpPr>
              <a:spLocks noChangeShapeType="1"/>
            </p:cNvSpPr>
            <p:nvPr/>
          </p:nvSpPr>
          <p:spPr bwMode="auto">
            <a:xfrm>
              <a:off x="1218" y="3185"/>
              <a:ext cx="265" cy="25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4373" name="Oval 5"/>
            <p:cNvSpPr>
              <a:spLocks noChangeArrowheads="1"/>
            </p:cNvSpPr>
            <p:nvPr/>
          </p:nvSpPr>
          <p:spPr bwMode="auto">
            <a:xfrm>
              <a:off x="1063" y="3933"/>
              <a:ext cx="265"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6</a:t>
              </a:r>
              <a:endParaRPr lang="en-US" altLang="zh-CN"/>
            </a:p>
          </p:txBody>
        </p:sp>
        <p:sp>
          <p:nvSpPr>
            <p:cNvPr id="314374" name="Line 6"/>
            <p:cNvSpPr>
              <a:spLocks noChangeShapeType="1"/>
            </p:cNvSpPr>
            <p:nvPr/>
          </p:nvSpPr>
          <p:spPr bwMode="auto">
            <a:xfrm flipH="1">
              <a:off x="1234" y="3651"/>
              <a:ext cx="227" cy="301"/>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nvGrpSpPr>
            <p:cNvPr id="314375" name="Group 7"/>
            <p:cNvGrpSpPr>
              <a:grpSpLocks/>
            </p:cNvGrpSpPr>
            <p:nvPr/>
          </p:nvGrpSpPr>
          <p:grpSpPr bwMode="auto">
            <a:xfrm>
              <a:off x="119" y="2544"/>
              <a:ext cx="1150" cy="672"/>
              <a:chOff x="3260" y="1366"/>
              <a:chExt cx="1150" cy="672"/>
            </a:xfrm>
          </p:grpSpPr>
          <p:sp>
            <p:nvSpPr>
              <p:cNvPr id="314376" name="Oval 8"/>
              <p:cNvSpPr>
                <a:spLocks noChangeArrowheads="1"/>
              </p:cNvSpPr>
              <p:nvPr/>
            </p:nvSpPr>
            <p:spPr bwMode="auto">
              <a:xfrm>
                <a:off x="3702" y="1366"/>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4</a:t>
                </a:r>
                <a:endParaRPr lang="en-US" altLang="zh-CN"/>
              </a:p>
            </p:txBody>
          </p:sp>
          <p:sp>
            <p:nvSpPr>
              <p:cNvPr id="314377" name="Oval 9"/>
              <p:cNvSpPr>
                <a:spLocks noChangeArrowheads="1"/>
              </p:cNvSpPr>
              <p:nvPr/>
            </p:nvSpPr>
            <p:spPr bwMode="auto">
              <a:xfrm>
                <a:off x="3260" y="1786"/>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2</a:t>
                </a:r>
                <a:endParaRPr lang="en-US" altLang="zh-CN"/>
              </a:p>
            </p:txBody>
          </p:sp>
          <p:sp>
            <p:nvSpPr>
              <p:cNvPr id="314378" name="Line 10"/>
              <p:cNvSpPr>
                <a:spLocks noChangeShapeType="1"/>
              </p:cNvSpPr>
              <p:nvPr/>
            </p:nvSpPr>
            <p:spPr bwMode="auto">
              <a:xfrm flipH="1">
                <a:off x="3481" y="1576"/>
                <a:ext cx="266" cy="25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4379" name="Oval 11"/>
              <p:cNvSpPr>
                <a:spLocks noChangeArrowheads="1"/>
              </p:cNvSpPr>
              <p:nvPr/>
            </p:nvSpPr>
            <p:spPr bwMode="auto">
              <a:xfrm>
                <a:off x="4145" y="1786"/>
                <a:ext cx="265"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5</a:t>
                </a:r>
                <a:endParaRPr lang="en-US" altLang="zh-CN"/>
              </a:p>
            </p:txBody>
          </p:sp>
          <p:sp>
            <p:nvSpPr>
              <p:cNvPr id="314380" name="Line 12"/>
              <p:cNvSpPr>
                <a:spLocks noChangeShapeType="1"/>
              </p:cNvSpPr>
              <p:nvPr/>
            </p:nvSpPr>
            <p:spPr bwMode="auto">
              <a:xfrm>
                <a:off x="3926" y="1565"/>
                <a:ext cx="265" cy="25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grpSp>
        <p:nvGrpSpPr>
          <p:cNvPr id="314381" name="Group 13"/>
          <p:cNvGrpSpPr>
            <a:grpSpLocks/>
          </p:cNvGrpSpPr>
          <p:nvPr/>
        </p:nvGrpSpPr>
        <p:grpSpPr bwMode="auto">
          <a:xfrm>
            <a:off x="6999288" y="3184525"/>
            <a:ext cx="1258887" cy="1616075"/>
            <a:chOff x="4409" y="2006"/>
            <a:chExt cx="793" cy="1018"/>
          </a:xfrm>
        </p:grpSpPr>
        <p:sp>
          <p:nvSpPr>
            <p:cNvPr id="314382" name="Oval 14"/>
            <p:cNvSpPr>
              <a:spLocks noChangeArrowheads="1"/>
            </p:cNvSpPr>
            <p:nvPr/>
          </p:nvSpPr>
          <p:spPr bwMode="auto">
            <a:xfrm>
              <a:off x="4576" y="2263"/>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6</a:t>
              </a:r>
              <a:endParaRPr lang="en-US" altLang="zh-CN"/>
            </a:p>
          </p:txBody>
        </p:sp>
        <p:sp>
          <p:nvSpPr>
            <p:cNvPr id="314383" name="Line 15"/>
            <p:cNvSpPr>
              <a:spLocks noChangeShapeType="1"/>
            </p:cNvSpPr>
            <p:nvPr/>
          </p:nvSpPr>
          <p:spPr bwMode="auto">
            <a:xfrm>
              <a:off x="4409" y="2006"/>
              <a:ext cx="257" cy="267"/>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4384" name="Oval 16"/>
            <p:cNvSpPr>
              <a:spLocks noChangeArrowheads="1"/>
            </p:cNvSpPr>
            <p:nvPr/>
          </p:nvSpPr>
          <p:spPr bwMode="auto">
            <a:xfrm>
              <a:off x="4937" y="2772"/>
              <a:ext cx="265"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8</a:t>
              </a:r>
              <a:endParaRPr lang="en-US" altLang="zh-CN"/>
            </a:p>
          </p:txBody>
        </p:sp>
        <p:sp>
          <p:nvSpPr>
            <p:cNvPr id="314385" name="Line 17"/>
            <p:cNvSpPr>
              <a:spLocks noChangeShapeType="1"/>
            </p:cNvSpPr>
            <p:nvPr/>
          </p:nvSpPr>
          <p:spPr bwMode="auto">
            <a:xfrm>
              <a:off x="4813" y="2480"/>
              <a:ext cx="227" cy="283"/>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314386" name="Group 18"/>
          <p:cNvGrpSpPr>
            <a:grpSpLocks/>
          </p:cNvGrpSpPr>
          <p:nvPr/>
        </p:nvGrpSpPr>
        <p:grpSpPr bwMode="auto">
          <a:xfrm>
            <a:off x="5256213" y="2165350"/>
            <a:ext cx="1825625" cy="1066800"/>
            <a:chOff x="3260" y="1366"/>
            <a:chExt cx="1150" cy="672"/>
          </a:xfrm>
        </p:grpSpPr>
        <p:sp>
          <p:nvSpPr>
            <p:cNvPr id="314387" name="Oval 19"/>
            <p:cNvSpPr>
              <a:spLocks noChangeArrowheads="1"/>
            </p:cNvSpPr>
            <p:nvPr/>
          </p:nvSpPr>
          <p:spPr bwMode="auto">
            <a:xfrm>
              <a:off x="3702" y="1366"/>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4</a:t>
              </a:r>
              <a:endParaRPr lang="en-US" altLang="zh-CN"/>
            </a:p>
          </p:txBody>
        </p:sp>
        <p:sp>
          <p:nvSpPr>
            <p:cNvPr id="314388" name="Oval 20"/>
            <p:cNvSpPr>
              <a:spLocks noChangeArrowheads="1"/>
            </p:cNvSpPr>
            <p:nvPr/>
          </p:nvSpPr>
          <p:spPr bwMode="auto">
            <a:xfrm>
              <a:off x="3260" y="1786"/>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2</a:t>
              </a:r>
              <a:endParaRPr lang="en-US" altLang="zh-CN"/>
            </a:p>
          </p:txBody>
        </p:sp>
        <p:sp>
          <p:nvSpPr>
            <p:cNvPr id="314389" name="Line 21"/>
            <p:cNvSpPr>
              <a:spLocks noChangeShapeType="1"/>
            </p:cNvSpPr>
            <p:nvPr/>
          </p:nvSpPr>
          <p:spPr bwMode="auto">
            <a:xfrm flipH="1">
              <a:off x="3481" y="1576"/>
              <a:ext cx="266" cy="25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4390" name="Oval 22"/>
            <p:cNvSpPr>
              <a:spLocks noChangeArrowheads="1"/>
            </p:cNvSpPr>
            <p:nvPr/>
          </p:nvSpPr>
          <p:spPr bwMode="auto">
            <a:xfrm>
              <a:off x="4145" y="1786"/>
              <a:ext cx="265"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5</a:t>
              </a:r>
              <a:endParaRPr lang="en-US" altLang="zh-CN"/>
            </a:p>
          </p:txBody>
        </p:sp>
        <p:sp>
          <p:nvSpPr>
            <p:cNvPr id="314391" name="Line 23"/>
            <p:cNvSpPr>
              <a:spLocks noChangeShapeType="1"/>
            </p:cNvSpPr>
            <p:nvPr/>
          </p:nvSpPr>
          <p:spPr bwMode="auto">
            <a:xfrm>
              <a:off x="3926" y="1565"/>
              <a:ext cx="265" cy="25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314392" name="Group 24"/>
          <p:cNvGrpSpPr>
            <a:grpSpLocks/>
          </p:cNvGrpSpPr>
          <p:nvPr/>
        </p:nvGrpSpPr>
        <p:grpSpPr bwMode="auto">
          <a:xfrm>
            <a:off x="5922963" y="5040313"/>
            <a:ext cx="1541462" cy="1204912"/>
            <a:chOff x="3731" y="3175"/>
            <a:chExt cx="971" cy="759"/>
          </a:xfrm>
        </p:grpSpPr>
        <p:sp>
          <p:nvSpPr>
            <p:cNvPr id="314393" name="Oval 25"/>
            <p:cNvSpPr>
              <a:spLocks noChangeArrowheads="1"/>
            </p:cNvSpPr>
            <p:nvPr/>
          </p:nvSpPr>
          <p:spPr bwMode="auto">
            <a:xfrm>
              <a:off x="4436" y="3682"/>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8</a:t>
              </a:r>
              <a:endParaRPr lang="en-US" altLang="zh-CN"/>
            </a:p>
          </p:txBody>
        </p:sp>
        <p:sp>
          <p:nvSpPr>
            <p:cNvPr id="314394" name="Line 26"/>
            <p:cNvSpPr>
              <a:spLocks noChangeShapeType="1"/>
            </p:cNvSpPr>
            <p:nvPr/>
          </p:nvSpPr>
          <p:spPr bwMode="auto">
            <a:xfrm>
              <a:off x="4322" y="3388"/>
              <a:ext cx="242" cy="294"/>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4395" name="Oval 27"/>
            <p:cNvSpPr>
              <a:spLocks noChangeArrowheads="1"/>
            </p:cNvSpPr>
            <p:nvPr/>
          </p:nvSpPr>
          <p:spPr bwMode="auto">
            <a:xfrm>
              <a:off x="3731" y="3681"/>
              <a:ext cx="265"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5</a:t>
              </a:r>
              <a:endParaRPr lang="en-US" altLang="zh-CN"/>
            </a:p>
          </p:txBody>
        </p:sp>
        <p:sp>
          <p:nvSpPr>
            <p:cNvPr id="314396" name="Line 28"/>
            <p:cNvSpPr>
              <a:spLocks noChangeShapeType="1"/>
            </p:cNvSpPr>
            <p:nvPr/>
          </p:nvSpPr>
          <p:spPr bwMode="auto">
            <a:xfrm flipH="1">
              <a:off x="3902" y="3390"/>
              <a:ext cx="227" cy="301"/>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4397" name="Oval 29"/>
            <p:cNvSpPr>
              <a:spLocks noChangeArrowheads="1"/>
            </p:cNvSpPr>
            <p:nvPr/>
          </p:nvSpPr>
          <p:spPr bwMode="auto">
            <a:xfrm>
              <a:off x="4088" y="3175"/>
              <a:ext cx="265"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6</a:t>
              </a:r>
              <a:endParaRPr lang="en-US" altLang="zh-CN"/>
            </a:p>
          </p:txBody>
        </p:sp>
      </p:grpSp>
      <p:grpSp>
        <p:nvGrpSpPr>
          <p:cNvPr id="314398" name="Group 30"/>
          <p:cNvGrpSpPr>
            <a:grpSpLocks/>
          </p:cNvGrpSpPr>
          <p:nvPr/>
        </p:nvGrpSpPr>
        <p:grpSpPr bwMode="auto">
          <a:xfrm>
            <a:off x="5084763" y="4373563"/>
            <a:ext cx="1477962" cy="1066800"/>
            <a:chOff x="3203" y="2755"/>
            <a:chExt cx="931" cy="672"/>
          </a:xfrm>
        </p:grpSpPr>
        <p:sp>
          <p:nvSpPr>
            <p:cNvPr id="314399" name="Oval 31"/>
            <p:cNvSpPr>
              <a:spLocks noChangeArrowheads="1"/>
            </p:cNvSpPr>
            <p:nvPr/>
          </p:nvSpPr>
          <p:spPr bwMode="auto">
            <a:xfrm>
              <a:off x="3645" y="2755"/>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4</a:t>
              </a:r>
              <a:endParaRPr lang="en-US" altLang="zh-CN"/>
            </a:p>
          </p:txBody>
        </p:sp>
        <p:sp>
          <p:nvSpPr>
            <p:cNvPr id="314400" name="Oval 32"/>
            <p:cNvSpPr>
              <a:spLocks noChangeArrowheads="1"/>
            </p:cNvSpPr>
            <p:nvPr/>
          </p:nvSpPr>
          <p:spPr bwMode="auto">
            <a:xfrm>
              <a:off x="3203" y="3175"/>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2</a:t>
              </a:r>
              <a:endParaRPr lang="en-US" altLang="zh-CN"/>
            </a:p>
          </p:txBody>
        </p:sp>
        <p:sp>
          <p:nvSpPr>
            <p:cNvPr id="314401" name="Line 33"/>
            <p:cNvSpPr>
              <a:spLocks noChangeShapeType="1"/>
            </p:cNvSpPr>
            <p:nvPr/>
          </p:nvSpPr>
          <p:spPr bwMode="auto">
            <a:xfrm flipH="1">
              <a:off x="3424" y="2965"/>
              <a:ext cx="266" cy="25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4402" name="Line 34"/>
            <p:cNvSpPr>
              <a:spLocks noChangeShapeType="1"/>
            </p:cNvSpPr>
            <p:nvPr/>
          </p:nvSpPr>
          <p:spPr bwMode="auto">
            <a:xfrm>
              <a:off x="3869" y="2954"/>
              <a:ext cx="265" cy="25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314403" name="Text Box 35"/>
          <p:cNvSpPr txBox="1">
            <a:spLocks noChangeArrowheads="1"/>
          </p:cNvSpPr>
          <p:nvPr/>
        </p:nvSpPr>
        <p:spPr bwMode="auto">
          <a:xfrm>
            <a:off x="152400" y="1219200"/>
            <a:ext cx="8740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rIns="0">
            <a:spAutoFit/>
          </a:bodyPr>
          <a:lstStyle/>
          <a:p>
            <a:r>
              <a:rPr lang="zh-CN" altLang="en-US" sz="2800" b="1">
                <a:solidFill>
                  <a:srgbClr val="003366"/>
                </a:solidFill>
                <a:ea typeface="楷体_GB2312" charset="0"/>
              </a:rPr>
              <a:t>设有关键码序列</a:t>
            </a:r>
            <a:r>
              <a:rPr lang="en-US" altLang="zh-CN" sz="2800" b="1">
                <a:solidFill>
                  <a:srgbClr val="003366"/>
                </a:solidFill>
                <a:ea typeface="楷体_GB2312" charset="0"/>
              </a:rPr>
              <a:t>{5, 4, 2, 8, 6, 9}</a:t>
            </a:r>
            <a:r>
              <a:rPr lang="zh-CN" altLang="en-US" sz="2800" b="1">
                <a:solidFill>
                  <a:srgbClr val="003366"/>
                </a:solidFill>
                <a:ea typeface="楷体_GB2312" charset="0"/>
              </a:rPr>
              <a:t>，构造平衡树</a:t>
            </a:r>
          </a:p>
        </p:txBody>
      </p:sp>
      <p:grpSp>
        <p:nvGrpSpPr>
          <p:cNvPr id="314405" name="Group 37"/>
          <p:cNvGrpSpPr>
            <a:grpSpLocks/>
          </p:cNvGrpSpPr>
          <p:nvPr/>
        </p:nvGrpSpPr>
        <p:grpSpPr bwMode="auto">
          <a:xfrm>
            <a:off x="3581400" y="2438400"/>
            <a:ext cx="1125538" cy="1131888"/>
            <a:chOff x="2256" y="1536"/>
            <a:chExt cx="709" cy="713"/>
          </a:xfrm>
        </p:grpSpPr>
        <p:sp>
          <p:nvSpPr>
            <p:cNvPr id="314406" name="AutoShape 38"/>
            <p:cNvSpPr>
              <a:spLocks noChangeArrowheads="1"/>
            </p:cNvSpPr>
            <p:nvPr/>
          </p:nvSpPr>
          <p:spPr bwMode="auto">
            <a:xfrm>
              <a:off x="2327" y="1791"/>
              <a:ext cx="567" cy="249"/>
            </a:xfrm>
            <a:prstGeom prst="rightArrow">
              <a:avLst>
                <a:gd name="adj1" fmla="val 50000"/>
                <a:gd name="adj2" fmla="val 56928"/>
              </a:avLst>
            </a:prstGeom>
            <a:solidFill>
              <a:schemeClr val="accent1"/>
            </a:solidFill>
            <a:ln>
              <a:noFill/>
            </a:ln>
            <a:effectLst/>
            <a:extLst>
              <a:ext uri="{91240B29-F687-4F45-9708-019B960494DF}">
                <a14:hiddenLine xmlns:a14="http://schemas.microsoft.com/office/drawing/2010/main" w="9525">
                  <a:solidFill>
                    <a:srgbClr val="9933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4407" name="Text Box 39"/>
            <p:cNvSpPr txBox="1">
              <a:spLocks noChangeArrowheads="1"/>
            </p:cNvSpPr>
            <p:nvPr/>
          </p:nvSpPr>
          <p:spPr bwMode="auto">
            <a:xfrm>
              <a:off x="2313" y="1536"/>
              <a:ext cx="5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spcBef>
                  <a:spcPct val="50000"/>
                </a:spcBef>
              </a:pPr>
              <a:r>
                <a:rPr kumimoji="0" lang="en-US" altLang="zh-CN" b="1">
                  <a:solidFill>
                    <a:schemeClr val="accent2"/>
                  </a:solidFill>
                  <a:ea typeface="华文行楷" charset="-122"/>
                </a:rPr>
                <a:t>RL</a:t>
              </a:r>
              <a:r>
                <a:rPr kumimoji="0" lang="zh-CN" altLang="en-US" b="1">
                  <a:solidFill>
                    <a:schemeClr val="accent2"/>
                  </a:solidFill>
                </a:rPr>
                <a:t>型</a:t>
              </a:r>
            </a:p>
          </p:txBody>
        </p:sp>
        <p:sp>
          <p:nvSpPr>
            <p:cNvPr id="314408" name="Text Box 40"/>
            <p:cNvSpPr txBox="1">
              <a:spLocks noChangeArrowheads="1"/>
            </p:cNvSpPr>
            <p:nvPr/>
          </p:nvSpPr>
          <p:spPr bwMode="auto">
            <a:xfrm>
              <a:off x="2256" y="2018"/>
              <a:ext cx="70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spcBef>
                  <a:spcPct val="50000"/>
                </a:spcBef>
              </a:pPr>
              <a:r>
                <a:rPr kumimoji="0" lang="zh-CN" altLang="en-US" sz="1800" b="1">
                  <a:solidFill>
                    <a:schemeClr val="accent2"/>
                  </a:solidFill>
                </a:rPr>
                <a:t>旋转</a:t>
              </a:r>
              <a:r>
                <a:rPr kumimoji="0" lang="en-US" altLang="zh-CN" sz="1800" b="1">
                  <a:solidFill>
                    <a:schemeClr val="accent2"/>
                  </a:solidFill>
                </a:rPr>
                <a:t>1</a:t>
              </a:r>
              <a:r>
                <a:rPr kumimoji="0" lang="zh-CN" altLang="en-US" sz="1800" b="1">
                  <a:solidFill>
                    <a:schemeClr val="accent2"/>
                  </a:solidFill>
                </a:rPr>
                <a:t>次</a:t>
              </a:r>
            </a:p>
          </p:txBody>
        </p:sp>
      </p:grpSp>
      <p:grpSp>
        <p:nvGrpSpPr>
          <p:cNvPr id="314409" name="Group 41"/>
          <p:cNvGrpSpPr>
            <a:grpSpLocks/>
          </p:cNvGrpSpPr>
          <p:nvPr/>
        </p:nvGrpSpPr>
        <p:grpSpPr bwMode="auto">
          <a:xfrm>
            <a:off x="3576638" y="4908550"/>
            <a:ext cx="1125537" cy="1227138"/>
            <a:chOff x="2253" y="3092"/>
            <a:chExt cx="709" cy="773"/>
          </a:xfrm>
        </p:grpSpPr>
        <p:sp>
          <p:nvSpPr>
            <p:cNvPr id="314410" name="AutoShape 42"/>
            <p:cNvSpPr>
              <a:spLocks noChangeArrowheads="1"/>
            </p:cNvSpPr>
            <p:nvPr/>
          </p:nvSpPr>
          <p:spPr bwMode="auto">
            <a:xfrm>
              <a:off x="2318" y="3347"/>
              <a:ext cx="567" cy="249"/>
            </a:xfrm>
            <a:prstGeom prst="rightArrow">
              <a:avLst>
                <a:gd name="adj1" fmla="val 50000"/>
                <a:gd name="adj2" fmla="val 56928"/>
              </a:avLst>
            </a:prstGeom>
            <a:solidFill>
              <a:schemeClr val="accent1"/>
            </a:solidFill>
            <a:ln>
              <a:noFill/>
            </a:ln>
            <a:effectLst/>
            <a:extLst>
              <a:ext uri="{91240B29-F687-4F45-9708-019B960494DF}">
                <a14:hiddenLine xmlns:a14="http://schemas.microsoft.com/office/drawing/2010/main" w="9525">
                  <a:solidFill>
                    <a:srgbClr val="9933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4411" name="Text Box 43"/>
            <p:cNvSpPr txBox="1">
              <a:spLocks noChangeArrowheads="1"/>
            </p:cNvSpPr>
            <p:nvPr/>
          </p:nvSpPr>
          <p:spPr bwMode="auto">
            <a:xfrm>
              <a:off x="2304" y="3092"/>
              <a:ext cx="5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spcBef>
                  <a:spcPct val="50000"/>
                </a:spcBef>
              </a:pPr>
              <a:r>
                <a:rPr kumimoji="0" lang="en-US" altLang="zh-CN" b="1">
                  <a:solidFill>
                    <a:schemeClr val="accent2"/>
                  </a:solidFill>
                  <a:ea typeface="华文行楷" charset="-122"/>
                </a:rPr>
                <a:t>RL</a:t>
              </a:r>
              <a:r>
                <a:rPr kumimoji="0" lang="zh-CN" altLang="en-US" b="1">
                  <a:solidFill>
                    <a:schemeClr val="accent2"/>
                  </a:solidFill>
                </a:rPr>
                <a:t>型</a:t>
              </a:r>
            </a:p>
          </p:txBody>
        </p:sp>
        <p:sp>
          <p:nvSpPr>
            <p:cNvPr id="314412" name="Text Box 44"/>
            <p:cNvSpPr txBox="1">
              <a:spLocks noChangeArrowheads="1"/>
            </p:cNvSpPr>
            <p:nvPr/>
          </p:nvSpPr>
          <p:spPr bwMode="auto">
            <a:xfrm>
              <a:off x="2253" y="3634"/>
              <a:ext cx="70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spcBef>
                  <a:spcPct val="50000"/>
                </a:spcBef>
              </a:pPr>
              <a:r>
                <a:rPr kumimoji="0" lang="zh-CN" altLang="en-US" sz="1800" b="1">
                  <a:solidFill>
                    <a:schemeClr val="accent2"/>
                  </a:solidFill>
                </a:rPr>
                <a:t>旋转</a:t>
              </a:r>
              <a:r>
                <a:rPr kumimoji="0" lang="en-US" altLang="zh-CN" sz="1800" b="1">
                  <a:solidFill>
                    <a:schemeClr val="accent2"/>
                  </a:solidFill>
                </a:rPr>
                <a:t>2</a:t>
              </a:r>
              <a:r>
                <a:rPr kumimoji="0" lang="zh-CN" altLang="en-US" sz="1800" b="1">
                  <a:solidFill>
                    <a:schemeClr val="accent2"/>
                  </a:solidFill>
                </a:rPr>
                <a:t>次</a:t>
              </a:r>
            </a:p>
          </p:txBody>
        </p:sp>
      </p:grpSp>
    </p:spTree>
    <p:extLst>
      <p:ext uri="{BB962C8B-B14F-4D97-AF65-F5344CB8AC3E}">
        <p14:creationId xmlns:p14="http://schemas.microsoft.com/office/powerpoint/2010/main" val="6036420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14405"/>
                                        </p:tgtEl>
                                        <p:attrNameLst>
                                          <p:attrName>style.visibility</p:attrName>
                                        </p:attrNameLst>
                                      </p:cBhvr>
                                      <p:to>
                                        <p:strVal val="visible"/>
                                      </p:to>
                                    </p:set>
                                    <p:animEffect transition="in" filter="wipe(left)">
                                      <p:cBhvr>
                                        <p:cTn id="7" dur="500"/>
                                        <p:tgtEl>
                                          <p:spTgt spid="3144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31438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314381"/>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314409"/>
                                        </p:tgtEl>
                                        <p:attrNameLst>
                                          <p:attrName>style.visibility</p:attrName>
                                        </p:attrNameLst>
                                      </p:cBhvr>
                                      <p:to>
                                        <p:strVal val="visible"/>
                                      </p:to>
                                    </p:set>
                                    <p:animEffect transition="in" filter="wipe(left)">
                                      <p:cBhvr>
                                        <p:cTn id="20" dur="500"/>
                                        <p:tgtEl>
                                          <p:spTgt spid="31440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1439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143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5394" name="Group 2"/>
          <p:cNvGrpSpPr>
            <a:grpSpLocks/>
          </p:cNvGrpSpPr>
          <p:nvPr/>
        </p:nvGrpSpPr>
        <p:grpSpPr bwMode="auto">
          <a:xfrm>
            <a:off x="836613" y="2259013"/>
            <a:ext cx="2395537" cy="1871662"/>
            <a:chOff x="527" y="1423"/>
            <a:chExt cx="1509" cy="1179"/>
          </a:xfrm>
        </p:grpSpPr>
        <p:sp>
          <p:nvSpPr>
            <p:cNvPr id="315395" name="Oval 3"/>
            <p:cNvSpPr>
              <a:spLocks noChangeArrowheads="1"/>
            </p:cNvSpPr>
            <p:nvPr/>
          </p:nvSpPr>
          <p:spPr bwMode="auto">
            <a:xfrm>
              <a:off x="1770" y="2350"/>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8</a:t>
              </a:r>
              <a:endParaRPr lang="en-US" altLang="zh-CN"/>
            </a:p>
          </p:txBody>
        </p:sp>
        <p:sp>
          <p:nvSpPr>
            <p:cNvPr id="315396" name="Line 4"/>
            <p:cNvSpPr>
              <a:spLocks noChangeShapeType="1"/>
            </p:cNvSpPr>
            <p:nvPr/>
          </p:nvSpPr>
          <p:spPr bwMode="auto">
            <a:xfrm>
              <a:off x="1646" y="2056"/>
              <a:ext cx="242" cy="294"/>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5397" name="Oval 5"/>
            <p:cNvSpPr>
              <a:spLocks noChangeArrowheads="1"/>
            </p:cNvSpPr>
            <p:nvPr/>
          </p:nvSpPr>
          <p:spPr bwMode="auto">
            <a:xfrm>
              <a:off x="1055" y="2349"/>
              <a:ext cx="265"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5</a:t>
              </a:r>
              <a:endParaRPr lang="en-US" altLang="zh-CN"/>
            </a:p>
          </p:txBody>
        </p:sp>
        <p:sp>
          <p:nvSpPr>
            <p:cNvPr id="315398" name="Line 6"/>
            <p:cNvSpPr>
              <a:spLocks noChangeShapeType="1"/>
            </p:cNvSpPr>
            <p:nvPr/>
          </p:nvSpPr>
          <p:spPr bwMode="auto">
            <a:xfrm flipH="1">
              <a:off x="1226" y="2058"/>
              <a:ext cx="227" cy="301"/>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5399" name="Oval 7"/>
            <p:cNvSpPr>
              <a:spLocks noChangeArrowheads="1"/>
            </p:cNvSpPr>
            <p:nvPr/>
          </p:nvSpPr>
          <p:spPr bwMode="auto">
            <a:xfrm>
              <a:off x="1412" y="1843"/>
              <a:ext cx="265"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6</a:t>
              </a:r>
              <a:endParaRPr lang="en-US" altLang="zh-CN"/>
            </a:p>
          </p:txBody>
        </p:sp>
        <p:grpSp>
          <p:nvGrpSpPr>
            <p:cNvPr id="315400" name="Group 8"/>
            <p:cNvGrpSpPr>
              <a:grpSpLocks/>
            </p:cNvGrpSpPr>
            <p:nvPr/>
          </p:nvGrpSpPr>
          <p:grpSpPr bwMode="auto">
            <a:xfrm>
              <a:off x="527" y="1423"/>
              <a:ext cx="931" cy="672"/>
              <a:chOff x="3203" y="2755"/>
              <a:chExt cx="931" cy="672"/>
            </a:xfrm>
          </p:grpSpPr>
          <p:sp>
            <p:nvSpPr>
              <p:cNvPr id="315401" name="Oval 9"/>
              <p:cNvSpPr>
                <a:spLocks noChangeArrowheads="1"/>
              </p:cNvSpPr>
              <p:nvPr/>
            </p:nvSpPr>
            <p:spPr bwMode="auto">
              <a:xfrm>
                <a:off x="3645" y="2755"/>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4</a:t>
                </a:r>
                <a:endParaRPr lang="en-US" altLang="zh-CN"/>
              </a:p>
            </p:txBody>
          </p:sp>
          <p:sp>
            <p:nvSpPr>
              <p:cNvPr id="315402" name="Oval 10"/>
              <p:cNvSpPr>
                <a:spLocks noChangeArrowheads="1"/>
              </p:cNvSpPr>
              <p:nvPr/>
            </p:nvSpPr>
            <p:spPr bwMode="auto">
              <a:xfrm>
                <a:off x="3203" y="3175"/>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2</a:t>
                </a:r>
                <a:endParaRPr lang="en-US" altLang="zh-CN"/>
              </a:p>
            </p:txBody>
          </p:sp>
          <p:sp>
            <p:nvSpPr>
              <p:cNvPr id="315403" name="Line 11"/>
              <p:cNvSpPr>
                <a:spLocks noChangeShapeType="1"/>
              </p:cNvSpPr>
              <p:nvPr/>
            </p:nvSpPr>
            <p:spPr bwMode="auto">
              <a:xfrm flipH="1">
                <a:off x="3424" y="2965"/>
                <a:ext cx="266" cy="25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5404" name="Line 12"/>
              <p:cNvSpPr>
                <a:spLocks noChangeShapeType="1"/>
              </p:cNvSpPr>
              <p:nvPr/>
            </p:nvSpPr>
            <p:spPr bwMode="auto">
              <a:xfrm>
                <a:off x="3869" y="2954"/>
                <a:ext cx="265" cy="25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grpSp>
        <p:nvGrpSpPr>
          <p:cNvPr id="315405" name="Group 13"/>
          <p:cNvGrpSpPr>
            <a:grpSpLocks/>
          </p:cNvGrpSpPr>
          <p:nvPr/>
        </p:nvGrpSpPr>
        <p:grpSpPr bwMode="auto">
          <a:xfrm>
            <a:off x="3132138" y="4090988"/>
            <a:ext cx="617537" cy="895350"/>
            <a:chOff x="1973" y="2557"/>
            <a:chExt cx="389" cy="564"/>
          </a:xfrm>
        </p:grpSpPr>
        <p:sp>
          <p:nvSpPr>
            <p:cNvPr id="315406" name="Oval 14"/>
            <p:cNvSpPr>
              <a:spLocks noChangeArrowheads="1"/>
            </p:cNvSpPr>
            <p:nvPr/>
          </p:nvSpPr>
          <p:spPr bwMode="auto">
            <a:xfrm>
              <a:off x="2096" y="2869"/>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9</a:t>
              </a:r>
              <a:endParaRPr lang="en-US" altLang="zh-CN"/>
            </a:p>
          </p:txBody>
        </p:sp>
        <p:sp>
          <p:nvSpPr>
            <p:cNvPr id="315407" name="Line 15"/>
            <p:cNvSpPr>
              <a:spLocks noChangeShapeType="1"/>
            </p:cNvSpPr>
            <p:nvPr/>
          </p:nvSpPr>
          <p:spPr bwMode="auto">
            <a:xfrm>
              <a:off x="1973" y="2557"/>
              <a:ext cx="241" cy="31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315408" name="Group 16"/>
          <p:cNvGrpSpPr>
            <a:grpSpLocks/>
          </p:cNvGrpSpPr>
          <p:nvPr/>
        </p:nvGrpSpPr>
        <p:grpSpPr bwMode="auto">
          <a:xfrm>
            <a:off x="4000500" y="2806700"/>
            <a:ext cx="979488" cy="844550"/>
            <a:chOff x="1997" y="2148"/>
            <a:chExt cx="617" cy="532"/>
          </a:xfrm>
        </p:grpSpPr>
        <p:sp>
          <p:nvSpPr>
            <p:cNvPr id="315409" name="AutoShape 17"/>
            <p:cNvSpPr>
              <a:spLocks noChangeArrowheads="1"/>
            </p:cNvSpPr>
            <p:nvPr/>
          </p:nvSpPr>
          <p:spPr bwMode="auto">
            <a:xfrm>
              <a:off x="2047" y="2431"/>
              <a:ext cx="567" cy="249"/>
            </a:xfrm>
            <a:prstGeom prst="rightArrow">
              <a:avLst>
                <a:gd name="adj1" fmla="val 50000"/>
                <a:gd name="adj2" fmla="val 56928"/>
              </a:avLst>
            </a:prstGeom>
            <a:solidFill>
              <a:schemeClr val="accent1"/>
            </a:solidFill>
            <a:ln>
              <a:noFill/>
            </a:ln>
            <a:effectLst/>
            <a:extLst>
              <a:ext uri="{91240B29-F687-4F45-9708-019B960494DF}">
                <a14:hiddenLine xmlns:a14="http://schemas.microsoft.com/office/drawing/2010/main" w="9525">
                  <a:solidFill>
                    <a:srgbClr val="9933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5410" name="Text Box 18"/>
            <p:cNvSpPr txBox="1">
              <a:spLocks noChangeArrowheads="1"/>
            </p:cNvSpPr>
            <p:nvPr/>
          </p:nvSpPr>
          <p:spPr bwMode="auto">
            <a:xfrm>
              <a:off x="1997" y="2148"/>
              <a:ext cx="5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spcBef>
                  <a:spcPct val="50000"/>
                </a:spcBef>
              </a:pPr>
              <a:r>
                <a:rPr kumimoji="0" lang="en-US" altLang="zh-CN" b="1">
                  <a:solidFill>
                    <a:schemeClr val="accent2"/>
                  </a:solidFill>
                  <a:ea typeface="华文行楷" charset="-122"/>
                </a:rPr>
                <a:t>RR</a:t>
              </a:r>
              <a:r>
                <a:rPr kumimoji="0" lang="zh-CN" altLang="en-US" b="1">
                  <a:solidFill>
                    <a:schemeClr val="accent2"/>
                  </a:solidFill>
                </a:rPr>
                <a:t>型</a:t>
              </a:r>
            </a:p>
          </p:txBody>
        </p:sp>
      </p:grpSp>
      <p:grpSp>
        <p:nvGrpSpPr>
          <p:cNvPr id="315411" name="Group 19"/>
          <p:cNvGrpSpPr>
            <a:grpSpLocks/>
          </p:cNvGrpSpPr>
          <p:nvPr/>
        </p:nvGrpSpPr>
        <p:grpSpPr bwMode="auto">
          <a:xfrm>
            <a:off x="5472113" y="2278063"/>
            <a:ext cx="2593975" cy="2073275"/>
            <a:chOff x="3725" y="1990"/>
            <a:chExt cx="1634" cy="1306"/>
          </a:xfrm>
        </p:grpSpPr>
        <p:sp>
          <p:nvSpPr>
            <p:cNvPr id="315412" name="Oval 20"/>
            <p:cNvSpPr>
              <a:spLocks noChangeArrowheads="1"/>
            </p:cNvSpPr>
            <p:nvPr/>
          </p:nvSpPr>
          <p:spPr bwMode="auto">
            <a:xfrm>
              <a:off x="4807" y="2497"/>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8</a:t>
              </a:r>
              <a:endParaRPr lang="en-US" altLang="zh-CN"/>
            </a:p>
          </p:txBody>
        </p:sp>
        <p:sp>
          <p:nvSpPr>
            <p:cNvPr id="315413" name="Line 21"/>
            <p:cNvSpPr>
              <a:spLocks noChangeShapeType="1"/>
            </p:cNvSpPr>
            <p:nvPr/>
          </p:nvSpPr>
          <p:spPr bwMode="auto">
            <a:xfrm>
              <a:off x="4673" y="2203"/>
              <a:ext cx="220" cy="297"/>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5414" name="Oval 22"/>
            <p:cNvSpPr>
              <a:spLocks noChangeArrowheads="1"/>
            </p:cNvSpPr>
            <p:nvPr/>
          </p:nvSpPr>
          <p:spPr bwMode="auto">
            <a:xfrm>
              <a:off x="4082" y="2496"/>
              <a:ext cx="265"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4</a:t>
              </a:r>
              <a:endParaRPr lang="en-US" altLang="zh-CN"/>
            </a:p>
          </p:txBody>
        </p:sp>
        <p:sp>
          <p:nvSpPr>
            <p:cNvPr id="315415" name="Line 23"/>
            <p:cNvSpPr>
              <a:spLocks noChangeShapeType="1"/>
            </p:cNvSpPr>
            <p:nvPr/>
          </p:nvSpPr>
          <p:spPr bwMode="auto">
            <a:xfrm flipH="1">
              <a:off x="4253" y="2205"/>
              <a:ext cx="227" cy="301"/>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5416" name="Oval 24"/>
            <p:cNvSpPr>
              <a:spLocks noChangeArrowheads="1"/>
            </p:cNvSpPr>
            <p:nvPr/>
          </p:nvSpPr>
          <p:spPr bwMode="auto">
            <a:xfrm>
              <a:off x="4439" y="1990"/>
              <a:ext cx="265"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6</a:t>
              </a:r>
              <a:endParaRPr lang="en-US" altLang="zh-CN"/>
            </a:p>
          </p:txBody>
        </p:sp>
        <p:sp>
          <p:nvSpPr>
            <p:cNvPr id="315417" name="Oval 25"/>
            <p:cNvSpPr>
              <a:spLocks noChangeArrowheads="1"/>
            </p:cNvSpPr>
            <p:nvPr/>
          </p:nvSpPr>
          <p:spPr bwMode="auto">
            <a:xfrm>
              <a:off x="4411" y="3039"/>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5</a:t>
              </a:r>
              <a:endParaRPr lang="en-US" altLang="zh-CN"/>
            </a:p>
          </p:txBody>
        </p:sp>
        <p:sp>
          <p:nvSpPr>
            <p:cNvPr id="315418" name="Oval 26"/>
            <p:cNvSpPr>
              <a:spLocks noChangeArrowheads="1"/>
            </p:cNvSpPr>
            <p:nvPr/>
          </p:nvSpPr>
          <p:spPr bwMode="auto">
            <a:xfrm>
              <a:off x="3725" y="3044"/>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2</a:t>
              </a:r>
              <a:endParaRPr lang="en-US" altLang="zh-CN"/>
            </a:p>
          </p:txBody>
        </p:sp>
        <p:sp>
          <p:nvSpPr>
            <p:cNvPr id="315419" name="Line 27"/>
            <p:cNvSpPr>
              <a:spLocks noChangeShapeType="1"/>
            </p:cNvSpPr>
            <p:nvPr/>
          </p:nvSpPr>
          <p:spPr bwMode="auto">
            <a:xfrm flipH="1">
              <a:off x="3872" y="2709"/>
              <a:ext cx="255" cy="33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5420" name="Line 28"/>
            <p:cNvSpPr>
              <a:spLocks noChangeShapeType="1"/>
            </p:cNvSpPr>
            <p:nvPr/>
          </p:nvSpPr>
          <p:spPr bwMode="auto">
            <a:xfrm>
              <a:off x="4299" y="2717"/>
              <a:ext cx="225" cy="32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5421" name="Oval 29"/>
            <p:cNvSpPr>
              <a:spLocks noChangeArrowheads="1"/>
            </p:cNvSpPr>
            <p:nvPr/>
          </p:nvSpPr>
          <p:spPr bwMode="auto">
            <a:xfrm>
              <a:off x="5093" y="3036"/>
              <a:ext cx="266" cy="252"/>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006600"/>
                  </a:solidFill>
                </a:rPr>
                <a:t>9</a:t>
              </a:r>
              <a:endParaRPr lang="en-US" altLang="zh-CN"/>
            </a:p>
          </p:txBody>
        </p:sp>
        <p:sp>
          <p:nvSpPr>
            <p:cNvPr id="315422" name="Line 30"/>
            <p:cNvSpPr>
              <a:spLocks noChangeShapeType="1"/>
            </p:cNvSpPr>
            <p:nvPr/>
          </p:nvSpPr>
          <p:spPr bwMode="auto">
            <a:xfrm>
              <a:off x="5006" y="2727"/>
              <a:ext cx="227" cy="312"/>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315424" name="Text Box 32"/>
          <p:cNvSpPr txBox="1">
            <a:spLocks noChangeArrowheads="1"/>
          </p:cNvSpPr>
          <p:nvPr/>
        </p:nvSpPr>
        <p:spPr bwMode="auto">
          <a:xfrm>
            <a:off x="152400" y="1219200"/>
            <a:ext cx="8740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rIns="0">
            <a:spAutoFit/>
          </a:bodyPr>
          <a:lstStyle/>
          <a:p>
            <a:r>
              <a:rPr lang="zh-CN" altLang="en-US" sz="2800" b="1">
                <a:solidFill>
                  <a:srgbClr val="003366"/>
                </a:solidFill>
                <a:ea typeface="楷体_GB2312" charset="0"/>
              </a:rPr>
              <a:t>设有关键码序列</a:t>
            </a:r>
            <a:r>
              <a:rPr lang="en-US" altLang="zh-CN" sz="2800" b="1">
                <a:solidFill>
                  <a:srgbClr val="003366"/>
                </a:solidFill>
                <a:ea typeface="楷体_GB2312" charset="0"/>
              </a:rPr>
              <a:t>{5, 4, 2, 8, 6, 9}</a:t>
            </a:r>
            <a:r>
              <a:rPr lang="zh-CN" altLang="en-US" sz="2800" b="1">
                <a:solidFill>
                  <a:srgbClr val="003366"/>
                </a:solidFill>
                <a:ea typeface="楷体_GB2312" charset="0"/>
              </a:rPr>
              <a:t>，构造平衡树</a:t>
            </a:r>
          </a:p>
        </p:txBody>
      </p:sp>
    </p:spTree>
    <p:extLst>
      <p:ext uri="{BB962C8B-B14F-4D97-AF65-F5344CB8AC3E}">
        <p14:creationId xmlns:p14="http://schemas.microsoft.com/office/powerpoint/2010/main" val="18293018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15405"/>
                                        </p:tgtEl>
                                        <p:attrNameLst>
                                          <p:attrName>style.visibility</p:attrName>
                                        </p:attrNameLst>
                                      </p:cBhvr>
                                      <p:to>
                                        <p:strVal val="visible"/>
                                      </p:to>
                                    </p:set>
                                    <p:animEffect transition="in" filter="wipe(up)">
                                      <p:cBhvr>
                                        <p:cTn id="7" dur="500"/>
                                        <p:tgtEl>
                                          <p:spTgt spid="3154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15408"/>
                                        </p:tgtEl>
                                        <p:attrNameLst>
                                          <p:attrName>style.visibility</p:attrName>
                                        </p:attrNameLst>
                                      </p:cBhvr>
                                      <p:to>
                                        <p:strVal val="visible"/>
                                      </p:to>
                                    </p:set>
                                    <p:animEffect transition="in" filter="wipe(down)">
                                      <p:cBhvr>
                                        <p:cTn id="12" dur="500"/>
                                        <p:tgtEl>
                                          <p:spTgt spid="3154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154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381000" y="1295400"/>
            <a:ext cx="8382000" cy="291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4000">
                <a:ea typeface="楷体_GB2312" charset="0"/>
              </a:rPr>
              <a:t>         </a:t>
            </a:r>
            <a:r>
              <a:rPr lang="zh-CN" altLang="en-US" sz="3600">
                <a:solidFill>
                  <a:srgbClr val="A50021"/>
                </a:solidFill>
                <a:ea typeface="楷体_GB2312" charset="0"/>
              </a:rPr>
              <a:t>在平衡树上进行查找的过程和二叉排序树相同，因此，</a:t>
            </a:r>
            <a:r>
              <a:rPr lang="zh-CN" altLang="en-US" sz="3600">
                <a:solidFill>
                  <a:srgbClr val="3333FF"/>
                </a:solidFill>
                <a:ea typeface="楷体_GB2312" charset="0"/>
              </a:rPr>
              <a:t>查找过程中和给定值</a:t>
            </a:r>
            <a:r>
              <a:rPr lang="zh-CN" altLang="en-US" sz="3600" b="1">
                <a:solidFill>
                  <a:srgbClr val="3333FF"/>
                </a:solidFill>
                <a:ea typeface="楷体_GB2312" charset="0"/>
              </a:rPr>
              <a:t>进行比较的关键字的个数</a:t>
            </a:r>
            <a:r>
              <a:rPr lang="zh-CN" altLang="en-US" sz="3600">
                <a:solidFill>
                  <a:srgbClr val="3333FF"/>
                </a:solidFill>
                <a:ea typeface="楷体_GB2312" charset="0"/>
              </a:rPr>
              <a:t>不超过平衡 树的深度。</a:t>
            </a:r>
            <a:endParaRPr lang="zh-CN" altLang="en-US">
              <a:solidFill>
                <a:srgbClr val="3333FF"/>
              </a:solidFill>
            </a:endParaRPr>
          </a:p>
        </p:txBody>
      </p:sp>
      <p:sp>
        <p:nvSpPr>
          <p:cNvPr id="92163" name="Text Box 3"/>
          <p:cNvSpPr txBox="1">
            <a:spLocks noChangeArrowheads="1"/>
          </p:cNvSpPr>
          <p:nvPr/>
        </p:nvSpPr>
        <p:spPr bwMode="auto">
          <a:xfrm>
            <a:off x="457200" y="457200"/>
            <a:ext cx="5824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0033CC"/>
                </a:solidFill>
                <a:ea typeface="楷体_GB2312" charset="0"/>
              </a:rPr>
              <a:t>平衡树的查找性能分析：</a:t>
            </a:r>
            <a:endParaRPr lang="zh-CN" altLang="en-US">
              <a:ea typeface="楷体_GB2312" charset="0"/>
            </a:endParaRPr>
          </a:p>
        </p:txBody>
      </p:sp>
      <p:sp>
        <p:nvSpPr>
          <p:cNvPr id="92164" name="Text Box 4"/>
          <p:cNvSpPr txBox="1">
            <a:spLocks noChangeArrowheads="1"/>
          </p:cNvSpPr>
          <p:nvPr/>
        </p:nvSpPr>
        <p:spPr bwMode="auto">
          <a:xfrm>
            <a:off x="631825" y="4495800"/>
            <a:ext cx="8054975" cy="173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35000"/>
              </a:lnSpc>
              <a:spcBef>
                <a:spcPct val="50000"/>
              </a:spcBef>
            </a:pPr>
            <a:r>
              <a:rPr lang="en-US" altLang="zh-CN" sz="4000">
                <a:solidFill>
                  <a:srgbClr val="A50021"/>
                </a:solidFill>
                <a:ea typeface="楷体_GB2312" charset="0"/>
              </a:rPr>
              <a:t>   </a:t>
            </a:r>
            <a:r>
              <a:rPr lang="zh-CN" altLang="en-US" sz="4000">
                <a:solidFill>
                  <a:srgbClr val="A50021"/>
                </a:solidFill>
                <a:ea typeface="楷体_GB2312" charset="0"/>
              </a:rPr>
              <a:t>问：含 </a:t>
            </a:r>
            <a:r>
              <a:rPr lang="en-US" altLang="zh-CN" sz="4000" b="1" i="1">
                <a:solidFill>
                  <a:srgbClr val="FF0000"/>
                </a:solidFill>
                <a:ea typeface="楷体_GB2312" charset="0"/>
              </a:rPr>
              <a:t>n</a:t>
            </a:r>
            <a:r>
              <a:rPr lang="en-US" altLang="zh-CN" sz="4000">
                <a:solidFill>
                  <a:srgbClr val="FF0000"/>
                </a:solidFill>
                <a:ea typeface="楷体_GB2312" charset="0"/>
              </a:rPr>
              <a:t> </a:t>
            </a:r>
            <a:r>
              <a:rPr lang="zh-CN" altLang="en-US" sz="4000">
                <a:solidFill>
                  <a:srgbClr val="FF0000"/>
                </a:solidFill>
                <a:ea typeface="楷体_GB2312" charset="0"/>
              </a:rPr>
              <a:t>个关键字</a:t>
            </a:r>
            <a:r>
              <a:rPr lang="zh-CN" altLang="en-US" sz="4000">
                <a:solidFill>
                  <a:srgbClr val="A50021"/>
                </a:solidFill>
                <a:ea typeface="楷体_GB2312" charset="0"/>
              </a:rPr>
              <a:t>的二叉平衡树</a:t>
            </a:r>
            <a:r>
              <a:rPr lang="zh-CN" altLang="en-US" sz="4000">
                <a:solidFill>
                  <a:srgbClr val="FF0000"/>
                </a:solidFill>
                <a:ea typeface="楷体_GB2312" charset="0"/>
              </a:rPr>
              <a:t>可能达到的</a:t>
            </a:r>
            <a:r>
              <a:rPr lang="zh-CN" altLang="en-US" sz="4000" b="1">
                <a:solidFill>
                  <a:srgbClr val="FF0000"/>
                </a:solidFill>
                <a:ea typeface="楷体_GB2312" charset="0"/>
              </a:rPr>
              <a:t>最大深度</a:t>
            </a:r>
            <a:r>
              <a:rPr lang="zh-CN" altLang="en-US" sz="4000">
                <a:solidFill>
                  <a:srgbClr val="A50021"/>
                </a:solidFill>
                <a:ea typeface="楷体_GB2312" charset="0"/>
              </a:rPr>
              <a:t>是多少？</a:t>
            </a:r>
          </a:p>
        </p:txBody>
      </p:sp>
    </p:spTree>
    <p:extLst>
      <p:ext uri="{BB962C8B-B14F-4D97-AF65-F5344CB8AC3E}">
        <p14:creationId xmlns:p14="http://schemas.microsoft.com/office/powerpoint/2010/main" val="166978712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92163"/>
                                        </p:tgtEl>
                                        <p:attrNameLst>
                                          <p:attrName>style.visibility</p:attrName>
                                        </p:attrNameLst>
                                      </p:cBhvr>
                                      <p:to>
                                        <p:strVal val="visible"/>
                                      </p:to>
                                    </p:set>
                                    <p:animEffect transition="in" filter="strips(downRight)">
                                      <p:cBhvr>
                                        <p:cTn id="7" dur="500"/>
                                        <p:tgtEl>
                                          <p:spTgt spid="921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2162"/>
                                        </p:tgtEl>
                                        <p:attrNameLst>
                                          <p:attrName>style.visibility</p:attrName>
                                        </p:attrNameLst>
                                      </p:cBhvr>
                                      <p:to>
                                        <p:strVal val="visible"/>
                                      </p:to>
                                    </p:set>
                                    <p:animEffect transition="in" filter="strips(downRight)">
                                      <p:cBhvr>
                                        <p:cTn id="12" dur="500"/>
                                        <p:tgtEl>
                                          <p:spTgt spid="921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92164"/>
                                        </p:tgtEl>
                                        <p:attrNameLst>
                                          <p:attrName>style.visibility</p:attrName>
                                        </p:attrNameLst>
                                      </p:cBhvr>
                                      <p:to>
                                        <p:strVal val="visible"/>
                                      </p:to>
                                    </p:set>
                                    <p:animEffect transition="in" filter="strips(downRight)">
                                      <p:cBhvr>
                                        <p:cTn id="17" dur="500"/>
                                        <p:tgtEl>
                                          <p:spTgt spid="92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autoUpdateAnimBg="0"/>
      <p:bldP spid="92163" grpId="0" autoUpdateAnimBg="0"/>
      <p:bldP spid="92164" grpId="0"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1" name="Text Box 3"/>
          <p:cNvSpPr txBox="1">
            <a:spLocks noChangeArrowheads="1"/>
          </p:cNvSpPr>
          <p:nvPr/>
        </p:nvSpPr>
        <p:spPr bwMode="auto">
          <a:xfrm>
            <a:off x="1066800" y="685800"/>
            <a:ext cx="11969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ltLang="zh-CN" sz="3600" b="1" i="1">
                <a:solidFill>
                  <a:srgbClr val="A50021"/>
                </a:solidFill>
              </a:rPr>
              <a:t>n </a:t>
            </a:r>
            <a:r>
              <a:rPr lang="en-US" altLang="zh-CN" sz="3600" b="1">
                <a:solidFill>
                  <a:srgbClr val="A50021"/>
                </a:solidFill>
              </a:rPr>
              <a:t>= 0</a:t>
            </a:r>
            <a:endParaRPr lang="en-US" altLang="zh-CN" sz="3600" b="1" i="1"/>
          </a:p>
        </p:txBody>
      </p:sp>
      <p:sp>
        <p:nvSpPr>
          <p:cNvPr id="211972" name="Text Box 4"/>
          <p:cNvSpPr txBox="1">
            <a:spLocks noChangeArrowheads="1"/>
          </p:cNvSpPr>
          <p:nvPr/>
        </p:nvSpPr>
        <p:spPr bwMode="auto">
          <a:xfrm>
            <a:off x="1066800" y="1720850"/>
            <a:ext cx="11969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zh-CN" altLang="en-US" sz="3600" b="1">
                <a:solidFill>
                  <a:srgbClr val="A50021"/>
                </a:solidFill>
              </a:rPr>
              <a:t>空树</a:t>
            </a:r>
            <a:endParaRPr lang="zh-CN" altLang="en-US" sz="3600" b="1" i="1"/>
          </a:p>
        </p:txBody>
      </p:sp>
      <p:sp>
        <p:nvSpPr>
          <p:cNvPr id="211973" name="Text Box 5"/>
          <p:cNvSpPr txBox="1">
            <a:spLocks noChangeArrowheads="1"/>
          </p:cNvSpPr>
          <p:nvPr/>
        </p:nvSpPr>
        <p:spPr bwMode="auto">
          <a:xfrm>
            <a:off x="381000" y="2743200"/>
            <a:ext cx="2590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zh-CN" altLang="en-US" sz="3200" b="1">
                <a:solidFill>
                  <a:srgbClr val="A50021"/>
                </a:solidFill>
                <a:latin typeface="楷体_GB2312" charset="0"/>
                <a:ea typeface="楷体_GB2312" charset="0"/>
              </a:rPr>
              <a:t>最大深度为</a:t>
            </a:r>
            <a:r>
              <a:rPr lang="zh-CN" altLang="en-US" sz="3200" b="1">
                <a:solidFill>
                  <a:srgbClr val="A50021"/>
                </a:solidFill>
              </a:rPr>
              <a:t> </a:t>
            </a:r>
            <a:r>
              <a:rPr lang="en-US" altLang="zh-CN" sz="3200" b="1">
                <a:solidFill>
                  <a:srgbClr val="A50021"/>
                </a:solidFill>
              </a:rPr>
              <a:t>0</a:t>
            </a:r>
            <a:endParaRPr lang="en-US" altLang="zh-CN" sz="2800" b="1" i="1"/>
          </a:p>
        </p:txBody>
      </p:sp>
      <p:sp>
        <p:nvSpPr>
          <p:cNvPr id="211974" name="Text Box 6"/>
          <p:cNvSpPr txBox="1">
            <a:spLocks noChangeArrowheads="1"/>
          </p:cNvSpPr>
          <p:nvPr/>
        </p:nvSpPr>
        <p:spPr bwMode="auto">
          <a:xfrm>
            <a:off x="4060825" y="685800"/>
            <a:ext cx="11969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ltLang="zh-CN" sz="3600" b="1" i="1">
                <a:solidFill>
                  <a:srgbClr val="A50021"/>
                </a:solidFill>
              </a:rPr>
              <a:t>n </a:t>
            </a:r>
            <a:r>
              <a:rPr lang="en-US" altLang="zh-CN" sz="3600" b="1">
                <a:solidFill>
                  <a:srgbClr val="A50021"/>
                </a:solidFill>
              </a:rPr>
              <a:t>= 1</a:t>
            </a:r>
            <a:endParaRPr lang="en-US" altLang="zh-CN" sz="3600" b="1" i="1"/>
          </a:p>
        </p:txBody>
      </p:sp>
      <p:sp>
        <p:nvSpPr>
          <p:cNvPr id="211975" name="Text Box 7"/>
          <p:cNvSpPr txBox="1">
            <a:spLocks noChangeArrowheads="1"/>
          </p:cNvSpPr>
          <p:nvPr/>
        </p:nvSpPr>
        <p:spPr bwMode="auto">
          <a:xfrm>
            <a:off x="3200400" y="2667000"/>
            <a:ext cx="2743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zh-CN" altLang="en-US" sz="3200" b="1">
                <a:solidFill>
                  <a:srgbClr val="A50021"/>
                </a:solidFill>
                <a:ea typeface="楷体_GB2312" charset="0"/>
              </a:rPr>
              <a:t>最大深度为</a:t>
            </a:r>
            <a:r>
              <a:rPr lang="zh-CN" altLang="en-US" sz="3600" b="1">
                <a:solidFill>
                  <a:srgbClr val="A50021"/>
                </a:solidFill>
              </a:rPr>
              <a:t> </a:t>
            </a:r>
            <a:r>
              <a:rPr lang="en-US" altLang="zh-CN" sz="3600" b="1">
                <a:solidFill>
                  <a:srgbClr val="A50021"/>
                </a:solidFill>
              </a:rPr>
              <a:t>1</a:t>
            </a:r>
            <a:endParaRPr lang="en-US" altLang="zh-CN" sz="3600" b="1" i="1"/>
          </a:p>
        </p:txBody>
      </p:sp>
      <p:sp>
        <p:nvSpPr>
          <p:cNvPr id="211976" name="Text Box 8"/>
          <p:cNvSpPr txBox="1">
            <a:spLocks noChangeArrowheads="1"/>
          </p:cNvSpPr>
          <p:nvPr/>
        </p:nvSpPr>
        <p:spPr bwMode="auto">
          <a:xfrm>
            <a:off x="7185025" y="685800"/>
            <a:ext cx="11969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ltLang="zh-CN" sz="3600" b="1" i="1">
                <a:solidFill>
                  <a:srgbClr val="A50021"/>
                </a:solidFill>
              </a:rPr>
              <a:t>n </a:t>
            </a:r>
            <a:r>
              <a:rPr lang="en-US" altLang="zh-CN" sz="3600" b="1">
                <a:solidFill>
                  <a:srgbClr val="A50021"/>
                </a:solidFill>
              </a:rPr>
              <a:t>= 2</a:t>
            </a:r>
            <a:endParaRPr lang="en-US" altLang="zh-CN" sz="3600" b="1" i="1"/>
          </a:p>
        </p:txBody>
      </p:sp>
      <p:sp>
        <p:nvSpPr>
          <p:cNvPr id="211977" name="Text Box 9"/>
          <p:cNvSpPr txBox="1">
            <a:spLocks noChangeArrowheads="1"/>
          </p:cNvSpPr>
          <p:nvPr/>
        </p:nvSpPr>
        <p:spPr bwMode="auto">
          <a:xfrm>
            <a:off x="6172200" y="2667000"/>
            <a:ext cx="27209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zh-CN" altLang="en-US" sz="3200" b="1">
                <a:solidFill>
                  <a:srgbClr val="A50021"/>
                </a:solidFill>
                <a:latin typeface="楷体_GB2312" charset="0"/>
                <a:ea typeface="楷体_GB2312" charset="0"/>
              </a:rPr>
              <a:t>最大深度为</a:t>
            </a:r>
            <a:r>
              <a:rPr lang="zh-CN" altLang="en-US" sz="3600" b="1">
                <a:solidFill>
                  <a:srgbClr val="A50021"/>
                </a:solidFill>
              </a:rPr>
              <a:t> </a:t>
            </a:r>
            <a:r>
              <a:rPr lang="en-US" altLang="zh-CN" sz="3600" b="1">
                <a:solidFill>
                  <a:srgbClr val="A50021"/>
                </a:solidFill>
              </a:rPr>
              <a:t>2</a:t>
            </a:r>
            <a:endParaRPr lang="en-US" altLang="zh-CN" sz="3600" b="1" i="1"/>
          </a:p>
        </p:txBody>
      </p:sp>
      <p:sp>
        <p:nvSpPr>
          <p:cNvPr id="211978" name="Text Box 10"/>
          <p:cNvSpPr txBox="1">
            <a:spLocks noChangeArrowheads="1"/>
          </p:cNvSpPr>
          <p:nvPr/>
        </p:nvSpPr>
        <p:spPr bwMode="auto">
          <a:xfrm>
            <a:off x="304800" y="3810000"/>
            <a:ext cx="11969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ltLang="zh-CN" sz="3600" b="1" i="1">
                <a:solidFill>
                  <a:srgbClr val="A50021"/>
                </a:solidFill>
              </a:rPr>
              <a:t>n </a:t>
            </a:r>
            <a:r>
              <a:rPr lang="en-US" altLang="zh-CN" sz="3600" b="1">
                <a:solidFill>
                  <a:srgbClr val="A50021"/>
                </a:solidFill>
              </a:rPr>
              <a:t>= 4</a:t>
            </a:r>
            <a:endParaRPr lang="en-US" altLang="zh-CN" sz="3600" b="1" i="1"/>
          </a:p>
        </p:txBody>
      </p:sp>
      <p:sp>
        <p:nvSpPr>
          <p:cNvPr id="211979" name="Text Box 11"/>
          <p:cNvSpPr txBox="1">
            <a:spLocks noChangeArrowheads="1"/>
          </p:cNvSpPr>
          <p:nvPr/>
        </p:nvSpPr>
        <p:spPr bwMode="auto">
          <a:xfrm>
            <a:off x="609600" y="5973763"/>
            <a:ext cx="2590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zh-CN" altLang="en-US" sz="3200" b="1">
                <a:solidFill>
                  <a:srgbClr val="A50021"/>
                </a:solidFill>
                <a:latin typeface="楷体_GB2312" charset="0"/>
                <a:ea typeface="楷体_GB2312" charset="0"/>
              </a:rPr>
              <a:t>最大深度为</a:t>
            </a:r>
            <a:r>
              <a:rPr lang="zh-CN" altLang="en-US" sz="3200" b="1">
                <a:solidFill>
                  <a:srgbClr val="A50021"/>
                </a:solidFill>
                <a:ea typeface="楷体_GB2312" charset="0"/>
              </a:rPr>
              <a:t> </a:t>
            </a:r>
            <a:r>
              <a:rPr lang="en-US" altLang="zh-CN" sz="3200" b="1">
                <a:solidFill>
                  <a:srgbClr val="A50021"/>
                </a:solidFill>
                <a:ea typeface="楷体_GB2312" charset="0"/>
              </a:rPr>
              <a:t>3</a:t>
            </a:r>
            <a:endParaRPr lang="en-US" altLang="zh-CN" sz="3600" b="1" i="1"/>
          </a:p>
        </p:txBody>
      </p:sp>
      <p:sp>
        <p:nvSpPr>
          <p:cNvPr id="211980" name="Oval 12"/>
          <p:cNvSpPr>
            <a:spLocks noChangeArrowheads="1"/>
          </p:cNvSpPr>
          <p:nvPr/>
        </p:nvSpPr>
        <p:spPr bwMode="auto">
          <a:xfrm>
            <a:off x="4114800" y="1905000"/>
            <a:ext cx="381000" cy="381000"/>
          </a:xfrm>
          <a:prstGeom prst="ellipse">
            <a:avLst/>
          </a:prstGeom>
          <a:solidFill>
            <a:srgbClr val="CCFFCC"/>
          </a:solidFill>
          <a:ln w="2540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1981" name="Freeform 13"/>
          <p:cNvSpPr>
            <a:spLocks/>
          </p:cNvSpPr>
          <p:nvPr/>
        </p:nvSpPr>
        <p:spPr bwMode="auto">
          <a:xfrm>
            <a:off x="3733800" y="1295400"/>
            <a:ext cx="533400" cy="609600"/>
          </a:xfrm>
          <a:custGeom>
            <a:avLst/>
            <a:gdLst>
              <a:gd name="T0" fmla="*/ 0 w 288"/>
              <a:gd name="T1" fmla="*/ 0 h 336"/>
              <a:gd name="T2" fmla="*/ 192 w 288"/>
              <a:gd name="T3" fmla="*/ 96 h 336"/>
              <a:gd name="T4" fmla="*/ 96 w 288"/>
              <a:gd name="T5" fmla="*/ 96 h 336"/>
              <a:gd name="T6" fmla="*/ 288 w 288"/>
              <a:gd name="T7" fmla="*/ 336 h 336"/>
            </a:gdLst>
            <a:ahLst/>
            <a:cxnLst>
              <a:cxn ang="0">
                <a:pos x="T0" y="T1"/>
              </a:cxn>
              <a:cxn ang="0">
                <a:pos x="T2" y="T3"/>
              </a:cxn>
              <a:cxn ang="0">
                <a:pos x="T4" y="T5"/>
              </a:cxn>
              <a:cxn ang="0">
                <a:pos x="T6" y="T7"/>
              </a:cxn>
            </a:cxnLst>
            <a:rect l="0" t="0" r="r" b="b"/>
            <a:pathLst>
              <a:path w="288" h="336">
                <a:moveTo>
                  <a:pt x="0" y="0"/>
                </a:moveTo>
                <a:cubicBezTo>
                  <a:pt x="88" y="40"/>
                  <a:pt x="176" y="80"/>
                  <a:pt x="192" y="96"/>
                </a:cubicBezTo>
                <a:cubicBezTo>
                  <a:pt x="208" y="112"/>
                  <a:pt x="80" y="56"/>
                  <a:pt x="96" y="96"/>
                </a:cubicBezTo>
                <a:cubicBezTo>
                  <a:pt x="112" y="136"/>
                  <a:pt x="200" y="236"/>
                  <a:pt x="288" y="336"/>
                </a:cubicBezTo>
              </a:path>
            </a:pathLst>
          </a:custGeom>
          <a:noFill/>
          <a:ln w="31750">
            <a:solidFill>
              <a:srgbClr val="00808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1982" name="Oval 14"/>
          <p:cNvSpPr>
            <a:spLocks noChangeArrowheads="1"/>
          </p:cNvSpPr>
          <p:nvPr/>
        </p:nvSpPr>
        <p:spPr bwMode="auto">
          <a:xfrm>
            <a:off x="6934200" y="1524000"/>
            <a:ext cx="381000" cy="381000"/>
          </a:xfrm>
          <a:prstGeom prst="ellipse">
            <a:avLst/>
          </a:prstGeom>
          <a:solidFill>
            <a:srgbClr val="CCFFCC"/>
          </a:solidFill>
          <a:ln w="2540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1983" name="Freeform 15"/>
          <p:cNvSpPr>
            <a:spLocks/>
          </p:cNvSpPr>
          <p:nvPr/>
        </p:nvSpPr>
        <p:spPr bwMode="auto">
          <a:xfrm>
            <a:off x="6553200" y="914400"/>
            <a:ext cx="533400" cy="609600"/>
          </a:xfrm>
          <a:custGeom>
            <a:avLst/>
            <a:gdLst>
              <a:gd name="T0" fmla="*/ 0 w 288"/>
              <a:gd name="T1" fmla="*/ 0 h 336"/>
              <a:gd name="T2" fmla="*/ 192 w 288"/>
              <a:gd name="T3" fmla="*/ 96 h 336"/>
              <a:gd name="T4" fmla="*/ 96 w 288"/>
              <a:gd name="T5" fmla="*/ 96 h 336"/>
              <a:gd name="T6" fmla="*/ 288 w 288"/>
              <a:gd name="T7" fmla="*/ 336 h 336"/>
            </a:gdLst>
            <a:ahLst/>
            <a:cxnLst>
              <a:cxn ang="0">
                <a:pos x="T0" y="T1"/>
              </a:cxn>
              <a:cxn ang="0">
                <a:pos x="T2" y="T3"/>
              </a:cxn>
              <a:cxn ang="0">
                <a:pos x="T4" y="T5"/>
              </a:cxn>
              <a:cxn ang="0">
                <a:pos x="T6" y="T7"/>
              </a:cxn>
            </a:cxnLst>
            <a:rect l="0" t="0" r="r" b="b"/>
            <a:pathLst>
              <a:path w="288" h="336">
                <a:moveTo>
                  <a:pt x="0" y="0"/>
                </a:moveTo>
                <a:cubicBezTo>
                  <a:pt x="88" y="40"/>
                  <a:pt x="176" y="80"/>
                  <a:pt x="192" y="96"/>
                </a:cubicBezTo>
                <a:cubicBezTo>
                  <a:pt x="208" y="112"/>
                  <a:pt x="80" y="56"/>
                  <a:pt x="96" y="96"/>
                </a:cubicBezTo>
                <a:cubicBezTo>
                  <a:pt x="112" y="136"/>
                  <a:pt x="200" y="236"/>
                  <a:pt x="288" y="336"/>
                </a:cubicBezTo>
              </a:path>
            </a:pathLst>
          </a:custGeom>
          <a:noFill/>
          <a:ln w="31750">
            <a:solidFill>
              <a:srgbClr val="00808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1988" name="Oval 20"/>
          <p:cNvSpPr>
            <a:spLocks noChangeArrowheads="1"/>
          </p:cNvSpPr>
          <p:nvPr/>
        </p:nvSpPr>
        <p:spPr bwMode="auto">
          <a:xfrm>
            <a:off x="7620000" y="2133600"/>
            <a:ext cx="381000" cy="381000"/>
          </a:xfrm>
          <a:prstGeom prst="ellipse">
            <a:avLst/>
          </a:prstGeom>
          <a:solidFill>
            <a:srgbClr val="CCFFCC"/>
          </a:solidFill>
          <a:ln w="2540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1989" name="Line 21"/>
          <p:cNvSpPr>
            <a:spLocks noChangeShapeType="1"/>
          </p:cNvSpPr>
          <p:nvPr/>
        </p:nvSpPr>
        <p:spPr bwMode="auto">
          <a:xfrm>
            <a:off x="7315200" y="1828800"/>
            <a:ext cx="381000" cy="3810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1990" name="Oval 22"/>
          <p:cNvSpPr>
            <a:spLocks noChangeArrowheads="1"/>
          </p:cNvSpPr>
          <p:nvPr/>
        </p:nvSpPr>
        <p:spPr bwMode="auto">
          <a:xfrm>
            <a:off x="2057400" y="4114800"/>
            <a:ext cx="381000" cy="381000"/>
          </a:xfrm>
          <a:prstGeom prst="ellipse">
            <a:avLst/>
          </a:prstGeom>
          <a:solidFill>
            <a:srgbClr val="CCFFCC"/>
          </a:solidFill>
          <a:ln w="2540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1991" name="Freeform 23"/>
          <p:cNvSpPr>
            <a:spLocks/>
          </p:cNvSpPr>
          <p:nvPr/>
        </p:nvSpPr>
        <p:spPr bwMode="auto">
          <a:xfrm>
            <a:off x="1676400" y="3505200"/>
            <a:ext cx="533400" cy="609600"/>
          </a:xfrm>
          <a:custGeom>
            <a:avLst/>
            <a:gdLst>
              <a:gd name="T0" fmla="*/ 0 w 288"/>
              <a:gd name="T1" fmla="*/ 0 h 336"/>
              <a:gd name="T2" fmla="*/ 192 w 288"/>
              <a:gd name="T3" fmla="*/ 96 h 336"/>
              <a:gd name="T4" fmla="*/ 96 w 288"/>
              <a:gd name="T5" fmla="*/ 96 h 336"/>
              <a:gd name="T6" fmla="*/ 288 w 288"/>
              <a:gd name="T7" fmla="*/ 336 h 336"/>
            </a:gdLst>
            <a:ahLst/>
            <a:cxnLst>
              <a:cxn ang="0">
                <a:pos x="T0" y="T1"/>
              </a:cxn>
              <a:cxn ang="0">
                <a:pos x="T2" y="T3"/>
              </a:cxn>
              <a:cxn ang="0">
                <a:pos x="T4" y="T5"/>
              </a:cxn>
              <a:cxn ang="0">
                <a:pos x="T6" y="T7"/>
              </a:cxn>
            </a:cxnLst>
            <a:rect l="0" t="0" r="r" b="b"/>
            <a:pathLst>
              <a:path w="288" h="336">
                <a:moveTo>
                  <a:pt x="0" y="0"/>
                </a:moveTo>
                <a:cubicBezTo>
                  <a:pt x="88" y="40"/>
                  <a:pt x="176" y="80"/>
                  <a:pt x="192" y="96"/>
                </a:cubicBezTo>
                <a:cubicBezTo>
                  <a:pt x="208" y="112"/>
                  <a:pt x="80" y="56"/>
                  <a:pt x="96" y="96"/>
                </a:cubicBezTo>
                <a:cubicBezTo>
                  <a:pt x="112" y="136"/>
                  <a:pt x="200" y="236"/>
                  <a:pt x="288" y="336"/>
                </a:cubicBezTo>
              </a:path>
            </a:pathLst>
          </a:custGeom>
          <a:noFill/>
          <a:ln w="31750">
            <a:solidFill>
              <a:srgbClr val="00808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1992" name="Oval 24"/>
          <p:cNvSpPr>
            <a:spLocks noChangeArrowheads="1"/>
          </p:cNvSpPr>
          <p:nvPr/>
        </p:nvSpPr>
        <p:spPr bwMode="auto">
          <a:xfrm>
            <a:off x="2743200" y="4724400"/>
            <a:ext cx="381000" cy="381000"/>
          </a:xfrm>
          <a:prstGeom prst="ellipse">
            <a:avLst/>
          </a:prstGeom>
          <a:solidFill>
            <a:srgbClr val="CCFFCC"/>
          </a:solidFill>
          <a:ln w="2540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1993" name="Line 25"/>
          <p:cNvSpPr>
            <a:spLocks noChangeShapeType="1"/>
          </p:cNvSpPr>
          <p:nvPr/>
        </p:nvSpPr>
        <p:spPr bwMode="auto">
          <a:xfrm>
            <a:off x="2438400" y="4419600"/>
            <a:ext cx="381000" cy="3810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1994" name="Oval 26"/>
          <p:cNvSpPr>
            <a:spLocks noChangeArrowheads="1"/>
          </p:cNvSpPr>
          <p:nvPr/>
        </p:nvSpPr>
        <p:spPr bwMode="auto">
          <a:xfrm>
            <a:off x="1371600" y="4724400"/>
            <a:ext cx="381000" cy="381000"/>
          </a:xfrm>
          <a:prstGeom prst="ellipse">
            <a:avLst/>
          </a:prstGeom>
          <a:solidFill>
            <a:srgbClr val="CCFFCC"/>
          </a:solidFill>
          <a:ln w="2540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1995" name="Oval 27"/>
          <p:cNvSpPr>
            <a:spLocks noChangeArrowheads="1"/>
          </p:cNvSpPr>
          <p:nvPr/>
        </p:nvSpPr>
        <p:spPr bwMode="auto">
          <a:xfrm>
            <a:off x="2057400" y="5334000"/>
            <a:ext cx="381000" cy="381000"/>
          </a:xfrm>
          <a:prstGeom prst="ellipse">
            <a:avLst/>
          </a:prstGeom>
          <a:solidFill>
            <a:srgbClr val="CCFFCC"/>
          </a:solidFill>
          <a:ln w="2540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1996" name="Line 28"/>
          <p:cNvSpPr>
            <a:spLocks noChangeShapeType="1"/>
          </p:cNvSpPr>
          <p:nvPr/>
        </p:nvSpPr>
        <p:spPr bwMode="auto">
          <a:xfrm>
            <a:off x="1752600" y="5029200"/>
            <a:ext cx="381000" cy="3810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1997" name="Line 29"/>
          <p:cNvSpPr>
            <a:spLocks noChangeShapeType="1"/>
          </p:cNvSpPr>
          <p:nvPr/>
        </p:nvSpPr>
        <p:spPr bwMode="auto">
          <a:xfrm flipH="1">
            <a:off x="1676400" y="4419600"/>
            <a:ext cx="381000" cy="3810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1998" name="Oval 30"/>
          <p:cNvSpPr>
            <a:spLocks noChangeArrowheads="1"/>
          </p:cNvSpPr>
          <p:nvPr/>
        </p:nvSpPr>
        <p:spPr bwMode="auto">
          <a:xfrm>
            <a:off x="5692775" y="4114800"/>
            <a:ext cx="381000" cy="381000"/>
          </a:xfrm>
          <a:prstGeom prst="ellipse">
            <a:avLst/>
          </a:prstGeom>
          <a:solidFill>
            <a:srgbClr val="CCFFCC"/>
          </a:solidFill>
          <a:ln w="2540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1999" name="Freeform 31"/>
          <p:cNvSpPr>
            <a:spLocks/>
          </p:cNvSpPr>
          <p:nvPr/>
        </p:nvSpPr>
        <p:spPr bwMode="auto">
          <a:xfrm>
            <a:off x="5311775" y="3505200"/>
            <a:ext cx="533400" cy="609600"/>
          </a:xfrm>
          <a:custGeom>
            <a:avLst/>
            <a:gdLst>
              <a:gd name="T0" fmla="*/ 0 w 288"/>
              <a:gd name="T1" fmla="*/ 0 h 336"/>
              <a:gd name="T2" fmla="*/ 192 w 288"/>
              <a:gd name="T3" fmla="*/ 96 h 336"/>
              <a:gd name="T4" fmla="*/ 96 w 288"/>
              <a:gd name="T5" fmla="*/ 96 h 336"/>
              <a:gd name="T6" fmla="*/ 288 w 288"/>
              <a:gd name="T7" fmla="*/ 336 h 336"/>
            </a:gdLst>
            <a:ahLst/>
            <a:cxnLst>
              <a:cxn ang="0">
                <a:pos x="T0" y="T1"/>
              </a:cxn>
              <a:cxn ang="0">
                <a:pos x="T2" y="T3"/>
              </a:cxn>
              <a:cxn ang="0">
                <a:pos x="T4" y="T5"/>
              </a:cxn>
              <a:cxn ang="0">
                <a:pos x="T6" y="T7"/>
              </a:cxn>
            </a:cxnLst>
            <a:rect l="0" t="0" r="r" b="b"/>
            <a:pathLst>
              <a:path w="288" h="336">
                <a:moveTo>
                  <a:pt x="0" y="0"/>
                </a:moveTo>
                <a:cubicBezTo>
                  <a:pt x="88" y="40"/>
                  <a:pt x="176" y="80"/>
                  <a:pt x="192" y="96"/>
                </a:cubicBezTo>
                <a:cubicBezTo>
                  <a:pt x="208" y="112"/>
                  <a:pt x="80" y="56"/>
                  <a:pt x="96" y="96"/>
                </a:cubicBezTo>
                <a:cubicBezTo>
                  <a:pt x="112" y="136"/>
                  <a:pt x="200" y="236"/>
                  <a:pt x="288" y="336"/>
                </a:cubicBezTo>
              </a:path>
            </a:pathLst>
          </a:custGeom>
          <a:noFill/>
          <a:ln w="31750">
            <a:solidFill>
              <a:srgbClr val="00808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2000" name="Oval 32"/>
          <p:cNvSpPr>
            <a:spLocks noChangeArrowheads="1"/>
          </p:cNvSpPr>
          <p:nvPr/>
        </p:nvSpPr>
        <p:spPr bwMode="auto">
          <a:xfrm>
            <a:off x="6378575" y="4724400"/>
            <a:ext cx="381000" cy="381000"/>
          </a:xfrm>
          <a:prstGeom prst="ellipse">
            <a:avLst/>
          </a:prstGeom>
          <a:solidFill>
            <a:srgbClr val="CCFFCC"/>
          </a:solidFill>
          <a:ln w="2540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2001" name="Line 33"/>
          <p:cNvSpPr>
            <a:spLocks noChangeShapeType="1"/>
          </p:cNvSpPr>
          <p:nvPr/>
        </p:nvSpPr>
        <p:spPr bwMode="auto">
          <a:xfrm>
            <a:off x="6073775" y="4419600"/>
            <a:ext cx="381000" cy="3810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2002" name="Oval 34"/>
          <p:cNvSpPr>
            <a:spLocks noChangeArrowheads="1"/>
          </p:cNvSpPr>
          <p:nvPr/>
        </p:nvSpPr>
        <p:spPr bwMode="auto">
          <a:xfrm>
            <a:off x="5006975" y="4724400"/>
            <a:ext cx="381000" cy="381000"/>
          </a:xfrm>
          <a:prstGeom prst="ellipse">
            <a:avLst/>
          </a:prstGeom>
          <a:solidFill>
            <a:srgbClr val="CCFFCC"/>
          </a:solidFill>
          <a:ln w="2540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2003" name="Oval 35"/>
          <p:cNvSpPr>
            <a:spLocks noChangeArrowheads="1"/>
          </p:cNvSpPr>
          <p:nvPr/>
        </p:nvSpPr>
        <p:spPr bwMode="auto">
          <a:xfrm>
            <a:off x="5692775" y="5334000"/>
            <a:ext cx="381000" cy="381000"/>
          </a:xfrm>
          <a:prstGeom prst="ellipse">
            <a:avLst/>
          </a:prstGeom>
          <a:solidFill>
            <a:srgbClr val="CCFFCC"/>
          </a:solidFill>
          <a:ln w="2540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2004" name="Line 36"/>
          <p:cNvSpPr>
            <a:spLocks noChangeShapeType="1"/>
          </p:cNvSpPr>
          <p:nvPr/>
        </p:nvSpPr>
        <p:spPr bwMode="auto">
          <a:xfrm>
            <a:off x="5387975" y="5029200"/>
            <a:ext cx="381000" cy="3810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2005" name="Line 37"/>
          <p:cNvSpPr>
            <a:spLocks noChangeShapeType="1"/>
          </p:cNvSpPr>
          <p:nvPr/>
        </p:nvSpPr>
        <p:spPr bwMode="auto">
          <a:xfrm flipH="1">
            <a:off x="5311775" y="4419600"/>
            <a:ext cx="381000" cy="3810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2006" name="Oval 38"/>
          <p:cNvSpPr>
            <a:spLocks noChangeArrowheads="1"/>
          </p:cNvSpPr>
          <p:nvPr/>
        </p:nvSpPr>
        <p:spPr bwMode="auto">
          <a:xfrm>
            <a:off x="7064375" y="5334000"/>
            <a:ext cx="381000" cy="381000"/>
          </a:xfrm>
          <a:prstGeom prst="ellipse">
            <a:avLst/>
          </a:prstGeom>
          <a:solidFill>
            <a:srgbClr val="CCFFCC"/>
          </a:solidFill>
          <a:ln w="2540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2008" name="Line 40"/>
          <p:cNvSpPr>
            <a:spLocks noChangeShapeType="1"/>
          </p:cNvSpPr>
          <p:nvPr/>
        </p:nvSpPr>
        <p:spPr bwMode="auto">
          <a:xfrm>
            <a:off x="6759575" y="5029200"/>
            <a:ext cx="381000" cy="3810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2009" name="Oval 41"/>
          <p:cNvSpPr>
            <a:spLocks noChangeArrowheads="1"/>
          </p:cNvSpPr>
          <p:nvPr/>
        </p:nvSpPr>
        <p:spPr bwMode="auto">
          <a:xfrm>
            <a:off x="4321175" y="5334000"/>
            <a:ext cx="381000" cy="381000"/>
          </a:xfrm>
          <a:prstGeom prst="ellipse">
            <a:avLst/>
          </a:prstGeom>
          <a:solidFill>
            <a:srgbClr val="CCFFCC"/>
          </a:solidFill>
          <a:ln w="2540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2010" name="Oval 42"/>
          <p:cNvSpPr>
            <a:spLocks noChangeArrowheads="1"/>
          </p:cNvSpPr>
          <p:nvPr/>
        </p:nvSpPr>
        <p:spPr bwMode="auto">
          <a:xfrm>
            <a:off x="5006975" y="5943600"/>
            <a:ext cx="381000" cy="381000"/>
          </a:xfrm>
          <a:prstGeom prst="ellipse">
            <a:avLst/>
          </a:prstGeom>
          <a:solidFill>
            <a:srgbClr val="CCFFCC"/>
          </a:solidFill>
          <a:ln w="25400">
            <a:solidFill>
              <a:srgbClr val="008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2011" name="Line 43"/>
          <p:cNvSpPr>
            <a:spLocks noChangeShapeType="1"/>
          </p:cNvSpPr>
          <p:nvPr/>
        </p:nvSpPr>
        <p:spPr bwMode="auto">
          <a:xfrm>
            <a:off x="4702175" y="5638800"/>
            <a:ext cx="381000" cy="3810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2012" name="Line 44"/>
          <p:cNvSpPr>
            <a:spLocks noChangeShapeType="1"/>
          </p:cNvSpPr>
          <p:nvPr/>
        </p:nvSpPr>
        <p:spPr bwMode="auto">
          <a:xfrm flipH="1">
            <a:off x="4625975" y="5029200"/>
            <a:ext cx="381000" cy="381000"/>
          </a:xfrm>
          <a:prstGeom prst="line">
            <a:avLst/>
          </a:prstGeom>
          <a:noFill/>
          <a:ln w="2857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2013" name="Text Box 45"/>
          <p:cNvSpPr txBox="1">
            <a:spLocks noChangeArrowheads="1"/>
          </p:cNvSpPr>
          <p:nvPr/>
        </p:nvSpPr>
        <p:spPr bwMode="auto">
          <a:xfrm>
            <a:off x="4038600" y="3810000"/>
            <a:ext cx="11969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ltLang="zh-CN" sz="3600" b="1" i="1">
                <a:solidFill>
                  <a:srgbClr val="A50021"/>
                </a:solidFill>
              </a:rPr>
              <a:t>n </a:t>
            </a:r>
            <a:r>
              <a:rPr lang="en-US" altLang="zh-CN" sz="3600" b="1">
                <a:solidFill>
                  <a:srgbClr val="A50021"/>
                </a:solidFill>
              </a:rPr>
              <a:t>= 7</a:t>
            </a:r>
            <a:endParaRPr lang="en-US" altLang="zh-CN" sz="3600" b="1" i="1"/>
          </a:p>
        </p:txBody>
      </p:sp>
      <p:sp>
        <p:nvSpPr>
          <p:cNvPr id="212014" name="Text Box 46"/>
          <p:cNvSpPr txBox="1">
            <a:spLocks noChangeArrowheads="1"/>
          </p:cNvSpPr>
          <p:nvPr/>
        </p:nvSpPr>
        <p:spPr bwMode="auto">
          <a:xfrm>
            <a:off x="6172200" y="5973763"/>
            <a:ext cx="2590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zh-CN" altLang="en-US" sz="3200" b="1">
                <a:solidFill>
                  <a:srgbClr val="A50021"/>
                </a:solidFill>
                <a:latin typeface="楷体_GB2312" charset="0"/>
                <a:ea typeface="楷体_GB2312" charset="0"/>
              </a:rPr>
              <a:t>最大深度为</a:t>
            </a:r>
            <a:r>
              <a:rPr lang="zh-CN" altLang="en-US" sz="3200" b="1">
                <a:solidFill>
                  <a:srgbClr val="A50021"/>
                </a:solidFill>
                <a:ea typeface="楷体_GB2312" charset="0"/>
              </a:rPr>
              <a:t> </a:t>
            </a:r>
            <a:r>
              <a:rPr lang="en-US" altLang="zh-CN" sz="3200" b="1">
                <a:solidFill>
                  <a:srgbClr val="A50021"/>
                </a:solidFill>
                <a:ea typeface="楷体_GB2312" charset="0"/>
              </a:rPr>
              <a:t>4</a:t>
            </a:r>
            <a:endParaRPr lang="en-US" altLang="zh-CN" sz="3600" b="1" i="1"/>
          </a:p>
        </p:txBody>
      </p:sp>
      <p:sp>
        <p:nvSpPr>
          <p:cNvPr id="212015" name="Text Box 47"/>
          <p:cNvSpPr txBox="1">
            <a:spLocks noChangeArrowheads="1"/>
          </p:cNvSpPr>
          <p:nvPr/>
        </p:nvSpPr>
        <p:spPr bwMode="auto">
          <a:xfrm>
            <a:off x="212725" y="30163"/>
            <a:ext cx="35480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200">
                <a:solidFill>
                  <a:schemeClr val="accent2"/>
                </a:solidFill>
                <a:ea typeface="隶书" charset="0"/>
              </a:rPr>
              <a:t>先看几个具体情况</a:t>
            </a:r>
            <a:r>
              <a:rPr lang="en-US" altLang="zh-CN" sz="3200">
                <a:solidFill>
                  <a:schemeClr val="accent2"/>
                </a:solidFill>
                <a:ea typeface="隶书" charset="0"/>
              </a:rPr>
              <a:t>:</a:t>
            </a:r>
            <a:endParaRPr lang="en-US" altLang="zh-CN" sz="3200">
              <a:ea typeface="隶书" charset="0"/>
            </a:endParaRPr>
          </a:p>
        </p:txBody>
      </p:sp>
    </p:spTree>
    <p:extLst>
      <p:ext uri="{BB962C8B-B14F-4D97-AF65-F5344CB8AC3E}">
        <p14:creationId xmlns:p14="http://schemas.microsoft.com/office/powerpoint/2010/main" val="15175772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12015"/>
                                        </p:tgtEl>
                                        <p:attrNameLst>
                                          <p:attrName>style.visibility</p:attrName>
                                        </p:attrNameLst>
                                      </p:cBhvr>
                                      <p:to>
                                        <p:strVal val="visible"/>
                                      </p:to>
                                    </p:set>
                                    <p:anim calcmode="lin" valueType="num">
                                      <p:cBhvr additive="base">
                                        <p:cTn id="7" dur="500" fill="hold"/>
                                        <p:tgtEl>
                                          <p:spTgt spid="212015"/>
                                        </p:tgtEl>
                                        <p:attrNameLst>
                                          <p:attrName>ppt_x</p:attrName>
                                        </p:attrNameLst>
                                      </p:cBhvr>
                                      <p:tavLst>
                                        <p:tav tm="0">
                                          <p:val>
                                            <p:strVal val="0-#ppt_w/2"/>
                                          </p:val>
                                        </p:tav>
                                        <p:tav tm="100000">
                                          <p:val>
                                            <p:strVal val="#ppt_x"/>
                                          </p:val>
                                        </p:tav>
                                      </p:tavLst>
                                    </p:anim>
                                    <p:anim calcmode="lin" valueType="num">
                                      <p:cBhvr additive="base">
                                        <p:cTn id="8" dur="500" fill="hold"/>
                                        <p:tgtEl>
                                          <p:spTgt spid="21201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11971"/>
                                        </p:tgtEl>
                                        <p:attrNameLst>
                                          <p:attrName>style.visibility</p:attrName>
                                        </p:attrNameLst>
                                      </p:cBhvr>
                                      <p:to>
                                        <p:strVal val="visible"/>
                                      </p:to>
                                    </p:set>
                                    <p:animEffect transition="in" filter="wipe(left)">
                                      <p:cBhvr>
                                        <p:cTn id="13" dur="500"/>
                                        <p:tgtEl>
                                          <p:spTgt spid="21197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1972"/>
                                        </p:tgtEl>
                                        <p:attrNameLst>
                                          <p:attrName>style.visibility</p:attrName>
                                        </p:attrNameLst>
                                      </p:cBhvr>
                                      <p:to>
                                        <p:strVal val="visible"/>
                                      </p:to>
                                    </p:set>
                                    <p:animEffect transition="in" filter="wipe(left)">
                                      <p:cBhvr>
                                        <p:cTn id="18" dur="500"/>
                                        <p:tgtEl>
                                          <p:spTgt spid="21197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11973"/>
                                        </p:tgtEl>
                                        <p:attrNameLst>
                                          <p:attrName>style.visibility</p:attrName>
                                        </p:attrNameLst>
                                      </p:cBhvr>
                                      <p:to>
                                        <p:strVal val="visible"/>
                                      </p:to>
                                    </p:set>
                                    <p:animEffect transition="in" filter="wipe(left)">
                                      <p:cBhvr>
                                        <p:cTn id="23" dur="500"/>
                                        <p:tgtEl>
                                          <p:spTgt spid="21197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11974"/>
                                        </p:tgtEl>
                                        <p:attrNameLst>
                                          <p:attrName>style.visibility</p:attrName>
                                        </p:attrNameLst>
                                      </p:cBhvr>
                                      <p:to>
                                        <p:strVal val="visible"/>
                                      </p:to>
                                    </p:set>
                                    <p:animEffect transition="in" filter="wipe(left)">
                                      <p:cBhvr>
                                        <p:cTn id="28" dur="500"/>
                                        <p:tgtEl>
                                          <p:spTgt spid="21197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1981"/>
                                        </p:tgtEl>
                                        <p:attrNameLst>
                                          <p:attrName>style.visibility</p:attrName>
                                        </p:attrNameLst>
                                      </p:cBhvr>
                                      <p:to>
                                        <p:strVal val="visible"/>
                                      </p:to>
                                    </p:set>
                                    <p:animEffect transition="in" filter="wipe(left)">
                                      <p:cBhvr>
                                        <p:cTn id="33" dur="500"/>
                                        <p:tgtEl>
                                          <p:spTgt spid="211981"/>
                                        </p:tgtEl>
                                      </p:cBhvr>
                                    </p:animEffect>
                                  </p:childTnLst>
                                </p:cTn>
                              </p:par>
                            </p:childTnLst>
                          </p:cTn>
                        </p:par>
                        <p:par>
                          <p:cTn id="34" fill="hold" nodeType="afterGroup">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211980"/>
                                        </p:tgtEl>
                                        <p:attrNameLst>
                                          <p:attrName>style.visibility</p:attrName>
                                        </p:attrNameLst>
                                      </p:cBhvr>
                                      <p:to>
                                        <p:strVal val="visible"/>
                                      </p:to>
                                    </p:set>
                                    <p:animEffect transition="in" filter="wipe(left)">
                                      <p:cBhvr>
                                        <p:cTn id="37" dur="500"/>
                                        <p:tgtEl>
                                          <p:spTgt spid="21198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11975"/>
                                        </p:tgtEl>
                                        <p:attrNameLst>
                                          <p:attrName>style.visibility</p:attrName>
                                        </p:attrNameLst>
                                      </p:cBhvr>
                                      <p:to>
                                        <p:strVal val="visible"/>
                                      </p:to>
                                    </p:set>
                                    <p:animEffect transition="in" filter="wipe(left)">
                                      <p:cBhvr>
                                        <p:cTn id="42" dur="500"/>
                                        <p:tgtEl>
                                          <p:spTgt spid="21197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11976"/>
                                        </p:tgtEl>
                                        <p:attrNameLst>
                                          <p:attrName>style.visibility</p:attrName>
                                        </p:attrNameLst>
                                      </p:cBhvr>
                                      <p:to>
                                        <p:strVal val="visible"/>
                                      </p:to>
                                    </p:set>
                                    <p:animEffect transition="in" filter="wipe(left)">
                                      <p:cBhvr>
                                        <p:cTn id="47" dur="500"/>
                                        <p:tgtEl>
                                          <p:spTgt spid="21197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11983"/>
                                        </p:tgtEl>
                                        <p:attrNameLst>
                                          <p:attrName>style.visibility</p:attrName>
                                        </p:attrNameLst>
                                      </p:cBhvr>
                                      <p:to>
                                        <p:strVal val="visible"/>
                                      </p:to>
                                    </p:set>
                                    <p:animEffect transition="in" filter="wipe(left)">
                                      <p:cBhvr>
                                        <p:cTn id="52" dur="500"/>
                                        <p:tgtEl>
                                          <p:spTgt spid="211983"/>
                                        </p:tgtEl>
                                      </p:cBhvr>
                                    </p:animEffect>
                                  </p:childTnLst>
                                </p:cTn>
                              </p:par>
                            </p:childTnLst>
                          </p:cTn>
                        </p:par>
                        <p:par>
                          <p:cTn id="53" fill="hold" nodeType="afterGroup">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211982"/>
                                        </p:tgtEl>
                                        <p:attrNameLst>
                                          <p:attrName>style.visibility</p:attrName>
                                        </p:attrNameLst>
                                      </p:cBhvr>
                                      <p:to>
                                        <p:strVal val="visible"/>
                                      </p:to>
                                    </p:set>
                                    <p:animEffect transition="in" filter="wipe(left)">
                                      <p:cBhvr>
                                        <p:cTn id="56" dur="500"/>
                                        <p:tgtEl>
                                          <p:spTgt spid="211982"/>
                                        </p:tgtEl>
                                      </p:cBhvr>
                                    </p:animEffect>
                                  </p:childTnLst>
                                </p:cTn>
                              </p:par>
                            </p:childTnLst>
                          </p:cTn>
                        </p:par>
                        <p:par>
                          <p:cTn id="57" fill="hold" nodeType="afterGroup">
                            <p:stCondLst>
                              <p:cond delay="1000"/>
                            </p:stCondLst>
                            <p:childTnLst>
                              <p:par>
                                <p:cTn id="58" presetID="22" presetClass="entr" presetSubtype="8" fill="hold" grpId="0" nodeType="afterEffect">
                                  <p:stCondLst>
                                    <p:cond delay="0"/>
                                  </p:stCondLst>
                                  <p:childTnLst>
                                    <p:set>
                                      <p:cBhvr>
                                        <p:cTn id="59" dur="1" fill="hold">
                                          <p:stCondLst>
                                            <p:cond delay="0"/>
                                          </p:stCondLst>
                                        </p:cTn>
                                        <p:tgtEl>
                                          <p:spTgt spid="211989"/>
                                        </p:tgtEl>
                                        <p:attrNameLst>
                                          <p:attrName>style.visibility</p:attrName>
                                        </p:attrNameLst>
                                      </p:cBhvr>
                                      <p:to>
                                        <p:strVal val="visible"/>
                                      </p:to>
                                    </p:set>
                                    <p:animEffect transition="in" filter="wipe(left)">
                                      <p:cBhvr>
                                        <p:cTn id="60" dur="500"/>
                                        <p:tgtEl>
                                          <p:spTgt spid="211989"/>
                                        </p:tgtEl>
                                      </p:cBhvr>
                                    </p:animEffect>
                                  </p:childTnLst>
                                </p:cTn>
                              </p:par>
                            </p:childTnLst>
                          </p:cTn>
                        </p:par>
                        <p:par>
                          <p:cTn id="61" fill="hold" nodeType="afterGroup">
                            <p:stCondLst>
                              <p:cond delay="1500"/>
                            </p:stCondLst>
                            <p:childTnLst>
                              <p:par>
                                <p:cTn id="62" presetID="22" presetClass="entr" presetSubtype="8" fill="hold" grpId="0" nodeType="afterEffect">
                                  <p:stCondLst>
                                    <p:cond delay="0"/>
                                  </p:stCondLst>
                                  <p:childTnLst>
                                    <p:set>
                                      <p:cBhvr>
                                        <p:cTn id="63" dur="1" fill="hold">
                                          <p:stCondLst>
                                            <p:cond delay="0"/>
                                          </p:stCondLst>
                                        </p:cTn>
                                        <p:tgtEl>
                                          <p:spTgt spid="211988"/>
                                        </p:tgtEl>
                                        <p:attrNameLst>
                                          <p:attrName>style.visibility</p:attrName>
                                        </p:attrNameLst>
                                      </p:cBhvr>
                                      <p:to>
                                        <p:strVal val="visible"/>
                                      </p:to>
                                    </p:set>
                                    <p:animEffect transition="in" filter="wipe(left)">
                                      <p:cBhvr>
                                        <p:cTn id="64" dur="500"/>
                                        <p:tgtEl>
                                          <p:spTgt spid="21198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11977"/>
                                        </p:tgtEl>
                                        <p:attrNameLst>
                                          <p:attrName>style.visibility</p:attrName>
                                        </p:attrNameLst>
                                      </p:cBhvr>
                                      <p:to>
                                        <p:strVal val="visible"/>
                                      </p:to>
                                    </p:set>
                                    <p:animEffect transition="in" filter="wipe(left)">
                                      <p:cBhvr>
                                        <p:cTn id="69" dur="500"/>
                                        <p:tgtEl>
                                          <p:spTgt spid="211977"/>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11978"/>
                                        </p:tgtEl>
                                        <p:attrNameLst>
                                          <p:attrName>style.visibility</p:attrName>
                                        </p:attrNameLst>
                                      </p:cBhvr>
                                      <p:to>
                                        <p:strVal val="visible"/>
                                      </p:to>
                                    </p:set>
                                    <p:animEffect transition="in" filter="wipe(left)">
                                      <p:cBhvr>
                                        <p:cTn id="74" dur="500"/>
                                        <p:tgtEl>
                                          <p:spTgt spid="21197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11991"/>
                                        </p:tgtEl>
                                        <p:attrNameLst>
                                          <p:attrName>style.visibility</p:attrName>
                                        </p:attrNameLst>
                                      </p:cBhvr>
                                      <p:to>
                                        <p:strVal val="visible"/>
                                      </p:to>
                                    </p:set>
                                    <p:animEffect transition="in" filter="wipe(left)">
                                      <p:cBhvr>
                                        <p:cTn id="79" dur="500"/>
                                        <p:tgtEl>
                                          <p:spTgt spid="211991"/>
                                        </p:tgtEl>
                                      </p:cBhvr>
                                    </p:animEffect>
                                  </p:childTnLst>
                                </p:cTn>
                              </p:par>
                            </p:childTnLst>
                          </p:cTn>
                        </p:par>
                        <p:par>
                          <p:cTn id="80" fill="hold" nodeType="afterGroup">
                            <p:stCondLst>
                              <p:cond delay="500"/>
                            </p:stCondLst>
                            <p:childTnLst>
                              <p:par>
                                <p:cTn id="81" presetID="22" presetClass="entr" presetSubtype="8" fill="hold" grpId="0" nodeType="afterEffect">
                                  <p:stCondLst>
                                    <p:cond delay="0"/>
                                  </p:stCondLst>
                                  <p:childTnLst>
                                    <p:set>
                                      <p:cBhvr>
                                        <p:cTn id="82" dur="1" fill="hold">
                                          <p:stCondLst>
                                            <p:cond delay="0"/>
                                          </p:stCondLst>
                                        </p:cTn>
                                        <p:tgtEl>
                                          <p:spTgt spid="211990"/>
                                        </p:tgtEl>
                                        <p:attrNameLst>
                                          <p:attrName>style.visibility</p:attrName>
                                        </p:attrNameLst>
                                      </p:cBhvr>
                                      <p:to>
                                        <p:strVal val="visible"/>
                                      </p:to>
                                    </p:set>
                                    <p:animEffect transition="in" filter="wipe(left)">
                                      <p:cBhvr>
                                        <p:cTn id="83" dur="500"/>
                                        <p:tgtEl>
                                          <p:spTgt spid="211990"/>
                                        </p:tgtEl>
                                      </p:cBhvr>
                                    </p:animEffect>
                                  </p:childTnLst>
                                </p:cTn>
                              </p:par>
                            </p:childTnLst>
                          </p:cTn>
                        </p:par>
                        <p:par>
                          <p:cTn id="84" fill="hold" nodeType="afterGroup">
                            <p:stCondLst>
                              <p:cond delay="1000"/>
                            </p:stCondLst>
                            <p:childTnLst>
                              <p:par>
                                <p:cTn id="85" presetID="22" presetClass="entr" presetSubtype="2" fill="hold" grpId="0" nodeType="afterEffect">
                                  <p:stCondLst>
                                    <p:cond delay="0"/>
                                  </p:stCondLst>
                                  <p:childTnLst>
                                    <p:set>
                                      <p:cBhvr>
                                        <p:cTn id="86" dur="1" fill="hold">
                                          <p:stCondLst>
                                            <p:cond delay="0"/>
                                          </p:stCondLst>
                                        </p:cTn>
                                        <p:tgtEl>
                                          <p:spTgt spid="211997"/>
                                        </p:tgtEl>
                                        <p:attrNameLst>
                                          <p:attrName>style.visibility</p:attrName>
                                        </p:attrNameLst>
                                      </p:cBhvr>
                                      <p:to>
                                        <p:strVal val="visible"/>
                                      </p:to>
                                    </p:set>
                                    <p:animEffect transition="in" filter="wipe(right)">
                                      <p:cBhvr>
                                        <p:cTn id="87" dur="500"/>
                                        <p:tgtEl>
                                          <p:spTgt spid="211997"/>
                                        </p:tgtEl>
                                      </p:cBhvr>
                                    </p:animEffect>
                                  </p:childTnLst>
                                </p:cTn>
                              </p:par>
                            </p:childTnLst>
                          </p:cTn>
                        </p:par>
                        <p:par>
                          <p:cTn id="88" fill="hold" nodeType="afterGroup">
                            <p:stCondLst>
                              <p:cond delay="1500"/>
                            </p:stCondLst>
                            <p:childTnLst>
                              <p:par>
                                <p:cTn id="89" presetID="22" presetClass="entr" presetSubtype="8" fill="hold" grpId="0" nodeType="afterEffect">
                                  <p:stCondLst>
                                    <p:cond delay="0"/>
                                  </p:stCondLst>
                                  <p:childTnLst>
                                    <p:set>
                                      <p:cBhvr>
                                        <p:cTn id="90" dur="1" fill="hold">
                                          <p:stCondLst>
                                            <p:cond delay="0"/>
                                          </p:stCondLst>
                                        </p:cTn>
                                        <p:tgtEl>
                                          <p:spTgt spid="211994"/>
                                        </p:tgtEl>
                                        <p:attrNameLst>
                                          <p:attrName>style.visibility</p:attrName>
                                        </p:attrNameLst>
                                      </p:cBhvr>
                                      <p:to>
                                        <p:strVal val="visible"/>
                                      </p:to>
                                    </p:set>
                                    <p:animEffect transition="in" filter="wipe(left)">
                                      <p:cBhvr>
                                        <p:cTn id="91" dur="500"/>
                                        <p:tgtEl>
                                          <p:spTgt spid="211994"/>
                                        </p:tgtEl>
                                      </p:cBhvr>
                                    </p:animEffect>
                                  </p:childTnLst>
                                </p:cTn>
                              </p:par>
                            </p:childTnLst>
                          </p:cTn>
                        </p:par>
                        <p:par>
                          <p:cTn id="92" fill="hold" nodeType="afterGroup">
                            <p:stCondLst>
                              <p:cond delay="2000"/>
                            </p:stCondLst>
                            <p:childTnLst>
                              <p:par>
                                <p:cTn id="93" presetID="22" presetClass="entr" presetSubtype="8" fill="hold" grpId="0" nodeType="afterEffect">
                                  <p:stCondLst>
                                    <p:cond delay="0"/>
                                  </p:stCondLst>
                                  <p:childTnLst>
                                    <p:set>
                                      <p:cBhvr>
                                        <p:cTn id="94" dur="1" fill="hold">
                                          <p:stCondLst>
                                            <p:cond delay="0"/>
                                          </p:stCondLst>
                                        </p:cTn>
                                        <p:tgtEl>
                                          <p:spTgt spid="211996"/>
                                        </p:tgtEl>
                                        <p:attrNameLst>
                                          <p:attrName>style.visibility</p:attrName>
                                        </p:attrNameLst>
                                      </p:cBhvr>
                                      <p:to>
                                        <p:strVal val="visible"/>
                                      </p:to>
                                    </p:set>
                                    <p:animEffect transition="in" filter="wipe(left)">
                                      <p:cBhvr>
                                        <p:cTn id="95" dur="500"/>
                                        <p:tgtEl>
                                          <p:spTgt spid="211996"/>
                                        </p:tgtEl>
                                      </p:cBhvr>
                                    </p:animEffect>
                                  </p:childTnLst>
                                </p:cTn>
                              </p:par>
                            </p:childTnLst>
                          </p:cTn>
                        </p:par>
                        <p:par>
                          <p:cTn id="96" fill="hold" nodeType="afterGroup">
                            <p:stCondLst>
                              <p:cond delay="2500"/>
                            </p:stCondLst>
                            <p:childTnLst>
                              <p:par>
                                <p:cTn id="97" presetID="22" presetClass="entr" presetSubtype="8" fill="hold" grpId="0" nodeType="afterEffect">
                                  <p:stCondLst>
                                    <p:cond delay="0"/>
                                  </p:stCondLst>
                                  <p:childTnLst>
                                    <p:set>
                                      <p:cBhvr>
                                        <p:cTn id="98" dur="1" fill="hold">
                                          <p:stCondLst>
                                            <p:cond delay="0"/>
                                          </p:stCondLst>
                                        </p:cTn>
                                        <p:tgtEl>
                                          <p:spTgt spid="211995"/>
                                        </p:tgtEl>
                                        <p:attrNameLst>
                                          <p:attrName>style.visibility</p:attrName>
                                        </p:attrNameLst>
                                      </p:cBhvr>
                                      <p:to>
                                        <p:strVal val="visible"/>
                                      </p:to>
                                    </p:set>
                                    <p:animEffect transition="in" filter="wipe(left)">
                                      <p:cBhvr>
                                        <p:cTn id="99" dur="500"/>
                                        <p:tgtEl>
                                          <p:spTgt spid="211995"/>
                                        </p:tgtEl>
                                      </p:cBhvr>
                                    </p:animEffect>
                                  </p:childTnLst>
                                </p:cTn>
                              </p:par>
                            </p:childTnLst>
                          </p:cTn>
                        </p:par>
                        <p:par>
                          <p:cTn id="100" fill="hold" nodeType="afterGroup">
                            <p:stCondLst>
                              <p:cond delay="3000"/>
                            </p:stCondLst>
                            <p:childTnLst>
                              <p:par>
                                <p:cTn id="101" presetID="22" presetClass="entr" presetSubtype="8" fill="hold" grpId="0" nodeType="afterEffect">
                                  <p:stCondLst>
                                    <p:cond delay="0"/>
                                  </p:stCondLst>
                                  <p:childTnLst>
                                    <p:set>
                                      <p:cBhvr>
                                        <p:cTn id="102" dur="1" fill="hold">
                                          <p:stCondLst>
                                            <p:cond delay="0"/>
                                          </p:stCondLst>
                                        </p:cTn>
                                        <p:tgtEl>
                                          <p:spTgt spid="211993"/>
                                        </p:tgtEl>
                                        <p:attrNameLst>
                                          <p:attrName>style.visibility</p:attrName>
                                        </p:attrNameLst>
                                      </p:cBhvr>
                                      <p:to>
                                        <p:strVal val="visible"/>
                                      </p:to>
                                    </p:set>
                                    <p:animEffect transition="in" filter="wipe(left)">
                                      <p:cBhvr>
                                        <p:cTn id="103" dur="500"/>
                                        <p:tgtEl>
                                          <p:spTgt spid="211993"/>
                                        </p:tgtEl>
                                      </p:cBhvr>
                                    </p:animEffect>
                                  </p:childTnLst>
                                </p:cTn>
                              </p:par>
                            </p:childTnLst>
                          </p:cTn>
                        </p:par>
                        <p:par>
                          <p:cTn id="104" fill="hold" nodeType="afterGroup">
                            <p:stCondLst>
                              <p:cond delay="3500"/>
                            </p:stCondLst>
                            <p:childTnLst>
                              <p:par>
                                <p:cTn id="105" presetID="22" presetClass="entr" presetSubtype="8" fill="hold" grpId="0" nodeType="afterEffect">
                                  <p:stCondLst>
                                    <p:cond delay="0"/>
                                  </p:stCondLst>
                                  <p:childTnLst>
                                    <p:set>
                                      <p:cBhvr>
                                        <p:cTn id="106" dur="1" fill="hold">
                                          <p:stCondLst>
                                            <p:cond delay="0"/>
                                          </p:stCondLst>
                                        </p:cTn>
                                        <p:tgtEl>
                                          <p:spTgt spid="211992"/>
                                        </p:tgtEl>
                                        <p:attrNameLst>
                                          <p:attrName>style.visibility</p:attrName>
                                        </p:attrNameLst>
                                      </p:cBhvr>
                                      <p:to>
                                        <p:strVal val="visible"/>
                                      </p:to>
                                    </p:set>
                                    <p:animEffect transition="in" filter="wipe(left)">
                                      <p:cBhvr>
                                        <p:cTn id="107" dur="500"/>
                                        <p:tgtEl>
                                          <p:spTgt spid="211992"/>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211979"/>
                                        </p:tgtEl>
                                        <p:attrNameLst>
                                          <p:attrName>style.visibility</p:attrName>
                                        </p:attrNameLst>
                                      </p:cBhvr>
                                      <p:to>
                                        <p:strVal val="visible"/>
                                      </p:to>
                                    </p:set>
                                    <p:animEffect transition="in" filter="wipe(left)">
                                      <p:cBhvr>
                                        <p:cTn id="112" dur="500"/>
                                        <p:tgtEl>
                                          <p:spTgt spid="211979"/>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212013"/>
                                        </p:tgtEl>
                                        <p:attrNameLst>
                                          <p:attrName>style.visibility</p:attrName>
                                        </p:attrNameLst>
                                      </p:cBhvr>
                                      <p:to>
                                        <p:strVal val="visible"/>
                                      </p:to>
                                    </p:set>
                                    <p:animEffect transition="in" filter="wipe(left)">
                                      <p:cBhvr>
                                        <p:cTn id="117" dur="500"/>
                                        <p:tgtEl>
                                          <p:spTgt spid="212013"/>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211999"/>
                                        </p:tgtEl>
                                        <p:attrNameLst>
                                          <p:attrName>style.visibility</p:attrName>
                                        </p:attrNameLst>
                                      </p:cBhvr>
                                      <p:to>
                                        <p:strVal val="visible"/>
                                      </p:to>
                                    </p:set>
                                    <p:animEffect transition="in" filter="wipe(left)">
                                      <p:cBhvr>
                                        <p:cTn id="122" dur="500"/>
                                        <p:tgtEl>
                                          <p:spTgt spid="211999"/>
                                        </p:tgtEl>
                                      </p:cBhvr>
                                    </p:animEffect>
                                  </p:childTnLst>
                                </p:cTn>
                              </p:par>
                            </p:childTnLst>
                          </p:cTn>
                        </p:par>
                        <p:par>
                          <p:cTn id="123" fill="hold" nodeType="afterGroup">
                            <p:stCondLst>
                              <p:cond delay="500"/>
                            </p:stCondLst>
                            <p:childTnLst>
                              <p:par>
                                <p:cTn id="124" presetID="22" presetClass="entr" presetSubtype="8" fill="hold" grpId="0" nodeType="afterEffect">
                                  <p:stCondLst>
                                    <p:cond delay="0"/>
                                  </p:stCondLst>
                                  <p:childTnLst>
                                    <p:set>
                                      <p:cBhvr>
                                        <p:cTn id="125" dur="1" fill="hold">
                                          <p:stCondLst>
                                            <p:cond delay="0"/>
                                          </p:stCondLst>
                                        </p:cTn>
                                        <p:tgtEl>
                                          <p:spTgt spid="211998"/>
                                        </p:tgtEl>
                                        <p:attrNameLst>
                                          <p:attrName>style.visibility</p:attrName>
                                        </p:attrNameLst>
                                      </p:cBhvr>
                                      <p:to>
                                        <p:strVal val="visible"/>
                                      </p:to>
                                    </p:set>
                                    <p:animEffect transition="in" filter="wipe(left)">
                                      <p:cBhvr>
                                        <p:cTn id="126" dur="500"/>
                                        <p:tgtEl>
                                          <p:spTgt spid="211998"/>
                                        </p:tgtEl>
                                      </p:cBhvr>
                                    </p:animEffect>
                                  </p:childTnLst>
                                </p:cTn>
                              </p:par>
                            </p:childTnLst>
                          </p:cTn>
                        </p:par>
                        <p:par>
                          <p:cTn id="127" fill="hold" nodeType="afterGroup">
                            <p:stCondLst>
                              <p:cond delay="1000"/>
                            </p:stCondLst>
                            <p:childTnLst>
                              <p:par>
                                <p:cTn id="128" presetID="22" presetClass="entr" presetSubtype="2" fill="hold" grpId="0" nodeType="afterEffect">
                                  <p:stCondLst>
                                    <p:cond delay="0"/>
                                  </p:stCondLst>
                                  <p:childTnLst>
                                    <p:set>
                                      <p:cBhvr>
                                        <p:cTn id="129" dur="1" fill="hold">
                                          <p:stCondLst>
                                            <p:cond delay="0"/>
                                          </p:stCondLst>
                                        </p:cTn>
                                        <p:tgtEl>
                                          <p:spTgt spid="212005"/>
                                        </p:tgtEl>
                                        <p:attrNameLst>
                                          <p:attrName>style.visibility</p:attrName>
                                        </p:attrNameLst>
                                      </p:cBhvr>
                                      <p:to>
                                        <p:strVal val="visible"/>
                                      </p:to>
                                    </p:set>
                                    <p:animEffect transition="in" filter="wipe(right)">
                                      <p:cBhvr>
                                        <p:cTn id="130" dur="500"/>
                                        <p:tgtEl>
                                          <p:spTgt spid="212005"/>
                                        </p:tgtEl>
                                      </p:cBhvr>
                                    </p:animEffect>
                                  </p:childTnLst>
                                </p:cTn>
                              </p:par>
                            </p:childTnLst>
                          </p:cTn>
                        </p:par>
                        <p:par>
                          <p:cTn id="131" fill="hold" nodeType="afterGroup">
                            <p:stCondLst>
                              <p:cond delay="1500"/>
                            </p:stCondLst>
                            <p:childTnLst>
                              <p:par>
                                <p:cTn id="132" presetID="22" presetClass="entr" presetSubtype="8" fill="hold" grpId="0" nodeType="afterEffect">
                                  <p:stCondLst>
                                    <p:cond delay="0"/>
                                  </p:stCondLst>
                                  <p:childTnLst>
                                    <p:set>
                                      <p:cBhvr>
                                        <p:cTn id="133" dur="1" fill="hold">
                                          <p:stCondLst>
                                            <p:cond delay="0"/>
                                          </p:stCondLst>
                                        </p:cTn>
                                        <p:tgtEl>
                                          <p:spTgt spid="212002"/>
                                        </p:tgtEl>
                                        <p:attrNameLst>
                                          <p:attrName>style.visibility</p:attrName>
                                        </p:attrNameLst>
                                      </p:cBhvr>
                                      <p:to>
                                        <p:strVal val="visible"/>
                                      </p:to>
                                    </p:set>
                                    <p:animEffect transition="in" filter="wipe(left)">
                                      <p:cBhvr>
                                        <p:cTn id="134" dur="500"/>
                                        <p:tgtEl>
                                          <p:spTgt spid="212002"/>
                                        </p:tgtEl>
                                      </p:cBhvr>
                                    </p:animEffect>
                                  </p:childTnLst>
                                </p:cTn>
                              </p:par>
                            </p:childTnLst>
                          </p:cTn>
                        </p:par>
                        <p:par>
                          <p:cTn id="135" fill="hold" nodeType="afterGroup">
                            <p:stCondLst>
                              <p:cond delay="2000"/>
                            </p:stCondLst>
                            <p:childTnLst>
                              <p:par>
                                <p:cTn id="136" presetID="22" presetClass="entr" presetSubtype="2" fill="hold" grpId="0" nodeType="afterEffect">
                                  <p:stCondLst>
                                    <p:cond delay="0"/>
                                  </p:stCondLst>
                                  <p:childTnLst>
                                    <p:set>
                                      <p:cBhvr>
                                        <p:cTn id="137" dur="1" fill="hold">
                                          <p:stCondLst>
                                            <p:cond delay="0"/>
                                          </p:stCondLst>
                                        </p:cTn>
                                        <p:tgtEl>
                                          <p:spTgt spid="212012"/>
                                        </p:tgtEl>
                                        <p:attrNameLst>
                                          <p:attrName>style.visibility</p:attrName>
                                        </p:attrNameLst>
                                      </p:cBhvr>
                                      <p:to>
                                        <p:strVal val="visible"/>
                                      </p:to>
                                    </p:set>
                                    <p:animEffect transition="in" filter="wipe(right)">
                                      <p:cBhvr>
                                        <p:cTn id="138" dur="500"/>
                                        <p:tgtEl>
                                          <p:spTgt spid="212012"/>
                                        </p:tgtEl>
                                      </p:cBhvr>
                                    </p:animEffect>
                                  </p:childTnLst>
                                </p:cTn>
                              </p:par>
                            </p:childTnLst>
                          </p:cTn>
                        </p:par>
                        <p:par>
                          <p:cTn id="139" fill="hold" nodeType="afterGroup">
                            <p:stCondLst>
                              <p:cond delay="2500"/>
                            </p:stCondLst>
                            <p:childTnLst>
                              <p:par>
                                <p:cTn id="140" presetID="22" presetClass="entr" presetSubtype="8" fill="hold" grpId="0" nodeType="afterEffect">
                                  <p:stCondLst>
                                    <p:cond delay="0"/>
                                  </p:stCondLst>
                                  <p:childTnLst>
                                    <p:set>
                                      <p:cBhvr>
                                        <p:cTn id="141" dur="1" fill="hold">
                                          <p:stCondLst>
                                            <p:cond delay="0"/>
                                          </p:stCondLst>
                                        </p:cTn>
                                        <p:tgtEl>
                                          <p:spTgt spid="212009"/>
                                        </p:tgtEl>
                                        <p:attrNameLst>
                                          <p:attrName>style.visibility</p:attrName>
                                        </p:attrNameLst>
                                      </p:cBhvr>
                                      <p:to>
                                        <p:strVal val="visible"/>
                                      </p:to>
                                    </p:set>
                                    <p:animEffect transition="in" filter="wipe(left)">
                                      <p:cBhvr>
                                        <p:cTn id="142" dur="500"/>
                                        <p:tgtEl>
                                          <p:spTgt spid="212009"/>
                                        </p:tgtEl>
                                      </p:cBhvr>
                                    </p:animEffect>
                                  </p:childTnLst>
                                </p:cTn>
                              </p:par>
                            </p:childTnLst>
                          </p:cTn>
                        </p:par>
                        <p:par>
                          <p:cTn id="143" fill="hold" nodeType="afterGroup">
                            <p:stCondLst>
                              <p:cond delay="3000"/>
                            </p:stCondLst>
                            <p:childTnLst>
                              <p:par>
                                <p:cTn id="144" presetID="22" presetClass="entr" presetSubtype="8" fill="hold" grpId="0" nodeType="afterEffect">
                                  <p:stCondLst>
                                    <p:cond delay="0"/>
                                  </p:stCondLst>
                                  <p:childTnLst>
                                    <p:set>
                                      <p:cBhvr>
                                        <p:cTn id="145" dur="1" fill="hold">
                                          <p:stCondLst>
                                            <p:cond delay="0"/>
                                          </p:stCondLst>
                                        </p:cTn>
                                        <p:tgtEl>
                                          <p:spTgt spid="212011"/>
                                        </p:tgtEl>
                                        <p:attrNameLst>
                                          <p:attrName>style.visibility</p:attrName>
                                        </p:attrNameLst>
                                      </p:cBhvr>
                                      <p:to>
                                        <p:strVal val="visible"/>
                                      </p:to>
                                    </p:set>
                                    <p:animEffect transition="in" filter="wipe(left)">
                                      <p:cBhvr>
                                        <p:cTn id="146" dur="500"/>
                                        <p:tgtEl>
                                          <p:spTgt spid="212011"/>
                                        </p:tgtEl>
                                      </p:cBhvr>
                                    </p:animEffect>
                                  </p:childTnLst>
                                </p:cTn>
                              </p:par>
                            </p:childTnLst>
                          </p:cTn>
                        </p:par>
                        <p:par>
                          <p:cTn id="147" fill="hold" nodeType="afterGroup">
                            <p:stCondLst>
                              <p:cond delay="3500"/>
                            </p:stCondLst>
                            <p:childTnLst>
                              <p:par>
                                <p:cTn id="148" presetID="22" presetClass="entr" presetSubtype="8" fill="hold" grpId="0" nodeType="afterEffect">
                                  <p:stCondLst>
                                    <p:cond delay="0"/>
                                  </p:stCondLst>
                                  <p:childTnLst>
                                    <p:set>
                                      <p:cBhvr>
                                        <p:cTn id="149" dur="1" fill="hold">
                                          <p:stCondLst>
                                            <p:cond delay="0"/>
                                          </p:stCondLst>
                                        </p:cTn>
                                        <p:tgtEl>
                                          <p:spTgt spid="212010"/>
                                        </p:tgtEl>
                                        <p:attrNameLst>
                                          <p:attrName>style.visibility</p:attrName>
                                        </p:attrNameLst>
                                      </p:cBhvr>
                                      <p:to>
                                        <p:strVal val="visible"/>
                                      </p:to>
                                    </p:set>
                                    <p:animEffect transition="in" filter="wipe(left)">
                                      <p:cBhvr>
                                        <p:cTn id="150" dur="500"/>
                                        <p:tgtEl>
                                          <p:spTgt spid="212010"/>
                                        </p:tgtEl>
                                      </p:cBhvr>
                                    </p:animEffect>
                                  </p:childTnLst>
                                </p:cTn>
                              </p:par>
                            </p:childTnLst>
                          </p:cTn>
                        </p:par>
                        <p:par>
                          <p:cTn id="151" fill="hold" nodeType="afterGroup">
                            <p:stCondLst>
                              <p:cond delay="4000"/>
                            </p:stCondLst>
                            <p:childTnLst>
                              <p:par>
                                <p:cTn id="152" presetID="22" presetClass="entr" presetSubtype="8" fill="hold" grpId="0" nodeType="afterEffect">
                                  <p:stCondLst>
                                    <p:cond delay="0"/>
                                  </p:stCondLst>
                                  <p:childTnLst>
                                    <p:set>
                                      <p:cBhvr>
                                        <p:cTn id="153" dur="1" fill="hold">
                                          <p:stCondLst>
                                            <p:cond delay="0"/>
                                          </p:stCondLst>
                                        </p:cTn>
                                        <p:tgtEl>
                                          <p:spTgt spid="212004"/>
                                        </p:tgtEl>
                                        <p:attrNameLst>
                                          <p:attrName>style.visibility</p:attrName>
                                        </p:attrNameLst>
                                      </p:cBhvr>
                                      <p:to>
                                        <p:strVal val="visible"/>
                                      </p:to>
                                    </p:set>
                                    <p:animEffect transition="in" filter="wipe(left)">
                                      <p:cBhvr>
                                        <p:cTn id="154" dur="500"/>
                                        <p:tgtEl>
                                          <p:spTgt spid="212004"/>
                                        </p:tgtEl>
                                      </p:cBhvr>
                                    </p:animEffect>
                                  </p:childTnLst>
                                </p:cTn>
                              </p:par>
                            </p:childTnLst>
                          </p:cTn>
                        </p:par>
                        <p:par>
                          <p:cTn id="155" fill="hold" nodeType="afterGroup">
                            <p:stCondLst>
                              <p:cond delay="4500"/>
                            </p:stCondLst>
                            <p:childTnLst>
                              <p:par>
                                <p:cTn id="156" presetID="22" presetClass="entr" presetSubtype="8" fill="hold" grpId="0" nodeType="afterEffect">
                                  <p:stCondLst>
                                    <p:cond delay="0"/>
                                  </p:stCondLst>
                                  <p:childTnLst>
                                    <p:set>
                                      <p:cBhvr>
                                        <p:cTn id="157" dur="1" fill="hold">
                                          <p:stCondLst>
                                            <p:cond delay="0"/>
                                          </p:stCondLst>
                                        </p:cTn>
                                        <p:tgtEl>
                                          <p:spTgt spid="212003"/>
                                        </p:tgtEl>
                                        <p:attrNameLst>
                                          <p:attrName>style.visibility</p:attrName>
                                        </p:attrNameLst>
                                      </p:cBhvr>
                                      <p:to>
                                        <p:strVal val="visible"/>
                                      </p:to>
                                    </p:set>
                                    <p:animEffect transition="in" filter="wipe(left)">
                                      <p:cBhvr>
                                        <p:cTn id="158" dur="500"/>
                                        <p:tgtEl>
                                          <p:spTgt spid="212003"/>
                                        </p:tgtEl>
                                      </p:cBhvr>
                                    </p:animEffect>
                                  </p:childTnLst>
                                </p:cTn>
                              </p:par>
                            </p:childTnLst>
                          </p:cTn>
                        </p:par>
                        <p:par>
                          <p:cTn id="159" fill="hold" nodeType="afterGroup">
                            <p:stCondLst>
                              <p:cond delay="5000"/>
                            </p:stCondLst>
                            <p:childTnLst>
                              <p:par>
                                <p:cTn id="160" presetID="22" presetClass="entr" presetSubtype="8" fill="hold" grpId="0" nodeType="afterEffect">
                                  <p:stCondLst>
                                    <p:cond delay="0"/>
                                  </p:stCondLst>
                                  <p:childTnLst>
                                    <p:set>
                                      <p:cBhvr>
                                        <p:cTn id="161" dur="1" fill="hold">
                                          <p:stCondLst>
                                            <p:cond delay="0"/>
                                          </p:stCondLst>
                                        </p:cTn>
                                        <p:tgtEl>
                                          <p:spTgt spid="212001"/>
                                        </p:tgtEl>
                                        <p:attrNameLst>
                                          <p:attrName>style.visibility</p:attrName>
                                        </p:attrNameLst>
                                      </p:cBhvr>
                                      <p:to>
                                        <p:strVal val="visible"/>
                                      </p:to>
                                    </p:set>
                                    <p:animEffect transition="in" filter="wipe(left)">
                                      <p:cBhvr>
                                        <p:cTn id="162" dur="500"/>
                                        <p:tgtEl>
                                          <p:spTgt spid="212001"/>
                                        </p:tgtEl>
                                      </p:cBhvr>
                                    </p:animEffect>
                                  </p:childTnLst>
                                </p:cTn>
                              </p:par>
                            </p:childTnLst>
                          </p:cTn>
                        </p:par>
                        <p:par>
                          <p:cTn id="163" fill="hold" nodeType="afterGroup">
                            <p:stCondLst>
                              <p:cond delay="5500"/>
                            </p:stCondLst>
                            <p:childTnLst>
                              <p:par>
                                <p:cTn id="164" presetID="22" presetClass="entr" presetSubtype="8" fill="hold" grpId="0" nodeType="afterEffect">
                                  <p:stCondLst>
                                    <p:cond delay="0"/>
                                  </p:stCondLst>
                                  <p:childTnLst>
                                    <p:set>
                                      <p:cBhvr>
                                        <p:cTn id="165" dur="1" fill="hold">
                                          <p:stCondLst>
                                            <p:cond delay="0"/>
                                          </p:stCondLst>
                                        </p:cTn>
                                        <p:tgtEl>
                                          <p:spTgt spid="212000"/>
                                        </p:tgtEl>
                                        <p:attrNameLst>
                                          <p:attrName>style.visibility</p:attrName>
                                        </p:attrNameLst>
                                      </p:cBhvr>
                                      <p:to>
                                        <p:strVal val="visible"/>
                                      </p:to>
                                    </p:set>
                                    <p:animEffect transition="in" filter="wipe(left)">
                                      <p:cBhvr>
                                        <p:cTn id="166" dur="500"/>
                                        <p:tgtEl>
                                          <p:spTgt spid="212000"/>
                                        </p:tgtEl>
                                      </p:cBhvr>
                                    </p:animEffect>
                                  </p:childTnLst>
                                </p:cTn>
                              </p:par>
                            </p:childTnLst>
                          </p:cTn>
                        </p:par>
                        <p:par>
                          <p:cTn id="167" fill="hold" nodeType="afterGroup">
                            <p:stCondLst>
                              <p:cond delay="6000"/>
                            </p:stCondLst>
                            <p:childTnLst>
                              <p:par>
                                <p:cTn id="168" presetID="22" presetClass="entr" presetSubtype="8" fill="hold" grpId="0" nodeType="afterEffect">
                                  <p:stCondLst>
                                    <p:cond delay="0"/>
                                  </p:stCondLst>
                                  <p:childTnLst>
                                    <p:set>
                                      <p:cBhvr>
                                        <p:cTn id="169" dur="1" fill="hold">
                                          <p:stCondLst>
                                            <p:cond delay="0"/>
                                          </p:stCondLst>
                                        </p:cTn>
                                        <p:tgtEl>
                                          <p:spTgt spid="212008"/>
                                        </p:tgtEl>
                                        <p:attrNameLst>
                                          <p:attrName>style.visibility</p:attrName>
                                        </p:attrNameLst>
                                      </p:cBhvr>
                                      <p:to>
                                        <p:strVal val="visible"/>
                                      </p:to>
                                    </p:set>
                                    <p:animEffect transition="in" filter="wipe(left)">
                                      <p:cBhvr>
                                        <p:cTn id="170" dur="500"/>
                                        <p:tgtEl>
                                          <p:spTgt spid="212008"/>
                                        </p:tgtEl>
                                      </p:cBhvr>
                                    </p:animEffect>
                                  </p:childTnLst>
                                </p:cTn>
                              </p:par>
                            </p:childTnLst>
                          </p:cTn>
                        </p:par>
                        <p:par>
                          <p:cTn id="171" fill="hold" nodeType="afterGroup">
                            <p:stCondLst>
                              <p:cond delay="6500"/>
                            </p:stCondLst>
                            <p:childTnLst>
                              <p:par>
                                <p:cTn id="172" presetID="22" presetClass="entr" presetSubtype="8" fill="hold" grpId="0" nodeType="afterEffect">
                                  <p:stCondLst>
                                    <p:cond delay="0"/>
                                  </p:stCondLst>
                                  <p:childTnLst>
                                    <p:set>
                                      <p:cBhvr>
                                        <p:cTn id="173" dur="1" fill="hold">
                                          <p:stCondLst>
                                            <p:cond delay="0"/>
                                          </p:stCondLst>
                                        </p:cTn>
                                        <p:tgtEl>
                                          <p:spTgt spid="212006"/>
                                        </p:tgtEl>
                                        <p:attrNameLst>
                                          <p:attrName>style.visibility</p:attrName>
                                        </p:attrNameLst>
                                      </p:cBhvr>
                                      <p:to>
                                        <p:strVal val="visible"/>
                                      </p:to>
                                    </p:set>
                                    <p:animEffect transition="in" filter="wipe(left)">
                                      <p:cBhvr>
                                        <p:cTn id="174" dur="500"/>
                                        <p:tgtEl>
                                          <p:spTgt spid="212006"/>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22" presetClass="entr" presetSubtype="8" fill="hold" grpId="0" nodeType="clickEffect">
                                  <p:stCondLst>
                                    <p:cond delay="0"/>
                                  </p:stCondLst>
                                  <p:childTnLst>
                                    <p:set>
                                      <p:cBhvr>
                                        <p:cTn id="178" dur="1" fill="hold">
                                          <p:stCondLst>
                                            <p:cond delay="0"/>
                                          </p:stCondLst>
                                        </p:cTn>
                                        <p:tgtEl>
                                          <p:spTgt spid="212014"/>
                                        </p:tgtEl>
                                        <p:attrNameLst>
                                          <p:attrName>style.visibility</p:attrName>
                                        </p:attrNameLst>
                                      </p:cBhvr>
                                      <p:to>
                                        <p:strVal val="visible"/>
                                      </p:to>
                                    </p:set>
                                    <p:animEffect transition="in" filter="wipe(left)">
                                      <p:cBhvr>
                                        <p:cTn id="179" dur="500"/>
                                        <p:tgtEl>
                                          <p:spTgt spid="212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1" grpId="0" autoUpdateAnimBg="0"/>
      <p:bldP spid="211972" grpId="0" autoUpdateAnimBg="0"/>
      <p:bldP spid="211973" grpId="0" autoUpdateAnimBg="0"/>
      <p:bldP spid="211974" grpId="0" autoUpdateAnimBg="0"/>
      <p:bldP spid="211975" grpId="0" autoUpdateAnimBg="0"/>
      <p:bldP spid="211976" grpId="0" autoUpdateAnimBg="0"/>
      <p:bldP spid="211977" grpId="0" autoUpdateAnimBg="0"/>
      <p:bldP spid="211978" grpId="0" autoUpdateAnimBg="0"/>
      <p:bldP spid="211979" grpId="0" autoUpdateAnimBg="0"/>
      <p:bldP spid="211980" grpId="0" animBg="1"/>
      <p:bldP spid="211981" grpId="0" animBg="1"/>
      <p:bldP spid="211982" grpId="0" animBg="1"/>
      <p:bldP spid="211983" grpId="0" animBg="1"/>
      <p:bldP spid="211988" grpId="0" animBg="1"/>
      <p:bldP spid="211989" grpId="0" animBg="1"/>
      <p:bldP spid="211990" grpId="0" animBg="1"/>
      <p:bldP spid="211991" grpId="0" animBg="1"/>
      <p:bldP spid="211992" grpId="0" animBg="1"/>
      <p:bldP spid="211993" grpId="0" animBg="1"/>
      <p:bldP spid="211994" grpId="0" animBg="1"/>
      <p:bldP spid="211995" grpId="0" animBg="1"/>
      <p:bldP spid="211996" grpId="0" animBg="1"/>
      <p:bldP spid="211997" grpId="0" animBg="1"/>
      <p:bldP spid="211998" grpId="0" animBg="1"/>
      <p:bldP spid="211999" grpId="0" animBg="1"/>
      <p:bldP spid="212000" grpId="0" animBg="1"/>
      <p:bldP spid="212001" grpId="0" animBg="1"/>
      <p:bldP spid="212002" grpId="0" animBg="1"/>
      <p:bldP spid="212003" grpId="0" animBg="1"/>
      <p:bldP spid="212004" grpId="0" animBg="1"/>
      <p:bldP spid="212005" grpId="0" animBg="1"/>
      <p:bldP spid="212006" grpId="0" animBg="1"/>
      <p:bldP spid="212008" grpId="0" animBg="1"/>
      <p:bldP spid="212009" grpId="0" animBg="1"/>
      <p:bldP spid="212010" grpId="0" animBg="1"/>
      <p:bldP spid="212011" grpId="0" animBg="1"/>
      <p:bldP spid="212012" grpId="0" animBg="1"/>
      <p:bldP spid="212013" grpId="0" autoUpdateAnimBg="0"/>
      <p:bldP spid="212014" grpId="0" autoUpdateAnimBg="0"/>
      <p:bldP spid="212015" grpId="0"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5" name="Text Box 3"/>
          <p:cNvSpPr txBox="1">
            <a:spLocks noChangeArrowheads="1"/>
          </p:cNvSpPr>
          <p:nvPr/>
        </p:nvSpPr>
        <p:spPr bwMode="auto">
          <a:xfrm>
            <a:off x="669925" y="273050"/>
            <a:ext cx="7864475"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zh-CN" altLang="en-US" sz="3600">
                <a:solidFill>
                  <a:srgbClr val="A50021"/>
                </a:solidFill>
                <a:ea typeface="楷体_GB2312" charset="0"/>
              </a:rPr>
              <a:t>反过来问，</a:t>
            </a:r>
            <a:r>
              <a:rPr lang="zh-CN" altLang="en-US" sz="3600" b="1">
                <a:solidFill>
                  <a:srgbClr val="FF0000"/>
                </a:solidFill>
                <a:ea typeface="楷体_GB2312" charset="0"/>
              </a:rPr>
              <a:t>深度为</a:t>
            </a:r>
            <a:r>
              <a:rPr lang="zh-CN" altLang="en-US" sz="3600" b="1" i="1">
                <a:solidFill>
                  <a:srgbClr val="FF0000"/>
                </a:solidFill>
                <a:ea typeface="楷体_GB2312" charset="0"/>
              </a:rPr>
              <a:t> </a:t>
            </a:r>
            <a:r>
              <a:rPr lang="en-US" altLang="zh-CN" sz="3600" b="1" i="1">
                <a:solidFill>
                  <a:srgbClr val="FF0000"/>
                </a:solidFill>
                <a:ea typeface="楷体_GB2312" charset="0"/>
              </a:rPr>
              <a:t>h</a:t>
            </a:r>
            <a:r>
              <a:rPr lang="en-US" altLang="zh-CN" sz="3600" b="1" i="1">
                <a:solidFill>
                  <a:srgbClr val="A50021"/>
                </a:solidFill>
                <a:ea typeface="楷体_GB2312" charset="0"/>
              </a:rPr>
              <a:t> </a:t>
            </a:r>
            <a:r>
              <a:rPr lang="zh-CN" altLang="en-US" sz="3600">
                <a:solidFill>
                  <a:srgbClr val="A50021"/>
                </a:solidFill>
                <a:ea typeface="楷体_GB2312" charset="0"/>
              </a:rPr>
              <a:t>的二叉</a:t>
            </a:r>
            <a:r>
              <a:rPr lang="zh-CN" altLang="en-US" sz="3600" b="1">
                <a:solidFill>
                  <a:srgbClr val="A50021"/>
                </a:solidFill>
                <a:ea typeface="楷体_GB2312" charset="0"/>
              </a:rPr>
              <a:t>平衡树</a:t>
            </a:r>
            <a:r>
              <a:rPr lang="zh-CN" altLang="en-US" sz="3600">
                <a:solidFill>
                  <a:srgbClr val="A50021"/>
                </a:solidFill>
                <a:ea typeface="楷体_GB2312" charset="0"/>
              </a:rPr>
              <a:t>中所</a:t>
            </a:r>
            <a:r>
              <a:rPr lang="zh-CN" altLang="en-US" sz="3600" b="1">
                <a:solidFill>
                  <a:srgbClr val="FF0000"/>
                </a:solidFill>
                <a:ea typeface="楷体_GB2312" charset="0"/>
              </a:rPr>
              <a:t>含结点的最小值 </a:t>
            </a:r>
            <a:r>
              <a:rPr lang="en-US" altLang="zh-CN" sz="3600" b="1" i="1">
                <a:solidFill>
                  <a:srgbClr val="FF0000"/>
                </a:solidFill>
                <a:ea typeface="楷体_GB2312" charset="0"/>
              </a:rPr>
              <a:t>N</a:t>
            </a:r>
            <a:r>
              <a:rPr lang="en-US" altLang="zh-CN" sz="3600" b="1" i="1" baseline="-25000">
                <a:solidFill>
                  <a:srgbClr val="FF0000"/>
                </a:solidFill>
                <a:ea typeface="楷体_GB2312" charset="0"/>
              </a:rPr>
              <a:t>h</a:t>
            </a:r>
            <a:r>
              <a:rPr lang="en-US" altLang="zh-CN" sz="3600" b="1">
                <a:solidFill>
                  <a:srgbClr val="A50021"/>
                </a:solidFill>
                <a:ea typeface="楷体_GB2312" charset="0"/>
              </a:rPr>
              <a:t> </a:t>
            </a:r>
            <a:r>
              <a:rPr lang="zh-CN" altLang="en-US" sz="3600">
                <a:solidFill>
                  <a:srgbClr val="A50021"/>
                </a:solidFill>
                <a:ea typeface="楷体_GB2312" charset="0"/>
              </a:rPr>
              <a:t>是多少？</a:t>
            </a:r>
          </a:p>
        </p:txBody>
      </p:sp>
      <p:sp>
        <p:nvSpPr>
          <p:cNvPr id="212996" name="Text Box 4"/>
          <p:cNvSpPr txBox="1">
            <a:spLocks noChangeArrowheads="1"/>
          </p:cNvSpPr>
          <p:nvPr/>
        </p:nvSpPr>
        <p:spPr bwMode="auto">
          <a:xfrm>
            <a:off x="749300" y="2025650"/>
            <a:ext cx="1155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i="1">
                <a:solidFill>
                  <a:srgbClr val="3333FF"/>
                </a:solidFill>
              </a:rPr>
              <a:t>h</a:t>
            </a:r>
            <a:r>
              <a:rPr lang="en-US" altLang="zh-CN" sz="3600" b="1">
                <a:solidFill>
                  <a:srgbClr val="3333FF"/>
                </a:solidFill>
              </a:rPr>
              <a:t> = 0</a:t>
            </a:r>
            <a:endParaRPr lang="en-US" altLang="zh-CN" sz="3600"/>
          </a:p>
        </p:txBody>
      </p:sp>
      <p:sp>
        <p:nvSpPr>
          <p:cNvPr id="212997" name="Text Box 5"/>
          <p:cNvSpPr txBox="1">
            <a:spLocks noChangeArrowheads="1"/>
          </p:cNvSpPr>
          <p:nvPr/>
        </p:nvSpPr>
        <p:spPr bwMode="auto">
          <a:xfrm>
            <a:off x="2438400" y="2025650"/>
            <a:ext cx="1384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i="1">
                <a:solidFill>
                  <a:srgbClr val="008080"/>
                </a:solidFill>
              </a:rPr>
              <a:t>N</a:t>
            </a:r>
            <a:r>
              <a:rPr lang="en-US" altLang="zh-CN" sz="3600" b="1" baseline="-25000">
                <a:solidFill>
                  <a:srgbClr val="008080"/>
                </a:solidFill>
              </a:rPr>
              <a:t>0</a:t>
            </a:r>
            <a:r>
              <a:rPr lang="en-US" altLang="zh-CN" sz="3600" b="1">
                <a:solidFill>
                  <a:srgbClr val="008080"/>
                </a:solidFill>
              </a:rPr>
              <a:t> = 0</a:t>
            </a:r>
            <a:endParaRPr lang="en-US" altLang="zh-CN" sz="3600"/>
          </a:p>
        </p:txBody>
      </p:sp>
      <p:sp>
        <p:nvSpPr>
          <p:cNvPr id="212998" name="Text Box 6"/>
          <p:cNvSpPr txBox="1">
            <a:spLocks noChangeArrowheads="1"/>
          </p:cNvSpPr>
          <p:nvPr/>
        </p:nvSpPr>
        <p:spPr bwMode="auto">
          <a:xfrm>
            <a:off x="4953000" y="2025650"/>
            <a:ext cx="1155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i="1">
                <a:solidFill>
                  <a:srgbClr val="3333FF"/>
                </a:solidFill>
              </a:rPr>
              <a:t>h</a:t>
            </a:r>
            <a:r>
              <a:rPr lang="en-US" altLang="zh-CN" sz="3600" b="1">
                <a:solidFill>
                  <a:srgbClr val="3333FF"/>
                </a:solidFill>
              </a:rPr>
              <a:t> = 1</a:t>
            </a:r>
            <a:endParaRPr lang="en-US" altLang="zh-CN" sz="3600"/>
          </a:p>
        </p:txBody>
      </p:sp>
      <p:sp>
        <p:nvSpPr>
          <p:cNvPr id="212999" name="Text Box 7"/>
          <p:cNvSpPr txBox="1">
            <a:spLocks noChangeArrowheads="1"/>
          </p:cNvSpPr>
          <p:nvPr/>
        </p:nvSpPr>
        <p:spPr bwMode="auto">
          <a:xfrm>
            <a:off x="749300" y="3168650"/>
            <a:ext cx="1155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i="1">
                <a:solidFill>
                  <a:srgbClr val="3333FF"/>
                </a:solidFill>
              </a:rPr>
              <a:t>h</a:t>
            </a:r>
            <a:r>
              <a:rPr lang="en-US" altLang="zh-CN" sz="3600" b="1">
                <a:solidFill>
                  <a:srgbClr val="3333FF"/>
                </a:solidFill>
              </a:rPr>
              <a:t> = 2</a:t>
            </a:r>
            <a:endParaRPr lang="en-US" altLang="zh-CN" sz="3600"/>
          </a:p>
        </p:txBody>
      </p:sp>
      <p:sp>
        <p:nvSpPr>
          <p:cNvPr id="213000" name="Text Box 8"/>
          <p:cNvSpPr txBox="1">
            <a:spLocks noChangeArrowheads="1"/>
          </p:cNvSpPr>
          <p:nvPr/>
        </p:nvSpPr>
        <p:spPr bwMode="auto">
          <a:xfrm>
            <a:off x="4953000" y="3168650"/>
            <a:ext cx="1155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i="1">
                <a:solidFill>
                  <a:srgbClr val="3333FF"/>
                </a:solidFill>
              </a:rPr>
              <a:t>h</a:t>
            </a:r>
            <a:r>
              <a:rPr lang="en-US" altLang="zh-CN" sz="3600" b="1">
                <a:solidFill>
                  <a:srgbClr val="3333FF"/>
                </a:solidFill>
              </a:rPr>
              <a:t> = 3</a:t>
            </a:r>
            <a:endParaRPr lang="en-US" altLang="zh-CN" sz="3600"/>
          </a:p>
        </p:txBody>
      </p:sp>
      <p:sp>
        <p:nvSpPr>
          <p:cNvPr id="213001" name="Text Box 9"/>
          <p:cNvSpPr txBox="1">
            <a:spLocks noChangeArrowheads="1"/>
          </p:cNvSpPr>
          <p:nvPr/>
        </p:nvSpPr>
        <p:spPr bwMode="auto">
          <a:xfrm>
            <a:off x="749300" y="4283075"/>
            <a:ext cx="2486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zh-CN" sz="3600" b="1">
                <a:solidFill>
                  <a:srgbClr val="3333FF"/>
                </a:solidFill>
                <a:ea typeface="楷体_GB2312" charset="0"/>
              </a:rPr>
              <a:t>一般情况下</a:t>
            </a:r>
            <a:endParaRPr lang="zh-CN" altLang="en-US" sz="3600"/>
          </a:p>
        </p:txBody>
      </p:sp>
      <p:sp>
        <p:nvSpPr>
          <p:cNvPr id="213002" name="Text Box 10"/>
          <p:cNvSpPr txBox="1">
            <a:spLocks noChangeArrowheads="1"/>
          </p:cNvSpPr>
          <p:nvPr/>
        </p:nvSpPr>
        <p:spPr bwMode="auto">
          <a:xfrm>
            <a:off x="6629400" y="1981200"/>
            <a:ext cx="1384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i="1">
                <a:solidFill>
                  <a:srgbClr val="008080"/>
                </a:solidFill>
              </a:rPr>
              <a:t>N</a:t>
            </a:r>
            <a:r>
              <a:rPr lang="en-US" altLang="zh-CN" sz="3600" b="1" baseline="-25000">
                <a:solidFill>
                  <a:srgbClr val="008080"/>
                </a:solidFill>
              </a:rPr>
              <a:t>1</a:t>
            </a:r>
            <a:r>
              <a:rPr lang="en-US" altLang="zh-CN" sz="3600" b="1">
                <a:solidFill>
                  <a:srgbClr val="008080"/>
                </a:solidFill>
              </a:rPr>
              <a:t> = 1</a:t>
            </a:r>
            <a:endParaRPr lang="en-US" altLang="zh-CN" sz="3600"/>
          </a:p>
        </p:txBody>
      </p:sp>
      <p:sp>
        <p:nvSpPr>
          <p:cNvPr id="213003" name="Text Box 11"/>
          <p:cNvSpPr txBox="1">
            <a:spLocks noChangeArrowheads="1"/>
          </p:cNvSpPr>
          <p:nvPr/>
        </p:nvSpPr>
        <p:spPr bwMode="auto">
          <a:xfrm>
            <a:off x="2438400" y="3168650"/>
            <a:ext cx="1384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i="1">
                <a:solidFill>
                  <a:srgbClr val="008080"/>
                </a:solidFill>
              </a:rPr>
              <a:t>N</a:t>
            </a:r>
            <a:r>
              <a:rPr lang="en-US" altLang="zh-CN" sz="3600" b="1" baseline="-25000">
                <a:solidFill>
                  <a:srgbClr val="008080"/>
                </a:solidFill>
              </a:rPr>
              <a:t>2</a:t>
            </a:r>
            <a:r>
              <a:rPr lang="en-US" altLang="zh-CN" sz="3600" b="1">
                <a:solidFill>
                  <a:srgbClr val="008080"/>
                </a:solidFill>
              </a:rPr>
              <a:t> = 2</a:t>
            </a:r>
            <a:endParaRPr lang="en-US" altLang="zh-CN" sz="3600"/>
          </a:p>
        </p:txBody>
      </p:sp>
      <p:sp>
        <p:nvSpPr>
          <p:cNvPr id="213004" name="Text Box 12"/>
          <p:cNvSpPr txBox="1">
            <a:spLocks noChangeArrowheads="1"/>
          </p:cNvSpPr>
          <p:nvPr/>
        </p:nvSpPr>
        <p:spPr bwMode="auto">
          <a:xfrm>
            <a:off x="6629400" y="3168650"/>
            <a:ext cx="1384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i="1">
                <a:solidFill>
                  <a:srgbClr val="008080"/>
                </a:solidFill>
              </a:rPr>
              <a:t>N</a:t>
            </a:r>
            <a:r>
              <a:rPr lang="en-US" altLang="zh-CN" sz="3600" b="1" baseline="-25000">
                <a:solidFill>
                  <a:srgbClr val="008080"/>
                </a:solidFill>
              </a:rPr>
              <a:t>3</a:t>
            </a:r>
            <a:r>
              <a:rPr lang="en-US" altLang="zh-CN" sz="3600" b="1">
                <a:solidFill>
                  <a:srgbClr val="008080"/>
                </a:solidFill>
              </a:rPr>
              <a:t> = 4</a:t>
            </a:r>
            <a:endParaRPr lang="en-US" altLang="zh-CN" sz="3600"/>
          </a:p>
        </p:txBody>
      </p:sp>
      <p:sp>
        <p:nvSpPr>
          <p:cNvPr id="213005" name="Text Box 13"/>
          <p:cNvSpPr txBox="1">
            <a:spLocks noChangeArrowheads="1"/>
          </p:cNvSpPr>
          <p:nvPr/>
        </p:nvSpPr>
        <p:spPr bwMode="auto">
          <a:xfrm>
            <a:off x="3886200" y="4311650"/>
            <a:ext cx="3887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600" b="1" i="1">
                <a:solidFill>
                  <a:srgbClr val="008080"/>
                </a:solidFill>
              </a:rPr>
              <a:t>N</a:t>
            </a:r>
            <a:r>
              <a:rPr lang="en-US" altLang="zh-CN" sz="3600" b="1" baseline="-25000">
                <a:solidFill>
                  <a:srgbClr val="008080"/>
                </a:solidFill>
              </a:rPr>
              <a:t>h</a:t>
            </a:r>
            <a:r>
              <a:rPr lang="en-US" altLang="zh-CN" sz="3600" b="1">
                <a:solidFill>
                  <a:srgbClr val="008080"/>
                </a:solidFill>
              </a:rPr>
              <a:t> = </a:t>
            </a:r>
            <a:r>
              <a:rPr lang="en-US" altLang="zh-CN" sz="3600" b="1" i="1">
                <a:solidFill>
                  <a:srgbClr val="008080"/>
                </a:solidFill>
              </a:rPr>
              <a:t>N</a:t>
            </a:r>
            <a:r>
              <a:rPr lang="en-US" altLang="zh-CN" sz="3600" b="1" baseline="-25000">
                <a:solidFill>
                  <a:srgbClr val="008080"/>
                </a:solidFill>
              </a:rPr>
              <a:t>h-1</a:t>
            </a:r>
            <a:r>
              <a:rPr lang="en-US" altLang="zh-CN" sz="3600" b="1">
                <a:solidFill>
                  <a:srgbClr val="008080"/>
                </a:solidFill>
              </a:rPr>
              <a:t> + </a:t>
            </a:r>
            <a:r>
              <a:rPr lang="en-US" altLang="zh-CN" sz="3600" b="1" i="1">
                <a:solidFill>
                  <a:srgbClr val="008080"/>
                </a:solidFill>
              </a:rPr>
              <a:t>N</a:t>
            </a:r>
            <a:r>
              <a:rPr lang="en-US" altLang="zh-CN" sz="3600" b="1" baseline="-25000">
                <a:solidFill>
                  <a:srgbClr val="008080"/>
                </a:solidFill>
              </a:rPr>
              <a:t>h-2</a:t>
            </a:r>
            <a:r>
              <a:rPr lang="en-US" altLang="zh-CN" sz="3600" b="1">
                <a:solidFill>
                  <a:srgbClr val="008080"/>
                </a:solidFill>
              </a:rPr>
              <a:t> + 1</a:t>
            </a:r>
            <a:endParaRPr lang="en-US" altLang="zh-CN" sz="3600"/>
          </a:p>
        </p:txBody>
      </p:sp>
      <p:sp>
        <p:nvSpPr>
          <p:cNvPr id="213008" name="Text Box 16"/>
          <p:cNvSpPr txBox="1">
            <a:spLocks noChangeArrowheads="1"/>
          </p:cNvSpPr>
          <p:nvPr/>
        </p:nvSpPr>
        <p:spPr bwMode="auto">
          <a:xfrm>
            <a:off x="762000" y="5454650"/>
            <a:ext cx="386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zh-CN" sz="3600" b="1">
                <a:solidFill>
                  <a:srgbClr val="3333FF"/>
                </a:solidFill>
                <a:ea typeface="楷体_GB2312" charset="0"/>
              </a:rPr>
              <a:t>利用归纳法可证得</a:t>
            </a:r>
            <a:endParaRPr lang="zh-CN" altLang="en-US" sz="3600"/>
          </a:p>
        </p:txBody>
      </p:sp>
      <p:sp>
        <p:nvSpPr>
          <p:cNvPr id="213009" name="Text Box 17"/>
          <p:cNvSpPr txBox="1">
            <a:spLocks noChangeArrowheads="1"/>
          </p:cNvSpPr>
          <p:nvPr/>
        </p:nvSpPr>
        <p:spPr bwMode="auto">
          <a:xfrm>
            <a:off x="5181600" y="5454650"/>
            <a:ext cx="2819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600" b="1" i="1">
                <a:solidFill>
                  <a:srgbClr val="008080"/>
                </a:solidFill>
              </a:rPr>
              <a:t>N</a:t>
            </a:r>
            <a:r>
              <a:rPr lang="en-US" altLang="zh-CN" sz="3600" b="1" baseline="-25000">
                <a:solidFill>
                  <a:srgbClr val="008080"/>
                </a:solidFill>
              </a:rPr>
              <a:t>h</a:t>
            </a:r>
            <a:r>
              <a:rPr lang="en-US" altLang="zh-CN" sz="3600" b="1">
                <a:solidFill>
                  <a:srgbClr val="008080"/>
                </a:solidFill>
              </a:rPr>
              <a:t> = </a:t>
            </a:r>
            <a:r>
              <a:rPr lang="en-US" altLang="zh-CN" sz="3600" b="1" i="1">
                <a:solidFill>
                  <a:srgbClr val="008080"/>
                </a:solidFill>
              </a:rPr>
              <a:t>F</a:t>
            </a:r>
            <a:r>
              <a:rPr lang="en-US" altLang="zh-CN" sz="3600" b="1" baseline="-25000">
                <a:solidFill>
                  <a:srgbClr val="008080"/>
                </a:solidFill>
              </a:rPr>
              <a:t>h+2</a:t>
            </a:r>
            <a:r>
              <a:rPr lang="en-US" altLang="zh-CN" sz="3600" b="1">
                <a:solidFill>
                  <a:srgbClr val="008080"/>
                </a:solidFill>
              </a:rPr>
              <a:t> - 1</a:t>
            </a:r>
            <a:endParaRPr lang="en-US" altLang="zh-CN" sz="3600"/>
          </a:p>
        </p:txBody>
      </p:sp>
    </p:spTree>
    <p:extLst>
      <p:ext uri="{BB962C8B-B14F-4D97-AF65-F5344CB8AC3E}">
        <p14:creationId xmlns:p14="http://schemas.microsoft.com/office/powerpoint/2010/main" val="8771838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212995"/>
                                        </p:tgtEl>
                                        <p:attrNameLst>
                                          <p:attrName>style.visibility</p:attrName>
                                        </p:attrNameLst>
                                      </p:cBhvr>
                                      <p:to>
                                        <p:strVal val="visible"/>
                                      </p:to>
                                    </p:set>
                                    <p:animEffect transition="in" filter="wipe(left)">
                                      <p:cBhvr>
                                        <p:cTn id="7" dur="300"/>
                                        <p:tgtEl>
                                          <p:spTgt spid="2129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12996"/>
                                        </p:tgtEl>
                                        <p:attrNameLst>
                                          <p:attrName>style.visibility</p:attrName>
                                        </p:attrNameLst>
                                      </p:cBhvr>
                                      <p:to>
                                        <p:strVal val="visible"/>
                                      </p:to>
                                    </p:set>
                                    <p:animEffect transition="in" filter="wipe(left)">
                                      <p:cBhvr>
                                        <p:cTn id="12" dur="300"/>
                                        <p:tgtEl>
                                          <p:spTgt spid="2129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212997"/>
                                        </p:tgtEl>
                                        <p:attrNameLst>
                                          <p:attrName>style.visibility</p:attrName>
                                        </p:attrNameLst>
                                      </p:cBhvr>
                                      <p:to>
                                        <p:strVal val="visible"/>
                                      </p:to>
                                    </p:set>
                                    <p:animEffect transition="in" filter="wipe(left)">
                                      <p:cBhvr>
                                        <p:cTn id="17" dur="300"/>
                                        <p:tgtEl>
                                          <p:spTgt spid="2129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212998"/>
                                        </p:tgtEl>
                                        <p:attrNameLst>
                                          <p:attrName>style.visibility</p:attrName>
                                        </p:attrNameLst>
                                      </p:cBhvr>
                                      <p:to>
                                        <p:strVal val="visible"/>
                                      </p:to>
                                    </p:set>
                                    <p:animEffect transition="in" filter="wipe(left)">
                                      <p:cBhvr>
                                        <p:cTn id="22" dur="300"/>
                                        <p:tgtEl>
                                          <p:spTgt spid="2129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213002"/>
                                        </p:tgtEl>
                                        <p:attrNameLst>
                                          <p:attrName>style.visibility</p:attrName>
                                        </p:attrNameLst>
                                      </p:cBhvr>
                                      <p:to>
                                        <p:strVal val="visible"/>
                                      </p:to>
                                    </p:set>
                                    <p:animEffect transition="in" filter="wipe(left)">
                                      <p:cBhvr>
                                        <p:cTn id="27" dur="300"/>
                                        <p:tgtEl>
                                          <p:spTgt spid="21300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212999"/>
                                        </p:tgtEl>
                                        <p:attrNameLst>
                                          <p:attrName>style.visibility</p:attrName>
                                        </p:attrNameLst>
                                      </p:cBhvr>
                                      <p:to>
                                        <p:strVal val="visible"/>
                                      </p:to>
                                    </p:set>
                                    <p:animEffect transition="in" filter="wipe(left)">
                                      <p:cBhvr>
                                        <p:cTn id="32" dur="300"/>
                                        <p:tgtEl>
                                          <p:spTgt spid="21299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213003"/>
                                        </p:tgtEl>
                                        <p:attrNameLst>
                                          <p:attrName>style.visibility</p:attrName>
                                        </p:attrNameLst>
                                      </p:cBhvr>
                                      <p:to>
                                        <p:strVal val="visible"/>
                                      </p:to>
                                    </p:set>
                                    <p:animEffect transition="in" filter="wipe(left)">
                                      <p:cBhvr>
                                        <p:cTn id="37" dur="300"/>
                                        <p:tgtEl>
                                          <p:spTgt spid="21300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213000"/>
                                        </p:tgtEl>
                                        <p:attrNameLst>
                                          <p:attrName>style.visibility</p:attrName>
                                        </p:attrNameLst>
                                      </p:cBhvr>
                                      <p:to>
                                        <p:strVal val="visible"/>
                                      </p:to>
                                    </p:set>
                                    <p:animEffect transition="in" filter="wipe(left)">
                                      <p:cBhvr>
                                        <p:cTn id="42" dur="300"/>
                                        <p:tgtEl>
                                          <p:spTgt spid="21300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213004"/>
                                        </p:tgtEl>
                                        <p:attrNameLst>
                                          <p:attrName>style.visibility</p:attrName>
                                        </p:attrNameLst>
                                      </p:cBhvr>
                                      <p:to>
                                        <p:strVal val="visible"/>
                                      </p:to>
                                    </p:set>
                                    <p:animEffect transition="in" filter="wipe(left)">
                                      <p:cBhvr>
                                        <p:cTn id="47" dur="300"/>
                                        <p:tgtEl>
                                          <p:spTgt spid="21300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213001"/>
                                        </p:tgtEl>
                                        <p:attrNameLst>
                                          <p:attrName>style.visibility</p:attrName>
                                        </p:attrNameLst>
                                      </p:cBhvr>
                                      <p:to>
                                        <p:strVal val="visible"/>
                                      </p:to>
                                    </p:set>
                                    <p:animEffect transition="in" filter="wipe(left)">
                                      <p:cBhvr>
                                        <p:cTn id="52" dur="300"/>
                                        <p:tgtEl>
                                          <p:spTgt spid="21300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iterate type="wd">
                                    <p:tmPct val="100000"/>
                                  </p:iterate>
                                  <p:childTnLst>
                                    <p:set>
                                      <p:cBhvr>
                                        <p:cTn id="56" dur="1" fill="hold">
                                          <p:stCondLst>
                                            <p:cond delay="0"/>
                                          </p:stCondLst>
                                        </p:cTn>
                                        <p:tgtEl>
                                          <p:spTgt spid="213005"/>
                                        </p:tgtEl>
                                        <p:attrNameLst>
                                          <p:attrName>style.visibility</p:attrName>
                                        </p:attrNameLst>
                                      </p:cBhvr>
                                      <p:to>
                                        <p:strVal val="visible"/>
                                      </p:to>
                                    </p:set>
                                    <p:animEffect transition="in" filter="wipe(left)">
                                      <p:cBhvr>
                                        <p:cTn id="57" dur="300"/>
                                        <p:tgtEl>
                                          <p:spTgt spid="21300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iterate type="wd">
                                    <p:tmPct val="100000"/>
                                  </p:iterate>
                                  <p:childTnLst>
                                    <p:set>
                                      <p:cBhvr>
                                        <p:cTn id="61" dur="1" fill="hold">
                                          <p:stCondLst>
                                            <p:cond delay="0"/>
                                          </p:stCondLst>
                                        </p:cTn>
                                        <p:tgtEl>
                                          <p:spTgt spid="213008"/>
                                        </p:tgtEl>
                                        <p:attrNameLst>
                                          <p:attrName>style.visibility</p:attrName>
                                        </p:attrNameLst>
                                      </p:cBhvr>
                                      <p:to>
                                        <p:strVal val="visible"/>
                                      </p:to>
                                    </p:set>
                                    <p:animEffect transition="in" filter="wipe(left)">
                                      <p:cBhvr>
                                        <p:cTn id="62" dur="300"/>
                                        <p:tgtEl>
                                          <p:spTgt spid="21300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iterate type="wd">
                                    <p:tmPct val="100000"/>
                                  </p:iterate>
                                  <p:childTnLst>
                                    <p:set>
                                      <p:cBhvr>
                                        <p:cTn id="66" dur="1" fill="hold">
                                          <p:stCondLst>
                                            <p:cond delay="0"/>
                                          </p:stCondLst>
                                        </p:cTn>
                                        <p:tgtEl>
                                          <p:spTgt spid="213009"/>
                                        </p:tgtEl>
                                        <p:attrNameLst>
                                          <p:attrName>style.visibility</p:attrName>
                                        </p:attrNameLst>
                                      </p:cBhvr>
                                      <p:to>
                                        <p:strVal val="visible"/>
                                      </p:to>
                                    </p:set>
                                    <p:animEffect transition="in" filter="wipe(left)">
                                      <p:cBhvr>
                                        <p:cTn id="67" dur="300"/>
                                        <p:tgtEl>
                                          <p:spTgt spid="213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5" grpId="0" autoUpdateAnimBg="0"/>
      <p:bldP spid="212996" grpId="0" autoUpdateAnimBg="0"/>
      <p:bldP spid="212997" grpId="0" autoUpdateAnimBg="0"/>
      <p:bldP spid="212998" grpId="0" autoUpdateAnimBg="0"/>
      <p:bldP spid="212999" grpId="0" autoUpdateAnimBg="0"/>
      <p:bldP spid="213000" grpId="0" autoUpdateAnimBg="0"/>
      <p:bldP spid="213001" grpId="0" autoUpdateAnimBg="0"/>
      <p:bldP spid="213002" grpId="0" autoUpdateAnimBg="0"/>
      <p:bldP spid="213003" grpId="0" autoUpdateAnimBg="0"/>
      <p:bldP spid="213004" grpId="0" autoUpdateAnimBg="0"/>
      <p:bldP spid="213005" grpId="0" autoUpdateAnimBg="0"/>
      <p:bldP spid="213008" grpId="0" autoUpdateAnimBg="0"/>
      <p:bldP spid="213009" grpId="0"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Text Box 3"/>
          <p:cNvSpPr txBox="1">
            <a:spLocks noChangeArrowheads="1"/>
          </p:cNvSpPr>
          <p:nvPr/>
        </p:nvSpPr>
        <p:spPr bwMode="auto">
          <a:xfrm>
            <a:off x="381000" y="3722688"/>
            <a:ext cx="8077200"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lang="en-US" altLang="zh-CN" sz="3600">
                <a:solidFill>
                  <a:srgbClr val="A50021"/>
                </a:solidFill>
                <a:ea typeface="楷体_GB2312" charset="0"/>
              </a:rPr>
              <a:t>    </a:t>
            </a:r>
            <a:r>
              <a:rPr lang="zh-CN" altLang="en-US" sz="3600">
                <a:solidFill>
                  <a:srgbClr val="A50021"/>
                </a:solidFill>
                <a:ea typeface="楷体_GB2312" charset="0"/>
              </a:rPr>
              <a:t>因此，在</a:t>
            </a:r>
            <a:r>
              <a:rPr lang="zh-CN" altLang="en-US" sz="3600" b="1">
                <a:solidFill>
                  <a:srgbClr val="A50021"/>
                </a:solidFill>
                <a:ea typeface="楷体_GB2312" charset="0"/>
              </a:rPr>
              <a:t>二叉平衡树</a:t>
            </a:r>
            <a:r>
              <a:rPr lang="zh-CN" altLang="en-US" sz="3600">
                <a:solidFill>
                  <a:srgbClr val="A50021"/>
                </a:solidFill>
                <a:ea typeface="楷体_GB2312" charset="0"/>
              </a:rPr>
              <a:t>上进行查找时，</a:t>
            </a:r>
          </a:p>
          <a:p>
            <a:pPr>
              <a:lnSpc>
                <a:spcPct val="140000"/>
              </a:lnSpc>
            </a:pPr>
            <a:r>
              <a:rPr lang="zh-CN" altLang="en-US" sz="3600">
                <a:solidFill>
                  <a:srgbClr val="3333FF"/>
                </a:solidFill>
                <a:ea typeface="楷体_GB2312" charset="0"/>
              </a:rPr>
              <a:t>查找过程中和给定值</a:t>
            </a:r>
            <a:r>
              <a:rPr lang="zh-CN" altLang="en-US" sz="3600" b="1">
                <a:solidFill>
                  <a:srgbClr val="3333FF"/>
                </a:solidFill>
                <a:ea typeface="楷体_GB2312" charset="0"/>
              </a:rPr>
              <a:t>进行比较的关键字的个数和</a:t>
            </a:r>
            <a:r>
              <a:rPr lang="zh-CN" altLang="en-US" sz="3600">
                <a:solidFill>
                  <a:srgbClr val="3333FF"/>
                </a:solidFill>
                <a:ea typeface="楷体_GB2312" charset="0"/>
              </a:rPr>
              <a:t> </a:t>
            </a:r>
            <a:r>
              <a:rPr lang="en-US" altLang="zh-CN" sz="3600" b="1" i="1">
                <a:solidFill>
                  <a:srgbClr val="A50021"/>
                </a:solidFill>
                <a:ea typeface="楷体_GB2312" charset="0"/>
              </a:rPr>
              <a:t>log(n)</a:t>
            </a:r>
            <a:r>
              <a:rPr lang="en-US" altLang="zh-CN" sz="3600">
                <a:solidFill>
                  <a:srgbClr val="A50021"/>
                </a:solidFill>
                <a:ea typeface="楷体_GB2312" charset="0"/>
              </a:rPr>
              <a:t> </a:t>
            </a:r>
            <a:r>
              <a:rPr lang="zh-CN" altLang="en-US" sz="3600">
                <a:solidFill>
                  <a:srgbClr val="3333FF"/>
                </a:solidFill>
                <a:ea typeface="楷体_GB2312" charset="0"/>
              </a:rPr>
              <a:t>相当</a:t>
            </a:r>
            <a:r>
              <a:rPr lang="zh-CN" altLang="en-US" sz="3600">
                <a:solidFill>
                  <a:srgbClr val="A50021"/>
                </a:solidFill>
                <a:ea typeface="楷体_GB2312" charset="0"/>
              </a:rPr>
              <a:t>。</a:t>
            </a:r>
          </a:p>
        </p:txBody>
      </p:sp>
      <p:sp>
        <p:nvSpPr>
          <p:cNvPr id="93189" name="Text Box 5"/>
          <p:cNvSpPr txBox="1">
            <a:spLocks noChangeArrowheads="1"/>
          </p:cNvSpPr>
          <p:nvPr/>
        </p:nvSpPr>
        <p:spPr bwMode="auto">
          <a:xfrm>
            <a:off x="381000" y="273050"/>
            <a:ext cx="7864475"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lang="en-US" altLang="zh-CN" sz="3600">
                <a:solidFill>
                  <a:srgbClr val="A50021"/>
                </a:solidFill>
                <a:ea typeface="楷体_GB2312" charset="0"/>
              </a:rPr>
              <a:t>    </a:t>
            </a:r>
            <a:r>
              <a:rPr lang="zh-CN" altLang="en-US" sz="3600">
                <a:solidFill>
                  <a:srgbClr val="A50021"/>
                </a:solidFill>
                <a:ea typeface="楷体_GB2312" charset="0"/>
              </a:rPr>
              <a:t>由此推得，</a:t>
            </a:r>
            <a:r>
              <a:rPr lang="zh-CN" altLang="en-US" sz="3600" b="1">
                <a:solidFill>
                  <a:srgbClr val="A50021"/>
                </a:solidFill>
                <a:ea typeface="楷体_GB2312" charset="0"/>
              </a:rPr>
              <a:t>深度为</a:t>
            </a:r>
            <a:r>
              <a:rPr lang="zh-CN" altLang="en-US" sz="3600" b="1" i="1">
                <a:solidFill>
                  <a:srgbClr val="A50021"/>
                </a:solidFill>
                <a:ea typeface="楷体_GB2312" charset="0"/>
              </a:rPr>
              <a:t> </a:t>
            </a:r>
            <a:r>
              <a:rPr lang="en-US" altLang="zh-CN" sz="3600" b="1" i="1">
                <a:solidFill>
                  <a:srgbClr val="A50021"/>
                </a:solidFill>
                <a:ea typeface="楷体_GB2312" charset="0"/>
              </a:rPr>
              <a:t>h </a:t>
            </a:r>
            <a:r>
              <a:rPr lang="zh-CN" altLang="en-US" sz="3600">
                <a:solidFill>
                  <a:srgbClr val="A50021"/>
                </a:solidFill>
                <a:ea typeface="楷体_GB2312" charset="0"/>
              </a:rPr>
              <a:t>的</a:t>
            </a:r>
            <a:r>
              <a:rPr lang="zh-CN" altLang="en-US" sz="3600" b="1">
                <a:solidFill>
                  <a:srgbClr val="A50021"/>
                </a:solidFill>
                <a:ea typeface="楷体_GB2312" charset="0"/>
              </a:rPr>
              <a:t>二叉平衡树</a:t>
            </a:r>
            <a:r>
              <a:rPr lang="zh-CN" altLang="en-US" sz="3600">
                <a:solidFill>
                  <a:srgbClr val="A50021"/>
                </a:solidFill>
                <a:ea typeface="楷体_GB2312" charset="0"/>
              </a:rPr>
              <a:t>中所</a:t>
            </a:r>
            <a:r>
              <a:rPr lang="zh-CN" altLang="en-US" sz="3600" b="1">
                <a:solidFill>
                  <a:srgbClr val="A50021"/>
                </a:solidFill>
                <a:ea typeface="楷体_GB2312" charset="0"/>
              </a:rPr>
              <a:t>含结点的最小值 </a:t>
            </a:r>
            <a:r>
              <a:rPr lang="en-US" altLang="zh-CN" sz="3600" b="1" i="1">
                <a:solidFill>
                  <a:srgbClr val="A50021"/>
                </a:solidFill>
                <a:ea typeface="楷体_GB2312" charset="0"/>
              </a:rPr>
              <a:t>N</a:t>
            </a:r>
            <a:r>
              <a:rPr lang="en-US" altLang="zh-CN" sz="3600" b="1" i="1" baseline="-25000">
                <a:solidFill>
                  <a:srgbClr val="A50021"/>
                </a:solidFill>
                <a:ea typeface="楷体_GB2312" charset="0"/>
              </a:rPr>
              <a:t>h</a:t>
            </a:r>
            <a:r>
              <a:rPr lang="en-US" altLang="zh-CN" sz="3600" b="1">
                <a:solidFill>
                  <a:srgbClr val="A50021"/>
                </a:solidFill>
                <a:ea typeface="楷体_GB2312" charset="0"/>
              </a:rPr>
              <a:t> = </a:t>
            </a:r>
            <a:r>
              <a:rPr lang="en-US" altLang="zh-CN" sz="3600" b="1">
                <a:solidFill>
                  <a:srgbClr val="A50021"/>
                </a:solidFill>
                <a:ea typeface="楷体_GB2312" charset="0"/>
                <a:sym typeface="Symbol" charset="2"/>
              </a:rPr>
              <a:t></a:t>
            </a:r>
            <a:r>
              <a:rPr lang="en-US" altLang="zh-CN" sz="3600" b="1" baseline="30000">
                <a:solidFill>
                  <a:srgbClr val="A50021"/>
                </a:solidFill>
                <a:ea typeface="楷体_GB2312" charset="0"/>
                <a:sym typeface="Symbol" charset="2"/>
              </a:rPr>
              <a:t>h+2</a:t>
            </a:r>
            <a:r>
              <a:rPr lang="en-US" altLang="zh-CN" sz="3600" b="1">
                <a:solidFill>
                  <a:srgbClr val="A50021"/>
                </a:solidFill>
                <a:ea typeface="楷体_GB2312" charset="0"/>
                <a:sym typeface="Symbol" charset="2"/>
              </a:rPr>
              <a:t>/5 - 1</a:t>
            </a:r>
            <a:r>
              <a:rPr lang="zh-CN" altLang="en-US" sz="3600" b="1">
                <a:solidFill>
                  <a:srgbClr val="A50021"/>
                </a:solidFill>
                <a:ea typeface="楷体_GB2312" charset="0"/>
                <a:sym typeface="Symbol" charset="2"/>
              </a:rPr>
              <a:t>。</a:t>
            </a:r>
            <a:endParaRPr lang="zh-CN" altLang="en-US" sz="3600">
              <a:solidFill>
                <a:srgbClr val="A50021"/>
              </a:solidFill>
              <a:ea typeface="楷体_GB2312" charset="0"/>
            </a:endParaRPr>
          </a:p>
        </p:txBody>
      </p:sp>
      <p:sp>
        <p:nvSpPr>
          <p:cNvPr id="93190" name="Text Box 6"/>
          <p:cNvSpPr txBox="1">
            <a:spLocks noChangeArrowheads="1"/>
          </p:cNvSpPr>
          <p:nvPr/>
        </p:nvSpPr>
        <p:spPr bwMode="auto">
          <a:xfrm>
            <a:off x="381000" y="1952625"/>
            <a:ext cx="8229600"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lang="en-US" altLang="zh-CN" sz="3600">
                <a:solidFill>
                  <a:srgbClr val="A50021"/>
                </a:solidFill>
                <a:ea typeface="楷体_GB2312" charset="0"/>
              </a:rPr>
              <a:t>   </a:t>
            </a:r>
            <a:r>
              <a:rPr lang="zh-CN" altLang="en-US" sz="3600">
                <a:solidFill>
                  <a:srgbClr val="A50021"/>
                </a:solidFill>
                <a:ea typeface="楷体_GB2312" charset="0"/>
              </a:rPr>
              <a:t>反之，</a:t>
            </a:r>
            <a:r>
              <a:rPr lang="zh-CN" altLang="en-US" sz="3600" b="1">
                <a:solidFill>
                  <a:srgbClr val="A50021"/>
                </a:solidFill>
                <a:ea typeface="楷体_GB2312" charset="0"/>
              </a:rPr>
              <a:t>含有 </a:t>
            </a:r>
            <a:r>
              <a:rPr lang="en-US" altLang="zh-CN" sz="3600" b="1" i="1">
                <a:solidFill>
                  <a:srgbClr val="A50021"/>
                </a:solidFill>
                <a:ea typeface="楷体_GB2312" charset="0"/>
              </a:rPr>
              <a:t>n</a:t>
            </a:r>
            <a:r>
              <a:rPr lang="en-US" altLang="zh-CN" sz="3600" b="1">
                <a:solidFill>
                  <a:srgbClr val="A50021"/>
                </a:solidFill>
                <a:ea typeface="楷体_GB2312" charset="0"/>
              </a:rPr>
              <a:t> </a:t>
            </a:r>
            <a:r>
              <a:rPr lang="zh-CN" altLang="en-US" sz="3600" b="1">
                <a:solidFill>
                  <a:srgbClr val="A50021"/>
                </a:solidFill>
                <a:ea typeface="楷体_GB2312" charset="0"/>
              </a:rPr>
              <a:t>个结点的二叉平衡树能达到的最大深度 </a:t>
            </a:r>
            <a:r>
              <a:rPr lang="en-US" altLang="zh-CN" sz="3600" b="1" i="1">
                <a:solidFill>
                  <a:srgbClr val="A50021"/>
                </a:solidFill>
                <a:ea typeface="楷体_GB2312" charset="0"/>
              </a:rPr>
              <a:t>h</a:t>
            </a:r>
            <a:r>
              <a:rPr lang="en-US" altLang="zh-CN" sz="3600" b="1" i="1" baseline="-25000">
                <a:solidFill>
                  <a:srgbClr val="A50021"/>
                </a:solidFill>
                <a:ea typeface="楷体_GB2312" charset="0"/>
              </a:rPr>
              <a:t>n</a:t>
            </a:r>
            <a:r>
              <a:rPr lang="en-US" altLang="zh-CN" sz="3600" b="1">
                <a:solidFill>
                  <a:srgbClr val="A50021"/>
                </a:solidFill>
                <a:ea typeface="楷体_GB2312" charset="0"/>
              </a:rPr>
              <a:t> = log</a:t>
            </a:r>
            <a:r>
              <a:rPr lang="en-US" altLang="zh-CN" sz="3600" b="1" baseline="-25000">
                <a:solidFill>
                  <a:srgbClr val="A50021"/>
                </a:solidFill>
                <a:ea typeface="楷体_GB2312" charset="0"/>
                <a:sym typeface="Symbol" charset="2"/>
              </a:rPr>
              <a:t></a:t>
            </a:r>
            <a:r>
              <a:rPr lang="en-US" altLang="zh-CN" sz="3600" b="1">
                <a:solidFill>
                  <a:srgbClr val="A50021"/>
                </a:solidFill>
                <a:ea typeface="楷体_GB2312" charset="0"/>
                <a:sym typeface="Symbol" charset="2"/>
              </a:rPr>
              <a:t>(5 (n+1)) - 2</a:t>
            </a:r>
            <a:r>
              <a:rPr lang="zh-CN" altLang="en-US" sz="3600" b="1">
                <a:solidFill>
                  <a:srgbClr val="A50021"/>
                </a:solidFill>
                <a:ea typeface="楷体_GB2312" charset="0"/>
                <a:sym typeface="Symbol" charset="2"/>
              </a:rPr>
              <a:t>。 </a:t>
            </a:r>
            <a:endParaRPr lang="zh-CN" altLang="en-US" sz="3600">
              <a:solidFill>
                <a:srgbClr val="A50021"/>
              </a:solidFill>
              <a:ea typeface="楷体_GB2312" charset="0"/>
            </a:endParaRPr>
          </a:p>
        </p:txBody>
      </p:sp>
      <p:sp>
        <p:nvSpPr>
          <p:cNvPr id="93191" name="Line 7"/>
          <p:cNvSpPr>
            <a:spLocks noChangeShapeType="1"/>
          </p:cNvSpPr>
          <p:nvPr/>
        </p:nvSpPr>
        <p:spPr bwMode="auto">
          <a:xfrm>
            <a:off x="5943600" y="2971800"/>
            <a:ext cx="304800" cy="0"/>
          </a:xfrm>
          <a:prstGeom prst="line">
            <a:avLst/>
          </a:prstGeom>
          <a:noFill/>
          <a:ln w="38100">
            <a:solidFill>
              <a:srgbClr val="A5002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93193" name="AutoShape 9">
            <a:hlinkClick r:id="rId2"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1516221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93189"/>
                                        </p:tgtEl>
                                        <p:attrNameLst>
                                          <p:attrName>style.visibility</p:attrName>
                                        </p:attrNameLst>
                                      </p:cBhvr>
                                      <p:to>
                                        <p:strVal val="visible"/>
                                      </p:to>
                                    </p:set>
                                    <p:animEffect transition="in" filter="wipe(left)">
                                      <p:cBhvr>
                                        <p:cTn id="7" dur="300"/>
                                        <p:tgtEl>
                                          <p:spTgt spid="931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93190"/>
                                        </p:tgtEl>
                                        <p:attrNameLst>
                                          <p:attrName>style.visibility</p:attrName>
                                        </p:attrNameLst>
                                      </p:cBhvr>
                                      <p:to>
                                        <p:strVal val="visible"/>
                                      </p:to>
                                    </p:set>
                                    <p:animEffect transition="in" filter="wipe(left)">
                                      <p:cBhvr>
                                        <p:cTn id="12" dur="300"/>
                                        <p:tgtEl>
                                          <p:spTgt spid="93190"/>
                                        </p:tgtEl>
                                      </p:cBhvr>
                                    </p:animEffect>
                                  </p:childTnLst>
                                </p:cTn>
                              </p:par>
                            </p:childTnLst>
                          </p:cTn>
                        </p:par>
                        <p:par>
                          <p:cTn id="13" fill="hold" nodeType="afterGroup">
                            <p:stCondLst>
                              <p:cond delay="8700"/>
                            </p:stCondLst>
                            <p:childTnLst>
                              <p:par>
                                <p:cTn id="14" presetID="1" presetClass="entr" presetSubtype="0" fill="hold" grpId="0" nodeType="afterEffect">
                                  <p:stCondLst>
                                    <p:cond delay="0"/>
                                  </p:stCondLst>
                                  <p:childTnLst>
                                    <p:set>
                                      <p:cBhvr>
                                        <p:cTn id="15" dur="1" fill="hold">
                                          <p:stCondLst>
                                            <p:cond delay="499"/>
                                          </p:stCondLst>
                                        </p:cTn>
                                        <p:tgtEl>
                                          <p:spTgt spid="93191"/>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iterate type="wd">
                                    <p:tmPct val="100000"/>
                                  </p:iterate>
                                  <p:childTnLst>
                                    <p:set>
                                      <p:cBhvr>
                                        <p:cTn id="19" dur="1" fill="hold">
                                          <p:stCondLst>
                                            <p:cond delay="0"/>
                                          </p:stCondLst>
                                        </p:cTn>
                                        <p:tgtEl>
                                          <p:spTgt spid="93187"/>
                                        </p:tgtEl>
                                        <p:attrNameLst>
                                          <p:attrName>style.visibility</p:attrName>
                                        </p:attrNameLst>
                                      </p:cBhvr>
                                      <p:to>
                                        <p:strVal val="visible"/>
                                      </p:to>
                                    </p:set>
                                    <p:animEffect transition="in" filter="wipe(left)">
                                      <p:cBhvr>
                                        <p:cTn id="20" dur="300"/>
                                        <p:tgtEl>
                                          <p:spTgt spid="93187"/>
                                        </p:tgtEl>
                                      </p:cBhvr>
                                    </p:animEffect>
                                  </p:childTnLst>
                                </p:cTn>
                              </p:par>
                            </p:childTnLst>
                          </p:cTn>
                        </p:par>
                        <p:par>
                          <p:cTn id="21" fill="hold" nodeType="afterGroup">
                            <p:stCondLst>
                              <p:cond delay="7800"/>
                            </p:stCondLst>
                            <p:childTnLst>
                              <p:par>
                                <p:cTn id="22" presetID="2" presetClass="entr" presetSubtype="6" fill="hold" grpId="0" nodeType="afterEffect">
                                  <p:stCondLst>
                                    <p:cond delay="0"/>
                                  </p:stCondLst>
                                  <p:childTnLst>
                                    <p:set>
                                      <p:cBhvr>
                                        <p:cTn id="23" dur="1" fill="hold">
                                          <p:stCondLst>
                                            <p:cond delay="0"/>
                                          </p:stCondLst>
                                        </p:cTn>
                                        <p:tgtEl>
                                          <p:spTgt spid="93193"/>
                                        </p:tgtEl>
                                        <p:attrNameLst>
                                          <p:attrName>style.visibility</p:attrName>
                                        </p:attrNameLst>
                                      </p:cBhvr>
                                      <p:to>
                                        <p:strVal val="visible"/>
                                      </p:to>
                                    </p:set>
                                    <p:anim calcmode="lin" valueType="num">
                                      <p:cBhvr additive="base">
                                        <p:cTn id="24" dur="500" fill="hold"/>
                                        <p:tgtEl>
                                          <p:spTgt spid="93193"/>
                                        </p:tgtEl>
                                        <p:attrNameLst>
                                          <p:attrName>ppt_x</p:attrName>
                                        </p:attrNameLst>
                                      </p:cBhvr>
                                      <p:tavLst>
                                        <p:tav tm="0">
                                          <p:val>
                                            <p:strVal val="1+#ppt_w/2"/>
                                          </p:val>
                                        </p:tav>
                                        <p:tav tm="100000">
                                          <p:val>
                                            <p:strVal val="#ppt_x"/>
                                          </p:val>
                                        </p:tav>
                                      </p:tavLst>
                                    </p:anim>
                                    <p:anim calcmode="lin" valueType="num">
                                      <p:cBhvr additive="base">
                                        <p:cTn id="25" dur="500" fill="hold"/>
                                        <p:tgtEl>
                                          <p:spTgt spid="931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autoUpdateAnimBg="0"/>
      <p:bldP spid="93189" grpId="0" autoUpdateAnimBg="0"/>
      <p:bldP spid="93190" grpId="0" autoUpdateAnimBg="0"/>
      <p:bldP spid="93191" grpId="0" animBg="1"/>
      <p:bldP spid="93193"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ChangeArrowheads="1"/>
          </p:cNvSpPr>
          <p:nvPr/>
        </p:nvSpPr>
        <p:spPr bwMode="auto">
          <a:xfrm>
            <a:off x="2425700" y="457200"/>
            <a:ext cx="42037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6000" b="1">
                <a:solidFill>
                  <a:srgbClr val="CC00FF"/>
                </a:solidFill>
                <a:ea typeface="楷体_GB2312" charset="0"/>
              </a:rPr>
              <a:t>三、   </a:t>
            </a:r>
            <a:r>
              <a:rPr lang="en-US" altLang="zh-CN" sz="6000" b="1">
                <a:solidFill>
                  <a:srgbClr val="CC00FF"/>
                </a:solidFill>
                <a:ea typeface="楷体_GB2312" charset="0"/>
              </a:rPr>
              <a:t>B - </a:t>
            </a:r>
            <a:r>
              <a:rPr lang="zh-CN" altLang="en-US" sz="6000" b="1">
                <a:solidFill>
                  <a:srgbClr val="CC00FF"/>
                </a:solidFill>
                <a:ea typeface="楷体_GB2312" charset="0"/>
              </a:rPr>
              <a:t>树</a:t>
            </a:r>
            <a:endParaRPr lang="zh-CN" altLang="en-US" sz="4800" b="1">
              <a:ea typeface="楷体_GB2312" charset="0"/>
            </a:endParaRPr>
          </a:p>
        </p:txBody>
      </p:sp>
      <p:sp>
        <p:nvSpPr>
          <p:cNvPr id="95236" name="Text Box 4">
            <a:hlinkClick r:id="" action="ppaction://hlinkshowjump?jump=nextslide"/>
          </p:cNvPr>
          <p:cNvSpPr txBox="1">
            <a:spLocks noChangeArrowheads="1"/>
          </p:cNvSpPr>
          <p:nvPr/>
        </p:nvSpPr>
        <p:spPr bwMode="auto">
          <a:xfrm>
            <a:off x="3814763" y="1801813"/>
            <a:ext cx="19764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FF"/>
                </a:solidFill>
                <a:ea typeface="楷体_GB2312" charset="0"/>
              </a:rPr>
              <a:t>1</a:t>
            </a:r>
            <a:r>
              <a:rPr lang="zh-CN" altLang="en-US" sz="4000" b="1">
                <a:solidFill>
                  <a:srgbClr val="FF00FF"/>
                </a:solidFill>
                <a:ea typeface="楷体_GB2312" charset="0"/>
              </a:rPr>
              <a:t>．定义</a:t>
            </a:r>
            <a:endParaRPr lang="zh-CN" altLang="en-US"/>
          </a:p>
        </p:txBody>
      </p:sp>
      <p:sp>
        <p:nvSpPr>
          <p:cNvPr id="95238" name="Text Box 6">
            <a:hlinkClick r:id="rId2" action="ppaction://hlinksldjump"/>
          </p:cNvPr>
          <p:cNvSpPr txBox="1">
            <a:spLocks noChangeArrowheads="1"/>
          </p:cNvSpPr>
          <p:nvPr/>
        </p:nvSpPr>
        <p:spPr bwMode="auto">
          <a:xfrm>
            <a:off x="2667000" y="2727325"/>
            <a:ext cx="3001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FF"/>
                </a:solidFill>
                <a:ea typeface="楷体_GB2312" charset="0"/>
              </a:rPr>
              <a:t>2</a:t>
            </a:r>
            <a:r>
              <a:rPr lang="zh-CN" altLang="en-US" sz="4000" b="1">
                <a:solidFill>
                  <a:srgbClr val="FF00FF"/>
                </a:solidFill>
                <a:ea typeface="楷体_GB2312" charset="0"/>
              </a:rPr>
              <a:t>．查找过程</a:t>
            </a:r>
            <a:endParaRPr lang="zh-CN" altLang="en-US"/>
          </a:p>
        </p:txBody>
      </p:sp>
      <p:sp>
        <p:nvSpPr>
          <p:cNvPr id="95239" name="Text Box 7">
            <a:hlinkClick r:id="rId3" action="ppaction://hlinksldjump"/>
          </p:cNvPr>
          <p:cNvSpPr txBox="1">
            <a:spLocks noChangeArrowheads="1"/>
          </p:cNvSpPr>
          <p:nvPr/>
        </p:nvSpPr>
        <p:spPr bwMode="auto">
          <a:xfrm>
            <a:off x="1570038" y="3657600"/>
            <a:ext cx="30019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FF"/>
                </a:solidFill>
                <a:ea typeface="楷体_GB2312" charset="0"/>
              </a:rPr>
              <a:t>3</a:t>
            </a:r>
            <a:r>
              <a:rPr lang="zh-CN" altLang="en-US" sz="4000" b="1">
                <a:solidFill>
                  <a:srgbClr val="FF00FF"/>
                </a:solidFill>
                <a:ea typeface="楷体_GB2312" charset="0"/>
              </a:rPr>
              <a:t>．插入操作</a:t>
            </a:r>
            <a:endParaRPr lang="zh-CN" altLang="en-US"/>
          </a:p>
        </p:txBody>
      </p:sp>
      <p:sp>
        <p:nvSpPr>
          <p:cNvPr id="95240" name="Text Box 8">
            <a:hlinkClick r:id="rId4" action="ppaction://hlinksldjump"/>
          </p:cNvPr>
          <p:cNvSpPr txBox="1">
            <a:spLocks noChangeArrowheads="1"/>
          </p:cNvSpPr>
          <p:nvPr/>
        </p:nvSpPr>
        <p:spPr bwMode="auto">
          <a:xfrm>
            <a:off x="2713038" y="4556125"/>
            <a:ext cx="30019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FF"/>
                </a:solidFill>
                <a:ea typeface="楷体_GB2312" charset="0"/>
              </a:rPr>
              <a:t>4</a:t>
            </a:r>
            <a:r>
              <a:rPr lang="zh-CN" altLang="en-US" sz="4000" b="1">
                <a:solidFill>
                  <a:srgbClr val="FF00FF"/>
                </a:solidFill>
                <a:ea typeface="楷体_GB2312" charset="0"/>
              </a:rPr>
              <a:t>．删除操作</a:t>
            </a:r>
            <a:endParaRPr lang="zh-CN" altLang="en-US"/>
          </a:p>
        </p:txBody>
      </p:sp>
      <p:sp>
        <p:nvSpPr>
          <p:cNvPr id="95241" name="Text Box 9">
            <a:hlinkClick r:id="rId5" action="ppaction://hlinksldjump"/>
          </p:cNvPr>
          <p:cNvSpPr txBox="1">
            <a:spLocks noChangeArrowheads="1"/>
          </p:cNvSpPr>
          <p:nvPr/>
        </p:nvSpPr>
        <p:spPr bwMode="auto">
          <a:xfrm>
            <a:off x="3841750" y="5470525"/>
            <a:ext cx="4540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FF"/>
                </a:solidFill>
                <a:ea typeface="楷体_GB2312" charset="0"/>
              </a:rPr>
              <a:t>5</a:t>
            </a:r>
            <a:r>
              <a:rPr lang="zh-CN" altLang="en-US" sz="4000" b="1">
                <a:solidFill>
                  <a:srgbClr val="FF00FF"/>
                </a:solidFill>
                <a:ea typeface="楷体_GB2312" charset="0"/>
              </a:rPr>
              <a:t>．查找性能的分析</a:t>
            </a:r>
            <a:endParaRPr lang="zh-CN" altLang="en-US"/>
          </a:p>
        </p:txBody>
      </p:sp>
      <p:sp>
        <p:nvSpPr>
          <p:cNvPr id="95243" name="AutoShape 11">
            <a:hlinkClick r:id="rId6"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723941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5234"/>
                                        </p:tgtEl>
                                        <p:attrNameLst>
                                          <p:attrName>style.visibility</p:attrName>
                                        </p:attrNameLst>
                                      </p:cBhvr>
                                      <p:to>
                                        <p:strVal val="visible"/>
                                      </p:to>
                                    </p:set>
                                    <p:anim calcmode="lin" valueType="num">
                                      <p:cBhvr additive="base">
                                        <p:cTn id="7" dur="500" fill="hold"/>
                                        <p:tgtEl>
                                          <p:spTgt spid="95234"/>
                                        </p:tgtEl>
                                        <p:attrNameLst>
                                          <p:attrName>ppt_x</p:attrName>
                                        </p:attrNameLst>
                                      </p:cBhvr>
                                      <p:tavLst>
                                        <p:tav tm="0">
                                          <p:val>
                                            <p:strVal val="#ppt_x"/>
                                          </p:val>
                                        </p:tav>
                                        <p:tav tm="100000">
                                          <p:val>
                                            <p:strVal val="#ppt_x"/>
                                          </p:val>
                                        </p:tav>
                                      </p:tavLst>
                                    </p:anim>
                                    <p:anim calcmode="lin" valueType="num">
                                      <p:cBhvr additive="base">
                                        <p:cTn id="8" dur="500" fill="hold"/>
                                        <p:tgtEl>
                                          <p:spTgt spid="95234"/>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3" presetClass="entr" presetSubtype="5" fill="hold" grpId="0" nodeType="afterEffect">
                                  <p:stCondLst>
                                    <p:cond delay="0"/>
                                  </p:stCondLst>
                                  <p:childTnLst>
                                    <p:set>
                                      <p:cBhvr>
                                        <p:cTn id="11" dur="1" fill="hold">
                                          <p:stCondLst>
                                            <p:cond delay="0"/>
                                          </p:stCondLst>
                                        </p:cTn>
                                        <p:tgtEl>
                                          <p:spTgt spid="95236"/>
                                        </p:tgtEl>
                                        <p:attrNameLst>
                                          <p:attrName>style.visibility</p:attrName>
                                        </p:attrNameLst>
                                      </p:cBhvr>
                                      <p:to>
                                        <p:strVal val="visible"/>
                                      </p:to>
                                    </p:set>
                                    <p:animEffect transition="in" filter="blinds(vertical)">
                                      <p:cBhvr>
                                        <p:cTn id="12" dur="500"/>
                                        <p:tgtEl>
                                          <p:spTgt spid="95236"/>
                                        </p:tgtEl>
                                      </p:cBhvr>
                                    </p:animEffect>
                                  </p:childTnLst>
                                </p:cTn>
                              </p:par>
                            </p:childTnLst>
                          </p:cTn>
                        </p:par>
                        <p:par>
                          <p:cTn id="13" fill="hold" nodeType="afterGroup">
                            <p:stCondLst>
                              <p:cond delay="1000"/>
                            </p:stCondLst>
                            <p:childTnLst>
                              <p:par>
                                <p:cTn id="14" presetID="3" presetClass="entr" presetSubtype="5" fill="hold" grpId="0" nodeType="afterEffect">
                                  <p:stCondLst>
                                    <p:cond delay="0"/>
                                  </p:stCondLst>
                                  <p:childTnLst>
                                    <p:set>
                                      <p:cBhvr>
                                        <p:cTn id="15" dur="1" fill="hold">
                                          <p:stCondLst>
                                            <p:cond delay="0"/>
                                          </p:stCondLst>
                                        </p:cTn>
                                        <p:tgtEl>
                                          <p:spTgt spid="95238"/>
                                        </p:tgtEl>
                                        <p:attrNameLst>
                                          <p:attrName>style.visibility</p:attrName>
                                        </p:attrNameLst>
                                      </p:cBhvr>
                                      <p:to>
                                        <p:strVal val="visible"/>
                                      </p:to>
                                    </p:set>
                                    <p:animEffect transition="in" filter="blinds(vertical)">
                                      <p:cBhvr>
                                        <p:cTn id="16" dur="500"/>
                                        <p:tgtEl>
                                          <p:spTgt spid="95238"/>
                                        </p:tgtEl>
                                      </p:cBhvr>
                                    </p:animEffect>
                                  </p:childTnLst>
                                </p:cTn>
                              </p:par>
                            </p:childTnLst>
                          </p:cTn>
                        </p:par>
                        <p:par>
                          <p:cTn id="17" fill="hold" nodeType="afterGroup">
                            <p:stCondLst>
                              <p:cond delay="1500"/>
                            </p:stCondLst>
                            <p:childTnLst>
                              <p:par>
                                <p:cTn id="18" presetID="3" presetClass="entr" presetSubtype="5" fill="hold" grpId="0" nodeType="afterEffect">
                                  <p:stCondLst>
                                    <p:cond delay="0"/>
                                  </p:stCondLst>
                                  <p:childTnLst>
                                    <p:set>
                                      <p:cBhvr>
                                        <p:cTn id="19" dur="1" fill="hold">
                                          <p:stCondLst>
                                            <p:cond delay="0"/>
                                          </p:stCondLst>
                                        </p:cTn>
                                        <p:tgtEl>
                                          <p:spTgt spid="95239"/>
                                        </p:tgtEl>
                                        <p:attrNameLst>
                                          <p:attrName>style.visibility</p:attrName>
                                        </p:attrNameLst>
                                      </p:cBhvr>
                                      <p:to>
                                        <p:strVal val="visible"/>
                                      </p:to>
                                    </p:set>
                                    <p:animEffect transition="in" filter="blinds(vertical)">
                                      <p:cBhvr>
                                        <p:cTn id="20" dur="500"/>
                                        <p:tgtEl>
                                          <p:spTgt spid="95239"/>
                                        </p:tgtEl>
                                      </p:cBhvr>
                                    </p:animEffect>
                                  </p:childTnLst>
                                </p:cTn>
                              </p:par>
                            </p:childTnLst>
                          </p:cTn>
                        </p:par>
                        <p:par>
                          <p:cTn id="21" fill="hold" nodeType="afterGroup">
                            <p:stCondLst>
                              <p:cond delay="2000"/>
                            </p:stCondLst>
                            <p:childTnLst>
                              <p:par>
                                <p:cTn id="22" presetID="3" presetClass="entr" presetSubtype="5" fill="hold" grpId="0" nodeType="afterEffect">
                                  <p:stCondLst>
                                    <p:cond delay="0"/>
                                  </p:stCondLst>
                                  <p:childTnLst>
                                    <p:set>
                                      <p:cBhvr>
                                        <p:cTn id="23" dur="1" fill="hold">
                                          <p:stCondLst>
                                            <p:cond delay="0"/>
                                          </p:stCondLst>
                                        </p:cTn>
                                        <p:tgtEl>
                                          <p:spTgt spid="95240"/>
                                        </p:tgtEl>
                                        <p:attrNameLst>
                                          <p:attrName>style.visibility</p:attrName>
                                        </p:attrNameLst>
                                      </p:cBhvr>
                                      <p:to>
                                        <p:strVal val="visible"/>
                                      </p:to>
                                    </p:set>
                                    <p:animEffect transition="in" filter="blinds(vertical)">
                                      <p:cBhvr>
                                        <p:cTn id="24" dur="500"/>
                                        <p:tgtEl>
                                          <p:spTgt spid="95240"/>
                                        </p:tgtEl>
                                      </p:cBhvr>
                                    </p:animEffect>
                                  </p:childTnLst>
                                </p:cTn>
                              </p:par>
                            </p:childTnLst>
                          </p:cTn>
                        </p:par>
                        <p:par>
                          <p:cTn id="25" fill="hold" nodeType="afterGroup">
                            <p:stCondLst>
                              <p:cond delay="2500"/>
                            </p:stCondLst>
                            <p:childTnLst>
                              <p:par>
                                <p:cTn id="26" presetID="3" presetClass="entr" presetSubtype="5" fill="hold" grpId="0" nodeType="afterEffect">
                                  <p:stCondLst>
                                    <p:cond delay="0"/>
                                  </p:stCondLst>
                                  <p:childTnLst>
                                    <p:set>
                                      <p:cBhvr>
                                        <p:cTn id="27" dur="1" fill="hold">
                                          <p:stCondLst>
                                            <p:cond delay="0"/>
                                          </p:stCondLst>
                                        </p:cTn>
                                        <p:tgtEl>
                                          <p:spTgt spid="95241"/>
                                        </p:tgtEl>
                                        <p:attrNameLst>
                                          <p:attrName>style.visibility</p:attrName>
                                        </p:attrNameLst>
                                      </p:cBhvr>
                                      <p:to>
                                        <p:strVal val="visible"/>
                                      </p:to>
                                    </p:set>
                                    <p:animEffect transition="in" filter="blinds(vertical)">
                                      <p:cBhvr>
                                        <p:cTn id="28" dur="500"/>
                                        <p:tgtEl>
                                          <p:spTgt spid="95241"/>
                                        </p:tgtEl>
                                      </p:cBhvr>
                                    </p:animEffect>
                                  </p:childTnLst>
                                </p:cTn>
                              </p:par>
                            </p:childTnLst>
                          </p:cTn>
                        </p:par>
                        <p:par>
                          <p:cTn id="29" fill="hold" nodeType="afterGroup">
                            <p:stCondLst>
                              <p:cond delay="3000"/>
                            </p:stCondLst>
                            <p:childTnLst>
                              <p:par>
                                <p:cTn id="30" presetID="2" presetClass="entr" presetSubtype="6" fill="hold" grpId="0" nodeType="afterEffect">
                                  <p:stCondLst>
                                    <p:cond delay="0"/>
                                  </p:stCondLst>
                                  <p:childTnLst>
                                    <p:set>
                                      <p:cBhvr>
                                        <p:cTn id="31" dur="1" fill="hold">
                                          <p:stCondLst>
                                            <p:cond delay="0"/>
                                          </p:stCondLst>
                                        </p:cTn>
                                        <p:tgtEl>
                                          <p:spTgt spid="95243"/>
                                        </p:tgtEl>
                                        <p:attrNameLst>
                                          <p:attrName>style.visibility</p:attrName>
                                        </p:attrNameLst>
                                      </p:cBhvr>
                                      <p:to>
                                        <p:strVal val="visible"/>
                                      </p:to>
                                    </p:set>
                                    <p:anim calcmode="lin" valueType="num">
                                      <p:cBhvr additive="base">
                                        <p:cTn id="32" dur="500" fill="hold"/>
                                        <p:tgtEl>
                                          <p:spTgt spid="95243"/>
                                        </p:tgtEl>
                                        <p:attrNameLst>
                                          <p:attrName>ppt_x</p:attrName>
                                        </p:attrNameLst>
                                      </p:cBhvr>
                                      <p:tavLst>
                                        <p:tav tm="0">
                                          <p:val>
                                            <p:strVal val="1+#ppt_w/2"/>
                                          </p:val>
                                        </p:tav>
                                        <p:tav tm="100000">
                                          <p:val>
                                            <p:strVal val="#ppt_x"/>
                                          </p:val>
                                        </p:tav>
                                      </p:tavLst>
                                    </p:anim>
                                    <p:anim calcmode="lin" valueType="num">
                                      <p:cBhvr additive="base">
                                        <p:cTn id="33" dur="500" fill="hold"/>
                                        <p:tgtEl>
                                          <p:spTgt spid="952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4" grpId="0" autoUpdateAnimBg="0"/>
      <p:bldP spid="95236" grpId="0" autoUpdateAnimBg="0"/>
      <p:bldP spid="95238" grpId="0" autoUpdateAnimBg="0"/>
      <p:bldP spid="95239" grpId="0" autoUpdateAnimBg="0"/>
      <p:bldP spid="95240" grpId="0" autoUpdateAnimBg="0"/>
      <p:bldP spid="95241" grpId="0" autoUpdateAnimBg="0"/>
      <p:bldP spid="95243"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Text Box 3"/>
          <p:cNvSpPr txBox="1">
            <a:spLocks noChangeArrowheads="1"/>
          </p:cNvSpPr>
          <p:nvPr/>
        </p:nvSpPr>
        <p:spPr bwMode="auto">
          <a:xfrm>
            <a:off x="304800" y="381000"/>
            <a:ext cx="38401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400" b="1">
                <a:solidFill>
                  <a:srgbClr val="FF00FF"/>
                </a:solidFill>
                <a:ea typeface="楷体_GB2312" charset="0"/>
              </a:rPr>
              <a:t>1</a:t>
            </a:r>
            <a:r>
              <a:rPr lang="zh-CN" altLang="en-US" sz="4400" b="1">
                <a:solidFill>
                  <a:srgbClr val="FF00FF"/>
                </a:solidFill>
                <a:ea typeface="楷体_GB2312" charset="0"/>
              </a:rPr>
              <a:t>．</a:t>
            </a:r>
            <a:r>
              <a:rPr lang="en-US" altLang="zh-CN" sz="4400" b="1">
                <a:solidFill>
                  <a:srgbClr val="FF00FF"/>
                </a:solidFill>
                <a:ea typeface="楷体_GB2312" charset="0"/>
              </a:rPr>
              <a:t>B-</a:t>
            </a:r>
            <a:r>
              <a:rPr lang="zh-CN" altLang="en-US" sz="4400" b="1">
                <a:solidFill>
                  <a:srgbClr val="FF00FF"/>
                </a:solidFill>
                <a:ea typeface="楷体_GB2312" charset="0"/>
              </a:rPr>
              <a:t>树的定义</a:t>
            </a:r>
            <a:endParaRPr lang="zh-CN" altLang="en-US"/>
          </a:p>
        </p:txBody>
      </p:sp>
      <p:sp>
        <p:nvSpPr>
          <p:cNvPr id="94215" name="Text Box 7"/>
          <p:cNvSpPr txBox="1">
            <a:spLocks noChangeArrowheads="1"/>
          </p:cNvSpPr>
          <p:nvPr/>
        </p:nvSpPr>
        <p:spPr bwMode="auto">
          <a:xfrm>
            <a:off x="685800" y="1312863"/>
            <a:ext cx="7467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0000"/>
              </a:lnSpc>
            </a:pPr>
            <a:r>
              <a:rPr lang="en-US" altLang="zh-CN" sz="3600">
                <a:solidFill>
                  <a:srgbClr val="A50021"/>
                </a:solidFill>
                <a:ea typeface="楷体_GB2312" charset="0"/>
              </a:rPr>
              <a:t>B-</a:t>
            </a:r>
            <a:r>
              <a:rPr lang="zh-CN" altLang="en-US" sz="3600">
                <a:solidFill>
                  <a:srgbClr val="A50021"/>
                </a:solidFill>
                <a:ea typeface="楷体_GB2312" charset="0"/>
              </a:rPr>
              <a:t>树是一种 </a:t>
            </a:r>
            <a:r>
              <a:rPr lang="zh-CN" altLang="en-US" sz="4000" b="1">
                <a:solidFill>
                  <a:srgbClr val="FF00FF"/>
                </a:solidFill>
              </a:rPr>
              <a:t>平衡</a:t>
            </a:r>
            <a:r>
              <a:rPr lang="zh-CN" altLang="en-US" sz="3600" b="1">
                <a:solidFill>
                  <a:srgbClr val="FF00FF"/>
                </a:solidFill>
                <a:ea typeface="楷体_GB2312" charset="0"/>
              </a:rPr>
              <a:t> </a:t>
            </a:r>
            <a:r>
              <a:rPr lang="zh-CN" altLang="en-US" sz="3600">
                <a:solidFill>
                  <a:srgbClr val="A50021"/>
                </a:solidFill>
                <a:ea typeface="楷体_GB2312" charset="0"/>
              </a:rPr>
              <a:t>的 </a:t>
            </a:r>
            <a:r>
              <a:rPr lang="zh-CN" altLang="en-US" sz="4000" b="1">
                <a:solidFill>
                  <a:srgbClr val="FF00FF"/>
                </a:solidFill>
              </a:rPr>
              <a:t>多路</a:t>
            </a:r>
            <a:r>
              <a:rPr lang="zh-CN" altLang="en-US" sz="3600" b="1">
                <a:solidFill>
                  <a:srgbClr val="FF00FF"/>
                </a:solidFill>
                <a:ea typeface="楷体_GB2312" charset="0"/>
              </a:rPr>
              <a:t> </a:t>
            </a:r>
            <a:r>
              <a:rPr lang="zh-CN" altLang="en-US" sz="4000" b="1">
                <a:solidFill>
                  <a:srgbClr val="FF00FF"/>
                </a:solidFill>
              </a:rPr>
              <a:t>查找</a:t>
            </a:r>
            <a:r>
              <a:rPr lang="zh-CN" altLang="en-US" sz="3600" b="1">
                <a:solidFill>
                  <a:srgbClr val="FF00FF"/>
                </a:solidFill>
                <a:ea typeface="楷体_GB2312" charset="0"/>
              </a:rPr>
              <a:t> </a:t>
            </a:r>
            <a:r>
              <a:rPr lang="zh-CN" altLang="en-US" sz="3600">
                <a:solidFill>
                  <a:srgbClr val="A50021"/>
                </a:solidFill>
                <a:ea typeface="楷体_GB2312" charset="0"/>
              </a:rPr>
              <a:t>树：</a:t>
            </a:r>
            <a:endParaRPr lang="zh-CN" altLang="en-US"/>
          </a:p>
        </p:txBody>
      </p:sp>
      <p:sp>
        <p:nvSpPr>
          <p:cNvPr id="94220" name="Rectangle 12">
            <a:hlinkClick r:id="rId3" action="ppaction://hlinksldjump"/>
          </p:cNvPr>
          <p:cNvSpPr>
            <a:spLocks noChangeArrowheads="1"/>
          </p:cNvSpPr>
          <p:nvPr/>
        </p:nvSpPr>
        <p:spPr bwMode="auto">
          <a:xfrm>
            <a:off x="5943600" y="1447800"/>
            <a:ext cx="1143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94221" name="Rectangle 13">
            <a:hlinkClick r:id="rId4" action="ppaction://hlinksldjump"/>
          </p:cNvPr>
          <p:cNvSpPr>
            <a:spLocks noChangeArrowheads="1"/>
          </p:cNvSpPr>
          <p:nvPr/>
        </p:nvSpPr>
        <p:spPr bwMode="auto">
          <a:xfrm>
            <a:off x="3124200" y="1447800"/>
            <a:ext cx="1143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aphicFrame>
        <p:nvGraphicFramePr>
          <p:cNvPr id="94223" name="Object 15"/>
          <p:cNvGraphicFramePr>
            <a:graphicFrameLocks noChangeAspect="1"/>
          </p:cNvGraphicFramePr>
          <p:nvPr/>
        </p:nvGraphicFramePr>
        <p:xfrm>
          <a:off x="0" y="2362200"/>
          <a:ext cx="9144000" cy="3438525"/>
        </p:xfrm>
        <a:graphic>
          <a:graphicData uri="http://schemas.openxmlformats.org/presentationml/2006/ole">
            <mc:AlternateContent xmlns:mc="http://schemas.openxmlformats.org/markup-compatibility/2006">
              <mc:Choice xmlns:v="urn:schemas-microsoft-com:vml" Requires="v">
                <p:oleObj spid="_x0000_s1389570" name="文档" r:id="rId5" imgW="9253080" imgH="2674800" progId="Word.Document.8">
                  <p:embed/>
                </p:oleObj>
              </mc:Choice>
              <mc:Fallback>
                <p:oleObj name="文档" r:id="rId5" imgW="9253080" imgH="267480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362200"/>
                        <a:ext cx="9144000" cy="343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94224" name="Rectangle 16">
            <a:hlinkClick r:id="" action="ppaction://hlinkshowjump?jump=nextslide"/>
          </p:cNvPr>
          <p:cNvSpPr>
            <a:spLocks noChangeArrowheads="1"/>
          </p:cNvSpPr>
          <p:nvPr/>
        </p:nvSpPr>
        <p:spPr bwMode="auto">
          <a:xfrm>
            <a:off x="4800600" y="1447800"/>
            <a:ext cx="1143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94227" name="AutoShape 19">
            <a:hlinkClick r:id="rId7" action="ppaction://hlinksldjump" highlightClick="1"/>
          </p:cNvPr>
          <p:cNvSpPr>
            <a:spLocks noChangeArrowheads="1"/>
          </p:cNvSpPr>
          <p:nvPr/>
        </p:nvSpPr>
        <p:spPr bwMode="auto">
          <a:xfrm>
            <a:off x="8458200" y="62484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598018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94211"/>
                                        </p:tgtEl>
                                        <p:attrNameLst>
                                          <p:attrName>style.visibility</p:attrName>
                                        </p:attrNameLst>
                                      </p:cBhvr>
                                      <p:to>
                                        <p:strVal val="visible"/>
                                      </p:to>
                                    </p:set>
                                    <p:animEffect transition="in" filter="blinds(vertical)">
                                      <p:cBhvr>
                                        <p:cTn id="7" dur="500"/>
                                        <p:tgtEl>
                                          <p:spTgt spid="942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215"/>
                                        </p:tgtEl>
                                        <p:attrNameLst>
                                          <p:attrName>style.visibility</p:attrName>
                                        </p:attrNameLst>
                                      </p:cBhvr>
                                      <p:to>
                                        <p:strVal val="visible"/>
                                      </p:to>
                                    </p:set>
                                    <p:animEffect transition="in" filter="wipe(left)">
                                      <p:cBhvr>
                                        <p:cTn id="12" dur="500"/>
                                        <p:tgtEl>
                                          <p:spTgt spid="942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94223"/>
                                        </p:tgtEl>
                                        <p:attrNameLst>
                                          <p:attrName>style.visibility</p:attrName>
                                        </p:attrNameLst>
                                      </p:cBhvr>
                                      <p:to>
                                        <p:strVal val="visible"/>
                                      </p:to>
                                    </p:set>
                                    <p:animEffect transition="in" filter="wipe(up)">
                                      <p:cBhvr>
                                        <p:cTn id="17" dur="500"/>
                                        <p:tgtEl>
                                          <p:spTgt spid="94223"/>
                                        </p:tgtEl>
                                      </p:cBhvr>
                                    </p:animEffect>
                                  </p:childTnLst>
                                </p:cTn>
                              </p:par>
                            </p:childTnLst>
                          </p:cTn>
                        </p:par>
                        <p:par>
                          <p:cTn id="18" fill="hold" nodeType="afterGroup">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94227"/>
                                        </p:tgtEl>
                                        <p:attrNameLst>
                                          <p:attrName>style.visibility</p:attrName>
                                        </p:attrNameLst>
                                      </p:cBhvr>
                                      <p:to>
                                        <p:strVal val="visible"/>
                                      </p:to>
                                    </p:set>
                                    <p:anim calcmode="lin" valueType="num">
                                      <p:cBhvr additive="base">
                                        <p:cTn id="21" dur="500" fill="hold"/>
                                        <p:tgtEl>
                                          <p:spTgt spid="94227"/>
                                        </p:tgtEl>
                                        <p:attrNameLst>
                                          <p:attrName>ppt_x</p:attrName>
                                        </p:attrNameLst>
                                      </p:cBhvr>
                                      <p:tavLst>
                                        <p:tav tm="0">
                                          <p:val>
                                            <p:strVal val="1+#ppt_w/2"/>
                                          </p:val>
                                        </p:tav>
                                        <p:tav tm="100000">
                                          <p:val>
                                            <p:strVal val="#ppt_x"/>
                                          </p:val>
                                        </p:tav>
                                      </p:tavLst>
                                    </p:anim>
                                    <p:anim calcmode="lin" valueType="num">
                                      <p:cBhvr additive="base">
                                        <p:cTn id="22" dur="500" fill="hold"/>
                                        <p:tgtEl>
                                          <p:spTgt spid="942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autoUpdateAnimBg="0"/>
      <p:bldP spid="94215" grpId="0" autoUpdateAnimBg="0"/>
      <p:bldP spid="94227"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3" name="Text Box 2051"/>
          <p:cNvSpPr txBox="1">
            <a:spLocks noChangeArrowheads="1"/>
          </p:cNvSpPr>
          <p:nvPr/>
        </p:nvSpPr>
        <p:spPr bwMode="auto">
          <a:xfrm>
            <a:off x="304800" y="914400"/>
            <a:ext cx="8534400" cy="4221163"/>
          </a:xfrm>
          <a:prstGeom prst="rect">
            <a:avLst/>
          </a:prstGeom>
          <a:solidFill>
            <a:srgbClr val="FFFFFF"/>
          </a:solidFill>
          <a:ln w="9525">
            <a:solidFill>
              <a:srgbClr val="9933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50000"/>
              </a:lnSpc>
            </a:pPr>
            <a:r>
              <a:rPr lang="en-US" altLang="zh-CN" sz="3600">
                <a:ea typeface="楷体_GB2312" charset="0"/>
              </a:rPr>
              <a:t>  </a:t>
            </a:r>
            <a:r>
              <a:rPr lang="zh-CN" altLang="en-US" sz="3600">
                <a:solidFill>
                  <a:srgbClr val="A50021"/>
                </a:solidFill>
                <a:ea typeface="楷体_GB2312" charset="0"/>
              </a:rPr>
              <a:t>在</a:t>
            </a:r>
            <a:r>
              <a:rPr lang="zh-CN" altLang="en-US" sz="3600" b="1" i="1">
                <a:solidFill>
                  <a:srgbClr val="A50021"/>
                </a:solidFill>
                <a:ea typeface="楷体_GB2312" charset="0"/>
              </a:rPr>
              <a:t> </a:t>
            </a:r>
            <a:r>
              <a:rPr lang="en-US" altLang="zh-CN" sz="3600" b="1" i="1">
                <a:solidFill>
                  <a:srgbClr val="A50021"/>
                </a:solidFill>
                <a:ea typeface="楷体_GB2312" charset="0"/>
              </a:rPr>
              <a:t>m</a:t>
            </a:r>
            <a:r>
              <a:rPr lang="en-US" altLang="zh-CN" sz="3600">
                <a:solidFill>
                  <a:srgbClr val="A50021"/>
                </a:solidFill>
                <a:ea typeface="楷体_GB2312" charset="0"/>
              </a:rPr>
              <a:t> </a:t>
            </a:r>
            <a:r>
              <a:rPr lang="zh-CN" altLang="en-US" sz="3600">
                <a:solidFill>
                  <a:srgbClr val="A50021"/>
                </a:solidFill>
                <a:ea typeface="楷体_GB2312" charset="0"/>
              </a:rPr>
              <a:t>阶的</a:t>
            </a:r>
            <a:r>
              <a:rPr lang="en-US" altLang="zh-CN" sz="3600">
                <a:solidFill>
                  <a:srgbClr val="A50021"/>
                </a:solidFill>
                <a:ea typeface="楷体_GB2312" charset="0"/>
              </a:rPr>
              <a:t>B-</a:t>
            </a:r>
            <a:r>
              <a:rPr lang="zh-CN" altLang="en-US" sz="3600">
                <a:solidFill>
                  <a:srgbClr val="A50021"/>
                </a:solidFill>
                <a:ea typeface="楷体_GB2312" charset="0"/>
              </a:rPr>
              <a:t>树上，每个非终端结点可能含有：</a:t>
            </a:r>
          </a:p>
          <a:p>
            <a:pPr>
              <a:lnSpc>
                <a:spcPct val="150000"/>
              </a:lnSpc>
            </a:pPr>
            <a:r>
              <a:rPr lang="zh-CN" altLang="en-US" sz="3600">
                <a:solidFill>
                  <a:srgbClr val="A50021"/>
                </a:solidFill>
                <a:ea typeface="楷体_GB2312" charset="0"/>
              </a:rPr>
              <a:t>   </a:t>
            </a:r>
            <a:r>
              <a:rPr lang="zh-CN" altLang="en-US" sz="3600" b="1" i="1">
                <a:solidFill>
                  <a:srgbClr val="A50021"/>
                </a:solidFill>
                <a:ea typeface="楷体_GB2312" charset="0"/>
              </a:rPr>
              <a:t> </a:t>
            </a:r>
            <a:r>
              <a:rPr lang="en-US" altLang="zh-CN" sz="3600" b="1" i="1">
                <a:solidFill>
                  <a:srgbClr val="A50021"/>
                </a:solidFill>
                <a:ea typeface="楷体_GB2312" charset="0"/>
              </a:rPr>
              <a:t>n</a:t>
            </a:r>
            <a:r>
              <a:rPr lang="en-US" altLang="zh-CN" sz="3600">
                <a:solidFill>
                  <a:srgbClr val="A50021"/>
                </a:solidFill>
                <a:ea typeface="楷体_GB2312" charset="0"/>
              </a:rPr>
              <a:t> </a:t>
            </a:r>
            <a:r>
              <a:rPr lang="zh-CN" altLang="en-US" sz="3600">
                <a:solidFill>
                  <a:srgbClr val="A50021"/>
                </a:solidFill>
                <a:ea typeface="楷体_GB2312" charset="0"/>
              </a:rPr>
              <a:t>个</a:t>
            </a:r>
            <a:r>
              <a:rPr lang="zh-CN" altLang="en-US" sz="3600" b="1">
                <a:solidFill>
                  <a:srgbClr val="3333FF"/>
                </a:solidFill>
                <a:ea typeface="楷体_GB2312" charset="0"/>
              </a:rPr>
              <a:t>关键字 </a:t>
            </a:r>
            <a:r>
              <a:rPr lang="en-US" altLang="zh-CN" sz="3600" b="1">
                <a:solidFill>
                  <a:srgbClr val="A50021"/>
                </a:solidFill>
                <a:ea typeface="楷体_GB2312" charset="0"/>
              </a:rPr>
              <a:t>K</a:t>
            </a:r>
            <a:r>
              <a:rPr lang="en-US" altLang="zh-CN" sz="3600" b="1" baseline="-25000">
                <a:solidFill>
                  <a:srgbClr val="A50021"/>
                </a:solidFill>
                <a:ea typeface="楷体_GB2312" charset="0"/>
              </a:rPr>
              <a:t>i</a:t>
            </a:r>
            <a:r>
              <a:rPr lang="zh-CN" altLang="en-US" sz="3600">
                <a:solidFill>
                  <a:srgbClr val="A50021"/>
                </a:solidFill>
                <a:ea typeface="楷体_GB2312" charset="0"/>
              </a:rPr>
              <a:t>（</a:t>
            </a:r>
            <a:r>
              <a:rPr lang="en-US" altLang="zh-CN" sz="3600" i="1">
                <a:solidFill>
                  <a:srgbClr val="A50021"/>
                </a:solidFill>
                <a:ea typeface="楷体_GB2312" charset="0"/>
              </a:rPr>
              <a:t>1</a:t>
            </a:r>
            <a:r>
              <a:rPr lang="en-US" altLang="zh-CN" sz="3600">
                <a:solidFill>
                  <a:srgbClr val="A50021"/>
                </a:solidFill>
                <a:ea typeface="楷体_GB2312" charset="0"/>
              </a:rPr>
              <a:t>≤ </a:t>
            </a:r>
            <a:r>
              <a:rPr lang="en-US" altLang="zh-CN" sz="3600" b="1" i="1">
                <a:solidFill>
                  <a:srgbClr val="A50021"/>
                </a:solidFill>
                <a:ea typeface="楷体_GB2312" charset="0"/>
              </a:rPr>
              <a:t>i</a:t>
            </a:r>
            <a:r>
              <a:rPr lang="en-US" altLang="zh-CN" sz="3600">
                <a:solidFill>
                  <a:srgbClr val="A50021"/>
                </a:solidFill>
                <a:ea typeface="楷体_GB2312" charset="0"/>
              </a:rPr>
              <a:t>≤</a:t>
            </a:r>
            <a:r>
              <a:rPr lang="en-US" altLang="zh-CN" sz="3600" b="1" i="1">
                <a:solidFill>
                  <a:srgbClr val="A50021"/>
                </a:solidFill>
                <a:ea typeface="楷体_GB2312" charset="0"/>
              </a:rPr>
              <a:t>n</a:t>
            </a:r>
            <a:r>
              <a:rPr lang="zh-CN" altLang="en-US" sz="3600">
                <a:solidFill>
                  <a:srgbClr val="A50021"/>
                </a:solidFill>
                <a:latin typeface="楷体_GB2312" charset="0"/>
                <a:ea typeface="楷体_GB2312" charset="0"/>
              </a:rPr>
              <a:t>） </a:t>
            </a:r>
            <a:r>
              <a:rPr lang="en-US" altLang="zh-CN" sz="3600" i="1">
                <a:solidFill>
                  <a:srgbClr val="A50021"/>
                </a:solidFill>
                <a:ea typeface="楷体_GB2312" charset="0"/>
              </a:rPr>
              <a:t>n&lt;m</a:t>
            </a:r>
            <a:endParaRPr lang="en-US" altLang="zh-CN" sz="3600">
              <a:solidFill>
                <a:srgbClr val="A50021"/>
              </a:solidFill>
              <a:ea typeface="楷体_GB2312" charset="0"/>
            </a:endParaRPr>
          </a:p>
          <a:p>
            <a:pPr>
              <a:lnSpc>
                <a:spcPct val="150000"/>
              </a:lnSpc>
            </a:pPr>
            <a:r>
              <a:rPr lang="en-US" altLang="zh-CN" sz="3600">
                <a:solidFill>
                  <a:srgbClr val="A50021"/>
                </a:solidFill>
                <a:ea typeface="楷体_GB2312" charset="0"/>
              </a:rPr>
              <a:t>   </a:t>
            </a:r>
            <a:r>
              <a:rPr lang="en-US" altLang="zh-CN" sz="3600" b="1" i="1">
                <a:solidFill>
                  <a:srgbClr val="A50021"/>
                </a:solidFill>
                <a:ea typeface="楷体_GB2312" charset="0"/>
              </a:rPr>
              <a:t> n</a:t>
            </a:r>
            <a:r>
              <a:rPr lang="en-US" altLang="zh-CN" sz="3600">
                <a:solidFill>
                  <a:srgbClr val="A50021"/>
                </a:solidFill>
                <a:ea typeface="楷体_GB2312" charset="0"/>
              </a:rPr>
              <a:t> </a:t>
            </a:r>
            <a:r>
              <a:rPr lang="zh-CN" altLang="en-US" sz="3600">
                <a:solidFill>
                  <a:srgbClr val="A50021"/>
                </a:solidFill>
                <a:ea typeface="楷体_GB2312" charset="0"/>
              </a:rPr>
              <a:t>个</a:t>
            </a:r>
            <a:r>
              <a:rPr lang="zh-CN" altLang="en-US" sz="3600" b="1">
                <a:solidFill>
                  <a:srgbClr val="3333FF"/>
                </a:solidFill>
                <a:ea typeface="楷体_GB2312" charset="0"/>
              </a:rPr>
              <a:t>指向记录的指针 </a:t>
            </a:r>
            <a:r>
              <a:rPr lang="en-US" altLang="zh-CN" sz="3600" b="1">
                <a:solidFill>
                  <a:srgbClr val="A50021"/>
                </a:solidFill>
                <a:ea typeface="楷体_GB2312" charset="0"/>
              </a:rPr>
              <a:t>D</a:t>
            </a:r>
            <a:r>
              <a:rPr lang="en-US" altLang="zh-CN" sz="3600" b="1" baseline="-25000">
                <a:solidFill>
                  <a:srgbClr val="A50021"/>
                </a:solidFill>
                <a:ea typeface="楷体_GB2312" charset="0"/>
              </a:rPr>
              <a:t>i</a:t>
            </a:r>
            <a:r>
              <a:rPr lang="zh-CN" altLang="en-US" sz="3600">
                <a:solidFill>
                  <a:srgbClr val="A50021"/>
                </a:solidFill>
                <a:ea typeface="楷体_GB2312" charset="0"/>
              </a:rPr>
              <a:t>（</a:t>
            </a:r>
            <a:r>
              <a:rPr lang="en-US" altLang="zh-CN" sz="3600" i="1">
                <a:solidFill>
                  <a:srgbClr val="A50021"/>
                </a:solidFill>
                <a:ea typeface="楷体_GB2312" charset="0"/>
              </a:rPr>
              <a:t>1≤i≤n</a:t>
            </a:r>
            <a:r>
              <a:rPr lang="zh-CN" altLang="en-US" sz="3600">
                <a:solidFill>
                  <a:srgbClr val="A50021"/>
                </a:solidFill>
                <a:ea typeface="楷体_GB2312" charset="0"/>
              </a:rPr>
              <a:t>）</a:t>
            </a:r>
            <a:endParaRPr lang="zh-CN" altLang="en-US" sz="3600" baseline="-25000">
              <a:solidFill>
                <a:srgbClr val="A50021"/>
              </a:solidFill>
              <a:ea typeface="楷体_GB2312" charset="0"/>
            </a:endParaRPr>
          </a:p>
          <a:p>
            <a:pPr>
              <a:lnSpc>
                <a:spcPct val="150000"/>
              </a:lnSpc>
            </a:pPr>
            <a:r>
              <a:rPr lang="zh-CN" altLang="en-US" sz="3600">
                <a:solidFill>
                  <a:srgbClr val="A50021"/>
                </a:solidFill>
                <a:ea typeface="楷体_GB2312" charset="0"/>
              </a:rPr>
              <a:t>    </a:t>
            </a:r>
            <a:r>
              <a:rPr lang="en-US" altLang="zh-CN" sz="3600" b="1" i="1">
                <a:solidFill>
                  <a:srgbClr val="A50021"/>
                </a:solidFill>
                <a:ea typeface="楷体_GB2312" charset="0"/>
              </a:rPr>
              <a:t>n+1</a:t>
            </a:r>
            <a:r>
              <a:rPr lang="en-US" altLang="zh-CN" sz="3600">
                <a:solidFill>
                  <a:srgbClr val="A50021"/>
                </a:solidFill>
                <a:ea typeface="楷体_GB2312" charset="0"/>
              </a:rPr>
              <a:t> </a:t>
            </a:r>
            <a:r>
              <a:rPr lang="zh-CN" altLang="en-US" sz="3600">
                <a:solidFill>
                  <a:srgbClr val="A50021"/>
                </a:solidFill>
                <a:ea typeface="楷体_GB2312" charset="0"/>
              </a:rPr>
              <a:t>个</a:t>
            </a:r>
            <a:r>
              <a:rPr lang="zh-CN" altLang="en-US" sz="3600" b="1">
                <a:solidFill>
                  <a:srgbClr val="3333FF"/>
                </a:solidFill>
                <a:ea typeface="楷体_GB2312" charset="0"/>
              </a:rPr>
              <a:t>指向子树的指针 </a:t>
            </a:r>
            <a:r>
              <a:rPr lang="en-US" altLang="zh-CN" sz="3600" b="1">
                <a:solidFill>
                  <a:srgbClr val="A50021"/>
                </a:solidFill>
                <a:ea typeface="楷体_GB2312" charset="0"/>
              </a:rPr>
              <a:t>A</a:t>
            </a:r>
            <a:r>
              <a:rPr lang="en-US" altLang="zh-CN" sz="3600" b="1" baseline="-25000">
                <a:solidFill>
                  <a:srgbClr val="A50021"/>
                </a:solidFill>
                <a:ea typeface="楷体_GB2312" charset="0"/>
              </a:rPr>
              <a:t>i</a:t>
            </a:r>
            <a:r>
              <a:rPr lang="zh-CN" altLang="en-US" sz="3600">
                <a:solidFill>
                  <a:srgbClr val="A50021"/>
                </a:solidFill>
                <a:ea typeface="楷体_GB2312" charset="0"/>
              </a:rPr>
              <a:t>（</a:t>
            </a:r>
            <a:r>
              <a:rPr lang="en-US" altLang="zh-CN" sz="3600" i="1">
                <a:solidFill>
                  <a:srgbClr val="A50021"/>
                </a:solidFill>
                <a:ea typeface="楷体_GB2312" charset="0"/>
              </a:rPr>
              <a:t>0≤i≤n</a:t>
            </a:r>
            <a:r>
              <a:rPr lang="zh-CN" altLang="en-US" sz="3600">
                <a:solidFill>
                  <a:srgbClr val="A50021"/>
                </a:solidFill>
                <a:ea typeface="楷体_GB2312" charset="0"/>
              </a:rPr>
              <a:t>）</a:t>
            </a:r>
            <a:endParaRPr lang="zh-CN" altLang="en-US" sz="4000">
              <a:ea typeface="楷体_GB2312" charset="0"/>
            </a:endParaRPr>
          </a:p>
        </p:txBody>
      </p:sp>
      <p:sp>
        <p:nvSpPr>
          <p:cNvPr id="215044" name="Line 2052"/>
          <p:cNvSpPr>
            <a:spLocks noChangeShapeType="1"/>
          </p:cNvSpPr>
          <p:nvPr/>
        </p:nvSpPr>
        <p:spPr bwMode="auto">
          <a:xfrm>
            <a:off x="4343400" y="5638800"/>
            <a:ext cx="1219200" cy="0"/>
          </a:xfrm>
          <a:prstGeom prst="line">
            <a:avLst/>
          </a:prstGeom>
          <a:noFill/>
          <a:ln w="952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045" name="Text Box 2053"/>
          <p:cNvSpPr txBox="1">
            <a:spLocks noChangeArrowheads="1"/>
          </p:cNvSpPr>
          <p:nvPr/>
        </p:nvSpPr>
        <p:spPr bwMode="auto">
          <a:xfrm>
            <a:off x="5613400" y="5257800"/>
            <a:ext cx="292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FF00FF"/>
                </a:solidFill>
              </a:rPr>
              <a:t>多叉树的特性</a:t>
            </a:r>
            <a:endParaRPr lang="zh-CN" altLang="en-US"/>
          </a:p>
        </p:txBody>
      </p:sp>
    </p:spTree>
    <p:extLst>
      <p:ext uri="{BB962C8B-B14F-4D97-AF65-F5344CB8AC3E}">
        <p14:creationId xmlns:p14="http://schemas.microsoft.com/office/powerpoint/2010/main" val="8290769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15043"/>
                                        </p:tgtEl>
                                        <p:attrNameLst>
                                          <p:attrName>style.visibility</p:attrName>
                                        </p:attrNameLst>
                                      </p:cBhvr>
                                      <p:to>
                                        <p:strVal val="visible"/>
                                      </p:to>
                                    </p:set>
                                    <p:animEffect transition="in" filter="strips(downRight)">
                                      <p:cBhvr>
                                        <p:cTn id="7" dur="500"/>
                                        <p:tgtEl>
                                          <p:spTgt spid="2150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215044"/>
                                        </p:tgtEl>
                                        <p:attrNameLst>
                                          <p:attrName>style.visibility</p:attrName>
                                        </p:attrNameLst>
                                      </p:cBhvr>
                                      <p:to>
                                        <p:strVal val="visible"/>
                                      </p:to>
                                    </p:set>
                                    <p:anim calcmode="lin" valueType="num">
                                      <p:cBhvr>
                                        <p:cTn id="12" dur="500" fill="hold"/>
                                        <p:tgtEl>
                                          <p:spTgt spid="215044"/>
                                        </p:tgtEl>
                                        <p:attrNameLst>
                                          <p:attrName>ppt_x</p:attrName>
                                        </p:attrNameLst>
                                      </p:cBhvr>
                                      <p:tavLst>
                                        <p:tav tm="0">
                                          <p:val>
                                            <p:strVal val="#ppt_x-#ppt_w/2"/>
                                          </p:val>
                                        </p:tav>
                                        <p:tav tm="100000">
                                          <p:val>
                                            <p:strVal val="#ppt_x"/>
                                          </p:val>
                                        </p:tav>
                                      </p:tavLst>
                                    </p:anim>
                                    <p:anim calcmode="lin" valueType="num">
                                      <p:cBhvr>
                                        <p:cTn id="13" dur="500" fill="hold"/>
                                        <p:tgtEl>
                                          <p:spTgt spid="215044"/>
                                        </p:tgtEl>
                                        <p:attrNameLst>
                                          <p:attrName>ppt_y</p:attrName>
                                        </p:attrNameLst>
                                      </p:cBhvr>
                                      <p:tavLst>
                                        <p:tav tm="0">
                                          <p:val>
                                            <p:strVal val="#ppt_y"/>
                                          </p:val>
                                        </p:tav>
                                        <p:tav tm="100000">
                                          <p:val>
                                            <p:strVal val="#ppt_y"/>
                                          </p:val>
                                        </p:tav>
                                      </p:tavLst>
                                    </p:anim>
                                    <p:anim calcmode="lin" valueType="num">
                                      <p:cBhvr>
                                        <p:cTn id="14" dur="500" fill="hold"/>
                                        <p:tgtEl>
                                          <p:spTgt spid="215044"/>
                                        </p:tgtEl>
                                        <p:attrNameLst>
                                          <p:attrName>ppt_w</p:attrName>
                                        </p:attrNameLst>
                                      </p:cBhvr>
                                      <p:tavLst>
                                        <p:tav tm="0">
                                          <p:val>
                                            <p:fltVal val="0"/>
                                          </p:val>
                                        </p:tav>
                                        <p:tav tm="100000">
                                          <p:val>
                                            <p:strVal val="#ppt_w"/>
                                          </p:val>
                                        </p:tav>
                                      </p:tavLst>
                                    </p:anim>
                                    <p:anim calcmode="lin" valueType="num">
                                      <p:cBhvr>
                                        <p:cTn id="15" dur="500" fill="hold"/>
                                        <p:tgtEl>
                                          <p:spTgt spid="215044"/>
                                        </p:tgtEl>
                                        <p:attrNameLst>
                                          <p:attrName>ppt_h</p:attrName>
                                        </p:attrNameLst>
                                      </p:cBhvr>
                                      <p:tavLst>
                                        <p:tav tm="0">
                                          <p:val>
                                            <p:strVal val="#ppt_h"/>
                                          </p:val>
                                        </p:tav>
                                        <p:tav tm="100000">
                                          <p:val>
                                            <p:strVal val="#ppt_h"/>
                                          </p:val>
                                        </p:tav>
                                      </p:tavLst>
                                    </p:anim>
                                  </p:childTnLst>
                                </p:cTn>
                              </p:par>
                            </p:childTnLst>
                          </p:cTn>
                        </p:par>
                        <p:par>
                          <p:cTn id="16" fill="hold" nodeType="afterGroup">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215045"/>
                                        </p:tgtEl>
                                        <p:attrNameLst>
                                          <p:attrName>style.visibility</p:attrName>
                                        </p:attrNameLst>
                                      </p:cBhvr>
                                      <p:to>
                                        <p:strVal val="visible"/>
                                      </p:to>
                                    </p:set>
                                    <p:animEffect transition="in" filter="wipe(left)">
                                      <p:cBhvr>
                                        <p:cTn id="19" dur="500"/>
                                        <p:tgtEl>
                                          <p:spTgt spid="215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animBg="1" autoUpdateAnimBg="0"/>
      <p:bldP spid="215044" grpId="0" animBg="1"/>
      <p:bldP spid="215045" grpId="0"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a:hlinkClick r:id="rId2" action="ppaction://hlinksldjump"/>
          </p:cNvPr>
          <p:cNvSpPr txBox="1">
            <a:spLocks noChangeArrowheads="1"/>
          </p:cNvSpPr>
          <p:nvPr/>
        </p:nvSpPr>
        <p:spPr bwMode="auto">
          <a:xfrm>
            <a:off x="228600" y="571500"/>
            <a:ext cx="8909050" cy="594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50000"/>
              </a:lnSpc>
            </a:pPr>
            <a:r>
              <a:rPr lang="en-US" altLang="zh-CN" sz="3200" b="1">
                <a:solidFill>
                  <a:srgbClr val="A50021"/>
                </a:solidFill>
                <a:ea typeface="楷体_GB2312" charset="0"/>
              </a:rPr>
              <a:t>typedef struct BTNode {</a:t>
            </a:r>
          </a:p>
          <a:p>
            <a:pPr>
              <a:lnSpc>
                <a:spcPct val="150000"/>
              </a:lnSpc>
            </a:pPr>
            <a:r>
              <a:rPr lang="en-US" altLang="zh-CN" sz="3200" b="1">
                <a:solidFill>
                  <a:srgbClr val="A50021"/>
                </a:solidFill>
                <a:ea typeface="楷体_GB2312" charset="0"/>
              </a:rPr>
              <a:t>  int </a:t>
            </a:r>
            <a:r>
              <a:rPr lang="en-US" altLang="zh-CN" sz="3200">
                <a:solidFill>
                  <a:srgbClr val="A50021"/>
                </a:solidFill>
                <a:ea typeface="楷体_GB2312" charset="0"/>
              </a:rPr>
              <a:t> </a:t>
            </a:r>
            <a:r>
              <a:rPr lang="en-US" altLang="zh-CN" sz="3200">
                <a:solidFill>
                  <a:srgbClr val="6600CC"/>
                </a:solidFill>
                <a:ea typeface="楷体_GB2312" charset="0"/>
              </a:rPr>
              <a:t>keynum</a:t>
            </a:r>
            <a:r>
              <a:rPr lang="en-US" altLang="zh-CN" sz="3200">
                <a:solidFill>
                  <a:srgbClr val="A50021"/>
                </a:solidFill>
                <a:ea typeface="楷体_GB2312" charset="0"/>
              </a:rPr>
              <a:t>;        // </a:t>
            </a:r>
            <a:r>
              <a:rPr lang="zh-CN" altLang="en-US" sz="3200">
                <a:solidFill>
                  <a:srgbClr val="A50021"/>
                </a:solidFill>
                <a:ea typeface="楷体_GB2312" charset="0"/>
              </a:rPr>
              <a:t>结点中</a:t>
            </a:r>
            <a:r>
              <a:rPr lang="zh-CN" altLang="en-US" sz="3200">
                <a:solidFill>
                  <a:srgbClr val="6600CC"/>
                </a:solidFill>
                <a:ea typeface="楷体_GB2312" charset="0"/>
              </a:rPr>
              <a:t>关键字个数</a:t>
            </a:r>
            <a:r>
              <a:rPr lang="zh-CN" altLang="en-US" sz="3200">
                <a:solidFill>
                  <a:srgbClr val="A50021"/>
                </a:solidFill>
                <a:ea typeface="楷体_GB2312" charset="0"/>
              </a:rPr>
              <a:t>，结点大小</a:t>
            </a:r>
          </a:p>
          <a:p>
            <a:pPr>
              <a:lnSpc>
                <a:spcPct val="150000"/>
              </a:lnSpc>
            </a:pPr>
            <a:r>
              <a:rPr lang="zh-CN" altLang="en-US" sz="3200" b="1">
                <a:solidFill>
                  <a:srgbClr val="A50021"/>
                </a:solidFill>
                <a:ea typeface="楷体_GB2312" charset="0"/>
              </a:rPr>
              <a:t>  </a:t>
            </a:r>
            <a:r>
              <a:rPr lang="en-US" altLang="zh-CN" sz="3200" b="1">
                <a:solidFill>
                  <a:srgbClr val="A50021"/>
                </a:solidFill>
                <a:ea typeface="楷体_GB2312" charset="0"/>
              </a:rPr>
              <a:t>struct </a:t>
            </a:r>
            <a:r>
              <a:rPr lang="en-US" altLang="zh-CN" sz="3200">
                <a:solidFill>
                  <a:srgbClr val="A50021"/>
                </a:solidFill>
                <a:ea typeface="楷体_GB2312" charset="0"/>
              </a:rPr>
              <a:t>BTNode  </a:t>
            </a:r>
            <a:r>
              <a:rPr lang="en-US" altLang="zh-CN" sz="3200" b="1">
                <a:solidFill>
                  <a:srgbClr val="008080"/>
                </a:solidFill>
                <a:ea typeface="楷体_GB2312" charset="0"/>
              </a:rPr>
              <a:t>*</a:t>
            </a:r>
            <a:r>
              <a:rPr lang="en-US" altLang="zh-CN" sz="3200">
                <a:solidFill>
                  <a:srgbClr val="008080"/>
                </a:solidFill>
                <a:ea typeface="楷体_GB2312" charset="0"/>
              </a:rPr>
              <a:t>parent;</a:t>
            </a:r>
            <a:r>
              <a:rPr lang="en-US" altLang="zh-CN" sz="3200">
                <a:solidFill>
                  <a:srgbClr val="A50021"/>
                </a:solidFill>
                <a:ea typeface="楷体_GB2312" charset="0"/>
              </a:rPr>
              <a:t>  </a:t>
            </a:r>
          </a:p>
          <a:p>
            <a:pPr>
              <a:lnSpc>
                <a:spcPct val="150000"/>
              </a:lnSpc>
            </a:pPr>
            <a:r>
              <a:rPr lang="en-US" altLang="zh-CN" sz="3200">
                <a:solidFill>
                  <a:srgbClr val="A50021"/>
                </a:solidFill>
                <a:ea typeface="楷体_GB2312" charset="0"/>
              </a:rPr>
              <a:t>                            // </a:t>
            </a:r>
            <a:r>
              <a:rPr lang="zh-CN" altLang="en-US" sz="3200">
                <a:solidFill>
                  <a:srgbClr val="A50021"/>
                </a:solidFill>
                <a:ea typeface="楷体_GB2312" charset="0"/>
              </a:rPr>
              <a:t>指向</a:t>
            </a:r>
            <a:r>
              <a:rPr lang="zh-CN" altLang="en-US" sz="3200">
                <a:solidFill>
                  <a:srgbClr val="008080"/>
                </a:solidFill>
                <a:ea typeface="楷体_GB2312" charset="0"/>
              </a:rPr>
              <a:t>双亲</a:t>
            </a:r>
            <a:r>
              <a:rPr lang="zh-CN" altLang="en-US" sz="3200">
                <a:solidFill>
                  <a:srgbClr val="A50021"/>
                </a:solidFill>
                <a:ea typeface="楷体_GB2312" charset="0"/>
              </a:rPr>
              <a:t>结点的指针</a:t>
            </a:r>
          </a:p>
          <a:p>
            <a:pPr>
              <a:lnSpc>
                <a:spcPct val="150000"/>
              </a:lnSpc>
            </a:pPr>
            <a:r>
              <a:rPr lang="zh-CN" altLang="en-US" sz="3200">
                <a:solidFill>
                  <a:srgbClr val="A50021"/>
                </a:solidFill>
                <a:ea typeface="楷体_GB2312" charset="0"/>
              </a:rPr>
              <a:t>  </a:t>
            </a:r>
            <a:r>
              <a:rPr lang="en-US" altLang="zh-CN" sz="3200">
                <a:solidFill>
                  <a:srgbClr val="A50021"/>
                </a:solidFill>
                <a:ea typeface="楷体_GB2312" charset="0"/>
              </a:rPr>
              <a:t>KeyType   </a:t>
            </a:r>
            <a:r>
              <a:rPr lang="en-US" altLang="zh-CN" sz="3200">
                <a:solidFill>
                  <a:srgbClr val="FF00FF"/>
                </a:solidFill>
                <a:ea typeface="楷体_GB2312" charset="0"/>
              </a:rPr>
              <a:t>key[m+1];</a:t>
            </a:r>
            <a:r>
              <a:rPr lang="en-US" altLang="zh-CN" sz="3200">
                <a:solidFill>
                  <a:srgbClr val="A50021"/>
                </a:solidFill>
                <a:ea typeface="楷体_GB2312" charset="0"/>
              </a:rPr>
              <a:t> // </a:t>
            </a:r>
            <a:r>
              <a:rPr lang="zh-CN" altLang="en-US" sz="3200">
                <a:solidFill>
                  <a:srgbClr val="A50021"/>
                </a:solidFill>
                <a:ea typeface="楷体_GB2312" charset="0"/>
              </a:rPr>
              <a:t>关键字（</a:t>
            </a:r>
            <a:r>
              <a:rPr lang="en-US" altLang="zh-CN" sz="3200">
                <a:solidFill>
                  <a:srgbClr val="A50021"/>
                </a:solidFill>
                <a:ea typeface="楷体_GB2312" charset="0"/>
              </a:rPr>
              <a:t>0</a:t>
            </a:r>
            <a:r>
              <a:rPr lang="zh-CN" altLang="en-US" sz="3200">
                <a:solidFill>
                  <a:srgbClr val="A50021"/>
                </a:solidFill>
                <a:ea typeface="楷体_GB2312" charset="0"/>
              </a:rPr>
              <a:t>号单元不用）</a:t>
            </a:r>
          </a:p>
          <a:p>
            <a:pPr>
              <a:lnSpc>
                <a:spcPct val="150000"/>
              </a:lnSpc>
            </a:pPr>
            <a:r>
              <a:rPr lang="zh-CN" altLang="en-US" sz="3200">
                <a:solidFill>
                  <a:srgbClr val="A50021"/>
                </a:solidFill>
                <a:ea typeface="楷体_GB2312" charset="0"/>
              </a:rPr>
              <a:t>  </a:t>
            </a:r>
            <a:r>
              <a:rPr lang="en-US" altLang="zh-CN" sz="3200" b="1">
                <a:solidFill>
                  <a:srgbClr val="A50021"/>
                </a:solidFill>
                <a:ea typeface="楷体_GB2312" charset="0"/>
              </a:rPr>
              <a:t>struct</a:t>
            </a:r>
            <a:r>
              <a:rPr lang="en-US" altLang="zh-CN" sz="3200">
                <a:solidFill>
                  <a:srgbClr val="A50021"/>
                </a:solidFill>
                <a:ea typeface="楷体_GB2312" charset="0"/>
              </a:rPr>
              <a:t> BTNode  </a:t>
            </a:r>
            <a:r>
              <a:rPr lang="en-US" altLang="zh-CN" sz="3200" b="1">
                <a:solidFill>
                  <a:srgbClr val="008080"/>
                </a:solidFill>
                <a:ea typeface="楷体_GB2312" charset="0"/>
              </a:rPr>
              <a:t>*</a:t>
            </a:r>
            <a:r>
              <a:rPr lang="en-US" altLang="zh-CN" sz="3200">
                <a:solidFill>
                  <a:srgbClr val="008080"/>
                </a:solidFill>
                <a:ea typeface="楷体_GB2312" charset="0"/>
              </a:rPr>
              <a:t>ptr[m+1];</a:t>
            </a:r>
            <a:r>
              <a:rPr lang="en-US" altLang="zh-CN" sz="3200">
                <a:solidFill>
                  <a:srgbClr val="A50021"/>
                </a:solidFill>
                <a:ea typeface="楷体_GB2312" charset="0"/>
              </a:rPr>
              <a:t> // </a:t>
            </a:r>
            <a:r>
              <a:rPr lang="zh-CN" altLang="en-US" sz="3200">
                <a:solidFill>
                  <a:srgbClr val="008080"/>
                </a:solidFill>
                <a:ea typeface="楷体_GB2312" charset="0"/>
              </a:rPr>
              <a:t>子树</a:t>
            </a:r>
            <a:r>
              <a:rPr lang="zh-CN" altLang="en-US" sz="3200">
                <a:solidFill>
                  <a:srgbClr val="A50021"/>
                </a:solidFill>
                <a:ea typeface="楷体_GB2312" charset="0"/>
              </a:rPr>
              <a:t>指针向量</a:t>
            </a:r>
          </a:p>
          <a:p>
            <a:pPr>
              <a:lnSpc>
                <a:spcPct val="150000"/>
              </a:lnSpc>
            </a:pPr>
            <a:r>
              <a:rPr lang="zh-CN" altLang="en-US" sz="3200">
                <a:solidFill>
                  <a:srgbClr val="A50021"/>
                </a:solidFill>
                <a:ea typeface="楷体_GB2312" charset="0"/>
              </a:rPr>
              <a:t>  </a:t>
            </a:r>
            <a:r>
              <a:rPr lang="en-US" altLang="zh-CN" sz="3200">
                <a:solidFill>
                  <a:srgbClr val="A50021"/>
                </a:solidFill>
                <a:ea typeface="楷体_GB2312" charset="0"/>
              </a:rPr>
              <a:t>Record        </a:t>
            </a:r>
            <a:r>
              <a:rPr lang="en-US" altLang="zh-CN" sz="3200" b="1">
                <a:solidFill>
                  <a:srgbClr val="3333FF"/>
                </a:solidFill>
                <a:ea typeface="楷体_GB2312" charset="0"/>
              </a:rPr>
              <a:t>*</a:t>
            </a:r>
            <a:r>
              <a:rPr lang="en-US" altLang="zh-CN" sz="3200">
                <a:solidFill>
                  <a:srgbClr val="3333FF"/>
                </a:solidFill>
                <a:ea typeface="楷体_GB2312" charset="0"/>
              </a:rPr>
              <a:t>recptr[m+1];</a:t>
            </a:r>
            <a:r>
              <a:rPr lang="en-US" altLang="zh-CN" sz="3200">
                <a:solidFill>
                  <a:srgbClr val="A50021"/>
                </a:solidFill>
                <a:ea typeface="楷体_GB2312" charset="0"/>
              </a:rPr>
              <a:t>  // </a:t>
            </a:r>
            <a:r>
              <a:rPr lang="zh-CN" altLang="en-US" sz="3200">
                <a:solidFill>
                  <a:srgbClr val="3333FF"/>
                </a:solidFill>
                <a:ea typeface="楷体_GB2312" charset="0"/>
              </a:rPr>
              <a:t>记录</a:t>
            </a:r>
            <a:r>
              <a:rPr lang="zh-CN" altLang="en-US" sz="3200">
                <a:solidFill>
                  <a:srgbClr val="A50021"/>
                </a:solidFill>
                <a:ea typeface="楷体_GB2312" charset="0"/>
              </a:rPr>
              <a:t>指针向量</a:t>
            </a:r>
          </a:p>
          <a:p>
            <a:pPr>
              <a:lnSpc>
                <a:spcPct val="150000"/>
              </a:lnSpc>
            </a:pPr>
            <a:r>
              <a:rPr lang="en-US" altLang="zh-CN" sz="3200" b="1">
                <a:solidFill>
                  <a:srgbClr val="A50021"/>
                </a:solidFill>
                <a:ea typeface="楷体_GB2312" charset="0"/>
              </a:rPr>
              <a:t>}</a:t>
            </a:r>
            <a:r>
              <a:rPr lang="en-US" altLang="zh-CN" sz="3200">
                <a:solidFill>
                  <a:srgbClr val="A50021"/>
                </a:solidFill>
                <a:ea typeface="楷体_GB2312" charset="0"/>
              </a:rPr>
              <a:t> BTNode, </a:t>
            </a:r>
            <a:r>
              <a:rPr lang="en-US" altLang="zh-CN" sz="3200" b="1">
                <a:solidFill>
                  <a:srgbClr val="A50021"/>
                </a:solidFill>
                <a:ea typeface="楷体_GB2312" charset="0"/>
              </a:rPr>
              <a:t>*</a:t>
            </a:r>
            <a:r>
              <a:rPr lang="en-US" altLang="zh-CN" sz="3200">
                <a:solidFill>
                  <a:srgbClr val="A50021"/>
                </a:solidFill>
                <a:ea typeface="楷体_GB2312" charset="0"/>
              </a:rPr>
              <a:t>BTree; // B</a:t>
            </a:r>
            <a:r>
              <a:rPr lang="zh-CN" altLang="en-US" sz="3200">
                <a:solidFill>
                  <a:srgbClr val="A50021"/>
                </a:solidFill>
                <a:ea typeface="楷体_GB2312" charset="0"/>
              </a:rPr>
              <a:t>树结点和</a:t>
            </a:r>
            <a:r>
              <a:rPr lang="en-US" altLang="zh-CN" sz="3200">
                <a:solidFill>
                  <a:srgbClr val="A50021"/>
                </a:solidFill>
                <a:ea typeface="楷体_GB2312" charset="0"/>
              </a:rPr>
              <a:t>B</a:t>
            </a:r>
            <a:r>
              <a:rPr lang="zh-CN" altLang="en-US" sz="3200">
                <a:solidFill>
                  <a:srgbClr val="A50021"/>
                </a:solidFill>
                <a:ea typeface="楷体_GB2312" charset="0"/>
              </a:rPr>
              <a:t>树的类型</a:t>
            </a:r>
          </a:p>
        </p:txBody>
      </p:sp>
      <p:sp>
        <p:nvSpPr>
          <p:cNvPr id="98307" name="Text Box 3"/>
          <p:cNvSpPr txBox="1">
            <a:spLocks noChangeArrowheads="1"/>
          </p:cNvSpPr>
          <p:nvPr/>
        </p:nvSpPr>
        <p:spPr bwMode="auto">
          <a:xfrm>
            <a:off x="457200" y="104775"/>
            <a:ext cx="5807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800080"/>
                </a:solidFill>
                <a:ea typeface="隶书" charset="0"/>
              </a:rPr>
              <a:t>B-</a:t>
            </a:r>
            <a:r>
              <a:rPr lang="zh-CN" altLang="en-US" sz="3600" b="1">
                <a:solidFill>
                  <a:srgbClr val="800080"/>
                </a:solidFill>
                <a:latin typeface="隶书" charset="0"/>
                <a:ea typeface="隶书" charset="0"/>
              </a:rPr>
              <a:t>树结构的</a:t>
            </a:r>
            <a:r>
              <a:rPr lang="en-US" altLang="zh-CN" sz="3600" b="1">
                <a:solidFill>
                  <a:srgbClr val="800080"/>
                </a:solidFill>
                <a:ea typeface="隶书" charset="0"/>
              </a:rPr>
              <a:t>C</a:t>
            </a:r>
            <a:r>
              <a:rPr lang="zh-CN" altLang="en-US" sz="3600" b="1">
                <a:solidFill>
                  <a:srgbClr val="800080"/>
                </a:solidFill>
                <a:latin typeface="隶书" charset="0"/>
                <a:ea typeface="隶书" charset="0"/>
              </a:rPr>
              <a:t>语言描述如下</a:t>
            </a:r>
            <a:r>
              <a:rPr lang="en-US" altLang="zh-CN" sz="3600" b="1">
                <a:solidFill>
                  <a:srgbClr val="800080"/>
                </a:solidFill>
                <a:latin typeface="隶书" charset="0"/>
                <a:ea typeface="隶书" charset="0"/>
              </a:rPr>
              <a:t>:</a:t>
            </a:r>
            <a:endParaRPr lang="en-US" altLang="zh-CN" sz="4000"/>
          </a:p>
        </p:txBody>
      </p:sp>
    </p:spTree>
    <p:extLst>
      <p:ext uri="{BB962C8B-B14F-4D97-AF65-F5344CB8AC3E}">
        <p14:creationId xmlns:p14="http://schemas.microsoft.com/office/powerpoint/2010/main" val="98916938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8307"/>
                                        </p:tgtEl>
                                        <p:attrNameLst>
                                          <p:attrName>style.visibility</p:attrName>
                                        </p:attrNameLst>
                                      </p:cBhvr>
                                      <p:to>
                                        <p:strVal val="visible"/>
                                      </p:to>
                                    </p:set>
                                    <p:anim calcmode="lin" valueType="num">
                                      <p:cBhvr additive="base">
                                        <p:cTn id="7" dur="500" fill="hold"/>
                                        <p:tgtEl>
                                          <p:spTgt spid="98307"/>
                                        </p:tgtEl>
                                        <p:attrNameLst>
                                          <p:attrName>ppt_x</p:attrName>
                                        </p:attrNameLst>
                                      </p:cBhvr>
                                      <p:tavLst>
                                        <p:tav tm="0">
                                          <p:val>
                                            <p:strVal val="#ppt_x"/>
                                          </p:val>
                                        </p:tav>
                                        <p:tav tm="100000">
                                          <p:val>
                                            <p:strVal val="#ppt_x"/>
                                          </p:val>
                                        </p:tav>
                                      </p:tavLst>
                                    </p:anim>
                                    <p:anim calcmode="lin" valueType="num">
                                      <p:cBhvr additive="base">
                                        <p:cTn id="8" dur="500" fill="hold"/>
                                        <p:tgtEl>
                                          <p:spTgt spid="98307"/>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98306"/>
                                        </p:tgtEl>
                                        <p:attrNameLst>
                                          <p:attrName>style.visibility</p:attrName>
                                        </p:attrNameLst>
                                      </p:cBhvr>
                                      <p:to>
                                        <p:strVal val="visible"/>
                                      </p:to>
                                    </p:set>
                                    <p:animEffect transition="in" filter="strips(downRight)">
                                      <p:cBhvr>
                                        <p:cTn id="13" dur="500"/>
                                        <p:tgtEl>
                                          <p:spTgt spid="98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autoUpdateAnimBg="0"/>
      <p:bldP spid="98307" grpId="0"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3" name="Rectangle 3"/>
          <p:cNvSpPr>
            <a:spLocks noGrp="1" noChangeArrowheads="1"/>
          </p:cNvSpPr>
          <p:nvPr>
            <p:ph type="body" idx="4294967295"/>
          </p:nvPr>
        </p:nvSpPr>
        <p:spPr>
          <a:xfrm>
            <a:off x="304800" y="762000"/>
            <a:ext cx="8458200" cy="3657600"/>
          </a:xfrm>
          <a:solidFill>
            <a:srgbClr val="FFFFFF"/>
          </a:solidFill>
          <a:ln>
            <a:solidFill>
              <a:srgbClr val="993300"/>
            </a:solidFill>
            <a:miter lim="800000"/>
            <a:headEnd/>
            <a:tailEnd/>
          </a:ln>
        </p:spPr>
        <p:txBody>
          <a:bodyPr/>
          <a:lstStyle/>
          <a:p>
            <a:pPr>
              <a:lnSpc>
                <a:spcPct val="150000"/>
              </a:lnSpc>
            </a:pPr>
            <a:r>
              <a:rPr lang="zh-CN" altLang="en-US" sz="3600">
                <a:solidFill>
                  <a:srgbClr val="A50021"/>
                </a:solidFill>
                <a:latin typeface="楷体_GB2312" charset="0"/>
                <a:ea typeface="楷体_GB2312" charset="0"/>
              </a:rPr>
              <a:t>非叶结点中的</a:t>
            </a:r>
            <a:r>
              <a:rPr lang="zh-CN" altLang="en-US" sz="3600" b="1">
                <a:solidFill>
                  <a:srgbClr val="3333FF"/>
                </a:solidFill>
                <a:latin typeface="楷体_GB2312" charset="0"/>
                <a:ea typeface="楷体_GB2312" charset="0"/>
              </a:rPr>
              <a:t>多个关键字</a:t>
            </a:r>
            <a:r>
              <a:rPr lang="zh-CN" altLang="en-US" sz="3600">
                <a:solidFill>
                  <a:srgbClr val="A50021"/>
                </a:solidFill>
                <a:latin typeface="楷体_GB2312" charset="0"/>
                <a:ea typeface="楷体_GB2312" charset="0"/>
              </a:rPr>
              <a:t>均</a:t>
            </a:r>
            <a:r>
              <a:rPr lang="zh-CN" altLang="en-US" sz="3600" b="1">
                <a:solidFill>
                  <a:srgbClr val="3333FF"/>
                </a:solidFill>
                <a:latin typeface="楷体_GB2312" charset="0"/>
                <a:ea typeface="楷体_GB2312" charset="0"/>
              </a:rPr>
              <a:t>自小至大</a:t>
            </a:r>
            <a:r>
              <a:rPr lang="zh-CN" altLang="en-US" sz="3600">
                <a:solidFill>
                  <a:srgbClr val="A50021"/>
                </a:solidFill>
                <a:latin typeface="楷体_GB2312" charset="0"/>
                <a:ea typeface="楷体_GB2312" charset="0"/>
              </a:rPr>
              <a:t>有序排列，即：</a:t>
            </a:r>
            <a:r>
              <a:rPr lang="en-US" altLang="zh-CN" sz="3600" b="1">
                <a:solidFill>
                  <a:srgbClr val="A50021"/>
                </a:solidFill>
                <a:ea typeface="楷体_GB2312" charset="0"/>
              </a:rPr>
              <a:t>K</a:t>
            </a:r>
            <a:r>
              <a:rPr lang="en-US" altLang="zh-CN" sz="3600" b="1" baseline="-25000">
                <a:solidFill>
                  <a:srgbClr val="A50021"/>
                </a:solidFill>
                <a:ea typeface="楷体_GB2312" charset="0"/>
              </a:rPr>
              <a:t>1</a:t>
            </a:r>
            <a:r>
              <a:rPr lang="en-US" altLang="zh-CN" sz="3600" b="1">
                <a:solidFill>
                  <a:srgbClr val="A50021"/>
                </a:solidFill>
                <a:ea typeface="楷体_GB2312" charset="0"/>
              </a:rPr>
              <a:t>&lt; K</a:t>
            </a:r>
            <a:r>
              <a:rPr lang="en-US" altLang="zh-CN" sz="3600" b="1" baseline="-25000">
                <a:solidFill>
                  <a:srgbClr val="A50021"/>
                </a:solidFill>
                <a:ea typeface="楷体_GB2312" charset="0"/>
              </a:rPr>
              <a:t>2</a:t>
            </a:r>
            <a:r>
              <a:rPr lang="en-US" altLang="zh-CN" sz="3600" b="1">
                <a:solidFill>
                  <a:srgbClr val="A50021"/>
                </a:solidFill>
                <a:ea typeface="楷体_GB2312" charset="0"/>
              </a:rPr>
              <a:t> &lt; … &lt; K</a:t>
            </a:r>
            <a:r>
              <a:rPr lang="en-US" altLang="zh-CN" sz="3600" b="1" baseline="-25000">
                <a:solidFill>
                  <a:srgbClr val="A50021"/>
                </a:solidFill>
                <a:ea typeface="楷体_GB2312" charset="0"/>
              </a:rPr>
              <a:t>n  </a:t>
            </a:r>
            <a:r>
              <a:rPr lang="zh-CN" altLang="en-US" sz="3600">
                <a:solidFill>
                  <a:srgbClr val="A50021"/>
                </a:solidFill>
                <a:ea typeface="楷体_GB2312" charset="0"/>
              </a:rPr>
              <a:t>；</a:t>
            </a:r>
          </a:p>
          <a:p>
            <a:pPr>
              <a:lnSpc>
                <a:spcPct val="150000"/>
              </a:lnSpc>
            </a:pPr>
            <a:r>
              <a:rPr lang="zh-CN" altLang="en-US" sz="3600">
                <a:solidFill>
                  <a:srgbClr val="A50021"/>
                </a:solidFill>
                <a:ea typeface="楷体_GB2312" charset="0"/>
              </a:rPr>
              <a:t> </a:t>
            </a:r>
            <a:r>
              <a:rPr lang="en-US" altLang="zh-CN" sz="3600" b="1">
                <a:solidFill>
                  <a:srgbClr val="A50021"/>
                </a:solidFill>
                <a:ea typeface="楷体_GB2312" charset="0"/>
              </a:rPr>
              <a:t>A</a:t>
            </a:r>
            <a:r>
              <a:rPr lang="en-US" altLang="zh-CN" sz="3600" b="1" baseline="-25000">
                <a:solidFill>
                  <a:srgbClr val="A50021"/>
                </a:solidFill>
                <a:ea typeface="楷体_GB2312" charset="0"/>
              </a:rPr>
              <a:t>i-1 </a:t>
            </a:r>
            <a:r>
              <a:rPr lang="zh-CN" altLang="en-US" sz="3600">
                <a:solidFill>
                  <a:srgbClr val="A50021"/>
                </a:solidFill>
                <a:latin typeface="楷体_GB2312" charset="0"/>
                <a:ea typeface="楷体_GB2312" charset="0"/>
              </a:rPr>
              <a:t>所指子树上所有关键字均</a:t>
            </a:r>
            <a:r>
              <a:rPr lang="zh-CN" altLang="en-US" sz="3600" b="1">
                <a:solidFill>
                  <a:srgbClr val="3333FF"/>
                </a:solidFill>
                <a:latin typeface="楷体_GB2312" charset="0"/>
                <a:ea typeface="楷体_GB2312" charset="0"/>
              </a:rPr>
              <a:t>小于</a:t>
            </a:r>
            <a:r>
              <a:rPr lang="en-US" altLang="zh-CN" sz="3600" b="1">
                <a:solidFill>
                  <a:srgbClr val="A50021"/>
                </a:solidFill>
                <a:ea typeface="楷体_GB2312" charset="0"/>
              </a:rPr>
              <a:t>K</a:t>
            </a:r>
            <a:r>
              <a:rPr lang="en-US" altLang="zh-CN" sz="3600" b="1" baseline="-25000">
                <a:solidFill>
                  <a:srgbClr val="A50021"/>
                </a:solidFill>
                <a:ea typeface="楷体_GB2312" charset="0"/>
              </a:rPr>
              <a:t>i  </a:t>
            </a:r>
            <a:r>
              <a:rPr lang="zh-CN" altLang="en-US" sz="3600">
                <a:solidFill>
                  <a:srgbClr val="A50021"/>
                </a:solidFill>
                <a:ea typeface="楷体_GB2312" charset="0"/>
              </a:rPr>
              <a:t>；</a:t>
            </a:r>
          </a:p>
          <a:p>
            <a:pPr>
              <a:lnSpc>
                <a:spcPct val="150000"/>
              </a:lnSpc>
            </a:pPr>
            <a:r>
              <a:rPr lang="zh-CN" altLang="en-US" sz="3600">
                <a:solidFill>
                  <a:srgbClr val="A50021"/>
                </a:solidFill>
                <a:ea typeface="楷体_GB2312" charset="0"/>
              </a:rPr>
              <a:t> </a:t>
            </a:r>
            <a:r>
              <a:rPr lang="en-US" altLang="zh-CN" sz="3600" b="1">
                <a:solidFill>
                  <a:srgbClr val="A50021"/>
                </a:solidFill>
                <a:ea typeface="楷体_GB2312" charset="0"/>
              </a:rPr>
              <a:t>A</a:t>
            </a:r>
            <a:r>
              <a:rPr lang="en-US" altLang="zh-CN" sz="3600" b="1" baseline="-25000">
                <a:solidFill>
                  <a:srgbClr val="A50021"/>
                </a:solidFill>
                <a:ea typeface="楷体_GB2312" charset="0"/>
              </a:rPr>
              <a:t>i </a:t>
            </a:r>
            <a:r>
              <a:rPr lang="zh-CN" altLang="en-US" sz="3600">
                <a:solidFill>
                  <a:srgbClr val="A50021"/>
                </a:solidFill>
                <a:latin typeface="楷体_GB2312" charset="0"/>
                <a:ea typeface="楷体_GB2312" charset="0"/>
              </a:rPr>
              <a:t>所指子树上所有关键字均</a:t>
            </a:r>
            <a:r>
              <a:rPr lang="zh-CN" altLang="en-US" sz="3600" b="1">
                <a:solidFill>
                  <a:srgbClr val="3333FF"/>
                </a:solidFill>
                <a:latin typeface="楷体_GB2312" charset="0"/>
                <a:ea typeface="楷体_GB2312" charset="0"/>
              </a:rPr>
              <a:t>大于</a:t>
            </a:r>
            <a:r>
              <a:rPr lang="en-US" altLang="zh-CN" sz="3600" b="1">
                <a:solidFill>
                  <a:srgbClr val="A50021"/>
                </a:solidFill>
                <a:ea typeface="楷体_GB2312" charset="0"/>
              </a:rPr>
              <a:t>K</a:t>
            </a:r>
            <a:r>
              <a:rPr lang="en-US" altLang="zh-CN" sz="3600" b="1" baseline="-25000">
                <a:solidFill>
                  <a:srgbClr val="A50021"/>
                </a:solidFill>
                <a:ea typeface="楷体_GB2312" charset="0"/>
              </a:rPr>
              <a:t>i  </a:t>
            </a:r>
            <a:r>
              <a:rPr lang="zh-CN" altLang="en-US" sz="3600">
                <a:solidFill>
                  <a:srgbClr val="A50021"/>
                </a:solidFill>
                <a:latin typeface="楷体_GB2312" charset="0"/>
                <a:ea typeface="楷体_GB2312" charset="0"/>
              </a:rPr>
              <a:t>；</a:t>
            </a:r>
            <a:endParaRPr lang="zh-CN" altLang="en-US" sz="3600">
              <a:solidFill>
                <a:srgbClr val="A50021"/>
              </a:solidFill>
              <a:ea typeface="楷体_GB2312" charset="0"/>
            </a:endParaRPr>
          </a:p>
        </p:txBody>
      </p:sp>
      <p:sp>
        <p:nvSpPr>
          <p:cNvPr id="97286" name="Text Box 6">
            <a:hlinkClick r:id="" action="ppaction://hlinkshowjump?jump=lastslideviewed"/>
          </p:cNvPr>
          <p:cNvSpPr txBox="1">
            <a:spLocks noChangeArrowheads="1"/>
          </p:cNvSpPr>
          <p:nvPr/>
        </p:nvSpPr>
        <p:spPr bwMode="auto">
          <a:xfrm>
            <a:off x="5622925" y="4768850"/>
            <a:ext cx="292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FF00FF"/>
                </a:solidFill>
              </a:rPr>
              <a:t>查找树的特性</a:t>
            </a:r>
            <a:endParaRPr lang="zh-CN" altLang="en-US" sz="3600"/>
          </a:p>
        </p:txBody>
      </p:sp>
      <p:sp>
        <p:nvSpPr>
          <p:cNvPr id="97287" name="Line 7"/>
          <p:cNvSpPr>
            <a:spLocks noChangeShapeType="1"/>
          </p:cNvSpPr>
          <p:nvPr/>
        </p:nvSpPr>
        <p:spPr bwMode="auto">
          <a:xfrm>
            <a:off x="4419600" y="5105400"/>
            <a:ext cx="1143000" cy="0"/>
          </a:xfrm>
          <a:prstGeom prst="line">
            <a:avLst/>
          </a:prstGeom>
          <a:noFill/>
          <a:ln w="952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274804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animEffect transition="in" filter="strips(downRight)">
                                      <p:cBhvr>
                                        <p:cTn id="7" dur="500"/>
                                        <p:tgtEl>
                                          <p:spTgt spid="97283">
                                            <p:txEl>
                                              <p:pRg st="0" end="0"/>
                                            </p:txEl>
                                          </p:spTgt>
                                        </p:tgtEl>
                                      </p:cBhvr>
                                    </p:animEffect>
                                  </p:childTnLst>
                                </p:cTn>
                              </p:par>
                            </p:childTnLst>
                          </p:cTn>
                        </p:par>
                        <p:par>
                          <p:cTn id="8" fill="hold" nodeType="afterGroup">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97283">
                                            <p:txEl>
                                              <p:pRg st="1" end="1"/>
                                            </p:txEl>
                                          </p:spTgt>
                                        </p:tgtEl>
                                        <p:attrNameLst>
                                          <p:attrName>style.visibility</p:attrName>
                                        </p:attrNameLst>
                                      </p:cBhvr>
                                      <p:to>
                                        <p:strVal val="visible"/>
                                      </p:to>
                                    </p:set>
                                    <p:animEffect transition="in" filter="strips(downRight)">
                                      <p:cBhvr>
                                        <p:cTn id="11" dur="500"/>
                                        <p:tgtEl>
                                          <p:spTgt spid="97283">
                                            <p:txEl>
                                              <p:pRg st="1" end="1"/>
                                            </p:txEl>
                                          </p:spTgt>
                                        </p:tgtEl>
                                      </p:cBhvr>
                                    </p:animEffect>
                                  </p:childTnLst>
                                </p:cTn>
                              </p:par>
                            </p:childTnLst>
                          </p:cTn>
                        </p:par>
                        <p:par>
                          <p:cTn id="12" fill="hold" nodeType="afterGroup">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97283">
                                            <p:txEl>
                                              <p:pRg st="2" end="2"/>
                                            </p:txEl>
                                          </p:spTgt>
                                        </p:tgtEl>
                                        <p:attrNameLst>
                                          <p:attrName>style.visibility</p:attrName>
                                        </p:attrNameLst>
                                      </p:cBhvr>
                                      <p:to>
                                        <p:strVal val="visible"/>
                                      </p:to>
                                    </p:set>
                                    <p:animEffect transition="in" filter="strips(downRight)">
                                      <p:cBhvr>
                                        <p:cTn id="15" dur="500"/>
                                        <p:tgtEl>
                                          <p:spTgt spid="9728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97287"/>
                                        </p:tgtEl>
                                        <p:attrNameLst>
                                          <p:attrName>style.visibility</p:attrName>
                                        </p:attrNameLst>
                                      </p:cBhvr>
                                      <p:to>
                                        <p:strVal val="visible"/>
                                      </p:to>
                                    </p:set>
                                    <p:anim calcmode="lin" valueType="num">
                                      <p:cBhvr>
                                        <p:cTn id="20" dur="500" fill="hold"/>
                                        <p:tgtEl>
                                          <p:spTgt spid="97287"/>
                                        </p:tgtEl>
                                        <p:attrNameLst>
                                          <p:attrName>ppt_x</p:attrName>
                                        </p:attrNameLst>
                                      </p:cBhvr>
                                      <p:tavLst>
                                        <p:tav tm="0">
                                          <p:val>
                                            <p:strVal val="#ppt_x-#ppt_w/2"/>
                                          </p:val>
                                        </p:tav>
                                        <p:tav tm="100000">
                                          <p:val>
                                            <p:strVal val="#ppt_x"/>
                                          </p:val>
                                        </p:tav>
                                      </p:tavLst>
                                    </p:anim>
                                    <p:anim calcmode="lin" valueType="num">
                                      <p:cBhvr>
                                        <p:cTn id="21" dur="500" fill="hold"/>
                                        <p:tgtEl>
                                          <p:spTgt spid="97287"/>
                                        </p:tgtEl>
                                        <p:attrNameLst>
                                          <p:attrName>ppt_y</p:attrName>
                                        </p:attrNameLst>
                                      </p:cBhvr>
                                      <p:tavLst>
                                        <p:tav tm="0">
                                          <p:val>
                                            <p:strVal val="#ppt_y"/>
                                          </p:val>
                                        </p:tav>
                                        <p:tav tm="100000">
                                          <p:val>
                                            <p:strVal val="#ppt_y"/>
                                          </p:val>
                                        </p:tav>
                                      </p:tavLst>
                                    </p:anim>
                                    <p:anim calcmode="lin" valueType="num">
                                      <p:cBhvr>
                                        <p:cTn id="22" dur="500" fill="hold"/>
                                        <p:tgtEl>
                                          <p:spTgt spid="97287"/>
                                        </p:tgtEl>
                                        <p:attrNameLst>
                                          <p:attrName>ppt_w</p:attrName>
                                        </p:attrNameLst>
                                      </p:cBhvr>
                                      <p:tavLst>
                                        <p:tav tm="0">
                                          <p:val>
                                            <p:fltVal val="0"/>
                                          </p:val>
                                        </p:tav>
                                        <p:tav tm="100000">
                                          <p:val>
                                            <p:strVal val="#ppt_w"/>
                                          </p:val>
                                        </p:tav>
                                      </p:tavLst>
                                    </p:anim>
                                    <p:anim calcmode="lin" valueType="num">
                                      <p:cBhvr>
                                        <p:cTn id="23" dur="500" fill="hold"/>
                                        <p:tgtEl>
                                          <p:spTgt spid="97287"/>
                                        </p:tgtEl>
                                        <p:attrNameLst>
                                          <p:attrName>ppt_h</p:attrName>
                                        </p:attrNameLst>
                                      </p:cBhvr>
                                      <p:tavLst>
                                        <p:tav tm="0">
                                          <p:val>
                                            <p:strVal val="#ppt_h"/>
                                          </p:val>
                                        </p:tav>
                                        <p:tav tm="100000">
                                          <p:val>
                                            <p:strVal val="#ppt_h"/>
                                          </p:val>
                                        </p:tav>
                                      </p:tavLst>
                                    </p:anim>
                                  </p:childTnLst>
                                </p:cTn>
                              </p:par>
                            </p:childTnLst>
                          </p:cTn>
                        </p:par>
                        <p:par>
                          <p:cTn id="24" fill="hold" nodeType="afterGroup">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97286"/>
                                        </p:tgtEl>
                                        <p:attrNameLst>
                                          <p:attrName>style.visibility</p:attrName>
                                        </p:attrNameLst>
                                      </p:cBhvr>
                                      <p:to>
                                        <p:strVal val="visible"/>
                                      </p:to>
                                    </p:set>
                                    <p:animEffect transition="in" filter="wipe(left)">
                                      <p:cBhvr>
                                        <p:cTn id="27" dur="500"/>
                                        <p:tgtEl>
                                          <p:spTgt spid="97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build="p" autoUpdateAnimBg="0" advAuto="0"/>
      <p:bldP spid="97286" grpId="0" autoUpdateAnimBg="0"/>
      <p:bldP spid="97287"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9" name="Text Box 3">
            <a:hlinkClick r:id="" action="ppaction://hlinkshowjump?jump=lastslideviewed"/>
          </p:cNvPr>
          <p:cNvSpPr txBox="1">
            <a:spLocks noChangeArrowheads="1"/>
          </p:cNvSpPr>
          <p:nvPr/>
        </p:nvSpPr>
        <p:spPr bwMode="auto">
          <a:xfrm>
            <a:off x="5622925" y="5607050"/>
            <a:ext cx="292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FF00FF"/>
                </a:solidFill>
              </a:rPr>
              <a:t>平衡树的特性</a:t>
            </a:r>
            <a:endParaRPr lang="zh-CN" altLang="en-US" sz="3600"/>
          </a:p>
        </p:txBody>
      </p:sp>
      <p:sp>
        <p:nvSpPr>
          <p:cNvPr id="214020" name="Line 4"/>
          <p:cNvSpPr>
            <a:spLocks noChangeShapeType="1"/>
          </p:cNvSpPr>
          <p:nvPr/>
        </p:nvSpPr>
        <p:spPr bwMode="auto">
          <a:xfrm>
            <a:off x="4419600" y="5943600"/>
            <a:ext cx="1143000" cy="0"/>
          </a:xfrm>
          <a:prstGeom prst="line">
            <a:avLst/>
          </a:prstGeom>
          <a:noFill/>
          <a:ln w="952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4021" name="Rectangle 5"/>
          <p:cNvSpPr>
            <a:spLocks noChangeArrowheads="1"/>
          </p:cNvSpPr>
          <p:nvPr/>
        </p:nvSpPr>
        <p:spPr bwMode="auto">
          <a:xfrm>
            <a:off x="304800" y="304800"/>
            <a:ext cx="8458200" cy="5257800"/>
          </a:xfrm>
          <a:prstGeom prst="rect">
            <a:avLst/>
          </a:prstGeom>
          <a:solidFill>
            <a:srgbClr val="FFFFFF"/>
          </a:solidFill>
          <a:ln w="9525">
            <a:solidFill>
              <a:srgbClr val="993300"/>
            </a:solidFill>
            <a:miter lim="800000"/>
            <a:headEnd/>
            <a:tailEnd/>
          </a:ln>
        </p:spPr>
        <p:txBody>
          <a:bodyPr/>
          <a:lstStyle>
            <a:lvl1pPr marL="342900" indent="-342900">
              <a:spcBef>
                <a:spcPct val="20000"/>
              </a:spcBef>
              <a:buChar char="•"/>
              <a:defRPr kumimoji="1" sz="3200">
                <a:solidFill>
                  <a:schemeClr val="tx1"/>
                </a:solidFill>
                <a:latin typeface="Times New Roman" charset="0"/>
                <a:ea typeface="宋体" charset="-122"/>
              </a:defRPr>
            </a:lvl1pPr>
            <a:lvl2pPr marL="742950" indent="-285750">
              <a:spcBef>
                <a:spcPct val="20000"/>
              </a:spcBef>
              <a:buChar char="–"/>
              <a:defRPr kumimoji="1" sz="2800">
                <a:solidFill>
                  <a:schemeClr val="tx1"/>
                </a:solidFill>
                <a:latin typeface="Times New Roman" charset="0"/>
                <a:ea typeface="宋体" charset="-122"/>
              </a:defRPr>
            </a:lvl2pPr>
            <a:lvl3pPr marL="1143000" indent="-228600">
              <a:spcBef>
                <a:spcPct val="20000"/>
              </a:spcBef>
              <a:buChar char="•"/>
              <a:defRPr kumimoji="1" sz="2400">
                <a:solidFill>
                  <a:schemeClr val="tx1"/>
                </a:solidFill>
                <a:latin typeface="Times New Roman" charset="0"/>
                <a:ea typeface="宋体" charset="-122"/>
              </a:defRPr>
            </a:lvl3pPr>
            <a:lvl4pPr marL="1600200" indent="-228600">
              <a:spcBef>
                <a:spcPct val="20000"/>
              </a:spcBef>
              <a:buChar char="–"/>
              <a:defRPr kumimoji="1" sz="2000">
                <a:solidFill>
                  <a:schemeClr val="tx1"/>
                </a:solidFill>
                <a:latin typeface="Times New Roman" charset="0"/>
                <a:ea typeface="宋体" charset="-122"/>
              </a:defRPr>
            </a:lvl4pPr>
            <a:lvl5pPr marL="2057400" indent="-228600">
              <a:spcBef>
                <a:spcPct val="20000"/>
              </a:spcBef>
              <a:buChar char="»"/>
              <a:defRPr kumimoji="1" sz="2000">
                <a:solidFill>
                  <a:schemeClr val="tx1"/>
                </a:solidFill>
                <a:latin typeface="Times New Roman" charset="0"/>
                <a:ea typeface="宋体" charset="-122"/>
              </a:defRPr>
            </a:lvl5pPr>
            <a:lvl6pPr marL="2514600" indent="-228600" fontAlgn="base">
              <a:spcBef>
                <a:spcPct val="20000"/>
              </a:spcBef>
              <a:spcAft>
                <a:spcPct val="0"/>
              </a:spcAft>
              <a:buChar char="»"/>
              <a:defRPr kumimoji="1" sz="2000">
                <a:solidFill>
                  <a:schemeClr val="tx1"/>
                </a:solidFill>
                <a:latin typeface="Times New Roman" charset="0"/>
                <a:ea typeface="宋体" charset="-122"/>
              </a:defRPr>
            </a:lvl6pPr>
            <a:lvl7pPr marL="2971800" indent="-228600" fontAlgn="base">
              <a:spcBef>
                <a:spcPct val="20000"/>
              </a:spcBef>
              <a:spcAft>
                <a:spcPct val="0"/>
              </a:spcAft>
              <a:buChar char="»"/>
              <a:defRPr kumimoji="1" sz="2000">
                <a:solidFill>
                  <a:schemeClr val="tx1"/>
                </a:solidFill>
                <a:latin typeface="Times New Roman" charset="0"/>
                <a:ea typeface="宋体" charset="-122"/>
              </a:defRPr>
            </a:lvl7pPr>
            <a:lvl8pPr marL="3429000" indent="-228600" fontAlgn="base">
              <a:spcBef>
                <a:spcPct val="20000"/>
              </a:spcBef>
              <a:spcAft>
                <a:spcPct val="0"/>
              </a:spcAft>
              <a:buChar char="»"/>
              <a:defRPr kumimoji="1" sz="2000">
                <a:solidFill>
                  <a:schemeClr val="tx1"/>
                </a:solidFill>
                <a:latin typeface="Times New Roman" charset="0"/>
                <a:ea typeface="宋体" charset="-122"/>
              </a:defRPr>
            </a:lvl8pPr>
            <a:lvl9pPr marL="3886200" indent="-228600" fontAlgn="base">
              <a:spcBef>
                <a:spcPct val="20000"/>
              </a:spcBef>
              <a:spcAft>
                <a:spcPct val="0"/>
              </a:spcAft>
              <a:buChar char="»"/>
              <a:defRPr kumimoji="1" sz="2000">
                <a:solidFill>
                  <a:schemeClr val="tx1"/>
                </a:solidFill>
                <a:latin typeface="Times New Roman" charset="0"/>
                <a:ea typeface="宋体" charset="-122"/>
              </a:defRPr>
            </a:lvl9pPr>
          </a:lstStyle>
          <a:p>
            <a:pPr>
              <a:lnSpc>
                <a:spcPct val="150000"/>
              </a:lnSpc>
            </a:pPr>
            <a:r>
              <a:rPr lang="zh-CN" altLang="en-US" sz="3600">
                <a:solidFill>
                  <a:srgbClr val="A50021"/>
                </a:solidFill>
                <a:latin typeface="楷体_GB2312" charset="0"/>
                <a:ea typeface="楷体_GB2312" charset="0"/>
              </a:rPr>
              <a:t>树中所有叶子结点均不带信息，且在树中的同一层次上</a:t>
            </a:r>
            <a:r>
              <a:rPr lang="zh-CN" altLang="en-US" sz="3600">
                <a:solidFill>
                  <a:srgbClr val="A50021"/>
                </a:solidFill>
                <a:ea typeface="楷体_GB2312" charset="0"/>
              </a:rPr>
              <a:t>；</a:t>
            </a:r>
          </a:p>
          <a:p>
            <a:pPr>
              <a:lnSpc>
                <a:spcPct val="150000"/>
              </a:lnSpc>
            </a:pPr>
            <a:r>
              <a:rPr lang="zh-CN" altLang="en-US" sz="3600">
                <a:solidFill>
                  <a:srgbClr val="A50021"/>
                </a:solidFill>
                <a:latin typeface="楷体_GB2312" charset="0"/>
                <a:ea typeface="楷体_GB2312" charset="0"/>
              </a:rPr>
              <a:t>根结点或为叶子结点，或至少含有两棵子树</a:t>
            </a:r>
            <a:r>
              <a:rPr lang="zh-CN" altLang="en-US" sz="3600">
                <a:solidFill>
                  <a:srgbClr val="A50021"/>
                </a:solidFill>
                <a:ea typeface="楷体_GB2312" charset="0"/>
              </a:rPr>
              <a:t>；</a:t>
            </a:r>
          </a:p>
          <a:p>
            <a:pPr>
              <a:lnSpc>
                <a:spcPct val="150000"/>
              </a:lnSpc>
            </a:pPr>
            <a:r>
              <a:rPr lang="zh-CN" altLang="en-US" sz="3600">
                <a:solidFill>
                  <a:srgbClr val="A50021"/>
                </a:solidFill>
                <a:latin typeface="楷体_GB2312" charset="0"/>
                <a:ea typeface="楷体_GB2312" charset="0"/>
              </a:rPr>
              <a:t>其余所有非叶结点均至少含有</a:t>
            </a:r>
            <a:r>
              <a:rPr lang="zh-CN" altLang="en-US" sz="3600">
                <a:solidFill>
                  <a:srgbClr val="A50021"/>
                </a:solidFill>
                <a:latin typeface="楷体_GB2312" charset="0"/>
                <a:ea typeface="楷体_GB2312" charset="0"/>
                <a:sym typeface="Symbol" charset="2"/>
              </a:rPr>
              <a:t></a:t>
            </a:r>
            <a:r>
              <a:rPr lang="en-US" altLang="zh-CN" sz="3600" b="1" i="1">
                <a:solidFill>
                  <a:srgbClr val="A50021"/>
                </a:solidFill>
                <a:ea typeface="楷体_GB2312" charset="0"/>
                <a:sym typeface="Symbol" charset="2"/>
              </a:rPr>
              <a:t>m/2</a:t>
            </a:r>
            <a:r>
              <a:rPr lang="en-US" altLang="zh-CN" sz="3600">
                <a:solidFill>
                  <a:srgbClr val="A50021"/>
                </a:solidFill>
                <a:latin typeface="楷体_GB2312" charset="0"/>
                <a:ea typeface="楷体_GB2312" charset="0"/>
                <a:sym typeface="Symbol" charset="2"/>
              </a:rPr>
              <a:t></a:t>
            </a:r>
            <a:r>
              <a:rPr lang="zh-CN" altLang="en-US" sz="3600">
                <a:solidFill>
                  <a:srgbClr val="A50021"/>
                </a:solidFill>
                <a:latin typeface="楷体_GB2312" charset="0"/>
                <a:ea typeface="楷体_GB2312" charset="0"/>
                <a:sym typeface="Symbol" charset="2"/>
              </a:rPr>
              <a:t>棵</a:t>
            </a:r>
            <a:r>
              <a:rPr lang="zh-CN" altLang="en-US" sz="3600">
                <a:solidFill>
                  <a:srgbClr val="A50021"/>
                </a:solidFill>
                <a:latin typeface="楷体_GB2312" charset="0"/>
                <a:ea typeface="楷体_GB2312" charset="0"/>
              </a:rPr>
              <a:t>子树，至多含有 </a:t>
            </a:r>
            <a:r>
              <a:rPr lang="en-US" altLang="zh-CN" sz="3600" b="1" i="1">
                <a:solidFill>
                  <a:srgbClr val="A50021"/>
                </a:solidFill>
                <a:ea typeface="楷体_GB2312" charset="0"/>
              </a:rPr>
              <a:t>m</a:t>
            </a:r>
            <a:r>
              <a:rPr lang="en-US" altLang="zh-CN" sz="3600">
                <a:solidFill>
                  <a:srgbClr val="A50021"/>
                </a:solidFill>
                <a:latin typeface="楷体_GB2312" charset="0"/>
                <a:ea typeface="楷体_GB2312" charset="0"/>
              </a:rPr>
              <a:t> </a:t>
            </a:r>
            <a:r>
              <a:rPr lang="zh-CN" altLang="en-US" sz="3600">
                <a:solidFill>
                  <a:srgbClr val="A50021"/>
                </a:solidFill>
                <a:latin typeface="楷体_GB2312" charset="0"/>
                <a:ea typeface="楷体_GB2312" charset="0"/>
              </a:rPr>
              <a:t>棵子树；</a:t>
            </a:r>
            <a:endParaRPr lang="zh-CN" altLang="en-US" sz="3600">
              <a:solidFill>
                <a:srgbClr val="A50021"/>
              </a:solidFill>
              <a:ea typeface="楷体_GB2312" charset="0"/>
            </a:endParaRPr>
          </a:p>
        </p:txBody>
      </p:sp>
    </p:spTree>
    <p:extLst>
      <p:ext uri="{BB962C8B-B14F-4D97-AF65-F5344CB8AC3E}">
        <p14:creationId xmlns:p14="http://schemas.microsoft.com/office/powerpoint/2010/main" val="12946283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14021">
                                            <p:txEl>
                                              <p:pRg st="0" end="0"/>
                                            </p:txEl>
                                          </p:spTgt>
                                        </p:tgtEl>
                                        <p:attrNameLst>
                                          <p:attrName>style.visibility</p:attrName>
                                        </p:attrNameLst>
                                      </p:cBhvr>
                                      <p:to>
                                        <p:strVal val="visible"/>
                                      </p:to>
                                    </p:set>
                                    <p:animEffect transition="in" filter="strips(downRight)">
                                      <p:cBhvr>
                                        <p:cTn id="7" dur="500"/>
                                        <p:tgtEl>
                                          <p:spTgt spid="214021">
                                            <p:txEl>
                                              <p:pRg st="0" end="0"/>
                                            </p:txEl>
                                          </p:spTgt>
                                        </p:tgtEl>
                                      </p:cBhvr>
                                    </p:animEffect>
                                  </p:childTnLst>
                                </p:cTn>
                              </p:par>
                            </p:childTnLst>
                          </p:cTn>
                        </p:par>
                        <p:par>
                          <p:cTn id="8" fill="hold" nodeType="afterGroup">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214021">
                                            <p:txEl>
                                              <p:pRg st="1" end="1"/>
                                            </p:txEl>
                                          </p:spTgt>
                                        </p:tgtEl>
                                        <p:attrNameLst>
                                          <p:attrName>style.visibility</p:attrName>
                                        </p:attrNameLst>
                                      </p:cBhvr>
                                      <p:to>
                                        <p:strVal val="visible"/>
                                      </p:to>
                                    </p:set>
                                    <p:animEffect transition="in" filter="strips(downRight)">
                                      <p:cBhvr>
                                        <p:cTn id="11" dur="500"/>
                                        <p:tgtEl>
                                          <p:spTgt spid="214021">
                                            <p:txEl>
                                              <p:pRg st="1" end="1"/>
                                            </p:txEl>
                                          </p:spTgt>
                                        </p:tgtEl>
                                      </p:cBhvr>
                                    </p:animEffect>
                                  </p:childTnLst>
                                </p:cTn>
                              </p:par>
                            </p:childTnLst>
                          </p:cTn>
                        </p:par>
                        <p:par>
                          <p:cTn id="12" fill="hold" nodeType="afterGroup">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214021">
                                            <p:txEl>
                                              <p:pRg st="2" end="2"/>
                                            </p:txEl>
                                          </p:spTgt>
                                        </p:tgtEl>
                                        <p:attrNameLst>
                                          <p:attrName>style.visibility</p:attrName>
                                        </p:attrNameLst>
                                      </p:cBhvr>
                                      <p:to>
                                        <p:strVal val="visible"/>
                                      </p:to>
                                    </p:set>
                                    <p:animEffect transition="in" filter="strips(downRight)">
                                      <p:cBhvr>
                                        <p:cTn id="15" dur="500"/>
                                        <p:tgtEl>
                                          <p:spTgt spid="214021">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214020"/>
                                        </p:tgtEl>
                                        <p:attrNameLst>
                                          <p:attrName>style.visibility</p:attrName>
                                        </p:attrNameLst>
                                      </p:cBhvr>
                                      <p:to>
                                        <p:strVal val="visible"/>
                                      </p:to>
                                    </p:set>
                                    <p:anim calcmode="lin" valueType="num">
                                      <p:cBhvr>
                                        <p:cTn id="20" dur="500" fill="hold"/>
                                        <p:tgtEl>
                                          <p:spTgt spid="214020"/>
                                        </p:tgtEl>
                                        <p:attrNameLst>
                                          <p:attrName>ppt_x</p:attrName>
                                        </p:attrNameLst>
                                      </p:cBhvr>
                                      <p:tavLst>
                                        <p:tav tm="0">
                                          <p:val>
                                            <p:strVal val="#ppt_x-#ppt_w/2"/>
                                          </p:val>
                                        </p:tav>
                                        <p:tav tm="100000">
                                          <p:val>
                                            <p:strVal val="#ppt_x"/>
                                          </p:val>
                                        </p:tav>
                                      </p:tavLst>
                                    </p:anim>
                                    <p:anim calcmode="lin" valueType="num">
                                      <p:cBhvr>
                                        <p:cTn id="21" dur="500" fill="hold"/>
                                        <p:tgtEl>
                                          <p:spTgt spid="214020"/>
                                        </p:tgtEl>
                                        <p:attrNameLst>
                                          <p:attrName>ppt_y</p:attrName>
                                        </p:attrNameLst>
                                      </p:cBhvr>
                                      <p:tavLst>
                                        <p:tav tm="0">
                                          <p:val>
                                            <p:strVal val="#ppt_y"/>
                                          </p:val>
                                        </p:tav>
                                        <p:tav tm="100000">
                                          <p:val>
                                            <p:strVal val="#ppt_y"/>
                                          </p:val>
                                        </p:tav>
                                      </p:tavLst>
                                    </p:anim>
                                    <p:anim calcmode="lin" valueType="num">
                                      <p:cBhvr>
                                        <p:cTn id="22" dur="500" fill="hold"/>
                                        <p:tgtEl>
                                          <p:spTgt spid="214020"/>
                                        </p:tgtEl>
                                        <p:attrNameLst>
                                          <p:attrName>ppt_w</p:attrName>
                                        </p:attrNameLst>
                                      </p:cBhvr>
                                      <p:tavLst>
                                        <p:tav tm="0">
                                          <p:val>
                                            <p:fltVal val="0"/>
                                          </p:val>
                                        </p:tav>
                                        <p:tav tm="100000">
                                          <p:val>
                                            <p:strVal val="#ppt_w"/>
                                          </p:val>
                                        </p:tav>
                                      </p:tavLst>
                                    </p:anim>
                                    <p:anim calcmode="lin" valueType="num">
                                      <p:cBhvr>
                                        <p:cTn id="23" dur="500" fill="hold"/>
                                        <p:tgtEl>
                                          <p:spTgt spid="214020"/>
                                        </p:tgtEl>
                                        <p:attrNameLst>
                                          <p:attrName>ppt_h</p:attrName>
                                        </p:attrNameLst>
                                      </p:cBhvr>
                                      <p:tavLst>
                                        <p:tav tm="0">
                                          <p:val>
                                            <p:strVal val="#ppt_h"/>
                                          </p:val>
                                        </p:tav>
                                        <p:tav tm="100000">
                                          <p:val>
                                            <p:strVal val="#ppt_h"/>
                                          </p:val>
                                        </p:tav>
                                      </p:tavLst>
                                    </p:anim>
                                  </p:childTnLst>
                                </p:cTn>
                              </p:par>
                            </p:childTnLst>
                          </p:cTn>
                        </p:par>
                        <p:par>
                          <p:cTn id="24" fill="hold" nodeType="afterGroup">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214019"/>
                                        </p:tgtEl>
                                        <p:attrNameLst>
                                          <p:attrName>style.visibility</p:attrName>
                                        </p:attrNameLst>
                                      </p:cBhvr>
                                      <p:to>
                                        <p:strVal val="visible"/>
                                      </p:to>
                                    </p:set>
                                    <p:animEffect transition="in" filter="wipe(left)">
                                      <p:cBhvr>
                                        <p:cTn id="27" dur="500"/>
                                        <p:tgtEl>
                                          <p:spTgt spid="214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9" grpId="0" autoUpdateAnimBg="0"/>
      <p:bldP spid="214020" grpId="0" animBg="1"/>
      <p:bldP spid="214021" grpId="0" build="p" autoUpdateAnimBg="0" advAuto="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a:spLocks noChangeArrowheads="1"/>
          </p:cNvSpPr>
          <p:nvPr/>
        </p:nvSpPr>
        <p:spPr bwMode="auto">
          <a:xfrm>
            <a:off x="273050" y="1143000"/>
            <a:ext cx="8550275"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30000"/>
              </a:lnSpc>
            </a:pPr>
            <a:r>
              <a:rPr lang="en-US" altLang="zh-CN" sz="3600">
                <a:ea typeface="楷体_GB2312" charset="0"/>
              </a:rPr>
              <a:t>        </a:t>
            </a:r>
            <a:r>
              <a:rPr lang="zh-CN" altLang="en-US" sz="3600">
                <a:solidFill>
                  <a:schemeClr val="accent2"/>
                </a:solidFill>
                <a:ea typeface="楷体_GB2312" charset="0"/>
              </a:rPr>
              <a:t>从根结点出发，沿指针</a:t>
            </a:r>
            <a:r>
              <a:rPr lang="zh-CN" altLang="en-US" sz="3600" b="1">
                <a:solidFill>
                  <a:srgbClr val="3333FF"/>
                </a:solidFill>
                <a:ea typeface="楷体_GB2312" charset="0"/>
              </a:rPr>
              <a:t>搜索结点</a:t>
            </a:r>
            <a:r>
              <a:rPr lang="zh-CN" altLang="en-US" sz="3600">
                <a:solidFill>
                  <a:schemeClr val="accent2"/>
                </a:solidFill>
                <a:ea typeface="楷体_GB2312" charset="0"/>
              </a:rPr>
              <a:t>和</a:t>
            </a:r>
            <a:r>
              <a:rPr lang="zh-CN" altLang="en-US" sz="3600" b="1">
                <a:solidFill>
                  <a:srgbClr val="3333FF"/>
                </a:solidFill>
                <a:ea typeface="楷体_GB2312" charset="0"/>
              </a:rPr>
              <a:t>在</a:t>
            </a:r>
            <a:endParaRPr lang="zh-CN" altLang="en-US" sz="3600">
              <a:solidFill>
                <a:schemeClr val="accent2"/>
              </a:solidFill>
              <a:ea typeface="楷体_GB2312" charset="0"/>
            </a:endParaRPr>
          </a:p>
          <a:p>
            <a:pPr>
              <a:lnSpc>
                <a:spcPct val="130000"/>
              </a:lnSpc>
            </a:pPr>
            <a:r>
              <a:rPr lang="zh-CN" altLang="en-US" sz="3600" b="1">
                <a:solidFill>
                  <a:srgbClr val="3333FF"/>
                </a:solidFill>
                <a:ea typeface="楷体_GB2312" charset="0"/>
              </a:rPr>
              <a:t>结点内进行</a:t>
            </a:r>
            <a:r>
              <a:rPr lang="zh-CN" altLang="en-US" sz="3600">
                <a:solidFill>
                  <a:schemeClr val="accent2"/>
                </a:solidFill>
                <a:ea typeface="楷体_GB2312" charset="0"/>
              </a:rPr>
              <a:t>顺序（或折半）</a:t>
            </a:r>
            <a:r>
              <a:rPr lang="zh-CN" altLang="en-US" sz="3600" b="1">
                <a:solidFill>
                  <a:srgbClr val="3333FF"/>
                </a:solidFill>
                <a:ea typeface="楷体_GB2312" charset="0"/>
              </a:rPr>
              <a:t>查找</a:t>
            </a:r>
            <a:r>
              <a:rPr lang="zh-CN" altLang="en-US" sz="3600">
                <a:solidFill>
                  <a:schemeClr val="accent2"/>
                </a:solidFill>
                <a:ea typeface="楷体_GB2312" charset="0"/>
              </a:rPr>
              <a:t> 两个过程</a:t>
            </a:r>
          </a:p>
          <a:p>
            <a:pPr>
              <a:lnSpc>
                <a:spcPct val="130000"/>
              </a:lnSpc>
            </a:pPr>
            <a:r>
              <a:rPr lang="zh-CN" altLang="en-US" sz="3600">
                <a:solidFill>
                  <a:schemeClr val="accent2"/>
                </a:solidFill>
                <a:ea typeface="楷体_GB2312" charset="0"/>
              </a:rPr>
              <a:t>交叉进行。</a:t>
            </a:r>
            <a:endParaRPr lang="zh-CN" altLang="en-US" sz="3600">
              <a:solidFill>
                <a:schemeClr val="accent2"/>
              </a:solidFill>
            </a:endParaRPr>
          </a:p>
        </p:txBody>
      </p:sp>
      <p:sp>
        <p:nvSpPr>
          <p:cNvPr id="99331" name="Text Box 3"/>
          <p:cNvSpPr txBox="1">
            <a:spLocks noChangeArrowheads="1"/>
          </p:cNvSpPr>
          <p:nvPr/>
        </p:nvSpPr>
        <p:spPr bwMode="auto">
          <a:xfrm>
            <a:off x="457200" y="381000"/>
            <a:ext cx="3128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FF"/>
                </a:solidFill>
                <a:ea typeface="楷体_GB2312" charset="0"/>
              </a:rPr>
              <a:t>2.</a:t>
            </a:r>
            <a:r>
              <a:rPr lang="zh-CN" altLang="en-US" sz="4000" b="1">
                <a:solidFill>
                  <a:srgbClr val="FF00FF"/>
                </a:solidFill>
                <a:ea typeface="楷体_GB2312" charset="0"/>
              </a:rPr>
              <a:t>查找过程：</a:t>
            </a:r>
          </a:p>
        </p:txBody>
      </p:sp>
      <p:sp>
        <p:nvSpPr>
          <p:cNvPr id="99332" name="Rectangle 4"/>
          <p:cNvSpPr>
            <a:spLocks noChangeArrowheads="1"/>
          </p:cNvSpPr>
          <p:nvPr/>
        </p:nvSpPr>
        <p:spPr bwMode="auto">
          <a:xfrm>
            <a:off x="273050" y="3581400"/>
            <a:ext cx="8642350" cy="152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30000"/>
              </a:lnSpc>
            </a:pPr>
            <a:r>
              <a:rPr lang="en-US" altLang="zh-CN" sz="3600">
                <a:ea typeface="楷体_GB2312" charset="0"/>
              </a:rPr>
              <a:t>   </a:t>
            </a:r>
            <a:r>
              <a:rPr lang="zh-CN" altLang="en-US" sz="3600">
                <a:solidFill>
                  <a:schemeClr val="accent2"/>
                </a:solidFill>
                <a:ea typeface="楷体_GB2312" charset="0"/>
              </a:rPr>
              <a:t>若</a:t>
            </a:r>
            <a:r>
              <a:rPr lang="zh-CN" altLang="en-US" sz="3600" b="1">
                <a:solidFill>
                  <a:srgbClr val="A50021"/>
                </a:solidFill>
                <a:ea typeface="楷体_GB2312" charset="0"/>
              </a:rPr>
              <a:t>查找成功</a:t>
            </a:r>
            <a:r>
              <a:rPr lang="zh-CN" altLang="en-US" sz="3600">
                <a:solidFill>
                  <a:schemeClr val="accent2"/>
                </a:solidFill>
                <a:ea typeface="楷体_GB2312" charset="0"/>
              </a:rPr>
              <a:t>，则</a:t>
            </a:r>
            <a:r>
              <a:rPr lang="zh-CN" altLang="en-US" sz="3600" b="1">
                <a:solidFill>
                  <a:srgbClr val="A50021"/>
                </a:solidFill>
                <a:ea typeface="楷体_GB2312" charset="0"/>
              </a:rPr>
              <a:t>返回指向</a:t>
            </a:r>
            <a:r>
              <a:rPr lang="zh-CN" altLang="en-US" sz="3600">
                <a:solidFill>
                  <a:schemeClr val="accent2"/>
                </a:solidFill>
                <a:ea typeface="楷体_GB2312" charset="0"/>
              </a:rPr>
              <a:t>被查关键字所在</a:t>
            </a:r>
            <a:r>
              <a:rPr lang="zh-CN" altLang="en-US" sz="3600" b="1">
                <a:solidFill>
                  <a:srgbClr val="A50021"/>
                </a:solidFill>
                <a:ea typeface="楷体_GB2312" charset="0"/>
              </a:rPr>
              <a:t>结点的指针</a:t>
            </a:r>
            <a:r>
              <a:rPr lang="zh-CN" altLang="en-US" sz="3600">
                <a:solidFill>
                  <a:srgbClr val="A50021"/>
                </a:solidFill>
                <a:ea typeface="楷体_GB2312" charset="0"/>
              </a:rPr>
              <a:t>和</a:t>
            </a:r>
            <a:r>
              <a:rPr lang="zh-CN" altLang="en-US" sz="3600" b="1">
                <a:solidFill>
                  <a:srgbClr val="A50021"/>
                </a:solidFill>
                <a:ea typeface="楷体_GB2312" charset="0"/>
              </a:rPr>
              <a:t>关键字在结点中的位置</a:t>
            </a:r>
            <a:r>
              <a:rPr lang="zh-CN" altLang="en-US" sz="3600">
                <a:solidFill>
                  <a:schemeClr val="accent2"/>
                </a:solidFill>
                <a:ea typeface="楷体_GB2312" charset="0"/>
              </a:rPr>
              <a:t>；</a:t>
            </a:r>
            <a:endParaRPr lang="zh-CN" altLang="en-US" sz="3600">
              <a:ea typeface="楷体_GB2312" charset="0"/>
            </a:endParaRPr>
          </a:p>
        </p:txBody>
      </p:sp>
      <p:sp>
        <p:nvSpPr>
          <p:cNvPr id="99333" name="Rectangle 5"/>
          <p:cNvSpPr>
            <a:spLocks noChangeArrowheads="1"/>
          </p:cNvSpPr>
          <p:nvPr/>
        </p:nvSpPr>
        <p:spPr bwMode="auto">
          <a:xfrm>
            <a:off x="654050" y="5486400"/>
            <a:ext cx="7077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chemeClr val="accent2"/>
                </a:solidFill>
                <a:ea typeface="楷体_GB2312" charset="0"/>
              </a:rPr>
              <a:t>若</a:t>
            </a:r>
            <a:r>
              <a:rPr lang="zh-CN" altLang="en-US" sz="3600" b="1">
                <a:solidFill>
                  <a:srgbClr val="008080"/>
                </a:solidFill>
                <a:ea typeface="楷体_GB2312" charset="0"/>
              </a:rPr>
              <a:t>查找不成功</a:t>
            </a:r>
            <a:r>
              <a:rPr lang="zh-CN" altLang="en-US" sz="3600">
                <a:solidFill>
                  <a:schemeClr val="accent2"/>
                </a:solidFill>
                <a:ea typeface="楷体_GB2312" charset="0"/>
              </a:rPr>
              <a:t>，则</a:t>
            </a:r>
            <a:r>
              <a:rPr lang="zh-CN" altLang="en-US" sz="3600" b="1">
                <a:solidFill>
                  <a:srgbClr val="008080"/>
                </a:solidFill>
                <a:ea typeface="楷体_GB2312" charset="0"/>
              </a:rPr>
              <a:t>返回插入位置</a:t>
            </a:r>
            <a:r>
              <a:rPr lang="zh-CN" altLang="en-US" sz="3600">
                <a:solidFill>
                  <a:schemeClr val="accent2"/>
                </a:solidFill>
                <a:ea typeface="楷体_GB2312" charset="0"/>
              </a:rPr>
              <a:t>。</a:t>
            </a:r>
            <a:endParaRPr lang="zh-CN" altLang="en-US" sz="3600">
              <a:ea typeface="楷体_GB2312" charset="0"/>
            </a:endParaRPr>
          </a:p>
        </p:txBody>
      </p:sp>
      <p:sp>
        <p:nvSpPr>
          <p:cNvPr id="99335" name="AutoShape 7">
            <a:hlinkClick r:id="rId2"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9540000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9331"/>
                                        </p:tgtEl>
                                        <p:attrNameLst>
                                          <p:attrName>style.visibility</p:attrName>
                                        </p:attrNameLst>
                                      </p:cBhvr>
                                      <p:to>
                                        <p:strVal val="visible"/>
                                      </p:to>
                                    </p:set>
                                    <p:animEffect transition="in" filter="wipe(left)">
                                      <p:cBhvr>
                                        <p:cTn id="7" dur="500"/>
                                        <p:tgtEl>
                                          <p:spTgt spid="993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99330"/>
                                        </p:tgtEl>
                                        <p:attrNameLst>
                                          <p:attrName>style.visibility</p:attrName>
                                        </p:attrNameLst>
                                      </p:cBhvr>
                                      <p:to>
                                        <p:strVal val="visible"/>
                                      </p:to>
                                    </p:set>
                                    <p:animEffect transition="in" filter="strips(upRight)">
                                      <p:cBhvr>
                                        <p:cTn id="12" dur="500"/>
                                        <p:tgtEl>
                                          <p:spTgt spid="993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99332"/>
                                        </p:tgtEl>
                                        <p:attrNameLst>
                                          <p:attrName>style.visibility</p:attrName>
                                        </p:attrNameLst>
                                      </p:cBhvr>
                                      <p:to>
                                        <p:strVal val="visible"/>
                                      </p:to>
                                    </p:set>
                                    <p:animEffect transition="in" filter="strips(downRight)">
                                      <p:cBhvr>
                                        <p:cTn id="17" dur="500"/>
                                        <p:tgtEl>
                                          <p:spTgt spid="993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99333"/>
                                        </p:tgtEl>
                                        <p:attrNameLst>
                                          <p:attrName>style.visibility</p:attrName>
                                        </p:attrNameLst>
                                      </p:cBhvr>
                                      <p:to>
                                        <p:strVal val="visible"/>
                                      </p:to>
                                    </p:set>
                                    <p:animEffect transition="in" filter="strips(downRight)">
                                      <p:cBhvr>
                                        <p:cTn id="22" dur="500"/>
                                        <p:tgtEl>
                                          <p:spTgt spid="99333"/>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99335"/>
                                        </p:tgtEl>
                                        <p:attrNameLst>
                                          <p:attrName>style.visibility</p:attrName>
                                        </p:attrNameLst>
                                      </p:cBhvr>
                                      <p:to>
                                        <p:strVal val="visible"/>
                                      </p:to>
                                    </p:set>
                                    <p:anim calcmode="lin" valueType="num">
                                      <p:cBhvr additive="base">
                                        <p:cTn id="26" dur="500" fill="hold"/>
                                        <p:tgtEl>
                                          <p:spTgt spid="99335"/>
                                        </p:tgtEl>
                                        <p:attrNameLst>
                                          <p:attrName>ppt_x</p:attrName>
                                        </p:attrNameLst>
                                      </p:cBhvr>
                                      <p:tavLst>
                                        <p:tav tm="0">
                                          <p:val>
                                            <p:strVal val="1+#ppt_w/2"/>
                                          </p:val>
                                        </p:tav>
                                        <p:tav tm="100000">
                                          <p:val>
                                            <p:strVal val="#ppt_x"/>
                                          </p:val>
                                        </p:tav>
                                      </p:tavLst>
                                    </p:anim>
                                    <p:anim calcmode="lin" valueType="num">
                                      <p:cBhvr additive="base">
                                        <p:cTn id="27" dur="500" fill="hold"/>
                                        <p:tgtEl>
                                          <p:spTgt spid="993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autoUpdateAnimBg="0"/>
      <p:bldP spid="99331" grpId="0" autoUpdateAnimBg="0"/>
      <p:bldP spid="99332" grpId="0" autoUpdateAnimBg="0"/>
      <p:bldP spid="99333" grpId="0" autoUpdateAnimBg="0"/>
      <p:bldP spid="99335"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p:cNvSpPr txBox="1">
            <a:spLocks noChangeArrowheads="1"/>
          </p:cNvSpPr>
          <p:nvPr/>
        </p:nvSpPr>
        <p:spPr bwMode="auto">
          <a:xfrm>
            <a:off x="685800" y="2084388"/>
            <a:ext cx="8262938" cy="390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4000" b="1">
                <a:solidFill>
                  <a:srgbClr val="A50021"/>
                </a:solidFill>
                <a:ea typeface="楷体_GB2312" charset="0"/>
              </a:rPr>
              <a:t>typedef struct {</a:t>
            </a:r>
            <a:endParaRPr lang="en-US" altLang="zh-CN" sz="4000">
              <a:solidFill>
                <a:srgbClr val="A50021"/>
              </a:solidFill>
              <a:ea typeface="楷体_GB2312" charset="0"/>
            </a:endParaRPr>
          </a:p>
          <a:p>
            <a:pPr>
              <a:lnSpc>
                <a:spcPct val="125000"/>
              </a:lnSpc>
            </a:pPr>
            <a:r>
              <a:rPr lang="en-US" altLang="zh-CN" sz="4000">
                <a:solidFill>
                  <a:srgbClr val="A50021"/>
                </a:solidFill>
                <a:ea typeface="楷体_GB2312" charset="0"/>
              </a:rPr>
              <a:t>  BTNode  </a:t>
            </a:r>
            <a:r>
              <a:rPr lang="en-US" altLang="zh-CN" sz="4000" b="1">
                <a:solidFill>
                  <a:srgbClr val="A50021"/>
                </a:solidFill>
                <a:ea typeface="楷体_GB2312" charset="0"/>
              </a:rPr>
              <a:t>*</a:t>
            </a:r>
            <a:r>
              <a:rPr lang="en-US" altLang="zh-CN" sz="4000">
                <a:solidFill>
                  <a:srgbClr val="A50021"/>
                </a:solidFill>
                <a:ea typeface="楷体_GB2312" charset="0"/>
              </a:rPr>
              <a:t>pt;     </a:t>
            </a:r>
            <a:r>
              <a:rPr lang="en-US" altLang="zh-CN" sz="3200">
                <a:solidFill>
                  <a:srgbClr val="A50021"/>
                </a:solidFill>
                <a:ea typeface="楷体_GB2312" charset="0"/>
              </a:rPr>
              <a:t>// </a:t>
            </a:r>
            <a:r>
              <a:rPr lang="zh-CN" altLang="en-US" sz="3200">
                <a:solidFill>
                  <a:srgbClr val="A50021"/>
                </a:solidFill>
                <a:ea typeface="楷体_GB2312" charset="0"/>
              </a:rPr>
              <a:t>指向找到的结点的</a:t>
            </a:r>
            <a:r>
              <a:rPr lang="zh-CN" altLang="en-US" sz="3200" b="1">
                <a:solidFill>
                  <a:srgbClr val="FF00FF"/>
                </a:solidFill>
                <a:ea typeface="楷体_GB2312" charset="0"/>
              </a:rPr>
              <a:t>指针</a:t>
            </a:r>
            <a:endParaRPr lang="zh-CN" altLang="en-US" sz="4000">
              <a:solidFill>
                <a:srgbClr val="A50021"/>
              </a:solidFill>
              <a:ea typeface="楷体_GB2312" charset="0"/>
            </a:endParaRPr>
          </a:p>
          <a:p>
            <a:pPr>
              <a:lnSpc>
                <a:spcPct val="125000"/>
              </a:lnSpc>
            </a:pPr>
            <a:r>
              <a:rPr lang="zh-CN" altLang="en-US" sz="4000">
                <a:solidFill>
                  <a:srgbClr val="A50021"/>
                </a:solidFill>
                <a:ea typeface="楷体_GB2312" charset="0"/>
              </a:rPr>
              <a:t>  </a:t>
            </a:r>
            <a:r>
              <a:rPr lang="en-US" altLang="zh-CN" sz="4000" b="1">
                <a:solidFill>
                  <a:srgbClr val="A50021"/>
                </a:solidFill>
                <a:ea typeface="楷体_GB2312" charset="0"/>
              </a:rPr>
              <a:t>int</a:t>
            </a:r>
            <a:r>
              <a:rPr lang="en-US" altLang="zh-CN" sz="4000">
                <a:solidFill>
                  <a:srgbClr val="A50021"/>
                </a:solidFill>
                <a:ea typeface="楷体_GB2312" charset="0"/>
              </a:rPr>
              <a:t>  i;       </a:t>
            </a:r>
            <a:r>
              <a:rPr lang="en-US" altLang="zh-CN" sz="3200">
                <a:solidFill>
                  <a:srgbClr val="A50021"/>
                </a:solidFill>
                <a:ea typeface="楷体_GB2312" charset="0"/>
              </a:rPr>
              <a:t>// 1..m</a:t>
            </a:r>
            <a:r>
              <a:rPr lang="zh-CN" altLang="en-US" sz="3200">
                <a:solidFill>
                  <a:srgbClr val="A50021"/>
                </a:solidFill>
                <a:ea typeface="楷体_GB2312" charset="0"/>
              </a:rPr>
              <a:t>，在结点中的关键字</a:t>
            </a:r>
            <a:r>
              <a:rPr lang="zh-CN" altLang="en-US" sz="3200" b="1">
                <a:solidFill>
                  <a:srgbClr val="FF00FF"/>
                </a:solidFill>
                <a:ea typeface="楷体_GB2312" charset="0"/>
              </a:rPr>
              <a:t>序号</a:t>
            </a:r>
            <a:endParaRPr lang="zh-CN" altLang="en-US" sz="4000">
              <a:solidFill>
                <a:srgbClr val="A50021"/>
              </a:solidFill>
              <a:ea typeface="楷体_GB2312" charset="0"/>
            </a:endParaRPr>
          </a:p>
          <a:p>
            <a:pPr>
              <a:lnSpc>
                <a:spcPct val="125000"/>
              </a:lnSpc>
            </a:pPr>
            <a:r>
              <a:rPr lang="zh-CN" altLang="en-US" sz="4000">
                <a:solidFill>
                  <a:srgbClr val="A50021"/>
                </a:solidFill>
                <a:ea typeface="楷体_GB2312" charset="0"/>
              </a:rPr>
              <a:t>  </a:t>
            </a:r>
            <a:r>
              <a:rPr lang="en-US" altLang="zh-CN" sz="4000" b="1">
                <a:solidFill>
                  <a:srgbClr val="A50021"/>
                </a:solidFill>
                <a:ea typeface="楷体_GB2312" charset="0"/>
              </a:rPr>
              <a:t>int</a:t>
            </a:r>
            <a:r>
              <a:rPr lang="en-US" altLang="zh-CN" sz="4000">
                <a:solidFill>
                  <a:srgbClr val="A50021"/>
                </a:solidFill>
                <a:ea typeface="楷体_GB2312" charset="0"/>
              </a:rPr>
              <a:t>  tag;   </a:t>
            </a:r>
            <a:r>
              <a:rPr lang="en-US" altLang="zh-CN" sz="3200">
                <a:solidFill>
                  <a:srgbClr val="A50021"/>
                </a:solidFill>
                <a:ea typeface="楷体_GB2312" charset="0"/>
              </a:rPr>
              <a:t>// </a:t>
            </a:r>
            <a:r>
              <a:rPr lang="zh-CN" altLang="en-US" sz="3200" b="1">
                <a:solidFill>
                  <a:srgbClr val="FF00FF"/>
                </a:solidFill>
                <a:ea typeface="楷体_GB2312" charset="0"/>
              </a:rPr>
              <a:t>标志</a:t>
            </a:r>
            <a:r>
              <a:rPr lang="zh-CN" altLang="en-US" sz="3200">
                <a:solidFill>
                  <a:srgbClr val="A50021"/>
                </a:solidFill>
                <a:ea typeface="楷体_GB2312" charset="0"/>
              </a:rPr>
              <a:t>查找成功</a:t>
            </a:r>
            <a:r>
              <a:rPr lang="en-US" altLang="zh-CN" sz="3200">
                <a:solidFill>
                  <a:srgbClr val="A50021"/>
                </a:solidFill>
                <a:ea typeface="楷体_GB2312" charset="0"/>
              </a:rPr>
              <a:t>(=1)</a:t>
            </a:r>
            <a:r>
              <a:rPr lang="zh-CN" altLang="en-US" sz="3200">
                <a:solidFill>
                  <a:srgbClr val="A50021"/>
                </a:solidFill>
                <a:ea typeface="楷体_GB2312" charset="0"/>
              </a:rPr>
              <a:t>或失败</a:t>
            </a:r>
            <a:r>
              <a:rPr lang="en-US" altLang="zh-CN" sz="3200">
                <a:solidFill>
                  <a:srgbClr val="A50021"/>
                </a:solidFill>
                <a:ea typeface="楷体_GB2312" charset="0"/>
              </a:rPr>
              <a:t>(=0)</a:t>
            </a:r>
            <a:endParaRPr lang="en-US" altLang="zh-CN" sz="4000">
              <a:solidFill>
                <a:srgbClr val="A50021"/>
              </a:solidFill>
              <a:ea typeface="楷体_GB2312" charset="0"/>
            </a:endParaRPr>
          </a:p>
          <a:p>
            <a:pPr>
              <a:lnSpc>
                <a:spcPct val="125000"/>
              </a:lnSpc>
            </a:pPr>
            <a:r>
              <a:rPr lang="en-US" altLang="zh-CN" sz="4000" b="1">
                <a:solidFill>
                  <a:srgbClr val="A50021"/>
                </a:solidFill>
                <a:ea typeface="楷体_GB2312" charset="0"/>
              </a:rPr>
              <a:t>}</a:t>
            </a:r>
            <a:r>
              <a:rPr lang="en-US" altLang="zh-CN" sz="4000">
                <a:solidFill>
                  <a:srgbClr val="A50021"/>
                </a:solidFill>
                <a:ea typeface="楷体_GB2312" charset="0"/>
              </a:rPr>
              <a:t> Result;             </a:t>
            </a:r>
            <a:r>
              <a:rPr lang="en-US" altLang="zh-CN" sz="3200">
                <a:solidFill>
                  <a:srgbClr val="A50021"/>
                </a:solidFill>
                <a:ea typeface="楷体_GB2312" charset="0"/>
              </a:rPr>
              <a:t>// </a:t>
            </a:r>
            <a:r>
              <a:rPr lang="zh-CN" altLang="en-US" sz="3200">
                <a:solidFill>
                  <a:srgbClr val="A50021"/>
                </a:solidFill>
                <a:ea typeface="楷体_GB2312" charset="0"/>
              </a:rPr>
              <a:t>在</a:t>
            </a:r>
            <a:r>
              <a:rPr lang="en-US" altLang="zh-CN" sz="3200">
                <a:solidFill>
                  <a:srgbClr val="A50021"/>
                </a:solidFill>
                <a:ea typeface="楷体_GB2312" charset="0"/>
              </a:rPr>
              <a:t>B</a:t>
            </a:r>
            <a:r>
              <a:rPr lang="zh-CN" altLang="en-US" sz="3200">
                <a:solidFill>
                  <a:srgbClr val="A50021"/>
                </a:solidFill>
                <a:ea typeface="楷体_GB2312" charset="0"/>
              </a:rPr>
              <a:t>树的查找结果类型</a:t>
            </a:r>
            <a:endParaRPr lang="zh-CN" altLang="en-US" sz="4000"/>
          </a:p>
        </p:txBody>
      </p:sp>
      <p:sp>
        <p:nvSpPr>
          <p:cNvPr id="100355" name="Text Box 3"/>
          <p:cNvSpPr txBox="1">
            <a:spLocks noChangeArrowheads="1"/>
          </p:cNvSpPr>
          <p:nvPr/>
        </p:nvSpPr>
        <p:spPr bwMode="auto">
          <a:xfrm>
            <a:off x="533400" y="957263"/>
            <a:ext cx="831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a:solidFill>
                  <a:srgbClr val="990099"/>
                </a:solidFill>
                <a:ea typeface="楷体_GB2312" charset="0"/>
              </a:rPr>
              <a:t>假设返回的是如下所述结构的记录：</a:t>
            </a:r>
          </a:p>
        </p:txBody>
      </p:sp>
    </p:spTree>
    <p:extLst>
      <p:ext uri="{BB962C8B-B14F-4D97-AF65-F5344CB8AC3E}">
        <p14:creationId xmlns:p14="http://schemas.microsoft.com/office/powerpoint/2010/main" val="51141846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0355"/>
                                        </p:tgtEl>
                                        <p:attrNameLst>
                                          <p:attrName>style.visibility</p:attrName>
                                        </p:attrNameLst>
                                      </p:cBhvr>
                                      <p:to>
                                        <p:strVal val="visible"/>
                                      </p:to>
                                    </p:set>
                                    <p:animEffect transition="in" filter="wipe(left)">
                                      <p:cBhvr>
                                        <p:cTn id="7" dur="500"/>
                                        <p:tgtEl>
                                          <p:spTgt spid="1003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9" fill="hold" grpId="0" nodeType="clickEffect">
                                  <p:stCondLst>
                                    <p:cond delay="0"/>
                                  </p:stCondLst>
                                  <p:childTnLst>
                                    <p:set>
                                      <p:cBhvr>
                                        <p:cTn id="11" dur="1" fill="hold">
                                          <p:stCondLst>
                                            <p:cond delay="0"/>
                                          </p:stCondLst>
                                        </p:cTn>
                                        <p:tgtEl>
                                          <p:spTgt spid="100354"/>
                                        </p:tgtEl>
                                        <p:attrNameLst>
                                          <p:attrName>style.visibility</p:attrName>
                                        </p:attrNameLst>
                                      </p:cBhvr>
                                      <p:to>
                                        <p:strVal val="visible"/>
                                      </p:to>
                                    </p:set>
                                    <p:animEffect transition="in" filter="strips(upLeft)">
                                      <p:cBhvr>
                                        <p:cTn id="12" dur="500"/>
                                        <p:tgtEl>
                                          <p:spTgt spid="100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autoUpdateAnimBg="0"/>
      <p:bldP spid="100355" grpId="0"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p:cNvSpPr txBox="1">
            <a:spLocks noChangeArrowheads="1"/>
          </p:cNvSpPr>
          <p:nvPr/>
        </p:nvSpPr>
        <p:spPr bwMode="auto">
          <a:xfrm>
            <a:off x="304800" y="152400"/>
            <a:ext cx="8670925" cy="6278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600" b="1">
                <a:solidFill>
                  <a:srgbClr val="A50021"/>
                </a:solidFill>
                <a:ea typeface="楷体_GB2312" charset="0"/>
              </a:rPr>
              <a:t>Result</a:t>
            </a:r>
            <a:r>
              <a:rPr lang="en-US" altLang="zh-CN" sz="3600">
                <a:solidFill>
                  <a:srgbClr val="A50021"/>
                </a:solidFill>
                <a:ea typeface="楷体_GB2312" charset="0"/>
              </a:rPr>
              <a:t> SearchBTree(BTree T, KeyType K) </a:t>
            </a:r>
            <a:r>
              <a:rPr lang="en-US" altLang="zh-CN" sz="3600" b="1">
                <a:solidFill>
                  <a:srgbClr val="A50021"/>
                </a:solidFill>
                <a:ea typeface="楷体_GB2312" charset="0"/>
              </a:rPr>
              <a:t>{</a:t>
            </a:r>
          </a:p>
          <a:p>
            <a:pPr>
              <a:lnSpc>
                <a:spcPct val="125000"/>
              </a:lnSpc>
            </a:pPr>
            <a:r>
              <a:rPr lang="en-US" altLang="zh-CN" sz="3600" b="1">
                <a:solidFill>
                  <a:srgbClr val="A50021"/>
                </a:solidFill>
                <a:ea typeface="楷体_GB2312" charset="0"/>
              </a:rPr>
              <a:t>  </a:t>
            </a:r>
            <a:r>
              <a:rPr lang="en-US" altLang="zh-CN" sz="3600">
                <a:solidFill>
                  <a:srgbClr val="A50021"/>
                </a:solidFill>
                <a:ea typeface="楷体_GB2312" charset="0"/>
              </a:rPr>
              <a:t>// </a:t>
            </a:r>
            <a:r>
              <a:rPr lang="zh-CN" altLang="en-US" sz="3600">
                <a:solidFill>
                  <a:srgbClr val="A50021"/>
                </a:solidFill>
                <a:ea typeface="楷体_GB2312" charset="0"/>
              </a:rPr>
              <a:t>在</a:t>
            </a:r>
            <a:r>
              <a:rPr lang="en-US" altLang="zh-CN" sz="3600">
                <a:solidFill>
                  <a:srgbClr val="A50021"/>
                </a:solidFill>
                <a:ea typeface="楷体_GB2312" charset="0"/>
              </a:rPr>
              <a:t>m </a:t>
            </a:r>
            <a:r>
              <a:rPr lang="zh-CN" altLang="en-US" sz="3600">
                <a:solidFill>
                  <a:srgbClr val="A50021"/>
                </a:solidFill>
                <a:ea typeface="楷体_GB2312" charset="0"/>
              </a:rPr>
              <a:t>阶的</a:t>
            </a:r>
            <a:r>
              <a:rPr lang="en-US" altLang="zh-CN" sz="3600">
                <a:solidFill>
                  <a:srgbClr val="A50021"/>
                </a:solidFill>
                <a:ea typeface="楷体_GB2312" charset="0"/>
              </a:rPr>
              <a:t>B-</a:t>
            </a:r>
            <a:r>
              <a:rPr lang="zh-CN" altLang="en-US" sz="3600">
                <a:solidFill>
                  <a:srgbClr val="A50021"/>
                </a:solidFill>
                <a:ea typeface="楷体_GB2312" charset="0"/>
              </a:rPr>
              <a:t>树 </a:t>
            </a:r>
            <a:r>
              <a:rPr lang="en-US" altLang="zh-CN" sz="3600">
                <a:solidFill>
                  <a:srgbClr val="A50021"/>
                </a:solidFill>
                <a:ea typeface="楷体_GB2312" charset="0"/>
              </a:rPr>
              <a:t>T </a:t>
            </a:r>
            <a:r>
              <a:rPr lang="zh-CN" altLang="en-US" sz="3600">
                <a:solidFill>
                  <a:srgbClr val="A50021"/>
                </a:solidFill>
                <a:ea typeface="楷体_GB2312" charset="0"/>
              </a:rPr>
              <a:t>中查找关键字 </a:t>
            </a:r>
            <a:r>
              <a:rPr lang="en-US" altLang="zh-CN" sz="3600">
                <a:solidFill>
                  <a:srgbClr val="A50021"/>
                </a:solidFill>
                <a:ea typeface="楷体_GB2312" charset="0"/>
              </a:rPr>
              <a:t>K, </a:t>
            </a:r>
            <a:r>
              <a:rPr lang="zh-CN" altLang="en-US" sz="3600">
                <a:solidFill>
                  <a:srgbClr val="A50021"/>
                </a:solidFill>
                <a:ea typeface="楷体_GB2312" charset="0"/>
              </a:rPr>
              <a:t>返回</a:t>
            </a:r>
          </a:p>
          <a:p>
            <a:pPr>
              <a:lnSpc>
                <a:spcPct val="125000"/>
              </a:lnSpc>
            </a:pPr>
            <a:r>
              <a:rPr lang="zh-CN" altLang="en-US" sz="3600">
                <a:solidFill>
                  <a:srgbClr val="A50021"/>
                </a:solidFill>
                <a:ea typeface="楷体_GB2312" charset="0"/>
              </a:rPr>
              <a:t>  </a:t>
            </a:r>
            <a:r>
              <a:rPr lang="en-US" altLang="zh-CN" sz="3600">
                <a:solidFill>
                  <a:srgbClr val="A50021"/>
                </a:solidFill>
                <a:ea typeface="楷体_GB2312" charset="0"/>
              </a:rPr>
              <a:t>// </a:t>
            </a:r>
            <a:r>
              <a:rPr lang="zh-CN" altLang="en-US" sz="3600">
                <a:solidFill>
                  <a:srgbClr val="A50021"/>
                </a:solidFill>
                <a:ea typeface="楷体_GB2312" charset="0"/>
              </a:rPr>
              <a:t>查找结果 </a:t>
            </a:r>
            <a:r>
              <a:rPr lang="en-US" altLang="zh-CN" sz="3600">
                <a:solidFill>
                  <a:srgbClr val="FF00FF"/>
                </a:solidFill>
                <a:ea typeface="楷体_GB2312" charset="0"/>
              </a:rPr>
              <a:t>(pt, i, tag)</a:t>
            </a:r>
            <a:r>
              <a:rPr lang="zh-CN" altLang="en-US" sz="3600">
                <a:solidFill>
                  <a:srgbClr val="A50021"/>
                </a:solidFill>
                <a:ea typeface="楷体_GB2312" charset="0"/>
              </a:rPr>
              <a:t>。若查找成功，则</a:t>
            </a:r>
          </a:p>
          <a:p>
            <a:pPr>
              <a:lnSpc>
                <a:spcPct val="125000"/>
              </a:lnSpc>
            </a:pPr>
            <a:r>
              <a:rPr lang="zh-CN" altLang="en-US" sz="3600">
                <a:solidFill>
                  <a:srgbClr val="A50021"/>
                </a:solidFill>
                <a:ea typeface="楷体_GB2312" charset="0"/>
              </a:rPr>
              <a:t>  </a:t>
            </a:r>
            <a:r>
              <a:rPr lang="en-US" altLang="zh-CN" sz="3600">
                <a:solidFill>
                  <a:srgbClr val="A50021"/>
                </a:solidFill>
                <a:ea typeface="楷体_GB2312" charset="0"/>
              </a:rPr>
              <a:t>// </a:t>
            </a:r>
            <a:r>
              <a:rPr lang="zh-CN" altLang="en-US" sz="3600">
                <a:solidFill>
                  <a:srgbClr val="A50021"/>
                </a:solidFill>
                <a:ea typeface="楷体_GB2312" charset="0"/>
              </a:rPr>
              <a:t>特征值 </a:t>
            </a:r>
            <a:r>
              <a:rPr lang="en-US" altLang="zh-CN" sz="3600">
                <a:solidFill>
                  <a:srgbClr val="A50021"/>
                </a:solidFill>
                <a:ea typeface="楷体_GB2312" charset="0"/>
              </a:rPr>
              <a:t>tag=1, </a:t>
            </a:r>
            <a:r>
              <a:rPr lang="zh-CN" altLang="en-US" sz="3600">
                <a:solidFill>
                  <a:srgbClr val="A50021"/>
                </a:solidFill>
                <a:ea typeface="楷体_GB2312" charset="0"/>
              </a:rPr>
              <a:t>指针 </a:t>
            </a:r>
            <a:r>
              <a:rPr lang="en-US" altLang="zh-CN" sz="3600">
                <a:solidFill>
                  <a:srgbClr val="A50021"/>
                </a:solidFill>
                <a:ea typeface="楷体_GB2312" charset="0"/>
              </a:rPr>
              <a:t>pt </a:t>
            </a:r>
            <a:r>
              <a:rPr lang="zh-CN" altLang="en-US" sz="3600">
                <a:solidFill>
                  <a:srgbClr val="A50021"/>
                </a:solidFill>
                <a:ea typeface="楷体_GB2312" charset="0"/>
              </a:rPr>
              <a:t>所指结点中第 </a:t>
            </a:r>
            <a:r>
              <a:rPr lang="en-US" altLang="zh-CN" sz="3600">
                <a:solidFill>
                  <a:srgbClr val="A50021"/>
                </a:solidFill>
                <a:ea typeface="楷体_GB2312" charset="0"/>
              </a:rPr>
              <a:t>i </a:t>
            </a:r>
            <a:r>
              <a:rPr lang="zh-CN" altLang="en-US" sz="3600">
                <a:solidFill>
                  <a:srgbClr val="A50021"/>
                </a:solidFill>
                <a:ea typeface="楷体_GB2312" charset="0"/>
              </a:rPr>
              <a:t>个</a:t>
            </a:r>
          </a:p>
          <a:p>
            <a:pPr>
              <a:lnSpc>
                <a:spcPct val="125000"/>
              </a:lnSpc>
            </a:pPr>
            <a:r>
              <a:rPr lang="zh-CN" altLang="en-US" sz="3600">
                <a:solidFill>
                  <a:srgbClr val="A50021"/>
                </a:solidFill>
                <a:ea typeface="楷体_GB2312" charset="0"/>
              </a:rPr>
              <a:t>  </a:t>
            </a:r>
            <a:r>
              <a:rPr lang="en-US" altLang="zh-CN" sz="3600">
                <a:solidFill>
                  <a:srgbClr val="A50021"/>
                </a:solidFill>
                <a:ea typeface="楷体_GB2312" charset="0"/>
              </a:rPr>
              <a:t>// </a:t>
            </a:r>
            <a:r>
              <a:rPr lang="zh-CN" altLang="en-US" sz="3600">
                <a:solidFill>
                  <a:srgbClr val="A50021"/>
                </a:solidFill>
                <a:ea typeface="楷体_GB2312" charset="0"/>
              </a:rPr>
              <a:t>关键字等于 </a:t>
            </a:r>
            <a:r>
              <a:rPr lang="en-US" altLang="zh-CN" sz="3600">
                <a:solidFill>
                  <a:srgbClr val="A50021"/>
                </a:solidFill>
                <a:ea typeface="楷体_GB2312" charset="0"/>
              </a:rPr>
              <a:t>K</a:t>
            </a:r>
            <a:r>
              <a:rPr lang="zh-CN" altLang="en-US" sz="3600">
                <a:solidFill>
                  <a:srgbClr val="A50021"/>
                </a:solidFill>
                <a:ea typeface="楷体_GB2312" charset="0"/>
              </a:rPr>
              <a:t>； 否则特征值 </a:t>
            </a:r>
            <a:r>
              <a:rPr lang="en-US" altLang="zh-CN" sz="3600">
                <a:solidFill>
                  <a:srgbClr val="A50021"/>
                </a:solidFill>
                <a:ea typeface="楷体_GB2312" charset="0"/>
              </a:rPr>
              <a:t>tag=0, </a:t>
            </a:r>
            <a:r>
              <a:rPr lang="zh-CN" altLang="en-US" sz="3600">
                <a:solidFill>
                  <a:srgbClr val="A50021"/>
                </a:solidFill>
                <a:ea typeface="楷体_GB2312" charset="0"/>
              </a:rPr>
              <a:t>等于</a:t>
            </a:r>
          </a:p>
          <a:p>
            <a:pPr>
              <a:lnSpc>
                <a:spcPct val="125000"/>
              </a:lnSpc>
            </a:pPr>
            <a:r>
              <a:rPr lang="zh-CN" altLang="en-US" sz="3600">
                <a:solidFill>
                  <a:srgbClr val="A50021"/>
                </a:solidFill>
                <a:ea typeface="楷体_GB2312" charset="0"/>
              </a:rPr>
              <a:t>  </a:t>
            </a:r>
            <a:r>
              <a:rPr lang="en-US" altLang="zh-CN" sz="3600">
                <a:solidFill>
                  <a:srgbClr val="A50021"/>
                </a:solidFill>
                <a:ea typeface="楷体_GB2312" charset="0"/>
              </a:rPr>
              <a:t>//  K </a:t>
            </a:r>
            <a:r>
              <a:rPr lang="zh-CN" altLang="en-US" sz="3600">
                <a:solidFill>
                  <a:srgbClr val="A50021"/>
                </a:solidFill>
                <a:ea typeface="楷体_GB2312" charset="0"/>
              </a:rPr>
              <a:t>的关键字应插入在指针 </a:t>
            </a:r>
            <a:r>
              <a:rPr lang="en-US" altLang="zh-CN" sz="3600">
                <a:solidFill>
                  <a:srgbClr val="A50021"/>
                </a:solidFill>
                <a:ea typeface="楷体_GB2312" charset="0"/>
              </a:rPr>
              <a:t>pt </a:t>
            </a:r>
            <a:r>
              <a:rPr lang="zh-CN" altLang="en-US" sz="3600">
                <a:solidFill>
                  <a:srgbClr val="A50021"/>
                </a:solidFill>
                <a:ea typeface="楷体_GB2312" charset="0"/>
              </a:rPr>
              <a:t>所指结点</a:t>
            </a:r>
          </a:p>
          <a:p>
            <a:pPr>
              <a:lnSpc>
                <a:spcPct val="125000"/>
              </a:lnSpc>
            </a:pPr>
            <a:r>
              <a:rPr lang="zh-CN" altLang="en-US" sz="3600">
                <a:solidFill>
                  <a:srgbClr val="A50021"/>
                </a:solidFill>
                <a:ea typeface="楷体_GB2312" charset="0"/>
              </a:rPr>
              <a:t>  </a:t>
            </a:r>
            <a:r>
              <a:rPr lang="en-US" altLang="zh-CN" sz="3600">
                <a:solidFill>
                  <a:srgbClr val="A50021"/>
                </a:solidFill>
                <a:ea typeface="楷体_GB2312" charset="0"/>
              </a:rPr>
              <a:t>// </a:t>
            </a:r>
            <a:r>
              <a:rPr lang="zh-CN" altLang="en-US" sz="3600">
                <a:solidFill>
                  <a:srgbClr val="A50021"/>
                </a:solidFill>
                <a:ea typeface="楷体_GB2312" charset="0"/>
              </a:rPr>
              <a:t>中第 </a:t>
            </a:r>
            <a:r>
              <a:rPr lang="en-US" altLang="zh-CN" sz="3600">
                <a:solidFill>
                  <a:srgbClr val="A50021"/>
                </a:solidFill>
                <a:ea typeface="楷体_GB2312" charset="0"/>
              </a:rPr>
              <a:t>i </a:t>
            </a:r>
            <a:r>
              <a:rPr lang="zh-CN" altLang="en-US" sz="3600">
                <a:solidFill>
                  <a:srgbClr val="A50021"/>
                </a:solidFill>
                <a:ea typeface="楷体_GB2312" charset="0"/>
              </a:rPr>
              <a:t>个关键字和第 </a:t>
            </a:r>
            <a:r>
              <a:rPr lang="en-US" altLang="zh-CN" sz="3600">
                <a:solidFill>
                  <a:srgbClr val="A50021"/>
                </a:solidFill>
                <a:ea typeface="楷体_GB2312" charset="0"/>
              </a:rPr>
              <a:t>i+1</a:t>
            </a:r>
            <a:r>
              <a:rPr lang="zh-CN" altLang="en-US" sz="3600">
                <a:solidFill>
                  <a:srgbClr val="A50021"/>
                </a:solidFill>
                <a:ea typeface="楷体_GB2312" charset="0"/>
              </a:rPr>
              <a:t>个关键字之间</a:t>
            </a:r>
          </a:p>
          <a:p>
            <a:pPr>
              <a:lnSpc>
                <a:spcPct val="125000"/>
              </a:lnSpc>
            </a:pPr>
            <a:endParaRPr lang="zh-CN" altLang="en-US" sz="3600" b="1">
              <a:solidFill>
                <a:srgbClr val="A50021"/>
              </a:solidFill>
              <a:ea typeface="楷体_GB2312" charset="0"/>
            </a:endParaRPr>
          </a:p>
          <a:p>
            <a:pPr>
              <a:lnSpc>
                <a:spcPct val="125000"/>
              </a:lnSpc>
            </a:pPr>
            <a:r>
              <a:rPr lang="en-US" altLang="zh-CN" sz="3600" b="1">
                <a:solidFill>
                  <a:srgbClr val="A50021"/>
                </a:solidFill>
                <a:ea typeface="楷体_GB2312" charset="0"/>
              </a:rPr>
              <a:t>}</a:t>
            </a:r>
            <a:r>
              <a:rPr lang="en-US" altLang="zh-CN" sz="3600">
                <a:solidFill>
                  <a:srgbClr val="A50021"/>
                </a:solidFill>
                <a:ea typeface="楷体_GB2312" charset="0"/>
              </a:rPr>
              <a:t> // SearchBTree</a:t>
            </a:r>
            <a:endParaRPr lang="en-US" altLang="zh-CN" sz="3600">
              <a:solidFill>
                <a:srgbClr val="A50021"/>
              </a:solidFill>
            </a:endParaRPr>
          </a:p>
        </p:txBody>
      </p:sp>
      <p:sp>
        <p:nvSpPr>
          <p:cNvPr id="101380" name="Text Box 4">
            <a:hlinkClick r:id="" action="ppaction://hlinkshowjump?jump=nextslide"/>
          </p:cNvPr>
          <p:cNvSpPr txBox="1">
            <a:spLocks noChangeArrowheads="1"/>
          </p:cNvSpPr>
          <p:nvPr/>
        </p:nvSpPr>
        <p:spPr bwMode="auto">
          <a:xfrm>
            <a:off x="1050925" y="4949825"/>
            <a:ext cx="145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FF"/>
                </a:solidFill>
              </a:rPr>
              <a:t>…  …</a:t>
            </a:r>
            <a:endParaRPr lang="en-US" altLang="zh-CN"/>
          </a:p>
        </p:txBody>
      </p:sp>
      <p:sp>
        <p:nvSpPr>
          <p:cNvPr id="101381" name="AutoShape 5">
            <a:hlinkClick r:id="rId2"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6234941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9" fill="hold" grpId="0" nodeType="after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strips(upLeft)">
                                      <p:cBhvr>
                                        <p:cTn id="7" dur="500"/>
                                        <p:tgtEl>
                                          <p:spTgt spid="101378"/>
                                        </p:tgtEl>
                                      </p:cBhvr>
                                    </p:animEffect>
                                  </p:childTnLst>
                                </p:cTn>
                              </p:par>
                            </p:childTnLst>
                          </p:cTn>
                        </p:par>
                        <p:par>
                          <p:cTn id="8" fill="hold" nodeType="afterGroup">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101380"/>
                                        </p:tgtEl>
                                        <p:attrNameLst>
                                          <p:attrName>style.visibility</p:attrName>
                                        </p:attrNameLst>
                                      </p:cBhvr>
                                      <p:to>
                                        <p:strVal val="visible"/>
                                      </p:to>
                                    </p:set>
                                    <p:animEffect transition="in" filter="slide(fromRight)">
                                      <p:cBhvr>
                                        <p:cTn id="11" dur="500"/>
                                        <p:tgtEl>
                                          <p:spTgt spid="101380"/>
                                        </p:tgtEl>
                                      </p:cBhvr>
                                    </p:animEffect>
                                  </p:childTnLst>
                                </p:cTn>
                              </p:par>
                            </p:childTnLst>
                          </p:cTn>
                        </p:par>
                        <p:par>
                          <p:cTn id="12" fill="hold" nodeType="afterGroup">
                            <p:stCondLst>
                              <p:cond delay="1000"/>
                            </p:stCondLst>
                            <p:childTnLst>
                              <p:par>
                                <p:cTn id="13" presetID="2" presetClass="entr" presetSubtype="6" fill="hold" grpId="0" nodeType="afterEffect">
                                  <p:stCondLst>
                                    <p:cond delay="0"/>
                                  </p:stCondLst>
                                  <p:childTnLst>
                                    <p:set>
                                      <p:cBhvr>
                                        <p:cTn id="14" dur="1" fill="hold">
                                          <p:stCondLst>
                                            <p:cond delay="0"/>
                                          </p:stCondLst>
                                        </p:cTn>
                                        <p:tgtEl>
                                          <p:spTgt spid="101381"/>
                                        </p:tgtEl>
                                        <p:attrNameLst>
                                          <p:attrName>style.visibility</p:attrName>
                                        </p:attrNameLst>
                                      </p:cBhvr>
                                      <p:to>
                                        <p:strVal val="visible"/>
                                      </p:to>
                                    </p:set>
                                    <p:anim calcmode="lin" valueType="num">
                                      <p:cBhvr additive="base">
                                        <p:cTn id="15" dur="500" fill="hold"/>
                                        <p:tgtEl>
                                          <p:spTgt spid="101381"/>
                                        </p:tgtEl>
                                        <p:attrNameLst>
                                          <p:attrName>ppt_x</p:attrName>
                                        </p:attrNameLst>
                                      </p:cBhvr>
                                      <p:tavLst>
                                        <p:tav tm="0">
                                          <p:val>
                                            <p:strVal val="1+#ppt_w/2"/>
                                          </p:val>
                                        </p:tav>
                                        <p:tav tm="100000">
                                          <p:val>
                                            <p:strVal val="#ppt_x"/>
                                          </p:val>
                                        </p:tav>
                                      </p:tavLst>
                                    </p:anim>
                                    <p:anim calcmode="lin" valueType="num">
                                      <p:cBhvr additive="base">
                                        <p:cTn id="16" dur="500" fill="hold"/>
                                        <p:tgtEl>
                                          <p:spTgt spid="1013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autoUpdateAnimBg="0"/>
      <p:bldP spid="101380" grpId="0" autoUpdateAnimBg="0"/>
      <p:bldP spid="101381"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ChangeArrowheads="1"/>
          </p:cNvSpPr>
          <p:nvPr/>
        </p:nvSpPr>
        <p:spPr bwMode="auto">
          <a:xfrm>
            <a:off x="228600" y="228600"/>
            <a:ext cx="8728075" cy="6278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600">
                <a:ea typeface="楷体_GB2312" charset="0"/>
              </a:rPr>
              <a:t> p=T;  q=</a:t>
            </a:r>
            <a:r>
              <a:rPr lang="en-US" altLang="zh-CN" sz="3600" b="1">
                <a:ea typeface="楷体_GB2312" charset="0"/>
              </a:rPr>
              <a:t>NULL</a:t>
            </a:r>
            <a:r>
              <a:rPr lang="en-US" altLang="zh-CN" sz="3600">
                <a:ea typeface="楷体_GB2312" charset="0"/>
              </a:rPr>
              <a:t>;  found=</a:t>
            </a:r>
            <a:r>
              <a:rPr lang="en-US" altLang="zh-CN" sz="3600" b="1">
                <a:ea typeface="楷体_GB2312" charset="0"/>
              </a:rPr>
              <a:t>FALSE</a:t>
            </a:r>
            <a:r>
              <a:rPr lang="en-US" altLang="zh-CN" sz="3600">
                <a:ea typeface="楷体_GB2312" charset="0"/>
              </a:rPr>
              <a:t>;  i=0; </a:t>
            </a:r>
          </a:p>
          <a:p>
            <a:pPr>
              <a:lnSpc>
                <a:spcPct val="125000"/>
              </a:lnSpc>
            </a:pPr>
            <a:r>
              <a:rPr lang="en-US" altLang="zh-CN" sz="3600">
                <a:ea typeface="楷体_GB2312" charset="0"/>
              </a:rPr>
              <a:t> </a:t>
            </a:r>
            <a:r>
              <a:rPr lang="en-US" altLang="zh-CN" sz="3600" b="1">
                <a:solidFill>
                  <a:srgbClr val="0000FF"/>
                </a:solidFill>
                <a:ea typeface="楷体_GB2312" charset="0"/>
              </a:rPr>
              <a:t>while</a:t>
            </a:r>
            <a:r>
              <a:rPr lang="en-US" altLang="zh-CN" sz="3600">
                <a:solidFill>
                  <a:srgbClr val="0000FF"/>
                </a:solidFill>
                <a:ea typeface="楷体_GB2312" charset="0"/>
              </a:rPr>
              <a:t> (p </a:t>
            </a:r>
            <a:r>
              <a:rPr lang="en-US" altLang="zh-CN" sz="3600" b="1">
                <a:solidFill>
                  <a:srgbClr val="0000FF"/>
                </a:solidFill>
                <a:ea typeface="楷体_GB2312" charset="0"/>
              </a:rPr>
              <a:t>&amp;&amp; !</a:t>
            </a:r>
            <a:r>
              <a:rPr lang="en-US" altLang="zh-CN" sz="3600">
                <a:solidFill>
                  <a:srgbClr val="0000FF"/>
                </a:solidFill>
                <a:ea typeface="楷体_GB2312" charset="0"/>
              </a:rPr>
              <a:t>found) </a:t>
            </a:r>
            <a:r>
              <a:rPr lang="en-US" altLang="zh-CN" sz="3600" b="1">
                <a:ea typeface="楷体_GB2312" charset="0"/>
              </a:rPr>
              <a:t>{</a:t>
            </a:r>
            <a:endParaRPr lang="en-US" altLang="zh-CN" sz="3600">
              <a:ea typeface="楷体_GB2312" charset="0"/>
            </a:endParaRPr>
          </a:p>
          <a:p>
            <a:pPr>
              <a:lnSpc>
                <a:spcPct val="125000"/>
              </a:lnSpc>
            </a:pPr>
            <a:r>
              <a:rPr lang="en-US" altLang="zh-CN" sz="3600">
                <a:ea typeface="楷体_GB2312" charset="0"/>
              </a:rPr>
              <a:t>    n=p-&gt;keynum;  </a:t>
            </a:r>
            <a:r>
              <a:rPr lang="en-US" altLang="zh-CN" sz="3600">
                <a:solidFill>
                  <a:srgbClr val="008080"/>
                </a:solidFill>
                <a:ea typeface="楷体_GB2312" charset="0"/>
              </a:rPr>
              <a:t> </a:t>
            </a:r>
            <a:r>
              <a:rPr lang="en-US" altLang="zh-CN" sz="3600" b="1">
                <a:solidFill>
                  <a:srgbClr val="008080"/>
                </a:solidFill>
                <a:ea typeface="楷体_GB2312" charset="0"/>
              </a:rPr>
              <a:t>i=Search(p, K);</a:t>
            </a:r>
            <a:r>
              <a:rPr lang="en-US" altLang="zh-CN" sz="3600" b="1">
                <a:ea typeface="楷体_GB2312" charset="0"/>
              </a:rPr>
              <a:t>  </a:t>
            </a:r>
          </a:p>
          <a:p>
            <a:pPr>
              <a:lnSpc>
                <a:spcPct val="125000"/>
              </a:lnSpc>
            </a:pPr>
            <a:r>
              <a:rPr lang="en-US" altLang="zh-CN" sz="3600">
                <a:ea typeface="楷体_GB2312" charset="0"/>
              </a:rPr>
              <a:t>    </a:t>
            </a:r>
            <a:r>
              <a:rPr lang="en-US" altLang="zh-CN">
                <a:ea typeface="楷体_GB2312" charset="0"/>
              </a:rPr>
              <a:t>// </a:t>
            </a:r>
            <a:r>
              <a:rPr lang="zh-CN" altLang="en-US">
                <a:ea typeface="楷体_GB2312" charset="0"/>
              </a:rPr>
              <a:t>在</a:t>
            </a:r>
            <a:r>
              <a:rPr lang="en-US" altLang="zh-CN">
                <a:ea typeface="楷体_GB2312" charset="0"/>
              </a:rPr>
              <a:t>p-&gt;key[1..keynum]</a:t>
            </a:r>
            <a:r>
              <a:rPr lang="zh-CN" altLang="en-US">
                <a:ea typeface="楷体_GB2312" charset="0"/>
              </a:rPr>
              <a:t>中查找 </a:t>
            </a:r>
            <a:r>
              <a:rPr lang="en-US" altLang="zh-CN">
                <a:ea typeface="楷体_GB2312" charset="0"/>
              </a:rPr>
              <a:t>i </a:t>
            </a:r>
            <a:r>
              <a:rPr lang="zh-CN" altLang="en-US">
                <a:ea typeface="楷体_GB2312" charset="0"/>
              </a:rPr>
              <a:t>，  </a:t>
            </a:r>
            <a:r>
              <a:rPr lang="en-US" altLang="zh-CN" b="1">
                <a:solidFill>
                  <a:srgbClr val="FF00FF"/>
                </a:solidFill>
                <a:ea typeface="楷体_GB2312" charset="0"/>
              </a:rPr>
              <a:t>p-&gt;key[i]&lt;=K&lt;p-&gt;key[i+1]</a:t>
            </a:r>
            <a:endParaRPr lang="en-US" altLang="zh-CN">
              <a:ea typeface="楷体_GB2312" charset="0"/>
            </a:endParaRPr>
          </a:p>
          <a:p>
            <a:pPr>
              <a:lnSpc>
                <a:spcPct val="125000"/>
              </a:lnSpc>
            </a:pPr>
            <a:r>
              <a:rPr lang="en-US" altLang="zh-CN" sz="3600">
                <a:ea typeface="楷体_GB2312" charset="0"/>
              </a:rPr>
              <a:t>    </a:t>
            </a:r>
            <a:r>
              <a:rPr lang="en-US" altLang="zh-CN" sz="3600" b="1">
                <a:solidFill>
                  <a:srgbClr val="FF0000"/>
                </a:solidFill>
                <a:ea typeface="楷体_GB2312" charset="0"/>
              </a:rPr>
              <a:t>if</a:t>
            </a:r>
            <a:r>
              <a:rPr lang="en-US" altLang="zh-CN" sz="3600">
                <a:solidFill>
                  <a:srgbClr val="FF0000"/>
                </a:solidFill>
                <a:ea typeface="楷体_GB2312" charset="0"/>
              </a:rPr>
              <a:t> (i&gt;0 </a:t>
            </a:r>
            <a:r>
              <a:rPr lang="en-US" altLang="zh-CN" sz="3600" b="1">
                <a:solidFill>
                  <a:srgbClr val="FF0000"/>
                </a:solidFill>
                <a:ea typeface="楷体_GB2312" charset="0"/>
              </a:rPr>
              <a:t>&amp;&amp;</a:t>
            </a:r>
            <a:r>
              <a:rPr lang="en-US" altLang="zh-CN" sz="3600">
                <a:solidFill>
                  <a:srgbClr val="FF0000"/>
                </a:solidFill>
                <a:ea typeface="楷体_GB2312" charset="0"/>
              </a:rPr>
              <a:t> p-&gt;key[i]==K)  found=</a:t>
            </a:r>
            <a:r>
              <a:rPr lang="en-US" altLang="zh-CN" sz="3600" b="1">
                <a:solidFill>
                  <a:srgbClr val="FF0000"/>
                </a:solidFill>
                <a:ea typeface="楷体_GB2312" charset="0"/>
              </a:rPr>
              <a:t>TRUE</a:t>
            </a:r>
            <a:r>
              <a:rPr lang="en-US" altLang="zh-CN" sz="3600">
                <a:solidFill>
                  <a:srgbClr val="FF0000"/>
                </a:solidFill>
                <a:ea typeface="楷体_GB2312" charset="0"/>
              </a:rPr>
              <a:t>; </a:t>
            </a:r>
          </a:p>
          <a:p>
            <a:pPr>
              <a:lnSpc>
                <a:spcPct val="125000"/>
              </a:lnSpc>
            </a:pPr>
            <a:r>
              <a:rPr lang="en-US" altLang="zh-CN" sz="3600" b="1">
                <a:solidFill>
                  <a:srgbClr val="0000FF"/>
                </a:solidFill>
                <a:ea typeface="楷体_GB2312" charset="0"/>
              </a:rPr>
              <a:t>    else {</a:t>
            </a:r>
            <a:r>
              <a:rPr lang="en-US" altLang="zh-CN" sz="3600">
                <a:solidFill>
                  <a:srgbClr val="0000FF"/>
                </a:solidFill>
                <a:ea typeface="楷体_GB2312" charset="0"/>
              </a:rPr>
              <a:t> q=p;   p=p-&gt;ptr[i]; </a:t>
            </a:r>
            <a:r>
              <a:rPr lang="en-US" altLang="zh-CN" sz="3600" b="1">
                <a:solidFill>
                  <a:srgbClr val="0000FF"/>
                </a:solidFill>
                <a:ea typeface="楷体_GB2312" charset="0"/>
              </a:rPr>
              <a:t>}  </a:t>
            </a:r>
            <a:r>
              <a:rPr lang="en-US" altLang="zh-CN" sz="3200">
                <a:solidFill>
                  <a:srgbClr val="0000FF"/>
                </a:solidFill>
                <a:ea typeface="楷体_GB2312" charset="0"/>
              </a:rPr>
              <a:t>// q </a:t>
            </a:r>
            <a:r>
              <a:rPr lang="zh-CN" altLang="en-US" sz="3200">
                <a:solidFill>
                  <a:srgbClr val="0000FF"/>
                </a:solidFill>
                <a:ea typeface="楷体_GB2312" charset="0"/>
              </a:rPr>
              <a:t>指示 </a:t>
            </a:r>
            <a:r>
              <a:rPr lang="en-US" altLang="zh-CN" sz="3200">
                <a:solidFill>
                  <a:srgbClr val="0000FF"/>
                </a:solidFill>
                <a:ea typeface="楷体_GB2312" charset="0"/>
              </a:rPr>
              <a:t>p </a:t>
            </a:r>
            <a:r>
              <a:rPr lang="zh-CN" altLang="en-US" sz="3200">
                <a:solidFill>
                  <a:srgbClr val="0000FF"/>
                </a:solidFill>
                <a:ea typeface="楷体_GB2312" charset="0"/>
              </a:rPr>
              <a:t>的双亲</a:t>
            </a:r>
            <a:endParaRPr lang="zh-CN" altLang="en-US" sz="3600" b="1">
              <a:solidFill>
                <a:srgbClr val="0000FF"/>
              </a:solidFill>
              <a:ea typeface="楷体_GB2312" charset="0"/>
            </a:endParaRPr>
          </a:p>
          <a:p>
            <a:pPr>
              <a:lnSpc>
                <a:spcPct val="125000"/>
              </a:lnSpc>
            </a:pPr>
            <a:r>
              <a:rPr lang="zh-CN" altLang="en-US" sz="3600" b="1">
                <a:ea typeface="楷体_GB2312" charset="0"/>
              </a:rPr>
              <a:t> </a:t>
            </a:r>
            <a:r>
              <a:rPr lang="en-US" altLang="zh-CN" sz="3600" b="1">
                <a:ea typeface="楷体_GB2312" charset="0"/>
              </a:rPr>
              <a:t>}</a:t>
            </a:r>
            <a:endParaRPr lang="en-US" altLang="zh-CN" sz="3600">
              <a:ea typeface="楷体_GB2312" charset="0"/>
            </a:endParaRPr>
          </a:p>
          <a:p>
            <a:pPr>
              <a:lnSpc>
                <a:spcPct val="125000"/>
              </a:lnSpc>
            </a:pPr>
            <a:r>
              <a:rPr lang="en-US" altLang="zh-CN" sz="3600">
                <a:ea typeface="楷体_GB2312" charset="0"/>
              </a:rPr>
              <a:t> </a:t>
            </a:r>
            <a:r>
              <a:rPr lang="en-US" altLang="zh-CN" sz="3600" b="1">
                <a:ea typeface="楷体_GB2312" charset="0"/>
              </a:rPr>
              <a:t>if</a:t>
            </a:r>
            <a:r>
              <a:rPr lang="en-US" altLang="zh-CN" sz="3600">
                <a:ea typeface="楷体_GB2312" charset="0"/>
              </a:rPr>
              <a:t> (</a:t>
            </a:r>
            <a:r>
              <a:rPr lang="en-US" altLang="zh-CN" sz="3600">
                <a:solidFill>
                  <a:srgbClr val="A50021"/>
                </a:solidFill>
                <a:ea typeface="楷体_GB2312" charset="0"/>
              </a:rPr>
              <a:t>found</a:t>
            </a:r>
            <a:r>
              <a:rPr lang="en-US" altLang="zh-CN" sz="3600">
                <a:ea typeface="楷体_GB2312" charset="0"/>
              </a:rPr>
              <a:t>) </a:t>
            </a:r>
            <a:r>
              <a:rPr lang="en-US" altLang="zh-CN" sz="3600" b="1">
                <a:ea typeface="楷体_GB2312" charset="0"/>
              </a:rPr>
              <a:t> return</a:t>
            </a:r>
            <a:r>
              <a:rPr lang="en-US" altLang="zh-CN" sz="3600">
                <a:ea typeface="楷体_GB2312" charset="0"/>
              </a:rPr>
              <a:t> </a:t>
            </a:r>
            <a:r>
              <a:rPr lang="en-US" altLang="zh-CN" sz="3600">
                <a:solidFill>
                  <a:srgbClr val="A50021"/>
                </a:solidFill>
                <a:ea typeface="楷体_GB2312" charset="0"/>
              </a:rPr>
              <a:t>(p,i,1);       // </a:t>
            </a:r>
            <a:r>
              <a:rPr lang="zh-CN" altLang="en-US" sz="3600">
                <a:solidFill>
                  <a:srgbClr val="A50021"/>
                </a:solidFill>
                <a:ea typeface="楷体_GB2312" charset="0"/>
              </a:rPr>
              <a:t>查找成功</a:t>
            </a:r>
            <a:endParaRPr lang="zh-CN" altLang="en-US" sz="3600">
              <a:ea typeface="楷体_GB2312" charset="0"/>
            </a:endParaRPr>
          </a:p>
          <a:p>
            <a:pPr>
              <a:lnSpc>
                <a:spcPct val="125000"/>
              </a:lnSpc>
            </a:pPr>
            <a:r>
              <a:rPr lang="zh-CN" altLang="en-US" sz="3600">
                <a:ea typeface="楷体_GB2312" charset="0"/>
              </a:rPr>
              <a:t> </a:t>
            </a:r>
            <a:r>
              <a:rPr lang="en-US" altLang="zh-CN" sz="3600" b="1">
                <a:ea typeface="楷体_GB2312" charset="0"/>
              </a:rPr>
              <a:t>else return</a:t>
            </a:r>
            <a:r>
              <a:rPr lang="en-US" altLang="zh-CN" sz="3600">
                <a:ea typeface="楷体_GB2312" charset="0"/>
              </a:rPr>
              <a:t> </a:t>
            </a:r>
            <a:r>
              <a:rPr lang="en-US" altLang="zh-CN" sz="3600">
                <a:solidFill>
                  <a:srgbClr val="6600CC"/>
                </a:solidFill>
                <a:ea typeface="楷体_GB2312" charset="0"/>
              </a:rPr>
              <a:t>(q,i,0);              // </a:t>
            </a:r>
            <a:r>
              <a:rPr lang="zh-CN" altLang="en-US" sz="3600">
                <a:solidFill>
                  <a:srgbClr val="6600CC"/>
                </a:solidFill>
                <a:ea typeface="楷体_GB2312" charset="0"/>
              </a:rPr>
              <a:t>查找不成功</a:t>
            </a:r>
          </a:p>
        </p:txBody>
      </p:sp>
      <p:sp>
        <p:nvSpPr>
          <p:cNvPr id="216067" name="AutoShape 3">
            <a:hlinkClick r:id="" action="ppaction://hlinkshowjump?jump=lastslideviewed" highlightClick="1"/>
          </p:cNvPr>
          <p:cNvSpPr>
            <a:spLocks noChangeArrowheads="1"/>
          </p:cNvSpPr>
          <p:nvPr/>
        </p:nvSpPr>
        <p:spPr bwMode="auto">
          <a:xfrm>
            <a:off x="8610600" y="6324600"/>
            <a:ext cx="304800" cy="304800"/>
          </a:xfrm>
          <a:prstGeom prst="actionButtonReturn">
            <a:avLst/>
          </a:prstGeom>
          <a:solidFill>
            <a:srgbClr val="FFCC99"/>
          </a:solidFill>
          <a:ln w="9525">
            <a:solidFill>
              <a:srgbClr val="9933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793755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Text Box 3"/>
          <p:cNvSpPr txBox="1">
            <a:spLocks noChangeArrowheads="1"/>
          </p:cNvSpPr>
          <p:nvPr/>
        </p:nvSpPr>
        <p:spPr bwMode="auto">
          <a:xfrm>
            <a:off x="381000" y="1600200"/>
            <a:ext cx="8340725" cy="228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lang="zh-CN" altLang="en-US" sz="4000">
                <a:ea typeface="楷体_GB2312" charset="0"/>
              </a:rPr>
              <a:t>在查找不成功之后，需进行插入。</a:t>
            </a:r>
          </a:p>
          <a:p>
            <a:pPr>
              <a:lnSpc>
                <a:spcPct val="120000"/>
              </a:lnSpc>
            </a:pPr>
            <a:r>
              <a:rPr lang="zh-CN" altLang="en-US" sz="4000">
                <a:ea typeface="楷体_GB2312" charset="0"/>
              </a:rPr>
              <a:t>显然，</a:t>
            </a:r>
            <a:r>
              <a:rPr lang="zh-CN" altLang="en-US" sz="4000">
                <a:solidFill>
                  <a:srgbClr val="800080"/>
                </a:solidFill>
                <a:ea typeface="楷体_GB2312" charset="0"/>
              </a:rPr>
              <a:t>关键字</a:t>
            </a:r>
            <a:r>
              <a:rPr lang="zh-CN" altLang="en-US" sz="4000" b="1">
                <a:solidFill>
                  <a:srgbClr val="800080"/>
                </a:solidFill>
                <a:ea typeface="楷体_GB2312" charset="0"/>
              </a:rPr>
              <a:t>插入</a:t>
            </a:r>
            <a:r>
              <a:rPr lang="zh-CN" altLang="en-US" sz="4000">
                <a:solidFill>
                  <a:srgbClr val="800080"/>
                </a:solidFill>
                <a:ea typeface="楷体_GB2312" charset="0"/>
              </a:rPr>
              <a:t>的</a:t>
            </a:r>
            <a:r>
              <a:rPr lang="zh-CN" altLang="en-US" sz="4000" b="1">
                <a:solidFill>
                  <a:srgbClr val="800080"/>
                </a:solidFill>
                <a:ea typeface="楷体_GB2312" charset="0"/>
              </a:rPr>
              <a:t>位置</a:t>
            </a:r>
            <a:r>
              <a:rPr lang="zh-CN" altLang="en-US" sz="4000">
                <a:solidFill>
                  <a:srgbClr val="800080"/>
                </a:solidFill>
                <a:ea typeface="楷体_GB2312" charset="0"/>
              </a:rPr>
              <a:t>必定在</a:t>
            </a:r>
            <a:r>
              <a:rPr lang="zh-CN" altLang="en-US" sz="4000" b="1">
                <a:solidFill>
                  <a:srgbClr val="800080"/>
                </a:solidFill>
                <a:ea typeface="楷体_GB2312" charset="0"/>
              </a:rPr>
              <a:t>最下</a:t>
            </a:r>
          </a:p>
          <a:p>
            <a:pPr>
              <a:lnSpc>
                <a:spcPct val="120000"/>
              </a:lnSpc>
            </a:pPr>
            <a:r>
              <a:rPr lang="zh-CN" altLang="en-US" sz="4000" b="1">
                <a:solidFill>
                  <a:srgbClr val="800080"/>
                </a:solidFill>
                <a:ea typeface="楷体_GB2312" charset="0"/>
              </a:rPr>
              <a:t>层的非叶结点</a:t>
            </a:r>
            <a:r>
              <a:rPr lang="zh-CN" altLang="en-US" sz="4000">
                <a:ea typeface="楷体_GB2312" charset="0"/>
              </a:rPr>
              <a:t>，有下列几种情况：</a:t>
            </a:r>
            <a:endParaRPr lang="zh-CN" altLang="en-US" sz="4000">
              <a:latin typeface="楷体_GB2312" charset="0"/>
              <a:ea typeface="楷体_GB2312" charset="0"/>
            </a:endParaRPr>
          </a:p>
        </p:txBody>
      </p:sp>
      <p:sp>
        <p:nvSpPr>
          <p:cNvPr id="102404" name="Text Box 4"/>
          <p:cNvSpPr txBox="1">
            <a:spLocks noChangeArrowheads="1"/>
          </p:cNvSpPr>
          <p:nvPr/>
        </p:nvSpPr>
        <p:spPr bwMode="auto">
          <a:xfrm>
            <a:off x="381000" y="609600"/>
            <a:ext cx="19764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FF"/>
                </a:solidFill>
                <a:ea typeface="楷体_GB2312" charset="0"/>
              </a:rPr>
              <a:t>3</a:t>
            </a:r>
            <a:r>
              <a:rPr lang="zh-CN" altLang="en-US" sz="4000" b="1">
                <a:solidFill>
                  <a:srgbClr val="FF00FF"/>
                </a:solidFill>
                <a:ea typeface="楷体_GB2312" charset="0"/>
              </a:rPr>
              <a:t>．插入</a:t>
            </a:r>
            <a:endParaRPr lang="zh-CN" altLang="en-US"/>
          </a:p>
        </p:txBody>
      </p:sp>
      <p:sp>
        <p:nvSpPr>
          <p:cNvPr id="102405" name="Text Box 5"/>
          <p:cNvSpPr txBox="1">
            <a:spLocks noChangeArrowheads="1"/>
          </p:cNvSpPr>
          <p:nvPr/>
        </p:nvSpPr>
        <p:spPr bwMode="auto">
          <a:xfrm>
            <a:off x="381000" y="4267200"/>
            <a:ext cx="8993188"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lang="en-US" altLang="zh-CN" sz="4000">
                <a:solidFill>
                  <a:srgbClr val="800080"/>
                </a:solidFill>
                <a:ea typeface="楷体_GB2312" charset="0"/>
              </a:rPr>
              <a:t>1</a:t>
            </a:r>
            <a:r>
              <a:rPr lang="zh-CN" altLang="en-US" sz="4000">
                <a:solidFill>
                  <a:srgbClr val="800080"/>
                </a:solidFill>
                <a:ea typeface="楷体_GB2312" charset="0"/>
              </a:rPr>
              <a:t>）</a:t>
            </a:r>
            <a:r>
              <a:rPr lang="zh-CN" altLang="en-US" sz="4000">
                <a:ea typeface="楷体_GB2312" charset="0"/>
              </a:rPr>
              <a:t>插入后，该结点的关键字个数</a:t>
            </a:r>
            <a:r>
              <a:rPr lang="en-US" altLang="zh-CN" sz="4000">
                <a:ea typeface="楷体_GB2312" charset="0"/>
              </a:rPr>
              <a:t>n&lt;m</a:t>
            </a:r>
            <a:r>
              <a:rPr lang="zh-CN" altLang="en-US" sz="4000">
                <a:ea typeface="楷体_GB2312" charset="0"/>
              </a:rPr>
              <a:t>，</a:t>
            </a:r>
          </a:p>
          <a:p>
            <a:pPr>
              <a:lnSpc>
                <a:spcPct val="120000"/>
              </a:lnSpc>
            </a:pPr>
            <a:r>
              <a:rPr lang="zh-CN" altLang="en-US" sz="4000">
                <a:ea typeface="楷体_GB2312" charset="0"/>
              </a:rPr>
              <a:t>      </a:t>
            </a:r>
            <a:r>
              <a:rPr lang="zh-CN" altLang="en-US" sz="4000">
                <a:solidFill>
                  <a:srgbClr val="0000FF"/>
                </a:solidFill>
                <a:ea typeface="楷体_GB2312" charset="0"/>
              </a:rPr>
              <a:t>不修改指针</a:t>
            </a:r>
            <a:r>
              <a:rPr lang="en-US" altLang="zh-CN" sz="4000">
                <a:latin typeface="楷体_GB2312" charset="0"/>
                <a:ea typeface="楷体_GB2312" charset="0"/>
              </a:rPr>
              <a:t>; </a:t>
            </a:r>
            <a:r>
              <a:rPr lang="zh-CN" altLang="en-US" sz="4000">
                <a:solidFill>
                  <a:srgbClr val="A50021"/>
                </a:solidFill>
                <a:latin typeface="楷体_GB2312" charset="0"/>
                <a:ea typeface="楷体_GB2312" charset="0"/>
              </a:rPr>
              <a:t>例如</a:t>
            </a:r>
            <a:endParaRPr lang="zh-CN" altLang="en-US" sz="4000">
              <a:latin typeface="楷体_GB2312" charset="0"/>
              <a:ea typeface="楷体_GB2312" charset="0"/>
            </a:endParaRPr>
          </a:p>
        </p:txBody>
      </p:sp>
      <p:sp>
        <p:nvSpPr>
          <p:cNvPr id="102406" name="AutoShape 6"/>
          <p:cNvSpPr>
            <a:spLocks noChangeArrowheads="1"/>
          </p:cNvSpPr>
          <p:nvPr/>
        </p:nvSpPr>
        <p:spPr bwMode="auto">
          <a:xfrm>
            <a:off x="304800" y="4267200"/>
            <a:ext cx="228600" cy="381000"/>
          </a:xfrm>
          <a:prstGeom prst="star4">
            <a:avLst>
              <a:gd name="adj" fmla="val 12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2409" name="AutoShape 9">
            <a:hlinkClick r:id="rId2" action="ppaction://hlinksldjump" highlightClick="1"/>
          </p:cNvPr>
          <p:cNvSpPr>
            <a:spLocks noChangeArrowheads="1"/>
          </p:cNvSpPr>
          <p:nvPr/>
        </p:nvSpPr>
        <p:spPr bwMode="auto">
          <a:xfrm>
            <a:off x="5334000" y="5257800"/>
            <a:ext cx="381000" cy="381000"/>
          </a:xfrm>
          <a:prstGeom prst="actionButtonForwardNext">
            <a:avLst/>
          </a:prstGeom>
          <a:solidFill>
            <a:srgbClr val="FF0000"/>
          </a:solidFill>
          <a:ln w="9525">
            <a:solidFill>
              <a:srgbClr val="A5002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3822681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2404"/>
                                        </p:tgtEl>
                                        <p:attrNameLst>
                                          <p:attrName>style.visibility</p:attrName>
                                        </p:attrNameLst>
                                      </p:cBhvr>
                                      <p:to>
                                        <p:strVal val="visible"/>
                                      </p:to>
                                    </p:set>
                                    <p:animEffect transition="in" filter="slide(fromLeft)">
                                      <p:cBhvr>
                                        <p:cTn id="7" dur="500"/>
                                        <p:tgtEl>
                                          <p:spTgt spid="1024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0240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2405"/>
                                        </p:tgtEl>
                                        <p:attrNameLst>
                                          <p:attrName>style.visibility</p:attrName>
                                        </p:attrNameLst>
                                      </p:cBhvr>
                                      <p:to>
                                        <p:strVal val="visible"/>
                                      </p:to>
                                    </p:set>
                                    <p:animEffect transition="in" filter="wipe(left)">
                                      <p:cBhvr>
                                        <p:cTn id="16" dur="500"/>
                                        <p:tgtEl>
                                          <p:spTgt spid="102405"/>
                                        </p:tgtEl>
                                      </p:cBhvr>
                                    </p:animEffect>
                                  </p:childTnLst>
                                </p:cTn>
                              </p:par>
                            </p:childTnLst>
                          </p:cTn>
                        </p:par>
                        <p:par>
                          <p:cTn id="17" fill="hold" nodeType="afterGroup">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102406"/>
                                        </p:tgtEl>
                                        <p:attrNameLst>
                                          <p:attrName>style.visibility</p:attrName>
                                        </p:attrNameLst>
                                      </p:cBhvr>
                                      <p:to>
                                        <p:strVal val="visible"/>
                                      </p:to>
                                    </p:set>
                                  </p:childTnLst>
                                </p:cTn>
                              </p:par>
                            </p:childTnLst>
                          </p:cTn>
                        </p:par>
                        <p:par>
                          <p:cTn id="20" fill="hold" nodeType="afterGroup">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102409"/>
                                        </p:tgtEl>
                                        <p:attrNameLst>
                                          <p:attrName>style.visibility</p:attrName>
                                        </p:attrNameLst>
                                      </p:cBhvr>
                                      <p:to>
                                        <p:strVal val="visible"/>
                                      </p:to>
                                    </p:set>
                                    <p:animEffect transition="in" filter="wipe(left)">
                                      <p:cBhvr>
                                        <p:cTn id="23" dur="500"/>
                                        <p:tgtEl>
                                          <p:spTgt spid="102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autoUpdateAnimBg="0"/>
      <p:bldP spid="102404" grpId="0" autoUpdateAnimBg="0"/>
      <p:bldP spid="102405" grpId="0" autoUpdateAnimBg="0"/>
      <p:bldP spid="102406" grpId="0" animBg="1"/>
      <p:bldP spid="102409"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2"/>
          <p:cNvSpPr txBox="1">
            <a:spLocks noChangeArrowheads="1"/>
          </p:cNvSpPr>
          <p:nvPr/>
        </p:nvSpPr>
        <p:spPr bwMode="auto">
          <a:xfrm>
            <a:off x="396875" y="381000"/>
            <a:ext cx="8340725" cy="470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lang="en-US" altLang="zh-CN" sz="3600">
                <a:solidFill>
                  <a:srgbClr val="800080"/>
                </a:solidFill>
                <a:ea typeface="楷体_GB2312" charset="0"/>
              </a:rPr>
              <a:t>2</a:t>
            </a:r>
            <a:r>
              <a:rPr lang="zh-CN" altLang="en-US" sz="3600">
                <a:solidFill>
                  <a:srgbClr val="800080"/>
                </a:solidFill>
                <a:ea typeface="楷体_GB2312" charset="0"/>
              </a:rPr>
              <a:t>）</a:t>
            </a:r>
            <a:r>
              <a:rPr lang="zh-CN" altLang="en-US" sz="3600">
                <a:latin typeface="楷体_GB2312" charset="0"/>
                <a:ea typeface="楷体_GB2312" charset="0"/>
              </a:rPr>
              <a:t>插入后，该结点的关键字个数 </a:t>
            </a:r>
            <a:r>
              <a:rPr lang="en-US" altLang="zh-CN" sz="3600">
                <a:ea typeface="楷体_GB2312" charset="0"/>
              </a:rPr>
              <a:t>n=m</a:t>
            </a:r>
            <a:r>
              <a:rPr lang="zh-CN" altLang="en-US" sz="3600">
                <a:ea typeface="楷体_GB2312" charset="0"/>
              </a:rPr>
              <a:t>，</a:t>
            </a:r>
          </a:p>
          <a:p>
            <a:pPr>
              <a:lnSpc>
                <a:spcPct val="120000"/>
              </a:lnSpc>
            </a:pPr>
            <a:r>
              <a:rPr lang="zh-CN" altLang="en-US" sz="3600">
                <a:ea typeface="楷体_GB2312" charset="0"/>
              </a:rPr>
              <a:t>      则</a:t>
            </a:r>
            <a:r>
              <a:rPr lang="zh-CN" altLang="en-US" sz="3600">
                <a:solidFill>
                  <a:srgbClr val="0000FF"/>
                </a:solidFill>
                <a:ea typeface="楷体_GB2312" charset="0"/>
              </a:rPr>
              <a:t>需进行“结点分裂”</a:t>
            </a:r>
            <a:r>
              <a:rPr lang="zh-CN" altLang="en-US" sz="3600">
                <a:ea typeface="楷体_GB2312" charset="0"/>
              </a:rPr>
              <a:t>，令 </a:t>
            </a:r>
            <a:r>
              <a:rPr lang="en-US" altLang="zh-CN" sz="3600">
                <a:ea typeface="楷体_GB2312" charset="0"/>
              </a:rPr>
              <a:t>s = </a:t>
            </a:r>
            <a:r>
              <a:rPr lang="en-US" altLang="zh-CN" sz="3600">
                <a:ea typeface="楷体_GB2312" charset="0"/>
                <a:sym typeface="Symbol" charset="2"/>
              </a:rPr>
              <a:t></a:t>
            </a:r>
            <a:r>
              <a:rPr lang="en-US" altLang="zh-CN" sz="3600">
                <a:ea typeface="楷体_GB2312" charset="0"/>
              </a:rPr>
              <a:t>m/2</a:t>
            </a:r>
            <a:r>
              <a:rPr lang="en-US" altLang="zh-CN" sz="3600">
                <a:ea typeface="楷体_GB2312" charset="0"/>
                <a:sym typeface="Symbol" charset="2"/>
              </a:rPr>
              <a:t></a:t>
            </a:r>
            <a:r>
              <a:rPr lang="zh-CN" altLang="en-US" sz="3600">
                <a:ea typeface="楷体_GB2312" charset="0"/>
              </a:rPr>
              <a:t>，</a:t>
            </a:r>
          </a:p>
          <a:p>
            <a:pPr>
              <a:lnSpc>
                <a:spcPct val="120000"/>
              </a:lnSpc>
            </a:pPr>
            <a:r>
              <a:rPr lang="zh-CN" altLang="en-US" sz="3600">
                <a:ea typeface="楷体_GB2312" charset="0"/>
              </a:rPr>
              <a:t>      在原结点中保留</a:t>
            </a:r>
          </a:p>
          <a:p>
            <a:pPr>
              <a:lnSpc>
                <a:spcPct val="120000"/>
              </a:lnSpc>
            </a:pPr>
            <a:r>
              <a:rPr lang="zh-CN" altLang="en-US" sz="3600">
                <a:ea typeface="楷体_GB2312" charset="0"/>
              </a:rPr>
              <a:t>    </a:t>
            </a:r>
            <a:r>
              <a:rPr lang="zh-CN" altLang="en-US" sz="3600">
                <a:solidFill>
                  <a:srgbClr val="A50021"/>
                </a:solidFill>
                <a:ea typeface="楷体_GB2312" charset="0"/>
              </a:rPr>
              <a:t>（</a:t>
            </a:r>
            <a:r>
              <a:rPr lang="en-US" altLang="zh-CN" sz="3600">
                <a:solidFill>
                  <a:srgbClr val="A50021"/>
                </a:solidFill>
                <a:ea typeface="楷体_GB2312" charset="0"/>
              </a:rPr>
              <a:t>A</a:t>
            </a:r>
            <a:r>
              <a:rPr lang="en-US" altLang="zh-CN" sz="3600" baseline="-25000">
                <a:solidFill>
                  <a:srgbClr val="A50021"/>
                </a:solidFill>
                <a:ea typeface="楷体_GB2312" charset="0"/>
              </a:rPr>
              <a:t>0</a:t>
            </a:r>
            <a:r>
              <a:rPr lang="zh-CN" altLang="en-US" sz="3600">
                <a:solidFill>
                  <a:srgbClr val="A50021"/>
                </a:solidFill>
                <a:ea typeface="楷体_GB2312" charset="0"/>
              </a:rPr>
              <a:t>，</a:t>
            </a:r>
            <a:r>
              <a:rPr lang="en-US" altLang="zh-CN" sz="3600">
                <a:solidFill>
                  <a:srgbClr val="A50021"/>
                </a:solidFill>
                <a:ea typeface="楷体_GB2312" charset="0"/>
              </a:rPr>
              <a:t>K</a:t>
            </a:r>
            <a:r>
              <a:rPr lang="en-US" altLang="zh-CN" sz="3600" baseline="-25000">
                <a:solidFill>
                  <a:srgbClr val="A50021"/>
                </a:solidFill>
                <a:ea typeface="楷体_GB2312" charset="0"/>
              </a:rPr>
              <a:t>1</a:t>
            </a:r>
            <a:r>
              <a:rPr lang="zh-CN" altLang="en-US" sz="3600">
                <a:solidFill>
                  <a:srgbClr val="A50021"/>
                </a:solidFill>
                <a:ea typeface="楷体_GB2312" charset="0"/>
              </a:rPr>
              <a:t>，</a:t>
            </a:r>
            <a:r>
              <a:rPr lang="en-US" altLang="zh-CN" sz="3600">
                <a:solidFill>
                  <a:srgbClr val="A50021"/>
                </a:solidFill>
                <a:ea typeface="楷体_GB2312" charset="0"/>
              </a:rPr>
              <a:t>……  </a:t>
            </a:r>
            <a:r>
              <a:rPr lang="zh-CN" altLang="en-US" sz="3600">
                <a:solidFill>
                  <a:srgbClr val="A50021"/>
                </a:solidFill>
                <a:ea typeface="楷体_GB2312" charset="0"/>
              </a:rPr>
              <a:t>， </a:t>
            </a:r>
            <a:r>
              <a:rPr lang="en-US" altLang="zh-CN" sz="3600">
                <a:solidFill>
                  <a:srgbClr val="A50021"/>
                </a:solidFill>
                <a:ea typeface="楷体_GB2312" charset="0"/>
              </a:rPr>
              <a:t>K</a:t>
            </a:r>
            <a:r>
              <a:rPr lang="en-US" altLang="zh-CN" sz="3600" baseline="-25000">
                <a:solidFill>
                  <a:srgbClr val="A50021"/>
                </a:solidFill>
                <a:ea typeface="楷体_GB2312" charset="0"/>
              </a:rPr>
              <a:t>s-1</a:t>
            </a:r>
            <a:r>
              <a:rPr lang="zh-CN" altLang="en-US" sz="3600">
                <a:solidFill>
                  <a:srgbClr val="A50021"/>
                </a:solidFill>
                <a:ea typeface="楷体_GB2312" charset="0"/>
              </a:rPr>
              <a:t>，</a:t>
            </a:r>
            <a:r>
              <a:rPr lang="en-US" altLang="zh-CN" sz="3600">
                <a:solidFill>
                  <a:srgbClr val="A50021"/>
                </a:solidFill>
                <a:ea typeface="楷体_GB2312" charset="0"/>
              </a:rPr>
              <a:t>A</a:t>
            </a:r>
            <a:r>
              <a:rPr lang="en-US" altLang="zh-CN" sz="3600" baseline="-25000">
                <a:solidFill>
                  <a:srgbClr val="A50021"/>
                </a:solidFill>
                <a:ea typeface="楷体_GB2312" charset="0"/>
              </a:rPr>
              <a:t>s-1</a:t>
            </a:r>
            <a:r>
              <a:rPr lang="zh-CN" altLang="en-US" sz="3600">
                <a:solidFill>
                  <a:srgbClr val="A50021"/>
                </a:solidFill>
                <a:ea typeface="楷体_GB2312" charset="0"/>
              </a:rPr>
              <a:t>）；</a:t>
            </a:r>
            <a:endParaRPr lang="zh-CN" altLang="en-US" sz="3600">
              <a:ea typeface="楷体_GB2312" charset="0"/>
            </a:endParaRPr>
          </a:p>
          <a:p>
            <a:pPr>
              <a:lnSpc>
                <a:spcPct val="120000"/>
              </a:lnSpc>
            </a:pPr>
            <a:r>
              <a:rPr lang="zh-CN" altLang="en-US" sz="3600">
                <a:ea typeface="楷体_GB2312" charset="0"/>
              </a:rPr>
              <a:t>      建新结点</a:t>
            </a:r>
          </a:p>
          <a:p>
            <a:pPr>
              <a:lnSpc>
                <a:spcPct val="120000"/>
              </a:lnSpc>
            </a:pPr>
            <a:r>
              <a:rPr lang="zh-CN" altLang="en-US" sz="3600">
                <a:ea typeface="楷体_GB2312" charset="0"/>
              </a:rPr>
              <a:t>    </a:t>
            </a:r>
            <a:r>
              <a:rPr lang="zh-CN" altLang="en-US" sz="3600">
                <a:solidFill>
                  <a:srgbClr val="A50021"/>
                </a:solidFill>
                <a:ea typeface="楷体_GB2312" charset="0"/>
              </a:rPr>
              <a:t>（</a:t>
            </a:r>
            <a:r>
              <a:rPr lang="en-US" altLang="zh-CN" sz="3600">
                <a:solidFill>
                  <a:srgbClr val="A50021"/>
                </a:solidFill>
                <a:ea typeface="楷体_GB2312" charset="0"/>
              </a:rPr>
              <a:t>A</a:t>
            </a:r>
            <a:r>
              <a:rPr lang="en-US" altLang="zh-CN" sz="3600" baseline="-25000">
                <a:solidFill>
                  <a:srgbClr val="A50021"/>
                </a:solidFill>
                <a:ea typeface="楷体_GB2312" charset="0"/>
              </a:rPr>
              <a:t>s</a:t>
            </a:r>
            <a:r>
              <a:rPr lang="zh-CN" altLang="en-US" sz="3600">
                <a:solidFill>
                  <a:srgbClr val="A50021"/>
                </a:solidFill>
                <a:ea typeface="楷体_GB2312" charset="0"/>
              </a:rPr>
              <a:t>，</a:t>
            </a:r>
            <a:r>
              <a:rPr lang="en-US" altLang="zh-CN" sz="3600">
                <a:solidFill>
                  <a:srgbClr val="A50021"/>
                </a:solidFill>
                <a:ea typeface="楷体_GB2312" charset="0"/>
              </a:rPr>
              <a:t>K</a:t>
            </a:r>
            <a:r>
              <a:rPr lang="en-US" altLang="zh-CN" sz="3600" baseline="-25000">
                <a:solidFill>
                  <a:srgbClr val="A50021"/>
                </a:solidFill>
                <a:ea typeface="楷体_GB2312" charset="0"/>
              </a:rPr>
              <a:t>s+1</a:t>
            </a:r>
            <a:r>
              <a:rPr lang="zh-CN" altLang="en-US" sz="3600">
                <a:solidFill>
                  <a:srgbClr val="A50021"/>
                </a:solidFill>
                <a:ea typeface="楷体_GB2312" charset="0"/>
              </a:rPr>
              <a:t>，</a:t>
            </a:r>
            <a:r>
              <a:rPr lang="en-US" altLang="zh-CN" sz="3600">
                <a:solidFill>
                  <a:srgbClr val="A50021"/>
                </a:solidFill>
                <a:ea typeface="楷体_GB2312" charset="0"/>
              </a:rPr>
              <a:t>……  </a:t>
            </a:r>
            <a:r>
              <a:rPr lang="zh-CN" altLang="en-US" sz="3600">
                <a:solidFill>
                  <a:srgbClr val="A50021"/>
                </a:solidFill>
                <a:ea typeface="楷体_GB2312" charset="0"/>
              </a:rPr>
              <a:t>，</a:t>
            </a:r>
            <a:r>
              <a:rPr lang="en-US" altLang="zh-CN" sz="3600">
                <a:solidFill>
                  <a:srgbClr val="A50021"/>
                </a:solidFill>
                <a:ea typeface="楷体_GB2312" charset="0"/>
              </a:rPr>
              <a:t>K</a:t>
            </a:r>
            <a:r>
              <a:rPr lang="en-US" altLang="zh-CN" sz="3600" baseline="-25000">
                <a:solidFill>
                  <a:srgbClr val="A50021"/>
                </a:solidFill>
                <a:ea typeface="楷体_GB2312" charset="0"/>
              </a:rPr>
              <a:t>n</a:t>
            </a:r>
            <a:r>
              <a:rPr lang="zh-CN" altLang="en-US" sz="3600">
                <a:solidFill>
                  <a:srgbClr val="A50021"/>
                </a:solidFill>
                <a:ea typeface="楷体_GB2312" charset="0"/>
              </a:rPr>
              <a:t>，</a:t>
            </a:r>
            <a:r>
              <a:rPr lang="en-US" altLang="zh-CN" sz="3600">
                <a:solidFill>
                  <a:srgbClr val="A50021"/>
                </a:solidFill>
                <a:ea typeface="楷体_GB2312" charset="0"/>
              </a:rPr>
              <a:t>A</a:t>
            </a:r>
            <a:r>
              <a:rPr lang="en-US" altLang="zh-CN" sz="3600" baseline="-25000">
                <a:solidFill>
                  <a:srgbClr val="A50021"/>
                </a:solidFill>
                <a:ea typeface="楷体_GB2312" charset="0"/>
              </a:rPr>
              <a:t>n</a:t>
            </a:r>
            <a:r>
              <a:rPr lang="zh-CN" altLang="en-US" sz="3600">
                <a:solidFill>
                  <a:srgbClr val="A50021"/>
                </a:solidFill>
                <a:ea typeface="楷体_GB2312" charset="0"/>
              </a:rPr>
              <a:t>）；</a:t>
            </a:r>
            <a:endParaRPr lang="zh-CN" altLang="en-US" sz="3600">
              <a:ea typeface="楷体_GB2312" charset="0"/>
            </a:endParaRPr>
          </a:p>
          <a:p>
            <a:pPr>
              <a:lnSpc>
                <a:spcPct val="120000"/>
              </a:lnSpc>
            </a:pPr>
            <a:r>
              <a:rPr lang="zh-CN" altLang="en-US" sz="3600">
                <a:ea typeface="楷体_GB2312" charset="0"/>
              </a:rPr>
              <a:t>     </a:t>
            </a:r>
            <a:r>
              <a:rPr lang="zh-CN" altLang="en-US" sz="3600">
                <a:solidFill>
                  <a:srgbClr val="0000FF"/>
                </a:solidFill>
                <a:ea typeface="楷体_GB2312" charset="0"/>
              </a:rPr>
              <a:t>将（</a:t>
            </a:r>
            <a:r>
              <a:rPr lang="en-US" altLang="zh-CN" sz="3600">
                <a:solidFill>
                  <a:srgbClr val="0000FF"/>
                </a:solidFill>
                <a:ea typeface="楷体_GB2312" charset="0"/>
              </a:rPr>
              <a:t>K</a:t>
            </a:r>
            <a:r>
              <a:rPr lang="en-US" altLang="zh-CN" sz="3600" baseline="-25000">
                <a:solidFill>
                  <a:srgbClr val="0000FF"/>
                </a:solidFill>
                <a:ea typeface="楷体_GB2312" charset="0"/>
              </a:rPr>
              <a:t>s</a:t>
            </a:r>
            <a:r>
              <a:rPr lang="zh-CN" altLang="en-US" sz="3600">
                <a:solidFill>
                  <a:srgbClr val="0000FF"/>
                </a:solidFill>
                <a:ea typeface="楷体_GB2312" charset="0"/>
              </a:rPr>
              <a:t>，</a:t>
            </a:r>
            <a:r>
              <a:rPr lang="en-US" altLang="zh-CN" sz="3600">
                <a:solidFill>
                  <a:srgbClr val="0000FF"/>
                </a:solidFill>
                <a:ea typeface="楷体_GB2312" charset="0"/>
              </a:rPr>
              <a:t>p</a:t>
            </a:r>
            <a:r>
              <a:rPr lang="zh-CN" altLang="en-US" sz="3600">
                <a:solidFill>
                  <a:srgbClr val="0000FF"/>
                </a:solidFill>
                <a:ea typeface="楷体_GB2312" charset="0"/>
              </a:rPr>
              <a:t>）插入双亲结点</a:t>
            </a:r>
            <a:r>
              <a:rPr lang="zh-CN" altLang="en-US" sz="3600">
                <a:ea typeface="楷体_GB2312" charset="0"/>
              </a:rPr>
              <a:t>；</a:t>
            </a:r>
            <a:r>
              <a:rPr lang="zh-CN" altLang="en-US" sz="3600">
                <a:solidFill>
                  <a:srgbClr val="A50021"/>
                </a:solidFill>
                <a:ea typeface="楷体_GB2312" charset="0"/>
              </a:rPr>
              <a:t>例如</a:t>
            </a:r>
            <a:endParaRPr lang="zh-CN" altLang="en-US" sz="3600"/>
          </a:p>
        </p:txBody>
      </p:sp>
      <p:sp>
        <p:nvSpPr>
          <p:cNvPr id="103427" name="Text Box 3"/>
          <p:cNvSpPr txBox="1">
            <a:spLocks noChangeArrowheads="1"/>
          </p:cNvSpPr>
          <p:nvPr/>
        </p:nvSpPr>
        <p:spPr bwMode="auto">
          <a:xfrm>
            <a:off x="304800" y="5257800"/>
            <a:ext cx="72707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lang="en-US" altLang="zh-CN" sz="3600">
                <a:solidFill>
                  <a:srgbClr val="800080"/>
                </a:solidFill>
                <a:ea typeface="楷体_GB2312" charset="0"/>
              </a:rPr>
              <a:t>3</a:t>
            </a:r>
            <a:r>
              <a:rPr lang="zh-CN" altLang="en-US" sz="3600">
                <a:solidFill>
                  <a:srgbClr val="800080"/>
                </a:solidFill>
                <a:ea typeface="楷体_GB2312" charset="0"/>
              </a:rPr>
              <a:t>）</a:t>
            </a:r>
            <a:r>
              <a:rPr lang="zh-CN" altLang="en-US" sz="3600">
                <a:ea typeface="楷体_GB2312" charset="0"/>
              </a:rPr>
              <a:t>若双亲为空，则</a:t>
            </a:r>
            <a:r>
              <a:rPr lang="zh-CN" altLang="en-US" sz="3600">
                <a:solidFill>
                  <a:srgbClr val="0000FF"/>
                </a:solidFill>
                <a:ea typeface="楷体_GB2312" charset="0"/>
              </a:rPr>
              <a:t>建新的根结点</a:t>
            </a:r>
            <a:r>
              <a:rPr lang="zh-CN" altLang="en-US" sz="3600">
                <a:ea typeface="楷体_GB2312" charset="0"/>
              </a:rPr>
              <a:t>。</a:t>
            </a:r>
          </a:p>
          <a:p>
            <a:pPr>
              <a:lnSpc>
                <a:spcPct val="120000"/>
              </a:lnSpc>
            </a:pPr>
            <a:r>
              <a:rPr lang="zh-CN" altLang="en-US" sz="3600">
                <a:ea typeface="楷体_GB2312" charset="0"/>
              </a:rPr>
              <a:t>      </a:t>
            </a:r>
            <a:r>
              <a:rPr lang="zh-CN" altLang="en-US" sz="3600">
                <a:solidFill>
                  <a:srgbClr val="A50021"/>
                </a:solidFill>
                <a:ea typeface="楷体_GB2312" charset="0"/>
              </a:rPr>
              <a:t>例如</a:t>
            </a:r>
            <a:endParaRPr lang="zh-CN" altLang="en-US"/>
          </a:p>
        </p:txBody>
      </p:sp>
      <p:sp>
        <p:nvSpPr>
          <p:cNvPr id="103428" name="AutoShape 4"/>
          <p:cNvSpPr>
            <a:spLocks noChangeArrowheads="1"/>
          </p:cNvSpPr>
          <p:nvPr/>
        </p:nvSpPr>
        <p:spPr bwMode="auto">
          <a:xfrm>
            <a:off x="152400" y="533400"/>
            <a:ext cx="228600" cy="381000"/>
          </a:xfrm>
          <a:prstGeom prst="star4">
            <a:avLst>
              <a:gd name="adj" fmla="val 12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3429" name="AutoShape 5"/>
          <p:cNvSpPr>
            <a:spLocks noChangeArrowheads="1"/>
          </p:cNvSpPr>
          <p:nvPr/>
        </p:nvSpPr>
        <p:spPr bwMode="auto">
          <a:xfrm>
            <a:off x="152400" y="5257800"/>
            <a:ext cx="228600" cy="381000"/>
          </a:xfrm>
          <a:prstGeom prst="star4">
            <a:avLst>
              <a:gd name="adj" fmla="val 12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3431" name="AutoShape 7">
            <a:hlinkClick r:id="rId2" action="ppaction://hlinksldjump" highlightClick="1"/>
          </p:cNvPr>
          <p:cNvSpPr>
            <a:spLocks noChangeArrowheads="1"/>
          </p:cNvSpPr>
          <p:nvPr/>
        </p:nvSpPr>
        <p:spPr bwMode="auto">
          <a:xfrm>
            <a:off x="7696200" y="4572000"/>
            <a:ext cx="381000" cy="381000"/>
          </a:xfrm>
          <a:prstGeom prst="actionButtonForwardNext">
            <a:avLst/>
          </a:prstGeom>
          <a:solidFill>
            <a:srgbClr val="FFCC00"/>
          </a:solidFill>
          <a:ln w="9525">
            <a:solidFill>
              <a:srgbClr val="A5002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3432" name="AutoShape 8">
            <a:hlinkClick r:id="rId2" action="ppaction://hlinksldjump" highlightClick="1"/>
          </p:cNvPr>
          <p:cNvSpPr>
            <a:spLocks noChangeArrowheads="1"/>
          </p:cNvSpPr>
          <p:nvPr/>
        </p:nvSpPr>
        <p:spPr bwMode="auto">
          <a:xfrm>
            <a:off x="1981200" y="6172200"/>
            <a:ext cx="381000" cy="381000"/>
          </a:xfrm>
          <a:prstGeom prst="actionButtonForwardNext">
            <a:avLst/>
          </a:prstGeom>
          <a:solidFill>
            <a:srgbClr val="FFCC00"/>
          </a:solidFill>
          <a:ln w="9525">
            <a:solidFill>
              <a:srgbClr val="A5002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3433" name="AutoShape 9">
            <a:hlinkClick r:id="rId3"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6609524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03426"/>
                                        </p:tgtEl>
                                        <p:attrNameLst>
                                          <p:attrName>style.visibility</p:attrName>
                                        </p:attrNameLst>
                                      </p:cBhvr>
                                      <p:to>
                                        <p:strVal val="visible"/>
                                      </p:to>
                                    </p:set>
                                    <p:animEffect transition="in" filter="strips(downRight)">
                                      <p:cBhvr>
                                        <p:cTn id="7" dur="500"/>
                                        <p:tgtEl>
                                          <p:spTgt spid="103426"/>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103428"/>
                                        </p:tgtEl>
                                        <p:attrNameLst>
                                          <p:attrName>style.visibility</p:attrName>
                                        </p:attrNameLst>
                                      </p:cBhvr>
                                      <p:to>
                                        <p:strVal val="visible"/>
                                      </p:to>
                                    </p:set>
                                  </p:childTnLst>
                                </p:cTn>
                              </p:par>
                            </p:childTnLst>
                          </p:cTn>
                        </p:par>
                        <p:par>
                          <p:cTn id="11" fill="hold" nodeType="afterGroup">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103431"/>
                                        </p:tgtEl>
                                        <p:attrNameLst>
                                          <p:attrName>style.visibility</p:attrName>
                                        </p:attrNameLst>
                                      </p:cBhvr>
                                      <p:to>
                                        <p:strVal val="visible"/>
                                      </p:to>
                                    </p:set>
                                    <p:animEffect transition="in" filter="wipe(left)">
                                      <p:cBhvr>
                                        <p:cTn id="14" dur="500"/>
                                        <p:tgtEl>
                                          <p:spTgt spid="103431"/>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03427"/>
                                        </p:tgtEl>
                                        <p:attrNameLst>
                                          <p:attrName>style.visibility</p:attrName>
                                        </p:attrNameLst>
                                      </p:cBhvr>
                                      <p:to>
                                        <p:strVal val="visible"/>
                                      </p:to>
                                    </p:set>
                                    <p:animEffect transition="in" filter="wipe(left)">
                                      <p:cBhvr>
                                        <p:cTn id="19" dur="500"/>
                                        <p:tgtEl>
                                          <p:spTgt spid="103427"/>
                                        </p:tgtEl>
                                      </p:cBhvr>
                                    </p:animEffect>
                                  </p:childTnLst>
                                </p:cTn>
                              </p:par>
                            </p:childTnLst>
                          </p:cTn>
                        </p:par>
                        <p:par>
                          <p:cTn id="20" fill="hold" nodeType="afterGroup">
                            <p:stCondLst>
                              <p:cond delay="500"/>
                            </p:stCondLst>
                            <p:childTnLst>
                              <p:par>
                                <p:cTn id="21" presetID="1" presetClass="entr" presetSubtype="0" fill="hold" grpId="0" nodeType="afterEffect">
                                  <p:stCondLst>
                                    <p:cond delay="0"/>
                                  </p:stCondLst>
                                  <p:childTnLst>
                                    <p:set>
                                      <p:cBhvr>
                                        <p:cTn id="22" dur="1" fill="hold">
                                          <p:stCondLst>
                                            <p:cond delay="499"/>
                                          </p:stCondLst>
                                        </p:cTn>
                                        <p:tgtEl>
                                          <p:spTgt spid="103429"/>
                                        </p:tgtEl>
                                        <p:attrNameLst>
                                          <p:attrName>style.visibility</p:attrName>
                                        </p:attrNameLst>
                                      </p:cBhvr>
                                      <p:to>
                                        <p:strVal val="visible"/>
                                      </p:to>
                                    </p:set>
                                  </p:childTnLst>
                                </p:cTn>
                              </p:par>
                            </p:childTnLst>
                          </p:cTn>
                        </p:par>
                        <p:par>
                          <p:cTn id="23" fill="hold" nodeType="afterGroup">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103432"/>
                                        </p:tgtEl>
                                        <p:attrNameLst>
                                          <p:attrName>style.visibility</p:attrName>
                                        </p:attrNameLst>
                                      </p:cBhvr>
                                      <p:to>
                                        <p:strVal val="visible"/>
                                      </p:to>
                                    </p:set>
                                    <p:animEffect transition="in" filter="wipe(left)">
                                      <p:cBhvr>
                                        <p:cTn id="26" dur="500"/>
                                        <p:tgtEl>
                                          <p:spTgt spid="103432"/>
                                        </p:tgtEl>
                                      </p:cBhvr>
                                    </p:animEffect>
                                  </p:childTnLst>
                                </p:cTn>
                              </p:par>
                            </p:childTnLst>
                          </p:cTn>
                        </p:par>
                        <p:par>
                          <p:cTn id="27" fill="hold" nodeType="afterGroup">
                            <p:stCondLst>
                              <p:cond delay="1500"/>
                            </p:stCondLst>
                            <p:childTnLst>
                              <p:par>
                                <p:cTn id="28" presetID="2" presetClass="entr" presetSubtype="6" fill="hold" grpId="0" nodeType="afterEffect">
                                  <p:stCondLst>
                                    <p:cond delay="0"/>
                                  </p:stCondLst>
                                  <p:childTnLst>
                                    <p:set>
                                      <p:cBhvr>
                                        <p:cTn id="29" dur="1" fill="hold">
                                          <p:stCondLst>
                                            <p:cond delay="0"/>
                                          </p:stCondLst>
                                        </p:cTn>
                                        <p:tgtEl>
                                          <p:spTgt spid="103433"/>
                                        </p:tgtEl>
                                        <p:attrNameLst>
                                          <p:attrName>style.visibility</p:attrName>
                                        </p:attrNameLst>
                                      </p:cBhvr>
                                      <p:to>
                                        <p:strVal val="visible"/>
                                      </p:to>
                                    </p:set>
                                    <p:anim calcmode="lin" valueType="num">
                                      <p:cBhvr additive="base">
                                        <p:cTn id="30" dur="500" fill="hold"/>
                                        <p:tgtEl>
                                          <p:spTgt spid="103433"/>
                                        </p:tgtEl>
                                        <p:attrNameLst>
                                          <p:attrName>ppt_x</p:attrName>
                                        </p:attrNameLst>
                                      </p:cBhvr>
                                      <p:tavLst>
                                        <p:tav tm="0">
                                          <p:val>
                                            <p:strVal val="1+#ppt_w/2"/>
                                          </p:val>
                                        </p:tav>
                                        <p:tav tm="100000">
                                          <p:val>
                                            <p:strVal val="#ppt_x"/>
                                          </p:val>
                                        </p:tav>
                                      </p:tavLst>
                                    </p:anim>
                                    <p:anim calcmode="lin" valueType="num">
                                      <p:cBhvr additive="base">
                                        <p:cTn id="31" dur="500" fill="hold"/>
                                        <p:tgtEl>
                                          <p:spTgt spid="1034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autoUpdateAnimBg="0"/>
      <p:bldP spid="103427" grpId="0" autoUpdateAnimBg="0"/>
      <p:bldP spid="103428" grpId="0" animBg="1"/>
      <p:bldP spid="103429" grpId="0" animBg="1"/>
      <p:bldP spid="103431" grpId="0" animBg="1"/>
      <p:bldP spid="103432" grpId="0" animBg="1"/>
      <p:bldP spid="103433"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1026"/>
          <p:cNvSpPr txBox="1">
            <a:spLocks noChangeArrowheads="1"/>
          </p:cNvSpPr>
          <p:nvPr/>
        </p:nvSpPr>
        <p:spPr bwMode="auto">
          <a:xfrm>
            <a:off x="365125" y="196850"/>
            <a:ext cx="4425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A50021"/>
                </a:solidFill>
                <a:ea typeface="楷体_GB2312" charset="0"/>
              </a:rPr>
              <a:t>例如</a:t>
            </a:r>
            <a:r>
              <a:rPr lang="en-US" altLang="zh-CN" sz="3600">
                <a:solidFill>
                  <a:srgbClr val="A50021"/>
                </a:solidFill>
                <a:ea typeface="楷体_GB2312" charset="0"/>
              </a:rPr>
              <a:t>:</a:t>
            </a:r>
            <a:r>
              <a:rPr lang="zh-CN" altLang="en-US" sz="3600">
                <a:solidFill>
                  <a:srgbClr val="A50021"/>
                </a:solidFill>
                <a:ea typeface="楷体_GB2312" charset="0"/>
              </a:rPr>
              <a:t>下列为 </a:t>
            </a:r>
            <a:r>
              <a:rPr lang="en-US" altLang="zh-CN" sz="3600">
                <a:solidFill>
                  <a:srgbClr val="A50021"/>
                </a:solidFill>
                <a:ea typeface="楷体_GB2312" charset="0"/>
              </a:rPr>
              <a:t>3 </a:t>
            </a:r>
            <a:r>
              <a:rPr lang="zh-CN" altLang="en-US" sz="3600">
                <a:solidFill>
                  <a:srgbClr val="A50021"/>
                </a:solidFill>
                <a:ea typeface="楷体_GB2312" charset="0"/>
              </a:rPr>
              <a:t>阶</a:t>
            </a:r>
            <a:r>
              <a:rPr lang="en-US" altLang="zh-CN" sz="3600">
                <a:solidFill>
                  <a:srgbClr val="A50021"/>
                </a:solidFill>
                <a:ea typeface="楷体_GB2312" charset="0"/>
              </a:rPr>
              <a:t>B-</a:t>
            </a:r>
            <a:r>
              <a:rPr lang="zh-CN" altLang="en-US" sz="3600">
                <a:solidFill>
                  <a:srgbClr val="A50021"/>
                </a:solidFill>
                <a:ea typeface="楷体_GB2312" charset="0"/>
              </a:rPr>
              <a:t>树</a:t>
            </a:r>
            <a:endParaRPr lang="zh-CN" altLang="en-US" sz="3600">
              <a:ea typeface="楷体_GB2312" charset="0"/>
            </a:endParaRPr>
          </a:p>
        </p:txBody>
      </p:sp>
      <p:sp>
        <p:nvSpPr>
          <p:cNvPr id="217091" name="Oval 1027"/>
          <p:cNvSpPr>
            <a:spLocks noChangeArrowheads="1"/>
          </p:cNvSpPr>
          <p:nvPr/>
        </p:nvSpPr>
        <p:spPr bwMode="auto">
          <a:xfrm>
            <a:off x="3048000" y="3124200"/>
            <a:ext cx="1981200" cy="533400"/>
          </a:xfrm>
          <a:prstGeom prst="ellipse">
            <a:avLst/>
          </a:prstGeom>
          <a:solidFill>
            <a:srgbClr val="FFFFCC"/>
          </a:solidFill>
          <a:ln w="19050">
            <a:solidFill>
              <a:srgbClr val="99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rgbClr val="A50021"/>
                </a:solidFill>
              </a:rPr>
              <a:t>50</a:t>
            </a:r>
            <a:endParaRPr lang="en-US" altLang="zh-CN"/>
          </a:p>
        </p:txBody>
      </p:sp>
      <p:sp>
        <p:nvSpPr>
          <p:cNvPr id="217093" name="Oval 1029"/>
          <p:cNvSpPr>
            <a:spLocks noChangeArrowheads="1"/>
          </p:cNvSpPr>
          <p:nvPr/>
        </p:nvSpPr>
        <p:spPr bwMode="auto">
          <a:xfrm>
            <a:off x="1143000" y="4419600"/>
            <a:ext cx="1981200" cy="533400"/>
          </a:xfrm>
          <a:prstGeom prst="ellipse">
            <a:avLst/>
          </a:prstGeom>
          <a:solidFill>
            <a:srgbClr val="FFFFCC"/>
          </a:solidFill>
          <a:ln w="19050">
            <a:solidFill>
              <a:srgbClr val="99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A50021"/>
                </a:solidFill>
                <a:sym typeface="Symbol" charset="2"/>
              </a:rPr>
              <a:t> </a:t>
            </a:r>
            <a:r>
              <a:rPr lang="en-US" altLang="zh-CN" sz="3200" b="1">
                <a:solidFill>
                  <a:srgbClr val="A50021"/>
                </a:solidFill>
              </a:rPr>
              <a:t>20 </a:t>
            </a:r>
            <a:r>
              <a:rPr lang="en-US" altLang="zh-CN" sz="3200" b="1">
                <a:solidFill>
                  <a:srgbClr val="A50021"/>
                </a:solidFill>
                <a:sym typeface="Symbol" charset="2"/>
              </a:rPr>
              <a:t></a:t>
            </a:r>
            <a:r>
              <a:rPr lang="en-US" altLang="zh-CN" sz="3200" b="1">
                <a:solidFill>
                  <a:srgbClr val="A50021"/>
                </a:solidFill>
              </a:rPr>
              <a:t> 40 </a:t>
            </a:r>
            <a:r>
              <a:rPr lang="en-US" altLang="zh-CN" sz="3200" b="1">
                <a:solidFill>
                  <a:srgbClr val="A50021"/>
                </a:solidFill>
                <a:sym typeface="Symbol" charset="2"/>
              </a:rPr>
              <a:t></a:t>
            </a:r>
          </a:p>
        </p:txBody>
      </p:sp>
      <p:sp>
        <p:nvSpPr>
          <p:cNvPr id="217094" name="Oval 1030"/>
          <p:cNvSpPr>
            <a:spLocks noChangeArrowheads="1"/>
          </p:cNvSpPr>
          <p:nvPr/>
        </p:nvSpPr>
        <p:spPr bwMode="auto">
          <a:xfrm>
            <a:off x="4953000" y="4419600"/>
            <a:ext cx="1981200" cy="533400"/>
          </a:xfrm>
          <a:prstGeom prst="ellipse">
            <a:avLst/>
          </a:prstGeom>
          <a:solidFill>
            <a:srgbClr val="FFFFCC"/>
          </a:solidFill>
          <a:ln w="19050">
            <a:solidFill>
              <a:srgbClr val="99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A50021"/>
                </a:solidFill>
                <a:sym typeface="Symbol" charset="2"/>
              </a:rPr>
              <a:t></a:t>
            </a:r>
            <a:r>
              <a:rPr lang="en-US" altLang="zh-CN" sz="3600" b="1">
                <a:solidFill>
                  <a:srgbClr val="A50021"/>
                </a:solidFill>
              </a:rPr>
              <a:t> 80 </a:t>
            </a:r>
            <a:r>
              <a:rPr lang="en-US" altLang="zh-CN" sz="3200" b="1">
                <a:solidFill>
                  <a:srgbClr val="A50021"/>
                </a:solidFill>
                <a:sym typeface="Symbol" charset="2"/>
              </a:rPr>
              <a:t></a:t>
            </a:r>
          </a:p>
        </p:txBody>
      </p:sp>
      <p:sp>
        <p:nvSpPr>
          <p:cNvPr id="217095" name="Line 1031"/>
          <p:cNvSpPr>
            <a:spLocks noChangeShapeType="1"/>
          </p:cNvSpPr>
          <p:nvPr/>
        </p:nvSpPr>
        <p:spPr bwMode="auto">
          <a:xfrm flipH="1">
            <a:off x="2133600" y="3352800"/>
            <a:ext cx="1219200" cy="1066800"/>
          </a:xfrm>
          <a:prstGeom prst="line">
            <a:avLst/>
          </a:prstGeom>
          <a:noFill/>
          <a:ln w="38100">
            <a:solidFill>
              <a:srgbClr val="A5002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096" name="Line 1032"/>
          <p:cNvSpPr>
            <a:spLocks noChangeShapeType="1"/>
          </p:cNvSpPr>
          <p:nvPr/>
        </p:nvSpPr>
        <p:spPr bwMode="auto">
          <a:xfrm>
            <a:off x="4648200" y="3352800"/>
            <a:ext cx="1295400" cy="1066800"/>
          </a:xfrm>
          <a:prstGeom prst="line">
            <a:avLst/>
          </a:prstGeom>
          <a:noFill/>
          <a:ln w="38100">
            <a:solidFill>
              <a:srgbClr val="A5002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097" name="Freeform 1033"/>
          <p:cNvSpPr>
            <a:spLocks/>
          </p:cNvSpPr>
          <p:nvPr/>
        </p:nvSpPr>
        <p:spPr bwMode="auto">
          <a:xfrm>
            <a:off x="2667000" y="2438400"/>
            <a:ext cx="1066800" cy="609600"/>
          </a:xfrm>
          <a:custGeom>
            <a:avLst/>
            <a:gdLst>
              <a:gd name="T0" fmla="*/ 0 w 672"/>
              <a:gd name="T1" fmla="*/ 0 h 384"/>
              <a:gd name="T2" fmla="*/ 384 w 672"/>
              <a:gd name="T3" fmla="*/ 96 h 384"/>
              <a:gd name="T4" fmla="*/ 144 w 672"/>
              <a:gd name="T5" fmla="*/ 144 h 384"/>
              <a:gd name="T6" fmla="*/ 672 w 672"/>
              <a:gd name="T7" fmla="*/ 384 h 384"/>
            </a:gdLst>
            <a:ahLst/>
            <a:cxnLst>
              <a:cxn ang="0">
                <a:pos x="T0" y="T1"/>
              </a:cxn>
              <a:cxn ang="0">
                <a:pos x="T2" y="T3"/>
              </a:cxn>
              <a:cxn ang="0">
                <a:pos x="T4" y="T5"/>
              </a:cxn>
              <a:cxn ang="0">
                <a:pos x="T6" y="T7"/>
              </a:cxn>
            </a:cxnLst>
            <a:rect l="0" t="0" r="r" b="b"/>
            <a:pathLst>
              <a:path w="672" h="384">
                <a:moveTo>
                  <a:pt x="0" y="0"/>
                </a:moveTo>
                <a:cubicBezTo>
                  <a:pt x="180" y="36"/>
                  <a:pt x="360" y="72"/>
                  <a:pt x="384" y="96"/>
                </a:cubicBezTo>
                <a:cubicBezTo>
                  <a:pt x="408" y="120"/>
                  <a:pt x="96" y="96"/>
                  <a:pt x="144" y="144"/>
                </a:cubicBezTo>
                <a:cubicBezTo>
                  <a:pt x="192" y="192"/>
                  <a:pt x="584" y="344"/>
                  <a:pt x="672" y="384"/>
                </a:cubicBezTo>
              </a:path>
            </a:pathLst>
          </a:custGeom>
          <a:noFill/>
          <a:ln w="28575">
            <a:solidFill>
              <a:srgbClr val="FF000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098" name="Text Box 1034"/>
          <p:cNvSpPr txBox="1">
            <a:spLocks noChangeArrowheads="1"/>
          </p:cNvSpPr>
          <p:nvPr/>
        </p:nvSpPr>
        <p:spPr bwMode="auto">
          <a:xfrm>
            <a:off x="441325" y="5530850"/>
            <a:ext cx="36417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A50021"/>
                </a:solidFill>
                <a:ea typeface="楷体_GB2312" charset="0"/>
              </a:rPr>
              <a:t>插入关键字 </a:t>
            </a:r>
            <a:r>
              <a:rPr lang="en-US" altLang="zh-CN" sz="3600">
                <a:solidFill>
                  <a:srgbClr val="A50021"/>
                </a:solidFill>
                <a:ea typeface="楷体_GB2312" charset="0"/>
              </a:rPr>
              <a:t>= </a:t>
            </a:r>
            <a:r>
              <a:rPr lang="en-US" altLang="zh-CN" sz="3600" b="1">
                <a:solidFill>
                  <a:srgbClr val="FF00FF"/>
                </a:solidFill>
                <a:ea typeface="楷体_GB2312" charset="0"/>
              </a:rPr>
              <a:t>60</a:t>
            </a:r>
            <a:r>
              <a:rPr lang="en-US" altLang="zh-CN" sz="3600">
                <a:solidFill>
                  <a:srgbClr val="FF00FF"/>
                </a:solidFill>
                <a:ea typeface="楷体_GB2312" charset="0"/>
              </a:rPr>
              <a:t>,</a:t>
            </a:r>
            <a:r>
              <a:rPr lang="en-US" altLang="zh-CN" sz="3600">
                <a:solidFill>
                  <a:srgbClr val="A50021"/>
                </a:solidFill>
                <a:ea typeface="楷体_GB2312" charset="0"/>
              </a:rPr>
              <a:t> </a:t>
            </a:r>
            <a:endParaRPr lang="en-US" altLang="zh-CN" sz="3600">
              <a:ea typeface="楷体_GB2312" charset="0"/>
            </a:endParaRPr>
          </a:p>
        </p:txBody>
      </p:sp>
      <p:sp>
        <p:nvSpPr>
          <p:cNvPr id="217099" name="Oval 1035"/>
          <p:cNvSpPr>
            <a:spLocks noChangeArrowheads="1"/>
          </p:cNvSpPr>
          <p:nvPr/>
        </p:nvSpPr>
        <p:spPr bwMode="auto">
          <a:xfrm>
            <a:off x="4953000" y="4419600"/>
            <a:ext cx="1981200" cy="533400"/>
          </a:xfrm>
          <a:prstGeom prst="ellipse">
            <a:avLst/>
          </a:prstGeom>
          <a:solidFill>
            <a:srgbClr val="FFFFCC"/>
          </a:solidFill>
          <a:ln w="19050">
            <a:solidFill>
              <a:srgbClr val="99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A50021"/>
                </a:solidFill>
                <a:sym typeface="Symbol" charset="2"/>
              </a:rPr>
              <a:t></a:t>
            </a:r>
            <a:r>
              <a:rPr lang="en-US" altLang="zh-CN" sz="3200" b="1">
                <a:solidFill>
                  <a:srgbClr val="A50021"/>
                </a:solidFill>
              </a:rPr>
              <a:t> </a:t>
            </a:r>
            <a:r>
              <a:rPr lang="en-US" altLang="zh-CN" sz="3200" b="1">
                <a:solidFill>
                  <a:srgbClr val="FF00FF"/>
                </a:solidFill>
              </a:rPr>
              <a:t>60 </a:t>
            </a:r>
            <a:r>
              <a:rPr lang="en-US" altLang="zh-CN" sz="3200" b="1">
                <a:solidFill>
                  <a:srgbClr val="FF00FF"/>
                </a:solidFill>
                <a:sym typeface="Symbol" charset="2"/>
              </a:rPr>
              <a:t></a:t>
            </a:r>
            <a:r>
              <a:rPr lang="en-US" altLang="zh-CN" sz="3200" b="1">
                <a:solidFill>
                  <a:srgbClr val="A50021"/>
                </a:solidFill>
              </a:rPr>
              <a:t> 80 </a:t>
            </a:r>
            <a:r>
              <a:rPr lang="en-US" altLang="zh-CN" sz="3200" b="1">
                <a:solidFill>
                  <a:srgbClr val="A50021"/>
                </a:solidFill>
                <a:sym typeface="Symbol" charset="2"/>
              </a:rPr>
              <a:t></a:t>
            </a:r>
          </a:p>
        </p:txBody>
      </p:sp>
      <p:sp>
        <p:nvSpPr>
          <p:cNvPr id="217100" name="AutoShape 1036">
            <a:hlinkClick r:id="" action="ppaction://hlinkshowjump?jump=lastslideviewed" highlightClick="1"/>
          </p:cNvPr>
          <p:cNvSpPr>
            <a:spLocks noChangeArrowheads="1"/>
          </p:cNvSpPr>
          <p:nvPr/>
        </p:nvSpPr>
        <p:spPr bwMode="auto">
          <a:xfrm>
            <a:off x="8382000" y="6248400"/>
            <a:ext cx="381000" cy="381000"/>
          </a:xfrm>
          <a:prstGeom prst="actionButtonReturn">
            <a:avLst/>
          </a:prstGeom>
          <a:solidFill>
            <a:srgbClr val="FF0000"/>
          </a:solidFill>
          <a:ln w="9525">
            <a:solidFill>
              <a:srgbClr val="A5002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101" name="Rectangle 1037"/>
          <p:cNvSpPr>
            <a:spLocks noChangeArrowheads="1"/>
          </p:cNvSpPr>
          <p:nvPr/>
        </p:nvSpPr>
        <p:spPr bwMode="auto">
          <a:xfrm>
            <a:off x="4197350" y="5530850"/>
            <a:ext cx="755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3333FF"/>
                </a:solidFill>
                <a:ea typeface="楷体_GB2312" charset="0"/>
              </a:rPr>
              <a:t>90</a:t>
            </a:r>
            <a:r>
              <a:rPr lang="en-US" altLang="zh-CN" sz="3600">
                <a:solidFill>
                  <a:srgbClr val="3333FF"/>
                </a:solidFill>
                <a:ea typeface="楷体_GB2312" charset="0"/>
              </a:rPr>
              <a:t>,</a:t>
            </a:r>
            <a:endParaRPr lang="en-US" altLang="zh-CN" sz="3600">
              <a:solidFill>
                <a:srgbClr val="A50021"/>
              </a:solidFill>
              <a:ea typeface="楷体_GB2312" charset="0"/>
            </a:endParaRPr>
          </a:p>
        </p:txBody>
      </p:sp>
      <p:sp>
        <p:nvSpPr>
          <p:cNvPr id="217102" name="Oval 1038"/>
          <p:cNvSpPr>
            <a:spLocks noChangeArrowheads="1"/>
          </p:cNvSpPr>
          <p:nvPr/>
        </p:nvSpPr>
        <p:spPr bwMode="auto">
          <a:xfrm>
            <a:off x="4953000" y="4419600"/>
            <a:ext cx="2362200" cy="533400"/>
          </a:xfrm>
          <a:prstGeom prst="ellipse">
            <a:avLst/>
          </a:prstGeom>
          <a:solidFill>
            <a:srgbClr val="FFFFCC"/>
          </a:solidFill>
          <a:ln w="19050">
            <a:solidFill>
              <a:srgbClr val="A5002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A50021"/>
                </a:solidFill>
                <a:sym typeface="Symbol" charset="2"/>
              </a:rPr>
              <a:t></a:t>
            </a:r>
            <a:r>
              <a:rPr lang="en-US" altLang="zh-CN" sz="3200" b="1">
                <a:solidFill>
                  <a:srgbClr val="FF00FF"/>
                </a:solidFill>
              </a:rPr>
              <a:t>60</a:t>
            </a:r>
            <a:r>
              <a:rPr lang="en-US" altLang="zh-CN" sz="3200" b="1">
                <a:solidFill>
                  <a:srgbClr val="FF00FF"/>
                </a:solidFill>
                <a:sym typeface="Symbol" charset="2"/>
              </a:rPr>
              <a:t></a:t>
            </a:r>
            <a:r>
              <a:rPr lang="en-US" altLang="zh-CN" sz="3200" b="1">
                <a:solidFill>
                  <a:srgbClr val="A50021"/>
                </a:solidFill>
              </a:rPr>
              <a:t>80</a:t>
            </a:r>
            <a:r>
              <a:rPr lang="en-US" altLang="zh-CN" sz="3200" b="1">
                <a:solidFill>
                  <a:srgbClr val="A50021"/>
                </a:solidFill>
                <a:sym typeface="Symbol" charset="2"/>
              </a:rPr>
              <a:t></a:t>
            </a:r>
            <a:r>
              <a:rPr lang="en-US" altLang="zh-CN" sz="3200" b="1">
                <a:solidFill>
                  <a:srgbClr val="3333FF"/>
                </a:solidFill>
                <a:sym typeface="Symbol" charset="2"/>
              </a:rPr>
              <a:t>90</a:t>
            </a:r>
            <a:endParaRPr lang="en-US" altLang="zh-CN" sz="3200" b="1">
              <a:solidFill>
                <a:srgbClr val="A50021"/>
              </a:solidFill>
              <a:sym typeface="Symbol" charset="2"/>
            </a:endParaRPr>
          </a:p>
        </p:txBody>
      </p:sp>
      <p:sp>
        <p:nvSpPr>
          <p:cNvPr id="217103" name="Oval 1039"/>
          <p:cNvSpPr>
            <a:spLocks noChangeArrowheads="1"/>
          </p:cNvSpPr>
          <p:nvPr/>
        </p:nvSpPr>
        <p:spPr bwMode="auto">
          <a:xfrm>
            <a:off x="7391400" y="4419600"/>
            <a:ext cx="1676400" cy="5334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A50021"/>
                </a:solidFill>
                <a:sym typeface="Symbol" charset="2"/>
              </a:rPr>
              <a:t></a:t>
            </a:r>
            <a:r>
              <a:rPr lang="en-US" altLang="zh-CN" sz="3200" b="1">
                <a:solidFill>
                  <a:srgbClr val="3333FF"/>
                </a:solidFill>
                <a:sym typeface="Symbol" charset="2"/>
              </a:rPr>
              <a:t>90</a:t>
            </a:r>
            <a:r>
              <a:rPr lang="en-US" altLang="zh-CN" sz="3600" b="1">
                <a:solidFill>
                  <a:srgbClr val="A50021"/>
                </a:solidFill>
              </a:rPr>
              <a:t> </a:t>
            </a:r>
          </a:p>
        </p:txBody>
      </p:sp>
      <p:sp>
        <p:nvSpPr>
          <p:cNvPr id="217105" name="Oval 1041"/>
          <p:cNvSpPr>
            <a:spLocks noChangeArrowheads="1"/>
          </p:cNvSpPr>
          <p:nvPr/>
        </p:nvSpPr>
        <p:spPr bwMode="auto">
          <a:xfrm>
            <a:off x="3048000" y="3048000"/>
            <a:ext cx="3505200" cy="685800"/>
          </a:xfrm>
          <a:prstGeom prst="ellipse">
            <a:avLst/>
          </a:prstGeom>
          <a:solidFill>
            <a:srgbClr val="FFFFCC"/>
          </a:solidFill>
          <a:ln w="19050">
            <a:solidFill>
              <a:srgbClr val="99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rgbClr val="A50021"/>
                </a:solidFill>
              </a:rPr>
              <a:t>50    </a:t>
            </a:r>
            <a:r>
              <a:rPr lang="en-US" altLang="zh-CN" sz="3600" b="1">
                <a:solidFill>
                  <a:srgbClr val="FF0000"/>
                </a:solidFill>
              </a:rPr>
              <a:t>80</a:t>
            </a:r>
            <a:endParaRPr lang="en-US" altLang="zh-CN"/>
          </a:p>
        </p:txBody>
      </p:sp>
      <p:sp>
        <p:nvSpPr>
          <p:cNvPr id="217108" name="Line 1044"/>
          <p:cNvSpPr>
            <a:spLocks noChangeShapeType="1"/>
          </p:cNvSpPr>
          <p:nvPr/>
        </p:nvSpPr>
        <p:spPr bwMode="auto">
          <a:xfrm>
            <a:off x="4724400" y="3352800"/>
            <a:ext cx="381000" cy="381000"/>
          </a:xfrm>
          <a:prstGeom prst="line">
            <a:avLst/>
          </a:prstGeom>
          <a:noFill/>
          <a:ln w="38100">
            <a:solidFill>
              <a:srgbClr val="A5002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110" name="Line 1046"/>
          <p:cNvSpPr>
            <a:spLocks noChangeShapeType="1"/>
          </p:cNvSpPr>
          <p:nvPr/>
        </p:nvSpPr>
        <p:spPr bwMode="auto">
          <a:xfrm flipV="1">
            <a:off x="3200400" y="3352800"/>
            <a:ext cx="152400" cy="152400"/>
          </a:xfrm>
          <a:prstGeom prst="line">
            <a:avLst/>
          </a:prstGeom>
          <a:noFill/>
          <a:ln w="38100">
            <a:solidFill>
              <a:srgbClr val="A5002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111" name="Line 1047"/>
          <p:cNvSpPr>
            <a:spLocks noChangeShapeType="1"/>
          </p:cNvSpPr>
          <p:nvPr/>
        </p:nvSpPr>
        <p:spPr bwMode="auto">
          <a:xfrm>
            <a:off x="5867400" y="3352800"/>
            <a:ext cx="2362200" cy="10668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112" name="Oval 1048"/>
          <p:cNvSpPr>
            <a:spLocks noChangeArrowheads="1"/>
          </p:cNvSpPr>
          <p:nvPr/>
        </p:nvSpPr>
        <p:spPr bwMode="auto">
          <a:xfrm>
            <a:off x="4953000" y="4419600"/>
            <a:ext cx="2362200" cy="533400"/>
          </a:xfrm>
          <a:prstGeom prst="ellipse">
            <a:avLst/>
          </a:prstGeom>
          <a:solidFill>
            <a:srgbClr val="FFFFCC"/>
          </a:solidFill>
          <a:ln w="19050">
            <a:solidFill>
              <a:srgbClr val="A5002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A50021"/>
                </a:solidFill>
                <a:sym typeface="Symbol" charset="2"/>
              </a:rPr>
              <a:t></a:t>
            </a:r>
            <a:r>
              <a:rPr lang="en-US" altLang="zh-CN" sz="3200" b="1">
                <a:solidFill>
                  <a:srgbClr val="FF00FF"/>
                </a:solidFill>
              </a:rPr>
              <a:t>60</a:t>
            </a:r>
            <a:r>
              <a:rPr lang="en-US" altLang="zh-CN" sz="3200" b="1">
                <a:solidFill>
                  <a:srgbClr val="FF00FF"/>
                </a:solidFill>
                <a:sym typeface="Symbol" charset="2"/>
              </a:rPr>
              <a:t></a:t>
            </a:r>
            <a:endParaRPr lang="en-US" altLang="zh-CN" sz="3200" b="1">
              <a:solidFill>
                <a:srgbClr val="A50021"/>
              </a:solidFill>
              <a:sym typeface="Symbol" charset="2"/>
            </a:endParaRPr>
          </a:p>
        </p:txBody>
      </p:sp>
      <p:sp>
        <p:nvSpPr>
          <p:cNvPr id="217113" name="Rectangle 1049"/>
          <p:cNvSpPr>
            <a:spLocks noChangeArrowheads="1"/>
          </p:cNvSpPr>
          <p:nvPr/>
        </p:nvSpPr>
        <p:spPr bwMode="auto">
          <a:xfrm>
            <a:off x="5187950" y="5530850"/>
            <a:ext cx="755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006600"/>
                </a:solidFill>
                <a:ea typeface="楷体_GB2312" charset="0"/>
              </a:rPr>
              <a:t>30</a:t>
            </a:r>
            <a:r>
              <a:rPr lang="en-US" altLang="zh-CN" sz="3600">
                <a:solidFill>
                  <a:srgbClr val="006600"/>
                </a:solidFill>
                <a:ea typeface="楷体_GB2312" charset="0"/>
              </a:rPr>
              <a:t>,</a:t>
            </a:r>
            <a:endParaRPr lang="en-US" altLang="zh-CN" sz="3600">
              <a:solidFill>
                <a:srgbClr val="A50021"/>
              </a:solidFill>
              <a:ea typeface="楷体_GB2312" charset="0"/>
            </a:endParaRPr>
          </a:p>
        </p:txBody>
      </p:sp>
      <p:sp>
        <p:nvSpPr>
          <p:cNvPr id="217114" name="Oval 1050"/>
          <p:cNvSpPr>
            <a:spLocks noChangeArrowheads="1"/>
          </p:cNvSpPr>
          <p:nvPr/>
        </p:nvSpPr>
        <p:spPr bwMode="auto">
          <a:xfrm>
            <a:off x="3200400" y="4419600"/>
            <a:ext cx="1676400" cy="533400"/>
          </a:xfrm>
          <a:prstGeom prst="ellipse">
            <a:avLst/>
          </a:prstGeom>
          <a:solidFill>
            <a:srgbClr val="CCFFCC"/>
          </a:solidFill>
          <a:ln w="1905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A50021"/>
                </a:solidFill>
                <a:sym typeface="Symbol" charset="2"/>
              </a:rPr>
              <a:t></a:t>
            </a:r>
            <a:r>
              <a:rPr lang="en-US" altLang="zh-CN" sz="3200" b="1">
                <a:solidFill>
                  <a:srgbClr val="A50021"/>
                </a:solidFill>
              </a:rPr>
              <a:t> 40 </a:t>
            </a:r>
            <a:r>
              <a:rPr lang="en-US" altLang="zh-CN" sz="3200" b="1">
                <a:solidFill>
                  <a:srgbClr val="A50021"/>
                </a:solidFill>
                <a:sym typeface="Symbol" charset="2"/>
              </a:rPr>
              <a:t></a:t>
            </a:r>
          </a:p>
        </p:txBody>
      </p:sp>
      <p:sp>
        <p:nvSpPr>
          <p:cNvPr id="217115" name="Oval 1051"/>
          <p:cNvSpPr>
            <a:spLocks noChangeArrowheads="1"/>
          </p:cNvSpPr>
          <p:nvPr/>
        </p:nvSpPr>
        <p:spPr bwMode="auto">
          <a:xfrm>
            <a:off x="1143000" y="4419600"/>
            <a:ext cx="1981200" cy="533400"/>
          </a:xfrm>
          <a:prstGeom prst="ellipse">
            <a:avLst/>
          </a:prstGeom>
          <a:solidFill>
            <a:srgbClr val="FFFFCC"/>
          </a:solidFill>
          <a:ln w="19050">
            <a:solidFill>
              <a:srgbClr val="99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200" b="1">
                <a:solidFill>
                  <a:srgbClr val="A50021"/>
                </a:solidFill>
                <a:sym typeface="Symbol" charset="2"/>
              </a:rPr>
              <a:t> </a:t>
            </a:r>
            <a:r>
              <a:rPr lang="en-US" altLang="zh-CN" sz="3200" b="1">
                <a:solidFill>
                  <a:srgbClr val="A50021"/>
                </a:solidFill>
              </a:rPr>
              <a:t>20 </a:t>
            </a:r>
            <a:r>
              <a:rPr lang="en-US" altLang="zh-CN" sz="3200" b="1">
                <a:solidFill>
                  <a:srgbClr val="A50021"/>
                </a:solidFill>
                <a:sym typeface="Symbol" charset="2"/>
              </a:rPr>
              <a:t></a:t>
            </a:r>
          </a:p>
        </p:txBody>
      </p:sp>
      <p:sp>
        <p:nvSpPr>
          <p:cNvPr id="217116" name="Oval 1052"/>
          <p:cNvSpPr>
            <a:spLocks noChangeArrowheads="1"/>
          </p:cNvSpPr>
          <p:nvPr/>
        </p:nvSpPr>
        <p:spPr bwMode="auto">
          <a:xfrm>
            <a:off x="3048000" y="3048000"/>
            <a:ext cx="3505200" cy="685800"/>
          </a:xfrm>
          <a:prstGeom prst="ellipse">
            <a:avLst/>
          </a:prstGeom>
          <a:solidFill>
            <a:srgbClr val="FFFFCC"/>
          </a:solidFill>
          <a:ln w="19050">
            <a:solidFill>
              <a:srgbClr val="99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rgbClr val="FF0000"/>
                </a:solidFill>
              </a:rPr>
              <a:t>30</a:t>
            </a:r>
            <a:r>
              <a:rPr lang="en-US" altLang="zh-CN" sz="3600" b="1">
                <a:solidFill>
                  <a:srgbClr val="A50021"/>
                </a:solidFill>
              </a:rPr>
              <a:t>   50    80</a:t>
            </a:r>
            <a:endParaRPr lang="en-US" altLang="zh-CN"/>
          </a:p>
        </p:txBody>
      </p:sp>
      <p:sp>
        <p:nvSpPr>
          <p:cNvPr id="217117" name="Line 1053"/>
          <p:cNvSpPr>
            <a:spLocks noChangeShapeType="1"/>
          </p:cNvSpPr>
          <p:nvPr/>
        </p:nvSpPr>
        <p:spPr bwMode="auto">
          <a:xfrm flipV="1">
            <a:off x="3200400" y="3352800"/>
            <a:ext cx="228600" cy="152400"/>
          </a:xfrm>
          <a:prstGeom prst="line">
            <a:avLst/>
          </a:prstGeom>
          <a:noFill/>
          <a:ln w="38100">
            <a:solidFill>
              <a:srgbClr val="A5002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119" name="Line 1055"/>
          <p:cNvSpPr>
            <a:spLocks noChangeShapeType="1"/>
          </p:cNvSpPr>
          <p:nvPr/>
        </p:nvSpPr>
        <p:spPr bwMode="auto">
          <a:xfrm flipH="1" flipV="1">
            <a:off x="6096000" y="3352800"/>
            <a:ext cx="228600" cy="228600"/>
          </a:xfrm>
          <a:prstGeom prst="line">
            <a:avLst/>
          </a:prstGeom>
          <a:noFill/>
          <a:ln w="38100">
            <a:solidFill>
              <a:srgbClr val="A5002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121" name="Line 1057"/>
          <p:cNvSpPr>
            <a:spLocks noChangeShapeType="1"/>
          </p:cNvSpPr>
          <p:nvPr/>
        </p:nvSpPr>
        <p:spPr bwMode="auto">
          <a:xfrm flipH="1">
            <a:off x="5105400" y="3429000"/>
            <a:ext cx="152400" cy="304800"/>
          </a:xfrm>
          <a:prstGeom prst="line">
            <a:avLst/>
          </a:prstGeom>
          <a:noFill/>
          <a:ln w="38100">
            <a:solidFill>
              <a:srgbClr val="A5002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123" name="Line 1059"/>
          <p:cNvSpPr>
            <a:spLocks noChangeShapeType="1"/>
          </p:cNvSpPr>
          <p:nvPr/>
        </p:nvSpPr>
        <p:spPr bwMode="auto">
          <a:xfrm flipH="1">
            <a:off x="3962400" y="3429000"/>
            <a:ext cx="152400" cy="9906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124" name="Oval 1060"/>
          <p:cNvSpPr>
            <a:spLocks noChangeArrowheads="1"/>
          </p:cNvSpPr>
          <p:nvPr/>
        </p:nvSpPr>
        <p:spPr bwMode="auto">
          <a:xfrm>
            <a:off x="5029200" y="3048000"/>
            <a:ext cx="1524000" cy="838200"/>
          </a:xfrm>
          <a:prstGeom prst="ellipse">
            <a:avLst/>
          </a:prstGeom>
          <a:solidFill>
            <a:srgbClr val="CCFFCC"/>
          </a:solidFill>
          <a:ln w="9525">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rgbClr val="A50021"/>
                </a:solidFill>
              </a:rPr>
              <a:t>80</a:t>
            </a:r>
            <a:endParaRPr lang="en-US" altLang="zh-CN" sz="3600"/>
          </a:p>
        </p:txBody>
      </p:sp>
      <p:sp>
        <p:nvSpPr>
          <p:cNvPr id="217126" name="Line 1062"/>
          <p:cNvSpPr>
            <a:spLocks noChangeShapeType="1"/>
          </p:cNvSpPr>
          <p:nvPr/>
        </p:nvSpPr>
        <p:spPr bwMode="auto">
          <a:xfrm flipV="1">
            <a:off x="5105400" y="3429000"/>
            <a:ext cx="304800" cy="304800"/>
          </a:xfrm>
          <a:prstGeom prst="line">
            <a:avLst/>
          </a:prstGeom>
          <a:noFill/>
          <a:ln w="38100">
            <a:solidFill>
              <a:srgbClr val="A5002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128" name="Line 1064"/>
          <p:cNvSpPr>
            <a:spLocks noChangeShapeType="1"/>
          </p:cNvSpPr>
          <p:nvPr/>
        </p:nvSpPr>
        <p:spPr bwMode="auto">
          <a:xfrm>
            <a:off x="6248400" y="3505200"/>
            <a:ext cx="1981200" cy="914400"/>
          </a:xfrm>
          <a:prstGeom prst="line">
            <a:avLst/>
          </a:prstGeom>
          <a:noFill/>
          <a:ln w="38100">
            <a:solidFill>
              <a:srgbClr val="A5002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129" name="Oval 1065"/>
          <p:cNvSpPr>
            <a:spLocks noChangeArrowheads="1"/>
          </p:cNvSpPr>
          <p:nvPr/>
        </p:nvSpPr>
        <p:spPr bwMode="auto">
          <a:xfrm>
            <a:off x="3048000" y="3048000"/>
            <a:ext cx="1295400" cy="685800"/>
          </a:xfrm>
          <a:prstGeom prst="ellipse">
            <a:avLst/>
          </a:prstGeom>
          <a:solidFill>
            <a:srgbClr val="FFFFCC"/>
          </a:solidFill>
          <a:ln w="19050">
            <a:solidFill>
              <a:srgbClr val="99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rgbClr val="FF0000"/>
                </a:solidFill>
              </a:rPr>
              <a:t>30</a:t>
            </a:r>
            <a:r>
              <a:rPr lang="en-US" altLang="zh-CN" sz="3600" b="1">
                <a:solidFill>
                  <a:srgbClr val="A50021"/>
                </a:solidFill>
              </a:rPr>
              <a:t>   </a:t>
            </a:r>
            <a:endParaRPr lang="en-US" altLang="zh-CN"/>
          </a:p>
        </p:txBody>
      </p:sp>
      <p:sp>
        <p:nvSpPr>
          <p:cNvPr id="217130" name="Line 1066"/>
          <p:cNvSpPr>
            <a:spLocks noChangeShapeType="1"/>
          </p:cNvSpPr>
          <p:nvPr/>
        </p:nvSpPr>
        <p:spPr bwMode="auto">
          <a:xfrm flipH="1">
            <a:off x="3124200" y="3429000"/>
            <a:ext cx="152400" cy="152400"/>
          </a:xfrm>
          <a:prstGeom prst="line">
            <a:avLst/>
          </a:prstGeom>
          <a:noFill/>
          <a:ln w="38100">
            <a:solidFill>
              <a:srgbClr val="A5002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132" name="Line 1068"/>
          <p:cNvSpPr>
            <a:spLocks noChangeShapeType="1"/>
          </p:cNvSpPr>
          <p:nvPr/>
        </p:nvSpPr>
        <p:spPr bwMode="auto">
          <a:xfrm flipH="1">
            <a:off x="3962400" y="3429000"/>
            <a:ext cx="152400" cy="1066800"/>
          </a:xfrm>
          <a:prstGeom prst="line">
            <a:avLst/>
          </a:prstGeom>
          <a:noFill/>
          <a:ln w="38100">
            <a:solidFill>
              <a:srgbClr val="A5002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217133" name="Freeform 1069"/>
          <p:cNvSpPr>
            <a:spLocks/>
          </p:cNvSpPr>
          <p:nvPr/>
        </p:nvSpPr>
        <p:spPr bwMode="auto">
          <a:xfrm>
            <a:off x="3959225" y="2971800"/>
            <a:ext cx="1441450" cy="896938"/>
          </a:xfrm>
          <a:custGeom>
            <a:avLst/>
            <a:gdLst>
              <a:gd name="T0" fmla="*/ 74 w 908"/>
              <a:gd name="T1" fmla="*/ 28 h 521"/>
              <a:gd name="T2" fmla="*/ 398 w 908"/>
              <a:gd name="T3" fmla="*/ 28 h 521"/>
              <a:gd name="T4" fmla="*/ 626 w 908"/>
              <a:gd name="T5" fmla="*/ 4 h 521"/>
              <a:gd name="T6" fmla="*/ 842 w 908"/>
              <a:gd name="T7" fmla="*/ 28 h 521"/>
              <a:gd name="T8" fmla="*/ 902 w 908"/>
              <a:gd name="T9" fmla="*/ 40 h 521"/>
              <a:gd name="T10" fmla="*/ 830 w 908"/>
              <a:gd name="T11" fmla="*/ 64 h 521"/>
              <a:gd name="T12" fmla="*/ 758 w 908"/>
              <a:gd name="T13" fmla="*/ 112 h 521"/>
              <a:gd name="T14" fmla="*/ 698 w 908"/>
              <a:gd name="T15" fmla="*/ 184 h 521"/>
              <a:gd name="T16" fmla="*/ 674 w 908"/>
              <a:gd name="T17" fmla="*/ 256 h 521"/>
              <a:gd name="T18" fmla="*/ 710 w 908"/>
              <a:gd name="T19" fmla="*/ 412 h 521"/>
              <a:gd name="T20" fmla="*/ 86 w 908"/>
              <a:gd name="T21" fmla="*/ 412 h 521"/>
              <a:gd name="T22" fmla="*/ 194 w 908"/>
              <a:gd name="T23" fmla="*/ 364 h 521"/>
              <a:gd name="T24" fmla="*/ 266 w 908"/>
              <a:gd name="T25" fmla="*/ 196 h 521"/>
              <a:gd name="T26" fmla="*/ 146 w 908"/>
              <a:gd name="T27" fmla="*/ 76 h 521"/>
              <a:gd name="T28" fmla="*/ 122 w 908"/>
              <a:gd name="T29" fmla="*/ 40 h 521"/>
              <a:gd name="T30" fmla="*/ 38 w 908"/>
              <a:gd name="T31" fmla="*/ 16 h 521"/>
              <a:gd name="T32" fmla="*/ 74 w 908"/>
              <a:gd name="T33" fmla="*/ 28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08" h="521">
                <a:moveTo>
                  <a:pt x="74" y="28"/>
                </a:moveTo>
                <a:cubicBezTo>
                  <a:pt x="382" y="0"/>
                  <a:pt x="0" y="28"/>
                  <a:pt x="398" y="28"/>
                </a:cubicBezTo>
                <a:cubicBezTo>
                  <a:pt x="474" y="28"/>
                  <a:pt x="550" y="11"/>
                  <a:pt x="626" y="4"/>
                </a:cubicBezTo>
                <a:cubicBezTo>
                  <a:pt x="698" y="12"/>
                  <a:pt x="770" y="19"/>
                  <a:pt x="842" y="28"/>
                </a:cubicBezTo>
                <a:cubicBezTo>
                  <a:pt x="862" y="31"/>
                  <a:pt x="908" y="21"/>
                  <a:pt x="902" y="40"/>
                </a:cubicBezTo>
                <a:cubicBezTo>
                  <a:pt x="894" y="64"/>
                  <a:pt x="851" y="50"/>
                  <a:pt x="830" y="64"/>
                </a:cubicBezTo>
                <a:cubicBezTo>
                  <a:pt x="806" y="80"/>
                  <a:pt x="758" y="112"/>
                  <a:pt x="758" y="112"/>
                </a:cubicBezTo>
                <a:cubicBezTo>
                  <a:pt x="741" y="138"/>
                  <a:pt x="713" y="157"/>
                  <a:pt x="698" y="184"/>
                </a:cubicBezTo>
                <a:cubicBezTo>
                  <a:pt x="686" y="206"/>
                  <a:pt x="674" y="256"/>
                  <a:pt x="674" y="256"/>
                </a:cubicBezTo>
                <a:cubicBezTo>
                  <a:pt x="683" y="310"/>
                  <a:pt x="693" y="360"/>
                  <a:pt x="710" y="412"/>
                </a:cubicBezTo>
                <a:cubicBezTo>
                  <a:pt x="547" y="521"/>
                  <a:pt x="282" y="428"/>
                  <a:pt x="86" y="412"/>
                </a:cubicBezTo>
                <a:cubicBezTo>
                  <a:pt x="172" y="383"/>
                  <a:pt x="137" y="402"/>
                  <a:pt x="194" y="364"/>
                </a:cubicBezTo>
                <a:cubicBezTo>
                  <a:pt x="230" y="310"/>
                  <a:pt x="266" y="264"/>
                  <a:pt x="266" y="196"/>
                </a:cubicBezTo>
                <a:cubicBezTo>
                  <a:pt x="245" y="132"/>
                  <a:pt x="211" y="98"/>
                  <a:pt x="146" y="76"/>
                </a:cubicBezTo>
                <a:cubicBezTo>
                  <a:pt x="138" y="64"/>
                  <a:pt x="135" y="47"/>
                  <a:pt x="122" y="40"/>
                </a:cubicBezTo>
                <a:cubicBezTo>
                  <a:pt x="97" y="26"/>
                  <a:pt x="66" y="23"/>
                  <a:pt x="38" y="16"/>
                </a:cubicBezTo>
                <a:cubicBezTo>
                  <a:pt x="26" y="13"/>
                  <a:pt x="62" y="24"/>
                  <a:pt x="74" y="28"/>
                </a:cubicBezTo>
                <a:close/>
              </a:path>
            </a:pathLst>
          </a:custGeom>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134" name="Oval 1070"/>
          <p:cNvSpPr>
            <a:spLocks noChangeArrowheads="1"/>
          </p:cNvSpPr>
          <p:nvPr/>
        </p:nvSpPr>
        <p:spPr bwMode="auto">
          <a:xfrm>
            <a:off x="4267200" y="1752600"/>
            <a:ext cx="990600" cy="609600"/>
          </a:xfrm>
          <a:prstGeom prst="ellipse">
            <a:avLst/>
          </a:prstGeom>
          <a:solidFill>
            <a:srgbClr val="99CCFF"/>
          </a:solidFill>
          <a:ln w="9525">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3600" b="1">
                <a:solidFill>
                  <a:srgbClr val="A50021"/>
                </a:solidFill>
              </a:rPr>
              <a:t>50</a:t>
            </a:r>
            <a:endParaRPr lang="en-US" altLang="zh-CN" sz="3600"/>
          </a:p>
        </p:txBody>
      </p:sp>
      <p:sp>
        <p:nvSpPr>
          <p:cNvPr id="217136" name="Freeform 1072"/>
          <p:cNvSpPr>
            <a:spLocks/>
          </p:cNvSpPr>
          <p:nvPr/>
        </p:nvSpPr>
        <p:spPr bwMode="auto">
          <a:xfrm>
            <a:off x="3733800" y="1143000"/>
            <a:ext cx="1066800" cy="609600"/>
          </a:xfrm>
          <a:custGeom>
            <a:avLst/>
            <a:gdLst>
              <a:gd name="T0" fmla="*/ 0 w 672"/>
              <a:gd name="T1" fmla="*/ 0 h 384"/>
              <a:gd name="T2" fmla="*/ 384 w 672"/>
              <a:gd name="T3" fmla="*/ 96 h 384"/>
              <a:gd name="T4" fmla="*/ 144 w 672"/>
              <a:gd name="T5" fmla="*/ 144 h 384"/>
              <a:gd name="T6" fmla="*/ 672 w 672"/>
              <a:gd name="T7" fmla="*/ 384 h 384"/>
            </a:gdLst>
            <a:ahLst/>
            <a:cxnLst>
              <a:cxn ang="0">
                <a:pos x="T0" y="T1"/>
              </a:cxn>
              <a:cxn ang="0">
                <a:pos x="T2" y="T3"/>
              </a:cxn>
              <a:cxn ang="0">
                <a:pos x="T4" y="T5"/>
              </a:cxn>
              <a:cxn ang="0">
                <a:pos x="T6" y="T7"/>
              </a:cxn>
            </a:cxnLst>
            <a:rect l="0" t="0" r="r" b="b"/>
            <a:pathLst>
              <a:path w="672" h="384">
                <a:moveTo>
                  <a:pt x="0" y="0"/>
                </a:moveTo>
                <a:cubicBezTo>
                  <a:pt x="180" y="36"/>
                  <a:pt x="360" y="72"/>
                  <a:pt x="384" y="96"/>
                </a:cubicBezTo>
                <a:cubicBezTo>
                  <a:pt x="408" y="120"/>
                  <a:pt x="96" y="96"/>
                  <a:pt x="144" y="144"/>
                </a:cubicBezTo>
                <a:cubicBezTo>
                  <a:pt x="192" y="192"/>
                  <a:pt x="584" y="344"/>
                  <a:pt x="672" y="384"/>
                </a:cubicBezTo>
              </a:path>
            </a:pathLst>
          </a:custGeom>
          <a:noFill/>
          <a:ln w="28575">
            <a:solidFill>
              <a:srgbClr val="FF00FF"/>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137" name="Line 1073"/>
          <p:cNvSpPr>
            <a:spLocks noChangeShapeType="1"/>
          </p:cNvSpPr>
          <p:nvPr/>
        </p:nvSpPr>
        <p:spPr bwMode="auto">
          <a:xfrm flipH="1">
            <a:off x="3733800" y="2057400"/>
            <a:ext cx="685800" cy="990600"/>
          </a:xfrm>
          <a:prstGeom prst="line">
            <a:avLst/>
          </a:prstGeom>
          <a:noFill/>
          <a:ln w="57150">
            <a:solidFill>
              <a:srgbClr val="A5002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7138" name="Line 1074"/>
          <p:cNvSpPr>
            <a:spLocks noChangeShapeType="1"/>
          </p:cNvSpPr>
          <p:nvPr/>
        </p:nvSpPr>
        <p:spPr bwMode="auto">
          <a:xfrm>
            <a:off x="5105400" y="2057400"/>
            <a:ext cx="685800" cy="99060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622437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17090"/>
                                        </p:tgtEl>
                                        <p:attrNameLst>
                                          <p:attrName>style.visibility</p:attrName>
                                        </p:attrNameLst>
                                      </p:cBhvr>
                                      <p:to>
                                        <p:strVal val="visible"/>
                                      </p:to>
                                    </p:set>
                                    <p:anim calcmode="lin" valueType="num">
                                      <p:cBhvr additive="base">
                                        <p:cTn id="7" dur="500" fill="hold"/>
                                        <p:tgtEl>
                                          <p:spTgt spid="217090"/>
                                        </p:tgtEl>
                                        <p:attrNameLst>
                                          <p:attrName>ppt_x</p:attrName>
                                        </p:attrNameLst>
                                      </p:cBhvr>
                                      <p:tavLst>
                                        <p:tav tm="0">
                                          <p:val>
                                            <p:strVal val="0-#ppt_w/2"/>
                                          </p:val>
                                        </p:tav>
                                        <p:tav tm="100000">
                                          <p:val>
                                            <p:strVal val="#ppt_x"/>
                                          </p:val>
                                        </p:tav>
                                      </p:tavLst>
                                    </p:anim>
                                    <p:anim calcmode="lin" valueType="num">
                                      <p:cBhvr additive="base">
                                        <p:cTn id="8" dur="500" fill="hold"/>
                                        <p:tgtEl>
                                          <p:spTgt spid="21709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217097"/>
                                        </p:tgtEl>
                                        <p:attrNameLst>
                                          <p:attrName>style.visibility</p:attrName>
                                        </p:attrNameLst>
                                      </p:cBhvr>
                                      <p:to>
                                        <p:strVal val="visible"/>
                                      </p:to>
                                    </p:set>
                                    <p:animEffect transition="in" filter="wipe(up)">
                                      <p:cBhvr>
                                        <p:cTn id="12" dur="500"/>
                                        <p:tgtEl>
                                          <p:spTgt spid="217097"/>
                                        </p:tgtEl>
                                      </p:cBhvr>
                                    </p:animEffect>
                                  </p:childTnLst>
                                </p:cTn>
                              </p:par>
                            </p:childTnLst>
                          </p:cTn>
                        </p:par>
                        <p:par>
                          <p:cTn id="13" fill="hold" nodeType="afterGroup">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217091"/>
                                        </p:tgtEl>
                                        <p:attrNameLst>
                                          <p:attrName>style.visibility</p:attrName>
                                        </p:attrNameLst>
                                      </p:cBhvr>
                                      <p:to>
                                        <p:strVal val="visible"/>
                                      </p:to>
                                    </p:set>
                                    <p:animEffect transition="in" filter="wipe(up)">
                                      <p:cBhvr>
                                        <p:cTn id="16" dur="500"/>
                                        <p:tgtEl>
                                          <p:spTgt spid="217091"/>
                                        </p:tgtEl>
                                      </p:cBhvr>
                                    </p:animEffect>
                                  </p:childTnLst>
                                </p:cTn>
                              </p:par>
                            </p:childTnLst>
                          </p:cTn>
                        </p:par>
                        <p:par>
                          <p:cTn id="17" fill="hold" nodeType="afterGroup">
                            <p:stCondLst>
                              <p:cond delay="1500"/>
                            </p:stCondLst>
                            <p:childTnLst>
                              <p:par>
                                <p:cTn id="18" presetID="22" presetClass="entr" presetSubtype="1" fill="hold" grpId="0" nodeType="afterEffect">
                                  <p:stCondLst>
                                    <p:cond delay="0"/>
                                  </p:stCondLst>
                                  <p:childTnLst>
                                    <p:set>
                                      <p:cBhvr>
                                        <p:cTn id="19" dur="1" fill="hold">
                                          <p:stCondLst>
                                            <p:cond delay="0"/>
                                          </p:stCondLst>
                                        </p:cTn>
                                        <p:tgtEl>
                                          <p:spTgt spid="217095"/>
                                        </p:tgtEl>
                                        <p:attrNameLst>
                                          <p:attrName>style.visibility</p:attrName>
                                        </p:attrNameLst>
                                      </p:cBhvr>
                                      <p:to>
                                        <p:strVal val="visible"/>
                                      </p:to>
                                    </p:set>
                                    <p:animEffect transition="in" filter="wipe(up)">
                                      <p:cBhvr>
                                        <p:cTn id="20" dur="500"/>
                                        <p:tgtEl>
                                          <p:spTgt spid="217095"/>
                                        </p:tgtEl>
                                      </p:cBhvr>
                                    </p:animEffect>
                                  </p:childTnLst>
                                </p:cTn>
                              </p:par>
                            </p:childTnLst>
                          </p:cTn>
                        </p:par>
                        <p:par>
                          <p:cTn id="21" fill="hold" nodeType="afterGroup">
                            <p:stCondLst>
                              <p:cond delay="2000"/>
                            </p:stCondLst>
                            <p:childTnLst>
                              <p:par>
                                <p:cTn id="22" presetID="22" presetClass="entr" presetSubtype="1" fill="hold" grpId="0" nodeType="afterEffect">
                                  <p:stCondLst>
                                    <p:cond delay="0"/>
                                  </p:stCondLst>
                                  <p:childTnLst>
                                    <p:set>
                                      <p:cBhvr>
                                        <p:cTn id="23" dur="1" fill="hold">
                                          <p:stCondLst>
                                            <p:cond delay="0"/>
                                          </p:stCondLst>
                                        </p:cTn>
                                        <p:tgtEl>
                                          <p:spTgt spid="217093"/>
                                        </p:tgtEl>
                                        <p:attrNameLst>
                                          <p:attrName>style.visibility</p:attrName>
                                        </p:attrNameLst>
                                      </p:cBhvr>
                                      <p:to>
                                        <p:strVal val="visible"/>
                                      </p:to>
                                    </p:set>
                                    <p:animEffect transition="in" filter="wipe(up)">
                                      <p:cBhvr>
                                        <p:cTn id="24" dur="500"/>
                                        <p:tgtEl>
                                          <p:spTgt spid="217093"/>
                                        </p:tgtEl>
                                      </p:cBhvr>
                                    </p:animEffect>
                                  </p:childTnLst>
                                </p:cTn>
                              </p:par>
                            </p:childTnLst>
                          </p:cTn>
                        </p:par>
                        <p:par>
                          <p:cTn id="25" fill="hold" nodeType="afterGroup">
                            <p:stCondLst>
                              <p:cond delay="2500"/>
                            </p:stCondLst>
                            <p:childTnLst>
                              <p:par>
                                <p:cTn id="26" presetID="22" presetClass="entr" presetSubtype="1" fill="hold" grpId="0" nodeType="afterEffect">
                                  <p:stCondLst>
                                    <p:cond delay="0"/>
                                  </p:stCondLst>
                                  <p:childTnLst>
                                    <p:set>
                                      <p:cBhvr>
                                        <p:cTn id="27" dur="1" fill="hold">
                                          <p:stCondLst>
                                            <p:cond delay="0"/>
                                          </p:stCondLst>
                                        </p:cTn>
                                        <p:tgtEl>
                                          <p:spTgt spid="217096"/>
                                        </p:tgtEl>
                                        <p:attrNameLst>
                                          <p:attrName>style.visibility</p:attrName>
                                        </p:attrNameLst>
                                      </p:cBhvr>
                                      <p:to>
                                        <p:strVal val="visible"/>
                                      </p:to>
                                    </p:set>
                                    <p:animEffect transition="in" filter="wipe(up)">
                                      <p:cBhvr>
                                        <p:cTn id="28" dur="500"/>
                                        <p:tgtEl>
                                          <p:spTgt spid="217096"/>
                                        </p:tgtEl>
                                      </p:cBhvr>
                                    </p:animEffect>
                                  </p:childTnLst>
                                </p:cTn>
                              </p:par>
                            </p:childTnLst>
                          </p:cTn>
                        </p:par>
                        <p:par>
                          <p:cTn id="29" fill="hold" nodeType="afterGroup">
                            <p:stCondLst>
                              <p:cond delay="3000"/>
                            </p:stCondLst>
                            <p:childTnLst>
                              <p:par>
                                <p:cTn id="30" presetID="22" presetClass="entr" presetSubtype="1" fill="hold" grpId="0" nodeType="afterEffect">
                                  <p:stCondLst>
                                    <p:cond delay="0"/>
                                  </p:stCondLst>
                                  <p:childTnLst>
                                    <p:set>
                                      <p:cBhvr>
                                        <p:cTn id="31" dur="1" fill="hold">
                                          <p:stCondLst>
                                            <p:cond delay="0"/>
                                          </p:stCondLst>
                                        </p:cTn>
                                        <p:tgtEl>
                                          <p:spTgt spid="217094"/>
                                        </p:tgtEl>
                                        <p:attrNameLst>
                                          <p:attrName>style.visibility</p:attrName>
                                        </p:attrNameLst>
                                      </p:cBhvr>
                                      <p:to>
                                        <p:strVal val="visible"/>
                                      </p:to>
                                    </p:set>
                                    <p:animEffect transition="in" filter="wipe(up)">
                                      <p:cBhvr>
                                        <p:cTn id="32" dur="500"/>
                                        <p:tgtEl>
                                          <p:spTgt spid="21709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7098"/>
                                        </p:tgtEl>
                                        <p:attrNameLst>
                                          <p:attrName>style.visibility</p:attrName>
                                        </p:attrNameLst>
                                      </p:cBhvr>
                                      <p:to>
                                        <p:strVal val="visible"/>
                                      </p:to>
                                    </p:set>
                                    <p:animEffect transition="in" filter="wipe(left)">
                                      <p:cBhvr>
                                        <p:cTn id="37" dur="500"/>
                                        <p:tgtEl>
                                          <p:spTgt spid="21709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217099"/>
                                        </p:tgtEl>
                                        <p:attrNameLst>
                                          <p:attrName>style.visibility</p:attrName>
                                        </p:attrNameLst>
                                      </p:cBhvr>
                                      <p:to>
                                        <p:strVal val="visible"/>
                                      </p:to>
                                    </p:set>
                                    <p:animEffect transition="in" filter="wipe(left)">
                                      <p:cBhvr>
                                        <p:cTn id="42" dur="300"/>
                                        <p:tgtEl>
                                          <p:spTgt spid="217099"/>
                                        </p:tgtEl>
                                      </p:cBhvr>
                                    </p:animEffect>
                                  </p:childTnLst>
                                </p:cTn>
                              </p:par>
                            </p:childTnLst>
                          </p:cTn>
                        </p:par>
                        <p:par>
                          <p:cTn id="43" fill="hold" nodeType="afterGroup">
                            <p:stCondLst>
                              <p:cond delay="1500"/>
                            </p:stCondLst>
                            <p:childTnLst>
                              <p:par>
                                <p:cTn id="44" presetID="2" presetClass="entr" presetSubtype="6" fill="hold" grpId="0" nodeType="afterEffect">
                                  <p:stCondLst>
                                    <p:cond delay="0"/>
                                  </p:stCondLst>
                                  <p:childTnLst>
                                    <p:set>
                                      <p:cBhvr>
                                        <p:cTn id="45" dur="1" fill="hold">
                                          <p:stCondLst>
                                            <p:cond delay="0"/>
                                          </p:stCondLst>
                                        </p:cTn>
                                        <p:tgtEl>
                                          <p:spTgt spid="217100"/>
                                        </p:tgtEl>
                                        <p:attrNameLst>
                                          <p:attrName>style.visibility</p:attrName>
                                        </p:attrNameLst>
                                      </p:cBhvr>
                                      <p:to>
                                        <p:strVal val="visible"/>
                                      </p:to>
                                    </p:set>
                                    <p:anim calcmode="lin" valueType="num">
                                      <p:cBhvr additive="base">
                                        <p:cTn id="46" dur="500" fill="hold"/>
                                        <p:tgtEl>
                                          <p:spTgt spid="217100"/>
                                        </p:tgtEl>
                                        <p:attrNameLst>
                                          <p:attrName>ppt_x</p:attrName>
                                        </p:attrNameLst>
                                      </p:cBhvr>
                                      <p:tavLst>
                                        <p:tav tm="0">
                                          <p:val>
                                            <p:strVal val="1+#ppt_w/2"/>
                                          </p:val>
                                        </p:tav>
                                        <p:tav tm="100000">
                                          <p:val>
                                            <p:strVal val="#ppt_x"/>
                                          </p:val>
                                        </p:tav>
                                      </p:tavLst>
                                    </p:anim>
                                    <p:anim calcmode="lin" valueType="num">
                                      <p:cBhvr additive="base">
                                        <p:cTn id="47" dur="500" fill="hold"/>
                                        <p:tgtEl>
                                          <p:spTgt spid="217100"/>
                                        </p:tgtEl>
                                        <p:attrNameLst>
                                          <p:attrName>ppt_y</p:attrName>
                                        </p:attrNameLst>
                                      </p:cBhvr>
                                      <p:tavLst>
                                        <p:tav tm="0">
                                          <p:val>
                                            <p:strVal val="1+#ppt_h/2"/>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17101"/>
                                        </p:tgtEl>
                                        <p:attrNameLst>
                                          <p:attrName>style.visibility</p:attrName>
                                        </p:attrNameLst>
                                      </p:cBhvr>
                                      <p:to>
                                        <p:strVal val="visible"/>
                                      </p:to>
                                    </p:set>
                                    <p:animEffect transition="in" filter="wipe(left)">
                                      <p:cBhvr>
                                        <p:cTn id="52" dur="500"/>
                                        <p:tgtEl>
                                          <p:spTgt spid="21710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iterate type="wd">
                                    <p:tmPct val="100000"/>
                                  </p:iterate>
                                  <p:childTnLst>
                                    <p:set>
                                      <p:cBhvr>
                                        <p:cTn id="56" dur="1" fill="hold">
                                          <p:stCondLst>
                                            <p:cond delay="0"/>
                                          </p:stCondLst>
                                        </p:cTn>
                                        <p:tgtEl>
                                          <p:spTgt spid="217102"/>
                                        </p:tgtEl>
                                        <p:attrNameLst>
                                          <p:attrName>style.visibility</p:attrName>
                                        </p:attrNameLst>
                                      </p:cBhvr>
                                      <p:to>
                                        <p:strVal val="visible"/>
                                      </p:to>
                                    </p:set>
                                    <p:animEffect transition="in" filter="wipe(left)">
                                      <p:cBhvr>
                                        <p:cTn id="57" dur="300"/>
                                        <p:tgtEl>
                                          <p:spTgt spid="21710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17103"/>
                                        </p:tgtEl>
                                        <p:attrNameLst>
                                          <p:attrName>style.visibility</p:attrName>
                                        </p:attrNameLst>
                                      </p:cBhvr>
                                      <p:to>
                                        <p:strVal val="visible"/>
                                      </p:to>
                                    </p:set>
                                    <p:animEffect transition="in" filter="wipe(left)">
                                      <p:cBhvr>
                                        <p:cTn id="62" dur="500"/>
                                        <p:tgtEl>
                                          <p:spTgt spid="21710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iterate type="wd">
                                    <p:tmPct val="100000"/>
                                  </p:iterate>
                                  <p:childTnLst>
                                    <p:set>
                                      <p:cBhvr>
                                        <p:cTn id="66" dur="1" fill="hold">
                                          <p:stCondLst>
                                            <p:cond delay="0"/>
                                          </p:stCondLst>
                                        </p:cTn>
                                        <p:tgtEl>
                                          <p:spTgt spid="217105"/>
                                        </p:tgtEl>
                                        <p:attrNameLst>
                                          <p:attrName>style.visibility</p:attrName>
                                        </p:attrNameLst>
                                      </p:cBhvr>
                                      <p:to>
                                        <p:strVal val="visible"/>
                                      </p:to>
                                    </p:set>
                                    <p:animEffect transition="in" filter="wipe(left)">
                                      <p:cBhvr>
                                        <p:cTn id="67" dur="300"/>
                                        <p:tgtEl>
                                          <p:spTgt spid="217105"/>
                                        </p:tgtEl>
                                      </p:cBhvr>
                                    </p:animEffect>
                                  </p:childTnLst>
                                </p:cTn>
                              </p:par>
                            </p:childTnLst>
                          </p:cTn>
                        </p:par>
                        <p:par>
                          <p:cTn id="68" fill="hold" nodeType="afterGroup">
                            <p:stCondLst>
                              <p:cond delay="600"/>
                            </p:stCondLst>
                            <p:childTnLst>
                              <p:par>
                                <p:cTn id="69" presetID="1" presetClass="entr" presetSubtype="0" fill="hold" grpId="0" nodeType="afterEffect">
                                  <p:stCondLst>
                                    <p:cond delay="0"/>
                                  </p:stCondLst>
                                  <p:childTnLst>
                                    <p:set>
                                      <p:cBhvr>
                                        <p:cTn id="70" dur="1" fill="hold">
                                          <p:stCondLst>
                                            <p:cond delay="499"/>
                                          </p:stCondLst>
                                        </p:cTn>
                                        <p:tgtEl>
                                          <p:spTgt spid="217108"/>
                                        </p:tgtEl>
                                        <p:attrNameLst>
                                          <p:attrName>style.visibility</p:attrName>
                                        </p:attrNameLst>
                                      </p:cBhvr>
                                      <p:to>
                                        <p:strVal val="visible"/>
                                      </p:to>
                                    </p:set>
                                  </p:childTnLst>
                                </p:cTn>
                              </p:par>
                            </p:childTnLst>
                          </p:cTn>
                        </p:par>
                        <p:par>
                          <p:cTn id="71" fill="hold" nodeType="afterGroup">
                            <p:stCondLst>
                              <p:cond delay="1100"/>
                            </p:stCondLst>
                            <p:childTnLst>
                              <p:par>
                                <p:cTn id="72" presetID="1" presetClass="entr" presetSubtype="0" fill="hold" grpId="0" nodeType="afterEffect">
                                  <p:stCondLst>
                                    <p:cond delay="0"/>
                                  </p:stCondLst>
                                  <p:childTnLst>
                                    <p:set>
                                      <p:cBhvr>
                                        <p:cTn id="73" dur="1" fill="hold">
                                          <p:stCondLst>
                                            <p:cond delay="499"/>
                                          </p:stCondLst>
                                        </p:cTn>
                                        <p:tgtEl>
                                          <p:spTgt spid="217110"/>
                                        </p:tgtEl>
                                        <p:attrNameLst>
                                          <p:attrName>style.visibility</p:attrName>
                                        </p:attrNameLst>
                                      </p:cBhvr>
                                      <p:to>
                                        <p:strVal val="visible"/>
                                      </p:to>
                                    </p:set>
                                  </p:childTnLst>
                                </p:cTn>
                              </p:par>
                            </p:childTnLst>
                          </p:cTn>
                        </p:par>
                        <p:par>
                          <p:cTn id="74" fill="hold" nodeType="afterGroup">
                            <p:stCondLst>
                              <p:cond delay="1600"/>
                            </p:stCondLst>
                            <p:childTnLst>
                              <p:par>
                                <p:cTn id="75" presetID="22" presetClass="entr" presetSubtype="1" fill="hold" grpId="0" nodeType="afterEffect">
                                  <p:stCondLst>
                                    <p:cond delay="0"/>
                                  </p:stCondLst>
                                  <p:childTnLst>
                                    <p:set>
                                      <p:cBhvr>
                                        <p:cTn id="76" dur="1" fill="hold">
                                          <p:stCondLst>
                                            <p:cond delay="0"/>
                                          </p:stCondLst>
                                        </p:cTn>
                                        <p:tgtEl>
                                          <p:spTgt spid="217111"/>
                                        </p:tgtEl>
                                        <p:attrNameLst>
                                          <p:attrName>style.visibility</p:attrName>
                                        </p:attrNameLst>
                                      </p:cBhvr>
                                      <p:to>
                                        <p:strVal val="visible"/>
                                      </p:to>
                                    </p:set>
                                    <p:animEffect transition="in" filter="wipe(up)">
                                      <p:cBhvr>
                                        <p:cTn id="77" dur="500"/>
                                        <p:tgtEl>
                                          <p:spTgt spid="21711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17112"/>
                                        </p:tgtEl>
                                        <p:attrNameLst>
                                          <p:attrName>style.visibility</p:attrName>
                                        </p:attrNameLst>
                                      </p:cBhvr>
                                      <p:to>
                                        <p:strVal val="visible"/>
                                      </p:to>
                                    </p:set>
                                    <p:animEffect transition="in" filter="wipe(left)">
                                      <p:cBhvr>
                                        <p:cTn id="82" dur="500"/>
                                        <p:tgtEl>
                                          <p:spTgt spid="21711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17113"/>
                                        </p:tgtEl>
                                        <p:attrNameLst>
                                          <p:attrName>style.visibility</p:attrName>
                                        </p:attrNameLst>
                                      </p:cBhvr>
                                      <p:to>
                                        <p:strVal val="visible"/>
                                      </p:to>
                                    </p:set>
                                    <p:animEffect transition="in" filter="wipe(left)">
                                      <p:cBhvr>
                                        <p:cTn id="87" dur="500"/>
                                        <p:tgtEl>
                                          <p:spTgt spid="21711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17114"/>
                                        </p:tgtEl>
                                        <p:attrNameLst>
                                          <p:attrName>style.visibility</p:attrName>
                                        </p:attrNameLst>
                                      </p:cBhvr>
                                      <p:to>
                                        <p:strVal val="visible"/>
                                      </p:to>
                                    </p:set>
                                    <p:animEffect transition="in" filter="wipe(left)">
                                      <p:cBhvr>
                                        <p:cTn id="92" dur="500"/>
                                        <p:tgtEl>
                                          <p:spTgt spid="21711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17115"/>
                                        </p:tgtEl>
                                        <p:attrNameLst>
                                          <p:attrName>style.visibility</p:attrName>
                                        </p:attrNameLst>
                                      </p:cBhvr>
                                      <p:to>
                                        <p:strVal val="visible"/>
                                      </p:to>
                                    </p:set>
                                    <p:animEffect transition="in" filter="wipe(left)">
                                      <p:cBhvr>
                                        <p:cTn id="97" dur="500"/>
                                        <p:tgtEl>
                                          <p:spTgt spid="217115"/>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iterate type="wd">
                                    <p:tmPct val="100000"/>
                                  </p:iterate>
                                  <p:childTnLst>
                                    <p:set>
                                      <p:cBhvr>
                                        <p:cTn id="101" dur="1" fill="hold">
                                          <p:stCondLst>
                                            <p:cond delay="0"/>
                                          </p:stCondLst>
                                        </p:cTn>
                                        <p:tgtEl>
                                          <p:spTgt spid="217116"/>
                                        </p:tgtEl>
                                        <p:attrNameLst>
                                          <p:attrName>style.visibility</p:attrName>
                                        </p:attrNameLst>
                                      </p:cBhvr>
                                      <p:to>
                                        <p:strVal val="visible"/>
                                      </p:to>
                                    </p:set>
                                    <p:animEffect transition="in" filter="wipe(left)">
                                      <p:cBhvr>
                                        <p:cTn id="102" dur="300"/>
                                        <p:tgtEl>
                                          <p:spTgt spid="217116"/>
                                        </p:tgtEl>
                                      </p:cBhvr>
                                    </p:animEffect>
                                  </p:childTnLst>
                                </p:cTn>
                              </p:par>
                            </p:childTnLst>
                          </p:cTn>
                        </p:par>
                        <p:par>
                          <p:cTn id="103" fill="hold" nodeType="afterGroup">
                            <p:stCondLst>
                              <p:cond delay="900"/>
                            </p:stCondLst>
                            <p:childTnLst>
                              <p:par>
                                <p:cTn id="104" presetID="1" presetClass="entr" presetSubtype="0" fill="hold" grpId="0" nodeType="afterEffect">
                                  <p:stCondLst>
                                    <p:cond delay="0"/>
                                  </p:stCondLst>
                                  <p:childTnLst>
                                    <p:set>
                                      <p:cBhvr>
                                        <p:cTn id="105" dur="1" fill="hold">
                                          <p:stCondLst>
                                            <p:cond delay="499"/>
                                          </p:stCondLst>
                                        </p:cTn>
                                        <p:tgtEl>
                                          <p:spTgt spid="217117"/>
                                        </p:tgtEl>
                                        <p:attrNameLst>
                                          <p:attrName>style.visibility</p:attrName>
                                        </p:attrNameLst>
                                      </p:cBhvr>
                                      <p:to>
                                        <p:strVal val="visible"/>
                                      </p:to>
                                    </p:set>
                                  </p:childTnLst>
                                </p:cTn>
                              </p:par>
                            </p:childTnLst>
                          </p:cTn>
                        </p:par>
                        <p:par>
                          <p:cTn id="106" fill="hold" nodeType="afterGroup">
                            <p:stCondLst>
                              <p:cond delay="1400"/>
                            </p:stCondLst>
                            <p:childTnLst>
                              <p:par>
                                <p:cTn id="107" presetID="1" presetClass="entr" presetSubtype="0" fill="hold" grpId="0" nodeType="afterEffect">
                                  <p:stCondLst>
                                    <p:cond delay="0"/>
                                  </p:stCondLst>
                                  <p:childTnLst>
                                    <p:set>
                                      <p:cBhvr>
                                        <p:cTn id="108" dur="1" fill="hold">
                                          <p:stCondLst>
                                            <p:cond delay="499"/>
                                          </p:stCondLst>
                                        </p:cTn>
                                        <p:tgtEl>
                                          <p:spTgt spid="217119"/>
                                        </p:tgtEl>
                                        <p:attrNameLst>
                                          <p:attrName>style.visibility</p:attrName>
                                        </p:attrNameLst>
                                      </p:cBhvr>
                                      <p:to>
                                        <p:strVal val="visible"/>
                                      </p:to>
                                    </p:set>
                                  </p:childTnLst>
                                </p:cTn>
                              </p:par>
                            </p:childTnLst>
                          </p:cTn>
                        </p:par>
                        <p:par>
                          <p:cTn id="109" fill="hold" nodeType="afterGroup">
                            <p:stCondLst>
                              <p:cond delay="1900"/>
                            </p:stCondLst>
                            <p:childTnLst>
                              <p:par>
                                <p:cTn id="110" presetID="1" presetClass="entr" presetSubtype="0" fill="hold" grpId="0" nodeType="afterEffect">
                                  <p:stCondLst>
                                    <p:cond delay="0"/>
                                  </p:stCondLst>
                                  <p:childTnLst>
                                    <p:set>
                                      <p:cBhvr>
                                        <p:cTn id="111" dur="1" fill="hold">
                                          <p:stCondLst>
                                            <p:cond delay="499"/>
                                          </p:stCondLst>
                                        </p:cTn>
                                        <p:tgtEl>
                                          <p:spTgt spid="217121"/>
                                        </p:tgtEl>
                                        <p:attrNameLst>
                                          <p:attrName>style.visibility</p:attrName>
                                        </p:attrNameLst>
                                      </p:cBhvr>
                                      <p:to>
                                        <p:strVal val="visible"/>
                                      </p:to>
                                    </p:set>
                                  </p:childTnLst>
                                </p:cTn>
                              </p:par>
                            </p:childTnLst>
                          </p:cTn>
                        </p:par>
                        <p:par>
                          <p:cTn id="112" fill="hold" nodeType="afterGroup">
                            <p:stCondLst>
                              <p:cond delay="2400"/>
                            </p:stCondLst>
                            <p:childTnLst>
                              <p:par>
                                <p:cTn id="113" presetID="1" presetClass="entr" presetSubtype="0" fill="hold" grpId="0" nodeType="afterEffect">
                                  <p:stCondLst>
                                    <p:cond delay="0"/>
                                  </p:stCondLst>
                                  <p:childTnLst>
                                    <p:set>
                                      <p:cBhvr>
                                        <p:cTn id="114" dur="1" fill="hold">
                                          <p:stCondLst>
                                            <p:cond delay="499"/>
                                          </p:stCondLst>
                                        </p:cTn>
                                        <p:tgtEl>
                                          <p:spTgt spid="217123"/>
                                        </p:tgtEl>
                                        <p:attrNameLst>
                                          <p:attrName>style.visibility</p:attrName>
                                        </p:attrNameLst>
                                      </p:cBhvr>
                                      <p:to>
                                        <p:strVal val="visible"/>
                                      </p:to>
                                    </p:se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217124"/>
                                        </p:tgtEl>
                                        <p:attrNameLst>
                                          <p:attrName>style.visibility</p:attrName>
                                        </p:attrNameLst>
                                      </p:cBhvr>
                                      <p:to>
                                        <p:strVal val="visible"/>
                                      </p:to>
                                    </p:set>
                                    <p:animEffect transition="in" filter="wipe(left)">
                                      <p:cBhvr>
                                        <p:cTn id="119" dur="500"/>
                                        <p:tgtEl>
                                          <p:spTgt spid="217124"/>
                                        </p:tgtEl>
                                      </p:cBhvr>
                                    </p:animEffect>
                                  </p:childTnLst>
                                </p:cTn>
                              </p:par>
                            </p:childTnLst>
                          </p:cTn>
                        </p:par>
                        <p:par>
                          <p:cTn id="120" fill="hold" nodeType="afterGroup">
                            <p:stCondLst>
                              <p:cond delay="500"/>
                            </p:stCondLst>
                            <p:childTnLst>
                              <p:par>
                                <p:cTn id="121" presetID="1" presetClass="entr" presetSubtype="0" fill="hold" grpId="0" nodeType="afterEffect">
                                  <p:stCondLst>
                                    <p:cond delay="0"/>
                                  </p:stCondLst>
                                  <p:childTnLst>
                                    <p:set>
                                      <p:cBhvr>
                                        <p:cTn id="122" dur="1" fill="hold">
                                          <p:stCondLst>
                                            <p:cond delay="499"/>
                                          </p:stCondLst>
                                        </p:cTn>
                                        <p:tgtEl>
                                          <p:spTgt spid="217126"/>
                                        </p:tgtEl>
                                        <p:attrNameLst>
                                          <p:attrName>style.visibility</p:attrName>
                                        </p:attrNameLst>
                                      </p:cBhvr>
                                      <p:to>
                                        <p:strVal val="visible"/>
                                      </p:to>
                                    </p:set>
                                  </p:childTnLst>
                                </p:cTn>
                              </p:par>
                            </p:childTnLst>
                          </p:cTn>
                        </p:par>
                        <p:par>
                          <p:cTn id="123" fill="hold" nodeType="afterGroup">
                            <p:stCondLst>
                              <p:cond delay="1000"/>
                            </p:stCondLst>
                            <p:childTnLst>
                              <p:par>
                                <p:cTn id="124" presetID="1" presetClass="entr" presetSubtype="0" fill="hold" grpId="0" nodeType="afterEffect">
                                  <p:stCondLst>
                                    <p:cond delay="0"/>
                                  </p:stCondLst>
                                  <p:childTnLst>
                                    <p:set>
                                      <p:cBhvr>
                                        <p:cTn id="125" dur="1" fill="hold">
                                          <p:stCondLst>
                                            <p:cond delay="499"/>
                                          </p:stCondLst>
                                        </p:cTn>
                                        <p:tgtEl>
                                          <p:spTgt spid="217128"/>
                                        </p:tgtEl>
                                        <p:attrNameLst>
                                          <p:attrName>style.visibility</p:attrName>
                                        </p:attrNameLst>
                                      </p:cBhvr>
                                      <p:to>
                                        <p:strVal val="visible"/>
                                      </p:to>
                                    </p:se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grpId="0" nodeType="clickEffect">
                                  <p:stCondLst>
                                    <p:cond delay="0"/>
                                  </p:stCondLst>
                                  <p:iterate type="wd">
                                    <p:tmPct val="100000"/>
                                  </p:iterate>
                                  <p:childTnLst>
                                    <p:set>
                                      <p:cBhvr>
                                        <p:cTn id="129" dur="1" fill="hold">
                                          <p:stCondLst>
                                            <p:cond delay="0"/>
                                          </p:stCondLst>
                                        </p:cTn>
                                        <p:tgtEl>
                                          <p:spTgt spid="217129"/>
                                        </p:tgtEl>
                                        <p:attrNameLst>
                                          <p:attrName>style.visibility</p:attrName>
                                        </p:attrNameLst>
                                      </p:cBhvr>
                                      <p:to>
                                        <p:strVal val="visible"/>
                                      </p:to>
                                    </p:set>
                                    <p:animEffect transition="in" filter="wipe(left)">
                                      <p:cBhvr>
                                        <p:cTn id="130" dur="300"/>
                                        <p:tgtEl>
                                          <p:spTgt spid="217129"/>
                                        </p:tgtEl>
                                      </p:cBhvr>
                                    </p:animEffect>
                                  </p:childTnLst>
                                </p:cTn>
                              </p:par>
                            </p:childTnLst>
                          </p:cTn>
                        </p:par>
                        <p:par>
                          <p:cTn id="131" fill="hold" nodeType="afterGroup">
                            <p:stCondLst>
                              <p:cond delay="600"/>
                            </p:stCondLst>
                            <p:childTnLst>
                              <p:par>
                                <p:cTn id="132" presetID="1" presetClass="entr" presetSubtype="0" fill="hold" grpId="0" nodeType="afterEffect">
                                  <p:stCondLst>
                                    <p:cond delay="0"/>
                                  </p:stCondLst>
                                  <p:childTnLst>
                                    <p:set>
                                      <p:cBhvr>
                                        <p:cTn id="133" dur="1" fill="hold">
                                          <p:stCondLst>
                                            <p:cond delay="499"/>
                                          </p:stCondLst>
                                        </p:cTn>
                                        <p:tgtEl>
                                          <p:spTgt spid="217130"/>
                                        </p:tgtEl>
                                        <p:attrNameLst>
                                          <p:attrName>style.visibility</p:attrName>
                                        </p:attrNameLst>
                                      </p:cBhvr>
                                      <p:to>
                                        <p:strVal val="visible"/>
                                      </p:to>
                                    </p:set>
                                  </p:childTnLst>
                                </p:cTn>
                              </p:par>
                            </p:childTnLst>
                          </p:cTn>
                        </p:par>
                        <p:par>
                          <p:cTn id="134" fill="hold" nodeType="afterGroup">
                            <p:stCondLst>
                              <p:cond delay="1100"/>
                            </p:stCondLst>
                            <p:childTnLst>
                              <p:par>
                                <p:cTn id="135" presetID="1" presetClass="entr" presetSubtype="0" fill="hold" grpId="0" nodeType="afterEffect">
                                  <p:stCondLst>
                                    <p:cond delay="0"/>
                                  </p:stCondLst>
                                  <p:childTnLst>
                                    <p:set>
                                      <p:cBhvr>
                                        <p:cTn id="136" dur="1" fill="hold">
                                          <p:stCondLst>
                                            <p:cond delay="499"/>
                                          </p:stCondLst>
                                        </p:cTn>
                                        <p:tgtEl>
                                          <p:spTgt spid="217132"/>
                                        </p:tgtEl>
                                        <p:attrNameLst>
                                          <p:attrName>style.visibility</p:attrName>
                                        </p:attrNameLst>
                                      </p:cBhvr>
                                      <p:to>
                                        <p:strVal val="visible"/>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217134"/>
                                        </p:tgtEl>
                                        <p:attrNameLst>
                                          <p:attrName>style.visibility</p:attrName>
                                        </p:attrNameLst>
                                      </p:cBhvr>
                                      <p:to>
                                        <p:strVal val="visible"/>
                                      </p:to>
                                    </p:set>
                                    <p:animEffect transition="in" filter="wipe(left)">
                                      <p:cBhvr>
                                        <p:cTn id="141" dur="500"/>
                                        <p:tgtEl>
                                          <p:spTgt spid="217134"/>
                                        </p:tgtEl>
                                      </p:cBhvr>
                                    </p:animEffect>
                                  </p:childTnLst>
                                </p:cTn>
                              </p:par>
                            </p:childTnLst>
                          </p:cTn>
                        </p:par>
                        <p:par>
                          <p:cTn id="142" fill="hold" nodeType="afterGroup">
                            <p:stCondLst>
                              <p:cond delay="500"/>
                            </p:stCondLst>
                            <p:childTnLst>
                              <p:par>
                                <p:cTn id="143" presetID="1" presetClass="entr" presetSubtype="0" fill="hold" grpId="0" nodeType="afterEffect">
                                  <p:stCondLst>
                                    <p:cond delay="0"/>
                                  </p:stCondLst>
                                  <p:childTnLst>
                                    <p:set>
                                      <p:cBhvr>
                                        <p:cTn id="144" dur="1" fill="hold">
                                          <p:stCondLst>
                                            <p:cond delay="499"/>
                                          </p:stCondLst>
                                        </p:cTn>
                                        <p:tgtEl>
                                          <p:spTgt spid="217137"/>
                                        </p:tgtEl>
                                        <p:attrNameLst>
                                          <p:attrName>style.visibility</p:attrName>
                                        </p:attrNameLst>
                                      </p:cBhvr>
                                      <p:to>
                                        <p:strVal val="visible"/>
                                      </p:to>
                                    </p:set>
                                  </p:childTnLst>
                                </p:cTn>
                              </p:par>
                            </p:childTnLst>
                          </p:cTn>
                        </p:par>
                        <p:par>
                          <p:cTn id="145" fill="hold" nodeType="afterGroup">
                            <p:stCondLst>
                              <p:cond delay="1000"/>
                            </p:stCondLst>
                            <p:childTnLst>
                              <p:par>
                                <p:cTn id="146" presetID="1" presetClass="entr" presetSubtype="0" fill="hold" grpId="0" nodeType="afterEffect">
                                  <p:stCondLst>
                                    <p:cond delay="0"/>
                                  </p:stCondLst>
                                  <p:childTnLst>
                                    <p:set>
                                      <p:cBhvr>
                                        <p:cTn id="147" dur="1" fill="hold">
                                          <p:stCondLst>
                                            <p:cond delay="499"/>
                                          </p:stCondLst>
                                        </p:cTn>
                                        <p:tgtEl>
                                          <p:spTgt spid="217138"/>
                                        </p:tgtEl>
                                        <p:attrNameLst>
                                          <p:attrName>style.visibility</p:attrName>
                                        </p:attrNameLst>
                                      </p:cBhvr>
                                      <p:to>
                                        <p:strVal val="visible"/>
                                      </p:to>
                                    </p:set>
                                  </p:childTnLst>
                                </p:cTn>
                              </p:par>
                            </p:childTnLst>
                          </p:cTn>
                        </p:par>
                        <p:par>
                          <p:cTn id="148" fill="hold" nodeType="afterGroup">
                            <p:stCondLst>
                              <p:cond delay="1500"/>
                            </p:stCondLst>
                            <p:childTnLst>
                              <p:par>
                                <p:cTn id="149" presetID="22" presetClass="entr" presetSubtype="8" fill="hold" grpId="0" nodeType="afterEffect">
                                  <p:stCondLst>
                                    <p:cond delay="0"/>
                                  </p:stCondLst>
                                  <p:childTnLst>
                                    <p:set>
                                      <p:cBhvr>
                                        <p:cTn id="150" dur="1" fill="hold">
                                          <p:stCondLst>
                                            <p:cond delay="0"/>
                                          </p:stCondLst>
                                        </p:cTn>
                                        <p:tgtEl>
                                          <p:spTgt spid="217133"/>
                                        </p:tgtEl>
                                        <p:attrNameLst>
                                          <p:attrName>style.visibility</p:attrName>
                                        </p:attrNameLst>
                                      </p:cBhvr>
                                      <p:to>
                                        <p:strVal val="visible"/>
                                      </p:to>
                                    </p:set>
                                    <p:animEffect transition="in" filter="wipe(left)">
                                      <p:cBhvr>
                                        <p:cTn id="151" dur="500"/>
                                        <p:tgtEl>
                                          <p:spTgt spid="217133"/>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22" presetClass="entr" presetSubtype="1" fill="hold" grpId="0" nodeType="clickEffect">
                                  <p:stCondLst>
                                    <p:cond delay="0"/>
                                  </p:stCondLst>
                                  <p:childTnLst>
                                    <p:set>
                                      <p:cBhvr>
                                        <p:cTn id="155" dur="1" fill="hold">
                                          <p:stCondLst>
                                            <p:cond delay="0"/>
                                          </p:stCondLst>
                                        </p:cTn>
                                        <p:tgtEl>
                                          <p:spTgt spid="217136"/>
                                        </p:tgtEl>
                                        <p:attrNameLst>
                                          <p:attrName>style.visibility</p:attrName>
                                        </p:attrNameLst>
                                      </p:cBhvr>
                                      <p:to>
                                        <p:strVal val="visible"/>
                                      </p:to>
                                    </p:set>
                                    <p:animEffect transition="in" filter="wipe(up)">
                                      <p:cBhvr>
                                        <p:cTn id="156" dur="500"/>
                                        <p:tgtEl>
                                          <p:spTgt spid="217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0" grpId="0" autoUpdateAnimBg="0"/>
      <p:bldP spid="217091" grpId="0" animBg="1" autoUpdateAnimBg="0"/>
      <p:bldP spid="217093" grpId="0" animBg="1" autoUpdateAnimBg="0"/>
      <p:bldP spid="217094" grpId="0" animBg="1" autoUpdateAnimBg="0"/>
      <p:bldP spid="217095" grpId="0" animBg="1"/>
      <p:bldP spid="217096" grpId="0" animBg="1"/>
      <p:bldP spid="217097" grpId="0" animBg="1"/>
      <p:bldP spid="217098" grpId="0" autoUpdateAnimBg="0"/>
      <p:bldP spid="217099" grpId="0" animBg="1" autoUpdateAnimBg="0"/>
      <p:bldP spid="217100" grpId="0" animBg="1"/>
      <p:bldP spid="217101" grpId="0" autoUpdateAnimBg="0"/>
      <p:bldP spid="217102" grpId="0" animBg="1" autoUpdateAnimBg="0"/>
      <p:bldP spid="217103" grpId="0" animBg="1" autoUpdateAnimBg="0"/>
      <p:bldP spid="217105" grpId="0" animBg="1" autoUpdateAnimBg="0"/>
      <p:bldP spid="217108" grpId="0" animBg="1"/>
      <p:bldP spid="217110" grpId="0" animBg="1"/>
      <p:bldP spid="217111" grpId="0" animBg="1"/>
      <p:bldP spid="217112" grpId="0" animBg="1" autoUpdateAnimBg="0"/>
      <p:bldP spid="217113" grpId="0" autoUpdateAnimBg="0"/>
      <p:bldP spid="217114" grpId="0" animBg="1" autoUpdateAnimBg="0"/>
      <p:bldP spid="217115" grpId="0" animBg="1" autoUpdateAnimBg="0"/>
      <p:bldP spid="217116" grpId="0" animBg="1" autoUpdateAnimBg="0"/>
      <p:bldP spid="217117" grpId="0" animBg="1"/>
      <p:bldP spid="217119" grpId="0" animBg="1"/>
      <p:bldP spid="217121" grpId="0" animBg="1"/>
      <p:bldP spid="217123" grpId="0" animBg="1"/>
      <p:bldP spid="217124" grpId="0" animBg="1" autoUpdateAnimBg="0"/>
      <p:bldP spid="217126" grpId="0" animBg="1"/>
      <p:bldP spid="217128" grpId="0" animBg="1"/>
      <p:bldP spid="217129" grpId="0" animBg="1" autoUpdateAnimBg="0"/>
      <p:bldP spid="217130" grpId="0" animBg="1"/>
      <p:bldP spid="217132" grpId="0" animBg="1"/>
      <p:bldP spid="217133" grpId="0" animBg="1"/>
      <p:bldP spid="217134" grpId="0" animBg="1" autoUpdateAnimBg="0"/>
      <p:bldP spid="217136" grpId="0" animBg="1"/>
      <p:bldP spid="217137" grpId="0" animBg="1"/>
      <p:bldP spid="217138"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Text Box 3"/>
          <p:cNvSpPr txBox="1">
            <a:spLocks noChangeArrowheads="1"/>
          </p:cNvSpPr>
          <p:nvPr/>
        </p:nvSpPr>
        <p:spPr bwMode="auto">
          <a:xfrm>
            <a:off x="609600" y="855663"/>
            <a:ext cx="8305800" cy="536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35000"/>
              </a:lnSpc>
            </a:pPr>
            <a:r>
              <a:rPr lang="en-US" altLang="zh-CN" sz="4000">
                <a:ea typeface="楷体_GB2312" charset="0"/>
              </a:rPr>
              <a:t>    </a:t>
            </a:r>
            <a:r>
              <a:rPr lang="zh-CN" altLang="en-US" sz="3600">
                <a:solidFill>
                  <a:srgbClr val="A50021"/>
                </a:solidFill>
                <a:ea typeface="楷体_GB2312" charset="0"/>
              </a:rPr>
              <a:t>和插入的考虑相反，首先必须找到待删关键字所在结点，并且要求删除之后，结点中关键字的个数不能小于</a:t>
            </a:r>
            <a:r>
              <a:rPr lang="zh-CN" altLang="en-US" sz="3600">
                <a:solidFill>
                  <a:srgbClr val="A50021"/>
                </a:solidFill>
                <a:ea typeface="楷体_GB2312" charset="0"/>
                <a:sym typeface="Symbol" charset="2"/>
              </a:rPr>
              <a:t></a:t>
            </a:r>
            <a:r>
              <a:rPr lang="en-US" altLang="zh-CN" sz="3600">
                <a:solidFill>
                  <a:srgbClr val="A50021"/>
                </a:solidFill>
                <a:ea typeface="楷体_GB2312" charset="0"/>
              </a:rPr>
              <a:t>m/2</a:t>
            </a:r>
            <a:r>
              <a:rPr lang="en-US" altLang="zh-CN" sz="3600">
                <a:solidFill>
                  <a:srgbClr val="A50021"/>
                </a:solidFill>
                <a:ea typeface="楷体_GB2312" charset="0"/>
                <a:sym typeface="Symbol" charset="2"/>
              </a:rPr>
              <a:t></a:t>
            </a:r>
            <a:r>
              <a:rPr lang="en-US" altLang="zh-CN" sz="3600">
                <a:solidFill>
                  <a:srgbClr val="A50021"/>
                </a:solidFill>
                <a:ea typeface="楷体_GB2312" charset="0"/>
              </a:rPr>
              <a:t>-1</a:t>
            </a:r>
            <a:r>
              <a:rPr lang="zh-CN" altLang="en-US" sz="3600">
                <a:solidFill>
                  <a:srgbClr val="A50021"/>
                </a:solidFill>
                <a:ea typeface="楷体_GB2312" charset="0"/>
              </a:rPr>
              <a:t>，否则，要从其左</a:t>
            </a:r>
            <a:r>
              <a:rPr lang="en-US" altLang="zh-CN" sz="3600">
                <a:solidFill>
                  <a:srgbClr val="A50021"/>
                </a:solidFill>
                <a:ea typeface="楷体_GB2312" charset="0"/>
              </a:rPr>
              <a:t>(</a:t>
            </a:r>
            <a:r>
              <a:rPr lang="zh-CN" altLang="en-US" sz="3600">
                <a:solidFill>
                  <a:srgbClr val="A50021"/>
                </a:solidFill>
                <a:ea typeface="楷体_GB2312" charset="0"/>
              </a:rPr>
              <a:t>或右</a:t>
            </a:r>
            <a:r>
              <a:rPr lang="en-US" altLang="zh-CN" sz="3600">
                <a:solidFill>
                  <a:srgbClr val="A50021"/>
                </a:solidFill>
                <a:ea typeface="楷体_GB2312" charset="0"/>
              </a:rPr>
              <a:t>)</a:t>
            </a:r>
            <a:r>
              <a:rPr lang="zh-CN" altLang="en-US" sz="3600">
                <a:solidFill>
                  <a:srgbClr val="A50021"/>
                </a:solidFill>
                <a:ea typeface="楷体_GB2312" charset="0"/>
              </a:rPr>
              <a:t>兄弟结点“借调”关键字，若其左和右兄弟结点均无关键字可借</a:t>
            </a:r>
            <a:r>
              <a:rPr lang="en-US" altLang="zh-CN" sz="3600">
                <a:solidFill>
                  <a:srgbClr val="A50021"/>
                </a:solidFill>
                <a:ea typeface="楷体_GB2312" charset="0"/>
              </a:rPr>
              <a:t>(</a:t>
            </a:r>
            <a:r>
              <a:rPr lang="zh-CN" altLang="en-US" sz="3600">
                <a:solidFill>
                  <a:srgbClr val="A50021"/>
                </a:solidFill>
                <a:ea typeface="楷体_GB2312" charset="0"/>
              </a:rPr>
              <a:t>结点中只有最少量的关键字</a:t>
            </a:r>
            <a:r>
              <a:rPr lang="en-US" altLang="zh-CN" sz="3600">
                <a:solidFill>
                  <a:srgbClr val="A50021"/>
                </a:solidFill>
                <a:ea typeface="楷体_GB2312" charset="0"/>
              </a:rPr>
              <a:t>)</a:t>
            </a:r>
            <a:r>
              <a:rPr lang="zh-CN" altLang="en-US" sz="3600">
                <a:solidFill>
                  <a:srgbClr val="A50021"/>
                </a:solidFill>
                <a:ea typeface="楷体_GB2312" charset="0"/>
              </a:rPr>
              <a:t>，则必须进行结点的“合并”。</a:t>
            </a:r>
            <a:endParaRPr lang="zh-CN" altLang="en-US" sz="4000">
              <a:solidFill>
                <a:srgbClr val="A50021"/>
              </a:solidFill>
            </a:endParaRPr>
          </a:p>
        </p:txBody>
      </p:sp>
      <p:sp>
        <p:nvSpPr>
          <p:cNvPr id="104452" name="Text Box 4"/>
          <p:cNvSpPr txBox="1">
            <a:spLocks noChangeArrowheads="1"/>
          </p:cNvSpPr>
          <p:nvPr/>
        </p:nvSpPr>
        <p:spPr bwMode="auto">
          <a:xfrm>
            <a:off x="381000" y="228600"/>
            <a:ext cx="2154238"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400" b="1">
                <a:solidFill>
                  <a:srgbClr val="FF00FF"/>
                </a:solidFill>
                <a:ea typeface="楷体_GB2312" charset="0"/>
              </a:rPr>
              <a:t>4</a:t>
            </a:r>
            <a:r>
              <a:rPr lang="zh-CN" altLang="en-US" sz="4400" b="1">
                <a:solidFill>
                  <a:srgbClr val="FF00FF"/>
                </a:solidFill>
                <a:ea typeface="楷体_GB2312" charset="0"/>
              </a:rPr>
              <a:t>．删除</a:t>
            </a:r>
          </a:p>
          <a:p>
            <a:endParaRPr lang="zh-CN" altLang="en-US"/>
          </a:p>
        </p:txBody>
      </p:sp>
      <p:sp>
        <p:nvSpPr>
          <p:cNvPr id="104454" name="AutoShape 6">
            <a:hlinkClick r:id="rId2"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6279608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04452"/>
                                        </p:tgtEl>
                                        <p:attrNameLst>
                                          <p:attrName>style.visibility</p:attrName>
                                        </p:attrNameLst>
                                      </p:cBhvr>
                                      <p:to>
                                        <p:strVal val="visible"/>
                                      </p:to>
                                    </p:set>
                                    <p:animEffect transition="in" filter="dissolve">
                                      <p:cBhvr>
                                        <p:cTn id="7" dur="500"/>
                                        <p:tgtEl>
                                          <p:spTgt spid="1044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104451"/>
                                        </p:tgtEl>
                                        <p:attrNameLst>
                                          <p:attrName>style.visibility</p:attrName>
                                        </p:attrNameLst>
                                      </p:cBhvr>
                                      <p:to>
                                        <p:strVal val="visible"/>
                                      </p:to>
                                    </p:set>
                                    <p:animEffect transition="in" filter="strips(upRight)">
                                      <p:cBhvr>
                                        <p:cTn id="12" dur="500"/>
                                        <p:tgtEl>
                                          <p:spTgt spid="104451"/>
                                        </p:tgtEl>
                                      </p:cBhvr>
                                    </p:animEffect>
                                  </p:childTnLst>
                                </p:cTn>
                              </p:par>
                            </p:childTnLst>
                          </p:cTn>
                        </p:par>
                        <p:par>
                          <p:cTn id="13" fill="hold" nodeType="afterGroup">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104454"/>
                                        </p:tgtEl>
                                        <p:attrNameLst>
                                          <p:attrName>style.visibility</p:attrName>
                                        </p:attrNameLst>
                                      </p:cBhvr>
                                      <p:to>
                                        <p:strVal val="visible"/>
                                      </p:to>
                                    </p:set>
                                    <p:anim calcmode="lin" valueType="num">
                                      <p:cBhvr additive="base">
                                        <p:cTn id="16" dur="500" fill="hold"/>
                                        <p:tgtEl>
                                          <p:spTgt spid="104454"/>
                                        </p:tgtEl>
                                        <p:attrNameLst>
                                          <p:attrName>ppt_x</p:attrName>
                                        </p:attrNameLst>
                                      </p:cBhvr>
                                      <p:tavLst>
                                        <p:tav tm="0">
                                          <p:val>
                                            <p:strVal val="1+#ppt_w/2"/>
                                          </p:val>
                                        </p:tav>
                                        <p:tav tm="100000">
                                          <p:val>
                                            <p:strVal val="#ppt_x"/>
                                          </p:val>
                                        </p:tav>
                                      </p:tavLst>
                                    </p:anim>
                                    <p:anim calcmode="lin" valueType="num">
                                      <p:cBhvr additive="base">
                                        <p:cTn id="17" dur="500" fill="hold"/>
                                        <p:tgtEl>
                                          <p:spTgt spid="1044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autoUpdateAnimBg="0"/>
      <p:bldP spid="104452" grpId="0" autoUpdateAnimBg="0"/>
      <p:bldP spid="104454"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
          <p:cNvSpPr txBox="1">
            <a:spLocks noChangeArrowheads="1"/>
          </p:cNvSpPr>
          <p:nvPr/>
        </p:nvSpPr>
        <p:spPr bwMode="auto">
          <a:xfrm>
            <a:off x="609600" y="1676400"/>
            <a:ext cx="7772400" cy="248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lang="en-US" altLang="zh-CN" sz="4000">
                <a:ea typeface="楷体_GB2312" charset="0"/>
              </a:rPr>
              <a:t>    </a:t>
            </a:r>
            <a:r>
              <a:rPr lang="zh-CN" altLang="en-US" sz="3600">
                <a:solidFill>
                  <a:srgbClr val="A50021"/>
                </a:solidFill>
                <a:ea typeface="楷体_GB2312" charset="0"/>
              </a:rPr>
              <a:t>在</a:t>
            </a:r>
            <a:r>
              <a:rPr lang="en-US" altLang="zh-CN" sz="3600">
                <a:solidFill>
                  <a:srgbClr val="A50021"/>
                </a:solidFill>
                <a:ea typeface="楷体_GB2312" charset="0"/>
              </a:rPr>
              <a:t>B-</a:t>
            </a:r>
            <a:r>
              <a:rPr lang="zh-CN" altLang="en-US" sz="3600">
                <a:solidFill>
                  <a:srgbClr val="A50021"/>
                </a:solidFill>
                <a:ea typeface="楷体_GB2312" charset="0"/>
              </a:rPr>
              <a:t>树中进行查找时，其查找时间</a:t>
            </a:r>
          </a:p>
          <a:p>
            <a:pPr>
              <a:lnSpc>
                <a:spcPct val="140000"/>
              </a:lnSpc>
            </a:pPr>
            <a:r>
              <a:rPr lang="zh-CN" altLang="en-US" sz="3600">
                <a:solidFill>
                  <a:srgbClr val="A50021"/>
                </a:solidFill>
                <a:ea typeface="楷体_GB2312" charset="0"/>
              </a:rPr>
              <a:t>主要花费在搜索结点（访问外存）上，</a:t>
            </a:r>
          </a:p>
          <a:p>
            <a:pPr>
              <a:lnSpc>
                <a:spcPct val="140000"/>
              </a:lnSpc>
            </a:pPr>
            <a:r>
              <a:rPr lang="zh-CN" altLang="en-US" sz="3600">
                <a:solidFill>
                  <a:srgbClr val="A50021"/>
                </a:solidFill>
                <a:ea typeface="楷体_GB2312" charset="0"/>
              </a:rPr>
              <a:t>即主要取决于</a:t>
            </a:r>
            <a:r>
              <a:rPr lang="en-US" altLang="zh-CN" sz="3600" b="1">
                <a:solidFill>
                  <a:srgbClr val="FF0000"/>
                </a:solidFill>
                <a:ea typeface="楷体_GB2312" charset="0"/>
              </a:rPr>
              <a:t>B-</a:t>
            </a:r>
            <a:r>
              <a:rPr lang="zh-CN" altLang="en-US" sz="3600" b="1">
                <a:solidFill>
                  <a:srgbClr val="FF0000"/>
                </a:solidFill>
                <a:ea typeface="楷体_GB2312" charset="0"/>
              </a:rPr>
              <a:t>树的深度</a:t>
            </a:r>
            <a:r>
              <a:rPr lang="zh-CN" altLang="en-US" sz="3600">
                <a:solidFill>
                  <a:srgbClr val="A50021"/>
                </a:solidFill>
                <a:ea typeface="楷体_GB2312" charset="0"/>
              </a:rPr>
              <a:t>。</a:t>
            </a:r>
            <a:endParaRPr lang="zh-CN" altLang="en-US" sz="4000"/>
          </a:p>
        </p:txBody>
      </p:sp>
      <p:sp>
        <p:nvSpPr>
          <p:cNvPr id="105475" name="Text Box 3"/>
          <p:cNvSpPr txBox="1">
            <a:spLocks noChangeArrowheads="1"/>
          </p:cNvSpPr>
          <p:nvPr/>
        </p:nvSpPr>
        <p:spPr bwMode="auto">
          <a:xfrm>
            <a:off x="533400" y="533400"/>
            <a:ext cx="4540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FF"/>
                </a:solidFill>
                <a:ea typeface="楷体_GB2312" charset="0"/>
              </a:rPr>
              <a:t>5</a:t>
            </a:r>
            <a:r>
              <a:rPr lang="zh-CN" altLang="en-US" sz="4000" b="1">
                <a:solidFill>
                  <a:srgbClr val="FF00FF"/>
                </a:solidFill>
                <a:ea typeface="楷体_GB2312" charset="0"/>
              </a:rPr>
              <a:t>．查找性能的分析</a:t>
            </a:r>
            <a:endParaRPr lang="zh-CN" altLang="en-US"/>
          </a:p>
        </p:txBody>
      </p:sp>
      <p:sp>
        <p:nvSpPr>
          <p:cNvPr id="105476" name="Text Box 4"/>
          <p:cNvSpPr txBox="1">
            <a:spLocks noChangeArrowheads="1"/>
          </p:cNvSpPr>
          <p:nvPr/>
        </p:nvSpPr>
        <p:spPr bwMode="auto">
          <a:xfrm>
            <a:off x="533400" y="4572000"/>
            <a:ext cx="83058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zh-CN" altLang="en-US" sz="4000">
                <a:solidFill>
                  <a:schemeClr val="accent2"/>
                </a:solidFill>
                <a:latin typeface="隶书" charset="0"/>
                <a:ea typeface="隶书" charset="0"/>
              </a:rPr>
              <a:t>问：</a:t>
            </a:r>
            <a:r>
              <a:rPr lang="zh-CN" altLang="en-US" sz="4000">
                <a:solidFill>
                  <a:srgbClr val="3333FF"/>
                </a:solidFill>
                <a:latin typeface="隶书" charset="0"/>
                <a:ea typeface="隶书" charset="0"/>
              </a:rPr>
              <a:t>含 </a:t>
            </a:r>
            <a:r>
              <a:rPr lang="en-US" altLang="zh-CN" sz="4000">
                <a:solidFill>
                  <a:srgbClr val="3333FF"/>
                </a:solidFill>
                <a:ea typeface="隶书" charset="0"/>
              </a:rPr>
              <a:t>N </a:t>
            </a:r>
            <a:r>
              <a:rPr lang="zh-CN" altLang="en-US" sz="4000">
                <a:solidFill>
                  <a:srgbClr val="3333FF"/>
                </a:solidFill>
                <a:latin typeface="隶书" charset="0"/>
                <a:ea typeface="隶书" charset="0"/>
              </a:rPr>
              <a:t>个关键字的 </a:t>
            </a:r>
            <a:r>
              <a:rPr lang="en-US" altLang="zh-CN" sz="4000" b="1" i="1">
                <a:solidFill>
                  <a:srgbClr val="3333FF"/>
                </a:solidFill>
                <a:ea typeface="隶书" charset="0"/>
              </a:rPr>
              <a:t>m </a:t>
            </a:r>
            <a:r>
              <a:rPr lang="zh-CN" altLang="en-US" sz="4000">
                <a:solidFill>
                  <a:srgbClr val="3333FF"/>
                </a:solidFill>
                <a:latin typeface="隶书" charset="0"/>
                <a:ea typeface="隶书" charset="0"/>
              </a:rPr>
              <a:t>阶 </a:t>
            </a:r>
            <a:r>
              <a:rPr lang="en-US" altLang="zh-CN" sz="4000">
                <a:solidFill>
                  <a:srgbClr val="3333FF"/>
                </a:solidFill>
                <a:ea typeface="隶书" charset="0"/>
              </a:rPr>
              <a:t>B-</a:t>
            </a:r>
            <a:r>
              <a:rPr lang="zh-CN" altLang="en-US" sz="4000">
                <a:solidFill>
                  <a:srgbClr val="3333FF"/>
                </a:solidFill>
                <a:latin typeface="隶书" charset="0"/>
                <a:ea typeface="隶书" charset="0"/>
              </a:rPr>
              <a:t>树可能达到的</a:t>
            </a:r>
            <a:r>
              <a:rPr lang="zh-CN" altLang="zh-CN" sz="4000">
                <a:solidFill>
                  <a:srgbClr val="3333FF"/>
                </a:solidFill>
                <a:latin typeface="隶书" charset="0"/>
                <a:ea typeface="隶书" charset="0"/>
              </a:rPr>
              <a:t>最大</a:t>
            </a:r>
            <a:r>
              <a:rPr lang="zh-CN" altLang="en-US" sz="4000">
                <a:solidFill>
                  <a:srgbClr val="3333FF"/>
                </a:solidFill>
                <a:latin typeface="隶书" charset="0"/>
                <a:ea typeface="隶书" charset="0"/>
              </a:rPr>
              <a:t>深度 </a:t>
            </a:r>
            <a:r>
              <a:rPr lang="en-US" altLang="zh-CN" sz="4000" b="1">
                <a:solidFill>
                  <a:srgbClr val="3333FF"/>
                </a:solidFill>
                <a:ea typeface="隶书" charset="0"/>
              </a:rPr>
              <a:t>H</a:t>
            </a:r>
            <a:r>
              <a:rPr lang="en-US" altLang="zh-CN" sz="4000">
                <a:solidFill>
                  <a:srgbClr val="3333FF"/>
                </a:solidFill>
                <a:latin typeface="隶书" charset="0"/>
                <a:ea typeface="隶书" charset="0"/>
              </a:rPr>
              <a:t> </a:t>
            </a:r>
            <a:r>
              <a:rPr lang="zh-CN" altLang="en-US" sz="4000">
                <a:solidFill>
                  <a:srgbClr val="3333FF"/>
                </a:solidFill>
                <a:latin typeface="隶书" charset="0"/>
                <a:ea typeface="隶书" charset="0"/>
              </a:rPr>
              <a:t>为多少？</a:t>
            </a:r>
          </a:p>
        </p:txBody>
      </p:sp>
    </p:spTree>
    <p:extLst>
      <p:ext uri="{BB962C8B-B14F-4D97-AF65-F5344CB8AC3E}">
        <p14:creationId xmlns:p14="http://schemas.microsoft.com/office/powerpoint/2010/main" val="58780509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05475"/>
                                        </p:tgtEl>
                                        <p:attrNameLst>
                                          <p:attrName>style.visibility</p:attrName>
                                        </p:attrNameLst>
                                      </p:cBhvr>
                                      <p:to>
                                        <p:strVal val="visible"/>
                                      </p:to>
                                    </p:set>
                                    <p:animEffect transition="in" filter="dissolve">
                                      <p:cBhvr>
                                        <p:cTn id="7" dur="500"/>
                                        <p:tgtEl>
                                          <p:spTgt spid="1054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474"/>
                                        </p:tgtEl>
                                        <p:attrNameLst>
                                          <p:attrName>style.visibility</p:attrName>
                                        </p:attrNameLst>
                                      </p:cBhvr>
                                      <p:to>
                                        <p:strVal val="visible"/>
                                      </p:to>
                                    </p:set>
                                    <p:animEffect transition="in" filter="wipe(left)">
                                      <p:cBhvr>
                                        <p:cTn id="12" dur="500"/>
                                        <p:tgtEl>
                                          <p:spTgt spid="1054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5476"/>
                                        </p:tgtEl>
                                        <p:attrNameLst>
                                          <p:attrName>style.visibility</p:attrName>
                                        </p:attrNameLst>
                                      </p:cBhvr>
                                      <p:to>
                                        <p:strVal val="visible"/>
                                      </p:to>
                                    </p:set>
                                    <p:animEffect transition="in" filter="wipe(left)">
                                      <p:cBhvr>
                                        <p:cTn id="17" dur="500"/>
                                        <p:tgtEl>
                                          <p:spTgt spid="105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autoUpdateAnimBg="0"/>
      <p:bldP spid="105475" grpId="0" autoUpdateAnimBg="0"/>
      <p:bldP spid="105476" grpId="0"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p:cNvSpPr txBox="1">
            <a:spLocks noChangeArrowheads="1"/>
          </p:cNvSpPr>
          <p:nvPr/>
        </p:nvSpPr>
        <p:spPr bwMode="auto">
          <a:xfrm>
            <a:off x="1524000" y="3071813"/>
            <a:ext cx="37369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006600"/>
                </a:solidFill>
                <a:ea typeface="楷体_GB2312" charset="0"/>
              </a:rPr>
              <a:t>第 </a:t>
            </a:r>
            <a:r>
              <a:rPr lang="en-US" altLang="zh-CN" sz="3600" b="1">
                <a:solidFill>
                  <a:srgbClr val="990099"/>
                </a:solidFill>
                <a:ea typeface="楷体_GB2312" charset="0"/>
              </a:rPr>
              <a:t>2 </a:t>
            </a:r>
            <a:r>
              <a:rPr lang="zh-CN" altLang="en-US" sz="3600" b="1">
                <a:solidFill>
                  <a:srgbClr val="006600"/>
                </a:solidFill>
                <a:ea typeface="楷体_GB2312" charset="0"/>
              </a:rPr>
              <a:t>层            </a:t>
            </a:r>
            <a:r>
              <a:rPr lang="en-US" altLang="zh-CN" sz="3600" b="1">
                <a:solidFill>
                  <a:srgbClr val="CC6600"/>
                </a:solidFill>
                <a:ea typeface="楷体_GB2312" charset="0"/>
              </a:rPr>
              <a:t>2 </a:t>
            </a:r>
            <a:r>
              <a:rPr lang="zh-CN" altLang="en-US" sz="3600" b="1">
                <a:solidFill>
                  <a:srgbClr val="CC6600"/>
                </a:solidFill>
                <a:ea typeface="楷体_GB2312" charset="0"/>
              </a:rPr>
              <a:t>个</a:t>
            </a:r>
            <a:endParaRPr lang="zh-CN" altLang="en-US" b="1">
              <a:solidFill>
                <a:srgbClr val="006600"/>
              </a:solidFill>
              <a:ea typeface="楷体_GB2312" charset="0"/>
            </a:endParaRPr>
          </a:p>
        </p:txBody>
      </p:sp>
      <p:sp>
        <p:nvSpPr>
          <p:cNvPr id="106500" name="Text Box 4"/>
          <p:cNvSpPr txBox="1">
            <a:spLocks noChangeArrowheads="1"/>
          </p:cNvSpPr>
          <p:nvPr/>
        </p:nvSpPr>
        <p:spPr bwMode="auto">
          <a:xfrm>
            <a:off x="685800" y="1524000"/>
            <a:ext cx="6584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A50021"/>
                </a:solidFill>
                <a:ea typeface="隶书" charset="0"/>
              </a:rPr>
              <a:t>先推导每一层所含最少结点数：</a:t>
            </a:r>
            <a:endParaRPr lang="zh-CN" altLang="en-US"/>
          </a:p>
        </p:txBody>
      </p:sp>
      <p:sp>
        <p:nvSpPr>
          <p:cNvPr id="106501" name="Text Box 5"/>
          <p:cNvSpPr txBox="1">
            <a:spLocks noChangeArrowheads="1"/>
          </p:cNvSpPr>
          <p:nvPr/>
        </p:nvSpPr>
        <p:spPr bwMode="auto">
          <a:xfrm>
            <a:off x="1524000" y="2309813"/>
            <a:ext cx="37369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006600"/>
                </a:solidFill>
                <a:ea typeface="楷体_GB2312" charset="0"/>
              </a:rPr>
              <a:t>第 </a:t>
            </a:r>
            <a:r>
              <a:rPr lang="en-US" altLang="zh-CN" sz="3600" b="1">
                <a:solidFill>
                  <a:srgbClr val="990099"/>
                </a:solidFill>
                <a:ea typeface="楷体_GB2312" charset="0"/>
              </a:rPr>
              <a:t>1 </a:t>
            </a:r>
            <a:r>
              <a:rPr lang="zh-CN" altLang="en-US" sz="3600" b="1">
                <a:solidFill>
                  <a:srgbClr val="006600"/>
                </a:solidFill>
                <a:ea typeface="楷体_GB2312" charset="0"/>
              </a:rPr>
              <a:t>层           </a:t>
            </a:r>
            <a:r>
              <a:rPr lang="zh-CN" altLang="en-US" sz="3600" b="1">
                <a:solidFill>
                  <a:schemeClr val="hlink"/>
                </a:solidFill>
                <a:ea typeface="楷体_GB2312" charset="0"/>
              </a:rPr>
              <a:t> </a:t>
            </a:r>
            <a:r>
              <a:rPr lang="en-US" altLang="zh-CN" sz="3600" b="1">
                <a:solidFill>
                  <a:srgbClr val="CC6600"/>
                </a:solidFill>
                <a:ea typeface="楷体_GB2312" charset="0"/>
              </a:rPr>
              <a:t>1 </a:t>
            </a:r>
            <a:r>
              <a:rPr lang="zh-CN" altLang="en-US" sz="3600" b="1">
                <a:solidFill>
                  <a:srgbClr val="CC6600"/>
                </a:solidFill>
                <a:ea typeface="楷体_GB2312" charset="0"/>
              </a:rPr>
              <a:t>个</a:t>
            </a:r>
            <a:endParaRPr lang="zh-CN" altLang="en-US"/>
          </a:p>
        </p:txBody>
      </p:sp>
      <p:sp>
        <p:nvSpPr>
          <p:cNvPr id="106502" name="Text Box 6"/>
          <p:cNvSpPr txBox="1">
            <a:spLocks noChangeArrowheads="1"/>
          </p:cNvSpPr>
          <p:nvPr/>
        </p:nvSpPr>
        <p:spPr bwMode="auto">
          <a:xfrm>
            <a:off x="1524000" y="6011863"/>
            <a:ext cx="5992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006600"/>
                </a:solidFill>
                <a:ea typeface="楷体_GB2312" charset="0"/>
              </a:rPr>
              <a:t>第 </a:t>
            </a:r>
            <a:r>
              <a:rPr lang="en-US" altLang="zh-CN" sz="3600" b="1">
                <a:solidFill>
                  <a:srgbClr val="990099"/>
                </a:solidFill>
                <a:ea typeface="楷体_GB2312" charset="0"/>
              </a:rPr>
              <a:t>H+1 </a:t>
            </a:r>
            <a:r>
              <a:rPr lang="zh-CN" altLang="en-US" sz="3600" b="1">
                <a:solidFill>
                  <a:srgbClr val="006600"/>
                </a:solidFill>
                <a:ea typeface="楷体_GB2312" charset="0"/>
              </a:rPr>
              <a:t>层       </a:t>
            </a:r>
            <a:r>
              <a:rPr lang="en-US" altLang="zh-CN" sz="3600" b="1">
                <a:solidFill>
                  <a:srgbClr val="CC6600"/>
                </a:solidFill>
                <a:ea typeface="楷体_GB2312" charset="0"/>
              </a:rPr>
              <a:t>2</a:t>
            </a:r>
            <a:r>
              <a:rPr lang="en-US" altLang="zh-CN" sz="3600" b="1">
                <a:solidFill>
                  <a:srgbClr val="CC6600"/>
                </a:solidFill>
                <a:ea typeface="楷体_GB2312" charset="0"/>
                <a:sym typeface="Symbol" charset="2"/>
              </a:rPr>
              <a:t></a:t>
            </a:r>
            <a:r>
              <a:rPr lang="en-US" altLang="zh-CN" sz="3600" b="1">
                <a:solidFill>
                  <a:srgbClr val="CC6600"/>
                </a:solidFill>
                <a:ea typeface="楷体_GB2312" charset="0"/>
              </a:rPr>
              <a:t>(</a:t>
            </a:r>
            <a:r>
              <a:rPr lang="en-US" altLang="zh-CN" sz="3600" b="1">
                <a:solidFill>
                  <a:srgbClr val="CC6600"/>
                </a:solidFill>
                <a:ea typeface="楷体_GB2312" charset="0"/>
                <a:sym typeface="Symbol" charset="2"/>
              </a:rPr>
              <a:t></a:t>
            </a:r>
            <a:r>
              <a:rPr lang="en-US" altLang="zh-CN" sz="3600" b="1">
                <a:solidFill>
                  <a:srgbClr val="CC6600"/>
                </a:solidFill>
                <a:ea typeface="楷体_GB2312" charset="0"/>
              </a:rPr>
              <a:t>m/2</a:t>
            </a:r>
            <a:r>
              <a:rPr lang="en-US" altLang="zh-CN" sz="3600" b="1">
                <a:solidFill>
                  <a:srgbClr val="CC6600"/>
                </a:solidFill>
                <a:ea typeface="楷体_GB2312" charset="0"/>
                <a:sym typeface="Symbol" charset="2"/>
              </a:rPr>
              <a:t></a:t>
            </a:r>
            <a:r>
              <a:rPr lang="en-US" altLang="zh-CN" sz="3600" b="1">
                <a:solidFill>
                  <a:srgbClr val="CC6600"/>
                </a:solidFill>
                <a:ea typeface="楷体_GB2312" charset="0"/>
              </a:rPr>
              <a:t>) </a:t>
            </a:r>
            <a:r>
              <a:rPr lang="en-US" altLang="zh-CN" sz="3600" b="1" baseline="30000">
                <a:solidFill>
                  <a:srgbClr val="CC6600"/>
                </a:solidFill>
                <a:ea typeface="楷体_GB2312" charset="0"/>
              </a:rPr>
              <a:t>H-1 </a:t>
            </a:r>
            <a:r>
              <a:rPr lang="zh-CN" altLang="en-US" sz="3600" b="1">
                <a:solidFill>
                  <a:srgbClr val="CC6600"/>
                </a:solidFill>
                <a:ea typeface="楷体_GB2312" charset="0"/>
              </a:rPr>
              <a:t>个</a:t>
            </a:r>
          </a:p>
        </p:txBody>
      </p:sp>
      <p:sp>
        <p:nvSpPr>
          <p:cNvPr id="106503" name="Text Box 7"/>
          <p:cNvSpPr txBox="1">
            <a:spLocks noChangeArrowheads="1"/>
          </p:cNvSpPr>
          <p:nvPr/>
        </p:nvSpPr>
        <p:spPr bwMode="auto">
          <a:xfrm>
            <a:off x="1514475" y="4640263"/>
            <a:ext cx="54959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006600"/>
                </a:solidFill>
                <a:ea typeface="楷体_GB2312" charset="0"/>
              </a:rPr>
              <a:t>第 </a:t>
            </a:r>
            <a:r>
              <a:rPr lang="en-US" altLang="zh-CN" sz="3600" b="1">
                <a:solidFill>
                  <a:srgbClr val="990099"/>
                </a:solidFill>
                <a:ea typeface="楷体_GB2312" charset="0"/>
              </a:rPr>
              <a:t>4 </a:t>
            </a:r>
            <a:r>
              <a:rPr lang="zh-CN" altLang="en-US" sz="3600" b="1">
                <a:solidFill>
                  <a:srgbClr val="006600"/>
                </a:solidFill>
                <a:ea typeface="楷体_GB2312" charset="0"/>
              </a:rPr>
              <a:t>层            </a:t>
            </a:r>
            <a:r>
              <a:rPr lang="en-US" altLang="zh-CN" sz="3600" b="1">
                <a:solidFill>
                  <a:srgbClr val="CC6600"/>
                </a:solidFill>
                <a:ea typeface="楷体_GB2312" charset="0"/>
              </a:rPr>
              <a:t>2</a:t>
            </a:r>
            <a:r>
              <a:rPr lang="en-US" altLang="zh-CN" sz="3600" b="1">
                <a:solidFill>
                  <a:srgbClr val="CC6600"/>
                </a:solidFill>
                <a:ea typeface="楷体_GB2312" charset="0"/>
                <a:sym typeface="Symbol" charset="2"/>
              </a:rPr>
              <a:t></a:t>
            </a:r>
            <a:r>
              <a:rPr lang="en-US" altLang="zh-CN" sz="3600" b="1">
                <a:solidFill>
                  <a:srgbClr val="CC6600"/>
                </a:solidFill>
                <a:ea typeface="楷体_GB2312" charset="0"/>
              </a:rPr>
              <a:t>(</a:t>
            </a:r>
            <a:r>
              <a:rPr lang="en-US" altLang="zh-CN" sz="3600" b="1">
                <a:solidFill>
                  <a:srgbClr val="CC6600"/>
                </a:solidFill>
                <a:ea typeface="楷体_GB2312" charset="0"/>
                <a:sym typeface="Symbol" charset="2"/>
              </a:rPr>
              <a:t></a:t>
            </a:r>
            <a:r>
              <a:rPr lang="en-US" altLang="zh-CN" sz="3600" b="1">
                <a:solidFill>
                  <a:srgbClr val="CC6600"/>
                </a:solidFill>
                <a:ea typeface="楷体_GB2312" charset="0"/>
              </a:rPr>
              <a:t>m/2</a:t>
            </a:r>
            <a:r>
              <a:rPr lang="en-US" altLang="zh-CN" sz="3600" b="1">
                <a:solidFill>
                  <a:srgbClr val="CC6600"/>
                </a:solidFill>
                <a:ea typeface="楷体_GB2312" charset="0"/>
                <a:sym typeface="Symbol" charset="2"/>
              </a:rPr>
              <a:t></a:t>
            </a:r>
            <a:r>
              <a:rPr lang="en-US" altLang="zh-CN" sz="3600" b="1">
                <a:solidFill>
                  <a:srgbClr val="CC6600"/>
                </a:solidFill>
                <a:ea typeface="楷体_GB2312" charset="0"/>
              </a:rPr>
              <a:t>)</a:t>
            </a:r>
            <a:r>
              <a:rPr lang="en-US" altLang="zh-CN" sz="3600" b="1" baseline="30000">
                <a:solidFill>
                  <a:srgbClr val="CC6600"/>
                </a:solidFill>
                <a:ea typeface="楷体_GB2312" charset="0"/>
              </a:rPr>
              <a:t>2 </a:t>
            </a:r>
            <a:r>
              <a:rPr lang="zh-CN" altLang="en-US" sz="3600" b="1">
                <a:solidFill>
                  <a:srgbClr val="CC6600"/>
                </a:solidFill>
                <a:ea typeface="楷体_GB2312" charset="0"/>
              </a:rPr>
              <a:t>个</a:t>
            </a:r>
          </a:p>
        </p:txBody>
      </p:sp>
      <p:sp>
        <p:nvSpPr>
          <p:cNvPr id="106504" name="Text Box 8"/>
          <p:cNvSpPr txBox="1">
            <a:spLocks noChangeArrowheads="1"/>
          </p:cNvSpPr>
          <p:nvPr/>
        </p:nvSpPr>
        <p:spPr bwMode="auto">
          <a:xfrm>
            <a:off x="1524000" y="3833813"/>
            <a:ext cx="50768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006600"/>
                </a:solidFill>
                <a:ea typeface="楷体_GB2312" charset="0"/>
              </a:rPr>
              <a:t>第 </a:t>
            </a:r>
            <a:r>
              <a:rPr lang="en-US" altLang="zh-CN" sz="3600" b="1">
                <a:solidFill>
                  <a:srgbClr val="990099"/>
                </a:solidFill>
                <a:ea typeface="楷体_GB2312" charset="0"/>
              </a:rPr>
              <a:t>3 </a:t>
            </a:r>
            <a:r>
              <a:rPr lang="zh-CN" altLang="en-US" sz="3600" b="1">
                <a:solidFill>
                  <a:srgbClr val="006600"/>
                </a:solidFill>
                <a:ea typeface="楷体_GB2312" charset="0"/>
              </a:rPr>
              <a:t>层            </a:t>
            </a:r>
            <a:r>
              <a:rPr lang="en-US" altLang="zh-CN" sz="3600" b="1">
                <a:solidFill>
                  <a:srgbClr val="CC6600"/>
                </a:solidFill>
                <a:ea typeface="楷体_GB2312" charset="0"/>
              </a:rPr>
              <a:t>2</a:t>
            </a:r>
            <a:r>
              <a:rPr lang="en-US" altLang="zh-CN" sz="3600" b="1">
                <a:solidFill>
                  <a:srgbClr val="CC6600"/>
                </a:solidFill>
                <a:ea typeface="楷体_GB2312" charset="0"/>
                <a:sym typeface="Symbol" charset="2"/>
              </a:rPr>
              <a:t></a:t>
            </a:r>
            <a:r>
              <a:rPr lang="en-US" altLang="zh-CN" sz="3600" b="1">
                <a:solidFill>
                  <a:srgbClr val="CC6600"/>
                </a:solidFill>
                <a:ea typeface="楷体_GB2312" charset="0"/>
              </a:rPr>
              <a:t>m/2</a:t>
            </a:r>
            <a:r>
              <a:rPr lang="en-US" altLang="zh-CN" sz="3600" b="1">
                <a:solidFill>
                  <a:srgbClr val="CC6600"/>
                </a:solidFill>
                <a:ea typeface="楷体_GB2312" charset="0"/>
                <a:sym typeface="Symbol" charset="2"/>
              </a:rPr>
              <a:t> </a:t>
            </a:r>
            <a:r>
              <a:rPr lang="zh-CN" altLang="en-US" sz="3600" b="1">
                <a:solidFill>
                  <a:srgbClr val="CC6600"/>
                </a:solidFill>
                <a:ea typeface="楷体_GB2312" charset="0"/>
                <a:sym typeface="Symbol" charset="2"/>
              </a:rPr>
              <a:t>个</a:t>
            </a:r>
            <a:endParaRPr lang="zh-CN" altLang="en-US"/>
          </a:p>
        </p:txBody>
      </p:sp>
      <p:sp>
        <p:nvSpPr>
          <p:cNvPr id="106505" name="Text Box 9"/>
          <p:cNvSpPr txBox="1">
            <a:spLocks noChangeArrowheads="1"/>
          </p:cNvSpPr>
          <p:nvPr/>
        </p:nvSpPr>
        <p:spPr bwMode="auto">
          <a:xfrm>
            <a:off x="365125" y="44450"/>
            <a:ext cx="8397875"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zh-CN" altLang="en-US" sz="3600">
                <a:solidFill>
                  <a:srgbClr val="A50021"/>
                </a:solidFill>
                <a:ea typeface="楷体_GB2312" charset="0"/>
              </a:rPr>
              <a:t>反过来问： 深度为</a:t>
            </a:r>
            <a:r>
              <a:rPr lang="en-US" altLang="zh-CN" sz="3600">
                <a:solidFill>
                  <a:srgbClr val="A50021"/>
                </a:solidFill>
                <a:ea typeface="楷体_GB2312" charset="0"/>
              </a:rPr>
              <a:t>H</a:t>
            </a:r>
            <a:r>
              <a:rPr lang="zh-CN" altLang="en-US" sz="3600">
                <a:solidFill>
                  <a:srgbClr val="A50021"/>
                </a:solidFill>
                <a:ea typeface="楷体_GB2312" charset="0"/>
              </a:rPr>
              <a:t>的</a:t>
            </a:r>
            <a:r>
              <a:rPr lang="en-US" altLang="zh-CN" sz="3600">
                <a:solidFill>
                  <a:srgbClr val="A50021"/>
                </a:solidFill>
                <a:ea typeface="楷体_GB2312" charset="0"/>
              </a:rPr>
              <a:t>B-</a:t>
            </a:r>
            <a:r>
              <a:rPr lang="zh-CN" altLang="en-US" sz="3600">
                <a:solidFill>
                  <a:srgbClr val="A50021"/>
                </a:solidFill>
                <a:ea typeface="楷体_GB2312" charset="0"/>
              </a:rPr>
              <a:t>树中，</a:t>
            </a:r>
          </a:p>
          <a:p>
            <a:pPr>
              <a:lnSpc>
                <a:spcPct val="125000"/>
              </a:lnSpc>
            </a:pPr>
            <a:r>
              <a:rPr lang="zh-CN" altLang="en-US" sz="3600">
                <a:solidFill>
                  <a:srgbClr val="A50021"/>
                </a:solidFill>
                <a:ea typeface="楷体_GB2312" charset="0"/>
              </a:rPr>
              <a:t>                  至少含有多少个结点？</a:t>
            </a:r>
          </a:p>
        </p:txBody>
      </p:sp>
      <p:sp>
        <p:nvSpPr>
          <p:cNvPr id="106506" name="Text Box 10"/>
          <p:cNvSpPr txBox="1">
            <a:spLocks noChangeArrowheads="1"/>
          </p:cNvSpPr>
          <p:nvPr/>
        </p:nvSpPr>
        <p:spPr bwMode="auto">
          <a:xfrm>
            <a:off x="1431925" y="5249863"/>
            <a:ext cx="1784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t>  </a:t>
            </a:r>
            <a:r>
              <a:rPr lang="en-US" altLang="zh-CN" sz="3600" b="1">
                <a:solidFill>
                  <a:srgbClr val="006600"/>
                </a:solidFill>
              </a:rPr>
              <a:t> …   …</a:t>
            </a:r>
            <a:endParaRPr lang="en-US" altLang="zh-CN" sz="3600"/>
          </a:p>
        </p:txBody>
      </p:sp>
    </p:spTree>
    <p:extLst>
      <p:ext uri="{BB962C8B-B14F-4D97-AF65-F5344CB8AC3E}">
        <p14:creationId xmlns:p14="http://schemas.microsoft.com/office/powerpoint/2010/main" val="12883778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6505"/>
                                        </p:tgtEl>
                                        <p:attrNameLst>
                                          <p:attrName>style.visibility</p:attrName>
                                        </p:attrNameLst>
                                      </p:cBhvr>
                                      <p:to>
                                        <p:strVal val="visible"/>
                                      </p:to>
                                    </p:set>
                                    <p:anim calcmode="lin" valueType="num">
                                      <p:cBhvr additive="base">
                                        <p:cTn id="7" dur="500" fill="hold"/>
                                        <p:tgtEl>
                                          <p:spTgt spid="106505"/>
                                        </p:tgtEl>
                                        <p:attrNameLst>
                                          <p:attrName>ppt_x</p:attrName>
                                        </p:attrNameLst>
                                      </p:cBhvr>
                                      <p:tavLst>
                                        <p:tav tm="0">
                                          <p:val>
                                            <p:strVal val="0-#ppt_w/2"/>
                                          </p:val>
                                        </p:tav>
                                        <p:tav tm="100000">
                                          <p:val>
                                            <p:strVal val="#ppt_x"/>
                                          </p:val>
                                        </p:tav>
                                      </p:tavLst>
                                    </p:anim>
                                    <p:anim calcmode="lin" valueType="num">
                                      <p:cBhvr additive="base">
                                        <p:cTn id="8" dur="500" fill="hold"/>
                                        <p:tgtEl>
                                          <p:spTgt spid="10650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 fill="hold" grpId="0" nodeType="clickEffect">
                                  <p:stCondLst>
                                    <p:cond delay="0"/>
                                  </p:stCondLst>
                                  <p:childTnLst>
                                    <p:set>
                                      <p:cBhvr>
                                        <p:cTn id="12" dur="1" fill="hold">
                                          <p:stCondLst>
                                            <p:cond delay="0"/>
                                          </p:stCondLst>
                                        </p:cTn>
                                        <p:tgtEl>
                                          <p:spTgt spid="106500"/>
                                        </p:tgtEl>
                                        <p:attrNameLst>
                                          <p:attrName>style.visibility</p:attrName>
                                        </p:attrNameLst>
                                      </p:cBhvr>
                                      <p:to>
                                        <p:strVal val="visible"/>
                                      </p:to>
                                    </p:set>
                                    <p:anim calcmode="lin" valueType="num">
                                      <p:cBhvr>
                                        <p:cTn id="13" dur="500" fill="hold"/>
                                        <p:tgtEl>
                                          <p:spTgt spid="106500"/>
                                        </p:tgtEl>
                                        <p:attrNameLst>
                                          <p:attrName>ppt_x</p:attrName>
                                        </p:attrNameLst>
                                      </p:cBhvr>
                                      <p:tavLst>
                                        <p:tav tm="0">
                                          <p:val>
                                            <p:strVal val="#ppt_x"/>
                                          </p:val>
                                        </p:tav>
                                        <p:tav tm="100000">
                                          <p:val>
                                            <p:strVal val="#ppt_x"/>
                                          </p:val>
                                        </p:tav>
                                      </p:tavLst>
                                    </p:anim>
                                    <p:anim calcmode="lin" valueType="num">
                                      <p:cBhvr>
                                        <p:cTn id="14" dur="500" fill="hold"/>
                                        <p:tgtEl>
                                          <p:spTgt spid="106500"/>
                                        </p:tgtEl>
                                        <p:attrNameLst>
                                          <p:attrName>ppt_y</p:attrName>
                                        </p:attrNameLst>
                                      </p:cBhvr>
                                      <p:tavLst>
                                        <p:tav tm="0">
                                          <p:val>
                                            <p:strVal val="#ppt_y-#ppt_h/2"/>
                                          </p:val>
                                        </p:tav>
                                        <p:tav tm="100000">
                                          <p:val>
                                            <p:strVal val="#ppt_y"/>
                                          </p:val>
                                        </p:tav>
                                      </p:tavLst>
                                    </p:anim>
                                    <p:anim calcmode="lin" valueType="num">
                                      <p:cBhvr>
                                        <p:cTn id="15" dur="500" fill="hold"/>
                                        <p:tgtEl>
                                          <p:spTgt spid="106500"/>
                                        </p:tgtEl>
                                        <p:attrNameLst>
                                          <p:attrName>ppt_w</p:attrName>
                                        </p:attrNameLst>
                                      </p:cBhvr>
                                      <p:tavLst>
                                        <p:tav tm="0">
                                          <p:val>
                                            <p:strVal val="#ppt_w"/>
                                          </p:val>
                                        </p:tav>
                                        <p:tav tm="100000">
                                          <p:val>
                                            <p:strVal val="#ppt_w"/>
                                          </p:val>
                                        </p:tav>
                                      </p:tavLst>
                                    </p:anim>
                                    <p:anim calcmode="lin" valueType="num">
                                      <p:cBhvr>
                                        <p:cTn id="16" dur="500" fill="hold"/>
                                        <p:tgtEl>
                                          <p:spTgt spid="106500"/>
                                        </p:tgtEl>
                                        <p:attrNameLst>
                                          <p:attrName>ppt_h</p:attrName>
                                        </p:attrNameLst>
                                      </p:cBhvr>
                                      <p:tavLst>
                                        <p:tav tm="0">
                                          <p:val>
                                            <p:fltVal val="0"/>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06501"/>
                                        </p:tgtEl>
                                        <p:attrNameLst>
                                          <p:attrName>style.visibility</p:attrName>
                                        </p:attrNameLst>
                                      </p:cBhvr>
                                      <p:to>
                                        <p:strVal val="visible"/>
                                      </p:to>
                                    </p:set>
                                    <p:animEffect transition="in" filter="blinds(horizontal)">
                                      <p:cBhvr>
                                        <p:cTn id="21" dur="500"/>
                                        <p:tgtEl>
                                          <p:spTgt spid="10650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06498"/>
                                        </p:tgtEl>
                                        <p:attrNameLst>
                                          <p:attrName>style.visibility</p:attrName>
                                        </p:attrNameLst>
                                      </p:cBhvr>
                                      <p:to>
                                        <p:strVal val="visible"/>
                                      </p:to>
                                    </p:set>
                                    <p:animEffect transition="in" filter="blinds(horizontal)">
                                      <p:cBhvr>
                                        <p:cTn id="26" dur="500"/>
                                        <p:tgtEl>
                                          <p:spTgt spid="10649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06504"/>
                                        </p:tgtEl>
                                        <p:attrNameLst>
                                          <p:attrName>style.visibility</p:attrName>
                                        </p:attrNameLst>
                                      </p:cBhvr>
                                      <p:to>
                                        <p:strVal val="visible"/>
                                      </p:to>
                                    </p:set>
                                    <p:animEffect transition="in" filter="blinds(horizontal)">
                                      <p:cBhvr>
                                        <p:cTn id="31" dur="500"/>
                                        <p:tgtEl>
                                          <p:spTgt spid="10650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06503"/>
                                        </p:tgtEl>
                                        <p:attrNameLst>
                                          <p:attrName>style.visibility</p:attrName>
                                        </p:attrNameLst>
                                      </p:cBhvr>
                                      <p:to>
                                        <p:strVal val="visible"/>
                                      </p:to>
                                    </p:set>
                                    <p:animEffect transition="in" filter="blinds(horizontal)">
                                      <p:cBhvr>
                                        <p:cTn id="36" dur="500"/>
                                        <p:tgtEl>
                                          <p:spTgt spid="106503"/>
                                        </p:tgtEl>
                                      </p:cBhvr>
                                    </p:animEffect>
                                  </p:childTnLst>
                                </p:cTn>
                              </p:par>
                            </p:childTnLst>
                          </p:cTn>
                        </p:par>
                        <p:par>
                          <p:cTn id="37" fill="hold" nodeType="afterGroup">
                            <p:stCondLst>
                              <p:cond delay="500"/>
                            </p:stCondLst>
                            <p:childTnLst>
                              <p:par>
                                <p:cTn id="38" presetID="3" presetClass="entr" presetSubtype="5" fill="hold" grpId="0" nodeType="afterEffect">
                                  <p:stCondLst>
                                    <p:cond delay="0"/>
                                  </p:stCondLst>
                                  <p:childTnLst>
                                    <p:set>
                                      <p:cBhvr>
                                        <p:cTn id="39" dur="1" fill="hold">
                                          <p:stCondLst>
                                            <p:cond delay="0"/>
                                          </p:stCondLst>
                                        </p:cTn>
                                        <p:tgtEl>
                                          <p:spTgt spid="106506"/>
                                        </p:tgtEl>
                                        <p:attrNameLst>
                                          <p:attrName>style.visibility</p:attrName>
                                        </p:attrNameLst>
                                      </p:cBhvr>
                                      <p:to>
                                        <p:strVal val="visible"/>
                                      </p:to>
                                    </p:set>
                                    <p:animEffect transition="in" filter="blinds(vertical)">
                                      <p:cBhvr>
                                        <p:cTn id="40" dur="500"/>
                                        <p:tgtEl>
                                          <p:spTgt spid="10650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06502"/>
                                        </p:tgtEl>
                                        <p:attrNameLst>
                                          <p:attrName>style.visibility</p:attrName>
                                        </p:attrNameLst>
                                      </p:cBhvr>
                                      <p:to>
                                        <p:strVal val="visible"/>
                                      </p:to>
                                    </p:set>
                                    <p:animEffect transition="in" filter="blinds(horizontal)">
                                      <p:cBhvr>
                                        <p:cTn id="45" dur="500"/>
                                        <p:tgtEl>
                                          <p:spTgt spid="106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autoUpdateAnimBg="0"/>
      <p:bldP spid="106500" grpId="0" autoUpdateAnimBg="0"/>
      <p:bldP spid="106501" grpId="0" autoUpdateAnimBg="0"/>
      <p:bldP spid="106502" grpId="0" autoUpdateAnimBg="0"/>
      <p:bldP spid="106503" grpId="0" autoUpdateAnimBg="0"/>
      <p:bldP spid="106504" grpId="0" autoUpdateAnimBg="0"/>
      <p:bldP spid="106505" grpId="0" autoUpdateAnimBg="0"/>
      <p:bldP spid="106506" grpId="0"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304800" y="381000"/>
            <a:ext cx="85344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600">
                <a:solidFill>
                  <a:srgbClr val="A50021"/>
                </a:solidFill>
                <a:ea typeface="楷体_GB2312" charset="0"/>
              </a:rPr>
              <a:t>     </a:t>
            </a:r>
            <a:r>
              <a:rPr lang="zh-CN" altLang="en-US" sz="3600">
                <a:solidFill>
                  <a:srgbClr val="A50021"/>
                </a:solidFill>
                <a:ea typeface="楷体_GB2312" charset="0"/>
              </a:rPr>
              <a:t>假设 </a:t>
            </a:r>
            <a:r>
              <a:rPr lang="en-US" altLang="zh-CN" sz="3600" b="1">
                <a:solidFill>
                  <a:srgbClr val="A50021"/>
                </a:solidFill>
                <a:ea typeface="楷体_GB2312" charset="0"/>
              </a:rPr>
              <a:t>m</a:t>
            </a:r>
            <a:r>
              <a:rPr lang="en-US" altLang="zh-CN" sz="3600">
                <a:solidFill>
                  <a:srgbClr val="A50021"/>
                </a:solidFill>
                <a:ea typeface="楷体_GB2312" charset="0"/>
              </a:rPr>
              <a:t> </a:t>
            </a:r>
            <a:r>
              <a:rPr lang="zh-CN" altLang="en-US" sz="3600">
                <a:solidFill>
                  <a:srgbClr val="A50021"/>
                </a:solidFill>
                <a:ea typeface="楷体_GB2312" charset="0"/>
              </a:rPr>
              <a:t>阶 </a:t>
            </a:r>
            <a:r>
              <a:rPr lang="en-US" altLang="zh-CN" sz="3600">
                <a:solidFill>
                  <a:srgbClr val="A50021"/>
                </a:solidFill>
                <a:ea typeface="楷体_GB2312" charset="0"/>
              </a:rPr>
              <a:t>B-</a:t>
            </a:r>
            <a:r>
              <a:rPr lang="zh-CN" altLang="en-US" sz="3600">
                <a:solidFill>
                  <a:srgbClr val="A50021"/>
                </a:solidFill>
                <a:ea typeface="楷体_GB2312" charset="0"/>
              </a:rPr>
              <a:t>树的深度为 </a:t>
            </a:r>
            <a:r>
              <a:rPr lang="en-US" altLang="zh-CN" sz="3600" b="1" i="1">
                <a:solidFill>
                  <a:srgbClr val="FF0000"/>
                </a:solidFill>
                <a:ea typeface="楷体_GB2312" charset="0"/>
              </a:rPr>
              <a:t>H</a:t>
            </a:r>
            <a:r>
              <a:rPr lang="en-US" altLang="zh-CN" sz="3600" b="1">
                <a:solidFill>
                  <a:srgbClr val="FF0000"/>
                </a:solidFill>
                <a:ea typeface="楷体_GB2312" charset="0"/>
              </a:rPr>
              <a:t>+1</a:t>
            </a:r>
            <a:r>
              <a:rPr lang="zh-CN" altLang="en-US" sz="3600">
                <a:solidFill>
                  <a:srgbClr val="A50021"/>
                </a:solidFill>
                <a:ea typeface="楷体_GB2312" charset="0"/>
              </a:rPr>
              <a:t>，由于</a:t>
            </a:r>
          </a:p>
          <a:p>
            <a:pPr>
              <a:lnSpc>
                <a:spcPct val="125000"/>
              </a:lnSpc>
            </a:pPr>
            <a:r>
              <a:rPr lang="zh-CN" altLang="en-US" sz="3600">
                <a:solidFill>
                  <a:srgbClr val="A50021"/>
                </a:solidFill>
                <a:ea typeface="楷体_GB2312" charset="0"/>
              </a:rPr>
              <a:t>第 </a:t>
            </a:r>
            <a:r>
              <a:rPr lang="en-US" altLang="zh-CN" sz="3600">
                <a:solidFill>
                  <a:srgbClr val="A50021"/>
                </a:solidFill>
                <a:ea typeface="楷体_GB2312" charset="0"/>
              </a:rPr>
              <a:t>H+1 </a:t>
            </a:r>
            <a:r>
              <a:rPr lang="zh-CN" altLang="en-US" sz="3600">
                <a:solidFill>
                  <a:srgbClr val="A50021"/>
                </a:solidFill>
                <a:ea typeface="楷体_GB2312" charset="0"/>
              </a:rPr>
              <a:t>层为</a:t>
            </a:r>
            <a:r>
              <a:rPr lang="zh-CN" altLang="en-US" sz="3600" b="1">
                <a:solidFill>
                  <a:srgbClr val="FF0000"/>
                </a:solidFill>
                <a:ea typeface="楷体_GB2312" charset="0"/>
              </a:rPr>
              <a:t>叶子</a:t>
            </a:r>
            <a:r>
              <a:rPr lang="zh-CN" altLang="en-US" sz="3600">
                <a:solidFill>
                  <a:srgbClr val="A50021"/>
                </a:solidFill>
                <a:ea typeface="楷体_GB2312" charset="0"/>
              </a:rPr>
              <a:t>结点，而当前树中含有 </a:t>
            </a:r>
            <a:r>
              <a:rPr lang="en-US" altLang="zh-CN" sz="3600" b="1" i="1">
                <a:solidFill>
                  <a:srgbClr val="A50021"/>
                </a:solidFill>
                <a:ea typeface="楷体_GB2312" charset="0"/>
              </a:rPr>
              <a:t>N</a:t>
            </a:r>
            <a:r>
              <a:rPr lang="en-US" altLang="zh-CN" sz="3600">
                <a:solidFill>
                  <a:srgbClr val="A50021"/>
                </a:solidFill>
                <a:ea typeface="楷体_GB2312" charset="0"/>
              </a:rPr>
              <a:t> </a:t>
            </a:r>
            <a:r>
              <a:rPr lang="zh-CN" altLang="en-US" sz="3600">
                <a:solidFill>
                  <a:srgbClr val="A50021"/>
                </a:solidFill>
                <a:ea typeface="楷体_GB2312" charset="0"/>
              </a:rPr>
              <a:t>个关键字，则叶子结点必为 </a:t>
            </a:r>
            <a:r>
              <a:rPr lang="en-US" altLang="zh-CN" sz="3600" b="1" i="1">
                <a:solidFill>
                  <a:srgbClr val="A50021"/>
                </a:solidFill>
                <a:ea typeface="楷体_GB2312" charset="0"/>
              </a:rPr>
              <a:t>N+1</a:t>
            </a:r>
            <a:r>
              <a:rPr lang="en-US" altLang="zh-CN" sz="3600">
                <a:solidFill>
                  <a:srgbClr val="A50021"/>
                </a:solidFill>
                <a:ea typeface="楷体_GB2312" charset="0"/>
              </a:rPr>
              <a:t> </a:t>
            </a:r>
            <a:r>
              <a:rPr lang="zh-CN" altLang="en-US" sz="3600">
                <a:solidFill>
                  <a:srgbClr val="A50021"/>
                </a:solidFill>
                <a:ea typeface="楷体_GB2312" charset="0"/>
              </a:rPr>
              <a:t>个，</a:t>
            </a:r>
            <a:endParaRPr lang="zh-CN" altLang="en-US" sz="4000"/>
          </a:p>
        </p:txBody>
      </p:sp>
      <p:sp>
        <p:nvSpPr>
          <p:cNvPr id="107523" name="Text Box 3"/>
          <p:cNvSpPr txBox="1">
            <a:spLocks noChangeArrowheads="1"/>
          </p:cNvSpPr>
          <p:nvPr/>
        </p:nvSpPr>
        <p:spPr bwMode="auto">
          <a:xfrm>
            <a:off x="1295400" y="3406775"/>
            <a:ext cx="5719763"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50000"/>
              </a:lnSpc>
            </a:pPr>
            <a:r>
              <a:rPr lang="en-US" altLang="zh-CN" sz="4000" b="1">
                <a:solidFill>
                  <a:schemeClr val="accent2"/>
                </a:solidFill>
                <a:ea typeface="楷体_GB2312" charset="0"/>
              </a:rPr>
              <a:t>     N+1≥2(</a:t>
            </a:r>
            <a:r>
              <a:rPr lang="en-US" altLang="zh-CN" sz="4000" b="1">
                <a:solidFill>
                  <a:schemeClr val="accent2"/>
                </a:solidFill>
                <a:ea typeface="楷体_GB2312" charset="0"/>
                <a:sym typeface="Symbol" charset="2"/>
              </a:rPr>
              <a:t></a:t>
            </a:r>
            <a:r>
              <a:rPr lang="en-US" altLang="zh-CN" sz="4000" b="1">
                <a:solidFill>
                  <a:schemeClr val="accent2"/>
                </a:solidFill>
                <a:ea typeface="楷体_GB2312" charset="0"/>
              </a:rPr>
              <a:t>m/2</a:t>
            </a:r>
            <a:r>
              <a:rPr lang="en-US" altLang="zh-CN" sz="4000" b="1">
                <a:solidFill>
                  <a:schemeClr val="accent2"/>
                </a:solidFill>
                <a:ea typeface="楷体_GB2312" charset="0"/>
                <a:sym typeface="Symbol" charset="2"/>
              </a:rPr>
              <a:t></a:t>
            </a:r>
            <a:r>
              <a:rPr lang="en-US" altLang="zh-CN" sz="4000" b="1">
                <a:solidFill>
                  <a:schemeClr val="accent2"/>
                </a:solidFill>
                <a:ea typeface="楷体_GB2312" charset="0"/>
              </a:rPr>
              <a:t>)</a:t>
            </a:r>
            <a:r>
              <a:rPr lang="en-US" altLang="zh-CN" sz="4000" b="1" baseline="30000">
                <a:solidFill>
                  <a:schemeClr val="accent2"/>
                </a:solidFill>
                <a:ea typeface="楷体_GB2312" charset="0"/>
              </a:rPr>
              <a:t>H-1</a:t>
            </a:r>
            <a:endParaRPr lang="en-US" altLang="zh-CN" sz="4000" b="1">
              <a:solidFill>
                <a:schemeClr val="accent2"/>
              </a:solidFill>
              <a:ea typeface="楷体_GB2312" charset="0"/>
            </a:endParaRPr>
          </a:p>
          <a:p>
            <a:pPr>
              <a:lnSpc>
                <a:spcPct val="150000"/>
              </a:lnSpc>
            </a:pPr>
            <a:r>
              <a:rPr lang="en-US" altLang="zh-CN" sz="4000" b="1">
                <a:solidFill>
                  <a:schemeClr val="accent2"/>
                </a:solidFill>
                <a:ea typeface="楷体_GB2312" charset="0"/>
              </a:rPr>
              <a:t>     H-1≤log</a:t>
            </a:r>
            <a:r>
              <a:rPr lang="en-US" altLang="zh-CN" sz="4000" b="1" baseline="-25000">
                <a:solidFill>
                  <a:schemeClr val="accent2"/>
                </a:solidFill>
                <a:ea typeface="楷体_GB2312" charset="0"/>
                <a:sym typeface="Symbol" charset="2"/>
              </a:rPr>
              <a:t></a:t>
            </a:r>
            <a:r>
              <a:rPr lang="en-US" altLang="zh-CN" sz="4000" b="1" baseline="-25000">
                <a:solidFill>
                  <a:schemeClr val="accent2"/>
                </a:solidFill>
                <a:ea typeface="楷体_GB2312" charset="0"/>
              </a:rPr>
              <a:t>m/2</a:t>
            </a:r>
            <a:r>
              <a:rPr lang="en-US" altLang="zh-CN" sz="4000" b="1" baseline="-25000">
                <a:solidFill>
                  <a:schemeClr val="accent2"/>
                </a:solidFill>
                <a:ea typeface="楷体_GB2312" charset="0"/>
                <a:sym typeface="Symbol" charset="2"/>
              </a:rPr>
              <a:t></a:t>
            </a:r>
            <a:r>
              <a:rPr lang="en-US" altLang="zh-CN" sz="4000" b="1">
                <a:solidFill>
                  <a:schemeClr val="accent2"/>
                </a:solidFill>
                <a:ea typeface="楷体_GB2312" charset="0"/>
              </a:rPr>
              <a:t>((N+1)/2)</a:t>
            </a:r>
          </a:p>
          <a:p>
            <a:pPr>
              <a:lnSpc>
                <a:spcPct val="150000"/>
              </a:lnSpc>
            </a:pPr>
            <a:r>
              <a:rPr lang="en-US" altLang="zh-CN" sz="4000" b="1">
                <a:solidFill>
                  <a:schemeClr val="accent2"/>
                </a:solidFill>
                <a:ea typeface="楷体_GB2312" charset="0"/>
              </a:rPr>
              <a:t>     H≤log</a:t>
            </a:r>
            <a:r>
              <a:rPr lang="en-US" altLang="zh-CN" sz="4000" b="1" baseline="-25000">
                <a:solidFill>
                  <a:schemeClr val="accent2"/>
                </a:solidFill>
                <a:ea typeface="楷体_GB2312" charset="0"/>
                <a:sym typeface="Symbol" charset="2"/>
              </a:rPr>
              <a:t></a:t>
            </a:r>
            <a:r>
              <a:rPr lang="en-US" altLang="zh-CN" sz="4000" b="1" baseline="-25000">
                <a:solidFill>
                  <a:schemeClr val="accent2"/>
                </a:solidFill>
                <a:ea typeface="楷体_GB2312" charset="0"/>
              </a:rPr>
              <a:t>m/2</a:t>
            </a:r>
            <a:r>
              <a:rPr lang="en-US" altLang="zh-CN" sz="4000" b="1" baseline="-25000">
                <a:solidFill>
                  <a:schemeClr val="accent2"/>
                </a:solidFill>
                <a:ea typeface="楷体_GB2312" charset="0"/>
                <a:sym typeface="Symbol" charset="2"/>
              </a:rPr>
              <a:t></a:t>
            </a:r>
            <a:r>
              <a:rPr lang="en-US" altLang="zh-CN" sz="4000" b="1">
                <a:solidFill>
                  <a:schemeClr val="accent2"/>
                </a:solidFill>
                <a:ea typeface="楷体_GB2312" charset="0"/>
              </a:rPr>
              <a:t>((N+1)/2)+1</a:t>
            </a:r>
            <a:endParaRPr lang="en-US" altLang="zh-CN" sz="4000">
              <a:ea typeface="楷体_GB2312" charset="0"/>
            </a:endParaRPr>
          </a:p>
        </p:txBody>
      </p:sp>
      <p:sp>
        <p:nvSpPr>
          <p:cNvPr id="107524" name="Text Box 4"/>
          <p:cNvSpPr txBox="1">
            <a:spLocks noChangeArrowheads="1"/>
          </p:cNvSpPr>
          <p:nvPr/>
        </p:nvSpPr>
        <p:spPr bwMode="auto">
          <a:xfrm>
            <a:off x="304800" y="2590800"/>
            <a:ext cx="5264150"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lang="zh-CN" altLang="en-US" sz="4000">
                <a:solidFill>
                  <a:srgbClr val="CC6600"/>
                </a:solidFill>
                <a:ea typeface="楷体_GB2312" charset="0"/>
              </a:rPr>
              <a:t>由此可推得下列结果：</a:t>
            </a:r>
            <a:endParaRPr lang="zh-CN" altLang="en-US"/>
          </a:p>
        </p:txBody>
      </p:sp>
    </p:spTree>
    <p:extLst>
      <p:ext uri="{BB962C8B-B14F-4D97-AF65-F5344CB8AC3E}">
        <p14:creationId xmlns:p14="http://schemas.microsoft.com/office/powerpoint/2010/main" val="7858681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107522"/>
                                        </p:tgtEl>
                                        <p:attrNameLst>
                                          <p:attrName>style.visibility</p:attrName>
                                        </p:attrNameLst>
                                      </p:cBhvr>
                                      <p:to>
                                        <p:strVal val="visible"/>
                                      </p:to>
                                    </p:set>
                                    <p:animEffect transition="in" filter="strips(downLeft)">
                                      <p:cBhvr>
                                        <p:cTn id="7" dur="500"/>
                                        <p:tgtEl>
                                          <p:spTgt spid="1075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7524"/>
                                        </p:tgtEl>
                                        <p:attrNameLst>
                                          <p:attrName>style.visibility</p:attrName>
                                        </p:attrNameLst>
                                      </p:cBhvr>
                                      <p:to>
                                        <p:strVal val="visible"/>
                                      </p:to>
                                    </p:set>
                                    <p:animEffect transition="in" filter="wipe(left)">
                                      <p:cBhvr>
                                        <p:cTn id="12" dur="500"/>
                                        <p:tgtEl>
                                          <p:spTgt spid="1075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07523"/>
                                        </p:tgtEl>
                                        <p:attrNameLst>
                                          <p:attrName>style.visibility</p:attrName>
                                        </p:attrNameLst>
                                      </p:cBhvr>
                                      <p:to>
                                        <p:strVal val="visible"/>
                                      </p:to>
                                    </p:set>
                                    <p:animEffect transition="in" filter="wipe(left)">
                                      <p:cBhvr>
                                        <p:cTn id="17" dur="300"/>
                                        <p:tgtEl>
                                          <p:spTgt spid="107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autoUpdateAnimBg="0"/>
      <p:bldP spid="107523" grpId="0" autoUpdateAnimBg="0"/>
      <p:bldP spid="107524" grpId="0" autoUpdateAnimBg="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p:cNvSpPr txBox="1">
            <a:spLocks noChangeArrowheads="1"/>
          </p:cNvSpPr>
          <p:nvPr/>
        </p:nvSpPr>
        <p:spPr bwMode="auto">
          <a:xfrm>
            <a:off x="838200" y="1222375"/>
            <a:ext cx="8001000" cy="411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50000"/>
              </a:lnSpc>
            </a:pPr>
            <a:r>
              <a:rPr lang="en-US" altLang="zh-CN" sz="4400" b="1">
                <a:solidFill>
                  <a:srgbClr val="800080"/>
                </a:solidFill>
                <a:latin typeface="楷体_GB2312" charset="0"/>
                <a:ea typeface="楷体_GB2312" charset="0"/>
              </a:rPr>
              <a:t>  </a:t>
            </a:r>
            <a:r>
              <a:rPr lang="zh-CN" altLang="en-US" sz="4400" b="1">
                <a:solidFill>
                  <a:srgbClr val="800080"/>
                </a:solidFill>
                <a:latin typeface="楷体_GB2312" charset="0"/>
                <a:ea typeface="楷体_GB2312" charset="0"/>
              </a:rPr>
              <a:t>在含 </a:t>
            </a:r>
            <a:r>
              <a:rPr lang="en-US" altLang="zh-CN" sz="4400" b="1">
                <a:solidFill>
                  <a:srgbClr val="800080"/>
                </a:solidFill>
                <a:ea typeface="楷体_GB2312" charset="0"/>
              </a:rPr>
              <a:t>N</a:t>
            </a:r>
            <a:r>
              <a:rPr lang="en-US" altLang="zh-CN" sz="4400" b="1">
                <a:solidFill>
                  <a:srgbClr val="800080"/>
                </a:solidFill>
                <a:latin typeface="楷体_GB2312" charset="0"/>
                <a:ea typeface="楷体_GB2312" charset="0"/>
              </a:rPr>
              <a:t> </a:t>
            </a:r>
            <a:r>
              <a:rPr lang="zh-CN" altLang="en-US" sz="4400" b="1">
                <a:solidFill>
                  <a:srgbClr val="800080"/>
                </a:solidFill>
                <a:latin typeface="楷体_GB2312" charset="0"/>
                <a:ea typeface="楷体_GB2312" charset="0"/>
              </a:rPr>
              <a:t>个关键字的 </a:t>
            </a:r>
            <a:r>
              <a:rPr lang="en-US" altLang="zh-CN" sz="4400" b="1">
                <a:solidFill>
                  <a:srgbClr val="800080"/>
                </a:solidFill>
                <a:ea typeface="楷体_GB2312" charset="0"/>
              </a:rPr>
              <a:t>B-</a:t>
            </a:r>
            <a:r>
              <a:rPr lang="zh-CN" altLang="en-US" sz="4400" b="1">
                <a:solidFill>
                  <a:srgbClr val="800080"/>
                </a:solidFill>
                <a:latin typeface="楷体_GB2312" charset="0"/>
                <a:ea typeface="楷体_GB2312" charset="0"/>
              </a:rPr>
              <a:t>树上进行一次查找，需访问的结点个数不超过</a:t>
            </a:r>
          </a:p>
          <a:p>
            <a:pPr>
              <a:lnSpc>
                <a:spcPct val="150000"/>
              </a:lnSpc>
            </a:pPr>
            <a:r>
              <a:rPr lang="zh-CN" altLang="en-US" sz="4400" b="1">
                <a:solidFill>
                  <a:srgbClr val="800080"/>
                </a:solidFill>
                <a:latin typeface="楷体_GB2312" charset="0"/>
                <a:ea typeface="楷体_GB2312" charset="0"/>
              </a:rPr>
              <a:t>     </a:t>
            </a:r>
            <a:r>
              <a:rPr lang="en-US" altLang="zh-CN" sz="4400" b="1">
                <a:solidFill>
                  <a:srgbClr val="800080"/>
                </a:solidFill>
                <a:ea typeface="楷体_GB2312" charset="0"/>
              </a:rPr>
              <a:t>log</a:t>
            </a:r>
            <a:r>
              <a:rPr lang="en-US" altLang="zh-CN" sz="4400" b="1" baseline="-25000">
                <a:solidFill>
                  <a:srgbClr val="800080"/>
                </a:solidFill>
                <a:ea typeface="楷体_GB2312" charset="0"/>
                <a:sym typeface="Symbol" charset="2"/>
              </a:rPr>
              <a:t></a:t>
            </a:r>
            <a:r>
              <a:rPr lang="en-US" altLang="zh-CN" sz="4400" b="1" baseline="-25000">
                <a:solidFill>
                  <a:srgbClr val="800080"/>
                </a:solidFill>
                <a:ea typeface="楷体_GB2312" charset="0"/>
              </a:rPr>
              <a:t>m/2</a:t>
            </a:r>
            <a:r>
              <a:rPr lang="en-US" altLang="zh-CN" sz="4400" b="1" baseline="-25000">
                <a:solidFill>
                  <a:srgbClr val="800080"/>
                </a:solidFill>
                <a:ea typeface="楷体_GB2312" charset="0"/>
                <a:sym typeface="Symbol" charset="2"/>
              </a:rPr>
              <a:t></a:t>
            </a:r>
            <a:r>
              <a:rPr lang="en-US" altLang="zh-CN" sz="4400" b="1">
                <a:solidFill>
                  <a:srgbClr val="800080"/>
                </a:solidFill>
                <a:ea typeface="楷体_GB2312" charset="0"/>
              </a:rPr>
              <a:t>((N+1)/2)+1</a:t>
            </a:r>
            <a:endParaRPr lang="en-US" altLang="zh-CN" sz="4000">
              <a:ea typeface="楷体_GB2312" charset="0"/>
            </a:endParaRPr>
          </a:p>
        </p:txBody>
      </p:sp>
      <p:sp>
        <p:nvSpPr>
          <p:cNvPr id="108550" name="Text Box 6"/>
          <p:cNvSpPr txBox="1">
            <a:spLocks noChangeArrowheads="1"/>
          </p:cNvSpPr>
          <p:nvPr/>
        </p:nvSpPr>
        <p:spPr bwMode="auto">
          <a:xfrm>
            <a:off x="517525" y="212725"/>
            <a:ext cx="17224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FF0000"/>
                </a:solidFill>
              </a:rPr>
              <a:t>结论：</a:t>
            </a:r>
            <a:endParaRPr lang="zh-CN" altLang="en-US" sz="4000">
              <a:ea typeface="楷体_GB2312" charset="0"/>
            </a:endParaRPr>
          </a:p>
        </p:txBody>
      </p:sp>
      <p:sp>
        <p:nvSpPr>
          <p:cNvPr id="108551" name="AutoShape 7">
            <a:hlinkClick r:id="rId2"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9927775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8550"/>
                                        </p:tgtEl>
                                        <p:attrNameLst>
                                          <p:attrName>style.visibility</p:attrName>
                                        </p:attrNameLst>
                                      </p:cBhvr>
                                      <p:to>
                                        <p:strVal val="visible"/>
                                      </p:to>
                                    </p:set>
                                    <p:anim calcmode="lin" valueType="num">
                                      <p:cBhvr additive="base">
                                        <p:cTn id="7" dur="500" fill="hold"/>
                                        <p:tgtEl>
                                          <p:spTgt spid="108550"/>
                                        </p:tgtEl>
                                        <p:attrNameLst>
                                          <p:attrName>ppt_x</p:attrName>
                                        </p:attrNameLst>
                                      </p:cBhvr>
                                      <p:tavLst>
                                        <p:tav tm="0">
                                          <p:val>
                                            <p:strVal val="0-#ppt_w/2"/>
                                          </p:val>
                                        </p:tav>
                                        <p:tav tm="100000">
                                          <p:val>
                                            <p:strVal val="#ppt_x"/>
                                          </p:val>
                                        </p:tav>
                                      </p:tavLst>
                                    </p:anim>
                                    <p:anim calcmode="lin" valueType="num">
                                      <p:cBhvr additive="base">
                                        <p:cTn id="8" dur="500" fill="hold"/>
                                        <p:tgtEl>
                                          <p:spTgt spid="10855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08546"/>
                                        </p:tgtEl>
                                        <p:attrNameLst>
                                          <p:attrName>style.visibility</p:attrName>
                                        </p:attrNameLst>
                                      </p:cBhvr>
                                      <p:to>
                                        <p:strVal val="visible"/>
                                      </p:to>
                                    </p:set>
                                    <p:animEffect transition="in" filter="strips(downRight)">
                                      <p:cBhvr>
                                        <p:cTn id="13" dur="500"/>
                                        <p:tgtEl>
                                          <p:spTgt spid="108546"/>
                                        </p:tgtEl>
                                      </p:cBhvr>
                                    </p:animEffect>
                                  </p:childTnLst>
                                </p:cTn>
                              </p:par>
                            </p:childTnLst>
                          </p:cTn>
                        </p:par>
                        <p:par>
                          <p:cTn id="14" fill="hold" nodeType="afterGroup">
                            <p:stCondLst>
                              <p:cond delay="500"/>
                            </p:stCondLst>
                            <p:childTnLst>
                              <p:par>
                                <p:cTn id="15" presetID="2" presetClass="entr" presetSubtype="6" fill="hold" grpId="0" nodeType="afterEffect">
                                  <p:stCondLst>
                                    <p:cond delay="0"/>
                                  </p:stCondLst>
                                  <p:childTnLst>
                                    <p:set>
                                      <p:cBhvr>
                                        <p:cTn id="16" dur="1" fill="hold">
                                          <p:stCondLst>
                                            <p:cond delay="0"/>
                                          </p:stCondLst>
                                        </p:cTn>
                                        <p:tgtEl>
                                          <p:spTgt spid="108551"/>
                                        </p:tgtEl>
                                        <p:attrNameLst>
                                          <p:attrName>style.visibility</p:attrName>
                                        </p:attrNameLst>
                                      </p:cBhvr>
                                      <p:to>
                                        <p:strVal val="visible"/>
                                      </p:to>
                                    </p:set>
                                    <p:anim calcmode="lin" valueType="num">
                                      <p:cBhvr additive="base">
                                        <p:cTn id="17" dur="500" fill="hold"/>
                                        <p:tgtEl>
                                          <p:spTgt spid="108551"/>
                                        </p:tgtEl>
                                        <p:attrNameLst>
                                          <p:attrName>ppt_x</p:attrName>
                                        </p:attrNameLst>
                                      </p:cBhvr>
                                      <p:tavLst>
                                        <p:tav tm="0">
                                          <p:val>
                                            <p:strVal val="1+#ppt_w/2"/>
                                          </p:val>
                                        </p:tav>
                                        <p:tav tm="100000">
                                          <p:val>
                                            <p:strVal val="#ppt_x"/>
                                          </p:val>
                                        </p:tav>
                                      </p:tavLst>
                                    </p:anim>
                                    <p:anim calcmode="lin" valueType="num">
                                      <p:cBhvr additive="base">
                                        <p:cTn id="18" dur="500" fill="hold"/>
                                        <p:tgtEl>
                                          <p:spTgt spid="1085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autoUpdateAnimBg="0"/>
      <p:bldP spid="108550" grpId="0" autoUpdateAnimBg="0"/>
      <p:bldP spid="108551"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p:cNvSpPr txBox="1">
            <a:spLocks noChangeArrowheads="1"/>
          </p:cNvSpPr>
          <p:nvPr/>
        </p:nvSpPr>
        <p:spPr bwMode="auto">
          <a:xfrm>
            <a:off x="1812925" y="177323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endParaRPr lang="zh-CN" altLang="zh-CN"/>
          </a:p>
        </p:txBody>
      </p:sp>
      <p:sp>
        <p:nvSpPr>
          <p:cNvPr id="109571" name="Text Box 3"/>
          <p:cNvSpPr txBox="1">
            <a:spLocks noChangeArrowheads="1"/>
          </p:cNvSpPr>
          <p:nvPr/>
        </p:nvSpPr>
        <p:spPr bwMode="auto">
          <a:xfrm>
            <a:off x="2286000" y="3886200"/>
            <a:ext cx="46878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b="1">
                <a:solidFill>
                  <a:srgbClr val="006600"/>
                </a:solidFill>
                <a:ea typeface="楷体_GB2312" charset="0"/>
              </a:rPr>
              <a:t>是</a:t>
            </a:r>
            <a:r>
              <a:rPr lang="en-US" altLang="zh-CN" sz="4400" b="1">
                <a:solidFill>
                  <a:srgbClr val="006600"/>
                </a:solidFill>
                <a:ea typeface="楷体_GB2312" charset="0"/>
              </a:rPr>
              <a:t>B-</a:t>
            </a:r>
            <a:r>
              <a:rPr lang="zh-CN" altLang="en-US" sz="4400" b="1">
                <a:solidFill>
                  <a:srgbClr val="006600"/>
                </a:solidFill>
                <a:ea typeface="楷体_GB2312" charset="0"/>
              </a:rPr>
              <a:t>树的一种变型</a:t>
            </a:r>
            <a:endParaRPr lang="zh-CN" altLang="en-US">
              <a:solidFill>
                <a:srgbClr val="006600"/>
              </a:solidFill>
              <a:ea typeface="楷体_GB2312" charset="0"/>
            </a:endParaRPr>
          </a:p>
        </p:txBody>
      </p:sp>
      <p:sp>
        <p:nvSpPr>
          <p:cNvPr id="109572" name="Text Box 4"/>
          <p:cNvSpPr txBox="1">
            <a:spLocks noChangeArrowheads="1"/>
          </p:cNvSpPr>
          <p:nvPr/>
        </p:nvSpPr>
        <p:spPr bwMode="auto">
          <a:xfrm>
            <a:off x="1524000" y="1447800"/>
            <a:ext cx="3286125"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6000" b="1">
                <a:solidFill>
                  <a:srgbClr val="CC0000"/>
                </a:solidFill>
                <a:ea typeface="楷体_GB2312" charset="0"/>
              </a:rPr>
              <a:t>四、</a:t>
            </a:r>
            <a:r>
              <a:rPr lang="en-US" altLang="zh-CN" sz="6000" b="1">
                <a:solidFill>
                  <a:srgbClr val="CC0000"/>
                </a:solidFill>
                <a:ea typeface="楷体_GB2312" charset="0"/>
              </a:rPr>
              <a:t>B</a:t>
            </a:r>
            <a:r>
              <a:rPr lang="en-US" altLang="zh-CN" sz="6000" b="1" baseline="30000">
                <a:solidFill>
                  <a:srgbClr val="CC0000"/>
                </a:solidFill>
                <a:ea typeface="楷体_GB2312" charset="0"/>
              </a:rPr>
              <a:t>+</a:t>
            </a:r>
            <a:r>
              <a:rPr lang="zh-CN" altLang="en-US" sz="6000" b="1">
                <a:solidFill>
                  <a:srgbClr val="CC0000"/>
                </a:solidFill>
                <a:ea typeface="楷体_GB2312" charset="0"/>
              </a:rPr>
              <a:t>树</a:t>
            </a:r>
          </a:p>
          <a:p>
            <a:endParaRPr lang="zh-CN" altLang="en-US">
              <a:solidFill>
                <a:srgbClr val="CC0000"/>
              </a:solidFill>
            </a:endParaRPr>
          </a:p>
        </p:txBody>
      </p:sp>
    </p:spTree>
    <p:extLst>
      <p:ext uri="{BB962C8B-B14F-4D97-AF65-F5344CB8AC3E}">
        <p14:creationId xmlns:p14="http://schemas.microsoft.com/office/powerpoint/2010/main" val="10022625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09571"/>
                                        </p:tgtEl>
                                        <p:attrNameLst>
                                          <p:attrName>style.visibility</p:attrName>
                                        </p:attrNameLst>
                                      </p:cBhvr>
                                      <p:to>
                                        <p:strVal val="visible"/>
                                      </p:to>
                                    </p:set>
                                    <p:anim calcmode="lin" valueType="num">
                                      <p:cBhvr>
                                        <p:cTn id="7" dur="500" fill="hold"/>
                                        <p:tgtEl>
                                          <p:spTgt spid="109571"/>
                                        </p:tgtEl>
                                        <p:attrNameLst>
                                          <p:attrName>ppt_x</p:attrName>
                                        </p:attrNameLst>
                                      </p:cBhvr>
                                      <p:tavLst>
                                        <p:tav tm="0">
                                          <p:val>
                                            <p:strVal val="#ppt_x-#ppt_w/2"/>
                                          </p:val>
                                        </p:tav>
                                        <p:tav tm="100000">
                                          <p:val>
                                            <p:strVal val="#ppt_x"/>
                                          </p:val>
                                        </p:tav>
                                      </p:tavLst>
                                    </p:anim>
                                    <p:anim calcmode="lin" valueType="num">
                                      <p:cBhvr>
                                        <p:cTn id="8" dur="500" fill="hold"/>
                                        <p:tgtEl>
                                          <p:spTgt spid="109571"/>
                                        </p:tgtEl>
                                        <p:attrNameLst>
                                          <p:attrName>ppt_y</p:attrName>
                                        </p:attrNameLst>
                                      </p:cBhvr>
                                      <p:tavLst>
                                        <p:tav tm="0">
                                          <p:val>
                                            <p:strVal val="#ppt_y"/>
                                          </p:val>
                                        </p:tav>
                                        <p:tav tm="100000">
                                          <p:val>
                                            <p:strVal val="#ppt_y"/>
                                          </p:val>
                                        </p:tav>
                                      </p:tavLst>
                                    </p:anim>
                                    <p:anim calcmode="lin" valueType="num">
                                      <p:cBhvr>
                                        <p:cTn id="9" dur="500" fill="hold"/>
                                        <p:tgtEl>
                                          <p:spTgt spid="109571"/>
                                        </p:tgtEl>
                                        <p:attrNameLst>
                                          <p:attrName>ppt_w</p:attrName>
                                        </p:attrNameLst>
                                      </p:cBhvr>
                                      <p:tavLst>
                                        <p:tav tm="0">
                                          <p:val>
                                            <p:fltVal val="0"/>
                                          </p:val>
                                        </p:tav>
                                        <p:tav tm="100000">
                                          <p:val>
                                            <p:strVal val="#ppt_w"/>
                                          </p:val>
                                        </p:tav>
                                      </p:tavLst>
                                    </p:anim>
                                    <p:anim calcmode="lin" valueType="num">
                                      <p:cBhvr>
                                        <p:cTn id="10" dur="500" fill="hold"/>
                                        <p:tgtEl>
                                          <p:spTgt spid="10957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Text Box 3"/>
          <p:cNvSpPr txBox="1">
            <a:spLocks noChangeArrowheads="1"/>
          </p:cNvSpPr>
          <p:nvPr/>
        </p:nvSpPr>
        <p:spPr bwMode="auto">
          <a:xfrm>
            <a:off x="304800" y="822325"/>
            <a:ext cx="50736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FF"/>
                </a:solidFill>
                <a:ea typeface="楷体_GB2312" charset="0"/>
              </a:rPr>
              <a:t>1</a:t>
            </a:r>
            <a:r>
              <a:rPr lang="zh-CN" altLang="en-US" sz="4000" b="1">
                <a:solidFill>
                  <a:srgbClr val="FF00FF"/>
                </a:solidFill>
                <a:ea typeface="楷体_GB2312" charset="0"/>
              </a:rPr>
              <a:t>．</a:t>
            </a:r>
            <a:r>
              <a:rPr lang="en-US" altLang="zh-CN" sz="4000" b="1">
                <a:solidFill>
                  <a:srgbClr val="FF00FF"/>
                </a:solidFill>
                <a:ea typeface="楷体_GB2312" charset="0"/>
              </a:rPr>
              <a:t>B</a:t>
            </a:r>
            <a:r>
              <a:rPr lang="en-US" altLang="zh-CN" sz="4000" b="1" baseline="30000">
                <a:solidFill>
                  <a:srgbClr val="FF00FF"/>
                </a:solidFill>
                <a:ea typeface="楷体_GB2312" charset="0"/>
              </a:rPr>
              <a:t>+</a:t>
            </a:r>
            <a:r>
              <a:rPr lang="zh-CN" altLang="en-US" sz="4000" b="1">
                <a:solidFill>
                  <a:srgbClr val="FF00FF"/>
                </a:solidFill>
                <a:ea typeface="楷体_GB2312" charset="0"/>
              </a:rPr>
              <a:t>树的结构特点：</a:t>
            </a:r>
          </a:p>
        </p:txBody>
      </p:sp>
      <p:sp>
        <p:nvSpPr>
          <p:cNvPr id="110596" name="Text Box 4"/>
          <p:cNvSpPr txBox="1">
            <a:spLocks noChangeArrowheads="1"/>
          </p:cNvSpPr>
          <p:nvPr/>
        </p:nvSpPr>
        <p:spPr bwMode="auto">
          <a:xfrm>
            <a:off x="685800" y="2187575"/>
            <a:ext cx="800100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CCFF"/>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50000"/>
              </a:lnSpc>
            </a:pPr>
            <a:r>
              <a:rPr lang="en-US" altLang="zh-CN">
                <a:solidFill>
                  <a:srgbClr val="33CCFF"/>
                </a:solidFill>
                <a:latin typeface="楷体_GB2312" charset="0"/>
                <a:ea typeface="楷体_GB2312" charset="0"/>
              </a:rPr>
              <a:t>※ </a:t>
            </a:r>
            <a:r>
              <a:rPr lang="zh-CN" altLang="en-US" sz="3600">
                <a:solidFill>
                  <a:srgbClr val="A50021"/>
                </a:solidFill>
                <a:latin typeface="楷体_GB2312" charset="0"/>
                <a:ea typeface="楷体_GB2312" charset="0"/>
              </a:rPr>
              <a:t>每个叶子结点中含有</a:t>
            </a:r>
            <a:r>
              <a:rPr lang="zh-CN" altLang="en-US" sz="3600">
                <a:latin typeface="楷体_GB2312" charset="0"/>
                <a:ea typeface="楷体_GB2312" charset="0"/>
              </a:rPr>
              <a:t> </a:t>
            </a:r>
            <a:r>
              <a:rPr lang="en-US" altLang="zh-CN" sz="3600" b="1" i="1">
                <a:solidFill>
                  <a:srgbClr val="0000FF"/>
                </a:solidFill>
                <a:ea typeface="楷体_GB2312" charset="0"/>
              </a:rPr>
              <a:t>n</a:t>
            </a:r>
            <a:r>
              <a:rPr lang="en-US" altLang="zh-CN" sz="3600">
                <a:solidFill>
                  <a:srgbClr val="0000FF"/>
                </a:solidFill>
                <a:ea typeface="楷体_GB2312" charset="0"/>
              </a:rPr>
              <a:t> </a:t>
            </a:r>
            <a:r>
              <a:rPr lang="zh-CN" altLang="en-US" sz="3600">
                <a:solidFill>
                  <a:srgbClr val="0000FF"/>
                </a:solidFill>
                <a:ea typeface="楷体_GB2312" charset="0"/>
              </a:rPr>
              <a:t>个关键字和  </a:t>
            </a:r>
            <a:r>
              <a:rPr lang="en-US" altLang="zh-CN" sz="3600" b="1" i="1">
                <a:solidFill>
                  <a:srgbClr val="0000FF"/>
                </a:solidFill>
                <a:ea typeface="楷体_GB2312" charset="0"/>
              </a:rPr>
              <a:t>n</a:t>
            </a:r>
            <a:r>
              <a:rPr lang="en-US" altLang="zh-CN" sz="3600">
                <a:solidFill>
                  <a:srgbClr val="0000FF"/>
                </a:solidFill>
                <a:ea typeface="楷体_GB2312" charset="0"/>
              </a:rPr>
              <a:t> </a:t>
            </a:r>
            <a:r>
              <a:rPr lang="zh-CN" altLang="en-US" sz="3600">
                <a:solidFill>
                  <a:srgbClr val="0000FF"/>
                </a:solidFill>
                <a:latin typeface="楷体_GB2312" charset="0"/>
                <a:ea typeface="楷体_GB2312" charset="0"/>
              </a:rPr>
              <a:t>个指向记录的指针</a:t>
            </a:r>
            <a:r>
              <a:rPr lang="zh-CN" altLang="en-US" sz="3600">
                <a:solidFill>
                  <a:srgbClr val="A50021"/>
                </a:solidFill>
                <a:latin typeface="楷体_GB2312" charset="0"/>
                <a:ea typeface="楷体_GB2312" charset="0"/>
              </a:rPr>
              <a:t>；并且，所有</a:t>
            </a:r>
            <a:r>
              <a:rPr lang="zh-CN" altLang="en-US" sz="3600" b="1">
                <a:solidFill>
                  <a:srgbClr val="A50021"/>
                </a:solidFill>
                <a:latin typeface="楷体_GB2312" charset="0"/>
                <a:ea typeface="楷体_GB2312" charset="0"/>
              </a:rPr>
              <a:t>叶子</a:t>
            </a:r>
            <a:r>
              <a:rPr lang="zh-CN" altLang="en-US" sz="3600">
                <a:solidFill>
                  <a:srgbClr val="A50021"/>
                </a:solidFill>
                <a:latin typeface="楷体_GB2312" charset="0"/>
                <a:ea typeface="楷体_GB2312" charset="0"/>
              </a:rPr>
              <a:t>结点彼此相</a:t>
            </a:r>
            <a:r>
              <a:rPr lang="zh-CN" altLang="en-US" sz="3600" b="1">
                <a:solidFill>
                  <a:srgbClr val="A50021"/>
                </a:solidFill>
                <a:latin typeface="楷体_GB2312" charset="0"/>
                <a:ea typeface="楷体_GB2312" charset="0"/>
              </a:rPr>
              <a:t>链接</a:t>
            </a:r>
            <a:r>
              <a:rPr lang="zh-CN" altLang="en-US" sz="3600">
                <a:solidFill>
                  <a:srgbClr val="A50021"/>
                </a:solidFill>
                <a:latin typeface="楷体_GB2312" charset="0"/>
                <a:ea typeface="楷体_GB2312" charset="0"/>
              </a:rPr>
              <a:t>构成一个</a:t>
            </a:r>
            <a:r>
              <a:rPr lang="zh-CN" altLang="en-US" sz="3600">
                <a:solidFill>
                  <a:srgbClr val="0000FF"/>
                </a:solidFill>
                <a:latin typeface="楷体_GB2312" charset="0"/>
                <a:ea typeface="楷体_GB2312" charset="0"/>
              </a:rPr>
              <a:t>有序链表</a:t>
            </a:r>
            <a:r>
              <a:rPr lang="zh-CN" altLang="en-US" sz="3600">
                <a:solidFill>
                  <a:srgbClr val="A50021"/>
                </a:solidFill>
                <a:latin typeface="楷体_GB2312" charset="0"/>
                <a:ea typeface="楷体_GB2312" charset="0"/>
              </a:rPr>
              <a:t>，其</a:t>
            </a:r>
            <a:r>
              <a:rPr lang="zh-CN" altLang="en-US" sz="3600">
                <a:solidFill>
                  <a:srgbClr val="0000FF"/>
                </a:solidFill>
                <a:latin typeface="楷体_GB2312" charset="0"/>
                <a:ea typeface="楷体_GB2312" charset="0"/>
              </a:rPr>
              <a:t>头指针指向含最小关键字的结点；</a:t>
            </a:r>
          </a:p>
        </p:txBody>
      </p:sp>
      <p:sp>
        <p:nvSpPr>
          <p:cNvPr id="110601" name="AutoShape 9">
            <a:hlinkClick r:id="rId2" action="ppaction://hlinksldjump" highlightClick="1"/>
          </p:cNvPr>
          <p:cNvSpPr>
            <a:spLocks noChangeArrowheads="1"/>
          </p:cNvSpPr>
          <p:nvPr/>
        </p:nvSpPr>
        <p:spPr bwMode="auto">
          <a:xfrm>
            <a:off x="8382000" y="6248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9287202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10595"/>
                                        </p:tgtEl>
                                        <p:attrNameLst>
                                          <p:attrName>style.visibility</p:attrName>
                                        </p:attrNameLst>
                                      </p:cBhvr>
                                      <p:to>
                                        <p:strVal val="visible"/>
                                      </p:to>
                                    </p:set>
                                    <p:animEffect transition="in" filter="wipe(up)">
                                      <p:cBhvr>
                                        <p:cTn id="7" dur="500"/>
                                        <p:tgtEl>
                                          <p:spTgt spid="1105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0596"/>
                                        </p:tgtEl>
                                        <p:attrNameLst>
                                          <p:attrName>style.visibility</p:attrName>
                                        </p:attrNameLst>
                                      </p:cBhvr>
                                      <p:to>
                                        <p:strVal val="visible"/>
                                      </p:to>
                                    </p:set>
                                    <p:animEffect transition="in" filter="wipe(left)">
                                      <p:cBhvr>
                                        <p:cTn id="12" dur="500"/>
                                        <p:tgtEl>
                                          <p:spTgt spid="110596"/>
                                        </p:tgtEl>
                                      </p:cBhvr>
                                    </p:animEffect>
                                  </p:childTnLst>
                                </p:cTn>
                              </p:par>
                            </p:childTnLst>
                          </p:cTn>
                        </p:par>
                        <p:par>
                          <p:cTn id="13" fill="hold" nodeType="afterGroup">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110601"/>
                                        </p:tgtEl>
                                        <p:attrNameLst>
                                          <p:attrName>style.visibility</p:attrName>
                                        </p:attrNameLst>
                                      </p:cBhvr>
                                      <p:to>
                                        <p:strVal val="visible"/>
                                      </p:to>
                                    </p:set>
                                    <p:anim calcmode="lin" valueType="num">
                                      <p:cBhvr additive="base">
                                        <p:cTn id="16" dur="500" fill="hold"/>
                                        <p:tgtEl>
                                          <p:spTgt spid="110601"/>
                                        </p:tgtEl>
                                        <p:attrNameLst>
                                          <p:attrName>ppt_x</p:attrName>
                                        </p:attrNameLst>
                                      </p:cBhvr>
                                      <p:tavLst>
                                        <p:tav tm="0">
                                          <p:val>
                                            <p:strVal val="1+#ppt_w/2"/>
                                          </p:val>
                                        </p:tav>
                                        <p:tav tm="100000">
                                          <p:val>
                                            <p:strVal val="#ppt_x"/>
                                          </p:val>
                                        </p:tav>
                                      </p:tavLst>
                                    </p:anim>
                                    <p:anim calcmode="lin" valueType="num">
                                      <p:cBhvr additive="base">
                                        <p:cTn id="17" dur="500" fill="hold"/>
                                        <p:tgtEl>
                                          <p:spTgt spid="1106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autoUpdateAnimBg="0"/>
      <p:bldP spid="110596" grpId="0" autoUpdateAnimBg="0"/>
      <p:bldP spid="110601"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Text Box 2"/>
          <p:cNvSpPr txBox="1">
            <a:spLocks noChangeArrowheads="1"/>
          </p:cNvSpPr>
          <p:nvPr/>
        </p:nvSpPr>
        <p:spPr bwMode="auto">
          <a:xfrm>
            <a:off x="530225" y="804863"/>
            <a:ext cx="815657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50000"/>
              </a:lnSpc>
            </a:pPr>
            <a:r>
              <a:rPr lang="en-US" altLang="zh-CN">
                <a:solidFill>
                  <a:srgbClr val="FF00FF"/>
                </a:solidFill>
                <a:latin typeface="楷体_GB2312" charset="0"/>
                <a:ea typeface="楷体_GB2312" charset="0"/>
              </a:rPr>
              <a:t>※ </a:t>
            </a:r>
            <a:r>
              <a:rPr lang="zh-CN" altLang="en-US" sz="3600">
                <a:solidFill>
                  <a:srgbClr val="A50021"/>
                </a:solidFill>
                <a:ea typeface="楷体_GB2312" charset="0"/>
              </a:rPr>
              <a:t>每个非叶结点中的关键字 </a:t>
            </a:r>
            <a:r>
              <a:rPr lang="en-US" altLang="zh-CN" sz="3600" b="1" i="1">
                <a:solidFill>
                  <a:srgbClr val="0000FF"/>
                </a:solidFill>
                <a:ea typeface="楷体_GB2312" charset="0"/>
              </a:rPr>
              <a:t>K</a:t>
            </a:r>
            <a:r>
              <a:rPr lang="en-US" altLang="zh-CN" sz="3600" b="1" i="1" baseline="-25000">
                <a:solidFill>
                  <a:srgbClr val="0000FF"/>
                </a:solidFill>
                <a:ea typeface="楷体_GB2312" charset="0"/>
              </a:rPr>
              <a:t>i </a:t>
            </a:r>
            <a:r>
              <a:rPr lang="zh-CN" altLang="en-US" sz="3600">
                <a:solidFill>
                  <a:srgbClr val="A50021"/>
                </a:solidFill>
                <a:ea typeface="楷体_GB2312" charset="0"/>
              </a:rPr>
              <a:t>即</a:t>
            </a:r>
            <a:r>
              <a:rPr lang="zh-CN" altLang="en-US" sz="3600">
                <a:solidFill>
                  <a:srgbClr val="0000FF"/>
                </a:solidFill>
                <a:ea typeface="楷体_GB2312" charset="0"/>
              </a:rPr>
              <a:t>为</a:t>
            </a:r>
            <a:r>
              <a:rPr lang="zh-CN" altLang="en-US" sz="3600">
                <a:solidFill>
                  <a:srgbClr val="A50021"/>
                </a:solidFill>
                <a:ea typeface="楷体_GB2312" charset="0"/>
              </a:rPr>
              <a:t>其相应指针 </a:t>
            </a:r>
            <a:r>
              <a:rPr lang="en-US" altLang="zh-CN" sz="3600" b="1" i="1">
                <a:solidFill>
                  <a:srgbClr val="0000FF"/>
                </a:solidFill>
                <a:ea typeface="楷体_GB2312" charset="0"/>
              </a:rPr>
              <a:t>A</a:t>
            </a:r>
            <a:r>
              <a:rPr lang="en-US" altLang="zh-CN" sz="3600" b="1" i="1" baseline="-25000">
                <a:solidFill>
                  <a:srgbClr val="0000FF"/>
                </a:solidFill>
                <a:ea typeface="楷体_GB2312" charset="0"/>
              </a:rPr>
              <a:t>i </a:t>
            </a:r>
            <a:r>
              <a:rPr lang="zh-CN" altLang="en-US" sz="3600">
                <a:solidFill>
                  <a:srgbClr val="0000FF"/>
                </a:solidFill>
                <a:latin typeface="楷体_GB2312" charset="0"/>
                <a:ea typeface="楷体_GB2312" charset="0"/>
              </a:rPr>
              <a:t>所指子树中关键字的最大值</a:t>
            </a:r>
            <a:r>
              <a:rPr lang="zh-CN" altLang="en-US" sz="3600">
                <a:solidFill>
                  <a:srgbClr val="A50021"/>
                </a:solidFill>
                <a:latin typeface="楷体_GB2312" charset="0"/>
                <a:ea typeface="楷体_GB2312" charset="0"/>
              </a:rPr>
              <a:t>；</a:t>
            </a:r>
            <a:endParaRPr lang="zh-CN" altLang="en-US">
              <a:solidFill>
                <a:srgbClr val="FF00FF"/>
              </a:solidFill>
              <a:latin typeface="楷体_GB2312" charset="0"/>
              <a:ea typeface="楷体_GB2312" charset="0"/>
            </a:endParaRPr>
          </a:p>
        </p:txBody>
      </p:sp>
      <p:sp>
        <p:nvSpPr>
          <p:cNvPr id="219139" name="Text Box 3"/>
          <p:cNvSpPr txBox="1">
            <a:spLocks noChangeArrowheads="1"/>
          </p:cNvSpPr>
          <p:nvPr/>
        </p:nvSpPr>
        <p:spPr bwMode="auto">
          <a:xfrm>
            <a:off x="533400" y="3608388"/>
            <a:ext cx="7851775" cy="256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50000"/>
              </a:lnSpc>
            </a:pPr>
            <a:r>
              <a:rPr lang="en-US" altLang="zh-CN">
                <a:solidFill>
                  <a:srgbClr val="FF00FF"/>
                </a:solidFill>
                <a:latin typeface="楷体_GB2312" charset="0"/>
                <a:ea typeface="楷体_GB2312" charset="0"/>
              </a:rPr>
              <a:t>※ </a:t>
            </a:r>
            <a:r>
              <a:rPr lang="zh-CN" altLang="en-US" sz="3600">
                <a:solidFill>
                  <a:srgbClr val="A50021"/>
                </a:solidFill>
                <a:latin typeface="楷体_GB2312" charset="0"/>
                <a:ea typeface="楷体_GB2312" charset="0"/>
              </a:rPr>
              <a:t>所有叶子结点都处在</a:t>
            </a:r>
            <a:r>
              <a:rPr lang="zh-CN" altLang="en-US" sz="3600">
                <a:solidFill>
                  <a:srgbClr val="0000FF"/>
                </a:solidFill>
                <a:latin typeface="楷体_GB2312" charset="0"/>
                <a:ea typeface="楷体_GB2312" charset="0"/>
              </a:rPr>
              <a:t>同一层次</a:t>
            </a:r>
            <a:r>
              <a:rPr lang="zh-CN" altLang="en-US" sz="3600">
                <a:solidFill>
                  <a:srgbClr val="A50021"/>
                </a:solidFill>
                <a:latin typeface="楷体_GB2312" charset="0"/>
                <a:ea typeface="楷体_GB2312" charset="0"/>
              </a:rPr>
              <a:t>上，每个叶子结点中关键字的个数均介于 </a:t>
            </a:r>
            <a:r>
              <a:rPr lang="zh-CN" altLang="en-US" sz="3600">
                <a:solidFill>
                  <a:srgbClr val="0000FF"/>
                </a:solidFill>
                <a:ea typeface="楷体_GB2312" charset="0"/>
                <a:sym typeface="Symbol" charset="2"/>
              </a:rPr>
              <a:t></a:t>
            </a:r>
            <a:r>
              <a:rPr lang="en-US" altLang="zh-CN" sz="3600" b="1" i="1">
                <a:solidFill>
                  <a:srgbClr val="0000FF"/>
                </a:solidFill>
                <a:ea typeface="楷体_GB2312" charset="0"/>
              </a:rPr>
              <a:t>m/2</a:t>
            </a:r>
            <a:r>
              <a:rPr lang="en-US" altLang="zh-CN" sz="3600">
                <a:solidFill>
                  <a:srgbClr val="0000FF"/>
                </a:solidFill>
                <a:ea typeface="楷体_GB2312" charset="0"/>
                <a:sym typeface="Symbol" charset="2"/>
              </a:rPr>
              <a:t></a:t>
            </a:r>
            <a:r>
              <a:rPr lang="zh-CN" altLang="en-US" sz="3600">
                <a:solidFill>
                  <a:srgbClr val="0000FF"/>
                </a:solidFill>
                <a:ea typeface="楷体_GB2312" charset="0"/>
              </a:rPr>
              <a:t>和 </a:t>
            </a:r>
            <a:r>
              <a:rPr lang="en-US" altLang="zh-CN" sz="3600" b="1" i="1">
                <a:solidFill>
                  <a:srgbClr val="0000FF"/>
                </a:solidFill>
                <a:ea typeface="楷体_GB2312" charset="0"/>
              </a:rPr>
              <a:t>m </a:t>
            </a:r>
            <a:r>
              <a:rPr lang="zh-CN" altLang="en-US" sz="3600">
                <a:solidFill>
                  <a:srgbClr val="A50021"/>
                </a:solidFill>
                <a:ea typeface="楷体_GB2312" charset="0"/>
              </a:rPr>
              <a:t>之间。</a:t>
            </a:r>
            <a:endParaRPr lang="zh-CN" altLang="en-US" sz="3600">
              <a:solidFill>
                <a:srgbClr val="A50021"/>
              </a:solidFill>
              <a:latin typeface="楷体_GB2312" charset="0"/>
              <a:ea typeface="楷体_GB2312" charset="0"/>
            </a:endParaRPr>
          </a:p>
        </p:txBody>
      </p:sp>
      <p:sp>
        <p:nvSpPr>
          <p:cNvPr id="219142" name="AutoShape 6">
            <a:hlinkClick r:id="rId2" action="ppaction://hlinksldjump" highlightClick="1"/>
          </p:cNvPr>
          <p:cNvSpPr>
            <a:spLocks noChangeArrowheads="1"/>
          </p:cNvSpPr>
          <p:nvPr/>
        </p:nvSpPr>
        <p:spPr bwMode="auto">
          <a:xfrm>
            <a:off x="8382000" y="6248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7571205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9138"/>
                                        </p:tgtEl>
                                        <p:attrNameLst>
                                          <p:attrName>style.visibility</p:attrName>
                                        </p:attrNameLst>
                                      </p:cBhvr>
                                      <p:to>
                                        <p:strVal val="visible"/>
                                      </p:to>
                                    </p:set>
                                    <p:animEffect transition="in" filter="wipe(left)">
                                      <p:cBhvr>
                                        <p:cTn id="7" dur="500"/>
                                        <p:tgtEl>
                                          <p:spTgt spid="2191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9139"/>
                                        </p:tgtEl>
                                        <p:attrNameLst>
                                          <p:attrName>style.visibility</p:attrName>
                                        </p:attrNameLst>
                                      </p:cBhvr>
                                      <p:to>
                                        <p:strVal val="visible"/>
                                      </p:to>
                                    </p:set>
                                    <p:animEffect transition="in" filter="wipe(left)">
                                      <p:cBhvr>
                                        <p:cTn id="12" dur="500"/>
                                        <p:tgtEl>
                                          <p:spTgt spid="219139"/>
                                        </p:tgtEl>
                                      </p:cBhvr>
                                    </p:animEffect>
                                  </p:childTnLst>
                                </p:cTn>
                              </p:par>
                            </p:childTnLst>
                          </p:cTn>
                        </p:par>
                        <p:par>
                          <p:cTn id="13" fill="hold" nodeType="afterGroup">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219142"/>
                                        </p:tgtEl>
                                        <p:attrNameLst>
                                          <p:attrName>style.visibility</p:attrName>
                                        </p:attrNameLst>
                                      </p:cBhvr>
                                      <p:to>
                                        <p:strVal val="visible"/>
                                      </p:to>
                                    </p:set>
                                    <p:anim calcmode="lin" valueType="num">
                                      <p:cBhvr additive="base">
                                        <p:cTn id="16" dur="500" fill="hold"/>
                                        <p:tgtEl>
                                          <p:spTgt spid="219142"/>
                                        </p:tgtEl>
                                        <p:attrNameLst>
                                          <p:attrName>ppt_x</p:attrName>
                                        </p:attrNameLst>
                                      </p:cBhvr>
                                      <p:tavLst>
                                        <p:tav tm="0">
                                          <p:val>
                                            <p:strVal val="1+#ppt_w/2"/>
                                          </p:val>
                                        </p:tav>
                                        <p:tav tm="100000">
                                          <p:val>
                                            <p:strVal val="#ppt_x"/>
                                          </p:val>
                                        </p:tav>
                                      </p:tavLst>
                                    </p:anim>
                                    <p:anim calcmode="lin" valueType="num">
                                      <p:cBhvr additive="base">
                                        <p:cTn id="17" dur="500" fill="hold"/>
                                        <p:tgtEl>
                                          <p:spTgt spid="2191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8" grpId="0" autoUpdateAnimBg="0"/>
      <p:bldP spid="219139" grpId="0" autoUpdateAnimBg="0"/>
      <p:bldP spid="219142"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Text Box 3"/>
          <p:cNvSpPr txBox="1">
            <a:spLocks noChangeArrowheads="1"/>
          </p:cNvSpPr>
          <p:nvPr/>
        </p:nvSpPr>
        <p:spPr bwMode="auto">
          <a:xfrm>
            <a:off x="679450" y="381000"/>
            <a:ext cx="297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FF"/>
                </a:solidFill>
                <a:ea typeface="楷体_GB2312" charset="0"/>
              </a:rPr>
              <a:t>2</a:t>
            </a:r>
            <a:r>
              <a:rPr lang="zh-CN" altLang="en-US" sz="4000" b="1">
                <a:solidFill>
                  <a:srgbClr val="FF00FF"/>
                </a:solidFill>
                <a:ea typeface="楷体_GB2312" charset="0"/>
              </a:rPr>
              <a:t>．查找过程</a:t>
            </a:r>
          </a:p>
        </p:txBody>
      </p:sp>
      <p:sp>
        <p:nvSpPr>
          <p:cNvPr id="111625" name="Text Box 9"/>
          <p:cNvSpPr txBox="1">
            <a:spLocks noChangeArrowheads="1"/>
          </p:cNvSpPr>
          <p:nvPr/>
        </p:nvSpPr>
        <p:spPr bwMode="auto">
          <a:xfrm>
            <a:off x="228600" y="1352550"/>
            <a:ext cx="85344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a:solidFill>
                  <a:srgbClr val="FF00FF"/>
                </a:solidFill>
                <a:latin typeface="楷体_GB2312" charset="0"/>
                <a:ea typeface="楷体_GB2312" charset="0"/>
              </a:rPr>
              <a:t> ※</a:t>
            </a:r>
            <a:r>
              <a:rPr lang="zh-CN" altLang="en-US" sz="3600">
                <a:solidFill>
                  <a:srgbClr val="A50021"/>
                </a:solidFill>
                <a:ea typeface="楷体_GB2312" charset="0"/>
              </a:rPr>
              <a:t>在 </a:t>
            </a:r>
            <a:r>
              <a:rPr lang="en-US" altLang="zh-CN" sz="3600">
                <a:solidFill>
                  <a:srgbClr val="A50021"/>
                </a:solidFill>
                <a:ea typeface="楷体_GB2312" charset="0"/>
              </a:rPr>
              <a:t>B</a:t>
            </a:r>
            <a:r>
              <a:rPr lang="en-US" altLang="zh-CN" sz="3600" baseline="30000">
                <a:solidFill>
                  <a:srgbClr val="A50021"/>
                </a:solidFill>
                <a:ea typeface="楷体_GB2312" charset="0"/>
              </a:rPr>
              <a:t>+ </a:t>
            </a:r>
            <a:r>
              <a:rPr lang="zh-CN" altLang="en-US" sz="3600">
                <a:solidFill>
                  <a:srgbClr val="A50021"/>
                </a:solidFill>
                <a:ea typeface="楷体_GB2312" charset="0"/>
              </a:rPr>
              <a:t>树上，既可以进行缩小范围的查</a:t>
            </a:r>
          </a:p>
          <a:p>
            <a:pPr>
              <a:lnSpc>
                <a:spcPct val="125000"/>
              </a:lnSpc>
            </a:pPr>
            <a:r>
              <a:rPr lang="zh-CN" altLang="en-US" sz="3600">
                <a:solidFill>
                  <a:srgbClr val="A50021"/>
                </a:solidFill>
                <a:ea typeface="楷体_GB2312" charset="0"/>
              </a:rPr>
              <a:t>    找，也可以进行顺序查找；</a:t>
            </a:r>
          </a:p>
        </p:txBody>
      </p:sp>
      <p:sp>
        <p:nvSpPr>
          <p:cNvPr id="111626" name="Text Box 10"/>
          <p:cNvSpPr txBox="1">
            <a:spLocks noChangeArrowheads="1"/>
          </p:cNvSpPr>
          <p:nvPr/>
        </p:nvSpPr>
        <p:spPr bwMode="auto">
          <a:xfrm>
            <a:off x="228600" y="2971800"/>
            <a:ext cx="86106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a:solidFill>
                  <a:srgbClr val="FF00FF"/>
                </a:solidFill>
                <a:latin typeface="楷体_GB2312" charset="0"/>
                <a:ea typeface="楷体_GB2312" charset="0"/>
              </a:rPr>
              <a:t> ※ </a:t>
            </a:r>
            <a:r>
              <a:rPr lang="zh-CN" altLang="en-US" sz="3600">
                <a:solidFill>
                  <a:srgbClr val="A50021"/>
                </a:solidFill>
                <a:ea typeface="楷体_GB2312" charset="0"/>
              </a:rPr>
              <a:t>在进行缩小范围的查找时，不管成功</a:t>
            </a:r>
          </a:p>
          <a:p>
            <a:pPr>
              <a:lnSpc>
                <a:spcPct val="125000"/>
              </a:lnSpc>
            </a:pPr>
            <a:r>
              <a:rPr lang="zh-CN" altLang="en-US" sz="3600">
                <a:solidFill>
                  <a:srgbClr val="A50021"/>
                </a:solidFill>
                <a:ea typeface="楷体_GB2312" charset="0"/>
              </a:rPr>
              <a:t>     与否，都必须查到叶子结点才能结束；</a:t>
            </a:r>
            <a:endParaRPr lang="zh-CN" altLang="en-US" sz="3600">
              <a:ea typeface="楷体_GB2312" charset="0"/>
            </a:endParaRPr>
          </a:p>
        </p:txBody>
      </p:sp>
      <p:sp>
        <p:nvSpPr>
          <p:cNvPr id="111627" name="Text Box 11"/>
          <p:cNvSpPr txBox="1">
            <a:spLocks noChangeArrowheads="1"/>
          </p:cNvSpPr>
          <p:nvPr/>
        </p:nvSpPr>
        <p:spPr bwMode="auto">
          <a:xfrm>
            <a:off x="228600" y="4648200"/>
            <a:ext cx="89154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a:solidFill>
                  <a:srgbClr val="FF00FF"/>
                </a:solidFill>
                <a:latin typeface="楷体_GB2312" charset="0"/>
                <a:ea typeface="楷体_GB2312" charset="0"/>
              </a:rPr>
              <a:t> ※</a:t>
            </a:r>
            <a:r>
              <a:rPr lang="zh-CN" altLang="en-US" sz="3600">
                <a:solidFill>
                  <a:srgbClr val="A50021"/>
                </a:solidFill>
                <a:ea typeface="楷体_GB2312" charset="0"/>
              </a:rPr>
              <a:t>若在结点内查找时，给定值</a:t>
            </a:r>
            <a:r>
              <a:rPr lang="zh-CN" altLang="en-US" sz="3600">
                <a:solidFill>
                  <a:srgbClr val="A50021"/>
                </a:solidFill>
                <a:latin typeface="楷体_GB2312" charset="0"/>
                <a:ea typeface="楷体_GB2312" charset="0"/>
              </a:rPr>
              <a:t>≤</a:t>
            </a:r>
            <a:r>
              <a:rPr lang="en-US" altLang="zh-CN" sz="3600" b="1" i="1">
                <a:solidFill>
                  <a:srgbClr val="A50021"/>
                </a:solidFill>
                <a:ea typeface="楷体_GB2312" charset="0"/>
              </a:rPr>
              <a:t>K</a:t>
            </a:r>
            <a:r>
              <a:rPr lang="en-US" altLang="zh-CN" sz="3600" b="1" i="1" baseline="-25000">
                <a:solidFill>
                  <a:srgbClr val="A50021"/>
                </a:solidFill>
                <a:ea typeface="楷体_GB2312" charset="0"/>
              </a:rPr>
              <a:t>i</a:t>
            </a:r>
            <a:r>
              <a:rPr lang="zh-CN" altLang="en-US" sz="3600">
                <a:solidFill>
                  <a:srgbClr val="A50021"/>
                </a:solidFill>
                <a:ea typeface="楷体_GB2312" charset="0"/>
              </a:rPr>
              <a:t>， 则</a:t>
            </a:r>
          </a:p>
          <a:p>
            <a:pPr>
              <a:lnSpc>
                <a:spcPct val="125000"/>
              </a:lnSpc>
            </a:pPr>
            <a:r>
              <a:rPr lang="zh-CN" altLang="en-US" sz="3600">
                <a:solidFill>
                  <a:srgbClr val="A50021"/>
                </a:solidFill>
                <a:ea typeface="楷体_GB2312" charset="0"/>
              </a:rPr>
              <a:t>    应继续在 </a:t>
            </a:r>
            <a:r>
              <a:rPr lang="en-US" altLang="zh-CN" sz="3600" b="1" i="1">
                <a:solidFill>
                  <a:srgbClr val="A50021"/>
                </a:solidFill>
                <a:ea typeface="楷体_GB2312" charset="0"/>
              </a:rPr>
              <a:t>A</a:t>
            </a:r>
            <a:r>
              <a:rPr lang="en-US" altLang="zh-CN" sz="3600" b="1" i="1" baseline="-25000">
                <a:solidFill>
                  <a:srgbClr val="A50021"/>
                </a:solidFill>
                <a:ea typeface="楷体_GB2312" charset="0"/>
              </a:rPr>
              <a:t>i </a:t>
            </a:r>
            <a:r>
              <a:rPr lang="zh-CN" altLang="en-US" sz="3600">
                <a:solidFill>
                  <a:srgbClr val="A50021"/>
                </a:solidFill>
                <a:ea typeface="楷体_GB2312" charset="0"/>
              </a:rPr>
              <a:t>所指子树中进行查找。</a:t>
            </a:r>
          </a:p>
        </p:txBody>
      </p:sp>
      <p:sp>
        <p:nvSpPr>
          <p:cNvPr id="111629" name="AutoShape 13">
            <a:hlinkClick r:id="rId2" action="ppaction://hlinksldjump" highlightClick="1"/>
          </p:cNvPr>
          <p:cNvSpPr>
            <a:spLocks noChangeArrowheads="1"/>
          </p:cNvSpPr>
          <p:nvPr/>
        </p:nvSpPr>
        <p:spPr bwMode="auto">
          <a:xfrm>
            <a:off x="8382000" y="6248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7482085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11619"/>
                                        </p:tgtEl>
                                        <p:attrNameLst>
                                          <p:attrName>style.visibility</p:attrName>
                                        </p:attrNameLst>
                                      </p:cBhvr>
                                      <p:to>
                                        <p:strVal val="visible"/>
                                      </p:to>
                                    </p:set>
                                    <p:animEffect transition="in" filter="wipe(up)">
                                      <p:cBhvr>
                                        <p:cTn id="7" dur="500"/>
                                        <p:tgtEl>
                                          <p:spTgt spid="1116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1625"/>
                                        </p:tgtEl>
                                        <p:attrNameLst>
                                          <p:attrName>style.visibility</p:attrName>
                                        </p:attrNameLst>
                                      </p:cBhvr>
                                      <p:to>
                                        <p:strVal val="visible"/>
                                      </p:to>
                                    </p:set>
                                    <p:animEffect transition="in" filter="wipe(left)">
                                      <p:cBhvr>
                                        <p:cTn id="12" dur="500"/>
                                        <p:tgtEl>
                                          <p:spTgt spid="1116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1626"/>
                                        </p:tgtEl>
                                        <p:attrNameLst>
                                          <p:attrName>style.visibility</p:attrName>
                                        </p:attrNameLst>
                                      </p:cBhvr>
                                      <p:to>
                                        <p:strVal val="visible"/>
                                      </p:to>
                                    </p:set>
                                    <p:animEffect transition="in" filter="wipe(left)">
                                      <p:cBhvr>
                                        <p:cTn id="17" dur="500"/>
                                        <p:tgtEl>
                                          <p:spTgt spid="1116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1627"/>
                                        </p:tgtEl>
                                        <p:attrNameLst>
                                          <p:attrName>style.visibility</p:attrName>
                                        </p:attrNameLst>
                                      </p:cBhvr>
                                      <p:to>
                                        <p:strVal val="visible"/>
                                      </p:to>
                                    </p:set>
                                    <p:animEffect transition="in" filter="wipe(left)">
                                      <p:cBhvr>
                                        <p:cTn id="22" dur="500"/>
                                        <p:tgtEl>
                                          <p:spTgt spid="111627"/>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111629"/>
                                        </p:tgtEl>
                                        <p:attrNameLst>
                                          <p:attrName>style.visibility</p:attrName>
                                        </p:attrNameLst>
                                      </p:cBhvr>
                                      <p:to>
                                        <p:strVal val="visible"/>
                                      </p:to>
                                    </p:set>
                                    <p:anim calcmode="lin" valueType="num">
                                      <p:cBhvr additive="base">
                                        <p:cTn id="26" dur="500" fill="hold"/>
                                        <p:tgtEl>
                                          <p:spTgt spid="111629"/>
                                        </p:tgtEl>
                                        <p:attrNameLst>
                                          <p:attrName>ppt_x</p:attrName>
                                        </p:attrNameLst>
                                      </p:cBhvr>
                                      <p:tavLst>
                                        <p:tav tm="0">
                                          <p:val>
                                            <p:strVal val="1+#ppt_w/2"/>
                                          </p:val>
                                        </p:tav>
                                        <p:tav tm="100000">
                                          <p:val>
                                            <p:strVal val="#ppt_x"/>
                                          </p:val>
                                        </p:tav>
                                      </p:tavLst>
                                    </p:anim>
                                    <p:anim calcmode="lin" valueType="num">
                                      <p:cBhvr additive="base">
                                        <p:cTn id="27" dur="500" fill="hold"/>
                                        <p:tgtEl>
                                          <p:spTgt spid="1116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autoUpdateAnimBg="0"/>
      <p:bldP spid="111625" grpId="0" autoUpdateAnimBg="0"/>
      <p:bldP spid="111626" grpId="0" autoUpdateAnimBg="0"/>
      <p:bldP spid="111627" grpId="0" autoUpdateAnimBg="0"/>
      <p:bldP spid="111629"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2"/>
          <p:cNvSpPr txBox="1">
            <a:spLocks noChangeArrowheads="1"/>
          </p:cNvSpPr>
          <p:nvPr/>
        </p:nvSpPr>
        <p:spPr bwMode="auto">
          <a:xfrm>
            <a:off x="1524000" y="641350"/>
            <a:ext cx="50101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lang="en-US" altLang="zh-CN" sz="4000" b="1">
                <a:solidFill>
                  <a:srgbClr val="FF00FF"/>
                </a:solidFill>
                <a:ea typeface="楷体_GB2312" charset="0"/>
              </a:rPr>
              <a:t>3</a:t>
            </a:r>
            <a:r>
              <a:rPr lang="zh-CN" altLang="en-US" sz="4000" b="1">
                <a:solidFill>
                  <a:srgbClr val="FF00FF"/>
                </a:solidFill>
                <a:ea typeface="楷体_GB2312" charset="0"/>
              </a:rPr>
              <a:t>．插入和删除的操作</a:t>
            </a:r>
          </a:p>
        </p:txBody>
      </p:sp>
      <p:sp>
        <p:nvSpPr>
          <p:cNvPr id="112644" name="Rectangle 4"/>
          <p:cNvSpPr>
            <a:spLocks noChangeArrowheads="1"/>
          </p:cNvSpPr>
          <p:nvPr/>
        </p:nvSpPr>
        <p:spPr bwMode="auto">
          <a:xfrm>
            <a:off x="1143000" y="2133600"/>
            <a:ext cx="7010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lang="zh-CN" altLang="en-US" sz="4000" b="1">
                <a:solidFill>
                  <a:srgbClr val="A50021"/>
                </a:solidFill>
                <a:ea typeface="楷体_GB2312" charset="0"/>
              </a:rPr>
              <a:t>类似于</a:t>
            </a:r>
            <a:r>
              <a:rPr lang="en-US" altLang="zh-CN" sz="4000" b="1">
                <a:solidFill>
                  <a:srgbClr val="A50021"/>
                </a:solidFill>
                <a:ea typeface="楷体_GB2312" charset="0"/>
              </a:rPr>
              <a:t>B-</a:t>
            </a:r>
            <a:r>
              <a:rPr lang="zh-CN" altLang="en-US" sz="4000" b="1">
                <a:solidFill>
                  <a:srgbClr val="A50021"/>
                </a:solidFill>
                <a:ea typeface="楷体_GB2312" charset="0"/>
              </a:rPr>
              <a:t>树进行，即必要时，也需要进行结点的“分裂”或“归并”。</a:t>
            </a:r>
            <a:endParaRPr lang="zh-CN" altLang="en-US" sz="4000" b="1">
              <a:solidFill>
                <a:srgbClr val="FF00FF"/>
              </a:solidFill>
              <a:ea typeface="楷体_GB2312" charset="0"/>
            </a:endParaRPr>
          </a:p>
        </p:txBody>
      </p:sp>
      <p:sp>
        <p:nvSpPr>
          <p:cNvPr id="112645" name="AutoShape 5">
            <a:hlinkClick r:id="rId2" action="ppaction://hlinksldjump" highlightClick="1"/>
          </p:cNvPr>
          <p:cNvSpPr>
            <a:spLocks noChangeArrowheads="1"/>
          </p:cNvSpPr>
          <p:nvPr/>
        </p:nvSpPr>
        <p:spPr bwMode="auto">
          <a:xfrm>
            <a:off x="83820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1058610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2642"/>
                                        </p:tgtEl>
                                        <p:attrNameLst>
                                          <p:attrName>style.visibility</p:attrName>
                                        </p:attrNameLst>
                                      </p:cBhvr>
                                      <p:to>
                                        <p:strVal val="visible"/>
                                      </p:to>
                                    </p:set>
                                    <p:animEffect transition="in" filter="wipe(left)">
                                      <p:cBhvr>
                                        <p:cTn id="7" dur="500"/>
                                        <p:tgtEl>
                                          <p:spTgt spid="1126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12644"/>
                                        </p:tgtEl>
                                        <p:attrNameLst>
                                          <p:attrName>style.visibility</p:attrName>
                                        </p:attrNameLst>
                                      </p:cBhvr>
                                      <p:to>
                                        <p:strVal val="visible"/>
                                      </p:to>
                                    </p:set>
                                    <p:animEffect transition="in" filter="strips(downRight)">
                                      <p:cBhvr>
                                        <p:cTn id="12" dur="500"/>
                                        <p:tgtEl>
                                          <p:spTgt spid="112644"/>
                                        </p:tgtEl>
                                      </p:cBhvr>
                                    </p:animEffect>
                                  </p:childTnLst>
                                </p:cTn>
                              </p:par>
                            </p:childTnLst>
                          </p:cTn>
                        </p:par>
                        <p:par>
                          <p:cTn id="13" fill="hold" nodeType="afterGroup">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112645"/>
                                        </p:tgtEl>
                                        <p:attrNameLst>
                                          <p:attrName>style.visibility</p:attrName>
                                        </p:attrNameLst>
                                      </p:cBhvr>
                                      <p:to>
                                        <p:strVal val="visible"/>
                                      </p:to>
                                    </p:set>
                                    <p:anim calcmode="lin" valueType="num">
                                      <p:cBhvr additive="base">
                                        <p:cTn id="16" dur="500" fill="hold"/>
                                        <p:tgtEl>
                                          <p:spTgt spid="112645"/>
                                        </p:tgtEl>
                                        <p:attrNameLst>
                                          <p:attrName>ppt_x</p:attrName>
                                        </p:attrNameLst>
                                      </p:cBhvr>
                                      <p:tavLst>
                                        <p:tav tm="0">
                                          <p:val>
                                            <p:strVal val="1+#ppt_w/2"/>
                                          </p:val>
                                        </p:tav>
                                        <p:tav tm="100000">
                                          <p:val>
                                            <p:strVal val="#ppt_x"/>
                                          </p:val>
                                        </p:tav>
                                      </p:tavLst>
                                    </p:anim>
                                    <p:anim calcmode="lin" valueType="num">
                                      <p:cBhvr additive="base">
                                        <p:cTn id="17" dur="500" fill="hold"/>
                                        <p:tgtEl>
                                          <p:spTgt spid="1126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autoUpdateAnimBg="0"/>
      <p:bldP spid="112644" grpId="0" autoUpdateAnimBg="0"/>
      <p:bldP spid="112645"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89" name="Oval 77"/>
          <p:cNvSpPr>
            <a:spLocks noChangeArrowheads="1"/>
          </p:cNvSpPr>
          <p:nvPr/>
        </p:nvSpPr>
        <p:spPr bwMode="auto">
          <a:xfrm>
            <a:off x="3600450" y="2125663"/>
            <a:ext cx="1466850" cy="693737"/>
          </a:xfrm>
          <a:prstGeom prst="ellipse">
            <a:avLst/>
          </a:prstGeom>
          <a:solidFill>
            <a:srgbClr val="FFFFFF"/>
          </a:solidFill>
          <a:ln w="9525">
            <a:solidFill>
              <a:srgbClr val="008080"/>
            </a:solidFill>
            <a:round/>
            <a:headEnd/>
            <a:tailEnd/>
          </a:ln>
        </p:spPr>
        <p:txBody>
          <a:bodyPr/>
          <a:lstStyle/>
          <a:p>
            <a:pPr algn="just"/>
            <a:r>
              <a:rPr lang="en-US" altLang="zh-CN" sz="1600" b="1">
                <a:solidFill>
                  <a:srgbClr val="000080"/>
                </a:solidFill>
              </a:rPr>
              <a:t> 50       96</a:t>
            </a:r>
          </a:p>
        </p:txBody>
      </p:sp>
      <p:sp>
        <p:nvSpPr>
          <p:cNvPr id="218190" name="Oval 78"/>
          <p:cNvSpPr>
            <a:spLocks noChangeArrowheads="1"/>
          </p:cNvSpPr>
          <p:nvPr/>
        </p:nvSpPr>
        <p:spPr bwMode="auto">
          <a:xfrm>
            <a:off x="1333500" y="3140075"/>
            <a:ext cx="1466850" cy="593725"/>
          </a:xfrm>
          <a:prstGeom prst="ellipse">
            <a:avLst/>
          </a:prstGeom>
          <a:solidFill>
            <a:srgbClr val="FFFFFF"/>
          </a:solidFill>
          <a:ln w="9525">
            <a:solidFill>
              <a:srgbClr val="008080"/>
            </a:solidFill>
            <a:round/>
            <a:headEnd/>
            <a:tailEnd/>
          </a:ln>
        </p:spPr>
        <p:txBody>
          <a:bodyPr/>
          <a:lstStyle/>
          <a:p>
            <a:pPr algn="just"/>
            <a:r>
              <a:rPr lang="en-US" altLang="zh-CN" sz="1600" b="1">
                <a:solidFill>
                  <a:srgbClr val="000080"/>
                </a:solidFill>
              </a:rPr>
              <a:t> 15      50</a:t>
            </a:r>
          </a:p>
        </p:txBody>
      </p:sp>
      <p:sp>
        <p:nvSpPr>
          <p:cNvPr id="218191" name="Oval 79"/>
          <p:cNvSpPr>
            <a:spLocks noChangeArrowheads="1"/>
          </p:cNvSpPr>
          <p:nvPr/>
        </p:nvSpPr>
        <p:spPr bwMode="auto">
          <a:xfrm>
            <a:off x="5762625" y="3214688"/>
            <a:ext cx="1466850" cy="595312"/>
          </a:xfrm>
          <a:prstGeom prst="ellipse">
            <a:avLst/>
          </a:prstGeom>
          <a:solidFill>
            <a:srgbClr val="FFFFFF"/>
          </a:solidFill>
          <a:ln w="9525">
            <a:solidFill>
              <a:srgbClr val="000000"/>
            </a:solidFill>
            <a:round/>
            <a:headEnd/>
            <a:tailEnd/>
          </a:ln>
        </p:spPr>
        <p:txBody>
          <a:bodyPr/>
          <a:lstStyle/>
          <a:p>
            <a:pPr algn="just"/>
            <a:r>
              <a:rPr lang="en-US" altLang="zh-CN" sz="1600" b="1">
                <a:solidFill>
                  <a:srgbClr val="000080"/>
                </a:solidFill>
              </a:rPr>
              <a:t>62</a:t>
            </a:r>
            <a:r>
              <a:rPr lang="en-US" altLang="zh-CN" sz="900" b="1">
                <a:solidFill>
                  <a:srgbClr val="000080"/>
                </a:solidFill>
              </a:rPr>
              <a:t>   </a:t>
            </a:r>
            <a:r>
              <a:rPr lang="en-US" altLang="zh-CN" sz="1600" b="1">
                <a:solidFill>
                  <a:srgbClr val="000080"/>
                </a:solidFill>
              </a:rPr>
              <a:t>78</a:t>
            </a:r>
            <a:r>
              <a:rPr lang="en-US" altLang="zh-CN" sz="1000" b="1">
                <a:solidFill>
                  <a:srgbClr val="000080"/>
                </a:solidFill>
              </a:rPr>
              <a:t>    </a:t>
            </a:r>
            <a:r>
              <a:rPr lang="en-US" altLang="zh-CN" sz="1600" b="1">
                <a:solidFill>
                  <a:srgbClr val="000080"/>
                </a:solidFill>
              </a:rPr>
              <a:t>96</a:t>
            </a:r>
          </a:p>
        </p:txBody>
      </p:sp>
      <p:sp>
        <p:nvSpPr>
          <p:cNvPr id="218192" name="Oval 80"/>
          <p:cNvSpPr>
            <a:spLocks noChangeArrowheads="1"/>
          </p:cNvSpPr>
          <p:nvPr/>
        </p:nvSpPr>
        <p:spPr bwMode="auto">
          <a:xfrm>
            <a:off x="5810250" y="4281488"/>
            <a:ext cx="1466850" cy="595312"/>
          </a:xfrm>
          <a:prstGeom prst="ellipse">
            <a:avLst/>
          </a:prstGeom>
          <a:solidFill>
            <a:srgbClr val="FFFFFF"/>
          </a:solidFill>
          <a:ln w="9525">
            <a:solidFill>
              <a:srgbClr val="008080"/>
            </a:solidFill>
            <a:round/>
            <a:headEnd/>
            <a:tailEnd/>
          </a:ln>
        </p:spPr>
        <p:txBody>
          <a:bodyPr/>
          <a:lstStyle/>
          <a:p>
            <a:pPr algn="just"/>
            <a:r>
              <a:rPr lang="en-US" altLang="zh-CN" sz="1600" b="1">
                <a:solidFill>
                  <a:srgbClr val="000080"/>
                </a:solidFill>
              </a:rPr>
              <a:t> 71      78</a:t>
            </a:r>
          </a:p>
        </p:txBody>
      </p:sp>
      <p:sp>
        <p:nvSpPr>
          <p:cNvPr id="218193" name="Oval 81"/>
          <p:cNvSpPr>
            <a:spLocks noChangeArrowheads="1"/>
          </p:cNvSpPr>
          <p:nvPr/>
        </p:nvSpPr>
        <p:spPr bwMode="auto">
          <a:xfrm>
            <a:off x="7572375" y="4281488"/>
            <a:ext cx="1495425" cy="595312"/>
          </a:xfrm>
          <a:prstGeom prst="ellipse">
            <a:avLst/>
          </a:prstGeom>
          <a:solidFill>
            <a:srgbClr val="FFFFFF"/>
          </a:solidFill>
          <a:ln w="9525">
            <a:solidFill>
              <a:srgbClr val="008080"/>
            </a:solidFill>
            <a:round/>
            <a:headEnd/>
            <a:tailEnd/>
          </a:ln>
        </p:spPr>
        <p:txBody>
          <a:bodyPr/>
          <a:lstStyle/>
          <a:p>
            <a:pPr algn="just"/>
            <a:r>
              <a:rPr lang="en-US" altLang="zh-CN" sz="1600" b="1">
                <a:solidFill>
                  <a:srgbClr val="000080"/>
                </a:solidFill>
              </a:rPr>
              <a:t>84</a:t>
            </a:r>
            <a:r>
              <a:rPr lang="en-US" altLang="zh-CN" sz="1200" b="1">
                <a:solidFill>
                  <a:srgbClr val="000080"/>
                </a:solidFill>
              </a:rPr>
              <a:t>   </a:t>
            </a:r>
            <a:r>
              <a:rPr lang="en-US" altLang="zh-CN" sz="1600" b="1">
                <a:solidFill>
                  <a:srgbClr val="000080"/>
                </a:solidFill>
              </a:rPr>
              <a:t>89  </a:t>
            </a:r>
            <a:r>
              <a:rPr lang="en-US" altLang="zh-CN" sz="1000" b="1">
                <a:solidFill>
                  <a:srgbClr val="000080"/>
                </a:solidFill>
              </a:rPr>
              <a:t>  </a:t>
            </a:r>
            <a:r>
              <a:rPr lang="en-US" altLang="zh-CN" sz="1600" b="1">
                <a:solidFill>
                  <a:srgbClr val="000080"/>
                </a:solidFill>
              </a:rPr>
              <a:t>96</a:t>
            </a:r>
          </a:p>
        </p:txBody>
      </p:sp>
      <p:sp>
        <p:nvSpPr>
          <p:cNvPr id="218194" name="Oval 82"/>
          <p:cNvSpPr>
            <a:spLocks noChangeArrowheads="1"/>
          </p:cNvSpPr>
          <p:nvPr/>
        </p:nvSpPr>
        <p:spPr bwMode="auto">
          <a:xfrm>
            <a:off x="4095750" y="4259263"/>
            <a:ext cx="1466850" cy="693737"/>
          </a:xfrm>
          <a:prstGeom prst="ellipse">
            <a:avLst/>
          </a:prstGeom>
          <a:solidFill>
            <a:srgbClr val="FFFFFF"/>
          </a:solidFill>
          <a:ln w="9525">
            <a:solidFill>
              <a:srgbClr val="008080"/>
            </a:solidFill>
            <a:round/>
            <a:headEnd/>
            <a:tailEnd/>
          </a:ln>
        </p:spPr>
        <p:txBody>
          <a:bodyPr/>
          <a:lstStyle/>
          <a:p>
            <a:pPr algn="just"/>
            <a:r>
              <a:rPr lang="en-US" altLang="zh-CN" sz="1600" b="1">
                <a:solidFill>
                  <a:srgbClr val="000080"/>
                </a:solidFill>
              </a:rPr>
              <a:t> 56       62</a:t>
            </a:r>
          </a:p>
        </p:txBody>
      </p:sp>
      <p:sp>
        <p:nvSpPr>
          <p:cNvPr id="218195" name="Oval 83"/>
          <p:cNvSpPr>
            <a:spLocks noChangeArrowheads="1"/>
          </p:cNvSpPr>
          <p:nvPr/>
        </p:nvSpPr>
        <p:spPr bwMode="auto">
          <a:xfrm>
            <a:off x="2209800" y="4267200"/>
            <a:ext cx="1600200" cy="693738"/>
          </a:xfrm>
          <a:prstGeom prst="ellipse">
            <a:avLst/>
          </a:prstGeom>
          <a:solidFill>
            <a:srgbClr val="FFFFFF"/>
          </a:solidFill>
          <a:ln w="9525">
            <a:solidFill>
              <a:srgbClr val="008080"/>
            </a:solidFill>
            <a:round/>
            <a:headEnd/>
            <a:tailEnd/>
          </a:ln>
        </p:spPr>
        <p:txBody>
          <a:bodyPr/>
          <a:lstStyle/>
          <a:p>
            <a:pPr algn="just"/>
            <a:r>
              <a:rPr lang="en-US" altLang="zh-CN" sz="1600" b="1">
                <a:solidFill>
                  <a:srgbClr val="000080"/>
                </a:solidFill>
              </a:rPr>
              <a:t>20 26 43 50</a:t>
            </a:r>
          </a:p>
        </p:txBody>
      </p:sp>
      <p:sp>
        <p:nvSpPr>
          <p:cNvPr id="218197" name="Line 85"/>
          <p:cNvSpPr>
            <a:spLocks noChangeShapeType="1"/>
          </p:cNvSpPr>
          <p:nvPr/>
        </p:nvSpPr>
        <p:spPr bwMode="auto">
          <a:xfrm flipH="1">
            <a:off x="2057400" y="2571750"/>
            <a:ext cx="1944688" cy="552450"/>
          </a:xfrm>
          <a:prstGeom prst="line">
            <a:avLst/>
          </a:prstGeom>
          <a:noFill/>
          <a:ln w="28575">
            <a:solidFill>
              <a:srgbClr val="008000"/>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198" name="Line 86"/>
          <p:cNvSpPr>
            <a:spLocks noChangeShapeType="1"/>
          </p:cNvSpPr>
          <p:nvPr/>
        </p:nvSpPr>
        <p:spPr bwMode="auto">
          <a:xfrm flipH="1">
            <a:off x="914400" y="3562350"/>
            <a:ext cx="819150" cy="693738"/>
          </a:xfrm>
          <a:prstGeom prst="line">
            <a:avLst/>
          </a:prstGeom>
          <a:noFill/>
          <a:ln w="28575">
            <a:solidFill>
              <a:srgbClr val="008000"/>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199" name="Line 87"/>
          <p:cNvSpPr>
            <a:spLocks noChangeShapeType="1"/>
          </p:cNvSpPr>
          <p:nvPr/>
        </p:nvSpPr>
        <p:spPr bwMode="auto">
          <a:xfrm>
            <a:off x="2333625" y="3562350"/>
            <a:ext cx="714375" cy="704850"/>
          </a:xfrm>
          <a:prstGeom prst="line">
            <a:avLst/>
          </a:prstGeom>
          <a:noFill/>
          <a:ln w="28575">
            <a:solidFill>
              <a:srgbClr val="008000"/>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00" name="Line 88"/>
          <p:cNvSpPr>
            <a:spLocks noChangeShapeType="1"/>
          </p:cNvSpPr>
          <p:nvPr/>
        </p:nvSpPr>
        <p:spPr bwMode="auto">
          <a:xfrm>
            <a:off x="6829425" y="3660775"/>
            <a:ext cx="1476375" cy="606425"/>
          </a:xfrm>
          <a:prstGeom prst="line">
            <a:avLst/>
          </a:prstGeom>
          <a:noFill/>
          <a:ln w="28575">
            <a:solidFill>
              <a:srgbClr val="008000"/>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01" name="Line 89"/>
          <p:cNvSpPr>
            <a:spLocks noChangeShapeType="1"/>
          </p:cNvSpPr>
          <p:nvPr/>
        </p:nvSpPr>
        <p:spPr bwMode="auto">
          <a:xfrm>
            <a:off x="4667250" y="2571750"/>
            <a:ext cx="1809750" cy="628650"/>
          </a:xfrm>
          <a:prstGeom prst="line">
            <a:avLst/>
          </a:prstGeom>
          <a:noFill/>
          <a:ln w="28575">
            <a:solidFill>
              <a:srgbClr val="008000"/>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02" name="Line 90"/>
          <p:cNvSpPr>
            <a:spLocks noChangeShapeType="1"/>
          </p:cNvSpPr>
          <p:nvPr/>
        </p:nvSpPr>
        <p:spPr bwMode="auto">
          <a:xfrm flipH="1">
            <a:off x="4800600" y="3660775"/>
            <a:ext cx="1362075" cy="606425"/>
          </a:xfrm>
          <a:prstGeom prst="line">
            <a:avLst/>
          </a:prstGeom>
          <a:noFill/>
          <a:ln w="28575">
            <a:solidFill>
              <a:srgbClr val="008000"/>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03" name="Line 91"/>
          <p:cNvSpPr>
            <a:spLocks noChangeShapeType="1"/>
          </p:cNvSpPr>
          <p:nvPr/>
        </p:nvSpPr>
        <p:spPr bwMode="auto">
          <a:xfrm>
            <a:off x="6429375" y="3660775"/>
            <a:ext cx="123825" cy="606425"/>
          </a:xfrm>
          <a:prstGeom prst="line">
            <a:avLst/>
          </a:prstGeom>
          <a:noFill/>
          <a:ln w="28575">
            <a:solidFill>
              <a:srgbClr val="008000"/>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04" name="Line 92"/>
          <p:cNvSpPr>
            <a:spLocks noChangeShapeType="1"/>
          </p:cNvSpPr>
          <p:nvPr/>
        </p:nvSpPr>
        <p:spPr bwMode="auto">
          <a:xfrm flipH="1">
            <a:off x="1981200" y="4697413"/>
            <a:ext cx="600075" cy="396875"/>
          </a:xfrm>
          <a:prstGeom prst="line">
            <a:avLst/>
          </a:prstGeom>
          <a:noFill/>
          <a:ln w="12700">
            <a:solidFill>
              <a:srgbClr val="3366FF"/>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05" name="Line 93"/>
          <p:cNvSpPr>
            <a:spLocks noChangeShapeType="1"/>
          </p:cNvSpPr>
          <p:nvPr/>
        </p:nvSpPr>
        <p:spPr bwMode="auto">
          <a:xfrm flipH="1">
            <a:off x="2647950" y="4697413"/>
            <a:ext cx="266700" cy="396875"/>
          </a:xfrm>
          <a:prstGeom prst="line">
            <a:avLst/>
          </a:prstGeom>
          <a:noFill/>
          <a:ln w="12700">
            <a:solidFill>
              <a:srgbClr val="3366FF"/>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06" name="Line 94"/>
          <p:cNvSpPr>
            <a:spLocks noChangeShapeType="1"/>
          </p:cNvSpPr>
          <p:nvPr/>
        </p:nvSpPr>
        <p:spPr bwMode="auto">
          <a:xfrm>
            <a:off x="3181350" y="4697413"/>
            <a:ext cx="133350" cy="396875"/>
          </a:xfrm>
          <a:prstGeom prst="line">
            <a:avLst/>
          </a:prstGeom>
          <a:noFill/>
          <a:ln w="12700">
            <a:solidFill>
              <a:srgbClr val="3366FF"/>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07" name="Line 95"/>
          <p:cNvSpPr>
            <a:spLocks noChangeShapeType="1"/>
          </p:cNvSpPr>
          <p:nvPr/>
        </p:nvSpPr>
        <p:spPr bwMode="auto">
          <a:xfrm>
            <a:off x="3448050" y="4697413"/>
            <a:ext cx="466725" cy="396875"/>
          </a:xfrm>
          <a:prstGeom prst="line">
            <a:avLst/>
          </a:prstGeom>
          <a:noFill/>
          <a:ln w="12700">
            <a:solidFill>
              <a:srgbClr val="3366FF"/>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08" name="Line 96"/>
          <p:cNvSpPr>
            <a:spLocks noChangeShapeType="1"/>
          </p:cNvSpPr>
          <p:nvPr/>
        </p:nvSpPr>
        <p:spPr bwMode="auto">
          <a:xfrm>
            <a:off x="1133475" y="4697413"/>
            <a:ext cx="333375" cy="495300"/>
          </a:xfrm>
          <a:prstGeom prst="line">
            <a:avLst/>
          </a:prstGeom>
          <a:noFill/>
          <a:ln w="12700">
            <a:solidFill>
              <a:srgbClr val="3366FF"/>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09" name="Line 97"/>
          <p:cNvSpPr>
            <a:spLocks noChangeShapeType="1"/>
          </p:cNvSpPr>
          <p:nvPr/>
        </p:nvSpPr>
        <p:spPr bwMode="auto">
          <a:xfrm>
            <a:off x="5095875" y="4697413"/>
            <a:ext cx="333375" cy="495300"/>
          </a:xfrm>
          <a:prstGeom prst="line">
            <a:avLst/>
          </a:prstGeom>
          <a:noFill/>
          <a:ln w="12700">
            <a:solidFill>
              <a:srgbClr val="3366FF"/>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10" name="Line 98"/>
          <p:cNvSpPr>
            <a:spLocks noChangeShapeType="1"/>
          </p:cNvSpPr>
          <p:nvPr/>
        </p:nvSpPr>
        <p:spPr bwMode="auto">
          <a:xfrm>
            <a:off x="6829425" y="4697413"/>
            <a:ext cx="333375" cy="495300"/>
          </a:xfrm>
          <a:prstGeom prst="line">
            <a:avLst/>
          </a:prstGeom>
          <a:noFill/>
          <a:ln w="12700">
            <a:solidFill>
              <a:srgbClr val="3366FF"/>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11" name="Line 99"/>
          <p:cNvSpPr>
            <a:spLocks noChangeShapeType="1"/>
          </p:cNvSpPr>
          <p:nvPr/>
        </p:nvSpPr>
        <p:spPr bwMode="auto">
          <a:xfrm>
            <a:off x="8696325" y="4697413"/>
            <a:ext cx="333375" cy="495300"/>
          </a:xfrm>
          <a:prstGeom prst="line">
            <a:avLst/>
          </a:prstGeom>
          <a:noFill/>
          <a:ln w="12700">
            <a:solidFill>
              <a:srgbClr val="3366FF"/>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12" name="Line 100"/>
          <p:cNvSpPr>
            <a:spLocks noChangeShapeType="1"/>
          </p:cNvSpPr>
          <p:nvPr/>
        </p:nvSpPr>
        <p:spPr bwMode="auto">
          <a:xfrm>
            <a:off x="8296275" y="4697413"/>
            <a:ext cx="133350" cy="396875"/>
          </a:xfrm>
          <a:prstGeom prst="line">
            <a:avLst/>
          </a:prstGeom>
          <a:noFill/>
          <a:ln w="12700">
            <a:solidFill>
              <a:srgbClr val="3366FF"/>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13" name="Line 101"/>
          <p:cNvSpPr>
            <a:spLocks noChangeShapeType="1"/>
          </p:cNvSpPr>
          <p:nvPr/>
        </p:nvSpPr>
        <p:spPr bwMode="auto">
          <a:xfrm>
            <a:off x="800100" y="4697413"/>
            <a:ext cx="66675" cy="495300"/>
          </a:xfrm>
          <a:prstGeom prst="line">
            <a:avLst/>
          </a:prstGeom>
          <a:noFill/>
          <a:ln w="12700">
            <a:solidFill>
              <a:srgbClr val="3366FF"/>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14" name="Line 102"/>
          <p:cNvSpPr>
            <a:spLocks noChangeShapeType="1"/>
          </p:cNvSpPr>
          <p:nvPr/>
        </p:nvSpPr>
        <p:spPr bwMode="auto">
          <a:xfrm flipH="1">
            <a:off x="200025" y="4697413"/>
            <a:ext cx="266700" cy="396875"/>
          </a:xfrm>
          <a:prstGeom prst="line">
            <a:avLst/>
          </a:prstGeom>
          <a:noFill/>
          <a:ln w="12700">
            <a:solidFill>
              <a:srgbClr val="3366FF"/>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15" name="Line 103"/>
          <p:cNvSpPr>
            <a:spLocks noChangeShapeType="1"/>
          </p:cNvSpPr>
          <p:nvPr/>
        </p:nvSpPr>
        <p:spPr bwMode="auto">
          <a:xfrm flipH="1">
            <a:off x="4229100" y="4697413"/>
            <a:ext cx="266700" cy="396875"/>
          </a:xfrm>
          <a:prstGeom prst="line">
            <a:avLst/>
          </a:prstGeom>
          <a:noFill/>
          <a:ln w="12700">
            <a:solidFill>
              <a:srgbClr val="3366FF"/>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16" name="Line 104"/>
          <p:cNvSpPr>
            <a:spLocks noChangeShapeType="1"/>
          </p:cNvSpPr>
          <p:nvPr/>
        </p:nvSpPr>
        <p:spPr bwMode="auto">
          <a:xfrm flipH="1">
            <a:off x="5962650" y="4697413"/>
            <a:ext cx="266700" cy="396875"/>
          </a:xfrm>
          <a:prstGeom prst="line">
            <a:avLst/>
          </a:prstGeom>
          <a:noFill/>
          <a:ln w="12700">
            <a:solidFill>
              <a:srgbClr val="3366FF"/>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17" name="Line 105"/>
          <p:cNvSpPr>
            <a:spLocks noChangeShapeType="1"/>
          </p:cNvSpPr>
          <p:nvPr/>
        </p:nvSpPr>
        <p:spPr bwMode="auto">
          <a:xfrm flipH="1">
            <a:off x="7696200" y="4697413"/>
            <a:ext cx="266700" cy="396875"/>
          </a:xfrm>
          <a:prstGeom prst="line">
            <a:avLst/>
          </a:prstGeom>
          <a:noFill/>
          <a:ln w="12700">
            <a:solidFill>
              <a:srgbClr val="3366FF"/>
            </a:solidFill>
            <a:round/>
            <a:headEnd type="oval"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18218" name="Oval 106"/>
          <p:cNvSpPr>
            <a:spLocks noChangeArrowheads="1"/>
          </p:cNvSpPr>
          <p:nvPr/>
        </p:nvSpPr>
        <p:spPr bwMode="auto">
          <a:xfrm>
            <a:off x="114300" y="4248150"/>
            <a:ext cx="1600200" cy="693738"/>
          </a:xfrm>
          <a:prstGeom prst="ellipse">
            <a:avLst/>
          </a:prstGeom>
          <a:noFill/>
          <a:ln w="9525">
            <a:solidFill>
              <a:srgbClr val="008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8219" name="Text Box 107"/>
          <p:cNvSpPr txBox="1">
            <a:spLocks noChangeArrowheads="1"/>
          </p:cNvSpPr>
          <p:nvPr/>
        </p:nvSpPr>
        <p:spPr bwMode="auto">
          <a:xfrm>
            <a:off x="314325" y="4332288"/>
            <a:ext cx="11334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solidFill>
                  <a:srgbClr val="000080"/>
                </a:solidFill>
              </a:rPr>
              <a:t> 3    8   15</a:t>
            </a:r>
          </a:p>
        </p:txBody>
      </p:sp>
      <p:sp>
        <p:nvSpPr>
          <p:cNvPr id="218220" name="Line 108"/>
          <p:cNvSpPr>
            <a:spLocks noChangeShapeType="1"/>
          </p:cNvSpPr>
          <p:nvPr/>
        </p:nvSpPr>
        <p:spPr bwMode="auto">
          <a:xfrm>
            <a:off x="-152400" y="3905250"/>
            <a:ext cx="533400" cy="449263"/>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18221" name="Line 109"/>
          <p:cNvSpPr>
            <a:spLocks noChangeShapeType="1"/>
          </p:cNvSpPr>
          <p:nvPr/>
        </p:nvSpPr>
        <p:spPr bwMode="auto">
          <a:xfrm flipV="1">
            <a:off x="1581150" y="4545013"/>
            <a:ext cx="663575" cy="1587"/>
          </a:xfrm>
          <a:prstGeom prst="line">
            <a:avLst/>
          </a:prstGeom>
          <a:noFill/>
          <a:ln w="19050">
            <a:solidFill>
              <a:srgbClr val="FF0000"/>
            </a:solidFill>
            <a:round/>
            <a:headEnd type="diamond" w="sm" len="me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18222" name="Line 110"/>
          <p:cNvSpPr>
            <a:spLocks noChangeShapeType="1"/>
          </p:cNvSpPr>
          <p:nvPr/>
        </p:nvSpPr>
        <p:spPr bwMode="auto">
          <a:xfrm>
            <a:off x="3714750" y="4546600"/>
            <a:ext cx="381000" cy="52388"/>
          </a:xfrm>
          <a:prstGeom prst="line">
            <a:avLst/>
          </a:prstGeom>
          <a:noFill/>
          <a:ln w="19050">
            <a:solidFill>
              <a:srgbClr val="FF0000"/>
            </a:solidFill>
            <a:round/>
            <a:headEnd type="diamond" w="sm" len="me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18223" name="Line 111"/>
          <p:cNvSpPr>
            <a:spLocks noChangeShapeType="1"/>
          </p:cNvSpPr>
          <p:nvPr/>
        </p:nvSpPr>
        <p:spPr bwMode="auto">
          <a:xfrm flipV="1">
            <a:off x="5410200" y="4545013"/>
            <a:ext cx="396875" cy="0"/>
          </a:xfrm>
          <a:prstGeom prst="line">
            <a:avLst/>
          </a:prstGeom>
          <a:noFill/>
          <a:ln w="19050">
            <a:solidFill>
              <a:srgbClr val="FF0000"/>
            </a:solidFill>
            <a:round/>
            <a:headEnd type="diamond" w="sm" len="me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18224" name="Line 112"/>
          <p:cNvSpPr>
            <a:spLocks noChangeShapeType="1"/>
          </p:cNvSpPr>
          <p:nvPr/>
        </p:nvSpPr>
        <p:spPr bwMode="auto">
          <a:xfrm flipV="1">
            <a:off x="7143750" y="4545013"/>
            <a:ext cx="396875" cy="0"/>
          </a:xfrm>
          <a:prstGeom prst="line">
            <a:avLst/>
          </a:prstGeom>
          <a:noFill/>
          <a:ln w="19050">
            <a:solidFill>
              <a:srgbClr val="FF0000"/>
            </a:solidFill>
            <a:round/>
            <a:headEnd type="diamond" w="sm" len="me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18225" name="Line 113"/>
          <p:cNvSpPr>
            <a:spLocks noChangeShapeType="1"/>
          </p:cNvSpPr>
          <p:nvPr/>
        </p:nvSpPr>
        <p:spPr bwMode="auto">
          <a:xfrm flipV="1">
            <a:off x="8810625" y="4545013"/>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226" name="Text Box 114"/>
          <p:cNvSpPr txBox="1">
            <a:spLocks noChangeArrowheads="1"/>
          </p:cNvSpPr>
          <p:nvPr/>
        </p:nvSpPr>
        <p:spPr bwMode="auto">
          <a:xfrm>
            <a:off x="-9525" y="3543300"/>
            <a:ext cx="4667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200" b="1">
                <a:solidFill>
                  <a:srgbClr val="FF0000"/>
                </a:solidFill>
              </a:rPr>
              <a:t>sq</a:t>
            </a:r>
            <a:endParaRPr lang="en-US" altLang="zh-CN" sz="2200"/>
          </a:p>
        </p:txBody>
      </p:sp>
      <p:sp>
        <p:nvSpPr>
          <p:cNvPr id="218227" name="Text Box 115"/>
          <p:cNvSpPr txBox="1">
            <a:spLocks noChangeArrowheads="1"/>
          </p:cNvSpPr>
          <p:nvPr/>
        </p:nvSpPr>
        <p:spPr bwMode="auto">
          <a:xfrm>
            <a:off x="2270125" y="1066800"/>
            <a:ext cx="81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rgbClr val="006600"/>
                </a:solidFill>
              </a:rPr>
              <a:t>root</a:t>
            </a:r>
            <a:endParaRPr lang="en-US" altLang="zh-CN" sz="3600"/>
          </a:p>
        </p:txBody>
      </p:sp>
      <p:sp>
        <p:nvSpPr>
          <p:cNvPr id="218228" name="Freeform 116"/>
          <p:cNvSpPr>
            <a:spLocks/>
          </p:cNvSpPr>
          <p:nvPr/>
        </p:nvSpPr>
        <p:spPr bwMode="auto">
          <a:xfrm>
            <a:off x="3124200" y="1371600"/>
            <a:ext cx="1219200" cy="762000"/>
          </a:xfrm>
          <a:custGeom>
            <a:avLst/>
            <a:gdLst>
              <a:gd name="T0" fmla="*/ 0 w 768"/>
              <a:gd name="T1" fmla="*/ 0 h 480"/>
              <a:gd name="T2" fmla="*/ 432 w 768"/>
              <a:gd name="T3" fmla="*/ 144 h 480"/>
              <a:gd name="T4" fmla="*/ 192 w 768"/>
              <a:gd name="T5" fmla="*/ 192 h 480"/>
              <a:gd name="T6" fmla="*/ 768 w 768"/>
              <a:gd name="T7" fmla="*/ 480 h 480"/>
            </a:gdLst>
            <a:ahLst/>
            <a:cxnLst>
              <a:cxn ang="0">
                <a:pos x="T0" y="T1"/>
              </a:cxn>
              <a:cxn ang="0">
                <a:pos x="T2" y="T3"/>
              </a:cxn>
              <a:cxn ang="0">
                <a:pos x="T4" y="T5"/>
              </a:cxn>
              <a:cxn ang="0">
                <a:pos x="T6" y="T7"/>
              </a:cxn>
            </a:cxnLst>
            <a:rect l="0" t="0" r="r" b="b"/>
            <a:pathLst>
              <a:path w="768" h="480">
                <a:moveTo>
                  <a:pt x="0" y="0"/>
                </a:moveTo>
                <a:cubicBezTo>
                  <a:pt x="200" y="56"/>
                  <a:pt x="400" y="112"/>
                  <a:pt x="432" y="144"/>
                </a:cubicBezTo>
                <a:cubicBezTo>
                  <a:pt x="464" y="176"/>
                  <a:pt x="136" y="136"/>
                  <a:pt x="192" y="192"/>
                </a:cubicBezTo>
                <a:cubicBezTo>
                  <a:pt x="248" y="248"/>
                  <a:pt x="508" y="364"/>
                  <a:pt x="768" y="480"/>
                </a:cubicBezTo>
              </a:path>
            </a:pathLst>
          </a:custGeom>
          <a:noFill/>
          <a:ln w="31750" cmpd="sng">
            <a:solidFill>
              <a:srgbClr val="008080"/>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8229" name="AutoShape 117">
            <a:hlinkClick r:id="" action="ppaction://hlinkshowjump?jump=lastslideviewed" highlightClick="1"/>
          </p:cNvPr>
          <p:cNvSpPr>
            <a:spLocks noChangeArrowheads="1"/>
          </p:cNvSpPr>
          <p:nvPr/>
        </p:nvSpPr>
        <p:spPr bwMode="auto">
          <a:xfrm>
            <a:off x="8534400" y="6324600"/>
            <a:ext cx="304800" cy="304800"/>
          </a:xfrm>
          <a:prstGeom prst="actionButtonReturn">
            <a:avLst/>
          </a:prstGeom>
          <a:solidFill>
            <a:srgbClr val="FF0000"/>
          </a:solidFill>
          <a:ln w="9525">
            <a:solidFill>
              <a:srgbClr val="A5002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071806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a:hlinkClick r:id="rId2" action="ppaction://hlinksldjump" highlightClick="1"/>
          </p:cNvPr>
          <p:cNvSpPr txBox="1">
            <a:spLocks noChangeArrowheads="1"/>
          </p:cNvSpPr>
          <p:nvPr/>
        </p:nvSpPr>
        <p:spPr bwMode="auto">
          <a:xfrm>
            <a:off x="533400" y="1584325"/>
            <a:ext cx="44545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FF66CC"/>
                </a:solidFill>
                <a:ea typeface="楷体_GB2312" charset="0"/>
              </a:rPr>
              <a:t> </a:t>
            </a:r>
            <a:r>
              <a:rPr lang="zh-CN" altLang="en-US" sz="3600" b="1">
                <a:solidFill>
                  <a:srgbClr val="FF66CC"/>
                </a:solidFill>
                <a:ea typeface="楷体_GB2312" charset="0"/>
              </a:rPr>
              <a:t>一、</a:t>
            </a:r>
            <a:r>
              <a:rPr lang="zh-CN" altLang="en-US" sz="3600" b="1">
                <a:solidFill>
                  <a:srgbClr val="FF00FF"/>
                </a:solidFill>
                <a:ea typeface="楷体_GB2312" charset="0"/>
              </a:rPr>
              <a:t>哈希表是什么？</a:t>
            </a:r>
            <a:endParaRPr lang="zh-CN" altLang="en-US" sz="4000" b="1">
              <a:solidFill>
                <a:srgbClr val="FF00FF"/>
              </a:solidFill>
              <a:ea typeface="楷体_GB2312" charset="0"/>
            </a:endParaRPr>
          </a:p>
        </p:txBody>
      </p:sp>
      <p:sp>
        <p:nvSpPr>
          <p:cNvPr id="177155" name="Text Box 3">
            <a:hlinkClick r:id="rId3" action="ppaction://hlinksldjump" highlightClick="1"/>
          </p:cNvPr>
          <p:cNvSpPr txBox="1">
            <a:spLocks noChangeArrowheads="1"/>
          </p:cNvSpPr>
          <p:nvPr/>
        </p:nvSpPr>
        <p:spPr bwMode="auto">
          <a:xfrm>
            <a:off x="152400" y="2441575"/>
            <a:ext cx="61563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lvl="2"/>
            <a:r>
              <a:rPr lang="zh-CN" altLang="en-US" sz="3600">
                <a:solidFill>
                  <a:schemeClr val="accent2"/>
                </a:solidFill>
                <a:ea typeface="楷体_GB2312" charset="0"/>
              </a:rPr>
              <a:t>二、</a:t>
            </a:r>
            <a:r>
              <a:rPr lang="zh-CN" altLang="en-US" sz="3600" b="1">
                <a:solidFill>
                  <a:schemeClr val="accent2"/>
                </a:solidFill>
                <a:ea typeface="楷体_GB2312" charset="0"/>
              </a:rPr>
              <a:t>哈希函数的构造方法</a:t>
            </a:r>
            <a:endParaRPr lang="zh-CN" altLang="en-US" sz="4000">
              <a:ea typeface="楷体_GB2312" charset="0"/>
            </a:endParaRPr>
          </a:p>
        </p:txBody>
      </p:sp>
      <p:sp>
        <p:nvSpPr>
          <p:cNvPr id="177156" name="Text Box 4">
            <a:hlinkClick r:id="rId4" action="ppaction://hlinksldjump" highlightClick="1"/>
          </p:cNvPr>
          <p:cNvSpPr txBox="1">
            <a:spLocks noChangeArrowheads="1"/>
          </p:cNvSpPr>
          <p:nvPr/>
        </p:nvSpPr>
        <p:spPr bwMode="auto">
          <a:xfrm>
            <a:off x="-381000" y="3260725"/>
            <a:ext cx="61245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lvl="2"/>
            <a:r>
              <a:rPr lang="en-US" altLang="zh-CN" sz="4000">
                <a:solidFill>
                  <a:srgbClr val="FF00FF"/>
                </a:solidFill>
                <a:ea typeface="楷体_GB2312" charset="0"/>
              </a:rPr>
              <a:t>       </a:t>
            </a:r>
            <a:r>
              <a:rPr lang="zh-CN" altLang="en-US" sz="3600">
                <a:solidFill>
                  <a:srgbClr val="FF00FF"/>
                </a:solidFill>
                <a:ea typeface="楷体_GB2312" charset="0"/>
              </a:rPr>
              <a:t>三、</a:t>
            </a:r>
            <a:r>
              <a:rPr lang="zh-CN" altLang="en-US" sz="3600" b="1">
                <a:solidFill>
                  <a:srgbClr val="FF00FF"/>
                </a:solidFill>
                <a:ea typeface="楷体_GB2312" charset="0"/>
              </a:rPr>
              <a:t>处理冲突的方法</a:t>
            </a:r>
            <a:endParaRPr lang="zh-CN" altLang="en-US">
              <a:solidFill>
                <a:srgbClr val="0000FF"/>
              </a:solidFill>
              <a:ea typeface="楷体_GB2312" charset="0"/>
            </a:endParaRPr>
          </a:p>
        </p:txBody>
      </p:sp>
      <p:sp>
        <p:nvSpPr>
          <p:cNvPr id="177157" name="Text Box 5">
            <a:hlinkClick r:id="rId5" action="ppaction://hlinksldjump" highlightClick="1"/>
          </p:cNvPr>
          <p:cNvSpPr txBox="1">
            <a:spLocks noChangeArrowheads="1"/>
          </p:cNvSpPr>
          <p:nvPr/>
        </p:nvSpPr>
        <p:spPr bwMode="auto">
          <a:xfrm>
            <a:off x="1447800" y="4098925"/>
            <a:ext cx="4241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chemeClr val="accent2"/>
                </a:solidFill>
                <a:ea typeface="楷体_GB2312" charset="0"/>
              </a:rPr>
              <a:t>   </a:t>
            </a:r>
            <a:r>
              <a:rPr lang="zh-CN" altLang="en-US" sz="3600">
                <a:solidFill>
                  <a:schemeClr val="accent2"/>
                </a:solidFill>
                <a:ea typeface="楷体_GB2312" charset="0"/>
              </a:rPr>
              <a:t>四、</a:t>
            </a:r>
            <a:r>
              <a:rPr lang="zh-CN" altLang="en-US" sz="3600" b="1">
                <a:solidFill>
                  <a:schemeClr val="accent2"/>
                </a:solidFill>
                <a:ea typeface="楷体_GB2312" charset="0"/>
              </a:rPr>
              <a:t>哈希表的查找</a:t>
            </a:r>
            <a:endParaRPr lang="zh-CN" altLang="en-US" sz="4000" b="1">
              <a:solidFill>
                <a:srgbClr val="FF00FF"/>
              </a:solidFill>
              <a:ea typeface="楷体_GB2312" charset="0"/>
            </a:endParaRPr>
          </a:p>
        </p:txBody>
      </p:sp>
      <p:sp>
        <p:nvSpPr>
          <p:cNvPr id="177158" name="Text Box 6">
            <a:hlinkClick r:id="rId6" action="ppaction://hlinksldjump" highlightClick="1"/>
          </p:cNvPr>
          <p:cNvSpPr txBox="1">
            <a:spLocks noChangeArrowheads="1"/>
          </p:cNvSpPr>
          <p:nvPr/>
        </p:nvSpPr>
        <p:spPr bwMode="auto">
          <a:xfrm>
            <a:off x="1847850" y="4937125"/>
            <a:ext cx="51625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FF00FF"/>
                </a:solidFill>
                <a:ea typeface="楷体_GB2312" charset="0"/>
              </a:rPr>
              <a:t>   </a:t>
            </a:r>
            <a:r>
              <a:rPr lang="zh-CN" altLang="en-US" sz="3600">
                <a:solidFill>
                  <a:srgbClr val="FF00FF"/>
                </a:solidFill>
                <a:ea typeface="楷体_GB2312" charset="0"/>
              </a:rPr>
              <a:t>五、</a:t>
            </a:r>
            <a:r>
              <a:rPr lang="zh-CN" altLang="en-US" sz="3600" b="1">
                <a:solidFill>
                  <a:srgbClr val="FF00FF"/>
                </a:solidFill>
                <a:ea typeface="楷体_GB2312" charset="0"/>
              </a:rPr>
              <a:t>哈希表的删除操作</a:t>
            </a:r>
            <a:endParaRPr lang="zh-CN" altLang="en-US" sz="4000" b="1">
              <a:solidFill>
                <a:srgbClr val="FF00FF"/>
              </a:solidFill>
              <a:ea typeface="楷体_GB2312" charset="0"/>
            </a:endParaRPr>
          </a:p>
        </p:txBody>
      </p:sp>
      <p:sp>
        <p:nvSpPr>
          <p:cNvPr id="177159" name="Text Box 7">
            <a:hlinkClick r:id="rId7" action="ppaction://hlinksldjump" highlightClick="1"/>
          </p:cNvPr>
          <p:cNvSpPr txBox="1">
            <a:spLocks noChangeArrowheads="1"/>
          </p:cNvSpPr>
          <p:nvPr/>
        </p:nvSpPr>
        <p:spPr bwMode="auto">
          <a:xfrm>
            <a:off x="1219200" y="5791200"/>
            <a:ext cx="69977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lvl="2">
              <a:lnSpc>
                <a:spcPct val="120000"/>
              </a:lnSpc>
            </a:pPr>
            <a:r>
              <a:rPr lang="en-US" altLang="zh-CN" sz="4000">
                <a:solidFill>
                  <a:schemeClr val="accent2"/>
                </a:solidFill>
                <a:ea typeface="楷体_GB2312" charset="0"/>
              </a:rPr>
              <a:t>   </a:t>
            </a:r>
            <a:r>
              <a:rPr lang="zh-CN" altLang="en-US" sz="3600">
                <a:solidFill>
                  <a:schemeClr val="accent2"/>
                </a:solidFill>
                <a:ea typeface="楷体_GB2312" charset="0"/>
              </a:rPr>
              <a:t>六、</a:t>
            </a:r>
            <a:r>
              <a:rPr lang="zh-CN" altLang="en-US" sz="3600" b="1">
                <a:solidFill>
                  <a:schemeClr val="accent2"/>
                </a:solidFill>
                <a:ea typeface="楷体_GB2312" charset="0"/>
              </a:rPr>
              <a:t>对静态查找表，．．．</a:t>
            </a:r>
            <a:endParaRPr lang="zh-CN" altLang="en-US" sz="4000">
              <a:ea typeface="楷体_GB2312" charset="0"/>
            </a:endParaRPr>
          </a:p>
        </p:txBody>
      </p:sp>
      <p:sp>
        <p:nvSpPr>
          <p:cNvPr id="177160" name="Text Box 8"/>
          <p:cNvSpPr txBox="1">
            <a:spLocks noChangeArrowheads="1"/>
          </p:cNvSpPr>
          <p:nvPr/>
        </p:nvSpPr>
        <p:spPr bwMode="auto">
          <a:xfrm>
            <a:off x="2057400" y="381000"/>
            <a:ext cx="49657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6000" b="1">
                <a:solidFill>
                  <a:schemeClr val="accent2"/>
                </a:solidFill>
                <a:ea typeface="楷体_GB2312" charset="0"/>
              </a:rPr>
              <a:t>9.3    </a:t>
            </a:r>
            <a:r>
              <a:rPr lang="zh-CN" altLang="en-US" sz="6000" b="1">
                <a:solidFill>
                  <a:schemeClr val="accent2"/>
                </a:solidFill>
                <a:ea typeface="楷体_GB2312" charset="0"/>
              </a:rPr>
              <a:t>哈  希  表</a:t>
            </a:r>
            <a:endParaRPr lang="zh-CN" altLang="en-US" sz="4400">
              <a:solidFill>
                <a:schemeClr val="accent2"/>
              </a:solidFill>
              <a:ea typeface="楷体_GB2312" charset="0"/>
            </a:endParaRPr>
          </a:p>
        </p:txBody>
      </p:sp>
      <p:sp>
        <p:nvSpPr>
          <p:cNvPr id="177162" name="AutoShape 10">
            <a:hlinkClick r:id="rId8" action="ppaction://hlinksldjump" highlightClick="1"/>
          </p:cNvPr>
          <p:cNvSpPr>
            <a:spLocks noChangeArrowheads="1"/>
          </p:cNvSpPr>
          <p:nvPr/>
        </p:nvSpPr>
        <p:spPr bwMode="auto">
          <a:xfrm>
            <a:off x="8153400" y="4114800"/>
            <a:ext cx="685800" cy="381000"/>
          </a:xfrm>
          <a:prstGeom prst="actionButtonEnd">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11889999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77160"/>
                                        </p:tgtEl>
                                        <p:attrNameLst>
                                          <p:attrName>style.visibility</p:attrName>
                                        </p:attrNameLst>
                                      </p:cBhvr>
                                      <p:to>
                                        <p:strVal val="visible"/>
                                      </p:to>
                                    </p:set>
                                    <p:animEffect transition="in" filter="dissolve">
                                      <p:cBhvr>
                                        <p:cTn id="7" dur="500"/>
                                        <p:tgtEl>
                                          <p:spTgt spid="1771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177154"/>
                                        </p:tgtEl>
                                        <p:attrNameLst>
                                          <p:attrName>style.visibility</p:attrName>
                                        </p:attrNameLst>
                                      </p:cBhvr>
                                      <p:to>
                                        <p:strVal val="visible"/>
                                      </p:to>
                                    </p:set>
                                    <p:animEffect transition="in" filter="randombar(vertical)">
                                      <p:cBhvr>
                                        <p:cTn id="12" dur="500"/>
                                        <p:tgtEl>
                                          <p:spTgt spid="177154"/>
                                        </p:tgtEl>
                                      </p:cBhvr>
                                    </p:animEffect>
                                  </p:childTnLst>
                                </p:cTn>
                              </p:par>
                            </p:childTnLst>
                          </p:cTn>
                        </p:par>
                        <p:par>
                          <p:cTn id="13" fill="hold" nodeType="afterGroup">
                            <p:stCondLst>
                              <p:cond delay="500"/>
                            </p:stCondLst>
                            <p:childTnLst>
                              <p:par>
                                <p:cTn id="14" presetID="14" presetClass="entr" presetSubtype="5" fill="hold" grpId="0" nodeType="afterEffect">
                                  <p:stCondLst>
                                    <p:cond delay="0"/>
                                  </p:stCondLst>
                                  <p:childTnLst>
                                    <p:set>
                                      <p:cBhvr>
                                        <p:cTn id="15" dur="1" fill="hold">
                                          <p:stCondLst>
                                            <p:cond delay="0"/>
                                          </p:stCondLst>
                                        </p:cTn>
                                        <p:tgtEl>
                                          <p:spTgt spid="177155"/>
                                        </p:tgtEl>
                                        <p:attrNameLst>
                                          <p:attrName>style.visibility</p:attrName>
                                        </p:attrNameLst>
                                      </p:cBhvr>
                                      <p:to>
                                        <p:strVal val="visible"/>
                                      </p:to>
                                    </p:set>
                                    <p:animEffect transition="in" filter="randombar(vertical)">
                                      <p:cBhvr>
                                        <p:cTn id="16" dur="500"/>
                                        <p:tgtEl>
                                          <p:spTgt spid="177155"/>
                                        </p:tgtEl>
                                      </p:cBhvr>
                                    </p:animEffect>
                                  </p:childTnLst>
                                </p:cTn>
                              </p:par>
                            </p:childTnLst>
                          </p:cTn>
                        </p:par>
                        <p:par>
                          <p:cTn id="17" fill="hold" nodeType="afterGroup">
                            <p:stCondLst>
                              <p:cond delay="1000"/>
                            </p:stCondLst>
                            <p:childTnLst>
                              <p:par>
                                <p:cTn id="18" presetID="14" presetClass="entr" presetSubtype="5" fill="hold" grpId="0" nodeType="afterEffect">
                                  <p:stCondLst>
                                    <p:cond delay="0"/>
                                  </p:stCondLst>
                                  <p:childTnLst>
                                    <p:set>
                                      <p:cBhvr>
                                        <p:cTn id="19" dur="1" fill="hold">
                                          <p:stCondLst>
                                            <p:cond delay="0"/>
                                          </p:stCondLst>
                                        </p:cTn>
                                        <p:tgtEl>
                                          <p:spTgt spid="177156"/>
                                        </p:tgtEl>
                                        <p:attrNameLst>
                                          <p:attrName>style.visibility</p:attrName>
                                        </p:attrNameLst>
                                      </p:cBhvr>
                                      <p:to>
                                        <p:strVal val="visible"/>
                                      </p:to>
                                    </p:set>
                                    <p:animEffect transition="in" filter="randombar(vertical)">
                                      <p:cBhvr>
                                        <p:cTn id="20" dur="500"/>
                                        <p:tgtEl>
                                          <p:spTgt spid="177156"/>
                                        </p:tgtEl>
                                      </p:cBhvr>
                                    </p:animEffect>
                                  </p:childTnLst>
                                </p:cTn>
                              </p:par>
                            </p:childTnLst>
                          </p:cTn>
                        </p:par>
                        <p:par>
                          <p:cTn id="21" fill="hold" nodeType="afterGroup">
                            <p:stCondLst>
                              <p:cond delay="1500"/>
                            </p:stCondLst>
                            <p:childTnLst>
                              <p:par>
                                <p:cTn id="22" presetID="14" presetClass="entr" presetSubtype="5" fill="hold" grpId="0" nodeType="afterEffect">
                                  <p:stCondLst>
                                    <p:cond delay="0"/>
                                  </p:stCondLst>
                                  <p:childTnLst>
                                    <p:set>
                                      <p:cBhvr>
                                        <p:cTn id="23" dur="1" fill="hold">
                                          <p:stCondLst>
                                            <p:cond delay="0"/>
                                          </p:stCondLst>
                                        </p:cTn>
                                        <p:tgtEl>
                                          <p:spTgt spid="177157"/>
                                        </p:tgtEl>
                                        <p:attrNameLst>
                                          <p:attrName>style.visibility</p:attrName>
                                        </p:attrNameLst>
                                      </p:cBhvr>
                                      <p:to>
                                        <p:strVal val="visible"/>
                                      </p:to>
                                    </p:set>
                                    <p:animEffect transition="in" filter="randombar(vertical)">
                                      <p:cBhvr>
                                        <p:cTn id="24" dur="500"/>
                                        <p:tgtEl>
                                          <p:spTgt spid="177157"/>
                                        </p:tgtEl>
                                      </p:cBhvr>
                                    </p:animEffect>
                                  </p:childTnLst>
                                </p:cTn>
                              </p:par>
                            </p:childTnLst>
                          </p:cTn>
                        </p:par>
                        <p:par>
                          <p:cTn id="25" fill="hold" nodeType="afterGroup">
                            <p:stCondLst>
                              <p:cond delay="2000"/>
                            </p:stCondLst>
                            <p:childTnLst>
                              <p:par>
                                <p:cTn id="26" presetID="14" presetClass="entr" presetSubtype="5" fill="hold" grpId="0" nodeType="afterEffect">
                                  <p:stCondLst>
                                    <p:cond delay="0"/>
                                  </p:stCondLst>
                                  <p:childTnLst>
                                    <p:set>
                                      <p:cBhvr>
                                        <p:cTn id="27" dur="1" fill="hold">
                                          <p:stCondLst>
                                            <p:cond delay="0"/>
                                          </p:stCondLst>
                                        </p:cTn>
                                        <p:tgtEl>
                                          <p:spTgt spid="177158"/>
                                        </p:tgtEl>
                                        <p:attrNameLst>
                                          <p:attrName>style.visibility</p:attrName>
                                        </p:attrNameLst>
                                      </p:cBhvr>
                                      <p:to>
                                        <p:strVal val="visible"/>
                                      </p:to>
                                    </p:set>
                                    <p:animEffect transition="in" filter="randombar(vertical)">
                                      <p:cBhvr>
                                        <p:cTn id="28" dur="500"/>
                                        <p:tgtEl>
                                          <p:spTgt spid="177158"/>
                                        </p:tgtEl>
                                      </p:cBhvr>
                                    </p:animEffect>
                                  </p:childTnLst>
                                </p:cTn>
                              </p:par>
                            </p:childTnLst>
                          </p:cTn>
                        </p:par>
                        <p:par>
                          <p:cTn id="29" fill="hold" nodeType="afterGroup">
                            <p:stCondLst>
                              <p:cond delay="2500"/>
                            </p:stCondLst>
                            <p:childTnLst>
                              <p:par>
                                <p:cTn id="30" presetID="14" presetClass="entr" presetSubtype="5" fill="hold" grpId="0" nodeType="afterEffect">
                                  <p:stCondLst>
                                    <p:cond delay="0"/>
                                  </p:stCondLst>
                                  <p:childTnLst>
                                    <p:set>
                                      <p:cBhvr>
                                        <p:cTn id="31" dur="1" fill="hold">
                                          <p:stCondLst>
                                            <p:cond delay="0"/>
                                          </p:stCondLst>
                                        </p:cTn>
                                        <p:tgtEl>
                                          <p:spTgt spid="177159"/>
                                        </p:tgtEl>
                                        <p:attrNameLst>
                                          <p:attrName>style.visibility</p:attrName>
                                        </p:attrNameLst>
                                      </p:cBhvr>
                                      <p:to>
                                        <p:strVal val="visible"/>
                                      </p:to>
                                    </p:set>
                                    <p:animEffect transition="in" filter="randombar(vertical)">
                                      <p:cBhvr>
                                        <p:cTn id="32" dur="500"/>
                                        <p:tgtEl>
                                          <p:spTgt spid="177159"/>
                                        </p:tgtEl>
                                      </p:cBhvr>
                                    </p:animEffect>
                                  </p:childTnLst>
                                </p:cTn>
                              </p:par>
                            </p:childTnLst>
                          </p:cTn>
                        </p:par>
                        <p:par>
                          <p:cTn id="33" fill="hold" nodeType="afterGroup">
                            <p:stCondLst>
                              <p:cond delay="3000"/>
                            </p:stCondLst>
                            <p:childTnLst>
                              <p:par>
                                <p:cTn id="34" presetID="2" presetClass="entr" presetSubtype="8" fill="hold" grpId="0" nodeType="afterEffect">
                                  <p:stCondLst>
                                    <p:cond delay="0"/>
                                  </p:stCondLst>
                                  <p:childTnLst>
                                    <p:set>
                                      <p:cBhvr>
                                        <p:cTn id="35" dur="1" fill="hold">
                                          <p:stCondLst>
                                            <p:cond delay="0"/>
                                          </p:stCondLst>
                                        </p:cTn>
                                        <p:tgtEl>
                                          <p:spTgt spid="177162"/>
                                        </p:tgtEl>
                                        <p:attrNameLst>
                                          <p:attrName>style.visibility</p:attrName>
                                        </p:attrNameLst>
                                      </p:cBhvr>
                                      <p:to>
                                        <p:strVal val="visible"/>
                                      </p:to>
                                    </p:set>
                                    <p:anim calcmode="lin" valueType="num">
                                      <p:cBhvr additive="base">
                                        <p:cTn id="36" dur="500" fill="hold"/>
                                        <p:tgtEl>
                                          <p:spTgt spid="177162"/>
                                        </p:tgtEl>
                                        <p:attrNameLst>
                                          <p:attrName>ppt_x</p:attrName>
                                        </p:attrNameLst>
                                      </p:cBhvr>
                                      <p:tavLst>
                                        <p:tav tm="0">
                                          <p:val>
                                            <p:strVal val="0-#ppt_w/2"/>
                                          </p:val>
                                        </p:tav>
                                        <p:tav tm="100000">
                                          <p:val>
                                            <p:strVal val="#ppt_x"/>
                                          </p:val>
                                        </p:tav>
                                      </p:tavLst>
                                    </p:anim>
                                    <p:anim calcmode="lin" valueType="num">
                                      <p:cBhvr additive="base">
                                        <p:cTn id="37" dur="500" fill="hold"/>
                                        <p:tgtEl>
                                          <p:spTgt spid="1771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autoUpdateAnimBg="0"/>
      <p:bldP spid="177155" grpId="0" autoUpdateAnimBg="0"/>
      <p:bldP spid="177156" grpId="0" autoUpdateAnimBg="0"/>
      <p:bldP spid="177157" grpId="0" autoUpdateAnimBg="0"/>
      <p:bldP spid="177158" grpId="0" autoUpdateAnimBg="0"/>
      <p:bldP spid="177159" grpId="0" autoUpdateAnimBg="0"/>
      <p:bldP spid="177160" grpId="0" autoUpdateAnimBg="0"/>
      <p:bldP spid="177162"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9" name="Rectangle 3"/>
          <p:cNvSpPr>
            <a:spLocks noChangeArrowheads="1"/>
          </p:cNvSpPr>
          <p:nvPr/>
        </p:nvSpPr>
        <p:spPr bwMode="auto">
          <a:xfrm>
            <a:off x="476250" y="3429000"/>
            <a:ext cx="8280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r>
              <a:rPr kumimoji="0" lang="zh-CN" altLang="en-US" sz="2800" b="1">
                <a:latin typeface="华文楷体" charset="-122"/>
                <a:ea typeface="华文楷体" charset="-122"/>
              </a:rPr>
              <a:t>顺序查找、折半查找、二叉排序树查找等。</a:t>
            </a:r>
          </a:p>
          <a:p>
            <a:r>
              <a:rPr kumimoji="0" lang="zh-CN" altLang="en-US" sz="2800" b="1">
                <a:latin typeface="华文楷体" charset="-122"/>
                <a:ea typeface="华文楷体" charset="-122"/>
              </a:rPr>
              <a:t>这些查找技术都是通过一系列的给定值与关键码的比较，查找效率依赖于查找过程中进行的给定值与关键码的比较次数。</a:t>
            </a:r>
          </a:p>
        </p:txBody>
      </p:sp>
      <p:grpSp>
        <p:nvGrpSpPr>
          <p:cNvPr id="316420" name="Group 4"/>
          <p:cNvGrpSpPr>
            <a:grpSpLocks/>
          </p:cNvGrpSpPr>
          <p:nvPr/>
        </p:nvGrpSpPr>
        <p:grpSpPr bwMode="auto">
          <a:xfrm>
            <a:off x="522288" y="1314450"/>
            <a:ext cx="6837362" cy="519113"/>
            <a:chOff x="385" y="1480"/>
            <a:chExt cx="4307" cy="327"/>
          </a:xfrm>
        </p:grpSpPr>
        <p:sp>
          <p:nvSpPr>
            <p:cNvPr id="316421" name="Text Box 5"/>
            <p:cNvSpPr txBox="1">
              <a:spLocks noChangeArrowheads="1"/>
            </p:cNvSpPr>
            <p:nvPr/>
          </p:nvSpPr>
          <p:spPr bwMode="auto">
            <a:xfrm>
              <a:off x="612" y="1480"/>
              <a:ext cx="40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latin typeface="华文楷体" charset="-122"/>
                  <a:ea typeface="华文楷体" charset="-122"/>
                </a:rPr>
                <a:t>查找操作要完成什么任务？</a:t>
              </a:r>
              <a:endParaRPr kumimoji="0" lang="zh-CN" altLang="en-US">
                <a:latin typeface="华文楷体" charset="-122"/>
                <a:ea typeface="华文楷体" charset="-122"/>
              </a:endParaRPr>
            </a:p>
          </p:txBody>
        </p:sp>
        <p:grpSp>
          <p:nvGrpSpPr>
            <p:cNvPr id="316422" name="Group 6"/>
            <p:cNvGrpSpPr>
              <a:grpSpLocks/>
            </p:cNvGrpSpPr>
            <p:nvPr/>
          </p:nvGrpSpPr>
          <p:grpSpPr bwMode="auto">
            <a:xfrm>
              <a:off x="385" y="1536"/>
              <a:ext cx="200" cy="247"/>
              <a:chOff x="3840" y="1584"/>
              <a:chExt cx="1093" cy="1871"/>
            </a:xfrm>
          </p:grpSpPr>
          <p:sp>
            <p:nvSpPr>
              <p:cNvPr id="316423" name="Rectangle 7"/>
              <p:cNvSpPr>
                <a:spLocks noChangeArrowheads="1"/>
              </p:cNvSpPr>
              <p:nvPr/>
            </p:nvSpPr>
            <p:spPr bwMode="auto">
              <a:xfrm>
                <a:off x="4128" y="3120"/>
                <a:ext cx="347" cy="335"/>
              </a:xfrm>
              <a:prstGeom prst="rect">
                <a:avLst/>
              </a:prstGeom>
              <a:solidFill>
                <a:srgbClr val="8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6424" name="Freeform 8"/>
              <p:cNvSpPr>
                <a:spLocks/>
              </p:cNvSpPr>
              <p:nvPr/>
            </p:nvSpPr>
            <p:spPr bwMode="auto">
              <a:xfrm>
                <a:off x="3840" y="1584"/>
                <a:ext cx="1093" cy="1357"/>
              </a:xfrm>
              <a:custGeom>
                <a:avLst/>
                <a:gdLst>
                  <a:gd name="T0" fmla="*/ 644 w 2185"/>
                  <a:gd name="T1" fmla="*/ 1007 h 2715"/>
                  <a:gd name="T2" fmla="*/ 677 w 2185"/>
                  <a:gd name="T3" fmla="*/ 874 h 2715"/>
                  <a:gd name="T4" fmla="*/ 748 w 2185"/>
                  <a:gd name="T5" fmla="*/ 769 h 2715"/>
                  <a:gd name="T6" fmla="*/ 847 w 2185"/>
                  <a:gd name="T7" fmla="*/ 695 h 2715"/>
                  <a:gd name="T8" fmla="*/ 963 w 2185"/>
                  <a:gd name="T9" fmla="*/ 652 h 2715"/>
                  <a:gd name="T10" fmla="*/ 1090 w 2185"/>
                  <a:gd name="T11" fmla="*/ 644 h 2715"/>
                  <a:gd name="T12" fmla="*/ 1218 w 2185"/>
                  <a:gd name="T13" fmla="*/ 672 h 2715"/>
                  <a:gd name="T14" fmla="*/ 1337 w 2185"/>
                  <a:gd name="T15" fmla="*/ 736 h 2715"/>
                  <a:gd name="T16" fmla="*/ 1435 w 2185"/>
                  <a:gd name="T17" fmla="*/ 833 h 2715"/>
                  <a:gd name="T18" fmla="*/ 1491 w 2185"/>
                  <a:gd name="T19" fmla="*/ 922 h 2715"/>
                  <a:gd name="T20" fmla="*/ 1516 w 2185"/>
                  <a:gd name="T21" fmla="*/ 1012 h 2715"/>
                  <a:gd name="T22" fmla="*/ 1509 w 2185"/>
                  <a:gd name="T23" fmla="*/ 1105 h 2715"/>
                  <a:gd name="T24" fmla="*/ 1469 w 2185"/>
                  <a:gd name="T25" fmla="*/ 1205 h 2715"/>
                  <a:gd name="T26" fmla="*/ 1394 w 2185"/>
                  <a:gd name="T27" fmla="*/ 1315 h 2715"/>
                  <a:gd name="T28" fmla="*/ 1281 w 2185"/>
                  <a:gd name="T29" fmla="*/ 1435 h 2715"/>
                  <a:gd name="T30" fmla="*/ 1131 w 2185"/>
                  <a:gd name="T31" fmla="*/ 1568 h 2715"/>
                  <a:gd name="T32" fmla="*/ 966 w 2185"/>
                  <a:gd name="T33" fmla="*/ 1711 h 2715"/>
                  <a:gd name="T34" fmla="*/ 873 w 2185"/>
                  <a:gd name="T35" fmla="*/ 1834 h 2715"/>
                  <a:gd name="T36" fmla="*/ 795 w 2185"/>
                  <a:gd name="T37" fmla="*/ 1955 h 2715"/>
                  <a:gd name="T38" fmla="*/ 734 w 2185"/>
                  <a:gd name="T39" fmla="*/ 2078 h 2715"/>
                  <a:gd name="T40" fmla="*/ 686 w 2185"/>
                  <a:gd name="T41" fmla="*/ 2202 h 2715"/>
                  <a:gd name="T42" fmla="*/ 654 w 2185"/>
                  <a:gd name="T43" fmla="*/ 2330 h 2715"/>
                  <a:gd name="T44" fmla="*/ 633 w 2185"/>
                  <a:gd name="T45" fmla="*/ 2464 h 2715"/>
                  <a:gd name="T46" fmla="*/ 622 w 2185"/>
                  <a:gd name="T47" fmla="*/ 2604 h 2715"/>
                  <a:gd name="T48" fmla="*/ 1280 w 2185"/>
                  <a:gd name="T49" fmla="*/ 2715 h 2715"/>
                  <a:gd name="T50" fmla="*/ 1279 w 2185"/>
                  <a:gd name="T51" fmla="*/ 2626 h 2715"/>
                  <a:gd name="T52" fmla="*/ 1284 w 2185"/>
                  <a:gd name="T53" fmla="*/ 2541 h 2715"/>
                  <a:gd name="T54" fmla="*/ 1299 w 2185"/>
                  <a:gd name="T55" fmla="*/ 2460 h 2715"/>
                  <a:gd name="T56" fmla="*/ 1322 w 2185"/>
                  <a:gd name="T57" fmla="*/ 2383 h 2715"/>
                  <a:gd name="T58" fmla="*/ 1357 w 2185"/>
                  <a:gd name="T59" fmla="*/ 2309 h 2715"/>
                  <a:gd name="T60" fmla="*/ 1403 w 2185"/>
                  <a:gd name="T61" fmla="*/ 2240 h 2715"/>
                  <a:gd name="T62" fmla="*/ 1462 w 2185"/>
                  <a:gd name="T63" fmla="*/ 2177 h 2715"/>
                  <a:gd name="T64" fmla="*/ 1536 w 2185"/>
                  <a:gd name="T65" fmla="*/ 2117 h 2715"/>
                  <a:gd name="T66" fmla="*/ 1647 w 2185"/>
                  <a:gd name="T67" fmla="*/ 2035 h 2715"/>
                  <a:gd name="T68" fmla="*/ 1760 w 2185"/>
                  <a:gd name="T69" fmla="*/ 1939 h 2715"/>
                  <a:gd name="T70" fmla="*/ 1870 w 2185"/>
                  <a:gd name="T71" fmla="*/ 1832 h 2715"/>
                  <a:gd name="T72" fmla="*/ 1970 w 2185"/>
                  <a:gd name="T73" fmla="*/ 1711 h 2715"/>
                  <a:gd name="T74" fmla="*/ 2057 w 2185"/>
                  <a:gd name="T75" fmla="*/ 1578 h 2715"/>
                  <a:gd name="T76" fmla="*/ 2125 w 2185"/>
                  <a:gd name="T77" fmla="*/ 1435 h 2715"/>
                  <a:gd name="T78" fmla="*/ 2170 w 2185"/>
                  <a:gd name="T79" fmla="*/ 1281 h 2715"/>
                  <a:gd name="T80" fmla="*/ 2185 w 2185"/>
                  <a:gd name="T81" fmla="*/ 1118 h 2715"/>
                  <a:gd name="T82" fmla="*/ 2163 w 2185"/>
                  <a:gd name="T83" fmla="*/ 869 h 2715"/>
                  <a:gd name="T84" fmla="*/ 2100 w 2185"/>
                  <a:gd name="T85" fmla="*/ 651 h 2715"/>
                  <a:gd name="T86" fmla="*/ 2000 w 2185"/>
                  <a:gd name="T87" fmla="*/ 463 h 2715"/>
                  <a:gd name="T88" fmla="*/ 1871 w 2185"/>
                  <a:gd name="T89" fmla="*/ 308 h 2715"/>
                  <a:gd name="T90" fmla="*/ 1721 w 2185"/>
                  <a:gd name="T91" fmla="*/ 183 h 2715"/>
                  <a:gd name="T92" fmla="*/ 1554 w 2185"/>
                  <a:gd name="T93" fmla="*/ 91 h 2715"/>
                  <a:gd name="T94" fmla="*/ 1379 w 2185"/>
                  <a:gd name="T95" fmla="*/ 31 h 2715"/>
                  <a:gd name="T96" fmla="*/ 1201 w 2185"/>
                  <a:gd name="T97" fmla="*/ 5 h 2715"/>
                  <a:gd name="T98" fmla="*/ 954 w 2185"/>
                  <a:gd name="T99" fmla="*/ 5 h 2715"/>
                  <a:gd name="T100" fmla="*/ 724 w 2185"/>
                  <a:gd name="T101" fmla="*/ 42 h 2715"/>
                  <a:gd name="T102" fmla="*/ 519 w 2185"/>
                  <a:gd name="T103" fmla="*/ 112 h 2715"/>
                  <a:gd name="T104" fmla="*/ 343 w 2185"/>
                  <a:gd name="T105" fmla="*/ 217 h 2715"/>
                  <a:gd name="T106" fmla="*/ 199 w 2185"/>
                  <a:gd name="T107" fmla="*/ 354 h 2715"/>
                  <a:gd name="T108" fmla="*/ 91 w 2185"/>
                  <a:gd name="T109" fmla="*/ 521 h 2715"/>
                  <a:gd name="T110" fmla="*/ 23 w 2185"/>
                  <a:gd name="T111" fmla="*/ 717 h 2715"/>
                  <a:gd name="T112" fmla="*/ 0 w 2185"/>
                  <a:gd name="T113" fmla="*/ 940 h 2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85" h="2715">
                    <a:moveTo>
                      <a:pt x="0" y="1340"/>
                    </a:moveTo>
                    <a:lnTo>
                      <a:pt x="643" y="1340"/>
                    </a:lnTo>
                    <a:lnTo>
                      <a:pt x="643" y="1044"/>
                    </a:lnTo>
                    <a:lnTo>
                      <a:pt x="644" y="1007"/>
                    </a:lnTo>
                    <a:lnTo>
                      <a:pt x="648" y="970"/>
                    </a:lnTo>
                    <a:lnTo>
                      <a:pt x="655" y="937"/>
                    </a:lnTo>
                    <a:lnTo>
                      <a:pt x="666" y="903"/>
                    </a:lnTo>
                    <a:lnTo>
                      <a:pt x="677" y="874"/>
                    </a:lnTo>
                    <a:lnTo>
                      <a:pt x="692" y="845"/>
                    </a:lnTo>
                    <a:lnTo>
                      <a:pt x="708" y="818"/>
                    </a:lnTo>
                    <a:lnTo>
                      <a:pt x="728" y="793"/>
                    </a:lnTo>
                    <a:lnTo>
                      <a:pt x="748" y="769"/>
                    </a:lnTo>
                    <a:lnTo>
                      <a:pt x="771" y="748"/>
                    </a:lnTo>
                    <a:lnTo>
                      <a:pt x="794" y="728"/>
                    </a:lnTo>
                    <a:lnTo>
                      <a:pt x="819" y="711"/>
                    </a:lnTo>
                    <a:lnTo>
                      <a:pt x="847" y="695"/>
                    </a:lnTo>
                    <a:lnTo>
                      <a:pt x="874" y="681"/>
                    </a:lnTo>
                    <a:lnTo>
                      <a:pt x="903" y="670"/>
                    </a:lnTo>
                    <a:lnTo>
                      <a:pt x="933" y="660"/>
                    </a:lnTo>
                    <a:lnTo>
                      <a:pt x="963" y="652"/>
                    </a:lnTo>
                    <a:lnTo>
                      <a:pt x="994" y="648"/>
                    </a:lnTo>
                    <a:lnTo>
                      <a:pt x="1025" y="644"/>
                    </a:lnTo>
                    <a:lnTo>
                      <a:pt x="1057" y="643"/>
                    </a:lnTo>
                    <a:lnTo>
                      <a:pt x="1090" y="644"/>
                    </a:lnTo>
                    <a:lnTo>
                      <a:pt x="1122" y="648"/>
                    </a:lnTo>
                    <a:lnTo>
                      <a:pt x="1154" y="653"/>
                    </a:lnTo>
                    <a:lnTo>
                      <a:pt x="1186" y="662"/>
                    </a:lnTo>
                    <a:lnTo>
                      <a:pt x="1218" y="672"/>
                    </a:lnTo>
                    <a:lnTo>
                      <a:pt x="1249" y="683"/>
                    </a:lnTo>
                    <a:lnTo>
                      <a:pt x="1279" y="700"/>
                    </a:lnTo>
                    <a:lnTo>
                      <a:pt x="1309" y="717"/>
                    </a:lnTo>
                    <a:lnTo>
                      <a:pt x="1337" y="736"/>
                    </a:lnTo>
                    <a:lnTo>
                      <a:pt x="1365" y="758"/>
                    </a:lnTo>
                    <a:lnTo>
                      <a:pt x="1392" y="784"/>
                    </a:lnTo>
                    <a:lnTo>
                      <a:pt x="1417" y="811"/>
                    </a:lnTo>
                    <a:lnTo>
                      <a:pt x="1435" y="833"/>
                    </a:lnTo>
                    <a:lnTo>
                      <a:pt x="1451" y="855"/>
                    </a:lnTo>
                    <a:lnTo>
                      <a:pt x="1466" y="878"/>
                    </a:lnTo>
                    <a:lnTo>
                      <a:pt x="1480" y="900"/>
                    </a:lnTo>
                    <a:lnTo>
                      <a:pt x="1491" y="922"/>
                    </a:lnTo>
                    <a:lnTo>
                      <a:pt x="1501" y="944"/>
                    </a:lnTo>
                    <a:lnTo>
                      <a:pt x="1507" y="966"/>
                    </a:lnTo>
                    <a:lnTo>
                      <a:pt x="1514" y="989"/>
                    </a:lnTo>
                    <a:lnTo>
                      <a:pt x="1516" y="1012"/>
                    </a:lnTo>
                    <a:lnTo>
                      <a:pt x="1518" y="1035"/>
                    </a:lnTo>
                    <a:lnTo>
                      <a:pt x="1517" y="1058"/>
                    </a:lnTo>
                    <a:lnTo>
                      <a:pt x="1514" y="1082"/>
                    </a:lnTo>
                    <a:lnTo>
                      <a:pt x="1509" y="1105"/>
                    </a:lnTo>
                    <a:lnTo>
                      <a:pt x="1502" y="1130"/>
                    </a:lnTo>
                    <a:lnTo>
                      <a:pt x="1493" y="1155"/>
                    </a:lnTo>
                    <a:lnTo>
                      <a:pt x="1481" y="1180"/>
                    </a:lnTo>
                    <a:lnTo>
                      <a:pt x="1469" y="1205"/>
                    </a:lnTo>
                    <a:lnTo>
                      <a:pt x="1454" y="1232"/>
                    </a:lnTo>
                    <a:lnTo>
                      <a:pt x="1435" y="1260"/>
                    </a:lnTo>
                    <a:lnTo>
                      <a:pt x="1415" y="1287"/>
                    </a:lnTo>
                    <a:lnTo>
                      <a:pt x="1394" y="1315"/>
                    </a:lnTo>
                    <a:lnTo>
                      <a:pt x="1369" y="1344"/>
                    </a:lnTo>
                    <a:lnTo>
                      <a:pt x="1342" y="1374"/>
                    </a:lnTo>
                    <a:lnTo>
                      <a:pt x="1312" y="1404"/>
                    </a:lnTo>
                    <a:lnTo>
                      <a:pt x="1281" y="1435"/>
                    </a:lnTo>
                    <a:lnTo>
                      <a:pt x="1248" y="1467"/>
                    </a:lnTo>
                    <a:lnTo>
                      <a:pt x="1212" y="1500"/>
                    </a:lnTo>
                    <a:lnTo>
                      <a:pt x="1173" y="1534"/>
                    </a:lnTo>
                    <a:lnTo>
                      <a:pt x="1131" y="1568"/>
                    </a:lnTo>
                    <a:lnTo>
                      <a:pt x="1087" y="1604"/>
                    </a:lnTo>
                    <a:lnTo>
                      <a:pt x="1042" y="1641"/>
                    </a:lnTo>
                    <a:lnTo>
                      <a:pt x="994" y="1679"/>
                    </a:lnTo>
                    <a:lnTo>
                      <a:pt x="966" y="1711"/>
                    </a:lnTo>
                    <a:lnTo>
                      <a:pt x="942" y="1741"/>
                    </a:lnTo>
                    <a:lnTo>
                      <a:pt x="918" y="1772"/>
                    </a:lnTo>
                    <a:lnTo>
                      <a:pt x="894" y="1803"/>
                    </a:lnTo>
                    <a:lnTo>
                      <a:pt x="873" y="1834"/>
                    </a:lnTo>
                    <a:lnTo>
                      <a:pt x="851" y="1864"/>
                    </a:lnTo>
                    <a:lnTo>
                      <a:pt x="832" y="1896"/>
                    </a:lnTo>
                    <a:lnTo>
                      <a:pt x="813" y="1924"/>
                    </a:lnTo>
                    <a:lnTo>
                      <a:pt x="795" y="1955"/>
                    </a:lnTo>
                    <a:lnTo>
                      <a:pt x="779" y="1985"/>
                    </a:lnTo>
                    <a:lnTo>
                      <a:pt x="761" y="2017"/>
                    </a:lnTo>
                    <a:lnTo>
                      <a:pt x="748" y="2048"/>
                    </a:lnTo>
                    <a:lnTo>
                      <a:pt x="734" y="2078"/>
                    </a:lnTo>
                    <a:lnTo>
                      <a:pt x="721" y="2109"/>
                    </a:lnTo>
                    <a:lnTo>
                      <a:pt x="708" y="2140"/>
                    </a:lnTo>
                    <a:lnTo>
                      <a:pt x="698" y="2171"/>
                    </a:lnTo>
                    <a:lnTo>
                      <a:pt x="686" y="2202"/>
                    </a:lnTo>
                    <a:lnTo>
                      <a:pt x="677" y="2233"/>
                    </a:lnTo>
                    <a:lnTo>
                      <a:pt x="669" y="2265"/>
                    </a:lnTo>
                    <a:lnTo>
                      <a:pt x="661" y="2298"/>
                    </a:lnTo>
                    <a:lnTo>
                      <a:pt x="654" y="2330"/>
                    </a:lnTo>
                    <a:lnTo>
                      <a:pt x="647" y="2362"/>
                    </a:lnTo>
                    <a:lnTo>
                      <a:pt x="642" y="2397"/>
                    </a:lnTo>
                    <a:lnTo>
                      <a:pt x="637" y="2429"/>
                    </a:lnTo>
                    <a:lnTo>
                      <a:pt x="633" y="2464"/>
                    </a:lnTo>
                    <a:lnTo>
                      <a:pt x="629" y="2498"/>
                    </a:lnTo>
                    <a:lnTo>
                      <a:pt x="627" y="2533"/>
                    </a:lnTo>
                    <a:lnTo>
                      <a:pt x="623" y="2567"/>
                    </a:lnTo>
                    <a:lnTo>
                      <a:pt x="622" y="2604"/>
                    </a:lnTo>
                    <a:lnTo>
                      <a:pt x="621" y="2640"/>
                    </a:lnTo>
                    <a:lnTo>
                      <a:pt x="620" y="2677"/>
                    </a:lnTo>
                    <a:lnTo>
                      <a:pt x="620" y="2715"/>
                    </a:lnTo>
                    <a:lnTo>
                      <a:pt x="1280" y="2715"/>
                    </a:lnTo>
                    <a:lnTo>
                      <a:pt x="1280" y="2692"/>
                    </a:lnTo>
                    <a:lnTo>
                      <a:pt x="1279" y="2670"/>
                    </a:lnTo>
                    <a:lnTo>
                      <a:pt x="1279" y="2648"/>
                    </a:lnTo>
                    <a:lnTo>
                      <a:pt x="1279" y="2626"/>
                    </a:lnTo>
                    <a:lnTo>
                      <a:pt x="1280" y="2604"/>
                    </a:lnTo>
                    <a:lnTo>
                      <a:pt x="1281" y="2582"/>
                    </a:lnTo>
                    <a:lnTo>
                      <a:pt x="1282" y="2562"/>
                    </a:lnTo>
                    <a:lnTo>
                      <a:pt x="1284" y="2541"/>
                    </a:lnTo>
                    <a:lnTo>
                      <a:pt x="1287" y="2520"/>
                    </a:lnTo>
                    <a:lnTo>
                      <a:pt x="1291" y="2499"/>
                    </a:lnTo>
                    <a:lnTo>
                      <a:pt x="1295" y="2480"/>
                    </a:lnTo>
                    <a:lnTo>
                      <a:pt x="1299" y="2460"/>
                    </a:lnTo>
                    <a:lnTo>
                      <a:pt x="1304" y="2441"/>
                    </a:lnTo>
                    <a:lnTo>
                      <a:pt x="1310" y="2421"/>
                    </a:lnTo>
                    <a:lnTo>
                      <a:pt x="1316" y="2401"/>
                    </a:lnTo>
                    <a:lnTo>
                      <a:pt x="1322" y="2383"/>
                    </a:lnTo>
                    <a:lnTo>
                      <a:pt x="1329" y="2365"/>
                    </a:lnTo>
                    <a:lnTo>
                      <a:pt x="1339" y="2345"/>
                    </a:lnTo>
                    <a:lnTo>
                      <a:pt x="1347" y="2328"/>
                    </a:lnTo>
                    <a:lnTo>
                      <a:pt x="1357" y="2309"/>
                    </a:lnTo>
                    <a:lnTo>
                      <a:pt x="1367" y="2292"/>
                    </a:lnTo>
                    <a:lnTo>
                      <a:pt x="1379" y="2275"/>
                    </a:lnTo>
                    <a:lnTo>
                      <a:pt x="1390" y="2257"/>
                    </a:lnTo>
                    <a:lnTo>
                      <a:pt x="1403" y="2240"/>
                    </a:lnTo>
                    <a:lnTo>
                      <a:pt x="1417" y="2224"/>
                    </a:lnTo>
                    <a:lnTo>
                      <a:pt x="1431" y="2208"/>
                    </a:lnTo>
                    <a:lnTo>
                      <a:pt x="1446" y="2193"/>
                    </a:lnTo>
                    <a:lnTo>
                      <a:pt x="1462" y="2177"/>
                    </a:lnTo>
                    <a:lnTo>
                      <a:pt x="1479" y="2161"/>
                    </a:lnTo>
                    <a:lnTo>
                      <a:pt x="1496" y="2146"/>
                    </a:lnTo>
                    <a:lnTo>
                      <a:pt x="1516" y="2131"/>
                    </a:lnTo>
                    <a:lnTo>
                      <a:pt x="1536" y="2117"/>
                    </a:lnTo>
                    <a:lnTo>
                      <a:pt x="1563" y="2097"/>
                    </a:lnTo>
                    <a:lnTo>
                      <a:pt x="1591" y="2078"/>
                    </a:lnTo>
                    <a:lnTo>
                      <a:pt x="1619" y="2057"/>
                    </a:lnTo>
                    <a:lnTo>
                      <a:pt x="1647" y="2035"/>
                    </a:lnTo>
                    <a:lnTo>
                      <a:pt x="1676" y="2012"/>
                    </a:lnTo>
                    <a:lnTo>
                      <a:pt x="1704" y="1989"/>
                    </a:lnTo>
                    <a:lnTo>
                      <a:pt x="1731" y="1964"/>
                    </a:lnTo>
                    <a:lnTo>
                      <a:pt x="1760" y="1939"/>
                    </a:lnTo>
                    <a:lnTo>
                      <a:pt x="1788" y="1914"/>
                    </a:lnTo>
                    <a:lnTo>
                      <a:pt x="1816" y="1887"/>
                    </a:lnTo>
                    <a:lnTo>
                      <a:pt x="1843" y="1861"/>
                    </a:lnTo>
                    <a:lnTo>
                      <a:pt x="1870" y="1832"/>
                    </a:lnTo>
                    <a:lnTo>
                      <a:pt x="1896" y="1802"/>
                    </a:lnTo>
                    <a:lnTo>
                      <a:pt x="1922" y="1772"/>
                    </a:lnTo>
                    <a:lnTo>
                      <a:pt x="1946" y="1742"/>
                    </a:lnTo>
                    <a:lnTo>
                      <a:pt x="1970" y="1711"/>
                    </a:lnTo>
                    <a:lnTo>
                      <a:pt x="1993" y="1679"/>
                    </a:lnTo>
                    <a:lnTo>
                      <a:pt x="2016" y="1647"/>
                    </a:lnTo>
                    <a:lnTo>
                      <a:pt x="2037" y="1612"/>
                    </a:lnTo>
                    <a:lnTo>
                      <a:pt x="2057" y="1578"/>
                    </a:lnTo>
                    <a:lnTo>
                      <a:pt x="2076" y="1544"/>
                    </a:lnTo>
                    <a:lnTo>
                      <a:pt x="2093" y="1507"/>
                    </a:lnTo>
                    <a:lnTo>
                      <a:pt x="2110" y="1472"/>
                    </a:lnTo>
                    <a:lnTo>
                      <a:pt x="2125" y="1435"/>
                    </a:lnTo>
                    <a:lnTo>
                      <a:pt x="2138" y="1398"/>
                    </a:lnTo>
                    <a:lnTo>
                      <a:pt x="2151" y="1360"/>
                    </a:lnTo>
                    <a:lnTo>
                      <a:pt x="2161" y="1321"/>
                    </a:lnTo>
                    <a:lnTo>
                      <a:pt x="2170" y="1281"/>
                    </a:lnTo>
                    <a:lnTo>
                      <a:pt x="2177" y="1242"/>
                    </a:lnTo>
                    <a:lnTo>
                      <a:pt x="2182" y="1201"/>
                    </a:lnTo>
                    <a:lnTo>
                      <a:pt x="2185" y="1160"/>
                    </a:lnTo>
                    <a:lnTo>
                      <a:pt x="2185" y="1118"/>
                    </a:lnTo>
                    <a:lnTo>
                      <a:pt x="2184" y="1053"/>
                    </a:lnTo>
                    <a:lnTo>
                      <a:pt x="2181" y="990"/>
                    </a:lnTo>
                    <a:lnTo>
                      <a:pt x="2174" y="929"/>
                    </a:lnTo>
                    <a:lnTo>
                      <a:pt x="2163" y="869"/>
                    </a:lnTo>
                    <a:lnTo>
                      <a:pt x="2151" y="811"/>
                    </a:lnTo>
                    <a:lnTo>
                      <a:pt x="2136" y="756"/>
                    </a:lnTo>
                    <a:lnTo>
                      <a:pt x="2119" y="703"/>
                    </a:lnTo>
                    <a:lnTo>
                      <a:pt x="2100" y="651"/>
                    </a:lnTo>
                    <a:lnTo>
                      <a:pt x="2078" y="600"/>
                    </a:lnTo>
                    <a:lnTo>
                      <a:pt x="2054" y="553"/>
                    </a:lnTo>
                    <a:lnTo>
                      <a:pt x="2028" y="507"/>
                    </a:lnTo>
                    <a:lnTo>
                      <a:pt x="2000" y="463"/>
                    </a:lnTo>
                    <a:lnTo>
                      <a:pt x="1970" y="422"/>
                    </a:lnTo>
                    <a:lnTo>
                      <a:pt x="1939" y="382"/>
                    </a:lnTo>
                    <a:lnTo>
                      <a:pt x="1905" y="344"/>
                    </a:lnTo>
                    <a:lnTo>
                      <a:pt x="1871" y="308"/>
                    </a:lnTo>
                    <a:lnTo>
                      <a:pt x="1835" y="273"/>
                    </a:lnTo>
                    <a:lnTo>
                      <a:pt x="1798" y="242"/>
                    </a:lnTo>
                    <a:lnTo>
                      <a:pt x="1760" y="212"/>
                    </a:lnTo>
                    <a:lnTo>
                      <a:pt x="1721" y="183"/>
                    </a:lnTo>
                    <a:lnTo>
                      <a:pt x="1681" y="158"/>
                    </a:lnTo>
                    <a:lnTo>
                      <a:pt x="1639" y="134"/>
                    </a:lnTo>
                    <a:lnTo>
                      <a:pt x="1597" y="112"/>
                    </a:lnTo>
                    <a:lnTo>
                      <a:pt x="1554" y="91"/>
                    </a:lnTo>
                    <a:lnTo>
                      <a:pt x="1511" y="74"/>
                    </a:lnTo>
                    <a:lnTo>
                      <a:pt x="1468" y="58"/>
                    </a:lnTo>
                    <a:lnTo>
                      <a:pt x="1424" y="44"/>
                    </a:lnTo>
                    <a:lnTo>
                      <a:pt x="1379" y="31"/>
                    </a:lnTo>
                    <a:lnTo>
                      <a:pt x="1335" y="22"/>
                    </a:lnTo>
                    <a:lnTo>
                      <a:pt x="1290" y="14"/>
                    </a:lnTo>
                    <a:lnTo>
                      <a:pt x="1246" y="8"/>
                    </a:lnTo>
                    <a:lnTo>
                      <a:pt x="1201" y="5"/>
                    </a:lnTo>
                    <a:lnTo>
                      <a:pt x="1138" y="1"/>
                    </a:lnTo>
                    <a:lnTo>
                      <a:pt x="1075" y="0"/>
                    </a:lnTo>
                    <a:lnTo>
                      <a:pt x="1013" y="1"/>
                    </a:lnTo>
                    <a:lnTo>
                      <a:pt x="954" y="5"/>
                    </a:lnTo>
                    <a:lnTo>
                      <a:pt x="894" y="11"/>
                    </a:lnTo>
                    <a:lnTo>
                      <a:pt x="836" y="19"/>
                    </a:lnTo>
                    <a:lnTo>
                      <a:pt x="780" y="29"/>
                    </a:lnTo>
                    <a:lnTo>
                      <a:pt x="724" y="42"/>
                    </a:lnTo>
                    <a:lnTo>
                      <a:pt x="671" y="55"/>
                    </a:lnTo>
                    <a:lnTo>
                      <a:pt x="619" y="72"/>
                    </a:lnTo>
                    <a:lnTo>
                      <a:pt x="569" y="91"/>
                    </a:lnTo>
                    <a:lnTo>
                      <a:pt x="519" y="112"/>
                    </a:lnTo>
                    <a:lnTo>
                      <a:pt x="473" y="136"/>
                    </a:lnTo>
                    <a:lnTo>
                      <a:pt x="428" y="160"/>
                    </a:lnTo>
                    <a:lnTo>
                      <a:pt x="385" y="187"/>
                    </a:lnTo>
                    <a:lnTo>
                      <a:pt x="343" y="217"/>
                    </a:lnTo>
                    <a:lnTo>
                      <a:pt x="304" y="248"/>
                    </a:lnTo>
                    <a:lnTo>
                      <a:pt x="267" y="281"/>
                    </a:lnTo>
                    <a:lnTo>
                      <a:pt x="231" y="316"/>
                    </a:lnTo>
                    <a:lnTo>
                      <a:pt x="199" y="354"/>
                    </a:lnTo>
                    <a:lnTo>
                      <a:pt x="168" y="393"/>
                    </a:lnTo>
                    <a:lnTo>
                      <a:pt x="140" y="433"/>
                    </a:lnTo>
                    <a:lnTo>
                      <a:pt x="114" y="476"/>
                    </a:lnTo>
                    <a:lnTo>
                      <a:pt x="91" y="521"/>
                    </a:lnTo>
                    <a:lnTo>
                      <a:pt x="70" y="567"/>
                    </a:lnTo>
                    <a:lnTo>
                      <a:pt x="52" y="615"/>
                    </a:lnTo>
                    <a:lnTo>
                      <a:pt x="37" y="665"/>
                    </a:lnTo>
                    <a:lnTo>
                      <a:pt x="23" y="717"/>
                    </a:lnTo>
                    <a:lnTo>
                      <a:pt x="13" y="770"/>
                    </a:lnTo>
                    <a:lnTo>
                      <a:pt x="6" y="825"/>
                    </a:lnTo>
                    <a:lnTo>
                      <a:pt x="1" y="883"/>
                    </a:lnTo>
                    <a:lnTo>
                      <a:pt x="0" y="940"/>
                    </a:lnTo>
                    <a:lnTo>
                      <a:pt x="0" y="1340"/>
                    </a:lnTo>
                    <a:close/>
                  </a:path>
                </a:pathLst>
              </a:custGeom>
              <a:solidFill>
                <a:srgbClr val="800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316425" name="Group 9"/>
          <p:cNvGrpSpPr>
            <a:grpSpLocks/>
          </p:cNvGrpSpPr>
          <p:nvPr/>
        </p:nvGrpSpPr>
        <p:grpSpPr bwMode="auto">
          <a:xfrm>
            <a:off x="701675" y="1989138"/>
            <a:ext cx="6677025" cy="608012"/>
            <a:chOff x="470" y="1338"/>
            <a:chExt cx="4206" cy="383"/>
          </a:xfrm>
        </p:grpSpPr>
        <p:sp>
          <p:nvSpPr>
            <p:cNvPr id="316426" name="Text Box 10"/>
            <p:cNvSpPr txBox="1">
              <a:spLocks noChangeArrowheads="1"/>
            </p:cNvSpPr>
            <p:nvPr/>
          </p:nvSpPr>
          <p:spPr bwMode="auto">
            <a:xfrm>
              <a:off x="470" y="1338"/>
              <a:ext cx="936" cy="34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spcBef>
                  <a:spcPct val="50000"/>
                </a:spcBef>
              </a:pPr>
              <a:r>
                <a:rPr kumimoji="0" lang="zh-CN" altLang="en-US" sz="2800" b="1">
                  <a:latin typeface="华文楷体" charset="-122"/>
                  <a:ea typeface="华文楷体" charset="-122"/>
                </a:rPr>
                <a:t>待查值</a:t>
              </a:r>
              <a:r>
                <a:rPr kumimoji="0" lang="en-US" altLang="zh-CN" sz="2800" b="1" i="1">
                  <a:latin typeface="华文楷体" charset="-122"/>
                  <a:ea typeface="华文楷体" charset="-122"/>
                </a:rPr>
                <a:t>k</a:t>
              </a:r>
              <a:endParaRPr kumimoji="0" lang="en-US" altLang="zh-CN" sz="2800" b="1">
                <a:latin typeface="华文楷体" charset="-122"/>
                <a:ea typeface="华文楷体" charset="-122"/>
              </a:endParaRPr>
            </a:p>
          </p:txBody>
        </p:sp>
        <p:sp>
          <p:nvSpPr>
            <p:cNvPr id="316427" name="Rectangle 11"/>
            <p:cNvSpPr>
              <a:spLocks noChangeArrowheads="1"/>
            </p:cNvSpPr>
            <p:nvPr/>
          </p:nvSpPr>
          <p:spPr bwMode="auto">
            <a:xfrm>
              <a:off x="1973" y="1376"/>
              <a:ext cx="2703" cy="34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spAutoFit/>
            </a:bodyPr>
            <a:lstStyle/>
            <a:p>
              <a:r>
                <a:rPr kumimoji="0" lang="zh-CN" altLang="en-US" sz="2800" b="1">
                  <a:latin typeface="华文楷体" charset="-122"/>
                  <a:ea typeface="华文楷体" charset="-122"/>
                </a:rPr>
                <a:t>确定</a:t>
              </a:r>
              <a:r>
                <a:rPr kumimoji="0" lang="en-US" altLang="zh-CN" sz="2800" b="1" i="1">
                  <a:latin typeface="华文楷体" charset="-122"/>
                  <a:ea typeface="华文楷体" charset="-122"/>
                </a:rPr>
                <a:t>k</a:t>
              </a:r>
              <a:r>
                <a:rPr kumimoji="0" lang="zh-CN" altLang="en-US" sz="2800" b="1">
                  <a:latin typeface="华文楷体" charset="-122"/>
                  <a:ea typeface="华文楷体" charset="-122"/>
                </a:rPr>
                <a:t>在存储结构中的位置</a:t>
              </a:r>
            </a:p>
          </p:txBody>
        </p:sp>
        <p:sp>
          <p:nvSpPr>
            <p:cNvPr id="316428" name="AutoShape 12"/>
            <p:cNvSpPr>
              <a:spLocks noChangeArrowheads="1"/>
            </p:cNvSpPr>
            <p:nvPr/>
          </p:nvSpPr>
          <p:spPr bwMode="auto">
            <a:xfrm>
              <a:off x="1463" y="1423"/>
              <a:ext cx="454" cy="198"/>
            </a:xfrm>
            <a:prstGeom prst="rightArrow">
              <a:avLst>
                <a:gd name="adj1" fmla="val 50000"/>
                <a:gd name="adj2" fmla="val 57323"/>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endParaRPr lang="zh-CN" altLang="en-US"/>
            </a:p>
          </p:txBody>
        </p:sp>
      </p:grpSp>
      <p:grpSp>
        <p:nvGrpSpPr>
          <p:cNvPr id="316429" name="Group 13"/>
          <p:cNvGrpSpPr>
            <a:grpSpLocks/>
          </p:cNvGrpSpPr>
          <p:nvPr/>
        </p:nvGrpSpPr>
        <p:grpSpPr bwMode="auto">
          <a:xfrm>
            <a:off x="522288" y="2754313"/>
            <a:ext cx="8142287" cy="539750"/>
            <a:chOff x="339" y="1848"/>
            <a:chExt cx="5129" cy="340"/>
          </a:xfrm>
        </p:grpSpPr>
        <p:sp>
          <p:nvSpPr>
            <p:cNvPr id="316430" name="Text Box 14"/>
            <p:cNvSpPr txBox="1">
              <a:spLocks noChangeArrowheads="1"/>
            </p:cNvSpPr>
            <p:nvPr/>
          </p:nvSpPr>
          <p:spPr bwMode="auto">
            <a:xfrm>
              <a:off x="578" y="1848"/>
              <a:ext cx="48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latin typeface="华文楷体" charset="-122"/>
                  <a:ea typeface="华文楷体" charset="-122"/>
                </a:rPr>
                <a:t>我们学过哪些查找技术？这些查找技术的共性？</a:t>
              </a:r>
              <a:endParaRPr kumimoji="0" lang="zh-CN" altLang="en-US">
                <a:latin typeface="华文楷体" charset="-122"/>
                <a:ea typeface="华文楷体" charset="-122"/>
              </a:endParaRPr>
            </a:p>
          </p:txBody>
        </p:sp>
        <p:grpSp>
          <p:nvGrpSpPr>
            <p:cNvPr id="316431" name="Group 15"/>
            <p:cNvGrpSpPr>
              <a:grpSpLocks/>
            </p:cNvGrpSpPr>
            <p:nvPr/>
          </p:nvGrpSpPr>
          <p:grpSpPr bwMode="auto">
            <a:xfrm>
              <a:off x="339" y="1904"/>
              <a:ext cx="188" cy="284"/>
              <a:chOff x="3840" y="1584"/>
              <a:chExt cx="1093" cy="1871"/>
            </a:xfrm>
          </p:grpSpPr>
          <p:sp>
            <p:nvSpPr>
              <p:cNvPr id="316432" name="Rectangle 16"/>
              <p:cNvSpPr>
                <a:spLocks noChangeArrowheads="1"/>
              </p:cNvSpPr>
              <p:nvPr/>
            </p:nvSpPr>
            <p:spPr bwMode="auto">
              <a:xfrm>
                <a:off x="4128" y="3120"/>
                <a:ext cx="347" cy="335"/>
              </a:xfrm>
              <a:prstGeom prst="rect">
                <a:avLst/>
              </a:prstGeom>
              <a:solidFill>
                <a:srgbClr val="8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6433" name="Freeform 17"/>
              <p:cNvSpPr>
                <a:spLocks/>
              </p:cNvSpPr>
              <p:nvPr/>
            </p:nvSpPr>
            <p:spPr bwMode="auto">
              <a:xfrm>
                <a:off x="3840" y="1584"/>
                <a:ext cx="1093" cy="1357"/>
              </a:xfrm>
              <a:custGeom>
                <a:avLst/>
                <a:gdLst>
                  <a:gd name="T0" fmla="*/ 644 w 2185"/>
                  <a:gd name="T1" fmla="*/ 1007 h 2715"/>
                  <a:gd name="T2" fmla="*/ 677 w 2185"/>
                  <a:gd name="T3" fmla="*/ 874 h 2715"/>
                  <a:gd name="T4" fmla="*/ 748 w 2185"/>
                  <a:gd name="T5" fmla="*/ 769 h 2715"/>
                  <a:gd name="T6" fmla="*/ 847 w 2185"/>
                  <a:gd name="T7" fmla="*/ 695 h 2715"/>
                  <a:gd name="T8" fmla="*/ 963 w 2185"/>
                  <a:gd name="T9" fmla="*/ 652 h 2715"/>
                  <a:gd name="T10" fmla="*/ 1090 w 2185"/>
                  <a:gd name="T11" fmla="*/ 644 h 2715"/>
                  <a:gd name="T12" fmla="*/ 1218 w 2185"/>
                  <a:gd name="T13" fmla="*/ 672 h 2715"/>
                  <a:gd name="T14" fmla="*/ 1337 w 2185"/>
                  <a:gd name="T15" fmla="*/ 736 h 2715"/>
                  <a:gd name="T16" fmla="*/ 1435 w 2185"/>
                  <a:gd name="T17" fmla="*/ 833 h 2715"/>
                  <a:gd name="T18" fmla="*/ 1491 w 2185"/>
                  <a:gd name="T19" fmla="*/ 922 h 2715"/>
                  <a:gd name="T20" fmla="*/ 1516 w 2185"/>
                  <a:gd name="T21" fmla="*/ 1012 h 2715"/>
                  <a:gd name="T22" fmla="*/ 1509 w 2185"/>
                  <a:gd name="T23" fmla="*/ 1105 h 2715"/>
                  <a:gd name="T24" fmla="*/ 1469 w 2185"/>
                  <a:gd name="T25" fmla="*/ 1205 h 2715"/>
                  <a:gd name="T26" fmla="*/ 1394 w 2185"/>
                  <a:gd name="T27" fmla="*/ 1315 h 2715"/>
                  <a:gd name="T28" fmla="*/ 1281 w 2185"/>
                  <a:gd name="T29" fmla="*/ 1435 h 2715"/>
                  <a:gd name="T30" fmla="*/ 1131 w 2185"/>
                  <a:gd name="T31" fmla="*/ 1568 h 2715"/>
                  <a:gd name="T32" fmla="*/ 966 w 2185"/>
                  <a:gd name="T33" fmla="*/ 1711 h 2715"/>
                  <a:gd name="T34" fmla="*/ 873 w 2185"/>
                  <a:gd name="T35" fmla="*/ 1834 h 2715"/>
                  <a:gd name="T36" fmla="*/ 795 w 2185"/>
                  <a:gd name="T37" fmla="*/ 1955 h 2715"/>
                  <a:gd name="T38" fmla="*/ 734 w 2185"/>
                  <a:gd name="T39" fmla="*/ 2078 h 2715"/>
                  <a:gd name="T40" fmla="*/ 686 w 2185"/>
                  <a:gd name="T41" fmla="*/ 2202 h 2715"/>
                  <a:gd name="T42" fmla="*/ 654 w 2185"/>
                  <a:gd name="T43" fmla="*/ 2330 h 2715"/>
                  <a:gd name="T44" fmla="*/ 633 w 2185"/>
                  <a:gd name="T45" fmla="*/ 2464 h 2715"/>
                  <a:gd name="T46" fmla="*/ 622 w 2185"/>
                  <a:gd name="T47" fmla="*/ 2604 h 2715"/>
                  <a:gd name="T48" fmla="*/ 1280 w 2185"/>
                  <a:gd name="T49" fmla="*/ 2715 h 2715"/>
                  <a:gd name="T50" fmla="*/ 1279 w 2185"/>
                  <a:gd name="T51" fmla="*/ 2626 h 2715"/>
                  <a:gd name="T52" fmla="*/ 1284 w 2185"/>
                  <a:gd name="T53" fmla="*/ 2541 h 2715"/>
                  <a:gd name="T54" fmla="*/ 1299 w 2185"/>
                  <a:gd name="T55" fmla="*/ 2460 h 2715"/>
                  <a:gd name="T56" fmla="*/ 1322 w 2185"/>
                  <a:gd name="T57" fmla="*/ 2383 h 2715"/>
                  <a:gd name="T58" fmla="*/ 1357 w 2185"/>
                  <a:gd name="T59" fmla="*/ 2309 h 2715"/>
                  <a:gd name="T60" fmla="*/ 1403 w 2185"/>
                  <a:gd name="T61" fmla="*/ 2240 h 2715"/>
                  <a:gd name="T62" fmla="*/ 1462 w 2185"/>
                  <a:gd name="T63" fmla="*/ 2177 h 2715"/>
                  <a:gd name="T64" fmla="*/ 1536 w 2185"/>
                  <a:gd name="T65" fmla="*/ 2117 h 2715"/>
                  <a:gd name="T66" fmla="*/ 1647 w 2185"/>
                  <a:gd name="T67" fmla="*/ 2035 h 2715"/>
                  <a:gd name="T68" fmla="*/ 1760 w 2185"/>
                  <a:gd name="T69" fmla="*/ 1939 h 2715"/>
                  <a:gd name="T70" fmla="*/ 1870 w 2185"/>
                  <a:gd name="T71" fmla="*/ 1832 h 2715"/>
                  <a:gd name="T72" fmla="*/ 1970 w 2185"/>
                  <a:gd name="T73" fmla="*/ 1711 h 2715"/>
                  <a:gd name="T74" fmla="*/ 2057 w 2185"/>
                  <a:gd name="T75" fmla="*/ 1578 h 2715"/>
                  <a:gd name="T76" fmla="*/ 2125 w 2185"/>
                  <a:gd name="T77" fmla="*/ 1435 h 2715"/>
                  <a:gd name="T78" fmla="*/ 2170 w 2185"/>
                  <a:gd name="T79" fmla="*/ 1281 h 2715"/>
                  <a:gd name="T80" fmla="*/ 2185 w 2185"/>
                  <a:gd name="T81" fmla="*/ 1118 h 2715"/>
                  <a:gd name="T82" fmla="*/ 2163 w 2185"/>
                  <a:gd name="T83" fmla="*/ 869 h 2715"/>
                  <a:gd name="T84" fmla="*/ 2100 w 2185"/>
                  <a:gd name="T85" fmla="*/ 651 h 2715"/>
                  <a:gd name="T86" fmla="*/ 2000 w 2185"/>
                  <a:gd name="T87" fmla="*/ 463 h 2715"/>
                  <a:gd name="T88" fmla="*/ 1871 w 2185"/>
                  <a:gd name="T89" fmla="*/ 308 h 2715"/>
                  <a:gd name="T90" fmla="*/ 1721 w 2185"/>
                  <a:gd name="T91" fmla="*/ 183 h 2715"/>
                  <a:gd name="T92" fmla="*/ 1554 w 2185"/>
                  <a:gd name="T93" fmla="*/ 91 h 2715"/>
                  <a:gd name="T94" fmla="*/ 1379 w 2185"/>
                  <a:gd name="T95" fmla="*/ 31 h 2715"/>
                  <a:gd name="T96" fmla="*/ 1201 w 2185"/>
                  <a:gd name="T97" fmla="*/ 5 h 2715"/>
                  <a:gd name="T98" fmla="*/ 954 w 2185"/>
                  <a:gd name="T99" fmla="*/ 5 h 2715"/>
                  <a:gd name="T100" fmla="*/ 724 w 2185"/>
                  <a:gd name="T101" fmla="*/ 42 h 2715"/>
                  <a:gd name="T102" fmla="*/ 519 w 2185"/>
                  <a:gd name="T103" fmla="*/ 112 h 2715"/>
                  <a:gd name="T104" fmla="*/ 343 w 2185"/>
                  <a:gd name="T105" fmla="*/ 217 h 2715"/>
                  <a:gd name="T106" fmla="*/ 199 w 2185"/>
                  <a:gd name="T107" fmla="*/ 354 h 2715"/>
                  <a:gd name="T108" fmla="*/ 91 w 2185"/>
                  <a:gd name="T109" fmla="*/ 521 h 2715"/>
                  <a:gd name="T110" fmla="*/ 23 w 2185"/>
                  <a:gd name="T111" fmla="*/ 717 h 2715"/>
                  <a:gd name="T112" fmla="*/ 0 w 2185"/>
                  <a:gd name="T113" fmla="*/ 940 h 2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85" h="2715">
                    <a:moveTo>
                      <a:pt x="0" y="1340"/>
                    </a:moveTo>
                    <a:lnTo>
                      <a:pt x="643" y="1340"/>
                    </a:lnTo>
                    <a:lnTo>
                      <a:pt x="643" y="1044"/>
                    </a:lnTo>
                    <a:lnTo>
                      <a:pt x="644" y="1007"/>
                    </a:lnTo>
                    <a:lnTo>
                      <a:pt x="648" y="970"/>
                    </a:lnTo>
                    <a:lnTo>
                      <a:pt x="655" y="937"/>
                    </a:lnTo>
                    <a:lnTo>
                      <a:pt x="666" y="903"/>
                    </a:lnTo>
                    <a:lnTo>
                      <a:pt x="677" y="874"/>
                    </a:lnTo>
                    <a:lnTo>
                      <a:pt x="692" y="845"/>
                    </a:lnTo>
                    <a:lnTo>
                      <a:pt x="708" y="818"/>
                    </a:lnTo>
                    <a:lnTo>
                      <a:pt x="728" y="793"/>
                    </a:lnTo>
                    <a:lnTo>
                      <a:pt x="748" y="769"/>
                    </a:lnTo>
                    <a:lnTo>
                      <a:pt x="771" y="748"/>
                    </a:lnTo>
                    <a:lnTo>
                      <a:pt x="794" y="728"/>
                    </a:lnTo>
                    <a:lnTo>
                      <a:pt x="819" y="711"/>
                    </a:lnTo>
                    <a:lnTo>
                      <a:pt x="847" y="695"/>
                    </a:lnTo>
                    <a:lnTo>
                      <a:pt x="874" y="681"/>
                    </a:lnTo>
                    <a:lnTo>
                      <a:pt x="903" y="670"/>
                    </a:lnTo>
                    <a:lnTo>
                      <a:pt x="933" y="660"/>
                    </a:lnTo>
                    <a:lnTo>
                      <a:pt x="963" y="652"/>
                    </a:lnTo>
                    <a:lnTo>
                      <a:pt x="994" y="648"/>
                    </a:lnTo>
                    <a:lnTo>
                      <a:pt x="1025" y="644"/>
                    </a:lnTo>
                    <a:lnTo>
                      <a:pt x="1057" y="643"/>
                    </a:lnTo>
                    <a:lnTo>
                      <a:pt x="1090" y="644"/>
                    </a:lnTo>
                    <a:lnTo>
                      <a:pt x="1122" y="648"/>
                    </a:lnTo>
                    <a:lnTo>
                      <a:pt x="1154" y="653"/>
                    </a:lnTo>
                    <a:lnTo>
                      <a:pt x="1186" y="662"/>
                    </a:lnTo>
                    <a:lnTo>
                      <a:pt x="1218" y="672"/>
                    </a:lnTo>
                    <a:lnTo>
                      <a:pt x="1249" y="683"/>
                    </a:lnTo>
                    <a:lnTo>
                      <a:pt x="1279" y="700"/>
                    </a:lnTo>
                    <a:lnTo>
                      <a:pt x="1309" y="717"/>
                    </a:lnTo>
                    <a:lnTo>
                      <a:pt x="1337" y="736"/>
                    </a:lnTo>
                    <a:lnTo>
                      <a:pt x="1365" y="758"/>
                    </a:lnTo>
                    <a:lnTo>
                      <a:pt x="1392" y="784"/>
                    </a:lnTo>
                    <a:lnTo>
                      <a:pt x="1417" y="811"/>
                    </a:lnTo>
                    <a:lnTo>
                      <a:pt x="1435" y="833"/>
                    </a:lnTo>
                    <a:lnTo>
                      <a:pt x="1451" y="855"/>
                    </a:lnTo>
                    <a:lnTo>
                      <a:pt x="1466" y="878"/>
                    </a:lnTo>
                    <a:lnTo>
                      <a:pt x="1480" y="900"/>
                    </a:lnTo>
                    <a:lnTo>
                      <a:pt x="1491" y="922"/>
                    </a:lnTo>
                    <a:lnTo>
                      <a:pt x="1501" y="944"/>
                    </a:lnTo>
                    <a:lnTo>
                      <a:pt x="1507" y="966"/>
                    </a:lnTo>
                    <a:lnTo>
                      <a:pt x="1514" y="989"/>
                    </a:lnTo>
                    <a:lnTo>
                      <a:pt x="1516" y="1012"/>
                    </a:lnTo>
                    <a:lnTo>
                      <a:pt x="1518" y="1035"/>
                    </a:lnTo>
                    <a:lnTo>
                      <a:pt x="1517" y="1058"/>
                    </a:lnTo>
                    <a:lnTo>
                      <a:pt x="1514" y="1082"/>
                    </a:lnTo>
                    <a:lnTo>
                      <a:pt x="1509" y="1105"/>
                    </a:lnTo>
                    <a:lnTo>
                      <a:pt x="1502" y="1130"/>
                    </a:lnTo>
                    <a:lnTo>
                      <a:pt x="1493" y="1155"/>
                    </a:lnTo>
                    <a:lnTo>
                      <a:pt x="1481" y="1180"/>
                    </a:lnTo>
                    <a:lnTo>
                      <a:pt x="1469" y="1205"/>
                    </a:lnTo>
                    <a:lnTo>
                      <a:pt x="1454" y="1232"/>
                    </a:lnTo>
                    <a:lnTo>
                      <a:pt x="1435" y="1260"/>
                    </a:lnTo>
                    <a:lnTo>
                      <a:pt x="1415" y="1287"/>
                    </a:lnTo>
                    <a:lnTo>
                      <a:pt x="1394" y="1315"/>
                    </a:lnTo>
                    <a:lnTo>
                      <a:pt x="1369" y="1344"/>
                    </a:lnTo>
                    <a:lnTo>
                      <a:pt x="1342" y="1374"/>
                    </a:lnTo>
                    <a:lnTo>
                      <a:pt x="1312" y="1404"/>
                    </a:lnTo>
                    <a:lnTo>
                      <a:pt x="1281" y="1435"/>
                    </a:lnTo>
                    <a:lnTo>
                      <a:pt x="1248" y="1467"/>
                    </a:lnTo>
                    <a:lnTo>
                      <a:pt x="1212" y="1500"/>
                    </a:lnTo>
                    <a:lnTo>
                      <a:pt x="1173" y="1534"/>
                    </a:lnTo>
                    <a:lnTo>
                      <a:pt x="1131" y="1568"/>
                    </a:lnTo>
                    <a:lnTo>
                      <a:pt x="1087" y="1604"/>
                    </a:lnTo>
                    <a:lnTo>
                      <a:pt x="1042" y="1641"/>
                    </a:lnTo>
                    <a:lnTo>
                      <a:pt x="994" y="1679"/>
                    </a:lnTo>
                    <a:lnTo>
                      <a:pt x="966" y="1711"/>
                    </a:lnTo>
                    <a:lnTo>
                      <a:pt x="942" y="1741"/>
                    </a:lnTo>
                    <a:lnTo>
                      <a:pt x="918" y="1772"/>
                    </a:lnTo>
                    <a:lnTo>
                      <a:pt x="894" y="1803"/>
                    </a:lnTo>
                    <a:lnTo>
                      <a:pt x="873" y="1834"/>
                    </a:lnTo>
                    <a:lnTo>
                      <a:pt x="851" y="1864"/>
                    </a:lnTo>
                    <a:lnTo>
                      <a:pt x="832" y="1896"/>
                    </a:lnTo>
                    <a:lnTo>
                      <a:pt x="813" y="1924"/>
                    </a:lnTo>
                    <a:lnTo>
                      <a:pt x="795" y="1955"/>
                    </a:lnTo>
                    <a:lnTo>
                      <a:pt x="779" y="1985"/>
                    </a:lnTo>
                    <a:lnTo>
                      <a:pt x="761" y="2017"/>
                    </a:lnTo>
                    <a:lnTo>
                      <a:pt x="748" y="2048"/>
                    </a:lnTo>
                    <a:lnTo>
                      <a:pt x="734" y="2078"/>
                    </a:lnTo>
                    <a:lnTo>
                      <a:pt x="721" y="2109"/>
                    </a:lnTo>
                    <a:lnTo>
                      <a:pt x="708" y="2140"/>
                    </a:lnTo>
                    <a:lnTo>
                      <a:pt x="698" y="2171"/>
                    </a:lnTo>
                    <a:lnTo>
                      <a:pt x="686" y="2202"/>
                    </a:lnTo>
                    <a:lnTo>
                      <a:pt x="677" y="2233"/>
                    </a:lnTo>
                    <a:lnTo>
                      <a:pt x="669" y="2265"/>
                    </a:lnTo>
                    <a:lnTo>
                      <a:pt x="661" y="2298"/>
                    </a:lnTo>
                    <a:lnTo>
                      <a:pt x="654" y="2330"/>
                    </a:lnTo>
                    <a:lnTo>
                      <a:pt x="647" y="2362"/>
                    </a:lnTo>
                    <a:lnTo>
                      <a:pt x="642" y="2397"/>
                    </a:lnTo>
                    <a:lnTo>
                      <a:pt x="637" y="2429"/>
                    </a:lnTo>
                    <a:lnTo>
                      <a:pt x="633" y="2464"/>
                    </a:lnTo>
                    <a:lnTo>
                      <a:pt x="629" y="2498"/>
                    </a:lnTo>
                    <a:lnTo>
                      <a:pt x="627" y="2533"/>
                    </a:lnTo>
                    <a:lnTo>
                      <a:pt x="623" y="2567"/>
                    </a:lnTo>
                    <a:lnTo>
                      <a:pt x="622" y="2604"/>
                    </a:lnTo>
                    <a:lnTo>
                      <a:pt x="621" y="2640"/>
                    </a:lnTo>
                    <a:lnTo>
                      <a:pt x="620" y="2677"/>
                    </a:lnTo>
                    <a:lnTo>
                      <a:pt x="620" y="2715"/>
                    </a:lnTo>
                    <a:lnTo>
                      <a:pt x="1280" y="2715"/>
                    </a:lnTo>
                    <a:lnTo>
                      <a:pt x="1280" y="2692"/>
                    </a:lnTo>
                    <a:lnTo>
                      <a:pt x="1279" y="2670"/>
                    </a:lnTo>
                    <a:lnTo>
                      <a:pt x="1279" y="2648"/>
                    </a:lnTo>
                    <a:lnTo>
                      <a:pt x="1279" y="2626"/>
                    </a:lnTo>
                    <a:lnTo>
                      <a:pt x="1280" y="2604"/>
                    </a:lnTo>
                    <a:lnTo>
                      <a:pt x="1281" y="2582"/>
                    </a:lnTo>
                    <a:lnTo>
                      <a:pt x="1282" y="2562"/>
                    </a:lnTo>
                    <a:lnTo>
                      <a:pt x="1284" y="2541"/>
                    </a:lnTo>
                    <a:lnTo>
                      <a:pt x="1287" y="2520"/>
                    </a:lnTo>
                    <a:lnTo>
                      <a:pt x="1291" y="2499"/>
                    </a:lnTo>
                    <a:lnTo>
                      <a:pt x="1295" y="2480"/>
                    </a:lnTo>
                    <a:lnTo>
                      <a:pt x="1299" y="2460"/>
                    </a:lnTo>
                    <a:lnTo>
                      <a:pt x="1304" y="2441"/>
                    </a:lnTo>
                    <a:lnTo>
                      <a:pt x="1310" y="2421"/>
                    </a:lnTo>
                    <a:lnTo>
                      <a:pt x="1316" y="2401"/>
                    </a:lnTo>
                    <a:lnTo>
                      <a:pt x="1322" y="2383"/>
                    </a:lnTo>
                    <a:lnTo>
                      <a:pt x="1329" y="2365"/>
                    </a:lnTo>
                    <a:lnTo>
                      <a:pt x="1339" y="2345"/>
                    </a:lnTo>
                    <a:lnTo>
                      <a:pt x="1347" y="2328"/>
                    </a:lnTo>
                    <a:lnTo>
                      <a:pt x="1357" y="2309"/>
                    </a:lnTo>
                    <a:lnTo>
                      <a:pt x="1367" y="2292"/>
                    </a:lnTo>
                    <a:lnTo>
                      <a:pt x="1379" y="2275"/>
                    </a:lnTo>
                    <a:lnTo>
                      <a:pt x="1390" y="2257"/>
                    </a:lnTo>
                    <a:lnTo>
                      <a:pt x="1403" y="2240"/>
                    </a:lnTo>
                    <a:lnTo>
                      <a:pt x="1417" y="2224"/>
                    </a:lnTo>
                    <a:lnTo>
                      <a:pt x="1431" y="2208"/>
                    </a:lnTo>
                    <a:lnTo>
                      <a:pt x="1446" y="2193"/>
                    </a:lnTo>
                    <a:lnTo>
                      <a:pt x="1462" y="2177"/>
                    </a:lnTo>
                    <a:lnTo>
                      <a:pt x="1479" y="2161"/>
                    </a:lnTo>
                    <a:lnTo>
                      <a:pt x="1496" y="2146"/>
                    </a:lnTo>
                    <a:lnTo>
                      <a:pt x="1516" y="2131"/>
                    </a:lnTo>
                    <a:lnTo>
                      <a:pt x="1536" y="2117"/>
                    </a:lnTo>
                    <a:lnTo>
                      <a:pt x="1563" y="2097"/>
                    </a:lnTo>
                    <a:lnTo>
                      <a:pt x="1591" y="2078"/>
                    </a:lnTo>
                    <a:lnTo>
                      <a:pt x="1619" y="2057"/>
                    </a:lnTo>
                    <a:lnTo>
                      <a:pt x="1647" y="2035"/>
                    </a:lnTo>
                    <a:lnTo>
                      <a:pt x="1676" y="2012"/>
                    </a:lnTo>
                    <a:lnTo>
                      <a:pt x="1704" y="1989"/>
                    </a:lnTo>
                    <a:lnTo>
                      <a:pt x="1731" y="1964"/>
                    </a:lnTo>
                    <a:lnTo>
                      <a:pt x="1760" y="1939"/>
                    </a:lnTo>
                    <a:lnTo>
                      <a:pt x="1788" y="1914"/>
                    </a:lnTo>
                    <a:lnTo>
                      <a:pt x="1816" y="1887"/>
                    </a:lnTo>
                    <a:lnTo>
                      <a:pt x="1843" y="1861"/>
                    </a:lnTo>
                    <a:lnTo>
                      <a:pt x="1870" y="1832"/>
                    </a:lnTo>
                    <a:lnTo>
                      <a:pt x="1896" y="1802"/>
                    </a:lnTo>
                    <a:lnTo>
                      <a:pt x="1922" y="1772"/>
                    </a:lnTo>
                    <a:lnTo>
                      <a:pt x="1946" y="1742"/>
                    </a:lnTo>
                    <a:lnTo>
                      <a:pt x="1970" y="1711"/>
                    </a:lnTo>
                    <a:lnTo>
                      <a:pt x="1993" y="1679"/>
                    </a:lnTo>
                    <a:lnTo>
                      <a:pt x="2016" y="1647"/>
                    </a:lnTo>
                    <a:lnTo>
                      <a:pt x="2037" y="1612"/>
                    </a:lnTo>
                    <a:lnTo>
                      <a:pt x="2057" y="1578"/>
                    </a:lnTo>
                    <a:lnTo>
                      <a:pt x="2076" y="1544"/>
                    </a:lnTo>
                    <a:lnTo>
                      <a:pt x="2093" y="1507"/>
                    </a:lnTo>
                    <a:lnTo>
                      <a:pt x="2110" y="1472"/>
                    </a:lnTo>
                    <a:lnTo>
                      <a:pt x="2125" y="1435"/>
                    </a:lnTo>
                    <a:lnTo>
                      <a:pt x="2138" y="1398"/>
                    </a:lnTo>
                    <a:lnTo>
                      <a:pt x="2151" y="1360"/>
                    </a:lnTo>
                    <a:lnTo>
                      <a:pt x="2161" y="1321"/>
                    </a:lnTo>
                    <a:lnTo>
                      <a:pt x="2170" y="1281"/>
                    </a:lnTo>
                    <a:lnTo>
                      <a:pt x="2177" y="1242"/>
                    </a:lnTo>
                    <a:lnTo>
                      <a:pt x="2182" y="1201"/>
                    </a:lnTo>
                    <a:lnTo>
                      <a:pt x="2185" y="1160"/>
                    </a:lnTo>
                    <a:lnTo>
                      <a:pt x="2185" y="1118"/>
                    </a:lnTo>
                    <a:lnTo>
                      <a:pt x="2184" y="1053"/>
                    </a:lnTo>
                    <a:lnTo>
                      <a:pt x="2181" y="990"/>
                    </a:lnTo>
                    <a:lnTo>
                      <a:pt x="2174" y="929"/>
                    </a:lnTo>
                    <a:lnTo>
                      <a:pt x="2163" y="869"/>
                    </a:lnTo>
                    <a:lnTo>
                      <a:pt x="2151" y="811"/>
                    </a:lnTo>
                    <a:lnTo>
                      <a:pt x="2136" y="756"/>
                    </a:lnTo>
                    <a:lnTo>
                      <a:pt x="2119" y="703"/>
                    </a:lnTo>
                    <a:lnTo>
                      <a:pt x="2100" y="651"/>
                    </a:lnTo>
                    <a:lnTo>
                      <a:pt x="2078" y="600"/>
                    </a:lnTo>
                    <a:lnTo>
                      <a:pt x="2054" y="553"/>
                    </a:lnTo>
                    <a:lnTo>
                      <a:pt x="2028" y="507"/>
                    </a:lnTo>
                    <a:lnTo>
                      <a:pt x="2000" y="463"/>
                    </a:lnTo>
                    <a:lnTo>
                      <a:pt x="1970" y="422"/>
                    </a:lnTo>
                    <a:lnTo>
                      <a:pt x="1939" y="382"/>
                    </a:lnTo>
                    <a:lnTo>
                      <a:pt x="1905" y="344"/>
                    </a:lnTo>
                    <a:lnTo>
                      <a:pt x="1871" y="308"/>
                    </a:lnTo>
                    <a:lnTo>
                      <a:pt x="1835" y="273"/>
                    </a:lnTo>
                    <a:lnTo>
                      <a:pt x="1798" y="242"/>
                    </a:lnTo>
                    <a:lnTo>
                      <a:pt x="1760" y="212"/>
                    </a:lnTo>
                    <a:lnTo>
                      <a:pt x="1721" y="183"/>
                    </a:lnTo>
                    <a:lnTo>
                      <a:pt x="1681" y="158"/>
                    </a:lnTo>
                    <a:lnTo>
                      <a:pt x="1639" y="134"/>
                    </a:lnTo>
                    <a:lnTo>
                      <a:pt x="1597" y="112"/>
                    </a:lnTo>
                    <a:lnTo>
                      <a:pt x="1554" y="91"/>
                    </a:lnTo>
                    <a:lnTo>
                      <a:pt x="1511" y="74"/>
                    </a:lnTo>
                    <a:lnTo>
                      <a:pt x="1468" y="58"/>
                    </a:lnTo>
                    <a:lnTo>
                      <a:pt x="1424" y="44"/>
                    </a:lnTo>
                    <a:lnTo>
                      <a:pt x="1379" y="31"/>
                    </a:lnTo>
                    <a:lnTo>
                      <a:pt x="1335" y="22"/>
                    </a:lnTo>
                    <a:lnTo>
                      <a:pt x="1290" y="14"/>
                    </a:lnTo>
                    <a:lnTo>
                      <a:pt x="1246" y="8"/>
                    </a:lnTo>
                    <a:lnTo>
                      <a:pt x="1201" y="5"/>
                    </a:lnTo>
                    <a:lnTo>
                      <a:pt x="1138" y="1"/>
                    </a:lnTo>
                    <a:lnTo>
                      <a:pt x="1075" y="0"/>
                    </a:lnTo>
                    <a:lnTo>
                      <a:pt x="1013" y="1"/>
                    </a:lnTo>
                    <a:lnTo>
                      <a:pt x="954" y="5"/>
                    </a:lnTo>
                    <a:lnTo>
                      <a:pt x="894" y="11"/>
                    </a:lnTo>
                    <a:lnTo>
                      <a:pt x="836" y="19"/>
                    </a:lnTo>
                    <a:lnTo>
                      <a:pt x="780" y="29"/>
                    </a:lnTo>
                    <a:lnTo>
                      <a:pt x="724" y="42"/>
                    </a:lnTo>
                    <a:lnTo>
                      <a:pt x="671" y="55"/>
                    </a:lnTo>
                    <a:lnTo>
                      <a:pt x="619" y="72"/>
                    </a:lnTo>
                    <a:lnTo>
                      <a:pt x="569" y="91"/>
                    </a:lnTo>
                    <a:lnTo>
                      <a:pt x="519" y="112"/>
                    </a:lnTo>
                    <a:lnTo>
                      <a:pt x="473" y="136"/>
                    </a:lnTo>
                    <a:lnTo>
                      <a:pt x="428" y="160"/>
                    </a:lnTo>
                    <a:lnTo>
                      <a:pt x="385" y="187"/>
                    </a:lnTo>
                    <a:lnTo>
                      <a:pt x="343" y="217"/>
                    </a:lnTo>
                    <a:lnTo>
                      <a:pt x="304" y="248"/>
                    </a:lnTo>
                    <a:lnTo>
                      <a:pt x="267" y="281"/>
                    </a:lnTo>
                    <a:lnTo>
                      <a:pt x="231" y="316"/>
                    </a:lnTo>
                    <a:lnTo>
                      <a:pt x="199" y="354"/>
                    </a:lnTo>
                    <a:lnTo>
                      <a:pt x="168" y="393"/>
                    </a:lnTo>
                    <a:lnTo>
                      <a:pt x="140" y="433"/>
                    </a:lnTo>
                    <a:lnTo>
                      <a:pt x="114" y="476"/>
                    </a:lnTo>
                    <a:lnTo>
                      <a:pt x="91" y="521"/>
                    </a:lnTo>
                    <a:lnTo>
                      <a:pt x="70" y="567"/>
                    </a:lnTo>
                    <a:lnTo>
                      <a:pt x="52" y="615"/>
                    </a:lnTo>
                    <a:lnTo>
                      <a:pt x="37" y="665"/>
                    </a:lnTo>
                    <a:lnTo>
                      <a:pt x="23" y="717"/>
                    </a:lnTo>
                    <a:lnTo>
                      <a:pt x="13" y="770"/>
                    </a:lnTo>
                    <a:lnTo>
                      <a:pt x="6" y="825"/>
                    </a:lnTo>
                    <a:lnTo>
                      <a:pt x="1" y="883"/>
                    </a:lnTo>
                    <a:lnTo>
                      <a:pt x="0" y="940"/>
                    </a:lnTo>
                    <a:lnTo>
                      <a:pt x="0" y="1340"/>
                    </a:lnTo>
                    <a:close/>
                  </a:path>
                </a:pathLst>
              </a:custGeom>
              <a:solidFill>
                <a:srgbClr val="800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316434" name="Rectangle 18"/>
          <p:cNvSpPr>
            <a:spLocks noChangeArrowheads="1"/>
          </p:cNvSpPr>
          <p:nvPr/>
        </p:nvSpPr>
        <p:spPr bwMode="auto">
          <a:xfrm>
            <a:off x="522288" y="6038850"/>
            <a:ext cx="81899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r>
              <a:rPr kumimoji="0" lang="zh-CN" altLang="en-US" sz="2800" b="1">
                <a:latin typeface="华文楷体" charset="-122"/>
                <a:ea typeface="华文楷体" charset="-122"/>
              </a:rPr>
              <a:t>在存储位置和关键码之间建立一个确定的对应关系</a:t>
            </a:r>
            <a:endParaRPr kumimoji="0" lang="zh-CN" altLang="en-US" sz="2800" b="1">
              <a:solidFill>
                <a:schemeClr val="accent2"/>
              </a:solidFill>
              <a:latin typeface="华文楷体" charset="-122"/>
              <a:ea typeface="华文楷体" charset="-122"/>
            </a:endParaRPr>
          </a:p>
        </p:txBody>
      </p:sp>
      <p:grpSp>
        <p:nvGrpSpPr>
          <p:cNvPr id="316435" name="Group 19"/>
          <p:cNvGrpSpPr>
            <a:grpSpLocks/>
          </p:cNvGrpSpPr>
          <p:nvPr/>
        </p:nvGrpSpPr>
        <p:grpSpPr bwMode="auto">
          <a:xfrm>
            <a:off x="566738" y="5364163"/>
            <a:ext cx="8142287" cy="539750"/>
            <a:chOff x="339" y="1848"/>
            <a:chExt cx="5129" cy="340"/>
          </a:xfrm>
        </p:grpSpPr>
        <p:sp>
          <p:nvSpPr>
            <p:cNvPr id="316436" name="Text Box 20"/>
            <p:cNvSpPr txBox="1">
              <a:spLocks noChangeArrowheads="1"/>
            </p:cNvSpPr>
            <p:nvPr/>
          </p:nvSpPr>
          <p:spPr bwMode="auto">
            <a:xfrm>
              <a:off x="578" y="1848"/>
              <a:ext cx="48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latin typeface="华文楷体" charset="-122"/>
                  <a:ea typeface="华文楷体" charset="-122"/>
                </a:rPr>
                <a:t>能否不用比较，通过关键码直接确定存储位置？</a:t>
              </a:r>
            </a:p>
          </p:txBody>
        </p:sp>
        <p:grpSp>
          <p:nvGrpSpPr>
            <p:cNvPr id="316437" name="Group 21"/>
            <p:cNvGrpSpPr>
              <a:grpSpLocks/>
            </p:cNvGrpSpPr>
            <p:nvPr/>
          </p:nvGrpSpPr>
          <p:grpSpPr bwMode="auto">
            <a:xfrm>
              <a:off x="339" y="1904"/>
              <a:ext cx="188" cy="284"/>
              <a:chOff x="3840" y="1584"/>
              <a:chExt cx="1093" cy="1871"/>
            </a:xfrm>
          </p:grpSpPr>
          <p:sp>
            <p:nvSpPr>
              <p:cNvPr id="316438" name="Rectangle 22"/>
              <p:cNvSpPr>
                <a:spLocks noChangeArrowheads="1"/>
              </p:cNvSpPr>
              <p:nvPr/>
            </p:nvSpPr>
            <p:spPr bwMode="auto">
              <a:xfrm>
                <a:off x="4128" y="3120"/>
                <a:ext cx="347" cy="335"/>
              </a:xfrm>
              <a:prstGeom prst="rect">
                <a:avLst/>
              </a:prstGeom>
              <a:solidFill>
                <a:srgbClr val="8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6439" name="Freeform 23"/>
              <p:cNvSpPr>
                <a:spLocks/>
              </p:cNvSpPr>
              <p:nvPr/>
            </p:nvSpPr>
            <p:spPr bwMode="auto">
              <a:xfrm>
                <a:off x="3840" y="1584"/>
                <a:ext cx="1093" cy="1357"/>
              </a:xfrm>
              <a:custGeom>
                <a:avLst/>
                <a:gdLst>
                  <a:gd name="T0" fmla="*/ 644 w 2185"/>
                  <a:gd name="T1" fmla="*/ 1007 h 2715"/>
                  <a:gd name="T2" fmla="*/ 677 w 2185"/>
                  <a:gd name="T3" fmla="*/ 874 h 2715"/>
                  <a:gd name="T4" fmla="*/ 748 w 2185"/>
                  <a:gd name="T5" fmla="*/ 769 h 2715"/>
                  <a:gd name="T6" fmla="*/ 847 w 2185"/>
                  <a:gd name="T7" fmla="*/ 695 h 2715"/>
                  <a:gd name="T8" fmla="*/ 963 w 2185"/>
                  <a:gd name="T9" fmla="*/ 652 h 2715"/>
                  <a:gd name="T10" fmla="*/ 1090 w 2185"/>
                  <a:gd name="T11" fmla="*/ 644 h 2715"/>
                  <a:gd name="T12" fmla="*/ 1218 w 2185"/>
                  <a:gd name="T13" fmla="*/ 672 h 2715"/>
                  <a:gd name="T14" fmla="*/ 1337 w 2185"/>
                  <a:gd name="T15" fmla="*/ 736 h 2715"/>
                  <a:gd name="T16" fmla="*/ 1435 w 2185"/>
                  <a:gd name="T17" fmla="*/ 833 h 2715"/>
                  <a:gd name="T18" fmla="*/ 1491 w 2185"/>
                  <a:gd name="T19" fmla="*/ 922 h 2715"/>
                  <a:gd name="T20" fmla="*/ 1516 w 2185"/>
                  <a:gd name="T21" fmla="*/ 1012 h 2715"/>
                  <a:gd name="T22" fmla="*/ 1509 w 2185"/>
                  <a:gd name="T23" fmla="*/ 1105 h 2715"/>
                  <a:gd name="T24" fmla="*/ 1469 w 2185"/>
                  <a:gd name="T25" fmla="*/ 1205 h 2715"/>
                  <a:gd name="T26" fmla="*/ 1394 w 2185"/>
                  <a:gd name="T27" fmla="*/ 1315 h 2715"/>
                  <a:gd name="T28" fmla="*/ 1281 w 2185"/>
                  <a:gd name="T29" fmla="*/ 1435 h 2715"/>
                  <a:gd name="T30" fmla="*/ 1131 w 2185"/>
                  <a:gd name="T31" fmla="*/ 1568 h 2715"/>
                  <a:gd name="T32" fmla="*/ 966 w 2185"/>
                  <a:gd name="T33" fmla="*/ 1711 h 2715"/>
                  <a:gd name="T34" fmla="*/ 873 w 2185"/>
                  <a:gd name="T35" fmla="*/ 1834 h 2715"/>
                  <a:gd name="T36" fmla="*/ 795 w 2185"/>
                  <a:gd name="T37" fmla="*/ 1955 h 2715"/>
                  <a:gd name="T38" fmla="*/ 734 w 2185"/>
                  <a:gd name="T39" fmla="*/ 2078 h 2715"/>
                  <a:gd name="T40" fmla="*/ 686 w 2185"/>
                  <a:gd name="T41" fmla="*/ 2202 h 2715"/>
                  <a:gd name="T42" fmla="*/ 654 w 2185"/>
                  <a:gd name="T43" fmla="*/ 2330 h 2715"/>
                  <a:gd name="T44" fmla="*/ 633 w 2185"/>
                  <a:gd name="T45" fmla="*/ 2464 h 2715"/>
                  <a:gd name="T46" fmla="*/ 622 w 2185"/>
                  <a:gd name="T47" fmla="*/ 2604 h 2715"/>
                  <a:gd name="T48" fmla="*/ 1280 w 2185"/>
                  <a:gd name="T49" fmla="*/ 2715 h 2715"/>
                  <a:gd name="T50" fmla="*/ 1279 w 2185"/>
                  <a:gd name="T51" fmla="*/ 2626 h 2715"/>
                  <a:gd name="T52" fmla="*/ 1284 w 2185"/>
                  <a:gd name="T53" fmla="*/ 2541 h 2715"/>
                  <a:gd name="T54" fmla="*/ 1299 w 2185"/>
                  <a:gd name="T55" fmla="*/ 2460 h 2715"/>
                  <a:gd name="T56" fmla="*/ 1322 w 2185"/>
                  <a:gd name="T57" fmla="*/ 2383 h 2715"/>
                  <a:gd name="T58" fmla="*/ 1357 w 2185"/>
                  <a:gd name="T59" fmla="*/ 2309 h 2715"/>
                  <a:gd name="T60" fmla="*/ 1403 w 2185"/>
                  <a:gd name="T61" fmla="*/ 2240 h 2715"/>
                  <a:gd name="T62" fmla="*/ 1462 w 2185"/>
                  <a:gd name="T63" fmla="*/ 2177 h 2715"/>
                  <a:gd name="T64" fmla="*/ 1536 w 2185"/>
                  <a:gd name="T65" fmla="*/ 2117 h 2715"/>
                  <a:gd name="T66" fmla="*/ 1647 w 2185"/>
                  <a:gd name="T67" fmla="*/ 2035 h 2715"/>
                  <a:gd name="T68" fmla="*/ 1760 w 2185"/>
                  <a:gd name="T69" fmla="*/ 1939 h 2715"/>
                  <a:gd name="T70" fmla="*/ 1870 w 2185"/>
                  <a:gd name="T71" fmla="*/ 1832 h 2715"/>
                  <a:gd name="T72" fmla="*/ 1970 w 2185"/>
                  <a:gd name="T73" fmla="*/ 1711 h 2715"/>
                  <a:gd name="T74" fmla="*/ 2057 w 2185"/>
                  <a:gd name="T75" fmla="*/ 1578 h 2715"/>
                  <a:gd name="T76" fmla="*/ 2125 w 2185"/>
                  <a:gd name="T77" fmla="*/ 1435 h 2715"/>
                  <a:gd name="T78" fmla="*/ 2170 w 2185"/>
                  <a:gd name="T79" fmla="*/ 1281 h 2715"/>
                  <a:gd name="T80" fmla="*/ 2185 w 2185"/>
                  <a:gd name="T81" fmla="*/ 1118 h 2715"/>
                  <a:gd name="T82" fmla="*/ 2163 w 2185"/>
                  <a:gd name="T83" fmla="*/ 869 h 2715"/>
                  <a:gd name="T84" fmla="*/ 2100 w 2185"/>
                  <a:gd name="T85" fmla="*/ 651 h 2715"/>
                  <a:gd name="T86" fmla="*/ 2000 w 2185"/>
                  <a:gd name="T87" fmla="*/ 463 h 2715"/>
                  <a:gd name="T88" fmla="*/ 1871 w 2185"/>
                  <a:gd name="T89" fmla="*/ 308 h 2715"/>
                  <a:gd name="T90" fmla="*/ 1721 w 2185"/>
                  <a:gd name="T91" fmla="*/ 183 h 2715"/>
                  <a:gd name="T92" fmla="*/ 1554 w 2185"/>
                  <a:gd name="T93" fmla="*/ 91 h 2715"/>
                  <a:gd name="T94" fmla="*/ 1379 w 2185"/>
                  <a:gd name="T95" fmla="*/ 31 h 2715"/>
                  <a:gd name="T96" fmla="*/ 1201 w 2185"/>
                  <a:gd name="T97" fmla="*/ 5 h 2715"/>
                  <a:gd name="T98" fmla="*/ 954 w 2185"/>
                  <a:gd name="T99" fmla="*/ 5 h 2715"/>
                  <a:gd name="T100" fmla="*/ 724 w 2185"/>
                  <a:gd name="T101" fmla="*/ 42 h 2715"/>
                  <a:gd name="T102" fmla="*/ 519 w 2185"/>
                  <a:gd name="T103" fmla="*/ 112 h 2715"/>
                  <a:gd name="T104" fmla="*/ 343 w 2185"/>
                  <a:gd name="T105" fmla="*/ 217 h 2715"/>
                  <a:gd name="T106" fmla="*/ 199 w 2185"/>
                  <a:gd name="T107" fmla="*/ 354 h 2715"/>
                  <a:gd name="T108" fmla="*/ 91 w 2185"/>
                  <a:gd name="T109" fmla="*/ 521 h 2715"/>
                  <a:gd name="T110" fmla="*/ 23 w 2185"/>
                  <a:gd name="T111" fmla="*/ 717 h 2715"/>
                  <a:gd name="T112" fmla="*/ 0 w 2185"/>
                  <a:gd name="T113" fmla="*/ 940 h 2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85" h="2715">
                    <a:moveTo>
                      <a:pt x="0" y="1340"/>
                    </a:moveTo>
                    <a:lnTo>
                      <a:pt x="643" y="1340"/>
                    </a:lnTo>
                    <a:lnTo>
                      <a:pt x="643" y="1044"/>
                    </a:lnTo>
                    <a:lnTo>
                      <a:pt x="644" y="1007"/>
                    </a:lnTo>
                    <a:lnTo>
                      <a:pt x="648" y="970"/>
                    </a:lnTo>
                    <a:lnTo>
                      <a:pt x="655" y="937"/>
                    </a:lnTo>
                    <a:lnTo>
                      <a:pt x="666" y="903"/>
                    </a:lnTo>
                    <a:lnTo>
                      <a:pt x="677" y="874"/>
                    </a:lnTo>
                    <a:lnTo>
                      <a:pt x="692" y="845"/>
                    </a:lnTo>
                    <a:lnTo>
                      <a:pt x="708" y="818"/>
                    </a:lnTo>
                    <a:lnTo>
                      <a:pt x="728" y="793"/>
                    </a:lnTo>
                    <a:lnTo>
                      <a:pt x="748" y="769"/>
                    </a:lnTo>
                    <a:lnTo>
                      <a:pt x="771" y="748"/>
                    </a:lnTo>
                    <a:lnTo>
                      <a:pt x="794" y="728"/>
                    </a:lnTo>
                    <a:lnTo>
                      <a:pt x="819" y="711"/>
                    </a:lnTo>
                    <a:lnTo>
                      <a:pt x="847" y="695"/>
                    </a:lnTo>
                    <a:lnTo>
                      <a:pt x="874" y="681"/>
                    </a:lnTo>
                    <a:lnTo>
                      <a:pt x="903" y="670"/>
                    </a:lnTo>
                    <a:lnTo>
                      <a:pt x="933" y="660"/>
                    </a:lnTo>
                    <a:lnTo>
                      <a:pt x="963" y="652"/>
                    </a:lnTo>
                    <a:lnTo>
                      <a:pt x="994" y="648"/>
                    </a:lnTo>
                    <a:lnTo>
                      <a:pt x="1025" y="644"/>
                    </a:lnTo>
                    <a:lnTo>
                      <a:pt x="1057" y="643"/>
                    </a:lnTo>
                    <a:lnTo>
                      <a:pt x="1090" y="644"/>
                    </a:lnTo>
                    <a:lnTo>
                      <a:pt x="1122" y="648"/>
                    </a:lnTo>
                    <a:lnTo>
                      <a:pt x="1154" y="653"/>
                    </a:lnTo>
                    <a:lnTo>
                      <a:pt x="1186" y="662"/>
                    </a:lnTo>
                    <a:lnTo>
                      <a:pt x="1218" y="672"/>
                    </a:lnTo>
                    <a:lnTo>
                      <a:pt x="1249" y="683"/>
                    </a:lnTo>
                    <a:lnTo>
                      <a:pt x="1279" y="700"/>
                    </a:lnTo>
                    <a:lnTo>
                      <a:pt x="1309" y="717"/>
                    </a:lnTo>
                    <a:lnTo>
                      <a:pt x="1337" y="736"/>
                    </a:lnTo>
                    <a:lnTo>
                      <a:pt x="1365" y="758"/>
                    </a:lnTo>
                    <a:lnTo>
                      <a:pt x="1392" y="784"/>
                    </a:lnTo>
                    <a:lnTo>
                      <a:pt x="1417" y="811"/>
                    </a:lnTo>
                    <a:lnTo>
                      <a:pt x="1435" y="833"/>
                    </a:lnTo>
                    <a:lnTo>
                      <a:pt x="1451" y="855"/>
                    </a:lnTo>
                    <a:lnTo>
                      <a:pt x="1466" y="878"/>
                    </a:lnTo>
                    <a:lnTo>
                      <a:pt x="1480" y="900"/>
                    </a:lnTo>
                    <a:lnTo>
                      <a:pt x="1491" y="922"/>
                    </a:lnTo>
                    <a:lnTo>
                      <a:pt x="1501" y="944"/>
                    </a:lnTo>
                    <a:lnTo>
                      <a:pt x="1507" y="966"/>
                    </a:lnTo>
                    <a:lnTo>
                      <a:pt x="1514" y="989"/>
                    </a:lnTo>
                    <a:lnTo>
                      <a:pt x="1516" y="1012"/>
                    </a:lnTo>
                    <a:lnTo>
                      <a:pt x="1518" y="1035"/>
                    </a:lnTo>
                    <a:lnTo>
                      <a:pt x="1517" y="1058"/>
                    </a:lnTo>
                    <a:lnTo>
                      <a:pt x="1514" y="1082"/>
                    </a:lnTo>
                    <a:lnTo>
                      <a:pt x="1509" y="1105"/>
                    </a:lnTo>
                    <a:lnTo>
                      <a:pt x="1502" y="1130"/>
                    </a:lnTo>
                    <a:lnTo>
                      <a:pt x="1493" y="1155"/>
                    </a:lnTo>
                    <a:lnTo>
                      <a:pt x="1481" y="1180"/>
                    </a:lnTo>
                    <a:lnTo>
                      <a:pt x="1469" y="1205"/>
                    </a:lnTo>
                    <a:lnTo>
                      <a:pt x="1454" y="1232"/>
                    </a:lnTo>
                    <a:lnTo>
                      <a:pt x="1435" y="1260"/>
                    </a:lnTo>
                    <a:lnTo>
                      <a:pt x="1415" y="1287"/>
                    </a:lnTo>
                    <a:lnTo>
                      <a:pt x="1394" y="1315"/>
                    </a:lnTo>
                    <a:lnTo>
                      <a:pt x="1369" y="1344"/>
                    </a:lnTo>
                    <a:lnTo>
                      <a:pt x="1342" y="1374"/>
                    </a:lnTo>
                    <a:lnTo>
                      <a:pt x="1312" y="1404"/>
                    </a:lnTo>
                    <a:lnTo>
                      <a:pt x="1281" y="1435"/>
                    </a:lnTo>
                    <a:lnTo>
                      <a:pt x="1248" y="1467"/>
                    </a:lnTo>
                    <a:lnTo>
                      <a:pt x="1212" y="1500"/>
                    </a:lnTo>
                    <a:lnTo>
                      <a:pt x="1173" y="1534"/>
                    </a:lnTo>
                    <a:lnTo>
                      <a:pt x="1131" y="1568"/>
                    </a:lnTo>
                    <a:lnTo>
                      <a:pt x="1087" y="1604"/>
                    </a:lnTo>
                    <a:lnTo>
                      <a:pt x="1042" y="1641"/>
                    </a:lnTo>
                    <a:lnTo>
                      <a:pt x="994" y="1679"/>
                    </a:lnTo>
                    <a:lnTo>
                      <a:pt x="966" y="1711"/>
                    </a:lnTo>
                    <a:lnTo>
                      <a:pt x="942" y="1741"/>
                    </a:lnTo>
                    <a:lnTo>
                      <a:pt x="918" y="1772"/>
                    </a:lnTo>
                    <a:lnTo>
                      <a:pt x="894" y="1803"/>
                    </a:lnTo>
                    <a:lnTo>
                      <a:pt x="873" y="1834"/>
                    </a:lnTo>
                    <a:lnTo>
                      <a:pt x="851" y="1864"/>
                    </a:lnTo>
                    <a:lnTo>
                      <a:pt x="832" y="1896"/>
                    </a:lnTo>
                    <a:lnTo>
                      <a:pt x="813" y="1924"/>
                    </a:lnTo>
                    <a:lnTo>
                      <a:pt x="795" y="1955"/>
                    </a:lnTo>
                    <a:lnTo>
                      <a:pt x="779" y="1985"/>
                    </a:lnTo>
                    <a:lnTo>
                      <a:pt x="761" y="2017"/>
                    </a:lnTo>
                    <a:lnTo>
                      <a:pt x="748" y="2048"/>
                    </a:lnTo>
                    <a:lnTo>
                      <a:pt x="734" y="2078"/>
                    </a:lnTo>
                    <a:lnTo>
                      <a:pt x="721" y="2109"/>
                    </a:lnTo>
                    <a:lnTo>
                      <a:pt x="708" y="2140"/>
                    </a:lnTo>
                    <a:lnTo>
                      <a:pt x="698" y="2171"/>
                    </a:lnTo>
                    <a:lnTo>
                      <a:pt x="686" y="2202"/>
                    </a:lnTo>
                    <a:lnTo>
                      <a:pt x="677" y="2233"/>
                    </a:lnTo>
                    <a:lnTo>
                      <a:pt x="669" y="2265"/>
                    </a:lnTo>
                    <a:lnTo>
                      <a:pt x="661" y="2298"/>
                    </a:lnTo>
                    <a:lnTo>
                      <a:pt x="654" y="2330"/>
                    </a:lnTo>
                    <a:lnTo>
                      <a:pt x="647" y="2362"/>
                    </a:lnTo>
                    <a:lnTo>
                      <a:pt x="642" y="2397"/>
                    </a:lnTo>
                    <a:lnTo>
                      <a:pt x="637" y="2429"/>
                    </a:lnTo>
                    <a:lnTo>
                      <a:pt x="633" y="2464"/>
                    </a:lnTo>
                    <a:lnTo>
                      <a:pt x="629" y="2498"/>
                    </a:lnTo>
                    <a:lnTo>
                      <a:pt x="627" y="2533"/>
                    </a:lnTo>
                    <a:lnTo>
                      <a:pt x="623" y="2567"/>
                    </a:lnTo>
                    <a:lnTo>
                      <a:pt x="622" y="2604"/>
                    </a:lnTo>
                    <a:lnTo>
                      <a:pt x="621" y="2640"/>
                    </a:lnTo>
                    <a:lnTo>
                      <a:pt x="620" y="2677"/>
                    </a:lnTo>
                    <a:lnTo>
                      <a:pt x="620" y="2715"/>
                    </a:lnTo>
                    <a:lnTo>
                      <a:pt x="1280" y="2715"/>
                    </a:lnTo>
                    <a:lnTo>
                      <a:pt x="1280" y="2692"/>
                    </a:lnTo>
                    <a:lnTo>
                      <a:pt x="1279" y="2670"/>
                    </a:lnTo>
                    <a:lnTo>
                      <a:pt x="1279" y="2648"/>
                    </a:lnTo>
                    <a:lnTo>
                      <a:pt x="1279" y="2626"/>
                    </a:lnTo>
                    <a:lnTo>
                      <a:pt x="1280" y="2604"/>
                    </a:lnTo>
                    <a:lnTo>
                      <a:pt x="1281" y="2582"/>
                    </a:lnTo>
                    <a:lnTo>
                      <a:pt x="1282" y="2562"/>
                    </a:lnTo>
                    <a:lnTo>
                      <a:pt x="1284" y="2541"/>
                    </a:lnTo>
                    <a:lnTo>
                      <a:pt x="1287" y="2520"/>
                    </a:lnTo>
                    <a:lnTo>
                      <a:pt x="1291" y="2499"/>
                    </a:lnTo>
                    <a:lnTo>
                      <a:pt x="1295" y="2480"/>
                    </a:lnTo>
                    <a:lnTo>
                      <a:pt x="1299" y="2460"/>
                    </a:lnTo>
                    <a:lnTo>
                      <a:pt x="1304" y="2441"/>
                    </a:lnTo>
                    <a:lnTo>
                      <a:pt x="1310" y="2421"/>
                    </a:lnTo>
                    <a:lnTo>
                      <a:pt x="1316" y="2401"/>
                    </a:lnTo>
                    <a:lnTo>
                      <a:pt x="1322" y="2383"/>
                    </a:lnTo>
                    <a:lnTo>
                      <a:pt x="1329" y="2365"/>
                    </a:lnTo>
                    <a:lnTo>
                      <a:pt x="1339" y="2345"/>
                    </a:lnTo>
                    <a:lnTo>
                      <a:pt x="1347" y="2328"/>
                    </a:lnTo>
                    <a:lnTo>
                      <a:pt x="1357" y="2309"/>
                    </a:lnTo>
                    <a:lnTo>
                      <a:pt x="1367" y="2292"/>
                    </a:lnTo>
                    <a:lnTo>
                      <a:pt x="1379" y="2275"/>
                    </a:lnTo>
                    <a:lnTo>
                      <a:pt x="1390" y="2257"/>
                    </a:lnTo>
                    <a:lnTo>
                      <a:pt x="1403" y="2240"/>
                    </a:lnTo>
                    <a:lnTo>
                      <a:pt x="1417" y="2224"/>
                    </a:lnTo>
                    <a:lnTo>
                      <a:pt x="1431" y="2208"/>
                    </a:lnTo>
                    <a:lnTo>
                      <a:pt x="1446" y="2193"/>
                    </a:lnTo>
                    <a:lnTo>
                      <a:pt x="1462" y="2177"/>
                    </a:lnTo>
                    <a:lnTo>
                      <a:pt x="1479" y="2161"/>
                    </a:lnTo>
                    <a:lnTo>
                      <a:pt x="1496" y="2146"/>
                    </a:lnTo>
                    <a:lnTo>
                      <a:pt x="1516" y="2131"/>
                    </a:lnTo>
                    <a:lnTo>
                      <a:pt x="1536" y="2117"/>
                    </a:lnTo>
                    <a:lnTo>
                      <a:pt x="1563" y="2097"/>
                    </a:lnTo>
                    <a:lnTo>
                      <a:pt x="1591" y="2078"/>
                    </a:lnTo>
                    <a:lnTo>
                      <a:pt x="1619" y="2057"/>
                    </a:lnTo>
                    <a:lnTo>
                      <a:pt x="1647" y="2035"/>
                    </a:lnTo>
                    <a:lnTo>
                      <a:pt x="1676" y="2012"/>
                    </a:lnTo>
                    <a:lnTo>
                      <a:pt x="1704" y="1989"/>
                    </a:lnTo>
                    <a:lnTo>
                      <a:pt x="1731" y="1964"/>
                    </a:lnTo>
                    <a:lnTo>
                      <a:pt x="1760" y="1939"/>
                    </a:lnTo>
                    <a:lnTo>
                      <a:pt x="1788" y="1914"/>
                    </a:lnTo>
                    <a:lnTo>
                      <a:pt x="1816" y="1887"/>
                    </a:lnTo>
                    <a:lnTo>
                      <a:pt x="1843" y="1861"/>
                    </a:lnTo>
                    <a:lnTo>
                      <a:pt x="1870" y="1832"/>
                    </a:lnTo>
                    <a:lnTo>
                      <a:pt x="1896" y="1802"/>
                    </a:lnTo>
                    <a:lnTo>
                      <a:pt x="1922" y="1772"/>
                    </a:lnTo>
                    <a:lnTo>
                      <a:pt x="1946" y="1742"/>
                    </a:lnTo>
                    <a:lnTo>
                      <a:pt x="1970" y="1711"/>
                    </a:lnTo>
                    <a:lnTo>
                      <a:pt x="1993" y="1679"/>
                    </a:lnTo>
                    <a:lnTo>
                      <a:pt x="2016" y="1647"/>
                    </a:lnTo>
                    <a:lnTo>
                      <a:pt x="2037" y="1612"/>
                    </a:lnTo>
                    <a:lnTo>
                      <a:pt x="2057" y="1578"/>
                    </a:lnTo>
                    <a:lnTo>
                      <a:pt x="2076" y="1544"/>
                    </a:lnTo>
                    <a:lnTo>
                      <a:pt x="2093" y="1507"/>
                    </a:lnTo>
                    <a:lnTo>
                      <a:pt x="2110" y="1472"/>
                    </a:lnTo>
                    <a:lnTo>
                      <a:pt x="2125" y="1435"/>
                    </a:lnTo>
                    <a:lnTo>
                      <a:pt x="2138" y="1398"/>
                    </a:lnTo>
                    <a:lnTo>
                      <a:pt x="2151" y="1360"/>
                    </a:lnTo>
                    <a:lnTo>
                      <a:pt x="2161" y="1321"/>
                    </a:lnTo>
                    <a:lnTo>
                      <a:pt x="2170" y="1281"/>
                    </a:lnTo>
                    <a:lnTo>
                      <a:pt x="2177" y="1242"/>
                    </a:lnTo>
                    <a:lnTo>
                      <a:pt x="2182" y="1201"/>
                    </a:lnTo>
                    <a:lnTo>
                      <a:pt x="2185" y="1160"/>
                    </a:lnTo>
                    <a:lnTo>
                      <a:pt x="2185" y="1118"/>
                    </a:lnTo>
                    <a:lnTo>
                      <a:pt x="2184" y="1053"/>
                    </a:lnTo>
                    <a:lnTo>
                      <a:pt x="2181" y="990"/>
                    </a:lnTo>
                    <a:lnTo>
                      <a:pt x="2174" y="929"/>
                    </a:lnTo>
                    <a:lnTo>
                      <a:pt x="2163" y="869"/>
                    </a:lnTo>
                    <a:lnTo>
                      <a:pt x="2151" y="811"/>
                    </a:lnTo>
                    <a:lnTo>
                      <a:pt x="2136" y="756"/>
                    </a:lnTo>
                    <a:lnTo>
                      <a:pt x="2119" y="703"/>
                    </a:lnTo>
                    <a:lnTo>
                      <a:pt x="2100" y="651"/>
                    </a:lnTo>
                    <a:lnTo>
                      <a:pt x="2078" y="600"/>
                    </a:lnTo>
                    <a:lnTo>
                      <a:pt x="2054" y="553"/>
                    </a:lnTo>
                    <a:lnTo>
                      <a:pt x="2028" y="507"/>
                    </a:lnTo>
                    <a:lnTo>
                      <a:pt x="2000" y="463"/>
                    </a:lnTo>
                    <a:lnTo>
                      <a:pt x="1970" y="422"/>
                    </a:lnTo>
                    <a:lnTo>
                      <a:pt x="1939" y="382"/>
                    </a:lnTo>
                    <a:lnTo>
                      <a:pt x="1905" y="344"/>
                    </a:lnTo>
                    <a:lnTo>
                      <a:pt x="1871" y="308"/>
                    </a:lnTo>
                    <a:lnTo>
                      <a:pt x="1835" y="273"/>
                    </a:lnTo>
                    <a:lnTo>
                      <a:pt x="1798" y="242"/>
                    </a:lnTo>
                    <a:lnTo>
                      <a:pt x="1760" y="212"/>
                    </a:lnTo>
                    <a:lnTo>
                      <a:pt x="1721" y="183"/>
                    </a:lnTo>
                    <a:lnTo>
                      <a:pt x="1681" y="158"/>
                    </a:lnTo>
                    <a:lnTo>
                      <a:pt x="1639" y="134"/>
                    </a:lnTo>
                    <a:lnTo>
                      <a:pt x="1597" y="112"/>
                    </a:lnTo>
                    <a:lnTo>
                      <a:pt x="1554" y="91"/>
                    </a:lnTo>
                    <a:lnTo>
                      <a:pt x="1511" y="74"/>
                    </a:lnTo>
                    <a:lnTo>
                      <a:pt x="1468" y="58"/>
                    </a:lnTo>
                    <a:lnTo>
                      <a:pt x="1424" y="44"/>
                    </a:lnTo>
                    <a:lnTo>
                      <a:pt x="1379" y="31"/>
                    </a:lnTo>
                    <a:lnTo>
                      <a:pt x="1335" y="22"/>
                    </a:lnTo>
                    <a:lnTo>
                      <a:pt x="1290" y="14"/>
                    </a:lnTo>
                    <a:lnTo>
                      <a:pt x="1246" y="8"/>
                    </a:lnTo>
                    <a:lnTo>
                      <a:pt x="1201" y="5"/>
                    </a:lnTo>
                    <a:lnTo>
                      <a:pt x="1138" y="1"/>
                    </a:lnTo>
                    <a:lnTo>
                      <a:pt x="1075" y="0"/>
                    </a:lnTo>
                    <a:lnTo>
                      <a:pt x="1013" y="1"/>
                    </a:lnTo>
                    <a:lnTo>
                      <a:pt x="954" y="5"/>
                    </a:lnTo>
                    <a:lnTo>
                      <a:pt x="894" y="11"/>
                    </a:lnTo>
                    <a:lnTo>
                      <a:pt x="836" y="19"/>
                    </a:lnTo>
                    <a:lnTo>
                      <a:pt x="780" y="29"/>
                    </a:lnTo>
                    <a:lnTo>
                      <a:pt x="724" y="42"/>
                    </a:lnTo>
                    <a:lnTo>
                      <a:pt x="671" y="55"/>
                    </a:lnTo>
                    <a:lnTo>
                      <a:pt x="619" y="72"/>
                    </a:lnTo>
                    <a:lnTo>
                      <a:pt x="569" y="91"/>
                    </a:lnTo>
                    <a:lnTo>
                      <a:pt x="519" y="112"/>
                    </a:lnTo>
                    <a:lnTo>
                      <a:pt x="473" y="136"/>
                    </a:lnTo>
                    <a:lnTo>
                      <a:pt x="428" y="160"/>
                    </a:lnTo>
                    <a:lnTo>
                      <a:pt x="385" y="187"/>
                    </a:lnTo>
                    <a:lnTo>
                      <a:pt x="343" y="217"/>
                    </a:lnTo>
                    <a:lnTo>
                      <a:pt x="304" y="248"/>
                    </a:lnTo>
                    <a:lnTo>
                      <a:pt x="267" y="281"/>
                    </a:lnTo>
                    <a:lnTo>
                      <a:pt x="231" y="316"/>
                    </a:lnTo>
                    <a:lnTo>
                      <a:pt x="199" y="354"/>
                    </a:lnTo>
                    <a:lnTo>
                      <a:pt x="168" y="393"/>
                    </a:lnTo>
                    <a:lnTo>
                      <a:pt x="140" y="433"/>
                    </a:lnTo>
                    <a:lnTo>
                      <a:pt x="114" y="476"/>
                    </a:lnTo>
                    <a:lnTo>
                      <a:pt x="91" y="521"/>
                    </a:lnTo>
                    <a:lnTo>
                      <a:pt x="70" y="567"/>
                    </a:lnTo>
                    <a:lnTo>
                      <a:pt x="52" y="615"/>
                    </a:lnTo>
                    <a:lnTo>
                      <a:pt x="37" y="665"/>
                    </a:lnTo>
                    <a:lnTo>
                      <a:pt x="23" y="717"/>
                    </a:lnTo>
                    <a:lnTo>
                      <a:pt x="13" y="770"/>
                    </a:lnTo>
                    <a:lnTo>
                      <a:pt x="6" y="825"/>
                    </a:lnTo>
                    <a:lnTo>
                      <a:pt x="1" y="883"/>
                    </a:lnTo>
                    <a:lnTo>
                      <a:pt x="0" y="940"/>
                    </a:lnTo>
                    <a:lnTo>
                      <a:pt x="0" y="1340"/>
                    </a:lnTo>
                    <a:close/>
                  </a:path>
                </a:pathLst>
              </a:custGeom>
              <a:solidFill>
                <a:srgbClr val="800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316440" name="Text Box 24"/>
          <p:cNvSpPr txBox="1">
            <a:spLocks noChangeArrowheads="1"/>
          </p:cNvSpPr>
          <p:nvPr/>
        </p:nvSpPr>
        <p:spPr bwMode="auto">
          <a:xfrm>
            <a:off x="1492250" y="228600"/>
            <a:ext cx="4756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a:solidFill>
                  <a:srgbClr val="FF66CC"/>
                </a:solidFill>
                <a:ea typeface="楷体_GB2312" charset="0"/>
              </a:rPr>
              <a:t>一、</a:t>
            </a:r>
            <a:r>
              <a:rPr lang="zh-CN" altLang="en-US" sz="4000" b="1">
                <a:solidFill>
                  <a:srgbClr val="FF00FF"/>
                </a:solidFill>
                <a:ea typeface="楷体_GB2312" charset="0"/>
              </a:rPr>
              <a:t>哈希表是什么？</a:t>
            </a:r>
          </a:p>
        </p:txBody>
      </p:sp>
    </p:spTree>
    <p:extLst>
      <p:ext uri="{BB962C8B-B14F-4D97-AF65-F5344CB8AC3E}">
        <p14:creationId xmlns:p14="http://schemas.microsoft.com/office/powerpoint/2010/main" val="7094644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16420"/>
                                        </p:tgtEl>
                                        <p:attrNameLst>
                                          <p:attrName>style.visibility</p:attrName>
                                        </p:attrNameLst>
                                      </p:cBhvr>
                                      <p:to>
                                        <p:strVal val="visible"/>
                                      </p:to>
                                    </p:set>
                                    <p:animEffect transition="in" filter="wipe(down)">
                                      <p:cBhvr>
                                        <p:cTn id="7" dur="500"/>
                                        <p:tgtEl>
                                          <p:spTgt spid="3164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16425"/>
                                        </p:tgtEl>
                                        <p:attrNameLst>
                                          <p:attrName>style.visibility</p:attrName>
                                        </p:attrNameLst>
                                      </p:cBhvr>
                                      <p:to>
                                        <p:strVal val="visible"/>
                                      </p:to>
                                    </p:set>
                                    <p:animEffect transition="in" filter="wipe(left)">
                                      <p:cBhvr>
                                        <p:cTn id="12" dur="500"/>
                                        <p:tgtEl>
                                          <p:spTgt spid="3164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16429"/>
                                        </p:tgtEl>
                                        <p:attrNameLst>
                                          <p:attrName>style.visibility</p:attrName>
                                        </p:attrNameLst>
                                      </p:cBhvr>
                                      <p:to>
                                        <p:strVal val="visible"/>
                                      </p:to>
                                    </p:set>
                                    <p:animEffect transition="in" filter="wipe(down)">
                                      <p:cBhvr>
                                        <p:cTn id="17" dur="500"/>
                                        <p:tgtEl>
                                          <p:spTgt spid="3164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16419"/>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nodeType="clickEffect">
                                  <p:stCondLst>
                                    <p:cond delay="0"/>
                                  </p:stCondLst>
                                  <p:childTnLst>
                                    <p:set>
                                      <p:cBhvr>
                                        <p:cTn id="25" dur="1" fill="hold">
                                          <p:stCondLst>
                                            <p:cond delay="0"/>
                                          </p:stCondLst>
                                        </p:cTn>
                                        <p:tgtEl>
                                          <p:spTgt spid="316435"/>
                                        </p:tgtEl>
                                        <p:attrNameLst>
                                          <p:attrName>style.visibility</p:attrName>
                                        </p:attrNameLst>
                                      </p:cBhvr>
                                      <p:to>
                                        <p:strVal val="visible"/>
                                      </p:to>
                                    </p:set>
                                    <p:animEffect transition="in" filter="wipe(down)">
                                      <p:cBhvr>
                                        <p:cTn id="26" dur="500"/>
                                        <p:tgtEl>
                                          <p:spTgt spid="31643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6434"/>
                                        </p:tgtEl>
                                        <p:attrNameLst>
                                          <p:attrName>style.visibility</p:attrName>
                                        </p:attrNameLst>
                                      </p:cBhvr>
                                      <p:to>
                                        <p:strVal val="visible"/>
                                      </p:to>
                                    </p:set>
                                  </p:childTnLst>
                                </p:cTn>
                              </p:par>
                            </p:childTnLst>
                          </p:cTn>
                        </p:par>
                        <p:par>
                          <p:cTn id="31" fill="hold" nodeType="afterGroup">
                            <p:stCondLst>
                              <p:cond delay="0"/>
                            </p:stCondLst>
                            <p:childTnLst>
                              <p:par>
                                <p:cTn id="32" presetID="22" presetClass="entr" presetSubtype="1" fill="hold" grpId="0" nodeType="afterEffect">
                                  <p:stCondLst>
                                    <p:cond delay="0"/>
                                  </p:stCondLst>
                                  <p:childTnLst>
                                    <p:set>
                                      <p:cBhvr>
                                        <p:cTn id="33" dur="1" fill="hold">
                                          <p:stCondLst>
                                            <p:cond delay="0"/>
                                          </p:stCondLst>
                                        </p:cTn>
                                        <p:tgtEl>
                                          <p:spTgt spid="316440"/>
                                        </p:tgtEl>
                                        <p:attrNameLst>
                                          <p:attrName>style.visibility</p:attrName>
                                        </p:attrNameLst>
                                      </p:cBhvr>
                                      <p:to>
                                        <p:strVal val="visible"/>
                                      </p:to>
                                    </p:set>
                                    <p:animEffect transition="in" filter="wipe(up)">
                                      <p:cBhvr>
                                        <p:cTn id="34" dur="500"/>
                                        <p:tgtEl>
                                          <p:spTgt spid="316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p:bldP spid="316434" grpId="0"/>
      <p:bldP spid="316440" grpId="0"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Text Box 2"/>
          <p:cNvSpPr txBox="1">
            <a:spLocks noChangeArrowheads="1"/>
          </p:cNvSpPr>
          <p:nvPr/>
        </p:nvSpPr>
        <p:spPr bwMode="auto">
          <a:xfrm>
            <a:off x="152400" y="1079500"/>
            <a:ext cx="6400800" cy="579438"/>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spcBef>
                <a:spcPct val="50000"/>
              </a:spcBef>
            </a:pPr>
            <a:r>
              <a:rPr kumimoji="0" lang="zh-CN" altLang="en-US" sz="3200" b="1">
                <a:solidFill>
                  <a:srgbClr val="0033CC"/>
                </a:solidFill>
                <a:latin typeface="华文楷体" charset="-122"/>
                <a:ea typeface="华文楷体" charset="-122"/>
              </a:rPr>
              <a:t>概 述</a:t>
            </a:r>
          </a:p>
        </p:txBody>
      </p:sp>
      <p:sp>
        <p:nvSpPr>
          <p:cNvPr id="317443" name="Text Box 3"/>
          <p:cNvSpPr txBox="1">
            <a:spLocks noChangeArrowheads="1"/>
          </p:cNvSpPr>
          <p:nvPr/>
        </p:nvSpPr>
        <p:spPr bwMode="auto">
          <a:xfrm>
            <a:off x="296863" y="1808163"/>
            <a:ext cx="8534400" cy="1373187"/>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spcBef>
                <a:spcPct val="50000"/>
              </a:spcBef>
            </a:pPr>
            <a:r>
              <a:rPr kumimoji="0" lang="zh-CN" altLang="en-US" sz="2800" b="1">
                <a:solidFill>
                  <a:srgbClr val="FF5050"/>
                </a:solidFill>
                <a:latin typeface="华文楷体" charset="-122"/>
                <a:ea typeface="华文楷体" charset="-122"/>
              </a:rPr>
              <a:t>哈希表的基本思想：</a:t>
            </a:r>
            <a:r>
              <a:rPr lang="zh-CN" altLang="en-US" sz="2800" b="1">
                <a:solidFill>
                  <a:srgbClr val="003366"/>
                </a:solidFill>
                <a:latin typeface="华文楷体" charset="-122"/>
                <a:ea typeface="华文楷体" charset="-122"/>
              </a:rPr>
              <a:t>在记录的存储地址和它的关键码之间建立一个确定的对应关系。这样，不经过比较，一次读取就能得到所查元素的查找方法。</a:t>
            </a:r>
          </a:p>
        </p:txBody>
      </p:sp>
      <p:sp>
        <p:nvSpPr>
          <p:cNvPr id="317445" name="Oval 5"/>
          <p:cNvSpPr>
            <a:spLocks noChangeArrowheads="1"/>
          </p:cNvSpPr>
          <p:nvPr/>
        </p:nvSpPr>
        <p:spPr bwMode="auto">
          <a:xfrm>
            <a:off x="1150938" y="3429000"/>
            <a:ext cx="1928812" cy="2879725"/>
          </a:xfrm>
          <a:prstGeom prst="ellipse">
            <a:avLst/>
          </a:prstGeom>
          <a:solidFill>
            <a:schemeClr val="hlink"/>
          </a:solidFill>
          <a:ln w="38100">
            <a:solidFill>
              <a:schemeClr val="accent1"/>
            </a:solidFill>
            <a:round/>
            <a:headEnd/>
            <a:tailEnd/>
          </a:ln>
          <a:effectLst/>
          <a:extLst>
            <a:ext uri="{AF507438-7753-43E0-B8FC-AC1667EBCBE1}">
              <a14:hiddenEffects xmlns:a14="http://schemas.microsoft.com/office/drawing/2010/main">
                <a:effectLst>
                  <a:outerShdw blurRad="63500" dist="165588" dir="21336078" algn="ctr" rotWithShape="0">
                    <a:schemeClr val="accent1">
                      <a:gamma/>
                      <a:shade val="60000"/>
                      <a:invGamma/>
                      <a:alpha val="74998"/>
                    </a:schemeClr>
                  </a:outerShdw>
                </a:effectLst>
              </a14:hiddenEffects>
            </a:ext>
          </a:extLst>
        </p:spPr>
        <p:txBody>
          <a:bodyPr/>
          <a:lstStyle/>
          <a:p>
            <a:pPr algn="ctr"/>
            <a:endParaRPr kumimoji="0" lang="zh-CN" altLang="zh-CN" sz="1800" b="1">
              <a:solidFill>
                <a:schemeClr val="accent2"/>
              </a:solidFill>
              <a:latin typeface="Arial" charset="0"/>
            </a:endParaRPr>
          </a:p>
        </p:txBody>
      </p:sp>
      <p:sp>
        <p:nvSpPr>
          <p:cNvPr id="317446" name="Text Box 6"/>
          <p:cNvSpPr txBox="1">
            <a:spLocks noChangeArrowheads="1"/>
          </p:cNvSpPr>
          <p:nvPr/>
        </p:nvSpPr>
        <p:spPr bwMode="auto">
          <a:xfrm>
            <a:off x="1454150" y="3952875"/>
            <a:ext cx="314325"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a:lnSpc>
                <a:spcPct val="96000"/>
              </a:lnSpc>
            </a:pPr>
            <a:r>
              <a:rPr kumimoji="0" lang="zh-CN" altLang="en-US" b="1">
                <a:cs typeface="Angsana New" charset="0"/>
              </a:rPr>
              <a:t>关键码集合</a:t>
            </a:r>
            <a:endParaRPr kumimoji="0" lang="zh-CN" altLang="en-US" b="1">
              <a:latin typeface="Arial" charset="0"/>
              <a:ea typeface="华文行楷" charset="-122"/>
              <a:cs typeface="Angsana New" charset="0"/>
            </a:endParaRPr>
          </a:p>
        </p:txBody>
      </p:sp>
      <p:sp>
        <p:nvSpPr>
          <p:cNvPr id="317447" name="Text Box 7"/>
          <p:cNvSpPr txBox="1">
            <a:spLocks noChangeArrowheads="1"/>
          </p:cNvSpPr>
          <p:nvPr/>
        </p:nvSpPr>
        <p:spPr bwMode="auto">
          <a:xfrm>
            <a:off x="2232025" y="4643438"/>
            <a:ext cx="3667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a:lnSpc>
                <a:spcPct val="96000"/>
              </a:lnSpc>
            </a:pPr>
            <a:r>
              <a:rPr kumimoji="0" lang="en-US" altLang="zh-CN" b="1" i="1">
                <a:cs typeface="Angsana New" charset="0"/>
              </a:rPr>
              <a:t>k</a:t>
            </a:r>
            <a:r>
              <a:rPr kumimoji="0" lang="en-US" altLang="zh-CN" b="1" i="1" baseline="-25000">
                <a:cs typeface="Angsana New" charset="0"/>
              </a:rPr>
              <a:t>i</a:t>
            </a:r>
            <a:endParaRPr kumimoji="0" lang="en-US" altLang="zh-CN" b="1">
              <a:latin typeface="Arial" charset="0"/>
              <a:ea typeface="华文行楷" charset="-122"/>
              <a:cs typeface="Angsana New" charset="0"/>
            </a:endParaRPr>
          </a:p>
        </p:txBody>
      </p:sp>
      <p:sp>
        <p:nvSpPr>
          <p:cNvPr id="317448" name="Text Box 8"/>
          <p:cNvSpPr txBox="1">
            <a:spLocks noChangeArrowheads="1"/>
          </p:cNvSpPr>
          <p:nvPr/>
        </p:nvSpPr>
        <p:spPr bwMode="auto">
          <a:xfrm>
            <a:off x="6238875" y="3294063"/>
            <a:ext cx="1168400" cy="31051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a:lnSpc>
                <a:spcPct val="112000"/>
              </a:lnSpc>
            </a:pPr>
            <a:endParaRPr kumimoji="0" lang="en-US" altLang="zh-CN" b="1" i="1">
              <a:cs typeface="Angsana New" charset="0"/>
            </a:endParaRPr>
          </a:p>
          <a:p>
            <a:pPr algn="just">
              <a:lnSpc>
                <a:spcPct val="112000"/>
              </a:lnSpc>
            </a:pPr>
            <a:endParaRPr kumimoji="0" lang="en-US" altLang="zh-CN" b="1" i="1">
              <a:cs typeface="Angsana New" charset="0"/>
            </a:endParaRPr>
          </a:p>
          <a:p>
            <a:pPr algn="just"/>
            <a:endParaRPr kumimoji="0" lang="en-US" altLang="zh-CN" b="1" i="1">
              <a:cs typeface="Angsana New" charset="0"/>
            </a:endParaRPr>
          </a:p>
          <a:p>
            <a:pPr algn="just"/>
            <a:r>
              <a:rPr kumimoji="0" lang="en-US" altLang="zh-CN" b="1" i="1">
                <a:cs typeface="Angsana New" charset="0"/>
              </a:rPr>
              <a:t>     r</a:t>
            </a:r>
            <a:r>
              <a:rPr kumimoji="0" lang="en-US" altLang="zh-CN" b="1" i="1" baseline="-25000">
                <a:cs typeface="Angsana New" charset="0"/>
              </a:rPr>
              <a:t>i</a:t>
            </a:r>
            <a:endParaRPr kumimoji="0" lang="en-US" altLang="zh-CN" b="1">
              <a:latin typeface="Arial" charset="0"/>
              <a:ea typeface="华文行楷" charset="-122"/>
              <a:cs typeface="Angsana New" charset="0"/>
            </a:endParaRPr>
          </a:p>
        </p:txBody>
      </p:sp>
      <p:sp>
        <p:nvSpPr>
          <p:cNvPr id="317449" name="Line 9"/>
          <p:cNvSpPr>
            <a:spLocks noChangeShapeType="1"/>
          </p:cNvSpPr>
          <p:nvPr/>
        </p:nvSpPr>
        <p:spPr bwMode="auto">
          <a:xfrm>
            <a:off x="6238875" y="4537075"/>
            <a:ext cx="1168400"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450" name="Line 10"/>
          <p:cNvSpPr>
            <a:spLocks noChangeShapeType="1"/>
          </p:cNvSpPr>
          <p:nvPr/>
        </p:nvSpPr>
        <p:spPr bwMode="auto">
          <a:xfrm>
            <a:off x="6238875" y="4918075"/>
            <a:ext cx="1168400"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451" name="Text Box 11"/>
          <p:cNvSpPr txBox="1">
            <a:spLocks noChangeArrowheads="1"/>
          </p:cNvSpPr>
          <p:nvPr/>
        </p:nvSpPr>
        <p:spPr bwMode="auto">
          <a:xfrm>
            <a:off x="5453063" y="4608513"/>
            <a:ext cx="73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a:lnSpc>
                <a:spcPct val="96000"/>
              </a:lnSpc>
            </a:pPr>
            <a:r>
              <a:rPr kumimoji="0" lang="en-US" altLang="zh-CN" b="1" i="1">
                <a:cs typeface="Angsana New" charset="0"/>
              </a:rPr>
              <a:t>H</a:t>
            </a:r>
            <a:r>
              <a:rPr kumimoji="0" lang="en-US" altLang="zh-CN" b="1">
                <a:latin typeface="宋体" charset="-122"/>
                <a:cs typeface="Angsana New" charset="0"/>
              </a:rPr>
              <a:t>(</a:t>
            </a:r>
            <a:r>
              <a:rPr kumimoji="0" lang="en-US" altLang="zh-CN" b="1" i="1">
                <a:cs typeface="Angsana New" charset="0"/>
              </a:rPr>
              <a:t>k</a:t>
            </a:r>
            <a:r>
              <a:rPr kumimoji="0" lang="en-US" altLang="zh-CN" b="1" i="1" baseline="-25000">
                <a:cs typeface="Angsana New" charset="0"/>
              </a:rPr>
              <a:t>i</a:t>
            </a:r>
            <a:r>
              <a:rPr kumimoji="0" lang="en-US" altLang="zh-CN" b="1">
                <a:latin typeface="宋体" charset="-122"/>
                <a:cs typeface="Angsana New" charset="0"/>
              </a:rPr>
              <a:t>)</a:t>
            </a:r>
            <a:endParaRPr kumimoji="0" lang="en-US" altLang="zh-CN" b="1">
              <a:latin typeface="Arial" charset="0"/>
              <a:ea typeface="华文行楷" charset="-122"/>
              <a:cs typeface="Angsana New" charset="0"/>
            </a:endParaRPr>
          </a:p>
        </p:txBody>
      </p:sp>
      <p:sp>
        <p:nvSpPr>
          <p:cNvPr id="317452" name="Text Box 12"/>
          <p:cNvSpPr txBox="1">
            <a:spLocks noChangeArrowheads="1"/>
          </p:cNvSpPr>
          <p:nvPr/>
        </p:nvSpPr>
        <p:spPr bwMode="auto">
          <a:xfrm>
            <a:off x="6734175" y="3563938"/>
            <a:ext cx="334963" cy="82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18000" tIns="36000" rIns="18000" bIns="0"/>
          <a:lstStyle/>
          <a:p>
            <a:pPr algn="just">
              <a:lnSpc>
                <a:spcPct val="96000"/>
              </a:lnSpc>
            </a:pPr>
            <a:r>
              <a:rPr kumimoji="0" lang="en-US" altLang="zh-CN" b="1">
                <a:cs typeface="Angsana New" charset="0"/>
              </a:rPr>
              <a:t>……</a:t>
            </a:r>
            <a:endParaRPr kumimoji="0" lang="en-US" altLang="zh-CN" b="1">
              <a:latin typeface="Arial" charset="0"/>
              <a:ea typeface="华文行楷" charset="-122"/>
              <a:cs typeface="Angsana New" charset="0"/>
            </a:endParaRPr>
          </a:p>
        </p:txBody>
      </p:sp>
      <p:sp>
        <p:nvSpPr>
          <p:cNvPr id="317453" name="Text Box 13"/>
          <p:cNvSpPr txBox="1">
            <a:spLocks noChangeArrowheads="1"/>
          </p:cNvSpPr>
          <p:nvPr/>
        </p:nvSpPr>
        <p:spPr bwMode="auto">
          <a:xfrm>
            <a:off x="6721475" y="5273675"/>
            <a:ext cx="334963"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18000" tIns="36000" rIns="18000" bIns="0"/>
          <a:lstStyle/>
          <a:p>
            <a:pPr algn="just">
              <a:lnSpc>
                <a:spcPct val="96000"/>
              </a:lnSpc>
            </a:pPr>
            <a:r>
              <a:rPr kumimoji="0" lang="en-US" altLang="zh-CN" b="1">
                <a:cs typeface="Angsana New" charset="0"/>
              </a:rPr>
              <a:t>……</a:t>
            </a:r>
            <a:endParaRPr kumimoji="0" lang="en-US" altLang="zh-CN" b="1">
              <a:latin typeface="Arial" charset="0"/>
              <a:ea typeface="华文行楷" charset="-122"/>
              <a:cs typeface="Angsana New" charset="0"/>
            </a:endParaRPr>
          </a:p>
        </p:txBody>
      </p:sp>
      <p:sp>
        <p:nvSpPr>
          <p:cNvPr id="317454" name="Text Box 14"/>
          <p:cNvSpPr txBox="1">
            <a:spLocks noChangeArrowheads="1"/>
          </p:cNvSpPr>
          <p:nvPr/>
        </p:nvSpPr>
        <p:spPr bwMode="auto">
          <a:xfrm>
            <a:off x="3357563" y="4329113"/>
            <a:ext cx="1946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ctr">
              <a:lnSpc>
                <a:spcPct val="96000"/>
              </a:lnSpc>
            </a:pPr>
            <a:r>
              <a:rPr kumimoji="0" lang="en-US" altLang="zh-CN" b="1" i="1">
                <a:cs typeface="Angsana New" charset="0"/>
              </a:rPr>
              <a:t>H</a:t>
            </a:r>
            <a:endParaRPr kumimoji="0" lang="en-US" altLang="zh-CN" b="1">
              <a:ea typeface="华文行楷" charset="-122"/>
              <a:cs typeface="Angsana New" charset="0"/>
            </a:endParaRPr>
          </a:p>
        </p:txBody>
      </p:sp>
      <p:sp>
        <p:nvSpPr>
          <p:cNvPr id="317455" name="Line 15"/>
          <p:cNvSpPr>
            <a:spLocks noChangeShapeType="1"/>
          </p:cNvSpPr>
          <p:nvPr/>
        </p:nvSpPr>
        <p:spPr bwMode="auto">
          <a:xfrm>
            <a:off x="2592388" y="4822825"/>
            <a:ext cx="2879725" cy="0"/>
          </a:xfrm>
          <a:prstGeom prst="line">
            <a:avLst/>
          </a:prstGeom>
          <a:noFill/>
          <a:ln w="38100">
            <a:solidFill>
              <a:schemeClr val="accent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7456" name="Oval 16"/>
          <p:cNvSpPr>
            <a:spLocks noChangeArrowheads="1"/>
          </p:cNvSpPr>
          <p:nvPr/>
        </p:nvSpPr>
        <p:spPr bwMode="auto">
          <a:xfrm>
            <a:off x="2141538" y="4611688"/>
            <a:ext cx="431800" cy="431800"/>
          </a:xfrm>
          <a:prstGeom prst="ellipse">
            <a:avLst/>
          </a:prstGeom>
          <a:noFill/>
          <a:ln w="28575">
            <a:solidFill>
              <a:srgbClr val="008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7125243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Text Box 2"/>
          <p:cNvSpPr txBox="1">
            <a:spLocks noChangeArrowheads="1"/>
          </p:cNvSpPr>
          <p:nvPr/>
        </p:nvSpPr>
        <p:spPr bwMode="auto">
          <a:xfrm>
            <a:off x="296863" y="1854200"/>
            <a:ext cx="8382000" cy="946150"/>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spcBef>
                <a:spcPct val="50000"/>
              </a:spcBef>
            </a:pPr>
            <a:r>
              <a:rPr kumimoji="0" lang="zh-CN" altLang="en-US" sz="2800" b="1">
                <a:solidFill>
                  <a:srgbClr val="FF3300"/>
                </a:solidFill>
                <a:ea typeface="华文楷体" charset="-122"/>
              </a:rPr>
              <a:t>哈希表：</a:t>
            </a:r>
            <a:r>
              <a:rPr kumimoji="0" lang="zh-CN" altLang="en-US" sz="2800" b="1">
                <a:ea typeface="华文楷体" charset="-122"/>
              </a:rPr>
              <a:t>采用哈希技术将记录存储在一块</a:t>
            </a:r>
            <a:r>
              <a:rPr kumimoji="0" lang="zh-CN" altLang="en-US" sz="2800" b="1">
                <a:solidFill>
                  <a:srgbClr val="FF3300"/>
                </a:solidFill>
                <a:ea typeface="华文楷体" charset="-122"/>
              </a:rPr>
              <a:t>连续</a:t>
            </a:r>
            <a:r>
              <a:rPr kumimoji="0" lang="zh-CN" altLang="en-US" sz="2800" b="1">
                <a:ea typeface="华文楷体" charset="-122"/>
              </a:rPr>
              <a:t>的存储空间中，</a:t>
            </a:r>
            <a:r>
              <a:rPr kumimoji="0" lang="zh-CN" altLang="en-US" sz="2800" b="1">
                <a:latin typeface="宋体" charset="-122"/>
                <a:ea typeface="华文楷体" charset="-122"/>
              </a:rPr>
              <a:t>这块连续的存储空间</a:t>
            </a:r>
            <a:r>
              <a:rPr kumimoji="0" lang="zh-CN" altLang="en-US" sz="2800" b="1">
                <a:ea typeface="华文楷体" charset="-122"/>
              </a:rPr>
              <a:t>称为哈希表。</a:t>
            </a:r>
          </a:p>
        </p:txBody>
      </p:sp>
      <p:sp>
        <p:nvSpPr>
          <p:cNvPr id="318469" name="Oval 5"/>
          <p:cNvSpPr>
            <a:spLocks noChangeArrowheads="1"/>
          </p:cNvSpPr>
          <p:nvPr/>
        </p:nvSpPr>
        <p:spPr bwMode="auto">
          <a:xfrm>
            <a:off x="1150938" y="3384550"/>
            <a:ext cx="1928812" cy="2879725"/>
          </a:xfrm>
          <a:prstGeom prst="ellipse">
            <a:avLst/>
          </a:prstGeom>
          <a:solidFill>
            <a:schemeClr val="hlink"/>
          </a:solidFill>
          <a:ln w="38100">
            <a:solidFill>
              <a:schemeClr val="accent1"/>
            </a:solidFill>
            <a:round/>
            <a:headEnd/>
            <a:tailEnd/>
          </a:ln>
          <a:effectLst/>
          <a:extLst>
            <a:ext uri="{AF507438-7753-43E0-B8FC-AC1667EBCBE1}">
              <a14:hiddenEffects xmlns:a14="http://schemas.microsoft.com/office/drawing/2010/main">
                <a:effectLst>
                  <a:outerShdw blurRad="63500" dist="165588" dir="21336078" algn="ctr" rotWithShape="0">
                    <a:schemeClr val="accent1">
                      <a:gamma/>
                      <a:shade val="60000"/>
                      <a:invGamma/>
                      <a:alpha val="74998"/>
                    </a:schemeClr>
                  </a:outerShdw>
                </a:effectLst>
              </a14:hiddenEffects>
            </a:ext>
          </a:extLst>
        </p:spPr>
        <p:txBody>
          <a:bodyPr/>
          <a:lstStyle/>
          <a:p>
            <a:pPr algn="ctr"/>
            <a:endParaRPr kumimoji="0" lang="zh-CN" altLang="zh-CN" sz="1800" b="1">
              <a:solidFill>
                <a:schemeClr val="accent2"/>
              </a:solidFill>
              <a:latin typeface="Arial" charset="0"/>
            </a:endParaRPr>
          </a:p>
        </p:txBody>
      </p:sp>
      <p:sp>
        <p:nvSpPr>
          <p:cNvPr id="318470" name="Text Box 6"/>
          <p:cNvSpPr txBox="1">
            <a:spLocks noChangeArrowheads="1"/>
          </p:cNvSpPr>
          <p:nvPr/>
        </p:nvSpPr>
        <p:spPr bwMode="auto">
          <a:xfrm>
            <a:off x="1454150" y="3908425"/>
            <a:ext cx="314325"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a:lnSpc>
                <a:spcPct val="96000"/>
              </a:lnSpc>
            </a:pPr>
            <a:r>
              <a:rPr kumimoji="0" lang="zh-CN" altLang="en-US" b="1">
                <a:cs typeface="Angsana New" charset="0"/>
              </a:rPr>
              <a:t>关键码集合</a:t>
            </a:r>
            <a:endParaRPr kumimoji="0" lang="zh-CN" altLang="en-US" b="1">
              <a:latin typeface="Arial" charset="0"/>
              <a:ea typeface="华文行楷" charset="-122"/>
              <a:cs typeface="Angsana New" charset="0"/>
            </a:endParaRPr>
          </a:p>
        </p:txBody>
      </p:sp>
      <p:sp>
        <p:nvSpPr>
          <p:cNvPr id="318471" name="Text Box 7"/>
          <p:cNvSpPr txBox="1">
            <a:spLocks noChangeArrowheads="1"/>
          </p:cNvSpPr>
          <p:nvPr/>
        </p:nvSpPr>
        <p:spPr bwMode="auto">
          <a:xfrm>
            <a:off x="2232025" y="4598988"/>
            <a:ext cx="3667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a:lnSpc>
                <a:spcPct val="96000"/>
              </a:lnSpc>
            </a:pPr>
            <a:r>
              <a:rPr kumimoji="0" lang="en-US" altLang="zh-CN" b="1" i="1">
                <a:cs typeface="Angsana New" charset="0"/>
              </a:rPr>
              <a:t>k</a:t>
            </a:r>
            <a:r>
              <a:rPr kumimoji="0" lang="en-US" altLang="zh-CN" b="1" i="1" baseline="-25000">
                <a:cs typeface="Angsana New" charset="0"/>
              </a:rPr>
              <a:t>i</a:t>
            </a:r>
            <a:endParaRPr kumimoji="0" lang="en-US" altLang="zh-CN" b="1">
              <a:latin typeface="Arial" charset="0"/>
              <a:ea typeface="华文行楷" charset="-122"/>
              <a:cs typeface="Angsana New" charset="0"/>
            </a:endParaRPr>
          </a:p>
        </p:txBody>
      </p:sp>
      <p:sp>
        <p:nvSpPr>
          <p:cNvPr id="318472" name="Text Box 8"/>
          <p:cNvSpPr txBox="1">
            <a:spLocks noChangeArrowheads="1"/>
          </p:cNvSpPr>
          <p:nvPr/>
        </p:nvSpPr>
        <p:spPr bwMode="auto">
          <a:xfrm>
            <a:off x="6238875" y="3249613"/>
            <a:ext cx="1168400" cy="31051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a:lnSpc>
                <a:spcPct val="112000"/>
              </a:lnSpc>
            </a:pPr>
            <a:endParaRPr kumimoji="0" lang="en-US" altLang="zh-CN" b="1" i="1">
              <a:cs typeface="Angsana New" charset="0"/>
            </a:endParaRPr>
          </a:p>
          <a:p>
            <a:pPr algn="just">
              <a:lnSpc>
                <a:spcPct val="112000"/>
              </a:lnSpc>
            </a:pPr>
            <a:endParaRPr kumimoji="0" lang="en-US" altLang="zh-CN" b="1" i="1">
              <a:cs typeface="Angsana New" charset="0"/>
            </a:endParaRPr>
          </a:p>
          <a:p>
            <a:pPr algn="just"/>
            <a:endParaRPr kumimoji="0" lang="en-US" altLang="zh-CN" b="1" i="1">
              <a:cs typeface="Angsana New" charset="0"/>
            </a:endParaRPr>
          </a:p>
          <a:p>
            <a:pPr algn="just"/>
            <a:r>
              <a:rPr kumimoji="0" lang="en-US" altLang="zh-CN" b="1" i="1">
                <a:cs typeface="Angsana New" charset="0"/>
              </a:rPr>
              <a:t>     r</a:t>
            </a:r>
            <a:r>
              <a:rPr kumimoji="0" lang="en-US" altLang="zh-CN" b="1" i="1" baseline="-25000">
                <a:cs typeface="Angsana New" charset="0"/>
              </a:rPr>
              <a:t>i</a:t>
            </a:r>
            <a:endParaRPr kumimoji="0" lang="en-US" altLang="zh-CN" b="1">
              <a:latin typeface="Arial" charset="0"/>
              <a:ea typeface="华文行楷" charset="-122"/>
              <a:cs typeface="Angsana New" charset="0"/>
            </a:endParaRPr>
          </a:p>
        </p:txBody>
      </p:sp>
      <p:sp>
        <p:nvSpPr>
          <p:cNvPr id="318473" name="Line 9"/>
          <p:cNvSpPr>
            <a:spLocks noChangeShapeType="1"/>
          </p:cNvSpPr>
          <p:nvPr/>
        </p:nvSpPr>
        <p:spPr bwMode="auto">
          <a:xfrm>
            <a:off x="6238875" y="4492625"/>
            <a:ext cx="1168400"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8474" name="Line 10"/>
          <p:cNvSpPr>
            <a:spLocks noChangeShapeType="1"/>
          </p:cNvSpPr>
          <p:nvPr/>
        </p:nvSpPr>
        <p:spPr bwMode="auto">
          <a:xfrm>
            <a:off x="6238875" y="4873625"/>
            <a:ext cx="1168400"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8475" name="Text Box 11"/>
          <p:cNvSpPr txBox="1">
            <a:spLocks noChangeArrowheads="1"/>
          </p:cNvSpPr>
          <p:nvPr/>
        </p:nvSpPr>
        <p:spPr bwMode="auto">
          <a:xfrm>
            <a:off x="5453063" y="4564063"/>
            <a:ext cx="73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a:lnSpc>
                <a:spcPct val="96000"/>
              </a:lnSpc>
            </a:pPr>
            <a:r>
              <a:rPr kumimoji="0" lang="en-US" altLang="zh-CN" b="1" i="1">
                <a:cs typeface="Angsana New" charset="0"/>
              </a:rPr>
              <a:t>H</a:t>
            </a:r>
            <a:r>
              <a:rPr kumimoji="0" lang="en-US" altLang="zh-CN" b="1">
                <a:latin typeface="宋体" charset="-122"/>
                <a:cs typeface="Angsana New" charset="0"/>
              </a:rPr>
              <a:t>(</a:t>
            </a:r>
            <a:r>
              <a:rPr kumimoji="0" lang="en-US" altLang="zh-CN" b="1" i="1">
                <a:cs typeface="Angsana New" charset="0"/>
              </a:rPr>
              <a:t>k</a:t>
            </a:r>
            <a:r>
              <a:rPr kumimoji="0" lang="en-US" altLang="zh-CN" b="1" i="1" baseline="-25000">
                <a:cs typeface="Angsana New" charset="0"/>
              </a:rPr>
              <a:t>i</a:t>
            </a:r>
            <a:r>
              <a:rPr kumimoji="0" lang="en-US" altLang="zh-CN" b="1">
                <a:latin typeface="宋体" charset="-122"/>
                <a:cs typeface="Angsana New" charset="0"/>
              </a:rPr>
              <a:t>)</a:t>
            </a:r>
            <a:endParaRPr kumimoji="0" lang="en-US" altLang="zh-CN" b="1">
              <a:latin typeface="Arial" charset="0"/>
              <a:ea typeface="华文行楷" charset="-122"/>
              <a:cs typeface="Angsana New" charset="0"/>
            </a:endParaRPr>
          </a:p>
        </p:txBody>
      </p:sp>
      <p:sp>
        <p:nvSpPr>
          <p:cNvPr id="318476" name="Text Box 12"/>
          <p:cNvSpPr txBox="1">
            <a:spLocks noChangeArrowheads="1"/>
          </p:cNvSpPr>
          <p:nvPr/>
        </p:nvSpPr>
        <p:spPr bwMode="auto">
          <a:xfrm>
            <a:off x="6734175" y="3519488"/>
            <a:ext cx="334963" cy="82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18000" tIns="36000" rIns="18000" bIns="0"/>
          <a:lstStyle/>
          <a:p>
            <a:pPr algn="just">
              <a:lnSpc>
                <a:spcPct val="96000"/>
              </a:lnSpc>
            </a:pPr>
            <a:r>
              <a:rPr kumimoji="0" lang="en-US" altLang="zh-CN" b="1">
                <a:cs typeface="Angsana New" charset="0"/>
              </a:rPr>
              <a:t>……</a:t>
            </a:r>
            <a:endParaRPr kumimoji="0" lang="en-US" altLang="zh-CN" b="1">
              <a:latin typeface="Arial" charset="0"/>
              <a:ea typeface="华文行楷" charset="-122"/>
              <a:cs typeface="Angsana New" charset="0"/>
            </a:endParaRPr>
          </a:p>
        </p:txBody>
      </p:sp>
      <p:sp>
        <p:nvSpPr>
          <p:cNvPr id="318477" name="Text Box 13"/>
          <p:cNvSpPr txBox="1">
            <a:spLocks noChangeArrowheads="1"/>
          </p:cNvSpPr>
          <p:nvPr/>
        </p:nvSpPr>
        <p:spPr bwMode="auto">
          <a:xfrm>
            <a:off x="6721475" y="5229225"/>
            <a:ext cx="334963"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18000" tIns="36000" rIns="18000" bIns="0"/>
          <a:lstStyle/>
          <a:p>
            <a:pPr algn="just">
              <a:lnSpc>
                <a:spcPct val="96000"/>
              </a:lnSpc>
            </a:pPr>
            <a:r>
              <a:rPr kumimoji="0" lang="en-US" altLang="zh-CN" b="1">
                <a:cs typeface="Angsana New" charset="0"/>
              </a:rPr>
              <a:t>……</a:t>
            </a:r>
            <a:endParaRPr kumimoji="0" lang="en-US" altLang="zh-CN" b="1">
              <a:latin typeface="Arial" charset="0"/>
              <a:ea typeface="华文行楷" charset="-122"/>
              <a:cs typeface="Angsana New" charset="0"/>
            </a:endParaRPr>
          </a:p>
        </p:txBody>
      </p:sp>
      <p:sp>
        <p:nvSpPr>
          <p:cNvPr id="318478" name="Text Box 14"/>
          <p:cNvSpPr txBox="1">
            <a:spLocks noChangeArrowheads="1"/>
          </p:cNvSpPr>
          <p:nvPr/>
        </p:nvSpPr>
        <p:spPr bwMode="auto">
          <a:xfrm>
            <a:off x="3357563" y="4284663"/>
            <a:ext cx="1946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ctr">
              <a:lnSpc>
                <a:spcPct val="96000"/>
              </a:lnSpc>
            </a:pPr>
            <a:r>
              <a:rPr kumimoji="0" lang="en-US" altLang="zh-CN" b="1" i="1">
                <a:cs typeface="Angsana New" charset="0"/>
              </a:rPr>
              <a:t>H</a:t>
            </a:r>
            <a:endParaRPr kumimoji="0" lang="en-US" altLang="zh-CN" b="1">
              <a:ea typeface="华文行楷" charset="-122"/>
              <a:cs typeface="Angsana New" charset="0"/>
            </a:endParaRPr>
          </a:p>
        </p:txBody>
      </p:sp>
      <p:sp>
        <p:nvSpPr>
          <p:cNvPr id="318479" name="Line 15"/>
          <p:cNvSpPr>
            <a:spLocks noChangeShapeType="1"/>
          </p:cNvSpPr>
          <p:nvPr/>
        </p:nvSpPr>
        <p:spPr bwMode="auto">
          <a:xfrm>
            <a:off x="2592388" y="4778375"/>
            <a:ext cx="2879725" cy="0"/>
          </a:xfrm>
          <a:prstGeom prst="line">
            <a:avLst/>
          </a:prstGeom>
          <a:noFill/>
          <a:ln w="38100">
            <a:solidFill>
              <a:schemeClr val="accent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8480" name="Oval 16"/>
          <p:cNvSpPr>
            <a:spLocks noChangeArrowheads="1"/>
          </p:cNvSpPr>
          <p:nvPr/>
        </p:nvSpPr>
        <p:spPr bwMode="auto">
          <a:xfrm>
            <a:off x="2141538" y="4567238"/>
            <a:ext cx="431800" cy="431800"/>
          </a:xfrm>
          <a:prstGeom prst="ellipse">
            <a:avLst/>
          </a:prstGeom>
          <a:noFill/>
          <a:ln w="28575">
            <a:solidFill>
              <a:srgbClr val="008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grpSp>
        <p:nvGrpSpPr>
          <p:cNvPr id="318481" name="Group 17"/>
          <p:cNvGrpSpPr>
            <a:grpSpLocks/>
          </p:cNvGrpSpPr>
          <p:nvPr/>
        </p:nvGrpSpPr>
        <p:grpSpPr bwMode="auto">
          <a:xfrm>
            <a:off x="7497763" y="3249613"/>
            <a:ext cx="1376362" cy="3105150"/>
            <a:chOff x="4723" y="2047"/>
            <a:chExt cx="867" cy="1956"/>
          </a:xfrm>
        </p:grpSpPr>
        <p:sp>
          <p:nvSpPr>
            <p:cNvPr id="318482" name="AutoShape 18"/>
            <p:cNvSpPr>
              <a:spLocks/>
            </p:cNvSpPr>
            <p:nvPr/>
          </p:nvSpPr>
          <p:spPr bwMode="auto">
            <a:xfrm>
              <a:off x="4723" y="2047"/>
              <a:ext cx="170" cy="1956"/>
            </a:xfrm>
            <a:prstGeom prst="rightBrace">
              <a:avLst>
                <a:gd name="adj1" fmla="val 95882"/>
                <a:gd name="adj2" fmla="val 50000"/>
              </a:avLst>
            </a:prstGeom>
            <a:noFill/>
            <a:ln w="3810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318483" name="Text Box 19"/>
            <p:cNvSpPr txBox="1">
              <a:spLocks noChangeArrowheads="1"/>
            </p:cNvSpPr>
            <p:nvPr/>
          </p:nvSpPr>
          <p:spPr bwMode="auto">
            <a:xfrm>
              <a:off x="4893" y="2869"/>
              <a:ext cx="6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spcBef>
                  <a:spcPct val="50000"/>
                </a:spcBef>
              </a:pPr>
              <a:r>
                <a:rPr kumimoji="0" lang="zh-CN" altLang="en-US" b="1">
                  <a:latin typeface="Arial" charset="0"/>
                </a:rPr>
                <a:t>哈希表</a:t>
              </a:r>
            </a:p>
          </p:txBody>
        </p:sp>
      </p:grpSp>
      <p:grpSp>
        <p:nvGrpSpPr>
          <p:cNvPr id="318484" name="Group 20"/>
          <p:cNvGrpSpPr>
            <a:grpSpLocks/>
          </p:cNvGrpSpPr>
          <p:nvPr/>
        </p:nvGrpSpPr>
        <p:grpSpPr bwMode="auto">
          <a:xfrm>
            <a:off x="7947025" y="5049838"/>
            <a:ext cx="809625" cy="906462"/>
            <a:chOff x="5006" y="3181"/>
            <a:chExt cx="510" cy="571"/>
          </a:xfrm>
        </p:grpSpPr>
        <p:sp>
          <p:nvSpPr>
            <p:cNvPr id="318485" name="AutoShape 21"/>
            <p:cNvSpPr>
              <a:spLocks noChangeArrowheads="1"/>
            </p:cNvSpPr>
            <p:nvPr/>
          </p:nvSpPr>
          <p:spPr bwMode="auto">
            <a:xfrm>
              <a:off x="5120" y="3181"/>
              <a:ext cx="227" cy="284"/>
            </a:xfrm>
            <a:prstGeom prst="downArrow">
              <a:avLst>
                <a:gd name="adj1" fmla="val 50000"/>
                <a:gd name="adj2" fmla="val 31278"/>
              </a:avLst>
            </a:prstGeom>
            <a:solidFill>
              <a:schemeClr val="accent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318486" name="Text Box 22"/>
            <p:cNvSpPr txBox="1">
              <a:spLocks noChangeArrowheads="1"/>
            </p:cNvSpPr>
            <p:nvPr/>
          </p:nvSpPr>
          <p:spPr bwMode="auto">
            <a:xfrm>
              <a:off x="5006" y="3464"/>
              <a:ext cx="5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spcBef>
                  <a:spcPct val="50000"/>
                </a:spcBef>
              </a:pPr>
              <a:r>
                <a:rPr kumimoji="0" lang="zh-CN" altLang="en-US" b="1">
                  <a:latin typeface="Arial" charset="0"/>
                </a:rPr>
                <a:t>数组</a:t>
              </a:r>
            </a:p>
          </p:txBody>
        </p:sp>
      </p:grpSp>
    </p:spTree>
    <p:extLst>
      <p:ext uri="{BB962C8B-B14F-4D97-AF65-F5344CB8AC3E}">
        <p14:creationId xmlns:p14="http://schemas.microsoft.com/office/powerpoint/2010/main" val="110186178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848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318484"/>
                                        </p:tgtEl>
                                        <p:attrNameLst>
                                          <p:attrName>style.visibility</p:attrName>
                                        </p:attrNameLst>
                                      </p:cBhvr>
                                      <p:to>
                                        <p:strVal val="visible"/>
                                      </p:to>
                                    </p:set>
                                    <p:animEffect transition="in" filter="wipe(up)">
                                      <p:cBhvr>
                                        <p:cTn id="11" dur="500"/>
                                        <p:tgtEl>
                                          <p:spTgt spid="318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Text Box 2"/>
          <p:cNvSpPr txBox="1">
            <a:spLocks noChangeArrowheads="1"/>
          </p:cNvSpPr>
          <p:nvPr/>
        </p:nvSpPr>
        <p:spPr bwMode="auto">
          <a:xfrm>
            <a:off x="431800" y="1943100"/>
            <a:ext cx="8382000" cy="946150"/>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spcBef>
                <a:spcPct val="50000"/>
              </a:spcBef>
            </a:pPr>
            <a:r>
              <a:rPr kumimoji="0" lang="zh-CN" altLang="en-US" b="1">
                <a:solidFill>
                  <a:srgbClr val="FF3300"/>
                </a:solidFill>
                <a:ea typeface="华文楷体" charset="-122"/>
              </a:rPr>
              <a:t>哈希</a:t>
            </a:r>
            <a:r>
              <a:rPr kumimoji="0" lang="zh-CN" altLang="en-US" sz="2800" b="1">
                <a:solidFill>
                  <a:srgbClr val="FF3300"/>
                </a:solidFill>
                <a:ea typeface="华文楷体" charset="-122"/>
              </a:rPr>
              <a:t>函数：</a:t>
            </a:r>
            <a:r>
              <a:rPr kumimoji="0" lang="zh-CN" altLang="en-US" sz="2800" b="1">
                <a:ea typeface="华文楷体" charset="-122"/>
              </a:rPr>
              <a:t>将关键码映射为哈希表中适当存</a:t>
            </a:r>
            <a:r>
              <a:rPr kumimoji="0" lang="zh-CN" altLang="en-US" sz="2800" b="1">
                <a:latin typeface="宋体" charset="-122"/>
                <a:ea typeface="华文楷体" charset="-122"/>
              </a:rPr>
              <a:t>储位置的函数。</a:t>
            </a:r>
          </a:p>
        </p:txBody>
      </p:sp>
      <p:grpSp>
        <p:nvGrpSpPr>
          <p:cNvPr id="319493" name="Group 5"/>
          <p:cNvGrpSpPr>
            <a:grpSpLocks/>
          </p:cNvGrpSpPr>
          <p:nvPr/>
        </p:nvGrpSpPr>
        <p:grpSpPr bwMode="auto">
          <a:xfrm>
            <a:off x="7497763" y="3249613"/>
            <a:ext cx="1376362" cy="3105150"/>
            <a:chOff x="4723" y="2047"/>
            <a:chExt cx="867" cy="1956"/>
          </a:xfrm>
        </p:grpSpPr>
        <p:sp>
          <p:nvSpPr>
            <p:cNvPr id="319494" name="AutoShape 6"/>
            <p:cNvSpPr>
              <a:spLocks/>
            </p:cNvSpPr>
            <p:nvPr/>
          </p:nvSpPr>
          <p:spPr bwMode="auto">
            <a:xfrm>
              <a:off x="4723" y="2047"/>
              <a:ext cx="170" cy="1956"/>
            </a:xfrm>
            <a:prstGeom prst="rightBrace">
              <a:avLst>
                <a:gd name="adj1" fmla="val 95882"/>
                <a:gd name="adj2" fmla="val 50000"/>
              </a:avLst>
            </a:prstGeom>
            <a:noFill/>
            <a:ln w="3810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319495" name="Text Box 7"/>
            <p:cNvSpPr txBox="1">
              <a:spLocks noChangeArrowheads="1"/>
            </p:cNvSpPr>
            <p:nvPr/>
          </p:nvSpPr>
          <p:spPr bwMode="auto">
            <a:xfrm>
              <a:off x="4893" y="2869"/>
              <a:ext cx="6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spcBef>
                  <a:spcPct val="50000"/>
                </a:spcBef>
              </a:pPr>
              <a:r>
                <a:rPr kumimoji="0" lang="zh-CN" altLang="en-US" b="1">
                  <a:latin typeface="Arial" charset="0"/>
                </a:rPr>
                <a:t>哈希表</a:t>
              </a:r>
            </a:p>
          </p:txBody>
        </p:sp>
      </p:grpSp>
      <p:sp>
        <p:nvSpPr>
          <p:cNvPr id="319496" name="Oval 8"/>
          <p:cNvSpPr>
            <a:spLocks noChangeArrowheads="1"/>
          </p:cNvSpPr>
          <p:nvPr/>
        </p:nvSpPr>
        <p:spPr bwMode="auto">
          <a:xfrm>
            <a:off x="1150938" y="3384550"/>
            <a:ext cx="1928812" cy="2879725"/>
          </a:xfrm>
          <a:prstGeom prst="ellipse">
            <a:avLst/>
          </a:prstGeom>
          <a:solidFill>
            <a:schemeClr val="hlink"/>
          </a:solidFill>
          <a:ln w="38100">
            <a:solidFill>
              <a:schemeClr val="accent1"/>
            </a:solidFill>
            <a:round/>
            <a:headEnd/>
            <a:tailEnd/>
          </a:ln>
          <a:effectLst/>
          <a:extLst>
            <a:ext uri="{AF507438-7753-43E0-B8FC-AC1667EBCBE1}">
              <a14:hiddenEffects xmlns:a14="http://schemas.microsoft.com/office/drawing/2010/main">
                <a:effectLst>
                  <a:outerShdw blurRad="63500" dist="165588" dir="21336078" algn="ctr" rotWithShape="0">
                    <a:schemeClr val="accent1">
                      <a:gamma/>
                      <a:shade val="60000"/>
                      <a:invGamma/>
                      <a:alpha val="74998"/>
                    </a:schemeClr>
                  </a:outerShdw>
                </a:effectLst>
              </a14:hiddenEffects>
            </a:ext>
          </a:extLst>
        </p:spPr>
        <p:txBody>
          <a:bodyPr/>
          <a:lstStyle/>
          <a:p>
            <a:pPr algn="ctr"/>
            <a:endParaRPr kumimoji="0" lang="zh-CN" altLang="zh-CN" sz="1800" b="1">
              <a:solidFill>
                <a:schemeClr val="accent2"/>
              </a:solidFill>
              <a:latin typeface="Arial" charset="0"/>
            </a:endParaRPr>
          </a:p>
        </p:txBody>
      </p:sp>
      <p:sp>
        <p:nvSpPr>
          <p:cNvPr id="319497" name="Text Box 9"/>
          <p:cNvSpPr txBox="1">
            <a:spLocks noChangeArrowheads="1"/>
          </p:cNvSpPr>
          <p:nvPr/>
        </p:nvSpPr>
        <p:spPr bwMode="auto">
          <a:xfrm>
            <a:off x="1454150" y="3908425"/>
            <a:ext cx="314325"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a:lnSpc>
                <a:spcPct val="96000"/>
              </a:lnSpc>
            </a:pPr>
            <a:r>
              <a:rPr kumimoji="0" lang="zh-CN" altLang="en-US" b="1">
                <a:cs typeface="Angsana New" charset="0"/>
              </a:rPr>
              <a:t>关键码集合</a:t>
            </a:r>
            <a:endParaRPr kumimoji="0" lang="zh-CN" altLang="en-US" b="1">
              <a:latin typeface="Arial" charset="0"/>
              <a:ea typeface="华文行楷" charset="-122"/>
              <a:cs typeface="Angsana New" charset="0"/>
            </a:endParaRPr>
          </a:p>
        </p:txBody>
      </p:sp>
      <p:sp>
        <p:nvSpPr>
          <p:cNvPr id="319498" name="Text Box 10"/>
          <p:cNvSpPr txBox="1">
            <a:spLocks noChangeArrowheads="1"/>
          </p:cNvSpPr>
          <p:nvPr/>
        </p:nvSpPr>
        <p:spPr bwMode="auto">
          <a:xfrm>
            <a:off x="2232025" y="4598988"/>
            <a:ext cx="3667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a:lnSpc>
                <a:spcPct val="96000"/>
              </a:lnSpc>
            </a:pPr>
            <a:r>
              <a:rPr kumimoji="0" lang="en-US" altLang="zh-CN" b="1" i="1">
                <a:cs typeface="Angsana New" charset="0"/>
              </a:rPr>
              <a:t>k</a:t>
            </a:r>
            <a:r>
              <a:rPr kumimoji="0" lang="en-US" altLang="zh-CN" b="1" i="1" baseline="-25000">
                <a:cs typeface="Angsana New" charset="0"/>
              </a:rPr>
              <a:t>i</a:t>
            </a:r>
            <a:endParaRPr kumimoji="0" lang="en-US" altLang="zh-CN" b="1">
              <a:latin typeface="Arial" charset="0"/>
              <a:ea typeface="华文行楷" charset="-122"/>
              <a:cs typeface="Angsana New" charset="0"/>
            </a:endParaRPr>
          </a:p>
        </p:txBody>
      </p:sp>
      <p:sp>
        <p:nvSpPr>
          <p:cNvPr id="319499" name="Text Box 11"/>
          <p:cNvSpPr txBox="1">
            <a:spLocks noChangeArrowheads="1"/>
          </p:cNvSpPr>
          <p:nvPr/>
        </p:nvSpPr>
        <p:spPr bwMode="auto">
          <a:xfrm>
            <a:off x="6238875" y="3249613"/>
            <a:ext cx="1168400" cy="31051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a:lnSpc>
                <a:spcPct val="112000"/>
              </a:lnSpc>
            </a:pPr>
            <a:endParaRPr kumimoji="0" lang="en-US" altLang="zh-CN" b="1" i="1">
              <a:cs typeface="Angsana New" charset="0"/>
            </a:endParaRPr>
          </a:p>
          <a:p>
            <a:pPr algn="just">
              <a:lnSpc>
                <a:spcPct val="112000"/>
              </a:lnSpc>
            </a:pPr>
            <a:endParaRPr kumimoji="0" lang="en-US" altLang="zh-CN" b="1" i="1">
              <a:cs typeface="Angsana New" charset="0"/>
            </a:endParaRPr>
          </a:p>
          <a:p>
            <a:pPr algn="just"/>
            <a:endParaRPr kumimoji="0" lang="en-US" altLang="zh-CN" b="1" i="1">
              <a:cs typeface="Angsana New" charset="0"/>
            </a:endParaRPr>
          </a:p>
          <a:p>
            <a:pPr algn="just"/>
            <a:r>
              <a:rPr kumimoji="0" lang="en-US" altLang="zh-CN" b="1" i="1">
                <a:cs typeface="Angsana New" charset="0"/>
              </a:rPr>
              <a:t>     r</a:t>
            </a:r>
            <a:r>
              <a:rPr kumimoji="0" lang="en-US" altLang="zh-CN" b="1" i="1" baseline="-25000">
                <a:cs typeface="Angsana New" charset="0"/>
              </a:rPr>
              <a:t>i</a:t>
            </a:r>
            <a:endParaRPr kumimoji="0" lang="en-US" altLang="zh-CN" b="1">
              <a:latin typeface="Arial" charset="0"/>
              <a:ea typeface="华文行楷" charset="-122"/>
              <a:cs typeface="Angsana New" charset="0"/>
            </a:endParaRPr>
          </a:p>
        </p:txBody>
      </p:sp>
      <p:sp>
        <p:nvSpPr>
          <p:cNvPr id="319500" name="Line 12"/>
          <p:cNvSpPr>
            <a:spLocks noChangeShapeType="1"/>
          </p:cNvSpPr>
          <p:nvPr/>
        </p:nvSpPr>
        <p:spPr bwMode="auto">
          <a:xfrm>
            <a:off x="6238875" y="4492625"/>
            <a:ext cx="1168400"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9501" name="Line 13"/>
          <p:cNvSpPr>
            <a:spLocks noChangeShapeType="1"/>
          </p:cNvSpPr>
          <p:nvPr/>
        </p:nvSpPr>
        <p:spPr bwMode="auto">
          <a:xfrm>
            <a:off x="6238875" y="4873625"/>
            <a:ext cx="1168400"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9502" name="Text Box 14"/>
          <p:cNvSpPr txBox="1">
            <a:spLocks noChangeArrowheads="1"/>
          </p:cNvSpPr>
          <p:nvPr/>
        </p:nvSpPr>
        <p:spPr bwMode="auto">
          <a:xfrm>
            <a:off x="5453063" y="4564063"/>
            <a:ext cx="73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a:lnSpc>
                <a:spcPct val="96000"/>
              </a:lnSpc>
            </a:pPr>
            <a:r>
              <a:rPr kumimoji="0" lang="en-US" altLang="zh-CN" b="1" i="1">
                <a:cs typeface="Angsana New" charset="0"/>
              </a:rPr>
              <a:t>H</a:t>
            </a:r>
            <a:r>
              <a:rPr kumimoji="0" lang="en-US" altLang="zh-CN" b="1">
                <a:latin typeface="宋体" charset="-122"/>
                <a:cs typeface="Angsana New" charset="0"/>
              </a:rPr>
              <a:t>(</a:t>
            </a:r>
            <a:r>
              <a:rPr kumimoji="0" lang="en-US" altLang="zh-CN" b="1" i="1">
                <a:cs typeface="Angsana New" charset="0"/>
              </a:rPr>
              <a:t>k</a:t>
            </a:r>
            <a:r>
              <a:rPr kumimoji="0" lang="en-US" altLang="zh-CN" b="1" i="1" baseline="-25000">
                <a:cs typeface="Angsana New" charset="0"/>
              </a:rPr>
              <a:t>i</a:t>
            </a:r>
            <a:r>
              <a:rPr kumimoji="0" lang="en-US" altLang="zh-CN" b="1">
                <a:latin typeface="宋体" charset="-122"/>
                <a:cs typeface="Angsana New" charset="0"/>
              </a:rPr>
              <a:t>)</a:t>
            </a:r>
            <a:endParaRPr kumimoji="0" lang="en-US" altLang="zh-CN" b="1">
              <a:latin typeface="Arial" charset="0"/>
              <a:ea typeface="华文行楷" charset="-122"/>
              <a:cs typeface="Angsana New" charset="0"/>
            </a:endParaRPr>
          </a:p>
        </p:txBody>
      </p:sp>
      <p:sp>
        <p:nvSpPr>
          <p:cNvPr id="319503" name="Text Box 15"/>
          <p:cNvSpPr txBox="1">
            <a:spLocks noChangeArrowheads="1"/>
          </p:cNvSpPr>
          <p:nvPr/>
        </p:nvSpPr>
        <p:spPr bwMode="auto">
          <a:xfrm>
            <a:off x="6734175" y="3519488"/>
            <a:ext cx="334963" cy="82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18000" tIns="36000" rIns="18000" bIns="0"/>
          <a:lstStyle/>
          <a:p>
            <a:pPr algn="just">
              <a:lnSpc>
                <a:spcPct val="96000"/>
              </a:lnSpc>
            </a:pPr>
            <a:r>
              <a:rPr kumimoji="0" lang="en-US" altLang="zh-CN" b="1">
                <a:cs typeface="Angsana New" charset="0"/>
              </a:rPr>
              <a:t>……</a:t>
            </a:r>
            <a:endParaRPr kumimoji="0" lang="en-US" altLang="zh-CN" b="1">
              <a:latin typeface="Arial" charset="0"/>
              <a:ea typeface="华文行楷" charset="-122"/>
              <a:cs typeface="Angsana New" charset="0"/>
            </a:endParaRPr>
          </a:p>
        </p:txBody>
      </p:sp>
      <p:sp>
        <p:nvSpPr>
          <p:cNvPr id="319504" name="Text Box 16"/>
          <p:cNvSpPr txBox="1">
            <a:spLocks noChangeArrowheads="1"/>
          </p:cNvSpPr>
          <p:nvPr/>
        </p:nvSpPr>
        <p:spPr bwMode="auto">
          <a:xfrm>
            <a:off x="6721475" y="5229225"/>
            <a:ext cx="334963"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18000" tIns="36000" rIns="18000" bIns="0"/>
          <a:lstStyle/>
          <a:p>
            <a:pPr algn="just">
              <a:lnSpc>
                <a:spcPct val="96000"/>
              </a:lnSpc>
            </a:pPr>
            <a:r>
              <a:rPr kumimoji="0" lang="en-US" altLang="zh-CN" b="1">
                <a:cs typeface="Angsana New" charset="0"/>
              </a:rPr>
              <a:t>……</a:t>
            </a:r>
            <a:endParaRPr kumimoji="0" lang="en-US" altLang="zh-CN" b="1">
              <a:latin typeface="Arial" charset="0"/>
              <a:ea typeface="华文行楷" charset="-122"/>
              <a:cs typeface="Angsana New" charset="0"/>
            </a:endParaRPr>
          </a:p>
        </p:txBody>
      </p:sp>
      <p:sp>
        <p:nvSpPr>
          <p:cNvPr id="319505" name="Text Box 17"/>
          <p:cNvSpPr txBox="1">
            <a:spLocks noChangeArrowheads="1"/>
          </p:cNvSpPr>
          <p:nvPr/>
        </p:nvSpPr>
        <p:spPr bwMode="auto">
          <a:xfrm>
            <a:off x="3357563" y="4284663"/>
            <a:ext cx="1946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ctr">
              <a:lnSpc>
                <a:spcPct val="96000"/>
              </a:lnSpc>
            </a:pPr>
            <a:r>
              <a:rPr kumimoji="0" lang="en-US" altLang="zh-CN" b="1" i="1">
                <a:cs typeface="Angsana New" charset="0"/>
              </a:rPr>
              <a:t>H</a:t>
            </a:r>
            <a:endParaRPr kumimoji="0" lang="en-US" altLang="zh-CN" b="1">
              <a:ea typeface="华文行楷" charset="-122"/>
              <a:cs typeface="Angsana New" charset="0"/>
            </a:endParaRPr>
          </a:p>
        </p:txBody>
      </p:sp>
      <p:sp>
        <p:nvSpPr>
          <p:cNvPr id="319506" name="Line 18"/>
          <p:cNvSpPr>
            <a:spLocks noChangeShapeType="1"/>
          </p:cNvSpPr>
          <p:nvPr/>
        </p:nvSpPr>
        <p:spPr bwMode="auto">
          <a:xfrm>
            <a:off x="2592388" y="4778375"/>
            <a:ext cx="2879725" cy="0"/>
          </a:xfrm>
          <a:prstGeom prst="line">
            <a:avLst/>
          </a:prstGeom>
          <a:noFill/>
          <a:ln w="38100">
            <a:solidFill>
              <a:schemeClr val="accent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9507" name="Oval 19"/>
          <p:cNvSpPr>
            <a:spLocks noChangeArrowheads="1"/>
          </p:cNvSpPr>
          <p:nvPr/>
        </p:nvSpPr>
        <p:spPr bwMode="auto">
          <a:xfrm>
            <a:off x="2141538" y="4567238"/>
            <a:ext cx="431800" cy="431800"/>
          </a:xfrm>
          <a:prstGeom prst="ellipse">
            <a:avLst/>
          </a:prstGeom>
          <a:noFill/>
          <a:ln w="28575">
            <a:solidFill>
              <a:srgbClr val="008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319508" name="AutoShape 20"/>
          <p:cNvSpPr>
            <a:spLocks noChangeArrowheads="1"/>
          </p:cNvSpPr>
          <p:nvPr/>
        </p:nvSpPr>
        <p:spPr bwMode="auto">
          <a:xfrm>
            <a:off x="3732213" y="3654425"/>
            <a:ext cx="1304925" cy="449263"/>
          </a:xfrm>
          <a:prstGeom prst="wedgeRectCallout">
            <a:avLst>
              <a:gd name="adj1" fmla="val -972"/>
              <a:gd name="adj2" fmla="val 87102"/>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lIns="18000" tIns="10800" rIns="18000" bIns="10800" anchor="ctr"/>
          <a:lstStyle/>
          <a:p>
            <a:r>
              <a:rPr kumimoji="0" lang="zh-CN" altLang="en-US" b="1">
                <a:latin typeface="Arial" charset="0"/>
              </a:rPr>
              <a:t>哈希函数</a:t>
            </a:r>
          </a:p>
        </p:txBody>
      </p:sp>
      <p:grpSp>
        <p:nvGrpSpPr>
          <p:cNvPr id="319509" name="Group 21"/>
          <p:cNvGrpSpPr>
            <a:grpSpLocks/>
          </p:cNvGrpSpPr>
          <p:nvPr/>
        </p:nvGrpSpPr>
        <p:grpSpPr bwMode="auto">
          <a:xfrm>
            <a:off x="7947025" y="5049838"/>
            <a:ext cx="809625" cy="906462"/>
            <a:chOff x="5006" y="3181"/>
            <a:chExt cx="510" cy="571"/>
          </a:xfrm>
        </p:grpSpPr>
        <p:sp>
          <p:nvSpPr>
            <p:cNvPr id="319510" name="AutoShape 22"/>
            <p:cNvSpPr>
              <a:spLocks noChangeArrowheads="1"/>
            </p:cNvSpPr>
            <p:nvPr/>
          </p:nvSpPr>
          <p:spPr bwMode="auto">
            <a:xfrm>
              <a:off x="5120" y="3181"/>
              <a:ext cx="227" cy="284"/>
            </a:xfrm>
            <a:prstGeom prst="downArrow">
              <a:avLst>
                <a:gd name="adj1" fmla="val 50000"/>
                <a:gd name="adj2" fmla="val 31278"/>
              </a:avLst>
            </a:prstGeom>
            <a:solidFill>
              <a:schemeClr val="accent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319511" name="Text Box 23"/>
            <p:cNvSpPr txBox="1">
              <a:spLocks noChangeArrowheads="1"/>
            </p:cNvSpPr>
            <p:nvPr/>
          </p:nvSpPr>
          <p:spPr bwMode="auto">
            <a:xfrm>
              <a:off x="5006" y="3464"/>
              <a:ext cx="5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spcBef>
                  <a:spcPct val="50000"/>
                </a:spcBef>
              </a:pPr>
              <a:r>
                <a:rPr kumimoji="0" lang="zh-CN" altLang="en-US" b="1">
                  <a:latin typeface="Arial" charset="0"/>
                </a:rPr>
                <a:t>数组</a:t>
              </a:r>
            </a:p>
          </p:txBody>
        </p:sp>
      </p:grpSp>
    </p:spTree>
    <p:extLst>
      <p:ext uri="{BB962C8B-B14F-4D97-AF65-F5344CB8AC3E}">
        <p14:creationId xmlns:p14="http://schemas.microsoft.com/office/powerpoint/2010/main" val="17068657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19508"/>
                                        </p:tgtEl>
                                        <p:attrNameLst>
                                          <p:attrName>style.visibility</p:attrName>
                                        </p:attrNameLst>
                                      </p:cBhvr>
                                      <p:to>
                                        <p:strVal val="visible"/>
                                      </p:to>
                                    </p:set>
                                    <p:animEffect transition="in" filter="wipe(down)">
                                      <p:cBhvr>
                                        <p:cTn id="7" dur="500"/>
                                        <p:tgtEl>
                                          <p:spTgt spid="319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508"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Text Box 2"/>
          <p:cNvSpPr txBox="1">
            <a:spLocks noChangeArrowheads="1"/>
          </p:cNvSpPr>
          <p:nvPr/>
        </p:nvSpPr>
        <p:spPr bwMode="auto">
          <a:xfrm>
            <a:off x="431800" y="1943100"/>
            <a:ext cx="8382000" cy="519113"/>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spcBef>
                <a:spcPct val="50000"/>
              </a:spcBef>
            </a:pPr>
            <a:r>
              <a:rPr kumimoji="0" lang="zh-CN" altLang="en-US" sz="2800" b="1">
                <a:solidFill>
                  <a:srgbClr val="FF3300"/>
                </a:solidFill>
                <a:latin typeface="华文楷体" charset="-122"/>
                <a:ea typeface="华文楷体" charset="-122"/>
              </a:rPr>
              <a:t>哈希地址：</a:t>
            </a:r>
            <a:r>
              <a:rPr kumimoji="0" lang="zh-CN" altLang="en-US" sz="2800" b="1">
                <a:latin typeface="华文楷体" charset="-122"/>
                <a:ea typeface="华文楷体" charset="-122"/>
              </a:rPr>
              <a:t>由哈希函数所得的存储位置址 。</a:t>
            </a:r>
          </a:p>
        </p:txBody>
      </p:sp>
      <p:grpSp>
        <p:nvGrpSpPr>
          <p:cNvPr id="320517" name="Group 5"/>
          <p:cNvGrpSpPr>
            <a:grpSpLocks/>
          </p:cNvGrpSpPr>
          <p:nvPr/>
        </p:nvGrpSpPr>
        <p:grpSpPr bwMode="auto">
          <a:xfrm>
            <a:off x="7499350" y="3289300"/>
            <a:ext cx="1376363" cy="3105150"/>
            <a:chOff x="4723" y="2047"/>
            <a:chExt cx="867" cy="1956"/>
          </a:xfrm>
        </p:grpSpPr>
        <p:sp>
          <p:nvSpPr>
            <p:cNvPr id="320518" name="AutoShape 6"/>
            <p:cNvSpPr>
              <a:spLocks/>
            </p:cNvSpPr>
            <p:nvPr/>
          </p:nvSpPr>
          <p:spPr bwMode="auto">
            <a:xfrm>
              <a:off x="4723" y="2047"/>
              <a:ext cx="170" cy="1956"/>
            </a:xfrm>
            <a:prstGeom prst="rightBrace">
              <a:avLst>
                <a:gd name="adj1" fmla="val 95882"/>
                <a:gd name="adj2" fmla="val 50000"/>
              </a:avLst>
            </a:prstGeom>
            <a:noFill/>
            <a:ln w="3810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320519" name="Text Box 7"/>
            <p:cNvSpPr txBox="1">
              <a:spLocks noChangeArrowheads="1"/>
            </p:cNvSpPr>
            <p:nvPr/>
          </p:nvSpPr>
          <p:spPr bwMode="auto">
            <a:xfrm>
              <a:off x="4893" y="2869"/>
              <a:ext cx="6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spcBef>
                  <a:spcPct val="50000"/>
                </a:spcBef>
              </a:pPr>
              <a:r>
                <a:rPr kumimoji="0" lang="zh-CN" altLang="en-US" b="1">
                  <a:latin typeface="华文楷体" charset="-122"/>
                  <a:ea typeface="华文楷体" charset="-122"/>
                </a:rPr>
                <a:t>哈希表</a:t>
              </a:r>
            </a:p>
          </p:txBody>
        </p:sp>
      </p:grpSp>
      <p:sp>
        <p:nvSpPr>
          <p:cNvPr id="320520" name="Oval 8"/>
          <p:cNvSpPr>
            <a:spLocks noChangeArrowheads="1"/>
          </p:cNvSpPr>
          <p:nvPr/>
        </p:nvSpPr>
        <p:spPr bwMode="auto">
          <a:xfrm>
            <a:off x="1152525" y="3424238"/>
            <a:ext cx="1928813" cy="2879725"/>
          </a:xfrm>
          <a:prstGeom prst="ellipse">
            <a:avLst/>
          </a:prstGeom>
          <a:solidFill>
            <a:schemeClr val="hlink"/>
          </a:solidFill>
          <a:ln w="38100">
            <a:solidFill>
              <a:schemeClr val="accent1"/>
            </a:solidFill>
            <a:round/>
            <a:headEnd/>
            <a:tailEnd/>
          </a:ln>
          <a:effectLst/>
          <a:extLst>
            <a:ext uri="{AF507438-7753-43E0-B8FC-AC1667EBCBE1}">
              <a14:hiddenEffects xmlns:a14="http://schemas.microsoft.com/office/drawing/2010/main">
                <a:effectLst>
                  <a:outerShdw blurRad="63500" dist="165588" dir="21336078" algn="ctr" rotWithShape="0">
                    <a:schemeClr val="accent1">
                      <a:gamma/>
                      <a:shade val="60000"/>
                      <a:invGamma/>
                      <a:alpha val="74998"/>
                    </a:schemeClr>
                  </a:outerShdw>
                </a:effectLst>
              </a14:hiddenEffects>
            </a:ext>
          </a:extLst>
        </p:spPr>
        <p:txBody>
          <a:bodyPr/>
          <a:lstStyle/>
          <a:p>
            <a:pPr algn="ctr"/>
            <a:endParaRPr kumimoji="0" lang="zh-CN" altLang="zh-CN" sz="1800" b="1">
              <a:solidFill>
                <a:schemeClr val="accent2"/>
              </a:solidFill>
              <a:latin typeface="华文楷体" charset="-122"/>
              <a:ea typeface="华文楷体" charset="-122"/>
            </a:endParaRPr>
          </a:p>
        </p:txBody>
      </p:sp>
      <p:sp>
        <p:nvSpPr>
          <p:cNvPr id="320521" name="Text Box 9"/>
          <p:cNvSpPr txBox="1">
            <a:spLocks noChangeArrowheads="1"/>
          </p:cNvSpPr>
          <p:nvPr/>
        </p:nvSpPr>
        <p:spPr bwMode="auto">
          <a:xfrm>
            <a:off x="1455738" y="3948113"/>
            <a:ext cx="314325"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a:lnSpc>
                <a:spcPct val="96000"/>
              </a:lnSpc>
            </a:pPr>
            <a:r>
              <a:rPr kumimoji="0" lang="zh-CN" altLang="en-US" b="1">
                <a:latin typeface="华文楷体" charset="-122"/>
                <a:ea typeface="华文楷体" charset="-122"/>
                <a:cs typeface="Angsana New" charset="0"/>
              </a:rPr>
              <a:t>关键码集合</a:t>
            </a:r>
          </a:p>
        </p:txBody>
      </p:sp>
      <p:sp>
        <p:nvSpPr>
          <p:cNvPr id="320522" name="Text Box 10"/>
          <p:cNvSpPr txBox="1">
            <a:spLocks noChangeArrowheads="1"/>
          </p:cNvSpPr>
          <p:nvPr/>
        </p:nvSpPr>
        <p:spPr bwMode="auto">
          <a:xfrm>
            <a:off x="2233613" y="4638675"/>
            <a:ext cx="3667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a:lnSpc>
                <a:spcPct val="96000"/>
              </a:lnSpc>
            </a:pPr>
            <a:r>
              <a:rPr kumimoji="0" lang="en-US" altLang="zh-CN" b="1" i="1">
                <a:latin typeface="华文楷体" charset="-122"/>
                <a:ea typeface="华文楷体" charset="-122"/>
                <a:cs typeface="Angsana New" charset="0"/>
              </a:rPr>
              <a:t>k</a:t>
            </a:r>
            <a:r>
              <a:rPr kumimoji="0" lang="en-US" altLang="zh-CN" b="1" i="1" baseline="-25000">
                <a:latin typeface="华文楷体" charset="-122"/>
                <a:ea typeface="华文楷体" charset="-122"/>
                <a:cs typeface="Angsana New" charset="0"/>
              </a:rPr>
              <a:t>i</a:t>
            </a:r>
            <a:endParaRPr kumimoji="0" lang="en-US" altLang="zh-CN" b="1">
              <a:latin typeface="华文楷体" charset="-122"/>
              <a:ea typeface="华文楷体" charset="-122"/>
              <a:cs typeface="Angsana New" charset="0"/>
            </a:endParaRPr>
          </a:p>
        </p:txBody>
      </p:sp>
      <p:sp>
        <p:nvSpPr>
          <p:cNvPr id="320523" name="Text Box 11"/>
          <p:cNvSpPr txBox="1">
            <a:spLocks noChangeArrowheads="1"/>
          </p:cNvSpPr>
          <p:nvPr/>
        </p:nvSpPr>
        <p:spPr bwMode="auto">
          <a:xfrm>
            <a:off x="6240463" y="3289300"/>
            <a:ext cx="1168400" cy="31051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a:lnSpc>
                <a:spcPct val="112000"/>
              </a:lnSpc>
            </a:pPr>
            <a:endParaRPr kumimoji="0" lang="en-US" altLang="zh-CN" b="1" i="1">
              <a:latin typeface="华文楷体" charset="-122"/>
              <a:ea typeface="华文楷体" charset="-122"/>
              <a:cs typeface="Angsana New" charset="0"/>
            </a:endParaRPr>
          </a:p>
          <a:p>
            <a:pPr algn="just">
              <a:lnSpc>
                <a:spcPct val="112000"/>
              </a:lnSpc>
            </a:pPr>
            <a:endParaRPr kumimoji="0" lang="en-US" altLang="zh-CN" b="1" i="1">
              <a:latin typeface="华文楷体" charset="-122"/>
              <a:ea typeface="华文楷体" charset="-122"/>
              <a:cs typeface="Angsana New" charset="0"/>
            </a:endParaRPr>
          </a:p>
          <a:p>
            <a:pPr algn="just"/>
            <a:endParaRPr kumimoji="0" lang="en-US" altLang="zh-CN" b="1" i="1">
              <a:latin typeface="华文楷体" charset="-122"/>
              <a:ea typeface="华文楷体" charset="-122"/>
              <a:cs typeface="Angsana New" charset="0"/>
            </a:endParaRPr>
          </a:p>
          <a:p>
            <a:pPr algn="just"/>
            <a:r>
              <a:rPr kumimoji="0" lang="en-US" altLang="zh-CN" b="1" i="1">
                <a:latin typeface="华文楷体" charset="-122"/>
                <a:ea typeface="华文楷体" charset="-122"/>
                <a:cs typeface="Angsana New" charset="0"/>
              </a:rPr>
              <a:t>     r</a:t>
            </a:r>
            <a:r>
              <a:rPr kumimoji="0" lang="en-US" altLang="zh-CN" b="1" i="1" baseline="-25000">
                <a:latin typeface="华文楷体" charset="-122"/>
                <a:ea typeface="华文楷体" charset="-122"/>
                <a:cs typeface="Angsana New" charset="0"/>
              </a:rPr>
              <a:t>i</a:t>
            </a:r>
            <a:endParaRPr kumimoji="0" lang="en-US" altLang="zh-CN" b="1">
              <a:latin typeface="华文楷体" charset="-122"/>
              <a:ea typeface="华文楷体" charset="-122"/>
              <a:cs typeface="Angsana New" charset="0"/>
            </a:endParaRPr>
          </a:p>
        </p:txBody>
      </p:sp>
      <p:sp>
        <p:nvSpPr>
          <p:cNvPr id="320524" name="Line 12"/>
          <p:cNvSpPr>
            <a:spLocks noChangeShapeType="1"/>
          </p:cNvSpPr>
          <p:nvPr/>
        </p:nvSpPr>
        <p:spPr bwMode="auto">
          <a:xfrm>
            <a:off x="6240463" y="4532313"/>
            <a:ext cx="1168400" cy="158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0525" name="Line 13"/>
          <p:cNvSpPr>
            <a:spLocks noChangeShapeType="1"/>
          </p:cNvSpPr>
          <p:nvPr/>
        </p:nvSpPr>
        <p:spPr bwMode="auto">
          <a:xfrm>
            <a:off x="6240463" y="4913313"/>
            <a:ext cx="1168400" cy="158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0526" name="Text Box 14"/>
          <p:cNvSpPr txBox="1">
            <a:spLocks noChangeArrowheads="1"/>
          </p:cNvSpPr>
          <p:nvPr/>
        </p:nvSpPr>
        <p:spPr bwMode="auto">
          <a:xfrm>
            <a:off x="5454650" y="4603750"/>
            <a:ext cx="73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a:lnSpc>
                <a:spcPct val="96000"/>
              </a:lnSpc>
            </a:pPr>
            <a:r>
              <a:rPr kumimoji="0" lang="en-US" altLang="zh-CN" b="1" i="1">
                <a:latin typeface="华文楷体" charset="-122"/>
                <a:ea typeface="华文楷体" charset="-122"/>
                <a:cs typeface="Angsana New" charset="0"/>
              </a:rPr>
              <a:t>H</a:t>
            </a:r>
            <a:r>
              <a:rPr kumimoji="0" lang="en-US" altLang="zh-CN" b="1">
                <a:latin typeface="华文楷体" charset="-122"/>
                <a:ea typeface="华文楷体" charset="-122"/>
                <a:cs typeface="Angsana New" charset="0"/>
              </a:rPr>
              <a:t>(</a:t>
            </a:r>
            <a:r>
              <a:rPr kumimoji="0" lang="en-US" altLang="zh-CN" b="1" i="1">
                <a:latin typeface="华文楷体" charset="-122"/>
                <a:ea typeface="华文楷体" charset="-122"/>
                <a:cs typeface="Angsana New" charset="0"/>
              </a:rPr>
              <a:t>k</a:t>
            </a:r>
            <a:r>
              <a:rPr kumimoji="0" lang="en-US" altLang="zh-CN" b="1" i="1" baseline="-25000">
                <a:latin typeface="华文楷体" charset="-122"/>
                <a:ea typeface="华文楷体" charset="-122"/>
                <a:cs typeface="Angsana New" charset="0"/>
              </a:rPr>
              <a:t>i</a:t>
            </a:r>
            <a:r>
              <a:rPr kumimoji="0" lang="en-US" altLang="zh-CN" b="1">
                <a:latin typeface="华文楷体" charset="-122"/>
                <a:ea typeface="华文楷体" charset="-122"/>
                <a:cs typeface="Angsana New" charset="0"/>
              </a:rPr>
              <a:t>)</a:t>
            </a:r>
          </a:p>
        </p:txBody>
      </p:sp>
      <p:sp>
        <p:nvSpPr>
          <p:cNvPr id="320527" name="Text Box 15"/>
          <p:cNvSpPr txBox="1">
            <a:spLocks noChangeArrowheads="1"/>
          </p:cNvSpPr>
          <p:nvPr/>
        </p:nvSpPr>
        <p:spPr bwMode="auto">
          <a:xfrm>
            <a:off x="6735763" y="3559175"/>
            <a:ext cx="334962"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18000" tIns="36000" rIns="18000" bIns="0"/>
          <a:lstStyle/>
          <a:p>
            <a:pPr algn="just">
              <a:lnSpc>
                <a:spcPct val="96000"/>
              </a:lnSpc>
            </a:pPr>
            <a:r>
              <a:rPr kumimoji="0" lang="en-US" altLang="zh-CN" b="1">
                <a:latin typeface="华文楷体" charset="-122"/>
                <a:ea typeface="华文楷体" charset="-122"/>
                <a:cs typeface="Angsana New" charset="0"/>
              </a:rPr>
              <a:t>……</a:t>
            </a:r>
          </a:p>
        </p:txBody>
      </p:sp>
      <p:sp>
        <p:nvSpPr>
          <p:cNvPr id="320528" name="Text Box 16"/>
          <p:cNvSpPr txBox="1">
            <a:spLocks noChangeArrowheads="1"/>
          </p:cNvSpPr>
          <p:nvPr/>
        </p:nvSpPr>
        <p:spPr bwMode="auto">
          <a:xfrm>
            <a:off x="6723063" y="5268913"/>
            <a:ext cx="334962" cy="82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18000" tIns="36000" rIns="18000" bIns="0"/>
          <a:lstStyle/>
          <a:p>
            <a:pPr algn="just">
              <a:lnSpc>
                <a:spcPct val="96000"/>
              </a:lnSpc>
            </a:pPr>
            <a:r>
              <a:rPr kumimoji="0" lang="en-US" altLang="zh-CN" b="1">
                <a:latin typeface="华文楷体" charset="-122"/>
                <a:ea typeface="华文楷体" charset="-122"/>
                <a:cs typeface="Angsana New" charset="0"/>
              </a:rPr>
              <a:t>……</a:t>
            </a:r>
          </a:p>
        </p:txBody>
      </p:sp>
      <p:sp>
        <p:nvSpPr>
          <p:cNvPr id="320529" name="Text Box 17"/>
          <p:cNvSpPr txBox="1">
            <a:spLocks noChangeArrowheads="1"/>
          </p:cNvSpPr>
          <p:nvPr/>
        </p:nvSpPr>
        <p:spPr bwMode="auto">
          <a:xfrm>
            <a:off x="3359150" y="4324350"/>
            <a:ext cx="1946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ctr">
              <a:lnSpc>
                <a:spcPct val="96000"/>
              </a:lnSpc>
            </a:pPr>
            <a:r>
              <a:rPr kumimoji="0" lang="en-US" altLang="zh-CN" b="1" i="1">
                <a:latin typeface="华文楷体" charset="-122"/>
                <a:ea typeface="华文楷体" charset="-122"/>
                <a:cs typeface="Angsana New" charset="0"/>
              </a:rPr>
              <a:t>H</a:t>
            </a:r>
            <a:endParaRPr kumimoji="0" lang="en-US" altLang="zh-CN" b="1">
              <a:latin typeface="华文楷体" charset="-122"/>
              <a:ea typeface="华文楷体" charset="-122"/>
              <a:cs typeface="Angsana New" charset="0"/>
            </a:endParaRPr>
          </a:p>
        </p:txBody>
      </p:sp>
      <p:sp>
        <p:nvSpPr>
          <p:cNvPr id="320530" name="Line 18"/>
          <p:cNvSpPr>
            <a:spLocks noChangeShapeType="1"/>
          </p:cNvSpPr>
          <p:nvPr/>
        </p:nvSpPr>
        <p:spPr bwMode="auto">
          <a:xfrm>
            <a:off x="2593975" y="4818063"/>
            <a:ext cx="2879725" cy="0"/>
          </a:xfrm>
          <a:prstGeom prst="line">
            <a:avLst/>
          </a:prstGeom>
          <a:noFill/>
          <a:ln w="38100">
            <a:solidFill>
              <a:schemeClr val="accent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20531" name="Oval 19"/>
          <p:cNvSpPr>
            <a:spLocks noChangeArrowheads="1"/>
          </p:cNvSpPr>
          <p:nvPr/>
        </p:nvSpPr>
        <p:spPr bwMode="auto">
          <a:xfrm>
            <a:off x="2143125" y="4606925"/>
            <a:ext cx="431800" cy="431800"/>
          </a:xfrm>
          <a:prstGeom prst="ellipse">
            <a:avLst/>
          </a:prstGeom>
          <a:noFill/>
          <a:ln w="28575">
            <a:solidFill>
              <a:srgbClr val="008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320532" name="AutoShape 20"/>
          <p:cNvSpPr>
            <a:spLocks noChangeArrowheads="1"/>
          </p:cNvSpPr>
          <p:nvPr/>
        </p:nvSpPr>
        <p:spPr bwMode="auto">
          <a:xfrm>
            <a:off x="3733800" y="3694113"/>
            <a:ext cx="1304925" cy="449262"/>
          </a:xfrm>
          <a:prstGeom prst="wedgeRectCallout">
            <a:avLst>
              <a:gd name="adj1" fmla="val -972"/>
              <a:gd name="adj2" fmla="val 87102"/>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lIns="18000" tIns="10800" rIns="18000" bIns="10800" anchor="ctr"/>
          <a:lstStyle/>
          <a:p>
            <a:r>
              <a:rPr kumimoji="0" lang="zh-CN" altLang="en-US" b="1">
                <a:latin typeface="华文楷体" charset="-122"/>
                <a:ea typeface="华文楷体" charset="-122"/>
              </a:rPr>
              <a:t>哈希函数</a:t>
            </a:r>
          </a:p>
        </p:txBody>
      </p:sp>
      <p:sp>
        <p:nvSpPr>
          <p:cNvPr id="320533" name="AutoShape 21"/>
          <p:cNvSpPr>
            <a:spLocks noChangeArrowheads="1"/>
          </p:cNvSpPr>
          <p:nvPr/>
        </p:nvSpPr>
        <p:spPr bwMode="auto">
          <a:xfrm>
            <a:off x="4527550" y="5229225"/>
            <a:ext cx="1304925" cy="449263"/>
          </a:xfrm>
          <a:prstGeom prst="wedgeRectCallout">
            <a:avLst>
              <a:gd name="adj1" fmla="val 42338"/>
              <a:gd name="adj2" fmla="val -109366"/>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lIns="18000" tIns="10800" rIns="18000" bIns="10800" anchor="ctr"/>
          <a:lstStyle/>
          <a:p>
            <a:r>
              <a:rPr kumimoji="0" lang="zh-CN" altLang="en-US" b="1">
                <a:latin typeface="华文楷体" charset="-122"/>
                <a:ea typeface="华文楷体" charset="-122"/>
              </a:rPr>
              <a:t>哈希地址</a:t>
            </a:r>
          </a:p>
        </p:txBody>
      </p:sp>
      <p:grpSp>
        <p:nvGrpSpPr>
          <p:cNvPr id="320534" name="Group 22"/>
          <p:cNvGrpSpPr>
            <a:grpSpLocks/>
          </p:cNvGrpSpPr>
          <p:nvPr/>
        </p:nvGrpSpPr>
        <p:grpSpPr bwMode="auto">
          <a:xfrm>
            <a:off x="4797425" y="5756275"/>
            <a:ext cx="855663" cy="949325"/>
            <a:chOff x="3022" y="3626"/>
            <a:chExt cx="539" cy="598"/>
          </a:xfrm>
        </p:grpSpPr>
        <p:sp>
          <p:nvSpPr>
            <p:cNvPr id="320535" name="AutoShape 23"/>
            <p:cNvSpPr>
              <a:spLocks noChangeArrowheads="1"/>
            </p:cNvSpPr>
            <p:nvPr/>
          </p:nvSpPr>
          <p:spPr bwMode="auto">
            <a:xfrm>
              <a:off x="3220" y="3626"/>
              <a:ext cx="142" cy="260"/>
            </a:xfrm>
            <a:prstGeom prst="downArrow">
              <a:avLst>
                <a:gd name="adj1" fmla="val 50000"/>
                <a:gd name="adj2" fmla="val 45775"/>
              </a:avLst>
            </a:prstGeom>
            <a:solidFill>
              <a:schemeClr val="accent1"/>
            </a:solidFill>
            <a:ln w="6350">
              <a:solidFill>
                <a:srgbClr val="00FFFF"/>
              </a:solidFill>
              <a:miter lim="800000"/>
              <a:headEnd/>
              <a:tailEnd/>
            </a:ln>
            <a:effectLst/>
            <a:extLs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algn="ctr"/>
              <a:endParaRPr kumimoji="0" lang="zh-CN" altLang="zh-CN" sz="1800" b="1">
                <a:solidFill>
                  <a:schemeClr val="accent2"/>
                </a:solidFill>
                <a:latin typeface="华文楷体" charset="-122"/>
                <a:ea typeface="华文楷体" charset="-122"/>
              </a:endParaRPr>
            </a:p>
          </p:txBody>
        </p:sp>
        <p:sp>
          <p:nvSpPr>
            <p:cNvPr id="320536" name="Text Box 24"/>
            <p:cNvSpPr txBox="1">
              <a:spLocks noChangeArrowheads="1"/>
            </p:cNvSpPr>
            <p:nvPr/>
          </p:nvSpPr>
          <p:spPr bwMode="auto">
            <a:xfrm>
              <a:off x="3022" y="3918"/>
              <a:ext cx="539" cy="306"/>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spcBef>
                  <a:spcPct val="50000"/>
                </a:spcBef>
              </a:pPr>
              <a:r>
                <a:rPr kumimoji="0" lang="zh-CN" altLang="en-US" b="1">
                  <a:latin typeface="华文楷体" charset="-122"/>
                  <a:ea typeface="华文楷体" charset="-122"/>
                </a:rPr>
                <a:t>下标</a:t>
              </a:r>
            </a:p>
          </p:txBody>
        </p:sp>
      </p:grpSp>
      <p:grpSp>
        <p:nvGrpSpPr>
          <p:cNvPr id="320537" name="Group 25"/>
          <p:cNvGrpSpPr>
            <a:grpSpLocks/>
          </p:cNvGrpSpPr>
          <p:nvPr/>
        </p:nvGrpSpPr>
        <p:grpSpPr bwMode="auto">
          <a:xfrm>
            <a:off x="7947025" y="5049838"/>
            <a:ext cx="809625" cy="906462"/>
            <a:chOff x="5006" y="3181"/>
            <a:chExt cx="510" cy="571"/>
          </a:xfrm>
        </p:grpSpPr>
        <p:sp>
          <p:nvSpPr>
            <p:cNvPr id="320538" name="AutoShape 26"/>
            <p:cNvSpPr>
              <a:spLocks noChangeArrowheads="1"/>
            </p:cNvSpPr>
            <p:nvPr/>
          </p:nvSpPr>
          <p:spPr bwMode="auto">
            <a:xfrm>
              <a:off x="5120" y="3181"/>
              <a:ext cx="227" cy="284"/>
            </a:xfrm>
            <a:prstGeom prst="downArrow">
              <a:avLst>
                <a:gd name="adj1" fmla="val 50000"/>
                <a:gd name="adj2" fmla="val 31278"/>
              </a:avLst>
            </a:prstGeom>
            <a:solidFill>
              <a:schemeClr val="accent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320539" name="Text Box 27"/>
            <p:cNvSpPr txBox="1">
              <a:spLocks noChangeArrowheads="1"/>
            </p:cNvSpPr>
            <p:nvPr/>
          </p:nvSpPr>
          <p:spPr bwMode="auto">
            <a:xfrm>
              <a:off x="5006" y="3464"/>
              <a:ext cx="5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spcBef>
                  <a:spcPct val="50000"/>
                </a:spcBef>
              </a:pPr>
              <a:r>
                <a:rPr kumimoji="0" lang="zh-CN" altLang="en-US" b="1">
                  <a:latin typeface="华文楷体" charset="-122"/>
                  <a:ea typeface="华文楷体" charset="-122"/>
                </a:rPr>
                <a:t>数组</a:t>
              </a:r>
            </a:p>
          </p:txBody>
        </p:sp>
      </p:grpSp>
    </p:spTree>
    <p:extLst>
      <p:ext uri="{BB962C8B-B14F-4D97-AF65-F5344CB8AC3E}">
        <p14:creationId xmlns:p14="http://schemas.microsoft.com/office/powerpoint/2010/main" val="6183436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0533"/>
                                        </p:tgtEl>
                                        <p:attrNameLst>
                                          <p:attrName>style.visibility</p:attrName>
                                        </p:attrNameLst>
                                      </p:cBhvr>
                                      <p:to>
                                        <p:strVal val="visible"/>
                                      </p:to>
                                    </p:set>
                                    <p:animEffect transition="in" filter="wipe(up)">
                                      <p:cBhvr>
                                        <p:cTn id="7" dur="500"/>
                                        <p:tgtEl>
                                          <p:spTgt spid="3205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20534"/>
                                        </p:tgtEl>
                                        <p:attrNameLst>
                                          <p:attrName>style.visibility</p:attrName>
                                        </p:attrNameLst>
                                      </p:cBhvr>
                                      <p:to>
                                        <p:strVal val="visible"/>
                                      </p:to>
                                    </p:set>
                                    <p:animEffect transition="in" filter="wipe(up)">
                                      <p:cBhvr>
                                        <p:cTn id="12" dur="500"/>
                                        <p:tgtEl>
                                          <p:spTgt spid="320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33"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1540" name="Group 4"/>
          <p:cNvGrpSpPr>
            <a:grpSpLocks/>
          </p:cNvGrpSpPr>
          <p:nvPr/>
        </p:nvGrpSpPr>
        <p:grpSpPr bwMode="auto">
          <a:xfrm>
            <a:off x="657225" y="1854200"/>
            <a:ext cx="6837363" cy="519113"/>
            <a:chOff x="385" y="1480"/>
            <a:chExt cx="4307" cy="327"/>
          </a:xfrm>
        </p:grpSpPr>
        <p:sp>
          <p:nvSpPr>
            <p:cNvPr id="321541" name="Text Box 5"/>
            <p:cNvSpPr txBox="1">
              <a:spLocks noChangeArrowheads="1"/>
            </p:cNvSpPr>
            <p:nvPr/>
          </p:nvSpPr>
          <p:spPr bwMode="auto">
            <a:xfrm>
              <a:off x="612" y="1480"/>
              <a:ext cx="40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ea typeface="华文楷体" charset="-122"/>
                </a:rPr>
                <a:t>哈希技术仅仅是一种查找技术吗？</a:t>
              </a:r>
              <a:endParaRPr kumimoji="0" lang="zh-CN" altLang="en-US">
                <a:ea typeface="华文楷体" charset="-122"/>
              </a:endParaRPr>
            </a:p>
          </p:txBody>
        </p:sp>
        <p:grpSp>
          <p:nvGrpSpPr>
            <p:cNvPr id="321542" name="Group 6"/>
            <p:cNvGrpSpPr>
              <a:grpSpLocks/>
            </p:cNvGrpSpPr>
            <p:nvPr/>
          </p:nvGrpSpPr>
          <p:grpSpPr bwMode="auto">
            <a:xfrm>
              <a:off x="385" y="1536"/>
              <a:ext cx="200" cy="247"/>
              <a:chOff x="3840" y="1584"/>
              <a:chExt cx="1093" cy="1871"/>
            </a:xfrm>
          </p:grpSpPr>
          <p:sp>
            <p:nvSpPr>
              <p:cNvPr id="321543" name="Rectangle 7"/>
              <p:cNvSpPr>
                <a:spLocks noChangeArrowheads="1"/>
              </p:cNvSpPr>
              <p:nvPr/>
            </p:nvSpPr>
            <p:spPr bwMode="auto">
              <a:xfrm>
                <a:off x="4128" y="3120"/>
                <a:ext cx="347" cy="335"/>
              </a:xfrm>
              <a:prstGeom prst="rect">
                <a:avLst/>
              </a:prstGeom>
              <a:solidFill>
                <a:srgbClr val="8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1544" name="Freeform 8"/>
              <p:cNvSpPr>
                <a:spLocks/>
              </p:cNvSpPr>
              <p:nvPr/>
            </p:nvSpPr>
            <p:spPr bwMode="auto">
              <a:xfrm>
                <a:off x="3840" y="1584"/>
                <a:ext cx="1093" cy="1357"/>
              </a:xfrm>
              <a:custGeom>
                <a:avLst/>
                <a:gdLst>
                  <a:gd name="T0" fmla="*/ 644 w 2185"/>
                  <a:gd name="T1" fmla="*/ 1007 h 2715"/>
                  <a:gd name="T2" fmla="*/ 677 w 2185"/>
                  <a:gd name="T3" fmla="*/ 874 h 2715"/>
                  <a:gd name="T4" fmla="*/ 748 w 2185"/>
                  <a:gd name="T5" fmla="*/ 769 h 2715"/>
                  <a:gd name="T6" fmla="*/ 847 w 2185"/>
                  <a:gd name="T7" fmla="*/ 695 h 2715"/>
                  <a:gd name="T8" fmla="*/ 963 w 2185"/>
                  <a:gd name="T9" fmla="*/ 652 h 2715"/>
                  <a:gd name="T10" fmla="*/ 1090 w 2185"/>
                  <a:gd name="T11" fmla="*/ 644 h 2715"/>
                  <a:gd name="T12" fmla="*/ 1218 w 2185"/>
                  <a:gd name="T13" fmla="*/ 672 h 2715"/>
                  <a:gd name="T14" fmla="*/ 1337 w 2185"/>
                  <a:gd name="T15" fmla="*/ 736 h 2715"/>
                  <a:gd name="T16" fmla="*/ 1435 w 2185"/>
                  <a:gd name="T17" fmla="*/ 833 h 2715"/>
                  <a:gd name="T18" fmla="*/ 1491 w 2185"/>
                  <a:gd name="T19" fmla="*/ 922 h 2715"/>
                  <a:gd name="T20" fmla="*/ 1516 w 2185"/>
                  <a:gd name="T21" fmla="*/ 1012 h 2715"/>
                  <a:gd name="T22" fmla="*/ 1509 w 2185"/>
                  <a:gd name="T23" fmla="*/ 1105 h 2715"/>
                  <a:gd name="T24" fmla="*/ 1469 w 2185"/>
                  <a:gd name="T25" fmla="*/ 1205 h 2715"/>
                  <a:gd name="T26" fmla="*/ 1394 w 2185"/>
                  <a:gd name="T27" fmla="*/ 1315 h 2715"/>
                  <a:gd name="T28" fmla="*/ 1281 w 2185"/>
                  <a:gd name="T29" fmla="*/ 1435 h 2715"/>
                  <a:gd name="T30" fmla="*/ 1131 w 2185"/>
                  <a:gd name="T31" fmla="*/ 1568 h 2715"/>
                  <a:gd name="T32" fmla="*/ 966 w 2185"/>
                  <a:gd name="T33" fmla="*/ 1711 h 2715"/>
                  <a:gd name="T34" fmla="*/ 873 w 2185"/>
                  <a:gd name="T35" fmla="*/ 1834 h 2715"/>
                  <a:gd name="T36" fmla="*/ 795 w 2185"/>
                  <a:gd name="T37" fmla="*/ 1955 h 2715"/>
                  <a:gd name="T38" fmla="*/ 734 w 2185"/>
                  <a:gd name="T39" fmla="*/ 2078 h 2715"/>
                  <a:gd name="T40" fmla="*/ 686 w 2185"/>
                  <a:gd name="T41" fmla="*/ 2202 h 2715"/>
                  <a:gd name="T42" fmla="*/ 654 w 2185"/>
                  <a:gd name="T43" fmla="*/ 2330 h 2715"/>
                  <a:gd name="T44" fmla="*/ 633 w 2185"/>
                  <a:gd name="T45" fmla="*/ 2464 h 2715"/>
                  <a:gd name="T46" fmla="*/ 622 w 2185"/>
                  <a:gd name="T47" fmla="*/ 2604 h 2715"/>
                  <a:gd name="T48" fmla="*/ 1280 w 2185"/>
                  <a:gd name="T49" fmla="*/ 2715 h 2715"/>
                  <a:gd name="T50" fmla="*/ 1279 w 2185"/>
                  <a:gd name="T51" fmla="*/ 2626 h 2715"/>
                  <a:gd name="T52" fmla="*/ 1284 w 2185"/>
                  <a:gd name="T53" fmla="*/ 2541 h 2715"/>
                  <a:gd name="T54" fmla="*/ 1299 w 2185"/>
                  <a:gd name="T55" fmla="*/ 2460 h 2715"/>
                  <a:gd name="T56" fmla="*/ 1322 w 2185"/>
                  <a:gd name="T57" fmla="*/ 2383 h 2715"/>
                  <a:gd name="T58" fmla="*/ 1357 w 2185"/>
                  <a:gd name="T59" fmla="*/ 2309 h 2715"/>
                  <a:gd name="T60" fmla="*/ 1403 w 2185"/>
                  <a:gd name="T61" fmla="*/ 2240 h 2715"/>
                  <a:gd name="T62" fmla="*/ 1462 w 2185"/>
                  <a:gd name="T63" fmla="*/ 2177 h 2715"/>
                  <a:gd name="T64" fmla="*/ 1536 w 2185"/>
                  <a:gd name="T65" fmla="*/ 2117 h 2715"/>
                  <a:gd name="T66" fmla="*/ 1647 w 2185"/>
                  <a:gd name="T67" fmla="*/ 2035 h 2715"/>
                  <a:gd name="T68" fmla="*/ 1760 w 2185"/>
                  <a:gd name="T69" fmla="*/ 1939 h 2715"/>
                  <a:gd name="T70" fmla="*/ 1870 w 2185"/>
                  <a:gd name="T71" fmla="*/ 1832 h 2715"/>
                  <a:gd name="T72" fmla="*/ 1970 w 2185"/>
                  <a:gd name="T73" fmla="*/ 1711 h 2715"/>
                  <a:gd name="T74" fmla="*/ 2057 w 2185"/>
                  <a:gd name="T75" fmla="*/ 1578 h 2715"/>
                  <a:gd name="T76" fmla="*/ 2125 w 2185"/>
                  <a:gd name="T77" fmla="*/ 1435 h 2715"/>
                  <a:gd name="T78" fmla="*/ 2170 w 2185"/>
                  <a:gd name="T79" fmla="*/ 1281 h 2715"/>
                  <a:gd name="T80" fmla="*/ 2185 w 2185"/>
                  <a:gd name="T81" fmla="*/ 1118 h 2715"/>
                  <a:gd name="T82" fmla="*/ 2163 w 2185"/>
                  <a:gd name="T83" fmla="*/ 869 h 2715"/>
                  <a:gd name="T84" fmla="*/ 2100 w 2185"/>
                  <a:gd name="T85" fmla="*/ 651 h 2715"/>
                  <a:gd name="T86" fmla="*/ 2000 w 2185"/>
                  <a:gd name="T87" fmla="*/ 463 h 2715"/>
                  <a:gd name="T88" fmla="*/ 1871 w 2185"/>
                  <a:gd name="T89" fmla="*/ 308 h 2715"/>
                  <a:gd name="T90" fmla="*/ 1721 w 2185"/>
                  <a:gd name="T91" fmla="*/ 183 h 2715"/>
                  <a:gd name="T92" fmla="*/ 1554 w 2185"/>
                  <a:gd name="T93" fmla="*/ 91 h 2715"/>
                  <a:gd name="T94" fmla="*/ 1379 w 2185"/>
                  <a:gd name="T95" fmla="*/ 31 h 2715"/>
                  <a:gd name="T96" fmla="*/ 1201 w 2185"/>
                  <a:gd name="T97" fmla="*/ 5 h 2715"/>
                  <a:gd name="T98" fmla="*/ 954 w 2185"/>
                  <a:gd name="T99" fmla="*/ 5 h 2715"/>
                  <a:gd name="T100" fmla="*/ 724 w 2185"/>
                  <a:gd name="T101" fmla="*/ 42 h 2715"/>
                  <a:gd name="T102" fmla="*/ 519 w 2185"/>
                  <a:gd name="T103" fmla="*/ 112 h 2715"/>
                  <a:gd name="T104" fmla="*/ 343 w 2185"/>
                  <a:gd name="T105" fmla="*/ 217 h 2715"/>
                  <a:gd name="T106" fmla="*/ 199 w 2185"/>
                  <a:gd name="T107" fmla="*/ 354 h 2715"/>
                  <a:gd name="T108" fmla="*/ 91 w 2185"/>
                  <a:gd name="T109" fmla="*/ 521 h 2715"/>
                  <a:gd name="T110" fmla="*/ 23 w 2185"/>
                  <a:gd name="T111" fmla="*/ 717 h 2715"/>
                  <a:gd name="T112" fmla="*/ 0 w 2185"/>
                  <a:gd name="T113" fmla="*/ 940 h 2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85" h="2715">
                    <a:moveTo>
                      <a:pt x="0" y="1340"/>
                    </a:moveTo>
                    <a:lnTo>
                      <a:pt x="643" y="1340"/>
                    </a:lnTo>
                    <a:lnTo>
                      <a:pt x="643" y="1044"/>
                    </a:lnTo>
                    <a:lnTo>
                      <a:pt x="644" y="1007"/>
                    </a:lnTo>
                    <a:lnTo>
                      <a:pt x="648" y="970"/>
                    </a:lnTo>
                    <a:lnTo>
                      <a:pt x="655" y="937"/>
                    </a:lnTo>
                    <a:lnTo>
                      <a:pt x="666" y="903"/>
                    </a:lnTo>
                    <a:lnTo>
                      <a:pt x="677" y="874"/>
                    </a:lnTo>
                    <a:lnTo>
                      <a:pt x="692" y="845"/>
                    </a:lnTo>
                    <a:lnTo>
                      <a:pt x="708" y="818"/>
                    </a:lnTo>
                    <a:lnTo>
                      <a:pt x="728" y="793"/>
                    </a:lnTo>
                    <a:lnTo>
                      <a:pt x="748" y="769"/>
                    </a:lnTo>
                    <a:lnTo>
                      <a:pt x="771" y="748"/>
                    </a:lnTo>
                    <a:lnTo>
                      <a:pt x="794" y="728"/>
                    </a:lnTo>
                    <a:lnTo>
                      <a:pt x="819" y="711"/>
                    </a:lnTo>
                    <a:lnTo>
                      <a:pt x="847" y="695"/>
                    </a:lnTo>
                    <a:lnTo>
                      <a:pt x="874" y="681"/>
                    </a:lnTo>
                    <a:lnTo>
                      <a:pt x="903" y="670"/>
                    </a:lnTo>
                    <a:lnTo>
                      <a:pt x="933" y="660"/>
                    </a:lnTo>
                    <a:lnTo>
                      <a:pt x="963" y="652"/>
                    </a:lnTo>
                    <a:lnTo>
                      <a:pt x="994" y="648"/>
                    </a:lnTo>
                    <a:lnTo>
                      <a:pt x="1025" y="644"/>
                    </a:lnTo>
                    <a:lnTo>
                      <a:pt x="1057" y="643"/>
                    </a:lnTo>
                    <a:lnTo>
                      <a:pt x="1090" y="644"/>
                    </a:lnTo>
                    <a:lnTo>
                      <a:pt x="1122" y="648"/>
                    </a:lnTo>
                    <a:lnTo>
                      <a:pt x="1154" y="653"/>
                    </a:lnTo>
                    <a:lnTo>
                      <a:pt x="1186" y="662"/>
                    </a:lnTo>
                    <a:lnTo>
                      <a:pt x="1218" y="672"/>
                    </a:lnTo>
                    <a:lnTo>
                      <a:pt x="1249" y="683"/>
                    </a:lnTo>
                    <a:lnTo>
                      <a:pt x="1279" y="700"/>
                    </a:lnTo>
                    <a:lnTo>
                      <a:pt x="1309" y="717"/>
                    </a:lnTo>
                    <a:lnTo>
                      <a:pt x="1337" y="736"/>
                    </a:lnTo>
                    <a:lnTo>
                      <a:pt x="1365" y="758"/>
                    </a:lnTo>
                    <a:lnTo>
                      <a:pt x="1392" y="784"/>
                    </a:lnTo>
                    <a:lnTo>
                      <a:pt x="1417" y="811"/>
                    </a:lnTo>
                    <a:lnTo>
                      <a:pt x="1435" y="833"/>
                    </a:lnTo>
                    <a:lnTo>
                      <a:pt x="1451" y="855"/>
                    </a:lnTo>
                    <a:lnTo>
                      <a:pt x="1466" y="878"/>
                    </a:lnTo>
                    <a:lnTo>
                      <a:pt x="1480" y="900"/>
                    </a:lnTo>
                    <a:lnTo>
                      <a:pt x="1491" y="922"/>
                    </a:lnTo>
                    <a:lnTo>
                      <a:pt x="1501" y="944"/>
                    </a:lnTo>
                    <a:lnTo>
                      <a:pt x="1507" y="966"/>
                    </a:lnTo>
                    <a:lnTo>
                      <a:pt x="1514" y="989"/>
                    </a:lnTo>
                    <a:lnTo>
                      <a:pt x="1516" y="1012"/>
                    </a:lnTo>
                    <a:lnTo>
                      <a:pt x="1518" y="1035"/>
                    </a:lnTo>
                    <a:lnTo>
                      <a:pt x="1517" y="1058"/>
                    </a:lnTo>
                    <a:lnTo>
                      <a:pt x="1514" y="1082"/>
                    </a:lnTo>
                    <a:lnTo>
                      <a:pt x="1509" y="1105"/>
                    </a:lnTo>
                    <a:lnTo>
                      <a:pt x="1502" y="1130"/>
                    </a:lnTo>
                    <a:lnTo>
                      <a:pt x="1493" y="1155"/>
                    </a:lnTo>
                    <a:lnTo>
                      <a:pt x="1481" y="1180"/>
                    </a:lnTo>
                    <a:lnTo>
                      <a:pt x="1469" y="1205"/>
                    </a:lnTo>
                    <a:lnTo>
                      <a:pt x="1454" y="1232"/>
                    </a:lnTo>
                    <a:lnTo>
                      <a:pt x="1435" y="1260"/>
                    </a:lnTo>
                    <a:lnTo>
                      <a:pt x="1415" y="1287"/>
                    </a:lnTo>
                    <a:lnTo>
                      <a:pt x="1394" y="1315"/>
                    </a:lnTo>
                    <a:lnTo>
                      <a:pt x="1369" y="1344"/>
                    </a:lnTo>
                    <a:lnTo>
                      <a:pt x="1342" y="1374"/>
                    </a:lnTo>
                    <a:lnTo>
                      <a:pt x="1312" y="1404"/>
                    </a:lnTo>
                    <a:lnTo>
                      <a:pt x="1281" y="1435"/>
                    </a:lnTo>
                    <a:lnTo>
                      <a:pt x="1248" y="1467"/>
                    </a:lnTo>
                    <a:lnTo>
                      <a:pt x="1212" y="1500"/>
                    </a:lnTo>
                    <a:lnTo>
                      <a:pt x="1173" y="1534"/>
                    </a:lnTo>
                    <a:lnTo>
                      <a:pt x="1131" y="1568"/>
                    </a:lnTo>
                    <a:lnTo>
                      <a:pt x="1087" y="1604"/>
                    </a:lnTo>
                    <a:lnTo>
                      <a:pt x="1042" y="1641"/>
                    </a:lnTo>
                    <a:lnTo>
                      <a:pt x="994" y="1679"/>
                    </a:lnTo>
                    <a:lnTo>
                      <a:pt x="966" y="1711"/>
                    </a:lnTo>
                    <a:lnTo>
                      <a:pt x="942" y="1741"/>
                    </a:lnTo>
                    <a:lnTo>
                      <a:pt x="918" y="1772"/>
                    </a:lnTo>
                    <a:lnTo>
                      <a:pt x="894" y="1803"/>
                    </a:lnTo>
                    <a:lnTo>
                      <a:pt x="873" y="1834"/>
                    </a:lnTo>
                    <a:lnTo>
                      <a:pt x="851" y="1864"/>
                    </a:lnTo>
                    <a:lnTo>
                      <a:pt x="832" y="1896"/>
                    </a:lnTo>
                    <a:lnTo>
                      <a:pt x="813" y="1924"/>
                    </a:lnTo>
                    <a:lnTo>
                      <a:pt x="795" y="1955"/>
                    </a:lnTo>
                    <a:lnTo>
                      <a:pt x="779" y="1985"/>
                    </a:lnTo>
                    <a:lnTo>
                      <a:pt x="761" y="2017"/>
                    </a:lnTo>
                    <a:lnTo>
                      <a:pt x="748" y="2048"/>
                    </a:lnTo>
                    <a:lnTo>
                      <a:pt x="734" y="2078"/>
                    </a:lnTo>
                    <a:lnTo>
                      <a:pt x="721" y="2109"/>
                    </a:lnTo>
                    <a:lnTo>
                      <a:pt x="708" y="2140"/>
                    </a:lnTo>
                    <a:lnTo>
                      <a:pt x="698" y="2171"/>
                    </a:lnTo>
                    <a:lnTo>
                      <a:pt x="686" y="2202"/>
                    </a:lnTo>
                    <a:lnTo>
                      <a:pt x="677" y="2233"/>
                    </a:lnTo>
                    <a:lnTo>
                      <a:pt x="669" y="2265"/>
                    </a:lnTo>
                    <a:lnTo>
                      <a:pt x="661" y="2298"/>
                    </a:lnTo>
                    <a:lnTo>
                      <a:pt x="654" y="2330"/>
                    </a:lnTo>
                    <a:lnTo>
                      <a:pt x="647" y="2362"/>
                    </a:lnTo>
                    <a:lnTo>
                      <a:pt x="642" y="2397"/>
                    </a:lnTo>
                    <a:lnTo>
                      <a:pt x="637" y="2429"/>
                    </a:lnTo>
                    <a:lnTo>
                      <a:pt x="633" y="2464"/>
                    </a:lnTo>
                    <a:lnTo>
                      <a:pt x="629" y="2498"/>
                    </a:lnTo>
                    <a:lnTo>
                      <a:pt x="627" y="2533"/>
                    </a:lnTo>
                    <a:lnTo>
                      <a:pt x="623" y="2567"/>
                    </a:lnTo>
                    <a:lnTo>
                      <a:pt x="622" y="2604"/>
                    </a:lnTo>
                    <a:lnTo>
                      <a:pt x="621" y="2640"/>
                    </a:lnTo>
                    <a:lnTo>
                      <a:pt x="620" y="2677"/>
                    </a:lnTo>
                    <a:lnTo>
                      <a:pt x="620" y="2715"/>
                    </a:lnTo>
                    <a:lnTo>
                      <a:pt x="1280" y="2715"/>
                    </a:lnTo>
                    <a:lnTo>
                      <a:pt x="1280" y="2692"/>
                    </a:lnTo>
                    <a:lnTo>
                      <a:pt x="1279" y="2670"/>
                    </a:lnTo>
                    <a:lnTo>
                      <a:pt x="1279" y="2648"/>
                    </a:lnTo>
                    <a:lnTo>
                      <a:pt x="1279" y="2626"/>
                    </a:lnTo>
                    <a:lnTo>
                      <a:pt x="1280" y="2604"/>
                    </a:lnTo>
                    <a:lnTo>
                      <a:pt x="1281" y="2582"/>
                    </a:lnTo>
                    <a:lnTo>
                      <a:pt x="1282" y="2562"/>
                    </a:lnTo>
                    <a:lnTo>
                      <a:pt x="1284" y="2541"/>
                    </a:lnTo>
                    <a:lnTo>
                      <a:pt x="1287" y="2520"/>
                    </a:lnTo>
                    <a:lnTo>
                      <a:pt x="1291" y="2499"/>
                    </a:lnTo>
                    <a:lnTo>
                      <a:pt x="1295" y="2480"/>
                    </a:lnTo>
                    <a:lnTo>
                      <a:pt x="1299" y="2460"/>
                    </a:lnTo>
                    <a:lnTo>
                      <a:pt x="1304" y="2441"/>
                    </a:lnTo>
                    <a:lnTo>
                      <a:pt x="1310" y="2421"/>
                    </a:lnTo>
                    <a:lnTo>
                      <a:pt x="1316" y="2401"/>
                    </a:lnTo>
                    <a:lnTo>
                      <a:pt x="1322" y="2383"/>
                    </a:lnTo>
                    <a:lnTo>
                      <a:pt x="1329" y="2365"/>
                    </a:lnTo>
                    <a:lnTo>
                      <a:pt x="1339" y="2345"/>
                    </a:lnTo>
                    <a:lnTo>
                      <a:pt x="1347" y="2328"/>
                    </a:lnTo>
                    <a:lnTo>
                      <a:pt x="1357" y="2309"/>
                    </a:lnTo>
                    <a:lnTo>
                      <a:pt x="1367" y="2292"/>
                    </a:lnTo>
                    <a:lnTo>
                      <a:pt x="1379" y="2275"/>
                    </a:lnTo>
                    <a:lnTo>
                      <a:pt x="1390" y="2257"/>
                    </a:lnTo>
                    <a:lnTo>
                      <a:pt x="1403" y="2240"/>
                    </a:lnTo>
                    <a:lnTo>
                      <a:pt x="1417" y="2224"/>
                    </a:lnTo>
                    <a:lnTo>
                      <a:pt x="1431" y="2208"/>
                    </a:lnTo>
                    <a:lnTo>
                      <a:pt x="1446" y="2193"/>
                    </a:lnTo>
                    <a:lnTo>
                      <a:pt x="1462" y="2177"/>
                    </a:lnTo>
                    <a:lnTo>
                      <a:pt x="1479" y="2161"/>
                    </a:lnTo>
                    <a:lnTo>
                      <a:pt x="1496" y="2146"/>
                    </a:lnTo>
                    <a:lnTo>
                      <a:pt x="1516" y="2131"/>
                    </a:lnTo>
                    <a:lnTo>
                      <a:pt x="1536" y="2117"/>
                    </a:lnTo>
                    <a:lnTo>
                      <a:pt x="1563" y="2097"/>
                    </a:lnTo>
                    <a:lnTo>
                      <a:pt x="1591" y="2078"/>
                    </a:lnTo>
                    <a:lnTo>
                      <a:pt x="1619" y="2057"/>
                    </a:lnTo>
                    <a:lnTo>
                      <a:pt x="1647" y="2035"/>
                    </a:lnTo>
                    <a:lnTo>
                      <a:pt x="1676" y="2012"/>
                    </a:lnTo>
                    <a:lnTo>
                      <a:pt x="1704" y="1989"/>
                    </a:lnTo>
                    <a:lnTo>
                      <a:pt x="1731" y="1964"/>
                    </a:lnTo>
                    <a:lnTo>
                      <a:pt x="1760" y="1939"/>
                    </a:lnTo>
                    <a:lnTo>
                      <a:pt x="1788" y="1914"/>
                    </a:lnTo>
                    <a:lnTo>
                      <a:pt x="1816" y="1887"/>
                    </a:lnTo>
                    <a:lnTo>
                      <a:pt x="1843" y="1861"/>
                    </a:lnTo>
                    <a:lnTo>
                      <a:pt x="1870" y="1832"/>
                    </a:lnTo>
                    <a:lnTo>
                      <a:pt x="1896" y="1802"/>
                    </a:lnTo>
                    <a:lnTo>
                      <a:pt x="1922" y="1772"/>
                    </a:lnTo>
                    <a:lnTo>
                      <a:pt x="1946" y="1742"/>
                    </a:lnTo>
                    <a:lnTo>
                      <a:pt x="1970" y="1711"/>
                    </a:lnTo>
                    <a:lnTo>
                      <a:pt x="1993" y="1679"/>
                    </a:lnTo>
                    <a:lnTo>
                      <a:pt x="2016" y="1647"/>
                    </a:lnTo>
                    <a:lnTo>
                      <a:pt x="2037" y="1612"/>
                    </a:lnTo>
                    <a:lnTo>
                      <a:pt x="2057" y="1578"/>
                    </a:lnTo>
                    <a:lnTo>
                      <a:pt x="2076" y="1544"/>
                    </a:lnTo>
                    <a:lnTo>
                      <a:pt x="2093" y="1507"/>
                    </a:lnTo>
                    <a:lnTo>
                      <a:pt x="2110" y="1472"/>
                    </a:lnTo>
                    <a:lnTo>
                      <a:pt x="2125" y="1435"/>
                    </a:lnTo>
                    <a:lnTo>
                      <a:pt x="2138" y="1398"/>
                    </a:lnTo>
                    <a:lnTo>
                      <a:pt x="2151" y="1360"/>
                    </a:lnTo>
                    <a:lnTo>
                      <a:pt x="2161" y="1321"/>
                    </a:lnTo>
                    <a:lnTo>
                      <a:pt x="2170" y="1281"/>
                    </a:lnTo>
                    <a:lnTo>
                      <a:pt x="2177" y="1242"/>
                    </a:lnTo>
                    <a:lnTo>
                      <a:pt x="2182" y="1201"/>
                    </a:lnTo>
                    <a:lnTo>
                      <a:pt x="2185" y="1160"/>
                    </a:lnTo>
                    <a:lnTo>
                      <a:pt x="2185" y="1118"/>
                    </a:lnTo>
                    <a:lnTo>
                      <a:pt x="2184" y="1053"/>
                    </a:lnTo>
                    <a:lnTo>
                      <a:pt x="2181" y="990"/>
                    </a:lnTo>
                    <a:lnTo>
                      <a:pt x="2174" y="929"/>
                    </a:lnTo>
                    <a:lnTo>
                      <a:pt x="2163" y="869"/>
                    </a:lnTo>
                    <a:lnTo>
                      <a:pt x="2151" y="811"/>
                    </a:lnTo>
                    <a:lnTo>
                      <a:pt x="2136" y="756"/>
                    </a:lnTo>
                    <a:lnTo>
                      <a:pt x="2119" y="703"/>
                    </a:lnTo>
                    <a:lnTo>
                      <a:pt x="2100" y="651"/>
                    </a:lnTo>
                    <a:lnTo>
                      <a:pt x="2078" y="600"/>
                    </a:lnTo>
                    <a:lnTo>
                      <a:pt x="2054" y="553"/>
                    </a:lnTo>
                    <a:lnTo>
                      <a:pt x="2028" y="507"/>
                    </a:lnTo>
                    <a:lnTo>
                      <a:pt x="2000" y="463"/>
                    </a:lnTo>
                    <a:lnTo>
                      <a:pt x="1970" y="422"/>
                    </a:lnTo>
                    <a:lnTo>
                      <a:pt x="1939" y="382"/>
                    </a:lnTo>
                    <a:lnTo>
                      <a:pt x="1905" y="344"/>
                    </a:lnTo>
                    <a:lnTo>
                      <a:pt x="1871" y="308"/>
                    </a:lnTo>
                    <a:lnTo>
                      <a:pt x="1835" y="273"/>
                    </a:lnTo>
                    <a:lnTo>
                      <a:pt x="1798" y="242"/>
                    </a:lnTo>
                    <a:lnTo>
                      <a:pt x="1760" y="212"/>
                    </a:lnTo>
                    <a:lnTo>
                      <a:pt x="1721" y="183"/>
                    </a:lnTo>
                    <a:lnTo>
                      <a:pt x="1681" y="158"/>
                    </a:lnTo>
                    <a:lnTo>
                      <a:pt x="1639" y="134"/>
                    </a:lnTo>
                    <a:lnTo>
                      <a:pt x="1597" y="112"/>
                    </a:lnTo>
                    <a:lnTo>
                      <a:pt x="1554" y="91"/>
                    </a:lnTo>
                    <a:lnTo>
                      <a:pt x="1511" y="74"/>
                    </a:lnTo>
                    <a:lnTo>
                      <a:pt x="1468" y="58"/>
                    </a:lnTo>
                    <a:lnTo>
                      <a:pt x="1424" y="44"/>
                    </a:lnTo>
                    <a:lnTo>
                      <a:pt x="1379" y="31"/>
                    </a:lnTo>
                    <a:lnTo>
                      <a:pt x="1335" y="22"/>
                    </a:lnTo>
                    <a:lnTo>
                      <a:pt x="1290" y="14"/>
                    </a:lnTo>
                    <a:lnTo>
                      <a:pt x="1246" y="8"/>
                    </a:lnTo>
                    <a:lnTo>
                      <a:pt x="1201" y="5"/>
                    </a:lnTo>
                    <a:lnTo>
                      <a:pt x="1138" y="1"/>
                    </a:lnTo>
                    <a:lnTo>
                      <a:pt x="1075" y="0"/>
                    </a:lnTo>
                    <a:lnTo>
                      <a:pt x="1013" y="1"/>
                    </a:lnTo>
                    <a:lnTo>
                      <a:pt x="954" y="5"/>
                    </a:lnTo>
                    <a:lnTo>
                      <a:pt x="894" y="11"/>
                    </a:lnTo>
                    <a:lnTo>
                      <a:pt x="836" y="19"/>
                    </a:lnTo>
                    <a:lnTo>
                      <a:pt x="780" y="29"/>
                    </a:lnTo>
                    <a:lnTo>
                      <a:pt x="724" y="42"/>
                    </a:lnTo>
                    <a:lnTo>
                      <a:pt x="671" y="55"/>
                    </a:lnTo>
                    <a:lnTo>
                      <a:pt x="619" y="72"/>
                    </a:lnTo>
                    <a:lnTo>
                      <a:pt x="569" y="91"/>
                    </a:lnTo>
                    <a:lnTo>
                      <a:pt x="519" y="112"/>
                    </a:lnTo>
                    <a:lnTo>
                      <a:pt x="473" y="136"/>
                    </a:lnTo>
                    <a:lnTo>
                      <a:pt x="428" y="160"/>
                    </a:lnTo>
                    <a:lnTo>
                      <a:pt x="385" y="187"/>
                    </a:lnTo>
                    <a:lnTo>
                      <a:pt x="343" y="217"/>
                    </a:lnTo>
                    <a:lnTo>
                      <a:pt x="304" y="248"/>
                    </a:lnTo>
                    <a:lnTo>
                      <a:pt x="267" y="281"/>
                    </a:lnTo>
                    <a:lnTo>
                      <a:pt x="231" y="316"/>
                    </a:lnTo>
                    <a:lnTo>
                      <a:pt x="199" y="354"/>
                    </a:lnTo>
                    <a:lnTo>
                      <a:pt x="168" y="393"/>
                    </a:lnTo>
                    <a:lnTo>
                      <a:pt x="140" y="433"/>
                    </a:lnTo>
                    <a:lnTo>
                      <a:pt x="114" y="476"/>
                    </a:lnTo>
                    <a:lnTo>
                      <a:pt x="91" y="521"/>
                    </a:lnTo>
                    <a:lnTo>
                      <a:pt x="70" y="567"/>
                    </a:lnTo>
                    <a:lnTo>
                      <a:pt x="52" y="615"/>
                    </a:lnTo>
                    <a:lnTo>
                      <a:pt x="37" y="665"/>
                    </a:lnTo>
                    <a:lnTo>
                      <a:pt x="23" y="717"/>
                    </a:lnTo>
                    <a:lnTo>
                      <a:pt x="13" y="770"/>
                    </a:lnTo>
                    <a:lnTo>
                      <a:pt x="6" y="825"/>
                    </a:lnTo>
                    <a:lnTo>
                      <a:pt x="1" y="883"/>
                    </a:lnTo>
                    <a:lnTo>
                      <a:pt x="0" y="940"/>
                    </a:lnTo>
                    <a:lnTo>
                      <a:pt x="0" y="1340"/>
                    </a:lnTo>
                    <a:close/>
                  </a:path>
                </a:pathLst>
              </a:custGeom>
              <a:solidFill>
                <a:srgbClr val="800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321545" name="Rectangle 9"/>
          <p:cNvSpPr>
            <a:spLocks noChangeArrowheads="1"/>
          </p:cNvSpPr>
          <p:nvPr/>
        </p:nvSpPr>
        <p:spPr bwMode="auto">
          <a:xfrm>
            <a:off x="522288" y="2663825"/>
            <a:ext cx="80565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r>
              <a:rPr kumimoji="0" lang="zh-CN" altLang="en-US" sz="2800" b="1">
                <a:latin typeface="Arial" charset="0"/>
                <a:ea typeface="华文楷体" charset="-122"/>
              </a:rPr>
              <a:t>哈希既是一种查找技术，也是一种存储技术。</a:t>
            </a:r>
          </a:p>
        </p:txBody>
      </p:sp>
      <p:sp>
        <p:nvSpPr>
          <p:cNvPr id="321546" name="Rectangle 10"/>
          <p:cNvSpPr>
            <a:spLocks noChangeArrowheads="1"/>
          </p:cNvSpPr>
          <p:nvPr/>
        </p:nvSpPr>
        <p:spPr bwMode="auto">
          <a:xfrm>
            <a:off x="538163" y="4373563"/>
            <a:ext cx="7859712"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r>
              <a:rPr kumimoji="0" lang="zh-CN" altLang="en-US" sz="2800" b="1">
                <a:latin typeface="Arial" charset="0"/>
                <a:ea typeface="华文楷体" charset="-122"/>
              </a:rPr>
              <a:t>哈希只是通过记录的关键码定位该记录，没有完整地表达记录之间的逻辑关系，所以，哈希主要是</a:t>
            </a:r>
            <a:r>
              <a:rPr kumimoji="0" lang="zh-CN" altLang="en-US" sz="2800" b="1">
                <a:solidFill>
                  <a:srgbClr val="FF3300"/>
                </a:solidFill>
                <a:latin typeface="Arial" charset="0"/>
                <a:ea typeface="华文楷体" charset="-122"/>
              </a:rPr>
              <a:t>面向查找</a:t>
            </a:r>
            <a:r>
              <a:rPr kumimoji="0" lang="zh-CN" altLang="en-US" sz="2800" b="1">
                <a:latin typeface="Arial" charset="0"/>
                <a:ea typeface="华文楷体" charset="-122"/>
              </a:rPr>
              <a:t>的存储结构。</a:t>
            </a:r>
          </a:p>
        </p:txBody>
      </p:sp>
      <p:grpSp>
        <p:nvGrpSpPr>
          <p:cNvPr id="321547" name="Group 11"/>
          <p:cNvGrpSpPr>
            <a:grpSpLocks/>
          </p:cNvGrpSpPr>
          <p:nvPr/>
        </p:nvGrpSpPr>
        <p:grpSpPr bwMode="auto">
          <a:xfrm>
            <a:off x="746125" y="3563938"/>
            <a:ext cx="6837363" cy="519112"/>
            <a:chOff x="385" y="1480"/>
            <a:chExt cx="4307" cy="327"/>
          </a:xfrm>
        </p:grpSpPr>
        <p:sp>
          <p:nvSpPr>
            <p:cNvPr id="321548" name="Text Box 12"/>
            <p:cNvSpPr txBox="1">
              <a:spLocks noChangeArrowheads="1"/>
            </p:cNvSpPr>
            <p:nvPr/>
          </p:nvSpPr>
          <p:spPr bwMode="auto">
            <a:xfrm>
              <a:off x="612" y="1480"/>
              <a:ext cx="40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ea typeface="华文楷体" charset="-122"/>
                </a:rPr>
                <a:t>哈希是一种</a:t>
              </a:r>
              <a:r>
                <a:rPr kumimoji="0" lang="zh-CN" altLang="en-US" sz="2800" b="1">
                  <a:latin typeface="Arial" charset="0"/>
                  <a:ea typeface="华文楷体" charset="-122"/>
                </a:rPr>
                <a:t>完整的存储结构</a:t>
              </a:r>
              <a:r>
                <a:rPr kumimoji="0" lang="zh-CN" altLang="en-US" sz="2800" b="1">
                  <a:ea typeface="华文楷体" charset="-122"/>
                </a:rPr>
                <a:t>吗？</a:t>
              </a:r>
            </a:p>
          </p:txBody>
        </p:sp>
        <p:grpSp>
          <p:nvGrpSpPr>
            <p:cNvPr id="321549" name="Group 13"/>
            <p:cNvGrpSpPr>
              <a:grpSpLocks/>
            </p:cNvGrpSpPr>
            <p:nvPr/>
          </p:nvGrpSpPr>
          <p:grpSpPr bwMode="auto">
            <a:xfrm>
              <a:off x="385" y="1536"/>
              <a:ext cx="200" cy="247"/>
              <a:chOff x="3840" y="1584"/>
              <a:chExt cx="1093" cy="1871"/>
            </a:xfrm>
          </p:grpSpPr>
          <p:sp>
            <p:nvSpPr>
              <p:cNvPr id="321550" name="Rectangle 14"/>
              <p:cNvSpPr>
                <a:spLocks noChangeArrowheads="1"/>
              </p:cNvSpPr>
              <p:nvPr/>
            </p:nvSpPr>
            <p:spPr bwMode="auto">
              <a:xfrm>
                <a:off x="4128" y="3120"/>
                <a:ext cx="347" cy="335"/>
              </a:xfrm>
              <a:prstGeom prst="rect">
                <a:avLst/>
              </a:prstGeom>
              <a:solidFill>
                <a:srgbClr val="8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1551" name="Freeform 15"/>
              <p:cNvSpPr>
                <a:spLocks/>
              </p:cNvSpPr>
              <p:nvPr/>
            </p:nvSpPr>
            <p:spPr bwMode="auto">
              <a:xfrm>
                <a:off x="3840" y="1584"/>
                <a:ext cx="1093" cy="1357"/>
              </a:xfrm>
              <a:custGeom>
                <a:avLst/>
                <a:gdLst>
                  <a:gd name="T0" fmla="*/ 644 w 2185"/>
                  <a:gd name="T1" fmla="*/ 1007 h 2715"/>
                  <a:gd name="T2" fmla="*/ 677 w 2185"/>
                  <a:gd name="T3" fmla="*/ 874 h 2715"/>
                  <a:gd name="T4" fmla="*/ 748 w 2185"/>
                  <a:gd name="T5" fmla="*/ 769 h 2715"/>
                  <a:gd name="T6" fmla="*/ 847 w 2185"/>
                  <a:gd name="T7" fmla="*/ 695 h 2715"/>
                  <a:gd name="T8" fmla="*/ 963 w 2185"/>
                  <a:gd name="T9" fmla="*/ 652 h 2715"/>
                  <a:gd name="T10" fmla="*/ 1090 w 2185"/>
                  <a:gd name="T11" fmla="*/ 644 h 2715"/>
                  <a:gd name="T12" fmla="*/ 1218 w 2185"/>
                  <a:gd name="T13" fmla="*/ 672 h 2715"/>
                  <a:gd name="T14" fmla="*/ 1337 w 2185"/>
                  <a:gd name="T15" fmla="*/ 736 h 2715"/>
                  <a:gd name="T16" fmla="*/ 1435 w 2185"/>
                  <a:gd name="T17" fmla="*/ 833 h 2715"/>
                  <a:gd name="T18" fmla="*/ 1491 w 2185"/>
                  <a:gd name="T19" fmla="*/ 922 h 2715"/>
                  <a:gd name="T20" fmla="*/ 1516 w 2185"/>
                  <a:gd name="T21" fmla="*/ 1012 h 2715"/>
                  <a:gd name="T22" fmla="*/ 1509 w 2185"/>
                  <a:gd name="T23" fmla="*/ 1105 h 2715"/>
                  <a:gd name="T24" fmla="*/ 1469 w 2185"/>
                  <a:gd name="T25" fmla="*/ 1205 h 2715"/>
                  <a:gd name="T26" fmla="*/ 1394 w 2185"/>
                  <a:gd name="T27" fmla="*/ 1315 h 2715"/>
                  <a:gd name="T28" fmla="*/ 1281 w 2185"/>
                  <a:gd name="T29" fmla="*/ 1435 h 2715"/>
                  <a:gd name="T30" fmla="*/ 1131 w 2185"/>
                  <a:gd name="T31" fmla="*/ 1568 h 2715"/>
                  <a:gd name="T32" fmla="*/ 966 w 2185"/>
                  <a:gd name="T33" fmla="*/ 1711 h 2715"/>
                  <a:gd name="T34" fmla="*/ 873 w 2185"/>
                  <a:gd name="T35" fmla="*/ 1834 h 2715"/>
                  <a:gd name="T36" fmla="*/ 795 w 2185"/>
                  <a:gd name="T37" fmla="*/ 1955 h 2715"/>
                  <a:gd name="T38" fmla="*/ 734 w 2185"/>
                  <a:gd name="T39" fmla="*/ 2078 h 2715"/>
                  <a:gd name="T40" fmla="*/ 686 w 2185"/>
                  <a:gd name="T41" fmla="*/ 2202 h 2715"/>
                  <a:gd name="T42" fmla="*/ 654 w 2185"/>
                  <a:gd name="T43" fmla="*/ 2330 h 2715"/>
                  <a:gd name="T44" fmla="*/ 633 w 2185"/>
                  <a:gd name="T45" fmla="*/ 2464 h 2715"/>
                  <a:gd name="T46" fmla="*/ 622 w 2185"/>
                  <a:gd name="T47" fmla="*/ 2604 h 2715"/>
                  <a:gd name="T48" fmla="*/ 1280 w 2185"/>
                  <a:gd name="T49" fmla="*/ 2715 h 2715"/>
                  <a:gd name="T50" fmla="*/ 1279 w 2185"/>
                  <a:gd name="T51" fmla="*/ 2626 h 2715"/>
                  <a:gd name="T52" fmla="*/ 1284 w 2185"/>
                  <a:gd name="T53" fmla="*/ 2541 h 2715"/>
                  <a:gd name="T54" fmla="*/ 1299 w 2185"/>
                  <a:gd name="T55" fmla="*/ 2460 h 2715"/>
                  <a:gd name="T56" fmla="*/ 1322 w 2185"/>
                  <a:gd name="T57" fmla="*/ 2383 h 2715"/>
                  <a:gd name="T58" fmla="*/ 1357 w 2185"/>
                  <a:gd name="T59" fmla="*/ 2309 h 2715"/>
                  <a:gd name="T60" fmla="*/ 1403 w 2185"/>
                  <a:gd name="T61" fmla="*/ 2240 h 2715"/>
                  <a:gd name="T62" fmla="*/ 1462 w 2185"/>
                  <a:gd name="T63" fmla="*/ 2177 h 2715"/>
                  <a:gd name="T64" fmla="*/ 1536 w 2185"/>
                  <a:gd name="T65" fmla="*/ 2117 h 2715"/>
                  <a:gd name="T66" fmla="*/ 1647 w 2185"/>
                  <a:gd name="T67" fmla="*/ 2035 h 2715"/>
                  <a:gd name="T68" fmla="*/ 1760 w 2185"/>
                  <a:gd name="T69" fmla="*/ 1939 h 2715"/>
                  <a:gd name="T70" fmla="*/ 1870 w 2185"/>
                  <a:gd name="T71" fmla="*/ 1832 h 2715"/>
                  <a:gd name="T72" fmla="*/ 1970 w 2185"/>
                  <a:gd name="T73" fmla="*/ 1711 h 2715"/>
                  <a:gd name="T74" fmla="*/ 2057 w 2185"/>
                  <a:gd name="T75" fmla="*/ 1578 h 2715"/>
                  <a:gd name="T76" fmla="*/ 2125 w 2185"/>
                  <a:gd name="T77" fmla="*/ 1435 h 2715"/>
                  <a:gd name="T78" fmla="*/ 2170 w 2185"/>
                  <a:gd name="T79" fmla="*/ 1281 h 2715"/>
                  <a:gd name="T80" fmla="*/ 2185 w 2185"/>
                  <a:gd name="T81" fmla="*/ 1118 h 2715"/>
                  <a:gd name="T82" fmla="*/ 2163 w 2185"/>
                  <a:gd name="T83" fmla="*/ 869 h 2715"/>
                  <a:gd name="T84" fmla="*/ 2100 w 2185"/>
                  <a:gd name="T85" fmla="*/ 651 h 2715"/>
                  <a:gd name="T86" fmla="*/ 2000 w 2185"/>
                  <a:gd name="T87" fmla="*/ 463 h 2715"/>
                  <a:gd name="T88" fmla="*/ 1871 w 2185"/>
                  <a:gd name="T89" fmla="*/ 308 h 2715"/>
                  <a:gd name="T90" fmla="*/ 1721 w 2185"/>
                  <a:gd name="T91" fmla="*/ 183 h 2715"/>
                  <a:gd name="T92" fmla="*/ 1554 w 2185"/>
                  <a:gd name="T93" fmla="*/ 91 h 2715"/>
                  <a:gd name="T94" fmla="*/ 1379 w 2185"/>
                  <a:gd name="T95" fmla="*/ 31 h 2715"/>
                  <a:gd name="T96" fmla="*/ 1201 w 2185"/>
                  <a:gd name="T97" fmla="*/ 5 h 2715"/>
                  <a:gd name="T98" fmla="*/ 954 w 2185"/>
                  <a:gd name="T99" fmla="*/ 5 h 2715"/>
                  <a:gd name="T100" fmla="*/ 724 w 2185"/>
                  <a:gd name="T101" fmla="*/ 42 h 2715"/>
                  <a:gd name="T102" fmla="*/ 519 w 2185"/>
                  <a:gd name="T103" fmla="*/ 112 h 2715"/>
                  <a:gd name="T104" fmla="*/ 343 w 2185"/>
                  <a:gd name="T105" fmla="*/ 217 h 2715"/>
                  <a:gd name="T106" fmla="*/ 199 w 2185"/>
                  <a:gd name="T107" fmla="*/ 354 h 2715"/>
                  <a:gd name="T108" fmla="*/ 91 w 2185"/>
                  <a:gd name="T109" fmla="*/ 521 h 2715"/>
                  <a:gd name="T110" fmla="*/ 23 w 2185"/>
                  <a:gd name="T111" fmla="*/ 717 h 2715"/>
                  <a:gd name="T112" fmla="*/ 0 w 2185"/>
                  <a:gd name="T113" fmla="*/ 940 h 2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85" h="2715">
                    <a:moveTo>
                      <a:pt x="0" y="1340"/>
                    </a:moveTo>
                    <a:lnTo>
                      <a:pt x="643" y="1340"/>
                    </a:lnTo>
                    <a:lnTo>
                      <a:pt x="643" y="1044"/>
                    </a:lnTo>
                    <a:lnTo>
                      <a:pt x="644" y="1007"/>
                    </a:lnTo>
                    <a:lnTo>
                      <a:pt x="648" y="970"/>
                    </a:lnTo>
                    <a:lnTo>
                      <a:pt x="655" y="937"/>
                    </a:lnTo>
                    <a:lnTo>
                      <a:pt x="666" y="903"/>
                    </a:lnTo>
                    <a:lnTo>
                      <a:pt x="677" y="874"/>
                    </a:lnTo>
                    <a:lnTo>
                      <a:pt x="692" y="845"/>
                    </a:lnTo>
                    <a:lnTo>
                      <a:pt x="708" y="818"/>
                    </a:lnTo>
                    <a:lnTo>
                      <a:pt x="728" y="793"/>
                    </a:lnTo>
                    <a:lnTo>
                      <a:pt x="748" y="769"/>
                    </a:lnTo>
                    <a:lnTo>
                      <a:pt x="771" y="748"/>
                    </a:lnTo>
                    <a:lnTo>
                      <a:pt x="794" y="728"/>
                    </a:lnTo>
                    <a:lnTo>
                      <a:pt x="819" y="711"/>
                    </a:lnTo>
                    <a:lnTo>
                      <a:pt x="847" y="695"/>
                    </a:lnTo>
                    <a:lnTo>
                      <a:pt x="874" y="681"/>
                    </a:lnTo>
                    <a:lnTo>
                      <a:pt x="903" y="670"/>
                    </a:lnTo>
                    <a:lnTo>
                      <a:pt x="933" y="660"/>
                    </a:lnTo>
                    <a:lnTo>
                      <a:pt x="963" y="652"/>
                    </a:lnTo>
                    <a:lnTo>
                      <a:pt x="994" y="648"/>
                    </a:lnTo>
                    <a:lnTo>
                      <a:pt x="1025" y="644"/>
                    </a:lnTo>
                    <a:lnTo>
                      <a:pt x="1057" y="643"/>
                    </a:lnTo>
                    <a:lnTo>
                      <a:pt x="1090" y="644"/>
                    </a:lnTo>
                    <a:lnTo>
                      <a:pt x="1122" y="648"/>
                    </a:lnTo>
                    <a:lnTo>
                      <a:pt x="1154" y="653"/>
                    </a:lnTo>
                    <a:lnTo>
                      <a:pt x="1186" y="662"/>
                    </a:lnTo>
                    <a:lnTo>
                      <a:pt x="1218" y="672"/>
                    </a:lnTo>
                    <a:lnTo>
                      <a:pt x="1249" y="683"/>
                    </a:lnTo>
                    <a:lnTo>
                      <a:pt x="1279" y="700"/>
                    </a:lnTo>
                    <a:lnTo>
                      <a:pt x="1309" y="717"/>
                    </a:lnTo>
                    <a:lnTo>
                      <a:pt x="1337" y="736"/>
                    </a:lnTo>
                    <a:lnTo>
                      <a:pt x="1365" y="758"/>
                    </a:lnTo>
                    <a:lnTo>
                      <a:pt x="1392" y="784"/>
                    </a:lnTo>
                    <a:lnTo>
                      <a:pt x="1417" y="811"/>
                    </a:lnTo>
                    <a:lnTo>
                      <a:pt x="1435" y="833"/>
                    </a:lnTo>
                    <a:lnTo>
                      <a:pt x="1451" y="855"/>
                    </a:lnTo>
                    <a:lnTo>
                      <a:pt x="1466" y="878"/>
                    </a:lnTo>
                    <a:lnTo>
                      <a:pt x="1480" y="900"/>
                    </a:lnTo>
                    <a:lnTo>
                      <a:pt x="1491" y="922"/>
                    </a:lnTo>
                    <a:lnTo>
                      <a:pt x="1501" y="944"/>
                    </a:lnTo>
                    <a:lnTo>
                      <a:pt x="1507" y="966"/>
                    </a:lnTo>
                    <a:lnTo>
                      <a:pt x="1514" y="989"/>
                    </a:lnTo>
                    <a:lnTo>
                      <a:pt x="1516" y="1012"/>
                    </a:lnTo>
                    <a:lnTo>
                      <a:pt x="1518" y="1035"/>
                    </a:lnTo>
                    <a:lnTo>
                      <a:pt x="1517" y="1058"/>
                    </a:lnTo>
                    <a:lnTo>
                      <a:pt x="1514" y="1082"/>
                    </a:lnTo>
                    <a:lnTo>
                      <a:pt x="1509" y="1105"/>
                    </a:lnTo>
                    <a:lnTo>
                      <a:pt x="1502" y="1130"/>
                    </a:lnTo>
                    <a:lnTo>
                      <a:pt x="1493" y="1155"/>
                    </a:lnTo>
                    <a:lnTo>
                      <a:pt x="1481" y="1180"/>
                    </a:lnTo>
                    <a:lnTo>
                      <a:pt x="1469" y="1205"/>
                    </a:lnTo>
                    <a:lnTo>
                      <a:pt x="1454" y="1232"/>
                    </a:lnTo>
                    <a:lnTo>
                      <a:pt x="1435" y="1260"/>
                    </a:lnTo>
                    <a:lnTo>
                      <a:pt x="1415" y="1287"/>
                    </a:lnTo>
                    <a:lnTo>
                      <a:pt x="1394" y="1315"/>
                    </a:lnTo>
                    <a:lnTo>
                      <a:pt x="1369" y="1344"/>
                    </a:lnTo>
                    <a:lnTo>
                      <a:pt x="1342" y="1374"/>
                    </a:lnTo>
                    <a:lnTo>
                      <a:pt x="1312" y="1404"/>
                    </a:lnTo>
                    <a:lnTo>
                      <a:pt x="1281" y="1435"/>
                    </a:lnTo>
                    <a:lnTo>
                      <a:pt x="1248" y="1467"/>
                    </a:lnTo>
                    <a:lnTo>
                      <a:pt x="1212" y="1500"/>
                    </a:lnTo>
                    <a:lnTo>
                      <a:pt x="1173" y="1534"/>
                    </a:lnTo>
                    <a:lnTo>
                      <a:pt x="1131" y="1568"/>
                    </a:lnTo>
                    <a:lnTo>
                      <a:pt x="1087" y="1604"/>
                    </a:lnTo>
                    <a:lnTo>
                      <a:pt x="1042" y="1641"/>
                    </a:lnTo>
                    <a:lnTo>
                      <a:pt x="994" y="1679"/>
                    </a:lnTo>
                    <a:lnTo>
                      <a:pt x="966" y="1711"/>
                    </a:lnTo>
                    <a:lnTo>
                      <a:pt x="942" y="1741"/>
                    </a:lnTo>
                    <a:lnTo>
                      <a:pt x="918" y="1772"/>
                    </a:lnTo>
                    <a:lnTo>
                      <a:pt x="894" y="1803"/>
                    </a:lnTo>
                    <a:lnTo>
                      <a:pt x="873" y="1834"/>
                    </a:lnTo>
                    <a:lnTo>
                      <a:pt x="851" y="1864"/>
                    </a:lnTo>
                    <a:lnTo>
                      <a:pt x="832" y="1896"/>
                    </a:lnTo>
                    <a:lnTo>
                      <a:pt x="813" y="1924"/>
                    </a:lnTo>
                    <a:lnTo>
                      <a:pt x="795" y="1955"/>
                    </a:lnTo>
                    <a:lnTo>
                      <a:pt x="779" y="1985"/>
                    </a:lnTo>
                    <a:lnTo>
                      <a:pt x="761" y="2017"/>
                    </a:lnTo>
                    <a:lnTo>
                      <a:pt x="748" y="2048"/>
                    </a:lnTo>
                    <a:lnTo>
                      <a:pt x="734" y="2078"/>
                    </a:lnTo>
                    <a:lnTo>
                      <a:pt x="721" y="2109"/>
                    </a:lnTo>
                    <a:lnTo>
                      <a:pt x="708" y="2140"/>
                    </a:lnTo>
                    <a:lnTo>
                      <a:pt x="698" y="2171"/>
                    </a:lnTo>
                    <a:lnTo>
                      <a:pt x="686" y="2202"/>
                    </a:lnTo>
                    <a:lnTo>
                      <a:pt x="677" y="2233"/>
                    </a:lnTo>
                    <a:lnTo>
                      <a:pt x="669" y="2265"/>
                    </a:lnTo>
                    <a:lnTo>
                      <a:pt x="661" y="2298"/>
                    </a:lnTo>
                    <a:lnTo>
                      <a:pt x="654" y="2330"/>
                    </a:lnTo>
                    <a:lnTo>
                      <a:pt x="647" y="2362"/>
                    </a:lnTo>
                    <a:lnTo>
                      <a:pt x="642" y="2397"/>
                    </a:lnTo>
                    <a:lnTo>
                      <a:pt x="637" y="2429"/>
                    </a:lnTo>
                    <a:lnTo>
                      <a:pt x="633" y="2464"/>
                    </a:lnTo>
                    <a:lnTo>
                      <a:pt x="629" y="2498"/>
                    </a:lnTo>
                    <a:lnTo>
                      <a:pt x="627" y="2533"/>
                    </a:lnTo>
                    <a:lnTo>
                      <a:pt x="623" y="2567"/>
                    </a:lnTo>
                    <a:lnTo>
                      <a:pt x="622" y="2604"/>
                    </a:lnTo>
                    <a:lnTo>
                      <a:pt x="621" y="2640"/>
                    </a:lnTo>
                    <a:lnTo>
                      <a:pt x="620" y="2677"/>
                    </a:lnTo>
                    <a:lnTo>
                      <a:pt x="620" y="2715"/>
                    </a:lnTo>
                    <a:lnTo>
                      <a:pt x="1280" y="2715"/>
                    </a:lnTo>
                    <a:lnTo>
                      <a:pt x="1280" y="2692"/>
                    </a:lnTo>
                    <a:lnTo>
                      <a:pt x="1279" y="2670"/>
                    </a:lnTo>
                    <a:lnTo>
                      <a:pt x="1279" y="2648"/>
                    </a:lnTo>
                    <a:lnTo>
                      <a:pt x="1279" y="2626"/>
                    </a:lnTo>
                    <a:lnTo>
                      <a:pt x="1280" y="2604"/>
                    </a:lnTo>
                    <a:lnTo>
                      <a:pt x="1281" y="2582"/>
                    </a:lnTo>
                    <a:lnTo>
                      <a:pt x="1282" y="2562"/>
                    </a:lnTo>
                    <a:lnTo>
                      <a:pt x="1284" y="2541"/>
                    </a:lnTo>
                    <a:lnTo>
                      <a:pt x="1287" y="2520"/>
                    </a:lnTo>
                    <a:lnTo>
                      <a:pt x="1291" y="2499"/>
                    </a:lnTo>
                    <a:lnTo>
                      <a:pt x="1295" y="2480"/>
                    </a:lnTo>
                    <a:lnTo>
                      <a:pt x="1299" y="2460"/>
                    </a:lnTo>
                    <a:lnTo>
                      <a:pt x="1304" y="2441"/>
                    </a:lnTo>
                    <a:lnTo>
                      <a:pt x="1310" y="2421"/>
                    </a:lnTo>
                    <a:lnTo>
                      <a:pt x="1316" y="2401"/>
                    </a:lnTo>
                    <a:lnTo>
                      <a:pt x="1322" y="2383"/>
                    </a:lnTo>
                    <a:lnTo>
                      <a:pt x="1329" y="2365"/>
                    </a:lnTo>
                    <a:lnTo>
                      <a:pt x="1339" y="2345"/>
                    </a:lnTo>
                    <a:lnTo>
                      <a:pt x="1347" y="2328"/>
                    </a:lnTo>
                    <a:lnTo>
                      <a:pt x="1357" y="2309"/>
                    </a:lnTo>
                    <a:lnTo>
                      <a:pt x="1367" y="2292"/>
                    </a:lnTo>
                    <a:lnTo>
                      <a:pt x="1379" y="2275"/>
                    </a:lnTo>
                    <a:lnTo>
                      <a:pt x="1390" y="2257"/>
                    </a:lnTo>
                    <a:lnTo>
                      <a:pt x="1403" y="2240"/>
                    </a:lnTo>
                    <a:lnTo>
                      <a:pt x="1417" y="2224"/>
                    </a:lnTo>
                    <a:lnTo>
                      <a:pt x="1431" y="2208"/>
                    </a:lnTo>
                    <a:lnTo>
                      <a:pt x="1446" y="2193"/>
                    </a:lnTo>
                    <a:lnTo>
                      <a:pt x="1462" y="2177"/>
                    </a:lnTo>
                    <a:lnTo>
                      <a:pt x="1479" y="2161"/>
                    </a:lnTo>
                    <a:lnTo>
                      <a:pt x="1496" y="2146"/>
                    </a:lnTo>
                    <a:lnTo>
                      <a:pt x="1516" y="2131"/>
                    </a:lnTo>
                    <a:lnTo>
                      <a:pt x="1536" y="2117"/>
                    </a:lnTo>
                    <a:lnTo>
                      <a:pt x="1563" y="2097"/>
                    </a:lnTo>
                    <a:lnTo>
                      <a:pt x="1591" y="2078"/>
                    </a:lnTo>
                    <a:lnTo>
                      <a:pt x="1619" y="2057"/>
                    </a:lnTo>
                    <a:lnTo>
                      <a:pt x="1647" y="2035"/>
                    </a:lnTo>
                    <a:lnTo>
                      <a:pt x="1676" y="2012"/>
                    </a:lnTo>
                    <a:lnTo>
                      <a:pt x="1704" y="1989"/>
                    </a:lnTo>
                    <a:lnTo>
                      <a:pt x="1731" y="1964"/>
                    </a:lnTo>
                    <a:lnTo>
                      <a:pt x="1760" y="1939"/>
                    </a:lnTo>
                    <a:lnTo>
                      <a:pt x="1788" y="1914"/>
                    </a:lnTo>
                    <a:lnTo>
                      <a:pt x="1816" y="1887"/>
                    </a:lnTo>
                    <a:lnTo>
                      <a:pt x="1843" y="1861"/>
                    </a:lnTo>
                    <a:lnTo>
                      <a:pt x="1870" y="1832"/>
                    </a:lnTo>
                    <a:lnTo>
                      <a:pt x="1896" y="1802"/>
                    </a:lnTo>
                    <a:lnTo>
                      <a:pt x="1922" y="1772"/>
                    </a:lnTo>
                    <a:lnTo>
                      <a:pt x="1946" y="1742"/>
                    </a:lnTo>
                    <a:lnTo>
                      <a:pt x="1970" y="1711"/>
                    </a:lnTo>
                    <a:lnTo>
                      <a:pt x="1993" y="1679"/>
                    </a:lnTo>
                    <a:lnTo>
                      <a:pt x="2016" y="1647"/>
                    </a:lnTo>
                    <a:lnTo>
                      <a:pt x="2037" y="1612"/>
                    </a:lnTo>
                    <a:lnTo>
                      <a:pt x="2057" y="1578"/>
                    </a:lnTo>
                    <a:lnTo>
                      <a:pt x="2076" y="1544"/>
                    </a:lnTo>
                    <a:lnTo>
                      <a:pt x="2093" y="1507"/>
                    </a:lnTo>
                    <a:lnTo>
                      <a:pt x="2110" y="1472"/>
                    </a:lnTo>
                    <a:lnTo>
                      <a:pt x="2125" y="1435"/>
                    </a:lnTo>
                    <a:lnTo>
                      <a:pt x="2138" y="1398"/>
                    </a:lnTo>
                    <a:lnTo>
                      <a:pt x="2151" y="1360"/>
                    </a:lnTo>
                    <a:lnTo>
                      <a:pt x="2161" y="1321"/>
                    </a:lnTo>
                    <a:lnTo>
                      <a:pt x="2170" y="1281"/>
                    </a:lnTo>
                    <a:lnTo>
                      <a:pt x="2177" y="1242"/>
                    </a:lnTo>
                    <a:lnTo>
                      <a:pt x="2182" y="1201"/>
                    </a:lnTo>
                    <a:lnTo>
                      <a:pt x="2185" y="1160"/>
                    </a:lnTo>
                    <a:lnTo>
                      <a:pt x="2185" y="1118"/>
                    </a:lnTo>
                    <a:lnTo>
                      <a:pt x="2184" y="1053"/>
                    </a:lnTo>
                    <a:lnTo>
                      <a:pt x="2181" y="990"/>
                    </a:lnTo>
                    <a:lnTo>
                      <a:pt x="2174" y="929"/>
                    </a:lnTo>
                    <a:lnTo>
                      <a:pt x="2163" y="869"/>
                    </a:lnTo>
                    <a:lnTo>
                      <a:pt x="2151" y="811"/>
                    </a:lnTo>
                    <a:lnTo>
                      <a:pt x="2136" y="756"/>
                    </a:lnTo>
                    <a:lnTo>
                      <a:pt x="2119" y="703"/>
                    </a:lnTo>
                    <a:lnTo>
                      <a:pt x="2100" y="651"/>
                    </a:lnTo>
                    <a:lnTo>
                      <a:pt x="2078" y="600"/>
                    </a:lnTo>
                    <a:lnTo>
                      <a:pt x="2054" y="553"/>
                    </a:lnTo>
                    <a:lnTo>
                      <a:pt x="2028" y="507"/>
                    </a:lnTo>
                    <a:lnTo>
                      <a:pt x="2000" y="463"/>
                    </a:lnTo>
                    <a:lnTo>
                      <a:pt x="1970" y="422"/>
                    </a:lnTo>
                    <a:lnTo>
                      <a:pt x="1939" y="382"/>
                    </a:lnTo>
                    <a:lnTo>
                      <a:pt x="1905" y="344"/>
                    </a:lnTo>
                    <a:lnTo>
                      <a:pt x="1871" y="308"/>
                    </a:lnTo>
                    <a:lnTo>
                      <a:pt x="1835" y="273"/>
                    </a:lnTo>
                    <a:lnTo>
                      <a:pt x="1798" y="242"/>
                    </a:lnTo>
                    <a:lnTo>
                      <a:pt x="1760" y="212"/>
                    </a:lnTo>
                    <a:lnTo>
                      <a:pt x="1721" y="183"/>
                    </a:lnTo>
                    <a:lnTo>
                      <a:pt x="1681" y="158"/>
                    </a:lnTo>
                    <a:lnTo>
                      <a:pt x="1639" y="134"/>
                    </a:lnTo>
                    <a:lnTo>
                      <a:pt x="1597" y="112"/>
                    </a:lnTo>
                    <a:lnTo>
                      <a:pt x="1554" y="91"/>
                    </a:lnTo>
                    <a:lnTo>
                      <a:pt x="1511" y="74"/>
                    </a:lnTo>
                    <a:lnTo>
                      <a:pt x="1468" y="58"/>
                    </a:lnTo>
                    <a:lnTo>
                      <a:pt x="1424" y="44"/>
                    </a:lnTo>
                    <a:lnTo>
                      <a:pt x="1379" y="31"/>
                    </a:lnTo>
                    <a:lnTo>
                      <a:pt x="1335" y="22"/>
                    </a:lnTo>
                    <a:lnTo>
                      <a:pt x="1290" y="14"/>
                    </a:lnTo>
                    <a:lnTo>
                      <a:pt x="1246" y="8"/>
                    </a:lnTo>
                    <a:lnTo>
                      <a:pt x="1201" y="5"/>
                    </a:lnTo>
                    <a:lnTo>
                      <a:pt x="1138" y="1"/>
                    </a:lnTo>
                    <a:lnTo>
                      <a:pt x="1075" y="0"/>
                    </a:lnTo>
                    <a:lnTo>
                      <a:pt x="1013" y="1"/>
                    </a:lnTo>
                    <a:lnTo>
                      <a:pt x="954" y="5"/>
                    </a:lnTo>
                    <a:lnTo>
                      <a:pt x="894" y="11"/>
                    </a:lnTo>
                    <a:lnTo>
                      <a:pt x="836" y="19"/>
                    </a:lnTo>
                    <a:lnTo>
                      <a:pt x="780" y="29"/>
                    </a:lnTo>
                    <a:lnTo>
                      <a:pt x="724" y="42"/>
                    </a:lnTo>
                    <a:lnTo>
                      <a:pt x="671" y="55"/>
                    </a:lnTo>
                    <a:lnTo>
                      <a:pt x="619" y="72"/>
                    </a:lnTo>
                    <a:lnTo>
                      <a:pt x="569" y="91"/>
                    </a:lnTo>
                    <a:lnTo>
                      <a:pt x="519" y="112"/>
                    </a:lnTo>
                    <a:lnTo>
                      <a:pt x="473" y="136"/>
                    </a:lnTo>
                    <a:lnTo>
                      <a:pt x="428" y="160"/>
                    </a:lnTo>
                    <a:lnTo>
                      <a:pt x="385" y="187"/>
                    </a:lnTo>
                    <a:lnTo>
                      <a:pt x="343" y="217"/>
                    </a:lnTo>
                    <a:lnTo>
                      <a:pt x="304" y="248"/>
                    </a:lnTo>
                    <a:lnTo>
                      <a:pt x="267" y="281"/>
                    </a:lnTo>
                    <a:lnTo>
                      <a:pt x="231" y="316"/>
                    </a:lnTo>
                    <a:lnTo>
                      <a:pt x="199" y="354"/>
                    </a:lnTo>
                    <a:lnTo>
                      <a:pt x="168" y="393"/>
                    </a:lnTo>
                    <a:lnTo>
                      <a:pt x="140" y="433"/>
                    </a:lnTo>
                    <a:lnTo>
                      <a:pt x="114" y="476"/>
                    </a:lnTo>
                    <a:lnTo>
                      <a:pt x="91" y="521"/>
                    </a:lnTo>
                    <a:lnTo>
                      <a:pt x="70" y="567"/>
                    </a:lnTo>
                    <a:lnTo>
                      <a:pt x="52" y="615"/>
                    </a:lnTo>
                    <a:lnTo>
                      <a:pt x="37" y="665"/>
                    </a:lnTo>
                    <a:lnTo>
                      <a:pt x="23" y="717"/>
                    </a:lnTo>
                    <a:lnTo>
                      <a:pt x="13" y="770"/>
                    </a:lnTo>
                    <a:lnTo>
                      <a:pt x="6" y="825"/>
                    </a:lnTo>
                    <a:lnTo>
                      <a:pt x="1" y="883"/>
                    </a:lnTo>
                    <a:lnTo>
                      <a:pt x="0" y="940"/>
                    </a:lnTo>
                    <a:lnTo>
                      <a:pt x="0" y="1340"/>
                    </a:lnTo>
                    <a:close/>
                  </a:path>
                </a:pathLst>
              </a:custGeom>
              <a:solidFill>
                <a:srgbClr val="800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Tree>
    <p:extLst>
      <p:ext uri="{BB962C8B-B14F-4D97-AF65-F5344CB8AC3E}">
        <p14:creationId xmlns:p14="http://schemas.microsoft.com/office/powerpoint/2010/main" val="75563705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21540"/>
                                        </p:tgtEl>
                                        <p:attrNameLst>
                                          <p:attrName>style.visibility</p:attrName>
                                        </p:attrNameLst>
                                      </p:cBhvr>
                                      <p:to>
                                        <p:strVal val="visible"/>
                                      </p:to>
                                    </p:set>
                                    <p:animEffect transition="in" filter="wipe(down)">
                                      <p:cBhvr>
                                        <p:cTn id="7" dur="500"/>
                                        <p:tgtEl>
                                          <p:spTgt spid="3215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21545"/>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nodeType="clickEffect">
                                  <p:stCondLst>
                                    <p:cond delay="0"/>
                                  </p:stCondLst>
                                  <p:childTnLst>
                                    <p:set>
                                      <p:cBhvr>
                                        <p:cTn id="15" dur="1" fill="hold">
                                          <p:stCondLst>
                                            <p:cond delay="0"/>
                                          </p:stCondLst>
                                        </p:cTn>
                                        <p:tgtEl>
                                          <p:spTgt spid="321547"/>
                                        </p:tgtEl>
                                        <p:attrNameLst>
                                          <p:attrName>style.visibility</p:attrName>
                                        </p:attrNameLst>
                                      </p:cBhvr>
                                      <p:to>
                                        <p:strVal val="visible"/>
                                      </p:to>
                                    </p:set>
                                    <p:animEffect transition="in" filter="wipe(down)">
                                      <p:cBhvr>
                                        <p:cTn id="16" dur="500"/>
                                        <p:tgtEl>
                                          <p:spTgt spid="32154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215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45" grpId="0"/>
      <p:bldP spid="321546"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p:cNvSpPr>
            <a:spLocks noChangeArrowheads="1"/>
          </p:cNvSpPr>
          <p:nvPr/>
        </p:nvSpPr>
        <p:spPr bwMode="auto">
          <a:xfrm>
            <a:off x="431800" y="2484438"/>
            <a:ext cx="8280400" cy="316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a:lnSpc>
                <a:spcPct val="120000"/>
              </a:lnSpc>
            </a:pPr>
            <a:r>
              <a:rPr kumimoji="0" lang="zh-CN" altLang="en-US" sz="2800" b="1">
                <a:latin typeface="华文楷体" charset="-122"/>
                <a:ea typeface="华文楷体" charset="-122"/>
              </a:rPr>
              <a:t>哈希技术一般不适用于允许多个记录有同样关键码的情况。哈希方法也不适用于范围查找，换言之，在哈希表中，我们不可能找到最大或最小关键码的记录，也不可能找到在某一范围内的记录。</a:t>
            </a:r>
          </a:p>
          <a:p>
            <a:pPr>
              <a:lnSpc>
                <a:spcPct val="120000"/>
              </a:lnSpc>
            </a:pPr>
            <a:r>
              <a:rPr kumimoji="0" lang="zh-CN" altLang="en-US" sz="2800" b="1">
                <a:latin typeface="华文楷体" charset="-122"/>
                <a:ea typeface="华文楷体" charset="-122"/>
              </a:rPr>
              <a:t>哈希技术最适合回答的问题是：</a:t>
            </a:r>
            <a:r>
              <a:rPr kumimoji="0" lang="zh-CN" altLang="en-US" sz="2800" b="1">
                <a:solidFill>
                  <a:srgbClr val="FF3300"/>
                </a:solidFill>
                <a:latin typeface="华文楷体" charset="-122"/>
                <a:ea typeface="华文楷体" charset="-122"/>
              </a:rPr>
              <a:t>如果有的话，哪个记录的关键码等于待查值</a:t>
            </a:r>
            <a:r>
              <a:rPr kumimoji="0" lang="zh-CN" altLang="en-US" sz="2800" b="1">
                <a:latin typeface="华文楷体" charset="-122"/>
                <a:ea typeface="华文楷体" charset="-122"/>
              </a:rPr>
              <a:t>。 </a:t>
            </a:r>
          </a:p>
        </p:txBody>
      </p:sp>
      <p:grpSp>
        <p:nvGrpSpPr>
          <p:cNvPr id="322565" name="Group 5"/>
          <p:cNvGrpSpPr>
            <a:grpSpLocks/>
          </p:cNvGrpSpPr>
          <p:nvPr/>
        </p:nvGrpSpPr>
        <p:grpSpPr bwMode="auto">
          <a:xfrm>
            <a:off x="657225" y="1854200"/>
            <a:ext cx="6837363" cy="519113"/>
            <a:chOff x="385" y="1480"/>
            <a:chExt cx="4307" cy="327"/>
          </a:xfrm>
        </p:grpSpPr>
        <p:sp>
          <p:nvSpPr>
            <p:cNvPr id="322566" name="Text Box 6"/>
            <p:cNvSpPr txBox="1">
              <a:spLocks noChangeArrowheads="1"/>
            </p:cNvSpPr>
            <p:nvPr/>
          </p:nvSpPr>
          <p:spPr bwMode="auto">
            <a:xfrm>
              <a:off x="612" y="1480"/>
              <a:ext cx="40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ea typeface="华文楷体" charset="-122"/>
                </a:rPr>
                <a:t>哈希技术适合于哪种类型的查找？</a:t>
              </a:r>
              <a:endParaRPr kumimoji="0" lang="zh-CN" altLang="en-US">
                <a:ea typeface="华文楷体" charset="-122"/>
              </a:endParaRPr>
            </a:p>
          </p:txBody>
        </p:sp>
        <p:grpSp>
          <p:nvGrpSpPr>
            <p:cNvPr id="322567" name="Group 7"/>
            <p:cNvGrpSpPr>
              <a:grpSpLocks/>
            </p:cNvGrpSpPr>
            <p:nvPr/>
          </p:nvGrpSpPr>
          <p:grpSpPr bwMode="auto">
            <a:xfrm>
              <a:off x="385" y="1536"/>
              <a:ext cx="200" cy="247"/>
              <a:chOff x="3840" y="1584"/>
              <a:chExt cx="1093" cy="1871"/>
            </a:xfrm>
          </p:grpSpPr>
          <p:sp>
            <p:nvSpPr>
              <p:cNvPr id="322568" name="Rectangle 8"/>
              <p:cNvSpPr>
                <a:spLocks noChangeArrowheads="1"/>
              </p:cNvSpPr>
              <p:nvPr/>
            </p:nvSpPr>
            <p:spPr bwMode="auto">
              <a:xfrm>
                <a:off x="4128" y="3120"/>
                <a:ext cx="347" cy="335"/>
              </a:xfrm>
              <a:prstGeom prst="rect">
                <a:avLst/>
              </a:prstGeom>
              <a:solidFill>
                <a:srgbClr val="8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2569" name="Freeform 9"/>
              <p:cNvSpPr>
                <a:spLocks/>
              </p:cNvSpPr>
              <p:nvPr/>
            </p:nvSpPr>
            <p:spPr bwMode="auto">
              <a:xfrm>
                <a:off x="3840" y="1584"/>
                <a:ext cx="1093" cy="1357"/>
              </a:xfrm>
              <a:custGeom>
                <a:avLst/>
                <a:gdLst>
                  <a:gd name="T0" fmla="*/ 644 w 2185"/>
                  <a:gd name="T1" fmla="*/ 1007 h 2715"/>
                  <a:gd name="T2" fmla="*/ 677 w 2185"/>
                  <a:gd name="T3" fmla="*/ 874 h 2715"/>
                  <a:gd name="T4" fmla="*/ 748 w 2185"/>
                  <a:gd name="T5" fmla="*/ 769 h 2715"/>
                  <a:gd name="T6" fmla="*/ 847 w 2185"/>
                  <a:gd name="T7" fmla="*/ 695 h 2715"/>
                  <a:gd name="T8" fmla="*/ 963 w 2185"/>
                  <a:gd name="T9" fmla="*/ 652 h 2715"/>
                  <a:gd name="T10" fmla="*/ 1090 w 2185"/>
                  <a:gd name="T11" fmla="*/ 644 h 2715"/>
                  <a:gd name="T12" fmla="*/ 1218 w 2185"/>
                  <a:gd name="T13" fmla="*/ 672 h 2715"/>
                  <a:gd name="T14" fmla="*/ 1337 w 2185"/>
                  <a:gd name="T15" fmla="*/ 736 h 2715"/>
                  <a:gd name="T16" fmla="*/ 1435 w 2185"/>
                  <a:gd name="T17" fmla="*/ 833 h 2715"/>
                  <a:gd name="T18" fmla="*/ 1491 w 2185"/>
                  <a:gd name="T19" fmla="*/ 922 h 2715"/>
                  <a:gd name="T20" fmla="*/ 1516 w 2185"/>
                  <a:gd name="T21" fmla="*/ 1012 h 2715"/>
                  <a:gd name="T22" fmla="*/ 1509 w 2185"/>
                  <a:gd name="T23" fmla="*/ 1105 h 2715"/>
                  <a:gd name="T24" fmla="*/ 1469 w 2185"/>
                  <a:gd name="T25" fmla="*/ 1205 h 2715"/>
                  <a:gd name="T26" fmla="*/ 1394 w 2185"/>
                  <a:gd name="T27" fmla="*/ 1315 h 2715"/>
                  <a:gd name="T28" fmla="*/ 1281 w 2185"/>
                  <a:gd name="T29" fmla="*/ 1435 h 2715"/>
                  <a:gd name="T30" fmla="*/ 1131 w 2185"/>
                  <a:gd name="T31" fmla="*/ 1568 h 2715"/>
                  <a:gd name="T32" fmla="*/ 966 w 2185"/>
                  <a:gd name="T33" fmla="*/ 1711 h 2715"/>
                  <a:gd name="T34" fmla="*/ 873 w 2185"/>
                  <a:gd name="T35" fmla="*/ 1834 h 2715"/>
                  <a:gd name="T36" fmla="*/ 795 w 2185"/>
                  <a:gd name="T37" fmla="*/ 1955 h 2715"/>
                  <a:gd name="T38" fmla="*/ 734 w 2185"/>
                  <a:gd name="T39" fmla="*/ 2078 h 2715"/>
                  <a:gd name="T40" fmla="*/ 686 w 2185"/>
                  <a:gd name="T41" fmla="*/ 2202 h 2715"/>
                  <a:gd name="T42" fmla="*/ 654 w 2185"/>
                  <a:gd name="T43" fmla="*/ 2330 h 2715"/>
                  <a:gd name="T44" fmla="*/ 633 w 2185"/>
                  <a:gd name="T45" fmla="*/ 2464 h 2715"/>
                  <a:gd name="T46" fmla="*/ 622 w 2185"/>
                  <a:gd name="T47" fmla="*/ 2604 h 2715"/>
                  <a:gd name="T48" fmla="*/ 1280 w 2185"/>
                  <a:gd name="T49" fmla="*/ 2715 h 2715"/>
                  <a:gd name="T50" fmla="*/ 1279 w 2185"/>
                  <a:gd name="T51" fmla="*/ 2626 h 2715"/>
                  <a:gd name="T52" fmla="*/ 1284 w 2185"/>
                  <a:gd name="T53" fmla="*/ 2541 h 2715"/>
                  <a:gd name="T54" fmla="*/ 1299 w 2185"/>
                  <a:gd name="T55" fmla="*/ 2460 h 2715"/>
                  <a:gd name="T56" fmla="*/ 1322 w 2185"/>
                  <a:gd name="T57" fmla="*/ 2383 h 2715"/>
                  <a:gd name="T58" fmla="*/ 1357 w 2185"/>
                  <a:gd name="T59" fmla="*/ 2309 h 2715"/>
                  <a:gd name="T60" fmla="*/ 1403 w 2185"/>
                  <a:gd name="T61" fmla="*/ 2240 h 2715"/>
                  <a:gd name="T62" fmla="*/ 1462 w 2185"/>
                  <a:gd name="T63" fmla="*/ 2177 h 2715"/>
                  <a:gd name="T64" fmla="*/ 1536 w 2185"/>
                  <a:gd name="T65" fmla="*/ 2117 h 2715"/>
                  <a:gd name="T66" fmla="*/ 1647 w 2185"/>
                  <a:gd name="T67" fmla="*/ 2035 h 2715"/>
                  <a:gd name="T68" fmla="*/ 1760 w 2185"/>
                  <a:gd name="T69" fmla="*/ 1939 h 2715"/>
                  <a:gd name="T70" fmla="*/ 1870 w 2185"/>
                  <a:gd name="T71" fmla="*/ 1832 h 2715"/>
                  <a:gd name="T72" fmla="*/ 1970 w 2185"/>
                  <a:gd name="T73" fmla="*/ 1711 h 2715"/>
                  <a:gd name="T74" fmla="*/ 2057 w 2185"/>
                  <a:gd name="T75" fmla="*/ 1578 h 2715"/>
                  <a:gd name="T76" fmla="*/ 2125 w 2185"/>
                  <a:gd name="T77" fmla="*/ 1435 h 2715"/>
                  <a:gd name="T78" fmla="*/ 2170 w 2185"/>
                  <a:gd name="T79" fmla="*/ 1281 h 2715"/>
                  <a:gd name="T80" fmla="*/ 2185 w 2185"/>
                  <a:gd name="T81" fmla="*/ 1118 h 2715"/>
                  <a:gd name="T82" fmla="*/ 2163 w 2185"/>
                  <a:gd name="T83" fmla="*/ 869 h 2715"/>
                  <a:gd name="T84" fmla="*/ 2100 w 2185"/>
                  <a:gd name="T85" fmla="*/ 651 h 2715"/>
                  <a:gd name="T86" fmla="*/ 2000 w 2185"/>
                  <a:gd name="T87" fmla="*/ 463 h 2715"/>
                  <a:gd name="T88" fmla="*/ 1871 w 2185"/>
                  <a:gd name="T89" fmla="*/ 308 h 2715"/>
                  <a:gd name="T90" fmla="*/ 1721 w 2185"/>
                  <a:gd name="T91" fmla="*/ 183 h 2715"/>
                  <a:gd name="T92" fmla="*/ 1554 w 2185"/>
                  <a:gd name="T93" fmla="*/ 91 h 2715"/>
                  <a:gd name="T94" fmla="*/ 1379 w 2185"/>
                  <a:gd name="T95" fmla="*/ 31 h 2715"/>
                  <a:gd name="T96" fmla="*/ 1201 w 2185"/>
                  <a:gd name="T97" fmla="*/ 5 h 2715"/>
                  <a:gd name="T98" fmla="*/ 954 w 2185"/>
                  <a:gd name="T99" fmla="*/ 5 h 2715"/>
                  <a:gd name="T100" fmla="*/ 724 w 2185"/>
                  <a:gd name="T101" fmla="*/ 42 h 2715"/>
                  <a:gd name="T102" fmla="*/ 519 w 2185"/>
                  <a:gd name="T103" fmla="*/ 112 h 2715"/>
                  <a:gd name="T104" fmla="*/ 343 w 2185"/>
                  <a:gd name="T105" fmla="*/ 217 h 2715"/>
                  <a:gd name="T106" fmla="*/ 199 w 2185"/>
                  <a:gd name="T107" fmla="*/ 354 h 2715"/>
                  <a:gd name="T108" fmla="*/ 91 w 2185"/>
                  <a:gd name="T109" fmla="*/ 521 h 2715"/>
                  <a:gd name="T110" fmla="*/ 23 w 2185"/>
                  <a:gd name="T111" fmla="*/ 717 h 2715"/>
                  <a:gd name="T112" fmla="*/ 0 w 2185"/>
                  <a:gd name="T113" fmla="*/ 940 h 2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85" h="2715">
                    <a:moveTo>
                      <a:pt x="0" y="1340"/>
                    </a:moveTo>
                    <a:lnTo>
                      <a:pt x="643" y="1340"/>
                    </a:lnTo>
                    <a:lnTo>
                      <a:pt x="643" y="1044"/>
                    </a:lnTo>
                    <a:lnTo>
                      <a:pt x="644" y="1007"/>
                    </a:lnTo>
                    <a:lnTo>
                      <a:pt x="648" y="970"/>
                    </a:lnTo>
                    <a:lnTo>
                      <a:pt x="655" y="937"/>
                    </a:lnTo>
                    <a:lnTo>
                      <a:pt x="666" y="903"/>
                    </a:lnTo>
                    <a:lnTo>
                      <a:pt x="677" y="874"/>
                    </a:lnTo>
                    <a:lnTo>
                      <a:pt x="692" y="845"/>
                    </a:lnTo>
                    <a:lnTo>
                      <a:pt x="708" y="818"/>
                    </a:lnTo>
                    <a:lnTo>
                      <a:pt x="728" y="793"/>
                    </a:lnTo>
                    <a:lnTo>
                      <a:pt x="748" y="769"/>
                    </a:lnTo>
                    <a:lnTo>
                      <a:pt x="771" y="748"/>
                    </a:lnTo>
                    <a:lnTo>
                      <a:pt x="794" y="728"/>
                    </a:lnTo>
                    <a:lnTo>
                      <a:pt x="819" y="711"/>
                    </a:lnTo>
                    <a:lnTo>
                      <a:pt x="847" y="695"/>
                    </a:lnTo>
                    <a:lnTo>
                      <a:pt x="874" y="681"/>
                    </a:lnTo>
                    <a:lnTo>
                      <a:pt x="903" y="670"/>
                    </a:lnTo>
                    <a:lnTo>
                      <a:pt x="933" y="660"/>
                    </a:lnTo>
                    <a:lnTo>
                      <a:pt x="963" y="652"/>
                    </a:lnTo>
                    <a:lnTo>
                      <a:pt x="994" y="648"/>
                    </a:lnTo>
                    <a:lnTo>
                      <a:pt x="1025" y="644"/>
                    </a:lnTo>
                    <a:lnTo>
                      <a:pt x="1057" y="643"/>
                    </a:lnTo>
                    <a:lnTo>
                      <a:pt x="1090" y="644"/>
                    </a:lnTo>
                    <a:lnTo>
                      <a:pt x="1122" y="648"/>
                    </a:lnTo>
                    <a:lnTo>
                      <a:pt x="1154" y="653"/>
                    </a:lnTo>
                    <a:lnTo>
                      <a:pt x="1186" y="662"/>
                    </a:lnTo>
                    <a:lnTo>
                      <a:pt x="1218" y="672"/>
                    </a:lnTo>
                    <a:lnTo>
                      <a:pt x="1249" y="683"/>
                    </a:lnTo>
                    <a:lnTo>
                      <a:pt x="1279" y="700"/>
                    </a:lnTo>
                    <a:lnTo>
                      <a:pt x="1309" y="717"/>
                    </a:lnTo>
                    <a:lnTo>
                      <a:pt x="1337" y="736"/>
                    </a:lnTo>
                    <a:lnTo>
                      <a:pt x="1365" y="758"/>
                    </a:lnTo>
                    <a:lnTo>
                      <a:pt x="1392" y="784"/>
                    </a:lnTo>
                    <a:lnTo>
                      <a:pt x="1417" y="811"/>
                    </a:lnTo>
                    <a:lnTo>
                      <a:pt x="1435" y="833"/>
                    </a:lnTo>
                    <a:lnTo>
                      <a:pt x="1451" y="855"/>
                    </a:lnTo>
                    <a:lnTo>
                      <a:pt x="1466" y="878"/>
                    </a:lnTo>
                    <a:lnTo>
                      <a:pt x="1480" y="900"/>
                    </a:lnTo>
                    <a:lnTo>
                      <a:pt x="1491" y="922"/>
                    </a:lnTo>
                    <a:lnTo>
                      <a:pt x="1501" y="944"/>
                    </a:lnTo>
                    <a:lnTo>
                      <a:pt x="1507" y="966"/>
                    </a:lnTo>
                    <a:lnTo>
                      <a:pt x="1514" y="989"/>
                    </a:lnTo>
                    <a:lnTo>
                      <a:pt x="1516" y="1012"/>
                    </a:lnTo>
                    <a:lnTo>
                      <a:pt x="1518" y="1035"/>
                    </a:lnTo>
                    <a:lnTo>
                      <a:pt x="1517" y="1058"/>
                    </a:lnTo>
                    <a:lnTo>
                      <a:pt x="1514" y="1082"/>
                    </a:lnTo>
                    <a:lnTo>
                      <a:pt x="1509" y="1105"/>
                    </a:lnTo>
                    <a:lnTo>
                      <a:pt x="1502" y="1130"/>
                    </a:lnTo>
                    <a:lnTo>
                      <a:pt x="1493" y="1155"/>
                    </a:lnTo>
                    <a:lnTo>
                      <a:pt x="1481" y="1180"/>
                    </a:lnTo>
                    <a:lnTo>
                      <a:pt x="1469" y="1205"/>
                    </a:lnTo>
                    <a:lnTo>
                      <a:pt x="1454" y="1232"/>
                    </a:lnTo>
                    <a:lnTo>
                      <a:pt x="1435" y="1260"/>
                    </a:lnTo>
                    <a:lnTo>
                      <a:pt x="1415" y="1287"/>
                    </a:lnTo>
                    <a:lnTo>
                      <a:pt x="1394" y="1315"/>
                    </a:lnTo>
                    <a:lnTo>
                      <a:pt x="1369" y="1344"/>
                    </a:lnTo>
                    <a:lnTo>
                      <a:pt x="1342" y="1374"/>
                    </a:lnTo>
                    <a:lnTo>
                      <a:pt x="1312" y="1404"/>
                    </a:lnTo>
                    <a:lnTo>
                      <a:pt x="1281" y="1435"/>
                    </a:lnTo>
                    <a:lnTo>
                      <a:pt x="1248" y="1467"/>
                    </a:lnTo>
                    <a:lnTo>
                      <a:pt x="1212" y="1500"/>
                    </a:lnTo>
                    <a:lnTo>
                      <a:pt x="1173" y="1534"/>
                    </a:lnTo>
                    <a:lnTo>
                      <a:pt x="1131" y="1568"/>
                    </a:lnTo>
                    <a:lnTo>
                      <a:pt x="1087" y="1604"/>
                    </a:lnTo>
                    <a:lnTo>
                      <a:pt x="1042" y="1641"/>
                    </a:lnTo>
                    <a:lnTo>
                      <a:pt x="994" y="1679"/>
                    </a:lnTo>
                    <a:lnTo>
                      <a:pt x="966" y="1711"/>
                    </a:lnTo>
                    <a:lnTo>
                      <a:pt x="942" y="1741"/>
                    </a:lnTo>
                    <a:lnTo>
                      <a:pt x="918" y="1772"/>
                    </a:lnTo>
                    <a:lnTo>
                      <a:pt x="894" y="1803"/>
                    </a:lnTo>
                    <a:lnTo>
                      <a:pt x="873" y="1834"/>
                    </a:lnTo>
                    <a:lnTo>
                      <a:pt x="851" y="1864"/>
                    </a:lnTo>
                    <a:lnTo>
                      <a:pt x="832" y="1896"/>
                    </a:lnTo>
                    <a:lnTo>
                      <a:pt x="813" y="1924"/>
                    </a:lnTo>
                    <a:lnTo>
                      <a:pt x="795" y="1955"/>
                    </a:lnTo>
                    <a:lnTo>
                      <a:pt x="779" y="1985"/>
                    </a:lnTo>
                    <a:lnTo>
                      <a:pt x="761" y="2017"/>
                    </a:lnTo>
                    <a:lnTo>
                      <a:pt x="748" y="2048"/>
                    </a:lnTo>
                    <a:lnTo>
                      <a:pt x="734" y="2078"/>
                    </a:lnTo>
                    <a:lnTo>
                      <a:pt x="721" y="2109"/>
                    </a:lnTo>
                    <a:lnTo>
                      <a:pt x="708" y="2140"/>
                    </a:lnTo>
                    <a:lnTo>
                      <a:pt x="698" y="2171"/>
                    </a:lnTo>
                    <a:lnTo>
                      <a:pt x="686" y="2202"/>
                    </a:lnTo>
                    <a:lnTo>
                      <a:pt x="677" y="2233"/>
                    </a:lnTo>
                    <a:lnTo>
                      <a:pt x="669" y="2265"/>
                    </a:lnTo>
                    <a:lnTo>
                      <a:pt x="661" y="2298"/>
                    </a:lnTo>
                    <a:lnTo>
                      <a:pt x="654" y="2330"/>
                    </a:lnTo>
                    <a:lnTo>
                      <a:pt x="647" y="2362"/>
                    </a:lnTo>
                    <a:lnTo>
                      <a:pt x="642" y="2397"/>
                    </a:lnTo>
                    <a:lnTo>
                      <a:pt x="637" y="2429"/>
                    </a:lnTo>
                    <a:lnTo>
                      <a:pt x="633" y="2464"/>
                    </a:lnTo>
                    <a:lnTo>
                      <a:pt x="629" y="2498"/>
                    </a:lnTo>
                    <a:lnTo>
                      <a:pt x="627" y="2533"/>
                    </a:lnTo>
                    <a:lnTo>
                      <a:pt x="623" y="2567"/>
                    </a:lnTo>
                    <a:lnTo>
                      <a:pt x="622" y="2604"/>
                    </a:lnTo>
                    <a:lnTo>
                      <a:pt x="621" y="2640"/>
                    </a:lnTo>
                    <a:lnTo>
                      <a:pt x="620" y="2677"/>
                    </a:lnTo>
                    <a:lnTo>
                      <a:pt x="620" y="2715"/>
                    </a:lnTo>
                    <a:lnTo>
                      <a:pt x="1280" y="2715"/>
                    </a:lnTo>
                    <a:lnTo>
                      <a:pt x="1280" y="2692"/>
                    </a:lnTo>
                    <a:lnTo>
                      <a:pt x="1279" y="2670"/>
                    </a:lnTo>
                    <a:lnTo>
                      <a:pt x="1279" y="2648"/>
                    </a:lnTo>
                    <a:lnTo>
                      <a:pt x="1279" y="2626"/>
                    </a:lnTo>
                    <a:lnTo>
                      <a:pt x="1280" y="2604"/>
                    </a:lnTo>
                    <a:lnTo>
                      <a:pt x="1281" y="2582"/>
                    </a:lnTo>
                    <a:lnTo>
                      <a:pt x="1282" y="2562"/>
                    </a:lnTo>
                    <a:lnTo>
                      <a:pt x="1284" y="2541"/>
                    </a:lnTo>
                    <a:lnTo>
                      <a:pt x="1287" y="2520"/>
                    </a:lnTo>
                    <a:lnTo>
                      <a:pt x="1291" y="2499"/>
                    </a:lnTo>
                    <a:lnTo>
                      <a:pt x="1295" y="2480"/>
                    </a:lnTo>
                    <a:lnTo>
                      <a:pt x="1299" y="2460"/>
                    </a:lnTo>
                    <a:lnTo>
                      <a:pt x="1304" y="2441"/>
                    </a:lnTo>
                    <a:lnTo>
                      <a:pt x="1310" y="2421"/>
                    </a:lnTo>
                    <a:lnTo>
                      <a:pt x="1316" y="2401"/>
                    </a:lnTo>
                    <a:lnTo>
                      <a:pt x="1322" y="2383"/>
                    </a:lnTo>
                    <a:lnTo>
                      <a:pt x="1329" y="2365"/>
                    </a:lnTo>
                    <a:lnTo>
                      <a:pt x="1339" y="2345"/>
                    </a:lnTo>
                    <a:lnTo>
                      <a:pt x="1347" y="2328"/>
                    </a:lnTo>
                    <a:lnTo>
                      <a:pt x="1357" y="2309"/>
                    </a:lnTo>
                    <a:lnTo>
                      <a:pt x="1367" y="2292"/>
                    </a:lnTo>
                    <a:lnTo>
                      <a:pt x="1379" y="2275"/>
                    </a:lnTo>
                    <a:lnTo>
                      <a:pt x="1390" y="2257"/>
                    </a:lnTo>
                    <a:lnTo>
                      <a:pt x="1403" y="2240"/>
                    </a:lnTo>
                    <a:lnTo>
                      <a:pt x="1417" y="2224"/>
                    </a:lnTo>
                    <a:lnTo>
                      <a:pt x="1431" y="2208"/>
                    </a:lnTo>
                    <a:lnTo>
                      <a:pt x="1446" y="2193"/>
                    </a:lnTo>
                    <a:lnTo>
                      <a:pt x="1462" y="2177"/>
                    </a:lnTo>
                    <a:lnTo>
                      <a:pt x="1479" y="2161"/>
                    </a:lnTo>
                    <a:lnTo>
                      <a:pt x="1496" y="2146"/>
                    </a:lnTo>
                    <a:lnTo>
                      <a:pt x="1516" y="2131"/>
                    </a:lnTo>
                    <a:lnTo>
                      <a:pt x="1536" y="2117"/>
                    </a:lnTo>
                    <a:lnTo>
                      <a:pt x="1563" y="2097"/>
                    </a:lnTo>
                    <a:lnTo>
                      <a:pt x="1591" y="2078"/>
                    </a:lnTo>
                    <a:lnTo>
                      <a:pt x="1619" y="2057"/>
                    </a:lnTo>
                    <a:lnTo>
                      <a:pt x="1647" y="2035"/>
                    </a:lnTo>
                    <a:lnTo>
                      <a:pt x="1676" y="2012"/>
                    </a:lnTo>
                    <a:lnTo>
                      <a:pt x="1704" y="1989"/>
                    </a:lnTo>
                    <a:lnTo>
                      <a:pt x="1731" y="1964"/>
                    </a:lnTo>
                    <a:lnTo>
                      <a:pt x="1760" y="1939"/>
                    </a:lnTo>
                    <a:lnTo>
                      <a:pt x="1788" y="1914"/>
                    </a:lnTo>
                    <a:lnTo>
                      <a:pt x="1816" y="1887"/>
                    </a:lnTo>
                    <a:lnTo>
                      <a:pt x="1843" y="1861"/>
                    </a:lnTo>
                    <a:lnTo>
                      <a:pt x="1870" y="1832"/>
                    </a:lnTo>
                    <a:lnTo>
                      <a:pt x="1896" y="1802"/>
                    </a:lnTo>
                    <a:lnTo>
                      <a:pt x="1922" y="1772"/>
                    </a:lnTo>
                    <a:lnTo>
                      <a:pt x="1946" y="1742"/>
                    </a:lnTo>
                    <a:lnTo>
                      <a:pt x="1970" y="1711"/>
                    </a:lnTo>
                    <a:lnTo>
                      <a:pt x="1993" y="1679"/>
                    </a:lnTo>
                    <a:lnTo>
                      <a:pt x="2016" y="1647"/>
                    </a:lnTo>
                    <a:lnTo>
                      <a:pt x="2037" y="1612"/>
                    </a:lnTo>
                    <a:lnTo>
                      <a:pt x="2057" y="1578"/>
                    </a:lnTo>
                    <a:lnTo>
                      <a:pt x="2076" y="1544"/>
                    </a:lnTo>
                    <a:lnTo>
                      <a:pt x="2093" y="1507"/>
                    </a:lnTo>
                    <a:lnTo>
                      <a:pt x="2110" y="1472"/>
                    </a:lnTo>
                    <a:lnTo>
                      <a:pt x="2125" y="1435"/>
                    </a:lnTo>
                    <a:lnTo>
                      <a:pt x="2138" y="1398"/>
                    </a:lnTo>
                    <a:lnTo>
                      <a:pt x="2151" y="1360"/>
                    </a:lnTo>
                    <a:lnTo>
                      <a:pt x="2161" y="1321"/>
                    </a:lnTo>
                    <a:lnTo>
                      <a:pt x="2170" y="1281"/>
                    </a:lnTo>
                    <a:lnTo>
                      <a:pt x="2177" y="1242"/>
                    </a:lnTo>
                    <a:lnTo>
                      <a:pt x="2182" y="1201"/>
                    </a:lnTo>
                    <a:lnTo>
                      <a:pt x="2185" y="1160"/>
                    </a:lnTo>
                    <a:lnTo>
                      <a:pt x="2185" y="1118"/>
                    </a:lnTo>
                    <a:lnTo>
                      <a:pt x="2184" y="1053"/>
                    </a:lnTo>
                    <a:lnTo>
                      <a:pt x="2181" y="990"/>
                    </a:lnTo>
                    <a:lnTo>
                      <a:pt x="2174" y="929"/>
                    </a:lnTo>
                    <a:lnTo>
                      <a:pt x="2163" y="869"/>
                    </a:lnTo>
                    <a:lnTo>
                      <a:pt x="2151" y="811"/>
                    </a:lnTo>
                    <a:lnTo>
                      <a:pt x="2136" y="756"/>
                    </a:lnTo>
                    <a:lnTo>
                      <a:pt x="2119" y="703"/>
                    </a:lnTo>
                    <a:lnTo>
                      <a:pt x="2100" y="651"/>
                    </a:lnTo>
                    <a:lnTo>
                      <a:pt x="2078" y="600"/>
                    </a:lnTo>
                    <a:lnTo>
                      <a:pt x="2054" y="553"/>
                    </a:lnTo>
                    <a:lnTo>
                      <a:pt x="2028" y="507"/>
                    </a:lnTo>
                    <a:lnTo>
                      <a:pt x="2000" y="463"/>
                    </a:lnTo>
                    <a:lnTo>
                      <a:pt x="1970" y="422"/>
                    </a:lnTo>
                    <a:lnTo>
                      <a:pt x="1939" y="382"/>
                    </a:lnTo>
                    <a:lnTo>
                      <a:pt x="1905" y="344"/>
                    </a:lnTo>
                    <a:lnTo>
                      <a:pt x="1871" y="308"/>
                    </a:lnTo>
                    <a:lnTo>
                      <a:pt x="1835" y="273"/>
                    </a:lnTo>
                    <a:lnTo>
                      <a:pt x="1798" y="242"/>
                    </a:lnTo>
                    <a:lnTo>
                      <a:pt x="1760" y="212"/>
                    </a:lnTo>
                    <a:lnTo>
                      <a:pt x="1721" y="183"/>
                    </a:lnTo>
                    <a:lnTo>
                      <a:pt x="1681" y="158"/>
                    </a:lnTo>
                    <a:lnTo>
                      <a:pt x="1639" y="134"/>
                    </a:lnTo>
                    <a:lnTo>
                      <a:pt x="1597" y="112"/>
                    </a:lnTo>
                    <a:lnTo>
                      <a:pt x="1554" y="91"/>
                    </a:lnTo>
                    <a:lnTo>
                      <a:pt x="1511" y="74"/>
                    </a:lnTo>
                    <a:lnTo>
                      <a:pt x="1468" y="58"/>
                    </a:lnTo>
                    <a:lnTo>
                      <a:pt x="1424" y="44"/>
                    </a:lnTo>
                    <a:lnTo>
                      <a:pt x="1379" y="31"/>
                    </a:lnTo>
                    <a:lnTo>
                      <a:pt x="1335" y="22"/>
                    </a:lnTo>
                    <a:lnTo>
                      <a:pt x="1290" y="14"/>
                    </a:lnTo>
                    <a:lnTo>
                      <a:pt x="1246" y="8"/>
                    </a:lnTo>
                    <a:lnTo>
                      <a:pt x="1201" y="5"/>
                    </a:lnTo>
                    <a:lnTo>
                      <a:pt x="1138" y="1"/>
                    </a:lnTo>
                    <a:lnTo>
                      <a:pt x="1075" y="0"/>
                    </a:lnTo>
                    <a:lnTo>
                      <a:pt x="1013" y="1"/>
                    </a:lnTo>
                    <a:lnTo>
                      <a:pt x="954" y="5"/>
                    </a:lnTo>
                    <a:lnTo>
                      <a:pt x="894" y="11"/>
                    </a:lnTo>
                    <a:lnTo>
                      <a:pt x="836" y="19"/>
                    </a:lnTo>
                    <a:lnTo>
                      <a:pt x="780" y="29"/>
                    </a:lnTo>
                    <a:lnTo>
                      <a:pt x="724" y="42"/>
                    </a:lnTo>
                    <a:lnTo>
                      <a:pt x="671" y="55"/>
                    </a:lnTo>
                    <a:lnTo>
                      <a:pt x="619" y="72"/>
                    </a:lnTo>
                    <a:lnTo>
                      <a:pt x="569" y="91"/>
                    </a:lnTo>
                    <a:lnTo>
                      <a:pt x="519" y="112"/>
                    </a:lnTo>
                    <a:lnTo>
                      <a:pt x="473" y="136"/>
                    </a:lnTo>
                    <a:lnTo>
                      <a:pt x="428" y="160"/>
                    </a:lnTo>
                    <a:lnTo>
                      <a:pt x="385" y="187"/>
                    </a:lnTo>
                    <a:lnTo>
                      <a:pt x="343" y="217"/>
                    </a:lnTo>
                    <a:lnTo>
                      <a:pt x="304" y="248"/>
                    </a:lnTo>
                    <a:lnTo>
                      <a:pt x="267" y="281"/>
                    </a:lnTo>
                    <a:lnTo>
                      <a:pt x="231" y="316"/>
                    </a:lnTo>
                    <a:lnTo>
                      <a:pt x="199" y="354"/>
                    </a:lnTo>
                    <a:lnTo>
                      <a:pt x="168" y="393"/>
                    </a:lnTo>
                    <a:lnTo>
                      <a:pt x="140" y="433"/>
                    </a:lnTo>
                    <a:lnTo>
                      <a:pt x="114" y="476"/>
                    </a:lnTo>
                    <a:lnTo>
                      <a:pt x="91" y="521"/>
                    </a:lnTo>
                    <a:lnTo>
                      <a:pt x="70" y="567"/>
                    </a:lnTo>
                    <a:lnTo>
                      <a:pt x="52" y="615"/>
                    </a:lnTo>
                    <a:lnTo>
                      <a:pt x="37" y="665"/>
                    </a:lnTo>
                    <a:lnTo>
                      <a:pt x="23" y="717"/>
                    </a:lnTo>
                    <a:lnTo>
                      <a:pt x="13" y="770"/>
                    </a:lnTo>
                    <a:lnTo>
                      <a:pt x="6" y="825"/>
                    </a:lnTo>
                    <a:lnTo>
                      <a:pt x="1" y="883"/>
                    </a:lnTo>
                    <a:lnTo>
                      <a:pt x="0" y="940"/>
                    </a:lnTo>
                    <a:lnTo>
                      <a:pt x="0" y="1340"/>
                    </a:lnTo>
                    <a:close/>
                  </a:path>
                </a:pathLst>
              </a:custGeom>
              <a:solidFill>
                <a:srgbClr val="800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Tree>
    <p:extLst>
      <p:ext uri="{BB962C8B-B14F-4D97-AF65-F5344CB8AC3E}">
        <p14:creationId xmlns:p14="http://schemas.microsoft.com/office/powerpoint/2010/main" val="174243517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22565"/>
                                        </p:tgtEl>
                                        <p:attrNameLst>
                                          <p:attrName>style.visibility</p:attrName>
                                        </p:attrNameLst>
                                      </p:cBhvr>
                                      <p:to>
                                        <p:strVal val="visible"/>
                                      </p:to>
                                    </p:set>
                                    <p:animEffect transition="in" filter="wipe(down)">
                                      <p:cBhvr>
                                        <p:cTn id="7" dur="500"/>
                                        <p:tgtEl>
                                          <p:spTgt spid="3225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225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2"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Text Box 2"/>
          <p:cNvSpPr txBox="1">
            <a:spLocks noChangeArrowheads="1"/>
          </p:cNvSpPr>
          <p:nvPr/>
        </p:nvSpPr>
        <p:spPr bwMode="auto">
          <a:xfrm>
            <a:off x="250825" y="1808163"/>
            <a:ext cx="8458200" cy="2827337"/>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0000"/>
              </a:lnSpc>
              <a:spcBef>
                <a:spcPct val="20000"/>
              </a:spcBef>
            </a:pPr>
            <a:r>
              <a:rPr kumimoji="0" lang="zh-CN" altLang="en-US" sz="2800" b="1">
                <a:solidFill>
                  <a:srgbClr val="FF3300"/>
                </a:solidFill>
                <a:latin typeface="华文楷体" charset="-122"/>
                <a:ea typeface="华文楷体" charset="-122"/>
              </a:rPr>
              <a:t>哈希技术的关键问题：</a:t>
            </a:r>
          </a:p>
          <a:p>
            <a:pPr eaLnBrk="0" hangingPunct="0">
              <a:lnSpc>
                <a:spcPct val="120000"/>
              </a:lnSpc>
              <a:spcBef>
                <a:spcPct val="20000"/>
              </a:spcBef>
            </a:pPr>
            <a:r>
              <a:rPr kumimoji="0" lang="zh-CN" altLang="en-US" sz="2800" b="1">
                <a:latin typeface="华文楷体" charset="-122"/>
                <a:ea typeface="华文楷体" charset="-122"/>
              </a:rPr>
              <a:t>⑴ 哈希函数的设计。如何设计一个简单、均匀、存储利用率高的哈希函数。</a:t>
            </a:r>
          </a:p>
          <a:p>
            <a:pPr eaLnBrk="0" hangingPunct="0">
              <a:lnSpc>
                <a:spcPct val="120000"/>
              </a:lnSpc>
              <a:spcBef>
                <a:spcPct val="20000"/>
              </a:spcBef>
            </a:pPr>
            <a:r>
              <a:rPr kumimoji="0" lang="zh-CN" altLang="en-US" sz="2800" b="1">
                <a:latin typeface="华文楷体" charset="-122"/>
                <a:ea typeface="华文楷体" charset="-122"/>
              </a:rPr>
              <a:t>⑵ 冲突的处理。如何采取合适的处理冲突方法来解决冲突。</a:t>
            </a:r>
          </a:p>
        </p:txBody>
      </p:sp>
    </p:spTree>
    <p:extLst>
      <p:ext uri="{BB962C8B-B14F-4D97-AF65-F5344CB8AC3E}">
        <p14:creationId xmlns:p14="http://schemas.microsoft.com/office/powerpoint/2010/main" val="5535328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3586"/>
                                        </p:tgtEl>
                                        <p:attrNameLst>
                                          <p:attrName>style.visibility</p:attrName>
                                        </p:attrNameLst>
                                      </p:cBhvr>
                                      <p:to>
                                        <p:strVal val="visible"/>
                                      </p:to>
                                    </p:set>
                                    <p:anim calcmode="lin" valueType="num">
                                      <p:cBhvr additive="base">
                                        <p:cTn id="7" dur="500" fill="hold"/>
                                        <p:tgtEl>
                                          <p:spTgt spid="323586"/>
                                        </p:tgtEl>
                                        <p:attrNameLst>
                                          <p:attrName>ppt_x</p:attrName>
                                        </p:attrNameLst>
                                      </p:cBhvr>
                                      <p:tavLst>
                                        <p:tav tm="0">
                                          <p:val>
                                            <p:strVal val="0-#ppt_w/2"/>
                                          </p:val>
                                        </p:tav>
                                        <p:tav tm="100000">
                                          <p:val>
                                            <p:strVal val="#ppt_x"/>
                                          </p:val>
                                        </p:tav>
                                      </p:tavLst>
                                    </p:anim>
                                    <p:anim calcmode="lin" valueType="num">
                                      <p:cBhvr additive="base">
                                        <p:cTn id="8" dur="500" fill="hold"/>
                                        <p:tgtEl>
                                          <p:spTgt spid="3235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6" grpId="0" autoUpdateAnimBg="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Text Box 2"/>
          <p:cNvSpPr txBox="1">
            <a:spLocks noChangeArrowheads="1"/>
          </p:cNvSpPr>
          <p:nvPr/>
        </p:nvSpPr>
        <p:spPr bwMode="auto">
          <a:xfrm>
            <a:off x="390525" y="1719263"/>
            <a:ext cx="8374063" cy="1630362"/>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rIns="0">
            <a:spAutoFit/>
          </a:bodyPr>
          <a:lstStyle/>
          <a:p>
            <a:pPr eaLnBrk="0" hangingPunct="0">
              <a:lnSpc>
                <a:spcPct val="120000"/>
              </a:lnSpc>
              <a:spcBef>
                <a:spcPct val="20000"/>
              </a:spcBef>
            </a:pPr>
            <a:r>
              <a:rPr kumimoji="0" lang="zh-CN" altLang="en-US" sz="2800" b="1">
                <a:solidFill>
                  <a:srgbClr val="FF3300"/>
                </a:solidFill>
              </a:rPr>
              <a:t>冲突：</a:t>
            </a:r>
            <a:r>
              <a:rPr kumimoji="0" lang="zh-CN" altLang="en-US" sz="2800" b="1"/>
              <a:t>对于两个不同关键码</a:t>
            </a:r>
            <a:r>
              <a:rPr kumimoji="0" lang="en-US" altLang="zh-CN" sz="2800" b="1" i="1"/>
              <a:t>k</a:t>
            </a:r>
            <a:r>
              <a:rPr kumimoji="0" lang="en-US" altLang="zh-CN" sz="2800" b="1" i="1" baseline="-30000"/>
              <a:t>i</a:t>
            </a:r>
            <a:r>
              <a:rPr kumimoji="0" lang="en-US" altLang="zh-CN" sz="2800" b="1"/>
              <a:t>≠</a:t>
            </a:r>
            <a:r>
              <a:rPr kumimoji="0" lang="en-US" altLang="zh-CN" sz="2800" b="1" i="1"/>
              <a:t>k</a:t>
            </a:r>
            <a:r>
              <a:rPr kumimoji="0" lang="en-US" altLang="zh-CN" sz="2800" b="1" i="1" baseline="-30000"/>
              <a:t>j</a:t>
            </a:r>
            <a:r>
              <a:rPr kumimoji="0" lang="zh-CN" altLang="en-US" sz="2800" b="1"/>
              <a:t>，有</a:t>
            </a:r>
            <a:r>
              <a:rPr kumimoji="0" lang="en-US" altLang="zh-CN" sz="2800" b="1" i="1"/>
              <a:t>H</a:t>
            </a:r>
            <a:r>
              <a:rPr kumimoji="0" lang="en-US" altLang="zh-CN" sz="2800" b="1">
                <a:latin typeface="宋体" charset="-122"/>
              </a:rPr>
              <a:t>(</a:t>
            </a:r>
            <a:r>
              <a:rPr kumimoji="0" lang="en-US" altLang="zh-CN" sz="2800" b="1" i="1"/>
              <a:t>k</a:t>
            </a:r>
            <a:r>
              <a:rPr kumimoji="0" lang="en-US" altLang="zh-CN" sz="2800" b="1" i="1" baseline="-30000"/>
              <a:t>i</a:t>
            </a:r>
            <a:r>
              <a:rPr kumimoji="0" lang="en-US" altLang="zh-CN" sz="2800" b="1">
                <a:latin typeface="宋体" charset="-122"/>
              </a:rPr>
              <a:t>)</a:t>
            </a:r>
            <a:r>
              <a:rPr kumimoji="0" lang="zh-CN" altLang="en-US" sz="2800" b="1"/>
              <a:t>＝</a:t>
            </a:r>
            <a:r>
              <a:rPr kumimoji="0" lang="en-US" altLang="zh-CN" sz="2800" b="1" i="1"/>
              <a:t>H</a:t>
            </a:r>
            <a:r>
              <a:rPr kumimoji="0" lang="en-US" altLang="zh-CN" sz="2800" b="1">
                <a:latin typeface="宋体" charset="-122"/>
              </a:rPr>
              <a:t>(</a:t>
            </a:r>
            <a:r>
              <a:rPr kumimoji="0" lang="en-US" altLang="zh-CN" sz="2800" b="1" i="1"/>
              <a:t>k</a:t>
            </a:r>
            <a:r>
              <a:rPr kumimoji="0" lang="en-US" altLang="zh-CN" sz="2800" b="1" i="1" baseline="-30000"/>
              <a:t>j</a:t>
            </a:r>
            <a:r>
              <a:rPr kumimoji="0" lang="en-US" altLang="zh-CN" sz="2800" b="1">
                <a:latin typeface="宋体" charset="-122"/>
              </a:rPr>
              <a:t>)</a:t>
            </a:r>
            <a:r>
              <a:rPr kumimoji="0" lang="zh-CN" altLang="en-US" sz="2800" b="1"/>
              <a:t>，即两个不同的记录</a:t>
            </a:r>
            <a:r>
              <a:rPr kumimoji="0" lang="zh-CN" altLang="en-US" sz="2800" b="1">
                <a:latin typeface="宋体" charset="-122"/>
              </a:rPr>
              <a:t>需要存放在同一个存储位置</a:t>
            </a:r>
            <a:r>
              <a:rPr kumimoji="0" lang="en-US" altLang="zh-CN" sz="2800" b="1">
                <a:latin typeface="宋体" charset="-122"/>
              </a:rPr>
              <a:t>,</a:t>
            </a:r>
            <a:r>
              <a:rPr kumimoji="0" lang="en-US" altLang="zh-CN" sz="2800" b="1" i="1"/>
              <a:t>k</a:t>
            </a:r>
            <a:r>
              <a:rPr kumimoji="0" lang="en-US" altLang="zh-CN" sz="2800" b="1" i="1" baseline="-30000"/>
              <a:t>i</a:t>
            </a:r>
            <a:r>
              <a:rPr kumimoji="0" lang="zh-CN" altLang="en-US" sz="2800" b="1"/>
              <a:t>和</a:t>
            </a:r>
            <a:r>
              <a:rPr kumimoji="0" lang="en-US" altLang="zh-CN" sz="2800" b="1" i="1"/>
              <a:t>k</a:t>
            </a:r>
            <a:r>
              <a:rPr kumimoji="0" lang="en-US" altLang="zh-CN" sz="2800" b="1" i="1" baseline="-30000"/>
              <a:t>j</a:t>
            </a:r>
            <a:r>
              <a:rPr kumimoji="0" lang="zh-CN" altLang="en-US" sz="2800" b="1"/>
              <a:t>相对于</a:t>
            </a:r>
            <a:r>
              <a:rPr kumimoji="0" lang="en-US" altLang="zh-CN" sz="2800" b="1" i="1"/>
              <a:t>H</a:t>
            </a:r>
            <a:r>
              <a:rPr kumimoji="0" lang="zh-CN" altLang="en-US" sz="2800" b="1"/>
              <a:t>称做</a:t>
            </a:r>
            <a:r>
              <a:rPr kumimoji="0" lang="zh-CN" altLang="en-US" sz="2800" b="1">
                <a:solidFill>
                  <a:srgbClr val="FF3300"/>
                </a:solidFill>
              </a:rPr>
              <a:t>同义词</a:t>
            </a:r>
            <a:r>
              <a:rPr kumimoji="0" lang="zh-CN" altLang="en-US" sz="2800" b="1"/>
              <a:t>。 </a:t>
            </a:r>
          </a:p>
        </p:txBody>
      </p:sp>
      <p:sp>
        <p:nvSpPr>
          <p:cNvPr id="324613" name="Oval 5"/>
          <p:cNvSpPr>
            <a:spLocks noChangeArrowheads="1"/>
          </p:cNvSpPr>
          <p:nvPr/>
        </p:nvSpPr>
        <p:spPr bwMode="auto">
          <a:xfrm>
            <a:off x="1285875" y="3698875"/>
            <a:ext cx="1928813" cy="2879725"/>
          </a:xfrm>
          <a:prstGeom prst="ellipse">
            <a:avLst/>
          </a:prstGeom>
          <a:solidFill>
            <a:schemeClr val="hlink"/>
          </a:solidFill>
          <a:ln w="38100">
            <a:solidFill>
              <a:schemeClr val="accent1"/>
            </a:solidFill>
            <a:round/>
            <a:headEnd/>
            <a:tailEnd/>
          </a:ln>
          <a:effectLst/>
          <a:extLst>
            <a:ext uri="{AF507438-7753-43E0-B8FC-AC1667EBCBE1}">
              <a14:hiddenEffects xmlns:a14="http://schemas.microsoft.com/office/drawing/2010/main">
                <a:effectLst>
                  <a:outerShdw blurRad="63500" dist="165588" dir="21336078" algn="ctr" rotWithShape="0">
                    <a:schemeClr val="accent1">
                      <a:gamma/>
                      <a:shade val="60000"/>
                      <a:invGamma/>
                      <a:alpha val="74998"/>
                    </a:schemeClr>
                  </a:outerShdw>
                </a:effectLst>
              </a14:hiddenEffects>
            </a:ext>
          </a:extLst>
        </p:spPr>
        <p:txBody>
          <a:bodyPr/>
          <a:lstStyle/>
          <a:p>
            <a:pPr algn="ctr"/>
            <a:endParaRPr kumimoji="0" lang="zh-CN" altLang="zh-CN" sz="1800" b="1">
              <a:solidFill>
                <a:schemeClr val="accent2"/>
              </a:solidFill>
              <a:latin typeface="Arial" charset="0"/>
            </a:endParaRPr>
          </a:p>
        </p:txBody>
      </p:sp>
      <p:sp>
        <p:nvSpPr>
          <p:cNvPr id="324614" name="Text Box 6"/>
          <p:cNvSpPr txBox="1">
            <a:spLocks noChangeArrowheads="1"/>
          </p:cNvSpPr>
          <p:nvPr/>
        </p:nvSpPr>
        <p:spPr bwMode="auto">
          <a:xfrm>
            <a:off x="1589088" y="4222750"/>
            <a:ext cx="314325"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a:lnSpc>
                <a:spcPct val="96000"/>
              </a:lnSpc>
            </a:pPr>
            <a:r>
              <a:rPr kumimoji="0" lang="zh-CN" altLang="en-US" b="1">
                <a:cs typeface="Angsana New" charset="0"/>
              </a:rPr>
              <a:t>关键码集合</a:t>
            </a:r>
            <a:endParaRPr kumimoji="0" lang="zh-CN" altLang="en-US" b="1">
              <a:latin typeface="Arial" charset="0"/>
              <a:ea typeface="华文行楷" charset="-122"/>
              <a:cs typeface="Angsana New" charset="0"/>
            </a:endParaRPr>
          </a:p>
        </p:txBody>
      </p:sp>
      <p:sp>
        <p:nvSpPr>
          <p:cNvPr id="324615" name="Text Box 7"/>
          <p:cNvSpPr txBox="1">
            <a:spLocks noChangeArrowheads="1"/>
          </p:cNvSpPr>
          <p:nvPr/>
        </p:nvSpPr>
        <p:spPr bwMode="auto">
          <a:xfrm>
            <a:off x="2443163" y="4773613"/>
            <a:ext cx="3667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a:lnSpc>
                <a:spcPct val="96000"/>
              </a:lnSpc>
            </a:pPr>
            <a:r>
              <a:rPr kumimoji="0" lang="en-US" altLang="zh-CN" b="1" i="1">
                <a:cs typeface="Angsana New" charset="0"/>
              </a:rPr>
              <a:t>k</a:t>
            </a:r>
            <a:r>
              <a:rPr kumimoji="0" lang="en-US" altLang="zh-CN" b="1" i="1" baseline="-25000">
                <a:cs typeface="Angsana New" charset="0"/>
              </a:rPr>
              <a:t>i</a:t>
            </a:r>
            <a:endParaRPr kumimoji="0" lang="en-US" altLang="zh-CN" b="1">
              <a:latin typeface="Arial" charset="0"/>
              <a:ea typeface="华文行楷" charset="-122"/>
              <a:cs typeface="Angsana New" charset="0"/>
            </a:endParaRPr>
          </a:p>
        </p:txBody>
      </p:sp>
      <p:sp>
        <p:nvSpPr>
          <p:cNvPr id="324616" name="Text Box 8"/>
          <p:cNvSpPr txBox="1">
            <a:spLocks noChangeArrowheads="1"/>
          </p:cNvSpPr>
          <p:nvPr/>
        </p:nvSpPr>
        <p:spPr bwMode="auto">
          <a:xfrm>
            <a:off x="6373813" y="3563938"/>
            <a:ext cx="1168400" cy="31051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a:lnSpc>
                <a:spcPct val="112000"/>
              </a:lnSpc>
            </a:pPr>
            <a:endParaRPr kumimoji="0" lang="en-US" altLang="zh-CN" b="1" i="1">
              <a:cs typeface="Angsana New" charset="0"/>
            </a:endParaRPr>
          </a:p>
          <a:p>
            <a:pPr algn="just">
              <a:lnSpc>
                <a:spcPct val="112000"/>
              </a:lnSpc>
            </a:pPr>
            <a:endParaRPr kumimoji="0" lang="en-US" altLang="zh-CN" b="1" i="1">
              <a:cs typeface="Angsana New" charset="0"/>
            </a:endParaRPr>
          </a:p>
          <a:p>
            <a:pPr algn="just"/>
            <a:endParaRPr kumimoji="0" lang="en-US" altLang="zh-CN" b="1" i="1">
              <a:cs typeface="Angsana New" charset="0"/>
            </a:endParaRPr>
          </a:p>
          <a:p>
            <a:pPr algn="just"/>
            <a:r>
              <a:rPr kumimoji="0" lang="en-US" altLang="zh-CN" b="1" i="1">
                <a:cs typeface="Angsana New" charset="0"/>
              </a:rPr>
              <a:t>     r</a:t>
            </a:r>
            <a:r>
              <a:rPr kumimoji="0" lang="en-US" altLang="zh-CN" b="1" i="1" baseline="-25000">
                <a:cs typeface="Angsana New" charset="0"/>
              </a:rPr>
              <a:t>i</a:t>
            </a:r>
            <a:endParaRPr kumimoji="0" lang="en-US" altLang="zh-CN" b="1">
              <a:latin typeface="Arial" charset="0"/>
              <a:ea typeface="华文行楷" charset="-122"/>
              <a:cs typeface="Angsana New" charset="0"/>
            </a:endParaRPr>
          </a:p>
        </p:txBody>
      </p:sp>
      <p:sp>
        <p:nvSpPr>
          <p:cNvPr id="324617" name="Line 9"/>
          <p:cNvSpPr>
            <a:spLocks noChangeShapeType="1"/>
          </p:cNvSpPr>
          <p:nvPr/>
        </p:nvSpPr>
        <p:spPr bwMode="auto">
          <a:xfrm>
            <a:off x="6373813" y="4806950"/>
            <a:ext cx="1168400"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4618" name="Line 10"/>
          <p:cNvSpPr>
            <a:spLocks noChangeShapeType="1"/>
          </p:cNvSpPr>
          <p:nvPr/>
        </p:nvSpPr>
        <p:spPr bwMode="auto">
          <a:xfrm>
            <a:off x="6373813" y="5226050"/>
            <a:ext cx="1168400"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4619" name="Text Box 11"/>
          <p:cNvSpPr txBox="1">
            <a:spLocks noChangeArrowheads="1"/>
          </p:cNvSpPr>
          <p:nvPr/>
        </p:nvSpPr>
        <p:spPr bwMode="auto">
          <a:xfrm>
            <a:off x="6869113" y="3833813"/>
            <a:ext cx="334962" cy="82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18000" tIns="36000" rIns="18000" bIns="0"/>
          <a:lstStyle/>
          <a:p>
            <a:pPr algn="just">
              <a:lnSpc>
                <a:spcPct val="96000"/>
              </a:lnSpc>
            </a:pPr>
            <a:r>
              <a:rPr kumimoji="0" lang="en-US" altLang="zh-CN" b="1">
                <a:cs typeface="Angsana New" charset="0"/>
              </a:rPr>
              <a:t>……</a:t>
            </a:r>
            <a:endParaRPr kumimoji="0" lang="en-US" altLang="zh-CN" b="1">
              <a:latin typeface="Arial" charset="0"/>
              <a:ea typeface="华文行楷" charset="-122"/>
              <a:cs typeface="Angsana New" charset="0"/>
            </a:endParaRPr>
          </a:p>
        </p:txBody>
      </p:sp>
      <p:sp>
        <p:nvSpPr>
          <p:cNvPr id="324620" name="Text Box 12"/>
          <p:cNvSpPr txBox="1">
            <a:spLocks noChangeArrowheads="1"/>
          </p:cNvSpPr>
          <p:nvPr/>
        </p:nvSpPr>
        <p:spPr bwMode="auto">
          <a:xfrm>
            <a:off x="6856413" y="5543550"/>
            <a:ext cx="334962"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18000" tIns="36000" rIns="18000" bIns="0"/>
          <a:lstStyle/>
          <a:p>
            <a:pPr algn="just">
              <a:lnSpc>
                <a:spcPct val="96000"/>
              </a:lnSpc>
            </a:pPr>
            <a:r>
              <a:rPr kumimoji="0" lang="en-US" altLang="zh-CN" b="1">
                <a:cs typeface="Angsana New" charset="0"/>
              </a:rPr>
              <a:t>……</a:t>
            </a:r>
            <a:endParaRPr kumimoji="0" lang="en-US" altLang="zh-CN" b="1">
              <a:latin typeface="Arial" charset="0"/>
              <a:ea typeface="华文行楷" charset="-122"/>
              <a:cs typeface="Angsana New" charset="0"/>
            </a:endParaRPr>
          </a:p>
        </p:txBody>
      </p:sp>
      <p:sp>
        <p:nvSpPr>
          <p:cNvPr id="324621" name="Text Box 13"/>
          <p:cNvSpPr txBox="1">
            <a:spLocks noChangeArrowheads="1"/>
          </p:cNvSpPr>
          <p:nvPr/>
        </p:nvSpPr>
        <p:spPr bwMode="auto">
          <a:xfrm>
            <a:off x="4032250" y="4508500"/>
            <a:ext cx="811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nSpc>
                <a:spcPct val="96000"/>
              </a:lnSpc>
            </a:pPr>
            <a:r>
              <a:rPr kumimoji="0" lang="en-US" altLang="zh-CN" b="1" i="1">
                <a:cs typeface="Angsana New" charset="0"/>
              </a:rPr>
              <a:t>H</a:t>
            </a:r>
            <a:r>
              <a:rPr kumimoji="0" lang="en-US" altLang="zh-CN" b="1">
                <a:cs typeface="Angsana New" charset="0"/>
              </a:rPr>
              <a:t>(</a:t>
            </a:r>
            <a:r>
              <a:rPr kumimoji="0" lang="en-US" altLang="zh-CN" b="1" i="1">
                <a:cs typeface="Angsana New" charset="0"/>
              </a:rPr>
              <a:t>k</a:t>
            </a:r>
            <a:r>
              <a:rPr kumimoji="0" lang="en-US" altLang="zh-CN" b="1" i="1" baseline="-25000">
                <a:cs typeface="Angsana New" charset="0"/>
              </a:rPr>
              <a:t>i</a:t>
            </a:r>
            <a:r>
              <a:rPr kumimoji="0" lang="en-US" altLang="zh-CN" b="1">
                <a:cs typeface="Angsana New" charset="0"/>
              </a:rPr>
              <a:t>)</a:t>
            </a:r>
            <a:endParaRPr kumimoji="0" lang="en-US" altLang="zh-CN" b="1">
              <a:ea typeface="华文行楷" charset="-122"/>
              <a:cs typeface="Angsana New" charset="0"/>
            </a:endParaRPr>
          </a:p>
        </p:txBody>
      </p:sp>
      <p:sp>
        <p:nvSpPr>
          <p:cNvPr id="324622" name="Line 14"/>
          <p:cNvSpPr>
            <a:spLocks noChangeShapeType="1"/>
          </p:cNvSpPr>
          <p:nvPr/>
        </p:nvSpPr>
        <p:spPr bwMode="auto">
          <a:xfrm>
            <a:off x="2803525" y="4953000"/>
            <a:ext cx="3465513" cy="1588"/>
          </a:xfrm>
          <a:prstGeom prst="line">
            <a:avLst/>
          </a:prstGeom>
          <a:noFill/>
          <a:ln w="38100">
            <a:solidFill>
              <a:schemeClr val="accent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24623" name="Oval 15"/>
          <p:cNvSpPr>
            <a:spLocks noChangeArrowheads="1"/>
          </p:cNvSpPr>
          <p:nvPr/>
        </p:nvSpPr>
        <p:spPr bwMode="auto">
          <a:xfrm>
            <a:off x="2352675" y="4741863"/>
            <a:ext cx="431800" cy="431800"/>
          </a:xfrm>
          <a:prstGeom prst="ellipse">
            <a:avLst/>
          </a:prstGeom>
          <a:noFill/>
          <a:ln w="28575">
            <a:solidFill>
              <a:srgbClr val="008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324624" name="Text Box 16"/>
          <p:cNvSpPr txBox="1">
            <a:spLocks noChangeArrowheads="1"/>
          </p:cNvSpPr>
          <p:nvPr/>
        </p:nvSpPr>
        <p:spPr bwMode="auto">
          <a:xfrm>
            <a:off x="2474913" y="5634038"/>
            <a:ext cx="3667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just">
              <a:lnSpc>
                <a:spcPct val="96000"/>
              </a:lnSpc>
            </a:pPr>
            <a:r>
              <a:rPr kumimoji="0" lang="en-US" altLang="zh-CN" b="1" i="1">
                <a:cs typeface="Angsana New" charset="0"/>
              </a:rPr>
              <a:t>k</a:t>
            </a:r>
            <a:r>
              <a:rPr kumimoji="0" lang="en-US" altLang="zh-CN" b="1" i="1" baseline="-25000">
                <a:cs typeface="Angsana New" charset="0"/>
              </a:rPr>
              <a:t>j</a:t>
            </a:r>
            <a:endParaRPr kumimoji="0" lang="en-US" altLang="zh-CN" b="1">
              <a:latin typeface="Arial" charset="0"/>
              <a:ea typeface="华文行楷" charset="-122"/>
              <a:cs typeface="Angsana New" charset="0"/>
            </a:endParaRPr>
          </a:p>
        </p:txBody>
      </p:sp>
      <p:sp>
        <p:nvSpPr>
          <p:cNvPr id="324625" name="Oval 17"/>
          <p:cNvSpPr>
            <a:spLocks noChangeArrowheads="1"/>
          </p:cNvSpPr>
          <p:nvPr/>
        </p:nvSpPr>
        <p:spPr bwMode="auto">
          <a:xfrm>
            <a:off x="2384425" y="5602288"/>
            <a:ext cx="431800" cy="431800"/>
          </a:xfrm>
          <a:prstGeom prst="ellipse">
            <a:avLst/>
          </a:prstGeom>
          <a:noFill/>
          <a:ln w="28575">
            <a:solidFill>
              <a:srgbClr val="008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324626" name="Line 18"/>
          <p:cNvSpPr>
            <a:spLocks noChangeShapeType="1"/>
          </p:cNvSpPr>
          <p:nvPr/>
        </p:nvSpPr>
        <p:spPr bwMode="auto">
          <a:xfrm flipV="1">
            <a:off x="2809875" y="5100638"/>
            <a:ext cx="3465513" cy="676275"/>
          </a:xfrm>
          <a:prstGeom prst="line">
            <a:avLst/>
          </a:prstGeom>
          <a:noFill/>
          <a:ln w="38100">
            <a:solidFill>
              <a:schemeClr val="accent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24627" name="Text Box 19"/>
          <p:cNvSpPr txBox="1">
            <a:spLocks noChangeArrowheads="1"/>
          </p:cNvSpPr>
          <p:nvPr/>
        </p:nvSpPr>
        <p:spPr bwMode="auto">
          <a:xfrm>
            <a:off x="4076700" y="5543550"/>
            <a:ext cx="787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nSpc>
                <a:spcPct val="96000"/>
              </a:lnSpc>
            </a:pPr>
            <a:r>
              <a:rPr kumimoji="0" lang="en-US" altLang="zh-CN" b="1" i="1">
                <a:cs typeface="Angsana New" charset="0"/>
              </a:rPr>
              <a:t>H</a:t>
            </a:r>
            <a:r>
              <a:rPr kumimoji="0" lang="en-US" altLang="zh-CN" b="1">
                <a:cs typeface="Angsana New" charset="0"/>
              </a:rPr>
              <a:t>(</a:t>
            </a:r>
            <a:r>
              <a:rPr kumimoji="0" lang="en-US" altLang="zh-CN" b="1" i="1">
                <a:cs typeface="Angsana New" charset="0"/>
              </a:rPr>
              <a:t>k</a:t>
            </a:r>
            <a:r>
              <a:rPr kumimoji="0" lang="en-US" altLang="zh-CN" b="1" i="1" baseline="-25000">
                <a:cs typeface="Angsana New" charset="0"/>
              </a:rPr>
              <a:t>j</a:t>
            </a:r>
            <a:r>
              <a:rPr kumimoji="0" lang="en-US" altLang="zh-CN" b="1">
                <a:cs typeface="Angsana New" charset="0"/>
              </a:rPr>
              <a:t>)</a:t>
            </a:r>
            <a:endParaRPr kumimoji="0" lang="en-US" altLang="zh-CN" b="1">
              <a:ea typeface="华文行楷" charset="-122"/>
              <a:cs typeface="Angsana New" charset="0"/>
            </a:endParaRPr>
          </a:p>
        </p:txBody>
      </p:sp>
    </p:spTree>
    <p:extLst>
      <p:ext uri="{BB962C8B-B14F-4D97-AF65-F5344CB8AC3E}">
        <p14:creationId xmlns:p14="http://schemas.microsoft.com/office/powerpoint/2010/main" val="16629446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4610"/>
                                        </p:tgtEl>
                                        <p:attrNameLst>
                                          <p:attrName>style.visibility</p:attrName>
                                        </p:attrNameLst>
                                      </p:cBhvr>
                                      <p:to>
                                        <p:strVal val="visible"/>
                                      </p:to>
                                    </p:set>
                                    <p:animEffect transition="in" filter="dissolve">
                                      <p:cBhvr>
                                        <p:cTn id="7" dur="500"/>
                                        <p:tgtEl>
                                          <p:spTgt spid="324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0" grpId="0" autoUpdateAnimBg="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Text Box 2"/>
          <p:cNvSpPr txBox="1">
            <a:spLocks noChangeArrowheads="1"/>
          </p:cNvSpPr>
          <p:nvPr/>
        </p:nvSpPr>
        <p:spPr bwMode="auto">
          <a:xfrm>
            <a:off x="152400" y="1079500"/>
            <a:ext cx="6400800" cy="579438"/>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spcBef>
                <a:spcPct val="50000"/>
              </a:spcBef>
            </a:pPr>
            <a:r>
              <a:rPr kumimoji="0" lang="zh-CN" altLang="en-US" sz="3200" b="1">
                <a:solidFill>
                  <a:srgbClr val="0033CC"/>
                </a:solidFill>
                <a:latin typeface="宋体" charset="-122"/>
              </a:rPr>
              <a:t>哈希函数</a:t>
            </a:r>
            <a:endParaRPr kumimoji="0" lang="zh-CN" altLang="en-US" sz="3200" b="1">
              <a:solidFill>
                <a:srgbClr val="0033CC"/>
              </a:solidFill>
            </a:endParaRPr>
          </a:p>
        </p:txBody>
      </p:sp>
      <p:sp>
        <p:nvSpPr>
          <p:cNvPr id="325636" name="Text Box 4"/>
          <p:cNvSpPr txBox="1">
            <a:spLocks noChangeArrowheads="1"/>
          </p:cNvSpPr>
          <p:nvPr/>
        </p:nvSpPr>
        <p:spPr bwMode="auto">
          <a:xfrm>
            <a:off x="355600" y="1943100"/>
            <a:ext cx="8280400" cy="3168650"/>
          </a:xfrm>
          <a:prstGeom prst="rect">
            <a:avLst/>
          </a:prstGeom>
          <a:noFill/>
          <a:ln>
            <a:noFill/>
          </a:ln>
          <a:effectLst>
            <a:outerShdw blurRad="63500" dist="29783" dir="1514402"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120000"/>
              </a:lnSpc>
            </a:pPr>
            <a:r>
              <a:rPr kumimoji="0" lang="zh-CN" altLang="en-US" sz="2800" b="1">
                <a:latin typeface="华文楷体" charset="-122"/>
                <a:ea typeface="华文楷体" charset="-122"/>
              </a:rPr>
              <a:t>设计哈希函数一般应遵循以下原则：</a:t>
            </a:r>
          </a:p>
          <a:p>
            <a:pPr>
              <a:lnSpc>
                <a:spcPct val="120000"/>
              </a:lnSpc>
            </a:pPr>
            <a:r>
              <a:rPr kumimoji="0" lang="zh-CN" altLang="en-US" sz="2800" b="1">
                <a:latin typeface="华文楷体" charset="-122"/>
                <a:ea typeface="华文楷体" charset="-122"/>
              </a:rPr>
              <a:t>⑴ 计算</a:t>
            </a:r>
            <a:r>
              <a:rPr kumimoji="0" lang="zh-CN" altLang="en-US" sz="2800" b="1">
                <a:solidFill>
                  <a:srgbClr val="FF3300"/>
                </a:solidFill>
                <a:latin typeface="华文楷体" charset="-122"/>
                <a:ea typeface="华文楷体" charset="-122"/>
              </a:rPr>
              <a:t>简单</a:t>
            </a:r>
            <a:r>
              <a:rPr kumimoji="0" lang="zh-CN" altLang="en-US" sz="2800" b="1">
                <a:latin typeface="华文楷体" charset="-122"/>
                <a:ea typeface="华文楷体" charset="-122"/>
              </a:rPr>
              <a:t>。哈希函数不应该有很大的计算量，否则会降低查找效率。</a:t>
            </a:r>
          </a:p>
          <a:p>
            <a:pPr>
              <a:lnSpc>
                <a:spcPct val="120000"/>
              </a:lnSpc>
            </a:pPr>
            <a:r>
              <a:rPr kumimoji="0" lang="zh-CN" altLang="en-US" sz="2800" b="1">
                <a:latin typeface="华文楷体" charset="-122"/>
                <a:ea typeface="华文楷体" charset="-122"/>
              </a:rPr>
              <a:t>⑵ 函数值即哈希地址分布</a:t>
            </a:r>
            <a:r>
              <a:rPr kumimoji="0" lang="zh-CN" altLang="en-US" sz="2800" b="1">
                <a:solidFill>
                  <a:srgbClr val="FF3300"/>
                </a:solidFill>
                <a:latin typeface="华文楷体" charset="-122"/>
                <a:ea typeface="华文楷体" charset="-122"/>
              </a:rPr>
              <a:t>均匀</a:t>
            </a:r>
            <a:r>
              <a:rPr kumimoji="0" lang="zh-CN" altLang="en-US" sz="2800" b="1">
                <a:latin typeface="华文楷体" charset="-122"/>
                <a:ea typeface="华文楷体" charset="-122"/>
              </a:rPr>
              <a:t>。函数值要尽量均匀散布在地址空间，这样才能保证存储空间的有效利用并减少冲突。</a:t>
            </a:r>
          </a:p>
        </p:txBody>
      </p:sp>
    </p:spTree>
    <p:extLst>
      <p:ext uri="{BB962C8B-B14F-4D97-AF65-F5344CB8AC3E}">
        <p14:creationId xmlns:p14="http://schemas.microsoft.com/office/powerpoint/2010/main" val="15469197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ext Box 2"/>
          <p:cNvSpPr txBox="1">
            <a:spLocks noChangeArrowheads="1"/>
          </p:cNvSpPr>
          <p:nvPr/>
        </p:nvSpPr>
        <p:spPr bwMode="auto">
          <a:xfrm>
            <a:off x="663575" y="914400"/>
            <a:ext cx="8328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A50021"/>
                </a:solidFill>
                <a:ea typeface="楷体_GB2312" charset="0"/>
              </a:rPr>
              <a:t>{</a:t>
            </a:r>
            <a:r>
              <a:rPr lang="en-US" altLang="zh-CN" sz="3200" b="1">
                <a:solidFill>
                  <a:srgbClr val="FF00FF"/>
                </a:solidFill>
                <a:ea typeface="楷体_GB2312" charset="0"/>
              </a:rPr>
              <a:t>Z</a:t>
            </a:r>
            <a:r>
              <a:rPr lang="en-US" altLang="zh-CN" sz="3200">
                <a:solidFill>
                  <a:srgbClr val="A50021"/>
                </a:solidFill>
                <a:ea typeface="楷体_GB2312" charset="0"/>
              </a:rPr>
              <a:t>hao, </a:t>
            </a:r>
            <a:r>
              <a:rPr lang="en-US" altLang="zh-CN" sz="3200" b="1">
                <a:solidFill>
                  <a:srgbClr val="FF00FF"/>
                </a:solidFill>
                <a:ea typeface="楷体_GB2312" charset="0"/>
              </a:rPr>
              <a:t>Q</a:t>
            </a:r>
            <a:r>
              <a:rPr lang="en-US" altLang="zh-CN" sz="3200">
                <a:solidFill>
                  <a:srgbClr val="A50021"/>
                </a:solidFill>
                <a:ea typeface="楷体_GB2312" charset="0"/>
              </a:rPr>
              <a:t>ian,</a:t>
            </a:r>
            <a:r>
              <a:rPr lang="en-US" altLang="zh-CN" sz="3200">
                <a:solidFill>
                  <a:srgbClr val="FF00FF"/>
                </a:solidFill>
                <a:ea typeface="楷体_GB2312" charset="0"/>
              </a:rPr>
              <a:t> </a:t>
            </a:r>
            <a:r>
              <a:rPr lang="en-US" altLang="zh-CN" sz="3200" b="1">
                <a:solidFill>
                  <a:srgbClr val="FF00FF"/>
                </a:solidFill>
                <a:ea typeface="楷体_GB2312" charset="0"/>
              </a:rPr>
              <a:t>S</a:t>
            </a:r>
            <a:r>
              <a:rPr lang="en-US" altLang="zh-CN" sz="3200">
                <a:solidFill>
                  <a:srgbClr val="A50021"/>
                </a:solidFill>
                <a:ea typeface="楷体_GB2312" charset="0"/>
              </a:rPr>
              <a:t>un, </a:t>
            </a:r>
            <a:r>
              <a:rPr lang="en-US" altLang="zh-CN" sz="3200" b="1">
                <a:solidFill>
                  <a:srgbClr val="FF00FF"/>
                </a:solidFill>
                <a:ea typeface="楷体_GB2312" charset="0"/>
              </a:rPr>
              <a:t>L</a:t>
            </a:r>
            <a:r>
              <a:rPr lang="en-US" altLang="zh-CN" sz="3200">
                <a:solidFill>
                  <a:srgbClr val="A50021"/>
                </a:solidFill>
                <a:ea typeface="楷体_GB2312" charset="0"/>
              </a:rPr>
              <a:t>i, </a:t>
            </a:r>
            <a:r>
              <a:rPr lang="en-US" altLang="zh-CN" sz="3200" b="1">
                <a:solidFill>
                  <a:srgbClr val="FF00FF"/>
                </a:solidFill>
                <a:ea typeface="楷体_GB2312" charset="0"/>
              </a:rPr>
              <a:t>W</a:t>
            </a:r>
            <a:r>
              <a:rPr lang="en-US" altLang="zh-CN" sz="3200">
                <a:solidFill>
                  <a:srgbClr val="A50021"/>
                </a:solidFill>
                <a:ea typeface="楷体_GB2312" charset="0"/>
              </a:rPr>
              <a:t>u, </a:t>
            </a:r>
            <a:r>
              <a:rPr lang="en-US" altLang="zh-CN" sz="3200" b="1">
                <a:solidFill>
                  <a:srgbClr val="FF00FF"/>
                </a:solidFill>
                <a:ea typeface="楷体_GB2312" charset="0"/>
              </a:rPr>
              <a:t>C</a:t>
            </a:r>
            <a:r>
              <a:rPr lang="en-US" altLang="zh-CN" sz="3200">
                <a:solidFill>
                  <a:srgbClr val="A50021"/>
                </a:solidFill>
                <a:ea typeface="楷体_GB2312" charset="0"/>
              </a:rPr>
              <a:t>hen, </a:t>
            </a:r>
            <a:r>
              <a:rPr lang="en-US" altLang="zh-CN" sz="3200" b="1">
                <a:solidFill>
                  <a:srgbClr val="FF00FF"/>
                </a:solidFill>
                <a:ea typeface="楷体_GB2312" charset="0"/>
              </a:rPr>
              <a:t>H</a:t>
            </a:r>
            <a:r>
              <a:rPr lang="en-US" altLang="zh-CN" sz="3200">
                <a:solidFill>
                  <a:srgbClr val="A50021"/>
                </a:solidFill>
                <a:ea typeface="楷体_GB2312" charset="0"/>
              </a:rPr>
              <a:t>an, </a:t>
            </a:r>
            <a:r>
              <a:rPr lang="en-US" altLang="zh-CN" sz="3200" b="1">
                <a:solidFill>
                  <a:srgbClr val="FF00FF"/>
                </a:solidFill>
                <a:ea typeface="楷体_GB2312" charset="0"/>
              </a:rPr>
              <a:t>Y</a:t>
            </a:r>
            <a:r>
              <a:rPr lang="en-US" altLang="zh-CN" sz="3200">
                <a:solidFill>
                  <a:srgbClr val="A50021"/>
                </a:solidFill>
                <a:ea typeface="楷体_GB2312" charset="0"/>
              </a:rPr>
              <a:t>e, </a:t>
            </a:r>
            <a:r>
              <a:rPr lang="en-US" altLang="zh-CN" sz="3200" b="1">
                <a:solidFill>
                  <a:srgbClr val="FF00FF"/>
                </a:solidFill>
                <a:ea typeface="楷体_GB2312" charset="0"/>
              </a:rPr>
              <a:t>D</a:t>
            </a:r>
            <a:r>
              <a:rPr lang="en-US" altLang="zh-CN" sz="3200">
                <a:solidFill>
                  <a:srgbClr val="A50021"/>
                </a:solidFill>
                <a:ea typeface="楷体_GB2312" charset="0"/>
              </a:rPr>
              <a:t>ei</a:t>
            </a:r>
            <a:r>
              <a:rPr lang="en-US" altLang="zh-CN" sz="3600">
                <a:solidFill>
                  <a:srgbClr val="A50021"/>
                </a:solidFill>
                <a:ea typeface="楷体_GB2312" charset="0"/>
              </a:rPr>
              <a:t>}</a:t>
            </a:r>
            <a:r>
              <a:rPr lang="en-US" altLang="zh-CN" sz="3600">
                <a:ea typeface="楷体_GB2312" charset="0"/>
              </a:rPr>
              <a:t> </a:t>
            </a:r>
            <a:endParaRPr lang="en-US" altLang="zh-CN" sz="4000"/>
          </a:p>
        </p:txBody>
      </p:sp>
      <p:sp>
        <p:nvSpPr>
          <p:cNvPr id="141315" name="Text Box 3"/>
          <p:cNvSpPr txBox="1">
            <a:spLocks noChangeArrowheads="1"/>
          </p:cNvSpPr>
          <p:nvPr/>
        </p:nvSpPr>
        <p:spPr bwMode="auto">
          <a:xfrm>
            <a:off x="457200" y="228600"/>
            <a:ext cx="5822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a:solidFill>
                  <a:srgbClr val="990033"/>
                </a:solidFill>
                <a:ea typeface="隶书" charset="0"/>
              </a:rPr>
              <a:t>例如：</a:t>
            </a:r>
            <a:r>
              <a:rPr lang="zh-CN" altLang="en-US" sz="3600">
                <a:solidFill>
                  <a:srgbClr val="A50021"/>
                </a:solidFill>
                <a:ea typeface="楷体_GB2312" charset="0"/>
              </a:rPr>
              <a:t>对于如下 </a:t>
            </a:r>
            <a:r>
              <a:rPr lang="en-US" altLang="zh-CN" sz="3600">
                <a:solidFill>
                  <a:srgbClr val="A50021"/>
                </a:solidFill>
                <a:ea typeface="楷体_GB2312" charset="0"/>
              </a:rPr>
              <a:t>9 </a:t>
            </a:r>
            <a:r>
              <a:rPr lang="zh-CN" altLang="en-US" sz="3600">
                <a:solidFill>
                  <a:srgbClr val="A50021"/>
                </a:solidFill>
                <a:ea typeface="楷体_GB2312" charset="0"/>
              </a:rPr>
              <a:t>个关键字</a:t>
            </a:r>
            <a:endParaRPr lang="zh-CN" altLang="en-US" sz="4000">
              <a:solidFill>
                <a:srgbClr val="A50021"/>
              </a:solidFill>
              <a:ea typeface="楷体_GB2312" charset="0"/>
            </a:endParaRPr>
          </a:p>
        </p:txBody>
      </p:sp>
      <p:sp>
        <p:nvSpPr>
          <p:cNvPr id="141316" name="Text Box 4"/>
          <p:cNvSpPr txBox="1">
            <a:spLocks noChangeArrowheads="1"/>
          </p:cNvSpPr>
          <p:nvPr/>
        </p:nvSpPr>
        <p:spPr bwMode="auto">
          <a:xfrm>
            <a:off x="660400" y="1752600"/>
            <a:ext cx="76454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zh-CN" altLang="en-US" sz="3600" b="1">
                <a:solidFill>
                  <a:srgbClr val="A50021"/>
                </a:solidFill>
                <a:ea typeface="楷体_GB2312" charset="0"/>
              </a:rPr>
              <a:t>设</a:t>
            </a:r>
            <a:r>
              <a:rPr lang="zh-CN" altLang="en-US" sz="3600" b="1">
                <a:ea typeface="楷体_GB2312" charset="0"/>
              </a:rPr>
              <a:t> </a:t>
            </a:r>
            <a:r>
              <a:rPr lang="zh-CN" altLang="en-US" sz="3600" b="1">
                <a:solidFill>
                  <a:srgbClr val="A50021"/>
                </a:solidFill>
                <a:ea typeface="楷体_GB2312" charset="0"/>
              </a:rPr>
              <a:t>哈希函数 </a:t>
            </a:r>
            <a:r>
              <a:rPr lang="en-US" altLang="zh-CN" sz="3600" b="1">
                <a:solidFill>
                  <a:srgbClr val="CC6600"/>
                </a:solidFill>
                <a:ea typeface="楷体_GB2312" charset="0"/>
              </a:rPr>
              <a:t>f(key) =</a:t>
            </a:r>
          </a:p>
          <a:p>
            <a:pPr>
              <a:lnSpc>
                <a:spcPct val="125000"/>
              </a:lnSpc>
            </a:pPr>
            <a:r>
              <a:rPr lang="en-US" altLang="zh-CN" sz="3600" b="1">
                <a:solidFill>
                  <a:srgbClr val="CC6600"/>
                </a:solidFill>
                <a:ea typeface="楷体_GB2312" charset="0"/>
              </a:rPr>
              <a:t>     </a:t>
            </a:r>
            <a:r>
              <a:rPr lang="en-US" altLang="zh-CN" sz="3600" b="1">
                <a:solidFill>
                  <a:srgbClr val="CC6600"/>
                </a:solidFill>
                <a:ea typeface="楷体_GB2312" charset="0"/>
                <a:sym typeface="Symbol" charset="2"/>
              </a:rPr>
              <a:t></a:t>
            </a:r>
            <a:r>
              <a:rPr lang="en-US" altLang="zh-CN" sz="3600" b="1">
                <a:solidFill>
                  <a:srgbClr val="CC6600"/>
                </a:solidFill>
                <a:ea typeface="楷体_GB2312" charset="0"/>
              </a:rPr>
              <a:t>(Ord(</a:t>
            </a:r>
            <a:r>
              <a:rPr lang="zh-CN" altLang="en-US" sz="3600" b="1">
                <a:solidFill>
                  <a:srgbClr val="CC6600"/>
                </a:solidFill>
                <a:ea typeface="楷体_GB2312" charset="0"/>
              </a:rPr>
              <a:t>第一个字母</a:t>
            </a:r>
            <a:r>
              <a:rPr lang="en-US" altLang="zh-CN" sz="3600" b="1">
                <a:solidFill>
                  <a:srgbClr val="CC6600"/>
                </a:solidFill>
                <a:ea typeface="楷体_GB2312" charset="0"/>
              </a:rPr>
              <a:t>) -Ord('A')+1)/2</a:t>
            </a:r>
            <a:r>
              <a:rPr lang="en-US" altLang="zh-CN" sz="3600" b="1">
                <a:solidFill>
                  <a:srgbClr val="CC6600"/>
                </a:solidFill>
                <a:ea typeface="楷体_GB2312" charset="0"/>
                <a:sym typeface="Symbol" charset="2"/>
              </a:rPr>
              <a:t></a:t>
            </a:r>
            <a:endParaRPr lang="en-US" altLang="zh-CN" sz="3600" b="1"/>
          </a:p>
        </p:txBody>
      </p:sp>
      <p:graphicFrame>
        <p:nvGraphicFramePr>
          <p:cNvPr id="141321" name="Object 9"/>
          <p:cNvGraphicFramePr>
            <a:graphicFrameLocks noChangeAspect="1"/>
          </p:cNvGraphicFramePr>
          <p:nvPr/>
        </p:nvGraphicFramePr>
        <p:xfrm>
          <a:off x="80963" y="2895600"/>
          <a:ext cx="9139237" cy="2438400"/>
        </p:xfrm>
        <a:graphic>
          <a:graphicData uri="http://schemas.openxmlformats.org/presentationml/2006/ole">
            <mc:AlternateContent xmlns:mc="http://schemas.openxmlformats.org/markup-compatibility/2006">
              <mc:Choice xmlns:v="urn:schemas-microsoft-com:vml" Requires="v">
                <p:oleObj spid="_x0000_s1424386" name="文档" r:id="rId3" imgW="8676720" imgH="760320" progId="Word.Document.8">
                  <p:embed/>
                </p:oleObj>
              </mc:Choice>
              <mc:Fallback>
                <p:oleObj name="文档" r:id="rId3" imgW="8676720" imgH="76032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63" y="2895600"/>
                        <a:ext cx="9139237"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41322" name="Text Box 10"/>
          <p:cNvSpPr txBox="1">
            <a:spLocks noChangeArrowheads="1"/>
          </p:cNvSpPr>
          <p:nvPr/>
        </p:nvSpPr>
        <p:spPr bwMode="auto">
          <a:xfrm>
            <a:off x="609600" y="4256088"/>
            <a:ext cx="879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b="1">
                <a:solidFill>
                  <a:srgbClr val="A50021"/>
                </a:solidFill>
              </a:rPr>
              <a:t>Chen</a:t>
            </a:r>
            <a:endParaRPr lang="en-US" altLang="zh-CN"/>
          </a:p>
        </p:txBody>
      </p:sp>
      <p:sp>
        <p:nvSpPr>
          <p:cNvPr id="141323" name="Text Box 11"/>
          <p:cNvSpPr txBox="1">
            <a:spLocks noChangeArrowheads="1"/>
          </p:cNvSpPr>
          <p:nvPr/>
        </p:nvSpPr>
        <p:spPr bwMode="auto">
          <a:xfrm>
            <a:off x="8229600" y="4267200"/>
            <a:ext cx="862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b="1">
                <a:solidFill>
                  <a:srgbClr val="A50021"/>
                </a:solidFill>
              </a:rPr>
              <a:t>Zhao</a:t>
            </a:r>
            <a:endParaRPr lang="en-US" altLang="zh-CN"/>
          </a:p>
        </p:txBody>
      </p:sp>
      <p:sp>
        <p:nvSpPr>
          <p:cNvPr id="141324" name="Text Box 12"/>
          <p:cNvSpPr txBox="1">
            <a:spLocks noChangeArrowheads="1"/>
          </p:cNvSpPr>
          <p:nvPr/>
        </p:nvSpPr>
        <p:spPr bwMode="auto">
          <a:xfrm>
            <a:off x="5029200" y="4267200"/>
            <a:ext cx="827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b="1">
                <a:solidFill>
                  <a:srgbClr val="A50021"/>
                </a:solidFill>
              </a:rPr>
              <a:t>Qian</a:t>
            </a:r>
            <a:endParaRPr lang="en-US" altLang="zh-CN"/>
          </a:p>
        </p:txBody>
      </p:sp>
      <p:sp>
        <p:nvSpPr>
          <p:cNvPr id="141325" name="Text Box 13"/>
          <p:cNvSpPr txBox="1">
            <a:spLocks noChangeArrowheads="1"/>
          </p:cNvSpPr>
          <p:nvPr/>
        </p:nvSpPr>
        <p:spPr bwMode="auto">
          <a:xfrm>
            <a:off x="5715000" y="4267200"/>
            <a:ext cx="693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b="1">
                <a:solidFill>
                  <a:srgbClr val="A50021"/>
                </a:solidFill>
              </a:rPr>
              <a:t>Sun</a:t>
            </a:r>
            <a:endParaRPr lang="en-US" altLang="zh-CN"/>
          </a:p>
        </p:txBody>
      </p:sp>
      <p:sp>
        <p:nvSpPr>
          <p:cNvPr id="141326" name="Text Box 14"/>
          <p:cNvSpPr txBox="1">
            <a:spLocks noChangeArrowheads="1"/>
          </p:cNvSpPr>
          <p:nvPr/>
        </p:nvSpPr>
        <p:spPr bwMode="auto">
          <a:xfrm>
            <a:off x="3886200" y="4256088"/>
            <a:ext cx="471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b="1">
                <a:solidFill>
                  <a:srgbClr val="A50021"/>
                </a:solidFill>
              </a:rPr>
              <a:t>Li</a:t>
            </a:r>
            <a:endParaRPr lang="en-US" altLang="zh-CN"/>
          </a:p>
        </p:txBody>
      </p:sp>
      <p:sp>
        <p:nvSpPr>
          <p:cNvPr id="141327" name="Text Box 15"/>
          <p:cNvSpPr txBox="1">
            <a:spLocks noChangeArrowheads="1"/>
          </p:cNvSpPr>
          <p:nvPr/>
        </p:nvSpPr>
        <p:spPr bwMode="auto">
          <a:xfrm>
            <a:off x="7037388" y="4256088"/>
            <a:ext cx="658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b="1">
                <a:solidFill>
                  <a:srgbClr val="A50021"/>
                </a:solidFill>
              </a:rPr>
              <a:t>Wu</a:t>
            </a:r>
            <a:endParaRPr lang="en-US" altLang="zh-CN"/>
          </a:p>
        </p:txBody>
      </p:sp>
      <p:sp>
        <p:nvSpPr>
          <p:cNvPr id="141328" name="Text Box 16"/>
          <p:cNvSpPr txBox="1">
            <a:spLocks noChangeArrowheads="1"/>
          </p:cNvSpPr>
          <p:nvPr/>
        </p:nvSpPr>
        <p:spPr bwMode="auto">
          <a:xfrm>
            <a:off x="2590800" y="4256088"/>
            <a:ext cx="742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b="1">
                <a:solidFill>
                  <a:srgbClr val="A50021"/>
                </a:solidFill>
              </a:rPr>
              <a:t>Han</a:t>
            </a:r>
            <a:endParaRPr lang="en-US" altLang="zh-CN"/>
          </a:p>
        </p:txBody>
      </p:sp>
      <p:sp>
        <p:nvSpPr>
          <p:cNvPr id="141329" name="Text Box 17"/>
          <p:cNvSpPr txBox="1">
            <a:spLocks noChangeArrowheads="1"/>
          </p:cNvSpPr>
          <p:nvPr/>
        </p:nvSpPr>
        <p:spPr bwMode="auto">
          <a:xfrm>
            <a:off x="7689850" y="4256088"/>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b="1">
                <a:solidFill>
                  <a:srgbClr val="A50021"/>
                </a:solidFill>
              </a:rPr>
              <a:t>Ye</a:t>
            </a:r>
            <a:endParaRPr lang="en-US" altLang="zh-CN"/>
          </a:p>
        </p:txBody>
      </p:sp>
      <p:sp>
        <p:nvSpPr>
          <p:cNvPr id="141330" name="Text Box 18"/>
          <p:cNvSpPr txBox="1">
            <a:spLocks noChangeArrowheads="1"/>
          </p:cNvSpPr>
          <p:nvPr/>
        </p:nvSpPr>
        <p:spPr bwMode="auto">
          <a:xfrm>
            <a:off x="1357313" y="4256088"/>
            <a:ext cx="623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b="1">
                <a:solidFill>
                  <a:srgbClr val="A50021"/>
                </a:solidFill>
              </a:rPr>
              <a:t>Dei</a:t>
            </a:r>
            <a:endParaRPr lang="en-US" altLang="zh-CN"/>
          </a:p>
        </p:txBody>
      </p:sp>
      <p:sp>
        <p:nvSpPr>
          <p:cNvPr id="141331" name="Text Box 19"/>
          <p:cNvSpPr txBox="1">
            <a:spLocks noChangeArrowheads="1"/>
          </p:cNvSpPr>
          <p:nvPr/>
        </p:nvSpPr>
        <p:spPr bwMode="auto">
          <a:xfrm>
            <a:off x="288925" y="5105400"/>
            <a:ext cx="74533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FF00FF"/>
                </a:solidFill>
                <a:ea typeface="隶书" charset="0"/>
              </a:rPr>
              <a:t>问题</a:t>
            </a:r>
            <a:r>
              <a:rPr lang="en-US" altLang="zh-CN" sz="3600" b="1">
                <a:solidFill>
                  <a:srgbClr val="FF00FF"/>
                </a:solidFill>
                <a:ea typeface="隶书" charset="0"/>
              </a:rPr>
              <a:t>:</a:t>
            </a:r>
            <a:r>
              <a:rPr lang="en-US" altLang="zh-CN" sz="3600">
                <a:solidFill>
                  <a:srgbClr val="A50021"/>
                </a:solidFill>
                <a:ea typeface="隶书" charset="0"/>
              </a:rPr>
              <a:t>  </a:t>
            </a:r>
            <a:r>
              <a:rPr lang="zh-CN" altLang="en-US" sz="3600">
                <a:solidFill>
                  <a:srgbClr val="A50021"/>
                </a:solidFill>
                <a:ea typeface="隶书" charset="0"/>
              </a:rPr>
              <a:t>若添加关键字 </a:t>
            </a:r>
            <a:r>
              <a:rPr lang="en-US" altLang="zh-CN" sz="3200" b="1">
                <a:solidFill>
                  <a:srgbClr val="FF0000"/>
                </a:solidFill>
                <a:ea typeface="隶书" charset="0"/>
              </a:rPr>
              <a:t>Z</a:t>
            </a:r>
            <a:r>
              <a:rPr lang="en-US" altLang="zh-CN" sz="3200" b="1">
                <a:solidFill>
                  <a:srgbClr val="A50021"/>
                </a:solidFill>
                <a:ea typeface="隶书" charset="0"/>
              </a:rPr>
              <a:t>hou</a:t>
            </a:r>
            <a:r>
              <a:rPr lang="en-US" altLang="zh-CN" sz="3600" b="1">
                <a:solidFill>
                  <a:srgbClr val="A50021"/>
                </a:solidFill>
                <a:ea typeface="隶书" charset="0"/>
              </a:rPr>
              <a:t> , </a:t>
            </a:r>
            <a:r>
              <a:rPr lang="zh-CN" altLang="en-US" sz="3600" b="1">
                <a:solidFill>
                  <a:srgbClr val="A50021"/>
                </a:solidFill>
                <a:ea typeface="隶书" charset="0"/>
              </a:rPr>
              <a:t>怎么办？</a:t>
            </a:r>
            <a:endParaRPr lang="zh-CN" altLang="en-US" sz="3600">
              <a:ea typeface="隶书" charset="0"/>
            </a:endParaRPr>
          </a:p>
        </p:txBody>
      </p:sp>
      <p:sp>
        <p:nvSpPr>
          <p:cNvPr id="141332" name="Rectangle 20"/>
          <p:cNvSpPr>
            <a:spLocks noChangeArrowheads="1"/>
          </p:cNvSpPr>
          <p:nvPr/>
        </p:nvSpPr>
        <p:spPr bwMode="auto">
          <a:xfrm>
            <a:off x="1555750" y="5867400"/>
            <a:ext cx="5683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rgbClr val="A50021"/>
                </a:solidFill>
                <a:ea typeface="隶书" charset="0"/>
              </a:rPr>
              <a:t>能否找到</a:t>
            </a:r>
            <a:r>
              <a:rPr lang="zh-CN" altLang="en-US" sz="3600">
                <a:solidFill>
                  <a:srgbClr val="A50021"/>
                </a:solidFill>
                <a:ea typeface="隶书" charset="0"/>
              </a:rPr>
              <a:t>另一个哈希函数？</a:t>
            </a:r>
          </a:p>
        </p:txBody>
      </p:sp>
    </p:spTree>
    <p:extLst>
      <p:ext uri="{BB962C8B-B14F-4D97-AF65-F5344CB8AC3E}">
        <p14:creationId xmlns:p14="http://schemas.microsoft.com/office/powerpoint/2010/main" val="14186027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41315"/>
                                        </p:tgtEl>
                                        <p:attrNameLst>
                                          <p:attrName>style.visibility</p:attrName>
                                        </p:attrNameLst>
                                      </p:cBhvr>
                                      <p:to>
                                        <p:strVal val="visible"/>
                                      </p:to>
                                    </p:set>
                                    <p:animEffect transition="in" filter="dissolve">
                                      <p:cBhvr>
                                        <p:cTn id="7" dur="500"/>
                                        <p:tgtEl>
                                          <p:spTgt spid="1413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1314"/>
                                        </p:tgtEl>
                                        <p:attrNameLst>
                                          <p:attrName>style.visibility</p:attrName>
                                        </p:attrNameLst>
                                      </p:cBhvr>
                                      <p:to>
                                        <p:strVal val="visible"/>
                                      </p:to>
                                    </p:set>
                                    <p:animEffect transition="in" filter="wipe(left)">
                                      <p:cBhvr>
                                        <p:cTn id="12" dur="500"/>
                                        <p:tgtEl>
                                          <p:spTgt spid="1413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41316"/>
                                        </p:tgtEl>
                                        <p:attrNameLst>
                                          <p:attrName>style.visibility</p:attrName>
                                        </p:attrNameLst>
                                      </p:cBhvr>
                                      <p:to>
                                        <p:strVal val="visible"/>
                                      </p:to>
                                    </p:set>
                                    <p:animEffect transition="in" filter="wipe(down)">
                                      <p:cBhvr>
                                        <p:cTn id="17" dur="500"/>
                                        <p:tgtEl>
                                          <p:spTgt spid="1413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141321"/>
                                        </p:tgtEl>
                                        <p:attrNameLst>
                                          <p:attrName>style.visibility</p:attrName>
                                        </p:attrNameLst>
                                      </p:cBhvr>
                                      <p:to>
                                        <p:strVal val="visible"/>
                                      </p:to>
                                    </p:set>
                                    <p:anim calcmode="lin" valueType="num">
                                      <p:cBhvr additive="base">
                                        <p:cTn id="22" dur="500" fill="hold"/>
                                        <p:tgtEl>
                                          <p:spTgt spid="141321"/>
                                        </p:tgtEl>
                                        <p:attrNameLst>
                                          <p:attrName>ppt_x</p:attrName>
                                        </p:attrNameLst>
                                      </p:cBhvr>
                                      <p:tavLst>
                                        <p:tav tm="0">
                                          <p:val>
                                            <p:strVal val="0-#ppt_w/2"/>
                                          </p:val>
                                        </p:tav>
                                        <p:tav tm="100000">
                                          <p:val>
                                            <p:strVal val="#ppt_x"/>
                                          </p:val>
                                        </p:tav>
                                      </p:tavLst>
                                    </p:anim>
                                    <p:anim calcmode="lin" valueType="num">
                                      <p:cBhvr additive="base">
                                        <p:cTn id="23" dur="500" fill="hold"/>
                                        <p:tgtEl>
                                          <p:spTgt spid="141321"/>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1" fill="hold" grpId="0" nodeType="clickEffect">
                                  <p:stCondLst>
                                    <p:cond delay="0"/>
                                  </p:stCondLst>
                                  <p:childTnLst>
                                    <p:set>
                                      <p:cBhvr>
                                        <p:cTn id="27" dur="1" fill="hold">
                                          <p:stCondLst>
                                            <p:cond delay="0"/>
                                          </p:stCondLst>
                                        </p:cTn>
                                        <p:tgtEl>
                                          <p:spTgt spid="141323"/>
                                        </p:tgtEl>
                                        <p:attrNameLst>
                                          <p:attrName>style.visibility</p:attrName>
                                        </p:attrNameLst>
                                      </p:cBhvr>
                                      <p:to>
                                        <p:strVal val="visible"/>
                                      </p:to>
                                    </p:set>
                                    <p:animEffect transition="in" filter="slide(fromTop)">
                                      <p:cBhvr>
                                        <p:cTn id="28" dur="500"/>
                                        <p:tgtEl>
                                          <p:spTgt spid="14132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1" fill="hold" grpId="0" nodeType="clickEffect">
                                  <p:stCondLst>
                                    <p:cond delay="0"/>
                                  </p:stCondLst>
                                  <p:childTnLst>
                                    <p:set>
                                      <p:cBhvr>
                                        <p:cTn id="32" dur="1" fill="hold">
                                          <p:stCondLst>
                                            <p:cond delay="0"/>
                                          </p:stCondLst>
                                        </p:cTn>
                                        <p:tgtEl>
                                          <p:spTgt spid="141324"/>
                                        </p:tgtEl>
                                        <p:attrNameLst>
                                          <p:attrName>style.visibility</p:attrName>
                                        </p:attrNameLst>
                                      </p:cBhvr>
                                      <p:to>
                                        <p:strVal val="visible"/>
                                      </p:to>
                                    </p:set>
                                    <p:animEffect transition="in" filter="slide(fromTop)">
                                      <p:cBhvr>
                                        <p:cTn id="33" dur="500"/>
                                        <p:tgtEl>
                                          <p:spTgt spid="14132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1" fill="hold" grpId="0" nodeType="clickEffect">
                                  <p:stCondLst>
                                    <p:cond delay="0"/>
                                  </p:stCondLst>
                                  <p:childTnLst>
                                    <p:set>
                                      <p:cBhvr>
                                        <p:cTn id="37" dur="1" fill="hold">
                                          <p:stCondLst>
                                            <p:cond delay="0"/>
                                          </p:stCondLst>
                                        </p:cTn>
                                        <p:tgtEl>
                                          <p:spTgt spid="141325"/>
                                        </p:tgtEl>
                                        <p:attrNameLst>
                                          <p:attrName>style.visibility</p:attrName>
                                        </p:attrNameLst>
                                      </p:cBhvr>
                                      <p:to>
                                        <p:strVal val="visible"/>
                                      </p:to>
                                    </p:set>
                                    <p:animEffect transition="in" filter="slide(fromTop)">
                                      <p:cBhvr>
                                        <p:cTn id="38" dur="500"/>
                                        <p:tgtEl>
                                          <p:spTgt spid="14132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1" fill="hold" grpId="0" nodeType="clickEffect">
                                  <p:stCondLst>
                                    <p:cond delay="0"/>
                                  </p:stCondLst>
                                  <p:childTnLst>
                                    <p:set>
                                      <p:cBhvr>
                                        <p:cTn id="42" dur="1" fill="hold">
                                          <p:stCondLst>
                                            <p:cond delay="0"/>
                                          </p:stCondLst>
                                        </p:cTn>
                                        <p:tgtEl>
                                          <p:spTgt spid="141326"/>
                                        </p:tgtEl>
                                        <p:attrNameLst>
                                          <p:attrName>style.visibility</p:attrName>
                                        </p:attrNameLst>
                                      </p:cBhvr>
                                      <p:to>
                                        <p:strVal val="visible"/>
                                      </p:to>
                                    </p:set>
                                    <p:animEffect transition="in" filter="slide(fromTop)">
                                      <p:cBhvr>
                                        <p:cTn id="43" dur="500"/>
                                        <p:tgtEl>
                                          <p:spTgt spid="14132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2" presetClass="entr" presetSubtype="1" fill="hold" grpId="0" nodeType="clickEffect">
                                  <p:stCondLst>
                                    <p:cond delay="0"/>
                                  </p:stCondLst>
                                  <p:childTnLst>
                                    <p:set>
                                      <p:cBhvr>
                                        <p:cTn id="47" dur="1" fill="hold">
                                          <p:stCondLst>
                                            <p:cond delay="0"/>
                                          </p:stCondLst>
                                        </p:cTn>
                                        <p:tgtEl>
                                          <p:spTgt spid="141327"/>
                                        </p:tgtEl>
                                        <p:attrNameLst>
                                          <p:attrName>style.visibility</p:attrName>
                                        </p:attrNameLst>
                                      </p:cBhvr>
                                      <p:to>
                                        <p:strVal val="visible"/>
                                      </p:to>
                                    </p:set>
                                    <p:animEffect transition="in" filter="slide(fromTop)">
                                      <p:cBhvr>
                                        <p:cTn id="48" dur="500"/>
                                        <p:tgtEl>
                                          <p:spTgt spid="14132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2" presetClass="entr" presetSubtype="1" fill="hold" grpId="0" nodeType="clickEffect">
                                  <p:stCondLst>
                                    <p:cond delay="0"/>
                                  </p:stCondLst>
                                  <p:childTnLst>
                                    <p:set>
                                      <p:cBhvr>
                                        <p:cTn id="52" dur="1" fill="hold">
                                          <p:stCondLst>
                                            <p:cond delay="0"/>
                                          </p:stCondLst>
                                        </p:cTn>
                                        <p:tgtEl>
                                          <p:spTgt spid="141322"/>
                                        </p:tgtEl>
                                        <p:attrNameLst>
                                          <p:attrName>style.visibility</p:attrName>
                                        </p:attrNameLst>
                                      </p:cBhvr>
                                      <p:to>
                                        <p:strVal val="visible"/>
                                      </p:to>
                                    </p:set>
                                    <p:animEffect transition="in" filter="slide(fromTop)">
                                      <p:cBhvr>
                                        <p:cTn id="53" dur="500"/>
                                        <p:tgtEl>
                                          <p:spTgt spid="14132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2" presetClass="entr" presetSubtype="1" fill="hold" grpId="0" nodeType="clickEffect">
                                  <p:stCondLst>
                                    <p:cond delay="0"/>
                                  </p:stCondLst>
                                  <p:childTnLst>
                                    <p:set>
                                      <p:cBhvr>
                                        <p:cTn id="57" dur="1" fill="hold">
                                          <p:stCondLst>
                                            <p:cond delay="0"/>
                                          </p:stCondLst>
                                        </p:cTn>
                                        <p:tgtEl>
                                          <p:spTgt spid="141328"/>
                                        </p:tgtEl>
                                        <p:attrNameLst>
                                          <p:attrName>style.visibility</p:attrName>
                                        </p:attrNameLst>
                                      </p:cBhvr>
                                      <p:to>
                                        <p:strVal val="visible"/>
                                      </p:to>
                                    </p:set>
                                    <p:animEffect transition="in" filter="slide(fromTop)">
                                      <p:cBhvr>
                                        <p:cTn id="58" dur="500"/>
                                        <p:tgtEl>
                                          <p:spTgt spid="141328"/>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2" presetClass="entr" presetSubtype="1" fill="hold" grpId="0" nodeType="clickEffect">
                                  <p:stCondLst>
                                    <p:cond delay="0"/>
                                  </p:stCondLst>
                                  <p:childTnLst>
                                    <p:set>
                                      <p:cBhvr>
                                        <p:cTn id="62" dur="1" fill="hold">
                                          <p:stCondLst>
                                            <p:cond delay="0"/>
                                          </p:stCondLst>
                                        </p:cTn>
                                        <p:tgtEl>
                                          <p:spTgt spid="141329"/>
                                        </p:tgtEl>
                                        <p:attrNameLst>
                                          <p:attrName>style.visibility</p:attrName>
                                        </p:attrNameLst>
                                      </p:cBhvr>
                                      <p:to>
                                        <p:strVal val="visible"/>
                                      </p:to>
                                    </p:set>
                                    <p:animEffect transition="in" filter="slide(fromTop)">
                                      <p:cBhvr>
                                        <p:cTn id="63" dur="500"/>
                                        <p:tgtEl>
                                          <p:spTgt spid="141329"/>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2" presetClass="entr" presetSubtype="1" fill="hold" grpId="0" nodeType="clickEffect">
                                  <p:stCondLst>
                                    <p:cond delay="0"/>
                                  </p:stCondLst>
                                  <p:childTnLst>
                                    <p:set>
                                      <p:cBhvr>
                                        <p:cTn id="67" dur="1" fill="hold">
                                          <p:stCondLst>
                                            <p:cond delay="0"/>
                                          </p:stCondLst>
                                        </p:cTn>
                                        <p:tgtEl>
                                          <p:spTgt spid="141330"/>
                                        </p:tgtEl>
                                        <p:attrNameLst>
                                          <p:attrName>style.visibility</p:attrName>
                                        </p:attrNameLst>
                                      </p:cBhvr>
                                      <p:to>
                                        <p:strVal val="visible"/>
                                      </p:to>
                                    </p:set>
                                    <p:animEffect transition="in" filter="slide(fromTop)">
                                      <p:cBhvr>
                                        <p:cTn id="68" dur="500"/>
                                        <p:tgtEl>
                                          <p:spTgt spid="141330"/>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41331"/>
                                        </p:tgtEl>
                                        <p:attrNameLst>
                                          <p:attrName>style.visibility</p:attrName>
                                        </p:attrNameLst>
                                      </p:cBhvr>
                                      <p:to>
                                        <p:strVal val="visible"/>
                                      </p:to>
                                    </p:set>
                                    <p:animEffect transition="in" filter="wipe(left)">
                                      <p:cBhvr>
                                        <p:cTn id="73" dur="500"/>
                                        <p:tgtEl>
                                          <p:spTgt spid="141331"/>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41332"/>
                                        </p:tgtEl>
                                        <p:attrNameLst>
                                          <p:attrName>style.visibility</p:attrName>
                                        </p:attrNameLst>
                                      </p:cBhvr>
                                      <p:to>
                                        <p:strVal val="visible"/>
                                      </p:to>
                                    </p:set>
                                    <p:animEffect transition="in" filter="wipe(left)">
                                      <p:cBhvr>
                                        <p:cTn id="78" dur="500"/>
                                        <p:tgtEl>
                                          <p:spTgt spid="141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4" grpId="0" autoUpdateAnimBg="0"/>
      <p:bldP spid="141315" grpId="0" autoUpdateAnimBg="0"/>
      <p:bldP spid="141316" grpId="0" autoUpdateAnimBg="0"/>
      <p:bldP spid="141322" grpId="0" autoUpdateAnimBg="0"/>
      <p:bldP spid="141323" grpId="0" autoUpdateAnimBg="0"/>
      <p:bldP spid="141324" grpId="0" autoUpdateAnimBg="0"/>
      <p:bldP spid="141325" grpId="0" autoUpdateAnimBg="0"/>
      <p:bldP spid="141326" grpId="0" autoUpdateAnimBg="0"/>
      <p:bldP spid="141327" grpId="0" autoUpdateAnimBg="0"/>
      <p:bldP spid="141328" grpId="0" autoUpdateAnimBg="0"/>
      <p:bldP spid="141329" grpId="0" autoUpdateAnimBg="0"/>
      <p:bldP spid="141330" grpId="0" autoUpdateAnimBg="0"/>
      <p:bldP spid="141331" grpId="0" autoUpdateAnimBg="0"/>
      <p:bldP spid="141332" grpId="0" autoUpdateAnimBg="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2"/>
          <p:cNvSpPr txBox="1">
            <a:spLocks noChangeArrowheads="1"/>
          </p:cNvSpPr>
          <p:nvPr/>
        </p:nvSpPr>
        <p:spPr bwMode="auto">
          <a:xfrm>
            <a:off x="-327025" y="990600"/>
            <a:ext cx="9242425" cy="294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lnSpc>
                <a:spcPct val="130000"/>
              </a:lnSpc>
            </a:pPr>
            <a:r>
              <a:rPr lang="en-US" altLang="zh-CN" sz="3600">
                <a:solidFill>
                  <a:srgbClr val="A50021"/>
                </a:solidFill>
              </a:rPr>
              <a:t>1)   </a:t>
            </a:r>
            <a:r>
              <a:rPr lang="zh-CN" altLang="en-US" sz="3600">
                <a:solidFill>
                  <a:srgbClr val="A50021"/>
                </a:solidFill>
                <a:ea typeface="楷体_GB2312" charset="0"/>
              </a:rPr>
              <a:t>哈希函数是一个</a:t>
            </a:r>
            <a:r>
              <a:rPr lang="zh-CN" altLang="en-US" sz="3600" b="1">
                <a:solidFill>
                  <a:srgbClr val="FF0000"/>
                </a:solidFill>
                <a:ea typeface="楷体_GB2312" charset="0"/>
              </a:rPr>
              <a:t>映象</a:t>
            </a:r>
            <a:r>
              <a:rPr lang="zh-CN" altLang="en-US" sz="3600">
                <a:solidFill>
                  <a:srgbClr val="A50021"/>
                </a:solidFill>
                <a:ea typeface="楷体_GB2312" charset="0"/>
              </a:rPr>
              <a:t>，即：</a:t>
            </a:r>
            <a:endParaRPr lang="zh-CN" altLang="en-US" sz="3600">
              <a:ea typeface="楷体_GB2312" charset="0"/>
            </a:endParaRPr>
          </a:p>
          <a:p>
            <a:pPr lvl="2">
              <a:lnSpc>
                <a:spcPct val="130000"/>
              </a:lnSpc>
            </a:pPr>
            <a:r>
              <a:rPr lang="zh-CN" altLang="en-US" sz="3600" b="1">
                <a:solidFill>
                  <a:srgbClr val="0000FF"/>
                </a:solidFill>
                <a:ea typeface="楷体_GB2312" charset="0"/>
              </a:rPr>
              <a:t> </a:t>
            </a:r>
            <a:r>
              <a:rPr lang="zh-CN" altLang="en-US" sz="3600" b="1">
                <a:solidFill>
                  <a:schemeClr val="accent2"/>
                </a:solidFill>
                <a:ea typeface="楷体_GB2312" charset="0"/>
              </a:rPr>
              <a:t>将关键字的集合映射到某个地址集合上，</a:t>
            </a:r>
            <a:r>
              <a:rPr lang="zh-CN" altLang="en-US" sz="3600" b="1">
                <a:solidFill>
                  <a:srgbClr val="0000FF"/>
                </a:solidFill>
                <a:ea typeface="楷体_GB2312" charset="0"/>
              </a:rPr>
              <a:t> </a:t>
            </a:r>
            <a:r>
              <a:rPr lang="zh-CN" altLang="en-US" sz="3600">
                <a:solidFill>
                  <a:srgbClr val="A50021"/>
                </a:solidFill>
                <a:ea typeface="楷体_GB2312" charset="0"/>
              </a:rPr>
              <a:t>它的设置很</a:t>
            </a:r>
            <a:r>
              <a:rPr lang="zh-CN" altLang="en-US" sz="3600" b="1">
                <a:solidFill>
                  <a:srgbClr val="A50021"/>
                </a:solidFill>
                <a:ea typeface="楷体_GB2312" charset="0"/>
              </a:rPr>
              <a:t>灵活</a:t>
            </a:r>
            <a:r>
              <a:rPr lang="zh-CN" altLang="en-US" sz="3600">
                <a:solidFill>
                  <a:srgbClr val="A50021"/>
                </a:solidFill>
                <a:ea typeface="楷体_GB2312" charset="0"/>
              </a:rPr>
              <a:t>，只要这个</a:t>
            </a:r>
            <a:r>
              <a:rPr lang="zh-CN" altLang="en-US" sz="3600" b="1">
                <a:solidFill>
                  <a:srgbClr val="A50021"/>
                </a:solidFill>
                <a:ea typeface="楷体_GB2312" charset="0"/>
              </a:rPr>
              <a:t>地址集</a:t>
            </a:r>
            <a:r>
              <a:rPr lang="zh-CN" altLang="en-US" sz="3600">
                <a:solidFill>
                  <a:srgbClr val="A50021"/>
                </a:solidFill>
                <a:ea typeface="楷体_GB2312" charset="0"/>
              </a:rPr>
              <a:t>合的  大小</a:t>
            </a:r>
            <a:r>
              <a:rPr lang="zh-CN" altLang="en-US" sz="3600" b="1">
                <a:solidFill>
                  <a:srgbClr val="A50021"/>
                </a:solidFill>
                <a:ea typeface="楷体_GB2312" charset="0"/>
              </a:rPr>
              <a:t>不超出允许范围</a:t>
            </a:r>
            <a:r>
              <a:rPr lang="zh-CN" altLang="en-US" sz="3600">
                <a:solidFill>
                  <a:srgbClr val="A50021"/>
                </a:solidFill>
                <a:ea typeface="楷体_GB2312" charset="0"/>
              </a:rPr>
              <a:t>即可；</a:t>
            </a:r>
          </a:p>
        </p:txBody>
      </p:sp>
      <p:sp>
        <p:nvSpPr>
          <p:cNvPr id="142339" name="Text Box 3"/>
          <p:cNvSpPr txBox="1">
            <a:spLocks noChangeArrowheads="1"/>
          </p:cNvSpPr>
          <p:nvPr/>
        </p:nvSpPr>
        <p:spPr bwMode="auto">
          <a:xfrm>
            <a:off x="742950" y="228600"/>
            <a:ext cx="428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FF00FF"/>
                </a:solidFill>
                <a:ea typeface="楷体_GB2312" charset="0"/>
              </a:rPr>
              <a:t>从这个例子可见：</a:t>
            </a:r>
            <a:endParaRPr lang="zh-CN" altLang="en-US"/>
          </a:p>
        </p:txBody>
      </p:sp>
      <p:sp>
        <p:nvSpPr>
          <p:cNvPr id="142340" name="Rectangle 4"/>
          <p:cNvSpPr>
            <a:spLocks noChangeArrowheads="1"/>
          </p:cNvSpPr>
          <p:nvPr/>
        </p:nvSpPr>
        <p:spPr bwMode="auto">
          <a:xfrm>
            <a:off x="-304800" y="4005263"/>
            <a:ext cx="9220200" cy="294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lnSpc>
                <a:spcPct val="130000"/>
              </a:lnSpc>
            </a:pPr>
            <a:r>
              <a:rPr lang="en-US" altLang="zh-CN" sz="3600">
                <a:solidFill>
                  <a:srgbClr val="A50021"/>
                </a:solidFill>
              </a:rPr>
              <a:t>2)  </a:t>
            </a:r>
            <a:r>
              <a:rPr lang="zh-CN" altLang="en-US" sz="3600">
                <a:solidFill>
                  <a:srgbClr val="A50021"/>
                </a:solidFill>
                <a:ea typeface="楷体_GB2312" charset="0"/>
              </a:rPr>
              <a:t>由于哈希函数是一个</a:t>
            </a:r>
            <a:r>
              <a:rPr lang="zh-CN" altLang="en-US" sz="3600" b="1">
                <a:solidFill>
                  <a:srgbClr val="FF0000"/>
                </a:solidFill>
                <a:ea typeface="楷体_GB2312" charset="0"/>
              </a:rPr>
              <a:t>压缩映象</a:t>
            </a:r>
            <a:r>
              <a:rPr lang="zh-CN" altLang="en-US" sz="3600">
                <a:solidFill>
                  <a:srgbClr val="A50021"/>
                </a:solidFill>
                <a:ea typeface="楷体_GB2312" charset="0"/>
              </a:rPr>
              <a:t>，因此，在一般情况下，很容易产生</a:t>
            </a:r>
            <a:r>
              <a:rPr lang="zh-CN" altLang="en-US" sz="3600" b="1">
                <a:solidFill>
                  <a:srgbClr val="FF0000"/>
                </a:solidFill>
                <a:ea typeface="楷体_GB2312" charset="0"/>
              </a:rPr>
              <a:t>“冲突”</a:t>
            </a:r>
            <a:r>
              <a:rPr lang="zh-CN" altLang="en-US" sz="3600">
                <a:solidFill>
                  <a:srgbClr val="A50021"/>
                </a:solidFill>
                <a:ea typeface="楷体_GB2312" charset="0"/>
              </a:rPr>
              <a:t>现象，即： </a:t>
            </a:r>
            <a:r>
              <a:rPr lang="en-US" altLang="zh-CN" sz="3600">
                <a:solidFill>
                  <a:schemeClr val="accent2"/>
                </a:solidFill>
                <a:ea typeface="楷体_GB2312" charset="0"/>
              </a:rPr>
              <a:t>key1</a:t>
            </a:r>
            <a:r>
              <a:rPr lang="en-US" altLang="zh-CN" sz="3600">
                <a:solidFill>
                  <a:schemeClr val="accent2"/>
                </a:solidFill>
                <a:ea typeface="楷体_GB2312" charset="0"/>
                <a:sym typeface="Symbol" charset="2"/>
              </a:rPr>
              <a:t></a:t>
            </a:r>
            <a:r>
              <a:rPr lang="en-US" altLang="zh-CN" sz="3600">
                <a:solidFill>
                  <a:schemeClr val="accent2"/>
                </a:solidFill>
                <a:ea typeface="楷体_GB2312" charset="0"/>
              </a:rPr>
              <a:t> key2</a:t>
            </a:r>
            <a:r>
              <a:rPr lang="zh-CN" altLang="en-US" sz="3600">
                <a:solidFill>
                  <a:srgbClr val="A50021"/>
                </a:solidFill>
                <a:ea typeface="楷体_GB2312" charset="0"/>
              </a:rPr>
              <a:t>，而  </a:t>
            </a:r>
            <a:r>
              <a:rPr lang="en-US" altLang="zh-CN" sz="3600">
                <a:solidFill>
                  <a:schemeClr val="accent2"/>
                </a:solidFill>
                <a:ea typeface="楷体_GB2312" charset="0"/>
              </a:rPr>
              <a:t>f(key1) = f(key2)</a:t>
            </a:r>
            <a:r>
              <a:rPr lang="zh-CN" altLang="en-US" sz="3600">
                <a:solidFill>
                  <a:schemeClr val="accent2"/>
                </a:solidFill>
                <a:ea typeface="楷体_GB2312" charset="0"/>
              </a:rPr>
              <a:t>。</a:t>
            </a:r>
          </a:p>
        </p:txBody>
      </p:sp>
    </p:spTree>
    <p:extLst>
      <p:ext uri="{BB962C8B-B14F-4D97-AF65-F5344CB8AC3E}">
        <p14:creationId xmlns:p14="http://schemas.microsoft.com/office/powerpoint/2010/main" val="613588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42339"/>
                                        </p:tgtEl>
                                        <p:attrNameLst>
                                          <p:attrName>style.visibility</p:attrName>
                                        </p:attrNameLst>
                                      </p:cBhvr>
                                      <p:to>
                                        <p:strVal val="visible"/>
                                      </p:to>
                                    </p:set>
                                    <p:anim calcmode="lin" valueType="num">
                                      <p:cBhvr additive="base">
                                        <p:cTn id="7" dur="500" fill="hold"/>
                                        <p:tgtEl>
                                          <p:spTgt spid="142339"/>
                                        </p:tgtEl>
                                        <p:attrNameLst>
                                          <p:attrName>ppt_x</p:attrName>
                                        </p:attrNameLst>
                                      </p:cBhvr>
                                      <p:tavLst>
                                        <p:tav tm="0">
                                          <p:val>
                                            <p:strVal val="#ppt_x"/>
                                          </p:val>
                                        </p:tav>
                                        <p:tav tm="100000">
                                          <p:val>
                                            <p:strVal val="#ppt_x"/>
                                          </p:val>
                                        </p:tav>
                                      </p:tavLst>
                                    </p:anim>
                                    <p:anim calcmode="lin" valueType="num">
                                      <p:cBhvr additive="base">
                                        <p:cTn id="8" dur="500" fill="hold"/>
                                        <p:tgtEl>
                                          <p:spTgt spid="142339"/>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9" fill="hold" grpId="0" nodeType="clickEffect">
                                  <p:stCondLst>
                                    <p:cond delay="0"/>
                                  </p:stCondLst>
                                  <p:childTnLst>
                                    <p:set>
                                      <p:cBhvr>
                                        <p:cTn id="12" dur="1" fill="hold">
                                          <p:stCondLst>
                                            <p:cond delay="0"/>
                                          </p:stCondLst>
                                        </p:cTn>
                                        <p:tgtEl>
                                          <p:spTgt spid="142338"/>
                                        </p:tgtEl>
                                        <p:attrNameLst>
                                          <p:attrName>style.visibility</p:attrName>
                                        </p:attrNameLst>
                                      </p:cBhvr>
                                      <p:to>
                                        <p:strVal val="visible"/>
                                      </p:to>
                                    </p:set>
                                    <p:animEffect transition="in" filter="strips(upLeft)">
                                      <p:cBhvr>
                                        <p:cTn id="13" dur="500"/>
                                        <p:tgtEl>
                                          <p:spTgt spid="14233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9" fill="hold" grpId="0" nodeType="clickEffect">
                                  <p:stCondLst>
                                    <p:cond delay="0"/>
                                  </p:stCondLst>
                                  <p:childTnLst>
                                    <p:set>
                                      <p:cBhvr>
                                        <p:cTn id="17" dur="1" fill="hold">
                                          <p:stCondLst>
                                            <p:cond delay="0"/>
                                          </p:stCondLst>
                                        </p:cTn>
                                        <p:tgtEl>
                                          <p:spTgt spid="142340"/>
                                        </p:tgtEl>
                                        <p:attrNameLst>
                                          <p:attrName>style.visibility</p:attrName>
                                        </p:attrNameLst>
                                      </p:cBhvr>
                                      <p:to>
                                        <p:strVal val="visible"/>
                                      </p:to>
                                    </p:set>
                                    <p:animEffect transition="in" filter="strips(upLeft)">
                                      <p:cBhvr>
                                        <p:cTn id="18" dur="500"/>
                                        <p:tgtEl>
                                          <p:spTgt spid="142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autoUpdateAnimBg="0"/>
      <p:bldP spid="142339" grpId="0" autoUpdateAnimBg="0"/>
      <p:bldP spid="142340" grpId="0" autoUpdateAnimBg="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3" name="Rectangle 3"/>
          <p:cNvSpPr>
            <a:spLocks noGrp="1" noChangeArrowheads="1"/>
          </p:cNvSpPr>
          <p:nvPr>
            <p:ph type="body" idx="1"/>
          </p:nvPr>
        </p:nvSpPr>
        <p:spPr>
          <a:xfrm>
            <a:off x="685800" y="692150"/>
            <a:ext cx="7772400" cy="5689600"/>
          </a:xfrm>
        </p:spPr>
        <p:txBody>
          <a:bodyPr/>
          <a:lstStyle/>
          <a:p>
            <a:pPr algn="just">
              <a:lnSpc>
                <a:spcPct val="130000"/>
              </a:lnSpc>
              <a:spcBef>
                <a:spcPct val="50000"/>
              </a:spcBef>
              <a:buFontTx/>
              <a:buNone/>
            </a:pPr>
            <a:r>
              <a:rPr lang="en-US" altLang="zh-CN">
                <a:solidFill>
                  <a:srgbClr val="A50021"/>
                </a:solidFill>
                <a:latin typeface="华文楷体" charset="-122"/>
                <a:ea typeface="华文楷体" charset="-122"/>
              </a:rPr>
              <a:t>    </a:t>
            </a:r>
            <a:r>
              <a:rPr lang="zh-CN" altLang="en-US">
                <a:solidFill>
                  <a:srgbClr val="A50021"/>
                </a:solidFill>
                <a:latin typeface="华文楷体" charset="-122"/>
                <a:ea typeface="华文楷体" charset="-122"/>
              </a:rPr>
              <a:t>冲突的不可避免性</a:t>
            </a:r>
            <a:r>
              <a:rPr lang="en-US" altLang="zh-CN">
                <a:solidFill>
                  <a:srgbClr val="A50021"/>
                </a:solidFill>
                <a:latin typeface="华文楷体" charset="-122"/>
                <a:ea typeface="华文楷体" charset="-122"/>
              </a:rPr>
              <a:t>, </a:t>
            </a:r>
            <a:r>
              <a:rPr lang="zh-CN" altLang="en-US">
                <a:solidFill>
                  <a:srgbClr val="A50021"/>
                </a:solidFill>
                <a:latin typeface="华文楷体" charset="-122"/>
                <a:ea typeface="华文楷体" charset="-122"/>
              </a:rPr>
              <a:t>有它一定的内因。 由于关键字的值域往往比哈希表的个数大得多</a:t>
            </a:r>
            <a:r>
              <a:rPr lang="en-US" altLang="zh-CN">
                <a:solidFill>
                  <a:srgbClr val="A50021"/>
                </a:solidFill>
                <a:latin typeface="华文楷体" charset="-122"/>
                <a:ea typeface="华文楷体" charset="-122"/>
              </a:rPr>
              <a:t>,</a:t>
            </a:r>
            <a:r>
              <a:rPr lang="zh-CN" altLang="en-US">
                <a:solidFill>
                  <a:srgbClr val="A50021"/>
                </a:solidFill>
                <a:latin typeface="华文楷体" charset="-122"/>
                <a:ea typeface="华文楷体" charset="-122"/>
              </a:rPr>
              <a:t>所以哈希函数是一种压缩映射</a:t>
            </a:r>
            <a:r>
              <a:rPr lang="en-US" altLang="zh-CN">
                <a:solidFill>
                  <a:srgbClr val="A50021"/>
                </a:solidFill>
                <a:latin typeface="华文楷体" charset="-122"/>
                <a:ea typeface="华文楷体" charset="-122"/>
              </a:rPr>
              <a:t>, </a:t>
            </a:r>
            <a:r>
              <a:rPr lang="zh-CN" altLang="en-US">
                <a:solidFill>
                  <a:srgbClr val="A50021"/>
                </a:solidFill>
                <a:latin typeface="华文楷体" charset="-122"/>
                <a:ea typeface="华文楷体" charset="-122"/>
              </a:rPr>
              <a:t>碰撞是难免的。 例如</a:t>
            </a:r>
            <a:r>
              <a:rPr lang="en-US" altLang="zh-CN">
                <a:solidFill>
                  <a:srgbClr val="A50021"/>
                </a:solidFill>
                <a:latin typeface="华文楷体" charset="-122"/>
                <a:ea typeface="华文楷体" charset="-122"/>
              </a:rPr>
              <a:t>, </a:t>
            </a:r>
            <a:r>
              <a:rPr lang="zh-CN" altLang="en-US">
                <a:solidFill>
                  <a:srgbClr val="A50021"/>
                </a:solidFill>
                <a:latin typeface="华文楷体" charset="-122"/>
                <a:ea typeface="华文楷体" charset="-122"/>
              </a:rPr>
              <a:t>存储</a:t>
            </a:r>
            <a:r>
              <a:rPr lang="en-US" altLang="zh-CN">
                <a:solidFill>
                  <a:srgbClr val="A50021"/>
                </a:solidFill>
                <a:latin typeface="华文楷体" charset="-122"/>
                <a:ea typeface="华文楷体" charset="-122"/>
              </a:rPr>
              <a:t>100</a:t>
            </a:r>
            <a:r>
              <a:rPr lang="zh-CN" altLang="en-US">
                <a:solidFill>
                  <a:srgbClr val="A50021"/>
                </a:solidFill>
                <a:latin typeface="华文楷体" charset="-122"/>
                <a:ea typeface="华文楷体" charset="-122"/>
              </a:rPr>
              <a:t>个学生记录</a:t>
            </a:r>
            <a:r>
              <a:rPr lang="en-US" altLang="zh-CN">
                <a:solidFill>
                  <a:srgbClr val="A50021"/>
                </a:solidFill>
                <a:latin typeface="华文楷体" charset="-122"/>
                <a:ea typeface="华文楷体" charset="-122"/>
              </a:rPr>
              <a:t>, </a:t>
            </a:r>
            <a:r>
              <a:rPr lang="zh-CN" altLang="en-US">
                <a:solidFill>
                  <a:srgbClr val="A50021"/>
                </a:solidFill>
                <a:latin typeface="华文楷体" charset="-122"/>
                <a:ea typeface="华文楷体" charset="-122"/>
              </a:rPr>
              <a:t>尽管安排</a:t>
            </a:r>
            <a:r>
              <a:rPr lang="en-US" altLang="zh-CN">
                <a:solidFill>
                  <a:srgbClr val="A50021"/>
                </a:solidFill>
                <a:latin typeface="华文楷体" charset="-122"/>
                <a:ea typeface="华文楷体" charset="-122"/>
              </a:rPr>
              <a:t>120</a:t>
            </a:r>
            <a:r>
              <a:rPr lang="zh-CN" altLang="en-US">
                <a:solidFill>
                  <a:srgbClr val="A50021"/>
                </a:solidFill>
                <a:latin typeface="华文楷体" charset="-122"/>
                <a:ea typeface="华文楷体" charset="-122"/>
              </a:rPr>
              <a:t>个地址空间</a:t>
            </a:r>
            <a:r>
              <a:rPr lang="en-US" altLang="zh-CN">
                <a:solidFill>
                  <a:srgbClr val="A50021"/>
                </a:solidFill>
                <a:latin typeface="华文楷体" charset="-122"/>
                <a:ea typeface="华文楷体" charset="-122"/>
              </a:rPr>
              <a:t>, </a:t>
            </a:r>
            <a:r>
              <a:rPr lang="zh-CN" altLang="en-US">
                <a:solidFill>
                  <a:srgbClr val="A50021"/>
                </a:solidFill>
                <a:latin typeface="华文楷体" charset="-122"/>
                <a:ea typeface="华文楷体" charset="-122"/>
              </a:rPr>
              <a:t>但由于学生名</a:t>
            </a:r>
            <a:r>
              <a:rPr lang="en-US" altLang="zh-CN">
                <a:solidFill>
                  <a:srgbClr val="A50021"/>
                </a:solidFill>
                <a:latin typeface="华文楷体" charset="-122"/>
                <a:ea typeface="华文楷体" charset="-122"/>
              </a:rPr>
              <a:t>(</a:t>
            </a:r>
            <a:r>
              <a:rPr lang="zh-CN" altLang="en-US">
                <a:solidFill>
                  <a:srgbClr val="A50021"/>
                </a:solidFill>
                <a:latin typeface="华文楷体" charset="-122"/>
                <a:ea typeface="华文楷体" charset="-122"/>
              </a:rPr>
              <a:t>假设不超过</a:t>
            </a:r>
            <a:r>
              <a:rPr lang="en-US" altLang="zh-CN">
                <a:solidFill>
                  <a:srgbClr val="A50021"/>
                </a:solidFill>
                <a:latin typeface="华文楷体" charset="-122"/>
                <a:ea typeface="华文楷体" charset="-122"/>
              </a:rPr>
              <a:t>10</a:t>
            </a:r>
            <a:r>
              <a:rPr lang="zh-CN" altLang="en-US">
                <a:solidFill>
                  <a:srgbClr val="A50021"/>
                </a:solidFill>
                <a:latin typeface="华文楷体" charset="-122"/>
                <a:ea typeface="华文楷体" charset="-122"/>
              </a:rPr>
              <a:t>个英文字母</a:t>
            </a:r>
            <a:r>
              <a:rPr lang="en-US" altLang="zh-CN">
                <a:solidFill>
                  <a:srgbClr val="A50021"/>
                </a:solidFill>
                <a:latin typeface="华文楷体" charset="-122"/>
                <a:ea typeface="华文楷体" charset="-122"/>
              </a:rPr>
              <a:t>)</a:t>
            </a:r>
            <a:r>
              <a:rPr lang="zh-CN" altLang="en-US">
                <a:solidFill>
                  <a:srgbClr val="A50021"/>
                </a:solidFill>
                <a:latin typeface="华文楷体" charset="-122"/>
                <a:ea typeface="华文楷体" charset="-122"/>
              </a:rPr>
              <a:t>的理论个数超过</a:t>
            </a:r>
            <a:r>
              <a:rPr lang="en-US" altLang="zh-CN">
                <a:solidFill>
                  <a:srgbClr val="A50021"/>
                </a:solidFill>
                <a:latin typeface="华文楷体" charset="-122"/>
                <a:ea typeface="华文楷体" charset="-122"/>
              </a:rPr>
              <a:t>2610, </a:t>
            </a:r>
            <a:r>
              <a:rPr lang="zh-CN" altLang="en-US">
                <a:solidFill>
                  <a:srgbClr val="A50021"/>
                </a:solidFill>
                <a:latin typeface="华文楷体" charset="-122"/>
                <a:ea typeface="华文楷体" charset="-122"/>
              </a:rPr>
              <a:t>要找到一个哈希函数把</a:t>
            </a:r>
            <a:r>
              <a:rPr lang="en-US" altLang="zh-CN">
                <a:solidFill>
                  <a:srgbClr val="A50021"/>
                </a:solidFill>
                <a:latin typeface="华文楷体" charset="-122"/>
                <a:ea typeface="华文楷体" charset="-122"/>
              </a:rPr>
              <a:t>100</a:t>
            </a:r>
            <a:r>
              <a:rPr lang="zh-CN" altLang="en-US">
                <a:solidFill>
                  <a:srgbClr val="A50021"/>
                </a:solidFill>
                <a:latin typeface="华文楷体" charset="-122"/>
                <a:ea typeface="华文楷体" charset="-122"/>
              </a:rPr>
              <a:t>个任意的学生名映射成［</a:t>
            </a:r>
            <a:r>
              <a:rPr lang="en-US" altLang="zh-CN">
                <a:solidFill>
                  <a:srgbClr val="A50021"/>
                </a:solidFill>
                <a:latin typeface="华文楷体" charset="-122"/>
                <a:ea typeface="华文楷体" charset="-122"/>
              </a:rPr>
              <a:t>0, 119</a:t>
            </a:r>
            <a:r>
              <a:rPr lang="zh-CN" altLang="en-US">
                <a:solidFill>
                  <a:srgbClr val="A50021"/>
                </a:solidFill>
                <a:latin typeface="华文楷体" charset="-122"/>
                <a:ea typeface="华文楷体" charset="-122"/>
              </a:rPr>
              <a:t>］内的不同整数</a:t>
            </a:r>
            <a:r>
              <a:rPr lang="en-US" altLang="zh-CN">
                <a:solidFill>
                  <a:srgbClr val="A50021"/>
                </a:solidFill>
                <a:latin typeface="华文楷体" charset="-122"/>
                <a:ea typeface="华文楷体" charset="-122"/>
              </a:rPr>
              <a:t>, </a:t>
            </a:r>
            <a:r>
              <a:rPr lang="zh-CN" altLang="en-US">
                <a:solidFill>
                  <a:srgbClr val="A50021"/>
                </a:solidFill>
                <a:latin typeface="华文楷体" charset="-122"/>
                <a:ea typeface="华文楷体" charset="-122"/>
              </a:rPr>
              <a:t>实际上是不可能的。</a:t>
            </a:r>
          </a:p>
        </p:txBody>
      </p:sp>
    </p:spTree>
    <p:extLst>
      <p:ext uri="{BB962C8B-B14F-4D97-AF65-F5344CB8AC3E}">
        <p14:creationId xmlns:p14="http://schemas.microsoft.com/office/powerpoint/2010/main" val="78744008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2"/>
          <p:cNvSpPr txBox="1">
            <a:spLocks noChangeArrowheads="1"/>
          </p:cNvSpPr>
          <p:nvPr/>
        </p:nvSpPr>
        <p:spPr bwMode="auto">
          <a:xfrm>
            <a:off x="152400" y="293688"/>
            <a:ext cx="8763000"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2400">
                <a:solidFill>
                  <a:schemeClr val="tx1"/>
                </a:solidFill>
                <a:latin typeface="Times New Roman" charset="0"/>
                <a:ea typeface="宋体" charset="-122"/>
              </a:defRPr>
            </a:lvl1pPr>
            <a:lvl2pPr marL="190500">
              <a:defRPr kumimoji="1" sz="2400">
                <a:solidFill>
                  <a:schemeClr val="tx1"/>
                </a:solidFill>
                <a:latin typeface="Times New Roman" charset="0"/>
                <a:ea typeface="宋体" charset="-122"/>
              </a:defRPr>
            </a:lvl2pPr>
            <a:lvl3pPr marL="381000">
              <a:defRPr kumimoji="1" sz="2400">
                <a:solidFill>
                  <a:schemeClr val="tx1"/>
                </a:solidFill>
                <a:latin typeface="Times New Roman" charset="0"/>
                <a:ea typeface="宋体" charset="-122"/>
              </a:defRPr>
            </a:lvl3pPr>
            <a:lvl4pPr>
              <a:defRPr kumimoji="1" sz="2400">
                <a:solidFill>
                  <a:schemeClr val="tx1"/>
                </a:solidFill>
                <a:latin typeface="Times New Roman" charset="0"/>
                <a:ea typeface="宋体" charset="-122"/>
              </a:defRPr>
            </a:lvl4pPr>
            <a:lvl5pPr>
              <a:defRPr kumimoji="1" sz="2400">
                <a:solidFill>
                  <a:schemeClr val="tx1"/>
                </a:solidFill>
                <a:latin typeface="Times New Roman" charset="0"/>
                <a:ea typeface="宋体" charset="-122"/>
              </a:defRPr>
            </a:lvl5pPr>
            <a:lvl6pPr fontAlgn="base">
              <a:spcBef>
                <a:spcPct val="0"/>
              </a:spcBef>
              <a:spcAft>
                <a:spcPct val="0"/>
              </a:spcAft>
              <a:defRPr kumimoji="1" sz="2400">
                <a:solidFill>
                  <a:schemeClr val="tx1"/>
                </a:solidFill>
                <a:latin typeface="Times New Roman" charset="0"/>
                <a:ea typeface="宋体" charset="-122"/>
              </a:defRPr>
            </a:lvl6pPr>
            <a:lvl7pPr fontAlgn="base">
              <a:spcBef>
                <a:spcPct val="0"/>
              </a:spcBef>
              <a:spcAft>
                <a:spcPct val="0"/>
              </a:spcAft>
              <a:defRPr kumimoji="1" sz="2400">
                <a:solidFill>
                  <a:schemeClr val="tx1"/>
                </a:solidFill>
                <a:latin typeface="Times New Roman" charset="0"/>
                <a:ea typeface="宋体" charset="-122"/>
              </a:defRPr>
            </a:lvl7pPr>
            <a:lvl8pPr fontAlgn="base">
              <a:spcBef>
                <a:spcPct val="0"/>
              </a:spcBef>
              <a:spcAft>
                <a:spcPct val="0"/>
              </a:spcAft>
              <a:defRPr kumimoji="1" sz="2400">
                <a:solidFill>
                  <a:schemeClr val="tx1"/>
                </a:solidFill>
                <a:latin typeface="Times New Roman" charset="0"/>
                <a:ea typeface="宋体" charset="-122"/>
              </a:defRPr>
            </a:lvl8pPr>
            <a:lvl9pPr fontAlgn="base">
              <a:spcBef>
                <a:spcPct val="0"/>
              </a:spcBef>
              <a:spcAft>
                <a:spcPct val="0"/>
              </a:spcAft>
              <a:defRPr kumimoji="1" sz="2400">
                <a:solidFill>
                  <a:schemeClr val="tx1"/>
                </a:solidFill>
                <a:latin typeface="Times New Roman" charset="0"/>
                <a:ea typeface="宋体" charset="-122"/>
              </a:defRPr>
            </a:lvl9pPr>
          </a:lstStyle>
          <a:p>
            <a:pPr lvl="2">
              <a:lnSpc>
                <a:spcPct val="130000"/>
              </a:lnSpc>
            </a:pPr>
            <a:r>
              <a:rPr lang="en-US" altLang="zh-CN" sz="3600">
                <a:solidFill>
                  <a:srgbClr val="A50021"/>
                </a:solidFill>
                <a:ea typeface="楷体_GB2312" charset="0"/>
              </a:rPr>
              <a:t>3)  </a:t>
            </a:r>
            <a:r>
              <a:rPr lang="zh-CN" altLang="en-US" sz="3600" b="1">
                <a:solidFill>
                  <a:srgbClr val="FF00FF"/>
                </a:solidFill>
                <a:ea typeface="楷体_GB2312" charset="0"/>
              </a:rPr>
              <a:t>很难</a:t>
            </a:r>
            <a:r>
              <a:rPr lang="zh-CN" altLang="en-US" sz="3600">
                <a:solidFill>
                  <a:srgbClr val="A50021"/>
                </a:solidFill>
                <a:ea typeface="楷体_GB2312" charset="0"/>
              </a:rPr>
              <a:t>找到一个不产生冲突的哈希函数。一般情况下，</a:t>
            </a:r>
            <a:r>
              <a:rPr lang="zh-CN" altLang="en-US" sz="3600">
                <a:solidFill>
                  <a:schemeClr val="accent2"/>
                </a:solidFill>
                <a:ea typeface="楷体_GB2312" charset="0"/>
              </a:rPr>
              <a:t>只能选择恰当的哈希函数，使冲突尽可能少地产生。</a:t>
            </a:r>
          </a:p>
        </p:txBody>
      </p:sp>
      <p:sp>
        <p:nvSpPr>
          <p:cNvPr id="143363" name="Text Box 3"/>
          <p:cNvSpPr txBox="1">
            <a:spLocks noChangeArrowheads="1"/>
          </p:cNvSpPr>
          <p:nvPr/>
        </p:nvSpPr>
        <p:spPr bwMode="auto">
          <a:xfrm>
            <a:off x="304800" y="2924175"/>
            <a:ext cx="8610600"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4000">
                <a:solidFill>
                  <a:srgbClr val="A50021"/>
                </a:solidFill>
                <a:ea typeface="隶书" charset="0"/>
              </a:rPr>
              <a:t>   </a:t>
            </a:r>
            <a:r>
              <a:rPr lang="zh-CN" altLang="en-US" sz="4000">
                <a:solidFill>
                  <a:srgbClr val="A50021"/>
                </a:solidFill>
                <a:ea typeface="隶书" charset="0"/>
              </a:rPr>
              <a:t>因此，在构造这种特殊的“查找表” 时，除了需要选择一个</a:t>
            </a:r>
            <a:r>
              <a:rPr lang="zh-CN" altLang="en-US" sz="4000">
                <a:solidFill>
                  <a:schemeClr val="accent2"/>
                </a:solidFill>
                <a:ea typeface="隶书" charset="0"/>
              </a:rPr>
              <a:t>“好”</a:t>
            </a:r>
            <a:r>
              <a:rPr lang="en-US" altLang="zh-CN" sz="4000">
                <a:solidFill>
                  <a:schemeClr val="accent2"/>
                </a:solidFill>
                <a:latin typeface="隶书" charset="0"/>
                <a:ea typeface="隶书" charset="0"/>
              </a:rPr>
              <a:t>(</a:t>
            </a:r>
            <a:r>
              <a:rPr lang="zh-CN" altLang="en-US" sz="4000">
                <a:solidFill>
                  <a:schemeClr val="accent2"/>
                </a:solidFill>
                <a:ea typeface="隶书" charset="0"/>
              </a:rPr>
              <a:t>尽可能少产生冲</a:t>
            </a:r>
            <a:r>
              <a:rPr lang="zh-CN" altLang="en-US" sz="4000">
                <a:solidFill>
                  <a:schemeClr val="accent2"/>
                </a:solidFill>
                <a:latin typeface="隶书" charset="0"/>
                <a:ea typeface="隶书" charset="0"/>
              </a:rPr>
              <a:t>突</a:t>
            </a:r>
            <a:r>
              <a:rPr lang="en-US" altLang="zh-CN" sz="4000">
                <a:solidFill>
                  <a:schemeClr val="accent2"/>
                </a:solidFill>
                <a:latin typeface="隶书" charset="0"/>
                <a:ea typeface="隶书" charset="0"/>
              </a:rPr>
              <a:t>)</a:t>
            </a:r>
            <a:r>
              <a:rPr lang="zh-CN" altLang="en-US" sz="4000">
                <a:solidFill>
                  <a:schemeClr val="accent2"/>
                </a:solidFill>
                <a:ea typeface="隶书" charset="0"/>
              </a:rPr>
              <a:t>的哈希函数之外；还需要找到</a:t>
            </a:r>
            <a:r>
              <a:rPr lang="zh-CN" altLang="en-US" sz="4000">
                <a:solidFill>
                  <a:srgbClr val="A50021"/>
                </a:solidFill>
                <a:ea typeface="隶书" charset="0"/>
              </a:rPr>
              <a:t>一种</a:t>
            </a:r>
            <a:r>
              <a:rPr lang="zh-CN" altLang="en-US" sz="4000">
                <a:solidFill>
                  <a:schemeClr val="accent2"/>
                </a:solidFill>
                <a:ea typeface="隶书" charset="0"/>
              </a:rPr>
              <a:t>“处理冲突” </a:t>
            </a:r>
            <a:r>
              <a:rPr lang="zh-CN" altLang="en-US" sz="4000">
                <a:solidFill>
                  <a:srgbClr val="A50021"/>
                </a:solidFill>
                <a:ea typeface="隶书" charset="0"/>
              </a:rPr>
              <a:t>的方法</a:t>
            </a:r>
            <a:r>
              <a:rPr lang="zh-CN" altLang="en-US" sz="4000">
                <a:solidFill>
                  <a:srgbClr val="A50021"/>
                </a:solidFill>
                <a:ea typeface="楷体_GB2312" charset="0"/>
              </a:rPr>
              <a:t>。</a:t>
            </a:r>
          </a:p>
        </p:txBody>
      </p:sp>
    </p:spTree>
    <p:extLst>
      <p:ext uri="{BB962C8B-B14F-4D97-AF65-F5344CB8AC3E}">
        <p14:creationId xmlns:p14="http://schemas.microsoft.com/office/powerpoint/2010/main" val="8644165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43362"/>
                                        </p:tgtEl>
                                        <p:attrNameLst>
                                          <p:attrName>style.visibility</p:attrName>
                                        </p:attrNameLst>
                                      </p:cBhvr>
                                      <p:to>
                                        <p:strVal val="visible"/>
                                      </p:to>
                                    </p:set>
                                    <p:animEffect transition="in" filter="strips(downRight)">
                                      <p:cBhvr>
                                        <p:cTn id="7" dur="500"/>
                                        <p:tgtEl>
                                          <p:spTgt spid="143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363"/>
                                        </p:tgtEl>
                                        <p:attrNameLst>
                                          <p:attrName>style.visibility</p:attrName>
                                        </p:attrNameLst>
                                      </p:cBhvr>
                                      <p:to>
                                        <p:strVal val="visible"/>
                                      </p:to>
                                    </p:set>
                                    <p:animEffect transition="in" filter="wipe(left)">
                                      <p:cBhvr>
                                        <p:cTn id="12" dur="500"/>
                                        <p:tgtEl>
                                          <p:spTgt spid="143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autoUpdateAnimBg="0"/>
      <p:bldP spid="143363" grpId="0" autoUpdateAnimBg="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3" name="Text Box 1027"/>
          <p:cNvSpPr txBox="1">
            <a:spLocks noChangeArrowheads="1"/>
          </p:cNvSpPr>
          <p:nvPr/>
        </p:nvSpPr>
        <p:spPr bwMode="auto">
          <a:xfrm>
            <a:off x="669925" y="193675"/>
            <a:ext cx="40957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a:solidFill>
                  <a:srgbClr val="3333FF"/>
                </a:solidFill>
                <a:ea typeface="隶书" charset="0"/>
              </a:rPr>
              <a:t>哈希表的定义：</a:t>
            </a:r>
            <a:endParaRPr lang="zh-CN" altLang="en-US" sz="3600">
              <a:ea typeface="隶书" charset="0"/>
            </a:endParaRPr>
          </a:p>
        </p:txBody>
      </p:sp>
      <p:sp>
        <p:nvSpPr>
          <p:cNvPr id="230404" name="Text Box 1028"/>
          <p:cNvSpPr txBox="1">
            <a:spLocks noChangeArrowheads="1"/>
          </p:cNvSpPr>
          <p:nvPr/>
        </p:nvSpPr>
        <p:spPr bwMode="auto">
          <a:xfrm>
            <a:off x="669925" y="1219200"/>
            <a:ext cx="8093075" cy="470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lang="en-US" altLang="zh-CN" sz="3600">
                <a:solidFill>
                  <a:srgbClr val="A50021"/>
                </a:solidFill>
                <a:ea typeface="楷体_GB2312" charset="0"/>
              </a:rPr>
              <a:t>   </a:t>
            </a:r>
            <a:r>
              <a:rPr lang="zh-CN" altLang="en-US" sz="3600">
                <a:solidFill>
                  <a:srgbClr val="A50021"/>
                </a:solidFill>
                <a:ea typeface="楷体_GB2312" charset="0"/>
              </a:rPr>
              <a:t>根据设定的</a:t>
            </a:r>
            <a:r>
              <a:rPr lang="zh-CN" altLang="en-US" sz="3600" b="1">
                <a:solidFill>
                  <a:srgbClr val="FF0000"/>
                </a:solidFill>
                <a:ea typeface="楷体_GB2312" charset="0"/>
              </a:rPr>
              <a:t>哈希函数 </a:t>
            </a:r>
            <a:r>
              <a:rPr lang="en-US" altLang="zh-CN" sz="3600" b="1">
                <a:solidFill>
                  <a:srgbClr val="FF0000"/>
                </a:solidFill>
                <a:ea typeface="楷体_GB2312" charset="0"/>
              </a:rPr>
              <a:t>H(key)</a:t>
            </a:r>
            <a:r>
              <a:rPr lang="en-US" altLang="zh-CN" sz="3600">
                <a:solidFill>
                  <a:srgbClr val="A50021"/>
                </a:solidFill>
                <a:ea typeface="楷体_GB2312" charset="0"/>
              </a:rPr>
              <a:t> </a:t>
            </a:r>
            <a:r>
              <a:rPr lang="zh-CN" altLang="en-US" sz="3600">
                <a:solidFill>
                  <a:srgbClr val="A50021"/>
                </a:solidFill>
                <a:ea typeface="楷体_GB2312" charset="0"/>
              </a:rPr>
              <a:t>和所选中的</a:t>
            </a:r>
            <a:r>
              <a:rPr lang="zh-CN" altLang="en-US" sz="3600" b="1">
                <a:solidFill>
                  <a:srgbClr val="FF0000"/>
                </a:solidFill>
                <a:ea typeface="楷体_GB2312" charset="0"/>
              </a:rPr>
              <a:t>处理冲突的方法</a:t>
            </a:r>
            <a:r>
              <a:rPr lang="zh-CN" altLang="en-US" sz="3600">
                <a:solidFill>
                  <a:srgbClr val="A50021"/>
                </a:solidFill>
                <a:ea typeface="楷体_GB2312" charset="0"/>
              </a:rPr>
              <a:t>，将一组关键字</a:t>
            </a:r>
            <a:r>
              <a:rPr lang="zh-CN" altLang="en-US" sz="3600" b="1">
                <a:solidFill>
                  <a:srgbClr val="FF0000"/>
                </a:solidFill>
                <a:ea typeface="楷体_GB2312" charset="0"/>
              </a:rPr>
              <a:t>映象到</a:t>
            </a:r>
            <a:r>
              <a:rPr lang="zh-CN" altLang="en-US" sz="3600">
                <a:solidFill>
                  <a:srgbClr val="A50021"/>
                </a:solidFill>
                <a:ea typeface="楷体_GB2312" charset="0"/>
              </a:rPr>
              <a:t>一个有限的、地址连续的地址集 </a:t>
            </a:r>
            <a:r>
              <a:rPr lang="en-US" altLang="zh-CN" sz="3600">
                <a:solidFill>
                  <a:srgbClr val="A50021"/>
                </a:solidFill>
                <a:ea typeface="楷体_GB2312" charset="0"/>
              </a:rPr>
              <a:t>(</a:t>
            </a:r>
            <a:r>
              <a:rPr lang="zh-CN" altLang="en-US" sz="3600">
                <a:solidFill>
                  <a:srgbClr val="A50021"/>
                </a:solidFill>
                <a:ea typeface="楷体_GB2312" charset="0"/>
              </a:rPr>
              <a:t>区间</a:t>
            </a:r>
            <a:r>
              <a:rPr lang="en-US" altLang="zh-CN" sz="3600">
                <a:solidFill>
                  <a:srgbClr val="A50021"/>
                </a:solidFill>
                <a:ea typeface="楷体_GB2312" charset="0"/>
              </a:rPr>
              <a:t>) </a:t>
            </a:r>
            <a:r>
              <a:rPr lang="zh-CN" altLang="en-US" sz="3600">
                <a:solidFill>
                  <a:srgbClr val="A50021"/>
                </a:solidFill>
                <a:ea typeface="楷体_GB2312" charset="0"/>
              </a:rPr>
              <a:t>上，并以关键字在地址集中的“象”作为相应记录在表中的</a:t>
            </a:r>
            <a:r>
              <a:rPr lang="zh-CN" altLang="en-US" sz="3600" b="1">
                <a:solidFill>
                  <a:srgbClr val="FF0000"/>
                </a:solidFill>
                <a:ea typeface="楷体_GB2312" charset="0"/>
              </a:rPr>
              <a:t>存储位置</a:t>
            </a:r>
            <a:r>
              <a:rPr lang="zh-CN" altLang="en-US" sz="3600">
                <a:solidFill>
                  <a:srgbClr val="A50021"/>
                </a:solidFill>
                <a:ea typeface="楷体_GB2312" charset="0"/>
              </a:rPr>
              <a:t>，如此构造所得的查找表称之为“</a:t>
            </a:r>
            <a:r>
              <a:rPr lang="zh-CN" altLang="en-US" sz="3600" b="1">
                <a:solidFill>
                  <a:srgbClr val="FF0000"/>
                </a:solidFill>
                <a:ea typeface="楷体_GB2312" charset="0"/>
              </a:rPr>
              <a:t>哈希表</a:t>
            </a:r>
            <a:r>
              <a:rPr lang="zh-CN" altLang="en-US" sz="3600">
                <a:solidFill>
                  <a:srgbClr val="A50021"/>
                </a:solidFill>
                <a:ea typeface="楷体_GB2312" charset="0"/>
              </a:rPr>
              <a:t>”。</a:t>
            </a:r>
          </a:p>
        </p:txBody>
      </p:sp>
      <p:sp>
        <p:nvSpPr>
          <p:cNvPr id="230406" name="AutoShape 1030">
            <a:hlinkClick r:id="rId2" action="ppaction://hlinksldjump" highlightClick="1"/>
          </p:cNvPr>
          <p:cNvSpPr>
            <a:spLocks noChangeArrowheads="1"/>
          </p:cNvSpPr>
          <p:nvPr/>
        </p:nvSpPr>
        <p:spPr bwMode="auto">
          <a:xfrm>
            <a:off x="83058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57165992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iterate type="wd">
                                    <p:tmPct val="100000"/>
                                  </p:iterate>
                                  <p:childTnLst>
                                    <p:set>
                                      <p:cBhvr>
                                        <p:cTn id="6" dur="1" fill="hold">
                                          <p:stCondLst>
                                            <p:cond delay="0"/>
                                          </p:stCondLst>
                                        </p:cTn>
                                        <p:tgtEl>
                                          <p:spTgt spid="230403"/>
                                        </p:tgtEl>
                                        <p:attrNameLst>
                                          <p:attrName>style.visibility</p:attrName>
                                        </p:attrNameLst>
                                      </p:cBhvr>
                                      <p:to>
                                        <p:strVal val="visible"/>
                                      </p:to>
                                    </p:set>
                                    <p:animEffect transition="in" filter="strips(downRight)">
                                      <p:cBhvr>
                                        <p:cTn id="7" dur="300"/>
                                        <p:tgtEl>
                                          <p:spTgt spid="2304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230404"/>
                                        </p:tgtEl>
                                        <p:attrNameLst>
                                          <p:attrName>style.visibility</p:attrName>
                                        </p:attrNameLst>
                                      </p:cBhvr>
                                      <p:to>
                                        <p:strVal val="visible"/>
                                      </p:to>
                                    </p:set>
                                    <p:animEffect transition="in" filter="strips(downRight)">
                                      <p:cBhvr>
                                        <p:cTn id="12" dur="300"/>
                                        <p:tgtEl>
                                          <p:spTgt spid="230404"/>
                                        </p:tgtEl>
                                      </p:cBhvr>
                                    </p:animEffect>
                                  </p:childTnLst>
                                </p:cTn>
                              </p:par>
                            </p:childTnLst>
                          </p:cTn>
                        </p:par>
                        <p:par>
                          <p:cTn id="13" fill="hold" nodeType="afterGroup">
                            <p:stCondLst>
                              <p:cond delay="18300"/>
                            </p:stCondLst>
                            <p:childTnLst>
                              <p:par>
                                <p:cTn id="14" presetID="2" presetClass="entr" presetSubtype="6" fill="hold" grpId="0" nodeType="afterEffect">
                                  <p:stCondLst>
                                    <p:cond delay="0"/>
                                  </p:stCondLst>
                                  <p:childTnLst>
                                    <p:set>
                                      <p:cBhvr>
                                        <p:cTn id="15" dur="1" fill="hold">
                                          <p:stCondLst>
                                            <p:cond delay="0"/>
                                          </p:stCondLst>
                                        </p:cTn>
                                        <p:tgtEl>
                                          <p:spTgt spid="230406"/>
                                        </p:tgtEl>
                                        <p:attrNameLst>
                                          <p:attrName>style.visibility</p:attrName>
                                        </p:attrNameLst>
                                      </p:cBhvr>
                                      <p:to>
                                        <p:strVal val="visible"/>
                                      </p:to>
                                    </p:set>
                                    <p:anim calcmode="lin" valueType="num">
                                      <p:cBhvr additive="base">
                                        <p:cTn id="16" dur="500" fill="hold"/>
                                        <p:tgtEl>
                                          <p:spTgt spid="230406"/>
                                        </p:tgtEl>
                                        <p:attrNameLst>
                                          <p:attrName>ppt_x</p:attrName>
                                        </p:attrNameLst>
                                      </p:cBhvr>
                                      <p:tavLst>
                                        <p:tav tm="0">
                                          <p:val>
                                            <p:strVal val="1+#ppt_w/2"/>
                                          </p:val>
                                        </p:tav>
                                        <p:tav tm="100000">
                                          <p:val>
                                            <p:strVal val="#ppt_x"/>
                                          </p:val>
                                        </p:tav>
                                      </p:tavLst>
                                    </p:anim>
                                    <p:anim calcmode="lin" valueType="num">
                                      <p:cBhvr additive="base">
                                        <p:cTn id="17" dur="500" fill="hold"/>
                                        <p:tgtEl>
                                          <p:spTgt spid="2304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autoUpdateAnimBg="0"/>
      <p:bldP spid="230404" grpId="0" autoUpdateAnimBg="0"/>
      <p:bldP spid="230406"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p:cNvSpPr txBox="1">
            <a:spLocks noChangeArrowheads="1"/>
          </p:cNvSpPr>
          <p:nvPr/>
        </p:nvSpPr>
        <p:spPr bwMode="auto">
          <a:xfrm>
            <a:off x="-457200" y="381000"/>
            <a:ext cx="67294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lvl="2"/>
            <a:r>
              <a:rPr lang="zh-CN" altLang="en-US" sz="4000">
                <a:solidFill>
                  <a:schemeClr val="accent2"/>
                </a:solidFill>
                <a:ea typeface="楷体_GB2312" charset="0"/>
              </a:rPr>
              <a:t>二、</a:t>
            </a:r>
            <a:r>
              <a:rPr lang="zh-CN" altLang="en-US" sz="4000" b="1">
                <a:solidFill>
                  <a:schemeClr val="accent2"/>
                </a:solidFill>
                <a:ea typeface="楷体_GB2312" charset="0"/>
              </a:rPr>
              <a:t>构造哈希函数的方法</a:t>
            </a:r>
          </a:p>
        </p:txBody>
      </p:sp>
      <p:sp>
        <p:nvSpPr>
          <p:cNvPr id="144387" name="Text Box 3"/>
          <p:cNvSpPr txBox="1">
            <a:spLocks noChangeArrowheads="1"/>
          </p:cNvSpPr>
          <p:nvPr/>
        </p:nvSpPr>
        <p:spPr bwMode="auto">
          <a:xfrm>
            <a:off x="457200" y="1306513"/>
            <a:ext cx="8305800"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3600">
                <a:solidFill>
                  <a:srgbClr val="A50021"/>
                </a:solidFill>
                <a:ea typeface="楷体_GB2312" charset="0"/>
              </a:rPr>
              <a:t>   </a:t>
            </a:r>
            <a:r>
              <a:rPr lang="zh-CN" altLang="en-US" sz="3600">
                <a:solidFill>
                  <a:srgbClr val="A50021"/>
                </a:solidFill>
                <a:ea typeface="楷体_GB2312" charset="0"/>
              </a:rPr>
              <a:t>对</a:t>
            </a:r>
            <a:r>
              <a:rPr lang="zh-CN" altLang="en-US" sz="3600" b="1">
                <a:solidFill>
                  <a:srgbClr val="A50021"/>
                </a:solidFill>
                <a:ea typeface="楷体_GB2312" charset="0"/>
              </a:rPr>
              <a:t>数字</a:t>
            </a:r>
            <a:r>
              <a:rPr lang="zh-CN" altLang="en-US" sz="3600">
                <a:solidFill>
                  <a:srgbClr val="A50021"/>
                </a:solidFill>
                <a:ea typeface="楷体_GB2312" charset="0"/>
              </a:rPr>
              <a:t>的关键字可有下列构造方法：</a:t>
            </a:r>
          </a:p>
        </p:txBody>
      </p:sp>
      <p:sp>
        <p:nvSpPr>
          <p:cNvPr id="144388" name="Rectangle 4"/>
          <p:cNvSpPr>
            <a:spLocks noChangeArrowheads="1"/>
          </p:cNvSpPr>
          <p:nvPr/>
        </p:nvSpPr>
        <p:spPr bwMode="auto">
          <a:xfrm>
            <a:off x="609600" y="5257800"/>
            <a:ext cx="80010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3600">
                <a:solidFill>
                  <a:srgbClr val="A50021"/>
                </a:solidFill>
                <a:ea typeface="楷体_GB2312" charset="0"/>
              </a:rPr>
              <a:t>    </a:t>
            </a:r>
            <a:r>
              <a:rPr lang="zh-CN" altLang="en-US" sz="3600">
                <a:solidFill>
                  <a:srgbClr val="A50021"/>
                </a:solidFill>
                <a:ea typeface="楷体_GB2312" charset="0"/>
              </a:rPr>
              <a:t>若是</a:t>
            </a:r>
            <a:r>
              <a:rPr lang="zh-CN" altLang="en-US" sz="3600" b="1">
                <a:solidFill>
                  <a:srgbClr val="A50021"/>
                </a:solidFill>
                <a:ea typeface="楷体_GB2312" charset="0"/>
              </a:rPr>
              <a:t>非数字关键字</a:t>
            </a:r>
            <a:r>
              <a:rPr lang="zh-CN" altLang="en-US" sz="3600">
                <a:solidFill>
                  <a:srgbClr val="A50021"/>
                </a:solidFill>
                <a:ea typeface="楷体_GB2312" charset="0"/>
              </a:rPr>
              <a:t>，则</a:t>
            </a:r>
            <a:r>
              <a:rPr lang="zh-CN" altLang="en-US" sz="3600" b="1">
                <a:solidFill>
                  <a:srgbClr val="A50021"/>
                </a:solidFill>
                <a:ea typeface="楷体_GB2312" charset="0"/>
              </a:rPr>
              <a:t>需先</a:t>
            </a:r>
            <a:r>
              <a:rPr lang="zh-CN" altLang="en-US" sz="3600">
                <a:solidFill>
                  <a:srgbClr val="A50021"/>
                </a:solidFill>
                <a:ea typeface="楷体_GB2312" charset="0"/>
              </a:rPr>
              <a:t>对其</a:t>
            </a:r>
            <a:r>
              <a:rPr lang="zh-CN" altLang="en-US" sz="3600" b="1">
                <a:solidFill>
                  <a:srgbClr val="A50021"/>
                </a:solidFill>
                <a:ea typeface="楷体_GB2312" charset="0"/>
              </a:rPr>
              <a:t>进行</a:t>
            </a:r>
          </a:p>
          <a:p>
            <a:pPr>
              <a:lnSpc>
                <a:spcPct val="120000"/>
              </a:lnSpc>
            </a:pPr>
            <a:r>
              <a:rPr lang="zh-CN" altLang="en-US" sz="3600" b="1">
                <a:solidFill>
                  <a:srgbClr val="A50021"/>
                </a:solidFill>
                <a:ea typeface="楷体_GB2312" charset="0"/>
              </a:rPr>
              <a:t>数字化处理</a:t>
            </a:r>
            <a:r>
              <a:rPr lang="zh-CN" altLang="en-US" sz="3600">
                <a:solidFill>
                  <a:srgbClr val="A50021"/>
                </a:solidFill>
                <a:ea typeface="楷体_GB2312" charset="0"/>
              </a:rPr>
              <a:t>。</a:t>
            </a:r>
          </a:p>
        </p:txBody>
      </p:sp>
      <p:sp>
        <p:nvSpPr>
          <p:cNvPr id="144389" name="Text Box 5">
            <a:hlinkClick r:id="" action="ppaction://hlinkshowjump?jump=nextslide" highlightClick="1"/>
          </p:cNvPr>
          <p:cNvSpPr txBox="1">
            <a:spLocks noChangeArrowheads="1"/>
          </p:cNvSpPr>
          <p:nvPr/>
        </p:nvSpPr>
        <p:spPr bwMode="auto">
          <a:xfrm>
            <a:off x="1163638" y="2270125"/>
            <a:ext cx="32559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00"/>
                </a:solidFill>
                <a:ea typeface="楷体_GB2312" charset="0"/>
              </a:rPr>
              <a:t>1.</a:t>
            </a:r>
            <a:r>
              <a:rPr lang="en-US" altLang="zh-CN" sz="4000">
                <a:solidFill>
                  <a:srgbClr val="FF0000"/>
                </a:solidFill>
                <a:ea typeface="楷体_GB2312" charset="0"/>
              </a:rPr>
              <a:t> </a:t>
            </a:r>
            <a:r>
              <a:rPr lang="zh-CN" altLang="en-US" sz="4000" b="1">
                <a:solidFill>
                  <a:srgbClr val="FF0000"/>
                </a:solidFill>
                <a:ea typeface="楷体_GB2312" charset="0"/>
              </a:rPr>
              <a:t>直接定址法</a:t>
            </a:r>
            <a:endParaRPr lang="zh-CN" altLang="en-US"/>
          </a:p>
        </p:txBody>
      </p:sp>
      <p:sp>
        <p:nvSpPr>
          <p:cNvPr id="144391" name="Text Box 7">
            <a:hlinkClick r:id="rId2" action="ppaction://hlinksldjump" highlightClick="1"/>
          </p:cNvPr>
          <p:cNvSpPr txBox="1">
            <a:spLocks noChangeArrowheads="1"/>
          </p:cNvSpPr>
          <p:nvPr/>
        </p:nvSpPr>
        <p:spPr bwMode="auto">
          <a:xfrm>
            <a:off x="1143000" y="4251325"/>
            <a:ext cx="3255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00"/>
                </a:solidFill>
                <a:ea typeface="楷体_GB2312" charset="0"/>
              </a:rPr>
              <a:t>3. </a:t>
            </a:r>
            <a:r>
              <a:rPr lang="zh-CN" altLang="en-US" sz="4000" b="1">
                <a:solidFill>
                  <a:srgbClr val="FF0000"/>
                </a:solidFill>
                <a:ea typeface="楷体_GB2312" charset="0"/>
              </a:rPr>
              <a:t>平方取中法</a:t>
            </a:r>
            <a:endParaRPr lang="zh-CN" altLang="en-US" sz="4000" b="1">
              <a:solidFill>
                <a:srgbClr val="800000"/>
              </a:solidFill>
              <a:ea typeface="楷体_GB2312" charset="0"/>
            </a:endParaRPr>
          </a:p>
        </p:txBody>
      </p:sp>
      <p:sp>
        <p:nvSpPr>
          <p:cNvPr id="144392" name="Text Box 8">
            <a:hlinkClick r:id="rId3" action="ppaction://hlinksldjump" highlightClick="1"/>
          </p:cNvPr>
          <p:cNvSpPr txBox="1">
            <a:spLocks noChangeArrowheads="1"/>
          </p:cNvSpPr>
          <p:nvPr/>
        </p:nvSpPr>
        <p:spPr bwMode="auto">
          <a:xfrm>
            <a:off x="5334000" y="3260725"/>
            <a:ext cx="3255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00"/>
                </a:solidFill>
              </a:rPr>
              <a:t>5. </a:t>
            </a:r>
            <a:r>
              <a:rPr lang="zh-CN" altLang="en-US" sz="4000" b="1">
                <a:solidFill>
                  <a:srgbClr val="FF0000"/>
                </a:solidFill>
                <a:ea typeface="楷体_GB2312" charset="0"/>
              </a:rPr>
              <a:t>除留余数法</a:t>
            </a:r>
            <a:endParaRPr lang="zh-CN" altLang="en-US" sz="4000" b="1">
              <a:solidFill>
                <a:srgbClr val="800000"/>
              </a:solidFill>
              <a:ea typeface="楷体_GB2312" charset="0"/>
            </a:endParaRPr>
          </a:p>
        </p:txBody>
      </p:sp>
      <p:sp>
        <p:nvSpPr>
          <p:cNvPr id="144393" name="Text Box 9">
            <a:hlinkClick r:id="rId4" action="ppaction://hlinksldjump" highlightClick="1"/>
          </p:cNvPr>
          <p:cNvSpPr txBox="1">
            <a:spLocks noChangeArrowheads="1"/>
          </p:cNvSpPr>
          <p:nvPr/>
        </p:nvSpPr>
        <p:spPr bwMode="auto">
          <a:xfrm>
            <a:off x="5334000" y="2286000"/>
            <a:ext cx="22304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00"/>
                </a:solidFill>
              </a:rPr>
              <a:t>4. </a:t>
            </a:r>
            <a:r>
              <a:rPr lang="zh-CN" altLang="en-US" sz="4000" b="1">
                <a:solidFill>
                  <a:srgbClr val="FF0000"/>
                </a:solidFill>
                <a:ea typeface="楷体_GB2312" charset="0"/>
              </a:rPr>
              <a:t>折叠法</a:t>
            </a:r>
            <a:endParaRPr lang="zh-CN" altLang="en-US" sz="4000" b="1">
              <a:solidFill>
                <a:srgbClr val="800000"/>
              </a:solidFill>
              <a:ea typeface="楷体_GB2312" charset="0"/>
            </a:endParaRPr>
          </a:p>
        </p:txBody>
      </p:sp>
      <p:sp>
        <p:nvSpPr>
          <p:cNvPr id="144394" name="Text Box 10">
            <a:hlinkClick r:id="rId5" action="ppaction://hlinksldjump" highlightClick="1"/>
          </p:cNvPr>
          <p:cNvSpPr txBox="1">
            <a:spLocks noChangeArrowheads="1"/>
          </p:cNvSpPr>
          <p:nvPr/>
        </p:nvSpPr>
        <p:spPr bwMode="auto">
          <a:xfrm>
            <a:off x="5334000" y="4267200"/>
            <a:ext cx="2743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00"/>
                </a:solidFill>
              </a:rPr>
              <a:t>6. </a:t>
            </a:r>
            <a:r>
              <a:rPr lang="zh-CN" altLang="en-US" sz="4000" b="1">
                <a:solidFill>
                  <a:srgbClr val="FF0000"/>
                </a:solidFill>
                <a:ea typeface="楷体_GB2312" charset="0"/>
              </a:rPr>
              <a:t>随机数法</a:t>
            </a:r>
            <a:endParaRPr lang="zh-CN" altLang="en-US" sz="4000" b="1">
              <a:solidFill>
                <a:srgbClr val="800000"/>
              </a:solidFill>
              <a:ea typeface="楷体_GB2312" charset="0"/>
            </a:endParaRPr>
          </a:p>
        </p:txBody>
      </p:sp>
      <p:sp>
        <p:nvSpPr>
          <p:cNvPr id="144395" name="Text Box 11">
            <a:hlinkClick r:id="rId6" action="ppaction://hlinksldjump"/>
          </p:cNvPr>
          <p:cNvSpPr txBox="1">
            <a:spLocks noChangeArrowheads="1"/>
          </p:cNvSpPr>
          <p:nvPr/>
        </p:nvSpPr>
        <p:spPr bwMode="auto">
          <a:xfrm>
            <a:off x="1163638" y="3260725"/>
            <a:ext cx="32559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FF0000"/>
                </a:solidFill>
                <a:ea typeface="楷体_GB2312" charset="0"/>
              </a:rPr>
              <a:t>2. </a:t>
            </a:r>
            <a:r>
              <a:rPr lang="zh-CN" altLang="en-US" sz="4000" b="1">
                <a:solidFill>
                  <a:srgbClr val="FF0000"/>
                </a:solidFill>
                <a:latin typeface="楷体_GB2312" charset="0"/>
                <a:ea typeface="楷体_GB2312" charset="0"/>
              </a:rPr>
              <a:t>数字分析法</a:t>
            </a:r>
            <a:endParaRPr lang="zh-CN" altLang="en-US" sz="4000" b="1">
              <a:solidFill>
                <a:srgbClr val="800000"/>
              </a:solidFill>
              <a:latin typeface="楷体_GB2312" charset="0"/>
              <a:ea typeface="楷体_GB2312" charset="0"/>
            </a:endParaRPr>
          </a:p>
        </p:txBody>
      </p:sp>
      <p:sp>
        <p:nvSpPr>
          <p:cNvPr id="144399" name="AutoShape 15">
            <a:hlinkClick r:id="rId7" action="ppaction://hlinksldjump" highlightClick="1"/>
          </p:cNvPr>
          <p:cNvSpPr>
            <a:spLocks noChangeArrowheads="1"/>
          </p:cNvSpPr>
          <p:nvPr/>
        </p:nvSpPr>
        <p:spPr bwMode="auto">
          <a:xfrm>
            <a:off x="83058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00" name="AutoShape 16">
            <a:hlinkClick r:id="rId8" action="ppaction://hlinksldjump" highlightClick="1"/>
          </p:cNvPr>
          <p:cNvSpPr>
            <a:spLocks noChangeArrowheads="1"/>
          </p:cNvSpPr>
          <p:nvPr/>
        </p:nvSpPr>
        <p:spPr bwMode="auto">
          <a:xfrm>
            <a:off x="4572000" y="48768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3941734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4386"/>
                                        </p:tgtEl>
                                        <p:attrNameLst>
                                          <p:attrName>style.visibility</p:attrName>
                                        </p:attrNameLst>
                                      </p:cBhvr>
                                      <p:to>
                                        <p:strVal val="visible"/>
                                      </p:to>
                                    </p:set>
                                    <p:animEffect transition="in" filter="wipe(left)">
                                      <p:cBhvr>
                                        <p:cTn id="7" dur="500"/>
                                        <p:tgtEl>
                                          <p:spTgt spid="144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4387"/>
                                        </p:tgtEl>
                                        <p:attrNameLst>
                                          <p:attrName>style.visibility</p:attrName>
                                        </p:attrNameLst>
                                      </p:cBhvr>
                                      <p:to>
                                        <p:strVal val="visible"/>
                                      </p:to>
                                    </p:set>
                                    <p:animEffect transition="in" filter="wipe(left)">
                                      <p:cBhvr>
                                        <p:cTn id="12" dur="500"/>
                                        <p:tgtEl>
                                          <p:spTgt spid="144387"/>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iterate type="wd">
                                    <p:tmPct val="100000"/>
                                  </p:iterate>
                                  <p:childTnLst>
                                    <p:set>
                                      <p:cBhvr>
                                        <p:cTn id="15" dur="1" fill="hold">
                                          <p:stCondLst>
                                            <p:cond delay="0"/>
                                          </p:stCondLst>
                                        </p:cTn>
                                        <p:tgtEl>
                                          <p:spTgt spid="144389"/>
                                        </p:tgtEl>
                                        <p:attrNameLst>
                                          <p:attrName>style.visibility</p:attrName>
                                        </p:attrNameLst>
                                      </p:cBhvr>
                                      <p:to>
                                        <p:strVal val="visible"/>
                                      </p:to>
                                    </p:set>
                                    <p:animEffect transition="in" filter="wipe(left)">
                                      <p:cBhvr>
                                        <p:cTn id="16" dur="300"/>
                                        <p:tgtEl>
                                          <p:spTgt spid="144389"/>
                                        </p:tgtEl>
                                      </p:cBhvr>
                                    </p:animEffect>
                                  </p:childTnLst>
                                </p:cTn>
                              </p:par>
                            </p:childTnLst>
                          </p:cTn>
                        </p:par>
                        <p:par>
                          <p:cTn id="17" fill="hold" nodeType="afterGroup">
                            <p:stCondLst>
                              <p:cond delay="2000"/>
                            </p:stCondLst>
                            <p:childTnLst>
                              <p:par>
                                <p:cTn id="18" presetID="22" presetClass="entr" presetSubtype="8" fill="hold" grpId="0" nodeType="afterEffect">
                                  <p:stCondLst>
                                    <p:cond delay="0"/>
                                  </p:stCondLst>
                                  <p:iterate type="wd">
                                    <p:tmPct val="100000"/>
                                  </p:iterate>
                                  <p:childTnLst>
                                    <p:set>
                                      <p:cBhvr>
                                        <p:cTn id="19" dur="1" fill="hold">
                                          <p:stCondLst>
                                            <p:cond delay="0"/>
                                          </p:stCondLst>
                                        </p:cTn>
                                        <p:tgtEl>
                                          <p:spTgt spid="144395"/>
                                        </p:tgtEl>
                                        <p:attrNameLst>
                                          <p:attrName>style.visibility</p:attrName>
                                        </p:attrNameLst>
                                      </p:cBhvr>
                                      <p:to>
                                        <p:strVal val="visible"/>
                                      </p:to>
                                    </p:set>
                                    <p:animEffect transition="in" filter="wipe(left)">
                                      <p:cBhvr>
                                        <p:cTn id="20" dur="300"/>
                                        <p:tgtEl>
                                          <p:spTgt spid="144395"/>
                                        </p:tgtEl>
                                      </p:cBhvr>
                                    </p:animEffect>
                                  </p:childTnLst>
                                </p:cTn>
                              </p:par>
                            </p:childTnLst>
                          </p:cTn>
                        </p:par>
                        <p:par>
                          <p:cTn id="21" fill="hold" nodeType="afterGroup">
                            <p:stCondLst>
                              <p:cond delay="3500"/>
                            </p:stCondLst>
                            <p:childTnLst>
                              <p:par>
                                <p:cTn id="22" presetID="22" presetClass="entr" presetSubtype="8" fill="hold" grpId="0" nodeType="afterEffect">
                                  <p:stCondLst>
                                    <p:cond delay="0"/>
                                  </p:stCondLst>
                                  <p:iterate type="wd">
                                    <p:tmPct val="100000"/>
                                  </p:iterate>
                                  <p:childTnLst>
                                    <p:set>
                                      <p:cBhvr>
                                        <p:cTn id="23" dur="1" fill="hold">
                                          <p:stCondLst>
                                            <p:cond delay="0"/>
                                          </p:stCondLst>
                                        </p:cTn>
                                        <p:tgtEl>
                                          <p:spTgt spid="144391"/>
                                        </p:tgtEl>
                                        <p:attrNameLst>
                                          <p:attrName>style.visibility</p:attrName>
                                        </p:attrNameLst>
                                      </p:cBhvr>
                                      <p:to>
                                        <p:strVal val="visible"/>
                                      </p:to>
                                    </p:set>
                                    <p:animEffect transition="in" filter="wipe(left)">
                                      <p:cBhvr>
                                        <p:cTn id="24" dur="300"/>
                                        <p:tgtEl>
                                          <p:spTgt spid="144391"/>
                                        </p:tgtEl>
                                      </p:cBhvr>
                                    </p:animEffect>
                                  </p:childTnLst>
                                </p:cTn>
                              </p:par>
                            </p:childTnLst>
                          </p:cTn>
                        </p:par>
                        <p:par>
                          <p:cTn id="25" fill="hold" nodeType="afterGroup">
                            <p:stCondLst>
                              <p:cond delay="5300"/>
                            </p:stCondLst>
                            <p:childTnLst>
                              <p:par>
                                <p:cTn id="26" presetID="22" presetClass="entr" presetSubtype="8" fill="hold" grpId="0" nodeType="afterEffect">
                                  <p:stCondLst>
                                    <p:cond delay="0"/>
                                  </p:stCondLst>
                                  <p:iterate type="wd">
                                    <p:tmPct val="100000"/>
                                  </p:iterate>
                                  <p:childTnLst>
                                    <p:set>
                                      <p:cBhvr>
                                        <p:cTn id="27" dur="1" fill="hold">
                                          <p:stCondLst>
                                            <p:cond delay="0"/>
                                          </p:stCondLst>
                                        </p:cTn>
                                        <p:tgtEl>
                                          <p:spTgt spid="144393"/>
                                        </p:tgtEl>
                                        <p:attrNameLst>
                                          <p:attrName>style.visibility</p:attrName>
                                        </p:attrNameLst>
                                      </p:cBhvr>
                                      <p:to>
                                        <p:strVal val="visible"/>
                                      </p:to>
                                    </p:set>
                                    <p:animEffect transition="in" filter="wipe(left)">
                                      <p:cBhvr>
                                        <p:cTn id="28" dur="300"/>
                                        <p:tgtEl>
                                          <p:spTgt spid="144393"/>
                                        </p:tgtEl>
                                      </p:cBhvr>
                                    </p:animEffect>
                                  </p:childTnLst>
                                </p:cTn>
                              </p:par>
                            </p:childTnLst>
                          </p:cTn>
                        </p:par>
                        <p:par>
                          <p:cTn id="29" fill="hold" nodeType="afterGroup">
                            <p:stCondLst>
                              <p:cond delay="6500"/>
                            </p:stCondLst>
                            <p:childTnLst>
                              <p:par>
                                <p:cTn id="30" presetID="22" presetClass="entr" presetSubtype="8" fill="hold" grpId="0" nodeType="afterEffect">
                                  <p:stCondLst>
                                    <p:cond delay="0"/>
                                  </p:stCondLst>
                                  <p:iterate type="wd">
                                    <p:tmPct val="100000"/>
                                  </p:iterate>
                                  <p:childTnLst>
                                    <p:set>
                                      <p:cBhvr>
                                        <p:cTn id="31" dur="1" fill="hold">
                                          <p:stCondLst>
                                            <p:cond delay="0"/>
                                          </p:stCondLst>
                                        </p:cTn>
                                        <p:tgtEl>
                                          <p:spTgt spid="144392"/>
                                        </p:tgtEl>
                                        <p:attrNameLst>
                                          <p:attrName>style.visibility</p:attrName>
                                        </p:attrNameLst>
                                      </p:cBhvr>
                                      <p:to>
                                        <p:strVal val="visible"/>
                                      </p:to>
                                    </p:set>
                                    <p:animEffect transition="in" filter="wipe(left)">
                                      <p:cBhvr>
                                        <p:cTn id="32" dur="300"/>
                                        <p:tgtEl>
                                          <p:spTgt spid="144392"/>
                                        </p:tgtEl>
                                      </p:cBhvr>
                                    </p:animEffect>
                                  </p:childTnLst>
                                </p:cTn>
                              </p:par>
                            </p:childTnLst>
                          </p:cTn>
                        </p:par>
                        <p:par>
                          <p:cTn id="33" fill="hold" nodeType="afterGroup">
                            <p:stCondLst>
                              <p:cond delay="8300"/>
                            </p:stCondLst>
                            <p:childTnLst>
                              <p:par>
                                <p:cTn id="34" presetID="22" presetClass="entr" presetSubtype="8" fill="hold" grpId="0" nodeType="afterEffect">
                                  <p:stCondLst>
                                    <p:cond delay="0"/>
                                  </p:stCondLst>
                                  <p:iterate type="wd">
                                    <p:tmPct val="100000"/>
                                  </p:iterate>
                                  <p:childTnLst>
                                    <p:set>
                                      <p:cBhvr>
                                        <p:cTn id="35" dur="1" fill="hold">
                                          <p:stCondLst>
                                            <p:cond delay="0"/>
                                          </p:stCondLst>
                                        </p:cTn>
                                        <p:tgtEl>
                                          <p:spTgt spid="144394"/>
                                        </p:tgtEl>
                                        <p:attrNameLst>
                                          <p:attrName>style.visibility</p:attrName>
                                        </p:attrNameLst>
                                      </p:cBhvr>
                                      <p:to>
                                        <p:strVal val="visible"/>
                                      </p:to>
                                    </p:set>
                                    <p:animEffect transition="in" filter="wipe(left)">
                                      <p:cBhvr>
                                        <p:cTn id="36" dur="300"/>
                                        <p:tgtEl>
                                          <p:spTgt spid="144394"/>
                                        </p:tgtEl>
                                      </p:cBhvr>
                                    </p:animEffect>
                                  </p:childTnLst>
                                </p:cTn>
                              </p:par>
                            </p:childTnLst>
                          </p:cTn>
                        </p:par>
                        <p:par>
                          <p:cTn id="37" fill="hold" nodeType="afterGroup">
                            <p:stCondLst>
                              <p:cond delay="9500"/>
                            </p:stCondLst>
                            <p:childTnLst>
                              <p:par>
                                <p:cTn id="38" presetID="2" presetClass="entr" presetSubtype="6" fill="hold" grpId="0" nodeType="afterEffect">
                                  <p:stCondLst>
                                    <p:cond delay="0"/>
                                  </p:stCondLst>
                                  <p:childTnLst>
                                    <p:set>
                                      <p:cBhvr>
                                        <p:cTn id="39" dur="1" fill="hold">
                                          <p:stCondLst>
                                            <p:cond delay="0"/>
                                          </p:stCondLst>
                                        </p:cTn>
                                        <p:tgtEl>
                                          <p:spTgt spid="144400"/>
                                        </p:tgtEl>
                                        <p:attrNameLst>
                                          <p:attrName>style.visibility</p:attrName>
                                        </p:attrNameLst>
                                      </p:cBhvr>
                                      <p:to>
                                        <p:strVal val="visible"/>
                                      </p:to>
                                    </p:set>
                                    <p:anim calcmode="lin" valueType="num">
                                      <p:cBhvr additive="base">
                                        <p:cTn id="40" dur="500" fill="hold"/>
                                        <p:tgtEl>
                                          <p:spTgt spid="144400"/>
                                        </p:tgtEl>
                                        <p:attrNameLst>
                                          <p:attrName>ppt_x</p:attrName>
                                        </p:attrNameLst>
                                      </p:cBhvr>
                                      <p:tavLst>
                                        <p:tav tm="0">
                                          <p:val>
                                            <p:strVal val="1+#ppt_w/2"/>
                                          </p:val>
                                        </p:tav>
                                        <p:tav tm="100000">
                                          <p:val>
                                            <p:strVal val="#ppt_x"/>
                                          </p:val>
                                        </p:tav>
                                      </p:tavLst>
                                    </p:anim>
                                    <p:anim calcmode="lin" valueType="num">
                                      <p:cBhvr additive="base">
                                        <p:cTn id="41" dur="500" fill="hold"/>
                                        <p:tgtEl>
                                          <p:spTgt spid="144400"/>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44388"/>
                                        </p:tgtEl>
                                        <p:attrNameLst>
                                          <p:attrName>style.visibility</p:attrName>
                                        </p:attrNameLst>
                                      </p:cBhvr>
                                      <p:to>
                                        <p:strVal val="visible"/>
                                      </p:to>
                                    </p:set>
                                    <p:animEffect transition="in" filter="wipe(left)">
                                      <p:cBhvr>
                                        <p:cTn id="46" dur="500"/>
                                        <p:tgtEl>
                                          <p:spTgt spid="144388"/>
                                        </p:tgtEl>
                                      </p:cBhvr>
                                    </p:animEffect>
                                  </p:childTnLst>
                                </p:cTn>
                              </p:par>
                            </p:childTnLst>
                          </p:cTn>
                        </p:par>
                        <p:par>
                          <p:cTn id="47" fill="hold" nodeType="afterGroup">
                            <p:stCondLst>
                              <p:cond delay="500"/>
                            </p:stCondLst>
                            <p:childTnLst>
                              <p:par>
                                <p:cTn id="48" presetID="2" presetClass="entr" presetSubtype="6" fill="hold" grpId="0" nodeType="afterEffect">
                                  <p:stCondLst>
                                    <p:cond delay="0"/>
                                  </p:stCondLst>
                                  <p:childTnLst>
                                    <p:set>
                                      <p:cBhvr>
                                        <p:cTn id="49" dur="1" fill="hold">
                                          <p:stCondLst>
                                            <p:cond delay="0"/>
                                          </p:stCondLst>
                                        </p:cTn>
                                        <p:tgtEl>
                                          <p:spTgt spid="144399"/>
                                        </p:tgtEl>
                                        <p:attrNameLst>
                                          <p:attrName>style.visibility</p:attrName>
                                        </p:attrNameLst>
                                      </p:cBhvr>
                                      <p:to>
                                        <p:strVal val="visible"/>
                                      </p:to>
                                    </p:set>
                                    <p:anim calcmode="lin" valueType="num">
                                      <p:cBhvr additive="base">
                                        <p:cTn id="50" dur="500" fill="hold"/>
                                        <p:tgtEl>
                                          <p:spTgt spid="144399"/>
                                        </p:tgtEl>
                                        <p:attrNameLst>
                                          <p:attrName>ppt_x</p:attrName>
                                        </p:attrNameLst>
                                      </p:cBhvr>
                                      <p:tavLst>
                                        <p:tav tm="0">
                                          <p:val>
                                            <p:strVal val="1+#ppt_w/2"/>
                                          </p:val>
                                        </p:tav>
                                        <p:tav tm="100000">
                                          <p:val>
                                            <p:strVal val="#ppt_x"/>
                                          </p:val>
                                        </p:tav>
                                      </p:tavLst>
                                    </p:anim>
                                    <p:anim calcmode="lin" valueType="num">
                                      <p:cBhvr additive="base">
                                        <p:cTn id="51" dur="500" fill="hold"/>
                                        <p:tgtEl>
                                          <p:spTgt spid="1443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6" grpId="0" autoUpdateAnimBg="0"/>
      <p:bldP spid="144387" grpId="0" autoUpdateAnimBg="0"/>
      <p:bldP spid="144388" grpId="0" autoUpdateAnimBg="0"/>
      <p:bldP spid="144389" grpId="0" autoUpdateAnimBg="0"/>
      <p:bldP spid="144391" grpId="0" autoUpdateAnimBg="0"/>
      <p:bldP spid="144392" grpId="0" autoUpdateAnimBg="0"/>
      <p:bldP spid="144393" grpId="0" autoUpdateAnimBg="0"/>
      <p:bldP spid="144394" grpId="0" autoUpdateAnimBg="0"/>
      <p:bldP spid="144395" grpId="0" autoUpdateAnimBg="0"/>
      <p:bldP spid="144399" grpId="0" animBg="1"/>
      <p:bldP spid="144400"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ext Box 2"/>
          <p:cNvSpPr txBox="1">
            <a:spLocks noChangeArrowheads="1"/>
          </p:cNvSpPr>
          <p:nvPr/>
        </p:nvSpPr>
        <p:spPr bwMode="auto">
          <a:xfrm>
            <a:off x="920750" y="1676400"/>
            <a:ext cx="6127750"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lang="zh-CN" altLang="en-US" sz="3600">
                <a:solidFill>
                  <a:srgbClr val="A50021"/>
                </a:solidFill>
                <a:ea typeface="楷体_GB2312" charset="0"/>
              </a:rPr>
              <a:t>哈希函数为关键字的线性函数</a:t>
            </a:r>
            <a:endParaRPr lang="zh-CN" altLang="en-US" sz="3600">
              <a:ea typeface="楷体_GB2312" charset="0"/>
            </a:endParaRPr>
          </a:p>
          <a:p>
            <a:pPr lvl="2">
              <a:lnSpc>
                <a:spcPct val="140000"/>
              </a:lnSpc>
            </a:pPr>
            <a:r>
              <a:rPr lang="zh-CN" altLang="en-US" sz="3600">
                <a:ea typeface="楷体_GB2312" charset="0"/>
              </a:rPr>
              <a:t> </a:t>
            </a:r>
            <a:r>
              <a:rPr lang="en-US" altLang="zh-CN" sz="3600">
                <a:solidFill>
                  <a:srgbClr val="FF0000"/>
                </a:solidFill>
                <a:ea typeface="楷体_GB2312" charset="0"/>
              </a:rPr>
              <a:t>H(key) = key</a:t>
            </a:r>
            <a:r>
              <a:rPr lang="en-US" altLang="zh-CN" sz="3600">
                <a:ea typeface="楷体_GB2312" charset="0"/>
              </a:rPr>
              <a:t>          </a:t>
            </a:r>
            <a:r>
              <a:rPr lang="zh-CN" altLang="en-US" sz="3600">
                <a:solidFill>
                  <a:srgbClr val="A50021"/>
                </a:solidFill>
                <a:ea typeface="楷体_GB2312" charset="0"/>
              </a:rPr>
              <a:t>或者</a:t>
            </a:r>
            <a:endParaRPr lang="zh-CN" altLang="en-US" sz="3600">
              <a:ea typeface="楷体_GB2312" charset="0"/>
            </a:endParaRPr>
          </a:p>
          <a:p>
            <a:pPr lvl="2">
              <a:lnSpc>
                <a:spcPct val="140000"/>
              </a:lnSpc>
            </a:pPr>
            <a:r>
              <a:rPr lang="zh-CN" altLang="en-US" sz="3600">
                <a:ea typeface="楷体_GB2312" charset="0"/>
              </a:rPr>
              <a:t> </a:t>
            </a:r>
            <a:r>
              <a:rPr lang="en-US" altLang="zh-CN" sz="3600">
                <a:solidFill>
                  <a:srgbClr val="FF0000"/>
                </a:solidFill>
                <a:ea typeface="楷体_GB2312" charset="0"/>
              </a:rPr>
              <a:t>H(key) = a </a:t>
            </a:r>
            <a:r>
              <a:rPr lang="en-US" altLang="zh-CN" sz="3600">
                <a:solidFill>
                  <a:srgbClr val="FF0000"/>
                </a:solidFill>
                <a:ea typeface="楷体_GB2312" charset="0"/>
                <a:sym typeface="Symbol" charset="2"/>
              </a:rPr>
              <a:t></a:t>
            </a:r>
            <a:r>
              <a:rPr lang="en-US" altLang="zh-CN" sz="3600">
                <a:solidFill>
                  <a:srgbClr val="FF0000"/>
                </a:solidFill>
                <a:ea typeface="楷体_GB2312" charset="0"/>
              </a:rPr>
              <a:t> key + b</a:t>
            </a:r>
            <a:endParaRPr lang="en-US" altLang="zh-CN" sz="4000"/>
          </a:p>
        </p:txBody>
      </p:sp>
      <p:sp>
        <p:nvSpPr>
          <p:cNvPr id="151555" name="Text Box 3"/>
          <p:cNvSpPr txBox="1">
            <a:spLocks noChangeArrowheads="1"/>
          </p:cNvSpPr>
          <p:nvPr/>
        </p:nvSpPr>
        <p:spPr bwMode="auto">
          <a:xfrm>
            <a:off x="782638" y="609600"/>
            <a:ext cx="32559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800000"/>
                </a:solidFill>
                <a:ea typeface="楷体_GB2312" charset="0"/>
              </a:rPr>
              <a:t>1.</a:t>
            </a:r>
            <a:r>
              <a:rPr lang="en-US" altLang="zh-CN" sz="4000">
                <a:ea typeface="楷体_GB2312" charset="0"/>
              </a:rPr>
              <a:t> </a:t>
            </a:r>
            <a:r>
              <a:rPr lang="zh-CN" altLang="en-US" sz="4000" b="1">
                <a:solidFill>
                  <a:srgbClr val="800000"/>
                </a:solidFill>
                <a:ea typeface="楷体_GB2312" charset="0"/>
              </a:rPr>
              <a:t>直接定址法</a:t>
            </a:r>
            <a:endParaRPr lang="zh-CN" altLang="en-US"/>
          </a:p>
        </p:txBody>
      </p:sp>
      <p:pic>
        <p:nvPicPr>
          <p:cNvPr id="151556" name="Picture 4" descr="Autumn Leaves">
            <a:hlinkClick r:id="" action="ppaction://hlinkshowjump?jump=previous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19200"/>
            <a:ext cx="3124200" cy="120650"/>
          </a:xfrm>
          <a:prstGeom prst="rect">
            <a:avLst/>
          </a:prstGeom>
          <a:noFill/>
          <a:extLst>
            <a:ext uri="{909E8E84-426E-40DD-AFC4-6F175D3DCCD1}">
              <a14:hiddenFill xmlns:a14="http://schemas.microsoft.com/office/drawing/2010/main">
                <a:solidFill>
                  <a:srgbClr val="FFFFFF"/>
                </a:solidFill>
              </a14:hiddenFill>
            </a:ext>
          </a:extLst>
        </p:spPr>
      </p:pic>
      <p:sp>
        <p:nvSpPr>
          <p:cNvPr id="151558" name="Rectangle 6"/>
          <p:cNvSpPr>
            <a:spLocks noChangeArrowheads="1"/>
          </p:cNvSpPr>
          <p:nvPr/>
        </p:nvSpPr>
        <p:spPr bwMode="auto">
          <a:xfrm>
            <a:off x="762000" y="4238625"/>
            <a:ext cx="7953375"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lang="zh-CN" altLang="en-US" sz="3600" b="1">
                <a:solidFill>
                  <a:schemeClr val="accent2"/>
                </a:solidFill>
                <a:ea typeface="楷体_GB2312" charset="0"/>
              </a:rPr>
              <a:t>此法仅适合于：</a:t>
            </a:r>
            <a:endParaRPr lang="zh-CN" altLang="en-US" sz="3600" b="1">
              <a:solidFill>
                <a:srgbClr val="A50021"/>
              </a:solidFill>
              <a:ea typeface="楷体_GB2312" charset="0"/>
            </a:endParaRPr>
          </a:p>
          <a:p>
            <a:pPr>
              <a:lnSpc>
                <a:spcPct val="140000"/>
              </a:lnSpc>
            </a:pPr>
            <a:r>
              <a:rPr lang="zh-CN" altLang="en-US" sz="3600" b="1">
                <a:solidFill>
                  <a:srgbClr val="A50021"/>
                </a:solidFill>
                <a:ea typeface="楷体_GB2312" charset="0"/>
              </a:rPr>
              <a:t>地址集合的大小 </a:t>
            </a:r>
            <a:r>
              <a:rPr lang="en-US" altLang="zh-CN" sz="3600" b="1">
                <a:solidFill>
                  <a:srgbClr val="A50021"/>
                </a:solidFill>
                <a:ea typeface="楷体_GB2312" charset="0"/>
              </a:rPr>
              <a:t>= = </a:t>
            </a:r>
            <a:r>
              <a:rPr lang="zh-CN" altLang="en-US" sz="3600" b="1">
                <a:solidFill>
                  <a:srgbClr val="A50021"/>
                </a:solidFill>
                <a:ea typeface="楷体_GB2312" charset="0"/>
              </a:rPr>
              <a:t>关键字集合的大小</a:t>
            </a:r>
            <a:endParaRPr lang="zh-CN" altLang="en-US" sz="3600">
              <a:solidFill>
                <a:srgbClr val="A50021"/>
              </a:solidFill>
              <a:ea typeface="楷体_GB2312" charset="0"/>
            </a:endParaRPr>
          </a:p>
        </p:txBody>
      </p:sp>
      <p:sp>
        <p:nvSpPr>
          <p:cNvPr id="151560" name="AutoShape 8">
            <a:hlinkClick r:id="rId3" action="ppaction://hlinksldjump" highlightClick="1"/>
          </p:cNvPr>
          <p:cNvSpPr>
            <a:spLocks noChangeArrowheads="1"/>
          </p:cNvSpPr>
          <p:nvPr/>
        </p:nvSpPr>
        <p:spPr bwMode="auto">
          <a:xfrm>
            <a:off x="8458200" y="61722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62369084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51555"/>
                                        </p:tgtEl>
                                        <p:attrNameLst>
                                          <p:attrName>style.visibility</p:attrName>
                                        </p:attrNameLst>
                                      </p:cBhvr>
                                      <p:to>
                                        <p:strVal val="visible"/>
                                      </p:to>
                                    </p:set>
                                    <p:animEffect transition="in" filter="wipe(left)">
                                      <p:cBhvr>
                                        <p:cTn id="7" dur="300"/>
                                        <p:tgtEl>
                                          <p:spTgt spid="151555"/>
                                        </p:tgtEl>
                                      </p:cBhvr>
                                    </p:animEffect>
                                  </p:childTnLst>
                                </p:cTn>
                              </p:par>
                            </p:childTnLst>
                          </p:cTn>
                        </p:par>
                        <p:par>
                          <p:cTn id="8" fill="hold" nodeType="afterGroup">
                            <p:stCondLst>
                              <p:cond delay="1500"/>
                            </p:stCondLst>
                            <p:childTnLst>
                              <p:par>
                                <p:cTn id="9" presetID="17" presetClass="entr" presetSubtype="10" fill="hold" nodeType="afterEffect">
                                  <p:stCondLst>
                                    <p:cond delay="0"/>
                                  </p:stCondLst>
                                  <p:childTnLst>
                                    <p:set>
                                      <p:cBhvr>
                                        <p:cTn id="10" dur="1" fill="hold">
                                          <p:stCondLst>
                                            <p:cond delay="0"/>
                                          </p:stCondLst>
                                        </p:cTn>
                                        <p:tgtEl>
                                          <p:spTgt spid="151556"/>
                                        </p:tgtEl>
                                        <p:attrNameLst>
                                          <p:attrName>style.visibility</p:attrName>
                                        </p:attrNameLst>
                                      </p:cBhvr>
                                      <p:to>
                                        <p:strVal val="visible"/>
                                      </p:to>
                                    </p:set>
                                    <p:anim calcmode="lin" valueType="num">
                                      <p:cBhvr>
                                        <p:cTn id="11" dur="500" fill="hold"/>
                                        <p:tgtEl>
                                          <p:spTgt spid="151556"/>
                                        </p:tgtEl>
                                        <p:attrNameLst>
                                          <p:attrName>ppt_w</p:attrName>
                                        </p:attrNameLst>
                                      </p:cBhvr>
                                      <p:tavLst>
                                        <p:tav tm="0">
                                          <p:val>
                                            <p:fltVal val="0"/>
                                          </p:val>
                                        </p:tav>
                                        <p:tav tm="100000">
                                          <p:val>
                                            <p:strVal val="#ppt_w"/>
                                          </p:val>
                                        </p:tav>
                                      </p:tavLst>
                                    </p:anim>
                                    <p:anim calcmode="lin" valueType="num">
                                      <p:cBhvr>
                                        <p:cTn id="12" dur="500" fill="hold"/>
                                        <p:tgtEl>
                                          <p:spTgt spid="151556"/>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iterate type="wd">
                                    <p:tmPct val="100000"/>
                                  </p:iterate>
                                  <p:childTnLst>
                                    <p:set>
                                      <p:cBhvr>
                                        <p:cTn id="16" dur="1" fill="hold">
                                          <p:stCondLst>
                                            <p:cond delay="0"/>
                                          </p:stCondLst>
                                        </p:cTn>
                                        <p:tgtEl>
                                          <p:spTgt spid="151554"/>
                                        </p:tgtEl>
                                        <p:attrNameLst>
                                          <p:attrName>style.visibility</p:attrName>
                                        </p:attrNameLst>
                                      </p:cBhvr>
                                      <p:to>
                                        <p:strVal val="visible"/>
                                      </p:to>
                                    </p:set>
                                    <p:animEffect transition="in" filter="strips(downRight)">
                                      <p:cBhvr>
                                        <p:cTn id="17" dur="300"/>
                                        <p:tgtEl>
                                          <p:spTgt spid="1515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1558"/>
                                        </p:tgtEl>
                                        <p:attrNameLst>
                                          <p:attrName>style.visibility</p:attrName>
                                        </p:attrNameLst>
                                      </p:cBhvr>
                                      <p:to>
                                        <p:strVal val="visible"/>
                                      </p:to>
                                    </p:set>
                                    <p:animEffect transition="in" filter="wipe(left)">
                                      <p:cBhvr>
                                        <p:cTn id="22" dur="500"/>
                                        <p:tgtEl>
                                          <p:spTgt spid="151558"/>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151560"/>
                                        </p:tgtEl>
                                        <p:attrNameLst>
                                          <p:attrName>style.visibility</p:attrName>
                                        </p:attrNameLst>
                                      </p:cBhvr>
                                      <p:to>
                                        <p:strVal val="visible"/>
                                      </p:to>
                                    </p:set>
                                    <p:anim calcmode="lin" valueType="num">
                                      <p:cBhvr additive="base">
                                        <p:cTn id="26" dur="500" fill="hold"/>
                                        <p:tgtEl>
                                          <p:spTgt spid="151560"/>
                                        </p:tgtEl>
                                        <p:attrNameLst>
                                          <p:attrName>ppt_x</p:attrName>
                                        </p:attrNameLst>
                                      </p:cBhvr>
                                      <p:tavLst>
                                        <p:tav tm="0">
                                          <p:val>
                                            <p:strVal val="1+#ppt_w/2"/>
                                          </p:val>
                                        </p:tav>
                                        <p:tav tm="100000">
                                          <p:val>
                                            <p:strVal val="#ppt_x"/>
                                          </p:val>
                                        </p:tav>
                                      </p:tavLst>
                                    </p:anim>
                                    <p:anim calcmode="lin" valueType="num">
                                      <p:cBhvr additive="base">
                                        <p:cTn id="27" dur="500" fill="hold"/>
                                        <p:tgtEl>
                                          <p:spTgt spid="1515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4" grpId="0" autoUpdateAnimBg="0"/>
      <p:bldP spid="151555" grpId="0" autoUpdateAnimBg="0"/>
      <p:bldP spid="151558" grpId="0" autoUpdateAnimBg="0"/>
      <p:bldP spid="151560"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2" name="Text Box 4"/>
          <p:cNvSpPr txBox="1">
            <a:spLocks noChangeArrowheads="1"/>
          </p:cNvSpPr>
          <p:nvPr/>
        </p:nvSpPr>
        <p:spPr bwMode="auto">
          <a:xfrm>
            <a:off x="533400" y="4191000"/>
            <a:ext cx="83058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zh-CN" altLang="en-US" sz="3600" b="1">
                <a:solidFill>
                  <a:schemeClr val="accent2"/>
                </a:solidFill>
                <a:ea typeface="楷体_GB2312" charset="0"/>
              </a:rPr>
              <a:t>此方法仅适合于：</a:t>
            </a:r>
            <a:endParaRPr lang="zh-CN" altLang="en-US" sz="3600" b="1">
              <a:solidFill>
                <a:srgbClr val="A50021"/>
              </a:solidFill>
              <a:ea typeface="楷体_GB2312" charset="0"/>
            </a:endParaRPr>
          </a:p>
          <a:p>
            <a:pPr>
              <a:lnSpc>
                <a:spcPct val="125000"/>
              </a:lnSpc>
            </a:pPr>
            <a:r>
              <a:rPr lang="zh-CN" altLang="en-US" sz="3600" b="1">
                <a:solidFill>
                  <a:srgbClr val="A50021"/>
                </a:solidFill>
                <a:ea typeface="楷体_GB2312" charset="0"/>
              </a:rPr>
              <a:t>    </a:t>
            </a:r>
            <a:r>
              <a:rPr lang="zh-CN" altLang="en-US" sz="3600">
                <a:solidFill>
                  <a:srgbClr val="A50021"/>
                </a:solidFill>
                <a:ea typeface="楷体_GB2312" charset="0"/>
              </a:rPr>
              <a:t>能</a:t>
            </a:r>
            <a:r>
              <a:rPr lang="zh-CN" altLang="en-US" sz="3600" b="1">
                <a:solidFill>
                  <a:srgbClr val="A50021"/>
                </a:solidFill>
                <a:ea typeface="楷体_GB2312" charset="0"/>
              </a:rPr>
              <a:t>预先估计出</a:t>
            </a:r>
            <a:r>
              <a:rPr lang="zh-CN" altLang="en-US" sz="3600">
                <a:solidFill>
                  <a:srgbClr val="A50021"/>
                </a:solidFill>
                <a:ea typeface="楷体_GB2312" charset="0"/>
              </a:rPr>
              <a:t>全体关键字的</a:t>
            </a:r>
            <a:r>
              <a:rPr lang="zh-CN" altLang="en-US" sz="3600" b="1">
                <a:solidFill>
                  <a:srgbClr val="A50021"/>
                </a:solidFill>
                <a:ea typeface="楷体_GB2312" charset="0"/>
              </a:rPr>
              <a:t>每一位上</a:t>
            </a:r>
            <a:r>
              <a:rPr lang="zh-CN" altLang="en-US" sz="3600">
                <a:solidFill>
                  <a:srgbClr val="A50021"/>
                </a:solidFill>
                <a:ea typeface="楷体_GB2312" charset="0"/>
              </a:rPr>
              <a:t>各种</a:t>
            </a:r>
            <a:r>
              <a:rPr lang="zh-CN" altLang="en-US" sz="3600" b="1">
                <a:solidFill>
                  <a:srgbClr val="A50021"/>
                </a:solidFill>
                <a:ea typeface="楷体_GB2312" charset="0"/>
              </a:rPr>
              <a:t>数字出现的频度</a:t>
            </a:r>
            <a:r>
              <a:rPr lang="zh-CN" altLang="en-US" sz="3600">
                <a:solidFill>
                  <a:srgbClr val="A50021"/>
                </a:solidFill>
                <a:ea typeface="楷体_GB2312" charset="0"/>
              </a:rPr>
              <a:t>。</a:t>
            </a:r>
            <a:endParaRPr lang="zh-CN" altLang="en-US"/>
          </a:p>
        </p:txBody>
      </p:sp>
      <p:pic>
        <p:nvPicPr>
          <p:cNvPr id="150533" name="Picture 5" descr="Autumn Leaves">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114425"/>
            <a:ext cx="3124200" cy="120650"/>
          </a:xfrm>
          <a:prstGeom prst="rect">
            <a:avLst/>
          </a:prstGeom>
          <a:noFill/>
          <a:extLst>
            <a:ext uri="{909E8E84-426E-40DD-AFC4-6F175D3DCCD1}">
              <a14:hiddenFill xmlns:a14="http://schemas.microsoft.com/office/drawing/2010/main">
                <a:solidFill>
                  <a:srgbClr val="FFFFFF"/>
                </a:solidFill>
              </a14:hiddenFill>
            </a:ext>
          </a:extLst>
        </p:spPr>
      </p:pic>
      <p:sp>
        <p:nvSpPr>
          <p:cNvPr id="150535" name="Text Box 7"/>
          <p:cNvSpPr txBox="1">
            <a:spLocks noChangeArrowheads="1"/>
          </p:cNvSpPr>
          <p:nvPr/>
        </p:nvSpPr>
        <p:spPr bwMode="auto">
          <a:xfrm>
            <a:off x="762000" y="457200"/>
            <a:ext cx="3255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993366"/>
                </a:solidFill>
                <a:ea typeface="楷体_GB2312" charset="0"/>
              </a:rPr>
              <a:t>2.</a:t>
            </a:r>
            <a:r>
              <a:rPr lang="en-US" altLang="zh-CN" sz="4000">
                <a:solidFill>
                  <a:srgbClr val="993366"/>
                </a:solidFill>
                <a:ea typeface="楷体_GB2312" charset="0"/>
              </a:rPr>
              <a:t> </a:t>
            </a:r>
            <a:r>
              <a:rPr lang="zh-CN" altLang="en-US" sz="4000" b="1">
                <a:solidFill>
                  <a:srgbClr val="800000"/>
                </a:solidFill>
                <a:latin typeface="楷体_GB2312" charset="0"/>
                <a:ea typeface="楷体_GB2312" charset="0"/>
              </a:rPr>
              <a:t>数字分析法</a:t>
            </a:r>
          </a:p>
        </p:txBody>
      </p:sp>
      <p:sp>
        <p:nvSpPr>
          <p:cNvPr id="150536" name="Text Box 8"/>
          <p:cNvSpPr txBox="1">
            <a:spLocks noChangeArrowheads="1"/>
          </p:cNvSpPr>
          <p:nvPr/>
        </p:nvSpPr>
        <p:spPr bwMode="auto">
          <a:xfrm>
            <a:off x="-228600" y="1295400"/>
            <a:ext cx="9144000"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lnSpc>
                <a:spcPct val="125000"/>
              </a:lnSpc>
            </a:pPr>
            <a:r>
              <a:rPr lang="en-US" altLang="zh-CN" sz="3600">
                <a:solidFill>
                  <a:srgbClr val="A50021"/>
                </a:solidFill>
                <a:ea typeface="楷体_GB2312" charset="0"/>
              </a:rPr>
              <a:t>    </a:t>
            </a:r>
            <a:r>
              <a:rPr lang="zh-CN" altLang="en-US" sz="3600">
                <a:solidFill>
                  <a:srgbClr val="A50021"/>
                </a:solidFill>
                <a:ea typeface="楷体_GB2312" charset="0"/>
              </a:rPr>
              <a:t>假设关键字集合中的每个关键字都是由 </a:t>
            </a:r>
            <a:r>
              <a:rPr lang="en-US" altLang="zh-CN" sz="3600">
                <a:solidFill>
                  <a:srgbClr val="A50021"/>
                </a:solidFill>
                <a:ea typeface="楷体_GB2312" charset="0"/>
              </a:rPr>
              <a:t>s </a:t>
            </a:r>
            <a:r>
              <a:rPr lang="zh-CN" altLang="en-US" sz="3600">
                <a:solidFill>
                  <a:srgbClr val="A50021"/>
                </a:solidFill>
                <a:ea typeface="楷体_GB2312" charset="0"/>
              </a:rPr>
              <a:t>位数字组成 </a:t>
            </a:r>
            <a:r>
              <a:rPr lang="en-US" altLang="zh-CN" sz="3600">
                <a:solidFill>
                  <a:srgbClr val="A50021"/>
                </a:solidFill>
                <a:ea typeface="楷体_GB2312" charset="0"/>
              </a:rPr>
              <a:t>(u</a:t>
            </a:r>
            <a:r>
              <a:rPr lang="en-US" altLang="zh-CN" sz="3600" baseline="-25000">
                <a:solidFill>
                  <a:srgbClr val="A50021"/>
                </a:solidFill>
                <a:ea typeface="楷体_GB2312" charset="0"/>
              </a:rPr>
              <a:t>1</a:t>
            </a:r>
            <a:r>
              <a:rPr lang="en-US" altLang="zh-CN" sz="3600">
                <a:solidFill>
                  <a:srgbClr val="A50021"/>
                </a:solidFill>
                <a:ea typeface="楷体_GB2312" charset="0"/>
              </a:rPr>
              <a:t>, u</a:t>
            </a:r>
            <a:r>
              <a:rPr lang="en-US" altLang="zh-CN" sz="3600" baseline="-25000">
                <a:solidFill>
                  <a:srgbClr val="A50021"/>
                </a:solidFill>
                <a:ea typeface="楷体_GB2312" charset="0"/>
              </a:rPr>
              <a:t>2</a:t>
            </a:r>
            <a:r>
              <a:rPr lang="en-US" altLang="zh-CN" sz="3600">
                <a:solidFill>
                  <a:srgbClr val="A50021"/>
                </a:solidFill>
                <a:ea typeface="楷体_GB2312" charset="0"/>
              </a:rPr>
              <a:t>, …, u</a:t>
            </a:r>
            <a:r>
              <a:rPr lang="en-US" altLang="zh-CN" sz="3600" baseline="-25000">
                <a:solidFill>
                  <a:srgbClr val="A50021"/>
                </a:solidFill>
                <a:ea typeface="楷体_GB2312" charset="0"/>
              </a:rPr>
              <a:t>s</a:t>
            </a:r>
            <a:r>
              <a:rPr lang="en-US" altLang="zh-CN" sz="3600">
                <a:solidFill>
                  <a:srgbClr val="A50021"/>
                </a:solidFill>
                <a:ea typeface="楷体_GB2312" charset="0"/>
              </a:rPr>
              <a:t>)</a:t>
            </a:r>
            <a:r>
              <a:rPr lang="zh-CN" altLang="en-US" sz="3600">
                <a:solidFill>
                  <a:srgbClr val="A50021"/>
                </a:solidFill>
                <a:ea typeface="楷体_GB2312" charset="0"/>
              </a:rPr>
              <a:t>，分析关键字集中的全体， 并</a:t>
            </a:r>
            <a:r>
              <a:rPr lang="zh-CN" altLang="en-US" sz="3600">
                <a:solidFill>
                  <a:srgbClr val="FF0000"/>
                </a:solidFill>
                <a:ea typeface="楷体_GB2312" charset="0"/>
              </a:rPr>
              <a:t>从中提取分布均匀的若干位</a:t>
            </a:r>
            <a:r>
              <a:rPr lang="zh-CN" altLang="en-US" sz="3600">
                <a:solidFill>
                  <a:srgbClr val="A50021"/>
                </a:solidFill>
                <a:ea typeface="楷体_GB2312" charset="0"/>
              </a:rPr>
              <a:t>或</a:t>
            </a:r>
            <a:r>
              <a:rPr lang="zh-CN" altLang="en-US" sz="3600">
                <a:solidFill>
                  <a:srgbClr val="FF0000"/>
                </a:solidFill>
                <a:ea typeface="楷体_GB2312" charset="0"/>
              </a:rPr>
              <a:t>它们的组合</a:t>
            </a:r>
            <a:r>
              <a:rPr lang="zh-CN" altLang="en-US" sz="3600">
                <a:solidFill>
                  <a:srgbClr val="A50021"/>
                </a:solidFill>
                <a:ea typeface="楷体_GB2312" charset="0"/>
              </a:rPr>
              <a:t>作为地址。</a:t>
            </a:r>
            <a:endParaRPr lang="zh-CN" altLang="en-US"/>
          </a:p>
        </p:txBody>
      </p:sp>
      <p:sp>
        <p:nvSpPr>
          <p:cNvPr id="150537" name="AutoShape 9">
            <a:hlinkClick r:id="rId4"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6557350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50535"/>
                                        </p:tgtEl>
                                        <p:attrNameLst>
                                          <p:attrName>style.visibility</p:attrName>
                                        </p:attrNameLst>
                                      </p:cBhvr>
                                      <p:to>
                                        <p:strVal val="visible"/>
                                      </p:to>
                                    </p:set>
                                    <p:animEffect transition="in" filter="wipe(left)">
                                      <p:cBhvr>
                                        <p:cTn id="7" dur="300"/>
                                        <p:tgtEl>
                                          <p:spTgt spid="150535"/>
                                        </p:tgtEl>
                                      </p:cBhvr>
                                    </p:animEffect>
                                  </p:childTnLst>
                                </p:cTn>
                              </p:par>
                            </p:childTnLst>
                          </p:cTn>
                        </p:par>
                        <p:par>
                          <p:cTn id="8" fill="hold" nodeType="afterGroup">
                            <p:stCondLst>
                              <p:cond delay="1500"/>
                            </p:stCondLst>
                            <p:childTnLst>
                              <p:par>
                                <p:cTn id="9" presetID="17" presetClass="entr" presetSubtype="10" fill="hold" nodeType="afterEffect">
                                  <p:stCondLst>
                                    <p:cond delay="0"/>
                                  </p:stCondLst>
                                  <p:childTnLst>
                                    <p:set>
                                      <p:cBhvr>
                                        <p:cTn id="10" dur="1" fill="hold">
                                          <p:stCondLst>
                                            <p:cond delay="0"/>
                                          </p:stCondLst>
                                        </p:cTn>
                                        <p:tgtEl>
                                          <p:spTgt spid="150533"/>
                                        </p:tgtEl>
                                        <p:attrNameLst>
                                          <p:attrName>style.visibility</p:attrName>
                                        </p:attrNameLst>
                                      </p:cBhvr>
                                      <p:to>
                                        <p:strVal val="visible"/>
                                      </p:to>
                                    </p:set>
                                    <p:anim calcmode="lin" valueType="num">
                                      <p:cBhvr>
                                        <p:cTn id="11" dur="500" fill="hold"/>
                                        <p:tgtEl>
                                          <p:spTgt spid="150533"/>
                                        </p:tgtEl>
                                        <p:attrNameLst>
                                          <p:attrName>ppt_w</p:attrName>
                                        </p:attrNameLst>
                                      </p:cBhvr>
                                      <p:tavLst>
                                        <p:tav tm="0">
                                          <p:val>
                                            <p:fltVal val="0"/>
                                          </p:val>
                                        </p:tav>
                                        <p:tav tm="100000">
                                          <p:val>
                                            <p:strVal val="#ppt_w"/>
                                          </p:val>
                                        </p:tav>
                                      </p:tavLst>
                                    </p:anim>
                                    <p:anim calcmode="lin" valueType="num">
                                      <p:cBhvr>
                                        <p:cTn id="12" dur="500" fill="hold"/>
                                        <p:tgtEl>
                                          <p:spTgt spid="150533"/>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iterate type="wd">
                                    <p:tmPct val="100000"/>
                                  </p:iterate>
                                  <p:childTnLst>
                                    <p:set>
                                      <p:cBhvr>
                                        <p:cTn id="16" dur="1" fill="hold">
                                          <p:stCondLst>
                                            <p:cond delay="0"/>
                                          </p:stCondLst>
                                        </p:cTn>
                                        <p:tgtEl>
                                          <p:spTgt spid="150536"/>
                                        </p:tgtEl>
                                        <p:attrNameLst>
                                          <p:attrName>style.visibility</p:attrName>
                                        </p:attrNameLst>
                                      </p:cBhvr>
                                      <p:to>
                                        <p:strVal val="visible"/>
                                      </p:to>
                                    </p:set>
                                    <p:animEffect transition="in" filter="strips(downRight)">
                                      <p:cBhvr>
                                        <p:cTn id="17" dur="300"/>
                                        <p:tgtEl>
                                          <p:spTgt spid="1505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0532"/>
                                        </p:tgtEl>
                                        <p:attrNameLst>
                                          <p:attrName>style.visibility</p:attrName>
                                        </p:attrNameLst>
                                      </p:cBhvr>
                                      <p:to>
                                        <p:strVal val="visible"/>
                                      </p:to>
                                    </p:set>
                                    <p:animEffect transition="in" filter="wipe(left)">
                                      <p:cBhvr>
                                        <p:cTn id="22" dur="500"/>
                                        <p:tgtEl>
                                          <p:spTgt spid="150532"/>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150537"/>
                                        </p:tgtEl>
                                        <p:attrNameLst>
                                          <p:attrName>style.visibility</p:attrName>
                                        </p:attrNameLst>
                                      </p:cBhvr>
                                      <p:to>
                                        <p:strVal val="visible"/>
                                      </p:to>
                                    </p:set>
                                    <p:anim calcmode="lin" valueType="num">
                                      <p:cBhvr additive="base">
                                        <p:cTn id="26" dur="500" fill="hold"/>
                                        <p:tgtEl>
                                          <p:spTgt spid="150537"/>
                                        </p:tgtEl>
                                        <p:attrNameLst>
                                          <p:attrName>ppt_x</p:attrName>
                                        </p:attrNameLst>
                                      </p:cBhvr>
                                      <p:tavLst>
                                        <p:tav tm="0">
                                          <p:val>
                                            <p:strVal val="1+#ppt_w/2"/>
                                          </p:val>
                                        </p:tav>
                                        <p:tav tm="100000">
                                          <p:val>
                                            <p:strVal val="#ppt_x"/>
                                          </p:val>
                                        </p:tav>
                                      </p:tavLst>
                                    </p:anim>
                                    <p:anim calcmode="lin" valueType="num">
                                      <p:cBhvr additive="base">
                                        <p:cTn id="27" dur="500" fill="hold"/>
                                        <p:tgtEl>
                                          <p:spTgt spid="1505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2" grpId="0" autoUpdateAnimBg="0"/>
      <p:bldP spid="150535" grpId="0" autoUpdateAnimBg="0"/>
      <p:bldP spid="150536" grpId="0" autoUpdateAnimBg="0"/>
      <p:bldP spid="150537"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2"/>
          <p:cNvSpPr txBox="1">
            <a:spLocks noChangeArrowheads="1"/>
          </p:cNvSpPr>
          <p:nvPr/>
        </p:nvSpPr>
        <p:spPr bwMode="auto">
          <a:xfrm>
            <a:off x="533400" y="1295400"/>
            <a:ext cx="8382000" cy="32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lang="en-US" altLang="zh-CN" sz="4000">
                <a:ea typeface="楷体_GB2312" charset="0"/>
              </a:rPr>
              <a:t>    </a:t>
            </a:r>
            <a:r>
              <a:rPr lang="zh-CN" altLang="en-US" sz="3600">
                <a:solidFill>
                  <a:srgbClr val="A50021"/>
                </a:solidFill>
                <a:ea typeface="楷体_GB2312" charset="0"/>
              </a:rPr>
              <a:t>以</a:t>
            </a:r>
            <a:r>
              <a:rPr lang="zh-CN" altLang="en-US" sz="3600">
                <a:solidFill>
                  <a:srgbClr val="FF0000"/>
                </a:solidFill>
                <a:ea typeface="楷体_GB2312" charset="0"/>
              </a:rPr>
              <a:t>关键字的平方值的中间几位</a:t>
            </a:r>
            <a:r>
              <a:rPr lang="zh-CN" altLang="en-US" sz="3600">
                <a:solidFill>
                  <a:srgbClr val="A50021"/>
                </a:solidFill>
                <a:ea typeface="楷体_GB2312" charset="0"/>
              </a:rPr>
              <a:t>作为存储地址。求“关键字的平方值” 的目的是“扩大差别” ，同时平方值的中间各位又能受到整个关键字中各位的影响。</a:t>
            </a:r>
          </a:p>
        </p:txBody>
      </p:sp>
      <p:sp>
        <p:nvSpPr>
          <p:cNvPr id="149507" name="Text Box 3"/>
          <p:cNvSpPr txBox="1">
            <a:spLocks noChangeArrowheads="1"/>
          </p:cNvSpPr>
          <p:nvPr/>
        </p:nvSpPr>
        <p:spPr bwMode="auto">
          <a:xfrm>
            <a:off x="752475" y="457200"/>
            <a:ext cx="3255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800000"/>
                </a:solidFill>
                <a:ea typeface="楷体_GB2312" charset="0"/>
              </a:rPr>
              <a:t>3. </a:t>
            </a:r>
            <a:r>
              <a:rPr lang="zh-CN" altLang="en-US" sz="4000" b="1">
                <a:solidFill>
                  <a:srgbClr val="800000"/>
                </a:solidFill>
                <a:ea typeface="楷体_GB2312" charset="0"/>
              </a:rPr>
              <a:t>平方取中法</a:t>
            </a:r>
          </a:p>
        </p:txBody>
      </p:sp>
      <p:pic>
        <p:nvPicPr>
          <p:cNvPr id="149508" name="Picture 4" descr="Autumn Leaves">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098550"/>
            <a:ext cx="3124200" cy="120650"/>
          </a:xfrm>
          <a:prstGeom prst="rect">
            <a:avLst/>
          </a:prstGeom>
          <a:noFill/>
          <a:extLst>
            <a:ext uri="{909E8E84-426E-40DD-AFC4-6F175D3DCCD1}">
              <a14:hiddenFill xmlns:a14="http://schemas.microsoft.com/office/drawing/2010/main">
                <a:solidFill>
                  <a:srgbClr val="FFFFFF"/>
                </a:solidFill>
              </a14:hiddenFill>
            </a:ext>
          </a:extLst>
        </p:spPr>
      </p:pic>
      <p:sp>
        <p:nvSpPr>
          <p:cNvPr id="149510" name="Rectangle 6"/>
          <p:cNvSpPr>
            <a:spLocks noChangeArrowheads="1"/>
          </p:cNvSpPr>
          <p:nvPr/>
        </p:nvSpPr>
        <p:spPr bwMode="auto">
          <a:xfrm>
            <a:off x="533400" y="4572000"/>
            <a:ext cx="83820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600">
                <a:solidFill>
                  <a:srgbClr val="A50021"/>
                </a:solidFill>
                <a:ea typeface="楷体_GB2312" charset="0"/>
              </a:rPr>
              <a:t>    </a:t>
            </a:r>
            <a:r>
              <a:rPr lang="zh-CN" altLang="en-US" sz="3600" b="1">
                <a:solidFill>
                  <a:schemeClr val="accent2"/>
                </a:solidFill>
                <a:ea typeface="楷体_GB2312" charset="0"/>
              </a:rPr>
              <a:t>此方法适合于</a:t>
            </a:r>
            <a:r>
              <a:rPr lang="en-US" altLang="zh-CN" sz="3600" b="1">
                <a:solidFill>
                  <a:schemeClr val="accent2"/>
                </a:solidFill>
                <a:ea typeface="楷体_GB2312" charset="0"/>
              </a:rPr>
              <a:t>:</a:t>
            </a:r>
            <a:r>
              <a:rPr lang="en-US" altLang="zh-CN" sz="3600">
                <a:solidFill>
                  <a:srgbClr val="A50021"/>
                </a:solidFill>
                <a:ea typeface="楷体_GB2312" charset="0"/>
              </a:rPr>
              <a:t> </a:t>
            </a:r>
          </a:p>
          <a:p>
            <a:pPr>
              <a:lnSpc>
                <a:spcPct val="125000"/>
              </a:lnSpc>
            </a:pPr>
            <a:r>
              <a:rPr lang="en-US" altLang="zh-CN" sz="3600">
                <a:solidFill>
                  <a:srgbClr val="A50021"/>
                </a:solidFill>
                <a:ea typeface="楷体_GB2312" charset="0"/>
              </a:rPr>
              <a:t>    </a:t>
            </a:r>
            <a:r>
              <a:rPr lang="zh-CN" altLang="en-US" sz="3600">
                <a:solidFill>
                  <a:srgbClr val="A50021"/>
                </a:solidFill>
                <a:ea typeface="楷体_GB2312" charset="0"/>
              </a:rPr>
              <a:t>关键字中的每一位都有某些数字重复出现频度很高的现象。</a:t>
            </a:r>
          </a:p>
        </p:txBody>
      </p:sp>
    </p:spTree>
    <p:extLst>
      <p:ext uri="{BB962C8B-B14F-4D97-AF65-F5344CB8AC3E}">
        <p14:creationId xmlns:p14="http://schemas.microsoft.com/office/powerpoint/2010/main" val="61608705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49507"/>
                                        </p:tgtEl>
                                        <p:attrNameLst>
                                          <p:attrName>style.visibility</p:attrName>
                                        </p:attrNameLst>
                                      </p:cBhvr>
                                      <p:to>
                                        <p:strVal val="visible"/>
                                      </p:to>
                                    </p:set>
                                    <p:animEffect transition="in" filter="wipe(left)">
                                      <p:cBhvr>
                                        <p:cTn id="7" dur="300"/>
                                        <p:tgtEl>
                                          <p:spTgt spid="149507"/>
                                        </p:tgtEl>
                                      </p:cBhvr>
                                    </p:animEffect>
                                  </p:childTnLst>
                                </p:cTn>
                              </p:par>
                            </p:childTnLst>
                          </p:cTn>
                        </p:par>
                        <p:par>
                          <p:cTn id="8" fill="hold" nodeType="afterGroup">
                            <p:stCondLst>
                              <p:cond delay="1800"/>
                            </p:stCondLst>
                            <p:childTnLst>
                              <p:par>
                                <p:cTn id="9" presetID="17" presetClass="entr" presetSubtype="10" fill="hold" nodeType="afterEffect">
                                  <p:stCondLst>
                                    <p:cond delay="0"/>
                                  </p:stCondLst>
                                  <p:childTnLst>
                                    <p:set>
                                      <p:cBhvr>
                                        <p:cTn id="10" dur="1" fill="hold">
                                          <p:stCondLst>
                                            <p:cond delay="0"/>
                                          </p:stCondLst>
                                        </p:cTn>
                                        <p:tgtEl>
                                          <p:spTgt spid="149508"/>
                                        </p:tgtEl>
                                        <p:attrNameLst>
                                          <p:attrName>style.visibility</p:attrName>
                                        </p:attrNameLst>
                                      </p:cBhvr>
                                      <p:to>
                                        <p:strVal val="visible"/>
                                      </p:to>
                                    </p:set>
                                    <p:anim calcmode="lin" valueType="num">
                                      <p:cBhvr>
                                        <p:cTn id="11" dur="500" fill="hold"/>
                                        <p:tgtEl>
                                          <p:spTgt spid="149508"/>
                                        </p:tgtEl>
                                        <p:attrNameLst>
                                          <p:attrName>ppt_w</p:attrName>
                                        </p:attrNameLst>
                                      </p:cBhvr>
                                      <p:tavLst>
                                        <p:tav tm="0">
                                          <p:val>
                                            <p:fltVal val="0"/>
                                          </p:val>
                                        </p:tav>
                                        <p:tav tm="100000">
                                          <p:val>
                                            <p:strVal val="#ppt_w"/>
                                          </p:val>
                                        </p:tav>
                                      </p:tavLst>
                                    </p:anim>
                                    <p:anim calcmode="lin" valueType="num">
                                      <p:cBhvr>
                                        <p:cTn id="12" dur="500" fill="hold"/>
                                        <p:tgtEl>
                                          <p:spTgt spid="149508"/>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iterate type="wd">
                                    <p:tmPct val="100000"/>
                                  </p:iterate>
                                  <p:childTnLst>
                                    <p:set>
                                      <p:cBhvr>
                                        <p:cTn id="16" dur="1" fill="hold">
                                          <p:stCondLst>
                                            <p:cond delay="0"/>
                                          </p:stCondLst>
                                        </p:cTn>
                                        <p:tgtEl>
                                          <p:spTgt spid="149506"/>
                                        </p:tgtEl>
                                        <p:attrNameLst>
                                          <p:attrName>style.visibility</p:attrName>
                                        </p:attrNameLst>
                                      </p:cBhvr>
                                      <p:to>
                                        <p:strVal val="visible"/>
                                      </p:to>
                                    </p:set>
                                    <p:animEffect transition="in" filter="strips(downRight)">
                                      <p:cBhvr>
                                        <p:cTn id="17" dur="300"/>
                                        <p:tgtEl>
                                          <p:spTgt spid="14950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49510"/>
                                        </p:tgtEl>
                                        <p:attrNameLst>
                                          <p:attrName>style.visibility</p:attrName>
                                        </p:attrNameLst>
                                      </p:cBhvr>
                                      <p:to>
                                        <p:strVal val="visible"/>
                                      </p:to>
                                    </p:set>
                                    <p:animEffect transition="in" filter="strips(downRight)">
                                      <p:cBhvr>
                                        <p:cTn id="22" dur="500"/>
                                        <p:tgtEl>
                                          <p:spTgt spid="149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autoUpdateAnimBg="0"/>
      <p:bldP spid="149507" grpId="0" autoUpdateAnimBg="0"/>
      <p:bldP spid="149510" grpId="0" autoUpdateAnimBg="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Text Box 2"/>
          <p:cNvSpPr txBox="1">
            <a:spLocks noChangeArrowheads="1"/>
          </p:cNvSpPr>
          <p:nvPr/>
        </p:nvSpPr>
        <p:spPr bwMode="auto">
          <a:xfrm>
            <a:off x="533400" y="1295400"/>
            <a:ext cx="8382000" cy="528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20000"/>
              </a:spcBef>
              <a:buClr>
                <a:schemeClr val="hlink"/>
              </a:buClr>
              <a:buSzPct val="50000"/>
              <a:buFont typeface="Monotype Sorts" charset="2"/>
              <a:buNone/>
            </a:pPr>
            <a:r>
              <a:rPr lang="zh-CN" altLang="en-US" sz="2800" b="1">
                <a:solidFill>
                  <a:schemeClr val="accent2"/>
                </a:solidFill>
                <a:effectLst>
                  <a:outerShdw blurRad="38100" dist="38100" dir="2700000" algn="tl">
                    <a:srgbClr val="000000"/>
                  </a:outerShdw>
                </a:effectLst>
                <a:ea typeface="黑体" charset="-122"/>
              </a:rPr>
              <a:t>标识符          内码	         内码的平方          哈希地址</a:t>
            </a:r>
          </a:p>
          <a:p>
            <a:pPr>
              <a:spcBef>
                <a:spcPct val="20000"/>
              </a:spcBef>
              <a:buClr>
                <a:schemeClr val="hlink"/>
              </a:buClr>
              <a:buSzPct val="50000"/>
              <a:buFont typeface="Monotype Sorts" charset="2"/>
              <a:buNone/>
            </a:pPr>
            <a:r>
              <a:rPr lang="en-US" altLang="zh-CN" sz="2800" b="1" i="1">
                <a:solidFill>
                  <a:schemeClr val="accent2"/>
                </a:solidFill>
                <a:effectLst>
                  <a:outerShdw blurRad="38100" dist="38100" dir="2700000" algn="tl">
                    <a:srgbClr val="000000"/>
                  </a:outerShdw>
                </a:effectLst>
                <a:ea typeface="黑体" charset="-122"/>
              </a:rPr>
              <a:t>A</a:t>
            </a:r>
            <a:r>
              <a:rPr lang="en-US" altLang="zh-CN" sz="2800" b="1">
                <a:solidFill>
                  <a:schemeClr val="accent2"/>
                </a:solidFill>
                <a:effectLst>
                  <a:outerShdw blurRad="38100" dist="38100" dir="2700000" algn="tl">
                    <a:srgbClr val="000000"/>
                  </a:outerShdw>
                </a:effectLst>
                <a:ea typeface="黑体" charset="-122"/>
              </a:rPr>
              <a:t>                      01                     </a:t>
            </a:r>
            <a:r>
              <a:rPr lang="en-US" altLang="zh-CN" sz="2800" b="1" u="sng">
                <a:solidFill>
                  <a:schemeClr val="accent2"/>
                </a:solidFill>
                <a:effectLst>
                  <a:outerShdw blurRad="38100" dist="38100" dir="2700000" algn="tl">
                    <a:srgbClr val="000000"/>
                  </a:outerShdw>
                </a:effectLst>
                <a:ea typeface="黑体" charset="-122"/>
              </a:rPr>
              <a:t>01</a:t>
            </a:r>
            <a:r>
              <a:rPr lang="en-US" altLang="zh-CN" sz="2800" b="1">
                <a:solidFill>
                  <a:schemeClr val="accent2"/>
                </a:solidFill>
                <a:effectLst>
                  <a:outerShdw blurRad="38100" dist="38100" dir="2700000" algn="tl">
                    <a:srgbClr val="000000"/>
                  </a:outerShdw>
                </a:effectLst>
                <a:ea typeface="黑体" charset="-122"/>
              </a:rPr>
              <a:t>	              001</a:t>
            </a:r>
          </a:p>
          <a:p>
            <a:pPr>
              <a:spcBef>
                <a:spcPct val="20000"/>
              </a:spcBef>
              <a:buClr>
                <a:schemeClr val="hlink"/>
              </a:buClr>
              <a:buSzPct val="50000"/>
              <a:buFont typeface="Monotype Sorts" charset="2"/>
              <a:buNone/>
            </a:pPr>
            <a:r>
              <a:rPr lang="en-US" altLang="zh-CN" sz="2800" b="1" i="1">
                <a:solidFill>
                  <a:schemeClr val="accent2"/>
                </a:solidFill>
                <a:effectLst>
                  <a:outerShdw blurRad="38100" dist="38100" dir="2700000" algn="tl">
                    <a:srgbClr val="000000"/>
                  </a:outerShdw>
                </a:effectLst>
                <a:ea typeface="黑体" charset="-122"/>
              </a:rPr>
              <a:t>A</a:t>
            </a:r>
            <a:r>
              <a:rPr lang="en-US" altLang="zh-CN" sz="2800" b="1">
                <a:solidFill>
                  <a:schemeClr val="accent2"/>
                </a:solidFill>
                <a:effectLst>
                  <a:outerShdw blurRad="38100" dist="38100" dir="2700000" algn="tl">
                    <a:srgbClr val="000000"/>
                  </a:outerShdw>
                </a:effectLst>
                <a:ea typeface="黑体" charset="-122"/>
              </a:rPr>
              <a:t>1                  0134                2</a:t>
            </a:r>
            <a:r>
              <a:rPr lang="en-US" altLang="zh-CN" sz="2800" b="1" u="sng">
                <a:solidFill>
                  <a:schemeClr val="accent2"/>
                </a:solidFill>
                <a:effectLst>
                  <a:outerShdw blurRad="38100" dist="38100" dir="2700000" algn="tl">
                    <a:srgbClr val="000000"/>
                  </a:outerShdw>
                </a:effectLst>
                <a:ea typeface="黑体" charset="-122"/>
              </a:rPr>
              <a:t>042</a:t>
            </a:r>
            <a:r>
              <a:rPr lang="en-US" altLang="zh-CN" sz="2800" b="1">
                <a:solidFill>
                  <a:schemeClr val="accent2"/>
                </a:solidFill>
                <a:effectLst>
                  <a:outerShdw blurRad="38100" dist="38100" dir="2700000" algn="tl">
                    <a:srgbClr val="000000"/>
                  </a:outerShdw>
                </a:effectLst>
                <a:ea typeface="黑体" charset="-122"/>
              </a:rPr>
              <a:t>0	              042</a:t>
            </a:r>
          </a:p>
          <a:p>
            <a:pPr>
              <a:spcBef>
                <a:spcPct val="20000"/>
              </a:spcBef>
              <a:buClr>
                <a:schemeClr val="hlink"/>
              </a:buClr>
              <a:buSzPct val="50000"/>
              <a:buFont typeface="Monotype Sorts" charset="2"/>
              <a:buNone/>
            </a:pPr>
            <a:r>
              <a:rPr lang="en-US" altLang="zh-CN" sz="2800" b="1" i="1">
                <a:solidFill>
                  <a:schemeClr val="accent2"/>
                </a:solidFill>
                <a:effectLst>
                  <a:outerShdw blurRad="38100" dist="38100" dir="2700000" algn="tl">
                    <a:srgbClr val="000000"/>
                  </a:outerShdw>
                </a:effectLst>
                <a:ea typeface="黑体" charset="-122"/>
              </a:rPr>
              <a:t>A</a:t>
            </a:r>
            <a:r>
              <a:rPr lang="en-US" altLang="zh-CN" sz="2800" b="1">
                <a:solidFill>
                  <a:schemeClr val="accent2"/>
                </a:solidFill>
                <a:effectLst>
                  <a:outerShdw blurRad="38100" dist="38100" dir="2700000" algn="tl">
                    <a:srgbClr val="000000"/>
                  </a:outerShdw>
                </a:effectLst>
                <a:ea typeface="黑体" charset="-122"/>
              </a:rPr>
              <a:t>9                  0144                2</a:t>
            </a:r>
            <a:r>
              <a:rPr lang="en-US" altLang="zh-CN" sz="2800" b="1" u="sng">
                <a:solidFill>
                  <a:schemeClr val="accent2"/>
                </a:solidFill>
                <a:effectLst>
                  <a:outerShdw blurRad="38100" dist="38100" dir="2700000" algn="tl">
                    <a:srgbClr val="000000"/>
                  </a:outerShdw>
                </a:effectLst>
                <a:ea typeface="黑体" charset="-122"/>
              </a:rPr>
              <a:t>342</a:t>
            </a:r>
            <a:r>
              <a:rPr lang="en-US" altLang="zh-CN" sz="2800" b="1">
                <a:solidFill>
                  <a:schemeClr val="accent2"/>
                </a:solidFill>
                <a:effectLst>
                  <a:outerShdw blurRad="38100" dist="38100" dir="2700000" algn="tl">
                    <a:srgbClr val="000000"/>
                  </a:outerShdw>
                </a:effectLst>
                <a:ea typeface="黑体" charset="-122"/>
              </a:rPr>
              <a:t>0                   342 </a:t>
            </a:r>
          </a:p>
          <a:p>
            <a:pPr>
              <a:spcBef>
                <a:spcPct val="20000"/>
              </a:spcBef>
              <a:buClr>
                <a:schemeClr val="hlink"/>
              </a:buClr>
              <a:buSzPct val="50000"/>
              <a:buFont typeface="Monotype Sorts" charset="2"/>
              <a:buNone/>
            </a:pPr>
            <a:r>
              <a:rPr lang="en-US" altLang="zh-CN" sz="2800" b="1" i="1">
                <a:solidFill>
                  <a:schemeClr val="accent2"/>
                </a:solidFill>
                <a:effectLst>
                  <a:outerShdw blurRad="38100" dist="38100" dir="2700000" algn="tl">
                    <a:srgbClr val="000000"/>
                  </a:outerShdw>
                </a:effectLst>
                <a:ea typeface="黑体" charset="-122"/>
              </a:rPr>
              <a:t>B</a:t>
            </a:r>
            <a:r>
              <a:rPr lang="en-US" altLang="zh-CN" sz="2800" b="1">
                <a:solidFill>
                  <a:schemeClr val="accent2"/>
                </a:solidFill>
                <a:effectLst>
                  <a:outerShdw blurRad="38100" dist="38100" dir="2700000" algn="tl">
                    <a:srgbClr val="000000"/>
                  </a:outerShdw>
                </a:effectLst>
                <a:ea typeface="黑体" charset="-122"/>
              </a:rPr>
              <a:t>                      02                      </a:t>
            </a:r>
            <a:r>
              <a:rPr lang="en-US" altLang="zh-CN" sz="2800" b="1" u="sng">
                <a:solidFill>
                  <a:schemeClr val="accent2"/>
                </a:solidFill>
                <a:effectLst>
                  <a:outerShdw blurRad="38100" dist="38100" dir="2700000" algn="tl">
                    <a:srgbClr val="000000"/>
                  </a:outerShdw>
                </a:effectLst>
                <a:ea typeface="黑体" charset="-122"/>
              </a:rPr>
              <a:t>4</a:t>
            </a:r>
            <a:r>
              <a:rPr lang="en-US" altLang="zh-CN" sz="2800" b="1">
                <a:solidFill>
                  <a:schemeClr val="accent2"/>
                </a:solidFill>
                <a:effectLst>
                  <a:outerShdw blurRad="38100" dist="38100" dir="2700000" algn="tl">
                    <a:srgbClr val="000000"/>
                  </a:outerShdw>
                </a:effectLst>
                <a:ea typeface="黑体" charset="-122"/>
              </a:rPr>
              <a:t>	              004 </a:t>
            </a:r>
          </a:p>
          <a:p>
            <a:pPr>
              <a:spcBef>
                <a:spcPct val="20000"/>
              </a:spcBef>
              <a:buClr>
                <a:schemeClr val="hlink"/>
              </a:buClr>
              <a:buSzPct val="50000"/>
              <a:buFont typeface="Monotype Sorts" charset="2"/>
              <a:buNone/>
            </a:pPr>
            <a:r>
              <a:rPr lang="en-US" altLang="zh-CN" sz="2800" b="1" i="1">
                <a:solidFill>
                  <a:schemeClr val="accent2"/>
                </a:solidFill>
                <a:effectLst>
                  <a:outerShdw blurRad="38100" dist="38100" dir="2700000" algn="tl">
                    <a:srgbClr val="000000"/>
                  </a:outerShdw>
                </a:effectLst>
                <a:ea typeface="黑体" charset="-122"/>
              </a:rPr>
              <a:t>DMAX</a:t>
            </a:r>
            <a:r>
              <a:rPr lang="en-US" altLang="zh-CN" sz="2800" b="1">
                <a:solidFill>
                  <a:schemeClr val="accent2"/>
                </a:solidFill>
                <a:effectLst>
                  <a:outerShdw blurRad="38100" dist="38100" dir="2700000" algn="tl">
                    <a:srgbClr val="000000"/>
                  </a:outerShdw>
                </a:effectLst>
                <a:ea typeface="黑体" charset="-122"/>
              </a:rPr>
              <a:t>       04150130  21526</a:t>
            </a:r>
            <a:r>
              <a:rPr lang="en-US" altLang="zh-CN" sz="2800" b="1" u="sng">
                <a:solidFill>
                  <a:schemeClr val="accent2"/>
                </a:solidFill>
                <a:effectLst>
                  <a:outerShdw blurRad="38100" dist="38100" dir="2700000" algn="tl">
                    <a:srgbClr val="000000"/>
                  </a:outerShdw>
                </a:effectLst>
                <a:ea typeface="黑体" charset="-122"/>
              </a:rPr>
              <a:t>443</a:t>
            </a:r>
            <a:r>
              <a:rPr lang="en-US" altLang="zh-CN" sz="2800" b="1">
                <a:solidFill>
                  <a:schemeClr val="accent2"/>
                </a:solidFill>
                <a:effectLst>
                  <a:outerShdw blurRad="38100" dist="38100" dir="2700000" algn="tl">
                    <a:srgbClr val="000000"/>
                  </a:outerShdw>
                </a:effectLst>
                <a:ea typeface="黑体" charset="-122"/>
              </a:rPr>
              <a:t>617100           443</a:t>
            </a:r>
          </a:p>
          <a:p>
            <a:pPr>
              <a:spcBef>
                <a:spcPct val="20000"/>
              </a:spcBef>
              <a:buClr>
                <a:schemeClr val="hlink"/>
              </a:buClr>
              <a:buSzPct val="50000"/>
              <a:buFont typeface="Monotype Sorts" charset="2"/>
              <a:buNone/>
            </a:pPr>
            <a:r>
              <a:rPr lang="en-US" altLang="zh-CN" sz="2800" b="1" i="1">
                <a:solidFill>
                  <a:schemeClr val="accent2"/>
                </a:solidFill>
                <a:effectLst>
                  <a:outerShdw blurRad="38100" dist="38100" dir="2700000" algn="tl">
                    <a:srgbClr val="000000"/>
                  </a:outerShdw>
                </a:effectLst>
                <a:ea typeface="黑体" charset="-122"/>
              </a:rPr>
              <a:t>DMAX</a:t>
            </a:r>
            <a:r>
              <a:rPr lang="en-US" altLang="zh-CN" sz="2800" b="1">
                <a:solidFill>
                  <a:schemeClr val="accent2"/>
                </a:solidFill>
                <a:effectLst>
                  <a:outerShdw blurRad="38100" dist="38100" dir="2700000" algn="tl">
                    <a:srgbClr val="000000"/>
                  </a:outerShdw>
                </a:effectLst>
                <a:ea typeface="黑体" charset="-122"/>
              </a:rPr>
              <a:t>1  0415013034 526447</a:t>
            </a:r>
            <a:r>
              <a:rPr lang="en-US" altLang="zh-CN" sz="2800" b="1" u="sng">
                <a:solidFill>
                  <a:schemeClr val="accent2"/>
                </a:solidFill>
                <a:effectLst>
                  <a:outerShdw blurRad="38100" dist="38100" dir="2700000" algn="tl">
                    <a:srgbClr val="000000"/>
                  </a:outerShdw>
                </a:effectLst>
                <a:ea typeface="黑体" charset="-122"/>
              </a:rPr>
              <a:t>352</a:t>
            </a:r>
            <a:r>
              <a:rPr lang="en-US" altLang="zh-CN" sz="2800" b="1">
                <a:solidFill>
                  <a:schemeClr val="accent2"/>
                </a:solidFill>
                <a:effectLst>
                  <a:outerShdw blurRad="38100" dist="38100" dir="2700000" algn="tl">
                    <a:srgbClr val="000000"/>
                  </a:outerShdw>
                </a:effectLst>
                <a:ea typeface="黑体" charset="-122"/>
              </a:rPr>
              <a:t>2151420	    352 </a:t>
            </a:r>
          </a:p>
          <a:p>
            <a:pPr>
              <a:spcBef>
                <a:spcPct val="20000"/>
              </a:spcBef>
              <a:buClr>
                <a:schemeClr val="hlink"/>
              </a:buClr>
              <a:buSzPct val="50000"/>
              <a:buFont typeface="Monotype Sorts" charset="2"/>
              <a:buNone/>
            </a:pPr>
            <a:r>
              <a:rPr lang="en-US" altLang="zh-CN" sz="2800" b="1" i="1">
                <a:solidFill>
                  <a:schemeClr val="accent2"/>
                </a:solidFill>
                <a:effectLst>
                  <a:outerShdw blurRad="38100" dist="38100" dir="2700000" algn="tl">
                    <a:srgbClr val="000000"/>
                  </a:outerShdw>
                </a:effectLst>
                <a:ea typeface="黑体" charset="-122"/>
              </a:rPr>
              <a:t>AMAX  </a:t>
            </a:r>
            <a:r>
              <a:rPr lang="en-US" altLang="zh-CN" sz="2800" b="1">
                <a:solidFill>
                  <a:schemeClr val="accent2"/>
                </a:solidFill>
                <a:effectLst>
                  <a:outerShdw blurRad="38100" dist="38100" dir="2700000" algn="tl">
                    <a:srgbClr val="000000"/>
                  </a:outerShdw>
                </a:effectLst>
                <a:ea typeface="黑体" charset="-122"/>
              </a:rPr>
              <a:t>     01150130      1354</a:t>
            </a:r>
            <a:r>
              <a:rPr lang="en-US" altLang="zh-CN" sz="2800" b="1" u="sng">
                <a:solidFill>
                  <a:schemeClr val="accent2"/>
                </a:solidFill>
                <a:effectLst>
                  <a:outerShdw blurRad="38100" dist="38100" dir="2700000" algn="tl">
                    <a:srgbClr val="000000"/>
                  </a:outerShdw>
                </a:effectLst>
                <a:ea typeface="黑体" charset="-122"/>
              </a:rPr>
              <a:t>236</a:t>
            </a:r>
            <a:r>
              <a:rPr lang="en-US" altLang="zh-CN" sz="2800" b="1">
                <a:solidFill>
                  <a:schemeClr val="accent2"/>
                </a:solidFill>
                <a:effectLst>
                  <a:outerShdw blurRad="38100" dist="38100" dir="2700000" algn="tl">
                    <a:srgbClr val="000000"/>
                  </a:outerShdw>
                </a:effectLst>
                <a:ea typeface="黑体" charset="-122"/>
              </a:rPr>
              <a:t>17100	    236</a:t>
            </a:r>
          </a:p>
          <a:p>
            <a:pPr>
              <a:spcBef>
                <a:spcPct val="20000"/>
              </a:spcBef>
              <a:buClr>
                <a:schemeClr val="hlink"/>
              </a:buClr>
              <a:buSzPct val="50000"/>
              <a:buFont typeface="Monotype Sorts" charset="2"/>
              <a:buNone/>
            </a:pPr>
            <a:r>
              <a:rPr lang="en-US" altLang="zh-CN" sz="2800" b="1" i="1">
                <a:solidFill>
                  <a:schemeClr val="accent2"/>
                </a:solidFill>
                <a:effectLst>
                  <a:outerShdw blurRad="38100" dist="38100" dir="2700000" algn="tl">
                    <a:srgbClr val="000000"/>
                  </a:outerShdw>
                </a:effectLst>
                <a:ea typeface="黑体" charset="-122"/>
              </a:rPr>
              <a:t>AMAX</a:t>
            </a:r>
            <a:r>
              <a:rPr lang="en-US" altLang="zh-CN" sz="2800" b="1">
                <a:solidFill>
                  <a:schemeClr val="accent2"/>
                </a:solidFill>
                <a:effectLst>
                  <a:outerShdw blurRad="38100" dist="38100" dir="2700000" algn="tl">
                    <a:srgbClr val="000000"/>
                  </a:outerShdw>
                </a:effectLst>
                <a:ea typeface="黑体" charset="-122"/>
              </a:rPr>
              <a:t>1  0115013034  345424</a:t>
            </a:r>
            <a:r>
              <a:rPr lang="en-US" altLang="zh-CN" sz="2800" b="1" u="sng">
                <a:solidFill>
                  <a:schemeClr val="accent2"/>
                </a:solidFill>
                <a:effectLst>
                  <a:outerShdw blurRad="38100" dist="38100" dir="2700000" algn="tl">
                    <a:srgbClr val="000000"/>
                  </a:outerShdw>
                </a:effectLst>
                <a:ea typeface="黑体" charset="-122"/>
              </a:rPr>
              <a:t>652</a:t>
            </a:r>
            <a:r>
              <a:rPr lang="en-US" altLang="zh-CN" sz="2800" b="1">
                <a:solidFill>
                  <a:schemeClr val="accent2"/>
                </a:solidFill>
                <a:effectLst>
                  <a:outerShdw blurRad="38100" dist="38100" dir="2700000" algn="tl">
                    <a:srgbClr val="000000"/>
                  </a:outerShdw>
                </a:effectLst>
                <a:ea typeface="黑体" charset="-122"/>
              </a:rPr>
              <a:t>2151420	    652</a:t>
            </a:r>
          </a:p>
          <a:p>
            <a:pPr>
              <a:spcBef>
                <a:spcPct val="20000"/>
              </a:spcBef>
              <a:buClr>
                <a:schemeClr val="hlink"/>
              </a:buClr>
              <a:buSzPct val="50000"/>
              <a:buFont typeface="Monotype Sorts" charset="2"/>
              <a:buNone/>
            </a:pPr>
            <a:r>
              <a:rPr lang="zh-CN" altLang="en-US" sz="3600" b="1">
                <a:solidFill>
                  <a:srgbClr val="FF9900"/>
                </a:solidFill>
                <a:ea typeface="隶书" charset="0"/>
              </a:rPr>
              <a:t>标识符的八进制内码表示及其平方值</a:t>
            </a:r>
          </a:p>
        </p:txBody>
      </p:sp>
      <p:sp>
        <p:nvSpPr>
          <p:cNvPr id="301059" name="Text Box 3"/>
          <p:cNvSpPr txBox="1">
            <a:spLocks noChangeArrowheads="1"/>
          </p:cNvSpPr>
          <p:nvPr/>
        </p:nvSpPr>
        <p:spPr bwMode="auto">
          <a:xfrm>
            <a:off x="752475" y="457200"/>
            <a:ext cx="3255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800000"/>
                </a:solidFill>
                <a:ea typeface="楷体_GB2312" charset="0"/>
              </a:rPr>
              <a:t>3. </a:t>
            </a:r>
            <a:r>
              <a:rPr lang="zh-CN" altLang="en-US" sz="4000" b="1">
                <a:solidFill>
                  <a:srgbClr val="800000"/>
                </a:solidFill>
                <a:ea typeface="楷体_GB2312" charset="0"/>
              </a:rPr>
              <a:t>平方取中法</a:t>
            </a:r>
          </a:p>
        </p:txBody>
      </p:sp>
      <p:pic>
        <p:nvPicPr>
          <p:cNvPr id="301060" name="Picture 4" descr="Autumn Leaves">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098550"/>
            <a:ext cx="3124200" cy="120650"/>
          </a:xfrm>
          <a:prstGeom prst="rect">
            <a:avLst/>
          </a:prstGeom>
          <a:noFill/>
          <a:extLst>
            <a:ext uri="{909E8E84-426E-40DD-AFC4-6F175D3DCCD1}">
              <a14:hiddenFill xmlns:a14="http://schemas.microsoft.com/office/drawing/2010/main">
                <a:solidFill>
                  <a:srgbClr val="FFFFFF"/>
                </a:solidFill>
              </a14:hiddenFill>
            </a:ext>
          </a:extLst>
        </p:spPr>
      </p:pic>
      <p:sp>
        <p:nvSpPr>
          <p:cNvPr id="301062" name="AutoShape 6">
            <a:hlinkClick r:id="rId4"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670322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301059"/>
                                        </p:tgtEl>
                                        <p:attrNameLst>
                                          <p:attrName>style.visibility</p:attrName>
                                        </p:attrNameLst>
                                      </p:cBhvr>
                                      <p:to>
                                        <p:strVal val="visible"/>
                                      </p:to>
                                    </p:set>
                                    <p:animEffect transition="in" filter="wipe(left)">
                                      <p:cBhvr>
                                        <p:cTn id="7" dur="300"/>
                                        <p:tgtEl>
                                          <p:spTgt spid="301059"/>
                                        </p:tgtEl>
                                      </p:cBhvr>
                                    </p:animEffect>
                                  </p:childTnLst>
                                </p:cTn>
                              </p:par>
                            </p:childTnLst>
                          </p:cTn>
                        </p:par>
                        <p:par>
                          <p:cTn id="8" fill="hold" nodeType="afterGroup">
                            <p:stCondLst>
                              <p:cond delay="1800"/>
                            </p:stCondLst>
                            <p:childTnLst>
                              <p:par>
                                <p:cTn id="9" presetID="17" presetClass="entr" presetSubtype="10" fill="hold" nodeType="afterEffect">
                                  <p:stCondLst>
                                    <p:cond delay="0"/>
                                  </p:stCondLst>
                                  <p:childTnLst>
                                    <p:set>
                                      <p:cBhvr>
                                        <p:cTn id="10" dur="1" fill="hold">
                                          <p:stCondLst>
                                            <p:cond delay="0"/>
                                          </p:stCondLst>
                                        </p:cTn>
                                        <p:tgtEl>
                                          <p:spTgt spid="301060"/>
                                        </p:tgtEl>
                                        <p:attrNameLst>
                                          <p:attrName>style.visibility</p:attrName>
                                        </p:attrNameLst>
                                      </p:cBhvr>
                                      <p:to>
                                        <p:strVal val="visible"/>
                                      </p:to>
                                    </p:set>
                                    <p:anim calcmode="lin" valueType="num">
                                      <p:cBhvr>
                                        <p:cTn id="11" dur="500" fill="hold"/>
                                        <p:tgtEl>
                                          <p:spTgt spid="301060"/>
                                        </p:tgtEl>
                                        <p:attrNameLst>
                                          <p:attrName>ppt_w</p:attrName>
                                        </p:attrNameLst>
                                      </p:cBhvr>
                                      <p:tavLst>
                                        <p:tav tm="0">
                                          <p:val>
                                            <p:fltVal val="0"/>
                                          </p:val>
                                        </p:tav>
                                        <p:tav tm="100000">
                                          <p:val>
                                            <p:strVal val="#ppt_w"/>
                                          </p:val>
                                        </p:tav>
                                      </p:tavLst>
                                    </p:anim>
                                    <p:anim calcmode="lin" valueType="num">
                                      <p:cBhvr>
                                        <p:cTn id="12" dur="500" fill="hold"/>
                                        <p:tgtEl>
                                          <p:spTgt spid="301060"/>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iterate type="wd">
                                    <p:tmPct val="100000"/>
                                  </p:iterate>
                                  <p:childTnLst>
                                    <p:set>
                                      <p:cBhvr>
                                        <p:cTn id="16" dur="1" fill="hold">
                                          <p:stCondLst>
                                            <p:cond delay="0"/>
                                          </p:stCondLst>
                                        </p:cTn>
                                        <p:tgtEl>
                                          <p:spTgt spid="301058"/>
                                        </p:tgtEl>
                                        <p:attrNameLst>
                                          <p:attrName>style.visibility</p:attrName>
                                        </p:attrNameLst>
                                      </p:cBhvr>
                                      <p:to>
                                        <p:strVal val="visible"/>
                                      </p:to>
                                    </p:set>
                                    <p:animEffect transition="in" filter="strips(downRight)">
                                      <p:cBhvr>
                                        <p:cTn id="17" dur="300"/>
                                        <p:tgtEl>
                                          <p:spTgt spid="301058"/>
                                        </p:tgtEl>
                                      </p:cBhvr>
                                    </p:animEffect>
                                  </p:childTnLst>
                                </p:cTn>
                              </p:par>
                            </p:childTnLst>
                          </p:cTn>
                        </p:par>
                        <p:par>
                          <p:cTn id="18" fill="hold" nodeType="afterGroup">
                            <p:stCondLst>
                              <p:cond delay="15900"/>
                            </p:stCondLst>
                            <p:childTnLst>
                              <p:par>
                                <p:cTn id="19" presetID="2" presetClass="entr" presetSubtype="6" fill="hold" grpId="0" nodeType="afterEffect">
                                  <p:stCondLst>
                                    <p:cond delay="0"/>
                                  </p:stCondLst>
                                  <p:childTnLst>
                                    <p:set>
                                      <p:cBhvr>
                                        <p:cTn id="20" dur="1" fill="hold">
                                          <p:stCondLst>
                                            <p:cond delay="0"/>
                                          </p:stCondLst>
                                        </p:cTn>
                                        <p:tgtEl>
                                          <p:spTgt spid="301062"/>
                                        </p:tgtEl>
                                        <p:attrNameLst>
                                          <p:attrName>style.visibility</p:attrName>
                                        </p:attrNameLst>
                                      </p:cBhvr>
                                      <p:to>
                                        <p:strVal val="visible"/>
                                      </p:to>
                                    </p:set>
                                    <p:anim calcmode="lin" valueType="num">
                                      <p:cBhvr additive="base">
                                        <p:cTn id="21" dur="500" fill="hold"/>
                                        <p:tgtEl>
                                          <p:spTgt spid="301062"/>
                                        </p:tgtEl>
                                        <p:attrNameLst>
                                          <p:attrName>ppt_x</p:attrName>
                                        </p:attrNameLst>
                                      </p:cBhvr>
                                      <p:tavLst>
                                        <p:tav tm="0">
                                          <p:val>
                                            <p:strVal val="1+#ppt_w/2"/>
                                          </p:val>
                                        </p:tav>
                                        <p:tav tm="100000">
                                          <p:val>
                                            <p:strVal val="#ppt_x"/>
                                          </p:val>
                                        </p:tav>
                                      </p:tavLst>
                                    </p:anim>
                                    <p:anim calcmode="lin" valueType="num">
                                      <p:cBhvr additive="base">
                                        <p:cTn id="22" dur="500" fill="hold"/>
                                        <p:tgtEl>
                                          <p:spTgt spid="3010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8" grpId="0" autoUpdateAnimBg="0"/>
      <p:bldP spid="301059" grpId="0" autoUpdateAnimBg="0"/>
      <p:bldP spid="301062"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p:cNvSpPr txBox="1">
            <a:spLocks noChangeArrowheads="1"/>
          </p:cNvSpPr>
          <p:nvPr/>
        </p:nvSpPr>
        <p:spPr bwMode="auto">
          <a:xfrm>
            <a:off x="-180975" y="1341438"/>
            <a:ext cx="9220200" cy="2316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lnSpc>
                <a:spcPct val="135000"/>
              </a:lnSpc>
            </a:pPr>
            <a:r>
              <a:rPr lang="en-US" altLang="zh-CN" sz="3600">
                <a:ea typeface="楷体_GB2312" charset="0"/>
              </a:rPr>
              <a:t>    </a:t>
            </a:r>
            <a:r>
              <a:rPr lang="zh-CN" altLang="en-US" sz="3600">
                <a:solidFill>
                  <a:srgbClr val="FF0000"/>
                </a:solidFill>
                <a:ea typeface="楷体_GB2312" charset="0"/>
              </a:rPr>
              <a:t>将关键字分割成若干部分，然后取它们的叠加和为哈希地址。</a:t>
            </a:r>
            <a:r>
              <a:rPr lang="zh-CN" altLang="en-US" sz="3600">
                <a:solidFill>
                  <a:srgbClr val="A50021"/>
                </a:solidFill>
                <a:ea typeface="楷体_GB2312" charset="0"/>
              </a:rPr>
              <a:t>有两种叠加处理的方法：</a:t>
            </a:r>
            <a:r>
              <a:rPr lang="zh-CN" altLang="en-US" sz="3600" b="1">
                <a:solidFill>
                  <a:srgbClr val="A50021"/>
                </a:solidFill>
                <a:ea typeface="楷体_GB2312" charset="0"/>
              </a:rPr>
              <a:t>移位叠加</a:t>
            </a:r>
            <a:r>
              <a:rPr lang="zh-CN" altLang="en-US" sz="3600">
                <a:solidFill>
                  <a:srgbClr val="A50021"/>
                </a:solidFill>
                <a:ea typeface="楷体_GB2312" charset="0"/>
              </a:rPr>
              <a:t>和</a:t>
            </a:r>
            <a:r>
              <a:rPr lang="zh-CN" altLang="en-US" sz="3600" b="1">
                <a:solidFill>
                  <a:srgbClr val="A50021"/>
                </a:solidFill>
                <a:ea typeface="楷体_GB2312" charset="0"/>
              </a:rPr>
              <a:t>间界叠加</a:t>
            </a:r>
            <a:r>
              <a:rPr lang="zh-CN" altLang="en-US" sz="3600">
                <a:solidFill>
                  <a:srgbClr val="A50021"/>
                </a:solidFill>
                <a:ea typeface="楷体_GB2312" charset="0"/>
              </a:rPr>
              <a:t>。</a:t>
            </a:r>
          </a:p>
        </p:txBody>
      </p:sp>
      <p:sp>
        <p:nvSpPr>
          <p:cNvPr id="148483" name="Text Box 3"/>
          <p:cNvSpPr txBox="1">
            <a:spLocks noChangeArrowheads="1"/>
          </p:cNvSpPr>
          <p:nvPr/>
        </p:nvSpPr>
        <p:spPr bwMode="auto">
          <a:xfrm>
            <a:off x="792163" y="457200"/>
            <a:ext cx="22304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A50021"/>
                </a:solidFill>
              </a:rPr>
              <a:t>4. </a:t>
            </a:r>
            <a:r>
              <a:rPr lang="zh-CN" altLang="en-US" sz="4000" b="1">
                <a:solidFill>
                  <a:srgbClr val="800000"/>
                </a:solidFill>
                <a:ea typeface="楷体_GB2312" charset="0"/>
              </a:rPr>
              <a:t>折叠法</a:t>
            </a:r>
          </a:p>
        </p:txBody>
      </p:sp>
      <p:pic>
        <p:nvPicPr>
          <p:cNvPr id="148484" name="Picture 4" descr="Autumn Leaves">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143000"/>
            <a:ext cx="1981200" cy="76200"/>
          </a:xfrm>
          <a:prstGeom prst="rect">
            <a:avLst/>
          </a:prstGeom>
          <a:noFill/>
          <a:extLst>
            <a:ext uri="{909E8E84-426E-40DD-AFC4-6F175D3DCCD1}">
              <a14:hiddenFill xmlns:a14="http://schemas.microsoft.com/office/drawing/2010/main">
                <a:solidFill>
                  <a:srgbClr val="FFFFFF"/>
                </a:solidFill>
              </a14:hiddenFill>
            </a:ext>
          </a:extLst>
        </p:spPr>
      </p:pic>
      <p:sp>
        <p:nvSpPr>
          <p:cNvPr id="148486" name="Rectangle 6"/>
          <p:cNvSpPr>
            <a:spLocks noChangeArrowheads="1"/>
          </p:cNvSpPr>
          <p:nvPr/>
        </p:nvSpPr>
        <p:spPr bwMode="auto">
          <a:xfrm>
            <a:off x="827088" y="3357563"/>
            <a:ext cx="567055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600" b="1">
                <a:solidFill>
                  <a:schemeClr val="accent2"/>
                </a:solidFill>
                <a:ea typeface="楷体_GB2312" charset="0"/>
              </a:rPr>
              <a:t>  </a:t>
            </a:r>
            <a:r>
              <a:rPr lang="zh-CN" altLang="en-US" sz="3600" b="1">
                <a:solidFill>
                  <a:schemeClr val="accent2"/>
                </a:solidFill>
                <a:ea typeface="楷体_GB2312" charset="0"/>
              </a:rPr>
              <a:t>此方法适合于</a:t>
            </a:r>
            <a:r>
              <a:rPr lang="en-US" altLang="zh-CN" sz="3600" b="1">
                <a:solidFill>
                  <a:schemeClr val="accent2"/>
                </a:solidFill>
                <a:ea typeface="楷体_GB2312" charset="0"/>
              </a:rPr>
              <a:t>:</a:t>
            </a:r>
            <a:r>
              <a:rPr lang="en-US" altLang="zh-CN" sz="3600">
                <a:solidFill>
                  <a:srgbClr val="A50021"/>
                </a:solidFill>
                <a:ea typeface="楷体_GB2312" charset="0"/>
              </a:rPr>
              <a:t> </a:t>
            </a:r>
          </a:p>
          <a:p>
            <a:pPr>
              <a:lnSpc>
                <a:spcPct val="125000"/>
              </a:lnSpc>
            </a:pPr>
            <a:r>
              <a:rPr lang="zh-CN" altLang="en-US" sz="3600">
                <a:solidFill>
                  <a:srgbClr val="A50021"/>
                </a:solidFill>
                <a:ea typeface="楷体_GB2312" charset="0"/>
              </a:rPr>
              <a:t>关键字的数字位数特别多。</a:t>
            </a:r>
            <a:endParaRPr lang="zh-CN" altLang="en-US" sz="4000">
              <a:ea typeface="楷体_GB2312" charset="0"/>
            </a:endParaRPr>
          </a:p>
        </p:txBody>
      </p:sp>
      <p:sp>
        <p:nvSpPr>
          <p:cNvPr id="148488" name="AutoShape 8">
            <a:hlinkClick r:id="rId4"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nvGrpSpPr>
          <p:cNvPr id="149070" name="Group 590"/>
          <p:cNvGrpSpPr>
            <a:grpSpLocks/>
          </p:cNvGrpSpPr>
          <p:nvPr/>
        </p:nvGrpSpPr>
        <p:grpSpPr bwMode="auto">
          <a:xfrm>
            <a:off x="971550" y="4751388"/>
            <a:ext cx="6642100" cy="2133600"/>
            <a:chOff x="839" y="2886"/>
            <a:chExt cx="4184" cy="1344"/>
          </a:xfrm>
        </p:grpSpPr>
        <p:sp>
          <p:nvSpPr>
            <p:cNvPr id="149071" name="AutoShape 591"/>
            <p:cNvSpPr>
              <a:spLocks noChangeAspect="1" noChangeArrowheads="1" noTextEdit="1"/>
            </p:cNvSpPr>
            <p:nvPr/>
          </p:nvSpPr>
          <p:spPr bwMode="auto">
            <a:xfrm>
              <a:off x="839" y="2886"/>
              <a:ext cx="4184" cy="1344"/>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149072" name="Group 592"/>
            <p:cNvGrpSpPr>
              <a:grpSpLocks/>
            </p:cNvGrpSpPr>
            <p:nvPr/>
          </p:nvGrpSpPr>
          <p:grpSpPr bwMode="auto">
            <a:xfrm>
              <a:off x="3155" y="3527"/>
              <a:ext cx="1461" cy="262"/>
              <a:chOff x="3172" y="3544"/>
              <a:chExt cx="1461" cy="262"/>
            </a:xfrm>
          </p:grpSpPr>
          <p:sp>
            <p:nvSpPr>
              <p:cNvPr id="149073" name="Freeform 593"/>
              <p:cNvSpPr>
                <a:spLocks/>
              </p:cNvSpPr>
              <p:nvPr/>
            </p:nvSpPr>
            <p:spPr bwMode="auto">
              <a:xfrm>
                <a:off x="3186" y="3558"/>
                <a:ext cx="1447" cy="248"/>
              </a:xfrm>
              <a:custGeom>
                <a:avLst/>
                <a:gdLst>
                  <a:gd name="T0" fmla="*/ 889 w 2895"/>
                  <a:gd name="T1" fmla="*/ 0 h 496"/>
                  <a:gd name="T2" fmla="*/ 0 w 2895"/>
                  <a:gd name="T3" fmla="*/ 496 h 496"/>
                  <a:gd name="T4" fmla="*/ 2005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5" y="496"/>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074" name="Group 594"/>
              <p:cNvGrpSpPr>
                <a:grpSpLocks/>
              </p:cNvGrpSpPr>
              <p:nvPr/>
            </p:nvGrpSpPr>
            <p:grpSpPr bwMode="auto">
              <a:xfrm>
                <a:off x="3172" y="3544"/>
                <a:ext cx="1448" cy="249"/>
                <a:chOff x="3172" y="3544"/>
                <a:chExt cx="1448" cy="249"/>
              </a:xfrm>
            </p:grpSpPr>
            <p:pic>
              <p:nvPicPr>
                <p:cNvPr id="149075" name="Picture 59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2" y="3544"/>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076" name="Picture 59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0" y="3544"/>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077" name="Freeform 597"/>
                <p:cNvSpPr>
                  <a:spLocks/>
                </p:cNvSpPr>
                <p:nvPr/>
              </p:nvSpPr>
              <p:spPr bwMode="auto">
                <a:xfrm>
                  <a:off x="3172" y="3544"/>
                  <a:ext cx="1448"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078" name="Freeform 598"/>
                <p:cNvSpPr>
                  <a:spLocks/>
                </p:cNvSpPr>
                <p:nvPr/>
              </p:nvSpPr>
              <p:spPr bwMode="auto">
                <a:xfrm>
                  <a:off x="3172" y="3544"/>
                  <a:ext cx="1448"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079" name="Picture 59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2" y="3544"/>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080" name="Picture 60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0" y="3544"/>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081" name="Freeform 601"/>
              <p:cNvSpPr>
                <a:spLocks/>
              </p:cNvSpPr>
              <p:nvPr/>
            </p:nvSpPr>
            <p:spPr bwMode="auto">
              <a:xfrm>
                <a:off x="3172" y="3544"/>
                <a:ext cx="1448"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082" name="Group 602"/>
            <p:cNvGrpSpPr>
              <a:grpSpLocks/>
            </p:cNvGrpSpPr>
            <p:nvPr/>
          </p:nvGrpSpPr>
          <p:grpSpPr bwMode="auto">
            <a:xfrm>
              <a:off x="3155" y="3320"/>
              <a:ext cx="1461" cy="262"/>
              <a:chOff x="3172" y="3337"/>
              <a:chExt cx="1461" cy="262"/>
            </a:xfrm>
          </p:grpSpPr>
          <p:sp>
            <p:nvSpPr>
              <p:cNvPr id="149083" name="Freeform 603"/>
              <p:cNvSpPr>
                <a:spLocks/>
              </p:cNvSpPr>
              <p:nvPr/>
            </p:nvSpPr>
            <p:spPr bwMode="auto">
              <a:xfrm>
                <a:off x="3186" y="3351"/>
                <a:ext cx="1447" cy="248"/>
              </a:xfrm>
              <a:custGeom>
                <a:avLst/>
                <a:gdLst>
                  <a:gd name="T0" fmla="*/ 889 w 2895"/>
                  <a:gd name="T1" fmla="*/ 0 h 496"/>
                  <a:gd name="T2" fmla="*/ 0 w 2895"/>
                  <a:gd name="T3" fmla="*/ 496 h 496"/>
                  <a:gd name="T4" fmla="*/ 2005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5" y="496"/>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084" name="Group 604"/>
              <p:cNvGrpSpPr>
                <a:grpSpLocks/>
              </p:cNvGrpSpPr>
              <p:nvPr/>
            </p:nvGrpSpPr>
            <p:grpSpPr bwMode="auto">
              <a:xfrm>
                <a:off x="3172" y="3337"/>
                <a:ext cx="1448" cy="249"/>
                <a:chOff x="3172" y="3337"/>
                <a:chExt cx="1448" cy="249"/>
              </a:xfrm>
            </p:grpSpPr>
            <p:pic>
              <p:nvPicPr>
                <p:cNvPr id="149085" name="Picture 60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2" y="3337"/>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086" name="Picture 60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0" y="3337"/>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087" name="Freeform 607"/>
                <p:cNvSpPr>
                  <a:spLocks/>
                </p:cNvSpPr>
                <p:nvPr/>
              </p:nvSpPr>
              <p:spPr bwMode="auto">
                <a:xfrm>
                  <a:off x="3172" y="3337"/>
                  <a:ext cx="1448"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088" name="Freeform 608"/>
                <p:cNvSpPr>
                  <a:spLocks/>
                </p:cNvSpPr>
                <p:nvPr/>
              </p:nvSpPr>
              <p:spPr bwMode="auto">
                <a:xfrm>
                  <a:off x="3172" y="3337"/>
                  <a:ext cx="1448"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089" name="Picture 60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2" y="3337"/>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090" name="Picture 6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0" y="3337"/>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091" name="Freeform 611"/>
              <p:cNvSpPr>
                <a:spLocks/>
              </p:cNvSpPr>
              <p:nvPr/>
            </p:nvSpPr>
            <p:spPr bwMode="auto">
              <a:xfrm>
                <a:off x="3172" y="3337"/>
                <a:ext cx="1448"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092" name="Group 612"/>
            <p:cNvGrpSpPr>
              <a:grpSpLocks/>
            </p:cNvGrpSpPr>
            <p:nvPr/>
          </p:nvGrpSpPr>
          <p:grpSpPr bwMode="auto">
            <a:xfrm>
              <a:off x="3155" y="3113"/>
              <a:ext cx="1461" cy="262"/>
              <a:chOff x="3172" y="3130"/>
              <a:chExt cx="1461" cy="262"/>
            </a:xfrm>
          </p:grpSpPr>
          <p:sp>
            <p:nvSpPr>
              <p:cNvPr id="149093" name="Freeform 613"/>
              <p:cNvSpPr>
                <a:spLocks/>
              </p:cNvSpPr>
              <p:nvPr/>
            </p:nvSpPr>
            <p:spPr bwMode="auto">
              <a:xfrm>
                <a:off x="3186" y="3144"/>
                <a:ext cx="1447" cy="248"/>
              </a:xfrm>
              <a:custGeom>
                <a:avLst/>
                <a:gdLst>
                  <a:gd name="T0" fmla="*/ 889 w 2895"/>
                  <a:gd name="T1" fmla="*/ 0 h 497"/>
                  <a:gd name="T2" fmla="*/ 0 w 2895"/>
                  <a:gd name="T3" fmla="*/ 497 h 497"/>
                  <a:gd name="T4" fmla="*/ 2005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5" y="497"/>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094" name="Group 614"/>
              <p:cNvGrpSpPr>
                <a:grpSpLocks/>
              </p:cNvGrpSpPr>
              <p:nvPr/>
            </p:nvGrpSpPr>
            <p:grpSpPr bwMode="auto">
              <a:xfrm>
                <a:off x="3172" y="3130"/>
                <a:ext cx="1448" cy="249"/>
                <a:chOff x="3172" y="3130"/>
                <a:chExt cx="1448" cy="249"/>
              </a:xfrm>
            </p:grpSpPr>
            <p:pic>
              <p:nvPicPr>
                <p:cNvPr id="149095" name="Picture 6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2" y="3130"/>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096" name="Picture 6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0" y="3130"/>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097" name="Freeform 617"/>
                <p:cNvSpPr>
                  <a:spLocks/>
                </p:cNvSpPr>
                <p:nvPr/>
              </p:nvSpPr>
              <p:spPr bwMode="auto">
                <a:xfrm>
                  <a:off x="3172" y="3130"/>
                  <a:ext cx="1448" cy="249"/>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098" name="Freeform 618"/>
                <p:cNvSpPr>
                  <a:spLocks/>
                </p:cNvSpPr>
                <p:nvPr/>
              </p:nvSpPr>
              <p:spPr bwMode="auto">
                <a:xfrm>
                  <a:off x="3172" y="3130"/>
                  <a:ext cx="1448" cy="249"/>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099" name="Picture 6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2" y="3130"/>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100" name="Picture 6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0" y="3130"/>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101" name="Freeform 621"/>
              <p:cNvSpPr>
                <a:spLocks/>
              </p:cNvSpPr>
              <p:nvPr/>
            </p:nvSpPr>
            <p:spPr bwMode="auto">
              <a:xfrm>
                <a:off x="3172" y="3130"/>
                <a:ext cx="1448" cy="249"/>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102" name="Group 622"/>
            <p:cNvGrpSpPr>
              <a:grpSpLocks/>
            </p:cNvGrpSpPr>
            <p:nvPr/>
          </p:nvGrpSpPr>
          <p:grpSpPr bwMode="auto">
            <a:xfrm>
              <a:off x="1253" y="3527"/>
              <a:ext cx="1461" cy="262"/>
              <a:chOff x="1270" y="3544"/>
              <a:chExt cx="1461" cy="262"/>
            </a:xfrm>
          </p:grpSpPr>
          <p:sp>
            <p:nvSpPr>
              <p:cNvPr id="149103" name="Freeform 623"/>
              <p:cNvSpPr>
                <a:spLocks/>
              </p:cNvSpPr>
              <p:nvPr/>
            </p:nvSpPr>
            <p:spPr bwMode="auto">
              <a:xfrm>
                <a:off x="1283" y="3558"/>
                <a:ext cx="1448"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104" name="Group 624"/>
              <p:cNvGrpSpPr>
                <a:grpSpLocks/>
              </p:cNvGrpSpPr>
              <p:nvPr/>
            </p:nvGrpSpPr>
            <p:grpSpPr bwMode="auto">
              <a:xfrm>
                <a:off x="1270" y="3544"/>
                <a:ext cx="1448" cy="249"/>
                <a:chOff x="1270" y="3544"/>
                <a:chExt cx="1448" cy="249"/>
              </a:xfrm>
            </p:grpSpPr>
            <p:pic>
              <p:nvPicPr>
                <p:cNvPr id="149105" name="Picture 6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0" y="3544"/>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106" name="Picture 6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7" y="3544"/>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107" name="Freeform 627"/>
                <p:cNvSpPr>
                  <a:spLocks/>
                </p:cNvSpPr>
                <p:nvPr/>
              </p:nvSpPr>
              <p:spPr bwMode="auto">
                <a:xfrm>
                  <a:off x="1270" y="3544"/>
                  <a:ext cx="1447"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108" name="Freeform 628"/>
                <p:cNvSpPr>
                  <a:spLocks/>
                </p:cNvSpPr>
                <p:nvPr/>
              </p:nvSpPr>
              <p:spPr bwMode="auto">
                <a:xfrm>
                  <a:off x="1270" y="3544"/>
                  <a:ext cx="1447"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109" name="Picture 6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0" y="3544"/>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110" name="Picture 6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7" y="3544"/>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111" name="Freeform 631"/>
              <p:cNvSpPr>
                <a:spLocks/>
              </p:cNvSpPr>
              <p:nvPr/>
            </p:nvSpPr>
            <p:spPr bwMode="auto">
              <a:xfrm>
                <a:off x="1270" y="3544"/>
                <a:ext cx="1447"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112" name="Group 632"/>
            <p:cNvGrpSpPr>
              <a:grpSpLocks/>
            </p:cNvGrpSpPr>
            <p:nvPr/>
          </p:nvGrpSpPr>
          <p:grpSpPr bwMode="auto">
            <a:xfrm>
              <a:off x="1253" y="3320"/>
              <a:ext cx="1461" cy="262"/>
              <a:chOff x="1270" y="3337"/>
              <a:chExt cx="1461" cy="262"/>
            </a:xfrm>
          </p:grpSpPr>
          <p:sp>
            <p:nvSpPr>
              <p:cNvPr id="149113" name="Freeform 633"/>
              <p:cNvSpPr>
                <a:spLocks/>
              </p:cNvSpPr>
              <p:nvPr/>
            </p:nvSpPr>
            <p:spPr bwMode="auto">
              <a:xfrm>
                <a:off x="1283" y="3351"/>
                <a:ext cx="1448"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114" name="Group 634"/>
              <p:cNvGrpSpPr>
                <a:grpSpLocks/>
              </p:cNvGrpSpPr>
              <p:nvPr/>
            </p:nvGrpSpPr>
            <p:grpSpPr bwMode="auto">
              <a:xfrm>
                <a:off x="1270" y="3337"/>
                <a:ext cx="1448" cy="249"/>
                <a:chOff x="1270" y="3337"/>
                <a:chExt cx="1448" cy="249"/>
              </a:xfrm>
            </p:grpSpPr>
            <p:pic>
              <p:nvPicPr>
                <p:cNvPr id="149115" name="Picture 6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0" y="3337"/>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116" name="Picture 6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7" y="3337"/>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117" name="Freeform 637"/>
                <p:cNvSpPr>
                  <a:spLocks/>
                </p:cNvSpPr>
                <p:nvPr/>
              </p:nvSpPr>
              <p:spPr bwMode="auto">
                <a:xfrm>
                  <a:off x="1270" y="3337"/>
                  <a:ext cx="1447"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118" name="Freeform 638"/>
                <p:cNvSpPr>
                  <a:spLocks/>
                </p:cNvSpPr>
                <p:nvPr/>
              </p:nvSpPr>
              <p:spPr bwMode="auto">
                <a:xfrm>
                  <a:off x="1270" y="3337"/>
                  <a:ext cx="1447"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119" name="Picture 6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0" y="3337"/>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120" name="Picture 6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7" y="3337"/>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121" name="Freeform 641"/>
              <p:cNvSpPr>
                <a:spLocks/>
              </p:cNvSpPr>
              <p:nvPr/>
            </p:nvSpPr>
            <p:spPr bwMode="auto">
              <a:xfrm>
                <a:off x="1270" y="3337"/>
                <a:ext cx="1447"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122" name="Group 642"/>
            <p:cNvGrpSpPr>
              <a:grpSpLocks/>
            </p:cNvGrpSpPr>
            <p:nvPr/>
          </p:nvGrpSpPr>
          <p:grpSpPr bwMode="auto">
            <a:xfrm>
              <a:off x="1253" y="3113"/>
              <a:ext cx="1461" cy="262"/>
              <a:chOff x="1270" y="3130"/>
              <a:chExt cx="1461" cy="262"/>
            </a:xfrm>
          </p:grpSpPr>
          <p:sp>
            <p:nvSpPr>
              <p:cNvPr id="149123" name="Freeform 643"/>
              <p:cNvSpPr>
                <a:spLocks/>
              </p:cNvSpPr>
              <p:nvPr/>
            </p:nvSpPr>
            <p:spPr bwMode="auto">
              <a:xfrm>
                <a:off x="1283" y="3144"/>
                <a:ext cx="1448"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124" name="Group 644"/>
              <p:cNvGrpSpPr>
                <a:grpSpLocks/>
              </p:cNvGrpSpPr>
              <p:nvPr/>
            </p:nvGrpSpPr>
            <p:grpSpPr bwMode="auto">
              <a:xfrm>
                <a:off x="1270" y="3130"/>
                <a:ext cx="1448" cy="249"/>
                <a:chOff x="1270" y="3130"/>
                <a:chExt cx="1448" cy="249"/>
              </a:xfrm>
            </p:grpSpPr>
            <p:pic>
              <p:nvPicPr>
                <p:cNvPr id="149125" name="Picture 6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0" y="3130"/>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126" name="Picture 6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7" y="3130"/>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127" name="Freeform 647"/>
                <p:cNvSpPr>
                  <a:spLocks/>
                </p:cNvSpPr>
                <p:nvPr/>
              </p:nvSpPr>
              <p:spPr bwMode="auto">
                <a:xfrm>
                  <a:off x="1270" y="3130"/>
                  <a:ext cx="1447" cy="249"/>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128" name="Freeform 648"/>
                <p:cNvSpPr>
                  <a:spLocks/>
                </p:cNvSpPr>
                <p:nvPr/>
              </p:nvSpPr>
              <p:spPr bwMode="auto">
                <a:xfrm>
                  <a:off x="1270" y="3130"/>
                  <a:ext cx="1447" cy="249"/>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129" name="Picture 6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0" y="3130"/>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130" name="Picture 6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7" y="3130"/>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131" name="Freeform 651"/>
              <p:cNvSpPr>
                <a:spLocks/>
              </p:cNvSpPr>
              <p:nvPr/>
            </p:nvSpPr>
            <p:spPr bwMode="auto">
              <a:xfrm>
                <a:off x="1270" y="3130"/>
                <a:ext cx="1447" cy="249"/>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9132" name="Rectangle 652"/>
            <p:cNvSpPr>
              <a:spLocks noChangeArrowheads="1"/>
            </p:cNvSpPr>
            <p:nvPr/>
          </p:nvSpPr>
          <p:spPr bwMode="auto">
            <a:xfrm>
              <a:off x="839" y="3105"/>
              <a:ext cx="378" cy="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33" name="Rectangle 653"/>
            <p:cNvSpPr>
              <a:spLocks noChangeArrowheads="1"/>
            </p:cNvSpPr>
            <p:nvPr/>
          </p:nvSpPr>
          <p:spPr bwMode="auto">
            <a:xfrm>
              <a:off x="898" y="3130"/>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C0C0C0"/>
                  </a:solidFill>
                  <a:latin typeface="隶书" charset="0"/>
                  <a:ea typeface="隶书" charset="0"/>
                </a:rPr>
                <a:t>移</a:t>
              </a:r>
              <a:endParaRPr lang="zh-CN" altLang="en-US">
                <a:latin typeface="Arial" charset="0"/>
              </a:endParaRPr>
            </a:p>
          </p:txBody>
        </p:sp>
        <p:sp>
          <p:nvSpPr>
            <p:cNvPr id="149134" name="Rectangle 654"/>
            <p:cNvSpPr>
              <a:spLocks noChangeArrowheads="1"/>
            </p:cNvSpPr>
            <p:nvPr/>
          </p:nvSpPr>
          <p:spPr bwMode="auto">
            <a:xfrm>
              <a:off x="889" y="3122"/>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0000FF"/>
                  </a:solidFill>
                  <a:latin typeface="隶书" charset="0"/>
                  <a:ea typeface="隶书" charset="0"/>
                </a:rPr>
                <a:t>移</a:t>
              </a:r>
              <a:endParaRPr lang="zh-CN" altLang="en-US">
                <a:latin typeface="Arial" charset="0"/>
              </a:endParaRPr>
            </a:p>
          </p:txBody>
        </p:sp>
        <p:sp>
          <p:nvSpPr>
            <p:cNvPr id="149135" name="Rectangle 655"/>
            <p:cNvSpPr>
              <a:spLocks noChangeArrowheads="1"/>
            </p:cNvSpPr>
            <p:nvPr/>
          </p:nvSpPr>
          <p:spPr bwMode="auto">
            <a:xfrm>
              <a:off x="898" y="3342"/>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C0C0C0"/>
                  </a:solidFill>
                  <a:latin typeface="隶书" charset="0"/>
                  <a:ea typeface="隶书" charset="0"/>
                </a:rPr>
                <a:t>位</a:t>
              </a:r>
              <a:endParaRPr lang="zh-CN" altLang="en-US">
                <a:latin typeface="Arial" charset="0"/>
              </a:endParaRPr>
            </a:p>
          </p:txBody>
        </p:sp>
        <p:sp>
          <p:nvSpPr>
            <p:cNvPr id="149136" name="Rectangle 656"/>
            <p:cNvSpPr>
              <a:spLocks noChangeArrowheads="1"/>
            </p:cNvSpPr>
            <p:nvPr/>
          </p:nvSpPr>
          <p:spPr bwMode="auto">
            <a:xfrm>
              <a:off x="889" y="3334"/>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0000FF"/>
                  </a:solidFill>
                  <a:latin typeface="隶书" charset="0"/>
                  <a:ea typeface="隶书" charset="0"/>
                </a:rPr>
                <a:t>位</a:t>
              </a:r>
              <a:endParaRPr lang="zh-CN" altLang="en-US">
                <a:latin typeface="Arial" charset="0"/>
              </a:endParaRPr>
            </a:p>
          </p:txBody>
        </p:sp>
        <p:sp>
          <p:nvSpPr>
            <p:cNvPr id="149137" name="Rectangle 657"/>
            <p:cNvSpPr>
              <a:spLocks noChangeArrowheads="1"/>
            </p:cNvSpPr>
            <p:nvPr/>
          </p:nvSpPr>
          <p:spPr bwMode="auto">
            <a:xfrm>
              <a:off x="898" y="3543"/>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C0C0C0"/>
                  </a:solidFill>
                  <a:latin typeface="隶书" charset="0"/>
                  <a:ea typeface="隶书" charset="0"/>
                </a:rPr>
                <a:t>法</a:t>
              </a:r>
              <a:endParaRPr lang="zh-CN" altLang="en-US">
                <a:latin typeface="Arial" charset="0"/>
              </a:endParaRPr>
            </a:p>
          </p:txBody>
        </p:sp>
        <p:sp>
          <p:nvSpPr>
            <p:cNvPr id="149138" name="Rectangle 658"/>
            <p:cNvSpPr>
              <a:spLocks noChangeArrowheads="1"/>
            </p:cNvSpPr>
            <p:nvPr/>
          </p:nvSpPr>
          <p:spPr bwMode="auto">
            <a:xfrm>
              <a:off x="889" y="3534"/>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0000FF"/>
                  </a:solidFill>
                  <a:latin typeface="隶书" charset="0"/>
                  <a:ea typeface="隶书" charset="0"/>
                </a:rPr>
                <a:t>法</a:t>
              </a:r>
              <a:endParaRPr lang="zh-CN" altLang="en-US">
                <a:latin typeface="Arial" charset="0"/>
              </a:endParaRPr>
            </a:p>
          </p:txBody>
        </p:sp>
        <p:grpSp>
          <p:nvGrpSpPr>
            <p:cNvPr id="149139" name="Group 659"/>
            <p:cNvGrpSpPr>
              <a:grpSpLocks/>
            </p:cNvGrpSpPr>
            <p:nvPr/>
          </p:nvGrpSpPr>
          <p:grpSpPr bwMode="auto">
            <a:xfrm>
              <a:off x="1507" y="3196"/>
              <a:ext cx="947" cy="138"/>
              <a:chOff x="1524" y="3213"/>
              <a:chExt cx="947" cy="138"/>
            </a:xfrm>
          </p:grpSpPr>
          <p:sp>
            <p:nvSpPr>
              <p:cNvPr id="149140" name="Freeform 660"/>
              <p:cNvSpPr>
                <a:spLocks/>
              </p:cNvSpPr>
              <p:nvPr/>
            </p:nvSpPr>
            <p:spPr bwMode="auto">
              <a:xfrm>
                <a:off x="1544" y="3227"/>
                <a:ext cx="345" cy="124"/>
              </a:xfrm>
              <a:custGeom>
                <a:avLst/>
                <a:gdLst>
                  <a:gd name="T0" fmla="*/ 96 w 689"/>
                  <a:gd name="T1" fmla="*/ 177 h 248"/>
                  <a:gd name="T2" fmla="*/ 155 w 689"/>
                  <a:gd name="T3" fmla="*/ 181 h 248"/>
                  <a:gd name="T4" fmla="*/ 148 w 689"/>
                  <a:gd name="T5" fmla="*/ 195 h 248"/>
                  <a:gd name="T6" fmla="*/ 158 w 689"/>
                  <a:gd name="T7" fmla="*/ 205 h 248"/>
                  <a:gd name="T8" fmla="*/ 183 w 689"/>
                  <a:gd name="T9" fmla="*/ 208 h 248"/>
                  <a:gd name="T10" fmla="*/ 243 w 689"/>
                  <a:gd name="T11" fmla="*/ 207 h 248"/>
                  <a:gd name="T12" fmla="*/ 312 w 689"/>
                  <a:gd name="T13" fmla="*/ 193 h 248"/>
                  <a:gd name="T14" fmla="*/ 369 w 689"/>
                  <a:gd name="T15" fmla="*/ 169 h 248"/>
                  <a:gd name="T16" fmla="*/ 389 w 689"/>
                  <a:gd name="T17" fmla="*/ 153 h 248"/>
                  <a:gd name="T18" fmla="*/ 391 w 689"/>
                  <a:gd name="T19" fmla="*/ 141 h 248"/>
                  <a:gd name="T20" fmla="*/ 376 w 689"/>
                  <a:gd name="T21" fmla="*/ 134 h 248"/>
                  <a:gd name="T22" fmla="*/ 345 w 689"/>
                  <a:gd name="T23" fmla="*/ 131 h 248"/>
                  <a:gd name="T24" fmla="*/ 315 w 689"/>
                  <a:gd name="T25" fmla="*/ 133 h 248"/>
                  <a:gd name="T26" fmla="*/ 277 w 689"/>
                  <a:gd name="T27" fmla="*/ 134 h 248"/>
                  <a:gd name="T28" fmla="*/ 358 w 689"/>
                  <a:gd name="T29" fmla="*/ 96 h 248"/>
                  <a:gd name="T30" fmla="*/ 432 w 689"/>
                  <a:gd name="T31" fmla="*/ 93 h 248"/>
                  <a:gd name="T32" fmla="*/ 475 w 689"/>
                  <a:gd name="T33" fmla="*/ 83 h 248"/>
                  <a:gd name="T34" fmla="*/ 510 w 689"/>
                  <a:gd name="T35" fmla="*/ 72 h 248"/>
                  <a:gd name="T36" fmla="*/ 532 w 689"/>
                  <a:gd name="T37" fmla="*/ 58 h 248"/>
                  <a:gd name="T38" fmla="*/ 539 w 689"/>
                  <a:gd name="T39" fmla="*/ 48 h 248"/>
                  <a:gd name="T40" fmla="*/ 532 w 689"/>
                  <a:gd name="T41" fmla="*/ 43 h 248"/>
                  <a:gd name="T42" fmla="*/ 512 w 689"/>
                  <a:gd name="T43" fmla="*/ 38 h 248"/>
                  <a:gd name="T44" fmla="*/ 460 w 689"/>
                  <a:gd name="T45" fmla="*/ 40 h 248"/>
                  <a:gd name="T46" fmla="*/ 386 w 689"/>
                  <a:gd name="T47" fmla="*/ 57 h 248"/>
                  <a:gd name="T48" fmla="*/ 351 w 689"/>
                  <a:gd name="T49" fmla="*/ 71 h 248"/>
                  <a:gd name="T50" fmla="*/ 241 w 689"/>
                  <a:gd name="T51" fmla="*/ 64 h 248"/>
                  <a:gd name="T52" fmla="*/ 343 w 689"/>
                  <a:gd name="T53" fmla="*/ 27 h 248"/>
                  <a:gd name="T54" fmla="*/ 451 w 689"/>
                  <a:gd name="T55" fmla="*/ 7 h 248"/>
                  <a:gd name="T56" fmla="*/ 567 w 689"/>
                  <a:gd name="T57" fmla="*/ 0 h 248"/>
                  <a:gd name="T58" fmla="*/ 612 w 689"/>
                  <a:gd name="T59" fmla="*/ 2 h 248"/>
                  <a:gd name="T60" fmla="*/ 646 w 689"/>
                  <a:gd name="T61" fmla="*/ 5 h 248"/>
                  <a:gd name="T62" fmla="*/ 670 w 689"/>
                  <a:gd name="T63" fmla="*/ 12 h 248"/>
                  <a:gd name="T64" fmla="*/ 684 w 689"/>
                  <a:gd name="T65" fmla="*/ 22 h 248"/>
                  <a:gd name="T66" fmla="*/ 689 w 689"/>
                  <a:gd name="T67" fmla="*/ 31 h 248"/>
                  <a:gd name="T68" fmla="*/ 687 w 689"/>
                  <a:gd name="T69" fmla="*/ 41 h 248"/>
                  <a:gd name="T70" fmla="*/ 679 w 689"/>
                  <a:gd name="T71" fmla="*/ 52 h 248"/>
                  <a:gd name="T72" fmla="*/ 662 w 689"/>
                  <a:gd name="T73" fmla="*/ 62 h 248"/>
                  <a:gd name="T74" fmla="*/ 629 w 689"/>
                  <a:gd name="T75" fmla="*/ 77 h 248"/>
                  <a:gd name="T76" fmla="*/ 586 w 689"/>
                  <a:gd name="T77" fmla="*/ 91 h 248"/>
                  <a:gd name="T78" fmla="*/ 534 w 689"/>
                  <a:gd name="T79" fmla="*/ 103 h 248"/>
                  <a:gd name="T80" fmla="*/ 472 w 689"/>
                  <a:gd name="T81" fmla="*/ 114 h 248"/>
                  <a:gd name="T82" fmla="*/ 513 w 689"/>
                  <a:gd name="T83" fmla="*/ 120 h 248"/>
                  <a:gd name="T84" fmla="*/ 532 w 689"/>
                  <a:gd name="T85" fmla="*/ 133 h 248"/>
                  <a:gd name="T86" fmla="*/ 529 w 689"/>
                  <a:gd name="T87" fmla="*/ 150 h 248"/>
                  <a:gd name="T88" fmla="*/ 501 w 689"/>
                  <a:gd name="T89" fmla="*/ 170 h 248"/>
                  <a:gd name="T90" fmla="*/ 432 w 689"/>
                  <a:gd name="T91" fmla="*/ 201 h 248"/>
                  <a:gd name="T92" fmla="*/ 363 w 689"/>
                  <a:gd name="T93" fmla="*/ 220 h 248"/>
                  <a:gd name="T94" fmla="*/ 286 w 689"/>
                  <a:gd name="T95" fmla="*/ 236 h 248"/>
                  <a:gd name="T96" fmla="*/ 183 w 689"/>
                  <a:gd name="T97" fmla="*/ 246 h 248"/>
                  <a:gd name="T98" fmla="*/ 110 w 689"/>
                  <a:gd name="T99" fmla="*/ 248 h 248"/>
                  <a:gd name="T100" fmla="*/ 72 w 689"/>
                  <a:gd name="T101" fmla="*/ 245 h 248"/>
                  <a:gd name="T102" fmla="*/ 41 w 689"/>
                  <a:gd name="T103" fmla="*/ 241 h 248"/>
                  <a:gd name="T104" fmla="*/ 19 w 689"/>
                  <a:gd name="T105" fmla="*/ 234 h 248"/>
                  <a:gd name="T106" fmla="*/ 5 w 689"/>
                  <a:gd name="T107" fmla="*/ 224 h 248"/>
                  <a:gd name="T108" fmla="*/ 0 w 689"/>
                  <a:gd name="T109" fmla="*/ 214 h 248"/>
                  <a:gd name="T110" fmla="*/ 5 w 689"/>
                  <a:gd name="T111" fmla="*/ 200 h 248"/>
                  <a:gd name="T112" fmla="*/ 17 w 689"/>
                  <a:gd name="T113" fmla="*/ 186 h 248"/>
                  <a:gd name="T114" fmla="*/ 27 w 689"/>
                  <a:gd name="T115" fmla="*/ 17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89" h="248">
                    <a:moveTo>
                      <a:pt x="27" y="179"/>
                    </a:moveTo>
                    <a:lnTo>
                      <a:pt x="96" y="177"/>
                    </a:lnTo>
                    <a:lnTo>
                      <a:pt x="165" y="174"/>
                    </a:lnTo>
                    <a:lnTo>
                      <a:pt x="155" y="181"/>
                    </a:lnTo>
                    <a:lnTo>
                      <a:pt x="150" y="188"/>
                    </a:lnTo>
                    <a:lnTo>
                      <a:pt x="148" y="195"/>
                    </a:lnTo>
                    <a:lnTo>
                      <a:pt x="152" y="200"/>
                    </a:lnTo>
                    <a:lnTo>
                      <a:pt x="158" y="205"/>
                    </a:lnTo>
                    <a:lnTo>
                      <a:pt x="169" y="207"/>
                    </a:lnTo>
                    <a:lnTo>
                      <a:pt x="183" y="208"/>
                    </a:lnTo>
                    <a:lnTo>
                      <a:pt x="200" y="208"/>
                    </a:lnTo>
                    <a:lnTo>
                      <a:pt x="243" y="207"/>
                    </a:lnTo>
                    <a:lnTo>
                      <a:pt x="289" y="198"/>
                    </a:lnTo>
                    <a:lnTo>
                      <a:pt x="312" y="193"/>
                    </a:lnTo>
                    <a:lnTo>
                      <a:pt x="332" y="186"/>
                    </a:lnTo>
                    <a:lnTo>
                      <a:pt x="369" y="169"/>
                    </a:lnTo>
                    <a:lnTo>
                      <a:pt x="382" y="160"/>
                    </a:lnTo>
                    <a:lnTo>
                      <a:pt x="389" y="153"/>
                    </a:lnTo>
                    <a:lnTo>
                      <a:pt x="393" y="146"/>
                    </a:lnTo>
                    <a:lnTo>
                      <a:pt x="391" y="141"/>
                    </a:lnTo>
                    <a:lnTo>
                      <a:pt x="386" y="136"/>
                    </a:lnTo>
                    <a:lnTo>
                      <a:pt x="376" y="134"/>
                    </a:lnTo>
                    <a:lnTo>
                      <a:pt x="362" y="131"/>
                    </a:lnTo>
                    <a:lnTo>
                      <a:pt x="345" y="131"/>
                    </a:lnTo>
                    <a:lnTo>
                      <a:pt x="331" y="131"/>
                    </a:lnTo>
                    <a:lnTo>
                      <a:pt x="315" y="133"/>
                    </a:lnTo>
                    <a:lnTo>
                      <a:pt x="296" y="133"/>
                    </a:lnTo>
                    <a:lnTo>
                      <a:pt x="277" y="134"/>
                    </a:lnTo>
                    <a:lnTo>
                      <a:pt x="317" y="115"/>
                    </a:lnTo>
                    <a:lnTo>
                      <a:pt x="358" y="96"/>
                    </a:lnTo>
                    <a:lnTo>
                      <a:pt x="408" y="95"/>
                    </a:lnTo>
                    <a:lnTo>
                      <a:pt x="432" y="93"/>
                    </a:lnTo>
                    <a:lnTo>
                      <a:pt x="455" y="88"/>
                    </a:lnTo>
                    <a:lnTo>
                      <a:pt x="475" y="83"/>
                    </a:lnTo>
                    <a:lnTo>
                      <a:pt x="494" y="77"/>
                    </a:lnTo>
                    <a:lnTo>
                      <a:pt x="510" y="72"/>
                    </a:lnTo>
                    <a:lnTo>
                      <a:pt x="524" y="65"/>
                    </a:lnTo>
                    <a:lnTo>
                      <a:pt x="532" y="58"/>
                    </a:lnTo>
                    <a:lnTo>
                      <a:pt x="538" y="53"/>
                    </a:lnTo>
                    <a:lnTo>
                      <a:pt x="539" y="48"/>
                    </a:lnTo>
                    <a:lnTo>
                      <a:pt x="538" y="45"/>
                    </a:lnTo>
                    <a:lnTo>
                      <a:pt x="532" y="43"/>
                    </a:lnTo>
                    <a:lnTo>
                      <a:pt x="524" y="40"/>
                    </a:lnTo>
                    <a:lnTo>
                      <a:pt x="512" y="38"/>
                    </a:lnTo>
                    <a:lnTo>
                      <a:pt x="496" y="38"/>
                    </a:lnTo>
                    <a:lnTo>
                      <a:pt x="460" y="40"/>
                    </a:lnTo>
                    <a:lnTo>
                      <a:pt x="422" y="46"/>
                    </a:lnTo>
                    <a:lnTo>
                      <a:pt x="386" y="57"/>
                    </a:lnTo>
                    <a:lnTo>
                      <a:pt x="369" y="64"/>
                    </a:lnTo>
                    <a:lnTo>
                      <a:pt x="351" y="71"/>
                    </a:lnTo>
                    <a:lnTo>
                      <a:pt x="296" y="67"/>
                    </a:lnTo>
                    <a:lnTo>
                      <a:pt x="241" y="64"/>
                    </a:lnTo>
                    <a:lnTo>
                      <a:pt x="293" y="43"/>
                    </a:lnTo>
                    <a:lnTo>
                      <a:pt x="343" y="27"/>
                    </a:lnTo>
                    <a:lnTo>
                      <a:pt x="394" y="15"/>
                    </a:lnTo>
                    <a:lnTo>
                      <a:pt x="451" y="7"/>
                    </a:lnTo>
                    <a:lnTo>
                      <a:pt x="510" y="2"/>
                    </a:lnTo>
                    <a:lnTo>
                      <a:pt x="567" y="0"/>
                    </a:lnTo>
                    <a:lnTo>
                      <a:pt x="591" y="0"/>
                    </a:lnTo>
                    <a:lnTo>
                      <a:pt x="612" y="2"/>
                    </a:lnTo>
                    <a:lnTo>
                      <a:pt x="629" y="3"/>
                    </a:lnTo>
                    <a:lnTo>
                      <a:pt x="646" y="5"/>
                    </a:lnTo>
                    <a:lnTo>
                      <a:pt x="658" y="8"/>
                    </a:lnTo>
                    <a:lnTo>
                      <a:pt x="670" y="12"/>
                    </a:lnTo>
                    <a:lnTo>
                      <a:pt x="679" y="17"/>
                    </a:lnTo>
                    <a:lnTo>
                      <a:pt x="684" y="22"/>
                    </a:lnTo>
                    <a:lnTo>
                      <a:pt x="687" y="27"/>
                    </a:lnTo>
                    <a:lnTo>
                      <a:pt x="689" y="31"/>
                    </a:lnTo>
                    <a:lnTo>
                      <a:pt x="689" y="36"/>
                    </a:lnTo>
                    <a:lnTo>
                      <a:pt x="687" y="41"/>
                    </a:lnTo>
                    <a:lnTo>
                      <a:pt x="684" y="46"/>
                    </a:lnTo>
                    <a:lnTo>
                      <a:pt x="679" y="52"/>
                    </a:lnTo>
                    <a:lnTo>
                      <a:pt x="670" y="57"/>
                    </a:lnTo>
                    <a:lnTo>
                      <a:pt x="662" y="62"/>
                    </a:lnTo>
                    <a:lnTo>
                      <a:pt x="646" y="69"/>
                    </a:lnTo>
                    <a:lnTo>
                      <a:pt x="629" y="77"/>
                    </a:lnTo>
                    <a:lnTo>
                      <a:pt x="608" y="84"/>
                    </a:lnTo>
                    <a:lnTo>
                      <a:pt x="586" y="91"/>
                    </a:lnTo>
                    <a:lnTo>
                      <a:pt x="562" y="96"/>
                    </a:lnTo>
                    <a:lnTo>
                      <a:pt x="534" y="103"/>
                    </a:lnTo>
                    <a:lnTo>
                      <a:pt x="505" y="108"/>
                    </a:lnTo>
                    <a:lnTo>
                      <a:pt x="472" y="114"/>
                    </a:lnTo>
                    <a:lnTo>
                      <a:pt x="496" y="115"/>
                    </a:lnTo>
                    <a:lnTo>
                      <a:pt x="513" y="120"/>
                    </a:lnTo>
                    <a:lnTo>
                      <a:pt x="525" y="126"/>
                    </a:lnTo>
                    <a:lnTo>
                      <a:pt x="532" y="133"/>
                    </a:lnTo>
                    <a:lnTo>
                      <a:pt x="534" y="141"/>
                    </a:lnTo>
                    <a:lnTo>
                      <a:pt x="529" y="150"/>
                    </a:lnTo>
                    <a:lnTo>
                      <a:pt x="519" y="160"/>
                    </a:lnTo>
                    <a:lnTo>
                      <a:pt x="501" y="170"/>
                    </a:lnTo>
                    <a:lnTo>
                      <a:pt x="470" y="186"/>
                    </a:lnTo>
                    <a:lnTo>
                      <a:pt x="432" y="201"/>
                    </a:lnTo>
                    <a:lnTo>
                      <a:pt x="389" y="214"/>
                    </a:lnTo>
                    <a:lnTo>
                      <a:pt x="363" y="220"/>
                    </a:lnTo>
                    <a:lnTo>
                      <a:pt x="338" y="226"/>
                    </a:lnTo>
                    <a:lnTo>
                      <a:pt x="286" y="236"/>
                    </a:lnTo>
                    <a:lnTo>
                      <a:pt x="234" y="243"/>
                    </a:lnTo>
                    <a:lnTo>
                      <a:pt x="183" y="246"/>
                    </a:lnTo>
                    <a:lnTo>
                      <a:pt x="133" y="248"/>
                    </a:lnTo>
                    <a:lnTo>
                      <a:pt x="110" y="248"/>
                    </a:lnTo>
                    <a:lnTo>
                      <a:pt x="89" y="246"/>
                    </a:lnTo>
                    <a:lnTo>
                      <a:pt x="72" y="245"/>
                    </a:lnTo>
                    <a:lnTo>
                      <a:pt x="55" y="243"/>
                    </a:lnTo>
                    <a:lnTo>
                      <a:pt x="41" y="241"/>
                    </a:lnTo>
                    <a:lnTo>
                      <a:pt x="29" y="238"/>
                    </a:lnTo>
                    <a:lnTo>
                      <a:pt x="19" y="234"/>
                    </a:lnTo>
                    <a:lnTo>
                      <a:pt x="10" y="229"/>
                    </a:lnTo>
                    <a:lnTo>
                      <a:pt x="5" y="224"/>
                    </a:lnTo>
                    <a:lnTo>
                      <a:pt x="2" y="219"/>
                    </a:lnTo>
                    <a:lnTo>
                      <a:pt x="0" y="214"/>
                    </a:lnTo>
                    <a:lnTo>
                      <a:pt x="2" y="207"/>
                    </a:lnTo>
                    <a:lnTo>
                      <a:pt x="5" y="200"/>
                    </a:lnTo>
                    <a:lnTo>
                      <a:pt x="10" y="195"/>
                    </a:lnTo>
                    <a:lnTo>
                      <a:pt x="17" y="186"/>
                    </a:lnTo>
                    <a:lnTo>
                      <a:pt x="27" y="179"/>
                    </a:lnTo>
                    <a:lnTo>
                      <a:pt x="27" y="17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141" name="Freeform 661"/>
              <p:cNvSpPr>
                <a:spLocks noEditPoints="1"/>
              </p:cNvSpPr>
              <p:nvPr/>
            </p:nvSpPr>
            <p:spPr bwMode="auto">
              <a:xfrm>
                <a:off x="1812" y="3227"/>
                <a:ext cx="351" cy="124"/>
              </a:xfrm>
              <a:custGeom>
                <a:avLst/>
                <a:gdLst>
                  <a:gd name="T0" fmla="*/ 236 w 701"/>
                  <a:gd name="T1" fmla="*/ 103 h 248"/>
                  <a:gd name="T2" fmla="*/ 229 w 701"/>
                  <a:gd name="T3" fmla="*/ 84 h 248"/>
                  <a:gd name="T4" fmla="*/ 255 w 701"/>
                  <a:gd name="T5" fmla="*/ 62 h 248"/>
                  <a:gd name="T6" fmla="*/ 348 w 701"/>
                  <a:gd name="T7" fmla="*/ 27 h 248"/>
                  <a:gd name="T8" fmla="*/ 477 w 701"/>
                  <a:gd name="T9" fmla="*/ 3 h 248"/>
                  <a:gd name="T10" fmla="*/ 598 w 701"/>
                  <a:gd name="T11" fmla="*/ 0 h 248"/>
                  <a:gd name="T12" fmla="*/ 653 w 701"/>
                  <a:gd name="T13" fmla="*/ 3 h 248"/>
                  <a:gd name="T14" fmla="*/ 687 w 701"/>
                  <a:gd name="T15" fmla="*/ 14 h 248"/>
                  <a:gd name="T16" fmla="*/ 701 w 701"/>
                  <a:gd name="T17" fmla="*/ 27 h 248"/>
                  <a:gd name="T18" fmla="*/ 696 w 701"/>
                  <a:gd name="T19" fmla="*/ 43 h 248"/>
                  <a:gd name="T20" fmla="*/ 670 w 701"/>
                  <a:gd name="T21" fmla="*/ 62 h 248"/>
                  <a:gd name="T22" fmla="*/ 615 w 701"/>
                  <a:gd name="T23" fmla="*/ 86 h 248"/>
                  <a:gd name="T24" fmla="*/ 541 w 701"/>
                  <a:gd name="T25" fmla="*/ 105 h 248"/>
                  <a:gd name="T26" fmla="*/ 520 w 701"/>
                  <a:gd name="T27" fmla="*/ 122 h 248"/>
                  <a:gd name="T28" fmla="*/ 531 w 701"/>
                  <a:gd name="T29" fmla="*/ 145 h 248"/>
                  <a:gd name="T30" fmla="*/ 498 w 701"/>
                  <a:gd name="T31" fmla="*/ 172 h 248"/>
                  <a:gd name="T32" fmla="*/ 388 w 701"/>
                  <a:gd name="T33" fmla="*/ 215 h 248"/>
                  <a:gd name="T34" fmla="*/ 241 w 701"/>
                  <a:gd name="T35" fmla="*/ 243 h 248"/>
                  <a:gd name="T36" fmla="*/ 119 w 701"/>
                  <a:gd name="T37" fmla="*/ 248 h 248"/>
                  <a:gd name="T38" fmla="*/ 62 w 701"/>
                  <a:gd name="T39" fmla="*/ 245 h 248"/>
                  <a:gd name="T40" fmla="*/ 22 w 701"/>
                  <a:gd name="T41" fmla="*/ 234 h 248"/>
                  <a:gd name="T42" fmla="*/ 2 w 701"/>
                  <a:gd name="T43" fmla="*/ 219 h 248"/>
                  <a:gd name="T44" fmla="*/ 7 w 701"/>
                  <a:gd name="T45" fmla="*/ 200 h 248"/>
                  <a:gd name="T46" fmla="*/ 39 w 701"/>
                  <a:gd name="T47" fmla="*/ 174 h 248"/>
                  <a:gd name="T48" fmla="*/ 103 w 701"/>
                  <a:gd name="T49" fmla="*/ 146 h 248"/>
                  <a:gd name="T50" fmla="*/ 193 w 701"/>
                  <a:gd name="T51" fmla="*/ 124 h 248"/>
                  <a:gd name="T52" fmla="*/ 263 w 701"/>
                  <a:gd name="T53" fmla="*/ 112 h 248"/>
                  <a:gd name="T54" fmla="*/ 358 w 701"/>
                  <a:gd name="T55" fmla="*/ 79 h 248"/>
                  <a:gd name="T56" fmla="*/ 363 w 701"/>
                  <a:gd name="T57" fmla="*/ 91 h 248"/>
                  <a:gd name="T58" fmla="*/ 405 w 701"/>
                  <a:gd name="T59" fmla="*/ 95 h 248"/>
                  <a:gd name="T60" fmla="*/ 512 w 701"/>
                  <a:gd name="T61" fmla="*/ 79 h 248"/>
                  <a:gd name="T62" fmla="*/ 549 w 701"/>
                  <a:gd name="T63" fmla="*/ 58 h 248"/>
                  <a:gd name="T64" fmla="*/ 555 w 701"/>
                  <a:gd name="T65" fmla="*/ 45 h 248"/>
                  <a:gd name="T66" fmla="*/ 525 w 701"/>
                  <a:gd name="T67" fmla="*/ 36 h 248"/>
                  <a:gd name="T68" fmla="*/ 434 w 701"/>
                  <a:gd name="T69" fmla="*/ 45 h 248"/>
                  <a:gd name="T70" fmla="*/ 374 w 701"/>
                  <a:gd name="T71" fmla="*/ 65 h 248"/>
                  <a:gd name="T72" fmla="*/ 163 w 701"/>
                  <a:gd name="T73" fmla="*/ 179 h 248"/>
                  <a:gd name="T74" fmla="*/ 153 w 701"/>
                  <a:gd name="T75" fmla="*/ 200 h 248"/>
                  <a:gd name="T76" fmla="*/ 186 w 701"/>
                  <a:gd name="T77" fmla="*/ 210 h 248"/>
                  <a:gd name="T78" fmla="*/ 291 w 701"/>
                  <a:gd name="T79" fmla="*/ 200 h 248"/>
                  <a:gd name="T80" fmla="*/ 370 w 701"/>
                  <a:gd name="T81" fmla="*/ 170 h 248"/>
                  <a:gd name="T82" fmla="*/ 394 w 701"/>
                  <a:gd name="T83" fmla="*/ 148 h 248"/>
                  <a:gd name="T84" fmla="*/ 374 w 701"/>
                  <a:gd name="T85" fmla="*/ 136 h 248"/>
                  <a:gd name="T86" fmla="*/ 293 w 701"/>
                  <a:gd name="T87" fmla="*/ 136 h 248"/>
                  <a:gd name="T88" fmla="*/ 226 w 701"/>
                  <a:gd name="T89" fmla="*/ 150 h 248"/>
                  <a:gd name="T90" fmla="*/ 177 w 701"/>
                  <a:gd name="T91" fmla="*/ 17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1" h="248">
                    <a:moveTo>
                      <a:pt x="263" y="112"/>
                    </a:moveTo>
                    <a:lnTo>
                      <a:pt x="248" y="108"/>
                    </a:lnTo>
                    <a:lnTo>
                      <a:pt x="236" y="103"/>
                    </a:lnTo>
                    <a:lnTo>
                      <a:pt x="229" y="98"/>
                    </a:lnTo>
                    <a:lnTo>
                      <a:pt x="227" y="91"/>
                    </a:lnTo>
                    <a:lnTo>
                      <a:pt x="229" y="84"/>
                    </a:lnTo>
                    <a:lnTo>
                      <a:pt x="234" y="77"/>
                    </a:lnTo>
                    <a:lnTo>
                      <a:pt x="243" y="71"/>
                    </a:lnTo>
                    <a:lnTo>
                      <a:pt x="255" y="62"/>
                    </a:lnTo>
                    <a:lnTo>
                      <a:pt x="281" y="50"/>
                    </a:lnTo>
                    <a:lnTo>
                      <a:pt x="312" y="38"/>
                    </a:lnTo>
                    <a:lnTo>
                      <a:pt x="348" y="27"/>
                    </a:lnTo>
                    <a:lnTo>
                      <a:pt x="388" y="17"/>
                    </a:lnTo>
                    <a:lnTo>
                      <a:pt x="431" y="10"/>
                    </a:lnTo>
                    <a:lnTo>
                      <a:pt x="477" y="3"/>
                    </a:lnTo>
                    <a:lnTo>
                      <a:pt x="524" y="2"/>
                    </a:lnTo>
                    <a:lnTo>
                      <a:pt x="574" y="0"/>
                    </a:lnTo>
                    <a:lnTo>
                      <a:pt x="598" y="0"/>
                    </a:lnTo>
                    <a:lnTo>
                      <a:pt x="618" y="2"/>
                    </a:lnTo>
                    <a:lnTo>
                      <a:pt x="637" y="2"/>
                    </a:lnTo>
                    <a:lnTo>
                      <a:pt x="653" y="3"/>
                    </a:lnTo>
                    <a:lnTo>
                      <a:pt x="667" y="7"/>
                    </a:lnTo>
                    <a:lnTo>
                      <a:pt x="679" y="10"/>
                    </a:lnTo>
                    <a:lnTo>
                      <a:pt x="687" y="14"/>
                    </a:lnTo>
                    <a:lnTo>
                      <a:pt x="694" y="17"/>
                    </a:lnTo>
                    <a:lnTo>
                      <a:pt x="699" y="22"/>
                    </a:lnTo>
                    <a:lnTo>
                      <a:pt x="701" y="27"/>
                    </a:lnTo>
                    <a:lnTo>
                      <a:pt x="701" y="33"/>
                    </a:lnTo>
                    <a:lnTo>
                      <a:pt x="699" y="38"/>
                    </a:lnTo>
                    <a:lnTo>
                      <a:pt x="696" y="43"/>
                    </a:lnTo>
                    <a:lnTo>
                      <a:pt x="689" y="50"/>
                    </a:lnTo>
                    <a:lnTo>
                      <a:pt x="680" y="55"/>
                    </a:lnTo>
                    <a:lnTo>
                      <a:pt x="670" y="62"/>
                    </a:lnTo>
                    <a:lnTo>
                      <a:pt x="653" y="71"/>
                    </a:lnTo>
                    <a:lnTo>
                      <a:pt x="636" y="79"/>
                    </a:lnTo>
                    <a:lnTo>
                      <a:pt x="615" y="86"/>
                    </a:lnTo>
                    <a:lnTo>
                      <a:pt x="591" y="93"/>
                    </a:lnTo>
                    <a:lnTo>
                      <a:pt x="567" y="100"/>
                    </a:lnTo>
                    <a:lnTo>
                      <a:pt x="541" y="105"/>
                    </a:lnTo>
                    <a:lnTo>
                      <a:pt x="486" y="112"/>
                    </a:lnTo>
                    <a:lnTo>
                      <a:pt x="505" y="117"/>
                    </a:lnTo>
                    <a:lnTo>
                      <a:pt x="520" y="122"/>
                    </a:lnTo>
                    <a:lnTo>
                      <a:pt x="529" y="129"/>
                    </a:lnTo>
                    <a:lnTo>
                      <a:pt x="532" y="136"/>
                    </a:lnTo>
                    <a:lnTo>
                      <a:pt x="531" y="145"/>
                    </a:lnTo>
                    <a:lnTo>
                      <a:pt x="524" y="153"/>
                    </a:lnTo>
                    <a:lnTo>
                      <a:pt x="513" y="162"/>
                    </a:lnTo>
                    <a:lnTo>
                      <a:pt x="498" y="172"/>
                    </a:lnTo>
                    <a:lnTo>
                      <a:pt x="465" y="188"/>
                    </a:lnTo>
                    <a:lnTo>
                      <a:pt x="429" y="203"/>
                    </a:lnTo>
                    <a:lnTo>
                      <a:pt x="388" y="215"/>
                    </a:lnTo>
                    <a:lnTo>
                      <a:pt x="341" y="227"/>
                    </a:lnTo>
                    <a:lnTo>
                      <a:pt x="291" y="236"/>
                    </a:lnTo>
                    <a:lnTo>
                      <a:pt x="241" y="243"/>
                    </a:lnTo>
                    <a:lnTo>
                      <a:pt x="191" y="246"/>
                    </a:lnTo>
                    <a:lnTo>
                      <a:pt x="141" y="248"/>
                    </a:lnTo>
                    <a:lnTo>
                      <a:pt x="119" y="248"/>
                    </a:lnTo>
                    <a:lnTo>
                      <a:pt x="98" y="246"/>
                    </a:lnTo>
                    <a:lnTo>
                      <a:pt x="79" y="246"/>
                    </a:lnTo>
                    <a:lnTo>
                      <a:pt x="62" y="245"/>
                    </a:lnTo>
                    <a:lnTo>
                      <a:pt x="46" y="241"/>
                    </a:lnTo>
                    <a:lnTo>
                      <a:pt x="34" y="239"/>
                    </a:lnTo>
                    <a:lnTo>
                      <a:pt x="22" y="234"/>
                    </a:lnTo>
                    <a:lnTo>
                      <a:pt x="14" y="231"/>
                    </a:lnTo>
                    <a:lnTo>
                      <a:pt x="7" y="226"/>
                    </a:lnTo>
                    <a:lnTo>
                      <a:pt x="2" y="219"/>
                    </a:lnTo>
                    <a:lnTo>
                      <a:pt x="0" y="214"/>
                    </a:lnTo>
                    <a:lnTo>
                      <a:pt x="2" y="207"/>
                    </a:lnTo>
                    <a:lnTo>
                      <a:pt x="7" y="200"/>
                    </a:lnTo>
                    <a:lnTo>
                      <a:pt x="15" y="191"/>
                    </a:lnTo>
                    <a:lnTo>
                      <a:pt x="26" y="183"/>
                    </a:lnTo>
                    <a:lnTo>
                      <a:pt x="39" y="174"/>
                    </a:lnTo>
                    <a:lnTo>
                      <a:pt x="58" y="165"/>
                    </a:lnTo>
                    <a:lnTo>
                      <a:pt x="81" y="157"/>
                    </a:lnTo>
                    <a:lnTo>
                      <a:pt x="103" y="146"/>
                    </a:lnTo>
                    <a:lnTo>
                      <a:pt x="131" y="138"/>
                    </a:lnTo>
                    <a:lnTo>
                      <a:pt x="160" y="131"/>
                    </a:lnTo>
                    <a:lnTo>
                      <a:pt x="193" y="124"/>
                    </a:lnTo>
                    <a:lnTo>
                      <a:pt x="227" y="117"/>
                    </a:lnTo>
                    <a:lnTo>
                      <a:pt x="263" y="112"/>
                    </a:lnTo>
                    <a:lnTo>
                      <a:pt x="263" y="112"/>
                    </a:lnTo>
                    <a:close/>
                    <a:moveTo>
                      <a:pt x="374" y="65"/>
                    </a:moveTo>
                    <a:lnTo>
                      <a:pt x="363" y="72"/>
                    </a:lnTo>
                    <a:lnTo>
                      <a:pt x="358" y="79"/>
                    </a:lnTo>
                    <a:lnTo>
                      <a:pt x="356" y="84"/>
                    </a:lnTo>
                    <a:lnTo>
                      <a:pt x="358" y="88"/>
                    </a:lnTo>
                    <a:lnTo>
                      <a:pt x="363" y="91"/>
                    </a:lnTo>
                    <a:lnTo>
                      <a:pt x="374" y="93"/>
                    </a:lnTo>
                    <a:lnTo>
                      <a:pt x="388" y="95"/>
                    </a:lnTo>
                    <a:lnTo>
                      <a:pt x="405" y="95"/>
                    </a:lnTo>
                    <a:lnTo>
                      <a:pt x="443" y="93"/>
                    </a:lnTo>
                    <a:lnTo>
                      <a:pt x="479" y="88"/>
                    </a:lnTo>
                    <a:lnTo>
                      <a:pt x="512" y="79"/>
                    </a:lnTo>
                    <a:lnTo>
                      <a:pt x="527" y="72"/>
                    </a:lnTo>
                    <a:lnTo>
                      <a:pt x="539" y="65"/>
                    </a:lnTo>
                    <a:lnTo>
                      <a:pt x="549" y="58"/>
                    </a:lnTo>
                    <a:lnTo>
                      <a:pt x="555" y="53"/>
                    </a:lnTo>
                    <a:lnTo>
                      <a:pt x="556" y="48"/>
                    </a:lnTo>
                    <a:lnTo>
                      <a:pt x="555" y="45"/>
                    </a:lnTo>
                    <a:lnTo>
                      <a:pt x="549" y="41"/>
                    </a:lnTo>
                    <a:lnTo>
                      <a:pt x="539" y="38"/>
                    </a:lnTo>
                    <a:lnTo>
                      <a:pt x="525" y="36"/>
                    </a:lnTo>
                    <a:lnTo>
                      <a:pt x="508" y="36"/>
                    </a:lnTo>
                    <a:lnTo>
                      <a:pt x="472" y="38"/>
                    </a:lnTo>
                    <a:lnTo>
                      <a:pt x="434" y="45"/>
                    </a:lnTo>
                    <a:lnTo>
                      <a:pt x="401" y="53"/>
                    </a:lnTo>
                    <a:lnTo>
                      <a:pt x="386" y="58"/>
                    </a:lnTo>
                    <a:lnTo>
                      <a:pt x="374" y="65"/>
                    </a:lnTo>
                    <a:lnTo>
                      <a:pt x="374" y="65"/>
                    </a:lnTo>
                    <a:close/>
                    <a:moveTo>
                      <a:pt x="177" y="170"/>
                    </a:moveTo>
                    <a:lnTo>
                      <a:pt x="163" y="179"/>
                    </a:lnTo>
                    <a:lnTo>
                      <a:pt x="155" y="188"/>
                    </a:lnTo>
                    <a:lnTo>
                      <a:pt x="151" y="195"/>
                    </a:lnTo>
                    <a:lnTo>
                      <a:pt x="153" y="200"/>
                    </a:lnTo>
                    <a:lnTo>
                      <a:pt x="160" y="205"/>
                    </a:lnTo>
                    <a:lnTo>
                      <a:pt x="170" y="208"/>
                    </a:lnTo>
                    <a:lnTo>
                      <a:pt x="186" y="210"/>
                    </a:lnTo>
                    <a:lnTo>
                      <a:pt x="205" y="210"/>
                    </a:lnTo>
                    <a:lnTo>
                      <a:pt x="246" y="208"/>
                    </a:lnTo>
                    <a:lnTo>
                      <a:pt x="291" y="200"/>
                    </a:lnTo>
                    <a:lnTo>
                      <a:pt x="334" y="188"/>
                    </a:lnTo>
                    <a:lnTo>
                      <a:pt x="353" y="179"/>
                    </a:lnTo>
                    <a:lnTo>
                      <a:pt x="370" y="170"/>
                    </a:lnTo>
                    <a:lnTo>
                      <a:pt x="384" y="162"/>
                    </a:lnTo>
                    <a:lnTo>
                      <a:pt x="391" y="155"/>
                    </a:lnTo>
                    <a:lnTo>
                      <a:pt x="394" y="148"/>
                    </a:lnTo>
                    <a:lnTo>
                      <a:pt x="391" y="143"/>
                    </a:lnTo>
                    <a:lnTo>
                      <a:pt x="384" y="138"/>
                    </a:lnTo>
                    <a:lnTo>
                      <a:pt x="374" y="136"/>
                    </a:lnTo>
                    <a:lnTo>
                      <a:pt x="360" y="133"/>
                    </a:lnTo>
                    <a:lnTo>
                      <a:pt x="341" y="133"/>
                    </a:lnTo>
                    <a:lnTo>
                      <a:pt x="293" y="136"/>
                    </a:lnTo>
                    <a:lnTo>
                      <a:pt x="270" y="139"/>
                    </a:lnTo>
                    <a:lnTo>
                      <a:pt x="248" y="145"/>
                    </a:lnTo>
                    <a:lnTo>
                      <a:pt x="226" y="150"/>
                    </a:lnTo>
                    <a:lnTo>
                      <a:pt x="208" y="157"/>
                    </a:lnTo>
                    <a:lnTo>
                      <a:pt x="191" y="164"/>
                    </a:lnTo>
                    <a:lnTo>
                      <a:pt x="177" y="170"/>
                    </a:lnTo>
                    <a:lnTo>
                      <a:pt x="177" y="17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142" name="Freeform 662"/>
              <p:cNvSpPr>
                <a:spLocks/>
              </p:cNvSpPr>
              <p:nvPr/>
            </p:nvSpPr>
            <p:spPr bwMode="auto">
              <a:xfrm>
                <a:off x="2085" y="3229"/>
                <a:ext cx="386" cy="122"/>
              </a:xfrm>
              <a:custGeom>
                <a:avLst/>
                <a:gdLst>
                  <a:gd name="T0" fmla="*/ 164 w 772"/>
                  <a:gd name="T1" fmla="*/ 173 h 245"/>
                  <a:gd name="T2" fmla="*/ 152 w 772"/>
                  <a:gd name="T3" fmla="*/ 186 h 245"/>
                  <a:gd name="T4" fmla="*/ 154 w 772"/>
                  <a:gd name="T5" fmla="*/ 198 h 245"/>
                  <a:gd name="T6" fmla="*/ 173 w 772"/>
                  <a:gd name="T7" fmla="*/ 205 h 245"/>
                  <a:gd name="T8" fmla="*/ 202 w 772"/>
                  <a:gd name="T9" fmla="*/ 207 h 245"/>
                  <a:gd name="T10" fmla="*/ 269 w 772"/>
                  <a:gd name="T11" fmla="*/ 200 h 245"/>
                  <a:gd name="T12" fmla="*/ 317 w 772"/>
                  <a:gd name="T13" fmla="*/ 188 h 245"/>
                  <a:gd name="T14" fmla="*/ 385 w 772"/>
                  <a:gd name="T15" fmla="*/ 161 h 245"/>
                  <a:gd name="T16" fmla="*/ 414 w 772"/>
                  <a:gd name="T17" fmla="*/ 142 h 245"/>
                  <a:gd name="T18" fmla="*/ 416 w 772"/>
                  <a:gd name="T19" fmla="*/ 126 h 245"/>
                  <a:gd name="T20" fmla="*/ 398 w 772"/>
                  <a:gd name="T21" fmla="*/ 119 h 245"/>
                  <a:gd name="T22" fmla="*/ 362 w 772"/>
                  <a:gd name="T23" fmla="*/ 116 h 245"/>
                  <a:gd name="T24" fmla="*/ 300 w 772"/>
                  <a:gd name="T25" fmla="*/ 119 h 245"/>
                  <a:gd name="T26" fmla="*/ 228 w 772"/>
                  <a:gd name="T27" fmla="*/ 133 h 245"/>
                  <a:gd name="T28" fmla="*/ 276 w 772"/>
                  <a:gd name="T29" fmla="*/ 64 h 245"/>
                  <a:gd name="T30" fmla="*/ 772 w 772"/>
                  <a:gd name="T31" fmla="*/ 0 h 245"/>
                  <a:gd name="T32" fmla="*/ 695 w 772"/>
                  <a:gd name="T33" fmla="*/ 45 h 245"/>
                  <a:gd name="T34" fmla="*/ 445 w 772"/>
                  <a:gd name="T35" fmla="*/ 45 h 245"/>
                  <a:gd name="T36" fmla="*/ 350 w 772"/>
                  <a:gd name="T37" fmla="*/ 86 h 245"/>
                  <a:gd name="T38" fmla="*/ 405 w 772"/>
                  <a:gd name="T39" fmla="*/ 80 h 245"/>
                  <a:gd name="T40" fmla="*/ 476 w 772"/>
                  <a:gd name="T41" fmla="*/ 78 h 245"/>
                  <a:gd name="T42" fmla="*/ 512 w 772"/>
                  <a:gd name="T43" fmla="*/ 81 h 245"/>
                  <a:gd name="T44" fmla="*/ 540 w 772"/>
                  <a:gd name="T45" fmla="*/ 86 h 245"/>
                  <a:gd name="T46" fmla="*/ 559 w 772"/>
                  <a:gd name="T47" fmla="*/ 95 h 245"/>
                  <a:gd name="T48" fmla="*/ 569 w 772"/>
                  <a:gd name="T49" fmla="*/ 107 h 245"/>
                  <a:gd name="T50" fmla="*/ 569 w 772"/>
                  <a:gd name="T51" fmla="*/ 119 h 245"/>
                  <a:gd name="T52" fmla="*/ 559 w 772"/>
                  <a:gd name="T53" fmla="*/ 133 h 245"/>
                  <a:gd name="T54" fmla="*/ 538 w 772"/>
                  <a:gd name="T55" fmla="*/ 150 h 245"/>
                  <a:gd name="T56" fmla="*/ 495 w 772"/>
                  <a:gd name="T57" fmla="*/ 174 h 245"/>
                  <a:gd name="T58" fmla="*/ 423 w 772"/>
                  <a:gd name="T59" fmla="*/ 200 h 245"/>
                  <a:gd name="T60" fmla="*/ 317 w 772"/>
                  <a:gd name="T61" fmla="*/ 226 h 245"/>
                  <a:gd name="T62" fmla="*/ 195 w 772"/>
                  <a:gd name="T63" fmla="*/ 243 h 245"/>
                  <a:gd name="T64" fmla="*/ 112 w 772"/>
                  <a:gd name="T65" fmla="*/ 245 h 245"/>
                  <a:gd name="T66" fmla="*/ 73 w 772"/>
                  <a:gd name="T67" fmla="*/ 243 h 245"/>
                  <a:gd name="T68" fmla="*/ 42 w 772"/>
                  <a:gd name="T69" fmla="*/ 238 h 245"/>
                  <a:gd name="T70" fmla="*/ 19 w 772"/>
                  <a:gd name="T71" fmla="*/ 231 h 245"/>
                  <a:gd name="T72" fmla="*/ 5 w 772"/>
                  <a:gd name="T73" fmla="*/ 221 h 245"/>
                  <a:gd name="T74" fmla="*/ 0 w 772"/>
                  <a:gd name="T75" fmla="*/ 211 h 245"/>
                  <a:gd name="T76" fmla="*/ 4 w 772"/>
                  <a:gd name="T77" fmla="*/ 198 h 245"/>
                  <a:gd name="T78" fmla="*/ 16 w 772"/>
                  <a:gd name="T79" fmla="*/ 185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72" h="245">
                    <a:moveTo>
                      <a:pt x="24" y="178"/>
                    </a:moveTo>
                    <a:lnTo>
                      <a:pt x="164" y="173"/>
                    </a:lnTo>
                    <a:lnTo>
                      <a:pt x="155" y="180"/>
                    </a:lnTo>
                    <a:lnTo>
                      <a:pt x="152" y="186"/>
                    </a:lnTo>
                    <a:lnTo>
                      <a:pt x="150" y="193"/>
                    </a:lnTo>
                    <a:lnTo>
                      <a:pt x="154" y="198"/>
                    </a:lnTo>
                    <a:lnTo>
                      <a:pt x="162" y="202"/>
                    </a:lnTo>
                    <a:lnTo>
                      <a:pt x="173" y="205"/>
                    </a:lnTo>
                    <a:lnTo>
                      <a:pt x="185" y="207"/>
                    </a:lnTo>
                    <a:lnTo>
                      <a:pt x="202" y="207"/>
                    </a:lnTo>
                    <a:lnTo>
                      <a:pt x="245" y="204"/>
                    </a:lnTo>
                    <a:lnTo>
                      <a:pt x="269" y="200"/>
                    </a:lnTo>
                    <a:lnTo>
                      <a:pt x="293" y="195"/>
                    </a:lnTo>
                    <a:lnTo>
                      <a:pt x="317" y="188"/>
                    </a:lnTo>
                    <a:lnTo>
                      <a:pt x="342" y="181"/>
                    </a:lnTo>
                    <a:lnTo>
                      <a:pt x="385" y="161"/>
                    </a:lnTo>
                    <a:lnTo>
                      <a:pt x="402" y="150"/>
                    </a:lnTo>
                    <a:lnTo>
                      <a:pt x="414" y="142"/>
                    </a:lnTo>
                    <a:lnTo>
                      <a:pt x="417" y="133"/>
                    </a:lnTo>
                    <a:lnTo>
                      <a:pt x="416" y="126"/>
                    </a:lnTo>
                    <a:lnTo>
                      <a:pt x="409" y="121"/>
                    </a:lnTo>
                    <a:lnTo>
                      <a:pt x="398" y="119"/>
                    </a:lnTo>
                    <a:lnTo>
                      <a:pt x="383" y="116"/>
                    </a:lnTo>
                    <a:lnTo>
                      <a:pt x="362" y="116"/>
                    </a:lnTo>
                    <a:lnTo>
                      <a:pt x="331" y="117"/>
                    </a:lnTo>
                    <a:lnTo>
                      <a:pt x="300" y="119"/>
                    </a:lnTo>
                    <a:lnTo>
                      <a:pt x="266" y="126"/>
                    </a:lnTo>
                    <a:lnTo>
                      <a:pt x="228" y="133"/>
                    </a:lnTo>
                    <a:lnTo>
                      <a:pt x="130" y="128"/>
                    </a:lnTo>
                    <a:lnTo>
                      <a:pt x="276" y="64"/>
                    </a:lnTo>
                    <a:lnTo>
                      <a:pt x="421" y="0"/>
                    </a:lnTo>
                    <a:lnTo>
                      <a:pt x="772" y="0"/>
                    </a:lnTo>
                    <a:lnTo>
                      <a:pt x="734" y="23"/>
                    </a:lnTo>
                    <a:lnTo>
                      <a:pt x="695" y="45"/>
                    </a:lnTo>
                    <a:lnTo>
                      <a:pt x="569" y="45"/>
                    </a:lnTo>
                    <a:lnTo>
                      <a:pt x="445" y="45"/>
                    </a:lnTo>
                    <a:lnTo>
                      <a:pt x="398" y="66"/>
                    </a:lnTo>
                    <a:lnTo>
                      <a:pt x="350" y="86"/>
                    </a:lnTo>
                    <a:lnTo>
                      <a:pt x="379" y="83"/>
                    </a:lnTo>
                    <a:lnTo>
                      <a:pt x="405" y="80"/>
                    </a:lnTo>
                    <a:lnTo>
                      <a:pt x="455" y="78"/>
                    </a:lnTo>
                    <a:lnTo>
                      <a:pt x="476" y="78"/>
                    </a:lnTo>
                    <a:lnTo>
                      <a:pt x="495" y="80"/>
                    </a:lnTo>
                    <a:lnTo>
                      <a:pt x="512" y="81"/>
                    </a:lnTo>
                    <a:lnTo>
                      <a:pt x="528" y="83"/>
                    </a:lnTo>
                    <a:lnTo>
                      <a:pt x="540" y="86"/>
                    </a:lnTo>
                    <a:lnTo>
                      <a:pt x="550" y="90"/>
                    </a:lnTo>
                    <a:lnTo>
                      <a:pt x="559" y="95"/>
                    </a:lnTo>
                    <a:lnTo>
                      <a:pt x="566" y="100"/>
                    </a:lnTo>
                    <a:lnTo>
                      <a:pt x="569" y="107"/>
                    </a:lnTo>
                    <a:lnTo>
                      <a:pt x="571" y="112"/>
                    </a:lnTo>
                    <a:lnTo>
                      <a:pt x="569" y="119"/>
                    </a:lnTo>
                    <a:lnTo>
                      <a:pt x="566" y="126"/>
                    </a:lnTo>
                    <a:lnTo>
                      <a:pt x="559" y="133"/>
                    </a:lnTo>
                    <a:lnTo>
                      <a:pt x="550" y="142"/>
                    </a:lnTo>
                    <a:lnTo>
                      <a:pt x="538" y="150"/>
                    </a:lnTo>
                    <a:lnTo>
                      <a:pt x="522" y="159"/>
                    </a:lnTo>
                    <a:lnTo>
                      <a:pt x="495" y="174"/>
                    </a:lnTo>
                    <a:lnTo>
                      <a:pt x="460" y="188"/>
                    </a:lnTo>
                    <a:lnTo>
                      <a:pt x="423" y="200"/>
                    </a:lnTo>
                    <a:lnTo>
                      <a:pt x="379" y="212"/>
                    </a:lnTo>
                    <a:lnTo>
                      <a:pt x="317" y="226"/>
                    </a:lnTo>
                    <a:lnTo>
                      <a:pt x="255" y="236"/>
                    </a:lnTo>
                    <a:lnTo>
                      <a:pt x="195" y="243"/>
                    </a:lnTo>
                    <a:lnTo>
                      <a:pt x="135" y="245"/>
                    </a:lnTo>
                    <a:lnTo>
                      <a:pt x="112" y="245"/>
                    </a:lnTo>
                    <a:lnTo>
                      <a:pt x="92" y="243"/>
                    </a:lnTo>
                    <a:lnTo>
                      <a:pt x="73" y="243"/>
                    </a:lnTo>
                    <a:lnTo>
                      <a:pt x="55" y="242"/>
                    </a:lnTo>
                    <a:lnTo>
                      <a:pt x="42" y="238"/>
                    </a:lnTo>
                    <a:lnTo>
                      <a:pt x="30" y="235"/>
                    </a:lnTo>
                    <a:lnTo>
                      <a:pt x="19" y="231"/>
                    </a:lnTo>
                    <a:lnTo>
                      <a:pt x="11" y="226"/>
                    </a:lnTo>
                    <a:lnTo>
                      <a:pt x="5" y="221"/>
                    </a:lnTo>
                    <a:lnTo>
                      <a:pt x="0" y="216"/>
                    </a:lnTo>
                    <a:lnTo>
                      <a:pt x="0" y="211"/>
                    </a:lnTo>
                    <a:lnTo>
                      <a:pt x="0" y="205"/>
                    </a:lnTo>
                    <a:lnTo>
                      <a:pt x="4" y="198"/>
                    </a:lnTo>
                    <a:lnTo>
                      <a:pt x="7" y="192"/>
                    </a:lnTo>
                    <a:lnTo>
                      <a:pt x="16" y="185"/>
                    </a:lnTo>
                    <a:lnTo>
                      <a:pt x="24" y="17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143" name="Freeform 663"/>
              <p:cNvSpPr>
                <a:spLocks/>
              </p:cNvSpPr>
              <p:nvPr/>
            </p:nvSpPr>
            <p:spPr bwMode="auto">
              <a:xfrm>
                <a:off x="1524" y="3213"/>
                <a:ext cx="344" cy="124"/>
              </a:xfrm>
              <a:custGeom>
                <a:avLst/>
                <a:gdLst>
                  <a:gd name="T0" fmla="*/ 96 w 689"/>
                  <a:gd name="T1" fmla="*/ 178 h 248"/>
                  <a:gd name="T2" fmla="*/ 155 w 689"/>
                  <a:gd name="T3" fmla="*/ 181 h 248"/>
                  <a:gd name="T4" fmla="*/ 148 w 689"/>
                  <a:gd name="T5" fmla="*/ 195 h 248"/>
                  <a:gd name="T6" fmla="*/ 158 w 689"/>
                  <a:gd name="T7" fmla="*/ 205 h 248"/>
                  <a:gd name="T8" fmla="*/ 182 w 689"/>
                  <a:gd name="T9" fmla="*/ 209 h 248"/>
                  <a:gd name="T10" fmla="*/ 242 w 689"/>
                  <a:gd name="T11" fmla="*/ 207 h 248"/>
                  <a:gd name="T12" fmla="*/ 311 w 689"/>
                  <a:gd name="T13" fmla="*/ 193 h 248"/>
                  <a:gd name="T14" fmla="*/ 368 w 689"/>
                  <a:gd name="T15" fmla="*/ 169 h 248"/>
                  <a:gd name="T16" fmla="*/ 389 w 689"/>
                  <a:gd name="T17" fmla="*/ 154 h 248"/>
                  <a:gd name="T18" fmla="*/ 391 w 689"/>
                  <a:gd name="T19" fmla="*/ 142 h 248"/>
                  <a:gd name="T20" fmla="*/ 375 w 689"/>
                  <a:gd name="T21" fmla="*/ 135 h 248"/>
                  <a:gd name="T22" fmla="*/ 344 w 689"/>
                  <a:gd name="T23" fmla="*/ 131 h 248"/>
                  <a:gd name="T24" fmla="*/ 315 w 689"/>
                  <a:gd name="T25" fmla="*/ 133 h 248"/>
                  <a:gd name="T26" fmla="*/ 277 w 689"/>
                  <a:gd name="T27" fmla="*/ 135 h 248"/>
                  <a:gd name="T28" fmla="*/ 358 w 689"/>
                  <a:gd name="T29" fmla="*/ 97 h 248"/>
                  <a:gd name="T30" fmla="*/ 432 w 689"/>
                  <a:gd name="T31" fmla="*/ 93 h 248"/>
                  <a:gd name="T32" fmla="*/ 475 w 689"/>
                  <a:gd name="T33" fmla="*/ 83 h 248"/>
                  <a:gd name="T34" fmla="*/ 510 w 689"/>
                  <a:gd name="T35" fmla="*/ 73 h 248"/>
                  <a:gd name="T36" fmla="*/ 532 w 689"/>
                  <a:gd name="T37" fmla="*/ 59 h 248"/>
                  <a:gd name="T38" fmla="*/ 539 w 689"/>
                  <a:gd name="T39" fmla="*/ 49 h 248"/>
                  <a:gd name="T40" fmla="*/ 532 w 689"/>
                  <a:gd name="T41" fmla="*/ 43 h 248"/>
                  <a:gd name="T42" fmla="*/ 511 w 689"/>
                  <a:gd name="T43" fmla="*/ 38 h 248"/>
                  <a:gd name="T44" fmla="*/ 460 w 689"/>
                  <a:gd name="T45" fmla="*/ 40 h 248"/>
                  <a:gd name="T46" fmla="*/ 386 w 689"/>
                  <a:gd name="T47" fmla="*/ 57 h 248"/>
                  <a:gd name="T48" fmla="*/ 351 w 689"/>
                  <a:gd name="T49" fmla="*/ 71 h 248"/>
                  <a:gd name="T50" fmla="*/ 241 w 689"/>
                  <a:gd name="T51" fmla="*/ 64 h 248"/>
                  <a:gd name="T52" fmla="*/ 342 w 689"/>
                  <a:gd name="T53" fmla="*/ 28 h 248"/>
                  <a:gd name="T54" fmla="*/ 451 w 689"/>
                  <a:gd name="T55" fmla="*/ 7 h 248"/>
                  <a:gd name="T56" fmla="*/ 566 w 689"/>
                  <a:gd name="T57" fmla="*/ 0 h 248"/>
                  <a:gd name="T58" fmla="*/ 611 w 689"/>
                  <a:gd name="T59" fmla="*/ 2 h 248"/>
                  <a:gd name="T60" fmla="*/ 646 w 689"/>
                  <a:gd name="T61" fmla="*/ 5 h 248"/>
                  <a:gd name="T62" fmla="*/ 670 w 689"/>
                  <a:gd name="T63" fmla="*/ 12 h 248"/>
                  <a:gd name="T64" fmla="*/ 684 w 689"/>
                  <a:gd name="T65" fmla="*/ 23 h 248"/>
                  <a:gd name="T66" fmla="*/ 689 w 689"/>
                  <a:gd name="T67" fmla="*/ 31 h 248"/>
                  <a:gd name="T68" fmla="*/ 687 w 689"/>
                  <a:gd name="T69" fmla="*/ 42 h 248"/>
                  <a:gd name="T70" fmla="*/ 678 w 689"/>
                  <a:gd name="T71" fmla="*/ 52 h 248"/>
                  <a:gd name="T72" fmla="*/ 661 w 689"/>
                  <a:gd name="T73" fmla="*/ 62 h 248"/>
                  <a:gd name="T74" fmla="*/ 628 w 689"/>
                  <a:gd name="T75" fmla="*/ 78 h 248"/>
                  <a:gd name="T76" fmla="*/ 585 w 689"/>
                  <a:gd name="T77" fmla="*/ 92 h 248"/>
                  <a:gd name="T78" fmla="*/ 534 w 689"/>
                  <a:gd name="T79" fmla="*/ 104 h 248"/>
                  <a:gd name="T80" fmla="*/ 472 w 689"/>
                  <a:gd name="T81" fmla="*/ 114 h 248"/>
                  <a:gd name="T82" fmla="*/ 513 w 689"/>
                  <a:gd name="T83" fmla="*/ 121 h 248"/>
                  <a:gd name="T84" fmla="*/ 532 w 689"/>
                  <a:gd name="T85" fmla="*/ 133 h 248"/>
                  <a:gd name="T86" fmla="*/ 529 w 689"/>
                  <a:gd name="T87" fmla="*/ 150 h 248"/>
                  <a:gd name="T88" fmla="*/ 501 w 689"/>
                  <a:gd name="T89" fmla="*/ 171 h 248"/>
                  <a:gd name="T90" fmla="*/ 432 w 689"/>
                  <a:gd name="T91" fmla="*/ 202 h 248"/>
                  <a:gd name="T92" fmla="*/ 363 w 689"/>
                  <a:gd name="T93" fmla="*/ 221 h 248"/>
                  <a:gd name="T94" fmla="*/ 286 w 689"/>
                  <a:gd name="T95" fmla="*/ 236 h 248"/>
                  <a:gd name="T96" fmla="*/ 182 w 689"/>
                  <a:gd name="T97" fmla="*/ 247 h 248"/>
                  <a:gd name="T98" fmla="*/ 110 w 689"/>
                  <a:gd name="T99" fmla="*/ 248 h 248"/>
                  <a:gd name="T100" fmla="*/ 72 w 689"/>
                  <a:gd name="T101" fmla="*/ 245 h 248"/>
                  <a:gd name="T102" fmla="*/ 41 w 689"/>
                  <a:gd name="T103" fmla="*/ 242 h 248"/>
                  <a:gd name="T104" fmla="*/ 18 w 689"/>
                  <a:gd name="T105" fmla="*/ 235 h 248"/>
                  <a:gd name="T106" fmla="*/ 5 w 689"/>
                  <a:gd name="T107" fmla="*/ 224 h 248"/>
                  <a:gd name="T108" fmla="*/ 0 w 689"/>
                  <a:gd name="T109" fmla="*/ 214 h 248"/>
                  <a:gd name="T110" fmla="*/ 5 w 689"/>
                  <a:gd name="T111" fmla="*/ 200 h 248"/>
                  <a:gd name="T112" fmla="*/ 17 w 689"/>
                  <a:gd name="T113" fmla="*/ 186 h 248"/>
                  <a:gd name="T114" fmla="*/ 27 w 689"/>
                  <a:gd name="T115" fmla="*/ 18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89" h="248">
                    <a:moveTo>
                      <a:pt x="27" y="180"/>
                    </a:moveTo>
                    <a:lnTo>
                      <a:pt x="96" y="178"/>
                    </a:lnTo>
                    <a:lnTo>
                      <a:pt x="165" y="174"/>
                    </a:lnTo>
                    <a:lnTo>
                      <a:pt x="155" y="181"/>
                    </a:lnTo>
                    <a:lnTo>
                      <a:pt x="149" y="188"/>
                    </a:lnTo>
                    <a:lnTo>
                      <a:pt x="148" y="195"/>
                    </a:lnTo>
                    <a:lnTo>
                      <a:pt x="151" y="200"/>
                    </a:lnTo>
                    <a:lnTo>
                      <a:pt x="158" y="205"/>
                    </a:lnTo>
                    <a:lnTo>
                      <a:pt x="168" y="207"/>
                    </a:lnTo>
                    <a:lnTo>
                      <a:pt x="182" y="209"/>
                    </a:lnTo>
                    <a:lnTo>
                      <a:pt x="199" y="209"/>
                    </a:lnTo>
                    <a:lnTo>
                      <a:pt x="242" y="207"/>
                    </a:lnTo>
                    <a:lnTo>
                      <a:pt x="289" y="198"/>
                    </a:lnTo>
                    <a:lnTo>
                      <a:pt x="311" y="193"/>
                    </a:lnTo>
                    <a:lnTo>
                      <a:pt x="332" y="186"/>
                    </a:lnTo>
                    <a:lnTo>
                      <a:pt x="368" y="169"/>
                    </a:lnTo>
                    <a:lnTo>
                      <a:pt x="382" y="161"/>
                    </a:lnTo>
                    <a:lnTo>
                      <a:pt x="389" y="154"/>
                    </a:lnTo>
                    <a:lnTo>
                      <a:pt x="392" y="147"/>
                    </a:lnTo>
                    <a:lnTo>
                      <a:pt x="391" y="142"/>
                    </a:lnTo>
                    <a:lnTo>
                      <a:pt x="386" y="136"/>
                    </a:lnTo>
                    <a:lnTo>
                      <a:pt x="375" y="135"/>
                    </a:lnTo>
                    <a:lnTo>
                      <a:pt x="361" y="131"/>
                    </a:lnTo>
                    <a:lnTo>
                      <a:pt x="344" y="131"/>
                    </a:lnTo>
                    <a:lnTo>
                      <a:pt x="330" y="131"/>
                    </a:lnTo>
                    <a:lnTo>
                      <a:pt x="315" y="133"/>
                    </a:lnTo>
                    <a:lnTo>
                      <a:pt x="296" y="133"/>
                    </a:lnTo>
                    <a:lnTo>
                      <a:pt x="277" y="135"/>
                    </a:lnTo>
                    <a:lnTo>
                      <a:pt x="317" y="116"/>
                    </a:lnTo>
                    <a:lnTo>
                      <a:pt x="358" y="97"/>
                    </a:lnTo>
                    <a:lnTo>
                      <a:pt x="408" y="95"/>
                    </a:lnTo>
                    <a:lnTo>
                      <a:pt x="432" y="93"/>
                    </a:lnTo>
                    <a:lnTo>
                      <a:pt x="454" y="88"/>
                    </a:lnTo>
                    <a:lnTo>
                      <a:pt x="475" y="83"/>
                    </a:lnTo>
                    <a:lnTo>
                      <a:pt x="494" y="78"/>
                    </a:lnTo>
                    <a:lnTo>
                      <a:pt x="510" y="73"/>
                    </a:lnTo>
                    <a:lnTo>
                      <a:pt x="523" y="66"/>
                    </a:lnTo>
                    <a:lnTo>
                      <a:pt x="532" y="59"/>
                    </a:lnTo>
                    <a:lnTo>
                      <a:pt x="537" y="54"/>
                    </a:lnTo>
                    <a:lnTo>
                      <a:pt x="539" y="49"/>
                    </a:lnTo>
                    <a:lnTo>
                      <a:pt x="537" y="45"/>
                    </a:lnTo>
                    <a:lnTo>
                      <a:pt x="532" y="43"/>
                    </a:lnTo>
                    <a:lnTo>
                      <a:pt x="523" y="40"/>
                    </a:lnTo>
                    <a:lnTo>
                      <a:pt x="511" y="38"/>
                    </a:lnTo>
                    <a:lnTo>
                      <a:pt x="496" y="38"/>
                    </a:lnTo>
                    <a:lnTo>
                      <a:pt x="460" y="40"/>
                    </a:lnTo>
                    <a:lnTo>
                      <a:pt x="422" y="47"/>
                    </a:lnTo>
                    <a:lnTo>
                      <a:pt x="386" y="57"/>
                    </a:lnTo>
                    <a:lnTo>
                      <a:pt x="368" y="64"/>
                    </a:lnTo>
                    <a:lnTo>
                      <a:pt x="351" y="71"/>
                    </a:lnTo>
                    <a:lnTo>
                      <a:pt x="296" y="68"/>
                    </a:lnTo>
                    <a:lnTo>
                      <a:pt x="241" y="64"/>
                    </a:lnTo>
                    <a:lnTo>
                      <a:pt x="292" y="43"/>
                    </a:lnTo>
                    <a:lnTo>
                      <a:pt x="342" y="28"/>
                    </a:lnTo>
                    <a:lnTo>
                      <a:pt x="394" y="16"/>
                    </a:lnTo>
                    <a:lnTo>
                      <a:pt x="451" y="7"/>
                    </a:lnTo>
                    <a:lnTo>
                      <a:pt x="510" y="2"/>
                    </a:lnTo>
                    <a:lnTo>
                      <a:pt x="566" y="0"/>
                    </a:lnTo>
                    <a:lnTo>
                      <a:pt x="591" y="0"/>
                    </a:lnTo>
                    <a:lnTo>
                      <a:pt x="611" y="2"/>
                    </a:lnTo>
                    <a:lnTo>
                      <a:pt x="628" y="4"/>
                    </a:lnTo>
                    <a:lnTo>
                      <a:pt x="646" y="5"/>
                    </a:lnTo>
                    <a:lnTo>
                      <a:pt x="658" y="9"/>
                    </a:lnTo>
                    <a:lnTo>
                      <a:pt x="670" y="12"/>
                    </a:lnTo>
                    <a:lnTo>
                      <a:pt x="678" y="18"/>
                    </a:lnTo>
                    <a:lnTo>
                      <a:pt x="684" y="23"/>
                    </a:lnTo>
                    <a:lnTo>
                      <a:pt x="687" y="28"/>
                    </a:lnTo>
                    <a:lnTo>
                      <a:pt x="689" y="31"/>
                    </a:lnTo>
                    <a:lnTo>
                      <a:pt x="689" y="36"/>
                    </a:lnTo>
                    <a:lnTo>
                      <a:pt x="687" y="42"/>
                    </a:lnTo>
                    <a:lnTo>
                      <a:pt x="684" y="47"/>
                    </a:lnTo>
                    <a:lnTo>
                      <a:pt x="678" y="52"/>
                    </a:lnTo>
                    <a:lnTo>
                      <a:pt x="670" y="57"/>
                    </a:lnTo>
                    <a:lnTo>
                      <a:pt x="661" y="62"/>
                    </a:lnTo>
                    <a:lnTo>
                      <a:pt x="646" y="69"/>
                    </a:lnTo>
                    <a:lnTo>
                      <a:pt x="628" y="78"/>
                    </a:lnTo>
                    <a:lnTo>
                      <a:pt x="608" y="85"/>
                    </a:lnTo>
                    <a:lnTo>
                      <a:pt x="585" y="92"/>
                    </a:lnTo>
                    <a:lnTo>
                      <a:pt x="561" y="97"/>
                    </a:lnTo>
                    <a:lnTo>
                      <a:pt x="534" y="104"/>
                    </a:lnTo>
                    <a:lnTo>
                      <a:pt x="504" y="109"/>
                    </a:lnTo>
                    <a:lnTo>
                      <a:pt x="472" y="114"/>
                    </a:lnTo>
                    <a:lnTo>
                      <a:pt x="496" y="116"/>
                    </a:lnTo>
                    <a:lnTo>
                      <a:pt x="513" y="121"/>
                    </a:lnTo>
                    <a:lnTo>
                      <a:pt x="525" y="126"/>
                    </a:lnTo>
                    <a:lnTo>
                      <a:pt x="532" y="133"/>
                    </a:lnTo>
                    <a:lnTo>
                      <a:pt x="534" y="142"/>
                    </a:lnTo>
                    <a:lnTo>
                      <a:pt x="529" y="150"/>
                    </a:lnTo>
                    <a:lnTo>
                      <a:pt x="518" y="161"/>
                    </a:lnTo>
                    <a:lnTo>
                      <a:pt x="501" y="171"/>
                    </a:lnTo>
                    <a:lnTo>
                      <a:pt x="470" y="186"/>
                    </a:lnTo>
                    <a:lnTo>
                      <a:pt x="432" y="202"/>
                    </a:lnTo>
                    <a:lnTo>
                      <a:pt x="389" y="214"/>
                    </a:lnTo>
                    <a:lnTo>
                      <a:pt x="363" y="221"/>
                    </a:lnTo>
                    <a:lnTo>
                      <a:pt x="337" y="226"/>
                    </a:lnTo>
                    <a:lnTo>
                      <a:pt x="286" y="236"/>
                    </a:lnTo>
                    <a:lnTo>
                      <a:pt x="234" y="243"/>
                    </a:lnTo>
                    <a:lnTo>
                      <a:pt x="182" y="247"/>
                    </a:lnTo>
                    <a:lnTo>
                      <a:pt x="132" y="248"/>
                    </a:lnTo>
                    <a:lnTo>
                      <a:pt x="110" y="248"/>
                    </a:lnTo>
                    <a:lnTo>
                      <a:pt x="89" y="247"/>
                    </a:lnTo>
                    <a:lnTo>
                      <a:pt x="72" y="245"/>
                    </a:lnTo>
                    <a:lnTo>
                      <a:pt x="55" y="243"/>
                    </a:lnTo>
                    <a:lnTo>
                      <a:pt x="41" y="242"/>
                    </a:lnTo>
                    <a:lnTo>
                      <a:pt x="29" y="238"/>
                    </a:lnTo>
                    <a:lnTo>
                      <a:pt x="18" y="235"/>
                    </a:lnTo>
                    <a:lnTo>
                      <a:pt x="10" y="229"/>
                    </a:lnTo>
                    <a:lnTo>
                      <a:pt x="5" y="224"/>
                    </a:lnTo>
                    <a:lnTo>
                      <a:pt x="1" y="219"/>
                    </a:lnTo>
                    <a:lnTo>
                      <a:pt x="0" y="214"/>
                    </a:lnTo>
                    <a:lnTo>
                      <a:pt x="1" y="207"/>
                    </a:lnTo>
                    <a:lnTo>
                      <a:pt x="5" y="200"/>
                    </a:lnTo>
                    <a:lnTo>
                      <a:pt x="10" y="195"/>
                    </a:lnTo>
                    <a:lnTo>
                      <a:pt x="17" y="186"/>
                    </a:lnTo>
                    <a:lnTo>
                      <a:pt x="27" y="180"/>
                    </a:lnTo>
                    <a:lnTo>
                      <a:pt x="27" y="18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144" name="Freeform 664"/>
              <p:cNvSpPr>
                <a:spLocks noEditPoints="1"/>
              </p:cNvSpPr>
              <p:nvPr/>
            </p:nvSpPr>
            <p:spPr bwMode="auto">
              <a:xfrm>
                <a:off x="1792" y="3213"/>
                <a:ext cx="350" cy="124"/>
              </a:xfrm>
              <a:custGeom>
                <a:avLst/>
                <a:gdLst>
                  <a:gd name="T0" fmla="*/ 237 w 702"/>
                  <a:gd name="T1" fmla="*/ 104 h 248"/>
                  <a:gd name="T2" fmla="*/ 230 w 702"/>
                  <a:gd name="T3" fmla="*/ 85 h 248"/>
                  <a:gd name="T4" fmla="*/ 255 w 702"/>
                  <a:gd name="T5" fmla="*/ 62 h 248"/>
                  <a:gd name="T6" fmla="*/ 349 w 702"/>
                  <a:gd name="T7" fmla="*/ 28 h 248"/>
                  <a:gd name="T8" fmla="*/ 478 w 702"/>
                  <a:gd name="T9" fmla="*/ 4 h 248"/>
                  <a:gd name="T10" fmla="*/ 598 w 702"/>
                  <a:gd name="T11" fmla="*/ 0 h 248"/>
                  <a:gd name="T12" fmla="*/ 654 w 702"/>
                  <a:gd name="T13" fmla="*/ 4 h 248"/>
                  <a:gd name="T14" fmla="*/ 688 w 702"/>
                  <a:gd name="T15" fmla="*/ 14 h 248"/>
                  <a:gd name="T16" fmla="*/ 702 w 702"/>
                  <a:gd name="T17" fmla="*/ 28 h 248"/>
                  <a:gd name="T18" fmla="*/ 697 w 702"/>
                  <a:gd name="T19" fmla="*/ 43 h 248"/>
                  <a:gd name="T20" fmla="*/ 671 w 702"/>
                  <a:gd name="T21" fmla="*/ 62 h 248"/>
                  <a:gd name="T22" fmla="*/ 616 w 702"/>
                  <a:gd name="T23" fmla="*/ 86 h 248"/>
                  <a:gd name="T24" fmla="*/ 542 w 702"/>
                  <a:gd name="T25" fmla="*/ 105 h 248"/>
                  <a:gd name="T26" fmla="*/ 521 w 702"/>
                  <a:gd name="T27" fmla="*/ 123 h 248"/>
                  <a:gd name="T28" fmla="*/ 531 w 702"/>
                  <a:gd name="T29" fmla="*/ 145 h 248"/>
                  <a:gd name="T30" fmla="*/ 498 w 702"/>
                  <a:gd name="T31" fmla="*/ 173 h 248"/>
                  <a:gd name="T32" fmla="*/ 388 w 702"/>
                  <a:gd name="T33" fmla="*/ 216 h 248"/>
                  <a:gd name="T34" fmla="*/ 242 w 702"/>
                  <a:gd name="T35" fmla="*/ 243 h 248"/>
                  <a:gd name="T36" fmla="*/ 119 w 702"/>
                  <a:gd name="T37" fmla="*/ 248 h 248"/>
                  <a:gd name="T38" fmla="*/ 62 w 702"/>
                  <a:gd name="T39" fmla="*/ 245 h 248"/>
                  <a:gd name="T40" fmla="*/ 23 w 702"/>
                  <a:gd name="T41" fmla="*/ 235 h 248"/>
                  <a:gd name="T42" fmla="*/ 2 w 702"/>
                  <a:gd name="T43" fmla="*/ 219 h 248"/>
                  <a:gd name="T44" fmla="*/ 7 w 702"/>
                  <a:gd name="T45" fmla="*/ 200 h 248"/>
                  <a:gd name="T46" fmla="*/ 40 w 702"/>
                  <a:gd name="T47" fmla="*/ 174 h 248"/>
                  <a:gd name="T48" fmla="*/ 104 w 702"/>
                  <a:gd name="T49" fmla="*/ 147 h 248"/>
                  <a:gd name="T50" fmla="*/ 193 w 702"/>
                  <a:gd name="T51" fmla="*/ 124 h 248"/>
                  <a:gd name="T52" fmla="*/ 264 w 702"/>
                  <a:gd name="T53" fmla="*/ 112 h 248"/>
                  <a:gd name="T54" fmla="*/ 359 w 702"/>
                  <a:gd name="T55" fmla="*/ 80 h 248"/>
                  <a:gd name="T56" fmla="*/ 364 w 702"/>
                  <a:gd name="T57" fmla="*/ 92 h 248"/>
                  <a:gd name="T58" fmla="*/ 405 w 702"/>
                  <a:gd name="T59" fmla="*/ 95 h 248"/>
                  <a:gd name="T60" fmla="*/ 512 w 702"/>
                  <a:gd name="T61" fmla="*/ 80 h 248"/>
                  <a:gd name="T62" fmla="*/ 550 w 702"/>
                  <a:gd name="T63" fmla="*/ 59 h 248"/>
                  <a:gd name="T64" fmla="*/ 555 w 702"/>
                  <a:gd name="T65" fmla="*/ 45 h 248"/>
                  <a:gd name="T66" fmla="*/ 526 w 702"/>
                  <a:gd name="T67" fmla="*/ 36 h 248"/>
                  <a:gd name="T68" fmla="*/ 435 w 702"/>
                  <a:gd name="T69" fmla="*/ 45 h 248"/>
                  <a:gd name="T70" fmla="*/ 374 w 702"/>
                  <a:gd name="T71" fmla="*/ 66 h 248"/>
                  <a:gd name="T72" fmla="*/ 164 w 702"/>
                  <a:gd name="T73" fmla="*/ 180 h 248"/>
                  <a:gd name="T74" fmla="*/ 154 w 702"/>
                  <a:gd name="T75" fmla="*/ 200 h 248"/>
                  <a:gd name="T76" fmla="*/ 187 w 702"/>
                  <a:gd name="T77" fmla="*/ 211 h 248"/>
                  <a:gd name="T78" fmla="*/ 292 w 702"/>
                  <a:gd name="T79" fmla="*/ 200 h 248"/>
                  <a:gd name="T80" fmla="*/ 371 w 702"/>
                  <a:gd name="T81" fmla="*/ 171 h 248"/>
                  <a:gd name="T82" fmla="*/ 395 w 702"/>
                  <a:gd name="T83" fmla="*/ 148 h 248"/>
                  <a:gd name="T84" fmla="*/ 374 w 702"/>
                  <a:gd name="T85" fmla="*/ 136 h 248"/>
                  <a:gd name="T86" fmla="*/ 293 w 702"/>
                  <a:gd name="T87" fmla="*/ 136 h 248"/>
                  <a:gd name="T88" fmla="*/ 226 w 702"/>
                  <a:gd name="T89" fmla="*/ 150 h 248"/>
                  <a:gd name="T90" fmla="*/ 178 w 702"/>
                  <a:gd name="T91" fmla="*/ 171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2" h="248">
                    <a:moveTo>
                      <a:pt x="264" y="112"/>
                    </a:moveTo>
                    <a:lnTo>
                      <a:pt x="249" y="109"/>
                    </a:lnTo>
                    <a:lnTo>
                      <a:pt x="237" y="104"/>
                    </a:lnTo>
                    <a:lnTo>
                      <a:pt x="230" y="99"/>
                    </a:lnTo>
                    <a:lnTo>
                      <a:pt x="228" y="92"/>
                    </a:lnTo>
                    <a:lnTo>
                      <a:pt x="230" y="85"/>
                    </a:lnTo>
                    <a:lnTo>
                      <a:pt x="235" y="78"/>
                    </a:lnTo>
                    <a:lnTo>
                      <a:pt x="243" y="71"/>
                    </a:lnTo>
                    <a:lnTo>
                      <a:pt x="255" y="62"/>
                    </a:lnTo>
                    <a:lnTo>
                      <a:pt x="281" y="50"/>
                    </a:lnTo>
                    <a:lnTo>
                      <a:pt x="312" y="38"/>
                    </a:lnTo>
                    <a:lnTo>
                      <a:pt x="349" y="28"/>
                    </a:lnTo>
                    <a:lnTo>
                      <a:pt x="388" y="18"/>
                    </a:lnTo>
                    <a:lnTo>
                      <a:pt x="431" y="11"/>
                    </a:lnTo>
                    <a:lnTo>
                      <a:pt x="478" y="4"/>
                    </a:lnTo>
                    <a:lnTo>
                      <a:pt x="524" y="2"/>
                    </a:lnTo>
                    <a:lnTo>
                      <a:pt x="574" y="0"/>
                    </a:lnTo>
                    <a:lnTo>
                      <a:pt x="598" y="0"/>
                    </a:lnTo>
                    <a:lnTo>
                      <a:pt x="619" y="2"/>
                    </a:lnTo>
                    <a:lnTo>
                      <a:pt x="638" y="2"/>
                    </a:lnTo>
                    <a:lnTo>
                      <a:pt x="654" y="4"/>
                    </a:lnTo>
                    <a:lnTo>
                      <a:pt x="667" y="7"/>
                    </a:lnTo>
                    <a:lnTo>
                      <a:pt x="679" y="11"/>
                    </a:lnTo>
                    <a:lnTo>
                      <a:pt x="688" y="14"/>
                    </a:lnTo>
                    <a:lnTo>
                      <a:pt x="695" y="18"/>
                    </a:lnTo>
                    <a:lnTo>
                      <a:pt x="700" y="23"/>
                    </a:lnTo>
                    <a:lnTo>
                      <a:pt x="702" y="28"/>
                    </a:lnTo>
                    <a:lnTo>
                      <a:pt x="702" y="33"/>
                    </a:lnTo>
                    <a:lnTo>
                      <a:pt x="700" y="38"/>
                    </a:lnTo>
                    <a:lnTo>
                      <a:pt x="697" y="43"/>
                    </a:lnTo>
                    <a:lnTo>
                      <a:pt x="690" y="50"/>
                    </a:lnTo>
                    <a:lnTo>
                      <a:pt x="681" y="55"/>
                    </a:lnTo>
                    <a:lnTo>
                      <a:pt x="671" y="62"/>
                    </a:lnTo>
                    <a:lnTo>
                      <a:pt x="654" y="71"/>
                    </a:lnTo>
                    <a:lnTo>
                      <a:pt x="636" y="80"/>
                    </a:lnTo>
                    <a:lnTo>
                      <a:pt x="616" y="86"/>
                    </a:lnTo>
                    <a:lnTo>
                      <a:pt x="591" y="93"/>
                    </a:lnTo>
                    <a:lnTo>
                      <a:pt x="567" y="100"/>
                    </a:lnTo>
                    <a:lnTo>
                      <a:pt x="542" y="105"/>
                    </a:lnTo>
                    <a:lnTo>
                      <a:pt x="486" y="112"/>
                    </a:lnTo>
                    <a:lnTo>
                      <a:pt x="505" y="117"/>
                    </a:lnTo>
                    <a:lnTo>
                      <a:pt x="521" y="123"/>
                    </a:lnTo>
                    <a:lnTo>
                      <a:pt x="529" y="130"/>
                    </a:lnTo>
                    <a:lnTo>
                      <a:pt x="533" y="136"/>
                    </a:lnTo>
                    <a:lnTo>
                      <a:pt x="531" y="145"/>
                    </a:lnTo>
                    <a:lnTo>
                      <a:pt x="524" y="154"/>
                    </a:lnTo>
                    <a:lnTo>
                      <a:pt x="514" y="162"/>
                    </a:lnTo>
                    <a:lnTo>
                      <a:pt x="498" y="173"/>
                    </a:lnTo>
                    <a:lnTo>
                      <a:pt x="466" y="188"/>
                    </a:lnTo>
                    <a:lnTo>
                      <a:pt x="430" y="204"/>
                    </a:lnTo>
                    <a:lnTo>
                      <a:pt x="388" y="216"/>
                    </a:lnTo>
                    <a:lnTo>
                      <a:pt x="342" y="228"/>
                    </a:lnTo>
                    <a:lnTo>
                      <a:pt x="292" y="236"/>
                    </a:lnTo>
                    <a:lnTo>
                      <a:pt x="242" y="243"/>
                    </a:lnTo>
                    <a:lnTo>
                      <a:pt x="192" y="247"/>
                    </a:lnTo>
                    <a:lnTo>
                      <a:pt x="142" y="248"/>
                    </a:lnTo>
                    <a:lnTo>
                      <a:pt x="119" y="248"/>
                    </a:lnTo>
                    <a:lnTo>
                      <a:pt x="99" y="247"/>
                    </a:lnTo>
                    <a:lnTo>
                      <a:pt x="80" y="247"/>
                    </a:lnTo>
                    <a:lnTo>
                      <a:pt x="62" y="245"/>
                    </a:lnTo>
                    <a:lnTo>
                      <a:pt x="47" y="242"/>
                    </a:lnTo>
                    <a:lnTo>
                      <a:pt x="35" y="240"/>
                    </a:lnTo>
                    <a:lnTo>
                      <a:pt x="23" y="235"/>
                    </a:lnTo>
                    <a:lnTo>
                      <a:pt x="14" y="231"/>
                    </a:lnTo>
                    <a:lnTo>
                      <a:pt x="7" y="226"/>
                    </a:lnTo>
                    <a:lnTo>
                      <a:pt x="2" y="219"/>
                    </a:lnTo>
                    <a:lnTo>
                      <a:pt x="0" y="214"/>
                    </a:lnTo>
                    <a:lnTo>
                      <a:pt x="2" y="207"/>
                    </a:lnTo>
                    <a:lnTo>
                      <a:pt x="7" y="200"/>
                    </a:lnTo>
                    <a:lnTo>
                      <a:pt x="16" y="192"/>
                    </a:lnTo>
                    <a:lnTo>
                      <a:pt x="26" y="183"/>
                    </a:lnTo>
                    <a:lnTo>
                      <a:pt x="40" y="174"/>
                    </a:lnTo>
                    <a:lnTo>
                      <a:pt x="59" y="166"/>
                    </a:lnTo>
                    <a:lnTo>
                      <a:pt x="81" y="157"/>
                    </a:lnTo>
                    <a:lnTo>
                      <a:pt x="104" y="147"/>
                    </a:lnTo>
                    <a:lnTo>
                      <a:pt x="131" y="138"/>
                    </a:lnTo>
                    <a:lnTo>
                      <a:pt x="161" y="131"/>
                    </a:lnTo>
                    <a:lnTo>
                      <a:pt x="193" y="124"/>
                    </a:lnTo>
                    <a:lnTo>
                      <a:pt x="228" y="117"/>
                    </a:lnTo>
                    <a:lnTo>
                      <a:pt x="264" y="112"/>
                    </a:lnTo>
                    <a:lnTo>
                      <a:pt x="264" y="112"/>
                    </a:lnTo>
                    <a:close/>
                    <a:moveTo>
                      <a:pt x="374" y="66"/>
                    </a:moveTo>
                    <a:lnTo>
                      <a:pt x="364" y="73"/>
                    </a:lnTo>
                    <a:lnTo>
                      <a:pt x="359" y="80"/>
                    </a:lnTo>
                    <a:lnTo>
                      <a:pt x="357" y="85"/>
                    </a:lnTo>
                    <a:lnTo>
                      <a:pt x="359" y="88"/>
                    </a:lnTo>
                    <a:lnTo>
                      <a:pt x="364" y="92"/>
                    </a:lnTo>
                    <a:lnTo>
                      <a:pt x="374" y="93"/>
                    </a:lnTo>
                    <a:lnTo>
                      <a:pt x="388" y="95"/>
                    </a:lnTo>
                    <a:lnTo>
                      <a:pt x="405" y="95"/>
                    </a:lnTo>
                    <a:lnTo>
                      <a:pt x="443" y="93"/>
                    </a:lnTo>
                    <a:lnTo>
                      <a:pt x="479" y="88"/>
                    </a:lnTo>
                    <a:lnTo>
                      <a:pt x="512" y="80"/>
                    </a:lnTo>
                    <a:lnTo>
                      <a:pt x="528" y="73"/>
                    </a:lnTo>
                    <a:lnTo>
                      <a:pt x="540" y="66"/>
                    </a:lnTo>
                    <a:lnTo>
                      <a:pt x="550" y="59"/>
                    </a:lnTo>
                    <a:lnTo>
                      <a:pt x="555" y="54"/>
                    </a:lnTo>
                    <a:lnTo>
                      <a:pt x="557" y="49"/>
                    </a:lnTo>
                    <a:lnTo>
                      <a:pt x="555" y="45"/>
                    </a:lnTo>
                    <a:lnTo>
                      <a:pt x="550" y="42"/>
                    </a:lnTo>
                    <a:lnTo>
                      <a:pt x="540" y="38"/>
                    </a:lnTo>
                    <a:lnTo>
                      <a:pt x="526" y="36"/>
                    </a:lnTo>
                    <a:lnTo>
                      <a:pt x="509" y="36"/>
                    </a:lnTo>
                    <a:lnTo>
                      <a:pt x="473" y="38"/>
                    </a:lnTo>
                    <a:lnTo>
                      <a:pt x="435" y="45"/>
                    </a:lnTo>
                    <a:lnTo>
                      <a:pt x="402" y="54"/>
                    </a:lnTo>
                    <a:lnTo>
                      <a:pt x="386" y="59"/>
                    </a:lnTo>
                    <a:lnTo>
                      <a:pt x="374" y="66"/>
                    </a:lnTo>
                    <a:lnTo>
                      <a:pt x="374" y="66"/>
                    </a:lnTo>
                    <a:close/>
                    <a:moveTo>
                      <a:pt x="178" y="171"/>
                    </a:moveTo>
                    <a:lnTo>
                      <a:pt x="164" y="180"/>
                    </a:lnTo>
                    <a:lnTo>
                      <a:pt x="156" y="188"/>
                    </a:lnTo>
                    <a:lnTo>
                      <a:pt x="152" y="195"/>
                    </a:lnTo>
                    <a:lnTo>
                      <a:pt x="154" y="200"/>
                    </a:lnTo>
                    <a:lnTo>
                      <a:pt x="161" y="205"/>
                    </a:lnTo>
                    <a:lnTo>
                      <a:pt x="171" y="209"/>
                    </a:lnTo>
                    <a:lnTo>
                      <a:pt x="187" y="211"/>
                    </a:lnTo>
                    <a:lnTo>
                      <a:pt x="205" y="211"/>
                    </a:lnTo>
                    <a:lnTo>
                      <a:pt x="247" y="209"/>
                    </a:lnTo>
                    <a:lnTo>
                      <a:pt x="292" y="200"/>
                    </a:lnTo>
                    <a:lnTo>
                      <a:pt x="335" y="188"/>
                    </a:lnTo>
                    <a:lnTo>
                      <a:pt x="354" y="180"/>
                    </a:lnTo>
                    <a:lnTo>
                      <a:pt x="371" y="171"/>
                    </a:lnTo>
                    <a:lnTo>
                      <a:pt x="385" y="162"/>
                    </a:lnTo>
                    <a:lnTo>
                      <a:pt x="392" y="155"/>
                    </a:lnTo>
                    <a:lnTo>
                      <a:pt x="395" y="148"/>
                    </a:lnTo>
                    <a:lnTo>
                      <a:pt x="392" y="143"/>
                    </a:lnTo>
                    <a:lnTo>
                      <a:pt x="385" y="138"/>
                    </a:lnTo>
                    <a:lnTo>
                      <a:pt x="374" y="136"/>
                    </a:lnTo>
                    <a:lnTo>
                      <a:pt x="361" y="133"/>
                    </a:lnTo>
                    <a:lnTo>
                      <a:pt x="342" y="133"/>
                    </a:lnTo>
                    <a:lnTo>
                      <a:pt x="293" y="136"/>
                    </a:lnTo>
                    <a:lnTo>
                      <a:pt x="271" y="140"/>
                    </a:lnTo>
                    <a:lnTo>
                      <a:pt x="249" y="145"/>
                    </a:lnTo>
                    <a:lnTo>
                      <a:pt x="226" y="150"/>
                    </a:lnTo>
                    <a:lnTo>
                      <a:pt x="209" y="157"/>
                    </a:lnTo>
                    <a:lnTo>
                      <a:pt x="192" y="164"/>
                    </a:lnTo>
                    <a:lnTo>
                      <a:pt x="178" y="171"/>
                    </a:lnTo>
                    <a:lnTo>
                      <a:pt x="178" y="171"/>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145" name="Freeform 665"/>
              <p:cNvSpPr>
                <a:spLocks/>
              </p:cNvSpPr>
              <p:nvPr/>
            </p:nvSpPr>
            <p:spPr bwMode="auto">
              <a:xfrm>
                <a:off x="2064" y="3215"/>
                <a:ext cx="386" cy="122"/>
              </a:xfrm>
              <a:custGeom>
                <a:avLst/>
                <a:gdLst>
                  <a:gd name="T0" fmla="*/ 164 w 772"/>
                  <a:gd name="T1" fmla="*/ 172 h 244"/>
                  <a:gd name="T2" fmla="*/ 152 w 772"/>
                  <a:gd name="T3" fmla="*/ 186 h 244"/>
                  <a:gd name="T4" fmla="*/ 153 w 772"/>
                  <a:gd name="T5" fmla="*/ 198 h 244"/>
                  <a:gd name="T6" fmla="*/ 172 w 772"/>
                  <a:gd name="T7" fmla="*/ 205 h 244"/>
                  <a:gd name="T8" fmla="*/ 202 w 772"/>
                  <a:gd name="T9" fmla="*/ 207 h 244"/>
                  <a:gd name="T10" fmla="*/ 269 w 772"/>
                  <a:gd name="T11" fmla="*/ 200 h 244"/>
                  <a:gd name="T12" fmla="*/ 317 w 772"/>
                  <a:gd name="T13" fmla="*/ 188 h 244"/>
                  <a:gd name="T14" fmla="*/ 384 w 772"/>
                  <a:gd name="T15" fmla="*/ 160 h 244"/>
                  <a:gd name="T16" fmla="*/ 414 w 772"/>
                  <a:gd name="T17" fmla="*/ 141 h 244"/>
                  <a:gd name="T18" fmla="*/ 415 w 772"/>
                  <a:gd name="T19" fmla="*/ 126 h 244"/>
                  <a:gd name="T20" fmla="*/ 398 w 772"/>
                  <a:gd name="T21" fmla="*/ 119 h 244"/>
                  <a:gd name="T22" fmla="*/ 362 w 772"/>
                  <a:gd name="T23" fmla="*/ 115 h 244"/>
                  <a:gd name="T24" fmla="*/ 300 w 772"/>
                  <a:gd name="T25" fmla="*/ 119 h 244"/>
                  <a:gd name="T26" fmla="*/ 227 w 772"/>
                  <a:gd name="T27" fmla="*/ 132 h 244"/>
                  <a:gd name="T28" fmla="*/ 276 w 772"/>
                  <a:gd name="T29" fmla="*/ 64 h 244"/>
                  <a:gd name="T30" fmla="*/ 772 w 772"/>
                  <a:gd name="T31" fmla="*/ 0 h 244"/>
                  <a:gd name="T32" fmla="*/ 694 w 772"/>
                  <a:gd name="T33" fmla="*/ 45 h 244"/>
                  <a:gd name="T34" fmla="*/ 445 w 772"/>
                  <a:gd name="T35" fmla="*/ 45 h 244"/>
                  <a:gd name="T36" fmla="*/ 350 w 772"/>
                  <a:gd name="T37" fmla="*/ 86 h 244"/>
                  <a:gd name="T38" fmla="*/ 405 w 772"/>
                  <a:gd name="T39" fmla="*/ 79 h 244"/>
                  <a:gd name="T40" fmla="*/ 476 w 772"/>
                  <a:gd name="T41" fmla="*/ 77 h 244"/>
                  <a:gd name="T42" fmla="*/ 512 w 772"/>
                  <a:gd name="T43" fmla="*/ 81 h 244"/>
                  <a:gd name="T44" fmla="*/ 539 w 772"/>
                  <a:gd name="T45" fmla="*/ 86 h 244"/>
                  <a:gd name="T46" fmla="*/ 558 w 772"/>
                  <a:gd name="T47" fmla="*/ 95 h 244"/>
                  <a:gd name="T48" fmla="*/ 569 w 772"/>
                  <a:gd name="T49" fmla="*/ 107 h 244"/>
                  <a:gd name="T50" fmla="*/ 569 w 772"/>
                  <a:gd name="T51" fmla="*/ 119 h 244"/>
                  <a:gd name="T52" fmla="*/ 558 w 772"/>
                  <a:gd name="T53" fmla="*/ 132 h 244"/>
                  <a:gd name="T54" fmla="*/ 538 w 772"/>
                  <a:gd name="T55" fmla="*/ 150 h 244"/>
                  <a:gd name="T56" fmla="*/ 495 w 772"/>
                  <a:gd name="T57" fmla="*/ 174 h 244"/>
                  <a:gd name="T58" fmla="*/ 422 w 772"/>
                  <a:gd name="T59" fmla="*/ 200 h 244"/>
                  <a:gd name="T60" fmla="*/ 317 w 772"/>
                  <a:gd name="T61" fmla="*/ 225 h 244"/>
                  <a:gd name="T62" fmla="*/ 195 w 772"/>
                  <a:gd name="T63" fmla="*/ 243 h 244"/>
                  <a:gd name="T64" fmla="*/ 112 w 772"/>
                  <a:gd name="T65" fmla="*/ 244 h 244"/>
                  <a:gd name="T66" fmla="*/ 72 w 772"/>
                  <a:gd name="T67" fmla="*/ 243 h 244"/>
                  <a:gd name="T68" fmla="*/ 41 w 772"/>
                  <a:gd name="T69" fmla="*/ 238 h 244"/>
                  <a:gd name="T70" fmla="*/ 19 w 772"/>
                  <a:gd name="T71" fmla="*/ 231 h 244"/>
                  <a:gd name="T72" fmla="*/ 5 w 772"/>
                  <a:gd name="T73" fmla="*/ 220 h 244"/>
                  <a:gd name="T74" fmla="*/ 0 w 772"/>
                  <a:gd name="T75" fmla="*/ 210 h 244"/>
                  <a:gd name="T76" fmla="*/ 3 w 772"/>
                  <a:gd name="T77" fmla="*/ 198 h 244"/>
                  <a:gd name="T78" fmla="*/ 15 w 772"/>
                  <a:gd name="T79" fmla="*/ 18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72" h="244">
                    <a:moveTo>
                      <a:pt x="24" y="177"/>
                    </a:moveTo>
                    <a:lnTo>
                      <a:pt x="164" y="172"/>
                    </a:lnTo>
                    <a:lnTo>
                      <a:pt x="155" y="179"/>
                    </a:lnTo>
                    <a:lnTo>
                      <a:pt x="152" y="186"/>
                    </a:lnTo>
                    <a:lnTo>
                      <a:pt x="150" y="193"/>
                    </a:lnTo>
                    <a:lnTo>
                      <a:pt x="153" y="198"/>
                    </a:lnTo>
                    <a:lnTo>
                      <a:pt x="162" y="201"/>
                    </a:lnTo>
                    <a:lnTo>
                      <a:pt x="172" y="205"/>
                    </a:lnTo>
                    <a:lnTo>
                      <a:pt x="184" y="207"/>
                    </a:lnTo>
                    <a:lnTo>
                      <a:pt x="202" y="207"/>
                    </a:lnTo>
                    <a:lnTo>
                      <a:pt x="245" y="203"/>
                    </a:lnTo>
                    <a:lnTo>
                      <a:pt x="269" y="200"/>
                    </a:lnTo>
                    <a:lnTo>
                      <a:pt x="293" y="194"/>
                    </a:lnTo>
                    <a:lnTo>
                      <a:pt x="317" y="188"/>
                    </a:lnTo>
                    <a:lnTo>
                      <a:pt x="341" y="181"/>
                    </a:lnTo>
                    <a:lnTo>
                      <a:pt x="384" y="160"/>
                    </a:lnTo>
                    <a:lnTo>
                      <a:pt x="401" y="150"/>
                    </a:lnTo>
                    <a:lnTo>
                      <a:pt x="414" y="141"/>
                    </a:lnTo>
                    <a:lnTo>
                      <a:pt x="417" y="132"/>
                    </a:lnTo>
                    <a:lnTo>
                      <a:pt x="415" y="126"/>
                    </a:lnTo>
                    <a:lnTo>
                      <a:pt x="408" y="120"/>
                    </a:lnTo>
                    <a:lnTo>
                      <a:pt x="398" y="119"/>
                    </a:lnTo>
                    <a:lnTo>
                      <a:pt x="383" y="115"/>
                    </a:lnTo>
                    <a:lnTo>
                      <a:pt x="362" y="115"/>
                    </a:lnTo>
                    <a:lnTo>
                      <a:pt x="331" y="117"/>
                    </a:lnTo>
                    <a:lnTo>
                      <a:pt x="300" y="119"/>
                    </a:lnTo>
                    <a:lnTo>
                      <a:pt x="265" y="126"/>
                    </a:lnTo>
                    <a:lnTo>
                      <a:pt x="227" y="132"/>
                    </a:lnTo>
                    <a:lnTo>
                      <a:pt x="129" y="127"/>
                    </a:lnTo>
                    <a:lnTo>
                      <a:pt x="276" y="64"/>
                    </a:lnTo>
                    <a:lnTo>
                      <a:pt x="420" y="0"/>
                    </a:lnTo>
                    <a:lnTo>
                      <a:pt x="772" y="0"/>
                    </a:lnTo>
                    <a:lnTo>
                      <a:pt x="734" y="22"/>
                    </a:lnTo>
                    <a:lnTo>
                      <a:pt x="694" y="45"/>
                    </a:lnTo>
                    <a:lnTo>
                      <a:pt x="569" y="45"/>
                    </a:lnTo>
                    <a:lnTo>
                      <a:pt x="445" y="45"/>
                    </a:lnTo>
                    <a:lnTo>
                      <a:pt x="398" y="65"/>
                    </a:lnTo>
                    <a:lnTo>
                      <a:pt x="350" y="86"/>
                    </a:lnTo>
                    <a:lnTo>
                      <a:pt x="379" y="82"/>
                    </a:lnTo>
                    <a:lnTo>
                      <a:pt x="405" y="79"/>
                    </a:lnTo>
                    <a:lnTo>
                      <a:pt x="455" y="77"/>
                    </a:lnTo>
                    <a:lnTo>
                      <a:pt x="476" y="77"/>
                    </a:lnTo>
                    <a:lnTo>
                      <a:pt x="495" y="79"/>
                    </a:lnTo>
                    <a:lnTo>
                      <a:pt x="512" y="81"/>
                    </a:lnTo>
                    <a:lnTo>
                      <a:pt x="527" y="82"/>
                    </a:lnTo>
                    <a:lnTo>
                      <a:pt x="539" y="86"/>
                    </a:lnTo>
                    <a:lnTo>
                      <a:pt x="550" y="89"/>
                    </a:lnTo>
                    <a:lnTo>
                      <a:pt x="558" y="95"/>
                    </a:lnTo>
                    <a:lnTo>
                      <a:pt x="565" y="100"/>
                    </a:lnTo>
                    <a:lnTo>
                      <a:pt x="569" y="107"/>
                    </a:lnTo>
                    <a:lnTo>
                      <a:pt x="570" y="112"/>
                    </a:lnTo>
                    <a:lnTo>
                      <a:pt x="569" y="119"/>
                    </a:lnTo>
                    <a:lnTo>
                      <a:pt x="565" y="126"/>
                    </a:lnTo>
                    <a:lnTo>
                      <a:pt x="558" y="132"/>
                    </a:lnTo>
                    <a:lnTo>
                      <a:pt x="550" y="141"/>
                    </a:lnTo>
                    <a:lnTo>
                      <a:pt x="538" y="150"/>
                    </a:lnTo>
                    <a:lnTo>
                      <a:pt x="522" y="158"/>
                    </a:lnTo>
                    <a:lnTo>
                      <a:pt x="495" y="174"/>
                    </a:lnTo>
                    <a:lnTo>
                      <a:pt x="460" y="188"/>
                    </a:lnTo>
                    <a:lnTo>
                      <a:pt x="422" y="200"/>
                    </a:lnTo>
                    <a:lnTo>
                      <a:pt x="379" y="212"/>
                    </a:lnTo>
                    <a:lnTo>
                      <a:pt x="317" y="225"/>
                    </a:lnTo>
                    <a:lnTo>
                      <a:pt x="255" y="236"/>
                    </a:lnTo>
                    <a:lnTo>
                      <a:pt x="195" y="243"/>
                    </a:lnTo>
                    <a:lnTo>
                      <a:pt x="134" y="244"/>
                    </a:lnTo>
                    <a:lnTo>
                      <a:pt x="112" y="244"/>
                    </a:lnTo>
                    <a:lnTo>
                      <a:pt x="91" y="243"/>
                    </a:lnTo>
                    <a:lnTo>
                      <a:pt x="72" y="243"/>
                    </a:lnTo>
                    <a:lnTo>
                      <a:pt x="55" y="241"/>
                    </a:lnTo>
                    <a:lnTo>
                      <a:pt x="41" y="238"/>
                    </a:lnTo>
                    <a:lnTo>
                      <a:pt x="29" y="234"/>
                    </a:lnTo>
                    <a:lnTo>
                      <a:pt x="19" y="231"/>
                    </a:lnTo>
                    <a:lnTo>
                      <a:pt x="10" y="225"/>
                    </a:lnTo>
                    <a:lnTo>
                      <a:pt x="5" y="220"/>
                    </a:lnTo>
                    <a:lnTo>
                      <a:pt x="0" y="215"/>
                    </a:lnTo>
                    <a:lnTo>
                      <a:pt x="0" y="210"/>
                    </a:lnTo>
                    <a:lnTo>
                      <a:pt x="0" y="205"/>
                    </a:lnTo>
                    <a:lnTo>
                      <a:pt x="3" y="198"/>
                    </a:lnTo>
                    <a:lnTo>
                      <a:pt x="7" y="191"/>
                    </a:lnTo>
                    <a:lnTo>
                      <a:pt x="15" y="184"/>
                    </a:lnTo>
                    <a:lnTo>
                      <a:pt x="24" y="177"/>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49146" name="Group 666"/>
            <p:cNvGrpSpPr>
              <a:grpSpLocks/>
            </p:cNvGrpSpPr>
            <p:nvPr/>
          </p:nvGrpSpPr>
          <p:grpSpPr bwMode="auto">
            <a:xfrm>
              <a:off x="1540" y="3403"/>
              <a:ext cx="846" cy="138"/>
              <a:chOff x="1557" y="3420"/>
              <a:chExt cx="846" cy="138"/>
            </a:xfrm>
          </p:grpSpPr>
          <p:sp>
            <p:nvSpPr>
              <p:cNvPr id="149147" name="Freeform 667"/>
              <p:cNvSpPr>
                <a:spLocks noEditPoints="1"/>
              </p:cNvSpPr>
              <p:nvPr/>
            </p:nvSpPr>
            <p:spPr bwMode="auto">
              <a:xfrm>
                <a:off x="1578" y="3434"/>
                <a:ext cx="316" cy="124"/>
              </a:xfrm>
              <a:custGeom>
                <a:avLst/>
                <a:gdLst>
                  <a:gd name="T0" fmla="*/ 203 w 632"/>
                  <a:gd name="T1" fmla="*/ 104 h 249"/>
                  <a:gd name="T2" fmla="*/ 193 w 632"/>
                  <a:gd name="T3" fmla="*/ 85 h 249"/>
                  <a:gd name="T4" fmla="*/ 214 w 632"/>
                  <a:gd name="T5" fmla="*/ 62 h 249"/>
                  <a:gd name="T6" fmla="*/ 295 w 632"/>
                  <a:gd name="T7" fmla="*/ 28 h 249"/>
                  <a:gd name="T8" fmla="*/ 412 w 632"/>
                  <a:gd name="T9" fmla="*/ 4 h 249"/>
                  <a:gd name="T10" fmla="*/ 526 w 632"/>
                  <a:gd name="T11" fmla="*/ 0 h 249"/>
                  <a:gd name="T12" fmla="*/ 579 w 632"/>
                  <a:gd name="T13" fmla="*/ 4 h 249"/>
                  <a:gd name="T14" fmla="*/ 615 w 632"/>
                  <a:gd name="T15" fmla="*/ 14 h 249"/>
                  <a:gd name="T16" fmla="*/ 631 w 632"/>
                  <a:gd name="T17" fmla="*/ 28 h 249"/>
                  <a:gd name="T18" fmla="*/ 629 w 632"/>
                  <a:gd name="T19" fmla="*/ 43 h 249"/>
                  <a:gd name="T20" fmla="*/ 607 w 632"/>
                  <a:gd name="T21" fmla="*/ 62 h 249"/>
                  <a:gd name="T22" fmla="*/ 558 w 632"/>
                  <a:gd name="T23" fmla="*/ 87 h 249"/>
                  <a:gd name="T24" fmla="*/ 441 w 632"/>
                  <a:gd name="T25" fmla="*/ 112 h 249"/>
                  <a:gd name="T26" fmla="*/ 484 w 632"/>
                  <a:gd name="T27" fmla="*/ 130 h 249"/>
                  <a:gd name="T28" fmla="*/ 486 w 632"/>
                  <a:gd name="T29" fmla="*/ 154 h 249"/>
                  <a:gd name="T30" fmla="*/ 438 w 632"/>
                  <a:gd name="T31" fmla="*/ 188 h 249"/>
                  <a:gd name="T32" fmla="*/ 326 w 632"/>
                  <a:gd name="T33" fmla="*/ 228 h 249"/>
                  <a:gd name="T34" fmla="*/ 188 w 632"/>
                  <a:gd name="T35" fmla="*/ 247 h 249"/>
                  <a:gd name="T36" fmla="*/ 66 w 632"/>
                  <a:gd name="T37" fmla="*/ 245 h 249"/>
                  <a:gd name="T38" fmla="*/ 26 w 632"/>
                  <a:gd name="T39" fmla="*/ 235 h 249"/>
                  <a:gd name="T40" fmla="*/ 4 w 632"/>
                  <a:gd name="T41" fmla="*/ 219 h 249"/>
                  <a:gd name="T42" fmla="*/ 4 w 632"/>
                  <a:gd name="T43" fmla="*/ 200 h 249"/>
                  <a:gd name="T44" fmla="*/ 31 w 632"/>
                  <a:gd name="T45" fmla="*/ 174 h 249"/>
                  <a:gd name="T46" fmla="*/ 86 w 632"/>
                  <a:gd name="T47" fmla="*/ 147 h 249"/>
                  <a:gd name="T48" fmla="*/ 165 w 632"/>
                  <a:gd name="T49" fmla="*/ 124 h 249"/>
                  <a:gd name="T50" fmla="*/ 231 w 632"/>
                  <a:gd name="T51" fmla="*/ 112 h 249"/>
                  <a:gd name="T52" fmla="*/ 319 w 632"/>
                  <a:gd name="T53" fmla="*/ 73 h 249"/>
                  <a:gd name="T54" fmla="*/ 317 w 632"/>
                  <a:gd name="T55" fmla="*/ 88 h 249"/>
                  <a:gd name="T56" fmla="*/ 345 w 632"/>
                  <a:gd name="T57" fmla="*/ 95 h 249"/>
                  <a:gd name="T58" fmla="*/ 431 w 632"/>
                  <a:gd name="T59" fmla="*/ 88 h 249"/>
                  <a:gd name="T60" fmla="*/ 484 w 632"/>
                  <a:gd name="T61" fmla="*/ 66 h 249"/>
                  <a:gd name="T62" fmla="*/ 496 w 632"/>
                  <a:gd name="T63" fmla="*/ 49 h 249"/>
                  <a:gd name="T64" fmla="*/ 477 w 632"/>
                  <a:gd name="T65" fmla="*/ 38 h 249"/>
                  <a:gd name="T66" fmla="*/ 414 w 632"/>
                  <a:gd name="T67" fmla="*/ 38 h 249"/>
                  <a:gd name="T68" fmla="*/ 338 w 632"/>
                  <a:gd name="T69" fmla="*/ 59 h 249"/>
                  <a:gd name="T70" fmla="*/ 327 w 632"/>
                  <a:gd name="T71" fmla="*/ 66 h 249"/>
                  <a:gd name="T72" fmla="*/ 141 w 632"/>
                  <a:gd name="T73" fmla="*/ 188 h 249"/>
                  <a:gd name="T74" fmla="*/ 150 w 632"/>
                  <a:gd name="T75" fmla="*/ 205 h 249"/>
                  <a:gd name="T76" fmla="*/ 193 w 632"/>
                  <a:gd name="T77" fmla="*/ 211 h 249"/>
                  <a:gd name="T78" fmla="*/ 312 w 632"/>
                  <a:gd name="T79" fmla="*/ 188 h 249"/>
                  <a:gd name="T80" fmla="*/ 353 w 632"/>
                  <a:gd name="T81" fmla="*/ 162 h 249"/>
                  <a:gd name="T82" fmla="*/ 358 w 632"/>
                  <a:gd name="T83" fmla="*/ 143 h 249"/>
                  <a:gd name="T84" fmla="*/ 326 w 632"/>
                  <a:gd name="T85" fmla="*/ 133 h 249"/>
                  <a:gd name="T86" fmla="*/ 243 w 632"/>
                  <a:gd name="T87" fmla="*/ 140 h 249"/>
                  <a:gd name="T88" fmla="*/ 186 w 632"/>
                  <a:gd name="T89" fmla="*/ 157 h 249"/>
                  <a:gd name="T90" fmla="*/ 160 w 632"/>
                  <a:gd name="T91" fmla="*/ 171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2" h="249">
                    <a:moveTo>
                      <a:pt x="231" y="112"/>
                    </a:moveTo>
                    <a:lnTo>
                      <a:pt x="215" y="109"/>
                    </a:lnTo>
                    <a:lnTo>
                      <a:pt x="203" y="104"/>
                    </a:lnTo>
                    <a:lnTo>
                      <a:pt x="197" y="99"/>
                    </a:lnTo>
                    <a:lnTo>
                      <a:pt x="193" y="92"/>
                    </a:lnTo>
                    <a:lnTo>
                      <a:pt x="193" y="85"/>
                    </a:lnTo>
                    <a:lnTo>
                      <a:pt x="197" y="78"/>
                    </a:lnTo>
                    <a:lnTo>
                      <a:pt x="203" y="71"/>
                    </a:lnTo>
                    <a:lnTo>
                      <a:pt x="214" y="62"/>
                    </a:lnTo>
                    <a:lnTo>
                      <a:pt x="236" y="50"/>
                    </a:lnTo>
                    <a:lnTo>
                      <a:pt x="262" y="38"/>
                    </a:lnTo>
                    <a:lnTo>
                      <a:pt x="295" y="28"/>
                    </a:lnTo>
                    <a:lnTo>
                      <a:pt x="331" y="18"/>
                    </a:lnTo>
                    <a:lnTo>
                      <a:pt x="371" y="11"/>
                    </a:lnTo>
                    <a:lnTo>
                      <a:pt x="412" y="4"/>
                    </a:lnTo>
                    <a:lnTo>
                      <a:pt x="457" y="2"/>
                    </a:lnTo>
                    <a:lnTo>
                      <a:pt x="503" y="0"/>
                    </a:lnTo>
                    <a:lnTo>
                      <a:pt x="526" y="0"/>
                    </a:lnTo>
                    <a:lnTo>
                      <a:pt x="546" y="2"/>
                    </a:lnTo>
                    <a:lnTo>
                      <a:pt x="564" y="2"/>
                    </a:lnTo>
                    <a:lnTo>
                      <a:pt x="579" y="4"/>
                    </a:lnTo>
                    <a:lnTo>
                      <a:pt x="593" y="7"/>
                    </a:lnTo>
                    <a:lnTo>
                      <a:pt x="605" y="11"/>
                    </a:lnTo>
                    <a:lnTo>
                      <a:pt x="615" y="14"/>
                    </a:lnTo>
                    <a:lnTo>
                      <a:pt x="622" y="18"/>
                    </a:lnTo>
                    <a:lnTo>
                      <a:pt x="627" y="23"/>
                    </a:lnTo>
                    <a:lnTo>
                      <a:pt x="631" y="28"/>
                    </a:lnTo>
                    <a:lnTo>
                      <a:pt x="632" y="33"/>
                    </a:lnTo>
                    <a:lnTo>
                      <a:pt x="631" y="38"/>
                    </a:lnTo>
                    <a:lnTo>
                      <a:pt x="629" y="43"/>
                    </a:lnTo>
                    <a:lnTo>
                      <a:pt x="624" y="50"/>
                    </a:lnTo>
                    <a:lnTo>
                      <a:pt x="615" y="56"/>
                    </a:lnTo>
                    <a:lnTo>
                      <a:pt x="607" y="62"/>
                    </a:lnTo>
                    <a:lnTo>
                      <a:pt x="593" y="71"/>
                    </a:lnTo>
                    <a:lnTo>
                      <a:pt x="577" y="80"/>
                    </a:lnTo>
                    <a:lnTo>
                      <a:pt x="558" y="87"/>
                    </a:lnTo>
                    <a:lnTo>
                      <a:pt x="539" y="93"/>
                    </a:lnTo>
                    <a:lnTo>
                      <a:pt x="493" y="106"/>
                    </a:lnTo>
                    <a:lnTo>
                      <a:pt x="441" y="112"/>
                    </a:lnTo>
                    <a:lnTo>
                      <a:pt x="460" y="118"/>
                    </a:lnTo>
                    <a:lnTo>
                      <a:pt x="476" y="123"/>
                    </a:lnTo>
                    <a:lnTo>
                      <a:pt x="484" y="130"/>
                    </a:lnTo>
                    <a:lnTo>
                      <a:pt x="489" y="137"/>
                    </a:lnTo>
                    <a:lnTo>
                      <a:pt x="489" y="145"/>
                    </a:lnTo>
                    <a:lnTo>
                      <a:pt x="486" y="154"/>
                    </a:lnTo>
                    <a:lnTo>
                      <a:pt x="477" y="162"/>
                    </a:lnTo>
                    <a:lnTo>
                      <a:pt x="465" y="173"/>
                    </a:lnTo>
                    <a:lnTo>
                      <a:pt x="438" y="188"/>
                    </a:lnTo>
                    <a:lnTo>
                      <a:pt x="405" y="204"/>
                    </a:lnTo>
                    <a:lnTo>
                      <a:pt x="367" y="216"/>
                    </a:lnTo>
                    <a:lnTo>
                      <a:pt x="326" y="228"/>
                    </a:lnTo>
                    <a:lnTo>
                      <a:pt x="281" y="236"/>
                    </a:lnTo>
                    <a:lnTo>
                      <a:pt x="234" y="243"/>
                    </a:lnTo>
                    <a:lnTo>
                      <a:pt x="188" y="247"/>
                    </a:lnTo>
                    <a:lnTo>
                      <a:pt x="140" y="249"/>
                    </a:lnTo>
                    <a:lnTo>
                      <a:pt x="98" y="247"/>
                    </a:lnTo>
                    <a:lnTo>
                      <a:pt x="66" y="245"/>
                    </a:lnTo>
                    <a:lnTo>
                      <a:pt x="50" y="242"/>
                    </a:lnTo>
                    <a:lnTo>
                      <a:pt x="38" y="240"/>
                    </a:lnTo>
                    <a:lnTo>
                      <a:pt x="26" y="235"/>
                    </a:lnTo>
                    <a:lnTo>
                      <a:pt x="17" y="231"/>
                    </a:lnTo>
                    <a:lnTo>
                      <a:pt x="9" y="226"/>
                    </a:lnTo>
                    <a:lnTo>
                      <a:pt x="4" y="219"/>
                    </a:lnTo>
                    <a:lnTo>
                      <a:pt x="0" y="214"/>
                    </a:lnTo>
                    <a:lnTo>
                      <a:pt x="2" y="207"/>
                    </a:lnTo>
                    <a:lnTo>
                      <a:pt x="4" y="200"/>
                    </a:lnTo>
                    <a:lnTo>
                      <a:pt x="10" y="192"/>
                    </a:lnTo>
                    <a:lnTo>
                      <a:pt x="19" y="183"/>
                    </a:lnTo>
                    <a:lnTo>
                      <a:pt x="31" y="174"/>
                    </a:lnTo>
                    <a:lnTo>
                      <a:pt x="47" y="166"/>
                    </a:lnTo>
                    <a:lnTo>
                      <a:pt x="66" y="157"/>
                    </a:lnTo>
                    <a:lnTo>
                      <a:pt x="86" y="147"/>
                    </a:lnTo>
                    <a:lnTo>
                      <a:pt x="110" y="138"/>
                    </a:lnTo>
                    <a:lnTo>
                      <a:pt x="138" y="131"/>
                    </a:lnTo>
                    <a:lnTo>
                      <a:pt x="165" y="124"/>
                    </a:lnTo>
                    <a:lnTo>
                      <a:pt x="198" y="118"/>
                    </a:lnTo>
                    <a:lnTo>
                      <a:pt x="231" y="112"/>
                    </a:lnTo>
                    <a:lnTo>
                      <a:pt x="231" y="112"/>
                    </a:lnTo>
                    <a:lnTo>
                      <a:pt x="231" y="112"/>
                    </a:lnTo>
                    <a:close/>
                    <a:moveTo>
                      <a:pt x="327" y="66"/>
                    </a:moveTo>
                    <a:lnTo>
                      <a:pt x="319" y="73"/>
                    </a:lnTo>
                    <a:lnTo>
                      <a:pt x="315" y="80"/>
                    </a:lnTo>
                    <a:lnTo>
                      <a:pt x="314" y="85"/>
                    </a:lnTo>
                    <a:lnTo>
                      <a:pt x="317" y="88"/>
                    </a:lnTo>
                    <a:lnTo>
                      <a:pt x="322" y="92"/>
                    </a:lnTo>
                    <a:lnTo>
                      <a:pt x="333" y="93"/>
                    </a:lnTo>
                    <a:lnTo>
                      <a:pt x="345" y="95"/>
                    </a:lnTo>
                    <a:lnTo>
                      <a:pt x="362" y="95"/>
                    </a:lnTo>
                    <a:lnTo>
                      <a:pt x="396" y="93"/>
                    </a:lnTo>
                    <a:lnTo>
                      <a:pt x="431" y="88"/>
                    </a:lnTo>
                    <a:lnTo>
                      <a:pt x="460" y="80"/>
                    </a:lnTo>
                    <a:lnTo>
                      <a:pt x="474" y="73"/>
                    </a:lnTo>
                    <a:lnTo>
                      <a:pt x="484" y="66"/>
                    </a:lnTo>
                    <a:lnTo>
                      <a:pt x="491" y="59"/>
                    </a:lnTo>
                    <a:lnTo>
                      <a:pt x="496" y="54"/>
                    </a:lnTo>
                    <a:lnTo>
                      <a:pt x="496" y="49"/>
                    </a:lnTo>
                    <a:lnTo>
                      <a:pt x="495" y="45"/>
                    </a:lnTo>
                    <a:lnTo>
                      <a:pt x="488" y="42"/>
                    </a:lnTo>
                    <a:lnTo>
                      <a:pt x="477" y="38"/>
                    </a:lnTo>
                    <a:lnTo>
                      <a:pt x="465" y="37"/>
                    </a:lnTo>
                    <a:lnTo>
                      <a:pt x="450" y="37"/>
                    </a:lnTo>
                    <a:lnTo>
                      <a:pt x="414" y="38"/>
                    </a:lnTo>
                    <a:lnTo>
                      <a:pt x="379" y="45"/>
                    </a:lnTo>
                    <a:lnTo>
                      <a:pt x="350" y="54"/>
                    </a:lnTo>
                    <a:lnTo>
                      <a:pt x="338" y="59"/>
                    </a:lnTo>
                    <a:lnTo>
                      <a:pt x="327" y="66"/>
                    </a:lnTo>
                    <a:lnTo>
                      <a:pt x="327" y="66"/>
                    </a:lnTo>
                    <a:lnTo>
                      <a:pt x="327" y="66"/>
                    </a:lnTo>
                    <a:close/>
                    <a:moveTo>
                      <a:pt x="160" y="171"/>
                    </a:moveTo>
                    <a:lnTo>
                      <a:pt x="148" y="180"/>
                    </a:lnTo>
                    <a:lnTo>
                      <a:pt x="141" y="188"/>
                    </a:lnTo>
                    <a:lnTo>
                      <a:pt x="140" y="195"/>
                    </a:lnTo>
                    <a:lnTo>
                      <a:pt x="143" y="200"/>
                    </a:lnTo>
                    <a:lnTo>
                      <a:pt x="150" y="205"/>
                    </a:lnTo>
                    <a:lnTo>
                      <a:pt x="160" y="209"/>
                    </a:lnTo>
                    <a:lnTo>
                      <a:pt x="176" y="211"/>
                    </a:lnTo>
                    <a:lnTo>
                      <a:pt x="193" y="211"/>
                    </a:lnTo>
                    <a:lnTo>
                      <a:pt x="233" y="209"/>
                    </a:lnTo>
                    <a:lnTo>
                      <a:pt x="274" y="200"/>
                    </a:lnTo>
                    <a:lnTo>
                      <a:pt x="312" y="188"/>
                    </a:lnTo>
                    <a:lnTo>
                      <a:pt x="327" y="180"/>
                    </a:lnTo>
                    <a:lnTo>
                      <a:pt x="343" y="171"/>
                    </a:lnTo>
                    <a:lnTo>
                      <a:pt x="353" y="162"/>
                    </a:lnTo>
                    <a:lnTo>
                      <a:pt x="360" y="155"/>
                    </a:lnTo>
                    <a:lnTo>
                      <a:pt x="362" y="149"/>
                    </a:lnTo>
                    <a:lnTo>
                      <a:pt x="358" y="143"/>
                    </a:lnTo>
                    <a:lnTo>
                      <a:pt x="352" y="138"/>
                    </a:lnTo>
                    <a:lnTo>
                      <a:pt x="341" y="137"/>
                    </a:lnTo>
                    <a:lnTo>
                      <a:pt x="326" y="133"/>
                    </a:lnTo>
                    <a:lnTo>
                      <a:pt x="309" y="133"/>
                    </a:lnTo>
                    <a:lnTo>
                      <a:pt x="264" y="137"/>
                    </a:lnTo>
                    <a:lnTo>
                      <a:pt x="243" y="140"/>
                    </a:lnTo>
                    <a:lnTo>
                      <a:pt x="222" y="145"/>
                    </a:lnTo>
                    <a:lnTo>
                      <a:pt x="203" y="150"/>
                    </a:lnTo>
                    <a:lnTo>
                      <a:pt x="186" y="157"/>
                    </a:lnTo>
                    <a:lnTo>
                      <a:pt x="172" y="164"/>
                    </a:lnTo>
                    <a:lnTo>
                      <a:pt x="160" y="171"/>
                    </a:lnTo>
                    <a:lnTo>
                      <a:pt x="160" y="171"/>
                    </a:lnTo>
                    <a:lnTo>
                      <a:pt x="160" y="17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148" name="Freeform 668"/>
              <p:cNvSpPr>
                <a:spLocks/>
              </p:cNvSpPr>
              <p:nvPr/>
            </p:nvSpPr>
            <p:spPr bwMode="auto">
              <a:xfrm>
                <a:off x="1842" y="3435"/>
                <a:ext cx="349" cy="120"/>
              </a:xfrm>
              <a:custGeom>
                <a:avLst/>
                <a:gdLst>
                  <a:gd name="T0" fmla="*/ 204 w 698"/>
                  <a:gd name="T1" fmla="*/ 45 h 239"/>
                  <a:gd name="T2" fmla="*/ 236 w 698"/>
                  <a:gd name="T3" fmla="*/ 22 h 239"/>
                  <a:gd name="T4" fmla="*/ 267 w 698"/>
                  <a:gd name="T5" fmla="*/ 0 h 239"/>
                  <a:gd name="T6" fmla="*/ 483 w 698"/>
                  <a:gd name="T7" fmla="*/ 0 h 239"/>
                  <a:gd name="T8" fmla="*/ 698 w 698"/>
                  <a:gd name="T9" fmla="*/ 0 h 239"/>
                  <a:gd name="T10" fmla="*/ 672 w 698"/>
                  <a:gd name="T11" fmla="*/ 17 h 239"/>
                  <a:gd name="T12" fmla="*/ 647 w 698"/>
                  <a:gd name="T13" fmla="*/ 34 h 239"/>
                  <a:gd name="T14" fmla="*/ 605 w 698"/>
                  <a:gd name="T15" fmla="*/ 45 h 239"/>
                  <a:gd name="T16" fmla="*/ 559 w 698"/>
                  <a:gd name="T17" fmla="*/ 58 h 239"/>
                  <a:gd name="T18" fmla="*/ 510 w 698"/>
                  <a:gd name="T19" fmla="*/ 72 h 239"/>
                  <a:gd name="T20" fmla="*/ 457 w 698"/>
                  <a:gd name="T21" fmla="*/ 89 h 239"/>
                  <a:gd name="T22" fmla="*/ 404 w 698"/>
                  <a:gd name="T23" fmla="*/ 108 h 239"/>
                  <a:gd name="T24" fmla="*/ 354 w 698"/>
                  <a:gd name="T25" fmla="*/ 127 h 239"/>
                  <a:gd name="T26" fmla="*/ 304 w 698"/>
                  <a:gd name="T27" fmla="*/ 146 h 239"/>
                  <a:gd name="T28" fmla="*/ 259 w 698"/>
                  <a:gd name="T29" fmla="*/ 167 h 239"/>
                  <a:gd name="T30" fmla="*/ 216 w 698"/>
                  <a:gd name="T31" fmla="*/ 188 h 239"/>
                  <a:gd name="T32" fmla="*/ 180 w 698"/>
                  <a:gd name="T33" fmla="*/ 207 h 239"/>
                  <a:gd name="T34" fmla="*/ 147 w 698"/>
                  <a:gd name="T35" fmla="*/ 224 h 239"/>
                  <a:gd name="T36" fmla="*/ 121 w 698"/>
                  <a:gd name="T37" fmla="*/ 239 h 239"/>
                  <a:gd name="T38" fmla="*/ 61 w 698"/>
                  <a:gd name="T39" fmla="*/ 239 h 239"/>
                  <a:gd name="T40" fmla="*/ 0 w 698"/>
                  <a:gd name="T41" fmla="*/ 239 h 239"/>
                  <a:gd name="T42" fmla="*/ 42 w 698"/>
                  <a:gd name="T43" fmla="*/ 215 h 239"/>
                  <a:gd name="T44" fmla="*/ 92 w 698"/>
                  <a:gd name="T45" fmla="*/ 189 h 239"/>
                  <a:gd name="T46" fmla="*/ 118 w 698"/>
                  <a:gd name="T47" fmla="*/ 176 h 239"/>
                  <a:gd name="T48" fmla="*/ 147 w 698"/>
                  <a:gd name="T49" fmla="*/ 164 h 239"/>
                  <a:gd name="T50" fmla="*/ 176 w 698"/>
                  <a:gd name="T51" fmla="*/ 151 h 239"/>
                  <a:gd name="T52" fmla="*/ 209 w 698"/>
                  <a:gd name="T53" fmla="*/ 138 h 239"/>
                  <a:gd name="T54" fmla="*/ 276 w 698"/>
                  <a:gd name="T55" fmla="*/ 112 h 239"/>
                  <a:gd name="T56" fmla="*/ 345 w 698"/>
                  <a:gd name="T57" fmla="*/ 88 h 239"/>
                  <a:gd name="T58" fmla="*/ 416 w 698"/>
                  <a:gd name="T59" fmla="*/ 65 h 239"/>
                  <a:gd name="T60" fmla="*/ 490 w 698"/>
                  <a:gd name="T61" fmla="*/ 45 h 239"/>
                  <a:gd name="T62" fmla="*/ 347 w 698"/>
                  <a:gd name="T63" fmla="*/ 45 h 239"/>
                  <a:gd name="T64" fmla="*/ 204 w 698"/>
                  <a:gd name="T65" fmla="*/ 45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8" h="239">
                    <a:moveTo>
                      <a:pt x="204" y="45"/>
                    </a:moveTo>
                    <a:lnTo>
                      <a:pt x="236" y="22"/>
                    </a:lnTo>
                    <a:lnTo>
                      <a:pt x="267" y="0"/>
                    </a:lnTo>
                    <a:lnTo>
                      <a:pt x="483" y="0"/>
                    </a:lnTo>
                    <a:lnTo>
                      <a:pt x="698" y="0"/>
                    </a:lnTo>
                    <a:lnTo>
                      <a:pt x="672" y="17"/>
                    </a:lnTo>
                    <a:lnTo>
                      <a:pt x="647" y="34"/>
                    </a:lnTo>
                    <a:lnTo>
                      <a:pt x="605" y="45"/>
                    </a:lnTo>
                    <a:lnTo>
                      <a:pt x="559" y="58"/>
                    </a:lnTo>
                    <a:lnTo>
                      <a:pt x="510" y="72"/>
                    </a:lnTo>
                    <a:lnTo>
                      <a:pt x="457" y="89"/>
                    </a:lnTo>
                    <a:lnTo>
                      <a:pt x="404" y="108"/>
                    </a:lnTo>
                    <a:lnTo>
                      <a:pt x="354" y="127"/>
                    </a:lnTo>
                    <a:lnTo>
                      <a:pt x="304" y="146"/>
                    </a:lnTo>
                    <a:lnTo>
                      <a:pt x="259" y="167"/>
                    </a:lnTo>
                    <a:lnTo>
                      <a:pt x="216" y="188"/>
                    </a:lnTo>
                    <a:lnTo>
                      <a:pt x="180" y="207"/>
                    </a:lnTo>
                    <a:lnTo>
                      <a:pt x="147" y="224"/>
                    </a:lnTo>
                    <a:lnTo>
                      <a:pt x="121" y="239"/>
                    </a:lnTo>
                    <a:lnTo>
                      <a:pt x="61" y="239"/>
                    </a:lnTo>
                    <a:lnTo>
                      <a:pt x="0" y="239"/>
                    </a:lnTo>
                    <a:lnTo>
                      <a:pt x="42" y="215"/>
                    </a:lnTo>
                    <a:lnTo>
                      <a:pt x="92" y="189"/>
                    </a:lnTo>
                    <a:lnTo>
                      <a:pt x="118" y="176"/>
                    </a:lnTo>
                    <a:lnTo>
                      <a:pt x="147" y="164"/>
                    </a:lnTo>
                    <a:lnTo>
                      <a:pt x="176" y="151"/>
                    </a:lnTo>
                    <a:lnTo>
                      <a:pt x="209" y="138"/>
                    </a:lnTo>
                    <a:lnTo>
                      <a:pt x="276" y="112"/>
                    </a:lnTo>
                    <a:lnTo>
                      <a:pt x="345" y="88"/>
                    </a:lnTo>
                    <a:lnTo>
                      <a:pt x="416" y="65"/>
                    </a:lnTo>
                    <a:lnTo>
                      <a:pt x="490" y="45"/>
                    </a:lnTo>
                    <a:lnTo>
                      <a:pt x="347" y="45"/>
                    </a:lnTo>
                    <a:lnTo>
                      <a:pt x="204" y="4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149" name="Freeform 669"/>
              <p:cNvSpPr>
                <a:spLocks noEditPoints="1"/>
              </p:cNvSpPr>
              <p:nvPr/>
            </p:nvSpPr>
            <p:spPr bwMode="auto">
              <a:xfrm>
                <a:off x="2088" y="3434"/>
                <a:ext cx="315" cy="124"/>
              </a:xfrm>
              <a:custGeom>
                <a:avLst/>
                <a:gdLst>
                  <a:gd name="T0" fmla="*/ 202 w 631"/>
                  <a:gd name="T1" fmla="*/ 104 h 249"/>
                  <a:gd name="T2" fmla="*/ 191 w 631"/>
                  <a:gd name="T3" fmla="*/ 85 h 249"/>
                  <a:gd name="T4" fmla="*/ 212 w 631"/>
                  <a:gd name="T5" fmla="*/ 62 h 249"/>
                  <a:gd name="T6" fmla="*/ 295 w 631"/>
                  <a:gd name="T7" fmla="*/ 28 h 249"/>
                  <a:gd name="T8" fmla="*/ 412 w 631"/>
                  <a:gd name="T9" fmla="*/ 4 h 249"/>
                  <a:gd name="T10" fmla="*/ 524 w 631"/>
                  <a:gd name="T11" fmla="*/ 0 h 249"/>
                  <a:gd name="T12" fmla="*/ 579 w 631"/>
                  <a:gd name="T13" fmla="*/ 4 h 249"/>
                  <a:gd name="T14" fmla="*/ 614 w 631"/>
                  <a:gd name="T15" fmla="*/ 14 h 249"/>
                  <a:gd name="T16" fmla="*/ 629 w 631"/>
                  <a:gd name="T17" fmla="*/ 28 h 249"/>
                  <a:gd name="T18" fmla="*/ 627 w 631"/>
                  <a:gd name="T19" fmla="*/ 43 h 249"/>
                  <a:gd name="T20" fmla="*/ 607 w 631"/>
                  <a:gd name="T21" fmla="*/ 62 h 249"/>
                  <a:gd name="T22" fmla="*/ 559 w 631"/>
                  <a:gd name="T23" fmla="*/ 87 h 249"/>
                  <a:gd name="T24" fmla="*/ 441 w 631"/>
                  <a:gd name="T25" fmla="*/ 112 h 249"/>
                  <a:gd name="T26" fmla="*/ 484 w 631"/>
                  <a:gd name="T27" fmla="*/ 130 h 249"/>
                  <a:gd name="T28" fmla="*/ 484 w 631"/>
                  <a:gd name="T29" fmla="*/ 154 h 249"/>
                  <a:gd name="T30" fmla="*/ 436 w 631"/>
                  <a:gd name="T31" fmla="*/ 188 h 249"/>
                  <a:gd name="T32" fmla="*/ 324 w 631"/>
                  <a:gd name="T33" fmla="*/ 228 h 249"/>
                  <a:gd name="T34" fmla="*/ 188 w 631"/>
                  <a:gd name="T35" fmla="*/ 247 h 249"/>
                  <a:gd name="T36" fmla="*/ 98 w 631"/>
                  <a:gd name="T37" fmla="*/ 247 h 249"/>
                  <a:gd name="T38" fmla="*/ 48 w 631"/>
                  <a:gd name="T39" fmla="*/ 242 h 249"/>
                  <a:gd name="T40" fmla="*/ 16 w 631"/>
                  <a:gd name="T41" fmla="*/ 231 h 249"/>
                  <a:gd name="T42" fmla="*/ 0 w 631"/>
                  <a:gd name="T43" fmla="*/ 214 h 249"/>
                  <a:gd name="T44" fmla="*/ 9 w 631"/>
                  <a:gd name="T45" fmla="*/ 192 h 249"/>
                  <a:gd name="T46" fmla="*/ 45 w 631"/>
                  <a:gd name="T47" fmla="*/ 166 h 249"/>
                  <a:gd name="T48" fmla="*/ 111 w 631"/>
                  <a:gd name="T49" fmla="*/ 138 h 249"/>
                  <a:gd name="T50" fmla="*/ 197 w 631"/>
                  <a:gd name="T51" fmla="*/ 118 h 249"/>
                  <a:gd name="T52" fmla="*/ 326 w 631"/>
                  <a:gd name="T53" fmla="*/ 66 h 249"/>
                  <a:gd name="T54" fmla="*/ 312 w 631"/>
                  <a:gd name="T55" fmla="*/ 85 h 249"/>
                  <a:gd name="T56" fmla="*/ 331 w 631"/>
                  <a:gd name="T57" fmla="*/ 93 h 249"/>
                  <a:gd name="T58" fmla="*/ 395 w 631"/>
                  <a:gd name="T59" fmla="*/ 93 h 249"/>
                  <a:gd name="T60" fmla="*/ 459 w 631"/>
                  <a:gd name="T61" fmla="*/ 80 h 249"/>
                  <a:gd name="T62" fmla="*/ 497 w 631"/>
                  <a:gd name="T63" fmla="*/ 54 h 249"/>
                  <a:gd name="T64" fmla="*/ 486 w 631"/>
                  <a:gd name="T65" fmla="*/ 42 h 249"/>
                  <a:gd name="T66" fmla="*/ 448 w 631"/>
                  <a:gd name="T67" fmla="*/ 37 h 249"/>
                  <a:gd name="T68" fmla="*/ 364 w 631"/>
                  <a:gd name="T69" fmla="*/ 49 h 249"/>
                  <a:gd name="T70" fmla="*/ 326 w 631"/>
                  <a:gd name="T71" fmla="*/ 66 h 249"/>
                  <a:gd name="T72" fmla="*/ 142 w 631"/>
                  <a:gd name="T73" fmla="*/ 188 h 249"/>
                  <a:gd name="T74" fmla="*/ 150 w 631"/>
                  <a:gd name="T75" fmla="*/ 205 h 249"/>
                  <a:gd name="T76" fmla="*/ 193 w 631"/>
                  <a:gd name="T77" fmla="*/ 211 h 249"/>
                  <a:gd name="T78" fmla="*/ 293 w 631"/>
                  <a:gd name="T79" fmla="*/ 195 h 249"/>
                  <a:gd name="T80" fmla="*/ 353 w 631"/>
                  <a:gd name="T81" fmla="*/ 162 h 249"/>
                  <a:gd name="T82" fmla="*/ 357 w 631"/>
                  <a:gd name="T83" fmla="*/ 143 h 249"/>
                  <a:gd name="T84" fmla="*/ 324 w 631"/>
                  <a:gd name="T85" fmla="*/ 133 h 249"/>
                  <a:gd name="T86" fmla="*/ 241 w 631"/>
                  <a:gd name="T87" fmla="*/ 140 h 249"/>
                  <a:gd name="T88" fmla="*/ 186 w 631"/>
                  <a:gd name="T89" fmla="*/ 157 h 249"/>
                  <a:gd name="T90" fmla="*/ 160 w 631"/>
                  <a:gd name="T91" fmla="*/ 171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1" h="249">
                    <a:moveTo>
                      <a:pt x="231" y="112"/>
                    </a:moveTo>
                    <a:lnTo>
                      <a:pt x="214" y="109"/>
                    </a:lnTo>
                    <a:lnTo>
                      <a:pt x="202" y="104"/>
                    </a:lnTo>
                    <a:lnTo>
                      <a:pt x="195" y="99"/>
                    </a:lnTo>
                    <a:lnTo>
                      <a:pt x="191" y="92"/>
                    </a:lnTo>
                    <a:lnTo>
                      <a:pt x="191" y="85"/>
                    </a:lnTo>
                    <a:lnTo>
                      <a:pt x="195" y="78"/>
                    </a:lnTo>
                    <a:lnTo>
                      <a:pt x="202" y="71"/>
                    </a:lnTo>
                    <a:lnTo>
                      <a:pt x="212" y="62"/>
                    </a:lnTo>
                    <a:lnTo>
                      <a:pt x="235" y="50"/>
                    </a:lnTo>
                    <a:lnTo>
                      <a:pt x="262" y="38"/>
                    </a:lnTo>
                    <a:lnTo>
                      <a:pt x="295" y="28"/>
                    </a:lnTo>
                    <a:lnTo>
                      <a:pt x="331" y="18"/>
                    </a:lnTo>
                    <a:lnTo>
                      <a:pt x="371" y="11"/>
                    </a:lnTo>
                    <a:lnTo>
                      <a:pt x="412" y="4"/>
                    </a:lnTo>
                    <a:lnTo>
                      <a:pt x="455" y="2"/>
                    </a:lnTo>
                    <a:lnTo>
                      <a:pt x="502" y="0"/>
                    </a:lnTo>
                    <a:lnTo>
                      <a:pt x="524" y="0"/>
                    </a:lnTo>
                    <a:lnTo>
                      <a:pt x="545" y="2"/>
                    </a:lnTo>
                    <a:lnTo>
                      <a:pt x="562" y="2"/>
                    </a:lnTo>
                    <a:lnTo>
                      <a:pt x="579" y="4"/>
                    </a:lnTo>
                    <a:lnTo>
                      <a:pt x="593" y="7"/>
                    </a:lnTo>
                    <a:lnTo>
                      <a:pt x="605" y="11"/>
                    </a:lnTo>
                    <a:lnTo>
                      <a:pt x="614" y="14"/>
                    </a:lnTo>
                    <a:lnTo>
                      <a:pt x="621" y="18"/>
                    </a:lnTo>
                    <a:lnTo>
                      <a:pt x="626" y="23"/>
                    </a:lnTo>
                    <a:lnTo>
                      <a:pt x="629" y="28"/>
                    </a:lnTo>
                    <a:lnTo>
                      <a:pt x="631" y="33"/>
                    </a:lnTo>
                    <a:lnTo>
                      <a:pt x="629" y="38"/>
                    </a:lnTo>
                    <a:lnTo>
                      <a:pt x="627" y="43"/>
                    </a:lnTo>
                    <a:lnTo>
                      <a:pt x="622" y="50"/>
                    </a:lnTo>
                    <a:lnTo>
                      <a:pt x="615" y="56"/>
                    </a:lnTo>
                    <a:lnTo>
                      <a:pt x="607" y="62"/>
                    </a:lnTo>
                    <a:lnTo>
                      <a:pt x="593" y="71"/>
                    </a:lnTo>
                    <a:lnTo>
                      <a:pt x="577" y="80"/>
                    </a:lnTo>
                    <a:lnTo>
                      <a:pt x="559" y="87"/>
                    </a:lnTo>
                    <a:lnTo>
                      <a:pt x="538" y="93"/>
                    </a:lnTo>
                    <a:lnTo>
                      <a:pt x="491" y="106"/>
                    </a:lnTo>
                    <a:lnTo>
                      <a:pt x="441" y="112"/>
                    </a:lnTo>
                    <a:lnTo>
                      <a:pt x="460" y="118"/>
                    </a:lnTo>
                    <a:lnTo>
                      <a:pt x="474" y="123"/>
                    </a:lnTo>
                    <a:lnTo>
                      <a:pt x="484" y="130"/>
                    </a:lnTo>
                    <a:lnTo>
                      <a:pt x="490" y="137"/>
                    </a:lnTo>
                    <a:lnTo>
                      <a:pt x="490" y="145"/>
                    </a:lnTo>
                    <a:lnTo>
                      <a:pt x="484" y="154"/>
                    </a:lnTo>
                    <a:lnTo>
                      <a:pt x="478" y="162"/>
                    </a:lnTo>
                    <a:lnTo>
                      <a:pt x="464" y="173"/>
                    </a:lnTo>
                    <a:lnTo>
                      <a:pt x="436" y="188"/>
                    </a:lnTo>
                    <a:lnTo>
                      <a:pt x="405" y="204"/>
                    </a:lnTo>
                    <a:lnTo>
                      <a:pt x="367" y="216"/>
                    </a:lnTo>
                    <a:lnTo>
                      <a:pt x="324" y="228"/>
                    </a:lnTo>
                    <a:lnTo>
                      <a:pt x="279" y="236"/>
                    </a:lnTo>
                    <a:lnTo>
                      <a:pt x="235" y="243"/>
                    </a:lnTo>
                    <a:lnTo>
                      <a:pt x="188" y="247"/>
                    </a:lnTo>
                    <a:lnTo>
                      <a:pt x="140" y="249"/>
                    </a:lnTo>
                    <a:lnTo>
                      <a:pt x="117" y="249"/>
                    </a:lnTo>
                    <a:lnTo>
                      <a:pt x="98" y="247"/>
                    </a:lnTo>
                    <a:lnTo>
                      <a:pt x="79" y="247"/>
                    </a:lnTo>
                    <a:lnTo>
                      <a:pt x="64" y="245"/>
                    </a:lnTo>
                    <a:lnTo>
                      <a:pt x="48" y="242"/>
                    </a:lnTo>
                    <a:lnTo>
                      <a:pt x="36" y="240"/>
                    </a:lnTo>
                    <a:lnTo>
                      <a:pt x="24" y="235"/>
                    </a:lnTo>
                    <a:lnTo>
                      <a:pt x="16" y="231"/>
                    </a:lnTo>
                    <a:lnTo>
                      <a:pt x="7" y="226"/>
                    </a:lnTo>
                    <a:lnTo>
                      <a:pt x="2" y="219"/>
                    </a:lnTo>
                    <a:lnTo>
                      <a:pt x="0" y="214"/>
                    </a:lnTo>
                    <a:lnTo>
                      <a:pt x="0" y="207"/>
                    </a:lnTo>
                    <a:lnTo>
                      <a:pt x="4" y="200"/>
                    </a:lnTo>
                    <a:lnTo>
                      <a:pt x="9" y="192"/>
                    </a:lnTo>
                    <a:lnTo>
                      <a:pt x="17" y="183"/>
                    </a:lnTo>
                    <a:lnTo>
                      <a:pt x="30" y="174"/>
                    </a:lnTo>
                    <a:lnTo>
                      <a:pt x="45" y="166"/>
                    </a:lnTo>
                    <a:lnTo>
                      <a:pt x="64" y="157"/>
                    </a:lnTo>
                    <a:lnTo>
                      <a:pt x="86" y="147"/>
                    </a:lnTo>
                    <a:lnTo>
                      <a:pt x="111" y="138"/>
                    </a:lnTo>
                    <a:lnTo>
                      <a:pt x="136" y="131"/>
                    </a:lnTo>
                    <a:lnTo>
                      <a:pt x="166" y="124"/>
                    </a:lnTo>
                    <a:lnTo>
                      <a:pt x="197" y="118"/>
                    </a:lnTo>
                    <a:lnTo>
                      <a:pt x="231" y="112"/>
                    </a:lnTo>
                    <a:lnTo>
                      <a:pt x="231" y="112"/>
                    </a:lnTo>
                    <a:close/>
                    <a:moveTo>
                      <a:pt x="326" y="66"/>
                    </a:moveTo>
                    <a:lnTo>
                      <a:pt x="317" y="73"/>
                    </a:lnTo>
                    <a:lnTo>
                      <a:pt x="314" y="80"/>
                    </a:lnTo>
                    <a:lnTo>
                      <a:pt x="312" y="85"/>
                    </a:lnTo>
                    <a:lnTo>
                      <a:pt x="316" y="88"/>
                    </a:lnTo>
                    <a:lnTo>
                      <a:pt x="322" y="92"/>
                    </a:lnTo>
                    <a:lnTo>
                      <a:pt x="331" y="93"/>
                    </a:lnTo>
                    <a:lnTo>
                      <a:pt x="345" y="95"/>
                    </a:lnTo>
                    <a:lnTo>
                      <a:pt x="360" y="95"/>
                    </a:lnTo>
                    <a:lnTo>
                      <a:pt x="395" y="93"/>
                    </a:lnTo>
                    <a:lnTo>
                      <a:pt x="429" y="88"/>
                    </a:lnTo>
                    <a:lnTo>
                      <a:pt x="445" y="85"/>
                    </a:lnTo>
                    <a:lnTo>
                      <a:pt x="459" y="80"/>
                    </a:lnTo>
                    <a:lnTo>
                      <a:pt x="483" y="66"/>
                    </a:lnTo>
                    <a:lnTo>
                      <a:pt x="491" y="59"/>
                    </a:lnTo>
                    <a:lnTo>
                      <a:pt x="497" y="54"/>
                    </a:lnTo>
                    <a:lnTo>
                      <a:pt x="497" y="49"/>
                    </a:lnTo>
                    <a:lnTo>
                      <a:pt x="493" y="45"/>
                    </a:lnTo>
                    <a:lnTo>
                      <a:pt x="486" y="42"/>
                    </a:lnTo>
                    <a:lnTo>
                      <a:pt x="478" y="38"/>
                    </a:lnTo>
                    <a:lnTo>
                      <a:pt x="464" y="37"/>
                    </a:lnTo>
                    <a:lnTo>
                      <a:pt x="448" y="37"/>
                    </a:lnTo>
                    <a:lnTo>
                      <a:pt x="414" y="38"/>
                    </a:lnTo>
                    <a:lnTo>
                      <a:pt x="379" y="45"/>
                    </a:lnTo>
                    <a:lnTo>
                      <a:pt x="364" y="49"/>
                    </a:lnTo>
                    <a:lnTo>
                      <a:pt x="350" y="54"/>
                    </a:lnTo>
                    <a:lnTo>
                      <a:pt x="326" y="66"/>
                    </a:lnTo>
                    <a:lnTo>
                      <a:pt x="326" y="66"/>
                    </a:lnTo>
                    <a:close/>
                    <a:moveTo>
                      <a:pt x="160" y="171"/>
                    </a:moveTo>
                    <a:lnTo>
                      <a:pt x="148" y="180"/>
                    </a:lnTo>
                    <a:lnTo>
                      <a:pt x="142" y="188"/>
                    </a:lnTo>
                    <a:lnTo>
                      <a:pt x="140" y="195"/>
                    </a:lnTo>
                    <a:lnTo>
                      <a:pt x="143" y="200"/>
                    </a:lnTo>
                    <a:lnTo>
                      <a:pt x="150" y="205"/>
                    </a:lnTo>
                    <a:lnTo>
                      <a:pt x="160" y="209"/>
                    </a:lnTo>
                    <a:lnTo>
                      <a:pt x="174" y="211"/>
                    </a:lnTo>
                    <a:lnTo>
                      <a:pt x="193" y="211"/>
                    </a:lnTo>
                    <a:lnTo>
                      <a:pt x="233" y="209"/>
                    </a:lnTo>
                    <a:lnTo>
                      <a:pt x="272" y="200"/>
                    </a:lnTo>
                    <a:lnTo>
                      <a:pt x="293" y="195"/>
                    </a:lnTo>
                    <a:lnTo>
                      <a:pt x="310" y="188"/>
                    </a:lnTo>
                    <a:lnTo>
                      <a:pt x="343" y="171"/>
                    </a:lnTo>
                    <a:lnTo>
                      <a:pt x="353" y="162"/>
                    </a:lnTo>
                    <a:lnTo>
                      <a:pt x="359" y="155"/>
                    </a:lnTo>
                    <a:lnTo>
                      <a:pt x="360" y="149"/>
                    </a:lnTo>
                    <a:lnTo>
                      <a:pt x="357" y="143"/>
                    </a:lnTo>
                    <a:lnTo>
                      <a:pt x="350" y="138"/>
                    </a:lnTo>
                    <a:lnTo>
                      <a:pt x="340" y="137"/>
                    </a:lnTo>
                    <a:lnTo>
                      <a:pt x="324" y="133"/>
                    </a:lnTo>
                    <a:lnTo>
                      <a:pt x="307" y="133"/>
                    </a:lnTo>
                    <a:lnTo>
                      <a:pt x="262" y="137"/>
                    </a:lnTo>
                    <a:lnTo>
                      <a:pt x="241" y="140"/>
                    </a:lnTo>
                    <a:lnTo>
                      <a:pt x="221" y="145"/>
                    </a:lnTo>
                    <a:lnTo>
                      <a:pt x="202" y="150"/>
                    </a:lnTo>
                    <a:lnTo>
                      <a:pt x="186" y="157"/>
                    </a:lnTo>
                    <a:lnTo>
                      <a:pt x="173" y="164"/>
                    </a:lnTo>
                    <a:lnTo>
                      <a:pt x="160" y="171"/>
                    </a:lnTo>
                    <a:lnTo>
                      <a:pt x="160" y="17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150" name="Freeform 670"/>
              <p:cNvSpPr>
                <a:spLocks noEditPoints="1"/>
              </p:cNvSpPr>
              <p:nvPr/>
            </p:nvSpPr>
            <p:spPr bwMode="auto">
              <a:xfrm>
                <a:off x="1557" y="3420"/>
                <a:ext cx="317" cy="124"/>
              </a:xfrm>
              <a:custGeom>
                <a:avLst/>
                <a:gdLst>
                  <a:gd name="T0" fmla="*/ 203 w 632"/>
                  <a:gd name="T1" fmla="*/ 103 h 248"/>
                  <a:gd name="T2" fmla="*/ 193 w 632"/>
                  <a:gd name="T3" fmla="*/ 84 h 248"/>
                  <a:gd name="T4" fmla="*/ 213 w 632"/>
                  <a:gd name="T5" fmla="*/ 62 h 248"/>
                  <a:gd name="T6" fmla="*/ 294 w 632"/>
                  <a:gd name="T7" fmla="*/ 27 h 248"/>
                  <a:gd name="T8" fmla="*/ 412 w 632"/>
                  <a:gd name="T9" fmla="*/ 3 h 248"/>
                  <a:gd name="T10" fmla="*/ 525 w 632"/>
                  <a:gd name="T11" fmla="*/ 0 h 248"/>
                  <a:gd name="T12" fmla="*/ 579 w 632"/>
                  <a:gd name="T13" fmla="*/ 3 h 248"/>
                  <a:gd name="T14" fmla="*/ 615 w 632"/>
                  <a:gd name="T15" fmla="*/ 14 h 248"/>
                  <a:gd name="T16" fmla="*/ 630 w 632"/>
                  <a:gd name="T17" fmla="*/ 27 h 248"/>
                  <a:gd name="T18" fmla="*/ 629 w 632"/>
                  <a:gd name="T19" fmla="*/ 43 h 248"/>
                  <a:gd name="T20" fmla="*/ 606 w 632"/>
                  <a:gd name="T21" fmla="*/ 62 h 248"/>
                  <a:gd name="T22" fmla="*/ 558 w 632"/>
                  <a:gd name="T23" fmla="*/ 86 h 248"/>
                  <a:gd name="T24" fmla="*/ 441 w 632"/>
                  <a:gd name="T25" fmla="*/ 112 h 248"/>
                  <a:gd name="T26" fmla="*/ 484 w 632"/>
                  <a:gd name="T27" fmla="*/ 129 h 248"/>
                  <a:gd name="T28" fmla="*/ 486 w 632"/>
                  <a:gd name="T29" fmla="*/ 153 h 248"/>
                  <a:gd name="T30" fmla="*/ 437 w 632"/>
                  <a:gd name="T31" fmla="*/ 188 h 248"/>
                  <a:gd name="T32" fmla="*/ 325 w 632"/>
                  <a:gd name="T33" fmla="*/ 227 h 248"/>
                  <a:gd name="T34" fmla="*/ 188 w 632"/>
                  <a:gd name="T35" fmla="*/ 246 h 248"/>
                  <a:gd name="T36" fmla="*/ 65 w 632"/>
                  <a:gd name="T37" fmla="*/ 245 h 248"/>
                  <a:gd name="T38" fmla="*/ 26 w 632"/>
                  <a:gd name="T39" fmla="*/ 234 h 248"/>
                  <a:gd name="T40" fmla="*/ 3 w 632"/>
                  <a:gd name="T41" fmla="*/ 219 h 248"/>
                  <a:gd name="T42" fmla="*/ 3 w 632"/>
                  <a:gd name="T43" fmla="*/ 200 h 248"/>
                  <a:gd name="T44" fmla="*/ 31 w 632"/>
                  <a:gd name="T45" fmla="*/ 174 h 248"/>
                  <a:gd name="T46" fmla="*/ 86 w 632"/>
                  <a:gd name="T47" fmla="*/ 146 h 248"/>
                  <a:gd name="T48" fmla="*/ 165 w 632"/>
                  <a:gd name="T49" fmla="*/ 124 h 248"/>
                  <a:gd name="T50" fmla="*/ 231 w 632"/>
                  <a:gd name="T51" fmla="*/ 112 h 248"/>
                  <a:gd name="T52" fmla="*/ 319 w 632"/>
                  <a:gd name="T53" fmla="*/ 72 h 248"/>
                  <a:gd name="T54" fmla="*/ 317 w 632"/>
                  <a:gd name="T55" fmla="*/ 88 h 248"/>
                  <a:gd name="T56" fmla="*/ 344 w 632"/>
                  <a:gd name="T57" fmla="*/ 95 h 248"/>
                  <a:gd name="T58" fmla="*/ 431 w 632"/>
                  <a:gd name="T59" fmla="*/ 88 h 248"/>
                  <a:gd name="T60" fmla="*/ 484 w 632"/>
                  <a:gd name="T61" fmla="*/ 65 h 248"/>
                  <a:gd name="T62" fmla="*/ 496 w 632"/>
                  <a:gd name="T63" fmla="*/ 48 h 248"/>
                  <a:gd name="T64" fmla="*/ 477 w 632"/>
                  <a:gd name="T65" fmla="*/ 38 h 248"/>
                  <a:gd name="T66" fmla="*/ 413 w 632"/>
                  <a:gd name="T67" fmla="*/ 38 h 248"/>
                  <a:gd name="T68" fmla="*/ 337 w 632"/>
                  <a:gd name="T69" fmla="*/ 58 h 248"/>
                  <a:gd name="T70" fmla="*/ 327 w 632"/>
                  <a:gd name="T71" fmla="*/ 65 h 248"/>
                  <a:gd name="T72" fmla="*/ 141 w 632"/>
                  <a:gd name="T73" fmla="*/ 188 h 248"/>
                  <a:gd name="T74" fmla="*/ 150 w 632"/>
                  <a:gd name="T75" fmla="*/ 205 h 248"/>
                  <a:gd name="T76" fmla="*/ 193 w 632"/>
                  <a:gd name="T77" fmla="*/ 210 h 248"/>
                  <a:gd name="T78" fmla="*/ 312 w 632"/>
                  <a:gd name="T79" fmla="*/ 188 h 248"/>
                  <a:gd name="T80" fmla="*/ 353 w 632"/>
                  <a:gd name="T81" fmla="*/ 162 h 248"/>
                  <a:gd name="T82" fmla="*/ 358 w 632"/>
                  <a:gd name="T83" fmla="*/ 143 h 248"/>
                  <a:gd name="T84" fmla="*/ 325 w 632"/>
                  <a:gd name="T85" fmla="*/ 133 h 248"/>
                  <a:gd name="T86" fmla="*/ 243 w 632"/>
                  <a:gd name="T87" fmla="*/ 139 h 248"/>
                  <a:gd name="T88" fmla="*/ 186 w 632"/>
                  <a:gd name="T89" fmla="*/ 157 h 248"/>
                  <a:gd name="T90" fmla="*/ 160 w 632"/>
                  <a:gd name="T91" fmla="*/ 17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2" h="248">
                    <a:moveTo>
                      <a:pt x="231" y="112"/>
                    </a:moveTo>
                    <a:lnTo>
                      <a:pt x="215" y="108"/>
                    </a:lnTo>
                    <a:lnTo>
                      <a:pt x="203" y="103"/>
                    </a:lnTo>
                    <a:lnTo>
                      <a:pt x="196" y="98"/>
                    </a:lnTo>
                    <a:lnTo>
                      <a:pt x="193" y="91"/>
                    </a:lnTo>
                    <a:lnTo>
                      <a:pt x="193" y="84"/>
                    </a:lnTo>
                    <a:lnTo>
                      <a:pt x="196" y="77"/>
                    </a:lnTo>
                    <a:lnTo>
                      <a:pt x="203" y="70"/>
                    </a:lnTo>
                    <a:lnTo>
                      <a:pt x="213" y="62"/>
                    </a:lnTo>
                    <a:lnTo>
                      <a:pt x="236" y="50"/>
                    </a:lnTo>
                    <a:lnTo>
                      <a:pt x="262" y="38"/>
                    </a:lnTo>
                    <a:lnTo>
                      <a:pt x="294" y="27"/>
                    </a:lnTo>
                    <a:lnTo>
                      <a:pt x="331" y="17"/>
                    </a:lnTo>
                    <a:lnTo>
                      <a:pt x="370" y="10"/>
                    </a:lnTo>
                    <a:lnTo>
                      <a:pt x="412" y="3"/>
                    </a:lnTo>
                    <a:lnTo>
                      <a:pt x="456" y="2"/>
                    </a:lnTo>
                    <a:lnTo>
                      <a:pt x="503" y="0"/>
                    </a:lnTo>
                    <a:lnTo>
                      <a:pt x="525" y="0"/>
                    </a:lnTo>
                    <a:lnTo>
                      <a:pt x="546" y="2"/>
                    </a:lnTo>
                    <a:lnTo>
                      <a:pt x="563" y="2"/>
                    </a:lnTo>
                    <a:lnTo>
                      <a:pt x="579" y="3"/>
                    </a:lnTo>
                    <a:lnTo>
                      <a:pt x="592" y="7"/>
                    </a:lnTo>
                    <a:lnTo>
                      <a:pt x="605" y="10"/>
                    </a:lnTo>
                    <a:lnTo>
                      <a:pt x="615" y="14"/>
                    </a:lnTo>
                    <a:lnTo>
                      <a:pt x="622" y="17"/>
                    </a:lnTo>
                    <a:lnTo>
                      <a:pt x="627" y="22"/>
                    </a:lnTo>
                    <a:lnTo>
                      <a:pt x="630" y="27"/>
                    </a:lnTo>
                    <a:lnTo>
                      <a:pt x="632" y="33"/>
                    </a:lnTo>
                    <a:lnTo>
                      <a:pt x="630" y="38"/>
                    </a:lnTo>
                    <a:lnTo>
                      <a:pt x="629" y="43"/>
                    </a:lnTo>
                    <a:lnTo>
                      <a:pt x="624" y="50"/>
                    </a:lnTo>
                    <a:lnTo>
                      <a:pt x="615" y="55"/>
                    </a:lnTo>
                    <a:lnTo>
                      <a:pt x="606" y="62"/>
                    </a:lnTo>
                    <a:lnTo>
                      <a:pt x="592" y="70"/>
                    </a:lnTo>
                    <a:lnTo>
                      <a:pt x="577" y="79"/>
                    </a:lnTo>
                    <a:lnTo>
                      <a:pt x="558" y="86"/>
                    </a:lnTo>
                    <a:lnTo>
                      <a:pt x="539" y="93"/>
                    </a:lnTo>
                    <a:lnTo>
                      <a:pt x="493" y="105"/>
                    </a:lnTo>
                    <a:lnTo>
                      <a:pt x="441" y="112"/>
                    </a:lnTo>
                    <a:lnTo>
                      <a:pt x="460" y="117"/>
                    </a:lnTo>
                    <a:lnTo>
                      <a:pt x="475" y="122"/>
                    </a:lnTo>
                    <a:lnTo>
                      <a:pt x="484" y="129"/>
                    </a:lnTo>
                    <a:lnTo>
                      <a:pt x="489" y="136"/>
                    </a:lnTo>
                    <a:lnTo>
                      <a:pt x="489" y="145"/>
                    </a:lnTo>
                    <a:lnTo>
                      <a:pt x="486" y="153"/>
                    </a:lnTo>
                    <a:lnTo>
                      <a:pt x="477" y="162"/>
                    </a:lnTo>
                    <a:lnTo>
                      <a:pt x="465" y="172"/>
                    </a:lnTo>
                    <a:lnTo>
                      <a:pt x="437" y="188"/>
                    </a:lnTo>
                    <a:lnTo>
                      <a:pt x="405" y="203"/>
                    </a:lnTo>
                    <a:lnTo>
                      <a:pt x="367" y="215"/>
                    </a:lnTo>
                    <a:lnTo>
                      <a:pt x="325" y="227"/>
                    </a:lnTo>
                    <a:lnTo>
                      <a:pt x="281" y="236"/>
                    </a:lnTo>
                    <a:lnTo>
                      <a:pt x="234" y="243"/>
                    </a:lnTo>
                    <a:lnTo>
                      <a:pt x="188" y="246"/>
                    </a:lnTo>
                    <a:lnTo>
                      <a:pt x="139" y="248"/>
                    </a:lnTo>
                    <a:lnTo>
                      <a:pt x="98" y="246"/>
                    </a:lnTo>
                    <a:lnTo>
                      <a:pt x="65" y="245"/>
                    </a:lnTo>
                    <a:lnTo>
                      <a:pt x="50" y="241"/>
                    </a:lnTo>
                    <a:lnTo>
                      <a:pt x="38" y="239"/>
                    </a:lnTo>
                    <a:lnTo>
                      <a:pt x="26" y="234"/>
                    </a:lnTo>
                    <a:lnTo>
                      <a:pt x="17" y="231"/>
                    </a:lnTo>
                    <a:lnTo>
                      <a:pt x="8" y="226"/>
                    </a:lnTo>
                    <a:lnTo>
                      <a:pt x="3" y="219"/>
                    </a:lnTo>
                    <a:lnTo>
                      <a:pt x="0" y="214"/>
                    </a:lnTo>
                    <a:lnTo>
                      <a:pt x="1" y="207"/>
                    </a:lnTo>
                    <a:lnTo>
                      <a:pt x="3" y="200"/>
                    </a:lnTo>
                    <a:lnTo>
                      <a:pt x="10" y="191"/>
                    </a:lnTo>
                    <a:lnTo>
                      <a:pt x="19" y="182"/>
                    </a:lnTo>
                    <a:lnTo>
                      <a:pt x="31" y="174"/>
                    </a:lnTo>
                    <a:lnTo>
                      <a:pt x="46" y="165"/>
                    </a:lnTo>
                    <a:lnTo>
                      <a:pt x="65" y="157"/>
                    </a:lnTo>
                    <a:lnTo>
                      <a:pt x="86" y="146"/>
                    </a:lnTo>
                    <a:lnTo>
                      <a:pt x="110" y="138"/>
                    </a:lnTo>
                    <a:lnTo>
                      <a:pt x="138" y="131"/>
                    </a:lnTo>
                    <a:lnTo>
                      <a:pt x="165" y="124"/>
                    </a:lnTo>
                    <a:lnTo>
                      <a:pt x="198" y="117"/>
                    </a:lnTo>
                    <a:lnTo>
                      <a:pt x="231" y="112"/>
                    </a:lnTo>
                    <a:lnTo>
                      <a:pt x="231" y="112"/>
                    </a:lnTo>
                    <a:lnTo>
                      <a:pt x="231" y="112"/>
                    </a:lnTo>
                    <a:close/>
                    <a:moveTo>
                      <a:pt x="327" y="65"/>
                    </a:moveTo>
                    <a:lnTo>
                      <a:pt x="319" y="72"/>
                    </a:lnTo>
                    <a:lnTo>
                      <a:pt x="315" y="79"/>
                    </a:lnTo>
                    <a:lnTo>
                      <a:pt x="313" y="84"/>
                    </a:lnTo>
                    <a:lnTo>
                      <a:pt x="317" y="88"/>
                    </a:lnTo>
                    <a:lnTo>
                      <a:pt x="322" y="91"/>
                    </a:lnTo>
                    <a:lnTo>
                      <a:pt x="332" y="93"/>
                    </a:lnTo>
                    <a:lnTo>
                      <a:pt x="344" y="95"/>
                    </a:lnTo>
                    <a:lnTo>
                      <a:pt x="362" y="95"/>
                    </a:lnTo>
                    <a:lnTo>
                      <a:pt x="396" y="93"/>
                    </a:lnTo>
                    <a:lnTo>
                      <a:pt x="431" y="88"/>
                    </a:lnTo>
                    <a:lnTo>
                      <a:pt x="460" y="79"/>
                    </a:lnTo>
                    <a:lnTo>
                      <a:pt x="474" y="72"/>
                    </a:lnTo>
                    <a:lnTo>
                      <a:pt x="484" y="65"/>
                    </a:lnTo>
                    <a:lnTo>
                      <a:pt x="491" y="58"/>
                    </a:lnTo>
                    <a:lnTo>
                      <a:pt x="496" y="53"/>
                    </a:lnTo>
                    <a:lnTo>
                      <a:pt x="496" y="48"/>
                    </a:lnTo>
                    <a:lnTo>
                      <a:pt x="494" y="45"/>
                    </a:lnTo>
                    <a:lnTo>
                      <a:pt x="487" y="41"/>
                    </a:lnTo>
                    <a:lnTo>
                      <a:pt x="477" y="38"/>
                    </a:lnTo>
                    <a:lnTo>
                      <a:pt x="465" y="36"/>
                    </a:lnTo>
                    <a:lnTo>
                      <a:pt x="449" y="36"/>
                    </a:lnTo>
                    <a:lnTo>
                      <a:pt x="413" y="38"/>
                    </a:lnTo>
                    <a:lnTo>
                      <a:pt x="379" y="45"/>
                    </a:lnTo>
                    <a:lnTo>
                      <a:pt x="350" y="53"/>
                    </a:lnTo>
                    <a:lnTo>
                      <a:pt x="337" y="58"/>
                    </a:lnTo>
                    <a:lnTo>
                      <a:pt x="327" y="65"/>
                    </a:lnTo>
                    <a:lnTo>
                      <a:pt x="327" y="65"/>
                    </a:lnTo>
                    <a:lnTo>
                      <a:pt x="327" y="65"/>
                    </a:lnTo>
                    <a:close/>
                    <a:moveTo>
                      <a:pt x="160" y="170"/>
                    </a:moveTo>
                    <a:lnTo>
                      <a:pt x="148" y="179"/>
                    </a:lnTo>
                    <a:lnTo>
                      <a:pt x="141" y="188"/>
                    </a:lnTo>
                    <a:lnTo>
                      <a:pt x="139" y="195"/>
                    </a:lnTo>
                    <a:lnTo>
                      <a:pt x="143" y="200"/>
                    </a:lnTo>
                    <a:lnTo>
                      <a:pt x="150" y="205"/>
                    </a:lnTo>
                    <a:lnTo>
                      <a:pt x="160" y="208"/>
                    </a:lnTo>
                    <a:lnTo>
                      <a:pt x="175" y="210"/>
                    </a:lnTo>
                    <a:lnTo>
                      <a:pt x="193" y="210"/>
                    </a:lnTo>
                    <a:lnTo>
                      <a:pt x="232" y="208"/>
                    </a:lnTo>
                    <a:lnTo>
                      <a:pt x="274" y="200"/>
                    </a:lnTo>
                    <a:lnTo>
                      <a:pt x="312" y="188"/>
                    </a:lnTo>
                    <a:lnTo>
                      <a:pt x="327" y="179"/>
                    </a:lnTo>
                    <a:lnTo>
                      <a:pt x="343" y="170"/>
                    </a:lnTo>
                    <a:lnTo>
                      <a:pt x="353" y="162"/>
                    </a:lnTo>
                    <a:lnTo>
                      <a:pt x="360" y="155"/>
                    </a:lnTo>
                    <a:lnTo>
                      <a:pt x="362" y="148"/>
                    </a:lnTo>
                    <a:lnTo>
                      <a:pt x="358" y="143"/>
                    </a:lnTo>
                    <a:lnTo>
                      <a:pt x="351" y="138"/>
                    </a:lnTo>
                    <a:lnTo>
                      <a:pt x="341" y="136"/>
                    </a:lnTo>
                    <a:lnTo>
                      <a:pt x="325" y="133"/>
                    </a:lnTo>
                    <a:lnTo>
                      <a:pt x="308" y="133"/>
                    </a:lnTo>
                    <a:lnTo>
                      <a:pt x="263" y="136"/>
                    </a:lnTo>
                    <a:lnTo>
                      <a:pt x="243" y="139"/>
                    </a:lnTo>
                    <a:lnTo>
                      <a:pt x="222" y="145"/>
                    </a:lnTo>
                    <a:lnTo>
                      <a:pt x="203" y="150"/>
                    </a:lnTo>
                    <a:lnTo>
                      <a:pt x="186" y="157"/>
                    </a:lnTo>
                    <a:lnTo>
                      <a:pt x="172" y="164"/>
                    </a:lnTo>
                    <a:lnTo>
                      <a:pt x="160" y="170"/>
                    </a:lnTo>
                    <a:lnTo>
                      <a:pt x="160" y="170"/>
                    </a:lnTo>
                    <a:lnTo>
                      <a:pt x="160" y="17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151" name="Freeform 671"/>
              <p:cNvSpPr>
                <a:spLocks/>
              </p:cNvSpPr>
              <p:nvPr/>
            </p:nvSpPr>
            <p:spPr bwMode="auto">
              <a:xfrm>
                <a:off x="1821" y="3422"/>
                <a:ext cx="349" cy="119"/>
              </a:xfrm>
              <a:custGeom>
                <a:avLst/>
                <a:gdLst>
                  <a:gd name="T0" fmla="*/ 203 w 698"/>
                  <a:gd name="T1" fmla="*/ 45 h 240"/>
                  <a:gd name="T2" fmla="*/ 236 w 698"/>
                  <a:gd name="T3" fmla="*/ 23 h 240"/>
                  <a:gd name="T4" fmla="*/ 267 w 698"/>
                  <a:gd name="T5" fmla="*/ 0 h 240"/>
                  <a:gd name="T6" fmla="*/ 483 w 698"/>
                  <a:gd name="T7" fmla="*/ 0 h 240"/>
                  <a:gd name="T8" fmla="*/ 698 w 698"/>
                  <a:gd name="T9" fmla="*/ 0 h 240"/>
                  <a:gd name="T10" fmla="*/ 672 w 698"/>
                  <a:gd name="T11" fmla="*/ 18 h 240"/>
                  <a:gd name="T12" fmla="*/ 646 w 698"/>
                  <a:gd name="T13" fmla="*/ 35 h 240"/>
                  <a:gd name="T14" fmla="*/ 605 w 698"/>
                  <a:gd name="T15" fmla="*/ 45 h 240"/>
                  <a:gd name="T16" fmla="*/ 558 w 698"/>
                  <a:gd name="T17" fmla="*/ 59 h 240"/>
                  <a:gd name="T18" fmla="*/ 510 w 698"/>
                  <a:gd name="T19" fmla="*/ 73 h 240"/>
                  <a:gd name="T20" fmla="*/ 457 w 698"/>
                  <a:gd name="T21" fmla="*/ 90 h 240"/>
                  <a:gd name="T22" fmla="*/ 403 w 698"/>
                  <a:gd name="T23" fmla="*/ 109 h 240"/>
                  <a:gd name="T24" fmla="*/ 353 w 698"/>
                  <a:gd name="T25" fmla="*/ 128 h 240"/>
                  <a:gd name="T26" fmla="*/ 303 w 698"/>
                  <a:gd name="T27" fmla="*/ 147 h 240"/>
                  <a:gd name="T28" fmla="*/ 259 w 698"/>
                  <a:gd name="T29" fmla="*/ 167 h 240"/>
                  <a:gd name="T30" fmla="*/ 215 w 698"/>
                  <a:gd name="T31" fmla="*/ 188 h 240"/>
                  <a:gd name="T32" fmla="*/ 179 w 698"/>
                  <a:gd name="T33" fmla="*/ 207 h 240"/>
                  <a:gd name="T34" fmla="*/ 146 w 698"/>
                  <a:gd name="T35" fmla="*/ 224 h 240"/>
                  <a:gd name="T36" fmla="*/ 121 w 698"/>
                  <a:gd name="T37" fmla="*/ 240 h 240"/>
                  <a:gd name="T38" fmla="*/ 60 w 698"/>
                  <a:gd name="T39" fmla="*/ 240 h 240"/>
                  <a:gd name="T40" fmla="*/ 0 w 698"/>
                  <a:gd name="T41" fmla="*/ 240 h 240"/>
                  <a:gd name="T42" fmla="*/ 41 w 698"/>
                  <a:gd name="T43" fmla="*/ 216 h 240"/>
                  <a:gd name="T44" fmla="*/ 91 w 698"/>
                  <a:gd name="T45" fmla="*/ 190 h 240"/>
                  <a:gd name="T46" fmla="*/ 117 w 698"/>
                  <a:gd name="T47" fmla="*/ 176 h 240"/>
                  <a:gd name="T48" fmla="*/ 146 w 698"/>
                  <a:gd name="T49" fmla="*/ 164 h 240"/>
                  <a:gd name="T50" fmla="*/ 176 w 698"/>
                  <a:gd name="T51" fmla="*/ 152 h 240"/>
                  <a:gd name="T52" fmla="*/ 209 w 698"/>
                  <a:gd name="T53" fmla="*/ 138 h 240"/>
                  <a:gd name="T54" fmla="*/ 276 w 698"/>
                  <a:gd name="T55" fmla="*/ 112 h 240"/>
                  <a:gd name="T56" fmla="*/ 345 w 698"/>
                  <a:gd name="T57" fmla="*/ 88 h 240"/>
                  <a:gd name="T58" fmla="*/ 415 w 698"/>
                  <a:gd name="T59" fmla="*/ 66 h 240"/>
                  <a:gd name="T60" fmla="*/ 489 w 698"/>
                  <a:gd name="T61" fmla="*/ 45 h 240"/>
                  <a:gd name="T62" fmla="*/ 346 w 698"/>
                  <a:gd name="T63" fmla="*/ 45 h 240"/>
                  <a:gd name="T64" fmla="*/ 203 w 698"/>
                  <a:gd name="T65" fmla="*/ 45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8" h="240">
                    <a:moveTo>
                      <a:pt x="203" y="45"/>
                    </a:moveTo>
                    <a:lnTo>
                      <a:pt x="236" y="23"/>
                    </a:lnTo>
                    <a:lnTo>
                      <a:pt x="267" y="0"/>
                    </a:lnTo>
                    <a:lnTo>
                      <a:pt x="483" y="0"/>
                    </a:lnTo>
                    <a:lnTo>
                      <a:pt x="698" y="0"/>
                    </a:lnTo>
                    <a:lnTo>
                      <a:pt x="672" y="18"/>
                    </a:lnTo>
                    <a:lnTo>
                      <a:pt x="646" y="35"/>
                    </a:lnTo>
                    <a:lnTo>
                      <a:pt x="605" y="45"/>
                    </a:lnTo>
                    <a:lnTo>
                      <a:pt x="558" y="59"/>
                    </a:lnTo>
                    <a:lnTo>
                      <a:pt x="510" y="73"/>
                    </a:lnTo>
                    <a:lnTo>
                      <a:pt x="457" y="90"/>
                    </a:lnTo>
                    <a:lnTo>
                      <a:pt x="403" y="109"/>
                    </a:lnTo>
                    <a:lnTo>
                      <a:pt x="353" y="128"/>
                    </a:lnTo>
                    <a:lnTo>
                      <a:pt x="303" y="147"/>
                    </a:lnTo>
                    <a:lnTo>
                      <a:pt x="259" y="167"/>
                    </a:lnTo>
                    <a:lnTo>
                      <a:pt x="215" y="188"/>
                    </a:lnTo>
                    <a:lnTo>
                      <a:pt x="179" y="207"/>
                    </a:lnTo>
                    <a:lnTo>
                      <a:pt x="146" y="224"/>
                    </a:lnTo>
                    <a:lnTo>
                      <a:pt x="121" y="240"/>
                    </a:lnTo>
                    <a:lnTo>
                      <a:pt x="60" y="240"/>
                    </a:lnTo>
                    <a:lnTo>
                      <a:pt x="0" y="240"/>
                    </a:lnTo>
                    <a:lnTo>
                      <a:pt x="41" y="216"/>
                    </a:lnTo>
                    <a:lnTo>
                      <a:pt x="91" y="190"/>
                    </a:lnTo>
                    <a:lnTo>
                      <a:pt x="117" y="176"/>
                    </a:lnTo>
                    <a:lnTo>
                      <a:pt x="146" y="164"/>
                    </a:lnTo>
                    <a:lnTo>
                      <a:pt x="176" y="152"/>
                    </a:lnTo>
                    <a:lnTo>
                      <a:pt x="209" y="138"/>
                    </a:lnTo>
                    <a:lnTo>
                      <a:pt x="276" y="112"/>
                    </a:lnTo>
                    <a:lnTo>
                      <a:pt x="345" y="88"/>
                    </a:lnTo>
                    <a:lnTo>
                      <a:pt x="415" y="66"/>
                    </a:lnTo>
                    <a:lnTo>
                      <a:pt x="489" y="45"/>
                    </a:lnTo>
                    <a:lnTo>
                      <a:pt x="346" y="45"/>
                    </a:lnTo>
                    <a:lnTo>
                      <a:pt x="203" y="45"/>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152" name="Freeform 672"/>
              <p:cNvSpPr>
                <a:spLocks noEditPoints="1"/>
              </p:cNvSpPr>
              <p:nvPr/>
            </p:nvSpPr>
            <p:spPr bwMode="auto">
              <a:xfrm>
                <a:off x="2067" y="3420"/>
                <a:ext cx="316" cy="124"/>
              </a:xfrm>
              <a:custGeom>
                <a:avLst/>
                <a:gdLst>
                  <a:gd name="T0" fmla="*/ 201 w 631"/>
                  <a:gd name="T1" fmla="*/ 103 h 248"/>
                  <a:gd name="T2" fmla="*/ 191 w 631"/>
                  <a:gd name="T3" fmla="*/ 84 h 248"/>
                  <a:gd name="T4" fmla="*/ 212 w 631"/>
                  <a:gd name="T5" fmla="*/ 62 h 248"/>
                  <a:gd name="T6" fmla="*/ 295 w 631"/>
                  <a:gd name="T7" fmla="*/ 27 h 248"/>
                  <a:gd name="T8" fmla="*/ 412 w 631"/>
                  <a:gd name="T9" fmla="*/ 3 h 248"/>
                  <a:gd name="T10" fmla="*/ 524 w 631"/>
                  <a:gd name="T11" fmla="*/ 0 h 248"/>
                  <a:gd name="T12" fmla="*/ 579 w 631"/>
                  <a:gd name="T13" fmla="*/ 3 h 248"/>
                  <a:gd name="T14" fmla="*/ 613 w 631"/>
                  <a:gd name="T15" fmla="*/ 14 h 248"/>
                  <a:gd name="T16" fmla="*/ 629 w 631"/>
                  <a:gd name="T17" fmla="*/ 27 h 248"/>
                  <a:gd name="T18" fmla="*/ 627 w 631"/>
                  <a:gd name="T19" fmla="*/ 43 h 248"/>
                  <a:gd name="T20" fmla="*/ 606 w 631"/>
                  <a:gd name="T21" fmla="*/ 62 h 248"/>
                  <a:gd name="T22" fmla="*/ 558 w 631"/>
                  <a:gd name="T23" fmla="*/ 86 h 248"/>
                  <a:gd name="T24" fmla="*/ 441 w 631"/>
                  <a:gd name="T25" fmla="*/ 112 h 248"/>
                  <a:gd name="T26" fmla="*/ 484 w 631"/>
                  <a:gd name="T27" fmla="*/ 129 h 248"/>
                  <a:gd name="T28" fmla="*/ 484 w 631"/>
                  <a:gd name="T29" fmla="*/ 153 h 248"/>
                  <a:gd name="T30" fmla="*/ 436 w 631"/>
                  <a:gd name="T31" fmla="*/ 188 h 248"/>
                  <a:gd name="T32" fmla="*/ 324 w 631"/>
                  <a:gd name="T33" fmla="*/ 227 h 248"/>
                  <a:gd name="T34" fmla="*/ 188 w 631"/>
                  <a:gd name="T35" fmla="*/ 246 h 248"/>
                  <a:gd name="T36" fmla="*/ 98 w 631"/>
                  <a:gd name="T37" fmla="*/ 246 h 248"/>
                  <a:gd name="T38" fmla="*/ 48 w 631"/>
                  <a:gd name="T39" fmla="*/ 241 h 248"/>
                  <a:gd name="T40" fmla="*/ 15 w 631"/>
                  <a:gd name="T41" fmla="*/ 231 h 248"/>
                  <a:gd name="T42" fmla="*/ 0 w 631"/>
                  <a:gd name="T43" fmla="*/ 214 h 248"/>
                  <a:gd name="T44" fmla="*/ 8 w 631"/>
                  <a:gd name="T45" fmla="*/ 191 h 248"/>
                  <a:gd name="T46" fmla="*/ 45 w 631"/>
                  <a:gd name="T47" fmla="*/ 165 h 248"/>
                  <a:gd name="T48" fmla="*/ 110 w 631"/>
                  <a:gd name="T49" fmla="*/ 138 h 248"/>
                  <a:gd name="T50" fmla="*/ 196 w 631"/>
                  <a:gd name="T51" fmla="*/ 117 h 248"/>
                  <a:gd name="T52" fmla="*/ 326 w 631"/>
                  <a:gd name="T53" fmla="*/ 65 h 248"/>
                  <a:gd name="T54" fmla="*/ 312 w 631"/>
                  <a:gd name="T55" fmla="*/ 84 h 248"/>
                  <a:gd name="T56" fmla="*/ 331 w 631"/>
                  <a:gd name="T57" fmla="*/ 93 h 248"/>
                  <a:gd name="T58" fmla="*/ 394 w 631"/>
                  <a:gd name="T59" fmla="*/ 93 h 248"/>
                  <a:gd name="T60" fmla="*/ 458 w 631"/>
                  <a:gd name="T61" fmla="*/ 79 h 248"/>
                  <a:gd name="T62" fmla="*/ 496 w 631"/>
                  <a:gd name="T63" fmla="*/ 53 h 248"/>
                  <a:gd name="T64" fmla="*/ 486 w 631"/>
                  <a:gd name="T65" fmla="*/ 41 h 248"/>
                  <a:gd name="T66" fmla="*/ 448 w 631"/>
                  <a:gd name="T67" fmla="*/ 36 h 248"/>
                  <a:gd name="T68" fmla="*/ 363 w 631"/>
                  <a:gd name="T69" fmla="*/ 48 h 248"/>
                  <a:gd name="T70" fmla="*/ 326 w 631"/>
                  <a:gd name="T71" fmla="*/ 65 h 248"/>
                  <a:gd name="T72" fmla="*/ 141 w 631"/>
                  <a:gd name="T73" fmla="*/ 188 h 248"/>
                  <a:gd name="T74" fmla="*/ 150 w 631"/>
                  <a:gd name="T75" fmla="*/ 205 h 248"/>
                  <a:gd name="T76" fmla="*/ 193 w 631"/>
                  <a:gd name="T77" fmla="*/ 210 h 248"/>
                  <a:gd name="T78" fmla="*/ 293 w 631"/>
                  <a:gd name="T79" fmla="*/ 195 h 248"/>
                  <a:gd name="T80" fmla="*/ 353 w 631"/>
                  <a:gd name="T81" fmla="*/ 162 h 248"/>
                  <a:gd name="T82" fmla="*/ 357 w 631"/>
                  <a:gd name="T83" fmla="*/ 143 h 248"/>
                  <a:gd name="T84" fmla="*/ 324 w 631"/>
                  <a:gd name="T85" fmla="*/ 133 h 248"/>
                  <a:gd name="T86" fmla="*/ 241 w 631"/>
                  <a:gd name="T87" fmla="*/ 139 h 248"/>
                  <a:gd name="T88" fmla="*/ 186 w 631"/>
                  <a:gd name="T89" fmla="*/ 157 h 248"/>
                  <a:gd name="T90" fmla="*/ 160 w 631"/>
                  <a:gd name="T91" fmla="*/ 17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1" h="248">
                    <a:moveTo>
                      <a:pt x="231" y="112"/>
                    </a:moveTo>
                    <a:lnTo>
                      <a:pt x="214" y="108"/>
                    </a:lnTo>
                    <a:lnTo>
                      <a:pt x="201" y="103"/>
                    </a:lnTo>
                    <a:lnTo>
                      <a:pt x="195" y="98"/>
                    </a:lnTo>
                    <a:lnTo>
                      <a:pt x="191" y="91"/>
                    </a:lnTo>
                    <a:lnTo>
                      <a:pt x="191" y="84"/>
                    </a:lnTo>
                    <a:lnTo>
                      <a:pt x="195" y="77"/>
                    </a:lnTo>
                    <a:lnTo>
                      <a:pt x="201" y="70"/>
                    </a:lnTo>
                    <a:lnTo>
                      <a:pt x="212" y="62"/>
                    </a:lnTo>
                    <a:lnTo>
                      <a:pt x="234" y="50"/>
                    </a:lnTo>
                    <a:lnTo>
                      <a:pt x="262" y="38"/>
                    </a:lnTo>
                    <a:lnTo>
                      <a:pt x="295" y="27"/>
                    </a:lnTo>
                    <a:lnTo>
                      <a:pt x="331" y="17"/>
                    </a:lnTo>
                    <a:lnTo>
                      <a:pt x="370" y="10"/>
                    </a:lnTo>
                    <a:lnTo>
                      <a:pt x="412" y="3"/>
                    </a:lnTo>
                    <a:lnTo>
                      <a:pt x="455" y="2"/>
                    </a:lnTo>
                    <a:lnTo>
                      <a:pt x="501" y="0"/>
                    </a:lnTo>
                    <a:lnTo>
                      <a:pt x="524" y="0"/>
                    </a:lnTo>
                    <a:lnTo>
                      <a:pt x="544" y="2"/>
                    </a:lnTo>
                    <a:lnTo>
                      <a:pt x="562" y="2"/>
                    </a:lnTo>
                    <a:lnTo>
                      <a:pt x="579" y="3"/>
                    </a:lnTo>
                    <a:lnTo>
                      <a:pt x="593" y="7"/>
                    </a:lnTo>
                    <a:lnTo>
                      <a:pt x="605" y="10"/>
                    </a:lnTo>
                    <a:lnTo>
                      <a:pt x="613" y="14"/>
                    </a:lnTo>
                    <a:lnTo>
                      <a:pt x="620" y="17"/>
                    </a:lnTo>
                    <a:lnTo>
                      <a:pt x="625" y="22"/>
                    </a:lnTo>
                    <a:lnTo>
                      <a:pt x="629" y="27"/>
                    </a:lnTo>
                    <a:lnTo>
                      <a:pt x="631" y="33"/>
                    </a:lnTo>
                    <a:lnTo>
                      <a:pt x="629" y="38"/>
                    </a:lnTo>
                    <a:lnTo>
                      <a:pt x="627" y="43"/>
                    </a:lnTo>
                    <a:lnTo>
                      <a:pt x="622" y="50"/>
                    </a:lnTo>
                    <a:lnTo>
                      <a:pt x="615" y="55"/>
                    </a:lnTo>
                    <a:lnTo>
                      <a:pt x="606" y="62"/>
                    </a:lnTo>
                    <a:lnTo>
                      <a:pt x="593" y="70"/>
                    </a:lnTo>
                    <a:lnTo>
                      <a:pt x="577" y="79"/>
                    </a:lnTo>
                    <a:lnTo>
                      <a:pt x="558" y="86"/>
                    </a:lnTo>
                    <a:lnTo>
                      <a:pt x="538" y="93"/>
                    </a:lnTo>
                    <a:lnTo>
                      <a:pt x="491" y="105"/>
                    </a:lnTo>
                    <a:lnTo>
                      <a:pt x="441" y="112"/>
                    </a:lnTo>
                    <a:lnTo>
                      <a:pt x="460" y="117"/>
                    </a:lnTo>
                    <a:lnTo>
                      <a:pt x="474" y="122"/>
                    </a:lnTo>
                    <a:lnTo>
                      <a:pt x="484" y="129"/>
                    </a:lnTo>
                    <a:lnTo>
                      <a:pt x="489" y="136"/>
                    </a:lnTo>
                    <a:lnTo>
                      <a:pt x="489" y="145"/>
                    </a:lnTo>
                    <a:lnTo>
                      <a:pt x="484" y="153"/>
                    </a:lnTo>
                    <a:lnTo>
                      <a:pt x="477" y="162"/>
                    </a:lnTo>
                    <a:lnTo>
                      <a:pt x="463" y="172"/>
                    </a:lnTo>
                    <a:lnTo>
                      <a:pt x="436" y="188"/>
                    </a:lnTo>
                    <a:lnTo>
                      <a:pt x="405" y="203"/>
                    </a:lnTo>
                    <a:lnTo>
                      <a:pt x="367" y="215"/>
                    </a:lnTo>
                    <a:lnTo>
                      <a:pt x="324" y="227"/>
                    </a:lnTo>
                    <a:lnTo>
                      <a:pt x="279" y="236"/>
                    </a:lnTo>
                    <a:lnTo>
                      <a:pt x="234" y="243"/>
                    </a:lnTo>
                    <a:lnTo>
                      <a:pt x="188" y="246"/>
                    </a:lnTo>
                    <a:lnTo>
                      <a:pt x="139" y="248"/>
                    </a:lnTo>
                    <a:lnTo>
                      <a:pt x="117" y="248"/>
                    </a:lnTo>
                    <a:lnTo>
                      <a:pt x="98" y="246"/>
                    </a:lnTo>
                    <a:lnTo>
                      <a:pt x="79" y="246"/>
                    </a:lnTo>
                    <a:lnTo>
                      <a:pt x="64" y="245"/>
                    </a:lnTo>
                    <a:lnTo>
                      <a:pt x="48" y="241"/>
                    </a:lnTo>
                    <a:lnTo>
                      <a:pt x="36" y="239"/>
                    </a:lnTo>
                    <a:lnTo>
                      <a:pt x="24" y="234"/>
                    </a:lnTo>
                    <a:lnTo>
                      <a:pt x="15" y="231"/>
                    </a:lnTo>
                    <a:lnTo>
                      <a:pt x="7" y="226"/>
                    </a:lnTo>
                    <a:lnTo>
                      <a:pt x="2" y="219"/>
                    </a:lnTo>
                    <a:lnTo>
                      <a:pt x="0" y="214"/>
                    </a:lnTo>
                    <a:lnTo>
                      <a:pt x="0" y="207"/>
                    </a:lnTo>
                    <a:lnTo>
                      <a:pt x="3" y="200"/>
                    </a:lnTo>
                    <a:lnTo>
                      <a:pt x="8" y="191"/>
                    </a:lnTo>
                    <a:lnTo>
                      <a:pt x="17" y="182"/>
                    </a:lnTo>
                    <a:lnTo>
                      <a:pt x="29" y="174"/>
                    </a:lnTo>
                    <a:lnTo>
                      <a:pt x="45" y="165"/>
                    </a:lnTo>
                    <a:lnTo>
                      <a:pt x="64" y="157"/>
                    </a:lnTo>
                    <a:lnTo>
                      <a:pt x="86" y="146"/>
                    </a:lnTo>
                    <a:lnTo>
                      <a:pt x="110" y="138"/>
                    </a:lnTo>
                    <a:lnTo>
                      <a:pt x="136" y="131"/>
                    </a:lnTo>
                    <a:lnTo>
                      <a:pt x="165" y="124"/>
                    </a:lnTo>
                    <a:lnTo>
                      <a:pt x="196" y="117"/>
                    </a:lnTo>
                    <a:lnTo>
                      <a:pt x="231" y="112"/>
                    </a:lnTo>
                    <a:lnTo>
                      <a:pt x="231" y="112"/>
                    </a:lnTo>
                    <a:close/>
                    <a:moveTo>
                      <a:pt x="326" y="65"/>
                    </a:moveTo>
                    <a:lnTo>
                      <a:pt x="317" y="72"/>
                    </a:lnTo>
                    <a:lnTo>
                      <a:pt x="313" y="79"/>
                    </a:lnTo>
                    <a:lnTo>
                      <a:pt x="312" y="84"/>
                    </a:lnTo>
                    <a:lnTo>
                      <a:pt x="315" y="88"/>
                    </a:lnTo>
                    <a:lnTo>
                      <a:pt x="322" y="91"/>
                    </a:lnTo>
                    <a:lnTo>
                      <a:pt x="331" y="93"/>
                    </a:lnTo>
                    <a:lnTo>
                      <a:pt x="345" y="95"/>
                    </a:lnTo>
                    <a:lnTo>
                      <a:pt x="360" y="95"/>
                    </a:lnTo>
                    <a:lnTo>
                      <a:pt x="394" y="93"/>
                    </a:lnTo>
                    <a:lnTo>
                      <a:pt x="429" y="88"/>
                    </a:lnTo>
                    <a:lnTo>
                      <a:pt x="444" y="84"/>
                    </a:lnTo>
                    <a:lnTo>
                      <a:pt x="458" y="79"/>
                    </a:lnTo>
                    <a:lnTo>
                      <a:pt x="482" y="65"/>
                    </a:lnTo>
                    <a:lnTo>
                      <a:pt x="491" y="58"/>
                    </a:lnTo>
                    <a:lnTo>
                      <a:pt x="496" y="53"/>
                    </a:lnTo>
                    <a:lnTo>
                      <a:pt x="496" y="48"/>
                    </a:lnTo>
                    <a:lnTo>
                      <a:pt x="493" y="45"/>
                    </a:lnTo>
                    <a:lnTo>
                      <a:pt x="486" y="41"/>
                    </a:lnTo>
                    <a:lnTo>
                      <a:pt x="477" y="38"/>
                    </a:lnTo>
                    <a:lnTo>
                      <a:pt x="463" y="36"/>
                    </a:lnTo>
                    <a:lnTo>
                      <a:pt x="448" y="36"/>
                    </a:lnTo>
                    <a:lnTo>
                      <a:pt x="413" y="38"/>
                    </a:lnTo>
                    <a:lnTo>
                      <a:pt x="379" y="45"/>
                    </a:lnTo>
                    <a:lnTo>
                      <a:pt x="363" y="48"/>
                    </a:lnTo>
                    <a:lnTo>
                      <a:pt x="350" y="53"/>
                    </a:lnTo>
                    <a:lnTo>
                      <a:pt x="326" y="65"/>
                    </a:lnTo>
                    <a:lnTo>
                      <a:pt x="326" y="65"/>
                    </a:lnTo>
                    <a:close/>
                    <a:moveTo>
                      <a:pt x="160" y="170"/>
                    </a:moveTo>
                    <a:lnTo>
                      <a:pt x="148" y="179"/>
                    </a:lnTo>
                    <a:lnTo>
                      <a:pt x="141" y="188"/>
                    </a:lnTo>
                    <a:lnTo>
                      <a:pt x="139" y="195"/>
                    </a:lnTo>
                    <a:lnTo>
                      <a:pt x="143" y="200"/>
                    </a:lnTo>
                    <a:lnTo>
                      <a:pt x="150" y="205"/>
                    </a:lnTo>
                    <a:lnTo>
                      <a:pt x="160" y="208"/>
                    </a:lnTo>
                    <a:lnTo>
                      <a:pt x="174" y="210"/>
                    </a:lnTo>
                    <a:lnTo>
                      <a:pt x="193" y="210"/>
                    </a:lnTo>
                    <a:lnTo>
                      <a:pt x="232" y="208"/>
                    </a:lnTo>
                    <a:lnTo>
                      <a:pt x="272" y="200"/>
                    </a:lnTo>
                    <a:lnTo>
                      <a:pt x="293" y="195"/>
                    </a:lnTo>
                    <a:lnTo>
                      <a:pt x="310" y="188"/>
                    </a:lnTo>
                    <a:lnTo>
                      <a:pt x="343" y="170"/>
                    </a:lnTo>
                    <a:lnTo>
                      <a:pt x="353" y="162"/>
                    </a:lnTo>
                    <a:lnTo>
                      <a:pt x="358" y="155"/>
                    </a:lnTo>
                    <a:lnTo>
                      <a:pt x="360" y="148"/>
                    </a:lnTo>
                    <a:lnTo>
                      <a:pt x="357" y="143"/>
                    </a:lnTo>
                    <a:lnTo>
                      <a:pt x="350" y="138"/>
                    </a:lnTo>
                    <a:lnTo>
                      <a:pt x="339" y="136"/>
                    </a:lnTo>
                    <a:lnTo>
                      <a:pt x="324" y="133"/>
                    </a:lnTo>
                    <a:lnTo>
                      <a:pt x="307" y="133"/>
                    </a:lnTo>
                    <a:lnTo>
                      <a:pt x="262" y="136"/>
                    </a:lnTo>
                    <a:lnTo>
                      <a:pt x="241" y="139"/>
                    </a:lnTo>
                    <a:lnTo>
                      <a:pt x="220" y="145"/>
                    </a:lnTo>
                    <a:lnTo>
                      <a:pt x="201" y="150"/>
                    </a:lnTo>
                    <a:lnTo>
                      <a:pt x="186" y="157"/>
                    </a:lnTo>
                    <a:lnTo>
                      <a:pt x="172" y="164"/>
                    </a:lnTo>
                    <a:lnTo>
                      <a:pt x="160" y="170"/>
                    </a:lnTo>
                    <a:lnTo>
                      <a:pt x="160" y="17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49153" name="Group 673"/>
            <p:cNvGrpSpPr>
              <a:grpSpLocks/>
            </p:cNvGrpSpPr>
            <p:nvPr/>
          </p:nvGrpSpPr>
          <p:grpSpPr bwMode="auto">
            <a:xfrm>
              <a:off x="1794" y="3610"/>
              <a:ext cx="555" cy="138"/>
              <a:chOff x="1811" y="3627"/>
              <a:chExt cx="555" cy="138"/>
            </a:xfrm>
          </p:grpSpPr>
          <p:sp>
            <p:nvSpPr>
              <p:cNvPr id="149154" name="Freeform 674"/>
              <p:cNvSpPr>
                <a:spLocks noEditPoints="1"/>
              </p:cNvSpPr>
              <p:nvPr/>
            </p:nvSpPr>
            <p:spPr bwMode="auto">
              <a:xfrm>
                <a:off x="1831" y="3640"/>
                <a:ext cx="342" cy="125"/>
              </a:xfrm>
              <a:custGeom>
                <a:avLst/>
                <a:gdLst>
                  <a:gd name="T0" fmla="*/ 134 w 682"/>
                  <a:gd name="T1" fmla="*/ 248 h 248"/>
                  <a:gd name="T2" fmla="*/ 179 w 682"/>
                  <a:gd name="T3" fmla="*/ 224 h 248"/>
                  <a:gd name="T4" fmla="*/ 224 w 682"/>
                  <a:gd name="T5" fmla="*/ 198 h 248"/>
                  <a:gd name="T6" fmla="*/ 112 w 682"/>
                  <a:gd name="T7" fmla="*/ 198 h 248"/>
                  <a:gd name="T8" fmla="*/ 0 w 682"/>
                  <a:gd name="T9" fmla="*/ 198 h 248"/>
                  <a:gd name="T10" fmla="*/ 38 w 682"/>
                  <a:gd name="T11" fmla="*/ 177 h 248"/>
                  <a:gd name="T12" fmla="*/ 74 w 682"/>
                  <a:gd name="T13" fmla="*/ 157 h 248"/>
                  <a:gd name="T14" fmla="*/ 334 w 682"/>
                  <a:gd name="T15" fmla="*/ 79 h 248"/>
                  <a:gd name="T16" fmla="*/ 594 w 682"/>
                  <a:gd name="T17" fmla="*/ 0 h 248"/>
                  <a:gd name="T18" fmla="*/ 682 w 682"/>
                  <a:gd name="T19" fmla="*/ 0 h 248"/>
                  <a:gd name="T20" fmla="*/ 541 w 682"/>
                  <a:gd name="T21" fmla="*/ 79 h 248"/>
                  <a:gd name="T22" fmla="*/ 399 w 682"/>
                  <a:gd name="T23" fmla="*/ 157 h 248"/>
                  <a:gd name="T24" fmla="*/ 434 w 682"/>
                  <a:gd name="T25" fmla="*/ 157 h 248"/>
                  <a:gd name="T26" fmla="*/ 468 w 682"/>
                  <a:gd name="T27" fmla="*/ 157 h 248"/>
                  <a:gd name="T28" fmla="*/ 431 w 682"/>
                  <a:gd name="T29" fmla="*/ 177 h 248"/>
                  <a:gd name="T30" fmla="*/ 393 w 682"/>
                  <a:gd name="T31" fmla="*/ 198 h 248"/>
                  <a:gd name="T32" fmla="*/ 325 w 682"/>
                  <a:gd name="T33" fmla="*/ 198 h 248"/>
                  <a:gd name="T34" fmla="*/ 281 w 682"/>
                  <a:gd name="T35" fmla="*/ 224 h 248"/>
                  <a:gd name="T36" fmla="*/ 236 w 682"/>
                  <a:gd name="T37" fmla="*/ 248 h 248"/>
                  <a:gd name="T38" fmla="*/ 184 w 682"/>
                  <a:gd name="T39" fmla="*/ 248 h 248"/>
                  <a:gd name="T40" fmla="*/ 134 w 682"/>
                  <a:gd name="T41" fmla="*/ 248 h 248"/>
                  <a:gd name="T42" fmla="*/ 134 w 682"/>
                  <a:gd name="T43" fmla="*/ 248 h 248"/>
                  <a:gd name="T44" fmla="*/ 298 w 682"/>
                  <a:gd name="T45" fmla="*/ 157 h 248"/>
                  <a:gd name="T46" fmla="*/ 375 w 682"/>
                  <a:gd name="T47" fmla="*/ 115 h 248"/>
                  <a:gd name="T48" fmla="*/ 451 w 682"/>
                  <a:gd name="T49" fmla="*/ 72 h 248"/>
                  <a:gd name="T50" fmla="*/ 312 w 682"/>
                  <a:gd name="T51" fmla="*/ 114 h 248"/>
                  <a:gd name="T52" fmla="*/ 174 w 682"/>
                  <a:gd name="T53" fmla="*/ 157 h 248"/>
                  <a:gd name="T54" fmla="*/ 298 w 682"/>
                  <a:gd name="T55" fmla="*/ 157 h 248"/>
                  <a:gd name="T56" fmla="*/ 298 w 682"/>
                  <a:gd name="T57" fmla="*/ 157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2" h="248">
                    <a:moveTo>
                      <a:pt x="134" y="248"/>
                    </a:moveTo>
                    <a:lnTo>
                      <a:pt x="179" y="224"/>
                    </a:lnTo>
                    <a:lnTo>
                      <a:pt x="224" y="198"/>
                    </a:lnTo>
                    <a:lnTo>
                      <a:pt x="112" y="198"/>
                    </a:lnTo>
                    <a:lnTo>
                      <a:pt x="0" y="198"/>
                    </a:lnTo>
                    <a:lnTo>
                      <a:pt x="38" y="177"/>
                    </a:lnTo>
                    <a:lnTo>
                      <a:pt x="74" y="157"/>
                    </a:lnTo>
                    <a:lnTo>
                      <a:pt x="334" y="79"/>
                    </a:lnTo>
                    <a:lnTo>
                      <a:pt x="594" y="0"/>
                    </a:lnTo>
                    <a:lnTo>
                      <a:pt x="682" y="0"/>
                    </a:lnTo>
                    <a:lnTo>
                      <a:pt x="541" y="79"/>
                    </a:lnTo>
                    <a:lnTo>
                      <a:pt x="399" y="157"/>
                    </a:lnTo>
                    <a:lnTo>
                      <a:pt x="434" y="157"/>
                    </a:lnTo>
                    <a:lnTo>
                      <a:pt x="468" y="157"/>
                    </a:lnTo>
                    <a:lnTo>
                      <a:pt x="431" y="177"/>
                    </a:lnTo>
                    <a:lnTo>
                      <a:pt x="393" y="198"/>
                    </a:lnTo>
                    <a:lnTo>
                      <a:pt x="325" y="198"/>
                    </a:lnTo>
                    <a:lnTo>
                      <a:pt x="281" y="224"/>
                    </a:lnTo>
                    <a:lnTo>
                      <a:pt x="236" y="248"/>
                    </a:lnTo>
                    <a:lnTo>
                      <a:pt x="184" y="248"/>
                    </a:lnTo>
                    <a:lnTo>
                      <a:pt x="134" y="248"/>
                    </a:lnTo>
                    <a:lnTo>
                      <a:pt x="134" y="248"/>
                    </a:lnTo>
                    <a:close/>
                    <a:moveTo>
                      <a:pt x="298" y="157"/>
                    </a:moveTo>
                    <a:lnTo>
                      <a:pt x="375" y="115"/>
                    </a:lnTo>
                    <a:lnTo>
                      <a:pt x="451" y="72"/>
                    </a:lnTo>
                    <a:lnTo>
                      <a:pt x="312" y="114"/>
                    </a:lnTo>
                    <a:lnTo>
                      <a:pt x="174" y="157"/>
                    </a:lnTo>
                    <a:lnTo>
                      <a:pt x="298" y="157"/>
                    </a:lnTo>
                    <a:lnTo>
                      <a:pt x="298" y="15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155" name="Freeform 675"/>
              <p:cNvSpPr>
                <a:spLocks/>
              </p:cNvSpPr>
              <p:nvPr/>
            </p:nvSpPr>
            <p:spPr bwMode="auto">
              <a:xfrm>
                <a:off x="2090" y="3640"/>
                <a:ext cx="276" cy="125"/>
              </a:xfrm>
              <a:custGeom>
                <a:avLst/>
                <a:gdLst>
                  <a:gd name="T0" fmla="*/ 103 w 551"/>
                  <a:gd name="T1" fmla="*/ 248 h 248"/>
                  <a:gd name="T2" fmla="*/ 0 w 551"/>
                  <a:gd name="T3" fmla="*/ 248 h 248"/>
                  <a:gd name="T4" fmla="*/ 160 w 551"/>
                  <a:gd name="T5" fmla="*/ 158 h 248"/>
                  <a:gd name="T6" fmla="*/ 320 w 551"/>
                  <a:gd name="T7" fmla="*/ 69 h 248"/>
                  <a:gd name="T8" fmla="*/ 270 w 551"/>
                  <a:gd name="T9" fmla="*/ 81 h 248"/>
                  <a:gd name="T10" fmla="*/ 220 w 551"/>
                  <a:gd name="T11" fmla="*/ 91 h 248"/>
                  <a:gd name="T12" fmla="*/ 170 w 551"/>
                  <a:gd name="T13" fmla="*/ 98 h 248"/>
                  <a:gd name="T14" fmla="*/ 120 w 551"/>
                  <a:gd name="T15" fmla="*/ 105 h 248"/>
                  <a:gd name="T16" fmla="*/ 160 w 551"/>
                  <a:gd name="T17" fmla="*/ 84 h 248"/>
                  <a:gd name="T18" fmla="*/ 198 w 551"/>
                  <a:gd name="T19" fmla="*/ 62 h 248"/>
                  <a:gd name="T20" fmla="*/ 225 w 551"/>
                  <a:gd name="T21" fmla="*/ 59 h 248"/>
                  <a:gd name="T22" fmla="*/ 256 w 551"/>
                  <a:gd name="T23" fmla="*/ 53 h 248"/>
                  <a:gd name="T24" fmla="*/ 291 w 551"/>
                  <a:gd name="T25" fmla="*/ 48 h 248"/>
                  <a:gd name="T26" fmla="*/ 329 w 551"/>
                  <a:gd name="T27" fmla="*/ 40 h 248"/>
                  <a:gd name="T28" fmla="*/ 367 w 551"/>
                  <a:gd name="T29" fmla="*/ 31 h 248"/>
                  <a:gd name="T30" fmla="*/ 403 w 551"/>
                  <a:gd name="T31" fmla="*/ 21 h 248"/>
                  <a:gd name="T32" fmla="*/ 436 w 551"/>
                  <a:gd name="T33" fmla="*/ 10 h 248"/>
                  <a:gd name="T34" fmla="*/ 465 w 551"/>
                  <a:gd name="T35" fmla="*/ 0 h 248"/>
                  <a:gd name="T36" fmla="*/ 508 w 551"/>
                  <a:gd name="T37" fmla="*/ 0 h 248"/>
                  <a:gd name="T38" fmla="*/ 551 w 551"/>
                  <a:gd name="T39" fmla="*/ 0 h 248"/>
                  <a:gd name="T40" fmla="*/ 327 w 551"/>
                  <a:gd name="T41" fmla="*/ 124 h 248"/>
                  <a:gd name="T42" fmla="*/ 103 w 551"/>
                  <a:gd name="T43" fmla="*/ 24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51" h="248">
                    <a:moveTo>
                      <a:pt x="103" y="248"/>
                    </a:moveTo>
                    <a:lnTo>
                      <a:pt x="0" y="248"/>
                    </a:lnTo>
                    <a:lnTo>
                      <a:pt x="160" y="158"/>
                    </a:lnTo>
                    <a:lnTo>
                      <a:pt x="320" y="69"/>
                    </a:lnTo>
                    <a:lnTo>
                      <a:pt x="270" y="81"/>
                    </a:lnTo>
                    <a:lnTo>
                      <a:pt x="220" y="91"/>
                    </a:lnTo>
                    <a:lnTo>
                      <a:pt x="170" y="98"/>
                    </a:lnTo>
                    <a:lnTo>
                      <a:pt x="120" y="105"/>
                    </a:lnTo>
                    <a:lnTo>
                      <a:pt x="160" y="84"/>
                    </a:lnTo>
                    <a:lnTo>
                      <a:pt x="198" y="62"/>
                    </a:lnTo>
                    <a:lnTo>
                      <a:pt x="225" y="59"/>
                    </a:lnTo>
                    <a:lnTo>
                      <a:pt x="256" y="53"/>
                    </a:lnTo>
                    <a:lnTo>
                      <a:pt x="291" y="48"/>
                    </a:lnTo>
                    <a:lnTo>
                      <a:pt x="329" y="40"/>
                    </a:lnTo>
                    <a:lnTo>
                      <a:pt x="367" y="31"/>
                    </a:lnTo>
                    <a:lnTo>
                      <a:pt x="403" y="21"/>
                    </a:lnTo>
                    <a:lnTo>
                      <a:pt x="436" y="10"/>
                    </a:lnTo>
                    <a:lnTo>
                      <a:pt x="465" y="0"/>
                    </a:lnTo>
                    <a:lnTo>
                      <a:pt x="508" y="0"/>
                    </a:lnTo>
                    <a:lnTo>
                      <a:pt x="551" y="0"/>
                    </a:lnTo>
                    <a:lnTo>
                      <a:pt x="327" y="124"/>
                    </a:lnTo>
                    <a:lnTo>
                      <a:pt x="103" y="24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156" name="Freeform 676"/>
              <p:cNvSpPr>
                <a:spLocks noEditPoints="1"/>
              </p:cNvSpPr>
              <p:nvPr/>
            </p:nvSpPr>
            <p:spPr bwMode="auto">
              <a:xfrm>
                <a:off x="1811" y="3627"/>
                <a:ext cx="341" cy="124"/>
              </a:xfrm>
              <a:custGeom>
                <a:avLst/>
                <a:gdLst>
                  <a:gd name="T0" fmla="*/ 135 w 683"/>
                  <a:gd name="T1" fmla="*/ 249 h 249"/>
                  <a:gd name="T2" fmla="*/ 180 w 683"/>
                  <a:gd name="T3" fmla="*/ 224 h 249"/>
                  <a:gd name="T4" fmla="*/ 224 w 683"/>
                  <a:gd name="T5" fmla="*/ 199 h 249"/>
                  <a:gd name="T6" fmla="*/ 112 w 683"/>
                  <a:gd name="T7" fmla="*/ 199 h 249"/>
                  <a:gd name="T8" fmla="*/ 0 w 683"/>
                  <a:gd name="T9" fmla="*/ 199 h 249"/>
                  <a:gd name="T10" fmla="*/ 38 w 683"/>
                  <a:gd name="T11" fmla="*/ 178 h 249"/>
                  <a:gd name="T12" fmla="*/ 74 w 683"/>
                  <a:gd name="T13" fmla="*/ 157 h 249"/>
                  <a:gd name="T14" fmla="*/ 335 w 683"/>
                  <a:gd name="T15" fmla="*/ 80 h 249"/>
                  <a:gd name="T16" fmla="*/ 595 w 683"/>
                  <a:gd name="T17" fmla="*/ 0 h 249"/>
                  <a:gd name="T18" fmla="*/ 683 w 683"/>
                  <a:gd name="T19" fmla="*/ 0 h 249"/>
                  <a:gd name="T20" fmla="*/ 541 w 683"/>
                  <a:gd name="T21" fmla="*/ 80 h 249"/>
                  <a:gd name="T22" fmla="*/ 400 w 683"/>
                  <a:gd name="T23" fmla="*/ 157 h 249"/>
                  <a:gd name="T24" fmla="*/ 435 w 683"/>
                  <a:gd name="T25" fmla="*/ 157 h 249"/>
                  <a:gd name="T26" fmla="*/ 469 w 683"/>
                  <a:gd name="T27" fmla="*/ 157 h 249"/>
                  <a:gd name="T28" fmla="*/ 431 w 683"/>
                  <a:gd name="T29" fmla="*/ 178 h 249"/>
                  <a:gd name="T30" fmla="*/ 393 w 683"/>
                  <a:gd name="T31" fmla="*/ 199 h 249"/>
                  <a:gd name="T32" fmla="*/ 326 w 683"/>
                  <a:gd name="T33" fmla="*/ 199 h 249"/>
                  <a:gd name="T34" fmla="*/ 281 w 683"/>
                  <a:gd name="T35" fmla="*/ 224 h 249"/>
                  <a:gd name="T36" fmla="*/ 236 w 683"/>
                  <a:gd name="T37" fmla="*/ 249 h 249"/>
                  <a:gd name="T38" fmla="*/ 185 w 683"/>
                  <a:gd name="T39" fmla="*/ 249 h 249"/>
                  <a:gd name="T40" fmla="*/ 135 w 683"/>
                  <a:gd name="T41" fmla="*/ 249 h 249"/>
                  <a:gd name="T42" fmla="*/ 135 w 683"/>
                  <a:gd name="T43" fmla="*/ 249 h 249"/>
                  <a:gd name="T44" fmla="*/ 298 w 683"/>
                  <a:gd name="T45" fmla="*/ 157 h 249"/>
                  <a:gd name="T46" fmla="*/ 376 w 683"/>
                  <a:gd name="T47" fmla="*/ 116 h 249"/>
                  <a:gd name="T48" fmla="*/ 452 w 683"/>
                  <a:gd name="T49" fmla="*/ 73 h 249"/>
                  <a:gd name="T50" fmla="*/ 312 w 683"/>
                  <a:gd name="T51" fmla="*/ 114 h 249"/>
                  <a:gd name="T52" fmla="*/ 174 w 683"/>
                  <a:gd name="T53" fmla="*/ 157 h 249"/>
                  <a:gd name="T54" fmla="*/ 298 w 683"/>
                  <a:gd name="T55" fmla="*/ 157 h 249"/>
                  <a:gd name="T56" fmla="*/ 298 w 683"/>
                  <a:gd name="T57" fmla="*/ 15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3" h="249">
                    <a:moveTo>
                      <a:pt x="135" y="249"/>
                    </a:moveTo>
                    <a:lnTo>
                      <a:pt x="180" y="224"/>
                    </a:lnTo>
                    <a:lnTo>
                      <a:pt x="224" y="199"/>
                    </a:lnTo>
                    <a:lnTo>
                      <a:pt x="112" y="199"/>
                    </a:lnTo>
                    <a:lnTo>
                      <a:pt x="0" y="199"/>
                    </a:lnTo>
                    <a:lnTo>
                      <a:pt x="38" y="178"/>
                    </a:lnTo>
                    <a:lnTo>
                      <a:pt x="74" y="157"/>
                    </a:lnTo>
                    <a:lnTo>
                      <a:pt x="335" y="80"/>
                    </a:lnTo>
                    <a:lnTo>
                      <a:pt x="595" y="0"/>
                    </a:lnTo>
                    <a:lnTo>
                      <a:pt x="683" y="0"/>
                    </a:lnTo>
                    <a:lnTo>
                      <a:pt x="541" y="80"/>
                    </a:lnTo>
                    <a:lnTo>
                      <a:pt x="400" y="157"/>
                    </a:lnTo>
                    <a:lnTo>
                      <a:pt x="435" y="157"/>
                    </a:lnTo>
                    <a:lnTo>
                      <a:pt x="469" y="157"/>
                    </a:lnTo>
                    <a:lnTo>
                      <a:pt x="431" y="178"/>
                    </a:lnTo>
                    <a:lnTo>
                      <a:pt x="393" y="199"/>
                    </a:lnTo>
                    <a:lnTo>
                      <a:pt x="326" y="199"/>
                    </a:lnTo>
                    <a:lnTo>
                      <a:pt x="281" y="224"/>
                    </a:lnTo>
                    <a:lnTo>
                      <a:pt x="236" y="249"/>
                    </a:lnTo>
                    <a:lnTo>
                      <a:pt x="185" y="249"/>
                    </a:lnTo>
                    <a:lnTo>
                      <a:pt x="135" y="249"/>
                    </a:lnTo>
                    <a:lnTo>
                      <a:pt x="135" y="249"/>
                    </a:lnTo>
                    <a:close/>
                    <a:moveTo>
                      <a:pt x="298" y="157"/>
                    </a:moveTo>
                    <a:lnTo>
                      <a:pt x="376" y="116"/>
                    </a:lnTo>
                    <a:lnTo>
                      <a:pt x="452" y="73"/>
                    </a:lnTo>
                    <a:lnTo>
                      <a:pt x="312" y="114"/>
                    </a:lnTo>
                    <a:lnTo>
                      <a:pt x="174" y="157"/>
                    </a:lnTo>
                    <a:lnTo>
                      <a:pt x="298" y="157"/>
                    </a:lnTo>
                    <a:lnTo>
                      <a:pt x="298" y="157"/>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157" name="Freeform 677"/>
              <p:cNvSpPr>
                <a:spLocks/>
              </p:cNvSpPr>
              <p:nvPr/>
            </p:nvSpPr>
            <p:spPr bwMode="auto">
              <a:xfrm>
                <a:off x="2069" y="3627"/>
                <a:ext cx="276" cy="124"/>
              </a:xfrm>
              <a:custGeom>
                <a:avLst/>
                <a:gdLst>
                  <a:gd name="T0" fmla="*/ 104 w 552"/>
                  <a:gd name="T1" fmla="*/ 249 h 249"/>
                  <a:gd name="T2" fmla="*/ 0 w 552"/>
                  <a:gd name="T3" fmla="*/ 249 h 249"/>
                  <a:gd name="T4" fmla="*/ 161 w 552"/>
                  <a:gd name="T5" fmla="*/ 159 h 249"/>
                  <a:gd name="T6" fmla="*/ 321 w 552"/>
                  <a:gd name="T7" fmla="*/ 69 h 249"/>
                  <a:gd name="T8" fmla="*/ 271 w 552"/>
                  <a:gd name="T9" fmla="*/ 81 h 249"/>
                  <a:gd name="T10" fmla="*/ 221 w 552"/>
                  <a:gd name="T11" fmla="*/ 92 h 249"/>
                  <a:gd name="T12" fmla="*/ 171 w 552"/>
                  <a:gd name="T13" fmla="*/ 99 h 249"/>
                  <a:gd name="T14" fmla="*/ 121 w 552"/>
                  <a:gd name="T15" fmla="*/ 105 h 249"/>
                  <a:gd name="T16" fmla="*/ 161 w 552"/>
                  <a:gd name="T17" fmla="*/ 85 h 249"/>
                  <a:gd name="T18" fmla="*/ 198 w 552"/>
                  <a:gd name="T19" fmla="*/ 62 h 249"/>
                  <a:gd name="T20" fmla="*/ 226 w 552"/>
                  <a:gd name="T21" fmla="*/ 59 h 249"/>
                  <a:gd name="T22" fmla="*/ 257 w 552"/>
                  <a:gd name="T23" fmla="*/ 54 h 249"/>
                  <a:gd name="T24" fmla="*/ 292 w 552"/>
                  <a:gd name="T25" fmla="*/ 49 h 249"/>
                  <a:gd name="T26" fmla="*/ 329 w 552"/>
                  <a:gd name="T27" fmla="*/ 40 h 249"/>
                  <a:gd name="T28" fmla="*/ 367 w 552"/>
                  <a:gd name="T29" fmla="*/ 31 h 249"/>
                  <a:gd name="T30" fmla="*/ 404 w 552"/>
                  <a:gd name="T31" fmla="*/ 21 h 249"/>
                  <a:gd name="T32" fmla="*/ 436 w 552"/>
                  <a:gd name="T33" fmla="*/ 11 h 249"/>
                  <a:gd name="T34" fmla="*/ 466 w 552"/>
                  <a:gd name="T35" fmla="*/ 0 h 249"/>
                  <a:gd name="T36" fmla="*/ 509 w 552"/>
                  <a:gd name="T37" fmla="*/ 0 h 249"/>
                  <a:gd name="T38" fmla="*/ 552 w 552"/>
                  <a:gd name="T39" fmla="*/ 0 h 249"/>
                  <a:gd name="T40" fmla="*/ 328 w 552"/>
                  <a:gd name="T41" fmla="*/ 124 h 249"/>
                  <a:gd name="T42" fmla="*/ 104 w 552"/>
                  <a:gd name="T43" fmla="*/ 249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52" h="249">
                    <a:moveTo>
                      <a:pt x="104" y="249"/>
                    </a:moveTo>
                    <a:lnTo>
                      <a:pt x="0" y="249"/>
                    </a:lnTo>
                    <a:lnTo>
                      <a:pt x="161" y="159"/>
                    </a:lnTo>
                    <a:lnTo>
                      <a:pt x="321" y="69"/>
                    </a:lnTo>
                    <a:lnTo>
                      <a:pt x="271" y="81"/>
                    </a:lnTo>
                    <a:lnTo>
                      <a:pt x="221" y="92"/>
                    </a:lnTo>
                    <a:lnTo>
                      <a:pt x="171" y="99"/>
                    </a:lnTo>
                    <a:lnTo>
                      <a:pt x="121" y="105"/>
                    </a:lnTo>
                    <a:lnTo>
                      <a:pt x="161" y="85"/>
                    </a:lnTo>
                    <a:lnTo>
                      <a:pt x="198" y="62"/>
                    </a:lnTo>
                    <a:lnTo>
                      <a:pt x="226" y="59"/>
                    </a:lnTo>
                    <a:lnTo>
                      <a:pt x="257" y="54"/>
                    </a:lnTo>
                    <a:lnTo>
                      <a:pt x="292" y="49"/>
                    </a:lnTo>
                    <a:lnTo>
                      <a:pt x="329" y="40"/>
                    </a:lnTo>
                    <a:lnTo>
                      <a:pt x="367" y="31"/>
                    </a:lnTo>
                    <a:lnTo>
                      <a:pt x="404" y="21"/>
                    </a:lnTo>
                    <a:lnTo>
                      <a:pt x="436" y="11"/>
                    </a:lnTo>
                    <a:lnTo>
                      <a:pt x="466" y="0"/>
                    </a:lnTo>
                    <a:lnTo>
                      <a:pt x="509" y="0"/>
                    </a:lnTo>
                    <a:lnTo>
                      <a:pt x="552" y="0"/>
                    </a:lnTo>
                    <a:lnTo>
                      <a:pt x="328" y="124"/>
                    </a:lnTo>
                    <a:lnTo>
                      <a:pt x="104" y="249"/>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49158" name="Group 678"/>
            <p:cNvGrpSpPr>
              <a:grpSpLocks/>
            </p:cNvGrpSpPr>
            <p:nvPr/>
          </p:nvGrpSpPr>
          <p:grpSpPr bwMode="auto">
            <a:xfrm>
              <a:off x="1253" y="2907"/>
              <a:ext cx="1461" cy="262"/>
              <a:chOff x="1270" y="2924"/>
              <a:chExt cx="1461" cy="262"/>
            </a:xfrm>
          </p:grpSpPr>
          <p:sp>
            <p:nvSpPr>
              <p:cNvPr id="149159" name="Freeform 679"/>
              <p:cNvSpPr>
                <a:spLocks/>
              </p:cNvSpPr>
              <p:nvPr/>
            </p:nvSpPr>
            <p:spPr bwMode="auto">
              <a:xfrm>
                <a:off x="1283" y="2937"/>
                <a:ext cx="1448" cy="249"/>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160" name="Group 680"/>
              <p:cNvGrpSpPr>
                <a:grpSpLocks/>
              </p:cNvGrpSpPr>
              <p:nvPr/>
            </p:nvGrpSpPr>
            <p:grpSpPr bwMode="auto">
              <a:xfrm>
                <a:off x="1270" y="2924"/>
                <a:ext cx="1448" cy="249"/>
                <a:chOff x="1270" y="2924"/>
                <a:chExt cx="1448" cy="249"/>
              </a:xfrm>
            </p:grpSpPr>
            <p:pic>
              <p:nvPicPr>
                <p:cNvPr id="149161" name="Picture 68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0" y="2924"/>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162" name="Picture 68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7" y="2924"/>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163" name="Freeform 683"/>
                <p:cNvSpPr>
                  <a:spLocks/>
                </p:cNvSpPr>
                <p:nvPr/>
              </p:nvSpPr>
              <p:spPr bwMode="auto">
                <a:xfrm>
                  <a:off x="1270" y="2924"/>
                  <a:ext cx="1447"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164" name="Freeform 684"/>
                <p:cNvSpPr>
                  <a:spLocks/>
                </p:cNvSpPr>
                <p:nvPr/>
              </p:nvSpPr>
              <p:spPr bwMode="auto">
                <a:xfrm>
                  <a:off x="1270" y="2924"/>
                  <a:ext cx="1447"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165" name="Picture 68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0" y="2924"/>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166" name="Picture 68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7" y="2924"/>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167" name="Freeform 687"/>
              <p:cNvSpPr>
                <a:spLocks/>
              </p:cNvSpPr>
              <p:nvPr/>
            </p:nvSpPr>
            <p:spPr bwMode="auto">
              <a:xfrm>
                <a:off x="1270" y="2924"/>
                <a:ext cx="1447"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168" name="Group 688"/>
            <p:cNvGrpSpPr>
              <a:grpSpLocks/>
            </p:cNvGrpSpPr>
            <p:nvPr/>
          </p:nvGrpSpPr>
          <p:grpSpPr bwMode="auto">
            <a:xfrm>
              <a:off x="1046" y="3816"/>
              <a:ext cx="1655" cy="84"/>
              <a:chOff x="1063" y="3833"/>
              <a:chExt cx="1655" cy="84"/>
            </a:xfrm>
          </p:grpSpPr>
          <p:grpSp>
            <p:nvGrpSpPr>
              <p:cNvPr id="149169" name="Group 689"/>
              <p:cNvGrpSpPr>
                <a:grpSpLocks/>
              </p:cNvGrpSpPr>
              <p:nvPr/>
            </p:nvGrpSpPr>
            <p:grpSpPr bwMode="auto">
              <a:xfrm>
                <a:off x="1063" y="3833"/>
                <a:ext cx="1654" cy="83"/>
                <a:chOff x="1063" y="3833"/>
                <a:chExt cx="1654" cy="83"/>
              </a:xfrm>
            </p:grpSpPr>
            <p:sp>
              <p:nvSpPr>
                <p:cNvPr id="149170" name="Rectangle 690"/>
                <p:cNvSpPr>
                  <a:spLocks noChangeArrowheads="1"/>
                </p:cNvSpPr>
                <p:nvPr/>
              </p:nvSpPr>
              <p:spPr bwMode="auto">
                <a:xfrm>
                  <a:off x="1063" y="3833"/>
                  <a:ext cx="1654" cy="2"/>
                </a:xfrm>
                <a:prstGeom prst="rect">
                  <a:avLst/>
                </a:prstGeom>
                <a:solidFill>
                  <a:srgbClr val="FEFE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71" name="Rectangle 691"/>
                <p:cNvSpPr>
                  <a:spLocks noChangeArrowheads="1"/>
                </p:cNvSpPr>
                <p:nvPr/>
              </p:nvSpPr>
              <p:spPr bwMode="auto">
                <a:xfrm>
                  <a:off x="1063" y="3835"/>
                  <a:ext cx="1654" cy="2"/>
                </a:xfrm>
                <a:prstGeom prst="rect">
                  <a:avLst/>
                </a:prstGeom>
                <a:solidFill>
                  <a:srgbClr val="FEFE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72" name="Rectangle 692"/>
                <p:cNvSpPr>
                  <a:spLocks noChangeArrowheads="1"/>
                </p:cNvSpPr>
                <p:nvPr/>
              </p:nvSpPr>
              <p:spPr bwMode="auto">
                <a:xfrm>
                  <a:off x="1063" y="3837"/>
                  <a:ext cx="1654" cy="2"/>
                </a:xfrm>
                <a:prstGeom prst="rect">
                  <a:avLst/>
                </a:prstGeom>
                <a:solidFill>
                  <a:srgbClr val="FDFD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73" name="Rectangle 693"/>
                <p:cNvSpPr>
                  <a:spLocks noChangeArrowheads="1"/>
                </p:cNvSpPr>
                <p:nvPr/>
              </p:nvSpPr>
              <p:spPr bwMode="auto">
                <a:xfrm>
                  <a:off x="1063" y="3839"/>
                  <a:ext cx="1654" cy="1"/>
                </a:xfrm>
                <a:prstGeom prst="rect">
                  <a:avLst/>
                </a:prstGeom>
                <a:solidFill>
                  <a:srgbClr val="FCFC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74" name="Rectangle 694"/>
                <p:cNvSpPr>
                  <a:spLocks noChangeArrowheads="1"/>
                </p:cNvSpPr>
                <p:nvPr/>
              </p:nvSpPr>
              <p:spPr bwMode="auto">
                <a:xfrm>
                  <a:off x="1063" y="3840"/>
                  <a:ext cx="1654" cy="2"/>
                </a:xfrm>
                <a:prstGeom prst="rect">
                  <a:avLst/>
                </a:prstGeom>
                <a:solidFill>
                  <a:srgbClr val="FBFB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75" name="Rectangle 695"/>
                <p:cNvSpPr>
                  <a:spLocks noChangeArrowheads="1"/>
                </p:cNvSpPr>
                <p:nvPr/>
              </p:nvSpPr>
              <p:spPr bwMode="auto">
                <a:xfrm>
                  <a:off x="1063" y="3842"/>
                  <a:ext cx="1654" cy="2"/>
                </a:xfrm>
                <a:prstGeom prst="rect">
                  <a:avLst/>
                </a:prstGeom>
                <a:solidFill>
                  <a:srgbClr val="FAFA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76" name="Rectangle 696"/>
                <p:cNvSpPr>
                  <a:spLocks noChangeArrowheads="1"/>
                </p:cNvSpPr>
                <p:nvPr/>
              </p:nvSpPr>
              <p:spPr bwMode="auto">
                <a:xfrm>
                  <a:off x="1063" y="3844"/>
                  <a:ext cx="1654" cy="2"/>
                </a:xfrm>
                <a:prstGeom prst="rect">
                  <a:avLst/>
                </a:prstGeom>
                <a:solidFill>
                  <a:srgbClr val="F9F9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77" name="Rectangle 697"/>
                <p:cNvSpPr>
                  <a:spLocks noChangeArrowheads="1"/>
                </p:cNvSpPr>
                <p:nvPr/>
              </p:nvSpPr>
              <p:spPr bwMode="auto">
                <a:xfrm>
                  <a:off x="1063" y="3846"/>
                  <a:ext cx="1654" cy="1"/>
                </a:xfrm>
                <a:prstGeom prst="rect">
                  <a:avLst/>
                </a:prstGeom>
                <a:solidFill>
                  <a:srgbClr val="F8F8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78" name="Rectangle 698"/>
                <p:cNvSpPr>
                  <a:spLocks noChangeArrowheads="1"/>
                </p:cNvSpPr>
                <p:nvPr/>
              </p:nvSpPr>
              <p:spPr bwMode="auto">
                <a:xfrm>
                  <a:off x="1063" y="3847"/>
                  <a:ext cx="1654" cy="2"/>
                </a:xfrm>
                <a:prstGeom prst="rect">
                  <a:avLst/>
                </a:prstGeom>
                <a:solidFill>
                  <a:srgbClr val="F6F6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79" name="Rectangle 699"/>
                <p:cNvSpPr>
                  <a:spLocks noChangeArrowheads="1"/>
                </p:cNvSpPr>
                <p:nvPr/>
              </p:nvSpPr>
              <p:spPr bwMode="auto">
                <a:xfrm>
                  <a:off x="1063" y="3849"/>
                  <a:ext cx="1654" cy="2"/>
                </a:xfrm>
                <a:prstGeom prst="rect">
                  <a:avLst/>
                </a:prstGeom>
                <a:solidFill>
                  <a:srgbClr val="F5F5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80" name="Rectangle 700"/>
                <p:cNvSpPr>
                  <a:spLocks noChangeArrowheads="1"/>
                </p:cNvSpPr>
                <p:nvPr/>
              </p:nvSpPr>
              <p:spPr bwMode="auto">
                <a:xfrm>
                  <a:off x="1063" y="3851"/>
                  <a:ext cx="1654" cy="1"/>
                </a:xfrm>
                <a:prstGeom prst="rect">
                  <a:avLst/>
                </a:prstGeom>
                <a:solidFill>
                  <a:srgbClr val="F3F3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81" name="Rectangle 701"/>
                <p:cNvSpPr>
                  <a:spLocks noChangeArrowheads="1"/>
                </p:cNvSpPr>
                <p:nvPr/>
              </p:nvSpPr>
              <p:spPr bwMode="auto">
                <a:xfrm>
                  <a:off x="1063" y="3852"/>
                  <a:ext cx="1654" cy="2"/>
                </a:xfrm>
                <a:prstGeom prst="rect">
                  <a:avLst/>
                </a:prstGeom>
                <a:solidFill>
                  <a:srgbClr val="F1F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82" name="Rectangle 702"/>
                <p:cNvSpPr>
                  <a:spLocks noChangeArrowheads="1"/>
                </p:cNvSpPr>
                <p:nvPr/>
              </p:nvSpPr>
              <p:spPr bwMode="auto">
                <a:xfrm>
                  <a:off x="1063" y="3854"/>
                  <a:ext cx="1654" cy="2"/>
                </a:xfrm>
                <a:prstGeom prst="rect">
                  <a:avLst/>
                </a:prstGeom>
                <a:solidFill>
                  <a:srgbClr val="EFE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83" name="Rectangle 703"/>
                <p:cNvSpPr>
                  <a:spLocks noChangeArrowheads="1"/>
                </p:cNvSpPr>
                <p:nvPr/>
              </p:nvSpPr>
              <p:spPr bwMode="auto">
                <a:xfrm>
                  <a:off x="1063" y="3856"/>
                  <a:ext cx="1654" cy="2"/>
                </a:xfrm>
                <a:prstGeom prst="rect">
                  <a:avLst/>
                </a:prstGeom>
                <a:solidFill>
                  <a:srgbClr val="ECECB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84" name="Rectangle 704"/>
                <p:cNvSpPr>
                  <a:spLocks noChangeArrowheads="1"/>
                </p:cNvSpPr>
                <p:nvPr/>
              </p:nvSpPr>
              <p:spPr bwMode="auto">
                <a:xfrm>
                  <a:off x="1063" y="3858"/>
                  <a:ext cx="1654" cy="1"/>
                </a:xfrm>
                <a:prstGeom prst="rect">
                  <a:avLst/>
                </a:prstGeom>
                <a:solidFill>
                  <a:srgbClr val="EAEAB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85" name="Rectangle 705"/>
                <p:cNvSpPr>
                  <a:spLocks noChangeArrowheads="1"/>
                </p:cNvSpPr>
                <p:nvPr/>
              </p:nvSpPr>
              <p:spPr bwMode="auto">
                <a:xfrm>
                  <a:off x="1063" y="3859"/>
                  <a:ext cx="1654" cy="2"/>
                </a:xfrm>
                <a:prstGeom prst="rect">
                  <a:avLst/>
                </a:prstGeom>
                <a:solidFill>
                  <a:srgbClr val="E7E7B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86" name="Rectangle 706"/>
                <p:cNvSpPr>
                  <a:spLocks noChangeArrowheads="1"/>
                </p:cNvSpPr>
                <p:nvPr/>
              </p:nvSpPr>
              <p:spPr bwMode="auto">
                <a:xfrm>
                  <a:off x="1063" y="3861"/>
                  <a:ext cx="1654" cy="2"/>
                </a:xfrm>
                <a:prstGeom prst="rect">
                  <a:avLst/>
                </a:prstGeom>
                <a:solidFill>
                  <a:srgbClr val="E3E3B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87" name="Rectangle 707"/>
                <p:cNvSpPr>
                  <a:spLocks noChangeArrowheads="1"/>
                </p:cNvSpPr>
                <p:nvPr/>
              </p:nvSpPr>
              <p:spPr bwMode="auto">
                <a:xfrm>
                  <a:off x="1063" y="3863"/>
                  <a:ext cx="1654" cy="1"/>
                </a:xfrm>
                <a:prstGeom prst="rect">
                  <a:avLst/>
                </a:prstGeom>
                <a:solidFill>
                  <a:srgbClr val="E0E0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88" name="Rectangle 708"/>
                <p:cNvSpPr>
                  <a:spLocks noChangeArrowheads="1"/>
                </p:cNvSpPr>
                <p:nvPr/>
              </p:nvSpPr>
              <p:spPr bwMode="auto">
                <a:xfrm>
                  <a:off x="1063" y="3864"/>
                  <a:ext cx="1654" cy="2"/>
                </a:xfrm>
                <a:prstGeom prst="rect">
                  <a:avLst/>
                </a:prstGeom>
                <a:solidFill>
                  <a:srgbClr val="DDDDB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89" name="Rectangle 709"/>
                <p:cNvSpPr>
                  <a:spLocks noChangeArrowheads="1"/>
                </p:cNvSpPr>
                <p:nvPr/>
              </p:nvSpPr>
              <p:spPr bwMode="auto">
                <a:xfrm>
                  <a:off x="1063" y="3866"/>
                  <a:ext cx="1654" cy="2"/>
                </a:xfrm>
                <a:prstGeom prst="rect">
                  <a:avLst/>
                </a:prstGeom>
                <a:solidFill>
                  <a:srgbClr val="D9D9A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90" name="Rectangle 710"/>
                <p:cNvSpPr>
                  <a:spLocks noChangeArrowheads="1"/>
                </p:cNvSpPr>
                <p:nvPr/>
              </p:nvSpPr>
              <p:spPr bwMode="auto">
                <a:xfrm>
                  <a:off x="1063" y="3868"/>
                  <a:ext cx="1654" cy="2"/>
                </a:xfrm>
                <a:prstGeom prst="rect">
                  <a:avLst/>
                </a:prstGeom>
                <a:solidFill>
                  <a:srgbClr val="D5D5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91" name="Rectangle 711"/>
                <p:cNvSpPr>
                  <a:spLocks noChangeArrowheads="1"/>
                </p:cNvSpPr>
                <p:nvPr/>
              </p:nvSpPr>
              <p:spPr bwMode="auto">
                <a:xfrm>
                  <a:off x="1063" y="3870"/>
                  <a:ext cx="1654" cy="1"/>
                </a:xfrm>
                <a:prstGeom prst="rect">
                  <a:avLst/>
                </a:prstGeom>
                <a:solidFill>
                  <a:srgbClr val="D1D1A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92" name="Rectangle 712"/>
                <p:cNvSpPr>
                  <a:spLocks noChangeArrowheads="1"/>
                </p:cNvSpPr>
                <p:nvPr/>
              </p:nvSpPr>
              <p:spPr bwMode="auto">
                <a:xfrm>
                  <a:off x="1063" y="3871"/>
                  <a:ext cx="1654" cy="2"/>
                </a:xfrm>
                <a:prstGeom prst="rect">
                  <a:avLst/>
                </a:prstGeom>
                <a:solidFill>
                  <a:srgbClr val="CCCCA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93" name="Rectangle 713"/>
                <p:cNvSpPr>
                  <a:spLocks noChangeArrowheads="1"/>
                </p:cNvSpPr>
                <p:nvPr/>
              </p:nvSpPr>
              <p:spPr bwMode="auto">
                <a:xfrm>
                  <a:off x="1063" y="3873"/>
                  <a:ext cx="1654" cy="2"/>
                </a:xfrm>
                <a:prstGeom prst="rect">
                  <a:avLst/>
                </a:prstGeom>
                <a:solidFill>
                  <a:srgbClr val="C8C8A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94" name="Rectangle 714"/>
                <p:cNvSpPr>
                  <a:spLocks noChangeArrowheads="1"/>
                </p:cNvSpPr>
                <p:nvPr/>
              </p:nvSpPr>
              <p:spPr bwMode="auto">
                <a:xfrm>
                  <a:off x="1063" y="3875"/>
                  <a:ext cx="1654" cy="2"/>
                </a:xfrm>
                <a:prstGeom prst="rect">
                  <a:avLst/>
                </a:prstGeom>
                <a:solidFill>
                  <a:srgbClr val="C4C4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95" name="Rectangle 715"/>
                <p:cNvSpPr>
                  <a:spLocks noChangeArrowheads="1"/>
                </p:cNvSpPr>
                <p:nvPr/>
              </p:nvSpPr>
              <p:spPr bwMode="auto">
                <a:xfrm>
                  <a:off x="1063" y="3877"/>
                  <a:ext cx="1654" cy="1"/>
                </a:xfrm>
                <a:prstGeom prst="rect">
                  <a:avLst/>
                </a:prstGeom>
                <a:solidFill>
                  <a:srgbClr val="BFBF9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96" name="Rectangle 716"/>
                <p:cNvSpPr>
                  <a:spLocks noChangeArrowheads="1"/>
                </p:cNvSpPr>
                <p:nvPr/>
              </p:nvSpPr>
              <p:spPr bwMode="auto">
                <a:xfrm>
                  <a:off x="1063" y="3878"/>
                  <a:ext cx="1654" cy="2"/>
                </a:xfrm>
                <a:prstGeom prst="rect">
                  <a:avLst/>
                </a:prstGeom>
                <a:solidFill>
                  <a:srgbClr val="BBBB9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97" name="Rectangle 717"/>
                <p:cNvSpPr>
                  <a:spLocks noChangeArrowheads="1"/>
                </p:cNvSpPr>
                <p:nvPr/>
              </p:nvSpPr>
              <p:spPr bwMode="auto">
                <a:xfrm>
                  <a:off x="1063" y="3880"/>
                  <a:ext cx="1654" cy="2"/>
                </a:xfrm>
                <a:prstGeom prst="rect">
                  <a:avLst/>
                </a:prstGeom>
                <a:solidFill>
                  <a:srgbClr val="B6B6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98" name="Rectangle 718"/>
                <p:cNvSpPr>
                  <a:spLocks noChangeArrowheads="1"/>
                </p:cNvSpPr>
                <p:nvPr/>
              </p:nvSpPr>
              <p:spPr bwMode="auto">
                <a:xfrm>
                  <a:off x="1063" y="3882"/>
                  <a:ext cx="1654" cy="1"/>
                </a:xfrm>
                <a:prstGeom prst="rect">
                  <a:avLst/>
                </a:prstGeom>
                <a:solidFill>
                  <a:srgbClr val="B1B18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199" name="Rectangle 719"/>
                <p:cNvSpPr>
                  <a:spLocks noChangeArrowheads="1"/>
                </p:cNvSpPr>
                <p:nvPr/>
              </p:nvSpPr>
              <p:spPr bwMode="auto">
                <a:xfrm>
                  <a:off x="1063" y="3883"/>
                  <a:ext cx="1654" cy="2"/>
                </a:xfrm>
                <a:prstGeom prst="rect">
                  <a:avLst/>
                </a:prstGeom>
                <a:solidFill>
                  <a:srgbClr val="ADAD8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00" name="Rectangle 720"/>
                <p:cNvSpPr>
                  <a:spLocks noChangeArrowheads="1"/>
                </p:cNvSpPr>
                <p:nvPr/>
              </p:nvSpPr>
              <p:spPr bwMode="auto">
                <a:xfrm>
                  <a:off x="1063" y="3885"/>
                  <a:ext cx="1654" cy="2"/>
                </a:xfrm>
                <a:prstGeom prst="rect">
                  <a:avLst/>
                </a:prstGeom>
                <a:solidFill>
                  <a:srgbClr val="A8A88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01" name="Rectangle 721"/>
                <p:cNvSpPr>
                  <a:spLocks noChangeArrowheads="1"/>
                </p:cNvSpPr>
                <p:nvPr/>
              </p:nvSpPr>
              <p:spPr bwMode="auto">
                <a:xfrm>
                  <a:off x="1063" y="3887"/>
                  <a:ext cx="1654" cy="2"/>
                </a:xfrm>
                <a:prstGeom prst="rect">
                  <a:avLst/>
                </a:prstGeom>
                <a:solidFill>
                  <a:srgbClr val="A3A38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02" name="Rectangle 722"/>
                <p:cNvSpPr>
                  <a:spLocks noChangeArrowheads="1"/>
                </p:cNvSpPr>
                <p:nvPr/>
              </p:nvSpPr>
              <p:spPr bwMode="auto">
                <a:xfrm>
                  <a:off x="1063" y="3889"/>
                  <a:ext cx="1654" cy="1"/>
                </a:xfrm>
                <a:prstGeom prst="rect">
                  <a:avLst/>
                </a:prstGeom>
                <a:solidFill>
                  <a:srgbClr val="9F9F7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03" name="Rectangle 723"/>
                <p:cNvSpPr>
                  <a:spLocks noChangeArrowheads="1"/>
                </p:cNvSpPr>
                <p:nvPr/>
              </p:nvSpPr>
              <p:spPr bwMode="auto">
                <a:xfrm>
                  <a:off x="1063" y="3890"/>
                  <a:ext cx="1654" cy="2"/>
                </a:xfrm>
                <a:prstGeom prst="rect">
                  <a:avLst/>
                </a:prstGeom>
                <a:solidFill>
                  <a:srgbClr val="9B9B7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04" name="Rectangle 724"/>
                <p:cNvSpPr>
                  <a:spLocks noChangeArrowheads="1"/>
                </p:cNvSpPr>
                <p:nvPr/>
              </p:nvSpPr>
              <p:spPr bwMode="auto">
                <a:xfrm>
                  <a:off x="1063" y="3892"/>
                  <a:ext cx="1654" cy="2"/>
                </a:xfrm>
                <a:prstGeom prst="rect">
                  <a:avLst/>
                </a:prstGeom>
                <a:solidFill>
                  <a:srgbClr val="96967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05" name="Rectangle 725"/>
                <p:cNvSpPr>
                  <a:spLocks noChangeArrowheads="1"/>
                </p:cNvSpPr>
                <p:nvPr/>
              </p:nvSpPr>
              <p:spPr bwMode="auto">
                <a:xfrm>
                  <a:off x="1063" y="3894"/>
                  <a:ext cx="1654" cy="1"/>
                </a:xfrm>
                <a:prstGeom prst="rect">
                  <a:avLst/>
                </a:prstGeom>
                <a:solidFill>
                  <a:srgbClr val="93937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06" name="Rectangle 726"/>
                <p:cNvSpPr>
                  <a:spLocks noChangeArrowheads="1"/>
                </p:cNvSpPr>
                <p:nvPr/>
              </p:nvSpPr>
              <p:spPr bwMode="auto">
                <a:xfrm>
                  <a:off x="1063" y="3895"/>
                  <a:ext cx="1654" cy="2"/>
                </a:xfrm>
                <a:prstGeom prst="rect">
                  <a:avLst/>
                </a:prstGeom>
                <a:solidFill>
                  <a:srgbClr val="8F8F7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07" name="Rectangle 727"/>
                <p:cNvSpPr>
                  <a:spLocks noChangeArrowheads="1"/>
                </p:cNvSpPr>
                <p:nvPr/>
              </p:nvSpPr>
              <p:spPr bwMode="auto">
                <a:xfrm>
                  <a:off x="1063" y="3897"/>
                  <a:ext cx="1654" cy="2"/>
                </a:xfrm>
                <a:prstGeom prst="rect">
                  <a:avLst/>
                </a:prstGeom>
                <a:solidFill>
                  <a:srgbClr val="8B8B6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08" name="Rectangle 728"/>
                <p:cNvSpPr>
                  <a:spLocks noChangeArrowheads="1"/>
                </p:cNvSpPr>
                <p:nvPr/>
              </p:nvSpPr>
              <p:spPr bwMode="auto">
                <a:xfrm>
                  <a:off x="1063" y="3899"/>
                  <a:ext cx="1654" cy="2"/>
                </a:xfrm>
                <a:prstGeom prst="rect">
                  <a:avLst/>
                </a:prstGeom>
                <a:solidFill>
                  <a:srgbClr val="88886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09" name="Rectangle 729"/>
                <p:cNvSpPr>
                  <a:spLocks noChangeArrowheads="1"/>
                </p:cNvSpPr>
                <p:nvPr/>
              </p:nvSpPr>
              <p:spPr bwMode="auto">
                <a:xfrm>
                  <a:off x="1063" y="3901"/>
                  <a:ext cx="1654" cy="1"/>
                </a:xfrm>
                <a:prstGeom prst="rect">
                  <a:avLst/>
                </a:prstGeom>
                <a:solidFill>
                  <a:srgbClr val="85856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10" name="Rectangle 730"/>
                <p:cNvSpPr>
                  <a:spLocks noChangeArrowheads="1"/>
                </p:cNvSpPr>
                <p:nvPr/>
              </p:nvSpPr>
              <p:spPr bwMode="auto">
                <a:xfrm>
                  <a:off x="1063" y="3902"/>
                  <a:ext cx="1654" cy="2"/>
                </a:xfrm>
                <a:prstGeom prst="rect">
                  <a:avLst/>
                </a:prstGeom>
                <a:solidFill>
                  <a:srgbClr val="82826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11" name="Rectangle 731"/>
                <p:cNvSpPr>
                  <a:spLocks noChangeArrowheads="1"/>
                </p:cNvSpPr>
                <p:nvPr/>
              </p:nvSpPr>
              <p:spPr bwMode="auto">
                <a:xfrm>
                  <a:off x="1063" y="3904"/>
                  <a:ext cx="1654" cy="2"/>
                </a:xfrm>
                <a:prstGeom prst="rect">
                  <a:avLst/>
                </a:prstGeom>
                <a:solidFill>
                  <a:srgbClr val="8080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12" name="Rectangle 732"/>
                <p:cNvSpPr>
                  <a:spLocks noChangeArrowheads="1"/>
                </p:cNvSpPr>
                <p:nvPr/>
              </p:nvSpPr>
              <p:spPr bwMode="auto">
                <a:xfrm>
                  <a:off x="1063" y="3906"/>
                  <a:ext cx="1654" cy="2"/>
                </a:xfrm>
                <a:prstGeom prst="rect">
                  <a:avLst/>
                </a:prstGeom>
                <a:solidFill>
                  <a:srgbClr val="7E7E6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13" name="Rectangle 733"/>
                <p:cNvSpPr>
                  <a:spLocks noChangeArrowheads="1"/>
                </p:cNvSpPr>
                <p:nvPr/>
              </p:nvSpPr>
              <p:spPr bwMode="auto">
                <a:xfrm>
                  <a:off x="1063" y="3908"/>
                  <a:ext cx="1654" cy="1"/>
                </a:xfrm>
                <a:prstGeom prst="rect">
                  <a:avLst/>
                </a:prstGeom>
                <a:solidFill>
                  <a:srgbClr val="7C7C6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14" name="Rectangle 734"/>
                <p:cNvSpPr>
                  <a:spLocks noChangeArrowheads="1"/>
                </p:cNvSpPr>
                <p:nvPr/>
              </p:nvSpPr>
              <p:spPr bwMode="auto">
                <a:xfrm>
                  <a:off x="1063" y="3909"/>
                  <a:ext cx="1654" cy="2"/>
                </a:xfrm>
                <a:prstGeom prst="rect">
                  <a:avLst/>
                </a:prstGeom>
                <a:solidFill>
                  <a:srgbClr val="7A7A6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15" name="Rectangle 735"/>
                <p:cNvSpPr>
                  <a:spLocks noChangeArrowheads="1"/>
                </p:cNvSpPr>
                <p:nvPr/>
              </p:nvSpPr>
              <p:spPr bwMode="auto">
                <a:xfrm>
                  <a:off x="1063" y="3911"/>
                  <a:ext cx="1654" cy="2"/>
                </a:xfrm>
                <a:prstGeom prst="rect">
                  <a:avLst/>
                </a:prstGeom>
                <a:solidFill>
                  <a:srgbClr val="79796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16" name="Rectangle 736"/>
                <p:cNvSpPr>
                  <a:spLocks noChangeArrowheads="1"/>
                </p:cNvSpPr>
                <p:nvPr/>
              </p:nvSpPr>
              <p:spPr bwMode="auto">
                <a:xfrm>
                  <a:off x="1063" y="3913"/>
                  <a:ext cx="1654" cy="1"/>
                </a:xfrm>
                <a:prstGeom prst="rect">
                  <a:avLst/>
                </a:prstGeom>
                <a:solidFill>
                  <a:srgbClr val="77775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17" name="Rectangle 737"/>
                <p:cNvSpPr>
                  <a:spLocks noChangeArrowheads="1"/>
                </p:cNvSpPr>
                <p:nvPr/>
              </p:nvSpPr>
              <p:spPr bwMode="auto">
                <a:xfrm>
                  <a:off x="1063" y="3914"/>
                  <a:ext cx="1654" cy="2"/>
                </a:xfrm>
                <a:prstGeom prst="rect">
                  <a:avLst/>
                </a:prstGeom>
                <a:solidFill>
                  <a:srgbClr val="76765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sp>
            <p:nvSpPr>
              <p:cNvPr id="149218" name="Rectangle 738"/>
              <p:cNvSpPr>
                <a:spLocks noChangeArrowheads="1"/>
              </p:cNvSpPr>
              <p:nvPr/>
            </p:nvSpPr>
            <p:spPr bwMode="auto">
              <a:xfrm>
                <a:off x="1063" y="3833"/>
                <a:ext cx="1655" cy="84"/>
              </a:xfrm>
              <a:prstGeom prst="rect">
                <a:avLst/>
              </a:prstGeom>
              <a:noFill/>
              <a:ln w="7938">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219" name="Group 739"/>
            <p:cNvGrpSpPr>
              <a:grpSpLocks/>
            </p:cNvGrpSpPr>
            <p:nvPr/>
          </p:nvGrpSpPr>
          <p:grpSpPr bwMode="auto">
            <a:xfrm>
              <a:off x="963" y="3941"/>
              <a:ext cx="1668" cy="261"/>
              <a:chOff x="980" y="3958"/>
              <a:chExt cx="1668" cy="261"/>
            </a:xfrm>
          </p:grpSpPr>
          <p:sp>
            <p:nvSpPr>
              <p:cNvPr id="149220" name="Freeform 740"/>
              <p:cNvSpPr>
                <a:spLocks/>
              </p:cNvSpPr>
              <p:nvPr/>
            </p:nvSpPr>
            <p:spPr bwMode="auto">
              <a:xfrm>
                <a:off x="994" y="3971"/>
                <a:ext cx="1654" cy="248"/>
              </a:xfrm>
              <a:custGeom>
                <a:avLst/>
                <a:gdLst>
                  <a:gd name="T0" fmla="*/ 827 w 3308"/>
                  <a:gd name="T1" fmla="*/ 0 h 496"/>
                  <a:gd name="T2" fmla="*/ 0 w 3308"/>
                  <a:gd name="T3" fmla="*/ 496 h 496"/>
                  <a:gd name="T4" fmla="*/ 2481 w 3308"/>
                  <a:gd name="T5" fmla="*/ 496 h 496"/>
                  <a:gd name="T6" fmla="*/ 3308 w 3308"/>
                  <a:gd name="T7" fmla="*/ 0 h 496"/>
                  <a:gd name="T8" fmla="*/ 827 w 3308"/>
                  <a:gd name="T9" fmla="*/ 0 h 496"/>
                </a:gdLst>
                <a:ahLst/>
                <a:cxnLst>
                  <a:cxn ang="0">
                    <a:pos x="T0" y="T1"/>
                  </a:cxn>
                  <a:cxn ang="0">
                    <a:pos x="T2" y="T3"/>
                  </a:cxn>
                  <a:cxn ang="0">
                    <a:pos x="T4" y="T5"/>
                  </a:cxn>
                  <a:cxn ang="0">
                    <a:pos x="T6" y="T7"/>
                  </a:cxn>
                  <a:cxn ang="0">
                    <a:pos x="T8" y="T9"/>
                  </a:cxn>
                </a:cxnLst>
                <a:rect l="0" t="0" r="r" b="b"/>
                <a:pathLst>
                  <a:path w="3308" h="496">
                    <a:moveTo>
                      <a:pt x="827" y="0"/>
                    </a:moveTo>
                    <a:lnTo>
                      <a:pt x="0" y="496"/>
                    </a:lnTo>
                    <a:lnTo>
                      <a:pt x="2481" y="496"/>
                    </a:lnTo>
                    <a:lnTo>
                      <a:pt x="3308" y="0"/>
                    </a:lnTo>
                    <a:lnTo>
                      <a:pt x="827"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221" name="Group 741"/>
              <p:cNvGrpSpPr>
                <a:grpSpLocks/>
              </p:cNvGrpSpPr>
              <p:nvPr/>
            </p:nvGrpSpPr>
            <p:grpSpPr bwMode="auto">
              <a:xfrm>
                <a:off x="980" y="3958"/>
                <a:ext cx="1655" cy="249"/>
                <a:chOff x="980" y="3958"/>
                <a:chExt cx="1655" cy="249"/>
              </a:xfrm>
            </p:grpSpPr>
            <p:pic>
              <p:nvPicPr>
                <p:cNvPr id="149222" name="Picture 74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0" y="3958"/>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223" name="Picture 74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28" y="3958"/>
                  <a:ext cx="80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224" name="Freeform 744"/>
                <p:cNvSpPr>
                  <a:spLocks/>
                </p:cNvSpPr>
                <p:nvPr/>
              </p:nvSpPr>
              <p:spPr bwMode="auto">
                <a:xfrm>
                  <a:off x="980" y="3958"/>
                  <a:ext cx="1654" cy="248"/>
                </a:xfrm>
                <a:custGeom>
                  <a:avLst/>
                  <a:gdLst>
                    <a:gd name="T0" fmla="*/ 827 w 3309"/>
                    <a:gd name="T1" fmla="*/ 0 h 496"/>
                    <a:gd name="T2" fmla="*/ 0 w 3309"/>
                    <a:gd name="T3" fmla="*/ 496 h 496"/>
                    <a:gd name="T4" fmla="*/ 2482 w 3309"/>
                    <a:gd name="T5" fmla="*/ 496 h 496"/>
                    <a:gd name="T6" fmla="*/ 3309 w 3309"/>
                    <a:gd name="T7" fmla="*/ 0 h 496"/>
                    <a:gd name="T8" fmla="*/ 827 w 3309"/>
                    <a:gd name="T9" fmla="*/ 0 h 496"/>
                  </a:gdLst>
                  <a:ahLst/>
                  <a:cxnLst>
                    <a:cxn ang="0">
                      <a:pos x="T0" y="T1"/>
                    </a:cxn>
                    <a:cxn ang="0">
                      <a:pos x="T2" y="T3"/>
                    </a:cxn>
                    <a:cxn ang="0">
                      <a:pos x="T4" y="T5"/>
                    </a:cxn>
                    <a:cxn ang="0">
                      <a:pos x="T6" y="T7"/>
                    </a:cxn>
                    <a:cxn ang="0">
                      <a:pos x="T8" y="T9"/>
                    </a:cxn>
                  </a:cxnLst>
                  <a:rect l="0" t="0" r="r" b="b"/>
                  <a:pathLst>
                    <a:path w="3309" h="496">
                      <a:moveTo>
                        <a:pt x="827" y="0"/>
                      </a:moveTo>
                      <a:lnTo>
                        <a:pt x="0" y="496"/>
                      </a:lnTo>
                      <a:lnTo>
                        <a:pt x="2482" y="496"/>
                      </a:lnTo>
                      <a:lnTo>
                        <a:pt x="3309" y="0"/>
                      </a:lnTo>
                      <a:lnTo>
                        <a:pt x="827"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225" name="Freeform 745"/>
                <p:cNvSpPr>
                  <a:spLocks/>
                </p:cNvSpPr>
                <p:nvPr/>
              </p:nvSpPr>
              <p:spPr bwMode="auto">
                <a:xfrm>
                  <a:off x="980" y="3958"/>
                  <a:ext cx="1654" cy="248"/>
                </a:xfrm>
                <a:custGeom>
                  <a:avLst/>
                  <a:gdLst>
                    <a:gd name="T0" fmla="*/ 827 w 3309"/>
                    <a:gd name="T1" fmla="*/ 0 h 496"/>
                    <a:gd name="T2" fmla="*/ 0 w 3309"/>
                    <a:gd name="T3" fmla="*/ 496 h 496"/>
                    <a:gd name="T4" fmla="*/ 2482 w 3309"/>
                    <a:gd name="T5" fmla="*/ 496 h 496"/>
                    <a:gd name="T6" fmla="*/ 3309 w 3309"/>
                    <a:gd name="T7" fmla="*/ 0 h 496"/>
                    <a:gd name="T8" fmla="*/ 827 w 3309"/>
                    <a:gd name="T9" fmla="*/ 0 h 496"/>
                  </a:gdLst>
                  <a:ahLst/>
                  <a:cxnLst>
                    <a:cxn ang="0">
                      <a:pos x="T0" y="T1"/>
                    </a:cxn>
                    <a:cxn ang="0">
                      <a:pos x="T2" y="T3"/>
                    </a:cxn>
                    <a:cxn ang="0">
                      <a:pos x="T4" y="T5"/>
                    </a:cxn>
                    <a:cxn ang="0">
                      <a:pos x="T6" y="T7"/>
                    </a:cxn>
                    <a:cxn ang="0">
                      <a:pos x="T8" y="T9"/>
                    </a:cxn>
                  </a:cxnLst>
                  <a:rect l="0" t="0" r="r" b="b"/>
                  <a:pathLst>
                    <a:path w="3309" h="496">
                      <a:moveTo>
                        <a:pt x="827" y="0"/>
                      </a:moveTo>
                      <a:lnTo>
                        <a:pt x="0" y="496"/>
                      </a:lnTo>
                      <a:lnTo>
                        <a:pt x="2482" y="496"/>
                      </a:lnTo>
                      <a:lnTo>
                        <a:pt x="3309" y="0"/>
                      </a:lnTo>
                      <a:lnTo>
                        <a:pt x="82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226" name="Picture 7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0" y="3958"/>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227" name="Picture 74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28" y="3958"/>
                  <a:ext cx="80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228" name="Freeform 748"/>
              <p:cNvSpPr>
                <a:spLocks/>
              </p:cNvSpPr>
              <p:nvPr/>
            </p:nvSpPr>
            <p:spPr bwMode="auto">
              <a:xfrm>
                <a:off x="980" y="3958"/>
                <a:ext cx="1654" cy="248"/>
              </a:xfrm>
              <a:custGeom>
                <a:avLst/>
                <a:gdLst>
                  <a:gd name="T0" fmla="*/ 827 w 3309"/>
                  <a:gd name="T1" fmla="*/ 0 h 496"/>
                  <a:gd name="T2" fmla="*/ 0 w 3309"/>
                  <a:gd name="T3" fmla="*/ 496 h 496"/>
                  <a:gd name="T4" fmla="*/ 2482 w 3309"/>
                  <a:gd name="T5" fmla="*/ 496 h 496"/>
                  <a:gd name="T6" fmla="*/ 3309 w 3309"/>
                  <a:gd name="T7" fmla="*/ 0 h 496"/>
                  <a:gd name="T8" fmla="*/ 827 w 3309"/>
                  <a:gd name="T9" fmla="*/ 0 h 496"/>
                </a:gdLst>
                <a:ahLst/>
                <a:cxnLst>
                  <a:cxn ang="0">
                    <a:pos x="T0" y="T1"/>
                  </a:cxn>
                  <a:cxn ang="0">
                    <a:pos x="T2" y="T3"/>
                  </a:cxn>
                  <a:cxn ang="0">
                    <a:pos x="T4" y="T5"/>
                  </a:cxn>
                  <a:cxn ang="0">
                    <a:pos x="T6" y="T7"/>
                  </a:cxn>
                  <a:cxn ang="0">
                    <a:pos x="T8" y="T9"/>
                  </a:cxn>
                </a:cxnLst>
                <a:rect l="0" t="0" r="r" b="b"/>
                <a:pathLst>
                  <a:path w="3309" h="496">
                    <a:moveTo>
                      <a:pt x="827" y="0"/>
                    </a:moveTo>
                    <a:lnTo>
                      <a:pt x="0" y="496"/>
                    </a:lnTo>
                    <a:lnTo>
                      <a:pt x="2482" y="496"/>
                    </a:lnTo>
                    <a:lnTo>
                      <a:pt x="3309" y="0"/>
                    </a:lnTo>
                    <a:lnTo>
                      <a:pt x="827"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229" name="Group 749"/>
            <p:cNvGrpSpPr>
              <a:grpSpLocks/>
            </p:cNvGrpSpPr>
            <p:nvPr/>
          </p:nvGrpSpPr>
          <p:grpSpPr bwMode="auto">
            <a:xfrm>
              <a:off x="1247" y="3982"/>
              <a:ext cx="1041" cy="179"/>
              <a:chOff x="1264" y="3999"/>
              <a:chExt cx="1041" cy="179"/>
            </a:xfrm>
          </p:grpSpPr>
          <p:sp>
            <p:nvSpPr>
              <p:cNvPr id="149230" name="Freeform 750"/>
              <p:cNvSpPr>
                <a:spLocks/>
              </p:cNvSpPr>
              <p:nvPr/>
            </p:nvSpPr>
            <p:spPr bwMode="auto">
              <a:xfrm>
                <a:off x="1285" y="4013"/>
                <a:ext cx="356" cy="162"/>
              </a:xfrm>
              <a:custGeom>
                <a:avLst/>
                <a:gdLst>
                  <a:gd name="T0" fmla="*/ 110 w 712"/>
                  <a:gd name="T1" fmla="*/ 326 h 326"/>
                  <a:gd name="T2" fmla="*/ 55 w 712"/>
                  <a:gd name="T3" fmla="*/ 326 h 326"/>
                  <a:gd name="T4" fmla="*/ 0 w 712"/>
                  <a:gd name="T5" fmla="*/ 326 h 326"/>
                  <a:gd name="T6" fmla="*/ 216 w 712"/>
                  <a:gd name="T7" fmla="*/ 209 h 326"/>
                  <a:gd name="T8" fmla="*/ 431 w 712"/>
                  <a:gd name="T9" fmla="*/ 92 h 326"/>
                  <a:gd name="T10" fmla="*/ 372 w 712"/>
                  <a:gd name="T11" fmla="*/ 105 h 326"/>
                  <a:gd name="T12" fmla="*/ 314 w 712"/>
                  <a:gd name="T13" fmla="*/ 119 h 326"/>
                  <a:gd name="T14" fmla="*/ 257 w 712"/>
                  <a:gd name="T15" fmla="*/ 130 h 326"/>
                  <a:gd name="T16" fmla="*/ 200 w 712"/>
                  <a:gd name="T17" fmla="*/ 138 h 326"/>
                  <a:gd name="T18" fmla="*/ 253 w 712"/>
                  <a:gd name="T19" fmla="*/ 111 h 326"/>
                  <a:gd name="T20" fmla="*/ 305 w 712"/>
                  <a:gd name="T21" fmla="*/ 83 h 326"/>
                  <a:gd name="T22" fmla="*/ 336 w 712"/>
                  <a:gd name="T23" fmla="*/ 78 h 326"/>
                  <a:gd name="T24" fmla="*/ 372 w 712"/>
                  <a:gd name="T25" fmla="*/ 71 h 326"/>
                  <a:gd name="T26" fmla="*/ 412 w 712"/>
                  <a:gd name="T27" fmla="*/ 62 h 326"/>
                  <a:gd name="T28" fmla="*/ 455 w 712"/>
                  <a:gd name="T29" fmla="*/ 52 h 326"/>
                  <a:gd name="T30" fmla="*/ 500 w 712"/>
                  <a:gd name="T31" fmla="*/ 40 h 326"/>
                  <a:gd name="T32" fmla="*/ 543 w 712"/>
                  <a:gd name="T33" fmla="*/ 28 h 326"/>
                  <a:gd name="T34" fmla="*/ 583 w 712"/>
                  <a:gd name="T35" fmla="*/ 14 h 326"/>
                  <a:gd name="T36" fmla="*/ 621 w 712"/>
                  <a:gd name="T37" fmla="*/ 0 h 326"/>
                  <a:gd name="T38" fmla="*/ 667 w 712"/>
                  <a:gd name="T39" fmla="*/ 0 h 326"/>
                  <a:gd name="T40" fmla="*/ 712 w 712"/>
                  <a:gd name="T41" fmla="*/ 0 h 326"/>
                  <a:gd name="T42" fmla="*/ 410 w 712"/>
                  <a:gd name="T43" fmla="*/ 164 h 326"/>
                  <a:gd name="T44" fmla="*/ 110 w 712"/>
                  <a:gd name="T45" fmla="*/ 326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12" h="326">
                    <a:moveTo>
                      <a:pt x="110" y="326"/>
                    </a:moveTo>
                    <a:lnTo>
                      <a:pt x="55" y="326"/>
                    </a:lnTo>
                    <a:lnTo>
                      <a:pt x="0" y="326"/>
                    </a:lnTo>
                    <a:lnTo>
                      <a:pt x="216" y="209"/>
                    </a:lnTo>
                    <a:lnTo>
                      <a:pt x="431" y="92"/>
                    </a:lnTo>
                    <a:lnTo>
                      <a:pt x="372" y="105"/>
                    </a:lnTo>
                    <a:lnTo>
                      <a:pt x="314" y="119"/>
                    </a:lnTo>
                    <a:lnTo>
                      <a:pt x="257" y="130"/>
                    </a:lnTo>
                    <a:lnTo>
                      <a:pt x="200" y="138"/>
                    </a:lnTo>
                    <a:lnTo>
                      <a:pt x="253" y="111"/>
                    </a:lnTo>
                    <a:lnTo>
                      <a:pt x="305" y="83"/>
                    </a:lnTo>
                    <a:lnTo>
                      <a:pt x="336" y="78"/>
                    </a:lnTo>
                    <a:lnTo>
                      <a:pt x="372" y="71"/>
                    </a:lnTo>
                    <a:lnTo>
                      <a:pt x="412" y="62"/>
                    </a:lnTo>
                    <a:lnTo>
                      <a:pt x="455" y="52"/>
                    </a:lnTo>
                    <a:lnTo>
                      <a:pt x="500" y="40"/>
                    </a:lnTo>
                    <a:lnTo>
                      <a:pt x="543" y="28"/>
                    </a:lnTo>
                    <a:lnTo>
                      <a:pt x="583" y="14"/>
                    </a:lnTo>
                    <a:lnTo>
                      <a:pt x="621" y="0"/>
                    </a:lnTo>
                    <a:lnTo>
                      <a:pt x="667" y="0"/>
                    </a:lnTo>
                    <a:lnTo>
                      <a:pt x="712" y="0"/>
                    </a:lnTo>
                    <a:lnTo>
                      <a:pt x="410" y="164"/>
                    </a:lnTo>
                    <a:lnTo>
                      <a:pt x="110" y="32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31" name="Freeform 751"/>
              <p:cNvSpPr>
                <a:spLocks/>
              </p:cNvSpPr>
              <p:nvPr/>
            </p:nvSpPr>
            <p:spPr bwMode="auto">
              <a:xfrm>
                <a:off x="1472" y="4015"/>
                <a:ext cx="429" cy="163"/>
              </a:xfrm>
              <a:custGeom>
                <a:avLst/>
                <a:gdLst>
                  <a:gd name="T0" fmla="*/ 119 w 858"/>
                  <a:gd name="T1" fmla="*/ 235 h 326"/>
                  <a:gd name="T2" fmla="*/ 167 w 858"/>
                  <a:gd name="T3" fmla="*/ 242 h 326"/>
                  <a:gd name="T4" fmla="*/ 150 w 858"/>
                  <a:gd name="T5" fmla="*/ 257 h 326"/>
                  <a:gd name="T6" fmla="*/ 150 w 858"/>
                  <a:gd name="T7" fmla="*/ 269 h 326"/>
                  <a:gd name="T8" fmla="*/ 166 w 858"/>
                  <a:gd name="T9" fmla="*/ 276 h 326"/>
                  <a:gd name="T10" fmla="*/ 198 w 858"/>
                  <a:gd name="T11" fmla="*/ 274 h 326"/>
                  <a:gd name="T12" fmla="*/ 241 w 858"/>
                  <a:gd name="T13" fmla="*/ 268 h 326"/>
                  <a:gd name="T14" fmla="*/ 293 w 858"/>
                  <a:gd name="T15" fmla="*/ 252 h 326"/>
                  <a:gd name="T16" fmla="*/ 350 w 858"/>
                  <a:gd name="T17" fmla="*/ 228 h 326"/>
                  <a:gd name="T18" fmla="*/ 403 w 858"/>
                  <a:gd name="T19" fmla="*/ 199 h 326"/>
                  <a:gd name="T20" fmla="*/ 433 w 858"/>
                  <a:gd name="T21" fmla="*/ 176 h 326"/>
                  <a:gd name="T22" fmla="*/ 438 w 858"/>
                  <a:gd name="T23" fmla="*/ 168 h 326"/>
                  <a:gd name="T24" fmla="*/ 431 w 858"/>
                  <a:gd name="T25" fmla="*/ 157 h 326"/>
                  <a:gd name="T26" fmla="*/ 403 w 858"/>
                  <a:gd name="T27" fmla="*/ 154 h 326"/>
                  <a:gd name="T28" fmla="*/ 346 w 858"/>
                  <a:gd name="T29" fmla="*/ 159 h 326"/>
                  <a:gd name="T30" fmla="*/ 274 w 858"/>
                  <a:gd name="T31" fmla="*/ 176 h 326"/>
                  <a:gd name="T32" fmla="*/ 197 w 858"/>
                  <a:gd name="T33" fmla="*/ 169 h 326"/>
                  <a:gd name="T34" fmla="*/ 565 w 858"/>
                  <a:gd name="T35" fmla="*/ 0 h 326"/>
                  <a:gd name="T36" fmla="*/ 858 w 858"/>
                  <a:gd name="T37" fmla="*/ 0 h 326"/>
                  <a:gd name="T38" fmla="*/ 751 w 858"/>
                  <a:gd name="T39" fmla="*/ 59 h 326"/>
                  <a:gd name="T40" fmla="*/ 541 w 858"/>
                  <a:gd name="T41" fmla="*/ 59 h 326"/>
                  <a:gd name="T42" fmla="*/ 422 w 858"/>
                  <a:gd name="T43" fmla="*/ 114 h 326"/>
                  <a:gd name="T44" fmla="*/ 476 w 858"/>
                  <a:gd name="T45" fmla="*/ 107 h 326"/>
                  <a:gd name="T46" fmla="*/ 519 w 858"/>
                  <a:gd name="T47" fmla="*/ 104 h 326"/>
                  <a:gd name="T48" fmla="*/ 550 w 858"/>
                  <a:gd name="T49" fmla="*/ 106 h 326"/>
                  <a:gd name="T50" fmla="*/ 572 w 858"/>
                  <a:gd name="T51" fmla="*/ 111 h 326"/>
                  <a:gd name="T52" fmla="*/ 586 w 858"/>
                  <a:gd name="T53" fmla="*/ 121 h 326"/>
                  <a:gd name="T54" fmla="*/ 588 w 858"/>
                  <a:gd name="T55" fmla="*/ 133 h 326"/>
                  <a:gd name="T56" fmla="*/ 581 w 858"/>
                  <a:gd name="T57" fmla="*/ 150 h 326"/>
                  <a:gd name="T58" fmla="*/ 562 w 858"/>
                  <a:gd name="T59" fmla="*/ 168 h 326"/>
                  <a:gd name="T60" fmla="*/ 534 w 858"/>
                  <a:gd name="T61" fmla="*/ 190 h 326"/>
                  <a:gd name="T62" fmla="*/ 495 w 858"/>
                  <a:gd name="T63" fmla="*/ 212 h 326"/>
                  <a:gd name="T64" fmla="*/ 415 w 858"/>
                  <a:gd name="T65" fmla="*/ 250 h 326"/>
                  <a:gd name="T66" fmla="*/ 322 w 858"/>
                  <a:gd name="T67" fmla="*/ 283 h 326"/>
                  <a:gd name="T68" fmla="*/ 197 w 858"/>
                  <a:gd name="T69" fmla="*/ 316 h 326"/>
                  <a:gd name="T70" fmla="*/ 86 w 858"/>
                  <a:gd name="T71" fmla="*/ 326 h 326"/>
                  <a:gd name="T72" fmla="*/ 50 w 858"/>
                  <a:gd name="T73" fmla="*/ 324 h 326"/>
                  <a:gd name="T74" fmla="*/ 24 w 858"/>
                  <a:gd name="T75" fmla="*/ 319 h 326"/>
                  <a:gd name="T76" fmla="*/ 7 w 858"/>
                  <a:gd name="T77" fmla="*/ 312 h 326"/>
                  <a:gd name="T78" fmla="*/ 0 w 858"/>
                  <a:gd name="T79" fmla="*/ 302 h 326"/>
                  <a:gd name="T80" fmla="*/ 2 w 858"/>
                  <a:gd name="T81" fmla="*/ 288 h 326"/>
                  <a:gd name="T82" fmla="*/ 12 w 858"/>
                  <a:gd name="T83" fmla="*/ 273 h 326"/>
                  <a:gd name="T84" fmla="*/ 29 w 858"/>
                  <a:gd name="T85" fmla="*/ 256 h 326"/>
                  <a:gd name="T86" fmla="*/ 59 w 858"/>
                  <a:gd name="T87" fmla="*/ 237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8" h="326">
                    <a:moveTo>
                      <a:pt x="59" y="237"/>
                    </a:moveTo>
                    <a:lnTo>
                      <a:pt x="119" y="235"/>
                    </a:lnTo>
                    <a:lnTo>
                      <a:pt x="181" y="231"/>
                    </a:lnTo>
                    <a:lnTo>
                      <a:pt x="167" y="242"/>
                    </a:lnTo>
                    <a:lnTo>
                      <a:pt x="157" y="250"/>
                    </a:lnTo>
                    <a:lnTo>
                      <a:pt x="150" y="257"/>
                    </a:lnTo>
                    <a:lnTo>
                      <a:pt x="148" y="264"/>
                    </a:lnTo>
                    <a:lnTo>
                      <a:pt x="150" y="269"/>
                    </a:lnTo>
                    <a:lnTo>
                      <a:pt x="157" y="273"/>
                    </a:lnTo>
                    <a:lnTo>
                      <a:pt x="166" y="276"/>
                    </a:lnTo>
                    <a:lnTo>
                      <a:pt x="179" y="276"/>
                    </a:lnTo>
                    <a:lnTo>
                      <a:pt x="198" y="274"/>
                    </a:lnTo>
                    <a:lnTo>
                      <a:pt x="219" y="273"/>
                    </a:lnTo>
                    <a:lnTo>
                      <a:pt x="241" y="268"/>
                    </a:lnTo>
                    <a:lnTo>
                      <a:pt x="267" y="261"/>
                    </a:lnTo>
                    <a:lnTo>
                      <a:pt x="293" y="252"/>
                    </a:lnTo>
                    <a:lnTo>
                      <a:pt x="321" y="242"/>
                    </a:lnTo>
                    <a:lnTo>
                      <a:pt x="350" y="228"/>
                    </a:lnTo>
                    <a:lnTo>
                      <a:pt x="379" y="212"/>
                    </a:lnTo>
                    <a:lnTo>
                      <a:pt x="403" y="199"/>
                    </a:lnTo>
                    <a:lnTo>
                      <a:pt x="422" y="187"/>
                    </a:lnTo>
                    <a:lnTo>
                      <a:pt x="433" y="176"/>
                    </a:lnTo>
                    <a:lnTo>
                      <a:pt x="436" y="171"/>
                    </a:lnTo>
                    <a:lnTo>
                      <a:pt x="438" y="168"/>
                    </a:lnTo>
                    <a:lnTo>
                      <a:pt x="438" y="162"/>
                    </a:lnTo>
                    <a:lnTo>
                      <a:pt x="431" y="157"/>
                    </a:lnTo>
                    <a:lnTo>
                      <a:pt x="421" y="156"/>
                    </a:lnTo>
                    <a:lnTo>
                      <a:pt x="403" y="154"/>
                    </a:lnTo>
                    <a:lnTo>
                      <a:pt x="377" y="156"/>
                    </a:lnTo>
                    <a:lnTo>
                      <a:pt x="346" y="159"/>
                    </a:lnTo>
                    <a:lnTo>
                      <a:pt x="312" y="166"/>
                    </a:lnTo>
                    <a:lnTo>
                      <a:pt x="274" y="176"/>
                    </a:lnTo>
                    <a:lnTo>
                      <a:pt x="236" y="173"/>
                    </a:lnTo>
                    <a:lnTo>
                      <a:pt x="197" y="169"/>
                    </a:lnTo>
                    <a:lnTo>
                      <a:pt x="381" y="85"/>
                    </a:lnTo>
                    <a:lnTo>
                      <a:pt x="565" y="0"/>
                    </a:lnTo>
                    <a:lnTo>
                      <a:pt x="712" y="0"/>
                    </a:lnTo>
                    <a:lnTo>
                      <a:pt x="858" y="0"/>
                    </a:lnTo>
                    <a:lnTo>
                      <a:pt x="805" y="30"/>
                    </a:lnTo>
                    <a:lnTo>
                      <a:pt x="751" y="59"/>
                    </a:lnTo>
                    <a:lnTo>
                      <a:pt x="646" y="59"/>
                    </a:lnTo>
                    <a:lnTo>
                      <a:pt x="541" y="59"/>
                    </a:lnTo>
                    <a:lnTo>
                      <a:pt x="483" y="87"/>
                    </a:lnTo>
                    <a:lnTo>
                      <a:pt x="422" y="114"/>
                    </a:lnTo>
                    <a:lnTo>
                      <a:pt x="450" y="109"/>
                    </a:lnTo>
                    <a:lnTo>
                      <a:pt x="476" y="107"/>
                    </a:lnTo>
                    <a:lnTo>
                      <a:pt x="498" y="104"/>
                    </a:lnTo>
                    <a:lnTo>
                      <a:pt x="519" y="104"/>
                    </a:lnTo>
                    <a:lnTo>
                      <a:pt x="536" y="104"/>
                    </a:lnTo>
                    <a:lnTo>
                      <a:pt x="550" y="106"/>
                    </a:lnTo>
                    <a:lnTo>
                      <a:pt x="564" y="109"/>
                    </a:lnTo>
                    <a:lnTo>
                      <a:pt x="572" y="111"/>
                    </a:lnTo>
                    <a:lnTo>
                      <a:pt x="581" y="116"/>
                    </a:lnTo>
                    <a:lnTo>
                      <a:pt x="586" y="121"/>
                    </a:lnTo>
                    <a:lnTo>
                      <a:pt x="588" y="126"/>
                    </a:lnTo>
                    <a:lnTo>
                      <a:pt x="588" y="133"/>
                    </a:lnTo>
                    <a:lnTo>
                      <a:pt x="586" y="142"/>
                    </a:lnTo>
                    <a:lnTo>
                      <a:pt x="581" y="150"/>
                    </a:lnTo>
                    <a:lnTo>
                      <a:pt x="572" y="159"/>
                    </a:lnTo>
                    <a:lnTo>
                      <a:pt x="562" y="168"/>
                    </a:lnTo>
                    <a:lnTo>
                      <a:pt x="550" y="178"/>
                    </a:lnTo>
                    <a:lnTo>
                      <a:pt x="534" y="190"/>
                    </a:lnTo>
                    <a:lnTo>
                      <a:pt x="515" y="200"/>
                    </a:lnTo>
                    <a:lnTo>
                      <a:pt x="495" y="212"/>
                    </a:lnTo>
                    <a:lnTo>
                      <a:pt x="457" y="231"/>
                    </a:lnTo>
                    <a:lnTo>
                      <a:pt x="415" y="250"/>
                    </a:lnTo>
                    <a:lnTo>
                      <a:pt x="371" y="268"/>
                    </a:lnTo>
                    <a:lnTo>
                      <a:pt x="322" y="283"/>
                    </a:lnTo>
                    <a:lnTo>
                      <a:pt x="257" y="302"/>
                    </a:lnTo>
                    <a:lnTo>
                      <a:pt x="197" y="316"/>
                    </a:lnTo>
                    <a:lnTo>
                      <a:pt x="140" y="324"/>
                    </a:lnTo>
                    <a:lnTo>
                      <a:pt x="86" y="326"/>
                    </a:lnTo>
                    <a:lnTo>
                      <a:pt x="67" y="326"/>
                    </a:lnTo>
                    <a:lnTo>
                      <a:pt x="50" y="324"/>
                    </a:lnTo>
                    <a:lnTo>
                      <a:pt x="36" y="323"/>
                    </a:lnTo>
                    <a:lnTo>
                      <a:pt x="24" y="319"/>
                    </a:lnTo>
                    <a:lnTo>
                      <a:pt x="14" y="316"/>
                    </a:lnTo>
                    <a:lnTo>
                      <a:pt x="7" y="312"/>
                    </a:lnTo>
                    <a:lnTo>
                      <a:pt x="2" y="307"/>
                    </a:lnTo>
                    <a:lnTo>
                      <a:pt x="0" y="302"/>
                    </a:lnTo>
                    <a:lnTo>
                      <a:pt x="0" y="295"/>
                    </a:lnTo>
                    <a:lnTo>
                      <a:pt x="2" y="288"/>
                    </a:lnTo>
                    <a:lnTo>
                      <a:pt x="5" y="281"/>
                    </a:lnTo>
                    <a:lnTo>
                      <a:pt x="12" y="273"/>
                    </a:lnTo>
                    <a:lnTo>
                      <a:pt x="19" y="264"/>
                    </a:lnTo>
                    <a:lnTo>
                      <a:pt x="29" y="256"/>
                    </a:lnTo>
                    <a:lnTo>
                      <a:pt x="43" y="247"/>
                    </a:lnTo>
                    <a:lnTo>
                      <a:pt x="59" y="2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32" name="Freeform 752"/>
              <p:cNvSpPr>
                <a:spLocks noEditPoints="1"/>
              </p:cNvSpPr>
              <p:nvPr/>
            </p:nvSpPr>
            <p:spPr bwMode="auto">
              <a:xfrm>
                <a:off x="1700" y="4013"/>
                <a:ext cx="412" cy="162"/>
              </a:xfrm>
              <a:custGeom>
                <a:avLst/>
                <a:gdLst>
                  <a:gd name="T0" fmla="*/ 117 w 825"/>
                  <a:gd name="T1" fmla="*/ 326 h 326"/>
                  <a:gd name="T2" fmla="*/ 178 w 825"/>
                  <a:gd name="T3" fmla="*/ 293 h 326"/>
                  <a:gd name="T4" fmla="*/ 238 w 825"/>
                  <a:gd name="T5" fmla="*/ 261 h 326"/>
                  <a:gd name="T6" fmla="*/ 0 w 825"/>
                  <a:gd name="T7" fmla="*/ 261 h 326"/>
                  <a:gd name="T8" fmla="*/ 50 w 825"/>
                  <a:gd name="T9" fmla="*/ 233 h 326"/>
                  <a:gd name="T10" fmla="*/ 100 w 825"/>
                  <a:gd name="T11" fmla="*/ 205 h 326"/>
                  <a:gd name="T12" fmla="*/ 415 w 825"/>
                  <a:gd name="T13" fmla="*/ 104 h 326"/>
                  <a:gd name="T14" fmla="*/ 732 w 825"/>
                  <a:gd name="T15" fmla="*/ 0 h 326"/>
                  <a:gd name="T16" fmla="*/ 825 w 825"/>
                  <a:gd name="T17" fmla="*/ 0 h 326"/>
                  <a:gd name="T18" fmla="*/ 636 w 825"/>
                  <a:gd name="T19" fmla="*/ 104 h 326"/>
                  <a:gd name="T20" fmla="*/ 446 w 825"/>
                  <a:gd name="T21" fmla="*/ 205 h 326"/>
                  <a:gd name="T22" fmla="*/ 481 w 825"/>
                  <a:gd name="T23" fmla="*/ 205 h 326"/>
                  <a:gd name="T24" fmla="*/ 517 w 825"/>
                  <a:gd name="T25" fmla="*/ 205 h 326"/>
                  <a:gd name="T26" fmla="*/ 467 w 825"/>
                  <a:gd name="T27" fmla="*/ 233 h 326"/>
                  <a:gd name="T28" fmla="*/ 417 w 825"/>
                  <a:gd name="T29" fmla="*/ 261 h 326"/>
                  <a:gd name="T30" fmla="*/ 345 w 825"/>
                  <a:gd name="T31" fmla="*/ 261 h 326"/>
                  <a:gd name="T32" fmla="*/ 284 w 825"/>
                  <a:gd name="T33" fmla="*/ 293 h 326"/>
                  <a:gd name="T34" fmla="*/ 224 w 825"/>
                  <a:gd name="T35" fmla="*/ 326 h 326"/>
                  <a:gd name="T36" fmla="*/ 171 w 825"/>
                  <a:gd name="T37" fmla="*/ 326 h 326"/>
                  <a:gd name="T38" fmla="*/ 117 w 825"/>
                  <a:gd name="T39" fmla="*/ 326 h 326"/>
                  <a:gd name="T40" fmla="*/ 117 w 825"/>
                  <a:gd name="T41" fmla="*/ 326 h 326"/>
                  <a:gd name="T42" fmla="*/ 338 w 825"/>
                  <a:gd name="T43" fmla="*/ 205 h 326"/>
                  <a:gd name="T44" fmla="*/ 441 w 825"/>
                  <a:gd name="T45" fmla="*/ 150 h 326"/>
                  <a:gd name="T46" fmla="*/ 543 w 825"/>
                  <a:gd name="T47" fmla="*/ 95 h 326"/>
                  <a:gd name="T48" fmla="*/ 374 w 825"/>
                  <a:gd name="T49" fmla="*/ 150 h 326"/>
                  <a:gd name="T50" fmla="*/ 205 w 825"/>
                  <a:gd name="T51" fmla="*/ 205 h 326"/>
                  <a:gd name="T52" fmla="*/ 271 w 825"/>
                  <a:gd name="T53" fmla="*/ 205 h 326"/>
                  <a:gd name="T54" fmla="*/ 338 w 825"/>
                  <a:gd name="T55" fmla="*/ 205 h 326"/>
                  <a:gd name="T56" fmla="*/ 338 w 825"/>
                  <a:gd name="T57" fmla="*/ 205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25" h="326">
                    <a:moveTo>
                      <a:pt x="117" y="326"/>
                    </a:moveTo>
                    <a:lnTo>
                      <a:pt x="178" y="293"/>
                    </a:lnTo>
                    <a:lnTo>
                      <a:pt x="238" y="261"/>
                    </a:lnTo>
                    <a:lnTo>
                      <a:pt x="0" y="261"/>
                    </a:lnTo>
                    <a:lnTo>
                      <a:pt x="50" y="233"/>
                    </a:lnTo>
                    <a:lnTo>
                      <a:pt x="100" y="205"/>
                    </a:lnTo>
                    <a:lnTo>
                      <a:pt x="415" y="104"/>
                    </a:lnTo>
                    <a:lnTo>
                      <a:pt x="732" y="0"/>
                    </a:lnTo>
                    <a:lnTo>
                      <a:pt x="825" y="0"/>
                    </a:lnTo>
                    <a:lnTo>
                      <a:pt x="636" y="104"/>
                    </a:lnTo>
                    <a:lnTo>
                      <a:pt x="446" y="205"/>
                    </a:lnTo>
                    <a:lnTo>
                      <a:pt x="481" y="205"/>
                    </a:lnTo>
                    <a:lnTo>
                      <a:pt x="517" y="205"/>
                    </a:lnTo>
                    <a:lnTo>
                      <a:pt x="467" y="233"/>
                    </a:lnTo>
                    <a:lnTo>
                      <a:pt x="417" y="261"/>
                    </a:lnTo>
                    <a:lnTo>
                      <a:pt x="345" y="261"/>
                    </a:lnTo>
                    <a:lnTo>
                      <a:pt x="284" y="293"/>
                    </a:lnTo>
                    <a:lnTo>
                      <a:pt x="224" y="326"/>
                    </a:lnTo>
                    <a:lnTo>
                      <a:pt x="171" y="326"/>
                    </a:lnTo>
                    <a:lnTo>
                      <a:pt x="117" y="326"/>
                    </a:lnTo>
                    <a:lnTo>
                      <a:pt x="117" y="326"/>
                    </a:lnTo>
                    <a:close/>
                    <a:moveTo>
                      <a:pt x="338" y="205"/>
                    </a:moveTo>
                    <a:lnTo>
                      <a:pt x="441" y="150"/>
                    </a:lnTo>
                    <a:lnTo>
                      <a:pt x="543" y="95"/>
                    </a:lnTo>
                    <a:lnTo>
                      <a:pt x="374" y="150"/>
                    </a:lnTo>
                    <a:lnTo>
                      <a:pt x="205" y="205"/>
                    </a:lnTo>
                    <a:lnTo>
                      <a:pt x="271" y="205"/>
                    </a:lnTo>
                    <a:lnTo>
                      <a:pt x="338" y="205"/>
                    </a:lnTo>
                    <a:lnTo>
                      <a:pt x="338" y="20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33" name="Freeform 753"/>
              <p:cNvSpPr>
                <a:spLocks/>
              </p:cNvSpPr>
              <p:nvPr/>
            </p:nvSpPr>
            <p:spPr bwMode="auto">
              <a:xfrm>
                <a:off x="1921" y="4013"/>
                <a:ext cx="384" cy="165"/>
              </a:xfrm>
              <a:custGeom>
                <a:avLst/>
                <a:gdLst>
                  <a:gd name="T0" fmla="*/ 122 w 768"/>
                  <a:gd name="T1" fmla="*/ 236 h 331"/>
                  <a:gd name="T2" fmla="*/ 167 w 768"/>
                  <a:gd name="T3" fmla="*/ 243 h 331"/>
                  <a:gd name="T4" fmla="*/ 148 w 768"/>
                  <a:gd name="T5" fmla="*/ 261 h 331"/>
                  <a:gd name="T6" fmla="*/ 146 w 768"/>
                  <a:gd name="T7" fmla="*/ 273 h 331"/>
                  <a:gd name="T8" fmla="*/ 164 w 768"/>
                  <a:gd name="T9" fmla="*/ 279 h 331"/>
                  <a:gd name="T10" fmla="*/ 196 w 768"/>
                  <a:gd name="T11" fmla="*/ 278 h 331"/>
                  <a:gd name="T12" fmla="*/ 238 w 768"/>
                  <a:gd name="T13" fmla="*/ 271 h 331"/>
                  <a:gd name="T14" fmla="*/ 312 w 768"/>
                  <a:gd name="T15" fmla="*/ 248 h 331"/>
                  <a:gd name="T16" fmla="*/ 377 w 768"/>
                  <a:gd name="T17" fmla="*/ 216 h 331"/>
                  <a:gd name="T18" fmla="*/ 401 w 768"/>
                  <a:gd name="T19" fmla="*/ 195 h 331"/>
                  <a:gd name="T20" fmla="*/ 403 w 768"/>
                  <a:gd name="T21" fmla="*/ 183 h 331"/>
                  <a:gd name="T22" fmla="*/ 389 w 768"/>
                  <a:gd name="T23" fmla="*/ 176 h 331"/>
                  <a:gd name="T24" fmla="*/ 364 w 768"/>
                  <a:gd name="T25" fmla="*/ 174 h 331"/>
                  <a:gd name="T26" fmla="*/ 334 w 768"/>
                  <a:gd name="T27" fmla="*/ 178 h 331"/>
                  <a:gd name="T28" fmla="*/ 369 w 768"/>
                  <a:gd name="T29" fmla="*/ 154 h 331"/>
                  <a:gd name="T30" fmla="*/ 465 w 768"/>
                  <a:gd name="T31" fmla="*/ 126 h 331"/>
                  <a:gd name="T32" fmla="*/ 510 w 768"/>
                  <a:gd name="T33" fmla="*/ 117 h 331"/>
                  <a:gd name="T34" fmla="*/ 553 w 768"/>
                  <a:gd name="T35" fmla="*/ 105 h 331"/>
                  <a:gd name="T36" fmla="*/ 603 w 768"/>
                  <a:gd name="T37" fmla="*/ 80 h 331"/>
                  <a:gd name="T38" fmla="*/ 619 w 768"/>
                  <a:gd name="T39" fmla="*/ 66 h 331"/>
                  <a:gd name="T40" fmla="*/ 620 w 768"/>
                  <a:gd name="T41" fmla="*/ 57 h 331"/>
                  <a:gd name="T42" fmla="*/ 605 w 768"/>
                  <a:gd name="T43" fmla="*/ 52 h 331"/>
                  <a:gd name="T44" fmla="*/ 562 w 768"/>
                  <a:gd name="T45" fmla="*/ 55 h 331"/>
                  <a:gd name="T46" fmla="*/ 524 w 768"/>
                  <a:gd name="T47" fmla="*/ 62 h 331"/>
                  <a:gd name="T48" fmla="*/ 482 w 768"/>
                  <a:gd name="T49" fmla="*/ 76 h 331"/>
                  <a:gd name="T50" fmla="*/ 398 w 768"/>
                  <a:gd name="T51" fmla="*/ 90 h 331"/>
                  <a:gd name="T52" fmla="*/ 417 w 768"/>
                  <a:gd name="T53" fmla="*/ 59 h 331"/>
                  <a:gd name="T54" fmla="*/ 529 w 768"/>
                  <a:gd name="T55" fmla="*/ 23 h 331"/>
                  <a:gd name="T56" fmla="*/ 641 w 768"/>
                  <a:gd name="T57" fmla="*/ 4 h 331"/>
                  <a:gd name="T58" fmla="*/ 710 w 768"/>
                  <a:gd name="T59" fmla="*/ 0 h 331"/>
                  <a:gd name="T60" fmla="*/ 739 w 768"/>
                  <a:gd name="T61" fmla="*/ 5 h 331"/>
                  <a:gd name="T62" fmla="*/ 760 w 768"/>
                  <a:gd name="T63" fmla="*/ 12 h 331"/>
                  <a:gd name="T64" fmla="*/ 768 w 768"/>
                  <a:gd name="T65" fmla="*/ 23 h 331"/>
                  <a:gd name="T66" fmla="*/ 763 w 768"/>
                  <a:gd name="T67" fmla="*/ 42 h 331"/>
                  <a:gd name="T68" fmla="*/ 734 w 768"/>
                  <a:gd name="T69" fmla="*/ 69 h 331"/>
                  <a:gd name="T70" fmla="*/ 667 w 768"/>
                  <a:gd name="T71" fmla="*/ 104 h 331"/>
                  <a:gd name="T72" fmla="*/ 562 w 768"/>
                  <a:gd name="T73" fmla="*/ 138 h 331"/>
                  <a:gd name="T74" fmla="*/ 500 w 768"/>
                  <a:gd name="T75" fmla="*/ 152 h 331"/>
                  <a:gd name="T76" fmla="*/ 527 w 768"/>
                  <a:gd name="T77" fmla="*/ 161 h 331"/>
                  <a:gd name="T78" fmla="*/ 531 w 768"/>
                  <a:gd name="T79" fmla="*/ 178 h 331"/>
                  <a:gd name="T80" fmla="*/ 510 w 768"/>
                  <a:gd name="T81" fmla="*/ 200 h 331"/>
                  <a:gd name="T82" fmla="*/ 467 w 768"/>
                  <a:gd name="T83" fmla="*/ 228 h 331"/>
                  <a:gd name="T84" fmla="*/ 381 w 768"/>
                  <a:gd name="T85" fmla="*/ 267 h 331"/>
                  <a:gd name="T86" fmla="*/ 277 w 768"/>
                  <a:gd name="T87" fmla="*/ 300 h 331"/>
                  <a:gd name="T88" fmla="*/ 172 w 768"/>
                  <a:gd name="T89" fmla="*/ 324 h 331"/>
                  <a:gd name="T90" fmla="*/ 83 w 768"/>
                  <a:gd name="T91" fmla="*/ 331 h 331"/>
                  <a:gd name="T92" fmla="*/ 48 w 768"/>
                  <a:gd name="T93" fmla="*/ 329 h 331"/>
                  <a:gd name="T94" fmla="*/ 22 w 768"/>
                  <a:gd name="T95" fmla="*/ 324 h 331"/>
                  <a:gd name="T96" fmla="*/ 7 w 768"/>
                  <a:gd name="T97" fmla="*/ 317 h 331"/>
                  <a:gd name="T98" fmla="*/ 0 w 768"/>
                  <a:gd name="T99" fmla="*/ 305 h 331"/>
                  <a:gd name="T100" fmla="*/ 2 w 768"/>
                  <a:gd name="T101" fmla="*/ 292 h 331"/>
                  <a:gd name="T102" fmla="*/ 14 w 768"/>
                  <a:gd name="T103" fmla="*/ 276 h 331"/>
                  <a:gd name="T104" fmla="*/ 33 w 768"/>
                  <a:gd name="T105" fmla="*/ 259 h 331"/>
                  <a:gd name="T106" fmla="*/ 62 w 768"/>
                  <a:gd name="T107" fmla="*/ 240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68" h="331">
                    <a:moveTo>
                      <a:pt x="62" y="240"/>
                    </a:moveTo>
                    <a:lnTo>
                      <a:pt x="122" y="236"/>
                    </a:lnTo>
                    <a:lnTo>
                      <a:pt x="183" y="233"/>
                    </a:lnTo>
                    <a:lnTo>
                      <a:pt x="167" y="243"/>
                    </a:lnTo>
                    <a:lnTo>
                      <a:pt x="155" y="252"/>
                    </a:lnTo>
                    <a:lnTo>
                      <a:pt x="148" y="261"/>
                    </a:lnTo>
                    <a:lnTo>
                      <a:pt x="145" y="267"/>
                    </a:lnTo>
                    <a:lnTo>
                      <a:pt x="146" y="273"/>
                    </a:lnTo>
                    <a:lnTo>
                      <a:pt x="153" y="276"/>
                    </a:lnTo>
                    <a:lnTo>
                      <a:pt x="164" y="279"/>
                    </a:lnTo>
                    <a:lnTo>
                      <a:pt x="177" y="279"/>
                    </a:lnTo>
                    <a:lnTo>
                      <a:pt x="196" y="278"/>
                    </a:lnTo>
                    <a:lnTo>
                      <a:pt x="215" y="276"/>
                    </a:lnTo>
                    <a:lnTo>
                      <a:pt x="238" y="271"/>
                    </a:lnTo>
                    <a:lnTo>
                      <a:pt x="262" y="266"/>
                    </a:lnTo>
                    <a:lnTo>
                      <a:pt x="312" y="248"/>
                    </a:lnTo>
                    <a:lnTo>
                      <a:pt x="358" y="226"/>
                    </a:lnTo>
                    <a:lnTo>
                      <a:pt x="377" y="216"/>
                    </a:lnTo>
                    <a:lnTo>
                      <a:pt x="393" y="205"/>
                    </a:lnTo>
                    <a:lnTo>
                      <a:pt x="401" y="195"/>
                    </a:lnTo>
                    <a:lnTo>
                      <a:pt x="405" y="188"/>
                    </a:lnTo>
                    <a:lnTo>
                      <a:pt x="403" y="183"/>
                    </a:lnTo>
                    <a:lnTo>
                      <a:pt x="398" y="178"/>
                    </a:lnTo>
                    <a:lnTo>
                      <a:pt x="389" y="176"/>
                    </a:lnTo>
                    <a:lnTo>
                      <a:pt x="376" y="174"/>
                    </a:lnTo>
                    <a:lnTo>
                      <a:pt x="364" y="174"/>
                    </a:lnTo>
                    <a:lnTo>
                      <a:pt x="350" y="176"/>
                    </a:lnTo>
                    <a:lnTo>
                      <a:pt x="334" y="178"/>
                    </a:lnTo>
                    <a:lnTo>
                      <a:pt x="315" y="180"/>
                    </a:lnTo>
                    <a:lnTo>
                      <a:pt x="369" y="154"/>
                    </a:lnTo>
                    <a:lnTo>
                      <a:pt x="420" y="130"/>
                    </a:lnTo>
                    <a:lnTo>
                      <a:pt x="465" y="126"/>
                    </a:lnTo>
                    <a:lnTo>
                      <a:pt x="488" y="123"/>
                    </a:lnTo>
                    <a:lnTo>
                      <a:pt x="510" y="117"/>
                    </a:lnTo>
                    <a:lnTo>
                      <a:pt x="532" y="112"/>
                    </a:lnTo>
                    <a:lnTo>
                      <a:pt x="553" y="105"/>
                    </a:lnTo>
                    <a:lnTo>
                      <a:pt x="591" y="86"/>
                    </a:lnTo>
                    <a:lnTo>
                      <a:pt x="603" y="80"/>
                    </a:lnTo>
                    <a:lnTo>
                      <a:pt x="613" y="73"/>
                    </a:lnTo>
                    <a:lnTo>
                      <a:pt x="619" y="66"/>
                    </a:lnTo>
                    <a:lnTo>
                      <a:pt x="622" y="61"/>
                    </a:lnTo>
                    <a:lnTo>
                      <a:pt x="620" y="57"/>
                    </a:lnTo>
                    <a:lnTo>
                      <a:pt x="615" y="54"/>
                    </a:lnTo>
                    <a:lnTo>
                      <a:pt x="605" y="52"/>
                    </a:lnTo>
                    <a:lnTo>
                      <a:pt x="593" y="52"/>
                    </a:lnTo>
                    <a:lnTo>
                      <a:pt x="562" y="55"/>
                    </a:lnTo>
                    <a:lnTo>
                      <a:pt x="543" y="57"/>
                    </a:lnTo>
                    <a:lnTo>
                      <a:pt x="524" y="62"/>
                    </a:lnTo>
                    <a:lnTo>
                      <a:pt x="503" y="69"/>
                    </a:lnTo>
                    <a:lnTo>
                      <a:pt x="482" y="76"/>
                    </a:lnTo>
                    <a:lnTo>
                      <a:pt x="439" y="95"/>
                    </a:lnTo>
                    <a:lnTo>
                      <a:pt x="398" y="90"/>
                    </a:lnTo>
                    <a:lnTo>
                      <a:pt x="355" y="85"/>
                    </a:lnTo>
                    <a:lnTo>
                      <a:pt x="417" y="59"/>
                    </a:lnTo>
                    <a:lnTo>
                      <a:pt x="474" y="38"/>
                    </a:lnTo>
                    <a:lnTo>
                      <a:pt x="529" y="23"/>
                    </a:lnTo>
                    <a:lnTo>
                      <a:pt x="586" y="11"/>
                    </a:lnTo>
                    <a:lnTo>
                      <a:pt x="641" y="4"/>
                    </a:lnTo>
                    <a:lnTo>
                      <a:pt x="691" y="0"/>
                    </a:lnTo>
                    <a:lnTo>
                      <a:pt x="710" y="0"/>
                    </a:lnTo>
                    <a:lnTo>
                      <a:pt x="725" y="2"/>
                    </a:lnTo>
                    <a:lnTo>
                      <a:pt x="739" y="5"/>
                    </a:lnTo>
                    <a:lnTo>
                      <a:pt x="751" y="7"/>
                    </a:lnTo>
                    <a:lnTo>
                      <a:pt x="760" y="12"/>
                    </a:lnTo>
                    <a:lnTo>
                      <a:pt x="765" y="18"/>
                    </a:lnTo>
                    <a:lnTo>
                      <a:pt x="768" y="23"/>
                    </a:lnTo>
                    <a:lnTo>
                      <a:pt x="768" y="30"/>
                    </a:lnTo>
                    <a:lnTo>
                      <a:pt x="763" y="42"/>
                    </a:lnTo>
                    <a:lnTo>
                      <a:pt x="751" y="55"/>
                    </a:lnTo>
                    <a:lnTo>
                      <a:pt x="734" y="69"/>
                    </a:lnTo>
                    <a:lnTo>
                      <a:pt x="710" y="83"/>
                    </a:lnTo>
                    <a:lnTo>
                      <a:pt x="667" y="104"/>
                    </a:lnTo>
                    <a:lnTo>
                      <a:pt x="619" y="123"/>
                    </a:lnTo>
                    <a:lnTo>
                      <a:pt x="562" y="138"/>
                    </a:lnTo>
                    <a:lnTo>
                      <a:pt x="532" y="145"/>
                    </a:lnTo>
                    <a:lnTo>
                      <a:pt x="500" y="152"/>
                    </a:lnTo>
                    <a:lnTo>
                      <a:pt x="517" y="155"/>
                    </a:lnTo>
                    <a:lnTo>
                      <a:pt x="527" y="161"/>
                    </a:lnTo>
                    <a:lnTo>
                      <a:pt x="532" y="169"/>
                    </a:lnTo>
                    <a:lnTo>
                      <a:pt x="531" y="178"/>
                    </a:lnTo>
                    <a:lnTo>
                      <a:pt x="524" y="188"/>
                    </a:lnTo>
                    <a:lnTo>
                      <a:pt x="510" y="200"/>
                    </a:lnTo>
                    <a:lnTo>
                      <a:pt x="491" y="214"/>
                    </a:lnTo>
                    <a:lnTo>
                      <a:pt x="467" y="228"/>
                    </a:lnTo>
                    <a:lnTo>
                      <a:pt x="426" y="248"/>
                    </a:lnTo>
                    <a:lnTo>
                      <a:pt x="381" y="267"/>
                    </a:lnTo>
                    <a:lnTo>
                      <a:pt x="331" y="285"/>
                    </a:lnTo>
                    <a:lnTo>
                      <a:pt x="277" y="300"/>
                    </a:lnTo>
                    <a:lnTo>
                      <a:pt x="224" y="314"/>
                    </a:lnTo>
                    <a:lnTo>
                      <a:pt x="172" y="324"/>
                    </a:lnTo>
                    <a:lnTo>
                      <a:pt x="126" y="329"/>
                    </a:lnTo>
                    <a:lnTo>
                      <a:pt x="83" y="331"/>
                    </a:lnTo>
                    <a:lnTo>
                      <a:pt x="64" y="331"/>
                    </a:lnTo>
                    <a:lnTo>
                      <a:pt x="48" y="329"/>
                    </a:lnTo>
                    <a:lnTo>
                      <a:pt x="34" y="328"/>
                    </a:lnTo>
                    <a:lnTo>
                      <a:pt x="22" y="324"/>
                    </a:lnTo>
                    <a:lnTo>
                      <a:pt x="14" y="321"/>
                    </a:lnTo>
                    <a:lnTo>
                      <a:pt x="7" y="317"/>
                    </a:lnTo>
                    <a:lnTo>
                      <a:pt x="2" y="312"/>
                    </a:lnTo>
                    <a:lnTo>
                      <a:pt x="0" y="305"/>
                    </a:lnTo>
                    <a:lnTo>
                      <a:pt x="0" y="298"/>
                    </a:lnTo>
                    <a:lnTo>
                      <a:pt x="2" y="292"/>
                    </a:lnTo>
                    <a:lnTo>
                      <a:pt x="7" y="285"/>
                    </a:lnTo>
                    <a:lnTo>
                      <a:pt x="14" y="276"/>
                    </a:lnTo>
                    <a:lnTo>
                      <a:pt x="22" y="267"/>
                    </a:lnTo>
                    <a:lnTo>
                      <a:pt x="33" y="259"/>
                    </a:lnTo>
                    <a:lnTo>
                      <a:pt x="46" y="250"/>
                    </a:lnTo>
                    <a:lnTo>
                      <a:pt x="62" y="24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34" name="Freeform 754"/>
              <p:cNvSpPr>
                <a:spLocks/>
              </p:cNvSpPr>
              <p:nvPr/>
            </p:nvSpPr>
            <p:spPr bwMode="auto">
              <a:xfrm>
                <a:off x="1264" y="3999"/>
                <a:ext cx="356" cy="163"/>
              </a:xfrm>
              <a:custGeom>
                <a:avLst/>
                <a:gdLst>
                  <a:gd name="T0" fmla="*/ 110 w 712"/>
                  <a:gd name="T1" fmla="*/ 325 h 325"/>
                  <a:gd name="T2" fmla="*/ 55 w 712"/>
                  <a:gd name="T3" fmla="*/ 325 h 325"/>
                  <a:gd name="T4" fmla="*/ 0 w 712"/>
                  <a:gd name="T5" fmla="*/ 325 h 325"/>
                  <a:gd name="T6" fmla="*/ 215 w 712"/>
                  <a:gd name="T7" fmla="*/ 208 h 325"/>
                  <a:gd name="T8" fmla="*/ 431 w 712"/>
                  <a:gd name="T9" fmla="*/ 91 h 325"/>
                  <a:gd name="T10" fmla="*/ 372 w 712"/>
                  <a:gd name="T11" fmla="*/ 105 h 325"/>
                  <a:gd name="T12" fmla="*/ 313 w 712"/>
                  <a:gd name="T13" fmla="*/ 119 h 325"/>
                  <a:gd name="T14" fmla="*/ 257 w 712"/>
                  <a:gd name="T15" fmla="*/ 129 h 325"/>
                  <a:gd name="T16" fmla="*/ 200 w 712"/>
                  <a:gd name="T17" fmla="*/ 138 h 325"/>
                  <a:gd name="T18" fmla="*/ 253 w 712"/>
                  <a:gd name="T19" fmla="*/ 110 h 325"/>
                  <a:gd name="T20" fmla="*/ 305 w 712"/>
                  <a:gd name="T21" fmla="*/ 82 h 325"/>
                  <a:gd name="T22" fmla="*/ 336 w 712"/>
                  <a:gd name="T23" fmla="*/ 77 h 325"/>
                  <a:gd name="T24" fmla="*/ 372 w 712"/>
                  <a:gd name="T25" fmla="*/ 70 h 325"/>
                  <a:gd name="T26" fmla="*/ 412 w 712"/>
                  <a:gd name="T27" fmla="*/ 62 h 325"/>
                  <a:gd name="T28" fmla="*/ 455 w 712"/>
                  <a:gd name="T29" fmla="*/ 51 h 325"/>
                  <a:gd name="T30" fmla="*/ 500 w 712"/>
                  <a:gd name="T31" fmla="*/ 39 h 325"/>
                  <a:gd name="T32" fmla="*/ 543 w 712"/>
                  <a:gd name="T33" fmla="*/ 27 h 325"/>
                  <a:gd name="T34" fmla="*/ 582 w 712"/>
                  <a:gd name="T35" fmla="*/ 14 h 325"/>
                  <a:gd name="T36" fmla="*/ 620 w 712"/>
                  <a:gd name="T37" fmla="*/ 0 h 325"/>
                  <a:gd name="T38" fmla="*/ 667 w 712"/>
                  <a:gd name="T39" fmla="*/ 0 h 325"/>
                  <a:gd name="T40" fmla="*/ 712 w 712"/>
                  <a:gd name="T41" fmla="*/ 0 h 325"/>
                  <a:gd name="T42" fmla="*/ 410 w 712"/>
                  <a:gd name="T43" fmla="*/ 163 h 325"/>
                  <a:gd name="T44" fmla="*/ 110 w 712"/>
                  <a:gd name="T45" fmla="*/ 325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12" h="325">
                    <a:moveTo>
                      <a:pt x="110" y="325"/>
                    </a:moveTo>
                    <a:lnTo>
                      <a:pt x="55" y="325"/>
                    </a:lnTo>
                    <a:lnTo>
                      <a:pt x="0" y="325"/>
                    </a:lnTo>
                    <a:lnTo>
                      <a:pt x="215" y="208"/>
                    </a:lnTo>
                    <a:lnTo>
                      <a:pt x="431" y="91"/>
                    </a:lnTo>
                    <a:lnTo>
                      <a:pt x="372" y="105"/>
                    </a:lnTo>
                    <a:lnTo>
                      <a:pt x="313" y="119"/>
                    </a:lnTo>
                    <a:lnTo>
                      <a:pt x="257" y="129"/>
                    </a:lnTo>
                    <a:lnTo>
                      <a:pt x="200" y="138"/>
                    </a:lnTo>
                    <a:lnTo>
                      <a:pt x="253" y="110"/>
                    </a:lnTo>
                    <a:lnTo>
                      <a:pt x="305" y="82"/>
                    </a:lnTo>
                    <a:lnTo>
                      <a:pt x="336" y="77"/>
                    </a:lnTo>
                    <a:lnTo>
                      <a:pt x="372" y="70"/>
                    </a:lnTo>
                    <a:lnTo>
                      <a:pt x="412" y="62"/>
                    </a:lnTo>
                    <a:lnTo>
                      <a:pt x="455" y="51"/>
                    </a:lnTo>
                    <a:lnTo>
                      <a:pt x="500" y="39"/>
                    </a:lnTo>
                    <a:lnTo>
                      <a:pt x="543" y="27"/>
                    </a:lnTo>
                    <a:lnTo>
                      <a:pt x="582" y="14"/>
                    </a:lnTo>
                    <a:lnTo>
                      <a:pt x="620" y="0"/>
                    </a:lnTo>
                    <a:lnTo>
                      <a:pt x="667" y="0"/>
                    </a:lnTo>
                    <a:lnTo>
                      <a:pt x="712" y="0"/>
                    </a:lnTo>
                    <a:lnTo>
                      <a:pt x="410" y="163"/>
                    </a:lnTo>
                    <a:lnTo>
                      <a:pt x="110" y="325"/>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35" name="Freeform 755"/>
              <p:cNvSpPr>
                <a:spLocks/>
              </p:cNvSpPr>
              <p:nvPr/>
            </p:nvSpPr>
            <p:spPr bwMode="auto">
              <a:xfrm>
                <a:off x="1451" y="4001"/>
                <a:ext cx="429" cy="163"/>
              </a:xfrm>
              <a:custGeom>
                <a:avLst/>
                <a:gdLst>
                  <a:gd name="T0" fmla="*/ 119 w 858"/>
                  <a:gd name="T1" fmla="*/ 234 h 326"/>
                  <a:gd name="T2" fmla="*/ 167 w 858"/>
                  <a:gd name="T3" fmla="*/ 241 h 326"/>
                  <a:gd name="T4" fmla="*/ 150 w 858"/>
                  <a:gd name="T5" fmla="*/ 257 h 326"/>
                  <a:gd name="T6" fmla="*/ 150 w 858"/>
                  <a:gd name="T7" fmla="*/ 269 h 326"/>
                  <a:gd name="T8" fmla="*/ 165 w 858"/>
                  <a:gd name="T9" fmla="*/ 276 h 326"/>
                  <a:gd name="T10" fmla="*/ 198 w 858"/>
                  <a:gd name="T11" fmla="*/ 274 h 326"/>
                  <a:gd name="T12" fmla="*/ 241 w 858"/>
                  <a:gd name="T13" fmla="*/ 267 h 326"/>
                  <a:gd name="T14" fmla="*/ 293 w 858"/>
                  <a:gd name="T15" fmla="*/ 251 h 326"/>
                  <a:gd name="T16" fmla="*/ 350 w 858"/>
                  <a:gd name="T17" fmla="*/ 227 h 326"/>
                  <a:gd name="T18" fmla="*/ 403 w 858"/>
                  <a:gd name="T19" fmla="*/ 198 h 326"/>
                  <a:gd name="T20" fmla="*/ 432 w 858"/>
                  <a:gd name="T21" fmla="*/ 176 h 326"/>
                  <a:gd name="T22" fmla="*/ 437 w 858"/>
                  <a:gd name="T23" fmla="*/ 167 h 326"/>
                  <a:gd name="T24" fmla="*/ 431 w 858"/>
                  <a:gd name="T25" fmla="*/ 157 h 326"/>
                  <a:gd name="T26" fmla="*/ 403 w 858"/>
                  <a:gd name="T27" fmla="*/ 153 h 326"/>
                  <a:gd name="T28" fmla="*/ 346 w 858"/>
                  <a:gd name="T29" fmla="*/ 158 h 326"/>
                  <a:gd name="T30" fmla="*/ 274 w 858"/>
                  <a:gd name="T31" fmla="*/ 176 h 326"/>
                  <a:gd name="T32" fmla="*/ 196 w 858"/>
                  <a:gd name="T33" fmla="*/ 169 h 326"/>
                  <a:gd name="T34" fmla="*/ 565 w 858"/>
                  <a:gd name="T35" fmla="*/ 0 h 326"/>
                  <a:gd name="T36" fmla="*/ 858 w 858"/>
                  <a:gd name="T37" fmla="*/ 0 h 326"/>
                  <a:gd name="T38" fmla="*/ 751 w 858"/>
                  <a:gd name="T39" fmla="*/ 59 h 326"/>
                  <a:gd name="T40" fmla="*/ 541 w 858"/>
                  <a:gd name="T41" fmla="*/ 59 h 326"/>
                  <a:gd name="T42" fmla="*/ 422 w 858"/>
                  <a:gd name="T43" fmla="*/ 114 h 326"/>
                  <a:gd name="T44" fmla="*/ 475 w 858"/>
                  <a:gd name="T45" fmla="*/ 107 h 326"/>
                  <a:gd name="T46" fmla="*/ 518 w 858"/>
                  <a:gd name="T47" fmla="*/ 103 h 326"/>
                  <a:gd name="T48" fmla="*/ 549 w 858"/>
                  <a:gd name="T49" fmla="*/ 105 h 326"/>
                  <a:gd name="T50" fmla="*/ 572 w 858"/>
                  <a:gd name="T51" fmla="*/ 110 h 326"/>
                  <a:gd name="T52" fmla="*/ 586 w 858"/>
                  <a:gd name="T53" fmla="*/ 121 h 326"/>
                  <a:gd name="T54" fmla="*/ 587 w 858"/>
                  <a:gd name="T55" fmla="*/ 133 h 326"/>
                  <a:gd name="T56" fmla="*/ 580 w 858"/>
                  <a:gd name="T57" fmla="*/ 150 h 326"/>
                  <a:gd name="T58" fmla="*/ 562 w 858"/>
                  <a:gd name="T59" fmla="*/ 167 h 326"/>
                  <a:gd name="T60" fmla="*/ 534 w 858"/>
                  <a:gd name="T61" fmla="*/ 189 h 326"/>
                  <a:gd name="T62" fmla="*/ 494 w 858"/>
                  <a:gd name="T63" fmla="*/ 212 h 326"/>
                  <a:gd name="T64" fmla="*/ 415 w 858"/>
                  <a:gd name="T65" fmla="*/ 250 h 326"/>
                  <a:gd name="T66" fmla="*/ 322 w 858"/>
                  <a:gd name="T67" fmla="*/ 283 h 326"/>
                  <a:gd name="T68" fmla="*/ 196 w 858"/>
                  <a:gd name="T69" fmla="*/ 315 h 326"/>
                  <a:gd name="T70" fmla="*/ 86 w 858"/>
                  <a:gd name="T71" fmla="*/ 326 h 326"/>
                  <a:gd name="T72" fmla="*/ 50 w 858"/>
                  <a:gd name="T73" fmla="*/ 324 h 326"/>
                  <a:gd name="T74" fmla="*/ 24 w 858"/>
                  <a:gd name="T75" fmla="*/ 319 h 326"/>
                  <a:gd name="T76" fmla="*/ 7 w 858"/>
                  <a:gd name="T77" fmla="*/ 312 h 326"/>
                  <a:gd name="T78" fmla="*/ 0 w 858"/>
                  <a:gd name="T79" fmla="*/ 301 h 326"/>
                  <a:gd name="T80" fmla="*/ 1 w 858"/>
                  <a:gd name="T81" fmla="*/ 288 h 326"/>
                  <a:gd name="T82" fmla="*/ 12 w 858"/>
                  <a:gd name="T83" fmla="*/ 272 h 326"/>
                  <a:gd name="T84" fmla="*/ 29 w 858"/>
                  <a:gd name="T85" fmla="*/ 255 h 326"/>
                  <a:gd name="T86" fmla="*/ 58 w 858"/>
                  <a:gd name="T87" fmla="*/ 236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8" h="326">
                    <a:moveTo>
                      <a:pt x="58" y="236"/>
                    </a:moveTo>
                    <a:lnTo>
                      <a:pt x="119" y="234"/>
                    </a:lnTo>
                    <a:lnTo>
                      <a:pt x="181" y="231"/>
                    </a:lnTo>
                    <a:lnTo>
                      <a:pt x="167" y="241"/>
                    </a:lnTo>
                    <a:lnTo>
                      <a:pt x="157" y="250"/>
                    </a:lnTo>
                    <a:lnTo>
                      <a:pt x="150" y="257"/>
                    </a:lnTo>
                    <a:lnTo>
                      <a:pt x="148" y="264"/>
                    </a:lnTo>
                    <a:lnTo>
                      <a:pt x="150" y="269"/>
                    </a:lnTo>
                    <a:lnTo>
                      <a:pt x="157" y="272"/>
                    </a:lnTo>
                    <a:lnTo>
                      <a:pt x="165" y="276"/>
                    </a:lnTo>
                    <a:lnTo>
                      <a:pt x="179" y="276"/>
                    </a:lnTo>
                    <a:lnTo>
                      <a:pt x="198" y="274"/>
                    </a:lnTo>
                    <a:lnTo>
                      <a:pt x="219" y="272"/>
                    </a:lnTo>
                    <a:lnTo>
                      <a:pt x="241" y="267"/>
                    </a:lnTo>
                    <a:lnTo>
                      <a:pt x="267" y="260"/>
                    </a:lnTo>
                    <a:lnTo>
                      <a:pt x="293" y="251"/>
                    </a:lnTo>
                    <a:lnTo>
                      <a:pt x="320" y="241"/>
                    </a:lnTo>
                    <a:lnTo>
                      <a:pt x="350" y="227"/>
                    </a:lnTo>
                    <a:lnTo>
                      <a:pt x="379" y="212"/>
                    </a:lnTo>
                    <a:lnTo>
                      <a:pt x="403" y="198"/>
                    </a:lnTo>
                    <a:lnTo>
                      <a:pt x="422" y="186"/>
                    </a:lnTo>
                    <a:lnTo>
                      <a:pt x="432" y="176"/>
                    </a:lnTo>
                    <a:lnTo>
                      <a:pt x="436" y="171"/>
                    </a:lnTo>
                    <a:lnTo>
                      <a:pt x="437" y="167"/>
                    </a:lnTo>
                    <a:lnTo>
                      <a:pt x="437" y="162"/>
                    </a:lnTo>
                    <a:lnTo>
                      <a:pt x="431" y="157"/>
                    </a:lnTo>
                    <a:lnTo>
                      <a:pt x="420" y="155"/>
                    </a:lnTo>
                    <a:lnTo>
                      <a:pt x="403" y="153"/>
                    </a:lnTo>
                    <a:lnTo>
                      <a:pt x="377" y="155"/>
                    </a:lnTo>
                    <a:lnTo>
                      <a:pt x="346" y="158"/>
                    </a:lnTo>
                    <a:lnTo>
                      <a:pt x="312" y="165"/>
                    </a:lnTo>
                    <a:lnTo>
                      <a:pt x="274" y="176"/>
                    </a:lnTo>
                    <a:lnTo>
                      <a:pt x="236" y="172"/>
                    </a:lnTo>
                    <a:lnTo>
                      <a:pt x="196" y="169"/>
                    </a:lnTo>
                    <a:lnTo>
                      <a:pt x="381" y="84"/>
                    </a:lnTo>
                    <a:lnTo>
                      <a:pt x="565" y="0"/>
                    </a:lnTo>
                    <a:lnTo>
                      <a:pt x="711" y="0"/>
                    </a:lnTo>
                    <a:lnTo>
                      <a:pt x="858" y="0"/>
                    </a:lnTo>
                    <a:lnTo>
                      <a:pt x="804" y="29"/>
                    </a:lnTo>
                    <a:lnTo>
                      <a:pt x="751" y="59"/>
                    </a:lnTo>
                    <a:lnTo>
                      <a:pt x="646" y="59"/>
                    </a:lnTo>
                    <a:lnTo>
                      <a:pt x="541" y="59"/>
                    </a:lnTo>
                    <a:lnTo>
                      <a:pt x="482" y="86"/>
                    </a:lnTo>
                    <a:lnTo>
                      <a:pt x="422" y="114"/>
                    </a:lnTo>
                    <a:lnTo>
                      <a:pt x="450" y="108"/>
                    </a:lnTo>
                    <a:lnTo>
                      <a:pt x="475" y="107"/>
                    </a:lnTo>
                    <a:lnTo>
                      <a:pt x="498" y="103"/>
                    </a:lnTo>
                    <a:lnTo>
                      <a:pt x="518" y="103"/>
                    </a:lnTo>
                    <a:lnTo>
                      <a:pt x="536" y="103"/>
                    </a:lnTo>
                    <a:lnTo>
                      <a:pt x="549" y="105"/>
                    </a:lnTo>
                    <a:lnTo>
                      <a:pt x="563" y="108"/>
                    </a:lnTo>
                    <a:lnTo>
                      <a:pt x="572" y="110"/>
                    </a:lnTo>
                    <a:lnTo>
                      <a:pt x="580" y="115"/>
                    </a:lnTo>
                    <a:lnTo>
                      <a:pt x="586" y="121"/>
                    </a:lnTo>
                    <a:lnTo>
                      <a:pt x="587" y="126"/>
                    </a:lnTo>
                    <a:lnTo>
                      <a:pt x="587" y="133"/>
                    </a:lnTo>
                    <a:lnTo>
                      <a:pt x="586" y="141"/>
                    </a:lnTo>
                    <a:lnTo>
                      <a:pt x="580" y="150"/>
                    </a:lnTo>
                    <a:lnTo>
                      <a:pt x="572" y="158"/>
                    </a:lnTo>
                    <a:lnTo>
                      <a:pt x="562" y="167"/>
                    </a:lnTo>
                    <a:lnTo>
                      <a:pt x="549" y="177"/>
                    </a:lnTo>
                    <a:lnTo>
                      <a:pt x="534" y="189"/>
                    </a:lnTo>
                    <a:lnTo>
                      <a:pt x="515" y="200"/>
                    </a:lnTo>
                    <a:lnTo>
                      <a:pt x="494" y="212"/>
                    </a:lnTo>
                    <a:lnTo>
                      <a:pt x="456" y="231"/>
                    </a:lnTo>
                    <a:lnTo>
                      <a:pt x="415" y="250"/>
                    </a:lnTo>
                    <a:lnTo>
                      <a:pt x="370" y="267"/>
                    </a:lnTo>
                    <a:lnTo>
                      <a:pt x="322" y="283"/>
                    </a:lnTo>
                    <a:lnTo>
                      <a:pt x="257" y="301"/>
                    </a:lnTo>
                    <a:lnTo>
                      <a:pt x="196" y="315"/>
                    </a:lnTo>
                    <a:lnTo>
                      <a:pt x="139" y="324"/>
                    </a:lnTo>
                    <a:lnTo>
                      <a:pt x="86" y="326"/>
                    </a:lnTo>
                    <a:lnTo>
                      <a:pt x="67" y="326"/>
                    </a:lnTo>
                    <a:lnTo>
                      <a:pt x="50" y="324"/>
                    </a:lnTo>
                    <a:lnTo>
                      <a:pt x="36" y="322"/>
                    </a:lnTo>
                    <a:lnTo>
                      <a:pt x="24" y="319"/>
                    </a:lnTo>
                    <a:lnTo>
                      <a:pt x="14" y="315"/>
                    </a:lnTo>
                    <a:lnTo>
                      <a:pt x="7" y="312"/>
                    </a:lnTo>
                    <a:lnTo>
                      <a:pt x="1" y="307"/>
                    </a:lnTo>
                    <a:lnTo>
                      <a:pt x="0" y="301"/>
                    </a:lnTo>
                    <a:lnTo>
                      <a:pt x="0" y="295"/>
                    </a:lnTo>
                    <a:lnTo>
                      <a:pt x="1" y="288"/>
                    </a:lnTo>
                    <a:lnTo>
                      <a:pt x="5" y="281"/>
                    </a:lnTo>
                    <a:lnTo>
                      <a:pt x="12" y="272"/>
                    </a:lnTo>
                    <a:lnTo>
                      <a:pt x="19" y="264"/>
                    </a:lnTo>
                    <a:lnTo>
                      <a:pt x="29" y="255"/>
                    </a:lnTo>
                    <a:lnTo>
                      <a:pt x="43" y="246"/>
                    </a:lnTo>
                    <a:lnTo>
                      <a:pt x="58" y="236"/>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36" name="Freeform 756"/>
              <p:cNvSpPr>
                <a:spLocks noEditPoints="1"/>
              </p:cNvSpPr>
              <p:nvPr/>
            </p:nvSpPr>
            <p:spPr bwMode="auto">
              <a:xfrm>
                <a:off x="1679" y="3999"/>
                <a:ext cx="413" cy="163"/>
              </a:xfrm>
              <a:custGeom>
                <a:avLst/>
                <a:gdLst>
                  <a:gd name="T0" fmla="*/ 117 w 825"/>
                  <a:gd name="T1" fmla="*/ 325 h 325"/>
                  <a:gd name="T2" fmla="*/ 177 w 825"/>
                  <a:gd name="T3" fmla="*/ 293 h 325"/>
                  <a:gd name="T4" fmla="*/ 237 w 825"/>
                  <a:gd name="T5" fmla="*/ 260 h 325"/>
                  <a:gd name="T6" fmla="*/ 0 w 825"/>
                  <a:gd name="T7" fmla="*/ 260 h 325"/>
                  <a:gd name="T8" fmla="*/ 50 w 825"/>
                  <a:gd name="T9" fmla="*/ 232 h 325"/>
                  <a:gd name="T10" fmla="*/ 100 w 825"/>
                  <a:gd name="T11" fmla="*/ 205 h 325"/>
                  <a:gd name="T12" fmla="*/ 415 w 825"/>
                  <a:gd name="T13" fmla="*/ 103 h 325"/>
                  <a:gd name="T14" fmla="*/ 732 w 825"/>
                  <a:gd name="T15" fmla="*/ 0 h 325"/>
                  <a:gd name="T16" fmla="*/ 825 w 825"/>
                  <a:gd name="T17" fmla="*/ 0 h 325"/>
                  <a:gd name="T18" fmla="*/ 636 w 825"/>
                  <a:gd name="T19" fmla="*/ 103 h 325"/>
                  <a:gd name="T20" fmla="*/ 446 w 825"/>
                  <a:gd name="T21" fmla="*/ 205 h 325"/>
                  <a:gd name="T22" fmla="*/ 480 w 825"/>
                  <a:gd name="T23" fmla="*/ 205 h 325"/>
                  <a:gd name="T24" fmla="*/ 517 w 825"/>
                  <a:gd name="T25" fmla="*/ 205 h 325"/>
                  <a:gd name="T26" fmla="*/ 467 w 825"/>
                  <a:gd name="T27" fmla="*/ 232 h 325"/>
                  <a:gd name="T28" fmla="*/ 417 w 825"/>
                  <a:gd name="T29" fmla="*/ 260 h 325"/>
                  <a:gd name="T30" fmla="*/ 344 w 825"/>
                  <a:gd name="T31" fmla="*/ 260 h 325"/>
                  <a:gd name="T32" fmla="*/ 284 w 825"/>
                  <a:gd name="T33" fmla="*/ 293 h 325"/>
                  <a:gd name="T34" fmla="*/ 224 w 825"/>
                  <a:gd name="T35" fmla="*/ 325 h 325"/>
                  <a:gd name="T36" fmla="*/ 170 w 825"/>
                  <a:gd name="T37" fmla="*/ 325 h 325"/>
                  <a:gd name="T38" fmla="*/ 117 w 825"/>
                  <a:gd name="T39" fmla="*/ 325 h 325"/>
                  <a:gd name="T40" fmla="*/ 117 w 825"/>
                  <a:gd name="T41" fmla="*/ 325 h 325"/>
                  <a:gd name="T42" fmla="*/ 337 w 825"/>
                  <a:gd name="T43" fmla="*/ 205 h 325"/>
                  <a:gd name="T44" fmla="*/ 441 w 825"/>
                  <a:gd name="T45" fmla="*/ 150 h 325"/>
                  <a:gd name="T46" fmla="*/ 543 w 825"/>
                  <a:gd name="T47" fmla="*/ 95 h 325"/>
                  <a:gd name="T48" fmla="*/ 374 w 825"/>
                  <a:gd name="T49" fmla="*/ 150 h 325"/>
                  <a:gd name="T50" fmla="*/ 205 w 825"/>
                  <a:gd name="T51" fmla="*/ 205 h 325"/>
                  <a:gd name="T52" fmla="*/ 270 w 825"/>
                  <a:gd name="T53" fmla="*/ 205 h 325"/>
                  <a:gd name="T54" fmla="*/ 337 w 825"/>
                  <a:gd name="T55" fmla="*/ 205 h 325"/>
                  <a:gd name="T56" fmla="*/ 337 w 825"/>
                  <a:gd name="T57" fmla="*/ 205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25" h="325">
                    <a:moveTo>
                      <a:pt x="117" y="325"/>
                    </a:moveTo>
                    <a:lnTo>
                      <a:pt x="177" y="293"/>
                    </a:lnTo>
                    <a:lnTo>
                      <a:pt x="237" y="260"/>
                    </a:lnTo>
                    <a:lnTo>
                      <a:pt x="0" y="260"/>
                    </a:lnTo>
                    <a:lnTo>
                      <a:pt x="50" y="232"/>
                    </a:lnTo>
                    <a:lnTo>
                      <a:pt x="100" y="205"/>
                    </a:lnTo>
                    <a:lnTo>
                      <a:pt x="415" y="103"/>
                    </a:lnTo>
                    <a:lnTo>
                      <a:pt x="732" y="0"/>
                    </a:lnTo>
                    <a:lnTo>
                      <a:pt x="825" y="0"/>
                    </a:lnTo>
                    <a:lnTo>
                      <a:pt x="636" y="103"/>
                    </a:lnTo>
                    <a:lnTo>
                      <a:pt x="446" y="205"/>
                    </a:lnTo>
                    <a:lnTo>
                      <a:pt x="480" y="205"/>
                    </a:lnTo>
                    <a:lnTo>
                      <a:pt x="517" y="205"/>
                    </a:lnTo>
                    <a:lnTo>
                      <a:pt x="467" y="232"/>
                    </a:lnTo>
                    <a:lnTo>
                      <a:pt x="417" y="260"/>
                    </a:lnTo>
                    <a:lnTo>
                      <a:pt x="344" y="260"/>
                    </a:lnTo>
                    <a:lnTo>
                      <a:pt x="284" y="293"/>
                    </a:lnTo>
                    <a:lnTo>
                      <a:pt x="224" y="325"/>
                    </a:lnTo>
                    <a:lnTo>
                      <a:pt x="170" y="325"/>
                    </a:lnTo>
                    <a:lnTo>
                      <a:pt x="117" y="325"/>
                    </a:lnTo>
                    <a:lnTo>
                      <a:pt x="117" y="325"/>
                    </a:lnTo>
                    <a:close/>
                    <a:moveTo>
                      <a:pt x="337" y="205"/>
                    </a:moveTo>
                    <a:lnTo>
                      <a:pt x="441" y="150"/>
                    </a:lnTo>
                    <a:lnTo>
                      <a:pt x="543" y="95"/>
                    </a:lnTo>
                    <a:lnTo>
                      <a:pt x="374" y="150"/>
                    </a:lnTo>
                    <a:lnTo>
                      <a:pt x="205" y="205"/>
                    </a:lnTo>
                    <a:lnTo>
                      <a:pt x="270" y="205"/>
                    </a:lnTo>
                    <a:lnTo>
                      <a:pt x="337" y="205"/>
                    </a:lnTo>
                    <a:lnTo>
                      <a:pt x="337" y="205"/>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37" name="Freeform 757"/>
              <p:cNvSpPr>
                <a:spLocks/>
              </p:cNvSpPr>
              <p:nvPr/>
            </p:nvSpPr>
            <p:spPr bwMode="auto">
              <a:xfrm>
                <a:off x="1900" y="3999"/>
                <a:ext cx="385" cy="165"/>
              </a:xfrm>
              <a:custGeom>
                <a:avLst/>
                <a:gdLst>
                  <a:gd name="T0" fmla="*/ 122 w 768"/>
                  <a:gd name="T1" fmla="*/ 236 h 331"/>
                  <a:gd name="T2" fmla="*/ 167 w 768"/>
                  <a:gd name="T3" fmla="*/ 243 h 331"/>
                  <a:gd name="T4" fmla="*/ 148 w 768"/>
                  <a:gd name="T5" fmla="*/ 260 h 331"/>
                  <a:gd name="T6" fmla="*/ 146 w 768"/>
                  <a:gd name="T7" fmla="*/ 272 h 331"/>
                  <a:gd name="T8" fmla="*/ 163 w 768"/>
                  <a:gd name="T9" fmla="*/ 279 h 331"/>
                  <a:gd name="T10" fmla="*/ 196 w 768"/>
                  <a:gd name="T11" fmla="*/ 277 h 331"/>
                  <a:gd name="T12" fmla="*/ 237 w 768"/>
                  <a:gd name="T13" fmla="*/ 270 h 331"/>
                  <a:gd name="T14" fmla="*/ 311 w 768"/>
                  <a:gd name="T15" fmla="*/ 248 h 331"/>
                  <a:gd name="T16" fmla="*/ 377 w 768"/>
                  <a:gd name="T17" fmla="*/ 215 h 331"/>
                  <a:gd name="T18" fmla="*/ 401 w 768"/>
                  <a:gd name="T19" fmla="*/ 194 h 331"/>
                  <a:gd name="T20" fmla="*/ 403 w 768"/>
                  <a:gd name="T21" fmla="*/ 182 h 331"/>
                  <a:gd name="T22" fmla="*/ 389 w 768"/>
                  <a:gd name="T23" fmla="*/ 176 h 331"/>
                  <a:gd name="T24" fmla="*/ 363 w 768"/>
                  <a:gd name="T25" fmla="*/ 174 h 331"/>
                  <a:gd name="T26" fmla="*/ 334 w 768"/>
                  <a:gd name="T27" fmla="*/ 177 h 331"/>
                  <a:gd name="T28" fmla="*/ 368 w 768"/>
                  <a:gd name="T29" fmla="*/ 153 h 331"/>
                  <a:gd name="T30" fmla="*/ 465 w 768"/>
                  <a:gd name="T31" fmla="*/ 126 h 331"/>
                  <a:gd name="T32" fmla="*/ 510 w 768"/>
                  <a:gd name="T33" fmla="*/ 117 h 331"/>
                  <a:gd name="T34" fmla="*/ 553 w 768"/>
                  <a:gd name="T35" fmla="*/ 105 h 331"/>
                  <a:gd name="T36" fmla="*/ 603 w 768"/>
                  <a:gd name="T37" fmla="*/ 79 h 331"/>
                  <a:gd name="T38" fmla="*/ 618 w 768"/>
                  <a:gd name="T39" fmla="*/ 65 h 331"/>
                  <a:gd name="T40" fmla="*/ 620 w 768"/>
                  <a:gd name="T41" fmla="*/ 57 h 331"/>
                  <a:gd name="T42" fmla="*/ 604 w 768"/>
                  <a:gd name="T43" fmla="*/ 51 h 331"/>
                  <a:gd name="T44" fmla="*/ 561 w 768"/>
                  <a:gd name="T45" fmla="*/ 55 h 331"/>
                  <a:gd name="T46" fmla="*/ 523 w 768"/>
                  <a:gd name="T47" fmla="*/ 62 h 331"/>
                  <a:gd name="T48" fmla="*/ 482 w 768"/>
                  <a:gd name="T49" fmla="*/ 76 h 331"/>
                  <a:gd name="T50" fmla="*/ 398 w 768"/>
                  <a:gd name="T51" fmla="*/ 89 h 331"/>
                  <a:gd name="T52" fmla="*/ 417 w 768"/>
                  <a:gd name="T53" fmla="*/ 58 h 331"/>
                  <a:gd name="T54" fmla="*/ 529 w 768"/>
                  <a:gd name="T55" fmla="*/ 22 h 331"/>
                  <a:gd name="T56" fmla="*/ 641 w 768"/>
                  <a:gd name="T57" fmla="*/ 3 h 331"/>
                  <a:gd name="T58" fmla="*/ 710 w 768"/>
                  <a:gd name="T59" fmla="*/ 0 h 331"/>
                  <a:gd name="T60" fmla="*/ 739 w 768"/>
                  <a:gd name="T61" fmla="*/ 5 h 331"/>
                  <a:gd name="T62" fmla="*/ 759 w 768"/>
                  <a:gd name="T63" fmla="*/ 12 h 331"/>
                  <a:gd name="T64" fmla="*/ 768 w 768"/>
                  <a:gd name="T65" fmla="*/ 22 h 331"/>
                  <a:gd name="T66" fmla="*/ 763 w 768"/>
                  <a:gd name="T67" fmla="*/ 41 h 331"/>
                  <a:gd name="T68" fmla="*/ 734 w 768"/>
                  <a:gd name="T69" fmla="*/ 69 h 331"/>
                  <a:gd name="T70" fmla="*/ 666 w 768"/>
                  <a:gd name="T71" fmla="*/ 103 h 331"/>
                  <a:gd name="T72" fmla="*/ 561 w 768"/>
                  <a:gd name="T73" fmla="*/ 138 h 331"/>
                  <a:gd name="T74" fmla="*/ 499 w 768"/>
                  <a:gd name="T75" fmla="*/ 151 h 331"/>
                  <a:gd name="T76" fmla="*/ 527 w 768"/>
                  <a:gd name="T77" fmla="*/ 160 h 331"/>
                  <a:gd name="T78" fmla="*/ 530 w 768"/>
                  <a:gd name="T79" fmla="*/ 177 h 331"/>
                  <a:gd name="T80" fmla="*/ 510 w 768"/>
                  <a:gd name="T81" fmla="*/ 200 h 331"/>
                  <a:gd name="T82" fmla="*/ 467 w 768"/>
                  <a:gd name="T83" fmla="*/ 227 h 331"/>
                  <a:gd name="T84" fmla="*/ 380 w 768"/>
                  <a:gd name="T85" fmla="*/ 267 h 331"/>
                  <a:gd name="T86" fmla="*/ 277 w 768"/>
                  <a:gd name="T87" fmla="*/ 300 h 331"/>
                  <a:gd name="T88" fmla="*/ 172 w 768"/>
                  <a:gd name="T89" fmla="*/ 324 h 331"/>
                  <a:gd name="T90" fmla="*/ 82 w 768"/>
                  <a:gd name="T91" fmla="*/ 331 h 331"/>
                  <a:gd name="T92" fmla="*/ 48 w 768"/>
                  <a:gd name="T93" fmla="*/ 329 h 331"/>
                  <a:gd name="T94" fmla="*/ 22 w 768"/>
                  <a:gd name="T95" fmla="*/ 324 h 331"/>
                  <a:gd name="T96" fmla="*/ 6 w 768"/>
                  <a:gd name="T97" fmla="*/ 317 h 331"/>
                  <a:gd name="T98" fmla="*/ 0 w 768"/>
                  <a:gd name="T99" fmla="*/ 305 h 331"/>
                  <a:gd name="T100" fmla="*/ 1 w 768"/>
                  <a:gd name="T101" fmla="*/ 291 h 331"/>
                  <a:gd name="T102" fmla="*/ 13 w 768"/>
                  <a:gd name="T103" fmla="*/ 275 h 331"/>
                  <a:gd name="T104" fmla="*/ 32 w 768"/>
                  <a:gd name="T105" fmla="*/ 258 h 331"/>
                  <a:gd name="T106" fmla="*/ 62 w 768"/>
                  <a:gd name="T107" fmla="*/ 239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68" h="331">
                    <a:moveTo>
                      <a:pt x="62" y="239"/>
                    </a:moveTo>
                    <a:lnTo>
                      <a:pt x="122" y="236"/>
                    </a:lnTo>
                    <a:lnTo>
                      <a:pt x="182" y="232"/>
                    </a:lnTo>
                    <a:lnTo>
                      <a:pt x="167" y="243"/>
                    </a:lnTo>
                    <a:lnTo>
                      <a:pt x="155" y="251"/>
                    </a:lnTo>
                    <a:lnTo>
                      <a:pt x="148" y="260"/>
                    </a:lnTo>
                    <a:lnTo>
                      <a:pt x="144" y="267"/>
                    </a:lnTo>
                    <a:lnTo>
                      <a:pt x="146" y="272"/>
                    </a:lnTo>
                    <a:lnTo>
                      <a:pt x="153" y="275"/>
                    </a:lnTo>
                    <a:lnTo>
                      <a:pt x="163" y="279"/>
                    </a:lnTo>
                    <a:lnTo>
                      <a:pt x="177" y="279"/>
                    </a:lnTo>
                    <a:lnTo>
                      <a:pt x="196" y="277"/>
                    </a:lnTo>
                    <a:lnTo>
                      <a:pt x="215" y="275"/>
                    </a:lnTo>
                    <a:lnTo>
                      <a:pt x="237" y="270"/>
                    </a:lnTo>
                    <a:lnTo>
                      <a:pt x="261" y="265"/>
                    </a:lnTo>
                    <a:lnTo>
                      <a:pt x="311" y="248"/>
                    </a:lnTo>
                    <a:lnTo>
                      <a:pt x="358" y="225"/>
                    </a:lnTo>
                    <a:lnTo>
                      <a:pt x="377" y="215"/>
                    </a:lnTo>
                    <a:lnTo>
                      <a:pt x="392" y="205"/>
                    </a:lnTo>
                    <a:lnTo>
                      <a:pt x="401" y="194"/>
                    </a:lnTo>
                    <a:lnTo>
                      <a:pt x="405" y="188"/>
                    </a:lnTo>
                    <a:lnTo>
                      <a:pt x="403" y="182"/>
                    </a:lnTo>
                    <a:lnTo>
                      <a:pt x="398" y="177"/>
                    </a:lnTo>
                    <a:lnTo>
                      <a:pt x="389" y="176"/>
                    </a:lnTo>
                    <a:lnTo>
                      <a:pt x="375" y="174"/>
                    </a:lnTo>
                    <a:lnTo>
                      <a:pt x="363" y="174"/>
                    </a:lnTo>
                    <a:lnTo>
                      <a:pt x="349" y="176"/>
                    </a:lnTo>
                    <a:lnTo>
                      <a:pt x="334" y="177"/>
                    </a:lnTo>
                    <a:lnTo>
                      <a:pt x="315" y="179"/>
                    </a:lnTo>
                    <a:lnTo>
                      <a:pt x="368" y="153"/>
                    </a:lnTo>
                    <a:lnTo>
                      <a:pt x="420" y="129"/>
                    </a:lnTo>
                    <a:lnTo>
                      <a:pt x="465" y="126"/>
                    </a:lnTo>
                    <a:lnTo>
                      <a:pt x="487" y="122"/>
                    </a:lnTo>
                    <a:lnTo>
                      <a:pt x="510" y="117"/>
                    </a:lnTo>
                    <a:lnTo>
                      <a:pt x="532" y="112"/>
                    </a:lnTo>
                    <a:lnTo>
                      <a:pt x="553" y="105"/>
                    </a:lnTo>
                    <a:lnTo>
                      <a:pt x="591" y="86"/>
                    </a:lnTo>
                    <a:lnTo>
                      <a:pt x="603" y="79"/>
                    </a:lnTo>
                    <a:lnTo>
                      <a:pt x="613" y="72"/>
                    </a:lnTo>
                    <a:lnTo>
                      <a:pt x="618" y="65"/>
                    </a:lnTo>
                    <a:lnTo>
                      <a:pt x="622" y="60"/>
                    </a:lnTo>
                    <a:lnTo>
                      <a:pt x="620" y="57"/>
                    </a:lnTo>
                    <a:lnTo>
                      <a:pt x="615" y="53"/>
                    </a:lnTo>
                    <a:lnTo>
                      <a:pt x="604" y="51"/>
                    </a:lnTo>
                    <a:lnTo>
                      <a:pt x="592" y="51"/>
                    </a:lnTo>
                    <a:lnTo>
                      <a:pt x="561" y="55"/>
                    </a:lnTo>
                    <a:lnTo>
                      <a:pt x="542" y="57"/>
                    </a:lnTo>
                    <a:lnTo>
                      <a:pt x="523" y="62"/>
                    </a:lnTo>
                    <a:lnTo>
                      <a:pt x="503" y="69"/>
                    </a:lnTo>
                    <a:lnTo>
                      <a:pt x="482" y="76"/>
                    </a:lnTo>
                    <a:lnTo>
                      <a:pt x="439" y="95"/>
                    </a:lnTo>
                    <a:lnTo>
                      <a:pt x="398" y="89"/>
                    </a:lnTo>
                    <a:lnTo>
                      <a:pt x="355" y="84"/>
                    </a:lnTo>
                    <a:lnTo>
                      <a:pt x="417" y="58"/>
                    </a:lnTo>
                    <a:lnTo>
                      <a:pt x="473" y="38"/>
                    </a:lnTo>
                    <a:lnTo>
                      <a:pt x="529" y="22"/>
                    </a:lnTo>
                    <a:lnTo>
                      <a:pt x="585" y="10"/>
                    </a:lnTo>
                    <a:lnTo>
                      <a:pt x="641" y="3"/>
                    </a:lnTo>
                    <a:lnTo>
                      <a:pt x="691" y="0"/>
                    </a:lnTo>
                    <a:lnTo>
                      <a:pt x="710" y="0"/>
                    </a:lnTo>
                    <a:lnTo>
                      <a:pt x="725" y="1"/>
                    </a:lnTo>
                    <a:lnTo>
                      <a:pt x="739" y="5"/>
                    </a:lnTo>
                    <a:lnTo>
                      <a:pt x="751" y="7"/>
                    </a:lnTo>
                    <a:lnTo>
                      <a:pt x="759" y="12"/>
                    </a:lnTo>
                    <a:lnTo>
                      <a:pt x="765" y="17"/>
                    </a:lnTo>
                    <a:lnTo>
                      <a:pt x="768" y="22"/>
                    </a:lnTo>
                    <a:lnTo>
                      <a:pt x="768" y="29"/>
                    </a:lnTo>
                    <a:lnTo>
                      <a:pt x="763" y="41"/>
                    </a:lnTo>
                    <a:lnTo>
                      <a:pt x="751" y="55"/>
                    </a:lnTo>
                    <a:lnTo>
                      <a:pt x="734" y="69"/>
                    </a:lnTo>
                    <a:lnTo>
                      <a:pt x="710" y="82"/>
                    </a:lnTo>
                    <a:lnTo>
                      <a:pt x="666" y="103"/>
                    </a:lnTo>
                    <a:lnTo>
                      <a:pt x="618" y="122"/>
                    </a:lnTo>
                    <a:lnTo>
                      <a:pt x="561" y="138"/>
                    </a:lnTo>
                    <a:lnTo>
                      <a:pt x="532" y="144"/>
                    </a:lnTo>
                    <a:lnTo>
                      <a:pt x="499" y="151"/>
                    </a:lnTo>
                    <a:lnTo>
                      <a:pt x="517" y="155"/>
                    </a:lnTo>
                    <a:lnTo>
                      <a:pt x="527" y="160"/>
                    </a:lnTo>
                    <a:lnTo>
                      <a:pt x="532" y="169"/>
                    </a:lnTo>
                    <a:lnTo>
                      <a:pt x="530" y="177"/>
                    </a:lnTo>
                    <a:lnTo>
                      <a:pt x="523" y="188"/>
                    </a:lnTo>
                    <a:lnTo>
                      <a:pt x="510" y="200"/>
                    </a:lnTo>
                    <a:lnTo>
                      <a:pt x="491" y="213"/>
                    </a:lnTo>
                    <a:lnTo>
                      <a:pt x="467" y="227"/>
                    </a:lnTo>
                    <a:lnTo>
                      <a:pt x="425" y="248"/>
                    </a:lnTo>
                    <a:lnTo>
                      <a:pt x="380" y="267"/>
                    </a:lnTo>
                    <a:lnTo>
                      <a:pt x="330" y="284"/>
                    </a:lnTo>
                    <a:lnTo>
                      <a:pt x="277" y="300"/>
                    </a:lnTo>
                    <a:lnTo>
                      <a:pt x="224" y="313"/>
                    </a:lnTo>
                    <a:lnTo>
                      <a:pt x="172" y="324"/>
                    </a:lnTo>
                    <a:lnTo>
                      <a:pt x="125" y="329"/>
                    </a:lnTo>
                    <a:lnTo>
                      <a:pt x="82" y="331"/>
                    </a:lnTo>
                    <a:lnTo>
                      <a:pt x="63" y="331"/>
                    </a:lnTo>
                    <a:lnTo>
                      <a:pt x="48" y="329"/>
                    </a:lnTo>
                    <a:lnTo>
                      <a:pt x="34" y="327"/>
                    </a:lnTo>
                    <a:lnTo>
                      <a:pt x="22" y="324"/>
                    </a:lnTo>
                    <a:lnTo>
                      <a:pt x="13" y="320"/>
                    </a:lnTo>
                    <a:lnTo>
                      <a:pt x="6" y="317"/>
                    </a:lnTo>
                    <a:lnTo>
                      <a:pt x="1" y="312"/>
                    </a:lnTo>
                    <a:lnTo>
                      <a:pt x="0" y="305"/>
                    </a:lnTo>
                    <a:lnTo>
                      <a:pt x="0" y="298"/>
                    </a:lnTo>
                    <a:lnTo>
                      <a:pt x="1" y="291"/>
                    </a:lnTo>
                    <a:lnTo>
                      <a:pt x="6" y="284"/>
                    </a:lnTo>
                    <a:lnTo>
                      <a:pt x="13" y="275"/>
                    </a:lnTo>
                    <a:lnTo>
                      <a:pt x="22" y="267"/>
                    </a:lnTo>
                    <a:lnTo>
                      <a:pt x="32" y="258"/>
                    </a:lnTo>
                    <a:lnTo>
                      <a:pt x="46" y="250"/>
                    </a:lnTo>
                    <a:lnTo>
                      <a:pt x="62" y="239"/>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49238" name="Group 758"/>
            <p:cNvGrpSpPr>
              <a:grpSpLocks/>
            </p:cNvGrpSpPr>
            <p:nvPr/>
          </p:nvGrpSpPr>
          <p:grpSpPr bwMode="auto">
            <a:xfrm>
              <a:off x="3610" y="3610"/>
              <a:ext cx="544" cy="138"/>
              <a:chOff x="3627" y="3627"/>
              <a:chExt cx="544" cy="138"/>
            </a:xfrm>
          </p:grpSpPr>
          <p:sp>
            <p:nvSpPr>
              <p:cNvPr id="149239" name="Freeform 759"/>
              <p:cNvSpPr>
                <a:spLocks noEditPoints="1"/>
              </p:cNvSpPr>
              <p:nvPr/>
            </p:nvSpPr>
            <p:spPr bwMode="auto">
              <a:xfrm>
                <a:off x="3888" y="3640"/>
                <a:ext cx="283" cy="125"/>
              </a:xfrm>
              <a:custGeom>
                <a:avLst/>
                <a:gdLst>
                  <a:gd name="T0" fmla="*/ 126 w 565"/>
                  <a:gd name="T1" fmla="*/ 248 h 248"/>
                  <a:gd name="T2" fmla="*/ 171 w 565"/>
                  <a:gd name="T3" fmla="*/ 224 h 248"/>
                  <a:gd name="T4" fmla="*/ 214 w 565"/>
                  <a:gd name="T5" fmla="*/ 198 h 248"/>
                  <a:gd name="T6" fmla="*/ 493 w 565"/>
                  <a:gd name="T7" fmla="*/ 198 h 248"/>
                  <a:gd name="T8" fmla="*/ 565 w 565"/>
                  <a:gd name="T9" fmla="*/ 157 h 248"/>
                  <a:gd name="T10" fmla="*/ 562 w 565"/>
                  <a:gd name="T11" fmla="*/ 117 h 248"/>
                  <a:gd name="T12" fmla="*/ 557 w 565"/>
                  <a:gd name="T13" fmla="*/ 79 h 248"/>
                  <a:gd name="T14" fmla="*/ 551 w 565"/>
                  <a:gd name="T15" fmla="*/ 40 h 248"/>
                  <a:gd name="T16" fmla="*/ 548 w 565"/>
                  <a:gd name="T17" fmla="*/ 0 h 248"/>
                  <a:gd name="T18" fmla="*/ 493 w 565"/>
                  <a:gd name="T19" fmla="*/ 0 h 248"/>
                  <a:gd name="T20" fmla="*/ 438 w 565"/>
                  <a:gd name="T21" fmla="*/ 0 h 248"/>
                  <a:gd name="T22" fmla="*/ 300 w 565"/>
                  <a:gd name="T23" fmla="*/ 79 h 248"/>
                  <a:gd name="T24" fmla="*/ 162 w 565"/>
                  <a:gd name="T25" fmla="*/ 157 h 248"/>
                  <a:gd name="T26" fmla="*/ 119 w 565"/>
                  <a:gd name="T27" fmla="*/ 157 h 248"/>
                  <a:gd name="T28" fmla="*/ 78 w 565"/>
                  <a:gd name="T29" fmla="*/ 157 h 248"/>
                  <a:gd name="T30" fmla="*/ 40 w 565"/>
                  <a:gd name="T31" fmla="*/ 177 h 248"/>
                  <a:gd name="T32" fmla="*/ 3 w 565"/>
                  <a:gd name="T33" fmla="*/ 198 h 248"/>
                  <a:gd name="T34" fmla="*/ 47 w 565"/>
                  <a:gd name="T35" fmla="*/ 198 h 248"/>
                  <a:gd name="T36" fmla="*/ 88 w 565"/>
                  <a:gd name="T37" fmla="*/ 198 h 248"/>
                  <a:gd name="T38" fmla="*/ 45 w 565"/>
                  <a:gd name="T39" fmla="*/ 224 h 248"/>
                  <a:gd name="T40" fmla="*/ 0 w 565"/>
                  <a:gd name="T41" fmla="*/ 248 h 248"/>
                  <a:gd name="T42" fmla="*/ 64 w 565"/>
                  <a:gd name="T43" fmla="*/ 248 h 248"/>
                  <a:gd name="T44" fmla="*/ 126 w 565"/>
                  <a:gd name="T45" fmla="*/ 248 h 248"/>
                  <a:gd name="T46" fmla="*/ 126 w 565"/>
                  <a:gd name="T47" fmla="*/ 248 h 248"/>
                  <a:gd name="T48" fmla="*/ 288 w 565"/>
                  <a:gd name="T49" fmla="*/ 157 h 248"/>
                  <a:gd name="T50" fmla="*/ 362 w 565"/>
                  <a:gd name="T51" fmla="*/ 115 h 248"/>
                  <a:gd name="T52" fmla="*/ 436 w 565"/>
                  <a:gd name="T53" fmla="*/ 72 h 248"/>
                  <a:gd name="T54" fmla="*/ 441 w 565"/>
                  <a:gd name="T55" fmla="*/ 115 h 248"/>
                  <a:gd name="T56" fmla="*/ 445 w 565"/>
                  <a:gd name="T57" fmla="*/ 157 h 248"/>
                  <a:gd name="T58" fmla="*/ 365 w 565"/>
                  <a:gd name="T59" fmla="*/ 157 h 248"/>
                  <a:gd name="T60" fmla="*/ 288 w 565"/>
                  <a:gd name="T61" fmla="*/ 157 h 248"/>
                  <a:gd name="T62" fmla="*/ 288 w 565"/>
                  <a:gd name="T63" fmla="*/ 157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65" h="248">
                    <a:moveTo>
                      <a:pt x="126" y="248"/>
                    </a:moveTo>
                    <a:lnTo>
                      <a:pt x="171" y="224"/>
                    </a:lnTo>
                    <a:lnTo>
                      <a:pt x="214" y="198"/>
                    </a:lnTo>
                    <a:lnTo>
                      <a:pt x="493" y="198"/>
                    </a:lnTo>
                    <a:lnTo>
                      <a:pt x="565" y="157"/>
                    </a:lnTo>
                    <a:lnTo>
                      <a:pt x="562" y="117"/>
                    </a:lnTo>
                    <a:lnTo>
                      <a:pt x="557" y="79"/>
                    </a:lnTo>
                    <a:lnTo>
                      <a:pt x="551" y="40"/>
                    </a:lnTo>
                    <a:lnTo>
                      <a:pt x="548" y="0"/>
                    </a:lnTo>
                    <a:lnTo>
                      <a:pt x="493" y="0"/>
                    </a:lnTo>
                    <a:lnTo>
                      <a:pt x="438" y="0"/>
                    </a:lnTo>
                    <a:lnTo>
                      <a:pt x="300" y="79"/>
                    </a:lnTo>
                    <a:lnTo>
                      <a:pt x="162" y="157"/>
                    </a:lnTo>
                    <a:lnTo>
                      <a:pt x="119" y="157"/>
                    </a:lnTo>
                    <a:lnTo>
                      <a:pt x="78" y="157"/>
                    </a:lnTo>
                    <a:lnTo>
                      <a:pt x="40" y="177"/>
                    </a:lnTo>
                    <a:lnTo>
                      <a:pt x="3" y="198"/>
                    </a:lnTo>
                    <a:lnTo>
                      <a:pt x="47" y="198"/>
                    </a:lnTo>
                    <a:lnTo>
                      <a:pt x="88" y="198"/>
                    </a:lnTo>
                    <a:lnTo>
                      <a:pt x="45" y="224"/>
                    </a:lnTo>
                    <a:lnTo>
                      <a:pt x="0" y="248"/>
                    </a:lnTo>
                    <a:lnTo>
                      <a:pt x="64" y="248"/>
                    </a:lnTo>
                    <a:lnTo>
                      <a:pt x="126" y="248"/>
                    </a:lnTo>
                    <a:lnTo>
                      <a:pt x="126" y="248"/>
                    </a:lnTo>
                    <a:close/>
                    <a:moveTo>
                      <a:pt x="288" y="157"/>
                    </a:moveTo>
                    <a:lnTo>
                      <a:pt x="362" y="115"/>
                    </a:lnTo>
                    <a:lnTo>
                      <a:pt x="436" y="72"/>
                    </a:lnTo>
                    <a:lnTo>
                      <a:pt x="441" y="115"/>
                    </a:lnTo>
                    <a:lnTo>
                      <a:pt x="445" y="157"/>
                    </a:lnTo>
                    <a:lnTo>
                      <a:pt x="365" y="157"/>
                    </a:lnTo>
                    <a:lnTo>
                      <a:pt x="288" y="157"/>
                    </a:lnTo>
                    <a:lnTo>
                      <a:pt x="288" y="15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40" name="Freeform 760"/>
              <p:cNvSpPr>
                <a:spLocks/>
              </p:cNvSpPr>
              <p:nvPr/>
            </p:nvSpPr>
            <p:spPr bwMode="auto">
              <a:xfrm>
                <a:off x="3648" y="3640"/>
                <a:ext cx="313" cy="125"/>
              </a:xfrm>
              <a:custGeom>
                <a:avLst/>
                <a:gdLst>
                  <a:gd name="T0" fmla="*/ 0 w 628"/>
                  <a:gd name="T1" fmla="*/ 248 h 248"/>
                  <a:gd name="T2" fmla="*/ 66 w 628"/>
                  <a:gd name="T3" fmla="*/ 248 h 248"/>
                  <a:gd name="T4" fmla="*/ 131 w 628"/>
                  <a:gd name="T5" fmla="*/ 248 h 248"/>
                  <a:gd name="T6" fmla="*/ 290 w 628"/>
                  <a:gd name="T7" fmla="*/ 158 h 248"/>
                  <a:gd name="T8" fmla="*/ 447 w 628"/>
                  <a:gd name="T9" fmla="*/ 69 h 248"/>
                  <a:gd name="T10" fmla="*/ 464 w 628"/>
                  <a:gd name="T11" fmla="*/ 81 h 248"/>
                  <a:gd name="T12" fmla="*/ 486 w 628"/>
                  <a:gd name="T13" fmla="*/ 91 h 248"/>
                  <a:gd name="T14" fmla="*/ 516 w 628"/>
                  <a:gd name="T15" fmla="*/ 98 h 248"/>
                  <a:gd name="T16" fmla="*/ 552 w 628"/>
                  <a:gd name="T17" fmla="*/ 105 h 248"/>
                  <a:gd name="T18" fmla="*/ 590 w 628"/>
                  <a:gd name="T19" fmla="*/ 84 h 248"/>
                  <a:gd name="T20" fmla="*/ 628 w 628"/>
                  <a:gd name="T21" fmla="*/ 62 h 248"/>
                  <a:gd name="T22" fmla="*/ 609 w 628"/>
                  <a:gd name="T23" fmla="*/ 59 h 248"/>
                  <a:gd name="T24" fmla="*/ 590 w 628"/>
                  <a:gd name="T25" fmla="*/ 53 h 248"/>
                  <a:gd name="T26" fmla="*/ 572 w 628"/>
                  <a:gd name="T27" fmla="*/ 48 h 248"/>
                  <a:gd name="T28" fmla="*/ 557 w 628"/>
                  <a:gd name="T29" fmla="*/ 40 h 248"/>
                  <a:gd name="T30" fmla="*/ 545 w 628"/>
                  <a:gd name="T31" fmla="*/ 31 h 248"/>
                  <a:gd name="T32" fmla="*/ 540 w 628"/>
                  <a:gd name="T33" fmla="*/ 21 h 248"/>
                  <a:gd name="T34" fmla="*/ 540 w 628"/>
                  <a:gd name="T35" fmla="*/ 10 h 248"/>
                  <a:gd name="T36" fmla="*/ 545 w 628"/>
                  <a:gd name="T37" fmla="*/ 0 h 248"/>
                  <a:gd name="T38" fmla="*/ 491 w 628"/>
                  <a:gd name="T39" fmla="*/ 0 h 248"/>
                  <a:gd name="T40" fmla="*/ 438 w 628"/>
                  <a:gd name="T41" fmla="*/ 0 h 248"/>
                  <a:gd name="T42" fmla="*/ 219 w 628"/>
                  <a:gd name="T43" fmla="*/ 124 h 248"/>
                  <a:gd name="T44" fmla="*/ 0 w 628"/>
                  <a:gd name="T45" fmla="*/ 24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8" h="248">
                    <a:moveTo>
                      <a:pt x="0" y="248"/>
                    </a:moveTo>
                    <a:lnTo>
                      <a:pt x="66" y="248"/>
                    </a:lnTo>
                    <a:lnTo>
                      <a:pt x="131" y="248"/>
                    </a:lnTo>
                    <a:lnTo>
                      <a:pt x="290" y="158"/>
                    </a:lnTo>
                    <a:lnTo>
                      <a:pt x="447" y="69"/>
                    </a:lnTo>
                    <a:lnTo>
                      <a:pt x="464" y="81"/>
                    </a:lnTo>
                    <a:lnTo>
                      <a:pt x="486" y="91"/>
                    </a:lnTo>
                    <a:lnTo>
                      <a:pt x="516" y="98"/>
                    </a:lnTo>
                    <a:lnTo>
                      <a:pt x="552" y="105"/>
                    </a:lnTo>
                    <a:lnTo>
                      <a:pt x="590" y="84"/>
                    </a:lnTo>
                    <a:lnTo>
                      <a:pt x="628" y="62"/>
                    </a:lnTo>
                    <a:lnTo>
                      <a:pt x="609" y="59"/>
                    </a:lnTo>
                    <a:lnTo>
                      <a:pt x="590" y="53"/>
                    </a:lnTo>
                    <a:lnTo>
                      <a:pt x="572" y="48"/>
                    </a:lnTo>
                    <a:lnTo>
                      <a:pt x="557" y="40"/>
                    </a:lnTo>
                    <a:lnTo>
                      <a:pt x="545" y="31"/>
                    </a:lnTo>
                    <a:lnTo>
                      <a:pt x="540" y="21"/>
                    </a:lnTo>
                    <a:lnTo>
                      <a:pt x="540" y="10"/>
                    </a:lnTo>
                    <a:lnTo>
                      <a:pt x="545" y="0"/>
                    </a:lnTo>
                    <a:lnTo>
                      <a:pt x="491" y="0"/>
                    </a:lnTo>
                    <a:lnTo>
                      <a:pt x="438" y="0"/>
                    </a:lnTo>
                    <a:lnTo>
                      <a:pt x="219" y="124"/>
                    </a:lnTo>
                    <a:lnTo>
                      <a:pt x="0" y="24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41" name="Freeform 761"/>
              <p:cNvSpPr>
                <a:spLocks noEditPoints="1"/>
              </p:cNvSpPr>
              <p:nvPr/>
            </p:nvSpPr>
            <p:spPr bwMode="auto">
              <a:xfrm>
                <a:off x="3867" y="3627"/>
                <a:ext cx="283" cy="124"/>
              </a:xfrm>
              <a:custGeom>
                <a:avLst/>
                <a:gdLst>
                  <a:gd name="T0" fmla="*/ 125 w 565"/>
                  <a:gd name="T1" fmla="*/ 249 h 249"/>
                  <a:gd name="T2" fmla="*/ 170 w 565"/>
                  <a:gd name="T3" fmla="*/ 224 h 249"/>
                  <a:gd name="T4" fmla="*/ 213 w 565"/>
                  <a:gd name="T5" fmla="*/ 199 h 249"/>
                  <a:gd name="T6" fmla="*/ 493 w 565"/>
                  <a:gd name="T7" fmla="*/ 199 h 249"/>
                  <a:gd name="T8" fmla="*/ 565 w 565"/>
                  <a:gd name="T9" fmla="*/ 157 h 249"/>
                  <a:gd name="T10" fmla="*/ 561 w 565"/>
                  <a:gd name="T11" fmla="*/ 118 h 249"/>
                  <a:gd name="T12" fmla="*/ 556 w 565"/>
                  <a:gd name="T13" fmla="*/ 80 h 249"/>
                  <a:gd name="T14" fmla="*/ 551 w 565"/>
                  <a:gd name="T15" fmla="*/ 40 h 249"/>
                  <a:gd name="T16" fmla="*/ 548 w 565"/>
                  <a:gd name="T17" fmla="*/ 0 h 249"/>
                  <a:gd name="T18" fmla="*/ 493 w 565"/>
                  <a:gd name="T19" fmla="*/ 0 h 249"/>
                  <a:gd name="T20" fmla="*/ 437 w 565"/>
                  <a:gd name="T21" fmla="*/ 0 h 249"/>
                  <a:gd name="T22" fmla="*/ 300 w 565"/>
                  <a:gd name="T23" fmla="*/ 80 h 249"/>
                  <a:gd name="T24" fmla="*/ 162 w 565"/>
                  <a:gd name="T25" fmla="*/ 157 h 249"/>
                  <a:gd name="T26" fmla="*/ 119 w 565"/>
                  <a:gd name="T27" fmla="*/ 157 h 249"/>
                  <a:gd name="T28" fmla="*/ 77 w 565"/>
                  <a:gd name="T29" fmla="*/ 157 h 249"/>
                  <a:gd name="T30" fmla="*/ 39 w 565"/>
                  <a:gd name="T31" fmla="*/ 178 h 249"/>
                  <a:gd name="T32" fmla="*/ 3 w 565"/>
                  <a:gd name="T33" fmla="*/ 199 h 249"/>
                  <a:gd name="T34" fmla="*/ 46 w 565"/>
                  <a:gd name="T35" fmla="*/ 199 h 249"/>
                  <a:gd name="T36" fmla="*/ 88 w 565"/>
                  <a:gd name="T37" fmla="*/ 199 h 249"/>
                  <a:gd name="T38" fmla="*/ 44 w 565"/>
                  <a:gd name="T39" fmla="*/ 224 h 249"/>
                  <a:gd name="T40" fmla="*/ 0 w 565"/>
                  <a:gd name="T41" fmla="*/ 249 h 249"/>
                  <a:gd name="T42" fmla="*/ 63 w 565"/>
                  <a:gd name="T43" fmla="*/ 249 h 249"/>
                  <a:gd name="T44" fmla="*/ 125 w 565"/>
                  <a:gd name="T45" fmla="*/ 249 h 249"/>
                  <a:gd name="T46" fmla="*/ 125 w 565"/>
                  <a:gd name="T47" fmla="*/ 249 h 249"/>
                  <a:gd name="T48" fmla="*/ 287 w 565"/>
                  <a:gd name="T49" fmla="*/ 157 h 249"/>
                  <a:gd name="T50" fmla="*/ 362 w 565"/>
                  <a:gd name="T51" fmla="*/ 116 h 249"/>
                  <a:gd name="T52" fmla="*/ 436 w 565"/>
                  <a:gd name="T53" fmla="*/ 73 h 249"/>
                  <a:gd name="T54" fmla="*/ 441 w 565"/>
                  <a:gd name="T55" fmla="*/ 116 h 249"/>
                  <a:gd name="T56" fmla="*/ 444 w 565"/>
                  <a:gd name="T57" fmla="*/ 157 h 249"/>
                  <a:gd name="T58" fmla="*/ 365 w 565"/>
                  <a:gd name="T59" fmla="*/ 157 h 249"/>
                  <a:gd name="T60" fmla="*/ 287 w 565"/>
                  <a:gd name="T61" fmla="*/ 157 h 249"/>
                  <a:gd name="T62" fmla="*/ 287 w 565"/>
                  <a:gd name="T63" fmla="*/ 15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65" h="249">
                    <a:moveTo>
                      <a:pt x="125" y="249"/>
                    </a:moveTo>
                    <a:lnTo>
                      <a:pt x="170" y="224"/>
                    </a:lnTo>
                    <a:lnTo>
                      <a:pt x="213" y="199"/>
                    </a:lnTo>
                    <a:lnTo>
                      <a:pt x="493" y="199"/>
                    </a:lnTo>
                    <a:lnTo>
                      <a:pt x="565" y="157"/>
                    </a:lnTo>
                    <a:lnTo>
                      <a:pt x="561" y="118"/>
                    </a:lnTo>
                    <a:lnTo>
                      <a:pt x="556" y="80"/>
                    </a:lnTo>
                    <a:lnTo>
                      <a:pt x="551" y="40"/>
                    </a:lnTo>
                    <a:lnTo>
                      <a:pt x="548" y="0"/>
                    </a:lnTo>
                    <a:lnTo>
                      <a:pt x="493" y="0"/>
                    </a:lnTo>
                    <a:lnTo>
                      <a:pt x="437" y="0"/>
                    </a:lnTo>
                    <a:lnTo>
                      <a:pt x="300" y="80"/>
                    </a:lnTo>
                    <a:lnTo>
                      <a:pt x="162" y="157"/>
                    </a:lnTo>
                    <a:lnTo>
                      <a:pt x="119" y="157"/>
                    </a:lnTo>
                    <a:lnTo>
                      <a:pt x="77" y="157"/>
                    </a:lnTo>
                    <a:lnTo>
                      <a:pt x="39" y="178"/>
                    </a:lnTo>
                    <a:lnTo>
                      <a:pt x="3" y="199"/>
                    </a:lnTo>
                    <a:lnTo>
                      <a:pt x="46" y="199"/>
                    </a:lnTo>
                    <a:lnTo>
                      <a:pt x="88" y="199"/>
                    </a:lnTo>
                    <a:lnTo>
                      <a:pt x="44" y="224"/>
                    </a:lnTo>
                    <a:lnTo>
                      <a:pt x="0" y="249"/>
                    </a:lnTo>
                    <a:lnTo>
                      <a:pt x="63" y="249"/>
                    </a:lnTo>
                    <a:lnTo>
                      <a:pt x="125" y="249"/>
                    </a:lnTo>
                    <a:lnTo>
                      <a:pt x="125" y="249"/>
                    </a:lnTo>
                    <a:close/>
                    <a:moveTo>
                      <a:pt x="287" y="157"/>
                    </a:moveTo>
                    <a:lnTo>
                      <a:pt x="362" y="116"/>
                    </a:lnTo>
                    <a:lnTo>
                      <a:pt x="436" y="73"/>
                    </a:lnTo>
                    <a:lnTo>
                      <a:pt x="441" y="116"/>
                    </a:lnTo>
                    <a:lnTo>
                      <a:pt x="444" y="157"/>
                    </a:lnTo>
                    <a:lnTo>
                      <a:pt x="365" y="157"/>
                    </a:lnTo>
                    <a:lnTo>
                      <a:pt x="287" y="157"/>
                    </a:lnTo>
                    <a:lnTo>
                      <a:pt x="287" y="157"/>
                    </a:lnTo>
                    <a:close/>
                  </a:path>
                </a:pathLst>
              </a:custGeom>
              <a:solidFill>
                <a:srgbClr val="CC33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42" name="Freeform 762"/>
              <p:cNvSpPr>
                <a:spLocks/>
              </p:cNvSpPr>
              <p:nvPr/>
            </p:nvSpPr>
            <p:spPr bwMode="auto">
              <a:xfrm>
                <a:off x="3627" y="3627"/>
                <a:ext cx="314" cy="124"/>
              </a:xfrm>
              <a:custGeom>
                <a:avLst/>
                <a:gdLst>
                  <a:gd name="T0" fmla="*/ 0 w 627"/>
                  <a:gd name="T1" fmla="*/ 249 h 249"/>
                  <a:gd name="T2" fmla="*/ 65 w 627"/>
                  <a:gd name="T3" fmla="*/ 249 h 249"/>
                  <a:gd name="T4" fmla="*/ 131 w 627"/>
                  <a:gd name="T5" fmla="*/ 249 h 249"/>
                  <a:gd name="T6" fmla="*/ 289 w 627"/>
                  <a:gd name="T7" fmla="*/ 159 h 249"/>
                  <a:gd name="T8" fmla="*/ 446 w 627"/>
                  <a:gd name="T9" fmla="*/ 69 h 249"/>
                  <a:gd name="T10" fmla="*/ 463 w 627"/>
                  <a:gd name="T11" fmla="*/ 81 h 249"/>
                  <a:gd name="T12" fmla="*/ 486 w 627"/>
                  <a:gd name="T13" fmla="*/ 92 h 249"/>
                  <a:gd name="T14" fmla="*/ 515 w 627"/>
                  <a:gd name="T15" fmla="*/ 99 h 249"/>
                  <a:gd name="T16" fmla="*/ 551 w 627"/>
                  <a:gd name="T17" fmla="*/ 105 h 249"/>
                  <a:gd name="T18" fmla="*/ 589 w 627"/>
                  <a:gd name="T19" fmla="*/ 85 h 249"/>
                  <a:gd name="T20" fmla="*/ 627 w 627"/>
                  <a:gd name="T21" fmla="*/ 62 h 249"/>
                  <a:gd name="T22" fmla="*/ 608 w 627"/>
                  <a:gd name="T23" fmla="*/ 59 h 249"/>
                  <a:gd name="T24" fmla="*/ 589 w 627"/>
                  <a:gd name="T25" fmla="*/ 54 h 249"/>
                  <a:gd name="T26" fmla="*/ 572 w 627"/>
                  <a:gd name="T27" fmla="*/ 49 h 249"/>
                  <a:gd name="T28" fmla="*/ 557 w 627"/>
                  <a:gd name="T29" fmla="*/ 40 h 249"/>
                  <a:gd name="T30" fmla="*/ 544 w 627"/>
                  <a:gd name="T31" fmla="*/ 31 h 249"/>
                  <a:gd name="T32" fmla="*/ 539 w 627"/>
                  <a:gd name="T33" fmla="*/ 21 h 249"/>
                  <a:gd name="T34" fmla="*/ 539 w 627"/>
                  <a:gd name="T35" fmla="*/ 11 h 249"/>
                  <a:gd name="T36" fmla="*/ 544 w 627"/>
                  <a:gd name="T37" fmla="*/ 0 h 249"/>
                  <a:gd name="T38" fmla="*/ 491 w 627"/>
                  <a:gd name="T39" fmla="*/ 0 h 249"/>
                  <a:gd name="T40" fmla="*/ 438 w 627"/>
                  <a:gd name="T41" fmla="*/ 0 h 249"/>
                  <a:gd name="T42" fmla="*/ 219 w 627"/>
                  <a:gd name="T43" fmla="*/ 124 h 249"/>
                  <a:gd name="T44" fmla="*/ 0 w 627"/>
                  <a:gd name="T45" fmla="*/ 249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7" h="249">
                    <a:moveTo>
                      <a:pt x="0" y="249"/>
                    </a:moveTo>
                    <a:lnTo>
                      <a:pt x="65" y="249"/>
                    </a:lnTo>
                    <a:lnTo>
                      <a:pt x="131" y="249"/>
                    </a:lnTo>
                    <a:lnTo>
                      <a:pt x="289" y="159"/>
                    </a:lnTo>
                    <a:lnTo>
                      <a:pt x="446" y="69"/>
                    </a:lnTo>
                    <a:lnTo>
                      <a:pt x="463" y="81"/>
                    </a:lnTo>
                    <a:lnTo>
                      <a:pt x="486" y="92"/>
                    </a:lnTo>
                    <a:lnTo>
                      <a:pt x="515" y="99"/>
                    </a:lnTo>
                    <a:lnTo>
                      <a:pt x="551" y="105"/>
                    </a:lnTo>
                    <a:lnTo>
                      <a:pt x="589" y="85"/>
                    </a:lnTo>
                    <a:lnTo>
                      <a:pt x="627" y="62"/>
                    </a:lnTo>
                    <a:lnTo>
                      <a:pt x="608" y="59"/>
                    </a:lnTo>
                    <a:lnTo>
                      <a:pt x="589" y="54"/>
                    </a:lnTo>
                    <a:lnTo>
                      <a:pt x="572" y="49"/>
                    </a:lnTo>
                    <a:lnTo>
                      <a:pt x="557" y="40"/>
                    </a:lnTo>
                    <a:lnTo>
                      <a:pt x="544" y="31"/>
                    </a:lnTo>
                    <a:lnTo>
                      <a:pt x="539" y="21"/>
                    </a:lnTo>
                    <a:lnTo>
                      <a:pt x="539" y="11"/>
                    </a:lnTo>
                    <a:lnTo>
                      <a:pt x="544" y="0"/>
                    </a:lnTo>
                    <a:lnTo>
                      <a:pt x="491" y="0"/>
                    </a:lnTo>
                    <a:lnTo>
                      <a:pt x="438" y="0"/>
                    </a:lnTo>
                    <a:lnTo>
                      <a:pt x="219" y="124"/>
                    </a:lnTo>
                    <a:lnTo>
                      <a:pt x="0" y="249"/>
                    </a:lnTo>
                    <a:close/>
                  </a:path>
                </a:pathLst>
              </a:custGeom>
              <a:solidFill>
                <a:srgbClr val="CC33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49243" name="Group 763"/>
            <p:cNvGrpSpPr>
              <a:grpSpLocks/>
            </p:cNvGrpSpPr>
            <p:nvPr/>
          </p:nvGrpSpPr>
          <p:grpSpPr bwMode="auto">
            <a:xfrm>
              <a:off x="3155" y="2907"/>
              <a:ext cx="1461" cy="262"/>
              <a:chOff x="3172" y="2924"/>
              <a:chExt cx="1461" cy="262"/>
            </a:xfrm>
          </p:grpSpPr>
          <p:sp>
            <p:nvSpPr>
              <p:cNvPr id="149244" name="Freeform 764"/>
              <p:cNvSpPr>
                <a:spLocks/>
              </p:cNvSpPr>
              <p:nvPr/>
            </p:nvSpPr>
            <p:spPr bwMode="auto">
              <a:xfrm>
                <a:off x="3186" y="2937"/>
                <a:ext cx="1447" cy="249"/>
              </a:xfrm>
              <a:custGeom>
                <a:avLst/>
                <a:gdLst>
                  <a:gd name="T0" fmla="*/ 889 w 2895"/>
                  <a:gd name="T1" fmla="*/ 0 h 496"/>
                  <a:gd name="T2" fmla="*/ 0 w 2895"/>
                  <a:gd name="T3" fmla="*/ 496 h 496"/>
                  <a:gd name="T4" fmla="*/ 2005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5" y="496"/>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245" name="Group 765"/>
              <p:cNvGrpSpPr>
                <a:grpSpLocks/>
              </p:cNvGrpSpPr>
              <p:nvPr/>
            </p:nvGrpSpPr>
            <p:grpSpPr bwMode="auto">
              <a:xfrm>
                <a:off x="3172" y="2924"/>
                <a:ext cx="1448" cy="249"/>
                <a:chOff x="3172" y="2924"/>
                <a:chExt cx="1448" cy="249"/>
              </a:xfrm>
            </p:grpSpPr>
            <p:pic>
              <p:nvPicPr>
                <p:cNvPr id="149246" name="Picture 76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2" y="2924"/>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247" name="Picture 76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20" y="2924"/>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248" name="Freeform 768"/>
                <p:cNvSpPr>
                  <a:spLocks/>
                </p:cNvSpPr>
                <p:nvPr/>
              </p:nvSpPr>
              <p:spPr bwMode="auto">
                <a:xfrm>
                  <a:off x="3172" y="2924"/>
                  <a:ext cx="1448"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249" name="Freeform 769"/>
                <p:cNvSpPr>
                  <a:spLocks/>
                </p:cNvSpPr>
                <p:nvPr/>
              </p:nvSpPr>
              <p:spPr bwMode="auto">
                <a:xfrm>
                  <a:off x="3172" y="2924"/>
                  <a:ext cx="1448"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250" name="Picture 77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2" y="2924"/>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251" name="Picture 77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20" y="2924"/>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252" name="Freeform 772"/>
              <p:cNvSpPr>
                <a:spLocks/>
              </p:cNvSpPr>
              <p:nvPr/>
            </p:nvSpPr>
            <p:spPr bwMode="auto">
              <a:xfrm>
                <a:off x="3172" y="2924"/>
                <a:ext cx="1448"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253" name="Group 773"/>
            <p:cNvGrpSpPr>
              <a:grpSpLocks/>
            </p:cNvGrpSpPr>
            <p:nvPr/>
          </p:nvGrpSpPr>
          <p:grpSpPr bwMode="auto">
            <a:xfrm>
              <a:off x="3324" y="2989"/>
              <a:ext cx="1033" cy="138"/>
              <a:chOff x="3341" y="3006"/>
              <a:chExt cx="1033" cy="138"/>
            </a:xfrm>
          </p:grpSpPr>
          <p:sp>
            <p:nvSpPr>
              <p:cNvPr id="149254" name="Freeform 774"/>
              <p:cNvSpPr>
                <a:spLocks/>
              </p:cNvSpPr>
              <p:nvPr/>
            </p:nvSpPr>
            <p:spPr bwMode="auto">
              <a:xfrm>
                <a:off x="3362" y="3020"/>
                <a:ext cx="423" cy="122"/>
              </a:xfrm>
              <a:custGeom>
                <a:avLst/>
                <a:gdLst>
                  <a:gd name="T0" fmla="*/ 558 w 848"/>
                  <a:gd name="T1" fmla="*/ 223 h 243"/>
                  <a:gd name="T2" fmla="*/ 0 w 848"/>
                  <a:gd name="T3" fmla="*/ 243 h 243"/>
                  <a:gd name="T4" fmla="*/ 59 w 848"/>
                  <a:gd name="T5" fmla="*/ 221 h 243"/>
                  <a:gd name="T6" fmla="*/ 129 w 848"/>
                  <a:gd name="T7" fmla="*/ 197 h 243"/>
                  <a:gd name="T8" fmla="*/ 176 w 848"/>
                  <a:gd name="T9" fmla="*/ 185 h 243"/>
                  <a:gd name="T10" fmla="*/ 236 w 848"/>
                  <a:gd name="T11" fmla="*/ 173 h 243"/>
                  <a:gd name="T12" fmla="*/ 309 w 848"/>
                  <a:gd name="T13" fmla="*/ 157 h 243"/>
                  <a:gd name="T14" fmla="*/ 395 w 848"/>
                  <a:gd name="T15" fmla="*/ 140 h 243"/>
                  <a:gd name="T16" fmla="*/ 464 w 848"/>
                  <a:gd name="T17" fmla="*/ 126 h 243"/>
                  <a:gd name="T18" fmla="*/ 517 w 848"/>
                  <a:gd name="T19" fmla="*/ 116 h 243"/>
                  <a:gd name="T20" fmla="*/ 558 w 848"/>
                  <a:gd name="T21" fmla="*/ 107 h 243"/>
                  <a:gd name="T22" fmla="*/ 584 w 848"/>
                  <a:gd name="T23" fmla="*/ 100 h 243"/>
                  <a:gd name="T24" fmla="*/ 633 w 848"/>
                  <a:gd name="T25" fmla="*/ 86 h 243"/>
                  <a:gd name="T26" fmla="*/ 664 w 848"/>
                  <a:gd name="T27" fmla="*/ 71 h 243"/>
                  <a:gd name="T28" fmla="*/ 681 w 848"/>
                  <a:gd name="T29" fmla="*/ 57 h 243"/>
                  <a:gd name="T30" fmla="*/ 677 w 848"/>
                  <a:gd name="T31" fmla="*/ 47 h 243"/>
                  <a:gd name="T32" fmla="*/ 655 w 848"/>
                  <a:gd name="T33" fmla="*/ 40 h 243"/>
                  <a:gd name="T34" fmla="*/ 617 w 848"/>
                  <a:gd name="T35" fmla="*/ 38 h 243"/>
                  <a:gd name="T36" fmla="*/ 527 w 848"/>
                  <a:gd name="T37" fmla="*/ 47 h 243"/>
                  <a:gd name="T38" fmla="*/ 467 w 848"/>
                  <a:gd name="T39" fmla="*/ 68 h 243"/>
                  <a:gd name="T40" fmla="*/ 378 w 848"/>
                  <a:gd name="T41" fmla="*/ 74 h 243"/>
                  <a:gd name="T42" fmla="*/ 347 w 848"/>
                  <a:gd name="T43" fmla="*/ 55 h 243"/>
                  <a:gd name="T44" fmla="*/ 434 w 848"/>
                  <a:gd name="T45" fmla="*/ 26 h 243"/>
                  <a:gd name="T46" fmla="*/ 533 w 848"/>
                  <a:gd name="T47" fmla="*/ 11 h 243"/>
                  <a:gd name="T48" fmla="*/ 634 w 848"/>
                  <a:gd name="T49" fmla="*/ 2 h 243"/>
                  <a:gd name="T50" fmla="*/ 714 w 848"/>
                  <a:gd name="T51" fmla="*/ 0 h 243"/>
                  <a:gd name="T52" fmla="*/ 760 w 848"/>
                  <a:gd name="T53" fmla="*/ 4 h 243"/>
                  <a:gd name="T54" fmla="*/ 798 w 848"/>
                  <a:gd name="T55" fmla="*/ 7 h 243"/>
                  <a:gd name="T56" fmla="*/ 824 w 848"/>
                  <a:gd name="T57" fmla="*/ 16 h 243"/>
                  <a:gd name="T58" fmla="*/ 841 w 848"/>
                  <a:gd name="T59" fmla="*/ 24 h 243"/>
                  <a:gd name="T60" fmla="*/ 848 w 848"/>
                  <a:gd name="T61" fmla="*/ 37 h 243"/>
                  <a:gd name="T62" fmla="*/ 845 w 848"/>
                  <a:gd name="T63" fmla="*/ 47 h 243"/>
                  <a:gd name="T64" fmla="*/ 829 w 848"/>
                  <a:gd name="T65" fmla="*/ 61 h 243"/>
                  <a:gd name="T66" fmla="*/ 803 w 848"/>
                  <a:gd name="T67" fmla="*/ 76 h 243"/>
                  <a:gd name="T68" fmla="*/ 748 w 848"/>
                  <a:gd name="T69" fmla="*/ 99 h 243"/>
                  <a:gd name="T70" fmla="*/ 698 w 848"/>
                  <a:gd name="T71" fmla="*/ 114 h 243"/>
                  <a:gd name="T72" fmla="*/ 636 w 848"/>
                  <a:gd name="T73" fmla="*/ 130 h 243"/>
                  <a:gd name="T74" fmla="*/ 608 w 848"/>
                  <a:gd name="T75" fmla="*/ 135 h 243"/>
                  <a:gd name="T76" fmla="*/ 576 w 848"/>
                  <a:gd name="T77" fmla="*/ 143 h 243"/>
                  <a:gd name="T78" fmla="*/ 534 w 848"/>
                  <a:gd name="T79" fmla="*/ 150 h 243"/>
                  <a:gd name="T80" fmla="*/ 486 w 848"/>
                  <a:gd name="T81" fmla="*/ 161 h 243"/>
                  <a:gd name="T82" fmla="*/ 440 w 848"/>
                  <a:gd name="T83" fmla="*/ 169 h 243"/>
                  <a:gd name="T84" fmla="*/ 402 w 848"/>
                  <a:gd name="T85" fmla="*/ 178 h 243"/>
                  <a:gd name="T86" fmla="*/ 372 w 848"/>
                  <a:gd name="T87" fmla="*/ 183 h 243"/>
                  <a:gd name="T88" fmla="*/ 352 w 848"/>
                  <a:gd name="T89" fmla="*/ 188 h 243"/>
                  <a:gd name="T90" fmla="*/ 300 w 848"/>
                  <a:gd name="T91" fmla="*/ 200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48" h="243">
                    <a:moveTo>
                      <a:pt x="595" y="200"/>
                    </a:moveTo>
                    <a:lnTo>
                      <a:pt x="558" y="223"/>
                    </a:lnTo>
                    <a:lnTo>
                      <a:pt x="522" y="243"/>
                    </a:lnTo>
                    <a:lnTo>
                      <a:pt x="0" y="243"/>
                    </a:lnTo>
                    <a:lnTo>
                      <a:pt x="28" y="231"/>
                    </a:lnTo>
                    <a:lnTo>
                      <a:pt x="59" y="221"/>
                    </a:lnTo>
                    <a:lnTo>
                      <a:pt x="91" y="209"/>
                    </a:lnTo>
                    <a:lnTo>
                      <a:pt x="129" y="197"/>
                    </a:lnTo>
                    <a:lnTo>
                      <a:pt x="152" y="192"/>
                    </a:lnTo>
                    <a:lnTo>
                      <a:pt x="176" y="185"/>
                    </a:lnTo>
                    <a:lnTo>
                      <a:pt x="203" y="180"/>
                    </a:lnTo>
                    <a:lnTo>
                      <a:pt x="236" y="173"/>
                    </a:lnTo>
                    <a:lnTo>
                      <a:pt x="271" y="166"/>
                    </a:lnTo>
                    <a:lnTo>
                      <a:pt x="309" y="157"/>
                    </a:lnTo>
                    <a:lnTo>
                      <a:pt x="350" y="149"/>
                    </a:lnTo>
                    <a:lnTo>
                      <a:pt x="395" y="140"/>
                    </a:lnTo>
                    <a:lnTo>
                      <a:pt x="431" y="133"/>
                    </a:lnTo>
                    <a:lnTo>
                      <a:pt x="464" y="126"/>
                    </a:lnTo>
                    <a:lnTo>
                      <a:pt x="491" y="121"/>
                    </a:lnTo>
                    <a:lnTo>
                      <a:pt x="517" y="116"/>
                    </a:lnTo>
                    <a:lnTo>
                      <a:pt x="540" y="111"/>
                    </a:lnTo>
                    <a:lnTo>
                      <a:pt x="558" y="107"/>
                    </a:lnTo>
                    <a:lnTo>
                      <a:pt x="572" y="104"/>
                    </a:lnTo>
                    <a:lnTo>
                      <a:pt x="584" y="100"/>
                    </a:lnTo>
                    <a:lnTo>
                      <a:pt x="610" y="93"/>
                    </a:lnTo>
                    <a:lnTo>
                      <a:pt x="633" y="86"/>
                    </a:lnTo>
                    <a:lnTo>
                      <a:pt x="650" y="78"/>
                    </a:lnTo>
                    <a:lnTo>
                      <a:pt x="664" y="71"/>
                    </a:lnTo>
                    <a:lnTo>
                      <a:pt x="674" y="64"/>
                    </a:lnTo>
                    <a:lnTo>
                      <a:pt x="681" y="57"/>
                    </a:lnTo>
                    <a:lnTo>
                      <a:pt x="681" y="52"/>
                    </a:lnTo>
                    <a:lnTo>
                      <a:pt x="677" y="47"/>
                    </a:lnTo>
                    <a:lnTo>
                      <a:pt x="669" y="43"/>
                    </a:lnTo>
                    <a:lnTo>
                      <a:pt x="655" y="40"/>
                    </a:lnTo>
                    <a:lnTo>
                      <a:pt x="638" y="38"/>
                    </a:lnTo>
                    <a:lnTo>
                      <a:pt x="617" y="38"/>
                    </a:lnTo>
                    <a:lnTo>
                      <a:pt x="572" y="40"/>
                    </a:lnTo>
                    <a:lnTo>
                      <a:pt x="527" y="47"/>
                    </a:lnTo>
                    <a:lnTo>
                      <a:pt x="486" y="59"/>
                    </a:lnTo>
                    <a:lnTo>
                      <a:pt x="467" y="68"/>
                    </a:lnTo>
                    <a:lnTo>
                      <a:pt x="448" y="76"/>
                    </a:lnTo>
                    <a:lnTo>
                      <a:pt x="378" y="74"/>
                    </a:lnTo>
                    <a:lnTo>
                      <a:pt x="307" y="73"/>
                    </a:lnTo>
                    <a:lnTo>
                      <a:pt x="347" y="55"/>
                    </a:lnTo>
                    <a:lnTo>
                      <a:pt x="390" y="40"/>
                    </a:lnTo>
                    <a:lnTo>
                      <a:pt x="434" y="26"/>
                    </a:lnTo>
                    <a:lnTo>
                      <a:pt x="483" y="18"/>
                    </a:lnTo>
                    <a:lnTo>
                      <a:pt x="533" y="11"/>
                    </a:lnTo>
                    <a:lnTo>
                      <a:pt x="583" y="4"/>
                    </a:lnTo>
                    <a:lnTo>
                      <a:pt x="634" y="2"/>
                    </a:lnTo>
                    <a:lnTo>
                      <a:pt x="686" y="0"/>
                    </a:lnTo>
                    <a:lnTo>
                      <a:pt x="714" y="0"/>
                    </a:lnTo>
                    <a:lnTo>
                      <a:pt x="738" y="2"/>
                    </a:lnTo>
                    <a:lnTo>
                      <a:pt x="760" y="4"/>
                    </a:lnTo>
                    <a:lnTo>
                      <a:pt x="781" y="6"/>
                    </a:lnTo>
                    <a:lnTo>
                      <a:pt x="798" y="7"/>
                    </a:lnTo>
                    <a:lnTo>
                      <a:pt x="812" y="11"/>
                    </a:lnTo>
                    <a:lnTo>
                      <a:pt x="824" y="16"/>
                    </a:lnTo>
                    <a:lnTo>
                      <a:pt x="834" y="19"/>
                    </a:lnTo>
                    <a:lnTo>
                      <a:pt x="841" y="24"/>
                    </a:lnTo>
                    <a:lnTo>
                      <a:pt x="846" y="30"/>
                    </a:lnTo>
                    <a:lnTo>
                      <a:pt x="848" y="37"/>
                    </a:lnTo>
                    <a:lnTo>
                      <a:pt x="848" y="42"/>
                    </a:lnTo>
                    <a:lnTo>
                      <a:pt x="845" y="47"/>
                    </a:lnTo>
                    <a:lnTo>
                      <a:pt x="838" y="54"/>
                    </a:lnTo>
                    <a:lnTo>
                      <a:pt x="829" y="61"/>
                    </a:lnTo>
                    <a:lnTo>
                      <a:pt x="819" y="68"/>
                    </a:lnTo>
                    <a:lnTo>
                      <a:pt x="803" y="76"/>
                    </a:lnTo>
                    <a:lnTo>
                      <a:pt x="786" y="85"/>
                    </a:lnTo>
                    <a:lnTo>
                      <a:pt x="748" y="99"/>
                    </a:lnTo>
                    <a:lnTo>
                      <a:pt x="724" y="107"/>
                    </a:lnTo>
                    <a:lnTo>
                      <a:pt x="698" y="114"/>
                    </a:lnTo>
                    <a:lnTo>
                      <a:pt x="669" y="123"/>
                    </a:lnTo>
                    <a:lnTo>
                      <a:pt x="636" y="130"/>
                    </a:lnTo>
                    <a:lnTo>
                      <a:pt x="624" y="133"/>
                    </a:lnTo>
                    <a:lnTo>
                      <a:pt x="608" y="135"/>
                    </a:lnTo>
                    <a:lnTo>
                      <a:pt x="593" y="138"/>
                    </a:lnTo>
                    <a:lnTo>
                      <a:pt x="576" y="143"/>
                    </a:lnTo>
                    <a:lnTo>
                      <a:pt x="555" y="147"/>
                    </a:lnTo>
                    <a:lnTo>
                      <a:pt x="534" y="150"/>
                    </a:lnTo>
                    <a:lnTo>
                      <a:pt x="512" y="155"/>
                    </a:lnTo>
                    <a:lnTo>
                      <a:pt x="486" y="161"/>
                    </a:lnTo>
                    <a:lnTo>
                      <a:pt x="462" y="166"/>
                    </a:lnTo>
                    <a:lnTo>
                      <a:pt x="440" y="169"/>
                    </a:lnTo>
                    <a:lnTo>
                      <a:pt x="419" y="174"/>
                    </a:lnTo>
                    <a:lnTo>
                      <a:pt x="402" y="178"/>
                    </a:lnTo>
                    <a:lnTo>
                      <a:pt x="384" y="181"/>
                    </a:lnTo>
                    <a:lnTo>
                      <a:pt x="372" y="183"/>
                    </a:lnTo>
                    <a:lnTo>
                      <a:pt x="360" y="186"/>
                    </a:lnTo>
                    <a:lnTo>
                      <a:pt x="352" y="188"/>
                    </a:lnTo>
                    <a:lnTo>
                      <a:pt x="324" y="195"/>
                    </a:lnTo>
                    <a:lnTo>
                      <a:pt x="300" y="200"/>
                    </a:lnTo>
                    <a:lnTo>
                      <a:pt x="595" y="20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55" name="Freeform 775"/>
              <p:cNvSpPr>
                <a:spLocks/>
              </p:cNvSpPr>
              <p:nvPr/>
            </p:nvSpPr>
            <p:spPr bwMode="auto">
              <a:xfrm>
                <a:off x="3714" y="3020"/>
                <a:ext cx="361" cy="124"/>
              </a:xfrm>
              <a:custGeom>
                <a:avLst/>
                <a:gdLst>
                  <a:gd name="T0" fmla="*/ 98 w 722"/>
                  <a:gd name="T1" fmla="*/ 178 h 248"/>
                  <a:gd name="T2" fmla="*/ 165 w 722"/>
                  <a:gd name="T3" fmla="*/ 181 h 248"/>
                  <a:gd name="T4" fmla="*/ 162 w 722"/>
                  <a:gd name="T5" fmla="*/ 195 h 248"/>
                  <a:gd name="T6" fmla="*/ 176 w 722"/>
                  <a:gd name="T7" fmla="*/ 205 h 248"/>
                  <a:gd name="T8" fmla="*/ 205 w 722"/>
                  <a:gd name="T9" fmla="*/ 209 h 248"/>
                  <a:gd name="T10" fmla="*/ 272 w 722"/>
                  <a:gd name="T11" fmla="*/ 207 h 248"/>
                  <a:gd name="T12" fmla="*/ 346 w 722"/>
                  <a:gd name="T13" fmla="*/ 193 h 248"/>
                  <a:gd name="T14" fmla="*/ 384 w 722"/>
                  <a:gd name="T15" fmla="*/ 178 h 248"/>
                  <a:gd name="T16" fmla="*/ 414 w 722"/>
                  <a:gd name="T17" fmla="*/ 161 h 248"/>
                  <a:gd name="T18" fmla="*/ 422 w 722"/>
                  <a:gd name="T19" fmla="*/ 147 h 248"/>
                  <a:gd name="T20" fmla="*/ 410 w 722"/>
                  <a:gd name="T21" fmla="*/ 136 h 248"/>
                  <a:gd name="T22" fmla="*/ 383 w 722"/>
                  <a:gd name="T23" fmla="*/ 131 h 248"/>
                  <a:gd name="T24" fmla="*/ 346 w 722"/>
                  <a:gd name="T25" fmla="*/ 131 h 248"/>
                  <a:gd name="T26" fmla="*/ 310 w 722"/>
                  <a:gd name="T27" fmla="*/ 133 h 248"/>
                  <a:gd name="T28" fmla="*/ 329 w 722"/>
                  <a:gd name="T29" fmla="*/ 116 h 248"/>
                  <a:gd name="T30" fmla="*/ 398 w 722"/>
                  <a:gd name="T31" fmla="*/ 97 h 248"/>
                  <a:gd name="T32" fmla="*/ 474 w 722"/>
                  <a:gd name="T33" fmla="*/ 88 h 248"/>
                  <a:gd name="T34" fmla="*/ 515 w 722"/>
                  <a:gd name="T35" fmla="*/ 78 h 248"/>
                  <a:gd name="T36" fmla="*/ 544 w 722"/>
                  <a:gd name="T37" fmla="*/ 66 h 248"/>
                  <a:gd name="T38" fmla="*/ 558 w 722"/>
                  <a:gd name="T39" fmla="*/ 54 h 248"/>
                  <a:gd name="T40" fmla="*/ 555 w 722"/>
                  <a:gd name="T41" fmla="*/ 45 h 248"/>
                  <a:gd name="T42" fmla="*/ 538 w 722"/>
                  <a:gd name="T43" fmla="*/ 40 h 248"/>
                  <a:gd name="T44" fmla="*/ 505 w 722"/>
                  <a:gd name="T45" fmla="*/ 38 h 248"/>
                  <a:gd name="T46" fmla="*/ 426 w 722"/>
                  <a:gd name="T47" fmla="*/ 47 h 248"/>
                  <a:gd name="T48" fmla="*/ 351 w 722"/>
                  <a:gd name="T49" fmla="*/ 71 h 248"/>
                  <a:gd name="T50" fmla="*/ 227 w 722"/>
                  <a:gd name="T51" fmla="*/ 64 h 248"/>
                  <a:gd name="T52" fmla="*/ 329 w 722"/>
                  <a:gd name="T53" fmla="*/ 28 h 248"/>
                  <a:gd name="T54" fmla="*/ 414 w 722"/>
                  <a:gd name="T55" fmla="*/ 11 h 248"/>
                  <a:gd name="T56" fmla="*/ 510 w 722"/>
                  <a:gd name="T57" fmla="*/ 2 h 248"/>
                  <a:gd name="T58" fmla="*/ 600 w 722"/>
                  <a:gd name="T59" fmla="*/ 0 h 248"/>
                  <a:gd name="T60" fmla="*/ 644 w 722"/>
                  <a:gd name="T61" fmla="*/ 4 h 248"/>
                  <a:gd name="T62" fmla="*/ 679 w 722"/>
                  <a:gd name="T63" fmla="*/ 9 h 248"/>
                  <a:gd name="T64" fmla="*/ 703 w 722"/>
                  <a:gd name="T65" fmla="*/ 18 h 248"/>
                  <a:gd name="T66" fmla="*/ 717 w 722"/>
                  <a:gd name="T67" fmla="*/ 28 h 248"/>
                  <a:gd name="T68" fmla="*/ 722 w 722"/>
                  <a:gd name="T69" fmla="*/ 37 h 248"/>
                  <a:gd name="T70" fmla="*/ 719 w 722"/>
                  <a:gd name="T71" fmla="*/ 47 h 248"/>
                  <a:gd name="T72" fmla="*/ 708 w 722"/>
                  <a:gd name="T73" fmla="*/ 57 h 248"/>
                  <a:gd name="T74" fmla="*/ 684 w 722"/>
                  <a:gd name="T75" fmla="*/ 71 h 248"/>
                  <a:gd name="T76" fmla="*/ 646 w 722"/>
                  <a:gd name="T77" fmla="*/ 85 h 248"/>
                  <a:gd name="T78" fmla="*/ 596 w 722"/>
                  <a:gd name="T79" fmla="*/ 97 h 248"/>
                  <a:gd name="T80" fmla="*/ 536 w 722"/>
                  <a:gd name="T81" fmla="*/ 109 h 248"/>
                  <a:gd name="T82" fmla="*/ 529 w 722"/>
                  <a:gd name="T83" fmla="*/ 116 h 248"/>
                  <a:gd name="T84" fmla="*/ 565 w 722"/>
                  <a:gd name="T85" fmla="*/ 126 h 248"/>
                  <a:gd name="T86" fmla="*/ 579 w 722"/>
                  <a:gd name="T87" fmla="*/ 142 h 248"/>
                  <a:gd name="T88" fmla="*/ 567 w 722"/>
                  <a:gd name="T89" fmla="*/ 161 h 248"/>
                  <a:gd name="T90" fmla="*/ 538 w 722"/>
                  <a:gd name="T91" fmla="*/ 180 h 248"/>
                  <a:gd name="T92" fmla="*/ 503 w 722"/>
                  <a:gd name="T93" fmla="*/ 193 h 248"/>
                  <a:gd name="T94" fmla="*/ 462 w 722"/>
                  <a:gd name="T95" fmla="*/ 207 h 248"/>
                  <a:gd name="T96" fmla="*/ 414 w 722"/>
                  <a:gd name="T97" fmla="*/ 221 h 248"/>
                  <a:gd name="T98" fmla="*/ 329 w 722"/>
                  <a:gd name="T99" fmla="*/ 236 h 248"/>
                  <a:gd name="T100" fmla="*/ 217 w 722"/>
                  <a:gd name="T101" fmla="*/ 247 h 248"/>
                  <a:gd name="T102" fmla="*/ 136 w 722"/>
                  <a:gd name="T103" fmla="*/ 248 h 248"/>
                  <a:gd name="T104" fmla="*/ 91 w 722"/>
                  <a:gd name="T105" fmla="*/ 245 h 248"/>
                  <a:gd name="T106" fmla="*/ 57 w 722"/>
                  <a:gd name="T107" fmla="*/ 242 h 248"/>
                  <a:gd name="T108" fmla="*/ 29 w 722"/>
                  <a:gd name="T109" fmla="*/ 235 h 248"/>
                  <a:gd name="T110" fmla="*/ 10 w 722"/>
                  <a:gd name="T111" fmla="*/ 224 h 248"/>
                  <a:gd name="T112" fmla="*/ 2 w 722"/>
                  <a:gd name="T113" fmla="*/ 214 h 248"/>
                  <a:gd name="T114" fmla="*/ 2 w 722"/>
                  <a:gd name="T115" fmla="*/ 200 h 248"/>
                  <a:gd name="T116" fmla="*/ 12 w 722"/>
                  <a:gd name="T117" fmla="*/ 1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2" h="248">
                    <a:moveTo>
                      <a:pt x="21" y="180"/>
                    </a:moveTo>
                    <a:lnTo>
                      <a:pt x="98" y="178"/>
                    </a:lnTo>
                    <a:lnTo>
                      <a:pt x="174" y="174"/>
                    </a:lnTo>
                    <a:lnTo>
                      <a:pt x="165" y="181"/>
                    </a:lnTo>
                    <a:lnTo>
                      <a:pt x="162" y="188"/>
                    </a:lnTo>
                    <a:lnTo>
                      <a:pt x="162" y="195"/>
                    </a:lnTo>
                    <a:lnTo>
                      <a:pt x="167" y="200"/>
                    </a:lnTo>
                    <a:lnTo>
                      <a:pt x="176" y="205"/>
                    </a:lnTo>
                    <a:lnTo>
                      <a:pt x="190" y="207"/>
                    </a:lnTo>
                    <a:lnTo>
                      <a:pt x="205" y="209"/>
                    </a:lnTo>
                    <a:lnTo>
                      <a:pt x="226" y="209"/>
                    </a:lnTo>
                    <a:lnTo>
                      <a:pt x="272" y="207"/>
                    </a:lnTo>
                    <a:lnTo>
                      <a:pt x="322" y="198"/>
                    </a:lnTo>
                    <a:lnTo>
                      <a:pt x="346" y="193"/>
                    </a:lnTo>
                    <a:lnTo>
                      <a:pt x="367" y="186"/>
                    </a:lnTo>
                    <a:lnTo>
                      <a:pt x="384" y="178"/>
                    </a:lnTo>
                    <a:lnTo>
                      <a:pt x="401" y="169"/>
                    </a:lnTo>
                    <a:lnTo>
                      <a:pt x="414" y="161"/>
                    </a:lnTo>
                    <a:lnTo>
                      <a:pt x="420" y="154"/>
                    </a:lnTo>
                    <a:lnTo>
                      <a:pt x="422" y="147"/>
                    </a:lnTo>
                    <a:lnTo>
                      <a:pt x="419" y="142"/>
                    </a:lnTo>
                    <a:lnTo>
                      <a:pt x="410" y="136"/>
                    </a:lnTo>
                    <a:lnTo>
                      <a:pt x="398" y="135"/>
                    </a:lnTo>
                    <a:lnTo>
                      <a:pt x="383" y="131"/>
                    </a:lnTo>
                    <a:lnTo>
                      <a:pt x="362" y="131"/>
                    </a:lnTo>
                    <a:lnTo>
                      <a:pt x="346" y="131"/>
                    </a:lnTo>
                    <a:lnTo>
                      <a:pt x="329" y="133"/>
                    </a:lnTo>
                    <a:lnTo>
                      <a:pt x="310" y="133"/>
                    </a:lnTo>
                    <a:lnTo>
                      <a:pt x="288" y="135"/>
                    </a:lnTo>
                    <a:lnTo>
                      <a:pt x="329" y="116"/>
                    </a:lnTo>
                    <a:lnTo>
                      <a:pt x="369" y="97"/>
                    </a:lnTo>
                    <a:lnTo>
                      <a:pt x="398" y="97"/>
                    </a:lnTo>
                    <a:lnTo>
                      <a:pt x="424" y="95"/>
                    </a:lnTo>
                    <a:lnTo>
                      <a:pt x="474" y="88"/>
                    </a:lnTo>
                    <a:lnTo>
                      <a:pt x="496" y="83"/>
                    </a:lnTo>
                    <a:lnTo>
                      <a:pt x="515" y="78"/>
                    </a:lnTo>
                    <a:lnTo>
                      <a:pt x="531" y="73"/>
                    </a:lnTo>
                    <a:lnTo>
                      <a:pt x="544" y="66"/>
                    </a:lnTo>
                    <a:lnTo>
                      <a:pt x="553" y="59"/>
                    </a:lnTo>
                    <a:lnTo>
                      <a:pt x="558" y="54"/>
                    </a:lnTo>
                    <a:lnTo>
                      <a:pt x="558" y="49"/>
                    </a:lnTo>
                    <a:lnTo>
                      <a:pt x="555" y="45"/>
                    </a:lnTo>
                    <a:lnTo>
                      <a:pt x="548" y="43"/>
                    </a:lnTo>
                    <a:lnTo>
                      <a:pt x="538" y="40"/>
                    </a:lnTo>
                    <a:lnTo>
                      <a:pt x="522" y="38"/>
                    </a:lnTo>
                    <a:lnTo>
                      <a:pt x="505" y="38"/>
                    </a:lnTo>
                    <a:lnTo>
                      <a:pt x="465" y="40"/>
                    </a:lnTo>
                    <a:lnTo>
                      <a:pt x="426" y="47"/>
                    </a:lnTo>
                    <a:lnTo>
                      <a:pt x="386" y="57"/>
                    </a:lnTo>
                    <a:lnTo>
                      <a:pt x="351" y="71"/>
                    </a:lnTo>
                    <a:lnTo>
                      <a:pt x="289" y="68"/>
                    </a:lnTo>
                    <a:lnTo>
                      <a:pt x="227" y="64"/>
                    </a:lnTo>
                    <a:lnTo>
                      <a:pt x="279" y="43"/>
                    </a:lnTo>
                    <a:lnTo>
                      <a:pt x="329" y="28"/>
                    </a:lnTo>
                    <a:lnTo>
                      <a:pt x="384" y="16"/>
                    </a:lnTo>
                    <a:lnTo>
                      <a:pt x="414" y="11"/>
                    </a:lnTo>
                    <a:lnTo>
                      <a:pt x="445" y="7"/>
                    </a:lnTo>
                    <a:lnTo>
                      <a:pt x="510" y="2"/>
                    </a:lnTo>
                    <a:lnTo>
                      <a:pt x="574" y="0"/>
                    </a:lnTo>
                    <a:lnTo>
                      <a:pt x="600" y="0"/>
                    </a:lnTo>
                    <a:lnTo>
                      <a:pt x="624" y="2"/>
                    </a:lnTo>
                    <a:lnTo>
                      <a:pt x="644" y="4"/>
                    </a:lnTo>
                    <a:lnTo>
                      <a:pt x="663" y="6"/>
                    </a:lnTo>
                    <a:lnTo>
                      <a:pt x="679" y="9"/>
                    </a:lnTo>
                    <a:lnTo>
                      <a:pt x="693" y="12"/>
                    </a:lnTo>
                    <a:lnTo>
                      <a:pt x="703" y="18"/>
                    </a:lnTo>
                    <a:lnTo>
                      <a:pt x="712" y="23"/>
                    </a:lnTo>
                    <a:lnTo>
                      <a:pt x="717" y="28"/>
                    </a:lnTo>
                    <a:lnTo>
                      <a:pt x="720" y="31"/>
                    </a:lnTo>
                    <a:lnTo>
                      <a:pt x="722" y="37"/>
                    </a:lnTo>
                    <a:lnTo>
                      <a:pt x="722" y="42"/>
                    </a:lnTo>
                    <a:lnTo>
                      <a:pt x="719" y="47"/>
                    </a:lnTo>
                    <a:lnTo>
                      <a:pt x="713" y="52"/>
                    </a:lnTo>
                    <a:lnTo>
                      <a:pt x="708" y="57"/>
                    </a:lnTo>
                    <a:lnTo>
                      <a:pt x="700" y="62"/>
                    </a:lnTo>
                    <a:lnTo>
                      <a:pt x="684" y="71"/>
                    </a:lnTo>
                    <a:lnTo>
                      <a:pt x="667" y="78"/>
                    </a:lnTo>
                    <a:lnTo>
                      <a:pt x="646" y="85"/>
                    </a:lnTo>
                    <a:lnTo>
                      <a:pt x="624" y="92"/>
                    </a:lnTo>
                    <a:lnTo>
                      <a:pt x="596" y="97"/>
                    </a:lnTo>
                    <a:lnTo>
                      <a:pt x="569" y="104"/>
                    </a:lnTo>
                    <a:lnTo>
                      <a:pt x="536" y="109"/>
                    </a:lnTo>
                    <a:lnTo>
                      <a:pt x="501" y="114"/>
                    </a:lnTo>
                    <a:lnTo>
                      <a:pt x="529" y="116"/>
                    </a:lnTo>
                    <a:lnTo>
                      <a:pt x="550" y="121"/>
                    </a:lnTo>
                    <a:lnTo>
                      <a:pt x="565" y="126"/>
                    </a:lnTo>
                    <a:lnTo>
                      <a:pt x="576" y="133"/>
                    </a:lnTo>
                    <a:lnTo>
                      <a:pt x="579" y="142"/>
                    </a:lnTo>
                    <a:lnTo>
                      <a:pt x="576" y="152"/>
                    </a:lnTo>
                    <a:lnTo>
                      <a:pt x="567" y="161"/>
                    </a:lnTo>
                    <a:lnTo>
                      <a:pt x="551" y="171"/>
                    </a:lnTo>
                    <a:lnTo>
                      <a:pt x="538" y="180"/>
                    </a:lnTo>
                    <a:lnTo>
                      <a:pt x="520" y="186"/>
                    </a:lnTo>
                    <a:lnTo>
                      <a:pt x="503" y="193"/>
                    </a:lnTo>
                    <a:lnTo>
                      <a:pt x="482" y="202"/>
                    </a:lnTo>
                    <a:lnTo>
                      <a:pt x="462" y="207"/>
                    </a:lnTo>
                    <a:lnTo>
                      <a:pt x="438" y="214"/>
                    </a:lnTo>
                    <a:lnTo>
                      <a:pt x="414" y="221"/>
                    </a:lnTo>
                    <a:lnTo>
                      <a:pt x="386" y="226"/>
                    </a:lnTo>
                    <a:lnTo>
                      <a:pt x="329" y="236"/>
                    </a:lnTo>
                    <a:lnTo>
                      <a:pt x="274" y="243"/>
                    </a:lnTo>
                    <a:lnTo>
                      <a:pt x="217" y="247"/>
                    </a:lnTo>
                    <a:lnTo>
                      <a:pt x="162" y="248"/>
                    </a:lnTo>
                    <a:lnTo>
                      <a:pt x="136" y="248"/>
                    </a:lnTo>
                    <a:lnTo>
                      <a:pt x="114" y="247"/>
                    </a:lnTo>
                    <a:lnTo>
                      <a:pt x="91" y="245"/>
                    </a:lnTo>
                    <a:lnTo>
                      <a:pt x="72" y="243"/>
                    </a:lnTo>
                    <a:lnTo>
                      <a:pt x="57" y="242"/>
                    </a:lnTo>
                    <a:lnTo>
                      <a:pt x="41" y="238"/>
                    </a:lnTo>
                    <a:lnTo>
                      <a:pt x="29" y="235"/>
                    </a:lnTo>
                    <a:lnTo>
                      <a:pt x="19" y="230"/>
                    </a:lnTo>
                    <a:lnTo>
                      <a:pt x="10" y="224"/>
                    </a:lnTo>
                    <a:lnTo>
                      <a:pt x="5" y="219"/>
                    </a:lnTo>
                    <a:lnTo>
                      <a:pt x="2" y="214"/>
                    </a:lnTo>
                    <a:lnTo>
                      <a:pt x="0" y="207"/>
                    </a:lnTo>
                    <a:lnTo>
                      <a:pt x="2" y="200"/>
                    </a:lnTo>
                    <a:lnTo>
                      <a:pt x="5" y="195"/>
                    </a:lnTo>
                    <a:lnTo>
                      <a:pt x="12" y="186"/>
                    </a:lnTo>
                    <a:lnTo>
                      <a:pt x="21" y="18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56" name="Freeform 776"/>
              <p:cNvSpPr>
                <a:spLocks noEditPoints="1"/>
              </p:cNvSpPr>
              <p:nvPr/>
            </p:nvSpPr>
            <p:spPr bwMode="auto">
              <a:xfrm>
                <a:off x="4015" y="3020"/>
                <a:ext cx="359" cy="124"/>
              </a:xfrm>
              <a:custGeom>
                <a:avLst/>
                <a:gdLst>
                  <a:gd name="T0" fmla="*/ 95 w 719"/>
                  <a:gd name="T1" fmla="*/ 186 h 248"/>
                  <a:gd name="T2" fmla="*/ 164 w 719"/>
                  <a:gd name="T3" fmla="*/ 190 h 248"/>
                  <a:gd name="T4" fmla="*/ 161 w 719"/>
                  <a:gd name="T5" fmla="*/ 200 h 248"/>
                  <a:gd name="T6" fmla="*/ 171 w 719"/>
                  <a:gd name="T7" fmla="*/ 207 h 248"/>
                  <a:gd name="T8" fmla="*/ 195 w 719"/>
                  <a:gd name="T9" fmla="*/ 211 h 248"/>
                  <a:gd name="T10" fmla="*/ 236 w 719"/>
                  <a:gd name="T11" fmla="*/ 209 h 248"/>
                  <a:gd name="T12" fmla="*/ 312 w 719"/>
                  <a:gd name="T13" fmla="*/ 197 h 248"/>
                  <a:gd name="T14" fmla="*/ 373 w 719"/>
                  <a:gd name="T15" fmla="*/ 176 h 248"/>
                  <a:gd name="T16" fmla="*/ 447 w 719"/>
                  <a:gd name="T17" fmla="*/ 142 h 248"/>
                  <a:gd name="T18" fmla="*/ 357 w 719"/>
                  <a:gd name="T19" fmla="*/ 157 h 248"/>
                  <a:gd name="T20" fmla="*/ 271 w 719"/>
                  <a:gd name="T21" fmla="*/ 162 h 248"/>
                  <a:gd name="T22" fmla="*/ 230 w 719"/>
                  <a:gd name="T23" fmla="*/ 161 h 248"/>
                  <a:gd name="T24" fmla="*/ 195 w 719"/>
                  <a:gd name="T25" fmla="*/ 157 h 248"/>
                  <a:gd name="T26" fmla="*/ 169 w 719"/>
                  <a:gd name="T27" fmla="*/ 150 h 248"/>
                  <a:gd name="T28" fmla="*/ 150 w 719"/>
                  <a:gd name="T29" fmla="*/ 140 h 248"/>
                  <a:gd name="T30" fmla="*/ 142 w 719"/>
                  <a:gd name="T31" fmla="*/ 128 h 248"/>
                  <a:gd name="T32" fmla="*/ 143 w 719"/>
                  <a:gd name="T33" fmla="*/ 114 h 248"/>
                  <a:gd name="T34" fmla="*/ 157 w 719"/>
                  <a:gd name="T35" fmla="*/ 99 h 248"/>
                  <a:gd name="T36" fmla="*/ 181 w 719"/>
                  <a:gd name="T37" fmla="*/ 83 h 248"/>
                  <a:gd name="T38" fmla="*/ 255 w 719"/>
                  <a:gd name="T39" fmla="*/ 49 h 248"/>
                  <a:gd name="T40" fmla="*/ 352 w 719"/>
                  <a:gd name="T41" fmla="*/ 23 h 248"/>
                  <a:gd name="T42" fmla="*/ 459 w 719"/>
                  <a:gd name="T43" fmla="*/ 6 h 248"/>
                  <a:gd name="T44" fmla="*/ 567 w 719"/>
                  <a:gd name="T45" fmla="*/ 0 h 248"/>
                  <a:gd name="T46" fmla="*/ 621 w 719"/>
                  <a:gd name="T47" fmla="*/ 2 h 248"/>
                  <a:gd name="T48" fmla="*/ 664 w 719"/>
                  <a:gd name="T49" fmla="*/ 7 h 248"/>
                  <a:gd name="T50" fmla="*/ 695 w 719"/>
                  <a:gd name="T51" fmla="*/ 16 h 248"/>
                  <a:gd name="T52" fmla="*/ 714 w 719"/>
                  <a:gd name="T53" fmla="*/ 30 h 248"/>
                  <a:gd name="T54" fmla="*/ 719 w 719"/>
                  <a:gd name="T55" fmla="*/ 47 h 248"/>
                  <a:gd name="T56" fmla="*/ 707 w 719"/>
                  <a:gd name="T57" fmla="*/ 68 h 248"/>
                  <a:gd name="T58" fmla="*/ 678 w 719"/>
                  <a:gd name="T59" fmla="*/ 93 h 248"/>
                  <a:gd name="T60" fmla="*/ 631 w 719"/>
                  <a:gd name="T61" fmla="*/ 123 h 248"/>
                  <a:gd name="T62" fmla="*/ 516 w 719"/>
                  <a:gd name="T63" fmla="*/ 180 h 248"/>
                  <a:gd name="T64" fmla="*/ 392 w 719"/>
                  <a:gd name="T65" fmla="*/ 219 h 248"/>
                  <a:gd name="T66" fmla="*/ 264 w 719"/>
                  <a:gd name="T67" fmla="*/ 242 h 248"/>
                  <a:gd name="T68" fmla="*/ 136 w 719"/>
                  <a:gd name="T69" fmla="*/ 248 h 248"/>
                  <a:gd name="T70" fmla="*/ 93 w 719"/>
                  <a:gd name="T71" fmla="*/ 247 h 248"/>
                  <a:gd name="T72" fmla="*/ 61 w 719"/>
                  <a:gd name="T73" fmla="*/ 245 h 248"/>
                  <a:gd name="T74" fmla="*/ 33 w 719"/>
                  <a:gd name="T75" fmla="*/ 240 h 248"/>
                  <a:gd name="T76" fmla="*/ 14 w 719"/>
                  <a:gd name="T77" fmla="*/ 233 h 248"/>
                  <a:gd name="T78" fmla="*/ 2 w 719"/>
                  <a:gd name="T79" fmla="*/ 224 h 248"/>
                  <a:gd name="T80" fmla="*/ 0 w 719"/>
                  <a:gd name="T81" fmla="*/ 214 h 248"/>
                  <a:gd name="T82" fmla="*/ 6 w 719"/>
                  <a:gd name="T83" fmla="*/ 202 h 248"/>
                  <a:gd name="T84" fmla="*/ 18 w 719"/>
                  <a:gd name="T85" fmla="*/ 188 h 248"/>
                  <a:gd name="T86" fmla="*/ 526 w 719"/>
                  <a:gd name="T87" fmla="*/ 86 h 248"/>
                  <a:gd name="T88" fmla="*/ 541 w 719"/>
                  <a:gd name="T89" fmla="*/ 76 h 248"/>
                  <a:gd name="T90" fmla="*/ 554 w 719"/>
                  <a:gd name="T91" fmla="*/ 59 h 248"/>
                  <a:gd name="T92" fmla="*/ 543 w 719"/>
                  <a:gd name="T93" fmla="*/ 47 h 248"/>
                  <a:gd name="T94" fmla="*/ 516 w 719"/>
                  <a:gd name="T95" fmla="*/ 40 h 248"/>
                  <a:gd name="T96" fmla="*/ 454 w 719"/>
                  <a:gd name="T97" fmla="*/ 42 h 248"/>
                  <a:gd name="T98" fmla="*/ 388 w 719"/>
                  <a:gd name="T99" fmla="*/ 55 h 248"/>
                  <a:gd name="T100" fmla="*/ 326 w 719"/>
                  <a:gd name="T101" fmla="*/ 83 h 248"/>
                  <a:gd name="T102" fmla="*/ 300 w 719"/>
                  <a:gd name="T103" fmla="*/ 104 h 248"/>
                  <a:gd name="T104" fmla="*/ 298 w 719"/>
                  <a:gd name="T105" fmla="*/ 118 h 248"/>
                  <a:gd name="T106" fmla="*/ 317 w 719"/>
                  <a:gd name="T107" fmla="*/ 126 h 248"/>
                  <a:gd name="T108" fmla="*/ 354 w 719"/>
                  <a:gd name="T109" fmla="*/ 128 h 248"/>
                  <a:gd name="T110" fmla="*/ 445 w 719"/>
                  <a:gd name="T111" fmla="*/ 118 h 248"/>
                  <a:gd name="T112" fmla="*/ 509 w 719"/>
                  <a:gd name="T113" fmla="*/ 97 h 248"/>
                  <a:gd name="T114" fmla="*/ 526 w 719"/>
                  <a:gd name="T115" fmla="*/ 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19" h="248">
                    <a:moveTo>
                      <a:pt x="18" y="188"/>
                    </a:moveTo>
                    <a:lnTo>
                      <a:pt x="95" y="186"/>
                    </a:lnTo>
                    <a:lnTo>
                      <a:pt x="171" y="183"/>
                    </a:lnTo>
                    <a:lnTo>
                      <a:pt x="164" y="190"/>
                    </a:lnTo>
                    <a:lnTo>
                      <a:pt x="161" y="195"/>
                    </a:lnTo>
                    <a:lnTo>
                      <a:pt x="161" y="200"/>
                    </a:lnTo>
                    <a:lnTo>
                      <a:pt x="164" y="204"/>
                    </a:lnTo>
                    <a:lnTo>
                      <a:pt x="171" y="207"/>
                    </a:lnTo>
                    <a:lnTo>
                      <a:pt x="181" y="209"/>
                    </a:lnTo>
                    <a:lnTo>
                      <a:pt x="195" y="211"/>
                    </a:lnTo>
                    <a:lnTo>
                      <a:pt x="212" y="211"/>
                    </a:lnTo>
                    <a:lnTo>
                      <a:pt x="236" y="209"/>
                    </a:lnTo>
                    <a:lnTo>
                      <a:pt x="261" y="207"/>
                    </a:lnTo>
                    <a:lnTo>
                      <a:pt x="312" y="197"/>
                    </a:lnTo>
                    <a:lnTo>
                      <a:pt x="342" y="188"/>
                    </a:lnTo>
                    <a:lnTo>
                      <a:pt x="373" y="176"/>
                    </a:lnTo>
                    <a:lnTo>
                      <a:pt x="409" y="161"/>
                    </a:lnTo>
                    <a:lnTo>
                      <a:pt x="447" y="142"/>
                    </a:lnTo>
                    <a:lnTo>
                      <a:pt x="402" y="150"/>
                    </a:lnTo>
                    <a:lnTo>
                      <a:pt x="357" y="157"/>
                    </a:lnTo>
                    <a:lnTo>
                      <a:pt x="314" y="161"/>
                    </a:lnTo>
                    <a:lnTo>
                      <a:pt x="271" y="162"/>
                    </a:lnTo>
                    <a:lnTo>
                      <a:pt x="249" y="162"/>
                    </a:lnTo>
                    <a:lnTo>
                      <a:pt x="230" y="161"/>
                    </a:lnTo>
                    <a:lnTo>
                      <a:pt x="211" y="159"/>
                    </a:lnTo>
                    <a:lnTo>
                      <a:pt x="195" y="157"/>
                    </a:lnTo>
                    <a:lnTo>
                      <a:pt x="181" y="154"/>
                    </a:lnTo>
                    <a:lnTo>
                      <a:pt x="169" y="150"/>
                    </a:lnTo>
                    <a:lnTo>
                      <a:pt x="159" y="145"/>
                    </a:lnTo>
                    <a:lnTo>
                      <a:pt x="150" y="140"/>
                    </a:lnTo>
                    <a:lnTo>
                      <a:pt x="145" y="135"/>
                    </a:lnTo>
                    <a:lnTo>
                      <a:pt x="142" y="128"/>
                    </a:lnTo>
                    <a:lnTo>
                      <a:pt x="142" y="121"/>
                    </a:lnTo>
                    <a:lnTo>
                      <a:pt x="143" y="114"/>
                    </a:lnTo>
                    <a:lnTo>
                      <a:pt x="149" y="107"/>
                    </a:lnTo>
                    <a:lnTo>
                      <a:pt x="157" y="99"/>
                    </a:lnTo>
                    <a:lnTo>
                      <a:pt x="168" y="92"/>
                    </a:lnTo>
                    <a:lnTo>
                      <a:pt x="181" y="83"/>
                    </a:lnTo>
                    <a:lnTo>
                      <a:pt x="216" y="66"/>
                    </a:lnTo>
                    <a:lnTo>
                      <a:pt x="255" y="49"/>
                    </a:lnTo>
                    <a:lnTo>
                      <a:pt x="300" y="35"/>
                    </a:lnTo>
                    <a:lnTo>
                      <a:pt x="352" y="23"/>
                    </a:lnTo>
                    <a:lnTo>
                      <a:pt x="405" y="12"/>
                    </a:lnTo>
                    <a:lnTo>
                      <a:pt x="459" y="6"/>
                    </a:lnTo>
                    <a:lnTo>
                      <a:pt x="514" y="2"/>
                    </a:lnTo>
                    <a:lnTo>
                      <a:pt x="567" y="0"/>
                    </a:lnTo>
                    <a:lnTo>
                      <a:pt x="595" y="0"/>
                    </a:lnTo>
                    <a:lnTo>
                      <a:pt x="621" y="2"/>
                    </a:lnTo>
                    <a:lnTo>
                      <a:pt x="645" y="4"/>
                    </a:lnTo>
                    <a:lnTo>
                      <a:pt x="664" y="7"/>
                    </a:lnTo>
                    <a:lnTo>
                      <a:pt x="681" y="11"/>
                    </a:lnTo>
                    <a:lnTo>
                      <a:pt x="695" y="16"/>
                    </a:lnTo>
                    <a:lnTo>
                      <a:pt x="705" y="23"/>
                    </a:lnTo>
                    <a:lnTo>
                      <a:pt x="714" y="30"/>
                    </a:lnTo>
                    <a:lnTo>
                      <a:pt x="719" y="37"/>
                    </a:lnTo>
                    <a:lnTo>
                      <a:pt x="719" y="47"/>
                    </a:lnTo>
                    <a:lnTo>
                      <a:pt x="715" y="55"/>
                    </a:lnTo>
                    <a:lnTo>
                      <a:pt x="707" y="68"/>
                    </a:lnTo>
                    <a:lnTo>
                      <a:pt x="695" y="80"/>
                    </a:lnTo>
                    <a:lnTo>
                      <a:pt x="678" y="93"/>
                    </a:lnTo>
                    <a:lnTo>
                      <a:pt x="657" y="107"/>
                    </a:lnTo>
                    <a:lnTo>
                      <a:pt x="631" y="123"/>
                    </a:lnTo>
                    <a:lnTo>
                      <a:pt x="574" y="154"/>
                    </a:lnTo>
                    <a:lnTo>
                      <a:pt x="516" y="180"/>
                    </a:lnTo>
                    <a:lnTo>
                      <a:pt x="454" y="202"/>
                    </a:lnTo>
                    <a:lnTo>
                      <a:pt x="392" y="219"/>
                    </a:lnTo>
                    <a:lnTo>
                      <a:pt x="328" y="231"/>
                    </a:lnTo>
                    <a:lnTo>
                      <a:pt x="264" y="242"/>
                    </a:lnTo>
                    <a:lnTo>
                      <a:pt x="200" y="247"/>
                    </a:lnTo>
                    <a:lnTo>
                      <a:pt x="136" y="248"/>
                    </a:lnTo>
                    <a:lnTo>
                      <a:pt x="114" y="248"/>
                    </a:lnTo>
                    <a:lnTo>
                      <a:pt x="93" y="247"/>
                    </a:lnTo>
                    <a:lnTo>
                      <a:pt x="76" y="247"/>
                    </a:lnTo>
                    <a:lnTo>
                      <a:pt x="61" y="245"/>
                    </a:lnTo>
                    <a:lnTo>
                      <a:pt x="45" y="243"/>
                    </a:lnTo>
                    <a:lnTo>
                      <a:pt x="33" y="240"/>
                    </a:lnTo>
                    <a:lnTo>
                      <a:pt x="23" y="236"/>
                    </a:lnTo>
                    <a:lnTo>
                      <a:pt x="14" y="233"/>
                    </a:lnTo>
                    <a:lnTo>
                      <a:pt x="7" y="230"/>
                    </a:lnTo>
                    <a:lnTo>
                      <a:pt x="2" y="224"/>
                    </a:lnTo>
                    <a:lnTo>
                      <a:pt x="0" y="219"/>
                    </a:lnTo>
                    <a:lnTo>
                      <a:pt x="0" y="214"/>
                    </a:lnTo>
                    <a:lnTo>
                      <a:pt x="2" y="209"/>
                    </a:lnTo>
                    <a:lnTo>
                      <a:pt x="6" y="202"/>
                    </a:lnTo>
                    <a:lnTo>
                      <a:pt x="11" y="195"/>
                    </a:lnTo>
                    <a:lnTo>
                      <a:pt x="18" y="188"/>
                    </a:lnTo>
                    <a:lnTo>
                      <a:pt x="18" y="188"/>
                    </a:lnTo>
                    <a:close/>
                    <a:moveTo>
                      <a:pt x="526" y="86"/>
                    </a:moveTo>
                    <a:lnTo>
                      <a:pt x="535" y="81"/>
                    </a:lnTo>
                    <a:lnTo>
                      <a:pt x="541" y="76"/>
                    </a:lnTo>
                    <a:lnTo>
                      <a:pt x="552" y="68"/>
                    </a:lnTo>
                    <a:lnTo>
                      <a:pt x="554" y="59"/>
                    </a:lnTo>
                    <a:lnTo>
                      <a:pt x="552" y="52"/>
                    </a:lnTo>
                    <a:lnTo>
                      <a:pt x="543" y="47"/>
                    </a:lnTo>
                    <a:lnTo>
                      <a:pt x="531" y="42"/>
                    </a:lnTo>
                    <a:lnTo>
                      <a:pt x="516" y="40"/>
                    </a:lnTo>
                    <a:lnTo>
                      <a:pt x="497" y="38"/>
                    </a:lnTo>
                    <a:lnTo>
                      <a:pt x="454" y="42"/>
                    </a:lnTo>
                    <a:lnTo>
                      <a:pt x="410" y="49"/>
                    </a:lnTo>
                    <a:lnTo>
                      <a:pt x="388" y="55"/>
                    </a:lnTo>
                    <a:lnTo>
                      <a:pt x="367" y="62"/>
                    </a:lnTo>
                    <a:lnTo>
                      <a:pt x="326" y="83"/>
                    </a:lnTo>
                    <a:lnTo>
                      <a:pt x="311" y="93"/>
                    </a:lnTo>
                    <a:lnTo>
                      <a:pt x="300" y="104"/>
                    </a:lnTo>
                    <a:lnTo>
                      <a:pt x="297" y="111"/>
                    </a:lnTo>
                    <a:lnTo>
                      <a:pt x="298" y="118"/>
                    </a:lnTo>
                    <a:lnTo>
                      <a:pt x="305" y="123"/>
                    </a:lnTo>
                    <a:lnTo>
                      <a:pt x="317" y="126"/>
                    </a:lnTo>
                    <a:lnTo>
                      <a:pt x="333" y="128"/>
                    </a:lnTo>
                    <a:lnTo>
                      <a:pt x="354" y="128"/>
                    </a:lnTo>
                    <a:lnTo>
                      <a:pt x="398" y="126"/>
                    </a:lnTo>
                    <a:lnTo>
                      <a:pt x="445" y="118"/>
                    </a:lnTo>
                    <a:lnTo>
                      <a:pt x="488" y="105"/>
                    </a:lnTo>
                    <a:lnTo>
                      <a:pt x="509" y="97"/>
                    </a:lnTo>
                    <a:lnTo>
                      <a:pt x="526" y="86"/>
                    </a:lnTo>
                    <a:lnTo>
                      <a:pt x="526" y="8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57" name="Freeform 777"/>
              <p:cNvSpPr>
                <a:spLocks/>
              </p:cNvSpPr>
              <p:nvPr/>
            </p:nvSpPr>
            <p:spPr bwMode="auto">
              <a:xfrm>
                <a:off x="3341" y="3006"/>
                <a:ext cx="424" cy="122"/>
              </a:xfrm>
              <a:custGeom>
                <a:avLst/>
                <a:gdLst>
                  <a:gd name="T0" fmla="*/ 558 w 848"/>
                  <a:gd name="T1" fmla="*/ 222 h 243"/>
                  <a:gd name="T2" fmla="*/ 0 w 848"/>
                  <a:gd name="T3" fmla="*/ 243 h 243"/>
                  <a:gd name="T4" fmla="*/ 58 w 848"/>
                  <a:gd name="T5" fmla="*/ 220 h 243"/>
                  <a:gd name="T6" fmla="*/ 129 w 848"/>
                  <a:gd name="T7" fmla="*/ 196 h 243"/>
                  <a:gd name="T8" fmla="*/ 176 w 848"/>
                  <a:gd name="T9" fmla="*/ 184 h 243"/>
                  <a:gd name="T10" fmla="*/ 236 w 848"/>
                  <a:gd name="T11" fmla="*/ 172 h 243"/>
                  <a:gd name="T12" fmla="*/ 308 w 848"/>
                  <a:gd name="T13" fmla="*/ 157 h 243"/>
                  <a:gd name="T14" fmla="*/ 394 w 848"/>
                  <a:gd name="T15" fmla="*/ 139 h 243"/>
                  <a:gd name="T16" fmla="*/ 463 w 848"/>
                  <a:gd name="T17" fmla="*/ 126 h 243"/>
                  <a:gd name="T18" fmla="*/ 517 w 848"/>
                  <a:gd name="T19" fmla="*/ 115 h 243"/>
                  <a:gd name="T20" fmla="*/ 558 w 848"/>
                  <a:gd name="T21" fmla="*/ 107 h 243"/>
                  <a:gd name="T22" fmla="*/ 584 w 848"/>
                  <a:gd name="T23" fmla="*/ 100 h 243"/>
                  <a:gd name="T24" fmla="*/ 632 w 848"/>
                  <a:gd name="T25" fmla="*/ 86 h 243"/>
                  <a:gd name="T26" fmla="*/ 663 w 848"/>
                  <a:gd name="T27" fmla="*/ 70 h 243"/>
                  <a:gd name="T28" fmla="*/ 680 w 848"/>
                  <a:gd name="T29" fmla="*/ 57 h 243"/>
                  <a:gd name="T30" fmla="*/ 677 w 848"/>
                  <a:gd name="T31" fmla="*/ 46 h 243"/>
                  <a:gd name="T32" fmla="*/ 655 w 848"/>
                  <a:gd name="T33" fmla="*/ 39 h 243"/>
                  <a:gd name="T34" fmla="*/ 617 w 848"/>
                  <a:gd name="T35" fmla="*/ 38 h 243"/>
                  <a:gd name="T36" fmla="*/ 527 w 848"/>
                  <a:gd name="T37" fmla="*/ 46 h 243"/>
                  <a:gd name="T38" fmla="*/ 467 w 848"/>
                  <a:gd name="T39" fmla="*/ 67 h 243"/>
                  <a:gd name="T40" fmla="*/ 377 w 848"/>
                  <a:gd name="T41" fmla="*/ 74 h 243"/>
                  <a:gd name="T42" fmla="*/ 346 w 848"/>
                  <a:gd name="T43" fmla="*/ 55 h 243"/>
                  <a:gd name="T44" fmla="*/ 434 w 848"/>
                  <a:gd name="T45" fmla="*/ 26 h 243"/>
                  <a:gd name="T46" fmla="*/ 532 w 848"/>
                  <a:gd name="T47" fmla="*/ 10 h 243"/>
                  <a:gd name="T48" fmla="*/ 634 w 848"/>
                  <a:gd name="T49" fmla="*/ 1 h 243"/>
                  <a:gd name="T50" fmla="*/ 713 w 848"/>
                  <a:gd name="T51" fmla="*/ 0 h 243"/>
                  <a:gd name="T52" fmla="*/ 760 w 848"/>
                  <a:gd name="T53" fmla="*/ 3 h 243"/>
                  <a:gd name="T54" fmla="*/ 798 w 848"/>
                  <a:gd name="T55" fmla="*/ 7 h 243"/>
                  <a:gd name="T56" fmla="*/ 823 w 848"/>
                  <a:gd name="T57" fmla="*/ 15 h 243"/>
                  <a:gd name="T58" fmla="*/ 841 w 848"/>
                  <a:gd name="T59" fmla="*/ 24 h 243"/>
                  <a:gd name="T60" fmla="*/ 848 w 848"/>
                  <a:gd name="T61" fmla="*/ 36 h 243"/>
                  <a:gd name="T62" fmla="*/ 844 w 848"/>
                  <a:gd name="T63" fmla="*/ 46 h 243"/>
                  <a:gd name="T64" fmla="*/ 829 w 848"/>
                  <a:gd name="T65" fmla="*/ 60 h 243"/>
                  <a:gd name="T66" fmla="*/ 803 w 848"/>
                  <a:gd name="T67" fmla="*/ 76 h 243"/>
                  <a:gd name="T68" fmla="*/ 748 w 848"/>
                  <a:gd name="T69" fmla="*/ 98 h 243"/>
                  <a:gd name="T70" fmla="*/ 698 w 848"/>
                  <a:gd name="T71" fmla="*/ 113 h 243"/>
                  <a:gd name="T72" fmla="*/ 636 w 848"/>
                  <a:gd name="T73" fmla="*/ 129 h 243"/>
                  <a:gd name="T74" fmla="*/ 608 w 848"/>
                  <a:gd name="T75" fmla="*/ 134 h 243"/>
                  <a:gd name="T76" fmla="*/ 575 w 848"/>
                  <a:gd name="T77" fmla="*/ 143 h 243"/>
                  <a:gd name="T78" fmla="*/ 534 w 848"/>
                  <a:gd name="T79" fmla="*/ 150 h 243"/>
                  <a:gd name="T80" fmla="*/ 486 w 848"/>
                  <a:gd name="T81" fmla="*/ 160 h 243"/>
                  <a:gd name="T82" fmla="*/ 439 w 848"/>
                  <a:gd name="T83" fmla="*/ 169 h 243"/>
                  <a:gd name="T84" fmla="*/ 401 w 848"/>
                  <a:gd name="T85" fmla="*/ 177 h 243"/>
                  <a:gd name="T86" fmla="*/ 372 w 848"/>
                  <a:gd name="T87" fmla="*/ 182 h 243"/>
                  <a:gd name="T88" fmla="*/ 351 w 848"/>
                  <a:gd name="T89" fmla="*/ 188 h 243"/>
                  <a:gd name="T90" fmla="*/ 300 w 848"/>
                  <a:gd name="T91" fmla="*/ 200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48" h="243">
                    <a:moveTo>
                      <a:pt x="594" y="200"/>
                    </a:moveTo>
                    <a:lnTo>
                      <a:pt x="558" y="222"/>
                    </a:lnTo>
                    <a:lnTo>
                      <a:pt x="522" y="243"/>
                    </a:lnTo>
                    <a:lnTo>
                      <a:pt x="0" y="243"/>
                    </a:lnTo>
                    <a:lnTo>
                      <a:pt x="27" y="231"/>
                    </a:lnTo>
                    <a:lnTo>
                      <a:pt x="58" y="220"/>
                    </a:lnTo>
                    <a:lnTo>
                      <a:pt x="91" y="208"/>
                    </a:lnTo>
                    <a:lnTo>
                      <a:pt x="129" y="196"/>
                    </a:lnTo>
                    <a:lnTo>
                      <a:pt x="151" y="191"/>
                    </a:lnTo>
                    <a:lnTo>
                      <a:pt x="176" y="184"/>
                    </a:lnTo>
                    <a:lnTo>
                      <a:pt x="203" y="179"/>
                    </a:lnTo>
                    <a:lnTo>
                      <a:pt x="236" y="172"/>
                    </a:lnTo>
                    <a:lnTo>
                      <a:pt x="270" y="165"/>
                    </a:lnTo>
                    <a:lnTo>
                      <a:pt x="308" y="157"/>
                    </a:lnTo>
                    <a:lnTo>
                      <a:pt x="350" y="148"/>
                    </a:lnTo>
                    <a:lnTo>
                      <a:pt x="394" y="139"/>
                    </a:lnTo>
                    <a:lnTo>
                      <a:pt x="431" y="132"/>
                    </a:lnTo>
                    <a:lnTo>
                      <a:pt x="463" y="126"/>
                    </a:lnTo>
                    <a:lnTo>
                      <a:pt x="491" y="120"/>
                    </a:lnTo>
                    <a:lnTo>
                      <a:pt x="517" y="115"/>
                    </a:lnTo>
                    <a:lnTo>
                      <a:pt x="539" y="110"/>
                    </a:lnTo>
                    <a:lnTo>
                      <a:pt x="558" y="107"/>
                    </a:lnTo>
                    <a:lnTo>
                      <a:pt x="572" y="103"/>
                    </a:lnTo>
                    <a:lnTo>
                      <a:pt x="584" y="100"/>
                    </a:lnTo>
                    <a:lnTo>
                      <a:pt x="610" y="93"/>
                    </a:lnTo>
                    <a:lnTo>
                      <a:pt x="632" y="86"/>
                    </a:lnTo>
                    <a:lnTo>
                      <a:pt x="649" y="77"/>
                    </a:lnTo>
                    <a:lnTo>
                      <a:pt x="663" y="70"/>
                    </a:lnTo>
                    <a:lnTo>
                      <a:pt x="674" y="64"/>
                    </a:lnTo>
                    <a:lnTo>
                      <a:pt x="680" y="57"/>
                    </a:lnTo>
                    <a:lnTo>
                      <a:pt x="680" y="51"/>
                    </a:lnTo>
                    <a:lnTo>
                      <a:pt x="677" y="46"/>
                    </a:lnTo>
                    <a:lnTo>
                      <a:pt x="668" y="43"/>
                    </a:lnTo>
                    <a:lnTo>
                      <a:pt x="655" y="39"/>
                    </a:lnTo>
                    <a:lnTo>
                      <a:pt x="637" y="38"/>
                    </a:lnTo>
                    <a:lnTo>
                      <a:pt x="617" y="38"/>
                    </a:lnTo>
                    <a:lnTo>
                      <a:pt x="572" y="39"/>
                    </a:lnTo>
                    <a:lnTo>
                      <a:pt x="527" y="46"/>
                    </a:lnTo>
                    <a:lnTo>
                      <a:pt x="486" y="58"/>
                    </a:lnTo>
                    <a:lnTo>
                      <a:pt x="467" y="67"/>
                    </a:lnTo>
                    <a:lnTo>
                      <a:pt x="448" y="76"/>
                    </a:lnTo>
                    <a:lnTo>
                      <a:pt x="377" y="74"/>
                    </a:lnTo>
                    <a:lnTo>
                      <a:pt x="307" y="72"/>
                    </a:lnTo>
                    <a:lnTo>
                      <a:pt x="346" y="55"/>
                    </a:lnTo>
                    <a:lnTo>
                      <a:pt x="389" y="39"/>
                    </a:lnTo>
                    <a:lnTo>
                      <a:pt x="434" y="26"/>
                    </a:lnTo>
                    <a:lnTo>
                      <a:pt x="482" y="17"/>
                    </a:lnTo>
                    <a:lnTo>
                      <a:pt x="532" y="10"/>
                    </a:lnTo>
                    <a:lnTo>
                      <a:pt x="582" y="3"/>
                    </a:lnTo>
                    <a:lnTo>
                      <a:pt x="634" y="1"/>
                    </a:lnTo>
                    <a:lnTo>
                      <a:pt x="686" y="0"/>
                    </a:lnTo>
                    <a:lnTo>
                      <a:pt x="713" y="0"/>
                    </a:lnTo>
                    <a:lnTo>
                      <a:pt x="737" y="1"/>
                    </a:lnTo>
                    <a:lnTo>
                      <a:pt x="760" y="3"/>
                    </a:lnTo>
                    <a:lnTo>
                      <a:pt x="780" y="5"/>
                    </a:lnTo>
                    <a:lnTo>
                      <a:pt x="798" y="7"/>
                    </a:lnTo>
                    <a:lnTo>
                      <a:pt x="811" y="10"/>
                    </a:lnTo>
                    <a:lnTo>
                      <a:pt x="823" y="15"/>
                    </a:lnTo>
                    <a:lnTo>
                      <a:pt x="834" y="19"/>
                    </a:lnTo>
                    <a:lnTo>
                      <a:pt x="841" y="24"/>
                    </a:lnTo>
                    <a:lnTo>
                      <a:pt x="846" y="29"/>
                    </a:lnTo>
                    <a:lnTo>
                      <a:pt x="848" y="36"/>
                    </a:lnTo>
                    <a:lnTo>
                      <a:pt x="848" y="41"/>
                    </a:lnTo>
                    <a:lnTo>
                      <a:pt x="844" y="46"/>
                    </a:lnTo>
                    <a:lnTo>
                      <a:pt x="837" y="53"/>
                    </a:lnTo>
                    <a:lnTo>
                      <a:pt x="829" y="60"/>
                    </a:lnTo>
                    <a:lnTo>
                      <a:pt x="818" y="67"/>
                    </a:lnTo>
                    <a:lnTo>
                      <a:pt x="803" y="76"/>
                    </a:lnTo>
                    <a:lnTo>
                      <a:pt x="786" y="84"/>
                    </a:lnTo>
                    <a:lnTo>
                      <a:pt x="748" y="98"/>
                    </a:lnTo>
                    <a:lnTo>
                      <a:pt x="724" y="107"/>
                    </a:lnTo>
                    <a:lnTo>
                      <a:pt x="698" y="113"/>
                    </a:lnTo>
                    <a:lnTo>
                      <a:pt x="668" y="122"/>
                    </a:lnTo>
                    <a:lnTo>
                      <a:pt x="636" y="129"/>
                    </a:lnTo>
                    <a:lnTo>
                      <a:pt x="624" y="132"/>
                    </a:lnTo>
                    <a:lnTo>
                      <a:pt x="608" y="134"/>
                    </a:lnTo>
                    <a:lnTo>
                      <a:pt x="593" y="138"/>
                    </a:lnTo>
                    <a:lnTo>
                      <a:pt x="575" y="143"/>
                    </a:lnTo>
                    <a:lnTo>
                      <a:pt x="555" y="146"/>
                    </a:lnTo>
                    <a:lnTo>
                      <a:pt x="534" y="150"/>
                    </a:lnTo>
                    <a:lnTo>
                      <a:pt x="512" y="155"/>
                    </a:lnTo>
                    <a:lnTo>
                      <a:pt x="486" y="160"/>
                    </a:lnTo>
                    <a:lnTo>
                      <a:pt x="462" y="165"/>
                    </a:lnTo>
                    <a:lnTo>
                      <a:pt x="439" y="169"/>
                    </a:lnTo>
                    <a:lnTo>
                      <a:pt x="419" y="174"/>
                    </a:lnTo>
                    <a:lnTo>
                      <a:pt x="401" y="177"/>
                    </a:lnTo>
                    <a:lnTo>
                      <a:pt x="384" y="181"/>
                    </a:lnTo>
                    <a:lnTo>
                      <a:pt x="372" y="182"/>
                    </a:lnTo>
                    <a:lnTo>
                      <a:pt x="360" y="186"/>
                    </a:lnTo>
                    <a:lnTo>
                      <a:pt x="351" y="188"/>
                    </a:lnTo>
                    <a:lnTo>
                      <a:pt x="324" y="194"/>
                    </a:lnTo>
                    <a:lnTo>
                      <a:pt x="300" y="200"/>
                    </a:lnTo>
                    <a:lnTo>
                      <a:pt x="594" y="20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58" name="Freeform 778"/>
              <p:cNvSpPr>
                <a:spLocks/>
              </p:cNvSpPr>
              <p:nvPr/>
            </p:nvSpPr>
            <p:spPr bwMode="auto">
              <a:xfrm>
                <a:off x="3693" y="3006"/>
                <a:ext cx="361" cy="124"/>
              </a:xfrm>
              <a:custGeom>
                <a:avLst/>
                <a:gdLst>
                  <a:gd name="T0" fmla="*/ 98 w 722"/>
                  <a:gd name="T1" fmla="*/ 177 h 248"/>
                  <a:gd name="T2" fmla="*/ 165 w 722"/>
                  <a:gd name="T3" fmla="*/ 181 h 248"/>
                  <a:gd name="T4" fmla="*/ 162 w 722"/>
                  <a:gd name="T5" fmla="*/ 194 h 248"/>
                  <a:gd name="T6" fmla="*/ 175 w 722"/>
                  <a:gd name="T7" fmla="*/ 205 h 248"/>
                  <a:gd name="T8" fmla="*/ 205 w 722"/>
                  <a:gd name="T9" fmla="*/ 208 h 248"/>
                  <a:gd name="T10" fmla="*/ 272 w 722"/>
                  <a:gd name="T11" fmla="*/ 207 h 248"/>
                  <a:gd name="T12" fmla="*/ 346 w 722"/>
                  <a:gd name="T13" fmla="*/ 193 h 248"/>
                  <a:gd name="T14" fmla="*/ 384 w 722"/>
                  <a:gd name="T15" fmla="*/ 177 h 248"/>
                  <a:gd name="T16" fmla="*/ 413 w 722"/>
                  <a:gd name="T17" fmla="*/ 160 h 248"/>
                  <a:gd name="T18" fmla="*/ 422 w 722"/>
                  <a:gd name="T19" fmla="*/ 146 h 248"/>
                  <a:gd name="T20" fmla="*/ 410 w 722"/>
                  <a:gd name="T21" fmla="*/ 136 h 248"/>
                  <a:gd name="T22" fmla="*/ 382 w 722"/>
                  <a:gd name="T23" fmla="*/ 131 h 248"/>
                  <a:gd name="T24" fmla="*/ 346 w 722"/>
                  <a:gd name="T25" fmla="*/ 131 h 248"/>
                  <a:gd name="T26" fmla="*/ 310 w 722"/>
                  <a:gd name="T27" fmla="*/ 132 h 248"/>
                  <a:gd name="T28" fmla="*/ 329 w 722"/>
                  <a:gd name="T29" fmla="*/ 115 h 248"/>
                  <a:gd name="T30" fmla="*/ 398 w 722"/>
                  <a:gd name="T31" fmla="*/ 96 h 248"/>
                  <a:gd name="T32" fmla="*/ 473 w 722"/>
                  <a:gd name="T33" fmla="*/ 88 h 248"/>
                  <a:gd name="T34" fmla="*/ 515 w 722"/>
                  <a:gd name="T35" fmla="*/ 77 h 248"/>
                  <a:gd name="T36" fmla="*/ 544 w 722"/>
                  <a:gd name="T37" fmla="*/ 65 h 248"/>
                  <a:gd name="T38" fmla="*/ 558 w 722"/>
                  <a:gd name="T39" fmla="*/ 53 h 248"/>
                  <a:gd name="T40" fmla="*/ 554 w 722"/>
                  <a:gd name="T41" fmla="*/ 45 h 248"/>
                  <a:gd name="T42" fmla="*/ 537 w 722"/>
                  <a:gd name="T43" fmla="*/ 39 h 248"/>
                  <a:gd name="T44" fmla="*/ 504 w 722"/>
                  <a:gd name="T45" fmla="*/ 38 h 248"/>
                  <a:gd name="T46" fmla="*/ 425 w 722"/>
                  <a:gd name="T47" fmla="*/ 46 h 248"/>
                  <a:gd name="T48" fmla="*/ 351 w 722"/>
                  <a:gd name="T49" fmla="*/ 70 h 248"/>
                  <a:gd name="T50" fmla="*/ 227 w 722"/>
                  <a:gd name="T51" fmla="*/ 64 h 248"/>
                  <a:gd name="T52" fmla="*/ 329 w 722"/>
                  <a:gd name="T53" fmla="*/ 27 h 248"/>
                  <a:gd name="T54" fmla="*/ 413 w 722"/>
                  <a:gd name="T55" fmla="*/ 10 h 248"/>
                  <a:gd name="T56" fmla="*/ 510 w 722"/>
                  <a:gd name="T57" fmla="*/ 1 h 248"/>
                  <a:gd name="T58" fmla="*/ 599 w 722"/>
                  <a:gd name="T59" fmla="*/ 0 h 248"/>
                  <a:gd name="T60" fmla="*/ 644 w 722"/>
                  <a:gd name="T61" fmla="*/ 3 h 248"/>
                  <a:gd name="T62" fmla="*/ 679 w 722"/>
                  <a:gd name="T63" fmla="*/ 8 h 248"/>
                  <a:gd name="T64" fmla="*/ 703 w 722"/>
                  <a:gd name="T65" fmla="*/ 17 h 248"/>
                  <a:gd name="T66" fmla="*/ 716 w 722"/>
                  <a:gd name="T67" fmla="*/ 27 h 248"/>
                  <a:gd name="T68" fmla="*/ 722 w 722"/>
                  <a:gd name="T69" fmla="*/ 36 h 248"/>
                  <a:gd name="T70" fmla="*/ 718 w 722"/>
                  <a:gd name="T71" fmla="*/ 46 h 248"/>
                  <a:gd name="T72" fmla="*/ 708 w 722"/>
                  <a:gd name="T73" fmla="*/ 57 h 248"/>
                  <a:gd name="T74" fmla="*/ 684 w 722"/>
                  <a:gd name="T75" fmla="*/ 70 h 248"/>
                  <a:gd name="T76" fmla="*/ 646 w 722"/>
                  <a:gd name="T77" fmla="*/ 84 h 248"/>
                  <a:gd name="T78" fmla="*/ 596 w 722"/>
                  <a:gd name="T79" fmla="*/ 96 h 248"/>
                  <a:gd name="T80" fmla="*/ 536 w 722"/>
                  <a:gd name="T81" fmla="*/ 108 h 248"/>
                  <a:gd name="T82" fmla="*/ 529 w 722"/>
                  <a:gd name="T83" fmla="*/ 115 h 248"/>
                  <a:gd name="T84" fmla="*/ 565 w 722"/>
                  <a:gd name="T85" fmla="*/ 126 h 248"/>
                  <a:gd name="T86" fmla="*/ 579 w 722"/>
                  <a:gd name="T87" fmla="*/ 141 h 248"/>
                  <a:gd name="T88" fmla="*/ 567 w 722"/>
                  <a:gd name="T89" fmla="*/ 160 h 248"/>
                  <a:gd name="T90" fmla="*/ 537 w 722"/>
                  <a:gd name="T91" fmla="*/ 179 h 248"/>
                  <a:gd name="T92" fmla="*/ 503 w 722"/>
                  <a:gd name="T93" fmla="*/ 193 h 248"/>
                  <a:gd name="T94" fmla="*/ 461 w 722"/>
                  <a:gd name="T95" fmla="*/ 207 h 248"/>
                  <a:gd name="T96" fmla="*/ 413 w 722"/>
                  <a:gd name="T97" fmla="*/ 220 h 248"/>
                  <a:gd name="T98" fmla="*/ 329 w 722"/>
                  <a:gd name="T99" fmla="*/ 236 h 248"/>
                  <a:gd name="T100" fmla="*/ 217 w 722"/>
                  <a:gd name="T101" fmla="*/ 246 h 248"/>
                  <a:gd name="T102" fmla="*/ 136 w 722"/>
                  <a:gd name="T103" fmla="*/ 248 h 248"/>
                  <a:gd name="T104" fmla="*/ 91 w 722"/>
                  <a:gd name="T105" fmla="*/ 244 h 248"/>
                  <a:gd name="T106" fmla="*/ 56 w 722"/>
                  <a:gd name="T107" fmla="*/ 241 h 248"/>
                  <a:gd name="T108" fmla="*/ 29 w 722"/>
                  <a:gd name="T109" fmla="*/ 234 h 248"/>
                  <a:gd name="T110" fmla="*/ 10 w 722"/>
                  <a:gd name="T111" fmla="*/ 224 h 248"/>
                  <a:gd name="T112" fmla="*/ 1 w 722"/>
                  <a:gd name="T113" fmla="*/ 213 h 248"/>
                  <a:gd name="T114" fmla="*/ 1 w 722"/>
                  <a:gd name="T115" fmla="*/ 200 h 248"/>
                  <a:gd name="T116" fmla="*/ 12 w 722"/>
                  <a:gd name="T117" fmla="*/ 1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2" h="248">
                    <a:moveTo>
                      <a:pt x="20" y="179"/>
                    </a:moveTo>
                    <a:lnTo>
                      <a:pt x="98" y="177"/>
                    </a:lnTo>
                    <a:lnTo>
                      <a:pt x="174" y="174"/>
                    </a:lnTo>
                    <a:lnTo>
                      <a:pt x="165" y="181"/>
                    </a:lnTo>
                    <a:lnTo>
                      <a:pt x="162" y="188"/>
                    </a:lnTo>
                    <a:lnTo>
                      <a:pt x="162" y="194"/>
                    </a:lnTo>
                    <a:lnTo>
                      <a:pt x="167" y="200"/>
                    </a:lnTo>
                    <a:lnTo>
                      <a:pt x="175" y="205"/>
                    </a:lnTo>
                    <a:lnTo>
                      <a:pt x="189" y="207"/>
                    </a:lnTo>
                    <a:lnTo>
                      <a:pt x="205" y="208"/>
                    </a:lnTo>
                    <a:lnTo>
                      <a:pt x="225" y="208"/>
                    </a:lnTo>
                    <a:lnTo>
                      <a:pt x="272" y="207"/>
                    </a:lnTo>
                    <a:lnTo>
                      <a:pt x="322" y="198"/>
                    </a:lnTo>
                    <a:lnTo>
                      <a:pt x="346" y="193"/>
                    </a:lnTo>
                    <a:lnTo>
                      <a:pt x="367" y="186"/>
                    </a:lnTo>
                    <a:lnTo>
                      <a:pt x="384" y="177"/>
                    </a:lnTo>
                    <a:lnTo>
                      <a:pt x="401" y="169"/>
                    </a:lnTo>
                    <a:lnTo>
                      <a:pt x="413" y="160"/>
                    </a:lnTo>
                    <a:lnTo>
                      <a:pt x="420" y="153"/>
                    </a:lnTo>
                    <a:lnTo>
                      <a:pt x="422" y="146"/>
                    </a:lnTo>
                    <a:lnTo>
                      <a:pt x="418" y="141"/>
                    </a:lnTo>
                    <a:lnTo>
                      <a:pt x="410" y="136"/>
                    </a:lnTo>
                    <a:lnTo>
                      <a:pt x="398" y="134"/>
                    </a:lnTo>
                    <a:lnTo>
                      <a:pt x="382" y="131"/>
                    </a:lnTo>
                    <a:lnTo>
                      <a:pt x="361" y="131"/>
                    </a:lnTo>
                    <a:lnTo>
                      <a:pt x="346" y="131"/>
                    </a:lnTo>
                    <a:lnTo>
                      <a:pt x="329" y="132"/>
                    </a:lnTo>
                    <a:lnTo>
                      <a:pt x="310" y="132"/>
                    </a:lnTo>
                    <a:lnTo>
                      <a:pt x="287" y="134"/>
                    </a:lnTo>
                    <a:lnTo>
                      <a:pt x="329" y="115"/>
                    </a:lnTo>
                    <a:lnTo>
                      <a:pt x="368" y="96"/>
                    </a:lnTo>
                    <a:lnTo>
                      <a:pt x="398" y="96"/>
                    </a:lnTo>
                    <a:lnTo>
                      <a:pt x="424" y="95"/>
                    </a:lnTo>
                    <a:lnTo>
                      <a:pt x="473" y="88"/>
                    </a:lnTo>
                    <a:lnTo>
                      <a:pt x="496" y="82"/>
                    </a:lnTo>
                    <a:lnTo>
                      <a:pt x="515" y="77"/>
                    </a:lnTo>
                    <a:lnTo>
                      <a:pt x="530" y="72"/>
                    </a:lnTo>
                    <a:lnTo>
                      <a:pt x="544" y="65"/>
                    </a:lnTo>
                    <a:lnTo>
                      <a:pt x="553" y="58"/>
                    </a:lnTo>
                    <a:lnTo>
                      <a:pt x="558" y="53"/>
                    </a:lnTo>
                    <a:lnTo>
                      <a:pt x="558" y="48"/>
                    </a:lnTo>
                    <a:lnTo>
                      <a:pt x="554" y="45"/>
                    </a:lnTo>
                    <a:lnTo>
                      <a:pt x="548" y="43"/>
                    </a:lnTo>
                    <a:lnTo>
                      <a:pt x="537" y="39"/>
                    </a:lnTo>
                    <a:lnTo>
                      <a:pt x="522" y="38"/>
                    </a:lnTo>
                    <a:lnTo>
                      <a:pt x="504" y="38"/>
                    </a:lnTo>
                    <a:lnTo>
                      <a:pt x="465" y="39"/>
                    </a:lnTo>
                    <a:lnTo>
                      <a:pt x="425" y="46"/>
                    </a:lnTo>
                    <a:lnTo>
                      <a:pt x="386" y="57"/>
                    </a:lnTo>
                    <a:lnTo>
                      <a:pt x="351" y="70"/>
                    </a:lnTo>
                    <a:lnTo>
                      <a:pt x="289" y="67"/>
                    </a:lnTo>
                    <a:lnTo>
                      <a:pt x="227" y="64"/>
                    </a:lnTo>
                    <a:lnTo>
                      <a:pt x="279" y="43"/>
                    </a:lnTo>
                    <a:lnTo>
                      <a:pt x="329" y="27"/>
                    </a:lnTo>
                    <a:lnTo>
                      <a:pt x="384" y="15"/>
                    </a:lnTo>
                    <a:lnTo>
                      <a:pt x="413" y="10"/>
                    </a:lnTo>
                    <a:lnTo>
                      <a:pt x="444" y="7"/>
                    </a:lnTo>
                    <a:lnTo>
                      <a:pt x="510" y="1"/>
                    </a:lnTo>
                    <a:lnTo>
                      <a:pt x="573" y="0"/>
                    </a:lnTo>
                    <a:lnTo>
                      <a:pt x="599" y="0"/>
                    </a:lnTo>
                    <a:lnTo>
                      <a:pt x="623" y="1"/>
                    </a:lnTo>
                    <a:lnTo>
                      <a:pt x="644" y="3"/>
                    </a:lnTo>
                    <a:lnTo>
                      <a:pt x="663" y="5"/>
                    </a:lnTo>
                    <a:lnTo>
                      <a:pt x="679" y="8"/>
                    </a:lnTo>
                    <a:lnTo>
                      <a:pt x="692" y="12"/>
                    </a:lnTo>
                    <a:lnTo>
                      <a:pt x="703" y="17"/>
                    </a:lnTo>
                    <a:lnTo>
                      <a:pt x="711" y="22"/>
                    </a:lnTo>
                    <a:lnTo>
                      <a:pt x="716" y="27"/>
                    </a:lnTo>
                    <a:lnTo>
                      <a:pt x="720" y="31"/>
                    </a:lnTo>
                    <a:lnTo>
                      <a:pt x="722" y="36"/>
                    </a:lnTo>
                    <a:lnTo>
                      <a:pt x="722" y="41"/>
                    </a:lnTo>
                    <a:lnTo>
                      <a:pt x="718" y="46"/>
                    </a:lnTo>
                    <a:lnTo>
                      <a:pt x="713" y="51"/>
                    </a:lnTo>
                    <a:lnTo>
                      <a:pt x="708" y="57"/>
                    </a:lnTo>
                    <a:lnTo>
                      <a:pt x="699" y="62"/>
                    </a:lnTo>
                    <a:lnTo>
                      <a:pt x="684" y="70"/>
                    </a:lnTo>
                    <a:lnTo>
                      <a:pt x="666" y="77"/>
                    </a:lnTo>
                    <a:lnTo>
                      <a:pt x="646" y="84"/>
                    </a:lnTo>
                    <a:lnTo>
                      <a:pt x="623" y="91"/>
                    </a:lnTo>
                    <a:lnTo>
                      <a:pt x="596" y="96"/>
                    </a:lnTo>
                    <a:lnTo>
                      <a:pt x="568" y="103"/>
                    </a:lnTo>
                    <a:lnTo>
                      <a:pt x="536" y="108"/>
                    </a:lnTo>
                    <a:lnTo>
                      <a:pt x="501" y="113"/>
                    </a:lnTo>
                    <a:lnTo>
                      <a:pt x="529" y="115"/>
                    </a:lnTo>
                    <a:lnTo>
                      <a:pt x="549" y="120"/>
                    </a:lnTo>
                    <a:lnTo>
                      <a:pt x="565" y="126"/>
                    </a:lnTo>
                    <a:lnTo>
                      <a:pt x="575" y="132"/>
                    </a:lnTo>
                    <a:lnTo>
                      <a:pt x="579" y="141"/>
                    </a:lnTo>
                    <a:lnTo>
                      <a:pt x="575" y="151"/>
                    </a:lnTo>
                    <a:lnTo>
                      <a:pt x="567" y="160"/>
                    </a:lnTo>
                    <a:lnTo>
                      <a:pt x="551" y="170"/>
                    </a:lnTo>
                    <a:lnTo>
                      <a:pt x="537" y="179"/>
                    </a:lnTo>
                    <a:lnTo>
                      <a:pt x="520" y="186"/>
                    </a:lnTo>
                    <a:lnTo>
                      <a:pt x="503" y="193"/>
                    </a:lnTo>
                    <a:lnTo>
                      <a:pt x="482" y="201"/>
                    </a:lnTo>
                    <a:lnTo>
                      <a:pt x="461" y="207"/>
                    </a:lnTo>
                    <a:lnTo>
                      <a:pt x="437" y="213"/>
                    </a:lnTo>
                    <a:lnTo>
                      <a:pt x="413" y="220"/>
                    </a:lnTo>
                    <a:lnTo>
                      <a:pt x="386" y="225"/>
                    </a:lnTo>
                    <a:lnTo>
                      <a:pt x="329" y="236"/>
                    </a:lnTo>
                    <a:lnTo>
                      <a:pt x="274" y="243"/>
                    </a:lnTo>
                    <a:lnTo>
                      <a:pt x="217" y="246"/>
                    </a:lnTo>
                    <a:lnTo>
                      <a:pt x="162" y="248"/>
                    </a:lnTo>
                    <a:lnTo>
                      <a:pt x="136" y="248"/>
                    </a:lnTo>
                    <a:lnTo>
                      <a:pt x="113" y="246"/>
                    </a:lnTo>
                    <a:lnTo>
                      <a:pt x="91" y="244"/>
                    </a:lnTo>
                    <a:lnTo>
                      <a:pt x="72" y="243"/>
                    </a:lnTo>
                    <a:lnTo>
                      <a:pt x="56" y="241"/>
                    </a:lnTo>
                    <a:lnTo>
                      <a:pt x="41" y="238"/>
                    </a:lnTo>
                    <a:lnTo>
                      <a:pt x="29" y="234"/>
                    </a:lnTo>
                    <a:lnTo>
                      <a:pt x="19" y="229"/>
                    </a:lnTo>
                    <a:lnTo>
                      <a:pt x="10" y="224"/>
                    </a:lnTo>
                    <a:lnTo>
                      <a:pt x="5" y="219"/>
                    </a:lnTo>
                    <a:lnTo>
                      <a:pt x="1" y="213"/>
                    </a:lnTo>
                    <a:lnTo>
                      <a:pt x="0" y="207"/>
                    </a:lnTo>
                    <a:lnTo>
                      <a:pt x="1" y="200"/>
                    </a:lnTo>
                    <a:lnTo>
                      <a:pt x="5" y="194"/>
                    </a:lnTo>
                    <a:lnTo>
                      <a:pt x="12" y="186"/>
                    </a:lnTo>
                    <a:lnTo>
                      <a:pt x="20" y="179"/>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59" name="Freeform 779"/>
              <p:cNvSpPr>
                <a:spLocks noEditPoints="1"/>
              </p:cNvSpPr>
              <p:nvPr/>
            </p:nvSpPr>
            <p:spPr bwMode="auto">
              <a:xfrm>
                <a:off x="3994" y="3006"/>
                <a:ext cx="359" cy="124"/>
              </a:xfrm>
              <a:custGeom>
                <a:avLst/>
                <a:gdLst>
                  <a:gd name="T0" fmla="*/ 95 w 719"/>
                  <a:gd name="T1" fmla="*/ 186 h 248"/>
                  <a:gd name="T2" fmla="*/ 164 w 719"/>
                  <a:gd name="T3" fmla="*/ 189 h 248"/>
                  <a:gd name="T4" fmla="*/ 160 w 719"/>
                  <a:gd name="T5" fmla="*/ 200 h 248"/>
                  <a:gd name="T6" fmla="*/ 171 w 719"/>
                  <a:gd name="T7" fmla="*/ 207 h 248"/>
                  <a:gd name="T8" fmla="*/ 195 w 719"/>
                  <a:gd name="T9" fmla="*/ 210 h 248"/>
                  <a:gd name="T10" fmla="*/ 236 w 719"/>
                  <a:gd name="T11" fmla="*/ 208 h 248"/>
                  <a:gd name="T12" fmla="*/ 312 w 719"/>
                  <a:gd name="T13" fmla="*/ 196 h 248"/>
                  <a:gd name="T14" fmla="*/ 372 w 719"/>
                  <a:gd name="T15" fmla="*/ 176 h 248"/>
                  <a:gd name="T16" fmla="*/ 446 w 719"/>
                  <a:gd name="T17" fmla="*/ 141 h 248"/>
                  <a:gd name="T18" fmla="*/ 357 w 719"/>
                  <a:gd name="T19" fmla="*/ 157 h 248"/>
                  <a:gd name="T20" fmla="*/ 271 w 719"/>
                  <a:gd name="T21" fmla="*/ 162 h 248"/>
                  <a:gd name="T22" fmla="*/ 229 w 719"/>
                  <a:gd name="T23" fmla="*/ 160 h 248"/>
                  <a:gd name="T24" fmla="*/ 195 w 719"/>
                  <a:gd name="T25" fmla="*/ 157 h 248"/>
                  <a:gd name="T26" fmla="*/ 169 w 719"/>
                  <a:gd name="T27" fmla="*/ 150 h 248"/>
                  <a:gd name="T28" fmla="*/ 150 w 719"/>
                  <a:gd name="T29" fmla="*/ 139 h 248"/>
                  <a:gd name="T30" fmla="*/ 141 w 719"/>
                  <a:gd name="T31" fmla="*/ 127 h 248"/>
                  <a:gd name="T32" fmla="*/ 143 w 719"/>
                  <a:gd name="T33" fmla="*/ 113 h 248"/>
                  <a:gd name="T34" fmla="*/ 157 w 719"/>
                  <a:gd name="T35" fmla="*/ 98 h 248"/>
                  <a:gd name="T36" fmla="*/ 181 w 719"/>
                  <a:gd name="T37" fmla="*/ 82 h 248"/>
                  <a:gd name="T38" fmla="*/ 255 w 719"/>
                  <a:gd name="T39" fmla="*/ 48 h 248"/>
                  <a:gd name="T40" fmla="*/ 352 w 719"/>
                  <a:gd name="T41" fmla="*/ 22 h 248"/>
                  <a:gd name="T42" fmla="*/ 458 w 719"/>
                  <a:gd name="T43" fmla="*/ 5 h 248"/>
                  <a:gd name="T44" fmla="*/ 567 w 719"/>
                  <a:gd name="T45" fmla="*/ 0 h 248"/>
                  <a:gd name="T46" fmla="*/ 620 w 719"/>
                  <a:gd name="T47" fmla="*/ 1 h 248"/>
                  <a:gd name="T48" fmla="*/ 663 w 719"/>
                  <a:gd name="T49" fmla="*/ 7 h 248"/>
                  <a:gd name="T50" fmla="*/ 694 w 719"/>
                  <a:gd name="T51" fmla="*/ 15 h 248"/>
                  <a:gd name="T52" fmla="*/ 713 w 719"/>
                  <a:gd name="T53" fmla="*/ 29 h 248"/>
                  <a:gd name="T54" fmla="*/ 719 w 719"/>
                  <a:gd name="T55" fmla="*/ 46 h 248"/>
                  <a:gd name="T56" fmla="*/ 707 w 719"/>
                  <a:gd name="T57" fmla="*/ 67 h 248"/>
                  <a:gd name="T58" fmla="*/ 677 w 719"/>
                  <a:gd name="T59" fmla="*/ 93 h 248"/>
                  <a:gd name="T60" fmla="*/ 631 w 719"/>
                  <a:gd name="T61" fmla="*/ 122 h 248"/>
                  <a:gd name="T62" fmla="*/ 515 w 719"/>
                  <a:gd name="T63" fmla="*/ 179 h 248"/>
                  <a:gd name="T64" fmla="*/ 391 w 719"/>
                  <a:gd name="T65" fmla="*/ 219 h 248"/>
                  <a:gd name="T66" fmla="*/ 264 w 719"/>
                  <a:gd name="T67" fmla="*/ 241 h 248"/>
                  <a:gd name="T68" fmla="*/ 136 w 719"/>
                  <a:gd name="T69" fmla="*/ 248 h 248"/>
                  <a:gd name="T70" fmla="*/ 93 w 719"/>
                  <a:gd name="T71" fmla="*/ 246 h 248"/>
                  <a:gd name="T72" fmla="*/ 60 w 719"/>
                  <a:gd name="T73" fmla="*/ 244 h 248"/>
                  <a:gd name="T74" fmla="*/ 33 w 719"/>
                  <a:gd name="T75" fmla="*/ 239 h 248"/>
                  <a:gd name="T76" fmla="*/ 14 w 719"/>
                  <a:gd name="T77" fmla="*/ 232 h 248"/>
                  <a:gd name="T78" fmla="*/ 2 w 719"/>
                  <a:gd name="T79" fmla="*/ 224 h 248"/>
                  <a:gd name="T80" fmla="*/ 0 w 719"/>
                  <a:gd name="T81" fmla="*/ 213 h 248"/>
                  <a:gd name="T82" fmla="*/ 5 w 719"/>
                  <a:gd name="T83" fmla="*/ 201 h 248"/>
                  <a:gd name="T84" fmla="*/ 17 w 719"/>
                  <a:gd name="T85" fmla="*/ 188 h 248"/>
                  <a:gd name="T86" fmla="*/ 526 w 719"/>
                  <a:gd name="T87" fmla="*/ 86 h 248"/>
                  <a:gd name="T88" fmla="*/ 541 w 719"/>
                  <a:gd name="T89" fmla="*/ 76 h 248"/>
                  <a:gd name="T90" fmla="*/ 553 w 719"/>
                  <a:gd name="T91" fmla="*/ 58 h 248"/>
                  <a:gd name="T92" fmla="*/ 543 w 719"/>
                  <a:gd name="T93" fmla="*/ 46 h 248"/>
                  <a:gd name="T94" fmla="*/ 515 w 719"/>
                  <a:gd name="T95" fmla="*/ 39 h 248"/>
                  <a:gd name="T96" fmla="*/ 453 w 719"/>
                  <a:gd name="T97" fmla="*/ 41 h 248"/>
                  <a:gd name="T98" fmla="*/ 388 w 719"/>
                  <a:gd name="T99" fmla="*/ 55 h 248"/>
                  <a:gd name="T100" fmla="*/ 326 w 719"/>
                  <a:gd name="T101" fmla="*/ 82 h 248"/>
                  <a:gd name="T102" fmla="*/ 300 w 719"/>
                  <a:gd name="T103" fmla="*/ 103 h 248"/>
                  <a:gd name="T104" fmla="*/ 298 w 719"/>
                  <a:gd name="T105" fmla="*/ 117 h 248"/>
                  <a:gd name="T106" fmla="*/ 317 w 719"/>
                  <a:gd name="T107" fmla="*/ 126 h 248"/>
                  <a:gd name="T108" fmla="*/ 353 w 719"/>
                  <a:gd name="T109" fmla="*/ 127 h 248"/>
                  <a:gd name="T110" fmla="*/ 445 w 719"/>
                  <a:gd name="T111" fmla="*/ 117 h 248"/>
                  <a:gd name="T112" fmla="*/ 508 w 719"/>
                  <a:gd name="T113" fmla="*/ 96 h 248"/>
                  <a:gd name="T114" fmla="*/ 526 w 719"/>
                  <a:gd name="T115" fmla="*/ 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19" h="248">
                    <a:moveTo>
                      <a:pt x="17" y="188"/>
                    </a:moveTo>
                    <a:lnTo>
                      <a:pt x="95" y="186"/>
                    </a:lnTo>
                    <a:lnTo>
                      <a:pt x="171" y="182"/>
                    </a:lnTo>
                    <a:lnTo>
                      <a:pt x="164" y="189"/>
                    </a:lnTo>
                    <a:lnTo>
                      <a:pt x="160" y="194"/>
                    </a:lnTo>
                    <a:lnTo>
                      <a:pt x="160" y="200"/>
                    </a:lnTo>
                    <a:lnTo>
                      <a:pt x="164" y="203"/>
                    </a:lnTo>
                    <a:lnTo>
                      <a:pt x="171" y="207"/>
                    </a:lnTo>
                    <a:lnTo>
                      <a:pt x="181" y="208"/>
                    </a:lnTo>
                    <a:lnTo>
                      <a:pt x="195" y="210"/>
                    </a:lnTo>
                    <a:lnTo>
                      <a:pt x="212" y="210"/>
                    </a:lnTo>
                    <a:lnTo>
                      <a:pt x="236" y="208"/>
                    </a:lnTo>
                    <a:lnTo>
                      <a:pt x="260" y="207"/>
                    </a:lnTo>
                    <a:lnTo>
                      <a:pt x="312" y="196"/>
                    </a:lnTo>
                    <a:lnTo>
                      <a:pt x="341" y="188"/>
                    </a:lnTo>
                    <a:lnTo>
                      <a:pt x="372" y="176"/>
                    </a:lnTo>
                    <a:lnTo>
                      <a:pt x="408" y="160"/>
                    </a:lnTo>
                    <a:lnTo>
                      <a:pt x="446" y="141"/>
                    </a:lnTo>
                    <a:lnTo>
                      <a:pt x="402" y="150"/>
                    </a:lnTo>
                    <a:lnTo>
                      <a:pt x="357" y="157"/>
                    </a:lnTo>
                    <a:lnTo>
                      <a:pt x="314" y="160"/>
                    </a:lnTo>
                    <a:lnTo>
                      <a:pt x="271" y="162"/>
                    </a:lnTo>
                    <a:lnTo>
                      <a:pt x="248" y="162"/>
                    </a:lnTo>
                    <a:lnTo>
                      <a:pt x="229" y="160"/>
                    </a:lnTo>
                    <a:lnTo>
                      <a:pt x="210" y="158"/>
                    </a:lnTo>
                    <a:lnTo>
                      <a:pt x="195" y="157"/>
                    </a:lnTo>
                    <a:lnTo>
                      <a:pt x="181" y="153"/>
                    </a:lnTo>
                    <a:lnTo>
                      <a:pt x="169" y="150"/>
                    </a:lnTo>
                    <a:lnTo>
                      <a:pt x="159" y="145"/>
                    </a:lnTo>
                    <a:lnTo>
                      <a:pt x="150" y="139"/>
                    </a:lnTo>
                    <a:lnTo>
                      <a:pt x="145" y="134"/>
                    </a:lnTo>
                    <a:lnTo>
                      <a:pt x="141" y="127"/>
                    </a:lnTo>
                    <a:lnTo>
                      <a:pt x="141" y="120"/>
                    </a:lnTo>
                    <a:lnTo>
                      <a:pt x="143" y="113"/>
                    </a:lnTo>
                    <a:lnTo>
                      <a:pt x="148" y="107"/>
                    </a:lnTo>
                    <a:lnTo>
                      <a:pt x="157" y="98"/>
                    </a:lnTo>
                    <a:lnTo>
                      <a:pt x="167" y="91"/>
                    </a:lnTo>
                    <a:lnTo>
                      <a:pt x="181" y="82"/>
                    </a:lnTo>
                    <a:lnTo>
                      <a:pt x="215" y="65"/>
                    </a:lnTo>
                    <a:lnTo>
                      <a:pt x="255" y="48"/>
                    </a:lnTo>
                    <a:lnTo>
                      <a:pt x="300" y="34"/>
                    </a:lnTo>
                    <a:lnTo>
                      <a:pt x="352" y="22"/>
                    </a:lnTo>
                    <a:lnTo>
                      <a:pt x="405" y="12"/>
                    </a:lnTo>
                    <a:lnTo>
                      <a:pt x="458" y="5"/>
                    </a:lnTo>
                    <a:lnTo>
                      <a:pt x="514" y="1"/>
                    </a:lnTo>
                    <a:lnTo>
                      <a:pt x="567" y="0"/>
                    </a:lnTo>
                    <a:lnTo>
                      <a:pt x="595" y="0"/>
                    </a:lnTo>
                    <a:lnTo>
                      <a:pt x="620" y="1"/>
                    </a:lnTo>
                    <a:lnTo>
                      <a:pt x="644" y="3"/>
                    </a:lnTo>
                    <a:lnTo>
                      <a:pt x="663" y="7"/>
                    </a:lnTo>
                    <a:lnTo>
                      <a:pt x="681" y="10"/>
                    </a:lnTo>
                    <a:lnTo>
                      <a:pt x="694" y="15"/>
                    </a:lnTo>
                    <a:lnTo>
                      <a:pt x="705" y="22"/>
                    </a:lnTo>
                    <a:lnTo>
                      <a:pt x="713" y="29"/>
                    </a:lnTo>
                    <a:lnTo>
                      <a:pt x="719" y="36"/>
                    </a:lnTo>
                    <a:lnTo>
                      <a:pt x="719" y="46"/>
                    </a:lnTo>
                    <a:lnTo>
                      <a:pt x="715" y="55"/>
                    </a:lnTo>
                    <a:lnTo>
                      <a:pt x="707" y="67"/>
                    </a:lnTo>
                    <a:lnTo>
                      <a:pt x="694" y="79"/>
                    </a:lnTo>
                    <a:lnTo>
                      <a:pt x="677" y="93"/>
                    </a:lnTo>
                    <a:lnTo>
                      <a:pt x="657" y="107"/>
                    </a:lnTo>
                    <a:lnTo>
                      <a:pt x="631" y="122"/>
                    </a:lnTo>
                    <a:lnTo>
                      <a:pt x="574" y="153"/>
                    </a:lnTo>
                    <a:lnTo>
                      <a:pt x="515" y="179"/>
                    </a:lnTo>
                    <a:lnTo>
                      <a:pt x="453" y="201"/>
                    </a:lnTo>
                    <a:lnTo>
                      <a:pt x="391" y="219"/>
                    </a:lnTo>
                    <a:lnTo>
                      <a:pt x="327" y="231"/>
                    </a:lnTo>
                    <a:lnTo>
                      <a:pt x="264" y="241"/>
                    </a:lnTo>
                    <a:lnTo>
                      <a:pt x="200" y="246"/>
                    </a:lnTo>
                    <a:lnTo>
                      <a:pt x="136" y="248"/>
                    </a:lnTo>
                    <a:lnTo>
                      <a:pt x="114" y="248"/>
                    </a:lnTo>
                    <a:lnTo>
                      <a:pt x="93" y="246"/>
                    </a:lnTo>
                    <a:lnTo>
                      <a:pt x="76" y="246"/>
                    </a:lnTo>
                    <a:lnTo>
                      <a:pt x="60" y="244"/>
                    </a:lnTo>
                    <a:lnTo>
                      <a:pt x="45" y="243"/>
                    </a:lnTo>
                    <a:lnTo>
                      <a:pt x="33" y="239"/>
                    </a:lnTo>
                    <a:lnTo>
                      <a:pt x="22" y="236"/>
                    </a:lnTo>
                    <a:lnTo>
                      <a:pt x="14" y="232"/>
                    </a:lnTo>
                    <a:lnTo>
                      <a:pt x="7" y="229"/>
                    </a:lnTo>
                    <a:lnTo>
                      <a:pt x="2" y="224"/>
                    </a:lnTo>
                    <a:lnTo>
                      <a:pt x="0" y="219"/>
                    </a:lnTo>
                    <a:lnTo>
                      <a:pt x="0" y="213"/>
                    </a:lnTo>
                    <a:lnTo>
                      <a:pt x="2" y="208"/>
                    </a:lnTo>
                    <a:lnTo>
                      <a:pt x="5" y="201"/>
                    </a:lnTo>
                    <a:lnTo>
                      <a:pt x="10" y="194"/>
                    </a:lnTo>
                    <a:lnTo>
                      <a:pt x="17" y="188"/>
                    </a:lnTo>
                    <a:lnTo>
                      <a:pt x="17" y="188"/>
                    </a:lnTo>
                    <a:close/>
                    <a:moveTo>
                      <a:pt x="526" y="86"/>
                    </a:moveTo>
                    <a:lnTo>
                      <a:pt x="534" y="81"/>
                    </a:lnTo>
                    <a:lnTo>
                      <a:pt x="541" y="76"/>
                    </a:lnTo>
                    <a:lnTo>
                      <a:pt x="551" y="67"/>
                    </a:lnTo>
                    <a:lnTo>
                      <a:pt x="553" y="58"/>
                    </a:lnTo>
                    <a:lnTo>
                      <a:pt x="551" y="51"/>
                    </a:lnTo>
                    <a:lnTo>
                      <a:pt x="543" y="46"/>
                    </a:lnTo>
                    <a:lnTo>
                      <a:pt x="531" y="41"/>
                    </a:lnTo>
                    <a:lnTo>
                      <a:pt x="515" y="39"/>
                    </a:lnTo>
                    <a:lnTo>
                      <a:pt x="496" y="38"/>
                    </a:lnTo>
                    <a:lnTo>
                      <a:pt x="453" y="41"/>
                    </a:lnTo>
                    <a:lnTo>
                      <a:pt x="410" y="48"/>
                    </a:lnTo>
                    <a:lnTo>
                      <a:pt x="388" y="55"/>
                    </a:lnTo>
                    <a:lnTo>
                      <a:pt x="367" y="62"/>
                    </a:lnTo>
                    <a:lnTo>
                      <a:pt x="326" y="82"/>
                    </a:lnTo>
                    <a:lnTo>
                      <a:pt x="310" y="93"/>
                    </a:lnTo>
                    <a:lnTo>
                      <a:pt x="300" y="103"/>
                    </a:lnTo>
                    <a:lnTo>
                      <a:pt x="296" y="110"/>
                    </a:lnTo>
                    <a:lnTo>
                      <a:pt x="298" y="117"/>
                    </a:lnTo>
                    <a:lnTo>
                      <a:pt x="305" y="122"/>
                    </a:lnTo>
                    <a:lnTo>
                      <a:pt x="317" y="126"/>
                    </a:lnTo>
                    <a:lnTo>
                      <a:pt x="333" y="127"/>
                    </a:lnTo>
                    <a:lnTo>
                      <a:pt x="353" y="127"/>
                    </a:lnTo>
                    <a:lnTo>
                      <a:pt x="398" y="126"/>
                    </a:lnTo>
                    <a:lnTo>
                      <a:pt x="445" y="117"/>
                    </a:lnTo>
                    <a:lnTo>
                      <a:pt x="488" y="105"/>
                    </a:lnTo>
                    <a:lnTo>
                      <a:pt x="508" y="96"/>
                    </a:lnTo>
                    <a:lnTo>
                      <a:pt x="526" y="86"/>
                    </a:lnTo>
                    <a:lnTo>
                      <a:pt x="526" y="86"/>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49260" name="Group 780"/>
            <p:cNvGrpSpPr>
              <a:grpSpLocks/>
            </p:cNvGrpSpPr>
            <p:nvPr/>
          </p:nvGrpSpPr>
          <p:grpSpPr bwMode="auto">
            <a:xfrm>
              <a:off x="1421" y="2989"/>
              <a:ext cx="1034" cy="138"/>
              <a:chOff x="1438" y="3006"/>
              <a:chExt cx="1034" cy="138"/>
            </a:xfrm>
          </p:grpSpPr>
          <p:sp>
            <p:nvSpPr>
              <p:cNvPr id="149261" name="Freeform 781"/>
              <p:cNvSpPr>
                <a:spLocks/>
              </p:cNvSpPr>
              <p:nvPr/>
            </p:nvSpPr>
            <p:spPr bwMode="auto">
              <a:xfrm>
                <a:off x="1459" y="3020"/>
                <a:ext cx="424" cy="122"/>
              </a:xfrm>
              <a:custGeom>
                <a:avLst/>
                <a:gdLst>
                  <a:gd name="T0" fmla="*/ 559 w 848"/>
                  <a:gd name="T1" fmla="*/ 223 h 243"/>
                  <a:gd name="T2" fmla="*/ 0 w 848"/>
                  <a:gd name="T3" fmla="*/ 243 h 243"/>
                  <a:gd name="T4" fmla="*/ 59 w 848"/>
                  <a:gd name="T5" fmla="*/ 221 h 243"/>
                  <a:gd name="T6" fmla="*/ 130 w 848"/>
                  <a:gd name="T7" fmla="*/ 197 h 243"/>
                  <a:gd name="T8" fmla="*/ 176 w 848"/>
                  <a:gd name="T9" fmla="*/ 185 h 243"/>
                  <a:gd name="T10" fmla="*/ 236 w 848"/>
                  <a:gd name="T11" fmla="*/ 173 h 243"/>
                  <a:gd name="T12" fmla="*/ 309 w 848"/>
                  <a:gd name="T13" fmla="*/ 157 h 243"/>
                  <a:gd name="T14" fmla="*/ 395 w 848"/>
                  <a:gd name="T15" fmla="*/ 140 h 243"/>
                  <a:gd name="T16" fmla="*/ 464 w 848"/>
                  <a:gd name="T17" fmla="*/ 126 h 243"/>
                  <a:gd name="T18" fmla="*/ 517 w 848"/>
                  <a:gd name="T19" fmla="*/ 116 h 243"/>
                  <a:gd name="T20" fmla="*/ 559 w 848"/>
                  <a:gd name="T21" fmla="*/ 107 h 243"/>
                  <a:gd name="T22" fmla="*/ 584 w 848"/>
                  <a:gd name="T23" fmla="*/ 100 h 243"/>
                  <a:gd name="T24" fmla="*/ 633 w 848"/>
                  <a:gd name="T25" fmla="*/ 86 h 243"/>
                  <a:gd name="T26" fmla="*/ 664 w 848"/>
                  <a:gd name="T27" fmla="*/ 71 h 243"/>
                  <a:gd name="T28" fmla="*/ 681 w 848"/>
                  <a:gd name="T29" fmla="*/ 57 h 243"/>
                  <a:gd name="T30" fmla="*/ 677 w 848"/>
                  <a:gd name="T31" fmla="*/ 47 h 243"/>
                  <a:gd name="T32" fmla="*/ 655 w 848"/>
                  <a:gd name="T33" fmla="*/ 40 h 243"/>
                  <a:gd name="T34" fmla="*/ 617 w 848"/>
                  <a:gd name="T35" fmla="*/ 38 h 243"/>
                  <a:gd name="T36" fmla="*/ 528 w 848"/>
                  <a:gd name="T37" fmla="*/ 47 h 243"/>
                  <a:gd name="T38" fmla="*/ 467 w 848"/>
                  <a:gd name="T39" fmla="*/ 68 h 243"/>
                  <a:gd name="T40" fmla="*/ 378 w 848"/>
                  <a:gd name="T41" fmla="*/ 74 h 243"/>
                  <a:gd name="T42" fmla="*/ 347 w 848"/>
                  <a:gd name="T43" fmla="*/ 55 h 243"/>
                  <a:gd name="T44" fmla="*/ 435 w 848"/>
                  <a:gd name="T45" fmla="*/ 26 h 243"/>
                  <a:gd name="T46" fmla="*/ 533 w 848"/>
                  <a:gd name="T47" fmla="*/ 11 h 243"/>
                  <a:gd name="T48" fmla="*/ 634 w 848"/>
                  <a:gd name="T49" fmla="*/ 2 h 243"/>
                  <a:gd name="T50" fmla="*/ 714 w 848"/>
                  <a:gd name="T51" fmla="*/ 0 h 243"/>
                  <a:gd name="T52" fmla="*/ 760 w 848"/>
                  <a:gd name="T53" fmla="*/ 4 h 243"/>
                  <a:gd name="T54" fmla="*/ 798 w 848"/>
                  <a:gd name="T55" fmla="*/ 7 h 243"/>
                  <a:gd name="T56" fmla="*/ 824 w 848"/>
                  <a:gd name="T57" fmla="*/ 16 h 243"/>
                  <a:gd name="T58" fmla="*/ 841 w 848"/>
                  <a:gd name="T59" fmla="*/ 24 h 243"/>
                  <a:gd name="T60" fmla="*/ 848 w 848"/>
                  <a:gd name="T61" fmla="*/ 37 h 243"/>
                  <a:gd name="T62" fmla="*/ 845 w 848"/>
                  <a:gd name="T63" fmla="*/ 47 h 243"/>
                  <a:gd name="T64" fmla="*/ 829 w 848"/>
                  <a:gd name="T65" fmla="*/ 61 h 243"/>
                  <a:gd name="T66" fmla="*/ 803 w 848"/>
                  <a:gd name="T67" fmla="*/ 76 h 243"/>
                  <a:gd name="T68" fmla="*/ 748 w 848"/>
                  <a:gd name="T69" fmla="*/ 99 h 243"/>
                  <a:gd name="T70" fmla="*/ 698 w 848"/>
                  <a:gd name="T71" fmla="*/ 114 h 243"/>
                  <a:gd name="T72" fmla="*/ 636 w 848"/>
                  <a:gd name="T73" fmla="*/ 130 h 243"/>
                  <a:gd name="T74" fmla="*/ 609 w 848"/>
                  <a:gd name="T75" fmla="*/ 135 h 243"/>
                  <a:gd name="T76" fmla="*/ 576 w 848"/>
                  <a:gd name="T77" fmla="*/ 143 h 243"/>
                  <a:gd name="T78" fmla="*/ 534 w 848"/>
                  <a:gd name="T79" fmla="*/ 150 h 243"/>
                  <a:gd name="T80" fmla="*/ 486 w 848"/>
                  <a:gd name="T81" fmla="*/ 161 h 243"/>
                  <a:gd name="T82" fmla="*/ 440 w 848"/>
                  <a:gd name="T83" fmla="*/ 169 h 243"/>
                  <a:gd name="T84" fmla="*/ 402 w 848"/>
                  <a:gd name="T85" fmla="*/ 178 h 243"/>
                  <a:gd name="T86" fmla="*/ 372 w 848"/>
                  <a:gd name="T87" fmla="*/ 183 h 243"/>
                  <a:gd name="T88" fmla="*/ 352 w 848"/>
                  <a:gd name="T89" fmla="*/ 188 h 243"/>
                  <a:gd name="T90" fmla="*/ 300 w 848"/>
                  <a:gd name="T91" fmla="*/ 200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48" h="243">
                    <a:moveTo>
                      <a:pt x="595" y="200"/>
                    </a:moveTo>
                    <a:lnTo>
                      <a:pt x="559" y="223"/>
                    </a:lnTo>
                    <a:lnTo>
                      <a:pt x="522" y="243"/>
                    </a:lnTo>
                    <a:lnTo>
                      <a:pt x="0" y="243"/>
                    </a:lnTo>
                    <a:lnTo>
                      <a:pt x="28" y="231"/>
                    </a:lnTo>
                    <a:lnTo>
                      <a:pt x="59" y="221"/>
                    </a:lnTo>
                    <a:lnTo>
                      <a:pt x="92" y="209"/>
                    </a:lnTo>
                    <a:lnTo>
                      <a:pt x="130" y="197"/>
                    </a:lnTo>
                    <a:lnTo>
                      <a:pt x="152" y="192"/>
                    </a:lnTo>
                    <a:lnTo>
                      <a:pt x="176" y="185"/>
                    </a:lnTo>
                    <a:lnTo>
                      <a:pt x="204" y="180"/>
                    </a:lnTo>
                    <a:lnTo>
                      <a:pt x="236" y="173"/>
                    </a:lnTo>
                    <a:lnTo>
                      <a:pt x="271" y="166"/>
                    </a:lnTo>
                    <a:lnTo>
                      <a:pt x="309" y="157"/>
                    </a:lnTo>
                    <a:lnTo>
                      <a:pt x="350" y="149"/>
                    </a:lnTo>
                    <a:lnTo>
                      <a:pt x="395" y="140"/>
                    </a:lnTo>
                    <a:lnTo>
                      <a:pt x="431" y="133"/>
                    </a:lnTo>
                    <a:lnTo>
                      <a:pt x="464" y="126"/>
                    </a:lnTo>
                    <a:lnTo>
                      <a:pt x="491" y="121"/>
                    </a:lnTo>
                    <a:lnTo>
                      <a:pt x="517" y="116"/>
                    </a:lnTo>
                    <a:lnTo>
                      <a:pt x="540" y="111"/>
                    </a:lnTo>
                    <a:lnTo>
                      <a:pt x="559" y="107"/>
                    </a:lnTo>
                    <a:lnTo>
                      <a:pt x="572" y="104"/>
                    </a:lnTo>
                    <a:lnTo>
                      <a:pt x="584" y="100"/>
                    </a:lnTo>
                    <a:lnTo>
                      <a:pt x="610" y="93"/>
                    </a:lnTo>
                    <a:lnTo>
                      <a:pt x="633" y="86"/>
                    </a:lnTo>
                    <a:lnTo>
                      <a:pt x="650" y="78"/>
                    </a:lnTo>
                    <a:lnTo>
                      <a:pt x="664" y="71"/>
                    </a:lnTo>
                    <a:lnTo>
                      <a:pt x="674" y="64"/>
                    </a:lnTo>
                    <a:lnTo>
                      <a:pt x="681" y="57"/>
                    </a:lnTo>
                    <a:lnTo>
                      <a:pt x="681" y="52"/>
                    </a:lnTo>
                    <a:lnTo>
                      <a:pt x="677" y="47"/>
                    </a:lnTo>
                    <a:lnTo>
                      <a:pt x="669" y="43"/>
                    </a:lnTo>
                    <a:lnTo>
                      <a:pt x="655" y="40"/>
                    </a:lnTo>
                    <a:lnTo>
                      <a:pt x="638" y="38"/>
                    </a:lnTo>
                    <a:lnTo>
                      <a:pt x="617" y="38"/>
                    </a:lnTo>
                    <a:lnTo>
                      <a:pt x="572" y="40"/>
                    </a:lnTo>
                    <a:lnTo>
                      <a:pt x="528" y="47"/>
                    </a:lnTo>
                    <a:lnTo>
                      <a:pt x="486" y="59"/>
                    </a:lnTo>
                    <a:lnTo>
                      <a:pt x="467" y="68"/>
                    </a:lnTo>
                    <a:lnTo>
                      <a:pt x="448" y="76"/>
                    </a:lnTo>
                    <a:lnTo>
                      <a:pt x="378" y="74"/>
                    </a:lnTo>
                    <a:lnTo>
                      <a:pt x="307" y="73"/>
                    </a:lnTo>
                    <a:lnTo>
                      <a:pt x="347" y="55"/>
                    </a:lnTo>
                    <a:lnTo>
                      <a:pt x="390" y="40"/>
                    </a:lnTo>
                    <a:lnTo>
                      <a:pt x="435" y="26"/>
                    </a:lnTo>
                    <a:lnTo>
                      <a:pt x="483" y="18"/>
                    </a:lnTo>
                    <a:lnTo>
                      <a:pt x="533" y="11"/>
                    </a:lnTo>
                    <a:lnTo>
                      <a:pt x="583" y="4"/>
                    </a:lnTo>
                    <a:lnTo>
                      <a:pt x="634" y="2"/>
                    </a:lnTo>
                    <a:lnTo>
                      <a:pt x="686" y="0"/>
                    </a:lnTo>
                    <a:lnTo>
                      <a:pt x="714" y="0"/>
                    </a:lnTo>
                    <a:lnTo>
                      <a:pt x="738" y="2"/>
                    </a:lnTo>
                    <a:lnTo>
                      <a:pt x="760" y="4"/>
                    </a:lnTo>
                    <a:lnTo>
                      <a:pt x="781" y="6"/>
                    </a:lnTo>
                    <a:lnTo>
                      <a:pt x="798" y="7"/>
                    </a:lnTo>
                    <a:lnTo>
                      <a:pt x="812" y="11"/>
                    </a:lnTo>
                    <a:lnTo>
                      <a:pt x="824" y="16"/>
                    </a:lnTo>
                    <a:lnTo>
                      <a:pt x="834" y="19"/>
                    </a:lnTo>
                    <a:lnTo>
                      <a:pt x="841" y="24"/>
                    </a:lnTo>
                    <a:lnTo>
                      <a:pt x="846" y="30"/>
                    </a:lnTo>
                    <a:lnTo>
                      <a:pt x="848" y="37"/>
                    </a:lnTo>
                    <a:lnTo>
                      <a:pt x="848" y="42"/>
                    </a:lnTo>
                    <a:lnTo>
                      <a:pt x="845" y="47"/>
                    </a:lnTo>
                    <a:lnTo>
                      <a:pt x="838" y="54"/>
                    </a:lnTo>
                    <a:lnTo>
                      <a:pt x="829" y="61"/>
                    </a:lnTo>
                    <a:lnTo>
                      <a:pt x="819" y="68"/>
                    </a:lnTo>
                    <a:lnTo>
                      <a:pt x="803" y="76"/>
                    </a:lnTo>
                    <a:lnTo>
                      <a:pt x="786" y="85"/>
                    </a:lnTo>
                    <a:lnTo>
                      <a:pt x="748" y="99"/>
                    </a:lnTo>
                    <a:lnTo>
                      <a:pt x="724" y="107"/>
                    </a:lnTo>
                    <a:lnTo>
                      <a:pt x="698" y="114"/>
                    </a:lnTo>
                    <a:lnTo>
                      <a:pt x="669" y="123"/>
                    </a:lnTo>
                    <a:lnTo>
                      <a:pt x="636" y="130"/>
                    </a:lnTo>
                    <a:lnTo>
                      <a:pt x="624" y="133"/>
                    </a:lnTo>
                    <a:lnTo>
                      <a:pt x="609" y="135"/>
                    </a:lnTo>
                    <a:lnTo>
                      <a:pt x="593" y="138"/>
                    </a:lnTo>
                    <a:lnTo>
                      <a:pt x="576" y="143"/>
                    </a:lnTo>
                    <a:lnTo>
                      <a:pt x="555" y="147"/>
                    </a:lnTo>
                    <a:lnTo>
                      <a:pt x="534" y="150"/>
                    </a:lnTo>
                    <a:lnTo>
                      <a:pt x="512" y="155"/>
                    </a:lnTo>
                    <a:lnTo>
                      <a:pt x="486" y="161"/>
                    </a:lnTo>
                    <a:lnTo>
                      <a:pt x="462" y="166"/>
                    </a:lnTo>
                    <a:lnTo>
                      <a:pt x="440" y="169"/>
                    </a:lnTo>
                    <a:lnTo>
                      <a:pt x="419" y="174"/>
                    </a:lnTo>
                    <a:lnTo>
                      <a:pt x="402" y="178"/>
                    </a:lnTo>
                    <a:lnTo>
                      <a:pt x="385" y="181"/>
                    </a:lnTo>
                    <a:lnTo>
                      <a:pt x="372" y="183"/>
                    </a:lnTo>
                    <a:lnTo>
                      <a:pt x="360" y="186"/>
                    </a:lnTo>
                    <a:lnTo>
                      <a:pt x="352" y="188"/>
                    </a:lnTo>
                    <a:lnTo>
                      <a:pt x="324" y="195"/>
                    </a:lnTo>
                    <a:lnTo>
                      <a:pt x="300" y="200"/>
                    </a:lnTo>
                    <a:lnTo>
                      <a:pt x="595" y="20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62" name="Freeform 782"/>
              <p:cNvSpPr>
                <a:spLocks/>
              </p:cNvSpPr>
              <p:nvPr/>
            </p:nvSpPr>
            <p:spPr bwMode="auto">
              <a:xfrm>
                <a:off x="1812" y="3020"/>
                <a:ext cx="361" cy="124"/>
              </a:xfrm>
              <a:custGeom>
                <a:avLst/>
                <a:gdLst>
                  <a:gd name="T0" fmla="*/ 98 w 722"/>
                  <a:gd name="T1" fmla="*/ 178 h 248"/>
                  <a:gd name="T2" fmla="*/ 165 w 722"/>
                  <a:gd name="T3" fmla="*/ 181 h 248"/>
                  <a:gd name="T4" fmla="*/ 162 w 722"/>
                  <a:gd name="T5" fmla="*/ 195 h 248"/>
                  <a:gd name="T6" fmla="*/ 176 w 722"/>
                  <a:gd name="T7" fmla="*/ 205 h 248"/>
                  <a:gd name="T8" fmla="*/ 205 w 722"/>
                  <a:gd name="T9" fmla="*/ 209 h 248"/>
                  <a:gd name="T10" fmla="*/ 272 w 722"/>
                  <a:gd name="T11" fmla="*/ 207 h 248"/>
                  <a:gd name="T12" fmla="*/ 346 w 722"/>
                  <a:gd name="T13" fmla="*/ 193 h 248"/>
                  <a:gd name="T14" fmla="*/ 384 w 722"/>
                  <a:gd name="T15" fmla="*/ 178 h 248"/>
                  <a:gd name="T16" fmla="*/ 414 w 722"/>
                  <a:gd name="T17" fmla="*/ 161 h 248"/>
                  <a:gd name="T18" fmla="*/ 422 w 722"/>
                  <a:gd name="T19" fmla="*/ 147 h 248"/>
                  <a:gd name="T20" fmla="*/ 410 w 722"/>
                  <a:gd name="T21" fmla="*/ 136 h 248"/>
                  <a:gd name="T22" fmla="*/ 383 w 722"/>
                  <a:gd name="T23" fmla="*/ 131 h 248"/>
                  <a:gd name="T24" fmla="*/ 346 w 722"/>
                  <a:gd name="T25" fmla="*/ 131 h 248"/>
                  <a:gd name="T26" fmla="*/ 310 w 722"/>
                  <a:gd name="T27" fmla="*/ 133 h 248"/>
                  <a:gd name="T28" fmla="*/ 329 w 722"/>
                  <a:gd name="T29" fmla="*/ 116 h 248"/>
                  <a:gd name="T30" fmla="*/ 398 w 722"/>
                  <a:gd name="T31" fmla="*/ 97 h 248"/>
                  <a:gd name="T32" fmla="*/ 474 w 722"/>
                  <a:gd name="T33" fmla="*/ 88 h 248"/>
                  <a:gd name="T34" fmla="*/ 515 w 722"/>
                  <a:gd name="T35" fmla="*/ 78 h 248"/>
                  <a:gd name="T36" fmla="*/ 545 w 722"/>
                  <a:gd name="T37" fmla="*/ 66 h 248"/>
                  <a:gd name="T38" fmla="*/ 558 w 722"/>
                  <a:gd name="T39" fmla="*/ 54 h 248"/>
                  <a:gd name="T40" fmla="*/ 555 w 722"/>
                  <a:gd name="T41" fmla="*/ 45 h 248"/>
                  <a:gd name="T42" fmla="*/ 538 w 722"/>
                  <a:gd name="T43" fmla="*/ 40 h 248"/>
                  <a:gd name="T44" fmla="*/ 505 w 722"/>
                  <a:gd name="T45" fmla="*/ 38 h 248"/>
                  <a:gd name="T46" fmla="*/ 426 w 722"/>
                  <a:gd name="T47" fmla="*/ 47 h 248"/>
                  <a:gd name="T48" fmla="*/ 352 w 722"/>
                  <a:gd name="T49" fmla="*/ 71 h 248"/>
                  <a:gd name="T50" fmla="*/ 228 w 722"/>
                  <a:gd name="T51" fmla="*/ 64 h 248"/>
                  <a:gd name="T52" fmla="*/ 329 w 722"/>
                  <a:gd name="T53" fmla="*/ 28 h 248"/>
                  <a:gd name="T54" fmla="*/ 414 w 722"/>
                  <a:gd name="T55" fmla="*/ 11 h 248"/>
                  <a:gd name="T56" fmla="*/ 510 w 722"/>
                  <a:gd name="T57" fmla="*/ 2 h 248"/>
                  <a:gd name="T58" fmla="*/ 600 w 722"/>
                  <a:gd name="T59" fmla="*/ 0 h 248"/>
                  <a:gd name="T60" fmla="*/ 645 w 722"/>
                  <a:gd name="T61" fmla="*/ 4 h 248"/>
                  <a:gd name="T62" fmla="*/ 679 w 722"/>
                  <a:gd name="T63" fmla="*/ 9 h 248"/>
                  <a:gd name="T64" fmla="*/ 703 w 722"/>
                  <a:gd name="T65" fmla="*/ 18 h 248"/>
                  <a:gd name="T66" fmla="*/ 717 w 722"/>
                  <a:gd name="T67" fmla="*/ 28 h 248"/>
                  <a:gd name="T68" fmla="*/ 722 w 722"/>
                  <a:gd name="T69" fmla="*/ 37 h 248"/>
                  <a:gd name="T70" fmla="*/ 719 w 722"/>
                  <a:gd name="T71" fmla="*/ 47 h 248"/>
                  <a:gd name="T72" fmla="*/ 708 w 722"/>
                  <a:gd name="T73" fmla="*/ 57 h 248"/>
                  <a:gd name="T74" fmla="*/ 684 w 722"/>
                  <a:gd name="T75" fmla="*/ 71 h 248"/>
                  <a:gd name="T76" fmla="*/ 646 w 722"/>
                  <a:gd name="T77" fmla="*/ 85 h 248"/>
                  <a:gd name="T78" fmla="*/ 596 w 722"/>
                  <a:gd name="T79" fmla="*/ 97 h 248"/>
                  <a:gd name="T80" fmla="*/ 536 w 722"/>
                  <a:gd name="T81" fmla="*/ 109 h 248"/>
                  <a:gd name="T82" fmla="*/ 529 w 722"/>
                  <a:gd name="T83" fmla="*/ 116 h 248"/>
                  <a:gd name="T84" fmla="*/ 565 w 722"/>
                  <a:gd name="T85" fmla="*/ 126 h 248"/>
                  <a:gd name="T86" fmla="*/ 579 w 722"/>
                  <a:gd name="T87" fmla="*/ 142 h 248"/>
                  <a:gd name="T88" fmla="*/ 567 w 722"/>
                  <a:gd name="T89" fmla="*/ 161 h 248"/>
                  <a:gd name="T90" fmla="*/ 538 w 722"/>
                  <a:gd name="T91" fmla="*/ 180 h 248"/>
                  <a:gd name="T92" fmla="*/ 503 w 722"/>
                  <a:gd name="T93" fmla="*/ 193 h 248"/>
                  <a:gd name="T94" fmla="*/ 462 w 722"/>
                  <a:gd name="T95" fmla="*/ 207 h 248"/>
                  <a:gd name="T96" fmla="*/ 414 w 722"/>
                  <a:gd name="T97" fmla="*/ 221 h 248"/>
                  <a:gd name="T98" fmla="*/ 329 w 722"/>
                  <a:gd name="T99" fmla="*/ 236 h 248"/>
                  <a:gd name="T100" fmla="*/ 217 w 722"/>
                  <a:gd name="T101" fmla="*/ 247 h 248"/>
                  <a:gd name="T102" fmla="*/ 136 w 722"/>
                  <a:gd name="T103" fmla="*/ 248 h 248"/>
                  <a:gd name="T104" fmla="*/ 91 w 722"/>
                  <a:gd name="T105" fmla="*/ 245 h 248"/>
                  <a:gd name="T106" fmla="*/ 57 w 722"/>
                  <a:gd name="T107" fmla="*/ 242 h 248"/>
                  <a:gd name="T108" fmla="*/ 29 w 722"/>
                  <a:gd name="T109" fmla="*/ 235 h 248"/>
                  <a:gd name="T110" fmla="*/ 10 w 722"/>
                  <a:gd name="T111" fmla="*/ 224 h 248"/>
                  <a:gd name="T112" fmla="*/ 2 w 722"/>
                  <a:gd name="T113" fmla="*/ 214 h 248"/>
                  <a:gd name="T114" fmla="*/ 2 w 722"/>
                  <a:gd name="T115" fmla="*/ 200 h 248"/>
                  <a:gd name="T116" fmla="*/ 12 w 722"/>
                  <a:gd name="T117" fmla="*/ 1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2" h="248">
                    <a:moveTo>
                      <a:pt x="21" y="180"/>
                    </a:moveTo>
                    <a:lnTo>
                      <a:pt x="98" y="178"/>
                    </a:lnTo>
                    <a:lnTo>
                      <a:pt x="174" y="174"/>
                    </a:lnTo>
                    <a:lnTo>
                      <a:pt x="165" y="181"/>
                    </a:lnTo>
                    <a:lnTo>
                      <a:pt x="162" y="188"/>
                    </a:lnTo>
                    <a:lnTo>
                      <a:pt x="162" y="195"/>
                    </a:lnTo>
                    <a:lnTo>
                      <a:pt x="167" y="200"/>
                    </a:lnTo>
                    <a:lnTo>
                      <a:pt x="176" y="205"/>
                    </a:lnTo>
                    <a:lnTo>
                      <a:pt x="190" y="207"/>
                    </a:lnTo>
                    <a:lnTo>
                      <a:pt x="205" y="209"/>
                    </a:lnTo>
                    <a:lnTo>
                      <a:pt x="226" y="209"/>
                    </a:lnTo>
                    <a:lnTo>
                      <a:pt x="272" y="207"/>
                    </a:lnTo>
                    <a:lnTo>
                      <a:pt x="322" y="198"/>
                    </a:lnTo>
                    <a:lnTo>
                      <a:pt x="346" y="193"/>
                    </a:lnTo>
                    <a:lnTo>
                      <a:pt x="367" y="186"/>
                    </a:lnTo>
                    <a:lnTo>
                      <a:pt x="384" y="178"/>
                    </a:lnTo>
                    <a:lnTo>
                      <a:pt x="402" y="169"/>
                    </a:lnTo>
                    <a:lnTo>
                      <a:pt x="414" y="161"/>
                    </a:lnTo>
                    <a:lnTo>
                      <a:pt x="421" y="154"/>
                    </a:lnTo>
                    <a:lnTo>
                      <a:pt x="422" y="147"/>
                    </a:lnTo>
                    <a:lnTo>
                      <a:pt x="419" y="142"/>
                    </a:lnTo>
                    <a:lnTo>
                      <a:pt x="410" y="136"/>
                    </a:lnTo>
                    <a:lnTo>
                      <a:pt x="398" y="135"/>
                    </a:lnTo>
                    <a:lnTo>
                      <a:pt x="383" y="131"/>
                    </a:lnTo>
                    <a:lnTo>
                      <a:pt x="362" y="131"/>
                    </a:lnTo>
                    <a:lnTo>
                      <a:pt x="346" y="131"/>
                    </a:lnTo>
                    <a:lnTo>
                      <a:pt x="329" y="133"/>
                    </a:lnTo>
                    <a:lnTo>
                      <a:pt x="310" y="133"/>
                    </a:lnTo>
                    <a:lnTo>
                      <a:pt x="288" y="135"/>
                    </a:lnTo>
                    <a:lnTo>
                      <a:pt x="329" y="116"/>
                    </a:lnTo>
                    <a:lnTo>
                      <a:pt x="369" y="97"/>
                    </a:lnTo>
                    <a:lnTo>
                      <a:pt x="398" y="97"/>
                    </a:lnTo>
                    <a:lnTo>
                      <a:pt x="424" y="95"/>
                    </a:lnTo>
                    <a:lnTo>
                      <a:pt x="474" y="88"/>
                    </a:lnTo>
                    <a:lnTo>
                      <a:pt x="496" y="83"/>
                    </a:lnTo>
                    <a:lnTo>
                      <a:pt x="515" y="78"/>
                    </a:lnTo>
                    <a:lnTo>
                      <a:pt x="531" y="73"/>
                    </a:lnTo>
                    <a:lnTo>
                      <a:pt x="545" y="66"/>
                    </a:lnTo>
                    <a:lnTo>
                      <a:pt x="553" y="59"/>
                    </a:lnTo>
                    <a:lnTo>
                      <a:pt x="558" y="54"/>
                    </a:lnTo>
                    <a:lnTo>
                      <a:pt x="558" y="49"/>
                    </a:lnTo>
                    <a:lnTo>
                      <a:pt x="555" y="45"/>
                    </a:lnTo>
                    <a:lnTo>
                      <a:pt x="548" y="43"/>
                    </a:lnTo>
                    <a:lnTo>
                      <a:pt x="538" y="40"/>
                    </a:lnTo>
                    <a:lnTo>
                      <a:pt x="522" y="38"/>
                    </a:lnTo>
                    <a:lnTo>
                      <a:pt x="505" y="38"/>
                    </a:lnTo>
                    <a:lnTo>
                      <a:pt x="465" y="40"/>
                    </a:lnTo>
                    <a:lnTo>
                      <a:pt x="426" y="47"/>
                    </a:lnTo>
                    <a:lnTo>
                      <a:pt x="386" y="57"/>
                    </a:lnTo>
                    <a:lnTo>
                      <a:pt x="352" y="71"/>
                    </a:lnTo>
                    <a:lnTo>
                      <a:pt x="290" y="68"/>
                    </a:lnTo>
                    <a:lnTo>
                      <a:pt x="228" y="64"/>
                    </a:lnTo>
                    <a:lnTo>
                      <a:pt x="279" y="43"/>
                    </a:lnTo>
                    <a:lnTo>
                      <a:pt x="329" y="28"/>
                    </a:lnTo>
                    <a:lnTo>
                      <a:pt x="384" y="16"/>
                    </a:lnTo>
                    <a:lnTo>
                      <a:pt x="414" y="11"/>
                    </a:lnTo>
                    <a:lnTo>
                      <a:pt x="445" y="7"/>
                    </a:lnTo>
                    <a:lnTo>
                      <a:pt x="510" y="2"/>
                    </a:lnTo>
                    <a:lnTo>
                      <a:pt x="574" y="0"/>
                    </a:lnTo>
                    <a:lnTo>
                      <a:pt x="600" y="0"/>
                    </a:lnTo>
                    <a:lnTo>
                      <a:pt x="624" y="2"/>
                    </a:lnTo>
                    <a:lnTo>
                      <a:pt x="645" y="4"/>
                    </a:lnTo>
                    <a:lnTo>
                      <a:pt x="664" y="6"/>
                    </a:lnTo>
                    <a:lnTo>
                      <a:pt x="679" y="9"/>
                    </a:lnTo>
                    <a:lnTo>
                      <a:pt x="693" y="12"/>
                    </a:lnTo>
                    <a:lnTo>
                      <a:pt x="703" y="18"/>
                    </a:lnTo>
                    <a:lnTo>
                      <a:pt x="712" y="23"/>
                    </a:lnTo>
                    <a:lnTo>
                      <a:pt x="717" y="28"/>
                    </a:lnTo>
                    <a:lnTo>
                      <a:pt x="720" y="31"/>
                    </a:lnTo>
                    <a:lnTo>
                      <a:pt x="722" y="37"/>
                    </a:lnTo>
                    <a:lnTo>
                      <a:pt x="722" y="42"/>
                    </a:lnTo>
                    <a:lnTo>
                      <a:pt x="719" y="47"/>
                    </a:lnTo>
                    <a:lnTo>
                      <a:pt x="713" y="52"/>
                    </a:lnTo>
                    <a:lnTo>
                      <a:pt x="708" y="57"/>
                    </a:lnTo>
                    <a:lnTo>
                      <a:pt x="700" y="62"/>
                    </a:lnTo>
                    <a:lnTo>
                      <a:pt x="684" y="71"/>
                    </a:lnTo>
                    <a:lnTo>
                      <a:pt x="667" y="78"/>
                    </a:lnTo>
                    <a:lnTo>
                      <a:pt x="646" y="85"/>
                    </a:lnTo>
                    <a:lnTo>
                      <a:pt x="624" y="92"/>
                    </a:lnTo>
                    <a:lnTo>
                      <a:pt x="596" y="97"/>
                    </a:lnTo>
                    <a:lnTo>
                      <a:pt x="569" y="104"/>
                    </a:lnTo>
                    <a:lnTo>
                      <a:pt x="536" y="109"/>
                    </a:lnTo>
                    <a:lnTo>
                      <a:pt x="502" y="114"/>
                    </a:lnTo>
                    <a:lnTo>
                      <a:pt x="529" y="116"/>
                    </a:lnTo>
                    <a:lnTo>
                      <a:pt x="550" y="121"/>
                    </a:lnTo>
                    <a:lnTo>
                      <a:pt x="565" y="126"/>
                    </a:lnTo>
                    <a:lnTo>
                      <a:pt x="576" y="133"/>
                    </a:lnTo>
                    <a:lnTo>
                      <a:pt x="579" y="142"/>
                    </a:lnTo>
                    <a:lnTo>
                      <a:pt x="576" y="152"/>
                    </a:lnTo>
                    <a:lnTo>
                      <a:pt x="567" y="161"/>
                    </a:lnTo>
                    <a:lnTo>
                      <a:pt x="551" y="171"/>
                    </a:lnTo>
                    <a:lnTo>
                      <a:pt x="538" y="180"/>
                    </a:lnTo>
                    <a:lnTo>
                      <a:pt x="520" y="186"/>
                    </a:lnTo>
                    <a:lnTo>
                      <a:pt x="503" y="193"/>
                    </a:lnTo>
                    <a:lnTo>
                      <a:pt x="483" y="202"/>
                    </a:lnTo>
                    <a:lnTo>
                      <a:pt x="462" y="207"/>
                    </a:lnTo>
                    <a:lnTo>
                      <a:pt x="438" y="214"/>
                    </a:lnTo>
                    <a:lnTo>
                      <a:pt x="414" y="221"/>
                    </a:lnTo>
                    <a:lnTo>
                      <a:pt x="386" y="226"/>
                    </a:lnTo>
                    <a:lnTo>
                      <a:pt x="329" y="236"/>
                    </a:lnTo>
                    <a:lnTo>
                      <a:pt x="274" y="243"/>
                    </a:lnTo>
                    <a:lnTo>
                      <a:pt x="217" y="247"/>
                    </a:lnTo>
                    <a:lnTo>
                      <a:pt x="162" y="248"/>
                    </a:lnTo>
                    <a:lnTo>
                      <a:pt x="136" y="248"/>
                    </a:lnTo>
                    <a:lnTo>
                      <a:pt x="114" y="247"/>
                    </a:lnTo>
                    <a:lnTo>
                      <a:pt x="91" y="245"/>
                    </a:lnTo>
                    <a:lnTo>
                      <a:pt x="72" y="243"/>
                    </a:lnTo>
                    <a:lnTo>
                      <a:pt x="57" y="242"/>
                    </a:lnTo>
                    <a:lnTo>
                      <a:pt x="41" y="238"/>
                    </a:lnTo>
                    <a:lnTo>
                      <a:pt x="29" y="235"/>
                    </a:lnTo>
                    <a:lnTo>
                      <a:pt x="19" y="230"/>
                    </a:lnTo>
                    <a:lnTo>
                      <a:pt x="10" y="224"/>
                    </a:lnTo>
                    <a:lnTo>
                      <a:pt x="5" y="219"/>
                    </a:lnTo>
                    <a:lnTo>
                      <a:pt x="2" y="214"/>
                    </a:lnTo>
                    <a:lnTo>
                      <a:pt x="0" y="207"/>
                    </a:lnTo>
                    <a:lnTo>
                      <a:pt x="2" y="200"/>
                    </a:lnTo>
                    <a:lnTo>
                      <a:pt x="5" y="195"/>
                    </a:lnTo>
                    <a:lnTo>
                      <a:pt x="12" y="186"/>
                    </a:lnTo>
                    <a:lnTo>
                      <a:pt x="21" y="18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63" name="Freeform 783"/>
              <p:cNvSpPr>
                <a:spLocks noEditPoints="1"/>
              </p:cNvSpPr>
              <p:nvPr/>
            </p:nvSpPr>
            <p:spPr bwMode="auto">
              <a:xfrm>
                <a:off x="2112" y="3020"/>
                <a:ext cx="360" cy="124"/>
              </a:xfrm>
              <a:custGeom>
                <a:avLst/>
                <a:gdLst>
                  <a:gd name="T0" fmla="*/ 95 w 719"/>
                  <a:gd name="T1" fmla="*/ 186 h 248"/>
                  <a:gd name="T2" fmla="*/ 164 w 719"/>
                  <a:gd name="T3" fmla="*/ 190 h 248"/>
                  <a:gd name="T4" fmla="*/ 161 w 719"/>
                  <a:gd name="T5" fmla="*/ 200 h 248"/>
                  <a:gd name="T6" fmla="*/ 171 w 719"/>
                  <a:gd name="T7" fmla="*/ 207 h 248"/>
                  <a:gd name="T8" fmla="*/ 195 w 719"/>
                  <a:gd name="T9" fmla="*/ 211 h 248"/>
                  <a:gd name="T10" fmla="*/ 237 w 719"/>
                  <a:gd name="T11" fmla="*/ 209 h 248"/>
                  <a:gd name="T12" fmla="*/ 312 w 719"/>
                  <a:gd name="T13" fmla="*/ 197 h 248"/>
                  <a:gd name="T14" fmla="*/ 373 w 719"/>
                  <a:gd name="T15" fmla="*/ 176 h 248"/>
                  <a:gd name="T16" fmla="*/ 447 w 719"/>
                  <a:gd name="T17" fmla="*/ 142 h 248"/>
                  <a:gd name="T18" fmla="*/ 357 w 719"/>
                  <a:gd name="T19" fmla="*/ 157 h 248"/>
                  <a:gd name="T20" fmla="*/ 271 w 719"/>
                  <a:gd name="T21" fmla="*/ 162 h 248"/>
                  <a:gd name="T22" fmla="*/ 230 w 719"/>
                  <a:gd name="T23" fmla="*/ 161 h 248"/>
                  <a:gd name="T24" fmla="*/ 195 w 719"/>
                  <a:gd name="T25" fmla="*/ 157 h 248"/>
                  <a:gd name="T26" fmla="*/ 169 w 719"/>
                  <a:gd name="T27" fmla="*/ 150 h 248"/>
                  <a:gd name="T28" fmla="*/ 150 w 719"/>
                  <a:gd name="T29" fmla="*/ 140 h 248"/>
                  <a:gd name="T30" fmla="*/ 142 w 719"/>
                  <a:gd name="T31" fmla="*/ 128 h 248"/>
                  <a:gd name="T32" fmla="*/ 143 w 719"/>
                  <a:gd name="T33" fmla="*/ 114 h 248"/>
                  <a:gd name="T34" fmla="*/ 157 w 719"/>
                  <a:gd name="T35" fmla="*/ 99 h 248"/>
                  <a:gd name="T36" fmla="*/ 181 w 719"/>
                  <a:gd name="T37" fmla="*/ 83 h 248"/>
                  <a:gd name="T38" fmla="*/ 256 w 719"/>
                  <a:gd name="T39" fmla="*/ 49 h 248"/>
                  <a:gd name="T40" fmla="*/ 352 w 719"/>
                  <a:gd name="T41" fmla="*/ 23 h 248"/>
                  <a:gd name="T42" fmla="*/ 459 w 719"/>
                  <a:gd name="T43" fmla="*/ 6 h 248"/>
                  <a:gd name="T44" fmla="*/ 567 w 719"/>
                  <a:gd name="T45" fmla="*/ 0 h 248"/>
                  <a:gd name="T46" fmla="*/ 621 w 719"/>
                  <a:gd name="T47" fmla="*/ 2 h 248"/>
                  <a:gd name="T48" fmla="*/ 664 w 719"/>
                  <a:gd name="T49" fmla="*/ 7 h 248"/>
                  <a:gd name="T50" fmla="*/ 695 w 719"/>
                  <a:gd name="T51" fmla="*/ 16 h 248"/>
                  <a:gd name="T52" fmla="*/ 714 w 719"/>
                  <a:gd name="T53" fmla="*/ 30 h 248"/>
                  <a:gd name="T54" fmla="*/ 719 w 719"/>
                  <a:gd name="T55" fmla="*/ 47 h 248"/>
                  <a:gd name="T56" fmla="*/ 707 w 719"/>
                  <a:gd name="T57" fmla="*/ 68 h 248"/>
                  <a:gd name="T58" fmla="*/ 678 w 719"/>
                  <a:gd name="T59" fmla="*/ 93 h 248"/>
                  <a:gd name="T60" fmla="*/ 631 w 719"/>
                  <a:gd name="T61" fmla="*/ 123 h 248"/>
                  <a:gd name="T62" fmla="*/ 516 w 719"/>
                  <a:gd name="T63" fmla="*/ 180 h 248"/>
                  <a:gd name="T64" fmla="*/ 392 w 719"/>
                  <a:gd name="T65" fmla="*/ 219 h 248"/>
                  <a:gd name="T66" fmla="*/ 264 w 719"/>
                  <a:gd name="T67" fmla="*/ 242 h 248"/>
                  <a:gd name="T68" fmla="*/ 137 w 719"/>
                  <a:gd name="T69" fmla="*/ 248 h 248"/>
                  <a:gd name="T70" fmla="*/ 94 w 719"/>
                  <a:gd name="T71" fmla="*/ 247 h 248"/>
                  <a:gd name="T72" fmla="*/ 61 w 719"/>
                  <a:gd name="T73" fmla="*/ 245 h 248"/>
                  <a:gd name="T74" fmla="*/ 33 w 719"/>
                  <a:gd name="T75" fmla="*/ 240 h 248"/>
                  <a:gd name="T76" fmla="*/ 14 w 719"/>
                  <a:gd name="T77" fmla="*/ 233 h 248"/>
                  <a:gd name="T78" fmla="*/ 2 w 719"/>
                  <a:gd name="T79" fmla="*/ 224 h 248"/>
                  <a:gd name="T80" fmla="*/ 0 w 719"/>
                  <a:gd name="T81" fmla="*/ 214 h 248"/>
                  <a:gd name="T82" fmla="*/ 6 w 719"/>
                  <a:gd name="T83" fmla="*/ 202 h 248"/>
                  <a:gd name="T84" fmla="*/ 18 w 719"/>
                  <a:gd name="T85" fmla="*/ 188 h 248"/>
                  <a:gd name="T86" fmla="*/ 526 w 719"/>
                  <a:gd name="T87" fmla="*/ 86 h 248"/>
                  <a:gd name="T88" fmla="*/ 542 w 719"/>
                  <a:gd name="T89" fmla="*/ 76 h 248"/>
                  <a:gd name="T90" fmla="*/ 554 w 719"/>
                  <a:gd name="T91" fmla="*/ 59 h 248"/>
                  <a:gd name="T92" fmla="*/ 543 w 719"/>
                  <a:gd name="T93" fmla="*/ 47 h 248"/>
                  <a:gd name="T94" fmla="*/ 516 w 719"/>
                  <a:gd name="T95" fmla="*/ 40 h 248"/>
                  <a:gd name="T96" fmla="*/ 454 w 719"/>
                  <a:gd name="T97" fmla="*/ 42 h 248"/>
                  <a:gd name="T98" fmla="*/ 388 w 719"/>
                  <a:gd name="T99" fmla="*/ 55 h 248"/>
                  <a:gd name="T100" fmla="*/ 326 w 719"/>
                  <a:gd name="T101" fmla="*/ 83 h 248"/>
                  <a:gd name="T102" fmla="*/ 300 w 719"/>
                  <a:gd name="T103" fmla="*/ 104 h 248"/>
                  <a:gd name="T104" fmla="*/ 299 w 719"/>
                  <a:gd name="T105" fmla="*/ 118 h 248"/>
                  <a:gd name="T106" fmla="*/ 318 w 719"/>
                  <a:gd name="T107" fmla="*/ 126 h 248"/>
                  <a:gd name="T108" fmla="*/ 354 w 719"/>
                  <a:gd name="T109" fmla="*/ 128 h 248"/>
                  <a:gd name="T110" fmla="*/ 445 w 719"/>
                  <a:gd name="T111" fmla="*/ 118 h 248"/>
                  <a:gd name="T112" fmla="*/ 509 w 719"/>
                  <a:gd name="T113" fmla="*/ 97 h 248"/>
                  <a:gd name="T114" fmla="*/ 526 w 719"/>
                  <a:gd name="T115" fmla="*/ 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19" h="248">
                    <a:moveTo>
                      <a:pt x="18" y="188"/>
                    </a:moveTo>
                    <a:lnTo>
                      <a:pt x="95" y="186"/>
                    </a:lnTo>
                    <a:lnTo>
                      <a:pt x="171" y="183"/>
                    </a:lnTo>
                    <a:lnTo>
                      <a:pt x="164" y="190"/>
                    </a:lnTo>
                    <a:lnTo>
                      <a:pt x="161" y="195"/>
                    </a:lnTo>
                    <a:lnTo>
                      <a:pt x="161" y="200"/>
                    </a:lnTo>
                    <a:lnTo>
                      <a:pt x="164" y="204"/>
                    </a:lnTo>
                    <a:lnTo>
                      <a:pt x="171" y="207"/>
                    </a:lnTo>
                    <a:lnTo>
                      <a:pt x="181" y="209"/>
                    </a:lnTo>
                    <a:lnTo>
                      <a:pt x="195" y="211"/>
                    </a:lnTo>
                    <a:lnTo>
                      <a:pt x="212" y="211"/>
                    </a:lnTo>
                    <a:lnTo>
                      <a:pt x="237" y="209"/>
                    </a:lnTo>
                    <a:lnTo>
                      <a:pt x="261" y="207"/>
                    </a:lnTo>
                    <a:lnTo>
                      <a:pt x="312" y="197"/>
                    </a:lnTo>
                    <a:lnTo>
                      <a:pt x="342" y="188"/>
                    </a:lnTo>
                    <a:lnTo>
                      <a:pt x="373" y="176"/>
                    </a:lnTo>
                    <a:lnTo>
                      <a:pt x="409" y="161"/>
                    </a:lnTo>
                    <a:lnTo>
                      <a:pt x="447" y="142"/>
                    </a:lnTo>
                    <a:lnTo>
                      <a:pt x="402" y="150"/>
                    </a:lnTo>
                    <a:lnTo>
                      <a:pt x="357" y="157"/>
                    </a:lnTo>
                    <a:lnTo>
                      <a:pt x="314" y="161"/>
                    </a:lnTo>
                    <a:lnTo>
                      <a:pt x="271" y="162"/>
                    </a:lnTo>
                    <a:lnTo>
                      <a:pt x="249" y="162"/>
                    </a:lnTo>
                    <a:lnTo>
                      <a:pt x="230" y="161"/>
                    </a:lnTo>
                    <a:lnTo>
                      <a:pt x="211" y="159"/>
                    </a:lnTo>
                    <a:lnTo>
                      <a:pt x="195" y="157"/>
                    </a:lnTo>
                    <a:lnTo>
                      <a:pt x="181" y="154"/>
                    </a:lnTo>
                    <a:lnTo>
                      <a:pt x="169" y="150"/>
                    </a:lnTo>
                    <a:lnTo>
                      <a:pt x="159" y="145"/>
                    </a:lnTo>
                    <a:lnTo>
                      <a:pt x="150" y="140"/>
                    </a:lnTo>
                    <a:lnTo>
                      <a:pt x="145" y="135"/>
                    </a:lnTo>
                    <a:lnTo>
                      <a:pt x="142" y="128"/>
                    </a:lnTo>
                    <a:lnTo>
                      <a:pt x="142" y="121"/>
                    </a:lnTo>
                    <a:lnTo>
                      <a:pt x="143" y="114"/>
                    </a:lnTo>
                    <a:lnTo>
                      <a:pt x="149" y="107"/>
                    </a:lnTo>
                    <a:lnTo>
                      <a:pt x="157" y="99"/>
                    </a:lnTo>
                    <a:lnTo>
                      <a:pt x="168" y="92"/>
                    </a:lnTo>
                    <a:lnTo>
                      <a:pt x="181" y="83"/>
                    </a:lnTo>
                    <a:lnTo>
                      <a:pt x="216" y="66"/>
                    </a:lnTo>
                    <a:lnTo>
                      <a:pt x="256" y="49"/>
                    </a:lnTo>
                    <a:lnTo>
                      <a:pt x="300" y="35"/>
                    </a:lnTo>
                    <a:lnTo>
                      <a:pt x="352" y="23"/>
                    </a:lnTo>
                    <a:lnTo>
                      <a:pt x="405" y="12"/>
                    </a:lnTo>
                    <a:lnTo>
                      <a:pt x="459" y="6"/>
                    </a:lnTo>
                    <a:lnTo>
                      <a:pt x="514" y="2"/>
                    </a:lnTo>
                    <a:lnTo>
                      <a:pt x="567" y="0"/>
                    </a:lnTo>
                    <a:lnTo>
                      <a:pt x="595" y="0"/>
                    </a:lnTo>
                    <a:lnTo>
                      <a:pt x="621" y="2"/>
                    </a:lnTo>
                    <a:lnTo>
                      <a:pt x="645" y="4"/>
                    </a:lnTo>
                    <a:lnTo>
                      <a:pt x="664" y="7"/>
                    </a:lnTo>
                    <a:lnTo>
                      <a:pt x="681" y="11"/>
                    </a:lnTo>
                    <a:lnTo>
                      <a:pt x="695" y="16"/>
                    </a:lnTo>
                    <a:lnTo>
                      <a:pt x="705" y="23"/>
                    </a:lnTo>
                    <a:lnTo>
                      <a:pt x="714" y="30"/>
                    </a:lnTo>
                    <a:lnTo>
                      <a:pt x="719" y="37"/>
                    </a:lnTo>
                    <a:lnTo>
                      <a:pt x="719" y="47"/>
                    </a:lnTo>
                    <a:lnTo>
                      <a:pt x="716" y="55"/>
                    </a:lnTo>
                    <a:lnTo>
                      <a:pt x="707" y="68"/>
                    </a:lnTo>
                    <a:lnTo>
                      <a:pt x="695" y="80"/>
                    </a:lnTo>
                    <a:lnTo>
                      <a:pt x="678" y="93"/>
                    </a:lnTo>
                    <a:lnTo>
                      <a:pt x="657" y="107"/>
                    </a:lnTo>
                    <a:lnTo>
                      <a:pt x="631" y="123"/>
                    </a:lnTo>
                    <a:lnTo>
                      <a:pt x="574" y="154"/>
                    </a:lnTo>
                    <a:lnTo>
                      <a:pt x="516" y="180"/>
                    </a:lnTo>
                    <a:lnTo>
                      <a:pt x="454" y="202"/>
                    </a:lnTo>
                    <a:lnTo>
                      <a:pt x="392" y="219"/>
                    </a:lnTo>
                    <a:lnTo>
                      <a:pt x="328" y="231"/>
                    </a:lnTo>
                    <a:lnTo>
                      <a:pt x="264" y="242"/>
                    </a:lnTo>
                    <a:lnTo>
                      <a:pt x="200" y="247"/>
                    </a:lnTo>
                    <a:lnTo>
                      <a:pt x="137" y="248"/>
                    </a:lnTo>
                    <a:lnTo>
                      <a:pt x="114" y="248"/>
                    </a:lnTo>
                    <a:lnTo>
                      <a:pt x="94" y="247"/>
                    </a:lnTo>
                    <a:lnTo>
                      <a:pt x="76" y="247"/>
                    </a:lnTo>
                    <a:lnTo>
                      <a:pt x="61" y="245"/>
                    </a:lnTo>
                    <a:lnTo>
                      <a:pt x="45" y="243"/>
                    </a:lnTo>
                    <a:lnTo>
                      <a:pt x="33" y="240"/>
                    </a:lnTo>
                    <a:lnTo>
                      <a:pt x="23" y="236"/>
                    </a:lnTo>
                    <a:lnTo>
                      <a:pt x="14" y="233"/>
                    </a:lnTo>
                    <a:lnTo>
                      <a:pt x="7" y="230"/>
                    </a:lnTo>
                    <a:lnTo>
                      <a:pt x="2" y="224"/>
                    </a:lnTo>
                    <a:lnTo>
                      <a:pt x="0" y="219"/>
                    </a:lnTo>
                    <a:lnTo>
                      <a:pt x="0" y="214"/>
                    </a:lnTo>
                    <a:lnTo>
                      <a:pt x="2" y="209"/>
                    </a:lnTo>
                    <a:lnTo>
                      <a:pt x="6" y="202"/>
                    </a:lnTo>
                    <a:lnTo>
                      <a:pt x="11" y="195"/>
                    </a:lnTo>
                    <a:lnTo>
                      <a:pt x="18" y="188"/>
                    </a:lnTo>
                    <a:lnTo>
                      <a:pt x="18" y="188"/>
                    </a:lnTo>
                    <a:close/>
                    <a:moveTo>
                      <a:pt x="526" y="86"/>
                    </a:moveTo>
                    <a:lnTo>
                      <a:pt x="535" y="81"/>
                    </a:lnTo>
                    <a:lnTo>
                      <a:pt x="542" y="76"/>
                    </a:lnTo>
                    <a:lnTo>
                      <a:pt x="552" y="68"/>
                    </a:lnTo>
                    <a:lnTo>
                      <a:pt x="554" y="59"/>
                    </a:lnTo>
                    <a:lnTo>
                      <a:pt x="552" y="52"/>
                    </a:lnTo>
                    <a:lnTo>
                      <a:pt x="543" y="47"/>
                    </a:lnTo>
                    <a:lnTo>
                      <a:pt x="531" y="42"/>
                    </a:lnTo>
                    <a:lnTo>
                      <a:pt x="516" y="40"/>
                    </a:lnTo>
                    <a:lnTo>
                      <a:pt x="497" y="38"/>
                    </a:lnTo>
                    <a:lnTo>
                      <a:pt x="454" y="42"/>
                    </a:lnTo>
                    <a:lnTo>
                      <a:pt x="411" y="49"/>
                    </a:lnTo>
                    <a:lnTo>
                      <a:pt x="388" y="55"/>
                    </a:lnTo>
                    <a:lnTo>
                      <a:pt x="368" y="62"/>
                    </a:lnTo>
                    <a:lnTo>
                      <a:pt x="326" y="83"/>
                    </a:lnTo>
                    <a:lnTo>
                      <a:pt x="311" y="93"/>
                    </a:lnTo>
                    <a:lnTo>
                      <a:pt x="300" y="104"/>
                    </a:lnTo>
                    <a:lnTo>
                      <a:pt x="297" y="111"/>
                    </a:lnTo>
                    <a:lnTo>
                      <a:pt x="299" y="118"/>
                    </a:lnTo>
                    <a:lnTo>
                      <a:pt x="305" y="123"/>
                    </a:lnTo>
                    <a:lnTo>
                      <a:pt x="318" y="126"/>
                    </a:lnTo>
                    <a:lnTo>
                      <a:pt x="333" y="128"/>
                    </a:lnTo>
                    <a:lnTo>
                      <a:pt x="354" y="128"/>
                    </a:lnTo>
                    <a:lnTo>
                      <a:pt x="399" y="126"/>
                    </a:lnTo>
                    <a:lnTo>
                      <a:pt x="445" y="118"/>
                    </a:lnTo>
                    <a:lnTo>
                      <a:pt x="488" y="105"/>
                    </a:lnTo>
                    <a:lnTo>
                      <a:pt x="509" y="97"/>
                    </a:lnTo>
                    <a:lnTo>
                      <a:pt x="526" y="86"/>
                    </a:lnTo>
                    <a:lnTo>
                      <a:pt x="526" y="8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64" name="Freeform 784"/>
              <p:cNvSpPr>
                <a:spLocks/>
              </p:cNvSpPr>
              <p:nvPr/>
            </p:nvSpPr>
            <p:spPr bwMode="auto">
              <a:xfrm>
                <a:off x="1438" y="3006"/>
                <a:ext cx="424" cy="122"/>
              </a:xfrm>
              <a:custGeom>
                <a:avLst/>
                <a:gdLst>
                  <a:gd name="T0" fmla="*/ 558 w 848"/>
                  <a:gd name="T1" fmla="*/ 222 h 243"/>
                  <a:gd name="T2" fmla="*/ 0 w 848"/>
                  <a:gd name="T3" fmla="*/ 243 h 243"/>
                  <a:gd name="T4" fmla="*/ 58 w 848"/>
                  <a:gd name="T5" fmla="*/ 220 h 243"/>
                  <a:gd name="T6" fmla="*/ 129 w 848"/>
                  <a:gd name="T7" fmla="*/ 196 h 243"/>
                  <a:gd name="T8" fmla="*/ 176 w 848"/>
                  <a:gd name="T9" fmla="*/ 184 h 243"/>
                  <a:gd name="T10" fmla="*/ 236 w 848"/>
                  <a:gd name="T11" fmla="*/ 172 h 243"/>
                  <a:gd name="T12" fmla="*/ 308 w 848"/>
                  <a:gd name="T13" fmla="*/ 157 h 243"/>
                  <a:gd name="T14" fmla="*/ 395 w 848"/>
                  <a:gd name="T15" fmla="*/ 139 h 243"/>
                  <a:gd name="T16" fmla="*/ 463 w 848"/>
                  <a:gd name="T17" fmla="*/ 126 h 243"/>
                  <a:gd name="T18" fmla="*/ 517 w 848"/>
                  <a:gd name="T19" fmla="*/ 115 h 243"/>
                  <a:gd name="T20" fmla="*/ 558 w 848"/>
                  <a:gd name="T21" fmla="*/ 107 h 243"/>
                  <a:gd name="T22" fmla="*/ 584 w 848"/>
                  <a:gd name="T23" fmla="*/ 100 h 243"/>
                  <a:gd name="T24" fmla="*/ 632 w 848"/>
                  <a:gd name="T25" fmla="*/ 86 h 243"/>
                  <a:gd name="T26" fmla="*/ 663 w 848"/>
                  <a:gd name="T27" fmla="*/ 70 h 243"/>
                  <a:gd name="T28" fmla="*/ 681 w 848"/>
                  <a:gd name="T29" fmla="*/ 57 h 243"/>
                  <a:gd name="T30" fmla="*/ 677 w 848"/>
                  <a:gd name="T31" fmla="*/ 46 h 243"/>
                  <a:gd name="T32" fmla="*/ 655 w 848"/>
                  <a:gd name="T33" fmla="*/ 39 h 243"/>
                  <a:gd name="T34" fmla="*/ 617 w 848"/>
                  <a:gd name="T35" fmla="*/ 38 h 243"/>
                  <a:gd name="T36" fmla="*/ 527 w 848"/>
                  <a:gd name="T37" fmla="*/ 46 h 243"/>
                  <a:gd name="T38" fmla="*/ 467 w 848"/>
                  <a:gd name="T39" fmla="*/ 67 h 243"/>
                  <a:gd name="T40" fmla="*/ 377 w 848"/>
                  <a:gd name="T41" fmla="*/ 74 h 243"/>
                  <a:gd name="T42" fmla="*/ 346 w 848"/>
                  <a:gd name="T43" fmla="*/ 55 h 243"/>
                  <a:gd name="T44" fmla="*/ 434 w 848"/>
                  <a:gd name="T45" fmla="*/ 26 h 243"/>
                  <a:gd name="T46" fmla="*/ 532 w 848"/>
                  <a:gd name="T47" fmla="*/ 10 h 243"/>
                  <a:gd name="T48" fmla="*/ 634 w 848"/>
                  <a:gd name="T49" fmla="*/ 1 h 243"/>
                  <a:gd name="T50" fmla="*/ 713 w 848"/>
                  <a:gd name="T51" fmla="*/ 0 h 243"/>
                  <a:gd name="T52" fmla="*/ 760 w 848"/>
                  <a:gd name="T53" fmla="*/ 3 h 243"/>
                  <a:gd name="T54" fmla="*/ 798 w 848"/>
                  <a:gd name="T55" fmla="*/ 7 h 243"/>
                  <a:gd name="T56" fmla="*/ 824 w 848"/>
                  <a:gd name="T57" fmla="*/ 15 h 243"/>
                  <a:gd name="T58" fmla="*/ 841 w 848"/>
                  <a:gd name="T59" fmla="*/ 24 h 243"/>
                  <a:gd name="T60" fmla="*/ 848 w 848"/>
                  <a:gd name="T61" fmla="*/ 36 h 243"/>
                  <a:gd name="T62" fmla="*/ 844 w 848"/>
                  <a:gd name="T63" fmla="*/ 46 h 243"/>
                  <a:gd name="T64" fmla="*/ 829 w 848"/>
                  <a:gd name="T65" fmla="*/ 60 h 243"/>
                  <a:gd name="T66" fmla="*/ 803 w 848"/>
                  <a:gd name="T67" fmla="*/ 76 h 243"/>
                  <a:gd name="T68" fmla="*/ 748 w 848"/>
                  <a:gd name="T69" fmla="*/ 98 h 243"/>
                  <a:gd name="T70" fmla="*/ 698 w 848"/>
                  <a:gd name="T71" fmla="*/ 113 h 243"/>
                  <a:gd name="T72" fmla="*/ 636 w 848"/>
                  <a:gd name="T73" fmla="*/ 129 h 243"/>
                  <a:gd name="T74" fmla="*/ 608 w 848"/>
                  <a:gd name="T75" fmla="*/ 134 h 243"/>
                  <a:gd name="T76" fmla="*/ 575 w 848"/>
                  <a:gd name="T77" fmla="*/ 143 h 243"/>
                  <a:gd name="T78" fmla="*/ 534 w 848"/>
                  <a:gd name="T79" fmla="*/ 150 h 243"/>
                  <a:gd name="T80" fmla="*/ 486 w 848"/>
                  <a:gd name="T81" fmla="*/ 160 h 243"/>
                  <a:gd name="T82" fmla="*/ 439 w 848"/>
                  <a:gd name="T83" fmla="*/ 169 h 243"/>
                  <a:gd name="T84" fmla="*/ 401 w 848"/>
                  <a:gd name="T85" fmla="*/ 177 h 243"/>
                  <a:gd name="T86" fmla="*/ 372 w 848"/>
                  <a:gd name="T87" fmla="*/ 182 h 243"/>
                  <a:gd name="T88" fmla="*/ 351 w 848"/>
                  <a:gd name="T89" fmla="*/ 188 h 243"/>
                  <a:gd name="T90" fmla="*/ 300 w 848"/>
                  <a:gd name="T91" fmla="*/ 200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48" h="243">
                    <a:moveTo>
                      <a:pt x="594" y="200"/>
                    </a:moveTo>
                    <a:lnTo>
                      <a:pt x="558" y="222"/>
                    </a:lnTo>
                    <a:lnTo>
                      <a:pt x="522" y="243"/>
                    </a:lnTo>
                    <a:lnTo>
                      <a:pt x="0" y="243"/>
                    </a:lnTo>
                    <a:lnTo>
                      <a:pt x="27" y="231"/>
                    </a:lnTo>
                    <a:lnTo>
                      <a:pt x="58" y="220"/>
                    </a:lnTo>
                    <a:lnTo>
                      <a:pt x="91" y="208"/>
                    </a:lnTo>
                    <a:lnTo>
                      <a:pt x="129" y="196"/>
                    </a:lnTo>
                    <a:lnTo>
                      <a:pt x="152" y="191"/>
                    </a:lnTo>
                    <a:lnTo>
                      <a:pt x="176" y="184"/>
                    </a:lnTo>
                    <a:lnTo>
                      <a:pt x="203" y="179"/>
                    </a:lnTo>
                    <a:lnTo>
                      <a:pt x="236" y="172"/>
                    </a:lnTo>
                    <a:lnTo>
                      <a:pt x="270" y="165"/>
                    </a:lnTo>
                    <a:lnTo>
                      <a:pt x="308" y="157"/>
                    </a:lnTo>
                    <a:lnTo>
                      <a:pt x="350" y="148"/>
                    </a:lnTo>
                    <a:lnTo>
                      <a:pt x="395" y="139"/>
                    </a:lnTo>
                    <a:lnTo>
                      <a:pt x="431" y="132"/>
                    </a:lnTo>
                    <a:lnTo>
                      <a:pt x="463" y="126"/>
                    </a:lnTo>
                    <a:lnTo>
                      <a:pt x="491" y="120"/>
                    </a:lnTo>
                    <a:lnTo>
                      <a:pt x="517" y="115"/>
                    </a:lnTo>
                    <a:lnTo>
                      <a:pt x="539" y="110"/>
                    </a:lnTo>
                    <a:lnTo>
                      <a:pt x="558" y="107"/>
                    </a:lnTo>
                    <a:lnTo>
                      <a:pt x="572" y="103"/>
                    </a:lnTo>
                    <a:lnTo>
                      <a:pt x="584" y="100"/>
                    </a:lnTo>
                    <a:lnTo>
                      <a:pt x="610" y="93"/>
                    </a:lnTo>
                    <a:lnTo>
                      <a:pt x="632" y="86"/>
                    </a:lnTo>
                    <a:lnTo>
                      <a:pt x="650" y="77"/>
                    </a:lnTo>
                    <a:lnTo>
                      <a:pt x="663" y="70"/>
                    </a:lnTo>
                    <a:lnTo>
                      <a:pt x="674" y="64"/>
                    </a:lnTo>
                    <a:lnTo>
                      <a:pt x="681" y="57"/>
                    </a:lnTo>
                    <a:lnTo>
                      <a:pt x="681" y="51"/>
                    </a:lnTo>
                    <a:lnTo>
                      <a:pt x="677" y="46"/>
                    </a:lnTo>
                    <a:lnTo>
                      <a:pt x="669" y="43"/>
                    </a:lnTo>
                    <a:lnTo>
                      <a:pt x="655" y="39"/>
                    </a:lnTo>
                    <a:lnTo>
                      <a:pt x="637" y="38"/>
                    </a:lnTo>
                    <a:lnTo>
                      <a:pt x="617" y="38"/>
                    </a:lnTo>
                    <a:lnTo>
                      <a:pt x="572" y="39"/>
                    </a:lnTo>
                    <a:lnTo>
                      <a:pt x="527" y="46"/>
                    </a:lnTo>
                    <a:lnTo>
                      <a:pt x="486" y="58"/>
                    </a:lnTo>
                    <a:lnTo>
                      <a:pt x="467" y="67"/>
                    </a:lnTo>
                    <a:lnTo>
                      <a:pt x="448" y="76"/>
                    </a:lnTo>
                    <a:lnTo>
                      <a:pt x="377" y="74"/>
                    </a:lnTo>
                    <a:lnTo>
                      <a:pt x="307" y="72"/>
                    </a:lnTo>
                    <a:lnTo>
                      <a:pt x="346" y="55"/>
                    </a:lnTo>
                    <a:lnTo>
                      <a:pt x="389" y="39"/>
                    </a:lnTo>
                    <a:lnTo>
                      <a:pt x="434" y="26"/>
                    </a:lnTo>
                    <a:lnTo>
                      <a:pt x="482" y="17"/>
                    </a:lnTo>
                    <a:lnTo>
                      <a:pt x="532" y="10"/>
                    </a:lnTo>
                    <a:lnTo>
                      <a:pt x="582" y="3"/>
                    </a:lnTo>
                    <a:lnTo>
                      <a:pt x="634" y="1"/>
                    </a:lnTo>
                    <a:lnTo>
                      <a:pt x="686" y="0"/>
                    </a:lnTo>
                    <a:lnTo>
                      <a:pt x="713" y="0"/>
                    </a:lnTo>
                    <a:lnTo>
                      <a:pt x="737" y="1"/>
                    </a:lnTo>
                    <a:lnTo>
                      <a:pt x="760" y="3"/>
                    </a:lnTo>
                    <a:lnTo>
                      <a:pt x="781" y="5"/>
                    </a:lnTo>
                    <a:lnTo>
                      <a:pt x="798" y="7"/>
                    </a:lnTo>
                    <a:lnTo>
                      <a:pt x="812" y="10"/>
                    </a:lnTo>
                    <a:lnTo>
                      <a:pt x="824" y="15"/>
                    </a:lnTo>
                    <a:lnTo>
                      <a:pt x="834" y="19"/>
                    </a:lnTo>
                    <a:lnTo>
                      <a:pt x="841" y="24"/>
                    </a:lnTo>
                    <a:lnTo>
                      <a:pt x="846" y="29"/>
                    </a:lnTo>
                    <a:lnTo>
                      <a:pt x="848" y="36"/>
                    </a:lnTo>
                    <a:lnTo>
                      <a:pt x="848" y="41"/>
                    </a:lnTo>
                    <a:lnTo>
                      <a:pt x="844" y="46"/>
                    </a:lnTo>
                    <a:lnTo>
                      <a:pt x="837" y="53"/>
                    </a:lnTo>
                    <a:lnTo>
                      <a:pt x="829" y="60"/>
                    </a:lnTo>
                    <a:lnTo>
                      <a:pt x="818" y="67"/>
                    </a:lnTo>
                    <a:lnTo>
                      <a:pt x="803" y="76"/>
                    </a:lnTo>
                    <a:lnTo>
                      <a:pt x="786" y="84"/>
                    </a:lnTo>
                    <a:lnTo>
                      <a:pt x="748" y="98"/>
                    </a:lnTo>
                    <a:lnTo>
                      <a:pt x="724" y="107"/>
                    </a:lnTo>
                    <a:lnTo>
                      <a:pt x="698" y="113"/>
                    </a:lnTo>
                    <a:lnTo>
                      <a:pt x="669" y="122"/>
                    </a:lnTo>
                    <a:lnTo>
                      <a:pt x="636" y="129"/>
                    </a:lnTo>
                    <a:lnTo>
                      <a:pt x="624" y="132"/>
                    </a:lnTo>
                    <a:lnTo>
                      <a:pt x="608" y="134"/>
                    </a:lnTo>
                    <a:lnTo>
                      <a:pt x="593" y="138"/>
                    </a:lnTo>
                    <a:lnTo>
                      <a:pt x="575" y="143"/>
                    </a:lnTo>
                    <a:lnTo>
                      <a:pt x="555" y="146"/>
                    </a:lnTo>
                    <a:lnTo>
                      <a:pt x="534" y="150"/>
                    </a:lnTo>
                    <a:lnTo>
                      <a:pt x="512" y="155"/>
                    </a:lnTo>
                    <a:lnTo>
                      <a:pt x="486" y="160"/>
                    </a:lnTo>
                    <a:lnTo>
                      <a:pt x="462" y="165"/>
                    </a:lnTo>
                    <a:lnTo>
                      <a:pt x="439" y="169"/>
                    </a:lnTo>
                    <a:lnTo>
                      <a:pt x="419" y="174"/>
                    </a:lnTo>
                    <a:lnTo>
                      <a:pt x="401" y="177"/>
                    </a:lnTo>
                    <a:lnTo>
                      <a:pt x="384" y="181"/>
                    </a:lnTo>
                    <a:lnTo>
                      <a:pt x="372" y="182"/>
                    </a:lnTo>
                    <a:lnTo>
                      <a:pt x="360" y="186"/>
                    </a:lnTo>
                    <a:lnTo>
                      <a:pt x="351" y="188"/>
                    </a:lnTo>
                    <a:lnTo>
                      <a:pt x="324" y="194"/>
                    </a:lnTo>
                    <a:lnTo>
                      <a:pt x="300" y="200"/>
                    </a:lnTo>
                    <a:lnTo>
                      <a:pt x="594" y="20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65" name="Freeform 785"/>
              <p:cNvSpPr>
                <a:spLocks/>
              </p:cNvSpPr>
              <p:nvPr/>
            </p:nvSpPr>
            <p:spPr bwMode="auto">
              <a:xfrm>
                <a:off x="1791" y="3006"/>
                <a:ext cx="361" cy="124"/>
              </a:xfrm>
              <a:custGeom>
                <a:avLst/>
                <a:gdLst>
                  <a:gd name="T0" fmla="*/ 98 w 722"/>
                  <a:gd name="T1" fmla="*/ 177 h 248"/>
                  <a:gd name="T2" fmla="*/ 165 w 722"/>
                  <a:gd name="T3" fmla="*/ 181 h 248"/>
                  <a:gd name="T4" fmla="*/ 162 w 722"/>
                  <a:gd name="T5" fmla="*/ 194 h 248"/>
                  <a:gd name="T6" fmla="*/ 175 w 722"/>
                  <a:gd name="T7" fmla="*/ 205 h 248"/>
                  <a:gd name="T8" fmla="*/ 205 w 722"/>
                  <a:gd name="T9" fmla="*/ 208 h 248"/>
                  <a:gd name="T10" fmla="*/ 272 w 722"/>
                  <a:gd name="T11" fmla="*/ 207 h 248"/>
                  <a:gd name="T12" fmla="*/ 346 w 722"/>
                  <a:gd name="T13" fmla="*/ 193 h 248"/>
                  <a:gd name="T14" fmla="*/ 384 w 722"/>
                  <a:gd name="T15" fmla="*/ 177 h 248"/>
                  <a:gd name="T16" fmla="*/ 413 w 722"/>
                  <a:gd name="T17" fmla="*/ 160 h 248"/>
                  <a:gd name="T18" fmla="*/ 422 w 722"/>
                  <a:gd name="T19" fmla="*/ 146 h 248"/>
                  <a:gd name="T20" fmla="*/ 410 w 722"/>
                  <a:gd name="T21" fmla="*/ 136 h 248"/>
                  <a:gd name="T22" fmla="*/ 382 w 722"/>
                  <a:gd name="T23" fmla="*/ 131 h 248"/>
                  <a:gd name="T24" fmla="*/ 346 w 722"/>
                  <a:gd name="T25" fmla="*/ 131 h 248"/>
                  <a:gd name="T26" fmla="*/ 310 w 722"/>
                  <a:gd name="T27" fmla="*/ 132 h 248"/>
                  <a:gd name="T28" fmla="*/ 329 w 722"/>
                  <a:gd name="T29" fmla="*/ 115 h 248"/>
                  <a:gd name="T30" fmla="*/ 398 w 722"/>
                  <a:gd name="T31" fmla="*/ 96 h 248"/>
                  <a:gd name="T32" fmla="*/ 474 w 722"/>
                  <a:gd name="T33" fmla="*/ 88 h 248"/>
                  <a:gd name="T34" fmla="*/ 515 w 722"/>
                  <a:gd name="T35" fmla="*/ 77 h 248"/>
                  <a:gd name="T36" fmla="*/ 544 w 722"/>
                  <a:gd name="T37" fmla="*/ 65 h 248"/>
                  <a:gd name="T38" fmla="*/ 558 w 722"/>
                  <a:gd name="T39" fmla="*/ 53 h 248"/>
                  <a:gd name="T40" fmla="*/ 555 w 722"/>
                  <a:gd name="T41" fmla="*/ 45 h 248"/>
                  <a:gd name="T42" fmla="*/ 537 w 722"/>
                  <a:gd name="T43" fmla="*/ 39 h 248"/>
                  <a:gd name="T44" fmla="*/ 505 w 722"/>
                  <a:gd name="T45" fmla="*/ 38 h 248"/>
                  <a:gd name="T46" fmla="*/ 425 w 722"/>
                  <a:gd name="T47" fmla="*/ 46 h 248"/>
                  <a:gd name="T48" fmla="*/ 351 w 722"/>
                  <a:gd name="T49" fmla="*/ 70 h 248"/>
                  <a:gd name="T50" fmla="*/ 227 w 722"/>
                  <a:gd name="T51" fmla="*/ 64 h 248"/>
                  <a:gd name="T52" fmla="*/ 329 w 722"/>
                  <a:gd name="T53" fmla="*/ 27 h 248"/>
                  <a:gd name="T54" fmla="*/ 413 w 722"/>
                  <a:gd name="T55" fmla="*/ 10 h 248"/>
                  <a:gd name="T56" fmla="*/ 510 w 722"/>
                  <a:gd name="T57" fmla="*/ 1 h 248"/>
                  <a:gd name="T58" fmla="*/ 599 w 722"/>
                  <a:gd name="T59" fmla="*/ 0 h 248"/>
                  <a:gd name="T60" fmla="*/ 644 w 722"/>
                  <a:gd name="T61" fmla="*/ 3 h 248"/>
                  <a:gd name="T62" fmla="*/ 679 w 722"/>
                  <a:gd name="T63" fmla="*/ 8 h 248"/>
                  <a:gd name="T64" fmla="*/ 703 w 722"/>
                  <a:gd name="T65" fmla="*/ 17 h 248"/>
                  <a:gd name="T66" fmla="*/ 717 w 722"/>
                  <a:gd name="T67" fmla="*/ 27 h 248"/>
                  <a:gd name="T68" fmla="*/ 722 w 722"/>
                  <a:gd name="T69" fmla="*/ 36 h 248"/>
                  <a:gd name="T70" fmla="*/ 718 w 722"/>
                  <a:gd name="T71" fmla="*/ 46 h 248"/>
                  <a:gd name="T72" fmla="*/ 708 w 722"/>
                  <a:gd name="T73" fmla="*/ 57 h 248"/>
                  <a:gd name="T74" fmla="*/ 684 w 722"/>
                  <a:gd name="T75" fmla="*/ 70 h 248"/>
                  <a:gd name="T76" fmla="*/ 646 w 722"/>
                  <a:gd name="T77" fmla="*/ 84 h 248"/>
                  <a:gd name="T78" fmla="*/ 596 w 722"/>
                  <a:gd name="T79" fmla="*/ 96 h 248"/>
                  <a:gd name="T80" fmla="*/ 536 w 722"/>
                  <a:gd name="T81" fmla="*/ 108 h 248"/>
                  <a:gd name="T82" fmla="*/ 529 w 722"/>
                  <a:gd name="T83" fmla="*/ 115 h 248"/>
                  <a:gd name="T84" fmla="*/ 565 w 722"/>
                  <a:gd name="T85" fmla="*/ 126 h 248"/>
                  <a:gd name="T86" fmla="*/ 579 w 722"/>
                  <a:gd name="T87" fmla="*/ 141 h 248"/>
                  <a:gd name="T88" fmla="*/ 567 w 722"/>
                  <a:gd name="T89" fmla="*/ 160 h 248"/>
                  <a:gd name="T90" fmla="*/ 537 w 722"/>
                  <a:gd name="T91" fmla="*/ 179 h 248"/>
                  <a:gd name="T92" fmla="*/ 503 w 722"/>
                  <a:gd name="T93" fmla="*/ 193 h 248"/>
                  <a:gd name="T94" fmla="*/ 462 w 722"/>
                  <a:gd name="T95" fmla="*/ 207 h 248"/>
                  <a:gd name="T96" fmla="*/ 413 w 722"/>
                  <a:gd name="T97" fmla="*/ 220 h 248"/>
                  <a:gd name="T98" fmla="*/ 329 w 722"/>
                  <a:gd name="T99" fmla="*/ 236 h 248"/>
                  <a:gd name="T100" fmla="*/ 217 w 722"/>
                  <a:gd name="T101" fmla="*/ 246 h 248"/>
                  <a:gd name="T102" fmla="*/ 136 w 722"/>
                  <a:gd name="T103" fmla="*/ 248 h 248"/>
                  <a:gd name="T104" fmla="*/ 91 w 722"/>
                  <a:gd name="T105" fmla="*/ 244 h 248"/>
                  <a:gd name="T106" fmla="*/ 57 w 722"/>
                  <a:gd name="T107" fmla="*/ 241 h 248"/>
                  <a:gd name="T108" fmla="*/ 29 w 722"/>
                  <a:gd name="T109" fmla="*/ 234 h 248"/>
                  <a:gd name="T110" fmla="*/ 10 w 722"/>
                  <a:gd name="T111" fmla="*/ 224 h 248"/>
                  <a:gd name="T112" fmla="*/ 1 w 722"/>
                  <a:gd name="T113" fmla="*/ 213 h 248"/>
                  <a:gd name="T114" fmla="*/ 1 w 722"/>
                  <a:gd name="T115" fmla="*/ 200 h 248"/>
                  <a:gd name="T116" fmla="*/ 12 w 722"/>
                  <a:gd name="T117" fmla="*/ 1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2" h="248">
                    <a:moveTo>
                      <a:pt x="20" y="179"/>
                    </a:moveTo>
                    <a:lnTo>
                      <a:pt x="98" y="177"/>
                    </a:lnTo>
                    <a:lnTo>
                      <a:pt x="174" y="174"/>
                    </a:lnTo>
                    <a:lnTo>
                      <a:pt x="165" y="181"/>
                    </a:lnTo>
                    <a:lnTo>
                      <a:pt x="162" y="188"/>
                    </a:lnTo>
                    <a:lnTo>
                      <a:pt x="162" y="194"/>
                    </a:lnTo>
                    <a:lnTo>
                      <a:pt x="167" y="200"/>
                    </a:lnTo>
                    <a:lnTo>
                      <a:pt x="175" y="205"/>
                    </a:lnTo>
                    <a:lnTo>
                      <a:pt x="189" y="207"/>
                    </a:lnTo>
                    <a:lnTo>
                      <a:pt x="205" y="208"/>
                    </a:lnTo>
                    <a:lnTo>
                      <a:pt x="225" y="208"/>
                    </a:lnTo>
                    <a:lnTo>
                      <a:pt x="272" y="207"/>
                    </a:lnTo>
                    <a:lnTo>
                      <a:pt x="322" y="198"/>
                    </a:lnTo>
                    <a:lnTo>
                      <a:pt x="346" y="193"/>
                    </a:lnTo>
                    <a:lnTo>
                      <a:pt x="367" y="186"/>
                    </a:lnTo>
                    <a:lnTo>
                      <a:pt x="384" y="177"/>
                    </a:lnTo>
                    <a:lnTo>
                      <a:pt x="401" y="169"/>
                    </a:lnTo>
                    <a:lnTo>
                      <a:pt x="413" y="160"/>
                    </a:lnTo>
                    <a:lnTo>
                      <a:pt x="420" y="153"/>
                    </a:lnTo>
                    <a:lnTo>
                      <a:pt x="422" y="146"/>
                    </a:lnTo>
                    <a:lnTo>
                      <a:pt x="418" y="141"/>
                    </a:lnTo>
                    <a:lnTo>
                      <a:pt x="410" y="136"/>
                    </a:lnTo>
                    <a:lnTo>
                      <a:pt x="398" y="134"/>
                    </a:lnTo>
                    <a:lnTo>
                      <a:pt x="382" y="131"/>
                    </a:lnTo>
                    <a:lnTo>
                      <a:pt x="362" y="131"/>
                    </a:lnTo>
                    <a:lnTo>
                      <a:pt x="346" y="131"/>
                    </a:lnTo>
                    <a:lnTo>
                      <a:pt x="329" y="132"/>
                    </a:lnTo>
                    <a:lnTo>
                      <a:pt x="310" y="132"/>
                    </a:lnTo>
                    <a:lnTo>
                      <a:pt x="287" y="134"/>
                    </a:lnTo>
                    <a:lnTo>
                      <a:pt x="329" y="115"/>
                    </a:lnTo>
                    <a:lnTo>
                      <a:pt x="368" y="96"/>
                    </a:lnTo>
                    <a:lnTo>
                      <a:pt x="398" y="96"/>
                    </a:lnTo>
                    <a:lnTo>
                      <a:pt x="424" y="95"/>
                    </a:lnTo>
                    <a:lnTo>
                      <a:pt x="474" y="88"/>
                    </a:lnTo>
                    <a:lnTo>
                      <a:pt x="496" y="82"/>
                    </a:lnTo>
                    <a:lnTo>
                      <a:pt x="515" y="77"/>
                    </a:lnTo>
                    <a:lnTo>
                      <a:pt x="530" y="72"/>
                    </a:lnTo>
                    <a:lnTo>
                      <a:pt x="544" y="65"/>
                    </a:lnTo>
                    <a:lnTo>
                      <a:pt x="553" y="58"/>
                    </a:lnTo>
                    <a:lnTo>
                      <a:pt x="558" y="53"/>
                    </a:lnTo>
                    <a:lnTo>
                      <a:pt x="558" y="48"/>
                    </a:lnTo>
                    <a:lnTo>
                      <a:pt x="555" y="45"/>
                    </a:lnTo>
                    <a:lnTo>
                      <a:pt x="548" y="43"/>
                    </a:lnTo>
                    <a:lnTo>
                      <a:pt x="537" y="39"/>
                    </a:lnTo>
                    <a:lnTo>
                      <a:pt x="522" y="38"/>
                    </a:lnTo>
                    <a:lnTo>
                      <a:pt x="505" y="38"/>
                    </a:lnTo>
                    <a:lnTo>
                      <a:pt x="465" y="39"/>
                    </a:lnTo>
                    <a:lnTo>
                      <a:pt x="425" y="46"/>
                    </a:lnTo>
                    <a:lnTo>
                      <a:pt x="386" y="57"/>
                    </a:lnTo>
                    <a:lnTo>
                      <a:pt x="351" y="70"/>
                    </a:lnTo>
                    <a:lnTo>
                      <a:pt x="289" y="67"/>
                    </a:lnTo>
                    <a:lnTo>
                      <a:pt x="227" y="64"/>
                    </a:lnTo>
                    <a:lnTo>
                      <a:pt x="279" y="43"/>
                    </a:lnTo>
                    <a:lnTo>
                      <a:pt x="329" y="27"/>
                    </a:lnTo>
                    <a:lnTo>
                      <a:pt x="384" y="15"/>
                    </a:lnTo>
                    <a:lnTo>
                      <a:pt x="413" y="10"/>
                    </a:lnTo>
                    <a:lnTo>
                      <a:pt x="444" y="7"/>
                    </a:lnTo>
                    <a:lnTo>
                      <a:pt x="510" y="1"/>
                    </a:lnTo>
                    <a:lnTo>
                      <a:pt x="574" y="0"/>
                    </a:lnTo>
                    <a:lnTo>
                      <a:pt x="599" y="0"/>
                    </a:lnTo>
                    <a:lnTo>
                      <a:pt x="624" y="1"/>
                    </a:lnTo>
                    <a:lnTo>
                      <a:pt x="644" y="3"/>
                    </a:lnTo>
                    <a:lnTo>
                      <a:pt x="663" y="5"/>
                    </a:lnTo>
                    <a:lnTo>
                      <a:pt x="679" y="8"/>
                    </a:lnTo>
                    <a:lnTo>
                      <a:pt x="692" y="12"/>
                    </a:lnTo>
                    <a:lnTo>
                      <a:pt x="703" y="17"/>
                    </a:lnTo>
                    <a:lnTo>
                      <a:pt x="711" y="22"/>
                    </a:lnTo>
                    <a:lnTo>
                      <a:pt x="717" y="27"/>
                    </a:lnTo>
                    <a:lnTo>
                      <a:pt x="720" y="31"/>
                    </a:lnTo>
                    <a:lnTo>
                      <a:pt x="722" y="36"/>
                    </a:lnTo>
                    <a:lnTo>
                      <a:pt x="722" y="41"/>
                    </a:lnTo>
                    <a:lnTo>
                      <a:pt x="718" y="46"/>
                    </a:lnTo>
                    <a:lnTo>
                      <a:pt x="713" y="51"/>
                    </a:lnTo>
                    <a:lnTo>
                      <a:pt x="708" y="57"/>
                    </a:lnTo>
                    <a:lnTo>
                      <a:pt x="699" y="62"/>
                    </a:lnTo>
                    <a:lnTo>
                      <a:pt x="684" y="70"/>
                    </a:lnTo>
                    <a:lnTo>
                      <a:pt x="667" y="77"/>
                    </a:lnTo>
                    <a:lnTo>
                      <a:pt x="646" y="84"/>
                    </a:lnTo>
                    <a:lnTo>
                      <a:pt x="624" y="91"/>
                    </a:lnTo>
                    <a:lnTo>
                      <a:pt x="596" y="96"/>
                    </a:lnTo>
                    <a:lnTo>
                      <a:pt x="568" y="103"/>
                    </a:lnTo>
                    <a:lnTo>
                      <a:pt x="536" y="108"/>
                    </a:lnTo>
                    <a:lnTo>
                      <a:pt x="501" y="113"/>
                    </a:lnTo>
                    <a:lnTo>
                      <a:pt x="529" y="115"/>
                    </a:lnTo>
                    <a:lnTo>
                      <a:pt x="549" y="120"/>
                    </a:lnTo>
                    <a:lnTo>
                      <a:pt x="565" y="126"/>
                    </a:lnTo>
                    <a:lnTo>
                      <a:pt x="575" y="132"/>
                    </a:lnTo>
                    <a:lnTo>
                      <a:pt x="579" y="141"/>
                    </a:lnTo>
                    <a:lnTo>
                      <a:pt x="575" y="151"/>
                    </a:lnTo>
                    <a:lnTo>
                      <a:pt x="567" y="160"/>
                    </a:lnTo>
                    <a:lnTo>
                      <a:pt x="551" y="170"/>
                    </a:lnTo>
                    <a:lnTo>
                      <a:pt x="537" y="179"/>
                    </a:lnTo>
                    <a:lnTo>
                      <a:pt x="520" y="186"/>
                    </a:lnTo>
                    <a:lnTo>
                      <a:pt x="503" y="193"/>
                    </a:lnTo>
                    <a:lnTo>
                      <a:pt x="482" y="201"/>
                    </a:lnTo>
                    <a:lnTo>
                      <a:pt x="462" y="207"/>
                    </a:lnTo>
                    <a:lnTo>
                      <a:pt x="437" y="213"/>
                    </a:lnTo>
                    <a:lnTo>
                      <a:pt x="413" y="220"/>
                    </a:lnTo>
                    <a:lnTo>
                      <a:pt x="386" y="225"/>
                    </a:lnTo>
                    <a:lnTo>
                      <a:pt x="329" y="236"/>
                    </a:lnTo>
                    <a:lnTo>
                      <a:pt x="274" y="243"/>
                    </a:lnTo>
                    <a:lnTo>
                      <a:pt x="217" y="246"/>
                    </a:lnTo>
                    <a:lnTo>
                      <a:pt x="162" y="248"/>
                    </a:lnTo>
                    <a:lnTo>
                      <a:pt x="136" y="248"/>
                    </a:lnTo>
                    <a:lnTo>
                      <a:pt x="113" y="246"/>
                    </a:lnTo>
                    <a:lnTo>
                      <a:pt x="91" y="244"/>
                    </a:lnTo>
                    <a:lnTo>
                      <a:pt x="72" y="243"/>
                    </a:lnTo>
                    <a:lnTo>
                      <a:pt x="57" y="241"/>
                    </a:lnTo>
                    <a:lnTo>
                      <a:pt x="41" y="238"/>
                    </a:lnTo>
                    <a:lnTo>
                      <a:pt x="29" y="234"/>
                    </a:lnTo>
                    <a:lnTo>
                      <a:pt x="19" y="229"/>
                    </a:lnTo>
                    <a:lnTo>
                      <a:pt x="10" y="224"/>
                    </a:lnTo>
                    <a:lnTo>
                      <a:pt x="5" y="219"/>
                    </a:lnTo>
                    <a:lnTo>
                      <a:pt x="1" y="213"/>
                    </a:lnTo>
                    <a:lnTo>
                      <a:pt x="0" y="207"/>
                    </a:lnTo>
                    <a:lnTo>
                      <a:pt x="1" y="200"/>
                    </a:lnTo>
                    <a:lnTo>
                      <a:pt x="5" y="194"/>
                    </a:lnTo>
                    <a:lnTo>
                      <a:pt x="12" y="186"/>
                    </a:lnTo>
                    <a:lnTo>
                      <a:pt x="20" y="179"/>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66" name="Freeform 786"/>
              <p:cNvSpPr>
                <a:spLocks noEditPoints="1"/>
              </p:cNvSpPr>
              <p:nvPr/>
            </p:nvSpPr>
            <p:spPr bwMode="auto">
              <a:xfrm>
                <a:off x="2092" y="3006"/>
                <a:ext cx="359" cy="124"/>
              </a:xfrm>
              <a:custGeom>
                <a:avLst/>
                <a:gdLst>
                  <a:gd name="T0" fmla="*/ 95 w 719"/>
                  <a:gd name="T1" fmla="*/ 186 h 248"/>
                  <a:gd name="T2" fmla="*/ 164 w 719"/>
                  <a:gd name="T3" fmla="*/ 189 h 248"/>
                  <a:gd name="T4" fmla="*/ 160 w 719"/>
                  <a:gd name="T5" fmla="*/ 200 h 248"/>
                  <a:gd name="T6" fmla="*/ 171 w 719"/>
                  <a:gd name="T7" fmla="*/ 207 h 248"/>
                  <a:gd name="T8" fmla="*/ 195 w 719"/>
                  <a:gd name="T9" fmla="*/ 210 h 248"/>
                  <a:gd name="T10" fmla="*/ 236 w 719"/>
                  <a:gd name="T11" fmla="*/ 208 h 248"/>
                  <a:gd name="T12" fmla="*/ 312 w 719"/>
                  <a:gd name="T13" fmla="*/ 196 h 248"/>
                  <a:gd name="T14" fmla="*/ 372 w 719"/>
                  <a:gd name="T15" fmla="*/ 176 h 248"/>
                  <a:gd name="T16" fmla="*/ 446 w 719"/>
                  <a:gd name="T17" fmla="*/ 141 h 248"/>
                  <a:gd name="T18" fmla="*/ 357 w 719"/>
                  <a:gd name="T19" fmla="*/ 157 h 248"/>
                  <a:gd name="T20" fmla="*/ 271 w 719"/>
                  <a:gd name="T21" fmla="*/ 162 h 248"/>
                  <a:gd name="T22" fmla="*/ 229 w 719"/>
                  <a:gd name="T23" fmla="*/ 160 h 248"/>
                  <a:gd name="T24" fmla="*/ 195 w 719"/>
                  <a:gd name="T25" fmla="*/ 157 h 248"/>
                  <a:gd name="T26" fmla="*/ 169 w 719"/>
                  <a:gd name="T27" fmla="*/ 150 h 248"/>
                  <a:gd name="T28" fmla="*/ 150 w 719"/>
                  <a:gd name="T29" fmla="*/ 139 h 248"/>
                  <a:gd name="T30" fmla="*/ 141 w 719"/>
                  <a:gd name="T31" fmla="*/ 127 h 248"/>
                  <a:gd name="T32" fmla="*/ 143 w 719"/>
                  <a:gd name="T33" fmla="*/ 113 h 248"/>
                  <a:gd name="T34" fmla="*/ 157 w 719"/>
                  <a:gd name="T35" fmla="*/ 98 h 248"/>
                  <a:gd name="T36" fmla="*/ 181 w 719"/>
                  <a:gd name="T37" fmla="*/ 82 h 248"/>
                  <a:gd name="T38" fmla="*/ 255 w 719"/>
                  <a:gd name="T39" fmla="*/ 48 h 248"/>
                  <a:gd name="T40" fmla="*/ 352 w 719"/>
                  <a:gd name="T41" fmla="*/ 22 h 248"/>
                  <a:gd name="T42" fmla="*/ 458 w 719"/>
                  <a:gd name="T43" fmla="*/ 5 h 248"/>
                  <a:gd name="T44" fmla="*/ 567 w 719"/>
                  <a:gd name="T45" fmla="*/ 0 h 248"/>
                  <a:gd name="T46" fmla="*/ 620 w 719"/>
                  <a:gd name="T47" fmla="*/ 1 h 248"/>
                  <a:gd name="T48" fmla="*/ 664 w 719"/>
                  <a:gd name="T49" fmla="*/ 7 h 248"/>
                  <a:gd name="T50" fmla="*/ 695 w 719"/>
                  <a:gd name="T51" fmla="*/ 15 h 248"/>
                  <a:gd name="T52" fmla="*/ 714 w 719"/>
                  <a:gd name="T53" fmla="*/ 29 h 248"/>
                  <a:gd name="T54" fmla="*/ 719 w 719"/>
                  <a:gd name="T55" fmla="*/ 46 h 248"/>
                  <a:gd name="T56" fmla="*/ 707 w 719"/>
                  <a:gd name="T57" fmla="*/ 67 h 248"/>
                  <a:gd name="T58" fmla="*/ 677 w 719"/>
                  <a:gd name="T59" fmla="*/ 93 h 248"/>
                  <a:gd name="T60" fmla="*/ 631 w 719"/>
                  <a:gd name="T61" fmla="*/ 122 h 248"/>
                  <a:gd name="T62" fmla="*/ 515 w 719"/>
                  <a:gd name="T63" fmla="*/ 179 h 248"/>
                  <a:gd name="T64" fmla="*/ 391 w 719"/>
                  <a:gd name="T65" fmla="*/ 219 h 248"/>
                  <a:gd name="T66" fmla="*/ 264 w 719"/>
                  <a:gd name="T67" fmla="*/ 241 h 248"/>
                  <a:gd name="T68" fmla="*/ 136 w 719"/>
                  <a:gd name="T69" fmla="*/ 248 h 248"/>
                  <a:gd name="T70" fmla="*/ 93 w 719"/>
                  <a:gd name="T71" fmla="*/ 246 h 248"/>
                  <a:gd name="T72" fmla="*/ 60 w 719"/>
                  <a:gd name="T73" fmla="*/ 244 h 248"/>
                  <a:gd name="T74" fmla="*/ 33 w 719"/>
                  <a:gd name="T75" fmla="*/ 239 h 248"/>
                  <a:gd name="T76" fmla="*/ 14 w 719"/>
                  <a:gd name="T77" fmla="*/ 232 h 248"/>
                  <a:gd name="T78" fmla="*/ 2 w 719"/>
                  <a:gd name="T79" fmla="*/ 224 h 248"/>
                  <a:gd name="T80" fmla="*/ 0 w 719"/>
                  <a:gd name="T81" fmla="*/ 213 h 248"/>
                  <a:gd name="T82" fmla="*/ 5 w 719"/>
                  <a:gd name="T83" fmla="*/ 201 h 248"/>
                  <a:gd name="T84" fmla="*/ 17 w 719"/>
                  <a:gd name="T85" fmla="*/ 188 h 248"/>
                  <a:gd name="T86" fmla="*/ 526 w 719"/>
                  <a:gd name="T87" fmla="*/ 86 h 248"/>
                  <a:gd name="T88" fmla="*/ 541 w 719"/>
                  <a:gd name="T89" fmla="*/ 76 h 248"/>
                  <a:gd name="T90" fmla="*/ 553 w 719"/>
                  <a:gd name="T91" fmla="*/ 58 h 248"/>
                  <a:gd name="T92" fmla="*/ 543 w 719"/>
                  <a:gd name="T93" fmla="*/ 46 h 248"/>
                  <a:gd name="T94" fmla="*/ 515 w 719"/>
                  <a:gd name="T95" fmla="*/ 39 h 248"/>
                  <a:gd name="T96" fmla="*/ 453 w 719"/>
                  <a:gd name="T97" fmla="*/ 41 h 248"/>
                  <a:gd name="T98" fmla="*/ 388 w 719"/>
                  <a:gd name="T99" fmla="*/ 55 h 248"/>
                  <a:gd name="T100" fmla="*/ 326 w 719"/>
                  <a:gd name="T101" fmla="*/ 82 h 248"/>
                  <a:gd name="T102" fmla="*/ 300 w 719"/>
                  <a:gd name="T103" fmla="*/ 103 h 248"/>
                  <a:gd name="T104" fmla="*/ 298 w 719"/>
                  <a:gd name="T105" fmla="*/ 117 h 248"/>
                  <a:gd name="T106" fmla="*/ 317 w 719"/>
                  <a:gd name="T107" fmla="*/ 126 h 248"/>
                  <a:gd name="T108" fmla="*/ 353 w 719"/>
                  <a:gd name="T109" fmla="*/ 127 h 248"/>
                  <a:gd name="T110" fmla="*/ 445 w 719"/>
                  <a:gd name="T111" fmla="*/ 117 h 248"/>
                  <a:gd name="T112" fmla="*/ 508 w 719"/>
                  <a:gd name="T113" fmla="*/ 96 h 248"/>
                  <a:gd name="T114" fmla="*/ 526 w 719"/>
                  <a:gd name="T115" fmla="*/ 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19" h="248">
                    <a:moveTo>
                      <a:pt x="17" y="188"/>
                    </a:moveTo>
                    <a:lnTo>
                      <a:pt x="95" y="186"/>
                    </a:lnTo>
                    <a:lnTo>
                      <a:pt x="171" y="182"/>
                    </a:lnTo>
                    <a:lnTo>
                      <a:pt x="164" y="189"/>
                    </a:lnTo>
                    <a:lnTo>
                      <a:pt x="160" y="194"/>
                    </a:lnTo>
                    <a:lnTo>
                      <a:pt x="160" y="200"/>
                    </a:lnTo>
                    <a:lnTo>
                      <a:pt x="164" y="203"/>
                    </a:lnTo>
                    <a:lnTo>
                      <a:pt x="171" y="207"/>
                    </a:lnTo>
                    <a:lnTo>
                      <a:pt x="181" y="208"/>
                    </a:lnTo>
                    <a:lnTo>
                      <a:pt x="195" y="210"/>
                    </a:lnTo>
                    <a:lnTo>
                      <a:pt x="212" y="210"/>
                    </a:lnTo>
                    <a:lnTo>
                      <a:pt x="236" y="208"/>
                    </a:lnTo>
                    <a:lnTo>
                      <a:pt x="260" y="207"/>
                    </a:lnTo>
                    <a:lnTo>
                      <a:pt x="312" y="196"/>
                    </a:lnTo>
                    <a:lnTo>
                      <a:pt x="341" y="188"/>
                    </a:lnTo>
                    <a:lnTo>
                      <a:pt x="372" y="176"/>
                    </a:lnTo>
                    <a:lnTo>
                      <a:pt x="409" y="160"/>
                    </a:lnTo>
                    <a:lnTo>
                      <a:pt x="446" y="141"/>
                    </a:lnTo>
                    <a:lnTo>
                      <a:pt x="402" y="150"/>
                    </a:lnTo>
                    <a:lnTo>
                      <a:pt x="357" y="157"/>
                    </a:lnTo>
                    <a:lnTo>
                      <a:pt x="314" y="160"/>
                    </a:lnTo>
                    <a:lnTo>
                      <a:pt x="271" y="162"/>
                    </a:lnTo>
                    <a:lnTo>
                      <a:pt x="248" y="162"/>
                    </a:lnTo>
                    <a:lnTo>
                      <a:pt x="229" y="160"/>
                    </a:lnTo>
                    <a:lnTo>
                      <a:pt x="210" y="158"/>
                    </a:lnTo>
                    <a:lnTo>
                      <a:pt x="195" y="157"/>
                    </a:lnTo>
                    <a:lnTo>
                      <a:pt x="181" y="153"/>
                    </a:lnTo>
                    <a:lnTo>
                      <a:pt x="169" y="150"/>
                    </a:lnTo>
                    <a:lnTo>
                      <a:pt x="159" y="145"/>
                    </a:lnTo>
                    <a:lnTo>
                      <a:pt x="150" y="139"/>
                    </a:lnTo>
                    <a:lnTo>
                      <a:pt x="145" y="134"/>
                    </a:lnTo>
                    <a:lnTo>
                      <a:pt x="141" y="127"/>
                    </a:lnTo>
                    <a:lnTo>
                      <a:pt x="141" y="120"/>
                    </a:lnTo>
                    <a:lnTo>
                      <a:pt x="143" y="113"/>
                    </a:lnTo>
                    <a:lnTo>
                      <a:pt x="148" y="107"/>
                    </a:lnTo>
                    <a:lnTo>
                      <a:pt x="157" y="98"/>
                    </a:lnTo>
                    <a:lnTo>
                      <a:pt x="167" y="91"/>
                    </a:lnTo>
                    <a:lnTo>
                      <a:pt x="181" y="82"/>
                    </a:lnTo>
                    <a:lnTo>
                      <a:pt x="216" y="65"/>
                    </a:lnTo>
                    <a:lnTo>
                      <a:pt x="255" y="48"/>
                    </a:lnTo>
                    <a:lnTo>
                      <a:pt x="300" y="34"/>
                    </a:lnTo>
                    <a:lnTo>
                      <a:pt x="352" y="22"/>
                    </a:lnTo>
                    <a:lnTo>
                      <a:pt x="405" y="12"/>
                    </a:lnTo>
                    <a:lnTo>
                      <a:pt x="458" y="5"/>
                    </a:lnTo>
                    <a:lnTo>
                      <a:pt x="514" y="1"/>
                    </a:lnTo>
                    <a:lnTo>
                      <a:pt x="567" y="0"/>
                    </a:lnTo>
                    <a:lnTo>
                      <a:pt x="595" y="0"/>
                    </a:lnTo>
                    <a:lnTo>
                      <a:pt x="620" y="1"/>
                    </a:lnTo>
                    <a:lnTo>
                      <a:pt x="645" y="3"/>
                    </a:lnTo>
                    <a:lnTo>
                      <a:pt x="664" y="7"/>
                    </a:lnTo>
                    <a:lnTo>
                      <a:pt x="681" y="10"/>
                    </a:lnTo>
                    <a:lnTo>
                      <a:pt x="695" y="15"/>
                    </a:lnTo>
                    <a:lnTo>
                      <a:pt x="705" y="22"/>
                    </a:lnTo>
                    <a:lnTo>
                      <a:pt x="714" y="29"/>
                    </a:lnTo>
                    <a:lnTo>
                      <a:pt x="719" y="36"/>
                    </a:lnTo>
                    <a:lnTo>
                      <a:pt x="719" y="46"/>
                    </a:lnTo>
                    <a:lnTo>
                      <a:pt x="715" y="55"/>
                    </a:lnTo>
                    <a:lnTo>
                      <a:pt x="707" y="67"/>
                    </a:lnTo>
                    <a:lnTo>
                      <a:pt x="695" y="79"/>
                    </a:lnTo>
                    <a:lnTo>
                      <a:pt x="677" y="93"/>
                    </a:lnTo>
                    <a:lnTo>
                      <a:pt x="657" y="107"/>
                    </a:lnTo>
                    <a:lnTo>
                      <a:pt x="631" y="122"/>
                    </a:lnTo>
                    <a:lnTo>
                      <a:pt x="574" y="153"/>
                    </a:lnTo>
                    <a:lnTo>
                      <a:pt x="515" y="179"/>
                    </a:lnTo>
                    <a:lnTo>
                      <a:pt x="453" y="201"/>
                    </a:lnTo>
                    <a:lnTo>
                      <a:pt x="391" y="219"/>
                    </a:lnTo>
                    <a:lnTo>
                      <a:pt x="328" y="231"/>
                    </a:lnTo>
                    <a:lnTo>
                      <a:pt x="264" y="241"/>
                    </a:lnTo>
                    <a:lnTo>
                      <a:pt x="200" y="246"/>
                    </a:lnTo>
                    <a:lnTo>
                      <a:pt x="136" y="248"/>
                    </a:lnTo>
                    <a:lnTo>
                      <a:pt x="114" y="248"/>
                    </a:lnTo>
                    <a:lnTo>
                      <a:pt x="93" y="246"/>
                    </a:lnTo>
                    <a:lnTo>
                      <a:pt x="76" y="246"/>
                    </a:lnTo>
                    <a:lnTo>
                      <a:pt x="60" y="244"/>
                    </a:lnTo>
                    <a:lnTo>
                      <a:pt x="45" y="243"/>
                    </a:lnTo>
                    <a:lnTo>
                      <a:pt x="33" y="239"/>
                    </a:lnTo>
                    <a:lnTo>
                      <a:pt x="23" y="236"/>
                    </a:lnTo>
                    <a:lnTo>
                      <a:pt x="14" y="232"/>
                    </a:lnTo>
                    <a:lnTo>
                      <a:pt x="7" y="229"/>
                    </a:lnTo>
                    <a:lnTo>
                      <a:pt x="2" y="224"/>
                    </a:lnTo>
                    <a:lnTo>
                      <a:pt x="0" y="219"/>
                    </a:lnTo>
                    <a:lnTo>
                      <a:pt x="0" y="213"/>
                    </a:lnTo>
                    <a:lnTo>
                      <a:pt x="2" y="208"/>
                    </a:lnTo>
                    <a:lnTo>
                      <a:pt x="5" y="201"/>
                    </a:lnTo>
                    <a:lnTo>
                      <a:pt x="10" y="194"/>
                    </a:lnTo>
                    <a:lnTo>
                      <a:pt x="17" y="188"/>
                    </a:lnTo>
                    <a:lnTo>
                      <a:pt x="17" y="188"/>
                    </a:lnTo>
                    <a:close/>
                    <a:moveTo>
                      <a:pt x="526" y="86"/>
                    </a:moveTo>
                    <a:lnTo>
                      <a:pt x="534" y="81"/>
                    </a:lnTo>
                    <a:lnTo>
                      <a:pt x="541" y="76"/>
                    </a:lnTo>
                    <a:lnTo>
                      <a:pt x="552" y="67"/>
                    </a:lnTo>
                    <a:lnTo>
                      <a:pt x="553" y="58"/>
                    </a:lnTo>
                    <a:lnTo>
                      <a:pt x="552" y="51"/>
                    </a:lnTo>
                    <a:lnTo>
                      <a:pt x="543" y="46"/>
                    </a:lnTo>
                    <a:lnTo>
                      <a:pt x="531" y="41"/>
                    </a:lnTo>
                    <a:lnTo>
                      <a:pt x="515" y="39"/>
                    </a:lnTo>
                    <a:lnTo>
                      <a:pt x="496" y="38"/>
                    </a:lnTo>
                    <a:lnTo>
                      <a:pt x="453" y="41"/>
                    </a:lnTo>
                    <a:lnTo>
                      <a:pt x="410" y="48"/>
                    </a:lnTo>
                    <a:lnTo>
                      <a:pt x="388" y="55"/>
                    </a:lnTo>
                    <a:lnTo>
                      <a:pt x="367" y="62"/>
                    </a:lnTo>
                    <a:lnTo>
                      <a:pt x="326" y="82"/>
                    </a:lnTo>
                    <a:lnTo>
                      <a:pt x="310" y="93"/>
                    </a:lnTo>
                    <a:lnTo>
                      <a:pt x="300" y="103"/>
                    </a:lnTo>
                    <a:lnTo>
                      <a:pt x="297" y="110"/>
                    </a:lnTo>
                    <a:lnTo>
                      <a:pt x="298" y="117"/>
                    </a:lnTo>
                    <a:lnTo>
                      <a:pt x="305" y="122"/>
                    </a:lnTo>
                    <a:lnTo>
                      <a:pt x="317" y="126"/>
                    </a:lnTo>
                    <a:lnTo>
                      <a:pt x="333" y="127"/>
                    </a:lnTo>
                    <a:lnTo>
                      <a:pt x="353" y="127"/>
                    </a:lnTo>
                    <a:lnTo>
                      <a:pt x="398" y="126"/>
                    </a:lnTo>
                    <a:lnTo>
                      <a:pt x="445" y="117"/>
                    </a:lnTo>
                    <a:lnTo>
                      <a:pt x="488" y="105"/>
                    </a:lnTo>
                    <a:lnTo>
                      <a:pt x="508" y="96"/>
                    </a:lnTo>
                    <a:lnTo>
                      <a:pt x="526" y="86"/>
                    </a:lnTo>
                    <a:lnTo>
                      <a:pt x="526" y="86"/>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49267" name="Group 787"/>
            <p:cNvGrpSpPr>
              <a:grpSpLocks/>
            </p:cNvGrpSpPr>
            <p:nvPr/>
          </p:nvGrpSpPr>
          <p:grpSpPr bwMode="auto">
            <a:xfrm>
              <a:off x="3376" y="3196"/>
              <a:ext cx="989" cy="138"/>
              <a:chOff x="3393" y="3213"/>
              <a:chExt cx="989" cy="138"/>
            </a:xfrm>
          </p:grpSpPr>
          <p:sp>
            <p:nvSpPr>
              <p:cNvPr id="149268" name="Freeform 788"/>
              <p:cNvSpPr>
                <a:spLocks/>
              </p:cNvSpPr>
              <p:nvPr/>
            </p:nvSpPr>
            <p:spPr bwMode="auto">
              <a:xfrm>
                <a:off x="4010" y="3227"/>
                <a:ext cx="372" cy="124"/>
              </a:xfrm>
              <a:custGeom>
                <a:avLst/>
                <a:gdLst>
                  <a:gd name="T0" fmla="*/ 463 w 742"/>
                  <a:gd name="T1" fmla="*/ 177 h 248"/>
                  <a:gd name="T2" fmla="*/ 358 w 742"/>
                  <a:gd name="T3" fmla="*/ 189 h 248"/>
                  <a:gd name="T4" fmla="*/ 313 w 742"/>
                  <a:gd name="T5" fmla="*/ 200 h 248"/>
                  <a:gd name="T6" fmla="*/ 269 w 742"/>
                  <a:gd name="T7" fmla="*/ 207 h 248"/>
                  <a:gd name="T8" fmla="*/ 205 w 742"/>
                  <a:gd name="T9" fmla="*/ 208 h 248"/>
                  <a:gd name="T10" fmla="*/ 176 w 742"/>
                  <a:gd name="T11" fmla="*/ 203 h 248"/>
                  <a:gd name="T12" fmla="*/ 165 w 742"/>
                  <a:gd name="T13" fmla="*/ 193 h 248"/>
                  <a:gd name="T14" fmla="*/ 176 w 742"/>
                  <a:gd name="T15" fmla="*/ 177 h 248"/>
                  <a:gd name="T16" fmla="*/ 207 w 742"/>
                  <a:gd name="T17" fmla="*/ 160 h 248"/>
                  <a:gd name="T18" fmla="*/ 246 w 742"/>
                  <a:gd name="T19" fmla="*/ 146 h 248"/>
                  <a:gd name="T20" fmla="*/ 315 w 742"/>
                  <a:gd name="T21" fmla="*/ 134 h 248"/>
                  <a:gd name="T22" fmla="*/ 387 w 742"/>
                  <a:gd name="T23" fmla="*/ 133 h 248"/>
                  <a:gd name="T24" fmla="*/ 446 w 742"/>
                  <a:gd name="T25" fmla="*/ 115 h 248"/>
                  <a:gd name="T26" fmla="*/ 443 w 742"/>
                  <a:gd name="T27" fmla="*/ 96 h 248"/>
                  <a:gd name="T28" fmla="*/ 405 w 742"/>
                  <a:gd name="T29" fmla="*/ 93 h 248"/>
                  <a:gd name="T30" fmla="*/ 389 w 742"/>
                  <a:gd name="T31" fmla="*/ 83 h 248"/>
                  <a:gd name="T32" fmla="*/ 394 w 742"/>
                  <a:gd name="T33" fmla="*/ 72 h 248"/>
                  <a:gd name="T34" fmla="*/ 417 w 742"/>
                  <a:gd name="T35" fmla="*/ 58 h 248"/>
                  <a:gd name="T36" fmla="*/ 444 w 742"/>
                  <a:gd name="T37" fmla="*/ 48 h 248"/>
                  <a:gd name="T38" fmla="*/ 498 w 742"/>
                  <a:gd name="T39" fmla="*/ 40 h 248"/>
                  <a:gd name="T40" fmla="*/ 553 w 742"/>
                  <a:gd name="T41" fmla="*/ 38 h 248"/>
                  <a:gd name="T42" fmla="*/ 577 w 742"/>
                  <a:gd name="T43" fmla="*/ 43 h 248"/>
                  <a:gd name="T44" fmla="*/ 589 w 742"/>
                  <a:gd name="T45" fmla="*/ 52 h 248"/>
                  <a:gd name="T46" fmla="*/ 584 w 742"/>
                  <a:gd name="T47" fmla="*/ 64 h 248"/>
                  <a:gd name="T48" fmla="*/ 649 w 742"/>
                  <a:gd name="T49" fmla="*/ 67 h 248"/>
                  <a:gd name="T50" fmla="*/ 734 w 742"/>
                  <a:gd name="T51" fmla="*/ 53 h 248"/>
                  <a:gd name="T52" fmla="*/ 742 w 742"/>
                  <a:gd name="T53" fmla="*/ 34 h 248"/>
                  <a:gd name="T54" fmla="*/ 737 w 742"/>
                  <a:gd name="T55" fmla="*/ 21 h 248"/>
                  <a:gd name="T56" fmla="*/ 717 w 742"/>
                  <a:gd name="T57" fmla="*/ 10 h 248"/>
                  <a:gd name="T58" fmla="*/ 679 w 742"/>
                  <a:gd name="T59" fmla="*/ 3 h 248"/>
                  <a:gd name="T60" fmla="*/ 629 w 742"/>
                  <a:gd name="T61" fmla="*/ 0 h 248"/>
                  <a:gd name="T62" fmla="*/ 546 w 742"/>
                  <a:gd name="T63" fmla="*/ 2 h 248"/>
                  <a:gd name="T64" fmla="*/ 439 w 742"/>
                  <a:gd name="T65" fmla="*/ 12 h 248"/>
                  <a:gd name="T66" fmla="*/ 348 w 742"/>
                  <a:gd name="T67" fmla="*/ 31 h 248"/>
                  <a:gd name="T68" fmla="*/ 286 w 742"/>
                  <a:gd name="T69" fmla="*/ 52 h 248"/>
                  <a:gd name="T70" fmla="*/ 250 w 742"/>
                  <a:gd name="T71" fmla="*/ 71 h 248"/>
                  <a:gd name="T72" fmla="*/ 238 w 742"/>
                  <a:gd name="T73" fmla="*/ 84 h 248"/>
                  <a:gd name="T74" fmla="*/ 243 w 742"/>
                  <a:gd name="T75" fmla="*/ 96 h 248"/>
                  <a:gd name="T76" fmla="*/ 265 w 742"/>
                  <a:gd name="T77" fmla="*/ 108 h 248"/>
                  <a:gd name="T78" fmla="*/ 246 w 742"/>
                  <a:gd name="T79" fmla="*/ 115 h 248"/>
                  <a:gd name="T80" fmla="*/ 141 w 742"/>
                  <a:gd name="T81" fmla="*/ 133 h 248"/>
                  <a:gd name="T82" fmla="*/ 81 w 742"/>
                  <a:gd name="T83" fmla="*/ 150 h 248"/>
                  <a:gd name="T84" fmla="*/ 36 w 742"/>
                  <a:gd name="T85" fmla="*/ 170 h 248"/>
                  <a:gd name="T86" fmla="*/ 14 w 742"/>
                  <a:gd name="T87" fmla="*/ 186 h 248"/>
                  <a:gd name="T88" fmla="*/ 1 w 742"/>
                  <a:gd name="T89" fmla="*/ 201 h 248"/>
                  <a:gd name="T90" fmla="*/ 1 w 742"/>
                  <a:gd name="T91" fmla="*/ 214 h 248"/>
                  <a:gd name="T92" fmla="*/ 12 w 742"/>
                  <a:gd name="T93" fmla="*/ 226 h 248"/>
                  <a:gd name="T94" fmla="*/ 34 w 742"/>
                  <a:gd name="T95" fmla="*/ 236 h 248"/>
                  <a:gd name="T96" fmla="*/ 65 w 742"/>
                  <a:gd name="T97" fmla="*/ 243 h 248"/>
                  <a:gd name="T98" fmla="*/ 105 w 742"/>
                  <a:gd name="T99" fmla="*/ 246 h 248"/>
                  <a:gd name="T100" fmla="*/ 155 w 742"/>
                  <a:gd name="T101" fmla="*/ 248 h 248"/>
                  <a:gd name="T102" fmla="*/ 260 w 742"/>
                  <a:gd name="T103" fmla="*/ 243 h 248"/>
                  <a:gd name="T104" fmla="*/ 362 w 742"/>
                  <a:gd name="T105" fmla="*/ 229 h 248"/>
                  <a:gd name="T106" fmla="*/ 455 w 742"/>
                  <a:gd name="T107" fmla="*/ 207 h 248"/>
                  <a:gd name="T108" fmla="*/ 529 w 742"/>
                  <a:gd name="T109" fmla="*/ 17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42" h="248">
                    <a:moveTo>
                      <a:pt x="529" y="179"/>
                    </a:moveTo>
                    <a:lnTo>
                      <a:pt x="463" y="177"/>
                    </a:lnTo>
                    <a:lnTo>
                      <a:pt x="396" y="174"/>
                    </a:lnTo>
                    <a:lnTo>
                      <a:pt x="358" y="189"/>
                    </a:lnTo>
                    <a:lnTo>
                      <a:pt x="336" y="195"/>
                    </a:lnTo>
                    <a:lnTo>
                      <a:pt x="313" y="200"/>
                    </a:lnTo>
                    <a:lnTo>
                      <a:pt x="291" y="205"/>
                    </a:lnTo>
                    <a:lnTo>
                      <a:pt x="269" y="207"/>
                    </a:lnTo>
                    <a:lnTo>
                      <a:pt x="225" y="208"/>
                    </a:lnTo>
                    <a:lnTo>
                      <a:pt x="205" y="208"/>
                    </a:lnTo>
                    <a:lnTo>
                      <a:pt x="188" y="207"/>
                    </a:lnTo>
                    <a:lnTo>
                      <a:pt x="176" y="203"/>
                    </a:lnTo>
                    <a:lnTo>
                      <a:pt x="167" y="198"/>
                    </a:lnTo>
                    <a:lnTo>
                      <a:pt x="165" y="193"/>
                    </a:lnTo>
                    <a:lnTo>
                      <a:pt x="167" y="186"/>
                    </a:lnTo>
                    <a:lnTo>
                      <a:pt x="176" y="177"/>
                    </a:lnTo>
                    <a:lnTo>
                      <a:pt x="189" y="169"/>
                    </a:lnTo>
                    <a:lnTo>
                      <a:pt x="207" y="160"/>
                    </a:lnTo>
                    <a:lnTo>
                      <a:pt x="224" y="153"/>
                    </a:lnTo>
                    <a:lnTo>
                      <a:pt x="246" y="146"/>
                    </a:lnTo>
                    <a:lnTo>
                      <a:pt x="269" y="141"/>
                    </a:lnTo>
                    <a:lnTo>
                      <a:pt x="315" y="134"/>
                    </a:lnTo>
                    <a:lnTo>
                      <a:pt x="358" y="131"/>
                    </a:lnTo>
                    <a:lnTo>
                      <a:pt x="387" y="133"/>
                    </a:lnTo>
                    <a:lnTo>
                      <a:pt x="420" y="134"/>
                    </a:lnTo>
                    <a:lnTo>
                      <a:pt x="446" y="115"/>
                    </a:lnTo>
                    <a:lnTo>
                      <a:pt x="470" y="96"/>
                    </a:lnTo>
                    <a:lnTo>
                      <a:pt x="443" y="96"/>
                    </a:lnTo>
                    <a:lnTo>
                      <a:pt x="422" y="95"/>
                    </a:lnTo>
                    <a:lnTo>
                      <a:pt x="405" y="93"/>
                    </a:lnTo>
                    <a:lnTo>
                      <a:pt x="394" y="88"/>
                    </a:lnTo>
                    <a:lnTo>
                      <a:pt x="389" y="83"/>
                    </a:lnTo>
                    <a:lnTo>
                      <a:pt x="389" y="77"/>
                    </a:lnTo>
                    <a:lnTo>
                      <a:pt x="394" y="72"/>
                    </a:lnTo>
                    <a:lnTo>
                      <a:pt x="405" y="65"/>
                    </a:lnTo>
                    <a:lnTo>
                      <a:pt x="417" y="58"/>
                    </a:lnTo>
                    <a:lnTo>
                      <a:pt x="429" y="53"/>
                    </a:lnTo>
                    <a:lnTo>
                      <a:pt x="444" y="48"/>
                    </a:lnTo>
                    <a:lnTo>
                      <a:pt x="462" y="45"/>
                    </a:lnTo>
                    <a:lnTo>
                      <a:pt x="498" y="40"/>
                    </a:lnTo>
                    <a:lnTo>
                      <a:pt x="536" y="38"/>
                    </a:lnTo>
                    <a:lnTo>
                      <a:pt x="553" y="38"/>
                    </a:lnTo>
                    <a:lnTo>
                      <a:pt x="567" y="40"/>
                    </a:lnTo>
                    <a:lnTo>
                      <a:pt x="577" y="43"/>
                    </a:lnTo>
                    <a:lnTo>
                      <a:pt x="586" y="46"/>
                    </a:lnTo>
                    <a:lnTo>
                      <a:pt x="589" y="52"/>
                    </a:lnTo>
                    <a:lnTo>
                      <a:pt x="589" y="57"/>
                    </a:lnTo>
                    <a:lnTo>
                      <a:pt x="584" y="64"/>
                    </a:lnTo>
                    <a:lnTo>
                      <a:pt x="575" y="71"/>
                    </a:lnTo>
                    <a:lnTo>
                      <a:pt x="649" y="67"/>
                    </a:lnTo>
                    <a:lnTo>
                      <a:pt x="723" y="64"/>
                    </a:lnTo>
                    <a:lnTo>
                      <a:pt x="734" y="53"/>
                    </a:lnTo>
                    <a:lnTo>
                      <a:pt x="741" y="43"/>
                    </a:lnTo>
                    <a:lnTo>
                      <a:pt x="742" y="34"/>
                    </a:lnTo>
                    <a:lnTo>
                      <a:pt x="742" y="27"/>
                    </a:lnTo>
                    <a:lnTo>
                      <a:pt x="737" y="21"/>
                    </a:lnTo>
                    <a:lnTo>
                      <a:pt x="729" y="15"/>
                    </a:lnTo>
                    <a:lnTo>
                      <a:pt x="717" y="10"/>
                    </a:lnTo>
                    <a:lnTo>
                      <a:pt x="699" y="7"/>
                    </a:lnTo>
                    <a:lnTo>
                      <a:pt x="679" y="3"/>
                    </a:lnTo>
                    <a:lnTo>
                      <a:pt x="656" y="2"/>
                    </a:lnTo>
                    <a:lnTo>
                      <a:pt x="629" y="0"/>
                    </a:lnTo>
                    <a:lnTo>
                      <a:pt x="599" y="0"/>
                    </a:lnTo>
                    <a:lnTo>
                      <a:pt x="546" y="2"/>
                    </a:lnTo>
                    <a:lnTo>
                      <a:pt x="493" y="5"/>
                    </a:lnTo>
                    <a:lnTo>
                      <a:pt x="439" y="12"/>
                    </a:lnTo>
                    <a:lnTo>
                      <a:pt x="387" y="22"/>
                    </a:lnTo>
                    <a:lnTo>
                      <a:pt x="348" y="31"/>
                    </a:lnTo>
                    <a:lnTo>
                      <a:pt x="313" y="41"/>
                    </a:lnTo>
                    <a:lnTo>
                      <a:pt x="286" y="52"/>
                    </a:lnTo>
                    <a:lnTo>
                      <a:pt x="262" y="62"/>
                    </a:lnTo>
                    <a:lnTo>
                      <a:pt x="250" y="71"/>
                    </a:lnTo>
                    <a:lnTo>
                      <a:pt x="241" y="77"/>
                    </a:lnTo>
                    <a:lnTo>
                      <a:pt x="238" y="84"/>
                    </a:lnTo>
                    <a:lnTo>
                      <a:pt x="239" y="91"/>
                    </a:lnTo>
                    <a:lnTo>
                      <a:pt x="243" y="96"/>
                    </a:lnTo>
                    <a:lnTo>
                      <a:pt x="251" y="103"/>
                    </a:lnTo>
                    <a:lnTo>
                      <a:pt x="265" y="108"/>
                    </a:lnTo>
                    <a:lnTo>
                      <a:pt x="282" y="114"/>
                    </a:lnTo>
                    <a:lnTo>
                      <a:pt x="246" y="115"/>
                    </a:lnTo>
                    <a:lnTo>
                      <a:pt x="210" y="120"/>
                    </a:lnTo>
                    <a:lnTo>
                      <a:pt x="141" y="133"/>
                    </a:lnTo>
                    <a:lnTo>
                      <a:pt x="110" y="141"/>
                    </a:lnTo>
                    <a:lnTo>
                      <a:pt x="81" y="150"/>
                    </a:lnTo>
                    <a:lnTo>
                      <a:pt x="57" y="160"/>
                    </a:lnTo>
                    <a:lnTo>
                      <a:pt x="36" y="170"/>
                    </a:lnTo>
                    <a:lnTo>
                      <a:pt x="24" y="179"/>
                    </a:lnTo>
                    <a:lnTo>
                      <a:pt x="14" y="186"/>
                    </a:lnTo>
                    <a:lnTo>
                      <a:pt x="7" y="193"/>
                    </a:lnTo>
                    <a:lnTo>
                      <a:pt x="1" y="201"/>
                    </a:lnTo>
                    <a:lnTo>
                      <a:pt x="0" y="207"/>
                    </a:lnTo>
                    <a:lnTo>
                      <a:pt x="1" y="214"/>
                    </a:lnTo>
                    <a:lnTo>
                      <a:pt x="5" y="220"/>
                    </a:lnTo>
                    <a:lnTo>
                      <a:pt x="12" y="226"/>
                    </a:lnTo>
                    <a:lnTo>
                      <a:pt x="22" y="231"/>
                    </a:lnTo>
                    <a:lnTo>
                      <a:pt x="34" y="236"/>
                    </a:lnTo>
                    <a:lnTo>
                      <a:pt x="48" y="239"/>
                    </a:lnTo>
                    <a:lnTo>
                      <a:pt x="65" y="243"/>
                    </a:lnTo>
                    <a:lnTo>
                      <a:pt x="84" y="245"/>
                    </a:lnTo>
                    <a:lnTo>
                      <a:pt x="105" y="246"/>
                    </a:lnTo>
                    <a:lnTo>
                      <a:pt x="129" y="248"/>
                    </a:lnTo>
                    <a:lnTo>
                      <a:pt x="155" y="248"/>
                    </a:lnTo>
                    <a:lnTo>
                      <a:pt x="208" y="246"/>
                    </a:lnTo>
                    <a:lnTo>
                      <a:pt x="260" y="243"/>
                    </a:lnTo>
                    <a:lnTo>
                      <a:pt x="312" y="238"/>
                    </a:lnTo>
                    <a:lnTo>
                      <a:pt x="362" y="229"/>
                    </a:lnTo>
                    <a:lnTo>
                      <a:pt x="410" y="219"/>
                    </a:lnTo>
                    <a:lnTo>
                      <a:pt x="455" y="207"/>
                    </a:lnTo>
                    <a:lnTo>
                      <a:pt x="494" y="195"/>
                    </a:lnTo>
                    <a:lnTo>
                      <a:pt x="529" y="179"/>
                    </a:lnTo>
                    <a:lnTo>
                      <a:pt x="529" y="17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69" name="Freeform 789"/>
              <p:cNvSpPr>
                <a:spLocks noEditPoints="1"/>
              </p:cNvSpPr>
              <p:nvPr/>
            </p:nvSpPr>
            <p:spPr bwMode="auto">
              <a:xfrm>
                <a:off x="3711" y="3227"/>
                <a:ext cx="373" cy="124"/>
              </a:xfrm>
              <a:custGeom>
                <a:avLst/>
                <a:gdLst>
                  <a:gd name="T0" fmla="*/ 584 w 746"/>
                  <a:gd name="T1" fmla="*/ 103 h 248"/>
                  <a:gd name="T2" fmla="*/ 663 w 746"/>
                  <a:gd name="T3" fmla="*/ 84 h 248"/>
                  <a:gd name="T4" fmla="*/ 717 w 746"/>
                  <a:gd name="T5" fmla="*/ 62 h 248"/>
                  <a:gd name="T6" fmla="*/ 741 w 746"/>
                  <a:gd name="T7" fmla="*/ 43 h 248"/>
                  <a:gd name="T8" fmla="*/ 744 w 746"/>
                  <a:gd name="T9" fmla="*/ 27 h 248"/>
                  <a:gd name="T10" fmla="*/ 727 w 746"/>
                  <a:gd name="T11" fmla="*/ 14 h 248"/>
                  <a:gd name="T12" fmla="*/ 687 w 746"/>
                  <a:gd name="T13" fmla="*/ 3 h 248"/>
                  <a:gd name="T14" fmla="*/ 624 w 746"/>
                  <a:gd name="T15" fmla="*/ 0 h 248"/>
                  <a:gd name="T16" fmla="*/ 493 w 746"/>
                  <a:gd name="T17" fmla="*/ 3 h 248"/>
                  <a:gd name="T18" fmla="*/ 353 w 746"/>
                  <a:gd name="T19" fmla="*/ 27 h 248"/>
                  <a:gd name="T20" fmla="*/ 257 w 746"/>
                  <a:gd name="T21" fmla="*/ 62 h 248"/>
                  <a:gd name="T22" fmla="*/ 231 w 746"/>
                  <a:gd name="T23" fmla="*/ 86 h 248"/>
                  <a:gd name="T24" fmla="*/ 244 w 746"/>
                  <a:gd name="T25" fmla="*/ 105 h 248"/>
                  <a:gd name="T26" fmla="*/ 236 w 746"/>
                  <a:gd name="T27" fmla="*/ 117 h 248"/>
                  <a:gd name="T28" fmla="*/ 134 w 746"/>
                  <a:gd name="T29" fmla="*/ 136 h 248"/>
                  <a:gd name="T30" fmla="*/ 57 w 746"/>
                  <a:gd name="T31" fmla="*/ 162 h 248"/>
                  <a:gd name="T32" fmla="*/ 14 w 746"/>
                  <a:gd name="T33" fmla="*/ 188 h 248"/>
                  <a:gd name="T34" fmla="*/ 0 w 746"/>
                  <a:gd name="T35" fmla="*/ 208 h 248"/>
                  <a:gd name="T36" fmla="*/ 8 w 746"/>
                  <a:gd name="T37" fmla="*/ 227 h 248"/>
                  <a:gd name="T38" fmla="*/ 43 w 746"/>
                  <a:gd name="T39" fmla="*/ 239 h 248"/>
                  <a:gd name="T40" fmla="*/ 101 w 746"/>
                  <a:gd name="T41" fmla="*/ 246 h 248"/>
                  <a:gd name="T42" fmla="*/ 203 w 746"/>
                  <a:gd name="T43" fmla="*/ 246 h 248"/>
                  <a:gd name="T44" fmla="*/ 356 w 746"/>
                  <a:gd name="T45" fmla="*/ 231 h 248"/>
                  <a:gd name="T46" fmla="*/ 437 w 746"/>
                  <a:gd name="T47" fmla="*/ 214 h 248"/>
                  <a:gd name="T48" fmla="*/ 503 w 746"/>
                  <a:gd name="T49" fmla="*/ 191 h 248"/>
                  <a:gd name="T50" fmla="*/ 553 w 746"/>
                  <a:gd name="T51" fmla="*/ 165 h 248"/>
                  <a:gd name="T52" fmla="*/ 572 w 746"/>
                  <a:gd name="T53" fmla="*/ 138 h 248"/>
                  <a:gd name="T54" fmla="*/ 541 w 746"/>
                  <a:gd name="T55" fmla="*/ 117 h 248"/>
                  <a:gd name="T56" fmla="*/ 572 w 746"/>
                  <a:gd name="T57" fmla="*/ 65 h 248"/>
                  <a:gd name="T58" fmla="*/ 508 w 746"/>
                  <a:gd name="T59" fmla="*/ 88 h 248"/>
                  <a:gd name="T60" fmla="*/ 410 w 746"/>
                  <a:gd name="T61" fmla="*/ 95 h 248"/>
                  <a:gd name="T62" fmla="*/ 375 w 746"/>
                  <a:gd name="T63" fmla="*/ 88 h 248"/>
                  <a:gd name="T64" fmla="*/ 379 w 746"/>
                  <a:gd name="T65" fmla="*/ 72 h 248"/>
                  <a:gd name="T66" fmla="*/ 417 w 746"/>
                  <a:gd name="T67" fmla="*/ 53 h 248"/>
                  <a:gd name="T68" fmla="*/ 491 w 746"/>
                  <a:gd name="T69" fmla="*/ 38 h 248"/>
                  <a:gd name="T70" fmla="*/ 565 w 746"/>
                  <a:gd name="T71" fmla="*/ 38 h 248"/>
                  <a:gd name="T72" fmla="*/ 587 w 746"/>
                  <a:gd name="T73" fmla="*/ 48 h 248"/>
                  <a:gd name="T74" fmla="*/ 572 w 746"/>
                  <a:gd name="T75" fmla="*/ 65 h 248"/>
                  <a:gd name="T76" fmla="*/ 384 w 746"/>
                  <a:gd name="T77" fmla="*/ 179 h 248"/>
                  <a:gd name="T78" fmla="*/ 317 w 746"/>
                  <a:gd name="T79" fmla="*/ 200 h 248"/>
                  <a:gd name="T80" fmla="*/ 200 w 746"/>
                  <a:gd name="T81" fmla="*/ 210 h 248"/>
                  <a:gd name="T82" fmla="*/ 163 w 746"/>
                  <a:gd name="T83" fmla="*/ 200 h 248"/>
                  <a:gd name="T84" fmla="*/ 172 w 746"/>
                  <a:gd name="T85" fmla="*/ 179 h 248"/>
                  <a:gd name="T86" fmla="*/ 220 w 746"/>
                  <a:gd name="T87" fmla="*/ 155 h 248"/>
                  <a:gd name="T88" fmla="*/ 313 w 746"/>
                  <a:gd name="T89" fmla="*/ 136 h 248"/>
                  <a:gd name="T90" fmla="*/ 403 w 746"/>
                  <a:gd name="T91" fmla="*/ 136 h 248"/>
                  <a:gd name="T92" fmla="*/ 420 w 746"/>
                  <a:gd name="T93" fmla="*/ 150 h 248"/>
                  <a:gd name="T94" fmla="*/ 401 w 746"/>
                  <a:gd name="T95" fmla="*/ 17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6" h="248">
                    <a:moveTo>
                      <a:pt x="518" y="112"/>
                    </a:moveTo>
                    <a:lnTo>
                      <a:pt x="553" y="108"/>
                    </a:lnTo>
                    <a:lnTo>
                      <a:pt x="584" y="103"/>
                    </a:lnTo>
                    <a:lnTo>
                      <a:pt x="613" y="98"/>
                    </a:lnTo>
                    <a:lnTo>
                      <a:pt x="639" y="91"/>
                    </a:lnTo>
                    <a:lnTo>
                      <a:pt x="663" y="84"/>
                    </a:lnTo>
                    <a:lnTo>
                      <a:pt x="684" y="77"/>
                    </a:lnTo>
                    <a:lnTo>
                      <a:pt x="701" y="71"/>
                    </a:lnTo>
                    <a:lnTo>
                      <a:pt x="717" y="62"/>
                    </a:lnTo>
                    <a:lnTo>
                      <a:pt x="727" y="55"/>
                    </a:lnTo>
                    <a:lnTo>
                      <a:pt x="736" y="50"/>
                    </a:lnTo>
                    <a:lnTo>
                      <a:pt x="741" y="43"/>
                    </a:lnTo>
                    <a:lnTo>
                      <a:pt x="744" y="38"/>
                    </a:lnTo>
                    <a:lnTo>
                      <a:pt x="746" y="33"/>
                    </a:lnTo>
                    <a:lnTo>
                      <a:pt x="744" y="27"/>
                    </a:lnTo>
                    <a:lnTo>
                      <a:pt x="741" y="22"/>
                    </a:lnTo>
                    <a:lnTo>
                      <a:pt x="736" y="17"/>
                    </a:lnTo>
                    <a:lnTo>
                      <a:pt x="727" y="14"/>
                    </a:lnTo>
                    <a:lnTo>
                      <a:pt x="717" y="10"/>
                    </a:lnTo>
                    <a:lnTo>
                      <a:pt x="703" y="7"/>
                    </a:lnTo>
                    <a:lnTo>
                      <a:pt x="687" y="3"/>
                    </a:lnTo>
                    <a:lnTo>
                      <a:pt x="668" y="2"/>
                    </a:lnTo>
                    <a:lnTo>
                      <a:pt x="648" y="2"/>
                    </a:lnTo>
                    <a:lnTo>
                      <a:pt x="624" y="0"/>
                    </a:lnTo>
                    <a:lnTo>
                      <a:pt x="598" y="0"/>
                    </a:lnTo>
                    <a:lnTo>
                      <a:pt x="544" y="2"/>
                    </a:lnTo>
                    <a:lnTo>
                      <a:pt x="493" y="3"/>
                    </a:lnTo>
                    <a:lnTo>
                      <a:pt x="444" y="10"/>
                    </a:lnTo>
                    <a:lnTo>
                      <a:pt x="396" y="17"/>
                    </a:lnTo>
                    <a:lnTo>
                      <a:pt x="353" y="27"/>
                    </a:lnTo>
                    <a:lnTo>
                      <a:pt x="317" y="38"/>
                    </a:lnTo>
                    <a:lnTo>
                      <a:pt x="284" y="50"/>
                    </a:lnTo>
                    <a:lnTo>
                      <a:pt x="257" y="62"/>
                    </a:lnTo>
                    <a:lnTo>
                      <a:pt x="244" y="71"/>
                    </a:lnTo>
                    <a:lnTo>
                      <a:pt x="236" y="79"/>
                    </a:lnTo>
                    <a:lnTo>
                      <a:pt x="231" y="86"/>
                    </a:lnTo>
                    <a:lnTo>
                      <a:pt x="231" y="93"/>
                    </a:lnTo>
                    <a:lnTo>
                      <a:pt x="236" y="100"/>
                    </a:lnTo>
                    <a:lnTo>
                      <a:pt x="244" y="105"/>
                    </a:lnTo>
                    <a:lnTo>
                      <a:pt x="257" y="108"/>
                    </a:lnTo>
                    <a:lnTo>
                      <a:pt x="274" y="112"/>
                    </a:lnTo>
                    <a:lnTo>
                      <a:pt x="236" y="117"/>
                    </a:lnTo>
                    <a:lnTo>
                      <a:pt x="200" y="122"/>
                    </a:lnTo>
                    <a:lnTo>
                      <a:pt x="167" y="129"/>
                    </a:lnTo>
                    <a:lnTo>
                      <a:pt x="134" y="136"/>
                    </a:lnTo>
                    <a:lnTo>
                      <a:pt x="107" y="145"/>
                    </a:lnTo>
                    <a:lnTo>
                      <a:pt x="81" y="153"/>
                    </a:lnTo>
                    <a:lnTo>
                      <a:pt x="57" y="162"/>
                    </a:lnTo>
                    <a:lnTo>
                      <a:pt x="38" y="172"/>
                    </a:lnTo>
                    <a:lnTo>
                      <a:pt x="24" y="181"/>
                    </a:lnTo>
                    <a:lnTo>
                      <a:pt x="14" y="188"/>
                    </a:lnTo>
                    <a:lnTo>
                      <a:pt x="7" y="195"/>
                    </a:lnTo>
                    <a:lnTo>
                      <a:pt x="2" y="203"/>
                    </a:lnTo>
                    <a:lnTo>
                      <a:pt x="0" y="208"/>
                    </a:lnTo>
                    <a:lnTo>
                      <a:pt x="0" y="215"/>
                    </a:lnTo>
                    <a:lnTo>
                      <a:pt x="3" y="222"/>
                    </a:lnTo>
                    <a:lnTo>
                      <a:pt x="8" y="227"/>
                    </a:lnTo>
                    <a:lnTo>
                      <a:pt x="17" y="232"/>
                    </a:lnTo>
                    <a:lnTo>
                      <a:pt x="29" y="236"/>
                    </a:lnTo>
                    <a:lnTo>
                      <a:pt x="43" y="239"/>
                    </a:lnTo>
                    <a:lnTo>
                      <a:pt x="60" y="243"/>
                    </a:lnTo>
                    <a:lnTo>
                      <a:pt x="79" y="245"/>
                    </a:lnTo>
                    <a:lnTo>
                      <a:pt x="101" y="246"/>
                    </a:lnTo>
                    <a:lnTo>
                      <a:pt x="126" y="248"/>
                    </a:lnTo>
                    <a:lnTo>
                      <a:pt x="151" y="248"/>
                    </a:lnTo>
                    <a:lnTo>
                      <a:pt x="203" y="246"/>
                    </a:lnTo>
                    <a:lnTo>
                      <a:pt x="255" y="245"/>
                    </a:lnTo>
                    <a:lnTo>
                      <a:pt x="307" y="239"/>
                    </a:lnTo>
                    <a:lnTo>
                      <a:pt x="356" y="231"/>
                    </a:lnTo>
                    <a:lnTo>
                      <a:pt x="386" y="226"/>
                    </a:lnTo>
                    <a:lnTo>
                      <a:pt x="412" y="219"/>
                    </a:lnTo>
                    <a:lnTo>
                      <a:pt x="437" y="214"/>
                    </a:lnTo>
                    <a:lnTo>
                      <a:pt x="462" y="207"/>
                    </a:lnTo>
                    <a:lnTo>
                      <a:pt x="482" y="200"/>
                    </a:lnTo>
                    <a:lnTo>
                      <a:pt x="503" y="191"/>
                    </a:lnTo>
                    <a:lnTo>
                      <a:pt x="522" y="183"/>
                    </a:lnTo>
                    <a:lnTo>
                      <a:pt x="537" y="174"/>
                    </a:lnTo>
                    <a:lnTo>
                      <a:pt x="553" y="165"/>
                    </a:lnTo>
                    <a:lnTo>
                      <a:pt x="563" y="157"/>
                    </a:lnTo>
                    <a:lnTo>
                      <a:pt x="570" y="146"/>
                    </a:lnTo>
                    <a:lnTo>
                      <a:pt x="572" y="138"/>
                    </a:lnTo>
                    <a:lnTo>
                      <a:pt x="568" y="131"/>
                    </a:lnTo>
                    <a:lnTo>
                      <a:pt x="558" y="124"/>
                    </a:lnTo>
                    <a:lnTo>
                      <a:pt x="541" y="117"/>
                    </a:lnTo>
                    <a:lnTo>
                      <a:pt x="518" y="112"/>
                    </a:lnTo>
                    <a:lnTo>
                      <a:pt x="518" y="112"/>
                    </a:lnTo>
                    <a:close/>
                    <a:moveTo>
                      <a:pt x="572" y="65"/>
                    </a:moveTo>
                    <a:lnTo>
                      <a:pt x="543" y="79"/>
                    </a:lnTo>
                    <a:lnTo>
                      <a:pt x="527" y="84"/>
                    </a:lnTo>
                    <a:lnTo>
                      <a:pt x="508" y="88"/>
                    </a:lnTo>
                    <a:lnTo>
                      <a:pt x="468" y="93"/>
                    </a:lnTo>
                    <a:lnTo>
                      <a:pt x="429" y="95"/>
                    </a:lnTo>
                    <a:lnTo>
                      <a:pt x="410" y="95"/>
                    </a:lnTo>
                    <a:lnTo>
                      <a:pt x="394" y="93"/>
                    </a:lnTo>
                    <a:lnTo>
                      <a:pt x="382" y="91"/>
                    </a:lnTo>
                    <a:lnTo>
                      <a:pt x="375" y="88"/>
                    </a:lnTo>
                    <a:lnTo>
                      <a:pt x="372" y="84"/>
                    </a:lnTo>
                    <a:lnTo>
                      <a:pt x="374" y="79"/>
                    </a:lnTo>
                    <a:lnTo>
                      <a:pt x="379" y="72"/>
                    </a:lnTo>
                    <a:lnTo>
                      <a:pt x="389" y="65"/>
                    </a:lnTo>
                    <a:lnTo>
                      <a:pt x="401" y="58"/>
                    </a:lnTo>
                    <a:lnTo>
                      <a:pt x="417" y="53"/>
                    </a:lnTo>
                    <a:lnTo>
                      <a:pt x="432" y="48"/>
                    </a:lnTo>
                    <a:lnTo>
                      <a:pt x="451" y="45"/>
                    </a:lnTo>
                    <a:lnTo>
                      <a:pt x="491" y="38"/>
                    </a:lnTo>
                    <a:lnTo>
                      <a:pt x="531" y="36"/>
                    </a:lnTo>
                    <a:lnTo>
                      <a:pt x="549" y="36"/>
                    </a:lnTo>
                    <a:lnTo>
                      <a:pt x="565" y="38"/>
                    </a:lnTo>
                    <a:lnTo>
                      <a:pt x="577" y="41"/>
                    </a:lnTo>
                    <a:lnTo>
                      <a:pt x="584" y="45"/>
                    </a:lnTo>
                    <a:lnTo>
                      <a:pt x="587" y="48"/>
                    </a:lnTo>
                    <a:lnTo>
                      <a:pt x="586" y="53"/>
                    </a:lnTo>
                    <a:lnTo>
                      <a:pt x="581" y="58"/>
                    </a:lnTo>
                    <a:lnTo>
                      <a:pt x="572" y="65"/>
                    </a:lnTo>
                    <a:lnTo>
                      <a:pt x="572" y="65"/>
                    </a:lnTo>
                    <a:close/>
                    <a:moveTo>
                      <a:pt x="401" y="170"/>
                    </a:moveTo>
                    <a:lnTo>
                      <a:pt x="384" y="179"/>
                    </a:lnTo>
                    <a:lnTo>
                      <a:pt x="363" y="188"/>
                    </a:lnTo>
                    <a:lnTo>
                      <a:pt x="341" y="195"/>
                    </a:lnTo>
                    <a:lnTo>
                      <a:pt x="317" y="200"/>
                    </a:lnTo>
                    <a:lnTo>
                      <a:pt x="269" y="208"/>
                    </a:lnTo>
                    <a:lnTo>
                      <a:pt x="220" y="210"/>
                    </a:lnTo>
                    <a:lnTo>
                      <a:pt x="200" y="210"/>
                    </a:lnTo>
                    <a:lnTo>
                      <a:pt x="182" y="208"/>
                    </a:lnTo>
                    <a:lnTo>
                      <a:pt x="170" y="205"/>
                    </a:lnTo>
                    <a:lnTo>
                      <a:pt x="163" y="200"/>
                    </a:lnTo>
                    <a:lnTo>
                      <a:pt x="162" y="195"/>
                    </a:lnTo>
                    <a:lnTo>
                      <a:pt x="163" y="188"/>
                    </a:lnTo>
                    <a:lnTo>
                      <a:pt x="172" y="179"/>
                    </a:lnTo>
                    <a:lnTo>
                      <a:pt x="186" y="170"/>
                    </a:lnTo>
                    <a:lnTo>
                      <a:pt x="203" y="162"/>
                    </a:lnTo>
                    <a:lnTo>
                      <a:pt x="220" y="155"/>
                    </a:lnTo>
                    <a:lnTo>
                      <a:pt x="243" y="148"/>
                    </a:lnTo>
                    <a:lnTo>
                      <a:pt x="265" y="143"/>
                    </a:lnTo>
                    <a:lnTo>
                      <a:pt x="313" y="136"/>
                    </a:lnTo>
                    <a:lnTo>
                      <a:pt x="360" y="133"/>
                    </a:lnTo>
                    <a:lnTo>
                      <a:pt x="384" y="133"/>
                    </a:lnTo>
                    <a:lnTo>
                      <a:pt x="403" y="136"/>
                    </a:lnTo>
                    <a:lnTo>
                      <a:pt x="415" y="139"/>
                    </a:lnTo>
                    <a:lnTo>
                      <a:pt x="420" y="145"/>
                    </a:lnTo>
                    <a:lnTo>
                      <a:pt x="420" y="150"/>
                    </a:lnTo>
                    <a:lnTo>
                      <a:pt x="419" y="157"/>
                    </a:lnTo>
                    <a:lnTo>
                      <a:pt x="412" y="164"/>
                    </a:lnTo>
                    <a:lnTo>
                      <a:pt x="401" y="170"/>
                    </a:lnTo>
                    <a:lnTo>
                      <a:pt x="401" y="17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70" name="Freeform 790"/>
              <p:cNvSpPr>
                <a:spLocks/>
              </p:cNvSpPr>
              <p:nvPr/>
            </p:nvSpPr>
            <p:spPr bwMode="auto">
              <a:xfrm>
                <a:off x="3413" y="3229"/>
                <a:ext cx="372" cy="122"/>
              </a:xfrm>
              <a:custGeom>
                <a:avLst/>
                <a:gdLst>
                  <a:gd name="T0" fmla="*/ 454 w 744"/>
                  <a:gd name="T1" fmla="*/ 176 h 245"/>
                  <a:gd name="T2" fmla="*/ 368 w 744"/>
                  <a:gd name="T3" fmla="*/ 180 h 245"/>
                  <a:gd name="T4" fmla="*/ 305 w 744"/>
                  <a:gd name="T5" fmla="*/ 198 h 245"/>
                  <a:gd name="T6" fmla="*/ 237 w 744"/>
                  <a:gd name="T7" fmla="*/ 207 h 245"/>
                  <a:gd name="T8" fmla="*/ 196 w 744"/>
                  <a:gd name="T9" fmla="*/ 207 h 245"/>
                  <a:gd name="T10" fmla="*/ 167 w 744"/>
                  <a:gd name="T11" fmla="*/ 200 h 245"/>
                  <a:gd name="T12" fmla="*/ 158 w 744"/>
                  <a:gd name="T13" fmla="*/ 188 h 245"/>
                  <a:gd name="T14" fmla="*/ 174 w 744"/>
                  <a:gd name="T15" fmla="*/ 171 h 245"/>
                  <a:gd name="T16" fmla="*/ 234 w 744"/>
                  <a:gd name="T17" fmla="*/ 140 h 245"/>
                  <a:gd name="T18" fmla="*/ 282 w 744"/>
                  <a:gd name="T19" fmla="*/ 126 h 245"/>
                  <a:gd name="T20" fmla="*/ 384 w 744"/>
                  <a:gd name="T21" fmla="*/ 116 h 245"/>
                  <a:gd name="T22" fmla="*/ 437 w 744"/>
                  <a:gd name="T23" fmla="*/ 119 h 245"/>
                  <a:gd name="T24" fmla="*/ 467 w 744"/>
                  <a:gd name="T25" fmla="*/ 133 h 245"/>
                  <a:gd name="T26" fmla="*/ 594 w 744"/>
                  <a:gd name="T27" fmla="*/ 128 h 245"/>
                  <a:gd name="T28" fmla="*/ 744 w 744"/>
                  <a:gd name="T29" fmla="*/ 0 h 245"/>
                  <a:gd name="T30" fmla="*/ 355 w 744"/>
                  <a:gd name="T31" fmla="*/ 0 h 245"/>
                  <a:gd name="T32" fmla="*/ 279 w 744"/>
                  <a:gd name="T33" fmla="*/ 45 h 245"/>
                  <a:gd name="T34" fmla="*/ 554 w 744"/>
                  <a:gd name="T35" fmla="*/ 45 h 245"/>
                  <a:gd name="T36" fmla="*/ 504 w 744"/>
                  <a:gd name="T37" fmla="*/ 86 h 245"/>
                  <a:gd name="T38" fmla="*/ 465 w 744"/>
                  <a:gd name="T39" fmla="*/ 80 h 245"/>
                  <a:gd name="T40" fmla="*/ 418 w 744"/>
                  <a:gd name="T41" fmla="*/ 78 h 245"/>
                  <a:gd name="T42" fmla="*/ 318 w 744"/>
                  <a:gd name="T43" fmla="*/ 83 h 245"/>
                  <a:gd name="T44" fmla="*/ 213 w 744"/>
                  <a:gd name="T45" fmla="*/ 100 h 245"/>
                  <a:gd name="T46" fmla="*/ 117 w 744"/>
                  <a:gd name="T47" fmla="*/ 126 h 245"/>
                  <a:gd name="T48" fmla="*/ 43 w 744"/>
                  <a:gd name="T49" fmla="*/ 159 h 245"/>
                  <a:gd name="T50" fmla="*/ 20 w 744"/>
                  <a:gd name="T51" fmla="*/ 174 h 245"/>
                  <a:gd name="T52" fmla="*/ 6 w 744"/>
                  <a:gd name="T53" fmla="*/ 188 h 245"/>
                  <a:gd name="T54" fmla="*/ 0 w 744"/>
                  <a:gd name="T55" fmla="*/ 200 h 245"/>
                  <a:gd name="T56" fmla="*/ 1 w 744"/>
                  <a:gd name="T57" fmla="*/ 212 h 245"/>
                  <a:gd name="T58" fmla="*/ 17 w 744"/>
                  <a:gd name="T59" fmla="*/ 226 h 245"/>
                  <a:gd name="T60" fmla="*/ 48 w 744"/>
                  <a:gd name="T61" fmla="*/ 236 h 245"/>
                  <a:gd name="T62" fmla="*/ 93 w 744"/>
                  <a:gd name="T63" fmla="*/ 243 h 245"/>
                  <a:gd name="T64" fmla="*/ 153 w 744"/>
                  <a:gd name="T65" fmla="*/ 245 h 245"/>
                  <a:gd name="T66" fmla="*/ 256 w 744"/>
                  <a:gd name="T67" fmla="*/ 240 h 245"/>
                  <a:gd name="T68" fmla="*/ 356 w 744"/>
                  <a:gd name="T69" fmla="*/ 226 h 245"/>
                  <a:gd name="T70" fmla="*/ 448 w 744"/>
                  <a:gd name="T71" fmla="*/ 205 h 245"/>
                  <a:gd name="T72" fmla="*/ 523 w 744"/>
                  <a:gd name="T73" fmla="*/ 178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44" h="245">
                    <a:moveTo>
                      <a:pt x="523" y="178"/>
                    </a:moveTo>
                    <a:lnTo>
                      <a:pt x="454" y="176"/>
                    </a:lnTo>
                    <a:lnTo>
                      <a:pt x="386" y="173"/>
                    </a:lnTo>
                    <a:lnTo>
                      <a:pt x="368" y="180"/>
                    </a:lnTo>
                    <a:lnTo>
                      <a:pt x="348" y="186"/>
                    </a:lnTo>
                    <a:lnTo>
                      <a:pt x="305" y="198"/>
                    </a:lnTo>
                    <a:lnTo>
                      <a:pt x="258" y="205"/>
                    </a:lnTo>
                    <a:lnTo>
                      <a:pt x="237" y="207"/>
                    </a:lnTo>
                    <a:lnTo>
                      <a:pt x="217" y="207"/>
                    </a:lnTo>
                    <a:lnTo>
                      <a:pt x="196" y="207"/>
                    </a:lnTo>
                    <a:lnTo>
                      <a:pt x="179" y="204"/>
                    </a:lnTo>
                    <a:lnTo>
                      <a:pt x="167" y="200"/>
                    </a:lnTo>
                    <a:lnTo>
                      <a:pt x="160" y="195"/>
                    </a:lnTo>
                    <a:lnTo>
                      <a:pt x="158" y="188"/>
                    </a:lnTo>
                    <a:lnTo>
                      <a:pt x="163" y="181"/>
                    </a:lnTo>
                    <a:lnTo>
                      <a:pt x="174" y="171"/>
                    </a:lnTo>
                    <a:lnTo>
                      <a:pt x="191" y="161"/>
                    </a:lnTo>
                    <a:lnTo>
                      <a:pt x="234" y="140"/>
                    </a:lnTo>
                    <a:lnTo>
                      <a:pt x="258" y="133"/>
                    </a:lnTo>
                    <a:lnTo>
                      <a:pt x="282" y="126"/>
                    </a:lnTo>
                    <a:lnTo>
                      <a:pt x="334" y="119"/>
                    </a:lnTo>
                    <a:lnTo>
                      <a:pt x="384" y="116"/>
                    </a:lnTo>
                    <a:lnTo>
                      <a:pt x="413" y="117"/>
                    </a:lnTo>
                    <a:lnTo>
                      <a:pt x="437" y="119"/>
                    </a:lnTo>
                    <a:lnTo>
                      <a:pt x="454" y="126"/>
                    </a:lnTo>
                    <a:lnTo>
                      <a:pt x="467" y="133"/>
                    </a:lnTo>
                    <a:lnTo>
                      <a:pt x="530" y="131"/>
                    </a:lnTo>
                    <a:lnTo>
                      <a:pt x="594" y="128"/>
                    </a:lnTo>
                    <a:lnTo>
                      <a:pt x="670" y="64"/>
                    </a:lnTo>
                    <a:lnTo>
                      <a:pt x="744" y="0"/>
                    </a:lnTo>
                    <a:lnTo>
                      <a:pt x="549" y="0"/>
                    </a:lnTo>
                    <a:lnTo>
                      <a:pt x="355" y="0"/>
                    </a:lnTo>
                    <a:lnTo>
                      <a:pt x="317" y="23"/>
                    </a:lnTo>
                    <a:lnTo>
                      <a:pt x="279" y="45"/>
                    </a:lnTo>
                    <a:lnTo>
                      <a:pt x="417" y="45"/>
                    </a:lnTo>
                    <a:lnTo>
                      <a:pt x="554" y="45"/>
                    </a:lnTo>
                    <a:lnTo>
                      <a:pt x="530" y="66"/>
                    </a:lnTo>
                    <a:lnTo>
                      <a:pt x="504" y="86"/>
                    </a:lnTo>
                    <a:lnTo>
                      <a:pt x="485" y="83"/>
                    </a:lnTo>
                    <a:lnTo>
                      <a:pt x="465" y="80"/>
                    </a:lnTo>
                    <a:lnTo>
                      <a:pt x="442" y="78"/>
                    </a:lnTo>
                    <a:lnTo>
                      <a:pt x="418" y="78"/>
                    </a:lnTo>
                    <a:lnTo>
                      <a:pt x="368" y="80"/>
                    </a:lnTo>
                    <a:lnTo>
                      <a:pt x="318" y="83"/>
                    </a:lnTo>
                    <a:lnTo>
                      <a:pt x="267" y="90"/>
                    </a:lnTo>
                    <a:lnTo>
                      <a:pt x="213" y="100"/>
                    </a:lnTo>
                    <a:lnTo>
                      <a:pt x="162" y="112"/>
                    </a:lnTo>
                    <a:lnTo>
                      <a:pt x="117" y="126"/>
                    </a:lnTo>
                    <a:lnTo>
                      <a:pt x="77" y="142"/>
                    </a:lnTo>
                    <a:lnTo>
                      <a:pt x="43" y="159"/>
                    </a:lnTo>
                    <a:lnTo>
                      <a:pt x="31" y="166"/>
                    </a:lnTo>
                    <a:lnTo>
                      <a:pt x="20" y="174"/>
                    </a:lnTo>
                    <a:lnTo>
                      <a:pt x="12" y="181"/>
                    </a:lnTo>
                    <a:lnTo>
                      <a:pt x="6" y="188"/>
                    </a:lnTo>
                    <a:lnTo>
                      <a:pt x="1" y="193"/>
                    </a:lnTo>
                    <a:lnTo>
                      <a:pt x="0" y="200"/>
                    </a:lnTo>
                    <a:lnTo>
                      <a:pt x="0" y="207"/>
                    </a:lnTo>
                    <a:lnTo>
                      <a:pt x="1" y="212"/>
                    </a:lnTo>
                    <a:lnTo>
                      <a:pt x="8" y="221"/>
                    </a:lnTo>
                    <a:lnTo>
                      <a:pt x="17" y="226"/>
                    </a:lnTo>
                    <a:lnTo>
                      <a:pt x="31" y="233"/>
                    </a:lnTo>
                    <a:lnTo>
                      <a:pt x="48" y="236"/>
                    </a:lnTo>
                    <a:lnTo>
                      <a:pt x="68" y="240"/>
                    </a:lnTo>
                    <a:lnTo>
                      <a:pt x="93" y="243"/>
                    </a:lnTo>
                    <a:lnTo>
                      <a:pt x="122" y="245"/>
                    </a:lnTo>
                    <a:lnTo>
                      <a:pt x="153" y="245"/>
                    </a:lnTo>
                    <a:lnTo>
                      <a:pt x="205" y="243"/>
                    </a:lnTo>
                    <a:lnTo>
                      <a:pt x="256" y="240"/>
                    </a:lnTo>
                    <a:lnTo>
                      <a:pt x="306" y="235"/>
                    </a:lnTo>
                    <a:lnTo>
                      <a:pt x="356" y="226"/>
                    </a:lnTo>
                    <a:lnTo>
                      <a:pt x="405" y="216"/>
                    </a:lnTo>
                    <a:lnTo>
                      <a:pt x="448" y="205"/>
                    </a:lnTo>
                    <a:lnTo>
                      <a:pt x="487" y="192"/>
                    </a:lnTo>
                    <a:lnTo>
                      <a:pt x="523" y="17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71" name="Freeform 791"/>
              <p:cNvSpPr>
                <a:spLocks/>
              </p:cNvSpPr>
              <p:nvPr/>
            </p:nvSpPr>
            <p:spPr bwMode="auto">
              <a:xfrm>
                <a:off x="3990" y="3213"/>
                <a:ext cx="371" cy="124"/>
              </a:xfrm>
              <a:custGeom>
                <a:avLst/>
                <a:gdLst>
                  <a:gd name="T0" fmla="*/ 464 w 743"/>
                  <a:gd name="T1" fmla="*/ 178 h 248"/>
                  <a:gd name="T2" fmla="*/ 359 w 743"/>
                  <a:gd name="T3" fmla="*/ 190 h 248"/>
                  <a:gd name="T4" fmla="*/ 314 w 743"/>
                  <a:gd name="T5" fmla="*/ 200 h 248"/>
                  <a:gd name="T6" fmla="*/ 269 w 743"/>
                  <a:gd name="T7" fmla="*/ 207 h 248"/>
                  <a:gd name="T8" fmla="*/ 205 w 743"/>
                  <a:gd name="T9" fmla="*/ 209 h 248"/>
                  <a:gd name="T10" fmla="*/ 176 w 743"/>
                  <a:gd name="T11" fmla="*/ 204 h 248"/>
                  <a:gd name="T12" fmla="*/ 166 w 743"/>
                  <a:gd name="T13" fmla="*/ 193 h 248"/>
                  <a:gd name="T14" fmla="*/ 176 w 743"/>
                  <a:gd name="T15" fmla="*/ 178 h 248"/>
                  <a:gd name="T16" fmla="*/ 207 w 743"/>
                  <a:gd name="T17" fmla="*/ 161 h 248"/>
                  <a:gd name="T18" fmla="*/ 247 w 743"/>
                  <a:gd name="T19" fmla="*/ 147 h 248"/>
                  <a:gd name="T20" fmla="*/ 316 w 743"/>
                  <a:gd name="T21" fmla="*/ 135 h 248"/>
                  <a:gd name="T22" fmla="*/ 388 w 743"/>
                  <a:gd name="T23" fmla="*/ 133 h 248"/>
                  <a:gd name="T24" fmla="*/ 447 w 743"/>
                  <a:gd name="T25" fmla="*/ 116 h 248"/>
                  <a:gd name="T26" fmla="*/ 443 w 743"/>
                  <a:gd name="T27" fmla="*/ 97 h 248"/>
                  <a:gd name="T28" fmla="*/ 405 w 743"/>
                  <a:gd name="T29" fmla="*/ 93 h 248"/>
                  <a:gd name="T30" fmla="*/ 390 w 743"/>
                  <a:gd name="T31" fmla="*/ 83 h 248"/>
                  <a:gd name="T32" fmla="*/ 395 w 743"/>
                  <a:gd name="T33" fmla="*/ 73 h 248"/>
                  <a:gd name="T34" fmla="*/ 417 w 743"/>
                  <a:gd name="T35" fmla="*/ 59 h 248"/>
                  <a:gd name="T36" fmla="*/ 445 w 743"/>
                  <a:gd name="T37" fmla="*/ 49 h 248"/>
                  <a:gd name="T38" fmla="*/ 498 w 743"/>
                  <a:gd name="T39" fmla="*/ 40 h 248"/>
                  <a:gd name="T40" fmla="*/ 554 w 743"/>
                  <a:gd name="T41" fmla="*/ 38 h 248"/>
                  <a:gd name="T42" fmla="*/ 578 w 743"/>
                  <a:gd name="T43" fmla="*/ 43 h 248"/>
                  <a:gd name="T44" fmla="*/ 590 w 743"/>
                  <a:gd name="T45" fmla="*/ 52 h 248"/>
                  <a:gd name="T46" fmla="*/ 585 w 743"/>
                  <a:gd name="T47" fmla="*/ 64 h 248"/>
                  <a:gd name="T48" fmla="*/ 650 w 743"/>
                  <a:gd name="T49" fmla="*/ 68 h 248"/>
                  <a:gd name="T50" fmla="*/ 734 w 743"/>
                  <a:gd name="T51" fmla="*/ 54 h 248"/>
                  <a:gd name="T52" fmla="*/ 743 w 743"/>
                  <a:gd name="T53" fmla="*/ 35 h 248"/>
                  <a:gd name="T54" fmla="*/ 738 w 743"/>
                  <a:gd name="T55" fmla="*/ 21 h 248"/>
                  <a:gd name="T56" fmla="*/ 717 w 743"/>
                  <a:gd name="T57" fmla="*/ 11 h 248"/>
                  <a:gd name="T58" fmla="*/ 679 w 743"/>
                  <a:gd name="T59" fmla="*/ 4 h 248"/>
                  <a:gd name="T60" fmla="*/ 629 w 743"/>
                  <a:gd name="T61" fmla="*/ 0 h 248"/>
                  <a:gd name="T62" fmla="*/ 547 w 743"/>
                  <a:gd name="T63" fmla="*/ 2 h 248"/>
                  <a:gd name="T64" fmla="*/ 440 w 743"/>
                  <a:gd name="T65" fmla="*/ 12 h 248"/>
                  <a:gd name="T66" fmla="*/ 348 w 743"/>
                  <a:gd name="T67" fmla="*/ 31 h 248"/>
                  <a:gd name="T68" fmla="*/ 286 w 743"/>
                  <a:gd name="T69" fmla="*/ 52 h 248"/>
                  <a:gd name="T70" fmla="*/ 250 w 743"/>
                  <a:gd name="T71" fmla="*/ 71 h 248"/>
                  <a:gd name="T72" fmla="*/ 238 w 743"/>
                  <a:gd name="T73" fmla="*/ 85 h 248"/>
                  <a:gd name="T74" fmla="*/ 243 w 743"/>
                  <a:gd name="T75" fmla="*/ 97 h 248"/>
                  <a:gd name="T76" fmla="*/ 266 w 743"/>
                  <a:gd name="T77" fmla="*/ 109 h 248"/>
                  <a:gd name="T78" fmla="*/ 247 w 743"/>
                  <a:gd name="T79" fmla="*/ 116 h 248"/>
                  <a:gd name="T80" fmla="*/ 142 w 743"/>
                  <a:gd name="T81" fmla="*/ 133 h 248"/>
                  <a:gd name="T82" fmla="*/ 81 w 743"/>
                  <a:gd name="T83" fmla="*/ 150 h 248"/>
                  <a:gd name="T84" fmla="*/ 37 w 743"/>
                  <a:gd name="T85" fmla="*/ 171 h 248"/>
                  <a:gd name="T86" fmla="*/ 14 w 743"/>
                  <a:gd name="T87" fmla="*/ 186 h 248"/>
                  <a:gd name="T88" fmla="*/ 2 w 743"/>
                  <a:gd name="T89" fmla="*/ 202 h 248"/>
                  <a:gd name="T90" fmla="*/ 2 w 743"/>
                  <a:gd name="T91" fmla="*/ 214 h 248"/>
                  <a:gd name="T92" fmla="*/ 12 w 743"/>
                  <a:gd name="T93" fmla="*/ 226 h 248"/>
                  <a:gd name="T94" fmla="*/ 35 w 743"/>
                  <a:gd name="T95" fmla="*/ 236 h 248"/>
                  <a:gd name="T96" fmla="*/ 66 w 743"/>
                  <a:gd name="T97" fmla="*/ 243 h 248"/>
                  <a:gd name="T98" fmla="*/ 106 w 743"/>
                  <a:gd name="T99" fmla="*/ 247 h 248"/>
                  <a:gd name="T100" fmla="*/ 155 w 743"/>
                  <a:gd name="T101" fmla="*/ 248 h 248"/>
                  <a:gd name="T102" fmla="*/ 261 w 743"/>
                  <a:gd name="T103" fmla="*/ 243 h 248"/>
                  <a:gd name="T104" fmla="*/ 362 w 743"/>
                  <a:gd name="T105" fmla="*/ 229 h 248"/>
                  <a:gd name="T106" fmla="*/ 455 w 743"/>
                  <a:gd name="T107" fmla="*/ 207 h 248"/>
                  <a:gd name="T108" fmla="*/ 529 w 743"/>
                  <a:gd name="T109" fmla="*/ 18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43" h="248">
                    <a:moveTo>
                      <a:pt x="529" y="180"/>
                    </a:moveTo>
                    <a:lnTo>
                      <a:pt x="464" y="178"/>
                    </a:lnTo>
                    <a:lnTo>
                      <a:pt x="397" y="174"/>
                    </a:lnTo>
                    <a:lnTo>
                      <a:pt x="359" y="190"/>
                    </a:lnTo>
                    <a:lnTo>
                      <a:pt x="336" y="195"/>
                    </a:lnTo>
                    <a:lnTo>
                      <a:pt x="314" y="200"/>
                    </a:lnTo>
                    <a:lnTo>
                      <a:pt x="292" y="205"/>
                    </a:lnTo>
                    <a:lnTo>
                      <a:pt x="269" y="207"/>
                    </a:lnTo>
                    <a:lnTo>
                      <a:pt x="226" y="209"/>
                    </a:lnTo>
                    <a:lnTo>
                      <a:pt x="205" y="209"/>
                    </a:lnTo>
                    <a:lnTo>
                      <a:pt x="188" y="207"/>
                    </a:lnTo>
                    <a:lnTo>
                      <a:pt x="176" y="204"/>
                    </a:lnTo>
                    <a:lnTo>
                      <a:pt x="168" y="198"/>
                    </a:lnTo>
                    <a:lnTo>
                      <a:pt x="166" y="193"/>
                    </a:lnTo>
                    <a:lnTo>
                      <a:pt x="168" y="186"/>
                    </a:lnTo>
                    <a:lnTo>
                      <a:pt x="176" y="178"/>
                    </a:lnTo>
                    <a:lnTo>
                      <a:pt x="190" y="169"/>
                    </a:lnTo>
                    <a:lnTo>
                      <a:pt x="207" y="161"/>
                    </a:lnTo>
                    <a:lnTo>
                      <a:pt x="224" y="154"/>
                    </a:lnTo>
                    <a:lnTo>
                      <a:pt x="247" y="147"/>
                    </a:lnTo>
                    <a:lnTo>
                      <a:pt x="269" y="142"/>
                    </a:lnTo>
                    <a:lnTo>
                      <a:pt x="316" y="135"/>
                    </a:lnTo>
                    <a:lnTo>
                      <a:pt x="359" y="131"/>
                    </a:lnTo>
                    <a:lnTo>
                      <a:pt x="388" y="133"/>
                    </a:lnTo>
                    <a:lnTo>
                      <a:pt x="421" y="135"/>
                    </a:lnTo>
                    <a:lnTo>
                      <a:pt x="447" y="116"/>
                    </a:lnTo>
                    <a:lnTo>
                      <a:pt x="471" y="97"/>
                    </a:lnTo>
                    <a:lnTo>
                      <a:pt x="443" y="97"/>
                    </a:lnTo>
                    <a:lnTo>
                      <a:pt x="423" y="95"/>
                    </a:lnTo>
                    <a:lnTo>
                      <a:pt x="405" y="93"/>
                    </a:lnTo>
                    <a:lnTo>
                      <a:pt x="395" y="88"/>
                    </a:lnTo>
                    <a:lnTo>
                      <a:pt x="390" y="83"/>
                    </a:lnTo>
                    <a:lnTo>
                      <a:pt x="390" y="78"/>
                    </a:lnTo>
                    <a:lnTo>
                      <a:pt x="395" y="73"/>
                    </a:lnTo>
                    <a:lnTo>
                      <a:pt x="405" y="66"/>
                    </a:lnTo>
                    <a:lnTo>
                      <a:pt x="417" y="59"/>
                    </a:lnTo>
                    <a:lnTo>
                      <a:pt x="429" y="54"/>
                    </a:lnTo>
                    <a:lnTo>
                      <a:pt x="445" y="49"/>
                    </a:lnTo>
                    <a:lnTo>
                      <a:pt x="462" y="45"/>
                    </a:lnTo>
                    <a:lnTo>
                      <a:pt x="498" y="40"/>
                    </a:lnTo>
                    <a:lnTo>
                      <a:pt x="536" y="38"/>
                    </a:lnTo>
                    <a:lnTo>
                      <a:pt x="554" y="38"/>
                    </a:lnTo>
                    <a:lnTo>
                      <a:pt x="567" y="40"/>
                    </a:lnTo>
                    <a:lnTo>
                      <a:pt x="578" y="43"/>
                    </a:lnTo>
                    <a:lnTo>
                      <a:pt x="586" y="47"/>
                    </a:lnTo>
                    <a:lnTo>
                      <a:pt x="590" y="52"/>
                    </a:lnTo>
                    <a:lnTo>
                      <a:pt x="590" y="57"/>
                    </a:lnTo>
                    <a:lnTo>
                      <a:pt x="585" y="64"/>
                    </a:lnTo>
                    <a:lnTo>
                      <a:pt x="576" y="71"/>
                    </a:lnTo>
                    <a:lnTo>
                      <a:pt x="650" y="68"/>
                    </a:lnTo>
                    <a:lnTo>
                      <a:pt x="724" y="64"/>
                    </a:lnTo>
                    <a:lnTo>
                      <a:pt x="734" y="54"/>
                    </a:lnTo>
                    <a:lnTo>
                      <a:pt x="741" y="43"/>
                    </a:lnTo>
                    <a:lnTo>
                      <a:pt x="743" y="35"/>
                    </a:lnTo>
                    <a:lnTo>
                      <a:pt x="743" y="28"/>
                    </a:lnTo>
                    <a:lnTo>
                      <a:pt x="738" y="21"/>
                    </a:lnTo>
                    <a:lnTo>
                      <a:pt x="729" y="16"/>
                    </a:lnTo>
                    <a:lnTo>
                      <a:pt x="717" y="11"/>
                    </a:lnTo>
                    <a:lnTo>
                      <a:pt x="700" y="7"/>
                    </a:lnTo>
                    <a:lnTo>
                      <a:pt x="679" y="4"/>
                    </a:lnTo>
                    <a:lnTo>
                      <a:pt x="657" y="2"/>
                    </a:lnTo>
                    <a:lnTo>
                      <a:pt x="629" y="0"/>
                    </a:lnTo>
                    <a:lnTo>
                      <a:pt x="600" y="0"/>
                    </a:lnTo>
                    <a:lnTo>
                      <a:pt x="547" y="2"/>
                    </a:lnTo>
                    <a:lnTo>
                      <a:pt x="493" y="5"/>
                    </a:lnTo>
                    <a:lnTo>
                      <a:pt x="440" y="12"/>
                    </a:lnTo>
                    <a:lnTo>
                      <a:pt x="388" y="23"/>
                    </a:lnTo>
                    <a:lnTo>
                      <a:pt x="348" y="31"/>
                    </a:lnTo>
                    <a:lnTo>
                      <a:pt x="314" y="42"/>
                    </a:lnTo>
                    <a:lnTo>
                      <a:pt x="286" y="52"/>
                    </a:lnTo>
                    <a:lnTo>
                      <a:pt x="262" y="62"/>
                    </a:lnTo>
                    <a:lnTo>
                      <a:pt x="250" y="71"/>
                    </a:lnTo>
                    <a:lnTo>
                      <a:pt x="242" y="78"/>
                    </a:lnTo>
                    <a:lnTo>
                      <a:pt x="238" y="85"/>
                    </a:lnTo>
                    <a:lnTo>
                      <a:pt x="240" y="92"/>
                    </a:lnTo>
                    <a:lnTo>
                      <a:pt x="243" y="97"/>
                    </a:lnTo>
                    <a:lnTo>
                      <a:pt x="252" y="104"/>
                    </a:lnTo>
                    <a:lnTo>
                      <a:pt x="266" y="109"/>
                    </a:lnTo>
                    <a:lnTo>
                      <a:pt x="283" y="114"/>
                    </a:lnTo>
                    <a:lnTo>
                      <a:pt x="247" y="116"/>
                    </a:lnTo>
                    <a:lnTo>
                      <a:pt x="211" y="121"/>
                    </a:lnTo>
                    <a:lnTo>
                      <a:pt x="142" y="133"/>
                    </a:lnTo>
                    <a:lnTo>
                      <a:pt x="111" y="142"/>
                    </a:lnTo>
                    <a:lnTo>
                      <a:pt x="81" y="150"/>
                    </a:lnTo>
                    <a:lnTo>
                      <a:pt x="57" y="161"/>
                    </a:lnTo>
                    <a:lnTo>
                      <a:pt x="37" y="171"/>
                    </a:lnTo>
                    <a:lnTo>
                      <a:pt x="25" y="180"/>
                    </a:lnTo>
                    <a:lnTo>
                      <a:pt x="14" y="186"/>
                    </a:lnTo>
                    <a:lnTo>
                      <a:pt x="7" y="193"/>
                    </a:lnTo>
                    <a:lnTo>
                      <a:pt x="2" y="202"/>
                    </a:lnTo>
                    <a:lnTo>
                      <a:pt x="0" y="207"/>
                    </a:lnTo>
                    <a:lnTo>
                      <a:pt x="2" y="214"/>
                    </a:lnTo>
                    <a:lnTo>
                      <a:pt x="6" y="221"/>
                    </a:lnTo>
                    <a:lnTo>
                      <a:pt x="12" y="226"/>
                    </a:lnTo>
                    <a:lnTo>
                      <a:pt x="23" y="231"/>
                    </a:lnTo>
                    <a:lnTo>
                      <a:pt x="35" y="236"/>
                    </a:lnTo>
                    <a:lnTo>
                      <a:pt x="49" y="240"/>
                    </a:lnTo>
                    <a:lnTo>
                      <a:pt x="66" y="243"/>
                    </a:lnTo>
                    <a:lnTo>
                      <a:pt x="85" y="245"/>
                    </a:lnTo>
                    <a:lnTo>
                      <a:pt x="106" y="247"/>
                    </a:lnTo>
                    <a:lnTo>
                      <a:pt x="130" y="248"/>
                    </a:lnTo>
                    <a:lnTo>
                      <a:pt x="155" y="248"/>
                    </a:lnTo>
                    <a:lnTo>
                      <a:pt x="209" y="247"/>
                    </a:lnTo>
                    <a:lnTo>
                      <a:pt x="261" y="243"/>
                    </a:lnTo>
                    <a:lnTo>
                      <a:pt x="312" y="238"/>
                    </a:lnTo>
                    <a:lnTo>
                      <a:pt x="362" y="229"/>
                    </a:lnTo>
                    <a:lnTo>
                      <a:pt x="411" y="219"/>
                    </a:lnTo>
                    <a:lnTo>
                      <a:pt x="455" y="207"/>
                    </a:lnTo>
                    <a:lnTo>
                      <a:pt x="495" y="195"/>
                    </a:lnTo>
                    <a:lnTo>
                      <a:pt x="529" y="180"/>
                    </a:lnTo>
                    <a:lnTo>
                      <a:pt x="529" y="180"/>
                    </a:lnTo>
                    <a:close/>
                  </a:path>
                </a:pathLst>
              </a:custGeom>
              <a:solidFill>
                <a:srgbClr val="CC33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72" name="Freeform 792"/>
              <p:cNvSpPr>
                <a:spLocks noEditPoints="1"/>
              </p:cNvSpPr>
              <p:nvPr/>
            </p:nvSpPr>
            <p:spPr bwMode="auto">
              <a:xfrm>
                <a:off x="3691" y="3213"/>
                <a:ext cx="373" cy="124"/>
              </a:xfrm>
              <a:custGeom>
                <a:avLst/>
                <a:gdLst>
                  <a:gd name="T0" fmla="*/ 585 w 747"/>
                  <a:gd name="T1" fmla="*/ 104 h 248"/>
                  <a:gd name="T2" fmla="*/ 664 w 747"/>
                  <a:gd name="T3" fmla="*/ 85 h 248"/>
                  <a:gd name="T4" fmla="*/ 717 w 747"/>
                  <a:gd name="T5" fmla="*/ 62 h 248"/>
                  <a:gd name="T6" fmla="*/ 741 w 747"/>
                  <a:gd name="T7" fmla="*/ 43 h 248"/>
                  <a:gd name="T8" fmla="*/ 745 w 747"/>
                  <a:gd name="T9" fmla="*/ 28 h 248"/>
                  <a:gd name="T10" fmla="*/ 728 w 747"/>
                  <a:gd name="T11" fmla="*/ 14 h 248"/>
                  <a:gd name="T12" fmla="*/ 688 w 747"/>
                  <a:gd name="T13" fmla="*/ 4 h 248"/>
                  <a:gd name="T14" fmla="*/ 624 w 747"/>
                  <a:gd name="T15" fmla="*/ 0 h 248"/>
                  <a:gd name="T16" fmla="*/ 493 w 747"/>
                  <a:gd name="T17" fmla="*/ 4 h 248"/>
                  <a:gd name="T18" fmla="*/ 354 w 747"/>
                  <a:gd name="T19" fmla="*/ 28 h 248"/>
                  <a:gd name="T20" fmla="*/ 257 w 747"/>
                  <a:gd name="T21" fmla="*/ 62 h 248"/>
                  <a:gd name="T22" fmla="*/ 231 w 747"/>
                  <a:gd name="T23" fmla="*/ 86 h 248"/>
                  <a:gd name="T24" fmla="*/ 245 w 747"/>
                  <a:gd name="T25" fmla="*/ 105 h 248"/>
                  <a:gd name="T26" fmla="*/ 237 w 747"/>
                  <a:gd name="T27" fmla="*/ 117 h 248"/>
                  <a:gd name="T28" fmla="*/ 135 w 747"/>
                  <a:gd name="T29" fmla="*/ 136 h 248"/>
                  <a:gd name="T30" fmla="*/ 57 w 747"/>
                  <a:gd name="T31" fmla="*/ 162 h 248"/>
                  <a:gd name="T32" fmla="*/ 14 w 747"/>
                  <a:gd name="T33" fmla="*/ 188 h 248"/>
                  <a:gd name="T34" fmla="*/ 0 w 747"/>
                  <a:gd name="T35" fmla="*/ 209 h 248"/>
                  <a:gd name="T36" fmla="*/ 9 w 747"/>
                  <a:gd name="T37" fmla="*/ 228 h 248"/>
                  <a:gd name="T38" fmla="*/ 44 w 747"/>
                  <a:gd name="T39" fmla="*/ 240 h 248"/>
                  <a:gd name="T40" fmla="*/ 102 w 747"/>
                  <a:gd name="T41" fmla="*/ 247 h 248"/>
                  <a:gd name="T42" fmla="*/ 204 w 747"/>
                  <a:gd name="T43" fmla="*/ 247 h 248"/>
                  <a:gd name="T44" fmla="*/ 357 w 747"/>
                  <a:gd name="T45" fmla="*/ 231 h 248"/>
                  <a:gd name="T46" fmla="*/ 438 w 747"/>
                  <a:gd name="T47" fmla="*/ 214 h 248"/>
                  <a:gd name="T48" fmla="*/ 504 w 747"/>
                  <a:gd name="T49" fmla="*/ 192 h 248"/>
                  <a:gd name="T50" fmla="*/ 554 w 747"/>
                  <a:gd name="T51" fmla="*/ 166 h 248"/>
                  <a:gd name="T52" fmla="*/ 573 w 747"/>
                  <a:gd name="T53" fmla="*/ 138 h 248"/>
                  <a:gd name="T54" fmla="*/ 542 w 747"/>
                  <a:gd name="T55" fmla="*/ 117 h 248"/>
                  <a:gd name="T56" fmla="*/ 573 w 747"/>
                  <a:gd name="T57" fmla="*/ 66 h 248"/>
                  <a:gd name="T58" fmla="*/ 509 w 747"/>
                  <a:gd name="T59" fmla="*/ 88 h 248"/>
                  <a:gd name="T60" fmla="*/ 411 w 747"/>
                  <a:gd name="T61" fmla="*/ 95 h 248"/>
                  <a:gd name="T62" fmla="*/ 376 w 747"/>
                  <a:gd name="T63" fmla="*/ 88 h 248"/>
                  <a:gd name="T64" fmla="*/ 380 w 747"/>
                  <a:gd name="T65" fmla="*/ 73 h 248"/>
                  <a:gd name="T66" fmla="*/ 417 w 747"/>
                  <a:gd name="T67" fmla="*/ 54 h 248"/>
                  <a:gd name="T68" fmla="*/ 492 w 747"/>
                  <a:gd name="T69" fmla="*/ 38 h 248"/>
                  <a:gd name="T70" fmla="*/ 566 w 747"/>
                  <a:gd name="T71" fmla="*/ 38 h 248"/>
                  <a:gd name="T72" fmla="*/ 588 w 747"/>
                  <a:gd name="T73" fmla="*/ 49 h 248"/>
                  <a:gd name="T74" fmla="*/ 573 w 747"/>
                  <a:gd name="T75" fmla="*/ 66 h 248"/>
                  <a:gd name="T76" fmla="*/ 385 w 747"/>
                  <a:gd name="T77" fmla="*/ 180 h 248"/>
                  <a:gd name="T78" fmla="*/ 317 w 747"/>
                  <a:gd name="T79" fmla="*/ 200 h 248"/>
                  <a:gd name="T80" fmla="*/ 200 w 747"/>
                  <a:gd name="T81" fmla="*/ 211 h 248"/>
                  <a:gd name="T82" fmla="*/ 164 w 747"/>
                  <a:gd name="T83" fmla="*/ 200 h 248"/>
                  <a:gd name="T84" fmla="*/ 173 w 747"/>
                  <a:gd name="T85" fmla="*/ 180 h 248"/>
                  <a:gd name="T86" fmla="*/ 221 w 747"/>
                  <a:gd name="T87" fmla="*/ 155 h 248"/>
                  <a:gd name="T88" fmla="*/ 314 w 747"/>
                  <a:gd name="T89" fmla="*/ 136 h 248"/>
                  <a:gd name="T90" fmla="*/ 404 w 747"/>
                  <a:gd name="T91" fmla="*/ 136 h 248"/>
                  <a:gd name="T92" fmla="*/ 421 w 747"/>
                  <a:gd name="T93" fmla="*/ 150 h 248"/>
                  <a:gd name="T94" fmla="*/ 402 w 747"/>
                  <a:gd name="T95" fmla="*/ 171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7" h="248">
                    <a:moveTo>
                      <a:pt x="519" y="112"/>
                    </a:moveTo>
                    <a:lnTo>
                      <a:pt x="554" y="109"/>
                    </a:lnTo>
                    <a:lnTo>
                      <a:pt x="585" y="104"/>
                    </a:lnTo>
                    <a:lnTo>
                      <a:pt x="614" y="99"/>
                    </a:lnTo>
                    <a:lnTo>
                      <a:pt x="640" y="92"/>
                    </a:lnTo>
                    <a:lnTo>
                      <a:pt x="664" y="85"/>
                    </a:lnTo>
                    <a:lnTo>
                      <a:pt x="685" y="78"/>
                    </a:lnTo>
                    <a:lnTo>
                      <a:pt x="702" y="71"/>
                    </a:lnTo>
                    <a:lnTo>
                      <a:pt x="717" y="62"/>
                    </a:lnTo>
                    <a:lnTo>
                      <a:pt x="728" y="55"/>
                    </a:lnTo>
                    <a:lnTo>
                      <a:pt x="736" y="50"/>
                    </a:lnTo>
                    <a:lnTo>
                      <a:pt x="741" y="43"/>
                    </a:lnTo>
                    <a:lnTo>
                      <a:pt x="745" y="38"/>
                    </a:lnTo>
                    <a:lnTo>
                      <a:pt x="747" y="33"/>
                    </a:lnTo>
                    <a:lnTo>
                      <a:pt x="745" y="28"/>
                    </a:lnTo>
                    <a:lnTo>
                      <a:pt x="741" y="23"/>
                    </a:lnTo>
                    <a:lnTo>
                      <a:pt x="736" y="18"/>
                    </a:lnTo>
                    <a:lnTo>
                      <a:pt x="728" y="14"/>
                    </a:lnTo>
                    <a:lnTo>
                      <a:pt x="717" y="11"/>
                    </a:lnTo>
                    <a:lnTo>
                      <a:pt x="704" y="7"/>
                    </a:lnTo>
                    <a:lnTo>
                      <a:pt x="688" y="4"/>
                    </a:lnTo>
                    <a:lnTo>
                      <a:pt x="669" y="2"/>
                    </a:lnTo>
                    <a:lnTo>
                      <a:pt x="648" y="2"/>
                    </a:lnTo>
                    <a:lnTo>
                      <a:pt x="624" y="0"/>
                    </a:lnTo>
                    <a:lnTo>
                      <a:pt x="598" y="0"/>
                    </a:lnTo>
                    <a:lnTo>
                      <a:pt x="545" y="2"/>
                    </a:lnTo>
                    <a:lnTo>
                      <a:pt x="493" y="4"/>
                    </a:lnTo>
                    <a:lnTo>
                      <a:pt x="445" y="11"/>
                    </a:lnTo>
                    <a:lnTo>
                      <a:pt x="397" y="18"/>
                    </a:lnTo>
                    <a:lnTo>
                      <a:pt x="354" y="28"/>
                    </a:lnTo>
                    <a:lnTo>
                      <a:pt x="317" y="38"/>
                    </a:lnTo>
                    <a:lnTo>
                      <a:pt x="285" y="50"/>
                    </a:lnTo>
                    <a:lnTo>
                      <a:pt x="257" y="62"/>
                    </a:lnTo>
                    <a:lnTo>
                      <a:pt x="245" y="71"/>
                    </a:lnTo>
                    <a:lnTo>
                      <a:pt x="237" y="80"/>
                    </a:lnTo>
                    <a:lnTo>
                      <a:pt x="231" y="86"/>
                    </a:lnTo>
                    <a:lnTo>
                      <a:pt x="231" y="93"/>
                    </a:lnTo>
                    <a:lnTo>
                      <a:pt x="237" y="100"/>
                    </a:lnTo>
                    <a:lnTo>
                      <a:pt x="245" y="105"/>
                    </a:lnTo>
                    <a:lnTo>
                      <a:pt x="257" y="109"/>
                    </a:lnTo>
                    <a:lnTo>
                      <a:pt x="274" y="112"/>
                    </a:lnTo>
                    <a:lnTo>
                      <a:pt x="237" y="117"/>
                    </a:lnTo>
                    <a:lnTo>
                      <a:pt x="200" y="123"/>
                    </a:lnTo>
                    <a:lnTo>
                      <a:pt x="168" y="130"/>
                    </a:lnTo>
                    <a:lnTo>
                      <a:pt x="135" y="136"/>
                    </a:lnTo>
                    <a:lnTo>
                      <a:pt x="107" y="145"/>
                    </a:lnTo>
                    <a:lnTo>
                      <a:pt x="81" y="154"/>
                    </a:lnTo>
                    <a:lnTo>
                      <a:pt x="57" y="162"/>
                    </a:lnTo>
                    <a:lnTo>
                      <a:pt x="38" y="173"/>
                    </a:lnTo>
                    <a:lnTo>
                      <a:pt x="25" y="181"/>
                    </a:lnTo>
                    <a:lnTo>
                      <a:pt x="14" y="188"/>
                    </a:lnTo>
                    <a:lnTo>
                      <a:pt x="7" y="195"/>
                    </a:lnTo>
                    <a:lnTo>
                      <a:pt x="2" y="204"/>
                    </a:lnTo>
                    <a:lnTo>
                      <a:pt x="0" y="209"/>
                    </a:lnTo>
                    <a:lnTo>
                      <a:pt x="0" y="216"/>
                    </a:lnTo>
                    <a:lnTo>
                      <a:pt x="4" y="223"/>
                    </a:lnTo>
                    <a:lnTo>
                      <a:pt x="9" y="228"/>
                    </a:lnTo>
                    <a:lnTo>
                      <a:pt x="18" y="233"/>
                    </a:lnTo>
                    <a:lnTo>
                      <a:pt x="30" y="236"/>
                    </a:lnTo>
                    <a:lnTo>
                      <a:pt x="44" y="240"/>
                    </a:lnTo>
                    <a:lnTo>
                      <a:pt x="61" y="243"/>
                    </a:lnTo>
                    <a:lnTo>
                      <a:pt x="80" y="245"/>
                    </a:lnTo>
                    <a:lnTo>
                      <a:pt x="102" y="247"/>
                    </a:lnTo>
                    <a:lnTo>
                      <a:pt x="126" y="248"/>
                    </a:lnTo>
                    <a:lnTo>
                      <a:pt x="152" y="248"/>
                    </a:lnTo>
                    <a:lnTo>
                      <a:pt x="204" y="247"/>
                    </a:lnTo>
                    <a:lnTo>
                      <a:pt x="255" y="245"/>
                    </a:lnTo>
                    <a:lnTo>
                      <a:pt x="307" y="240"/>
                    </a:lnTo>
                    <a:lnTo>
                      <a:pt x="357" y="231"/>
                    </a:lnTo>
                    <a:lnTo>
                      <a:pt x="386" y="226"/>
                    </a:lnTo>
                    <a:lnTo>
                      <a:pt x="412" y="219"/>
                    </a:lnTo>
                    <a:lnTo>
                      <a:pt x="438" y="214"/>
                    </a:lnTo>
                    <a:lnTo>
                      <a:pt x="462" y="207"/>
                    </a:lnTo>
                    <a:lnTo>
                      <a:pt x="483" y="200"/>
                    </a:lnTo>
                    <a:lnTo>
                      <a:pt x="504" y="192"/>
                    </a:lnTo>
                    <a:lnTo>
                      <a:pt x="523" y="183"/>
                    </a:lnTo>
                    <a:lnTo>
                      <a:pt x="538" y="174"/>
                    </a:lnTo>
                    <a:lnTo>
                      <a:pt x="554" y="166"/>
                    </a:lnTo>
                    <a:lnTo>
                      <a:pt x="564" y="157"/>
                    </a:lnTo>
                    <a:lnTo>
                      <a:pt x="571" y="147"/>
                    </a:lnTo>
                    <a:lnTo>
                      <a:pt x="573" y="138"/>
                    </a:lnTo>
                    <a:lnTo>
                      <a:pt x="569" y="131"/>
                    </a:lnTo>
                    <a:lnTo>
                      <a:pt x="559" y="124"/>
                    </a:lnTo>
                    <a:lnTo>
                      <a:pt x="542" y="117"/>
                    </a:lnTo>
                    <a:lnTo>
                      <a:pt x="519" y="112"/>
                    </a:lnTo>
                    <a:lnTo>
                      <a:pt x="519" y="112"/>
                    </a:lnTo>
                    <a:close/>
                    <a:moveTo>
                      <a:pt x="573" y="66"/>
                    </a:moveTo>
                    <a:lnTo>
                      <a:pt x="543" y="80"/>
                    </a:lnTo>
                    <a:lnTo>
                      <a:pt x="528" y="85"/>
                    </a:lnTo>
                    <a:lnTo>
                      <a:pt x="509" y="88"/>
                    </a:lnTo>
                    <a:lnTo>
                      <a:pt x="469" y="93"/>
                    </a:lnTo>
                    <a:lnTo>
                      <a:pt x="430" y="95"/>
                    </a:lnTo>
                    <a:lnTo>
                      <a:pt x="411" y="95"/>
                    </a:lnTo>
                    <a:lnTo>
                      <a:pt x="395" y="93"/>
                    </a:lnTo>
                    <a:lnTo>
                      <a:pt x="383" y="92"/>
                    </a:lnTo>
                    <a:lnTo>
                      <a:pt x="376" y="88"/>
                    </a:lnTo>
                    <a:lnTo>
                      <a:pt x="373" y="85"/>
                    </a:lnTo>
                    <a:lnTo>
                      <a:pt x="374" y="80"/>
                    </a:lnTo>
                    <a:lnTo>
                      <a:pt x="380" y="73"/>
                    </a:lnTo>
                    <a:lnTo>
                      <a:pt x="390" y="66"/>
                    </a:lnTo>
                    <a:lnTo>
                      <a:pt x="402" y="59"/>
                    </a:lnTo>
                    <a:lnTo>
                      <a:pt x="417" y="54"/>
                    </a:lnTo>
                    <a:lnTo>
                      <a:pt x="433" y="49"/>
                    </a:lnTo>
                    <a:lnTo>
                      <a:pt x="452" y="45"/>
                    </a:lnTo>
                    <a:lnTo>
                      <a:pt x="492" y="38"/>
                    </a:lnTo>
                    <a:lnTo>
                      <a:pt x="531" y="36"/>
                    </a:lnTo>
                    <a:lnTo>
                      <a:pt x="550" y="36"/>
                    </a:lnTo>
                    <a:lnTo>
                      <a:pt x="566" y="38"/>
                    </a:lnTo>
                    <a:lnTo>
                      <a:pt x="578" y="42"/>
                    </a:lnTo>
                    <a:lnTo>
                      <a:pt x="585" y="45"/>
                    </a:lnTo>
                    <a:lnTo>
                      <a:pt x="588" y="49"/>
                    </a:lnTo>
                    <a:lnTo>
                      <a:pt x="586" y="54"/>
                    </a:lnTo>
                    <a:lnTo>
                      <a:pt x="581" y="59"/>
                    </a:lnTo>
                    <a:lnTo>
                      <a:pt x="573" y="66"/>
                    </a:lnTo>
                    <a:lnTo>
                      <a:pt x="573" y="66"/>
                    </a:lnTo>
                    <a:close/>
                    <a:moveTo>
                      <a:pt x="402" y="171"/>
                    </a:moveTo>
                    <a:lnTo>
                      <a:pt x="385" y="180"/>
                    </a:lnTo>
                    <a:lnTo>
                      <a:pt x="364" y="188"/>
                    </a:lnTo>
                    <a:lnTo>
                      <a:pt x="342" y="195"/>
                    </a:lnTo>
                    <a:lnTo>
                      <a:pt x="317" y="200"/>
                    </a:lnTo>
                    <a:lnTo>
                      <a:pt x="269" y="209"/>
                    </a:lnTo>
                    <a:lnTo>
                      <a:pt x="221" y="211"/>
                    </a:lnTo>
                    <a:lnTo>
                      <a:pt x="200" y="211"/>
                    </a:lnTo>
                    <a:lnTo>
                      <a:pt x="183" y="209"/>
                    </a:lnTo>
                    <a:lnTo>
                      <a:pt x="171" y="205"/>
                    </a:lnTo>
                    <a:lnTo>
                      <a:pt x="164" y="200"/>
                    </a:lnTo>
                    <a:lnTo>
                      <a:pt x="162" y="195"/>
                    </a:lnTo>
                    <a:lnTo>
                      <a:pt x="164" y="188"/>
                    </a:lnTo>
                    <a:lnTo>
                      <a:pt x="173" y="180"/>
                    </a:lnTo>
                    <a:lnTo>
                      <a:pt x="187" y="171"/>
                    </a:lnTo>
                    <a:lnTo>
                      <a:pt x="204" y="162"/>
                    </a:lnTo>
                    <a:lnTo>
                      <a:pt x="221" y="155"/>
                    </a:lnTo>
                    <a:lnTo>
                      <a:pt x="243" y="148"/>
                    </a:lnTo>
                    <a:lnTo>
                      <a:pt x="266" y="143"/>
                    </a:lnTo>
                    <a:lnTo>
                      <a:pt x="314" y="136"/>
                    </a:lnTo>
                    <a:lnTo>
                      <a:pt x="361" y="133"/>
                    </a:lnTo>
                    <a:lnTo>
                      <a:pt x="385" y="133"/>
                    </a:lnTo>
                    <a:lnTo>
                      <a:pt x="404" y="136"/>
                    </a:lnTo>
                    <a:lnTo>
                      <a:pt x="416" y="140"/>
                    </a:lnTo>
                    <a:lnTo>
                      <a:pt x="421" y="145"/>
                    </a:lnTo>
                    <a:lnTo>
                      <a:pt x="421" y="150"/>
                    </a:lnTo>
                    <a:lnTo>
                      <a:pt x="419" y="157"/>
                    </a:lnTo>
                    <a:lnTo>
                      <a:pt x="412" y="164"/>
                    </a:lnTo>
                    <a:lnTo>
                      <a:pt x="402" y="171"/>
                    </a:lnTo>
                    <a:lnTo>
                      <a:pt x="402" y="171"/>
                    </a:lnTo>
                    <a:close/>
                  </a:path>
                </a:pathLst>
              </a:custGeom>
              <a:solidFill>
                <a:srgbClr val="CC33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73" name="Freeform 793"/>
              <p:cNvSpPr>
                <a:spLocks/>
              </p:cNvSpPr>
              <p:nvPr/>
            </p:nvSpPr>
            <p:spPr bwMode="auto">
              <a:xfrm>
                <a:off x="3393" y="3215"/>
                <a:ext cx="372" cy="122"/>
              </a:xfrm>
              <a:custGeom>
                <a:avLst/>
                <a:gdLst>
                  <a:gd name="T0" fmla="*/ 455 w 745"/>
                  <a:gd name="T1" fmla="*/ 176 h 244"/>
                  <a:gd name="T2" fmla="*/ 369 w 745"/>
                  <a:gd name="T3" fmla="*/ 179 h 244"/>
                  <a:gd name="T4" fmla="*/ 305 w 745"/>
                  <a:gd name="T5" fmla="*/ 198 h 244"/>
                  <a:gd name="T6" fmla="*/ 238 w 745"/>
                  <a:gd name="T7" fmla="*/ 207 h 244"/>
                  <a:gd name="T8" fmla="*/ 197 w 745"/>
                  <a:gd name="T9" fmla="*/ 207 h 244"/>
                  <a:gd name="T10" fmla="*/ 167 w 745"/>
                  <a:gd name="T11" fmla="*/ 200 h 244"/>
                  <a:gd name="T12" fmla="*/ 159 w 745"/>
                  <a:gd name="T13" fmla="*/ 188 h 244"/>
                  <a:gd name="T14" fmla="*/ 174 w 745"/>
                  <a:gd name="T15" fmla="*/ 170 h 244"/>
                  <a:gd name="T16" fmla="*/ 235 w 745"/>
                  <a:gd name="T17" fmla="*/ 139 h 244"/>
                  <a:gd name="T18" fmla="*/ 283 w 745"/>
                  <a:gd name="T19" fmla="*/ 126 h 244"/>
                  <a:gd name="T20" fmla="*/ 384 w 745"/>
                  <a:gd name="T21" fmla="*/ 115 h 244"/>
                  <a:gd name="T22" fmla="*/ 438 w 745"/>
                  <a:gd name="T23" fmla="*/ 119 h 244"/>
                  <a:gd name="T24" fmla="*/ 467 w 745"/>
                  <a:gd name="T25" fmla="*/ 132 h 244"/>
                  <a:gd name="T26" fmla="*/ 595 w 745"/>
                  <a:gd name="T27" fmla="*/ 127 h 244"/>
                  <a:gd name="T28" fmla="*/ 745 w 745"/>
                  <a:gd name="T29" fmla="*/ 0 h 244"/>
                  <a:gd name="T30" fmla="*/ 355 w 745"/>
                  <a:gd name="T31" fmla="*/ 0 h 244"/>
                  <a:gd name="T32" fmla="*/ 279 w 745"/>
                  <a:gd name="T33" fmla="*/ 45 h 244"/>
                  <a:gd name="T34" fmla="*/ 555 w 745"/>
                  <a:gd name="T35" fmla="*/ 45 h 244"/>
                  <a:gd name="T36" fmla="*/ 505 w 745"/>
                  <a:gd name="T37" fmla="*/ 86 h 244"/>
                  <a:gd name="T38" fmla="*/ 465 w 745"/>
                  <a:gd name="T39" fmla="*/ 79 h 244"/>
                  <a:gd name="T40" fmla="*/ 419 w 745"/>
                  <a:gd name="T41" fmla="*/ 77 h 244"/>
                  <a:gd name="T42" fmla="*/ 319 w 745"/>
                  <a:gd name="T43" fmla="*/ 82 h 244"/>
                  <a:gd name="T44" fmla="*/ 214 w 745"/>
                  <a:gd name="T45" fmla="*/ 100 h 244"/>
                  <a:gd name="T46" fmla="*/ 117 w 745"/>
                  <a:gd name="T47" fmla="*/ 126 h 244"/>
                  <a:gd name="T48" fmla="*/ 43 w 745"/>
                  <a:gd name="T49" fmla="*/ 158 h 244"/>
                  <a:gd name="T50" fmla="*/ 21 w 745"/>
                  <a:gd name="T51" fmla="*/ 174 h 244"/>
                  <a:gd name="T52" fmla="*/ 7 w 745"/>
                  <a:gd name="T53" fmla="*/ 188 h 244"/>
                  <a:gd name="T54" fmla="*/ 0 w 745"/>
                  <a:gd name="T55" fmla="*/ 200 h 244"/>
                  <a:gd name="T56" fmla="*/ 2 w 745"/>
                  <a:gd name="T57" fmla="*/ 212 h 244"/>
                  <a:gd name="T58" fmla="*/ 17 w 745"/>
                  <a:gd name="T59" fmla="*/ 225 h 244"/>
                  <a:gd name="T60" fmla="*/ 48 w 745"/>
                  <a:gd name="T61" fmla="*/ 236 h 244"/>
                  <a:gd name="T62" fmla="*/ 93 w 745"/>
                  <a:gd name="T63" fmla="*/ 243 h 244"/>
                  <a:gd name="T64" fmla="*/ 154 w 745"/>
                  <a:gd name="T65" fmla="*/ 244 h 244"/>
                  <a:gd name="T66" fmla="*/ 257 w 745"/>
                  <a:gd name="T67" fmla="*/ 239 h 244"/>
                  <a:gd name="T68" fmla="*/ 357 w 745"/>
                  <a:gd name="T69" fmla="*/ 225 h 244"/>
                  <a:gd name="T70" fmla="*/ 448 w 745"/>
                  <a:gd name="T71" fmla="*/ 205 h 244"/>
                  <a:gd name="T72" fmla="*/ 524 w 745"/>
                  <a:gd name="T73" fmla="*/ 177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45" h="244">
                    <a:moveTo>
                      <a:pt x="524" y="177"/>
                    </a:moveTo>
                    <a:lnTo>
                      <a:pt x="455" y="176"/>
                    </a:lnTo>
                    <a:lnTo>
                      <a:pt x="386" y="172"/>
                    </a:lnTo>
                    <a:lnTo>
                      <a:pt x="369" y="179"/>
                    </a:lnTo>
                    <a:lnTo>
                      <a:pt x="348" y="186"/>
                    </a:lnTo>
                    <a:lnTo>
                      <a:pt x="305" y="198"/>
                    </a:lnTo>
                    <a:lnTo>
                      <a:pt x="259" y="205"/>
                    </a:lnTo>
                    <a:lnTo>
                      <a:pt x="238" y="207"/>
                    </a:lnTo>
                    <a:lnTo>
                      <a:pt x="217" y="207"/>
                    </a:lnTo>
                    <a:lnTo>
                      <a:pt x="197" y="207"/>
                    </a:lnTo>
                    <a:lnTo>
                      <a:pt x="179" y="203"/>
                    </a:lnTo>
                    <a:lnTo>
                      <a:pt x="167" y="200"/>
                    </a:lnTo>
                    <a:lnTo>
                      <a:pt x="160" y="194"/>
                    </a:lnTo>
                    <a:lnTo>
                      <a:pt x="159" y="188"/>
                    </a:lnTo>
                    <a:lnTo>
                      <a:pt x="164" y="181"/>
                    </a:lnTo>
                    <a:lnTo>
                      <a:pt x="174" y="170"/>
                    </a:lnTo>
                    <a:lnTo>
                      <a:pt x="191" y="160"/>
                    </a:lnTo>
                    <a:lnTo>
                      <a:pt x="235" y="139"/>
                    </a:lnTo>
                    <a:lnTo>
                      <a:pt x="259" y="132"/>
                    </a:lnTo>
                    <a:lnTo>
                      <a:pt x="283" y="126"/>
                    </a:lnTo>
                    <a:lnTo>
                      <a:pt x="334" y="119"/>
                    </a:lnTo>
                    <a:lnTo>
                      <a:pt x="384" y="115"/>
                    </a:lnTo>
                    <a:lnTo>
                      <a:pt x="414" y="117"/>
                    </a:lnTo>
                    <a:lnTo>
                      <a:pt x="438" y="119"/>
                    </a:lnTo>
                    <a:lnTo>
                      <a:pt x="455" y="126"/>
                    </a:lnTo>
                    <a:lnTo>
                      <a:pt x="467" y="132"/>
                    </a:lnTo>
                    <a:lnTo>
                      <a:pt x="531" y="131"/>
                    </a:lnTo>
                    <a:lnTo>
                      <a:pt x="595" y="127"/>
                    </a:lnTo>
                    <a:lnTo>
                      <a:pt x="671" y="64"/>
                    </a:lnTo>
                    <a:lnTo>
                      <a:pt x="745" y="0"/>
                    </a:lnTo>
                    <a:lnTo>
                      <a:pt x="550" y="0"/>
                    </a:lnTo>
                    <a:lnTo>
                      <a:pt x="355" y="0"/>
                    </a:lnTo>
                    <a:lnTo>
                      <a:pt x="317" y="22"/>
                    </a:lnTo>
                    <a:lnTo>
                      <a:pt x="279" y="45"/>
                    </a:lnTo>
                    <a:lnTo>
                      <a:pt x="417" y="45"/>
                    </a:lnTo>
                    <a:lnTo>
                      <a:pt x="555" y="45"/>
                    </a:lnTo>
                    <a:lnTo>
                      <a:pt x="531" y="65"/>
                    </a:lnTo>
                    <a:lnTo>
                      <a:pt x="505" y="86"/>
                    </a:lnTo>
                    <a:lnTo>
                      <a:pt x="486" y="82"/>
                    </a:lnTo>
                    <a:lnTo>
                      <a:pt x="465" y="79"/>
                    </a:lnTo>
                    <a:lnTo>
                      <a:pt x="443" y="77"/>
                    </a:lnTo>
                    <a:lnTo>
                      <a:pt x="419" y="77"/>
                    </a:lnTo>
                    <a:lnTo>
                      <a:pt x="369" y="79"/>
                    </a:lnTo>
                    <a:lnTo>
                      <a:pt x="319" y="82"/>
                    </a:lnTo>
                    <a:lnTo>
                      <a:pt x="267" y="89"/>
                    </a:lnTo>
                    <a:lnTo>
                      <a:pt x="214" y="100"/>
                    </a:lnTo>
                    <a:lnTo>
                      <a:pt x="162" y="112"/>
                    </a:lnTo>
                    <a:lnTo>
                      <a:pt x="117" y="126"/>
                    </a:lnTo>
                    <a:lnTo>
                      <a:pt x="78" y="141"/>
                    </a:lnTo>
                    <a:lnTo>
                      <a:pt x="43" y="158"/>
                    </a:lnTo>
                    <a:lnTo>
                      <a:pt x="31" y="165"/>
                    </a:lnTo>
                    <a:lnTo>
                      <a:pt x="21" y="174"/>
                    </a:lnTo>
                    <a:lnTo>
                      <a:pt x="12" y="181"/>
                    </a:lnTo>
                    <a:lnTo>
                      <a:pt x="7" y="188"/>
                    </a:lnTo>
                    <a:lnTo>
                      <a:pt x="2" y="193"/>
                    </a:lnTo>
                    <a:lnTo>
                      <a:pt x="0" y="200"/>
                    </a:lnTo>
                    <a:lnTo>
                      <a:pt x="0" y="207"/>
                    </a:lnTo>
                    <a:lnTo>
                      <a:pt x="2" y="212"/>
                    </a:lnTo>
                    <a:lnTo>
                      <a:pt x="9" y="220"/>
                    </a:lnTo>
                    <a:lnTo>
                      <a:pt x="17" y="225"/>
                    </a:lnTo>
                    <a:lnTo>
                      <a:pt x="31" y="232"/>
                    </a:lnTo>
                    <a:lnTo>
                      <a:pt x="48" y="236"/>
                    </a:lnTo>
                    <a:lnTo>
                      <a:pt x="69" y="239"/>
                    </a:lnTo>
                    <a:lnTo>
                      <a:pt x="93" y="243"/>
                    </a:lnTo>
                    <a:lnTo>
                      <a:pt x="123" y="244"/>
                    </a:lnTo>
                    <a:lnTo>
                      <a:pt x="154" y="244"/>
                    </a:lnTo>
                    <a:lnTo>
                      <a:pt x="205" y="243"/>
                    </a:lnTo>
                    <a:lnTo>
                      <a:pt x="257" y="239"/>
                    </a:lnTo>
                    <a:lnTo>
                      <a:pt x="307" y="234"/>
                    </a:lnTo>
                    <a:lnTo>
                      <a:pt x="357" y="225"/>
                    </a:lnTo>
                    <a:lnTo>
                      <a:pt x="405" y="215"/>
                    </a:lnTo>
                    <a:lnTo>
                      <a:pt x="448" y="205"/>
                    </a:lnTo>
                    <a:lnTo>
                      <a:pt x="488" y="191"/>
                    </a:lnTo>
                    <a:lnTo>
                      <a:pt x="524" y="177"/>
                    </a:lnTo>
                    <a:close/>
                  </a:path>
                </a:pathLst>
              </a:custGeom>
              <a:solidFill>
                <a:srgbClr val="CC33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49274" name="Group 794"/>
            <p:cNvGrpSpPr>
              <a:grpSpLocks/>
            </p:cNvGrpSpPr>
            <p:nvPr/>
          </p:nvGrpSpPr>
          <p:grpSpPr bwMode="auto">
            <a:xfrm>
              <a:off x="3443" y="3403"/>
              <a:ext cx="846" cy="138"/>
              <a:chOff x="3460" y="3420"/>
              <a:chExt cx="846" cy="138"/>
            </a:xfrm>
          </p:grpSpPr>
          <p:sp>
            <p:nvSpPr>
              <p:cNvPr id="149275" name="Freeform 795"/>
              <p:cNvSpPr>
                <a:spLocks noEditPoints="1"/>
              </p:cNvSpPr>
              <p:nvPr/>
            </p:nvSpPr>
            <p:spPr bwMode="auto">
              <a:xfrm>
                <a:off x="3480" y="3434"/>
                <a:ext cx="317" cy="124"/>
              </a:xfrm>
              <a:custGeom>
                <a:avLst/>
                <a:gdLst>
                  <a:gd name="T0" fmla="*/ 203 w 632"/>
                  <a:gd name="T1" fmla="*/ 104 h 249"/>
                  <a:gd name="T2" fmla="*/ 193 w 632"/>
                  <a:gd name="T3" fmla="*/ 85 h 249"/>
                  <a:gd name="T4" fmla="*/ 214 w 632"/>
                  <a:gd name="T5" fmla="*/ 62 h 249"/>
                  <a:gd name="T6" fmla="*/ 295 w 632"/>
                  <a:gd name="T7" fmla="*/ 28 h 249"/>
                  <a:gd name="T8" fmla="*/ 412 w 632"/>
                  <a:gd name="T9" fmla="*/ 4 h 249"/>
                  <a:gd name="T10" fmla="*/ 526 w 632"/>
                  <a:gd name="T11" fmla="*/ 0 h 249"/>
                  <a:gd name="T12" fmla="*/ 579 w 632"/>
                  <a:gd name="T13" fmla="*/ 4 h 249"/>
                  <a:gd name="T14" fmla="*/ 615 w 632"/>
                  <a:gd name="T15" fmla="*/ 14 h 249"/>
                  <a:gd name="T16" fmla="*/ 631 w 632"/>
                  <a:gd name="T17" fmla="*/ 28 h 249"/>
                  <a:gd name="T18" fmla="*/ 629 w 632"/>
                  <a:gd name="T19" fmla="*/ 43 h 249"/>
                  <a:gd name="T20" fmla="*/ 607 w 632"/>
                  <a:gd name="T21" fmla="*/ 62 h 249"/>
                  <a:gd name="T22" fmla="*/ 558 w 632"/>
                  <a:gd name="T23" fmla="*/ 87 h 249"/>
                  <a:gd name="T24" fmla="*/ 441 w 632"/>
                  <a:gd name="T25" fmla="*/ 112 h 249"/>
                  <a:gd name="T26" fmla="*/ 484 w 632"/>
                  <a:gd name="T27" fmla="*/ 130 h 249"/>
                  <a:gd name="T28" fmla="*/ 486 w 632"/>
                  <a:gd name="T29" fmla="*/ 154 h 249"/>
                  <a:gd name="T30" fmla="*/ 438 w 632"/>
                  <a:gd name="T31" fmla="*/ 188 h 249"/>
                  <a:gd name="T32" fmla="*/ 326 w 632"/>
                  <a:gd name="T33" fmla="*/ 228 h 249"/>
                  <a:gd name="T34" fmla="*/ 188 w 632"/>
                  <a:gd name="T35" fmla="*/ 247 h 249"/>
                  <a:gd name="T36" fmla="*/ 65 w 632"/>
                  <a:gd name="T37" fmla="*/ 245 h 249"/>
                  <a:gd name="T38" fmla="*/ 26 w 632"/>
                  <a:gd name="T39" fmla="*/ 235 h 249"/>
                  <a:gd name="T40" fmla="*/ 3 w 632"/>
                  <a:gd name="T41" fmla="*/ 219 h 249"/>
                  <a:gd name="T42" fmla="*/ 3 w 632"/>
                  <a:gd name="T43" fmla="*/ 200 h 249"/>
                  <a:gd name="T44" fmla="*/ 31 w 632"/>
                  <a:gd name="T45" fmla="*/ 174 h 249"/>
                  <a:gd name="T46" fmla="*/ 86 w 632"/>
                  <a:gd name="T47" fmla="*/ 147 h 249"/>
                  <a:gd name="T48" fmla="*/ 165 w 632"/>
                  <a:gd name="T49" fmla="*/ 124 h 249"/>
                  <a:gd name="T50" fmla="*/ 231 w 632"/>
                  <a:gd name="T51" fmla="*/ 112 h 249"/>
                  <a:gd name="T52" fmla="*/ 319 w 632"/>
                  <a:gd name="T53" fmla="*/ 73 h 249"/>
                  <a:gd name="T54" fmla="*/ 317 w 632"/>
                  <a:gd name="T55" fmla="*/ 88 h 249"/>
                  <a:gd name="T56" fmla="*/ 345 w 632"/>
                  <a:gd name="T57" fmla="*/ 95 h 249"/>
                  <a:gd name="T58" fmla="*/ 431 w 632"/>
                  <a:gd name="T59" fmla="*/ 88 h 249"/>
                  <a:gd name="T60" fmla="*/ 484 w 632"/>
                  <a:gd name="T61" fmla="*/ 66 h 249"/>
                  <a:gd name="T62" fmla="*/ 496 w 632"/>
                  <a:gd name="T63" fmla="*/ 49 h 249"/>
                  <a:gd name="T64" fmla="*/ 477 w 632"/>
                  <a:gd name="T65" fmla="*/ 38 h 249"/>
                  <a:gd name="T66" fmla="*/ 414 w 632"/>
                  <a:gd name="T67" fmla="*/ 38 h 249"/>
                  <a:gd name="T68" fmla="*/ 338 w 632"/>
                  <a:gd name="T69" fmla="*/ 59 h 249"/>
                  <a:gd name="T70" fmla="*/ 327 w 632"/>
                  <a:gd name="T71" fmla="*/ 66 h 249"/>
                  <a:gd name="T72" fmla="*/ 141 w 632"/>
                  <a:gd name="T73" fmla="*/ 188 h 249"/>
                  <a:gd name="T74" fmla="*/ 150 w 632"/>
                  <a:gd name="T75" fmla="*/ 205 h 249"/>
                  <a:gd name="T76" fmla="*/ 193 w 632"/>
                  <a:gd name="T77" fmla="*/ 211 h 249"/>
                  <a:gd name="T78" fmla="*/ 312 w 632"/>
                  <a:gd name="T79" fmla="*/ 188 h 249"/>
                  <a:gd name="T80" fmla="*/ 353 w 632"/>
                  <a:gd name="T81" fmla="*/ 162 h 249"/>
                  <a:gd name="T82" fmla="*/ 358 w 632"/>
                  <a:gd name="T83" fmla="*/ 143 h 249"/>
                  <a:gd name="T84" fmla="*/ 326 w 632"/>
                  <a:gd name="T85" fmla="*/ 133 h 249"/>
                  <a:gd name="T86" fmla="*/ 243 w 632"/>
                  <a:gd name="T87" fmla="*/ 140 h 249"/>
                  <a:gd name="T88" fmla="*/ 186 w 632"/>
                  <a:gd name="T89" fmla="*/ 157 h 249"/>
                  <a:gd name="T90" fmla="*/ 160 w 632"/>
                  <a:gd name="T91" fmla="*/ 171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2" h="249">
                    <a:moveTo>
                      <a:pt x="231" y="112"/>
                    </a:moveTo>
                    <a:lnTo>
                      <a:pt x="215" y="109"/>
                    </a:lnTo>
                    <a:lnTo>
                      <a:pt x="203" y="104"/>
                    </a:lnTo>
                    <a:lnTo>
                      <a:pt x="196" y="99"/>
                    </a:lnTo>
                    <a:lnTo>
                      <a:pt x="193" y="92"/>
                    </a:lnTo>
                    <a:lnTo>
                      <a:pt x="193" y="85"/>
                    </a:lnTo>
                    <a:lnTo>
                      <a:pt x="196" y="78"/>
                    </a:lnTo>
                    <a:lnTo>
                      <a:pt x="203" y="71"/>
                    </a:lnTo>
                    <a:lnTo>
                      <a:pt x="214" y="62"/>
                    </a:lnTo>
                    <a:lnTo>
                      <a:pt x="236" y="50"/>
                    </a:lnTo>
                    <a:lnTo>
                      <a:pt x="262" y="38"/>
                    </a:lnTo>
                    <a:lnTo>
                      <a:pt x="295" y="28"/>
                    </a:lnTo>
                    <a:lnTo>
                      <a:pt x="331" y="18"/>
                    </a:lnTo>
                    <a:lnTo>
                      <a:pt x="370" y="11"/>
                    </a:lnTo>
                    <a:lnTo>
                      <a:pt x="412" y="4"/>
                    </a:lnTo>
                    <a:lnTo>
                      <a:pt x="457" y="2"/>
                    </a:lnTo>
                    <a:lnTo>
                      <a:pt x="503" y="0"/>
                    </a:lnTo>
                    <a:lnTo>
                      <a:pt x="526" y="0"/>
                    </a:lnTo>
                    <a:lnTo>
                      <a:pt x="546" y="2"/>
                    </a:lnTo>
                    <a:lnTo>
                      <a:pt x="563" y="2"/>
                    </a:lnTo>
                    <a:lnTo>
                      <a:pt x="579" y="4"/>
                    </a:lnTo>
                    <a:lnTo>
                      <a:pt x="593" y="7"/>
                    </a:lnTo>
                    <a:lnTo>
                      <a:pt x="605" y="11"/>
                    </a:lnTo>
                    <a:lnTo>
                      <a:pt x="615" y="14"/>
                    </a:lnTo>
                    <a:lnTo>
                      <a:pt x="622" y="18"/>
                    </a:lnTo>
                    <a:lnTo>
                      <a:pt x="627" y="23"/>
                    </a:lnTo>
                    <a:lnTo>
                      <a:pt x="631" y="28"/>
                    </a:lnTo>
                    <a:lnTo>
                      <a:pt x="632" y="33"/>
                    </a:lnTo>
                    <a:lnTo>
                      <a:pt x="631" y="38"/>
                    </a:lnTo>
                    <a:lnTo>
                      <a:pt x="629" y="43"/>
                    </a:lnTo>
                    <a:lnTo>
                      <a:pt x="624" y="50"/>
                    </a:lnTo>
                    <a:lnTo>
                      <a:pt x="615" y="56"/>
                    </a:lnTo>
                    <a:lnTo>
                      <a:pt x="607" y="62"/>
                    </a:lnTo>
                    <a:lnTo>
                      <a:pt x="593" y="71"/>
                    </a:lnTo>
                    <a:lnTo>
                      <a:pt x="577" y="80"/>
                    </a:lnTo>
                    <a:lnTo>
                      <a:pt x="558" y="87"/>
                    </a:lnTo>
                    <a:lnTo>
                      <a:pt x="539" y="93"/>
                    </a:lnTo>
                    <a:lnTo>
                      <a:pt x="493" y="106"/>
                    </a:lnTo>
                    <a:lnTo>
                      <a:pt x="441" y="112"/>
                    </a:lnTo>
                    <a:lnTo>
                      <a:pt x="460" y="118"/>
                    </a:lnTo>
                    <a:lnTo>
                      <a:pt x="476" y="123"/>
                    </a:lnTo>
                    <a:lnTo>
                      <a:pt x="484" y="130"/>
                    </a:lnTo>
                    <a:lnTo>
                      <a:pt x="489" y="137"/>
                    </a:lnTo>
                    <a:lnTo>
                      <a:pt x="489" y="145"/>
                    </a:lnTo>
                    <a:lnTo>
                      <a:pt x="486" y="154"/>
                    </a:lnTo>
                    <a:lnTo>
                      <a:pt x="477" y="162"/>
                    </a:lnTo>
                    <a:lnTo>
                      <a:pt x="465" y="173"/>
                    </a:lnTo>
                    <a:lnTo>
                      <a:pt x="438" y="188"/>
                    </a:lnTo>
                    <a:lnTo>
                      <a:pt x="405" y="204"/>
                    </a:lnTo>
                    <a:lnTo>
                      <a:pt x="367" y="216"/>
                    </a:lnTo>
                    <a:lnTo>
                      <a:pt x="326" y="228"/>
                    </a:lnTo>
                    <a:lnTo>
                      <a:pt x="281" y="236"/>
                    </a:lnTo>
                    <a:lnTo>
                      <a:pt x="234" y="243"/>
                    </a:lnTo>
                    <a:lnTo>
                      <a:pt x="188" y="247"/>
                    </a:lnTo>
                    <a:lnTo>
                      <a:pt x="140" y="249"/>
                    </a:lnTo>
                    <a:lnTo>
                      <a:pt x="98" y="247"/>
                    </a:lnTo>
                    <a:lnTo>
                      <a:pt x="65" y="245"/>
                    </a:lnTo>
                    <a:lnTo>
                      <a:pt x="50" y="242"/>
                    </a:lnTo>
                    <a:lnTo>
                      <a:pt x="38" y="240"/>
                    </a:lnTo>
                    <a:lnTo>
                      <a:pt x="26" y="235"/>
                    </a:lnTo>
                    <a:lnTo>
                      <a:pt x="17" y="231"/>
                    </a:lnTo>
                    <a:lnTo>
                      <a:pt x="9" y="226"/>
                    </a:lnTo>
                    <a:lnTo>
                      <a:pt x="3" y="219"/>
                    </a:lnTo>
                    <a:lnTo>
                      <a:pt x="0" y="214"/>
                    </a:lnTo>
                    <a:lnTo>
                      <a:pt x="2" y="207"/>
                    </a:lnTo>
                    <a:lnTo>
                      <a:pt x="3" y="200"/>
                    </a:lnTo>
                    <a:lnTo>
                      <a:pt x="10" y="192"/>
                    </a:lnTo>
                    <a:lnTo>
                      <a:pt x="19" y="183"/>
                    </a:lnTo>
                    <a:lnTo>
                      <a:pt x="31" y="174"/>
                    </a:lnTo>
                    <a:lnTo>
                      <a:pt x="46" y="166"/>
                    </a:lnTo>
                    <a:lnTo>
                      <a:pt x="65" y="157"/>
                    </a:lnTo>
                    <a:lnTo>
                      <a:pt x="86" y="147"/>
                    </a:lnTo>
                    <a:lnTo>
                      <a:pt x="110" y="138"/>
                    </a:lnTo>
                    <a:lnTo>
                      <a:pt x="138" y="131"/>
                    </a:lnTo>
                    <a:lnTo>
                      <a:pt x="165" y="124"/>
                    </a:lnTo>
                    <a:lnTo>
                      <a:pt x="198" y="118"/>
                    </a:lnTo>
                    <a:lnTo>
                      <a:pt x="231" y="112"/>
                    </a:lnTo>
                    <a:lnTo>
                      <a:pt x="231" y="112"/>
                    </a:lnTo>
                    <a:lnTo>
                      <a:pt x="231" y="112"/>
                    </a:lnTo>
                    <a:close/>
                    <a:moveTo>
                      <a:pt x="327" y="66"/>
                    </a:moveTo>
                    <a:lnTo>
                      <a:pt x="319" y="73"/>
                    </a:lnTo>
                    <a:lnTo>
                      <a:pt x="315" y="80"/>
                    </a:lnTo>
                    <a:lnTo>
                      <a:pt x="314" y="85"/>
                    </a:lnTo>
                    <a:lnTo>
                      <a:pt x="317" y="88"/>
                    </a:lnTo>
                    <a:lnTo>
                      <a:pt x="322" y="92"/>
                    </a:lnTo>
                    <a:lnTo>
                      <a:pt x="333" y="93"/>
                    </a:lnTo>
                    <a:lnTo>
                      <a:pt x="345" y="95"/>
                    </a:lnTo>
                    <a:lnTo>
                      <a:pt x="362" y="95"/>
                    </a:lnTo>
                    <a:lnTo>
                      <a:pt x="396" y="93"/>
                    </a:lnTo>
                    <a:lnTo>
                      <a:pt x="431" y="88"/>
                    </a:lnTo>
                    <a:lnTo>
                      <a:pt x="460" y="80"/>
                    </a:lnTo>
                    <a:lnTo>
                      <a:pt x="474" y="73"/>
                    </a:lnTo>
                    <a:lnTo>
                      <a:pt x="484" y="66"/>
                    </a:lnTo>
                    <a:lnTo>
                      <a:pt x="491" y="59"/>
                    </a:lnTo>
                    <a:lnTo>
                      <a:pt x="496" y="54"/>
                    </a:lnTo>
                    <a:lnTo>
                      <a:pt x="496" y="49"/>
                    </a:lnTo>
                    <a:lnTo>
                      <a:pt x="495" y="45"/>
                    </a:lnTo>
                    <a:lnTo>
                      <a:pt x="488" y="42"/>
                    </a:lnTo>
                    <a:lnTo>
                      <a:pt x="477" y="38"/>
                    </a:lnTo>
                    <a:lnTo>
                      <a:pt x="465" y="37"/>
                    </a:lnTo>
                    <a:lnTo>
                      <a:pt x="450" y="37"/>
                    </a:lnTo>
                    <a:lnTo>
                      <a:pt x="414" y="38"/>
                    </a:lnTo>
                    <a:lnTo>
                      <a:pt x="379" y="45"/>
                    </a:lnTo>
                    <a:lnTo>
                      <a:pt x="350" y="54"/>
                    </a:lnTo>
                    <a:lnTo>
                      <a:pt x="338" y="59"/>
                    </a:lnTo>
                    <a:lnTo>
                      <a:pt x="327" y="66"/>
                    </a:lnTo>
                    <a:lnTo>
                      <a:pt x="327" y="66"/>
                    </a:lnTo>
                    <a:lnTo>
                      <a:pt x="327" y="66"/>
                    </a:lnTo>
                    <a:close/>
                    <a:moveTo>
                      <a:pt x="160" y="171"/>
                    </a:moveTo>
                    <a:lnTo>
                      <a:pt x="148" y="180"/>
                    </a:lnTo>
                    <a:lnTo>
                      <a:pt x="141" y="188"/>
                    </a:lnTo>
                    <a:lnTo>
                      <a:pt x="140" y="195"/>
                    </a:lnTo>
                    <a:lnTo>
                      <a:pt x="143" y="200"/>
                    </a:lnTo>
                    <a:lnTo>
                      <a:pt x="150" y="205"/>
                    </a:lnTo>
                    <a:lnTo>
                      <a:pt x="160" y="209"/>
                    </a:lnTo>
                    <a:lnTo>
                      <a:pt x="176" y="211"/>
                    </a:lnTo>
                    <a:lnTo>
                      <a:pt x="193" y="211"/>
                    </a:lnTo>
                    <a:lnTo>
                      <a:pt x="233" y="209"/>
                    </a:lnTo>
                    <a:lnTo>
                      <a:pt x="274" y="200"/>
                    </a:lnTo>
                    <a:lnTo>
                      <a:pt x="312" y="188"/>
                    </a:lnTo>
                    <a:lnTo>
                      <a:pt x="327" y="180"/>
                    </a:lnTo>
                    <a:lnTo>
                      <a:pt x="343" y="171"/>
                    </a:lnTo>
                    <a:lnTo>
                      <a:pt x="353" y="162"/>
                    </a:lnTo>
                    <a:lnTo>
                      <a:pt x="360" y="155"/>
                    </a:lnTo>
                    <a:lnTo>
                      <a:pt x="362" y="149"/>
                    </a:lnTo>
                    <a:lnTo>
                      <a:pt x="358" y="143"/>
                    </a:lnTo>
                    <a:lnTo>
                      <a:pt x="351" y="138"/>
                    </a:lnTo>
                    <a:lnTo>
                      <a:pt x="341" y="137"/>
                    </a:lnTo>
                    <a:lnTo>
                      <a:pt x="326" y="133"/>
                    </a:lnTo>
                    <a:lnTo>
                      <a:pt x="308" y="133"/>
                    </a:lnTo>
                    <a:lnTo>
                      <a:pt x="264" y="137"/>
                    </a:lnTo>
                    <a:lnTo>
                      <a:pt x="243" y="140"/>
                    </a:lnTo>
                    <a:lnTo>
                      <a:pt x="222" y="145"/>
                    </a:lnTo>
                    <a:lnTo>
                      <a:pt x="203" y="150"/>
                    </a:lnTo>
                    <a:lnTo>
                      <a:pt x="186" y="157"/>
                    </a:lnTo>
                    <a:lnTo>
                      <a:pt x="172" y="164"/>
                    </a:lnTo>
                    <a:lnTo>
                      <a:pt x="160" y="171"/>
                    </a:lnTo>
                    <a:lnTo>
                      <a:pt x="160" y="171"/>
                    </a:lnTo>
                    <a:lnTo>
                      <a:pt x="160" y="17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76" name="Freeform 796"/>
              <p:cNvSpPr>
                <a:spLocks/>
              </p:cNvSpPr>
              <p:nvPr/>
            </p:nvSpPr>
            <p:spPr bwMode="auto">
              <a:xfrm>
                <a:off x="3744" y="3435"/>
                <a:ext cx="349" cy="120"/>
              </a:xfrm>
              <a:custGeom>
                <a:avLst/>
                <a:gdLst>
                  <a:gd name="T0" fmla="*/ 204 w 698"/>
                  <a:gd name="T1" fmla="*/ 45 h 239"/>
                  <a:gd name="T2" fmla="*/ 236 w 698"/>
                  <a:gd name="T3" fmla="*/ 22 h 239"/>
                  <a:gd name="T4" fmla="*/ 267 w 698"/>
                  <a:gd name="T5" fmla="*/ 0 h 239"/>
                  <a:gd name="T6" fmla="*/ 483 w 698"/>
                  <a:gd name="T7" fmla="*/ 0 h 239"/>
                  <a:gd name="T8" fmla="*/ 698 w 698"/>
                  <a:gd name="T9" fmla="*/ 0 h 239"/>
                  <a:gd name="T10" fmla="*/ 672 w 698"/>
                  <a:gd name="T11" fmla="*/ 17 h 239"/>
                  <a:gd name="T12" fmla="*/ 646 w 698"/>
                  <a:gd name="T13" fmla="*/ 34 h 239"/>
                  <a:gd name="T14" fmla="*/ 605 w 698"/>
                  <a:gd name="T15" fmla="*/ 45 h 239"/>
                  <a:gd name="T16" fmla="*/ 559 w 698"/>
                  <a:gd name="T17" fmla="*/ 58 h 239"/>
                  <a:gd name="T18" fmla="*/ 510 w 698"/>
                  <a:gd name="T19" fmla="*/ 72 h 239"/>
                  <a:gd name="T20" fmla="*/ 457 w 698"/>
                  <a:gd name="T21" fmla="*/ 89 h 239"/>
                  <a:gd name="T22" fmla="*/ 403 w 698"/>
                  <a:gd name="T23" fmla="*/ 108 h 239"/>
                  <a:gd name="T24" fmla="*/ 354 w 698"/>
                  <a:gd name="T25" fmla="*/ 127 h 239"/>
                  <a:gd name="T26" fmla="*/ 304 w 698"/>
                  <a:gd name="T27" fmla="*/ 146 h 239"/>
                  <a:gd name="T28" fmla="*/ 259 w 698"/>
                  <a:gd name="T29" fmla="*/ 167 h 239"/>
                  <a:gd name="T30" fmla="*/ 216 w 698"/>
                  <a:gd name="T31" fmla="*/ 188 h 239"/>
                  <a:gd name="T32" fmla="*/ 179 w 698"/>
                  <a:gd name="T33" fmla="*/ 207 h 239"/>
                  <a:gd name="T34" fmla="*/ 147 w 698"/>
                  <a:gd name="T35" fmla="*/ 224 h 239"/>
                  <a:gd name="T36" fmla="*/ 121 w 698"/>
                  <a:gd name="T37" fmla="*/ 239 h 239"/>
                  <a:gd name="T38" fmla="*/ 61 w 698"/>
                  <a:gd name="T39" fmla="*/ 239 h 239"/>
                  <a:gd name="T40" fmla="*/ 0 w 698"/>
                  <a:gd name="T41" fmla="*/ 239 h 239"/>
                  <a:gd name="T42" fmla="*/ 42 w 698"/>
                  <a:gd name="T43" fmla="*/ 215 h 239"/>
                  <a:gd name="T44" fmla="*/ 92 w 698"/>
                  <a:gd name="T45" fmla="*/ 189 h 239"/>
                  <a:gd name="T46" fmla="*/ 117 w 698"/>
                  <a:gd name="T47" fmla="*/ 176 h 239"/>
                  <a:gd name="T48" fmla="*/ 147 w 698"/>
                  <a:gd name="T49" fmla="*/ 164 h 239"/>
                  <a:gd name="T50" fmla="*/ 176 w 698"/>
                  <a:gd name="T51" fmla="*/ 151 h 239"/>
                  <a:gd name="T52" fmla="*/ 209 w 698"/>
                  <a:gd name="T53" fmla="*/ 138 h 239"/>
                  <a:gd name="T54" fmla="*/ 276 w 698"/>
                  <a:gd name="T55" fmla="*/ 112 h 239"/>
                  <a:gd name="T56" fmla="*/ 345 w 698"/>
                  <a:gd name="T57" fmla="*/ 88 h 239"/>
                  <a:gd name="T58" fmla="*/ 416 w 698"/>
                  <a:gd name="T59" fmla="*/ 65 h 239"/>
                  <a:gd name="T60" fmla="*/ 490 w 698"/>
                  <a:gd name="T61" fmla="*/ 45 h 239"/>
                  <a:gd name="T62" fmla="*/ 347 w 698"/>
                  <a:gd name="T63" fmla="*/ 45 h 239"/>
                  <a:gd name="T64" fmla="*/ 204 w 698"/>
                  <a:gd name="T65" fmla="*/ 45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8" h="239">
                    <a:moveTo>
                      <a:pt x="204" y="45"/>
                    </a:moveTo>
                    <a:lnTo>
                      <a:pt x="236" y="22"/>
                    </a:lnTo>
                    <a:lnTo>
                      <a:pt x="267" y="0"/>
                    </a:lnTo>
                    <a:lnTo>
                      <a:pt x="483" y="0"/>
                    </a:lnTo>
                    <a:lnTo>
                      <a:pt x="698" y="0"/>
                    </a:lnTo>
                    <a:lnTo>
                      <a:pt x="672" y="17"/>
                    </a:lnTo>
                    <a:lnTo>
                      <a:pt x="646" y="34"/>
                    </a:lnTo>
                    <a:lnTo>
                      <a:pt x="605" y="45"/>
                    </a:lnTo>
                    <a:lnTo>
                      <a:pt x="559" y="58"/>
                    </a:lnTo>
                    <a:lnTo>
                      <a:pt x="510" y="72"/>
                    </a:lnTo>
                    <a:lnTo>
                      <a:pt x="457" y="89"/>
                    </a:lnTo>
                    <a:lnTo>
                      <a:pt x="403" y="108"/>
                    </a:lnTo>
                    <a:lnTo>
                      <a:pt x="354" y="127"/>
                    </a:lnTo>
                    <a:lnTo>
                      <a:pt x="304" y="146"/>
                    </a:lnTo>
                    <a:lnTo>
                      <a:pt x="259" y="167"/>
                    </a:lnTo>
                    <a:lnTo>
                      <a:pt x="216" y="188"/>
                    </a:lnTo>
                    <a:lnTo>
                      <a:pt x="179" y="207"/>
                    </a:lnTo>
                    <a:lnTo>
                      <a:pt x="147" y="224"/>
                    </a:lnTo>
                    <a:lnTo>
                      <a:pt x="121" y="239"/>
                    </a:lnTo>
                    <a:lnTo>
                      <a:pt x="61" y="239"/>
                    </a:lnTo>
                    <a:lnTo>
                      <a:pt x="0" y="239"/>
                    </a:lnTo>
                    <a:lnTo>
                      <a:pt x="42" y="215"/>
                    </a:lnTo>
                    <a:lnTo>
                      <a:pt x="92" y="189"/>
                    </a:lnTo>
                    <a:lnTo>
                      <a:pt x="117" y="176"/>
                    </a:lnTo>
                    <a:lnTo>
                      <a:pt x="147" y="164"/>
                    </a:lnTo>
                    <a:lnTo>
                      <a:pt x="176" y="151"/>
                    </a:lnTo>
                    <a:lnTo>
                      <a:pt x="209" y="138"/>
                    </a:lnTo>
                    <a:lnTo>
                      <a:pt x="276" y="112"/>
                    </a:lnTo>
                    <a:lnTo>
                      <a:pt x="345" y="88"/>
                    </a:lnTo>
                    <a:lnTo>
                      <a:pt x="416" y="65"/>
                    </a:lnTo>
                    <a:lnTo>
                      <a:pt x="490" y="45"/>
                    </a:lnTo>
                    <a:lnTo>
                      <a:pt x="347" y="45"/>
                    </a:lnTo>
                    <a:lnTo>
                      <a:pt x="204" y="4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77" name="Freeform 797"/>
              <p:cNvSpPr>
                <a:spLocks noEditPoints="1"/>
              </p:cNvSpPr>
              <p:nvPr/>
            </p:nvSpPr>
            <p:spPr bwMode="auto">
              <a:xfrm>
                <a:off x="3991" y="3434"/>
                <a:ext cx="315" cy="124"/>
              </a:xfrm>
              <a:custGeom>
                <a:avLst/>
                <a:gdLst>
                  <a:gd name="T0" fmla="*/ 202 w 631"/>
                  <a:gd name="T1" fmla="*/ 104 h 249"/>
                  <a:gd name="T2" fmla="*/ 191 w 631"/>
                  <a:gd name="T3" fmla="*/ 85 h 249"/>
                  <a:gd name="T4" fmla="*/ 212 w 631"/>
                  <a:gd name="T5" fmla="*/ 62 h 249"/>
                  <a:gd name="T6" fmla="*/ 295 w 631"/>
                  <a:gd name="T7" fmla="*/ 28 h 249"/>
                  <a:gd name="T8" fmla="*/ 412 w 631"/>
                  <a:gd name="T9" fmla="*/ 4 h 249"/>
                  <a:gd name="T10" fmla="*/ 524 w 631"/>
                  <a:gd name="T11" fmla="*/ 0 h 249"/>
                  <a:gd name="T12" fmla="*/ 579 w 631"/>
                  <a:gd name="T13" fmla="*/ 4 h 249"/>
                  <a:gd name="T14" fmla="*/ 614 w 631"/>
                  <a:gd name="T15" fmla="*/ 14 h 249"/>
                  <a:gd name="T16" fmla="*/ 629 w 631"/>
                  <a:gd name="T17" fmla="*/ 28 h 249"/>
                  <a:gd name="T18" fmla="*/ 627 w 631"/>
                  <a:gd name="T19" fmla="*/ 43 h 249"/>
                  <a:gd name="T20" fmla="*/ 607 w 631"/>
                  <a:gd name="T21" fmla="*/ 62 h 249"/>
                  <a:gd name="T22" fmla="*/ 558 w 631"/>
                  <a:gd name="T23" fmla="*/ 87 h 249"/>
                  <a:gd name="T24" fmla="*/ 441 w 631"/>
                  <a:gd name="T25" fmla="*/ 112 h 249"/>
                  <a:gd name="T26" fmla="*/ 484 w 631"/>
                  <a:gd name="T27" fmla="*/ 130 h 249"/>
                  <a:gd name="T28" fmla="*/ 484 w 631"/>
                  <a:gd name="T29" fmla="*/ 154 h 249"/>
                  <a:gd name="T30" fmla="*/ 436 w 631"/>
                  <a:gd name="T31" fmla="*/ 188 h 249"/>
                  <a:gd name="T32" fmla="*/ 324 w 631"/>
                  <a:gd name="T33" fmla="*/ 228 h 249"/>
                  <a:gd name="T34" fmla="*/ 188 w 631"/>
                  <a:gd name="T35" fmla="*/ 247 h 249"/>
                  <a:gd name="T36" fmla="*/ 98 w 631"/>
                  <a:gd name="T37" fmla="*/ 247 h 249"/>
                  <a:gd name="T38" fmla="*/ 48 w 631"/>
                  <a:gd name="T39" fmla="*/ 242 h 249"/>
                  <a:gd name="T40" fmla="*/ 16 w 631"/>
                  <a:gd name="T41" fmla="*/ 231 h 249"/>
                  <a:gd name="T42" fmla="*/ 0 w 631"/>
                  <a:gd name="T43" fmla="*/ 214 h 249"/>
                  <a:gd name="T44" fmla="*/ 9 w 631"/>
                  <a:gd name="T45" fmla="*/ 192 h 249"/>
                  <a:gd name="T46" fmla="*/ 45 w 631"/>
                  <a:gd name="T47" fmla="*/ 166 h 249"/>
                  <a:gd name="T48" fmla="*/ 110 w 631"/>
                  <a:gd name="T49" fmla="*/ 138 h 249"/>
                  <a:gd name="T50" fmla="*/ 197 w 631"/>
                  <a:gd name="T51" fmla="*/ 118 h 249"/>
                  <a:gd name="T52" fmla="*/ 326 w 631"/>
                  <a:gd name="T53" fmla="*/ 66 h 249"/>
                  <a:gd name="T54" fmla="*/ 312 w 631"/>
                  <a:gd name="T55" fmla="*/ 85 h 249"/>
                  <a:gd name="T56" fmla="*/ 331 w 631"/>
                  <a:gd name="T57" fmla="*/ 93 h 249"/>
                  <a:gd name="T58" fmla="*/ 395 w 631"/>
                  <a:gd name="T59" fmla="*/ 93 h 249"/>
                  <a:gd name="T60" fmla="*/ 458 w 631"/>
                  <a:gd name="T61" fmla="*/ 80 h 249"/>
                  <a:gd name="T62" fmla="*/ 496 w 631"/>
                  <a:gd name="T63" fmla="*/ 54 h 249"/>
                  <a:gd name="T64" fmla="*/ 486 w 631"/>
                  <a:gd name="T65" fmla="*/ 42 h 249"/>
                  <a:gd name="T66" fmla="*/ 448 w 631"/>
                  <a:gd name="T67" fmla="*/ 37 h 249"/>
                  <a:gd name="T68" fmla="*/ 364 w 631"/>
                  <a:gd name="T69" fmla="*/ 49 h 249"/>
                  <a:gd name="T70" fmla="*/ 326 w 631"/>
                  <a:gd name="T71" fmla="*/ 66 h 249"/>
                  <a:gd name="T72" fmla="*/ 141 w 631"/>
                  <a:gd name="T73" fmla="*/ 188 h 249"/>
                  <a:gd name="T74" fmla="*/ 150 w 631"/>
                  <a:gd name="T75" fmla="*/ 205 h 249"/>
                  <a:gd name="T76" fmla="*/ 193 w 631"/>
                  <a:gd name="T77" fmla="*/ 211 h 249"/>
                  <a:gd name="T78" fmla="*/ 293 w 631"/>
                  <a:gd name="T79" fmla="*/ 195 h 249"/>
                  <a:gd name="T80" fmla="*/ 353 w 631"/>
                  <a:gd name="T81" fmla="*/ 162 h 249"/>
                  <a:gd name="T82" fmla="*/ 357 w 631"/>
                  <a:gd name="T83" fmla="*/ 143 h 249"/>
                  <a:gd name="T84" fmla="*/ 324 w 631"/>
                  <a:gd name="T85" fmla="*/ 133 h 249"/>
                  <a:gd name="T86" fmla="*/ 241 w 631"/>
                  <a:gd name="T87" fmla="*/ 140 h 249"/>
                  <a:gd name="T88" fmla="*/ 186 w 631"/>
                  <a:gd name="T89" fmla="*/ 157 h 249"/>
                  <a:gd name="T90" fmla="*/ 160 w 631"/>
                  <a:gd name="T91" fmla="*/ 171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1" h="249">
                    <a:moveTo>
                      <a:pt x="231" y="112"/>
                    </a:moveTo>
                    <a:lnTo>
                      <a:pt x="214" y="109"/>
                    </a:lnTo>
                    <a:lnTo>
                      <a:pt x="202" y="104"/>
                    </a:lnTo>
                    <a:lnTo>
                      <a:pt x="195" y="99"/>
                    </a:lnTo>
                    <a:lnTo>
                      <a:pt x="191" y="92"/>
                    </a:lnTo>
                    <a:lnTo>
                      <a:pt x="191" y="85"/>
                    </a:lnTo>
                    <a:lnTo>
                      <a:pt x="195" y="78"/>
                    </a:lnTo>
                    <a:lnTo>
                      <a:pt x="202" y="71"/>
                    </a:lnTo>
                    <a:lnTo>
                      <a:pt x="212" y="62"/>
                    </a:lnTo>
                    <a:lnTo>
                      <a:pt x="234" y="50"/>
                    </a:lnTo>
                    <a:lnTo>
                      <a:pt x="262" y="38"/>
                    </a:lnTo>
                    <a:lnTo>
                      <a:pt x="295" y="28"/>
                    </a:lnTo>
                    <a:lnTo>
                      <a:pt x="331" y="18"/>
                    </a:lnTo>
                    <a:lnTo>
                      <a:pt x="371" y="11"/>
                    </a:lnTo>
                    <a:lnTo>
                      <a:pt x="412" y="4"/>
                    </a:lnTo>
                    <a:lnTo>
                      <a:pt x="455" y="2"/>
                    </a:lnTo>
                    <a:lnTo>
                      <a:pt x="502" y="0"/>
                    </a:lnTo>
                    <a:lnTo>
                      <a:pt x="524" y="0"/>
                    </a:lnTo>
                    <a:lnTo>
                      <a:pt x="545" y="2"/>
                    </a:lnTo>
                    <a:lnTo>
                      <a:pt x="562" y="2"/>
                    </a:lnTo>
                    <a:lnTo>
                      <a:pt x="579" y="4"/>
                    </a:lnTo>
                    <a:lnTo>
                      <a:pt x="593" y="7"/>
                    </a:lnTo>
                    <a:lnTo>
                      <a:pt x="605" y="11"/>
                    </a:lnTo>
                    <a:lnTo>
                      <a:pt x="614" y="14"/>
                    </a:lnTo>
                    <a:lnTo>
                      <a:pt x="620" y="18"/>
                    </a:lnTo>
                    <a:lnTo>
                      <a:pt x="626" y="23"/>
                    </a:lnTo>
                    <a:lnTo>
                      <a:pt x="629" y="28"/>
                    </a:lnTo>
                    <a:lnTo>
                      <a:pt x="631" y="33"/>
                    </a:lnTo>
                    <a:lnTo>
                      <a:pt x="629" y="38"/>
                    </a:lnTo>
                    <a:lnTo>
                      <a:pt x="627" y="43"/>
                    </a:lnTo>
                    <a:lnTo>
                      <a:pt x="622" y="50"/>
                    </a:lnTo>
                    <a:lnTo>
                      <a:pt x="615" y="56"/>
                    </a:lnTo>
                    <a:lnTo>
                      <a:pt x="607" y="62"/>
                    </a:lnTo>
                    <a:lnTo>
                      <a:pt x="593" y="71"/>
                    </a:lnTo>
                    <a:lnTo>
                      <a:pt x="577" y="80"/>
                    </a:lnTo>
                    <a:lnTo>
                      <a:pt x="558" y="87"/>
                    </a:lnTo>
                    <a:lnTo>
                      <a:pt x="538" y="93"/>
                    </a:lnTo>
                    <a:lnTo>
                      <a:pt x="491" y="106"/>
                    </a:lnTo>
                    <a:lnTo>
                      <a:pt x="441" y="112"/>
                    </a:lnTo>
                    <a:lnTo>
                      <a:pt x="460" y="118"/>
                    </a:lnTo>
                    <a:lnTo>
                      <a:pt x="474" y="123"/>
                    </a:lnTo>
                    <a:lnTo>
                      <a:pt x="484" y="130"/>
                    </a:lnTo>
                    <a:lnTo>
                      <a:pt x="490" y="137"/>
                    </a:lnTo>
                    <a:lnTo>
                      <a:pt x="490" y="145"/>
                    </a:lnTo>
                    <a:lnTo>
                      <a:pt x="484" y="154"/>
                    </a:lnTo>
                    <a:lnTo>
                      <a:pt x="477" y="162"/>
                    </a:lnTo>
                    <a:lnTo>
                      <a:pt x="464" y="173"/>
                    </a:lnTo>
                    <a:lnTo>
                      <a:pt x="436" y="188"/>
                    </a:lnTo>
                    <a:lnTo>
                      <a:pt x="405" y="204"/>
                    </a:lnTo>
                    <a:lnTo>
                      <a:pt x="367" y="216"/>
                    </a:lnTo>
                    <a:lnTo>
                      <a:pt x="324" y="228"/>
                    </a:lnTo>
                    <a:lnTo>
                      <a:pt x="279" y="236"/>
                    </a:lnTo>
                    <a:lnTo>
                      <a:pt x="234" y="243"/>
                    </a:lnTo>
                    <a:lnTo>
                      <a:pt x="188" y="247"/>
                    </a:lnTo>
                    <a:lnTo>
                      <a:pt x="140" y="249"/>
                    </a:lnTo>
                    <a:lnTo>
                      <a:pt x="117" y="249"/>
                    </a:lnTo>
                    <a:lnTo>
                      <a:pt x="98" y="247"/>
                    </a:lnTo>
                    <a:lnTo>
                      <a:pt x="79" y="247"/>
                    </a:lnTo>
                    <a:lnTo>
                      <a:pt x="64" y="245"/>
                    </a:lnTo>
                    <a:lnTo>
                      <a:pt x="48" y="242"/>
                    </a:lnTo>
                    <a:lnTo>
                      <a:pt x="36" y="240"/>
                    </a:lnTo>
                    <a:lnTo>
                      <a:pt x="24" y="235"/>
                    </a:lnTo>
                    <a:lnTo>
                      <a:pt x="16" y="231"/>
                    </a:lnTo>
                    <a:lnTo>
                      <a:pt x="7" y="226"/>
                    </a:lnTo>
                    <a:lnTo>
                      <a:pt x="2" y="219"/>
                    </a:lnTo>
                    <a:lnTo>
                      <a:pt x="0" y="214"/>
                    </a:lnTo>
                    <a:lnTo>
                      <a:pt x="0" y="207"/>
                    </a:lnTo>
                    <a:lnTo>
                      <a:pt x="4" y="200"/>
                    </a:lnTo>
                    <a:lnTo>
                      <a:pt x="9" y="192"/>
                    </a:lnTo>
                    <a:lnTo>
                      <a:pt x="17" y="183"/>
                    </a:lnTo>
                    <a:lnTo>
                      <a:pt x="29" y="174"/>
                    </a:lnTo>
                    <a:lnTo>
                      <a:pt x="45" y="166"/>
                    </a:lnTo>
                    <a:lnTo>
                      <a:pt x="64" y="157"/>
                    </a:lnTo>
                    <a:lnTo>
                      <a:pt x="86" y="147"/>
                    </a:lnTo>
                    <a:lnTo>
                      <a:pt x="110" y="138"/>
                    </a:lnTo>
                    <a:lnTo>
                      <a:pt x="136" y="131"/>
                    </a:lnTo>
                    <a:lnTo>
                      <a:pt x="166" y="124"/>
                    </a:lnTo>
                    <a:lnTo>
                      <a:pt x="197" y="118"/>
                    </a:lnTo>
                    <a:lnTo>
                      <a:pt x="231" y="112"/>
                    </a:lnTo>
                    <a:lnTo>
                      <a:pt x="231" y="112"/>
                    </a:lnTo>
                    <a:close/>
                    <a:moveTo>
                      <a:pt x="326" y="66"/>
                    </a:moveTo>
                    <a:lnTo>
                      <a:pt x="317" y="73"/>
                    </a:lnTo>
                    <a:lnTo>
                      <a:pt x="314" y="80"/>
                    </a:lnTo>
                    <a:lnTo>
                      <a:pt x="312" y="85"/>
                    </a:lnTo>
                    <a:lnTo>
                      <a:pt x="315" y="88"/>
                    </a:lnTo>
                    <a:lnTo>
                      <a:pt x="322" y="92"/>
                    </a:lnTo>
                    <a:lnTo>
                      <a:pt x="331" y="93"/>
                    </a:lnTo>
                    <a:lnTo>
                      <a:pt x="345" y="95"/>
                    </a:lnTo>
                    <a:lnTo>
                      <a:pt x="360" y="95"/>
                    </a:lnTo>
                    <a:lnTo>
                      <a:pt x="395" y="93"/>
                    </a:lnTo>
                    <a:lnTo>
                      <a:pt x="429" y="88"/>
                    </a:lnTo>
                    <a:lnTo>
                      <a:pt x="445" y="85"/>
                    </a:lnTo>
                    <a:lnTo>
                      <a:pt x="458" y="80"/>
                    </a:lnTo>
                    <a:lnTo>
                      <a:pt x="483" y="66"/>
                    </a:lnTo>
                    <a:lnTo>
                      <a:pt x="491" y="59"/>
                    </a:lnTo>
                    <a:lnTo>
                      <a:pt x="496" y="54"/>
                    </a:lnTo>
                    <a:lnTo>
                      <a:pt x="496" y="49"/>
                    </a:lnTo>
                    <a:lnTo>
                      <a:pt x="493" y="45"/>
                    </a:lnTo>
                    <a:lnTo>
                      <a:pt x="486" y="42"/>
                    </a:lnTo>
                    <a:lnTo>
                      <a:pt x="477" y="38"/>
                    </a:lnTo>
                    <a:lnTo>
                      <a:pt x="464" y="37"/>
                    </a:lnTo>
                    <a:lnTo>
                      <a:pt x="448" y="37"/>
                    </a:lnTo>
                    <a:lnTo>
                      <a:pt x="414" y="38"/>
                    </a:lnTo>
                    <a:lnTo>
                      <a:pt x="379" y="45"/>
                    </a:lnTo>
                    <a:lnTo>
                      <a:pt x="364" y="49"/>
                    </a:lnTo>
                    <a:lnTo>
                      <a:pt x="350" y="54"/>
                    </a:lnTo>
                    <a:lnTo>
                      <a:pt x="326" y="66"/>
                    </a:lnTo>
                    <a:lnTo>
                      <a:pt x="326" y="66"/>
                    </a:lnTo>
                    <a:close/>
                    <a:moveTo>
                      <a:pt x="160" y="171"/>
                    </a:moveTo>
                    <a:lnTo>
                      <a:pt x="148" y="180"/>
                    </a:lnTo>
                    <a:lnTo>
                      <a:pt x="141" y="188"/>
                    </a:lnTo>
                    <a:lnTo>
                      <a:pt x="140" y="195"/>
                    </a:lnTo>
                    <a:lnTo>
                      <a:pt x="143" y="200"/>
                    </a:lnTo>
                    <a:lnTo>
                      <a:pt x="150" y="205"/>
                    </a:lnTo>
                    <a:lnTo>
                      <a:pt x="160" y="209"/>
                    </a:lnTo>
                    <a:lnTo>
                      <a:pt x="174" y="211"/>
                    </a:lnTo>
                    <a:lnTo>
                      <a:pt x="193" y="211"/>
                    </a:lnTo>
                    <a:lnTo>
                      <a:pt x="233" y="209"/>
                    </a:lnTo>
                    <a:lnTo>
                      <a:pt x="272" y="200"/>
                    </a:lnTo>
                    <a:lnTo>
                      <a:pt x="293" y="195"/>
                    </a:lnTo>
                    <a:lnTo>
                      <a:pt x="310" y="188"/>
                    </a:lnTo>
                    <a:lnTo>
                      <a:pt x="343" y="171"/>
                    </a:lnTo>
                    <a:lnTo>
                      <a:pt x="353" y="162"/>
                    </a:lnTo>
                    <a:lnTo>
                      <a:pt x="359" y="155"/>
                    </a:lnTo>
                    <a:lnTo>
                      <a:pt x="360" y="149"/>
                    </a:lnTo>
                    <a:lnTo>
                      <a:pt x="357" y="143"/>
                    </a:lnTo>
                    <a:lnTo>
                      <a:pt x="350" y="138"/>
                    </a:lnTo>
                    <a:lnTo>
                      <a:pt x="340" y="137"/>
                    </a:lnTo>
                    <a:lnTo>
                      <a:pt x="324" y="133"/>
                    </a:lnTo>
                    <a:lnTo>
                      <a:pt x="307" y="133"/>
                    </a:lnTo>
                    <a:lnTo>
                      <a:pt x="262" y="137"/>
                    </a:lnTo>
                    <a:lnTo>
                      <a:pt x="241" y="140"/>
                    </a:lnTo>
                    <a:lnTo>
                      <a:pt x="221" y="145"/>
                    </a:lnTo>
                    <a:lnTo>
                      <a:pt x="202" y="150"/>
                    </a:lnTo>
                    <a:lnTo>
                      <a:pt x="186" y="157"/>
                    </a:lnTo>
                    <a:lnTo>
                      <a:pt x="172" y="164"/>
                    </a:lnTo>
                    <a:lnTo>
                      <a:pt x="160" y="171"/>
                    </a:lnTo>
                    <a:lnTo>
                      <a:pt x="160" y="17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78" name="Freeform 798"/>
              <p:cNvSpPr>
                <a:spLocks noEditPoints="1"/>
              </p:cNvSpPr>
              <p:nvPr/>
            </p:nvSpPr>
            <p:spPr bwMode="auto">
              <a:xfrm>
                <a:off x="3460" y="3420"/>
                <a:ext cx="316" cy="124"/>
              </a:xfrm>
              <a:custGeom>
                <a:avLst/>
                <a:gdLst>
                  <a:gd name="T0" fmla="*/ 203 w 632"/>
                  <a:gd name="T1" fmla="*/ 103 h 248"/>
                  <a:gd name="T2" fmla="*/ 193 w 632"/>
                  <a:gd name="T3" fmla="*/ 84 h 248"/>
                  <a:gd name="T4" fmla="*/ 213 w 632"/>
                  <a:gd name="T5" fmla="*/ 62 h 248"/>
                  <a:gd name="T6" fmla="*/ 294 w 632"/>
                  <a:gd name="T7" fmla="*/ 27 h 248"/>
                  <a:gd name="T8" fmla="*/ 411 w 632"/>
                  <a:gd name="T9" fmla="*/ 3 h 248"/>
                  <a:gd name="T10" fmla="*/ 525 w 632"/>
                  <a:gd name="T11" fmla="*/ 0 h 248"/>
                  <a:gd name="T12" fmla="*/ 579 w 632"/>
                  <a:gd name="T13" fmla="*/ 3 h 248"/>
                  <a:gd name="T14" fmla="*/ 615 w 632"/>
                  <a:gd name="T15" fmla="*/ 14 h 248"/>
                  <a:gd name="T16" fmla="*/ 630 w 632"/>
                  <a:gd name="T17" fmla="*/ 27 h 248"/>
                  <a:gd name="T18" fmla="*/ 629 w 632"/>
                  <a:gd name="T19" fmla="*/ 43 h 248"/>
                  <a:gd name="T20" fmla="*/ 606 w 632"/>
                  <a:gd name="T21" fmla="*/ 62 h 248"/>
                  <a:gd name="T22" fmla="*/ 558 w 632"/>
                  <a:gd name="T23" fmla="*/ 86 h 248"/>
                  <a:gd name="T24" fmla="*/ 441 w 632"/>
                  <a:gd name="T25" fmla="*/ 112 h 248"/>
                  <a:gd name="T26" fmla="*/ 484 w 632"/>
                  <a:gd name="T27" fmla="*/ 129 h 248"/>
                  <a:gd name="T28" fmla="*/ 486 w 632"/>
                  <a:gd name="T29" fmla="*/ 153 h 248"/>
                  <a:gd name="T30" fmla="*/ 437 w 632"/>
                  <a:gd name="T31" fmla="*/ 188 h 248"/>
                  <a:gd name="T32" fmla="*/ 325 w 632"/>
                  <a:gd name="T33" fmla="*/ 227 h 248"/>
                  <a:gd name="T34" fmla="*/ 187 w 632"/>
                  <a:gd name="T35" fmla="*/ 246 h 248"/>
                  <a:gd name="T36" fmla="*/ 65 w 632"/>
                  <a:gd name="T37" fmla="*/ 245 h 248"/>
                  <a:gd name="T38" fmla="*/ 25 w 632"/>
                  <a:gd name="T39" fmla="*/ 234 h 248"/>
                  <a:gd name="T40" fmla="*/ 3 w 632"/>
                  <a:gd name="T41" fmla="*/ 219 h 248"/>
                  <a:gd name="T42" fmla="*/ 3 w 632"/>
                  <a:gd name="T43" fmla="*/ 200 h 248"/>
                  <a:gd name="T44" fmla="*/ 31 w 632"/>
                  <a:gd name="T45" fmla="*/ 174 h 248"/>
                  <a:gd name="T46" fmla="*/ 86 w 632"/>
                  <a:gd name="T47" fmla="*/ 146 h 248"/>
                  <a:gd name="T48" fmla="*/ 165 w 632"/>
                  <a:gd name="T49" fmla="*/ 124 h 248"/>
                  <a:gd name="T50" fmla="*/ 231 w 632"/>
                  <a:gd name="T51" fmla="*/ 112 h 248"/>
                  <a:gd name="T52" fmla="*/ 318 w 632"/>
                  <a:gd name="T53" fmla="*/ 72 h 248"/>
                  <a:gd name="T54" fmla="*/ 317 w 632"/>
                  <a:gd name="T55" fmla="*/ 88 h 248"/>
                  <a:gd name="T56" fmla="*/ 344 w 632"/>
                  <a:gd name="T57" fmla="*/ 95 h 248"/>
                  <a:gd name="T58" fmla="*/ 430 w 632"/>
                  <a:gd name="T59" fmla="*/ 88 h 248"/>
                  <a:gd name="T60" fmla="*/ 484 w 632"/>
                  <a:gd name="T61" fmla="*/ 65 h 248"/>
                  <a:gd name="T62" fmla="*/ 496 w 632"/>
                  <a:gd name="T63" fmla="*/ 48 h 248"/>
                  <a:gd name="T64" fmla="*/ 477 w 632"/>
                  <a:gd name="T65" fmla="*/ 38 h 248"/>
                  <a:gd name="T66" fmla="*/ 413 w 632"/>
                  <a:gd name="T67" fmla="*/ 38 h 248"/>
                  <a:gd name="T68" fmla="*/ 337 w 632"/>
                  <a:gd name="T69" fmla="*/ 58 h 248"/>
                  <a:gd name="T70" fmla="*/ 327 w 632"/>
                  <a:gd name="T71" fmla="*/ 65 h 248"/>
                  <a:gd name="T72" fmla="*/ 141 w 632"/>
                  <a:gd name="T73" fmla="*/ 188 h 248"/>
                  <a:gd name="T74" fmla="*/ 150 w 632"/>
                  <a:gd name="T75" fmla="*/ 205 h 248"/>
                  <a:gd name="T76" fmla="*/ 193 w 632"/>
                  <a:gd name="T77" fmla="*/ 210 h 248"/>
                  <a:gd name="T78" fmla="*/ 312 w 632"/>
                  <a:gd name="T79" fmla="*/ 188 h 248"/>
                  <a:gd name="T80" fmla="*/ 353 w 632"/>
                  <a:gd name="T81" fmla="*/ 162 h 248"/>
                  <a:gd name="T82" fmla="*/ 358 w 632"/>
                  <a:gd name="T83" fmla="*/ 143 h 248"/>
                  <a:gd name="T84" fmla="*/ 325 w 632"/>
                  <a:gd name="T85" fmla="*/ 133 h 248"/>
                  <a:gd name="T86" fmla="*/ 243 w 632"/>
                  <a:gd name="T87" fmla="*/ 139 h 248"/>
                  <a:gd name="T88" fmla="*/ 186 w 632"/>
                  <a:gd name="T89" fmla="*/ 157 h 248"/>
                  <a:gd name="T90" fmla="*/ 160 w 632"/>
                  <a:gd name="T91" fmla="*/ 17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2" h="248">
                    <a:moveTo>
                      <a:pt x="231" y="112"/>
                    </a:moveTo>
                    <a:lnTo>
                      <a:pt x="215" y="108"/>
                    </a:lnTo>
                    <a:lnTo>
                      <a:pt x="203" y="103"/>
                    </a:lnTo>
                    <a:lnTo>
                      <a:pt x="196" y="98"/>
                    </a:lnTo>
                    <a:lnTo>
                      <a:pt x="193" y="91"/>
                    </a:lnTo>
                    <a:lnTo>
                      <a:pt x="193" y="84"/>
                    </a:lnTo>
                    <a:lnTo>
                      <a:pt x="196" y="77"/>
                    </a:lnTo>
                    <a:lnTo>
                      <a:pt x="203" y="70"/>
                    </a:lnTo>
                    <a:lnTo>
                      <a:pt x="213" y="62"/>
                    </a:lnTo>
                    <a:lnTo>
                      <a:pt x="236" y="50"/>
                    </a:lnTo>
                    <a:lnTo>
                      <a:pt x="262" y="38"/>
                    </a:lnTo>
                    <a:lnTo>
                      <a:pt x="294" y="27"/>
                    </a:lnTo>
                    <a:lnTo>
                      <a:pt x="330" y="17"/>
                    </a:lnTo>
                    <a:lnTo>
                      <a:pt x="370" y="10"/>
                    </a:lnTo>
                    <a:lnTo>
                      <a:pt x="411" y="3"/>
                    </a:lnTo>
                    <a:lnTo>
                      <a:pt x="456" y="2"/>
                    </a:lnTo>
                    <a:lnTo>
                      <a:pt x="503" y="0"/>
                    </a:lnTo>
                    <a:lnTo>
                      <a:pt x="525" y="0"/>
                    </a:lnTo>
                    <a:lnTo>
                      <a:pt x="546" y="2"/>
                    </a:lnTo>
                    <a:lnTo>
                      <a:pt x="563" y="2"/>
                    </a:lnTo>
                    <a:lnTo>
                      <a:pt x="579" y="3"/>
                    </a:lnTo>
                    <a:lnTo>
                      <a:pt x="592" y="7"/>
                    </a:lnTo>
                    <a:lnTo>
                      <a:pt x="604" y="10"/>
                    </a:lnTo>
                    <a:lnTo>
                      <a:pt x="615" y="14"/>
                    </a:lnTo>
                    <a:lnTo>
                      <a:pt x="622" y="17"/>
                    </a:lnTo>
                    <a:lnTo>
                      <a:pt x="627" y="22"/>
                    </a:lnTo>
                    <a:lnTo>
                      <a:pt x="630" y="27"/>
                    </a:lnTo>
                    <a:lnTo>
                      <a:pt x="632" y="33"/>
                    </a:lnTo>
                    <a:lnTo>
                      <a:pt x="630" y="38"/>
                    </a:lnTo>
                    <a:lnTo>
                      <a:pt x="629" y="43"/>
                    </a:lnTo>
                    <a:lnTo>
                      <a:pt x="623" y="50"/>
                    </a:lnTo>
                    <a:lnTo>
                      <a:pt x="615" y="55"/>
                    </a:lnTo>
                    <a:lnTo>
                      <a:pt x="606" y="62"/>
                    </a:lnTo>
                    <a:lnTo>
                      <a:pt x="592" y="70"/>
                    </a:lnTo>
                    <a:lnTo>
                      <a:pt x="577" y="79"/>
                    </a:lnTo>
                    <a:lnTo>
                      <a:pt x="558" y="86"/>
                    </a:lnTo>
                    <a:lnTo>
                      <a:pt x="539" y="93"/>
                    </a:lnTo>
                    <a:lnTo>
                      <a:pt x="492" y="105"/>
                    </a:lnTo>
                    <a:lnTo>
                      <a:pt x="441" y="112"/>
                    </a:lnTo>
                    <a:lnTo>
                      <a:pt x="460" y="117"/>
                    </a:lnTo>
                    <a:lnTo>
                      <a:pt x="475" y="122"/>
                    </a:lnTo>
                    <a:lnTo>
                      <a:pt x="484" y="129"/>
                    </a:lnTo>
                    <a:lnTo>
                      <a:pt x="489" y="136"/>
                    </a:lnTo>
                    <a:lnTo>
                      <a:pt x="489" y="145"/>
                    </a:lnTo>
                    <a:lnTo>
                      <a:pt x="486" y="153"/>
                    </a:lnTo>
                    <a:lnTo>
                      <a:pt x="477" y="162"/>
                    </a:lnTo>
                    <a:lnTo>
                      <a:pt x="465" y="172"/>
                    </a:lnTo>
                    <a:lnTo>
                      <a:pt x="437" y="188"/>
                    </a:lnTo>
                    <a:lnTo>
                      <a:pt x="405" y="203"/>
                    </a:lnTo>
                    <a:lnTo>
                      <a:pt x="367" y="215"/>
                    </a:lnTo>
                    <a:lnTo>
                      <a:pt x="325" y="227"/>
                    </a:lnTo>
                    <a:lnTo>
                      <a:pt x="280" y="236"/>
                    </a:lnTo>
                    <a:lnTo>
                      <a:pt x="234" y="243"/>
                    </a:lnTo>
                    <a:lnTo>
                      <a:pt x="187" y="246"/>
                    </a:lnTo>
                    <a:lnTo>
                      <a:pt x="139" y="248"/>
                    </a:lnTo>
                    <a:lnTo>
                      <a:pt x="98" y="246"/>
                    </a:lnTo>
                    <a:lnTo>
                      <a:pt x="65" y="245"/>
                    </a:lnTo>
                    <a:lnTo>
                      <a:pt x="50" y="241"/>
                    </a:lnTo>
                    <a:lnTo>
                      <a:pt x="38" y="239"/>
                    </a:lnTo>
                    <a:lnTo>
                      <a:pt x="25" y="234"/>
                    </a:lnTo>
                    <a:lnTo>
                      <a:pt x="17" y="231"/>
                    </a:lnTo>
                    <a:lnTo>
                      <a:pt x="8" y="226"/>
                    </a:lnTo>
                    <a:lnTo>
                      <a:pt x="3" y="219"/>
                    </a:lnTo>
                    <a:lnTo>
                      <a:pt x="0" y="214"/>
                    </a:lnTo>
                    <a:lnTo>
                      <a:pt x="1" y="207"/>
                    </a:lnTo>
                    <a:lnTo>
                      <a:pt x="3" y="200"/>
                    </a:lnTo>
                    <a:lnTo>
                      <a:pt x="10" y="191"/>
                    </a:lnTo>
                    <a:lnTo>
                      <a:pt x="19" y="182"/>
                    </a:lnTo>
                    <a:lnTo>
                      <a:pt x="31" y="174"/>
                    </a:lnTo>
                    <a:lnTo>
                      <a:pt x="46" y="165"/>
                    </a:lnTo>
                    <a:lnTo>
                      <a:pt x="65" y="157"/>
                    </a:lnTo>
                    <a:lnTo>
                      <a:pt x="86" y="146"/>
                    </a:lnTo>
                    <a:lnTo>
                      <a:pt x="110" y="138"/>
                    </a:lnTo>
                    <a:lnTo>
                      <a:pt x="137" y="131"/>
                    </a:lnTo>
                    <a:lnTo>
                      <a:pt x="165" y="124"/>
                    </a:lnTo>
                    <a:lnTo>
                      <a:pt x="198" y="117"/>
                    </a:lnTo>
                    <a:lnTo>
                      <a:pt x="231" y="112"/>
                    </a:lnTo>
                    <a:lnTo>
                      <a:pt x="231" y="112"/>
                    </a:lnTo>
                    <a:lnTo>
                      <a:pt x="231" y="112"/>
                    </a:lnTo>
                    <a:close/>
                    <a:moveTo>
                      <a:pt x="327" y="65"/>
                    </a:moveTo>
                    <a:lnTo>
                      <a:pt x="318" y="72"/>
                    </a:lnTo>
                    <a:lnTo>
                      <a:pt x="315" y="79"/>
                    </a:lnTo>
                    <a:lnTo>
                      <a:pt x="313" y="84"/>
                    </a:lnTo>
                    <a:lnTo>
                      <a:pt x="317" y="88"/>
                    </a:lnTo>
                    <a:lnTo>
                      <a:pt x="322" y="91"/>
                    </a:lnTo>
                    <a:lnTo>
                      <a:pt x="332" y="93"/>
                    </a:lnTo>
                    <a:lnTo>
                      <a:pt x="344" y="95"/>
                    </a:lnTo>
                    <a:lnTo>
                      <a:pt x="361" y="95"/>
                    </a:lnTo>
                    <a:lnTo>
                      <a:pt x="396" y="93"/>
                    </a:lnTo>
                    <a:lnTo>
                      <a:pt x="430" y="88"/>
                    </a:lnTo>
                    <a:lnTo>
                      <a:pt x="460" y="79"/>
                    </a:lnTo>
                    <a:lnTo>
                      <a:pt x="473" y="72"/>
                    </a:lnTo>
                    <a:lnTo>
                      <a:pt x="484" y="65"/>
                    </a:lnTo>
                    <a:lnTo>
                      <a:pt x="491" y="58"/>
                    </a:lnTo>
                    <a:lnTo>
                      <a:pt x="496" y="53"/>
                    </a:lnTo>
                    <a:lnTo>
                      <a:pt x="496" y="48"/>
                    </a:lnTo>
                    <a:lnTo>
                      <a:pt x="494" y="45"/>
                    </a:lnTo>
                    <a:lnTo>
                      <a:pt x="487" y="41"/>
                    </a:lnTo>
                    <a:lnTo>
                      <a:pt x="477" y="38"/>
                    </a:lnTo>
                    <a:lnTo>
                      <a:pt x="465" y="36"/>
                    </a:lnTo>
                    <a:lnTo>
                      <a:pt x="449" y="36"/>
                    </a:lnTo>
                    <a:lnTo>
                      <a:pt x="413" y="38"/>
                    </a:lnTo>
                    <a:lnTo>
                      <a:pt x="379" y="45"/>
                    </a:lnTo>
                    <a:lnTo>
                      <a:pt x="349" y="53"/>
                    </a:lnTo>
                    <a:lnTo>
                      <a:pt x="337" y="58"/>
                    </a:lnTo>
                    <a:lnTo>
                      <a:pt x="327" y="65"/>
                    </a:lnTo>
                    <a:lnTo>
                      <a:pt x="327" y="65"/>
                    </a:lnTo>
                    <a:lnTo>
                      <a:pt x="327" y="65"/>
                    </a:lnTo>
                    <a:close/>
                    <a:moveTo>
                      <a:pt x="160" y="170"/>
                    </a:moveTo>
                    <a:lnTo>
                      <a:pt x="148" y="179"/>
                    </a:lnTo>
                    <a:lnTo>
                      <a:pt x="141" y="188"/>
                    </a:lnTo>
                    <a:lnTo>
                      <a:pt x="139" y="195"/>
                    </a:lnTo>
                    <a:lnTo>
                      <a:pt x="143" y="200"/>
                    </a:lnTo>
                    <a:lnTo>
                      <a:pt x="150" y="205"/>
                    </a:lnTo>
                    <a:lnTo>
                      <a:pt x="160" y="208"/>
                    </a:lnTo>
                    <a:lnTo>
                      <a:pt x="175" y="210"/>
                    </a:lnTo>
                    <a:lnTo>
                      <a:pt x="193" y="210"/>
                    </a:lnTo>
                    <a:lnTo>
                      <a:pt x="232" y="208"/>
                    </a:lnTo>
                    <a:lnTo>
                      <a:pt x="274" y="200"/>
                    </a:lnTo>
                    <a:lnTo>
                      <a:pt x="312" y="188"/>
                    </a:lnTo>
                    <a:lnTo>
                      <a:pt x="327" y="179"/>
                    </a:lnTo>
                    <a:lnTo>
                      <a:pt x="343" y="170"/>
                    </a:lnTo>
                    <a:lnTo>
                      <a:pt x="353" y="162"/>
                    </a:lnTo>
                    <a:lnTo>
                      <a:pt x="360" y="155"/>
                    </a:lnTo>
                    <a:lnTo>
                      <a:pt x="361" y="148"/>
                    </a:lnTo>
                    <a:lnTo>
                      <a:pt x="358" y="143"/>
                    </a:lnTo>
                    <a:lnTo>
                      <a:pt x="351" y="138"/>
                    </a:lnTo>
                    <a:lnTo>
                      <a:pt x="341" y="136"/>
                    </a:lnTo>
                    <a:lnTo>
                      <a:pt x="325" y="133"/>
                    </a:lnTo>
                    <a:lnTo>
                      <a:pt x="308" y="133"/>
                    </a:lnTo>
                    <a:lnTo>
                      <a:pt x="263" y="136"/>
                    </a:lnTo>
                    <a:lnTo>
                      <a:pt x="243" y="139"/>
                    </a:lnTo>
                    <a:lnTo>
                      <a:pt x="222" y="145"/>
                    </a:lnTo>
                    <a:lnTo>
                      <a:pt x="203" y="150"/>
                    </a:lnTo>
                    <a:lnTo>
                      <a:pt x="186" y="157"/>
                    </a:lnTo>
                    <a:lnTo>
                      <a:pt x="172" y="164"/>
                    </a:lnTo>
                    <a:lnTo>
                      <a:pt x="160" y="170"/>
                    </a:lnTo>
                    <a:lnTo>
                      <a:pt x="160" y="170"/>
                    </a:lnTo>
                    <a:lnTo>
                      <a:pt x="160" y="17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79" name="Freeform 799"/>
              <p:cNvSpPr>
                <a:spLocks/>
              </p:cNvSpPr>
              <p:nvPr/>
            </p:nvSpPr>
            <p:spPr bwMode="auto">
              <a:xfrm>
                <a:off x="3723" y="3422"/>
                <a:ext cx="349" cy="119"/>
              </a:xfrm>
              <a:custGeom>
                <a:avLst/>
                <a:gdLst>
                  <a:gd name="T0" fmla="*/ 203 w 698"/>
                  <a:gd name="T1" fmla="*/ 45 h 240"/>
                  <a:gd name="T2" fmla="*/ 236 w 698"/>
                  <a:gd name="T3" fmla="*/ 23 h 240"/>
                  <a:gd name="T4" fmla="*/ 267 w 698"/>
                  <a:gd name="T5" fmla="*/ 0 h 240"/>
                  <a:gd name="T6" fmla="*/ 482 w 698"/>
                  <a:gd name="T7" fmla="*/ 0 h 240"/>
                  <a:gd name="T8" fmla="*/ 698 w 698"/>
                  <a:gd name="T9" fmla="*/ 0 h 240"/>
                  <a:gd name="T10" fmla="*/ 672 w 698"/>
                  <a:gd name="T11" fmla="*/ 18 h 240"/>
                  <a:gd name="T12" fmla="*/ 646 w 698"/>
                  <a:gd name="T13" fmla="*/ 35 h 240"/>
                  <a:gd name="T14" fmla="*/ 605 w 698"/>
                  <a:gd name="T15" fmla="*/ 45 h 240"/>
                  <a:gd name="T16" fmla="*/ 558 w 698"/>
                  <a:gd name="T17" fmla="*/ 59 h 240"/>
                  <a:gd name="T18" fmla="*/ 510 w 698"/>
                  <a:gd name="T19" fmla="*/ 73 h 240"/>
                  <a:gd name="T20" fmla="*/ 457 w 698"/>
                  <a:gd name="T21" fmla="*/ 90 h 240"/>
                  <a:gd name="T22" fmla="*/ 403 w 698"/>
                  <a:gd name="T23" fmla="*/ 109 h 240"/>
                  <a:gd name="T24" fmla="*/ 353 w 698"/>
                  <a:gd name="T25" fmla="*/ 128 h 240"/>
                  <a:gd name="T26" fmla="*/ 303 w 698"/>
                  <a:gd name="T27" fmla="*/ 147 h 240"/>
                  <a:gd name="T28" fmla="*/ 258 w 698"/>
                  <a:gd name="T29" fmla="*/ 167 h 240"/>
                  <a:gd name="T30" fmla="*/ 215 w 698"/>
                  <a:gd name="T31" fmla="*/ 188 h 240"/>
                  <a:gd name="T32" fmla="*/ 179 w 698"/>
                  <a:gd name="T33" fmla="*/ 207 h 240"/>
                  <a:gd name="T34" fmla="*/ 146 w 698"/>
                  <a:gd name="T35" fmla="*/ 224 h 240"/>
                  <a:gd name="T36" fmla="*/ 121 w 698"/>
                  <a:gd name="T37" fmla="*/ 240 h 240"/>
                  <a:gd name="T38" fmla="*/ 60 w 698"/>
                  <a:gd name="T39" fmla="*/ 240 h 240"/>
                  <a:gd name="T40" fmla="*/ 0 w 698"/>
                  <a:gd name="T41" fmla="*/ 240 h 240"/>
                  <a:gd name="T42" fmla="*/ 41 w 698"/>
                  <a:gd name="T43" fmla="*/ 216 h 240"/>
                  <a:gd name="T44" fmla="*/ 91 w 698"/>
                  <a:gd name="T45" fmla="*/ 190 h 240"/>
                  <a:gd name="T46" fmla="*/ 117 w 698"/>
                  <a:gd name="T47" fmla="*/ 176 h 240"/>
                  <a:gd name="T48" fmla="*/ 146 w 698"/>
                  <a:gd name="T49" fmla="*/ 164 h 240"/>
                  <a:gd name="T50" fmla="*/ 176 w 698"/>
                  <a:gd name="T51" fmla="*/ 152 h 240"/>
                  <a:gd name="T52" fmla="*/ 208 w 698"/>
                  <a:gd name="T53" fmla="*/ 138 h 240"/>
                  <a:gd name="T54" fmla="*/ 276 w 698"/>
                  <a:gd name="T55" fmla="*/ 112 h 240"/>
                  <a:gd name="T56" fmla="*/ 345 w 698"/>
                  <a:gd name="T57" fmla="*/ 88 h 240"/>
                  <a:gd name="T58" fmla="*/ 415 w 698"/>
                  <a:gd name="T59" fmla="*/ 66 h 240"/>
                  <a:gd name="T60" fmla="*/ 489 w 698"/>
                  <a:gd name="T61" fmla="*/ 45 h 240"/>
                  <a:gd name="T62" fmla="*/ 346 w 698"/>
                  <a:gd name="T63" fmla="*/ 45 h 240"/>
                  <a:gd name="T64" fmla="*/ 203 w 698"/>
                  <a:gd name="T65" fmla="*/ 45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8" h="240">
                    <a:moveTo>
                      <a:pt x="203" y="45"/>
                    </a:moveTo>
                    <a:lnTo>
                      <a:pt x="236" y="23"/>
                    </a:lnTo>
                    <a:lnTo>
                      <a:pt x="267" y="0"/>
                    </a:lnTo>
                    <a:lnTo>
                      <a:pt x="482" y="0"/>
                    </a:lnTo>
                    <a:lnTo>
                      <a:pt x="698" y="0"/>
                    </a:lnTo>
                    <a:lnTo>
                      <a:pt x="672" y="18"/>
                    </a:lnTo>
                    <a:lnTo>
                      <a:pt x="646" y="35"/>
                    </a:lnTo>
                    <a:lnTo>
                      <a:pt x="605" y="45"/>
                    </a:lnTo>
                    <a:lnTo>
                      <a:pt x="558" y="59"/>
                    </a:lnTo>
                    <a:lnTo>
                      <a:pt x="510" y="73"/>
                    </a:lnTo>
                    <a:lnTo>
                      <a:pt x="457" y="90"/>
                    </a:lnTo>
                    <a:lnTo>
                      <a:pt x="403" y="109"/>
                    </a:lnTo>
                    <a:lnTo>
                      <a:pt x="353" y="128"/>
                    </a:lnTo>
                    <a:lnTo>
                      <a:pt x="303" y="147"/>
                    </a:lnTo>
                    <a:lnTo>
                      <a:pt x="258" y="167"/>
                    </a:lnTo>
                    <a:lnTo>
                      <a:pt x="215" y="188"/>
                    </a:lnTo>
                    <a:lnTo>
                      <a:pt x="179" y="207"/>
                    </a:lnTo>
                    <a:lnTo>
                      <a:pt x="146" y="224"/>
                    </a:lnTo>
                    <a:lnTo>
                      <a:pt x="121" y="240"/>
                    </a:lnTo>
                    <a:lnTo>
                      <a:pt x="60" y="240"/>
                    </a:lnTo>
                    <a:lnTo>
                      <a:pt x="0" y="240"/>
                    </a:lnTo>
                    <a:lnTo>
                      <a:pt x="41" y="216"/>
                    </a:lnTo>
                    <a:lnTo>
                      <a:pt x="91" y="190"/>
                    </a:lnTo>
                    <a:lnTo>
                      <a:pt x="117" y="176"/>
                    </a:lnTo>
                    <a:lnTo>
                      <a:pt x="146" y="164"/>
                    </a:lnTo>
                    <a:lnTo>
                      <a:pt x="176" y="152"/>
                    </a:lnTo>
                    <a:lnTo>
                      <a:pt x="208" y="138"/>
                    </a:lnTo>
                    <a:lnTo>
                      <a:pt x="276" y="112"/>
                    </a:lnTo>
                    <a:lnTo>
                      <a:pt x="345" y="88"/>
                    </a:lnTo>
                    <a:lnTo>
                      <a:pt x="415" y="66"/>
                    </a:lnTo>
                    <a:lnTo>
                      <a:pt x="489" y="45"/>
                    </a:lnTo>
                    <a:lnTo>
                      <a:pt x="346" y="45"/>
                    </a:lnTo>
                    <a:lnTo>
                      <a:pt x="203" y="45"/>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280" name="Freeform 800"/>
              <p:cNvSpPr>
                <a:spLocks noEditPoints="1"/>
              </p:cNvSpPr>
              <p:nvPr/>
            </p:nvSpPr>
            <p:spPr bwMode="auto">
              <a:xfrm>
                <a:off x="3970" y="3420"/>
                <a:ext cx="315" cy="124"/>
              </a:xfrm>
              <a:custGeom>
                <a:avLst/>
                <a:gdLst>
                  <a:gd name="T0" fmla="*/ 201 w 630"/>
                  <a:gd name="T1" fmla="*/ 103 h 248"/>
                  <a:gd name="T2" fmla="*/ 191 w 630"/>
                  <a:gd name="T3" fmla="*/ 84 h 248"/>
                  <a:gd name="T4" fmla="*/ 212 w 630"/>
                  <a:gd name="T5" fmla="*/ 62 h 248"/>
                  <a:gd name="T6" fmla="*/ 294 w 630"/>
                  <a:gd name="T7" fmla="*/ 27 h 248"/>
                  <a:gd name="T8" fmla="*/ 412 w 630"/>
                  <a:gd name="T9" fmla="*/ 3 h 248"/>
                  <a:gd name="T10" fmla="*/ 524 w 630"/>
                  <a:gd name="T11" fmla="*/ 0 h 248"/>
                  <a:gd name="T12" fmla="*/ 579 w 630"/>
                  <a:gd name="T13" fmla="*/ 3 h 248"/>
                  <a:gd name="T14" fmla="*/ 613 w 630"/>
                  <a:gd name="T15" fmla="*/ 14 h 248"/>
                  <a:gd name="T16" fmla="*/ 629 w 630"/>
                  <a:gd name="T17" fmla="*/ 27 h 248"/>
                  <a:gd name="T18" fmla="*/ 627 w 630"/>
                  <a:gd name="T19" fmla="*/ 43 h 248"/>
                  <a:gd name="T20" fmla="*/ 606 w 630"/>
                  <a:gd name="T21" fmla="*/ 62 h 248"/>
                  <a:gd name="T22" fmla="*/ 558 w 630"/>
                  <a:gd name="T23" fmla="*/ 86 h 248"/>
                  <a:gd name="T24" fmla="*/ 441 w 630"/>
                  <a:gd name="T25" fmla="*/ 112 h 248"/>
                  <a:gd name="T26" fmla="*/ 484 w 630"/>
                  <a:gd name="T27" fmla="*/ 129 h 248"/>
                  <a:gd name="T28" fmla="*/ 484 w 630"/>
                  <a:gd name="T29" fmla="*/ 153 h 248"/>
                  <a:gd name="T30" fmla="*/ 436 w 630"/>
                  <a:gd name="T31" fmla="*/ 188 h 248"/>
                  <a:gd name="T32" fmla="*/ 324 w 630"/>
                  <a:gd name="T33" fmla="*/ 227 h 248"/>
                  <a:gd name="T34" fmla="*/ 188 w 630"/>
                  <a:gd name="T35" fmla="*/ 246 h 248"/>
                  <a:gd name="T36" fmla="*/ 98 w 630"/>
                  <a:gd name="T37" fmla="*/ 246 h 248"/>
                  <a:gd name="T38" fmla="*/ 48 w 630"/>
                  <a:gd name="T39" fmla="*/ 241 h 248"/>
                  <a:gd name="T40" fmla="*/ 15 w 630"/>
                  <a:gd name="T41" fmla="*/ 231 h 248"/>
                  <a:gd name="T42" fmla="*/ 0 w 630"/>
                  <a:gd name="T43" fmla="*/ 214 h 248"/>
                  <a:gd name="T44" fmla="*/ 8 w 630"/>
                  <a:gd name="T45" fmla="*/ 191 h 248"/>
                  <a:gd name="T46" fmla="*/ 45 w 630"/>
                  <a:gd name="T47" fmla="*/ 165 h 248"/>
                  <a:gd name="T48" fmla="*/ 110 w 630"/>
                  <a:gd name="T49" fmla="*/ 138 h 248"/>
                  <a:gd name="T50" fmla="*/ 196 w 630"/>
                  <a:gd name="T51" fmla="*/ 117 h 248"/>
                  <a:gd name="T52" fmla="*/ 325 w 630"/>
                  <a:gd name="T53" fmla="*/ 65 h 248"/>
                  <a:gd name="T54" fmla="*/ 312 w 630"/>
                  <a:gd name="T55" fmla="*/ 84 h 248"/>
                  <a:gd name="T56" fmla="*/ 331 w 630"/>
                  <a:gd name="T57" fmla="*/ 93 h 248"/>
                  <a:gd name="T58" fmla="*/ 394 w 630"/>
                  <a:gd name="T59" fmla="*/ 93 h 248"/>
                  <a:gd name="T60" fmla="*/ 458 w 630"/>
                  <a:gd name="T61" fmla="*/ 79 h 248"/>
                  <a:gd name="T62" fmla="*/ 496 w 630"/>
                  <a:gd name="T63" fmla="*/ 53 h 248"/>
                  <a:gd name="T64" fmla="*/ 486 w 630"/>
                  <a:gd name="T65" fmla="*/ 41 h 248"/>
                  <a:gd name="T66" fmla="*/ 448 w 630"/>
                  <a:gd name="T67" fmla="*/ 36 h 248"/>
                  <a:gd name="T68" fmla="*/ 363 w 630"/>
                  <a:gd name="T69" fmla="*/ 48 h 248"/>
                  <a:gd name="T70" fmla="*/ 325 w 630"/>
                  <a:gd name="T71" fmla="*/ 65 h 248"/>
                  <a:gd name="T72" fmla="*/ 141 w 630"/>
                  <a:gd name="T73" fmla="*/ 188 h 248"/>
                  <a:gd name="T74" fmla="*/ 150 w 630"/>
                  <a:gd name="T75" fmla="*/ 205 h 248"/>
                  <a:gd name="T76" fmla="*/ 193 w 630"/>
                  <a:gd name="T77" fmla="*/ 210 h 248"/>
                  <a:gd name="T78" fmla="*/ 293 w 630"/>
                  <a:gd name="T79" fmla="*/ 195 h 248"/>
                  <a:gd name="T80" fmla="*/ 353 w 630"/>
                  <a:gd name="T81" fmla="*/ 162 h 248"/>
                  <a:gd name="T82" fmla="*/ 356 w 630"/>
                  <a:gd name="T83" fmla="*/ 143 h 248"/>
                  <a:gd name="T84" fmla="*/ 324 w 630"/>
                  <a:gd name="T85" fmla="*/ 133 h 248"/>
                  <a:gd name="T86" fmla="*/ 241 w 630"/>
                  <a:gd name="T87" fmla="*/ 139 h 248"/>
                  <a:gd name="T88" fmla="*/ 186 w 630"/>
                  <a:gd name="T89" fmla="*/ 157 h 248"/>
                  <a:gd name="T90" fmla="*/ 160 w 630"/>
                  <a:gd name="T91" fmla="*/ 17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0" h="248">
                    <a:moveTo>
                      <a:pt x="231" y="112"/>
                    </a:moveTo>
                    <a:lnTo>
                      <a:pt x="213" y="108"/>
                    </a:lnTo>
                    <a:lnTo>
                      <a:pt x="201" y="103"/>
                    </a:lnTo>
                    <a:lnTo>
                      <a:pt x="194" y="98"/>
                    </a:lnTo>
                    <a:lnTo>
                      <a:pt x="191" y="91"/>
                    </a:lnTo>
                    <a:lnTo>
                      <a:pt x="191" y="84"/>
                    </a:lnTo>
                    <a:lnTo>
                      <a:pt x="194" y="77"/>
                    </a:lnTo>
                    <a:lnTo>
                      <a:pt x="201" y="70"/>
                    </a:lnTo>
                    <a:lnTo>
                      <a:pt x="212" y="62"/>
                    </a:lnTo>
                    <a:lnTo>
                      <a:pt x="234" y="50"/>
                    </a:lnTo>
                    <a:lnTo>
                      <a:pt x="262" y="38"/>
                    </a:lnTo>
                    <a:lnTo>
                      <a:pt x="294" y="27"/>
                    </a:lnTo>
                    <a:lnTo>
                      <a:pt x="331" y="17"/>
                    </a:lnTo>
                    <a:lnTo>
                      <a:pt x="370" y="10"/>
                    </a:lnTo>
                    <a:lnTo>
                      <a:pt x="412" y="3"/>
                    </a:lnTo>
                    <a:lnTo>
                      <a:pt x="455" y="2"/>
                    </a:lnTo>
                    <a:lnTo>
                      <a:pt x="501" y="0"/>
                    </a:lnTo>
                    <a:lnTo>
                      <a:pt x="524" y="0"/>
                    </a:lnTo>
                    <a:lnTo>
                      <a:pt x="544" y="2"/>
                    </a:lnTo>
                    <a:lnTo>
                      <a:pt x="562" y="2"/>
                    </a:lnTo>
                    <a:lnTo>
                      <a:pt x="579" y="3"/>
                    </a:lnTo>
                    <a:lnTo>
                      <a:pt x="593" y="7"/>
                    </a:lnTo>
                    <a:lnTo>
                      <a:pt x="605" y="10"/>
                    </a:lnTo>
                    <a:lnTo>
                      <a:pt x="613" y="14"/>
                    </a:lnTo>
                    <a:lnTo>
                      <a:pt x="620" y="17"/>
                    </a:lnTo>
                    <a:lnTo>
                      <a:pt x="625" y="22"/>
                    </a:lnTo>
                    <a:lnTo>
                      <a:pt x="629" y="27"/>
                    </a:lnTo>
                    <a:lnTo>
                      <a:pt x="630" y="33"/>
                    </a:lnTo>
                    <a:lnTo>
                      <a:pt x="629" y="38"/>
                    </a:lnTo>
                    <a:lnTo>
                      <a:pt x="627" y="43"/>
                    </a:lnTo>
                    <a:lnTo>
                      <a:pt x="622" y="50"/>
                    </a:lnTo>
                    <a:lnTo>
                      <a:pt x="615" y="55"/>
                    </a:lnTo>
                    <a:lnTo>
                      <a:pt x="606" y="62"/>
                    </a:lnTo>
                    <a:lnTo>
                      <a:pt x="593" y="70"/>
                    </a:lnTo>
                    <a:lnTo>
                      <a:pt x="577" y="79"/>
                    </a:lnTo>
                    <a:lnTo>
                      <a:pt x="558" y="86"/>
                    </a:lnTo>
                    <a:lnTo>
                      <a:pt x="537" y="93"/>
                    </a:lnTo>
                    <a:lnTo>
                      <a:pt x="491" y="105"/>
                    </a:lnTo>
                    <a:lnTo>
                      <a:pt x="441" y="112"/>
                    </a:lnTo>
                    <a:lnTo>
                      <a:pt x="460" y="117"/>
                    </a:lnTo>
                    <a:lnTo>
                      <a:pt x="474" y="122"/>
                    </a:lnTo>
                    <a:lnTo>
                      <a:pt x="484" y="129"/>
                    </a:lnTo>
                    <a:lnTo>
                      <a:pt x="489" y="136"/>
                    </a:lnTo>
                    <a:lnTo>
                      <a:pt x="489" y="145"/>
                    </a:lnTo>
                    <a:lnTo>
                      <a:pt x="484" y="153"/>
                    </a:lnTo>
                    <a:lnTo>
                      <a:pt x="477" y="162"/>
                    </a:lnTo>
                    <a:lnTo>
                      <a:pt x="463" y="172"/>
                    </a:lnTo>
                    <a:lnTo>
                      <a:pt x="436" y="188"/>
                    </a:lnTo>
                    <a:lnTo>
                      <a:pt x="405" y="203"/>
                    </a:lnTo>
                    <a:lnTo>
                      <a:pt x="367" y="215"/>
                    </a:lnTo>
                    <a:lnTo>
                      <a:pt x="324" y="227"/>
                    </a:lnTo>
                    <a:lnTo>
                      <a:pt x="279" y="236"/>
                    </a:lnTo>
                    <a:lnTo>
                      <a:pt x="234" y="243"/>
                    </a:lnTo>
                    <a:lnTo>
                      <a:pt x="188" y="246"/>
                    </a:lnTo>
                    <a:lnTo>
                      <a:pt x="139" y="248"/>
                    </a:lnTo>
                    <a:lnTo>
                      <a:pt x="117" y="248"/>
                    </a:lnTo>
                    <a:lnTo>
                      <a:pt x="98" y="246"/>
                    </a:lnTo>
                    <a:lnTo>
                      <a:pt x="79" y="246"/>
                    </a:lnTo>
                    <a:lnTo>
                      <a:pt x="64" y="245"/>
                    </a:lnTo>
                    <a:lnTo>
                      <a:pt x="48" y="241"/>
                    </a:lnTo>
                    <a:lnTo>
                      <a:pt x="36" y="239"/>
                    </a:lnTo>
                    <a:lnTo>
                      <a:pt x="24" y="234"/>
                    </a:lnTo>
                    <a:lnTo>
                      <a:pt x="15" y="231"/>
                    </a:lnTo>
                    <a:lnTo>
                      <a:pt x="7" y="226"/>
                    </a:lnTo>
                    <a:lnTo>
                      <a:pt x="1" y="219"/>
                    </a:lnTo>
                    <a:lnTo>
                      <a:pt x="0" y="214"/>
                    </a:lnTo>
                    <a:lnTo>
                      <a:pt x="0" y="207"/>
                    </a:lnTo>
                    <a:lnTo>
                      <a:pt x="3" y="200"/>
                    </a:lnTo>
                    <a:lnTo>
                      <a:pt x="8" y="191"/>
                    </a:lnTo>
                    <a:lnTo>
                      <a:pt x="17" y="182"/>
                    </a:lnTo>
                    <a:lnTo>
                      <a:pt x="29" y="174"/>
                    </a:lnTo>
                    <a:lnTo>
                      <a:pt x="45" y="165"/>
                    </a:lnTo>
                    <a:lnTo>
                      <a:pt x="64" y="157"/>
                    </a:lnTo>
                    <a:lnTo>
                      <a:pt x="86" y="146"/>
                    </a:lnTo>
                    <a:lnTo>
                      <a:pt x="110" y="138"/>
                    </a:lnTo>
                    <a:lnTo>
                      <a:pt x="136" y="131"/>
                    </a:lnTo>
                    <a:lnTo>
                      <a:pt x="165" y="124"/>
                    </a:lnTo>
                    <a:lnTo>
                      <a:pt x="196" y="117"/>
                    </a:lnTo>
                    <a:lnTo>
                      <a:pt x="231" y="112"/>
                    </a:lnTo>
                    <a:lnTo>
                      <a:pt x="231" y="112"/>
                    </a:lnTo>
                    <a:close/>
                    <a:moveTo>
                      <a:pt x="325" y="65"/>
                    </a:moveTo>
                    <a:lnTo>
                      <a:pt x="317" y="72"/>
                    </a:lnTo>
                    <a:lnTo>
                      <a:pt x="313" y="79"/>
                    </a:lnTo>
                    <a:lnTo>
                      <a:pt x="312" y="84"/>
                    </a:lnTo>
                    <a:lnTo>
                      <a:pt x="315" y="88"/>
                    </a:lnTo>
                    <a:lnTo>
                      <a:pt x="322" y="91"/>
                    </a:lnTo>
                    <a:lnTo>
                      <a:pt x="331" y="93"/>
                    </a:lnTo>
                    <a:lnTo>
                      <a:pt x="344" y="95"/>
                    </a:lnTo>
                    <a:lnTo>
                      <a:pt x="360" y="95"/>
                    </a:lnTo>
                    <a:lnTo>
                      <a:pt x="394" y="93"/>
                    </a:lnTo>
                    <a:lnTo>
                      <a:pt x="429" y="88"/>
                    </a:lnTo>
                    <a:lnTo>
                      <a:pt x="444" y="84"/>
                    </a:lnTo>
                    <a:lnTo>
                      <a:pt x="458" y="79"/>
                    </a:lnTo>
                    <a:lnTo>
                      <a:pt x="482" y="65"/>
                    </a:lnTo>
                    <a:lnTo>
                      <a:pt x="491" y="58"/>
                    </a:lnTo>
                    <a:lnTo>
                      <a:pt x="496" y="53"/>
                    </a:lnTo>
                    <a:lnTo>
                      <a:pt x="496" y="48"/>
                    </a:lnTo>
                    <a:lnTo>
                      <a:pt x="493" y="45"/>
                    </a:lnTo>
                    <a:lnTo>
                      <a:pt x="486" y="41"/>
                    </a:lnTo>
                    <a:lnTo>
                      <a:pt x="477" y="38"/>
                    </a:lnTo>
                    <a:lnTo>
                      <a:pt x="463" y="36"/>
                    </a:lnTo>
                    <a:lnTo>
                      <a:pt x="448" y="36"/>
                    </a:lnTo>
                    <a:lnTo>
                      <a:pt x="413" y="38"/>
                    </a:lnTo>
                    <a:lnTo>
                      <a:pt x="379" y="45"/>
                    </a:lnTo>
                    <a:lnTo>
                      <a:pt x="363" y="48"/>
                    </a:lnTo>
                    <a:lnTo>
                      <a:pt x="350" y="53"/>
                    </a:lnTo>
                    <a:lnTo>
                      <a:pt x="325" y="65"/>
                    </a:lnTo>
                    <a:lnTo>
                      <a:pt x="325" y="65"/>
                    </a:lnTo>
                    <a:close/>
                    <a:moveTo>
                      <a:pt x="160" y="170"/>
                    </a:moveTo>
                    <a:lnTo>
                      <a:pt x="148" y="179"/>
                    </a:lnTo>
                    <a:lnTo>
                      <a:pt x="141" y="188"/>
                    </a:lnTo>
                    <a:lnTo>
                      <a:pt x="139" y="195"/>
                    </a:lnTo>
                    <a:lnTo>
                      <a:pt x="143" y="200"/>
                    </a:lnTo>
                    <a:lnTo>
                      <a:pt x="150" y="205"/>
                    </a:lnTo>
                    <a:lnTo>
                      <a:pt x="160" y="208"/>
                    </a:lnTo>
                    <a:lnTo>
                      <a:pt x="174" y="210"/>
                    </a:lnTo>
                    <a:lnTo>
                      <a:pt x="193" y="210"/>
                    </a:lnTo>
                    <a:lnTo>
                      <a:pt x="232" y="208"/>
                    </a:lnTo>
                    <a:lnTo>
                      <a:pt x="272" y="200"/>
                    </a:lnTo>
                    <a:lnTo>
                      <a:pt x="293" y="195"/>
                    </a:lnTo>
                    <a:lnTo>
                      <a:pt x="310" y="188"/>
                    </a:lnTo>
                    <a:lnTo>
                      <a:pt x="343" y="170"/>
                    </a:lnTo>
                    <a:lnTo>
                      <a:pt x="353" y="162"/>
                    </a:lnTo>
                    <a:lnTo>
                      <a:pt x="358" y="155"/>
                    </a:lnTo>
                    <a:lnTo>
                      <a:pt x="360" y="148"/>
                    </a:lnTo>
                    <a:lnTo>
                      <a:pt x="356" y="143"/>
                    </a:lnTo>
                    <a:lnTo>
                      <a:pt x="350" y="138"/>
                    </a:lnTo>
                    <a:lnTo>
                      <a:pt x="339" y="136"/>
                    </a:lnTo>
                    <a:lnTo>
                      <a:pt x="324" y="133"/>
                    </a:lnTo>
                    <a:lnTo>
                      <a:pt x="306" y="133"/>
                    </a:lnTo>
                    <a:lnTo>
                      <a:pt x="262" y="136"/>
                    </a:lnTo>
                    <a:lnTo>
                      <a:pt x="241" y="139"/>
                    </a:lnTo>
                    <a:lnTo>
                      <a:pt x="220" y="145"/>
                    </a:lnTo>
                    <a:lnTo>
                      <a:pt x="201" y="150"/>
                    </a:lnTo>
                    <a:lnTo>
                      <a:pt x="186" y="157"/>
                    </a:lnTo>
                    <a:lnTo>
                      <a:pt x="172" y="164"/>
                    </a:lnTo>
                    <a:lnTo>
                      <a:pt x="160" y="170"/>
                    </a:lnTo>
                    <a:lnTo>
                      <a:pt x="160" y="17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49281" name="Group 801"/>
            <p:cNvGrpSpPr>
              <a:grpSpLocks/>
            </p:cNvGrpSpPr>
            <p:nvPr/>
          </p:nvGrpSpPr>
          <p:grpSpPr bwMode="auto">
            <a:xfrm>
              <a:off x="2990" y="3816"/>
              <a:ext cx="1655" cy="84"/>
              <a:chOff x="3007" y="3833"/>
              <a:chExt cx="1655" cy="84"/>
            </a:xfrm>
          </p:grpSpPr>
          <p:grpSp>
            <p:nvGrpSpPr>
              <p:cNvPr id="149282" name="Group 802"/>
              <p:cNvGrpSpPr>
                <a:grpSpLocks/>
              </p:cNvGrpSpPr>
              <p:nvPr/>
            </p:nvGrpSpPr>
            <p:grpSpPr bwMode="auto">
              <a:xfrm>
                <a:off x="3007" y="3833"/>
                <a:ext cx="1654" cy="83"/>
                <a:chOff x="3007" y="3833"/>
                <a:chExt cx="1654" cy="83"/>
              </a:xfrm>
            </p:grpSpPr>
            <p:sp>
              <p:nvSpPr>
                <p:cNvPr id="149283" name="Rectangle 803"/>
                <p:cNvSpPr>
                  <a:spLocks noChangeArrowheads="1"/>
                </p:cNvSpPr>
                <p:nvPr/>
              </p:nvSpPr>
              <p:spPr bwMode="auto">
                <a:xfrm>
                  <a:off x="3007" y="3833"/>
                  <a:ext cx="1654" cy="2"/>
                </a:xfrm>
                <a:prstGeom prst="rect">
                  <a:avLst/>
                </a:prstGeom>
                <a:solidFill>
                  <a:srgbClr val="FEFE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84" name="Rectangle 804"/>
                <p:cNvSpPr>
                  <a:spLocks noChangeArrowheads="1"/>
                </p:cNvSpPr>
                <p:nvPr/>
              </p:nvSpPr>
              <p:spPr bwMode="auto">
                <a:xfrm>
                  <a:off x="3007" y="3835"/>
                  <a:ext cx="1654" cy="2"/>
                </a:xfrm>
                <a:prstGeom prst="rect">
                  <a:avLst/>
                </a:prstGeom>
                <a:solidFill>
                  <a:srgbClr val="FEFE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85" name="Rectangle 805"/>
                <p:cNvSpPr>
                  <a:spLocks noChangeArrowheads="1"/>
                </p:cNvSpPr>
                <p:nvPr/>
              </p:nvSpPr>
              <p:spPr bwMode="auto">
                <a:xfrm>
                  <a:off x="3007" y="3837"/>
                  <a:ext cx="1654" cy="2"/>
                </a:xfrm>
                <a:prstGeom prst="rect">
                  <a:avLst/>
                </a:prstGeom>
                <a:solidFill>
                  <a:srgbClr val="FDFD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86" name="Rectangle 806"/>
                <p:cNvSpPr>
                  <a:spLocks noChangeArrowheads="1"/>
                </p:cNvSpPr>
                <p:nvPr/>
              </p:nvSpPr>
              <p:spPr bwMode="auto">
                <a:xfrm>
                  <a:off x="3007" y="3839"/>
                  <a:ext cx="1654" cy="1"/>
                </a:xfrm>
                <a:prstGeom prst="rect">
                  <a:avLst/>
                </a:prstGeom>
                <a:solidFill>
                  <a:srgbClr val="FCFC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87" name="Rectangle 807"/>
                <p:cNvSpPr>
                  <a:spLocks noChangeArrowheads="1"/>
                </p:cNvSpPr>
                <p:nvPr/>
              </p:nvSpPr>
              <p:spPr bwMode="auto">
                <a:xfrm>
                  <a:off x="3007" y="3840"/>
                  <a:ext cx="1654" cy="2"/>
                </a:xfrm>
                <a:prstGeom prst="rect">
                  <a:avLst/>
                </a:prstGeom>
                <a:solidFill>
                  <a:srgbClr val="FBFB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88" name="Rectangle 808"/>
                <p:cNvSpPr>
                  <a:spLocks noChangeArrowheads="1"/>
                </p:cNvSpPr>
                <p:nvPr/>
              </p:nvSpPr>
              <p:spPr bwMode="auto">
                <a:xfrm>
                  <a:off x="3007" y="3842"/>
                  <a:ext cx="1654" cy="2"/>
                </a:xfrm>
                <a:prstGeom prst="rect">
                  <a:avLst/>
                </a:prstGeom>
                <a:solidFill>
                  <a:srgbClr val="FAFA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89" name="Rectangle 809"/>
                <p:cNvSpPr>
                  <a:spLocks noChangeArrowheads="1"/>
                </p:cNvSpPr>
                <p:nvPr/>
              </p:nvSpPr>
              <p:spPr bwMode="auto">
                <a:xfrm>
                  <a:off x="3007" y="3844"/>
                  <a:ext cx="1654" cy="2"/>
                </a:xfrm>
                <a:prstGeom prst="rect">
                  <a:avLst/>
                </a:prstGeom>
                <a:solidFill>
                  <a:srgbClr val="F9F9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90" name="Rectangle 810"/>
                <p:cNvSpPr>
                  <a:spLocks noChangeArrowheads="1"/>
                </p:cNvSpPr>
                <p:nvPr/>
              </p:nvSpPr>
              <p:spPr bwMode="auto">
                <a:xfrm>
                  <a:off x="3007" y="3846"/>
                  <a:ext cx="1654" cy="1"/>
                </a:xfrm>
                <a:prstGeom prst="rect">
                  <a:avLst/>
                </a:prstGeom>
                <a:solidFill>
                  <a:srgbClr val="F8F8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91" name="Rectangle 811"/>
                <p:cNvSpPr>
                  <a:spLocks noChangeArrowheads="1"/>
                </p:cNvSpPr>
                <p:nvPr/>
              </p:nvSpPr>
              <p:spPr bwMode="auto">
                <a:xfrm>
                  <a:off x="3007" y="3847"/>
                  <a:ext cx="1654" cy="2"/>
                </a:xfrm>
                <a:prstGeom prst="rect">
                  <a:avLst/>
                </a:prstGeom>
                <a:solidFill>
                  <a:srgbClr val="F6F6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92" name="Rectangle 812"/>
                <p:cNvSpPr>
                  <a:spLocks noChangeArrowheads="1"/>
                </p:cNvSpPr>
                <p:nvPr/>
              </p:nvSpPr>
              <p:spPr bwMode="auto">
                <a:xfrm>
                  <a:off x="3007" y="3849"/>
                  <a:ext cx="1654" cy="2"/>
                </a:xfrm>
                <a:prstGeom prst="rect">
                  <a:avLst/>
                </a:prstGeom>
                <a:solidFill>
                  <a:srgbClr val="F5F5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93" name="Rectangle 813"/>
                <p:cNvSpPr>
                  <a:spLocks noChangeArrowheads="1"/>
                </p:cNvSpPr>
                <p:nvPr/>
              </p:nvSpPr>
              <p:spPr bwMode="auto">
                <a:xfrm>
                  <a:off x="3007" y="3851"/>
                  <a:ext cx="1654" cy="1"/>
                </a:xfrm>
                <a:prstGeom prst="rect">
                  <a:avLst/>
                </a:prstGeom>
                <a:solidFill>
                  <a:srgbClr val="F3F3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94" name="Rectangle 814"/>
                <p:cNvSpPr>
                  <a:spLocks noChangeArrowheads="1"/>
                </p:cNvSpPr>
                <p:nvPr/>
              </p:nvSpPr>
              <p:spPr bwMode="auto">
                <a:xfrm>
                  <a:off x="3007" y="3852"/>
                  <a:ext cx="1654" cy="2"/>
                </a:xfrm>
                <a:prstGeom prst="rect">
                  <a:avLst/>
                </a:prstGeom>
                <a:solidFill>
                  <a:srgbClr val="F1F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95" name="Rectangle 815"/>
                <p:cNvSpPr>
                  <a:spLocks noChangeArrowheads="1"/>
                </p:cNvSpPr>
                <p:nvPr/>
              </p:nvSpPr>
              <p:spPr bwMode="auto">
                <a:xfrm>
                  <a:off x="3007" y="3854"/>
                  <a:ext cx="1654" cy="2"/>
                </a:xfrm>
                <a:prstGeom prst="rect">
                  <a:avLst/>
                </a:prstGeom>
                <a:solidFill>
                  <a:srgbClr val="EFE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96" name="Rectangle 816"/>
                <p:cNvSpPr>
                  <a:spLocks noChangeArrowheads="1"/>
                </p:cNvSpPr>
                <p:nvPr/>
              </p:nvSpPr>
              <p:spPr bwMode="auto">
                <a:xfrm>
                  <a:off x="3007" y="3856"/>
                  <a:ext cx="1654" cy="2"/>
                </a:xfrm>
                <a:prstGeom prst="rect">
                  <a:avLst/>
                </a:prstGeom>
                <a:solidFill>
                  <a:srgbClr val="ECECB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97" name="Rectangle 817"/>
                <p:cNvSpPr>
                  <a:spLocks noChangeArrowheads="1"/>
                </p:cNvSpPr>
                <p:nvPr/>
              </p:nvSpPr>
              <p:spPr bwMode="auto">
                <a:xfrm>
                  <a:off x="3007" y="3858"/>
                  <a:ext cx="1654" cy="1"/>
                </a:xfrm>
                <a:prstGeom prst="rect">
                  <a:avLst/>
                </a:prstGeom>
                <a:solidFill>
                  <a:srgbClr val="EAEAB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98" name="Rectangle 818"/>
                <p:cNvSpPr>
                  <a:spLocks noChangeArrowheads="1"/>
                </p:cNvSpPr>
                <p:nvPr/>
              </p:nvSpPr>
              <p:spPr bwMode="auto">
                <a:xfrm>
                  <a:off x="3007" y="3859"/>
                  <a:ext cx="1654" cy="2"/>
                </a:xfrm>
                <a:prstGeom prst="rect">
                  <a:avLst/>
                </a:prstGeom>
                <a:solidFill>
                  <a:srgbClr val="E7E7B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299" name="Rectangle 819"/>
                <p:cNvSpPr>
                  <a:spLocks noChangeArrowheads="1"/>
                </p:cNvSpPr>
                <p:nvPr/>
              </p:nvSpPr>
              <p:spPr bwMode="auto">
                <a:xfrm>
                  <a:off x="3007" y="3861"/>
                  <a:ext cx="1654" cy="2"/>
                </a:xfrm>
                <a:prstGeom prst="rect">
                  <a:avLst/>
                </a:prstGeom>
                <a:solidFill>
                  <a:srgbClr val="E3E3B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00" name="Rectangle 820"/>
                <p:cNvSpPr>
                  <a:spLocks noChangeArrowheads="1"/>
                </p:cNvSpPr>
                <p:nvPr/>
              </p:nvSpPr>
              <p:spPr bwMode="auto">
                <a:xfrm>
                  <a:off x="3007" y="3863"/>
                  <a:ext cx="1654" cy="1"/>
                </a:xfrm>
                <a:prstGeom prst="rect">
                  <a:avLst/>
                </a:prstGeom>
                <a:solidFill>
                  <a:srgbClr val="E0E0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01" name="Rectangle 821"/>
                <p:cNvSpPr>
                  <a:spLocks noChangeArrowheads="1"/>
                </p:cNvSpPr>
                <p:nvPr/>
              </p:nvSpPr>
              <p:spPr bwMode="auto">
                <a:xfrm>
                  <a:off x="3007" y="3864"/>
                  <a:ext cx="1654" cy="2"/>
                </a:xfrm>
                <a:prstGeom prst="rect">
                  <a:avLst/>
                </a:prstGeom>
                <a:solidFill>
                  <a:srgbClr val="DDDDB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02" name="Rectangle 822"/>
                <p:cNvSpPr>
                  <a:spLocks noChangeArrowheads="1"/>
                </p:cNvSpPr>
                <p:nvPr/>
              </p:nvSpPr>
              <p:spPr bwMode="auto">
                <a:xfrm>
                  <a:off x="3007" y="3866"/>
                  <a:ext cx="1654" cy="2"/>
                </a:xfrm>
                <a:prstGeom prst="rect">
                  <a:avLst/>
                </a:prstGeom>
                <a:solidFill>
                  <a:srgbClr val="D9D9A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03" name="Rectangle 823"/>
                <p:cNvSpPr>
                  <a:spLocks noChangeArrowheads="1"/>
                </p:cNvSpPr>
                <p:nvPr/>
              </p:nvSpPr>
              <p:spPr bwMode="auto">
                <a:xfrm>
                  <a:off x="3007" y="3868"/>
                  <a:ext cx="1654" cy="2"/>
                </a:xfrm>
                <a:prstGeom prst="rect">
                  <a:avLst/>
                </a:prstGeom>
                <a:solidFill>
                  <a:srgbClr val="D5D5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04" name="Rectangle 824"/>
                <p:cNvSpPr>
                  <a:spLocks noChangeArrowheads="1"/>
                </p:cNvSpPr>
                <p:nvPr/>
              </p:nvSpPr>
              <p:spPr bwMode="auto">
                <a:xfrm>
                  <a:off x="3007" y="3870"/>
                  <a:ext cx="1654" cy="1"/>
                </a:xfrm>
                <a:prstGeom prst="rect">
                  <a:avLst/>
                </a:prstGeom>
                <a:solidFill>
                  <a:srgbClr val="D1D1A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05" name="Rectangle 825"/>
                <p:cNvSpPr>
                  <a:spLocks noChangeArrowheads="1"/>
                </p:cNvSpPr>
                <p:nvPr/>
              </p:nvSpPr>
              <p:spPr bwMode="auto">
                <a:xfrm>
                  <a:off x="3007" y="3871"/>
                  <a:ext cx="1654" cy="2"/>
                </a:xfrm>
                <a:prstGeom prst="rect">
                  <a:avLst/>
                </a:prstGeom>
                <a:solidFill>
                  <a:srgbClr val="CCCCA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06" name="Rectangle 826"/>
                <p:cNvSpPr>
                  <a:spLocks noChangeArrowheads="1"/>
                </p:cNvSpPr>
                <p:nvPr/>
              </p:nvSpPr>
              <p:spPr bwMode="auto">
                <a:xfrm>
                  <a:off x="3007" y="3873"/>
                  <a:ext cx="1654" cy="2"/>
                </a:xfrm>
                <a:prstGeom prst="rect">
                  <a:avLst/>
                </a:prstGeom>
                <a:solidFill>
                  <a:srgbClr val="C8C8A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07" name="Rectangle 827"/>
                <p:cNvSpPr>
                  <a:spLocks noChangeArrowheads="1"/>
                </p:cNvSpPr>
                <p:nvPr/>
              </p:nvSpPr>
              <p:spPr bwMode="auto">
                <a:xfrm>
                  <a:off x="3007" y="3875"/>
                  <a:ext cx="1654" cy="2"/>
                </a:xfrm>
                <a:prstGeom prst="rect">
                  <a:avLst/>
                </a:prstGeom>
                <a:solidFill>
                  <a:srgbClr val="C4C4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08" name="Rectangle 828"/>
                <p:cNvSpPr>
                  <a:spLocks noChangeArrowheads="1"/>
                </p:cNvSpPr>
                <p:nvPr/>
              </p:nvSpPr>
              <p:spPr bwMode="auto">
                <a:xfrm>
                  <a:off x="3007" y="3877"/>
                  <a:ext cx="1654" cy="1"/>
                </a:xfrm>
                <a:prstGeom prst="rect">
                  <a:avLst/>
                </a:prstGeom>
                <a:solidFill>
                  <a:srgbClr val="BFBF9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09" name="Rectangle 829"/>
                <p:cNvSpPr>
                  <a:spLocks noChangeArrowheads="1"/>
                </p:cNvSpPr>
                <p:nvPr/>
              </p:nvSpPr>
              <p:spPr bwMode="auto">
                <a:xfrm>
                  <a:off x="3007" y="3878"/>
                  <a:ext cx="1654" cy="2"/>
                </a:xfrm>
                <a:prstGeom prst="rect">
                  <a:avLst/>
                </a:prstGeom>
                <a:solidFill>
                  <a:srgbClr val="BBBB9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10" name="Rectangle 830"/>
                <p:cNvSpPr>
                  <a:spLocks noChangeArrowheads="1"/>
                </p:cNvSpPr>
                <p:nvPr/>
              </p:nvSpPr>
              <p:spPr bwMode="auto">
                <a:xfrm>
                  <a:off x="3007" y="3880"/>
                  <a:ext cx="1654" cy="2"/>
                </a:xfrm>
                <a:prstGeom prst="rect">
                  <a:avLst/>
                </a:prstGeom>
                <a:solidFill>
                  <a:srgbClr val="B6B6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11" name="Rectangle 831"/>
                <p:cNvSpPr>
                  <a:spLocks noChangeArrowheads="1"/>
                </p:cNvSpPr>
                <p:nvPr/>
              </p:nvSpPr>
              <p:spPr bwMode="auto">
                <a:xfrm>
                  <a:off x="3007" y="3882"/>
                  <a:ext cx="1654" cy="1"/>
                </a:xfrm>
                <a:prstGeom prst="rect">
                  <a:avLst/>
                </a:prstGeom>
                <a:solidFill>
                  <a:srgbClr val="B1B18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12" name="Rectangle 832"/>
                <p:cNvSpPr>
                  <a:spLocks noChangeArrowheads="1"/>
                </p:cNvSpPr>
                <p:nvPr/>
              </p:nvSpPr>
              <p:spPr bwMode="auto">
                <a:xfrm>
                  <a:off x="3007" y="3883"/>
                  <a:ext cx="1654" cy="2"/>
                </a:xfrm>
                <a:prstGeom prst="rect">
                  <a:avLst/>
                </a:prstGeom>
                <a:solidFill>
                  <a:srgbClr val="ADAD8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13" name="Rectangle 833"/>
                <p:cNvSpPr>
                  <a:spLocks noChangeArrowheads="1"/>
                </p:cNvSpPr>
                <p:nvPr/>
              </p:nvSpPr>
              <p:spPr bwMode="auto">
                <a:xfrm>
                  <a:off x="3007" y="3885"/>
                  <a:ext cx="1654" cy="2"/>
                </a:xfrm>
                <a:prstGeom prst="rect">
                  <a:avLst/>
                </a:prstGeom>
                <a:solidFill>
                  <a:srgbClr val="A8A88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14" name="Rectangle 834"/>
                <p:cNvSpPr>
                  <a:spLocks noChangeArrowheads="1"/>
                </p:cNvSpPr>
                <p:nvPr/>
              </p:nvSpPr>
              <p:spPr bwMode="auto">
                <a:xfrm>
                  <a:off x="3007" y="3887"/>
                  <a:ext cx="1654" cy="2"/>
                </a:xfrm>
                <a:prstGeom prst="rect">
                  <a:avLst/>
                </a:prstGeom>
                <a:solidFill>
                  <a:srgbClr val="A3A38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15" name="Rectangle 835"/>
                <p:cNvSpPr>
                  <a:spLocks noChangeArrowheads="1"/>
                </p:cNvSpPr>
                <p:nvPr/>
              </p:nvSpPr>
              <p:spPr bwMode="auto">
                <a:xfrm>
                  <a:off x="3007" y="3889"/>
                  <a:ext cx="1654" cy="1"/>
                </a:xfrm>
                <a:prstGeom prst="rect">
                  <a:avLst/>
                </a:prstGeom>
                <a:solidFill>
                  <a:srgbClr val="9F9F7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16" name="Rectangle 836"/>
                <p:cNvSpPr>
                  <a:spLocks noChangeArrowheads="1"/>
                </p:cNvSpPr>
                <p:nvPr/>
              </p:nvSpPr>
              <p:spPr bwMode="auto">
                <a:xfrm>
                  <a:off x="3007" y="3890"/>
                  <a:ext cx="1654" cy="2"/>
                </a:xfrm>
                <a:prstGeom prst="rect">
                  <a:avLst/>
                </a:prstGeom>
                <a:solidFill>
                  <a:srgbClr val="9B9B7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17" name="Rectangle 837"/>
                <p:cNvSpPr>
                  <a:spLocks noChangeArrowheads="1"/>
                </p:cNvSpPr>
                <p:nvPr/>
              </p:nvSpPr>
              <p:spPr bwMode="auto">
                <a:xfrm>
                  <a:off x="3007" y="3892"/>
                  <a:ext cx="1654" cy="2"/>
                </a:xfrm>
                <a:prstGeom prst="rect">
                  <a:avLst/>
                </a:prstGeom>
                <a:solidFill>
                  <a:srgbClr val="96967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18" name="Rectangle 838"/>
                <p:cNvSpPr>
                  <a:spLocks noChangeArrowheads="1"/>
                </p:cNvSpPr>
                <p:nvPr/>
              </p:nvSpPr>
              <p:spPr bwMode="auto">
                <a:xfrm>
                  <a:off x="3007" y="3894"/>
                  <a:ext cx="1654" cy="1"/>
                </a:xfrm>
                <a:prstGeom prst="rect">
                  <a:avLst/>
                </a:prstGeom>
                <a:solidFill>
                  <a:srgbClr val="93937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19" name="Rectangle 839"/>
                <p:cNvSpPr>
                  <a:spLocks noChangeArrowheads="1"/>
                </p:cNvSpPr>
                <p:nvPr/>
              </p:nvSpPr>
              <p:spPr bwMode="auto">
                <a:xfrm>
                  <a:off x="3007" y="3895"/>
                  <a:ext cx="1654" cy="2"/>
                </a:xfrm>
                <a:prstGeom prst="rect">
                  <a:avLst/>
                </a:prstGeom>
                <a:solidFill>
                  <a:srgbClr val="8F8F7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20" name="Rectangle 840"/>
                <p:cNvSpPr>
                  <a:spLocks noChangeArrowheads="1"/>
                </p:cNvSpPr>
                <p:nvPr/>
              </p:nvSpPr>
              <p:spPr bwMode="auto">
                <a:xfrm>
                  <a:off x="3007" y="3897"/>
                  <a:ext cx="1654" cy="2"/>
                </a:xfrm>
                <a:prstGeom prst="rect">
                  <a:avLst/>
                </a:prstGeom>
                <a:solidFill>
                  <a:srgbClr val="8B8B6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21" name="Rectangle 841"/>
                <p:cNvSpPr>
                  <a:spLocks noChangeArrowheads="1"/>
                </p:cNvSpPr>
                <p:nvPr/>
              </p:nvSpPr>
              <p:spPr bwMode="auto">
                <a:xfrm>
                  <a:off x="3007" y="3899"/>
                  <a:ext cx="1654" cy="2"/>
                </a:xfrm>
                <a:prstGeom prst="rect">
                  <a:avLst/>
                </a:prstGeom>
                <a:solidFill>
                  <a:srgbClr val="88886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22" name="Rectangle 842"/>
                <p:cNvSpPr>
                  <a:spLocks noChangeArrowheads="1"/>
                </p:cNvSpPr>
                <p:nvPr/>
              </p:nvSpPr>
              <p:spPr bwMode="auto">
                <a:xfrm>
                  <a:off x="3007" y="3901"/>
                  <a:ext cx="1654" cy="1"/>
                </a:xfrm>
                <a:prstGeom prst="rect">
                  <a:avLst/>
                </a:prstGeom>
                <a:solidFill>
                  <a:srgbClr val="85856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23" name="Rectangle 843"/>
                <p:cNvSpPr>
                  <a:spLocks noChangeArrowheads="1"/>
                </p:cNvSpPr>
                <p:nvPr/>
              </p:nvSpPr>
              <p:spPr bwMode="auto">
                <a:xfrm>
                  <a:off x="3007" y="3902"/>
                  <a:ext cx="1654" cy="2"/>
                </a:xfrm>
                <a:prstGeom prst="rect">
                  <a:avLst/>
                </a:prstGeom>
                <a:solidFill>
                  <a:srgbClr val="82826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24" name="Rectangle 844"/>
                <p:cNvSpPr>
                  <a:spLocks noChangeArrowheads="1"/>
                </p:cNvSpPr>
                <p:nvPr/>
              </p:nvSpPr>
              <p:spPr bwMode="auto">
                <a:xfrm>
                  <a:off x="3007" y="3904"/>
                  <a:ext cx="1654" cy="2"/>
                </a:xfrm>
                <a:prstGeom prst="rect">
                  <a:avLst/>
                </a:prstGeom>
                <a:solidFill>
                  <a:srgbClr val="8080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25" name="Rectangle 845"/>
                <p:cNvSpPr>
                  <a:spLocks noChangeArrowheads="1"/>
                </p:cNvSpPr>
                <p:nvPr/>
              </p:nvSpPr>
              <p:spPr bwMode="auto">
                <a:xfrm>
                  <a:off x="3007" y="3906"/>
                  <a:ext cx="1654" cy="2"/>
                </a:xfrm>
                <a:prstGeom prst="rect">
                  <a:avLst/>
                </a:prstGeom>
                <a:solidFill>
                  <a:srgbClr val="7E7E6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26" name="Rectangle 846"/>
                <p:cNvSpPr>
                  <a:spLocks noChangeArrowheads="1"/>
                </p:cNvSpPr>
                <p:nvPr/>
              </p:nvSpPr>
              <p:spPr bwMode="auto">
                <a:xfrm>
                  <a:off x="3007" y="3908"/>
                  <a:ext cx="1654" cy="1"/>
                </a:xfrm>
                <a:prstGeom prst="rect">
                  <a:avLst/>
                </a:prstGeom>
                <a:solidFill>
                  <a:srgbClr val="7C7C6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27" name="Rectangle 847"/>
                <p:cNvSpPr>
                  <a:spLocks noChangeArrowheads="1"/>
                </p:cNvSpPr>
                <p:nvPr/>
              </p:nvSpPr>
              <p:spPr bwMode="auto">
                <a:xfrm>
                  <a:off x="3007" y="3909"/>
                  <a:ext cx="1654" cy="2"/>
                </a:xfrm>
                <a:prstGeom prst="rect">
                  <a:avLst/>
                </a:prstGeom>
                <a:solidFill>
                  <a:srgbClr val="7A7A6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28" name="Rectangle 848"/>
                <p:cNvSpPr>
                  <a:spLocks noChangeArrowheads="1"/>
                </p:cNvSpPr>
                <p:nvPr/>
              </p:nvSpPr>
              <p:spPr bwMode="auto">
                <a:xfrm>
                  <a:off x="3007" y="3911"/>
                  <a:ext cx="1654" cy="2"/>
                </a:xfrm>
                <a:prstGeom prst="rect">
                  <a:avLst/>
                </a:prstGeom>
                <a:solidFill>
                  <a:srgbClr val="79796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29" name="Rectangle 849"/>
                <p:cNvSpPr>
                  <a:spLocks noChangeArrowheads="1"/>
                </p:cNvSpPr>
                <p:nvPr/>
              </p:nvSpPr>
              <p:spPr bwMode="auto">
                <a:xfrm>
                  <a:off x="3007" y="3913"/>
                  <a:ext cx="1654" cy="1"/>
                </a:xfrm>
                <a:prstGeom prst="rect">
                  <a:avLst/>
                </a:prstGeom>
                <a:solidFill>
                  <a:srgbClr val="77775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330" name="Rectangle 850"/>
                <p:cNvSpPr>
                  <a:spLocks noChangeArrowheads="1"/>
                </p:cNvSpPr>
                <p:nvPr/>
              </p:nvSpPr>
              <p:spPr bwMode="auto">
                <a:xfrm>
                  <a:off x="3007" y="3914"/>
                  <a:ext cx="1654" cy="2"/>
                </a:xfrm>
                <a:prstGeom prst="rect">
                  <a:avLst/>
                </a:prstGeom>
                <a:solidFill>
                  <a:srgbClr val="76765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sp>
            <p:nvSpPr>
              <p:cNvPr id="149331" name="Rectangle 851"/>
              <p:cNvSpPr>
                <a:spLocks noChangeArrowheads="1"/>
              </p:cNvSpPr>
              <p:nvPr/>
            </p:nvSpPr>
            <p:spPr bwMode="auto">
              <a:xfrm>
                <a:off x="3007" y="3833"/>
                <a:ext cx="1655" cy="84"/>
              </a:xfrm>
              <a:prstGeom prst="rect">
                <a:avLst/>
              </a:prstGeom>
              <a:noFill/>
              <a:ln w="7938">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332" name="Group 852"/>
            <p:cNvGrpSpPr>
              <a:grpSpLocks/>
            </p:cNvGrpSpPr>
            <p:nvPr/>
          </p:nvGrpSpPr>
          <p:grpSpPr bwMode="auto">
            <a:xfrm>
              <a:off x="2907" y="3941"/>
              <a:ext cx="1668" cy="261"/>
              <a:chOff x="2924" y="3958"/>
              <a:chExt cx="1668" cy="261"/>
            </a:xfrm>
          </p:grpSpPr>
          <p:sp>
            <p:nvSpPr>
              <p:cNvPr id="149333" name="Freeform 853"/>
              <p:cNvSpPr>
                <a:spLocks/>
              </p:cNvSpPr>
              <p:nvPr/>
            </p:nvSpPr>
            <p:spPr bwMode="auto">
              <a:xfrm>
                <a:off x="2938" y="3971"/>
                <a:ext cx="1654" cy="248"/>
              </a:xfrm>
              <a:custGeom>
                <a:avLst/>
                <a:gdLst>
                  <a:gd name="T0" fmla="*/ 827 w 3309"/>
                  <a:gd name="T1" fmla="*/ 0 h 496"/>
                  <a:gd name="T2" fmla="*/ 0 w 3309"/>
                  <a:gd name="T3" fmla="*/ 496 h 496"/>
                  <a:gd name="T4" fmla="*/ 2482 w 3309"/>
                  <a:gd name="T5" fmla="*/ 496 h 496"/>
                  <a:gd name="T6" fmla="*/ 3309 w 3309"/>
                  <a:gd name="T7" fmla="*/ 0 h 496"/>
                  <a:gd name="T8" fmla="*/ 827 w 3309"/>
                  <a:gd name="T9" fmla="*/ 0 h 496"/>
                </a:gdLst>
                <a:ahLst/>
                <a:cxnLst>
                  <a:cxn ang="0">
                    <a:pos x="T0" y="T1"/>
                  </a:cxn>
                  <a:cxn ang="0">
                    <a:pos x="T2" y="T3"/>
                  </a:cxn>
                  <a:cxn ang="0">
                    <a:pos x="T4" y="T5"/>
                  </a:cxn>
                  <a:cxn ang="0">
                    <a:pos x="T6" y="T7"/>
                  </a:cxn>
                  <a:cxn ang="0">
                    <a:pos x="T8" y="T9"/>
                  </a:cxn>
                </a:cxnLst>
                <a:rect l="0" t="0" r="r" b="b"/>
                <a:pathLst>
                  <a:path w="3309" h="496">
                    <a:moveTo>
                      <a:pt x="827" y="0"/>
                    </a:moveTo>
                    <a:lnTo>
                      <a:pt x="0" y="496"/>
                    </a:lnTo>
                    <a:lnTo>
                      <a:pt x="2482" y="496"/>
                    </a:lnTo>
                    <a:lnTo>
                      <a:pt x="3309" y="0"/>
                    </a:lnTo>
                    <a:lnTo>
                      <a:pt x="827"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334" name="Group 854"/>
              <p:cNvGrpSpPr>
                <a:grpSpLocks/>
              </p:cNvGrpSpPr>
              <p:nvPr/>
            </p:nvGrpSpPr>
            <p:grpSpPr bwMode="auto">
              <a:xfrm>
                <a:off x="2924" y="3958"/>
                <a:ext cx="1655" cy="249"/>
                <a:chOff x="2924" y="3958"/>
                <a:chExt cx="1655" cy="249"/>
              </a:xfrm>
            </p:grpSpPr>
            <p:pic>
              <p:nvPicPr>
                <p:cNvPr id="149335" name="Picture 8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4" y="3958"/>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336" name="Picture 85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72" y="3958"/>
                  <a:ext cx="80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337" name="Freeform 857"/>
                <p:cNvSpPr>
                  <a:spLocks/>
                </p:cNvSpPr>
                <p:nvPr/>
              </p:nvSpPr>
              <p:spPr bwMode="auto">
                <a:xfrm>
                  <a:off x="2924" y="3958"/>
                  <a:ext cx="1654" cy="248"/>
                </a:xfrm>
                <a:custGeom>
                  <a:avLst/>
                  <a:gdLst>
                    <a:gd name="T0" fmla="*/ 827 w 3308"/>
                    <a:gd name="T1" fmla="*/ 0 h 496"/>
                    <a:gd name="T2" fmla="*/ 0 w 3308"/>
                    <a:gd name="T3" fmla="*/ 496 h 496"/>
                    <a:gd name="T4" fmla="*/ 2481 w 3308"/>
                    <a:gd name="T5" fmla="*/ 496 h 496"/>
                    <a:gd name="T6" fmla="*/ 3308 w 3308"/>
                    <a:gd name="T7" fmla="*/ 0 h 496"/>
                    <a:gd name="T8" fmla="*/ 827 w 3308"/>
                    <a:gd name="T9" fmla="*/ 0 h 496"/>
                  </a:gdLst>
                  <a:ahLst/>
                  <a:cxnLst>
                    <a:cxn ang="0">
                      <a:pos x="T0" y="T1"/>
                    </a:cxn>
                    <a:cxn ang="0">
                      <a:pos x="T2" y="T3"/>
                    </a:cxn>
                    <a:cxn ang="0">
                      <a:pos x="T4" y="T5"/>
                    </a:cxn>
                    <a:cxn ang="0">
                      <a:pos x="T6" y="T7"/>
                    </a:cxn>
                    <a:cxn ang="0">
                      <a:pos x="T8" y="T9"/>
                    </a:cxn>
                  </a:cxnLst>
                  <a:rect l="0" t="0" r="r" b="b"/>
                  <a:pathLst>
                    <a:path w="3308" h="496">
                      <a:moveTo>
                        <a:pt x="827" y="0"/>
                      </a:moveTo>
                      <a:lnTo>
                        <a:pt x="0" y="496"/>
                      </a:lnTo>
                      <a:lnTo>
                        <a:pt x="2481" y="496"/>
                      </a:lnTo>
                      <a:lnTo>
                        <a:pt x="3308" y="0"/>
                      </a:lnTo>
                      <a:lnTo>
                        <a:pt x="827"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338" name="Freeform 858"/>
                <p:cNvSpPr>
                  <a:spLocks/>
                </p:cNvSpPr>
                <p:nvPr/>
              </p:nvSpPr>
              <p:spPr bwMode="auto">
                <a:xfrm>
                  <a:off x="2924" y="3958"/>
                  <a:ext cx="1654" cy="248"/>
                </a:xfrm>
                <a:custGeom>
                  <a:avLst/>
                  <a:gdLst>
                    <a:gd name="T0" fmla="*/ 827 w 3308"/>
                    <a:gd name="T1" fmla="*/ 0 h 496"/>
                    <a:gd name="T2" fmla="*/ 0 w 3308"/>
                    <a:gd name="T3" fmla="*/ 496 h 496"/>
                    <a:gd name="T4" fmla="*/ 2481 w 3308"/>
                    <a:gd name="T5" fmla="*/ 496 h 496"/>
                    <a:gd name="T6" fmla="*/ 3308 w 3308"/>
                    <a:gd name="T7" fmla="*/ 0 h 496"/>
                    <a:gd name="T8" fmla="*/ 827 w 3308"/>
                    <a:gd name="T9" fmla="*/ 0 h 496"/>
                  </a:gdLst>
                  <a:ahLst/>
                  <a:cxnLst>
                    <a:cxn ang="0">
                      <a:pos x="T0" y="T1"/>
                    </a:cxn>
                    <a:cxn ang="0">
                      <a:pos x="T2" y="T3"/>
                    </a:cxn>
                    <a:cxn ang="0">
                      <a:pos x="T4" y="T5"/>
                    </a:cxn>
                    <a:cxn ang="0">
                      <a:pos x="T6" y="T7"/>
                    </a:cxn>
                    <a:cxn ang="0">
                      <a:pos x="T8" y="T9"/>
                    </a:cxn>
                  </a:cxnLst>
                  <a:rect l="0" t="0" r="r" b="b"/>
                  <a:pathLst>
                    <a:path w="3308" h="496">
                      <a:moveTo>
                        <a:pt x="827" y="0"/>
                      </a:moveTo>
                      <a:lnTo>
                        <a:pt x="0" y="496"/>
                      </a:lnTo>
                      <a:lnTo>
                        <a:pt x="2481" y="496"/>
                      </a:lnTo>
                      <a:lnTo>
                        <a:pt x="3308" y="0"/>
                      </a:lnTo>
                      <a:lnTo>
                        <a:pt x="82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339" name="Picture 85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4" y="3958"/>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340" name="Picture 86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72" y="3958"/>
                  <a:ext cx="80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341" name="Freeform 861"/>
              <p:cNvSpPr>
                <a:spLocks/>
              </p:cNvSpPr>
              <p:nvPr/>
            </p:nvSpPr>
            <p:spPr bwMode="auto">
              <a:xfrm>
                <a:off x="2924" y="3958"/>
                <a:ext cx="1654" cy="248"/>
              </a:xfrm>
              <a:custGeom>
                <a:avLst/>
                <a:gdLst>
                  <a:gd name="T0" fmla="*/ 827 w 3308"/>
                  <a:gd name="T1" fmla="*/ 0 h 496"/>
                  <a:gd name="T2" fmla="*/ 0 w 3308"/>
                  <a:gd name="T3" fmla="*/ 496 h 496"/>
                  <a:gd name="T4" fmla="*/ 2481 w 3308"/>
                  <a:gd name="T5" fmla="*/ 496 h 496"/>
                  <a:gd name="T6" fmla="*/ 3308 w 3308"/>
                  <a:gd name="T7" fmla="*/ 0 h 496"/>
                  <a:gd name="T8" fmla="*/ 827 w 3308"/>
                  <a:gd name="T9" fmla="*/ 0 h 496"/>
                </a:gdLst>
                <a:ahLst/>
                <a:cxnLst>
                  <a:cxn ang="0">
                    <a:pos x="T0" y="T1"/>
                  </a:cxn>
                  <a:cxn ang="0">
                    <a:pos x="T2" y="T3"/>
                  </a:cxn>
                  <a:cxn ang="0">
                    <a:pos x="T4" y="T5"/>
                  </a:cxn>
                  <a:cxn ang="0">
                    <a:pos x="T6" y="T7"/>
                  </a:cxn>
                  <a:cxn ang="0">
                    <a:pos x="T8" y="T9"/>
                  </a:cxn>
                </a:cxnLst>
                <a:rect l="0" t="0" r="r" b="b"/>
                <a:pathLst>
                  <a:path w="3308" h="496">
                    <a:moveTo>
                      <a:pt x="827" y="0"/>
                    </a:moveTo>
                    <a:lnTo>
                      <a:pt x="0" y="496"/>
                    </a:lnTo>
                    <a:lnTo>
                      <a:pt x="2481" y="496"/>
                    </a:lnTo>
                    <a:lnTo>
                      <a:pt x="3308" y="0"/>
                    </a:lnTo>
                    <a:lnTo>
                      <a:pt x="827"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342" name="Group 862"/>
            <p:cNvGrpSpPr>
              <a:grpSpLocks/>
            </p:cNvGrpSpPr>
            <p:nvPr/>
          </p:nvGrpSpPr>
          <p:grpSpPr bwMode="auto">
            <a:xfrm>
              <a:off x="3227" y="3982"/>
              <a:ext cx="1071" cy="179"/>
              <a:chOff x="3244" y="3999"/>
              <a:chExt cx="1071" cy="179"/>
            </a:xfrm>
          </p:grpSpPr>
          <p:sp>
            <p:nvSpPr>
              <p:cNvPr id="149343" name="Freeform 863"/>
              <p:cNvSpPr>
                <a:spLocks/>
              </p:cNvSpPr>
              <p:nvPr/>
            </p:nvSpPr>
            <p:spPr bwMode="auto">
              <a:xfrm>
                <a:off x="3264" y="4013"/>
                <a:ext cx="360" cy="165"/>
              </a:xfrm>
              <a:custGeom>
                <a:avLst/>
                <a:gdLst>
                  <a:gd name="T0" fmla="*/ 111 w 721"/>
                  <a:gd name="T1" fmla="*/ 331 h 331"/>
                  <a:gd name="T2" fmla="*/ 56 w 721"/>
                  <a:gd name="T3" fmla="*/ 331 h 331"/>
                  <a:gd name="T4" fmla="*/ 0 w 721"/>
                  <a:gd name="T5" fmla="*/ 331 h 331"/>
                  <a:gd name="T6" fmla="*/ 440 w 721"/>
                  <a:gd name="T7" fmla="*/ 93 h 331"/>
                  <a:gd name="T8" fmla="*/ 380 w 721"/>
                  <a:gd name="T9" fmla="*/ 109 h 331"/>
                  <a:gd name="T10" fmla="*/ 323 w 721"/>
                  <a:gd name="T11" fmla="*/ 121 h 331"/>
                  <a:gd name="T12" fmla="*/ 266 w 721"/>
                  <a:gd name="T13" fmla="*/ 133 h 331"/>
                  <a:gd name="T14" fmla="*/ 209 w 721"/>
                  <a:gd name="T15" fmla="*/ 142 h 331"/>
                  <a:gd name="T16" fmla="*/ 262 w 721"/>
                  <a:gd name="T17" fmla="*/ 112 h 331"/>
                  <a:gd name="T18" fmla="*/ 314 w 721"/>
                  <a:gd name="T19" fmla="*/ 83 h 331"/>
                  <a:gd name="T20" fmla="*/ 345 w 721"/>
                  <a:gd name="T21" fmla="*/ 78 h 331"/>
                  <a:gd name="T22" fmla="*/ 381 w 721"/>
                  <a:gd name="T23" fmla="*/ 71 h 331"/>
                  <a:gd name="T24" fmla="*/ 421 w 721"/>
                  <a:gd name="T25" fmla="*/ 62 h 331"/>
                  <a:gd name="T26" fmla="*/ 466 w 721"/>
                  <a:gd name="T27" fmla="*/ 52 h 331"/>
                  <a:gd name="T28" fmla="*/ 511 w 721"/>
                  <a:gd name="T29" fmla="*/ 42 h 331"/>
                  <a:gd name="T30" fmla="*/ 554 w 721"/>
                  <a:gd name="T31" fmla="*/ 30 h 331"/>
                  <a:gd name="T32" fmla="*/ 593 w 721"/>
                  <a:gd name="T33" fmla="*/ 16 h 331"/>
                  <a:gd name="T34" fmla="*/ 631 w 721"/>
                  <a:gd name="T35" fmla="*/ 0 h 331"/>
                  <a:gd name="T36" fmla="*/ 676 w 721"/>
                  <a:gd name="T37" fmla="*/ 0 h 331"/>
                  <a:gd name="T38" fmla="*/ 721 w 721"/>
                  <a:gd name="T39" fmla="*/ 0 h 331"/>
                  <a:gd name="T40" fmla="*/ 111 w 721"/>
                  <a:gd name="T41"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21" h="331">
                    <a:moveTo>
                      <a:pt x="111" y="331"/>
                    </a:moveTo>
                    <a:lnTo>
                      <a:pt x="56" y="331"/>
                    </a:lnTo>
                    <a:lnTo>
                      <a:pt x="0" y="331"/>
                    </a:lnTo>
                    <a:lnTo>
                      <a:pt x="440" y="93"/>
                    </a:lnTo>
                    <a:lnTo>
                      <a:pt x="380" y="109"/>
                    </a:lnTo>
                    <a:lnTo>
                      <a:pt x="323" y="121"/>
                    </a:lnTo>
                    <a:lnTo>
                      <a:pt x="266" y="133"/>
                    </a:lnTo>
                    <a:lnTo>
                      <a:pt x="209" y="142"/>
                    </a:lnTo>
                    <a:lnTo>
                      <a:pt x="262" y="112"/>
                    </a:lnTo>
                    <a:lnTo>
                      <a:pt x="314" y="83"/>
                    </a:lnTo>
                    <a:lnTo>
                      <a:pt x="345" y="78"/>
                    </a:lnTo>
                    <a:lnTo>
                      <a:pt x="381" y="71"/>
                    </a:lnTo>
                    <a:lnTo>
                      <a:pt x="421" y="62"/>
                    </a:lnTo>
                    <a:lnTo>
                      <a:pt x="466" y="52"/>
                    </a:lnTo>
                    <a:lnTo>
                      <a:pt x="511" y="42"/>
                    </a:lnTo>
                    <a:lnTo>
                      <a:pt x="554" y="30"/>
                    </a:lnTo>
                    <a:lnTo>
                      <a:pt x="593" y="16"/>
                    </a:lnTo>
                    <a:lnTo>
                      <a:pt x="631" y="0"/>
                    </a:lnTo>
                    <a:lnTo>
                      <a:pt x="676" y="0"/>
                    </a:lnTo>
                    <a:lnTo>
                      <a:pt x="721" y="0"/>
                    </a:lnTo>
                    <a:lnTo>
                      <a:pt x="111" y="33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344" name="Freeform 864"/>
              <p:cNvSpPr>
                <a:spLocks/>
              </p:cNvSpPr>
              <p:nvPr/>
            </p:nvSpPr>
            <p:spPr bwMode="auto">
              <a:xfrm>
                <a:off x="3440" y="4015"/>
                <a:ext cx="450" cy="163"/>
              </a:xfrm>
              <a:custGeom>
                <a:avLst/>
                <a:gdLst>
                  <a:gd name="T0" fmla="*/ 415 w 899"/>
                  <a:gd name="T1" fmla="*/ 59 h 326"/>
                  <a:gd name="T2" fmla="*/ 470 w 899"/>
                  <a:gd name="T3" fmla="*/ 30 h 326"/>
                  <a:gd name="T4" fmla="*/ 524 w 899"/>
                  <a:gd name="T5" fmla="*/ 0 h 326"/>
                  <a:gd name="T6" fmla="*/ 712 w 899"/>
                  <a:gd name="T7" fmla="*/ 0 h 326"/>
                  <a:gd name="T8" fmla="*/ 899 w 899"/>
                  <a:gd name="T9" fmla="*/ 0 h 326"/>
                  <a:gd name="T10" fmla="*/ 858 w 899"/>
                  <a:gd name="T11" fmla="*/ 25 h 326"/>
                  <a:gd name="T12" fmla="*/ 815 w 899"/>
                  <a:gd name="T13" fmla="*/ 47 h 326"/>
                  <a:gd name="T14" fmla="*/ 765 w 899"/>
                  <a:gd name="T15" fmla="*/ 61 h 326"/>
                  <a:gd name="T16" fmla="*/ 708 w 899"/>
                  <a:gd name="T17" fmla="*/ 80 h 326"/>
                  <a:gd name="T18" fmla="*/ 648 w 899"/>
                  <a:gd name="T19" fmla="*/ 100 h 326"/>
                  <a:gd name="T20" fmla="*/ 581 w 899"/>
                  <a:gd name="T21" fmla="*/ 123 h 326"/>
                  <a:gd name="T22" fmla="*/ 512 w 899"/>
                  <a:gd name="T23" fmla="*/ 147 h 326"/>
                  <a:gd name="T24" fmla="*/ 445 w 899"/>
                  <a:gd name="T25" fmla="*/ 173 h 326"/>
                  <a:gd name="T26" fmla="*/ 315 w 899"/>
                  <a:gd name="T27" fmla="*/ 226 h 326"/>
                  <a:gd name="T28" fmla="*/ 253 w 899"/>
                  <a:gd name="T29" fmla="*/ 254 h 326"/>
                  <a:gd name="T30" fmla="*/ 198 w 899"/>
                  <a:gd name="T31" fmla="*/ 280 h 326"/>
                  <a:gd name="T32" fmla="*/ 150 w 899"/>
                  <a:gd name="T33" fmla="*/ 304 h 326"/>
                  <a:gd name="T34" fmla="*/ 107 w 899"/>
                  <a:gd name="T35" fmla="*/ 326 h 326"/>
                  <a:gd name="T36" fmla="*/ 53 w 899"/>
                  <a:gd name="T37" fmla="*/ 326 h 326"/>
                  <a:gd name="T38" fmla="*/ 0 w 899"/>
                  <a:gd name="T39" fmla="*/ 326 h 326"/>
                  <a:gd name="T40" fmla="*/ 67 w 899"/>
                  <a:gd name="T41" fmla="*/ 292 h 326"/>
                  <a:gd name="T42" fmla="*/ 141 w 899"/>
                  <a:gd name="T43" fmla="*/ 257 h 326"/>
                  <a:gd name="T44" fmla="*/ 221 w 899"/>
                  <a:gd name="T45" fmla="*/ 223 h 326"/>
                  <a:gd name="T46" fmla="*/ 307 w 899"/>
                  <a:gd name="T47" fmla="*/ 187 h 326"/>
                  <a:gd name="T48" fmla="*/ 396 w 899"/>
                  <a:gd name="T49" fmla="*/ 152 h 326"/>
                  <a:gd name="T50" fmla="*/ 486 w 899"/>
                  <a:gd name="T51" fmla="*/ 119 h 326"/>
                  <a:gd name="T52" fmla="*/ 576 w 899"/>
                  <a:gd name="T53" fmla="*/ 88 h 326"/>
                  <a:gd name="T54" fmla="*/ 665 w 899"/>
                  <a:gd name="T55" fmla="*/ 59 h 326"/>
                  <a:gd name="T56" fmla="*/ 541 w 899"/>
                  <a:gd name="T57" fmla="*/ 59 h 326"/>
                  <a:gd name="T58" fmla="*/ 415 w 899"/>
                  <a:gd name="T59" fmla="*/ 59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99" h="326">
                    <a:moveTo>
                      <a:pt x="415" y="59"/>
                    </a:moveTo>
                    <a:lnTo>
                      <a:pt x="470" y="30"/>
                    </a:lnTo>
                    <a:lnTo>
                      <a:pt x="524" y="0"/>
                    </a:lnTo>
                    <a:lnTo>
                      <a:pt x="712" y="0"/>
                    </a:lnTo>
                    <a:lnTo>
                      <a:pt x="899" y="0"/>
                    </a:lnTo>
                    <a:lnTo>
                      <a:pt x="858" y="25"/>
                    </a:lnTo>
                    <a:lnTo>
                      <a:pt x="815" y="47"/>
                    </a:lnTo>
                    <a:lnTo>
                      <a:pt x="765" y="61"/>
                    </a:lnTo>
                    <a:lnTo>
                      <a:pt x="708" y="80"/>
                    </a:lnTo>
                    <a:lnTo>
                      <a:pt x="648" y="100"/>
                    </a:lnTo>
                    <a:lnTo>
                      <a:pt x="581" y="123"/>
                    </a:lnTo>
                    <a:lnTo>
                      <a:pt x="512" y="147"/>
                    </a:lnTo>
                    <a:lnTo>
                      <a:pt x="445" y="173"/>
                    </a:lnTo>
                    <a:lnTo>
                      <a:pt x="315" y="226"/>
                    </a:lnTo>
                    <a:lnTo>
                      <a:pt x="253" y="254"/>
                    </a:lnTo>
                    <a:lnTo>
                      <a:pt x="198" y="280"/>
                    </a:lnTo>
                    <a:lnTo>
                      <a:pt x="150" y="304"/>
                    </a:lnTo>
                    <a:lnTo>
                      <a:pt x="107" y="326"/>
                    </a:lnTo>
                    <a:lnTo>
                      <a:pt x="53" y="326"/>
                    </a:lnTo>
                    <a:lnTo>
                      <a:pt x="0" y="326"/>
                    </a:lnTo>
                    <a:lnTo>
                      <a:pt x="67" y="292"/>
                    </a:lnTo>
                    <a:lnTo>
                      <a:pt x="141" y="257"/>
                    </a:lnTo>
                    <a:lnTo>
                      <a:pt x="221" y="223"/>
                    </a:lnTo>
                    <a:lnTo>
                      <a:pt x="307" y="187"/>
                    </a:lnTo>
                    <a:lnTo>
                      <a:pt x="396" y="152"/>
                    </a:lnTo>
                    <a:lnTo>
                      <a:pt x="486" y="119"/>
                    </a:lnTo>
                    <a:lnTo>
                      <a:pt x="576" y="88"/>
                    </a:lnTo>
                    <a:lnTo>
                      <a:pt x="665" y="59"/>
                    </a:lnTo>
                    <a:lnTo>
                      <a:pt x="541" y="59"/>
                    </a:lnTo>
                    <a:lnTo>
                      <a:pt x="415"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345" name="Freeform 865"/>
              <p:cNvSpPr>
                <a:spLocks/>
              </p:cNvSpPr>
              <p:nvPr/>
            </p:nvSpPr>
            <p:spPr bwMode="auto">
              <a:xfrm>
                <a:off x="3711" y="4013"/>
                <a:ext cx="361" cy="165"/>
              </a:xfrm>
              <a:custGeom>
                <a:avLst/>
                <a:gdLst>
                  <a:gd name="T0" fmla="*/ 110 w 722"/>
                  <a:gd name="T1" fmla="*/ 331 h 331"/>
                  <a:gd name="T2" fmla="*/ 55 w 722"/>
                  <a:gd name="T3" fmla="*/ 331 h 331"/>
                  <a:gd name="T4" fmla="*/ 0 w 722"/>
                  <a:gd name="T5" fmla="*/ 331 h 331"/>
                  <a:gd name="T6" fmla="*/ 439 w 722"/>
                  <a:gd name="T7" fmla="*/ 93 h 331"/>
                  <a:gd name="T8" fmla="*/ 381 w 722"/>
                  <a:gd name="T9" fmla="*/ 109 h 331"/>
                  <a:gd name="T10" fmla="*/ 322 w 722"/>
                  <a:gd name="T11" fmla="*/ 121 h 331"/>
                  <a:gd name="T12" fmla="*/ 265 w 722"/>
                  <a:gd name="T13" fmla="*/ 133 h 331"/>
                  <a:gd name="T14" fmla="*/ 209 w 722"/>
                  <a:gd name="T15" fmla="*/ 142 h 331"/>
                  <a:gd name="T16" fmla="*/ 262 w 722"/>
                  <a:gd name="T17" fmla="*/ 112 h 331"/>
                  <a:gd name="T18" fmla="*/ 315 w 722"/>
                  <a:gd name="T19" fmla="*/ 83 h 331"/>
                  <a:gd name="T20" fmla="*/ 346 w 722"/>
                  <a:gd name="T21" fmla="*/ 78 h 331"/>
                  <a:gd name="T22" fmla="*/ 381 w 722"/>
                  <a:gd name="T23" fmla="*/ 71 h 331"/>
                  <a:gd name="T24" fmla="*/ 421 w 722"/>
                  <a:gd name="T25" fmla="*/ 62 h 331"/>
                  <a:gd name="T26" fmla="*/ 465 w 722"/>
                  <a:gd name="T27" fmla="*/ 52 h 331"/>
                  <a:gd name="T28" fmla="*/ 510 w 722"/>
                  <a:gd name="T29" fmla="*/ 42 h 331"/>
                  <a:gd name="T30" fmla="*/ 553 w 722"/>
                  <a:gd name="T31" fmla="*/ 30 h 331"/>
                  <a:gd name="T32" fmla="*/ 595 w 722"/>
                  <a:gd name="T33" fmla="*/ 16 h 331"/>
                  <a:gd name="T34" fmla="*/ 632 w 722"/>
                  <a:gd name="T35" fmla="*/ 0 h 331"/>
                  <a:gd name="T36" fmla="*/ 677 w 722"/>
                  <a:gd name="T37" fmla="*/ 0 h 331"/>
                  <a:gd name="T38" fmla="*/ 722 w 722"/>
                  <a:gd name="T39" fmla="*/ 0 h 331"/>
                  <a:gd name="T40" fmla="*/ 415 w 722"/>
                  <a:gd name="T41" fmla="*/ 166 h 331"/>
                  <a:gd name="T42" fmla="*/ 110 w 722"/>
                  <a:gd name="T43"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22" h="331">
                    <a:moveTo>
                      <a:pt x="110" y="331"/>
                    </a:moveTo>
                    <a:lnTo>
                      <a:pt x="55" y="331"/>
                    </a:lnTo>
                    <a:lnTo>
                      <a:pt x="0" y="331"/>
                    </a:lnTo>
                    <a:lnTo>
                      <a:pt x="439" y="93"/>
                    </a:lnTo>
                    <a:lnTo>
                      <a:pt x="381" y="109"/>
                    </a:lnTo>
                    <a:lnTo>
                      <a:pt x="322" y="121"/>
                    </a:lnTo>
                    <a:lnTo>
                      <a:pt x="265" y="133"/>
                    </a:lnTo>
                    <a:lnTo>
                      <a:pt x="209" y="142"/>
                    </a:lnTo>
                    <a:lnTo>
                      <a:pt x="262" y="112"/>
                    </a:lnTo>
                    <a:lnTo>
                      <a:pt x="315" y="83"/>
                    </a:lnTo>
                    <a:lnTo>
                      <a:pt x="346" y="78"/>
                    </a:lnTo>
                    <a:lnTo>
                      <a:pt x="381" y="71"/>
                    </a:lnTo>
                    <a:lnTo>
                      <a:pt x="421" y="62"/>
                    </a:lnTo>
                    <a:lnTo>
                      <a:pt x="465" y="52"/>
                    </a:lnTo>
                    <a:lnTo>
                      <a:pt x="510" y="42"/>
                    </a:lnTo>
                    <a:lnTo>
                      <a:pt x="553" y="30"/>
                    </a:lnTo>
                    <a:lnTo>
                      <a:pt x="595" y="16"/>
                    </a:lnTo>
                    <a:lnTo>
                      <a:pt x="632" y="0"/>
                    </a:lnTo>
                    <a:lnTo>
                      <a:pt x="677" y="0"/>
                    </a:lnTo>
                    <a:lnTo>
                      <a:pt x="722" y="0"/>
                    </a:lnTo>
                    <a:lnTo>
                      <a:pt x="415" y="166"/>
                    </a:lnTo>
                    <a:lnTo>
                      <a:pt x="110" y="33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346" name="Freeform 866"/>
              <p:cNvSpPr>
                <a:spLocks noEditPoints="1"/>
              </p:cNvSpPr>
              <p:nvPr/>
            </p:nvSpPr>
            <p:spPr bwMode="auto">
              <a:xfrm>
                <a:off x="3900" y="4013"/>
                <a:ext cx="415" cy="165"/>
              </a:xfrm>
              <a:custGeom>
                <a:avLst/>
                <a:gdLst>
                  <a:gd name="T0" fmla="*/ 112 w 829"/>
                  <a:gd name="T1" fmla="*/ 331 h 331"/>
                  <a:gd name="T2" fmla="*/ 174 w 829"/>
                  <a:gd name="T3" fmla="*/ 298 h 331"/>
                  <a:gd name="T4" fmla="*/ 235 w 829"/>
                  <a:gd name="T5" fmla="*/ 264 h 331"/>
                  <a:gd name="T6" fmla="*/ 117 w 829"/>
                  <a:gd name="T7" fmla="*/ 264 h 331"/>
                  <a:gd name="T8" fmla="*/ 0 w 829"/>
                  <a:gd name="T9" fmla="*/ 264 h 331"/>
                  <a:gd name="T10" fmla="*/ 50 w 829"/>
                  <a:gd name="T11" fmla="*/ 236 h 331"/>
                  <a:gd name="T12" fmla="*/ 102 w 829"/>
                  <a:gd name="T13" fmla="*/ 209 h 331"/>
                  <a:gd name="T14" fmla="*/ 421 w 829"/>
                  <a:gd name="T15" fmla="*/ 105 h 331"/>
                  <a:gd name="T16" fmla="*/ 738 w 829"/>
                  <a:gd name="T17" fmla="*/ 0 h 331"/>
                  <a:gd name="T18" fmla="*/ 784 w 829"/>
                  <a:gd name="T19" fmla="*/ 0 h 331"/>
                  <a:gd name="T20" fmla="*/ 829 w 829"/>
                  <a:gd name="T21" fmla="*/ 0 h 331"/>
                  <a:gd name="T22" fmla="*/ 636 w 829"/>
                  <a:gd name="T23" fmla="*/ 105 h 331"/>
                  <a:gd name="T24" fmla="*/ 443 w 829"/>
                  <a:gd name="T25" fmla="*/ 209 h 331"/>
                  <a:gd name="T26" fmla="*/ 515 w 829"/>
                  <a:gd name="T27" fmla="*/ 209 h 331"/>
                  <a:gd name="T28" fmla="*/ 464 w 829"/>
                  <a:gd name="T29" fmla="*/ 236 h 331"/>
                  <a:gd name="T30" fmla="*/ 412 w 829"/>
                  <a:gd name="T31" fmla="*/ 264 h 331"/>
                  <a:gd name="T32" fmla="*/ 378 w 829"/>
                  <a:gd name="T33" fmla="*/ 264 h 331"/>
                  <a:gd name="T34" fmla="*/ 341 w 829"/>
                  <a:gd name="T35" fmla="*/ 264 h 331"/>
                  <a:gd name="T36" fmla="*/ 281 w 829"/>
                  <a:gd name="T37" fmla="*/ 298 h 331"/>
                  <a:gd name="T38" fmla="*/ 219 w 829"/>
                  <a:gd name="T39" fmla="*/ 331 h 331"/>
                  <a:gd name="T40" fmla="*/ 166 w 829"/>
                  <a:gd name="T41" fmla="*/ 331 h 331"/>
                  <a:gd name="T42" fmla="*/ 112 w 829"/>
                  <a:gd name="T43" fmla="*/ 331 h 331"/>
                  <a:gd name="T44" fmla="*/ 112 w 829"/>
                  <a:gd name="T45" fmla="*/ 331 h 331"/>
                  <a:gd name="T46" fmla="*/ 338 w 829"/>
                  <a:gd name="T47" fmla="*/ 209 h 331"/>
                  <a:gd name="T48" fmla="*/ 441 w 829"/>
                  <a:gd name="T49" fmla="*/ 154 h 331"/>
                  <a:gd name="T50" fmla="*/ 545 w 829"/>
                  <a:gd name="T51" fmla="*/ 97 h 331"/>
                  <a:gd name="T52" fmla="*/ 376 w 829"/>
                  <a:gd name="T53" fmla="*/ 154 h 331"/>
                  <a:gd name="T54" fmla="*/ 205 w 829"/>
                  <a:gd name="T55" fmla="*/ 209 h 331"/>
                  <a:gd name="T56" fmla="*/ 271 w 829"/>
                  <a:gd name="T57" fmla="*/ 209 h 331"/>
                  <a:gd name="T58" fmla="*/ 338 w 829"/>
                  <a:gd name="T59" fmla="*/ 209 h 331"/>
                  <a:gd name="T60" fmla="*/ 338 w 829"/>
                  <a:gd name="T61" fmla="*/ 209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29" h="331">
                    <a:moveTo>
                      <a:pt x="112" y="331"/>
                    </a:moveTo>
                    <a:lnTo>
                      <a:pt x="174" y="298"/>
                    </a:lnTo>
                    <a:lnTo>
                      <a:pt x="235" y="264"/>
                    </a:lnTo>
                    <a:lnTo>
                      <a:pt x="117" y="264"/>
                    </a:lnTo>
                    <a:lnTo>
                      <a:pt x="0" y="264"/>
                    </a:lnTo>
                    <a:lnTo>
                      <a:pt x="50" y="236"/>
                    </a:lnTo>
                    <a:lnTo>
                      <a:pt x="102" y="209"/>
                    </a:lnTo>
                    <a:lnTo>
                      <a:pt x="421" y="105"/>
                    </a:lnTo>
                    <a:lnTo>
                      <a:pt x="738" y="0"/>
                    </a:lnTo>
                    <a:lnTo>
                      <a:pt x="784" y="0"/>
                    </a:lnTo>
                    <a:lnTo>
                      <a:pt x="829" y="0"/>
                    </a:lnTo>
                    <a:lnTo>
                      <a:pt x="636" y="105"/>
                    </a:lnTo>
                    <a:lnTo>
                      <a:pt x="443" y="209"/>
                    </a:lnTo>
                    <a:lnTo>
                      <a:pt x="515" y="209"/>
                    </a:lnTo>
                    <a:lnTo>
                      <a:pt x="464" y="236"/>
                    </a:lnTo>
                    <a:lnTo>
                      <a:pt x="412" y="264"/>
                    </a:lnTo>
                    <a:lnTo>
                      <a:pt x="378" y="264"/>
                    </a:lnTo>
                    <a:lnTo>
                      <a:pt x="341" y="264"/>
                    </a:lnTo>
                    <a:lnTo>
                      <a:pt x="281" y="298"/>
                    </a:lnTo>
                    <a:lnTo>
                      <a:pt x="219" y="331"/>
                    </a:lnTo>
                    <a:lnTo>
                      <a:pt x="166" y="331"/>
                    </a:lnTo>
                    <a:lnTo>
                      <a:pt x="112" y="331"/>
                    </a:lnTo>
                    <a:lnTo>
                      <a:pt x="112" y="331"/>
                    </a:lnTo>
                    <a:close/>
                    <a:moveTo>
                      <a:pt x="338" y="209"/>
                    </a:moveTo>
                    <a:lnTo>
                      <a:pt x="441" y="154"/>
                    </a:lnTo>
                    <a:lnTo>
                      <a:pt x="545" y="97"/>
                    </a:lnTo>
                    <a:lnTo>
                      <a:pt x="376" y="154"/>
                    </a:lnTo>
                    <a:lnTo>
                      <a:pt x="205" y="209"/>
                    </a:lnTo>
                    <a:lnTo>
                      <a:pt x="271" y="209"/>
                    </a:lnTo>
                    <a:lnTo>
                      <a:pt x="338" y="209"/>
                    </a:lnTo>
                    <a:lnTo>
                      <a:pt x="338" y="20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347" name="Freeform 867"/>
              <p:cNvSpPr>
                <a:spLocks/>
              </p:cNvSpPr>
              <p:nvPr/>
            </p:nvSpPr>
            <p:spPr bwMode="auto">
              <a:xfrm>
                <a:off x="3244" y="3999"/>
                <a:ext cx="360" cy="165"/>
              </a:xfrm>
              <a:custGeom>
                <a:avLst/>
                <a:gdLst>
                  <a:gd name="T0" fmla="*/ 110 w 720"/>
                  <a:gd name="T1" fmla="*/ 331 h 331"/>
                  <a:gd name="T2" fmla="*/ 55 w 720"/>
                  <a:gd name="T3" fmla="*/ 331 h 331"/>
                  <a:gd name="T4" fmla="*/ 0 w 720"/>
                  <a:gd name="T5" fmla="*/ 331 h 331"/>
                  <a:gd name="T6" fmla="*/ 439 w 720"/>
                  <a:gd name="T7" fmla="*/ 93 h 331"/>
                  <a:gd name="T8" fmla="*/ 379 w 720"/>
                  <a:gd name="T9" fmla="*/ 108 h 331"/>
                  <a:gd name="T10" fmla="*/ 322 w 720"/>
                  <a:gd name="T11" fmla="*/ 120 h 331"/>
                  <a:gd name="T12" fmla="*/ 265 w 720"/>
                  <a:gd name="T13" fmla="*/ 132 h 331"/>
                  <a:gd name="T14" fmla="*/ 209 w 720"/>
                  <a:gd name="T15" fmla="*/ 141 h 331"/>
                  <a:gd name="T16" fmla="*/ 262 w 720"/>
                  <a:gd name="T17" fmla="*/ 112 h 331"/>
                  <a:gd name="T18" fmla="*/ 314 w 720"/>
                  <a:gd name="T19" fmla="*/ 82 h 331"/>
                  <a:gd name="T20" fmla="*/ 345 w 720"/>
                  <a:gd name="T21" fmla="*/ 77 h 331"/>
                  <a:gd name="T22" fmla="*/ 381 w 720"/>
                  <a:gd name="T23" fmla="*/ 70 h 331"/>
                  <a:gd name="T24" fmla="*/ 421 w 720"/>
                  <a:gd name="T25" fmla="*/ 62 h 331"/>
                  <a:gd name="T26" fmla="*/ 465 w 720"/>
                  <a:gd name="T27" fmla="*/ 51 h 331"/>
                  <a:gd name="T28" fmla="*/ 510 w 720"/>
                  <a:gd name="T29" fmla="*/ 41 h 331"/>
                  <a:gd name="T30" fmla="*/ 553 w 720"/>
                  <a:gd name="T31" fmla="*/ 29 h 331"/>
                  <a:gd name="T32" fmla="*/ 593 w 720"/>
                  <a:gd name="T33" fmla="*/ 15 h 331"/>
                  <a:gd name="T34" fmla="*/ 631 w 720"/>
                  <a:gd name="T35" fmla="*/ 0 h 331"/>
                  <a:gd name="T36" fmla="*/ 676 w 720"/>
                  <a:gd name="T37" fmla="*/ 0 h 331"/>
                  <a:gd name="T38" fmla="*/ 720 w 720"/>
                  <a:gd name="T39" fmla="*/ 0 h 331"/>
                  <a:gd name="T40" fmla="*/ 110 w 720"/>
                  <a:gd name="T41"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20" h="331">
                    <a:moveTo>
                      <a:pt x="110" y="331"/>
                    </a:moveTo>
                    <a:lnTo>
                      <a:pt x="55" y="331"/>
                    </a:lnTo>
                    <a:lnTo>
                      <a:pt x="0" y="331"/>
                    </a:lnTo>
                    <a:lnTo>
                      <a:pt x="439" y="93"/>
                    </a:lnTo>
                    <a:lnTo>
                      <a:pt x="379" y="108"/>
                    </a:lnTo>
                    <a:lnTo>
                      <a:pt x="322" y="120"/>
                    </a:lnTo>
                    <a:lnTo>
                      <a:pt x="265" y="132"/>
                    </a:lnTo>
                    <a:lnTo>
                      <a:pt x="209" y="141"/>
                    </a:lnTo>
                    <a:lnTo>
                      <a:pt x="262" y="112"/>
                    </a:lnTo>
                    <a:lnTo>
                      <a:pt x="314" y="82"/>
                    </a:lnTo>
                    <a:lnTo>
                      <a:pt x="345" y="77"/>
                    </a:lnTo>
                    <a:lnTo>
                      <a:pt x="381" y="70"/>
                    </a:lnTo>
                    <a:lnTo>
                      <a:pt x="421" y="62"/>
                    </a:lnTo>
                    <a:lnTo>
                      <a:pt x="465" y="51"/>
                    </a:lnTo>
                    <a:lnTo>
                      <a:pt x="510" y="41"/>
                    </a:lnTo>
                    <a:lnTo>
                      <a:pt x="553" y="29"/>
                    </a:lnTo>
                    <a:lnTo>
                      <a:pt x="593" y="15"/>
                    </a:lnTo>
                    <a:lnTo>
                      <a:pt x="631" y="0"/>
                    </a:lnTo>
                    <a:lnTo>
                      <a:pt x="676" y="0"/>
                    </a:lnTo>
                    <a:lnTo>
                      <a:pt x="720" y="0"/>
                    </a:lnTo>
                    <a:lnTo>
                      <a:pt x="110" y="331"/>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348" name="Freeform 868"/>
              <p:cNvSpPr>
                <a:spLocks/>
              </p:cNvSpPr>
              <p:nvPr/>
            </p:nvSpPr>
            <p:spPr bwMode="auto">
              <a:xfrm>
                <a:off x="3419" y="4001"/>
                <a:ext cx="450" cy="163"/>
              </a:xfrm>
              <a:custGeom>
                <a:avLst/>
                <a:gdLst>
                  <a:gd name="T0" fmla="*/ 415 w 899"/>
                  <a:gd name="T1" fmla="*/ 59 h 326"/>
                  <a:gd name="T2" fmla="*/ 470 w 899"/>
                  <a:gd name="T3" fmla="*/ 29 h 326"/>
                  <a:gd name="T4" fmla="*/ 523 w 899"/>
                  <a:gd name="T5" fmla="*/ 0 h 326"/>
                  <a:gd name="T6" fmla="*/ 711 w 899"/>
                  <a:gd name="T7" fmla="*/ 0 h 326"/>
                  <a:gd name="T8" fmla="*/ 899 w 899"/>
                  <a:gd name="T9" fmla="*/ 0 h 326"/>
                  <a:gd name="T10" fmla="*/ 858 w 899"/>
                  <a:gd name="T11" fmla="*/ 24 h 326"/>
                  <a:gd name="T12" fmla="*/ 815 w 899"/>
                  <a:gd name="T13" fmla="*/ 46 h 326"/>
                  <a:gd name="T14" fmla="*/ 765 w 899"/>
                  <a:gd name="T15" fmla="*/ 60 h 326"/>
                  <a:gd name="T16" fmla="*/ 708 w 899"/>
                  <a:gd name="T17" fmla="*/ 79 h 326"/>
                  <a:gd name="T18" fmla="*/ 648 w 899"/>
                  <a:gd name="T19" fmla="*/ 100 h 326"/>
                  <a:gd name="T20" fmla="*/ 580 w 899"/>
                  <a:gd name="T21" fmla="*/ 122 h 326"/>
                  <a:gd name="T22" fmla="*/ 511 w 899"/>
                  <a:gd name="T23" fmla="*/ 146 h 326"/>
                  <a:gd name="T24" fmla="*/ 444 w 899"/>
                  <a:gd name="T25" fmla="*/ 172 h 326"/>
                  <a:gd name="T26" fmla="*/ 315 w 899"/>
                  <a:gd name="T27" fmla="*/ 226 h 326"/>
                  <a:gd name="T28" fmla="*/ 253 w 899"/>
                  <a:gd name="T29" fmla="*/ 253 h 326"/>
                  <a:gd name="T30" fmla="*/ 198 w 899"/>
                  <a:gd name="T31" fmla="*/ 279 h 326"/>
                  <a:gd name="T32" fmla="*/ 150 w 899"/>
                  <a:gd name="T33" fmla="*/ 303 h 326"/>
                  <a:gd name="T34" fmla="*/ 106 w 899"/>
                  <a:gd name="T35" fmla="*/ 326 h 326"/>
                  <a:gd name="T36" fmla="*/ 53 w 899"/>
                  <a:gd name="T37" fmla="*/ 326 h 326"/>
                  <a:gd name="T38" fmla="*/ 0 w 899"/>
                  <a:gd name="T39" fmla="*/ 326 h 326"/>
                  <a:gd name="T40" fmla="*/ 67 w 899"/>
                  <a:gd name="T41" fmla="*/ 291 h 326"/>
                  <a:gd name="T42" fmla="*/ 141 w 899"/>
                  <a:gd name="T43" fmla="*/ 257 h 326"/>
                  <a:gd name="T44" fmla="*/ 220 w 899"/>
                  <a:gd name="T45" fmla="*/ 222 h 326"/>
                  <a:gd name="T46" fmla="*/ 306 w 899"/>
                  <a:gd name="T47" fmla="*/ 186 h 326"/>
                  <a:gd name="T48" fmla="*/ 396 w 899"/>
                  <a:gd name="T49" fmla="*/ 152 h 326"/>
                  <a:gd name="T50" fmla="*/ 486 w 899"/>
                  <a:gd name="T51" fmla="*/ 119 h 326"/>
                  <a:gd name="T52" fmla="*/ 575 w 899"/>
                  <a:gd name="T53" fmla="*/ 88 h 326"/>
                  <a:gd name="T54" fmla="*/ 665 w 899"/>
                  <a:gd name="T55" fmla="*/ 59 h 326"/>
                  <a:gd name="T56" fmla="*/ 541 w 899"/>
                  <a:gd name="T57" fmla="*/ 59 h 326"/>
                  <a:gd name="T58" fmla="*/ 415 w 899"/>
                  <a:gd name="T59" fmla="*/ 59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99" h="326">
                    <a:moveTo>
                      <a:pt x="415" y="59"/>
                    </a:moveTo>
                    <a:lnTo>
                      <a:pt x="470" y="29"/>
                    </a:lnTo>
                    <a:lnTo>
                      <a:pt x="523" y="0"/>
                    </a:lnTo>
                    <a:lnTo>
                      <a:pt x="711" y="0"/>
                    </a:lnTo>
                    <a:lnTo>
                      <a:pt x="899" y="0"/>
                    </a:lnTo>
                    <a:lnTo>
                      <a:pt x="858" y="24"/>
                    </a:lnTo>
                    <a:lnTo>
                      <a:pt x="815" y="46"/>
                    </a:lnTo>
                    <a:lnTo>
                      <a:pt x="765" y="60"/>
                    </a:lnTo>
                    <a:lnTo>
                      <a:pt x="708" y="79"/>
                    </a:lnTo>
                    <a:lnTo>
                      <a:pt x="648" y="100"/>
                    </a:lnTo>
                    <a:lnTo>
                      <a:pt x="580" y="122"/>
                    </a:lnTo>
                    <a:lnTo>
                      <a:pt x="511" y="146"/>
                    </a:lnTo>
                    <a:lnTo>
                      <a:pt x="444" y="172"/>
                    </a:lnTo>
                    <a:lnTo>
                      <a:pt x="315" y="226"/>
                    </a:lnTo>
                    <a:lnTo>
                      <a:pt x="253" y="253"/>
                    </a:lnTo>
                    <a:lnTo>
                      <a:pt x="198" y="279"/>
                    </a:lnTo>
                    <a:lnTo>
                      <a:pt x="150" y="303"/>
                    </a:lnTo>
                    <a:lnTo>
                      <a:pt x="106" y="326"/>
                    </a:lnTo>
                    <a:lnTo>
                      <a:pt x="53" y="326"/>
                    </a:lnTo>
                    <a:lnTo>
                      <a:pt x="0" y="326"/>
                    </a:lnTo>
                    <a:lnTo>
                      <a:pt x="67" y="291"/>
                    </a:lnTo>
                    <a:lnTo>
                      <a:pt x="141" y="257"/>
                    </a:lnTo>
                    <a:lnTo>
                      <a:pt x="220" y="222"/>
                    </a:lnTo>
                    <a:lnTo>
                      <a:pt x="306" y="186"/>
                    </a:lnTo>
                    <a:lnTo>
                      <a:pt x="396" y="152"/>
                    </a:lnTo>
                    <a:lnTo>
                      <a:pt x="486" y="119"/>
                    </a:lnTo>
                    <a:lnTo>
                      <a:pt x="575" y="88"/>
                    </a:lnTo>
                    <a:lnTo>
                      <a:pt x="665" y="59"/>
                    </a:lnTo>
                    <a:lnTo>
                      <a:pt x="541" y="59"/>
                    </a:lnTo>
                    <a:lnTo>
                      <a:pt x="415" y="59"/>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349" name="Freeform 869"/>
              <p:cNvSpPr>
                <a:spLocks/>
              </p:cNvSpPr>
              <p:nvPr/>
            </p:nvSpPr>
            <p:spPr bwMode="auto">
              <a:xfrm>
                <a:off x="3690" y="3999"/>
                <a:ext cx="361" cy="165"/>
              </a:xfrm>
              <a:custGeom>
                <a:avLst/>
                <a:gdLst>
                  <a:gd name="T0" fmla="*/ 110 w 722"/>
                  <a:gd name="T1" fmla="*/ 331 h 331"/>
                  <a:gd name="T2" fmla="*/ 55 w 722"/>
                  <a:gd name="T3" fmla="*/ 331 h 331"/>
                  <a:gd name="T4" fmla="*/ 0 w 722"/>
                  <a:gd name="T5" fmla="*/ 331 h 331"/>
                  <a:gd name="T6" fmla="*/ 439 w 722"/>
                  <a:gd name="T7" fmla="*/ 93 h 331"/>
                  <a:gd name="T8" fmla="*/ 381 w 722"/>
                  <a:gd name="T9" fmla="*/ 108 h 331"/>
                  <a:gd name="T10" fmla="*/ 322 w 722"/>
                  <a:gd name="T11" fmla="*/ 120 h 331"/>
                  <a:gd name="T12" fmla="*/ 265 w 722"/>
                  <a:gd name="T13" fmla="*/ 132 h 331"/>
                  <a:gd name="T14" fmla="*/ 208 w 722"/>
                  <a:gd name="T15" fmla="*/ 141 h 331"/>
                  <a:gd name="T16" fmla="*/ 262 w 722"/>
                  <a:gd name="T17" fmla="*/ 112 h 331"/>
                  <a:gd name="T18" fmla="*/ 315 w 722"/>
                  <a:gd name="T19" fmla="*/ 82 h 331"/>
                  <a:gd name="T20" fmla="*/ 346 w 722"/>
                  <a:gd name="T21" fmla="*/ 77 h 331"/>
                  <a:gd name="T22" fmla="*/ 381 w 722"/>
                  <a:gd name="T23" fmla="*/ 70 h 331"/>
                  <a:gd name="T24" fmla="*/ 420 w 722"/>
                  <a:gd name="T25" fmla="*/ 62 h 331"/>
                  <a:gd name="T26" fmla="*/ 465 w 722"/>
                  <a:gd name="T27" fmla="*/ 51 h 331"/>
                  <a:gd name="T28" fmla="*/ 510 w 722"/>
                  <a:gd name="T29" fmla="*/ 41 h 331"/>
                  <a:gd name="T30" fmla="*/ 553 w 722"/>
                  <a:gd name="T31" fmla="*/ 29 h 331"/>
                  <a:gd name="T32" fmla="*/ 594 w 722"/>
                  <a:gd name="T33" fmla="*/ 15 h 331"/>
                  <a:gd name="T34" fmla="*/ 632 w 722"/>
                  <a:gd name="T35" fmla="*/ 0 h 331"/>
                  <a:gd name="T36" fmla="*/ 677 w 722"/>
                  <a:gd name="T37" fmla="*/ 0 h 331"/>
                  <a:gd name="T38" fmla="*/ 722 w 722"/>
                  <a:gd name="T39" fmla="*/ 0 h 331"/>
                  <a:gd name="T40" fmla="*/ 415 w 722"/>
                  <a:gd name="T41" fmla="*/ 165 h 331"/>
                  <a:gd name="T42" fmla="*/ 110 w 722"/>
                  <a:gd name="T43"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22" h="331">
                    <a:moveTo>
                      <a:pt x="110" y="331"/>
                    </a:moveTo>
                    <a:lnTo>
                      <a:pt x="55" y="331"/>
                    </a:lnTo>
                    <a:lnTo>
                      <a:pt x="0" y="331"/>
                    </a:lnTo>
                    <a:lnTo>
                      <a:pt x="439" y="93"/>
                    </a:lnTo>
                    <a:lnTo>
                      <a:pt x="381" y="108"/>
                    </a:lnTo>
                    <a:lnTo>
                      <a:pt x="322" y="120"/>
                    </a:lnTo>
                    <a:lnTo>
                      <a:pt x="265" y="132"/>
                    </a:lnTo>
                    <a:lnTo>
                      <a:pt x="208" y="141"/>
                    </a:lnTo>
                    <a:lnTo>
                      <a:pt x="262" y="112"/>
                    </a:lnTo>
                    <a:lnTo>
                      <a:pt x="315" y="82"/>
                    </a:lnTo>
                    <a:lnTo>
                      <a:pt x="346" y="77"/>
                    </a:lnTo>
                    <a:lnTo>
                      <a:pt x="381" y="70"/>
                    </a:lnTo>
                    <a:lnTo>
                      <a:pt x="420" y="62"/>
                    </a:lnTo>
                    <a:lnTo>
                      <a:pt x="465" y="51"/>
                    </a:lnTo>
                    <a:lnTo>
                      <a:pt x="510" y="41"/>
                    </a:lnTo>
                    <a:lnTo>
                      <a:pt x="553" y="29"/>
                    </a:lnTo>
                    <a:lnTo>
                      <a:pt x="594" y="15"/>
                    </a:lnTo>
                    <a:lnTo>
                      <a:pt x="632" y="0"/>
                    </a:lnTo>
                    <a:lnTo>
                      <a:pt x="677" y="0"/>
                    </a:lnTo>
                    <a:lnTo>
                      <a:pt x="722" y="0"/>
                    </a:lnTo>
                    <a:lnTo>
                      <a:pt x="415" y="165"/>
                    </a:lnTo>
                    <a:lnTo>
                      <a:pt x="110" y="331"/>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350" name="Freeform 870"/>
              <p:cNvSpPr>
                <a:spLocks noEditPoints="1"/>
              </p:cNvSpPr>
              <p:nvPr/>
            </p:nvSpPr>
            <p:spPr bwMode="auto">
              <a:xfrm>
                <a:off x="3879" y="3999"/>
                <a:ext cx="415" cy="165"/>
              </a:xfrm>
              <a:custGeom>
                <a:avLst/>
                <a:gdLst>
                  <a:gd name="T0" fmla="*/ 112 w 829"/>
                  <a:gd name="T1" fmla="*/ 331 h 331"/>
                  <a:gd name="T2" fmla="*/ 174 w 829"/>
                  <a:gd name="T3" fmla="*/ 298 h 331"/>
                  <a:gd name="T4" fmla="*/ 234 w 829"/>
                  <a:gd name="T5" fmla="*/ 263 h 331"/>
                  <a:gd name="T6" fmla="*/ 117 w 829"/>
                  <a:gd name="T7" fmla="*/ 263 h 331"/>
                  <a:gd name="T8" fmla="*/ 0 w 829"/>
                  <a:gd name="T9" fmla="*/ 263 h 331"/>
                  <a:gd name="T10" fmla="*/ 50 w 829"/>
                  <a:gd name="T11" fmla="*/ 236 h 331"/>
                  <a:gd name="T12" fmla="*/ 101 w 829"/>
                  <a:gd name="T13" fmla="*/ 208 h 331"/>
                  <a:gd name="T14" fmla="*/ 420 w 829"/>
                  <a:gd name="T15" fmla="*/ 105 h 331"/>
                  <a:gd name="T16" fmla="*/ 737 w 829"/>
                  <a:gd name="T17" fmla="*/ 0 h 331"/>
                  <a:gd name="T18" fmla="*/ 784 w 829"/>
                  <a:gd name="T19" fmla="*/ 0 h 331"/>
                  <a:gd name="T20" fmla="*/ 829 w 829"/>
                  <a:gd name="T21" fmla="*/ 0 h 331"/>
                  <a:gd name="T22" fmla="*/ 636 w 829"/>
                  <a:gd name="T23" fmla="*/ 105 h 331"/>
                  <a:gd name="T24" fmla="*/ 443 w 829"/>
                  <a:gd name="T25" fmla="*/ 208 h 331"/>
                  <a:gd name="T26" fmla="*/ 515 w 829"/>
                  <a:gd name="T27" fmla="*/ 208 h 331"/>
                  <a:gd name="T28" fmla="*/ 463 w 829"/>
                  <a:gd name="T29" fmla="*/ 236 h 331"/>
                  <a:gd name="T30" fmla="*/ 412 w 829"/>
                  <a:gd name="T31" fmla="*/ 263 h 331"/>
                  <a:gd name="T32" fmla="*/ 377 w 829"/>
                  <a:gd name="T33" fmla="*/ 263 h 331"/>
                  <a:gd name="T34" fmla="*/ 341 w 829"/>
                  <a:gd name="T35" fmla="*/ 263 h 331"/>
                  <a:gd name="T36" fmla="*/ 281 w 829"/>
                  <a:gd name="T37" fmla="*/ 298 h 331"/>
                  <a:gd name="T38" fmla="*/ 219 w 829"/>
                  <a:gd name="T39" fmla="*/ 331 h 331"/>
                  <a:gd name="T40" fmla="*/ 165 w 829"/>
                  <a:gd name="T41" fmla="*/ 331 h 331"/>
                  <a:gd name="T42" fmla="*/ 112 w 829"/>
                  <a:gd name="T43" fmla="*/ 331 h 331"/>
                  <a:gd name="T44" fmla="*/ 112 w 829"/>
                  <a:gd name="T45" fmla="*/ 331 h 331"/>
                  <a:gd name="T46" fmla="*/ 338 w 829"/>
                  <a:gd name="T47" fmla="*/ 208 h 331"/>
                  <a:gd name="T48" fmla="*/ 441 w 829"/>
                  <a:gd name="T49" fmla="*/ 153 h 331"/>
                  <a:gd name="T50" fmla="*/ 544 w 829"/>
                  <a:gd name="T51" fmla="*/ 96 h 331"/>
                  <a:gd name="T52" fmla="*/ 375 w 829"/>
                  <a:gd name="T53" fmla="*/ 153 h 331"/>
                  <a:gd name="T54" fmla="*/ 205 w 829"/>
                  <a:gd name="T55" fmla="*/ 208 h 331"/>
                  <a:gd name="T56" fmla="*/ 270 w 829"/>
                  <a:gd name="T57" fmla="*/ 208 h 331"/>
                  <a:gd name="T58" fmla="*/ 338 w 829"/>
                  <a:gd name="T59" fmla="*/ 208 h 331"/>
                  <a:gd name="T60" fmla="*/ 338 w 829"/>
                  <a:gd name="T61" fmla="*/ 208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29" h="331">
                    <a:moveTo>
                      <a:pt x="112" y="331"/>
                    </a:moveTo>
                    <a:lnTo>
                      <a:pt x="174" y="298"/>
                    </a:lnTo>
                    <a:lnTo>
                      <a:pt x="234" y="263"/>
                    </a:lnTo>
                    <a:lnTo>
                      <a:pt x="117" y="263"/>
                    </a:lnTo>
                    <a:lnTo>
                      <a:pt x="0" y="263"/>
                    </a:lnTo>
                    <a:lnTo>
                      <a:pt x="50" y="236"/>
                    </a:lnTo>
                    <a:lnTo>
                      <a:pt x="101" y="208"/>
                    </a:lnTo>
                    <a:lnTo>
                      <a:pt x="420" y="105"/>
                    </a:lnTo>
                    <a:lnTo>
                      <a:pt x="737" y="0"/>
                    </a:lnTo>
                    <a:lnTo>
                      <a:pt x="784" y="0"/>
                    </a:lnTo>
                    <a:lnTo>
                      <a:pt x="829" y="0"/>
                    </a:lnTo>
                    <a:lnTo>
                      <a:pt x="636" y="105"/>
                    </a:lnTo>
                    <a:lnTo>
                      <a:pt x="443" y="208"/>
                    </a:lnTo>
                    <a:lnTo>
                      <a:pt x="515" y="208"/>
                    </a:lnTo>
                    <a:lnTo>
                      <a:pt x="463" y="236"/>
                    </a:lnTo>
                    <a:lnTo>
                      <a:pt x="412" y="263"/>
                    </a:lnTo>
                    <a:lnTo>
                      <a:pt x="377" y="263"/>
                    </a:lnTo>
                    <a:lnTo>
                      <a:pt x="341" y="263"/>
                    </a:lnTo>
                    <a:lnTo>
                      <a:pt x="281" y="298"/>
                    </a:lnTo>
                    <a:lnTo>
                      <a:pt x="219" y="331"/>
                    </a:lnTo>
                    <a:lnTo>
                      <a:pt x="165" y="331"/>
                    </a:lnTo>
                    <a:lnTo>
                      <a:pt x="112" y="331"/>
                    </a:lnTo>
                    <a:lnTo>
                      <a:pt x="112" y="331"/>
                    </a:lnTo>
                    <a:close/>
                    <a:moveTo>
                      <a:pt x="338" y="208"/>
                    </a:moveTo>
                    <a:lnTo>
                      <a:pt x="441" y="153"/>
                    </a:lnTo>
                    <a:lnTo>
                      <a:pt x="544" y="96"/>
                    </a:lnTo>
                    <a:lnTo>
                      <a:pt x="375" y="153"/>
                    </a:lnTo>
                    <a:lnTo>
                      <a:pt x="205" y="208"/>
                    </a:lnTo>
                    <a:lnTo>
                      <a:pt x="270" y="208"/>
                    </a:lnTo>
                    <a:lnTo>
                      <a:pt x="338" y="208"/>
                    </a:lnTo>
                    <a:lnTo>
                      <a:pt x="338" y="208"/>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49351" name="Freeform 871"/>
            <p:cNvSpPr>
              <a:spLocks/>
            </p:cNvSpPr>
            <p:nvPr/>
          </p:nvSpPr>
          <p:spPr bwMode="auto">
            <a:xfrm>
              <a:off x="1294" y="3982"/>
              <a:ext cx="248" cy="124"/>
            </a:xfrm>
            <a:custGeom>
              <a:avLst/>
              <a:gdLst>
                <a:gd name="T0" fmla="*/ 264 w 496"/>
                <a:gd name="T1" fmla="*/ 50 h 248"/>
                <a:gd name="T2" fmla="*/ 224 w 496"/>
                <a:gd name="T3" fmla="*/ 22 h 248"/>
                <a:gd name="T4" fmla="*/ 196 w 496"/>
                <a:gd name="T5" fmla="*/ 74 h 248"/>
                <a:gd name="T6" fmla="*/ 103 w 496"/>
                <a:gd name="T7" fmla="*/ 41 h 248"/>
                <a:gd name="T8" fmla="*/ 124 w 496"/>
                <a:gd name="T9" fmla="*/ 89 h 248"/>
                <a:gd name="T10" fmla="*/ 27 w 496"/>
                <a:gd name="T11" fmla="*/ 95 h 248"/>
                <a:gd name="T12" fmla="*/ 89 w 496"/>
                <a:gd name="T13" fmla="*/ 132 h 248"/>
                <a:gd name="T14" fmla="*/ 0 w 496"/>
                <a:gd name="T15" fmla="*/ 148 h 248"/>
                <a:gd name="T16" fmla="*/ 76 w 496"/>
                <a:gd name="T17" fmla="*/ 176 h 248"/>
                <a:gd name="T18" fmla="*/ 29 w 496"/>
                <a:gd name="T19" fmla="*/ 205 h 248"/>
                <a:gd name="T20" fmla="*/ 110 w 496"/>
                <a:gd name="T21" fmla="*/ 210 h 248"/>
                <a:gd name="T22" fmla="*/ 114 w 496"/>
                <a:gd name="T23" fmla="*/ 248 h 248"/>
                <a:gd name="T24" fmla="*/ 172 w 496"/>
                <a:gd name="T25" fmla="*/ 208 h 248"/>
                <a:gd name="T26" fmla="*/ 200 w 496"/>
                <a:gd name="T27" fmla="*/ 225 h 248"/>
                <a:gd name="T28" fmla="*/ 227 w 496"/>
                <a:gd name="T29" fmla="*/ 200 h 248"/>
                <a:gd name="T30" fmla="*/ 267 w 496"/>
                <a:gd name="T31" fmla="*/ 217 h 248"/>
                <a:gd name="T32" fmla="*/ 279 w 496"/>
                <a:gd name="T33" fmla="*/ 182 h 248"/>
                <a:gd name="T34" fmla="*/ 343 w 496"/>
                <a:gd name="T35" fmla="*/ 200 h 248"/>
                <a:gd name="T36" fmla="*/ 336 w 496"/>
                <a:gd name="T37" fmla="*/ 165 h 248"/>
                <a:gd name="T38" fmla="*/ 434 w 496"/>
                <a:gd name="T39" fmla="*/ 179 h 248"/>
                <a:gd name="T40" fmla="*/ 376 w 496"/>
                <a:gd name="T41" fmla="*/ 141 h 248"/>
                <a:gd name="T42" fmla="*/ 420 w 496"/>
                <a:gd name="T43" fmla="*/ 129 h 248"/>
                <a:gd name="T44" fmla="*/ 389 w 496"/>
                <a:gd name="T45" fmla="*/ 108 h 248"/>
                <a:gd name="T46" fmla="*/ 496 w 496"/>
                <a:gd name="T47" fmla="*/ 76 h 248"/>
                <a:gd name="T48" fmla="*/ 376 w 496"/>
                <a:gd name="T49" fmla="*/ 76 h 248"/>
                <a:gd name="T50" fmla="*/ 413 w 496"/>
                <a:gd name="T51" fmla="*/ 36 h 248"/>
                <a:gd name="T52" fmla="*/ 334 w 496"/>
                <a:gd name="T53" fmla="*/ 67 h 248"/>
                <a:gd name="T54" fmla="*/ 339 w 496"/>
                <a:gd name="T55" fmla="*/ 0 h 248"/>
                <a:gd name="T56" fmla="*/ 264 w 496"/>
                <a:gd name="T57" fmla="*/ 5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96" h="248">
                  <a:moveTo>
                    <a:pt x="264" y="50"/>
                  </a:moveTo>
                  <a:lnTo>
                    <a:pt x="224" y="22"/>
                  </a:lnTo>
                  <a:lnTo>
                    <a:pt x="196" y="74"/>
                  </a:lnTo>
                  <a:lnTo>
                    <a:pt x="103" y="41"/>
                  </a:lnTo>
                  <a:lnTo>
                    <a:pt x="124" y="89"/>
                  </a:lnTo>
                  <a:lnTo>
                    <a:pt x="27" y="95"/>
                  </a:lnTo>
                  <a:lnTo>
                    <a:pt x="89" y="132"/>
                  </a:lnTo>
                  <a:lnTo>
                    <a:pt x="0" y="148"/>
                  </a:lnTo>
                  <a:lnTo>
                    <a:pt x="76" y="176"/>
                  </a:lnTo>
                  <a:lnTo>
                    <a:pt x="29" y="205"/>
                  </a:lnTo>
                  <a:lnTo>
                    <a:pt x="110" y="210"/>
                  </a:lnTo>
                  <a:lnTo>
                    <a:pt x="114" y="248"/>
                  </a:lnTo>
                  <a:lnTo>
                    <a:pt x="172" y="208"/>
                  </a:lnTo>
                  <a:lnTo>
                    <a:pt x="200" y="225"/>
                  </a:lnTo>
                  <a:lnTo>
                    <a:pt x="227" y="200"/>
                  </a:lnTo>
                  <a:lnTo>
                    <a:pt x="267" y="217"/>
                  </a:lnTo>
                  <a:lnTo>
                    <a:pt x="279" y="182"/>
                  </a:lnTo>
                  <a:lnTo>
                    <a:pt x="343" y="200"/>
                  </a:lnTo>
                  <a:lnTo>
                    <a:pt x="336" y="165"/>
                  </a:lnTo>
                  <a:lnTo>
                    <a:pt x="434" y="179"/>
                  </a:lnTo>
                  <a:lnTo>
                    <a:pt x="376" y="141"/>
                  </a:lnTo>
                  <a:lnTo>
                    <a:pt x="420" y="129"/>
                  </a:lnTo>
                  <a:lnTo>
                    <a:pt x="389" y="108"/>
                  </a:lnTo>
                  <a:lnTo>
                    <a:pt x="496" y="76"/>
                  </a:lnTo>
                  <a:lnTo>
                    <a:pt x="376" y="76"/>
                  </a:lnTo>
                  <a:lnTo>
                    <a:pt x="413" y="36"/>
                  </a:lnTo>
                  <a:lnTo>
                    <a:pt x="334" y="67"/>
                  </a:lnTo>
                  <a:lnTo>
                    <a:pt x="339" y="0"/>
                  </a:lnTo>
                  <a:lnTo>
                    <a:pt x="264" y="50"/>
                  </a:lnTo>
                  <a:close/>
                </a:path>
              </a:pathLst>
            </a:custGeom>
            <a:noFill/>
            <a:ln w="7938">
              <a:solidFill>
                <a:srgbClr val="FF33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352" name="Freeform 872"/>
            <p:cNvSpPr>
              <a:spLocks/>
            </p:cNvSpPr>
            <p:nvPr/>
          </p:nvSpPr>
          <p:spPr bwMode="auto">
            <a:xfrm>
              <a:off x="3279" y="3982"/>
              <a:ext cx="248" cy="124"/>
            </a:xfrm>
            <a:custGeom>
              <a:avLst/>
              <a:gdLst>
                <a:gd name="T0" fmla="*/ 264 w 496"/>
                <a:gd name="T1" fmla="*/ 50 h 248"/>
                <a:gd name="T2" fmla="*/ 224 w 496"/>
                <a:gd name="T3" fmla="*/ 22 h 248"/>
                <a:gd name="T4" fmla="*/ 197 w 496"/>
                <a:gd name="T5" fmla="*/ 74 h 248"/>
                <a:gd name="T6" fmla="*/ 104 w 496"/>
                <a:gd name="T7" fmla="*/ 41 h 248"/>
                <a:gd name="T8" fmla="*/ 124 w 496"/>
                <a:gd name="T9" fmla="*/ 89 h 248"/>
                <a:gd name="T10" fmla="*/ 28 w 496"/>
                <a:gd name="T11" fmla="*/ 95 h 248"/>
                <a:gd name="T12" fmla="*/ 90 w 496"/>
                <a:gd name="T13" fmla="*/ 132 h 248"/>
                <a:gd name="T14" fmla="*/ 0 w 496"/>
                <a:gd name="T15" fmla="*/ 148 h 248"/>
                <a:gd name="T16" fmla="*/ 76 w 496"/>
                <a:gd name="T17" fmla="*/ 176 h 248"/>
                <a:gd name="T18" fmla="*/ 29 w 496"/>
                <a:gd name="T19" fmla="*/ 205 h 248"/>
                <a:gd name="T20" fmla="*/ 110 w 496"/>
                <a:gd name="T21" fmla="*/ 210 h 248"/>
                <a:gd name="T22" fmla="*/ 114 w 496"/>
                <a:gd name="T23" fmla="*/ 248 h 248"/>
                <a:gd name="T24" fmla="*/ 173 w 496"/>
                <a:gd name="T25" fmla="*/ 208 h 248"/>
                <a:gd name="T26" fmla="*/ 200 w 496"/>
                <a:gd name="T27" fmla="*/ 225 h 248"/>
                <a:gd name="T28" fmla="*/ 228 w 496"/>
                <a:gd name="T29" fmla="*/ 200 h 248"/>
                <a:gd name="T30" fmla="*/ 267 w 496"/>
                <a:gd name="T31" fmla="*/ 217 h 248"/>
                <a:gd name="T32" fmla="*/ 279 w 496"/>
                <a:gd name="T33" fmla="*/ 182 h 248"/>
                <a:gd name="T34" fmla="*/ 343 w 496"/>
                <a:gd name="T35" fmla="*/ 200 h 248"/>
                <a:gd name="T36" fmla="*/ 336 w 496"/>
                <a:gd name="T37" fmla="*/ 165 h 248"/>
                <a:gd name="T38" fmla="*/ 434 w 496"/>
                <a:gd name="T39" fmla="*/ 179 h 248"/>
                <a:gd name="T40" fmla="*/ 376 w 496"/>
                <a:gd name="T41" fmla="*/ 141 h 248"/>
                <a:gd name="T42" fmla="*/ 421 w 496"/>
                <a:gd name="T43" fmla="*/ 129 h 248"/>
                <a:gd name="T44" fmla="*/ 390 w 496"/>
                <a:gd name="T45" fmla="*/ 108 h 248"/>
                <a:gd name="T46" fmla="*/ 496 w 496"/>
                <a:gd name="T47" fmla="*/ 76 h 248"/>
                <a:gd name="T48" fmla="*/ 376 w 496"/>
                <a:gd name="T49" fmla="*/ 76 h 248"/>
                <a:gd name="T50" fmla="*/ 414 w 496"/>
                <a:gd name="T51" fmla="*/ 36 h 248"/>
                <a:gd name="T52" fmla="*/ 334 w 496"/>
                <a:gd name="T53" fmla="*/ 67 h 248"/>
                <a:gd name="T54" fmla="*/ 340 w 496"/>
                <a:gd name="T55" fmla="*/ 0 h 248"/>
                <a:gd name="T56" fmla="*/ 264 w 496"/>
                <a:gd name="T57" fmla="*/ 5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96" h="248">
                  <a:moveTo>
                    <a:pt x="264" y="50"/>
                  </a:moveTo>
                  <a:lnTo>
                    <a:pt x="224" y="22"/>
                  </a:lnTo>
                  <a:lnTo>
                    <a:pt x="197" y="74"/>
                  </a:lnTo>
                  <a:lnTo>
                    <a:pt x="104" y="41"/>
                  </a:lnTo>
                  <a:lnTo>
                    <a:pt x="124" y="89"/>
                  </a:lnTo>
                  <a:lnTo>
                    <a:pt x="28" y="95"/>
                  </a:lnTo>
                  <a:lnTo>
                    <a:pt x="90" y="132"/>
                  </a:lnTo>
                  <a:lnTo>
                    <a:pt x="0" y="148"/>
                  </a:lnTo>
                  <a:lnTo>
                    <a:pt x="76" y="176"/>
                  </a:lnTo>
                  <a:lnTo>
                    <a:pt x="29" y="205"/>
                  </a:lnTo>
                  <a:lnTo>
                    <a:pt x="110" y="210"/>
                  </a:lnTo>
                  <a:lnTo>
                    <a:pt x="114" y="248"/>
                  </a:lnTo>
                  <a:lnTo>
                    <a:pt x="173" y="208"/>
                  </a:lnTo>
                  <a:lnTo>
                    <a:pt x="200" y="225"/>
                  </a:lnTo>
                  <a:lnTo>
                    <a:pt x="228" y="200"/>
                  </a:lnTo>
                  <a:lnTo>
                    <a:pt x="267" y="217"/>
                  </a:lnTo>
                  <a:lnTo>
                    <a:pt x="279" y="182"/>
                  </a:lnTo>
                  <a:lnTo>
                    <a:pt x="343" y="200"/>
                  </a:lnTo>
                  <a:lnTo>
                    <a:pt x="336" y="165"/>
                  </a:lnTo>
                  <a:lnTo>
                    <a:pt x="434" y="179"/>
                  </a:lnTo>
                  <a:lnTo>
                    <a:pt x="376" y="141"/>
                  </a:lnTo>
                  <a:lnTo>
                    <a:pt x="421" y="129"/>
                  </a:lnTo>
                  <a:lnTo>
                    <a:pt x="390" y="108"/>
                  </a:lnTo>
                  <a:lnTo>
                    <a:pt x="496" y="76"/>
                  </a:lnTo>
                  <a:lnTo>
                    <a:pt x="376" y="76"/>
                  </a:lnTo>
                  <a:lnTo>
                    <a:pt x="414" y="36"/>
                  </a:lnTo>
                  <a:lnTo>
                    <a:pt x="334" y="67"/>
                  </a:lnTo>
                  <a:lnTo>
                    <a:pt x="340" y="0"/>
                  </a:lnTo>
                  <a:lnTo>
                    <a:pt x="264" y="50"/>
                  </a:lnTo>
                  <a:close/>
                </a:path>
              </a:pathLst>
            </a:custGeom>
            <a:noFill/>
            <a:ln w="7938">
              <a:solidFill>
                <a:srgbClr val="FF33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353" name="Rectangle 873"/>
            <p:cNvSpPr>
              <a:spLocks noChangeArrowheads="1"/>
            </p:cNvSpPr>
            <p:nvPr/>
          </p:nvSpPr>
          <p:spPr bwMode="auto">
            <a:xfrm>
              <a:off x="4752" y="3351"/>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C0C0C0"/>
                  </a:solidFill>
                  <a:latin typeface="隶书" charset="0"/>
                  <a:ea typeface="隶书" charset="0"/>
                </a:rPr>
                <a:t>界</a:t>
              </a:r>
              <a:endParaRPr lang="zh-CN" altLang="en-US">
                <a:latin typeface="Arial" charset="0"/>
              </a:endParaRPr>
            </a:p>
          </p:txBody>
        </p:sp>
        <p:sp>
          <p:nvSpPr>
            <p:cNvPr id="149354" name="Rectangle 874"/>
            <p:cNvSpPr>
              <a:spLocks noChangeArrowheads="1"/>
            </p:cNvSpPr>
            <p:nvPr/>
          </p:nvSpPr>
          <p:spPr bwMode="auto">
            <a:xfrm>
              <a:off x="4744" y="3342"/>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0000FF"/>
                  </a:solidFill>
                  <a:latin typeface="隶书" charset="0"/>
                  <a:ea typeface="隶书" charset="0"/>
                </a:rPr>
                <a:t>界</a:t>
              </a:r>
              <a:endParaRPr lang="zh-CN" altLang="en-US">
                <a:latin typeface="Arial" charset="0"/>
              </a:endParaRPr>
            </a:p>
          </p:txBody>
        </p:sp>
        <p:sp>
          <p:nvSpPr>
            <p:cNvPr id="149355" name="Rectangle 875"/>
            <p:cNvSpPr>
              <a:spLocks noChangeArrowheads="1"/>
            </p:cNvSpPr>
            <p:nvPr/>
          </p:nvSpPr>
          <p:spPr bwMode="auto">
            <a:xfrm>
              <a:off x="4752" y="3563"/>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C0C0C0"/>
                  </a:solidFill>
                  <a:latin typeface="隶书" charset="0"/>
                  <a:ea typeface="隶书" charset="0"/>
                </a:rPr>
                <a:t>法</a:t>
              </a:r>
              <a:endParaRPr lang="zh-CN" altLang="en-US">
                <a:latin typeface="Arial" charset="0"/>
              </a:endParaRPr>
            </a:p>
          </p:txBody>
        </p:sp>
        <p:sp>
          <p:nvSpPr>
            <p:cNvPr id="149356" name="Rectangle 876"/>
            <p:cNvSpPr>
              <a:spLocks noChangeArrowheads="1"/>
            </p:cNvSpPr>
            <p:nvPr/>
          </p:nvSpPr>
          <p:spPr bwMode="auto">
            <a:xfrm>
              <a:off x="4744" y="3554"/>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0000FF"/>
                  </a:solidFill>
                  <a:latin typeface="隶书" charset="0"/>
                  <a:ea typeface="隶书" charset="0"/>
                </a:rPr>
                <a:t>法</a:t>
              </a:r>
              <a:endParaRPr lang="zh-CN" altLang="en-US">
                <a:latin typeface="Arial" charset="0"/>
              </a:endParaRPr>
            </a:p>
          </p:txBody>
        </p:sp>
        <p:grpSp>
          <p:nvGrpSpPr>
            <p:cNvPr id="149357" name="Group 877"/>
            <p:cNvGrpSpPr>
              <a:grpSpLocks/>
            </p:cNvGrpSpPr>
            <p:nvPr/>
          </p:nvGrpSpPr>
          <p:grpSpPr bwMode="auto">
            <a:xfrm>
              <a:off x="3155" y="3527"/>
              <a:ext cx="1461" cy="262"/>
              <a:chOff x="3172" y="3544"/>
              <a:chExt cx="1461" cy="262"/>
            </a:xfrm>
          </p:grpSpPr>
          <p:sp>
            <p:nvSpPr>
              <p:cNvPr id="149358" name="Freeform 878"/>
              <p:cNvSpPr>
                <a:spLocks/>
              </p:cNvSpPr>
              <p:nvPr/>
            </p:nvSpPr>
            <p:spPr bwMode="auto">
              <a:xfrm>
                <a:off x="3186" y="3558"/>
                <a:ext cx="1447" cy="248"/>
              </a:xfrm>
              <a:custGeom>
                <a:avLst/>
                <a:gdLst>
                  <a:gd name="T0" fmla="*/ 889 w 2895"/>
                  <a:gd name="T1" fmla="*/ 0 h 496"/>
                  <a:gd name="T2" fmla="*/ 0 w 2895"/>
                  <a:gd name="T3" fmla="*/ 496 h 496"/>
                  <a:gd name="T4" fmla="*/ 2005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5" y="496"/>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359" name="Group 879"/>
              <p:cNvGrpSpPr>
                <a:grpSpLocks/>
              </p:cNvGrpSpPr>
              <p:nvPr/>
            </p:nvGrpSpPr>
            <p:grpSpPr bwMode="auto">
              <a:xfrm>
                <a:off x="3172" y="3544"/>
                <a:ext cx="1448" cy="249"/>
                <a:chOff x="3172" y="3544"/>
                <a:chExt cx="1448" cy="249"/>
              </a:xfrm>
            </p:grpSpPr>
            <p:pic>
              <p:nvPicPr>
                <p:cNvPr id="149360" name="Picture 88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2" y="3544"/>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361" name="Picture 88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20" y="3544"/>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362" name="Freeform 882"/>
                <p:cNvSpPr>
                  <a:spLocks/>
                </p:cNvSpPr>
                <p:nvPr/>
              </p:nvSpPr>
              <p:spPr bwMode="auto">
                <a:xfrm>
                  <a:off x="3172" y="3544"/>
                  <a:ext cx="1448"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363" name="Freeform 883"/>
                <p:cNvSpPr>
                  <a:spLocks/>
                </p:cNvSpPr>
                <p:nvPr/>
              </p:nvSpPr>
              <p:spPr bwMode="auto">
                <a:xfrm>
                  <a:off x="3172" y="3544"/>
                  <a:ext cx="1448"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364" name="Picture 88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2" y="3544"/>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365" name="Picture 88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20" y="3544"/>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366" name="Freeform 886"/>
              <p:cNvSpPr>
                <a:spLocks/>
              </p:cNvSpPr>
              <p:nvPr/>
            </p:nvSpPr>
            <p:spPr bwMode="auto">
              <a:xfrm>
                <a:off x="3172" y="3544"/>
                <a:ext cx="1448"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367" name="Group 887"/>
            <p:cNvGrpSpPr>
              <a:grpSpLocks/>
            </p:cNvGrpSpPr>
            <p:nvPr/>
          </p:nvGrpSpPr>
          <p:grpSpPr bwMode="auto">
            <a:xfrm>
              <a:off x="3155" y="3320"/>
              <a:ext cx="1461" cy="262"/>
              <a:chOff x="3172" y="3337"/>
              <a:chExt cx="1461" cy="262"/>
            </a:xfrm>
          </p:grpSpPr>
          <p:sp>
            <p:nvSpPr>
              <p:cNvPr id="149368" name="Freeform 888"/>
              <p:cNvSpPr>
                <a:spLocks/>
              </p:cNvSpPr>
              <p:nvPr/>
            </p:nvSpPr>
            <p:spPr bwMode="auto">
              <a:xfrm>
                <a:off x="3186" y="3351"/>
                <a:ext cx="1447" cy="248"/>
              </a:xfrm>
              <a:custGeom>
                <a:avLst/>
                <a:gdLst>
                  <a:gd name="T0" fmla="*/ 889 w 2895"/>
                  <a:gd name="T1" fmla="*/ 0 h 496"/>
                  <a:gd name="T2" fmla="*/ 0 w 2895"/>
                  <a:gd name="T3" fmla="*/ 496 h 496"/>
                  <a:gd name="T4" fmla="*/ 2005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5" y="496"/>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369" name="Group 889"/>
              <p:cNvGrpSpPr>
                <a:grpSpLocks/>
              </p:cNvGrpSpPr>
              <p:nvPr/>
            </p:nvGrpSpPr>
            <p:grpSpPr bwMode="auto">
              <a:xfrm>
                <a:off x="3172" y="3337"/>
                <a:ext cx="1448" cy="249"/>
                <a:chOff x="3172" y="3337"/>
                <a:chExt cx="1448" cy="249"/>
              </a:xfrm>
            </p:grpSpPr>
            <p:pic>
              <p:nvPicPr>
                <p:cNvPr id="149370" name="Picture 89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2" y="3337"/>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371" name="Picture 89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20" y="3337"/>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372" name="Freeform 892"/>
                <p:cNvSpPr>
                  <a:spLocks/>
                </p:cNvSpPr>
                <p:nvPr/>
              </p:nvSpPr>
              <p:spPr bwMode="auto">
                <a:xfrm>
                  <a:off x="3172" y="3337"/>
                  <a:ext cx="1448"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373" name="Freeform 893"/>
                <p:cNvSpPr>
                  <a:spLocks/>
                </p:cNvSpPr>
                <p:nvPr/>
              </p:nvSpPr>
              <p:spPr bwMode="auto">
                <a:xfrm>
                  <a:off x="3172" y="3337"/>
                  <a:ext cx="1448"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374" name="Picture 89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2" y="3337"/>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375" name="Picture 89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20" y="3337"/>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376" name="Freeform 896"/>
              <p:cNvSpPr>
                <a:spLocks/>
              </p:cNvSpPr>
              <p:nvPr/>
            </p:nvSpPr>
            <p:spPr bwMode="auto">
              <a:xfrm>
                <a:off x="3172" y="3337"/>
                <a:ext cx="1448"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377" name="Group 897"/>
            <p:cNvGrpSpPr>
              <a:grpSpLocks/>
            </p:cNvGrpSpPr>
            <p:nvPr/>
          </p:nvGrpSpPr>
          <p:grpSpPr bwMode="auto">
            <a:xfrm>
              <a:off x="3155" y="3113"/>
              <a:ext cx="1461" cy="262"/>
              <a:chOff x="3172" y="3130"/>
              <a:chExt cx="1461" cy="262"/>
            </a:xfrm>
          </p:grpSpPr>
          <p:sp>
            <p:nvSpPr>
              <p:cNvPr id="149378" name="Freeform 898"/>
              <p:cNvSpPr>
                <a:spLocks/>
              </p:cNvSpPr>
              <p:nvPr/>
            </p:nvSpPr>
            <p:spPr bwMode="auto">
              <a:xfrm>
                <a:off x="3186" y="3144"/>
                <a:ext cx="1447" cy="248"/>
              </a:xfrm>
              <a:custGeom>
                <a:avLst/>
                <a:gdLst>
                  <a:gd name="T0" fmla="*/ 889 w 2895"/>
                  <a:gd name="T1" fmla="*/ 0 h 497"/>
                  <a:gd name="T2" fmla="*/ 0 w 2895"/>
                  <a:gd name="T3" fmla="*/ 497 h 497"/>
                  <a:gd name="T4" fmla="*/ 2005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5" y="497"/>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379" name="Group 899"/>
              <p:cNvGrpSpPr>
                <a:grpSpLocks/>
              </p:cNvGrpSpPr>
              <p:nvPr/>
            </p:nvGrpSpPr>
            <p:grpSpPr bwMode="auto">
              <a:xfrm>
                <a:off x="3172" y="3130"/>
                <a:ext cx="1448" cy="249"/>
                <a:chOff x="3172" y="3130"/>
                <a:chExt cx="1448" cy="249"/>
              </a:xfrm>
            </p:grpSpPr>
            <p:pic>
              <p:nvPicPr>
                <p:cNvPr id="149380" name="Picture 90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2" y="3130"/>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381" name="Picture 90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20" y="3130"/>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382" name="Freeform 902"/>
                <p:cNvSpPr>
                  <a:spLocks/>
                </p:cNvSpPr>
                <p:nvPr/>
              </p:nvSpPr>
              <p:spPr bwMode="auto">
                <a:xfrm>
                  <a:off x="3172" y="3130"/>
                  <a:ext cx="1448" cy="249"/>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383" name="Freeform 903"/>
                <p:cNvSpPr>
                  <a:spLocks/>
                </p:cNvSpPr>
                <p:nvPr/>
              </p:nvSpPr>
              <p:spPr bwMode="auto">
                <a:xfrm>
                  <a:off x="3172" y="3130"/>
                  <a:ext cx="1448" cy="249"/>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384" name="Picture 90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2" y="3130"/>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385" name="Picture 90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20" y="3130"/>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386" name="Freeform 906"/>
              <p:cNvSpPr>
                <a:spLocks/>
              </p:cNvSpPr>
              <p:nvPr/>
            </p:nvSpPr>
            <p:spPr bwMode="auto">
              <a:xfrm>
                <a:off x="3172" y="3130"/>
                <a:ext cx="1448" cy="249"/>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387" name="Group 907"/>
            <p:cNvGrpSpPr>
              <a:grpSpLocks/>
            </p:cNvGrpSpPr>
            <p:nvPr/>
          </p:nvGrpSpPr>
          <p:grpSpPr bwMode="auto">
            <a:xfrm>
              <a:off x="1253" y="3527"/>
              <a:ext cx="1461" cy="262"/>
              <a:chOff x="1270" y="3544"/>
              <a:chExt cx="1461" cy="262"/>
            </a:xfrm>
          </p:grpSpPr>
          <p:sp>
            <p:nvSpPr>
              <p:cNvPr id="149388" name="Freeform 908"/>
              <p:cNvSpPr>
                <a:spLocks/>
              </p:cNvSpPr>
              <p:nvPr/>
            </p:nvSpPr>
            <p:spPr bwMode="auto">
              <a:xfrm>
                <a:off x="1283" y="3558"/>
                <a:ext cx="1448"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389" name="Group 909"/>
              <p:cNvGrpSpPr>
                <a:grpSpLocks/>
              </p:cNvGrpSpPr>
              <p:nvPr/>
            </p:nvGrpSpPr>
            <p:grpSpPr bwMode="auto">
              <a:xfrm>
                <a:off x="1270" y="3544"/>
                <a:ext cx="1448" cy="249"/>
                <a:chOff x="1270" y="3544"/>
                <a:chExt cx="1448" cy="249"/>
              </a:xfrm>
            </p:grpSpPr>
            <p:pic>
              <p:nvPicPr>
                <p:cNvPr id="149390" name="Picture 9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0" y="3544"/>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391" name="Picture 9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7" y="3544"/>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392" name="Freeform 912"/>
                <p:cNvSpPr>
                  <a:spLocks/>
                </p:cNvSpPr>
                <p:nvPr/>
              </p:nvSpPr>
              <p:spPr bwMode="auto">
                <a:xfrm>
                  <a:off x="1270" y="3544"/>
                  <a:ext cx="1447"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393" name="Freeform 913"/>
                <p:cNvSpPr>
                  <a:spLocks/>
                </p:cNvSpPr>
                <p:nvPr/>
              </p:nvSpPr>
              <p:spPr bwMode="auto">
                <a:xfrm>
                  <a:off x="1270" y="3544"/>
                  <a:ext cx="1447"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394" name="Picture 9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0" y="3544"/>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395" name="Picture 9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7" y="3544"/>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396" name="Freeform 916"/>
              <p:cNvSpPr>
                <a:spLocks/>
              </p:cNvSpPr>
              <p:nvPr/>
            </p:nvSpPr>
            <p:spPr bwMode="auto">
              <a:xfrm>
                <a:off x="1270" y="3544"/>
                <a:ext cx="1447"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397" name="Group 917"/>
            <p:cNvGrpSpPr>
              <a:grpSpLocks/>
            </p:cNvGrpSpPr>
            <p:nvPr/>
          </p:nvGrpSpPr>
          <p:grpSpPr bwMode="auto">
            <a:xfrm>
              <a:off x="1253" y="3320"/>
              <a:ext cx="1461" cy="262"/>
              <a:chOff x="1270" y="3337"/>
              <a:chExt cx="1461" cy="262"/>
            </a:xfrm>
          </p:grpSpPr>
          <p:sp>
            <p:nvSpPr>
              <p:cNvPr id="149398" name="Freeform 918"/>
              <p:cNvSpPr>
                <a:spLocks/>
              </p:cNvSpPr>
              <p:nvPr/>
            </p:nvSpPr>
            <p:spPr bwMode="auto">
              <a:xfrm>
                <a:off x="1283" y="3351"/>
                <a:ext cx="1448" cy="248"/>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399" name="Group 919"/>
              <p:cNvGrpSpPr>
                <a:grpSpLocks/>
              </p:cNvGrpSpPr>
              <p:nvPr/>
            </p:nvGrpSpPr>
            <p:grpSpPr bwMode="auto">
              <a:xfrm>
                <a:off x="1270" y="3337"/>
                <a:ext cx="1448" cy="249"/>
                <a:chOff x="1270" y="3337"/>
                <a:chExt cx="1448" cy="249"/>
              </a:xfrm>
            </p:grpSpPr>
            <p:pic>
              <p:nvPicPr>
                <p:cNvPr id="149400" name="Picture 9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0" y="3337"/>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401" name="Picture 9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7" y="3337"/>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402" name="Freeform 922"/>
                <p:cNvSpPr>
                  <a:spLocks/>
                </p:cNvSpPr>
                <p:nvPr/>
              </p:nvSpPr>
              <p:spPr bwMode="auto">
                <a:xfrm>
                  <a:off x="1270" y="3337"/>
                  <a:ext cx="1447"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403" name="Freeform 923"/>
                <p:cNvSpPr>
                  <a:spLocks/>
                </p:cNvSpPr>
                <p:nvPr/>
              </p:nvSpPr>
              <p:spPr bwMode="auto">
                <a:xfrm>
                  <a:off x="1270" y="3337"/>
                  <a:ext cx="1447"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404" name="Picture 9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0" y="3337"/>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405" name="Picture 9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7" y="3337"/>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406" name="Freeform 926"/>
              <p:cNvSpPr>
                <a:spLocks/>
              </p:cNvSpPr>
              <p:nvPr/>
            </p:nvSpPr>
            <p:spPr bwMode="auto">
              <a:xfrm>
                <a:off x="1270" y="3337"/>
                <a:ext cx="1447"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407" name="Group 927"/>
            <p:cNvGrpSpPr>
              <a:grpSpLocks/>
            </p:cNvGrpSpPr>
            <p:nvPr/>
          </p:nvGrpSpPr>
          <p:grpSpPr bwMode="auto">
            <a:xfrm>
              <a:off x="1253" y="3113"/>
              <a:ext cx="1461" cy="262"/>
              <a:chOff x="1270" y="3130"/>
              <a:chExt cx="1461" cy="262"/>
            </a:xfrm>
          </p:grpSpPr>
          <p:sp>
            <p:nvSpPr>
              <p:cNvPr id="149408" name="Freeform 928"/>
              <p:cNvSpPr>
                <a:spLocks/>
              </p:cNvSpPr>
              <p:nvPr/>
            </p:nvSpPr>
            <p:spPr bwMode="auto">
              <a:xfrm>
                <a:off x="1283" y="3144"/>
                <a:ext cx="1448"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409" name="Group 929"/>
              <p:cNvGrpSpPr>
                <a:grpSpLocks/>
              </p:cNvGrpSpPr>
              <p:nvPr/>
            </p:nvGrpSpPr>
            <p:grpSpPr bwMode="auto">
              <a:xfrm>
                <a:off x="1270" y="3130"/>
                <a:ext cx="1448" cy="249"/>
                <a:chOff x="1270" y="3130"/>
                <a:chExt cx="1448" cy="249"/>
              </a:xfrm>
            </p:grpSpPr>
            <p:pic>
              <p:nvPicPr>
                <p:cNvPr id="149410" name="Picture 9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0" y="3130"/>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411" name="Picture 9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7" y="3130"/>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412" name="Freeform 932"/>
                <p:cNvSpPr>
                  <a:spLocks/>
                </p:cNvSpPr>
                <p:nvPr/>
              </p:nvSpPr>
              <p:spPr bwMode="auto">
                <a:xfrm>
                  <a:off x="1270" y="3130"/>
                  <a:ext cx="1447" cy="249"/>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413" name="Freeform 933"/>
                <p:cNvSpPr>
                  <a:spLocks/>
                </p:cNvSpPr>
                <p:nvPr/>
              </p:nvSpPr>
              <p:spPr bwMode="auto">
                <a:xfrm>
                  <a:off x="1270" y="3130"/>
                  <a:ext cx="1447" cy="249"/>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414" name="Picture 9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0" y="3130"/>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415" name="Picture 9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7" y="3130"/>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416" name="Freeform 936"/>
              <p:cNvSpPr>
                <a:spLocks/>
              </p:cNvSpPr>
              <p:nvPr/>
            </p:nvSpPr>
            <p:spPr bwMode="auto">
              <a:xfrm>
                <a:off x="1270" y="3130"/>
                <a:ext cx="1447" cy="249"/>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9417" name="Rectangle 937"/>
            <p:cNvSpPr>
              <a:spLocks noChangeArrowheads="1"/>
            </p:cNvSpPr>
            <p:nvPr/>
          </p:nvSpPr>
          <p:spPr bwMode="auto">
            <a:xfrm>
              <a:off x="839" y="3105"/>
              <a:ext cx="378" cy="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18" name="Rectangle 938"/>
            <p:cNvSpPr>
              <a:spLocks noChangeArrowheads="1"/>
            </p:cNvSpPr>
            <p:nvPr/>
          </p:nvSpPr>
          <p:spPr bwMode="auto">
            <a:xfrm>
              <a:off x="898" y="3130"/>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C0C0C0"/>
                  </a:solidFill>
                  <a:latin typeface="隶书" charset="0"/>
                  <a:ea typeface="隶书" charset="0"/>
                </a:rPr>
                <a:t>移</a:t>
              </a:r>
              <a:endParaRPr lang="zh-CN" altLang="en-US">
                <a:latin typeface="Arial" charset="0"/>
              </a:endParaRPr>
            </a:p>
          </p:txBody>
        </p:sp>
        <p:sp>
          <p:nvSpPr>
            <p:cNvPr id="149419" name="Rectangle 939"/>
            <p:cNvSpPr>
              <a:spLocks noChangeArrowheads="1"/>
            </p:cNvSpPr>
            <p:nvPr/>
          </p:nvSpPr>
          <p:spPr bwMode="auto">
            <a:xfrm>
              <a:off x="889" y="3122"/>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0000FF"/>
                  </a:solidFill>
                  <a:latin typeface="隶书" charset="0"/>
                  <a:ea typeface="隶书" charset="0"/>
                </a:rPr>
                <a:t>移</a:t>
              </a:r>
              <a:endParaRPr lang="zh-CN" altLang="en-US">
                <a:latin typeface="Arial" charset="0"/>
              </a:endParaRPr>
            </a:p>
          </p:txBody>
        </p:sp>
        <p:sp>
          <p:nvSpPr>
            <p:cNvPr id="149420" name="Rectangle 940"/>
            <p:cNvSpPr>
              <a:spLocks noChangeArrowheads="1"/>
            </p:cNvSpPr>
            <p:nvPr/>
          </p:nvSpPr>
          <p:spPr bwMode="auto">
            <a:xfrm>
              <a:off x="898" y="3342"/>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C0C0C0"/>
                  </a:solidFill>
                  <a:latin typeface="隶书" charset="0"/>
                  <a:ea typeface="隶书" charset="0"/>
                </a:rPr>
                <a:t>位</a:t>
              </a:r>
              <a:endParaRPr lang="zh-CN" altLang="en-US">
                <a:latin typeface="Arial" charset="0"/>
              </a:endParaRPr>
            </a:p>
          </p:txBody>
        </p:sp>
        <p:sp>
          <p:nvSpPr>
            <p:cNvPr id="149421" name="Rectangle 941"/>
            <p:cNvSpPr>
              <a:spLocks noChangeArrowheads="1"/>
            </p:cNvSpPr>
            <p:nvPr/>
          </p:nvSpPr>
          <p:spPr bwMode="auto">
            <a:xfrm>
              <a:off x="889" y="3334"/>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0000FF"/>
                  </a:solidFill>
                  <a:latin typeface="隶书" charset="0"/>
                  <a:ea typeface="隶书" charset="0"/>
                </a:rPr>
                <a:t>位</a:t>
              </a:r>
              <a:endParaRPr lang="zh-CN" altLang="en-US">
                <a:latin typeface="Arial" charset="0"/>
              </a:endParaRPr>
            </a:p>
          </p:txBody>
        </p:sp>
        <p:sp>
          <p:nvSpPr>
            <p:cNvPr id="149422" name="Rectangle 942"/>
            <p:cNvSpPr>
              <a:spLocks noChangeArrowheads="1"/>
            </p:cNvSpPr>
            <p:nvPr/>
          </p:nvSpPr>
          <p:spPr bwMode="auto">
            <a:xfrm>
              <a:off x="898" y="3543"/>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C0C0C0"/>
                  </a:solidFill>
                  <a:latin typeface="隶书" charset="0"/>
                  <a:ea typeface="隶书" charset="0"/>
                </a:rPr>
                <a:t>法</a:t>
              </a:r>
              <a:endParaRPr lang="zh-CN" altLang="en-US">
                <a:latin typeface="Arial" charset="0"/>
              </a:endParaRPr>
            </a:p>
          </p:txBody>
        </p:sp>
        <p:sp>
          <p:nvSpPr>
            <p:cNvPr id="149423" name="Rectangle 943"/>
            <p:cNvSpPr>
              <a:spLocks noChangeArrowheads="1"/>
            </p:cNvSpPr>
            <p:nvPr/>
          </p:nvSpPr>
          <p:spPr bwMode="auto">
            <a:xfrm>
              <a:off x="889" y="3534"/>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0000FF"/>
                  </a:solidFill>
                  <a:latin typeface="隶书" charset="0"/>
                  <a:ea typeface="隶书" charset="0"/>
                </a:rPr>
                <a:t>法</a:t>
              </a:r>
              <a:endParaRPr lang="zh-CN" altLang="en-US">
                <a:latin typeface="Arial" charset="0"/>
              </a:endParaRPr>
            </a:p>
          </p:txBody>
        </p:sp>
        <p:grpSp>
          <p:nvGrpSpPr>
            <p:cNvPr id="149424" name="Group 944"/>
            <p:cNvGrpSpPr>
              <a:grpSpLocks/>
            </p:cNvGrpSpPr>
            <p:nvPr/>
          </p:nvGrpSpPr>
          <p:grpSpPr bwMode="auto">
            <a:xfrm>
              <a:off x="1507" y="3196"/>
              <a:ext cx="947" cy="138"/>
              <a:chOff x="1524" y="3213"/>
              <a:chExt cx="947" cy="138"/>
            </a:xfrm>
          </p:grpSpPr>
          <p:sp>
            <p:nvSpPr>
              <p:cNvPr id="149425" name="Freeform 945"/>
              <p:cNvSpPr>
                <a:spLocks/>
              </p:cNvSpPr>
              <p:nvPr/>
            </p:nvSpPr>
            <p:spPr bwMode="auto">
              <a:xfrm>
                <a:off x="1544" y="3227"/>
                <a:ext cx="345" cy="124"/>
              </a:xfrm>
              <a:custGeom>
                <a:avLst/>
                <a:gdLst>
                  <a:gd name="T0" fmla="*/ 96 w 689"/>
                  <a:gd name="T1" fmla="*/ 177 h 248"/>
                  <a:gd name="T2" fmla="*/ 155 w 689"/>
                  <a:gd name="T3" fmla="*/ 181 h 248"/>
                  <a:gd name="T4" fmla="*/ 148 w 689"/>
                  <a:gd name="T5" fmla="*/ 195 h 248"/>
                  <a:gd name="T6" fmla="*/ 158 w 689"/>
                  <a:gd name="T7" fmla="*/ 205 h 248"/>
                  <a:gd name="T8" fmla="*/ 183 w 689"/>
                  <a:gd name="T9" fmla="*/ 208 h 248"/>
                  <a:gd name="T10" fmla="*/ 243 w 689"/>
                  <a:gd name="T11" fmla="*/ 207 h 248"/>
                  <a:gd name="T12" fmla="*/ 312 w 689"/>
                  <a:gd name="T13" fmla="*/ 193 h 248"/>
                  <a:gd name="T14" fmla="*/ 369 w 689"/>
                  <a:gd name="T15" fmla="*/ 169 h 248"/>
                  <a:gd name="T16" fmla="*/ 389 w 689"/>
                  <a:gd name="T17" fmla="*/ 153 h 248"/>
                  <a:gd name="T18" fmla="*/ 391 w 689"/>
                  <a:gd name="T19" fmla="*/ 141 h 248"/>
                  <a:gd name="T20" fmla="*/ 376 w 689"/>
                  <a:gd name="T21" fmla="*/ 134 h 248"/>
                  <a:gd name="T22" fmla="*/ 345 w 689"/>
                  <a:gd name="T23" fmla="*/ 131 h 248"/>
                  <a:gd name="T24" fmla="*/ 315 w 689"/>
                  <a:gd name="T25" fmla="*/ 133 h 248"/>
                  <a:gd name="T26" fmla="*/ 277 w 689"/>
                  <a:gd name="T27" fmla="*/ 134 h 248"/>
                  <a:gd name="T28" fmla="*/ 358 w 689"/>
                  <a:gd name="T29" fmla="*/ 96 h 248"/>
                  <a:gd name="T30" fmla="*/ 432 w 689"/>
                  <a:gd name="T31" fmla="*/ 93 h 248"/>
                  <a:gd name="T32" fmla="*/ 475 w 689"/>
                  <a:gd name="T33" fmla="*/ 83 h 248"/>
                  <a:gd name="T34" fmla="*/ 510 w 689"/>
                  <a:gd name="T35" fmla="*/ 72 h 248"/>
                  <a:gd name="T36" fmla="*/ 532 w 689"/>
                  <a:gd name="T37" fmla="*/ 58 h 248"/>
                  <a:gd name="T38" fmla="*/ 539 w 689"/>
                  <a:gd name="T39" fmla="*/ 48 h 248"/>
                  <a:gd name="T40" fmla="*/ 532 w 689"/>
                  <a:gd name="T41" fmla="*/ 43 h 248"/>
                  <a:gd name="T42" fmla="*/ 512 w 689"/>
                  <a:gd name="T43" fmla="*/ 38 h 248"/>
                  <a:gd name="T44" fmla="*/ 460 w 689"/>
                  <a:gd name="T45" fmla="*/ 40 h 248"/>
                  <a:gd name="T46" fmla="*/ 386 w 689"/>
                  <a:gd name="T47" fmla="*/ 57 h 248"/>
                  <a:gd name="T48" fmla="*/ 351 w 689"/>
                  <a:gd name="T49" fmla="*/ 71 h 248"/>
                  <a:gd name="T50" fmla="*/ 241 w 689"/>
                  <a:gd name="T51" fmla="*/ 64 h 248"/>
                  <a:gd name="T52" fmla="*/ 343 w 689"/>
                  <a:gd name="T53" fmla="*/ 27 h 248"/>
                  <a:gd name="T54" fmla="*/ 451 w 689"/>
                  <a:gd name="T55" fmla="*/ 7 h 248"/>
                  <a:gd name="T56" fmla="*/ 567 w 689"/>
                  <a:gd name="T57" fmla="*/ 0 h 248"/>
                  <a:gd name="T58" fmla="*/ 612 w 689"/>
                  <a:gd name="T59" fmla="*/ 2 h 248"/>
                  <a:gd name="T60" fmla="*/ 646 w 689"/>
                  <a:gd name="T61" fmla="*/ 5 h 248"/>
                  <a:gd name="T62" fmla="*/ 670 w 689"/>
                  <a:gd name="T63" fmla="*/ 12 h 248"/>
                  <a:gd name="T64" fmla="*/ 684 w 689"/>
                  <a:gd name="T65" fmla="*/ 22 h 248"/>
                  <a:gd name="T66" fmla="*/ 689 w 689"/>
                  <a:gd name="T67" fmla="*/ 31 h 248"/>
                  <a:gd name="T68" fmla="*/ 687 w 689"/>
                  <a:gd name="T69" fmla="*/ 41 h 248"/>
                  <a:gd name="T70" fmla="*/ 679 w 689"/>
                  <a:gd name="T71" fmla="*/ 52 h 248"/>
                  <a:gd name="T72" fmla="*/ 662 w 689"/>
                  <a:gd name="T73" fmla="*/ 62 h 248"/>
                  <a:gd name="T74" fmla="*/ 629 w 689"/>
                  <a:gd name="T75" fmla="*/ 77 h 248"/>
                  <a:gd name="T76" fmla="*/ 586 w 689"/>
                  <a:gd name="T77" fmla="*/ 91 h 248"/>
                  <a:gd name="T78" fmla="*/ 534 w 689"/>
                  <a:gd name="T79" fmla="*/ 103 h 248"/>
                  <a:gd name="T80" fmla="*/ 472 w 689"/>
                  <a:gd name="T81" fmla="*/ 114 h 248"/>
                  <a:gd name="T82" fmla="*/ 513 w 689"/>
                  <a:gd name="T83" fmla="*/ 120 h 248"/>
                  <a:gd name="T84" fmla="*/ 532 w 689"/>
                  <a:gd name="T85" fmla="*/ 133 h 248"/>
                  <a:gd name="T86" fmla="*/ 529 w 689"/>
                  <a:gd name="T87" fmla="*/ 150 h 248"/>
                  <a:gd name="T88" fmla="*/ 501 w 689"/>
                  <a:gd name="T89" fmla="*/ 170 h 248"/>
                  <a:gd name="T90" fmla="*/ 432 w 689"/>
                  <a:gd name="T91" fmla="*/ 201 h 248"/>
                  <a:gd name="T92" fmla="*/ 363 w 689"/>
                  <a:gd name="T93" fmla="*/ 220 h 248"/>
                  <a:gd name="T94" fmla="*/ 286 w 689"/>
                  <a:gd name="T95" fmla="*/ 236 h 248"/>
                  <a:gd name="T96" fmla="*/ 183 w 689"/>
                  <a:gd name="T97" fmla="*/ 246 h 248"/>
                  <a:gd name="T98" fmla="*/ 110 w 689"/>
                  <a:gd name="T99" fmla="*/ 248 h 248"/>
                  <a:gd name="T100" fmla="*/ 72 w 689"/>
                  <a:gd name="T101" fmla="*/ 245 h 248"/>
                  <a:gd name="T102" fmla="*/ 41 w 689"/>
                  <a:gd name="T103" fmla="*/ 241 h 248"/>
                  <a:gd name="T104" fmla="*/ 19 w 689"/>
                  <a:gd name="T105" fmla="*/ 234 h 248"/>
                  <a:gd name="T106" fmla="*/ 5 w 689"/>
                  <a:gd name="T107" fmla="*/ 224 h 248"/>
                  <a:gd name="T108" fmla="*/ 0 w 689"/>
                  <a:gd name="T109" fmla="*/ 214 h 248"/>
                  <a:gd name="T110" fmla="*/ 5 w 689"/>
                  <a:gd name="T111" fmla="*/ 200 h 248"/>
                  <a:gd name="T112" fmla="*/ 17 w 689"/>
                  <a:gd name="T113" fmla="*/ 186 h 248"/>
                  <a:gd name="T114" fmla="*/ 27 w 689"/>
                  <a:gd name="T115" fmla="*/ 17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89" h="248">
                    <a:moveTo>
                      <a:pt x="27" y="179"/>
                    </a:moveTo>
                    <a:lnTo>
                      <a:pt x="96" y="177"/>
                    </a:lnTo>
                    <a:lnTo>
                      <a:pt x="165" y="174"/>
                    </a:lnTo>
                    <a:lnTo>
                      <a:pt x="155" y="181"/>
                    </a:lnTo>
                    <a:lnTo>
                      <a:pt x="150" y="188"/>
                    </a:lnTo>
                    <a:lnTo>
                      <a:pt x="148" y="195"/>
                    </a:lnTo>
                    <a:lnTo>
                      <a:pt x="152" y="200"/>
                    </a:lnTo>
                    <a:lnTo>
                      <a:pt x="158" y="205"/>
                    </a:lnTo>
                    <a:lnTo>
                      <a:pt x="169" y="207"/>
                    </a:lnTo>
                    <a:lnTo>
                      <a:pt x="183" y="208"/>
                    </a:lnTo>
                    <a:lnTo>
                      <a:pt x="200" y="208"/>
                    </a:lnTo>
                    <a:lnTo>
                      <a:pt x="243" y="207"/>
                    </a:lnTo>
                    <a:lnTo>
                      <a:pt x="289" y="198"/>
                    </a:lnTo>
                    <a:lnTo>
                      <a:pt x="312" y="193"/>
                    </a:lnTo>
                    <a:lnTo>
                      <a:pt x="332" y="186"/>
                    </a:lnTo>
                    <a:lnTo>
                      <a:pt x="369" y="169"/>
                    </a:lnTo>
                    <a:lnTo>
                      <a:pt x="382" y="160"/>
                    </a:lnTo>
                    <a:lnTo>
                      <a:pt x="389" y="153"/>
                    </a:lnTo>
                    <a:lnTo>
                      <a:pt x="393" y="146"/>
                    </a:lnTo>
                    <a:lnTo>
                      <a:pt x="391" y="141"/>
                    </a:lnTo>
                    <a:lnTo>
                      <a:pt x="386" y="136"/>
                    </a:lnTo>
                    <a:lnTo>
                      <a:pt x="376" y="134"/>
                    </a:lnTo>
                    <a:lnTo>
                      <a:pt x="362" y="131"/>
                    </a:lnTo>
                    <a:lnTo>
                      <a:pt x="345" y="131"/>
                    </a:lnTo>
                    <a:lnTo>
                      <a:pt x="331" y="131"/>
                    </a:lnTo>
                    <a:lnTo>
                      <a:pt x="315" y="133"/>
                    </a:lnTo>
                    <a:lnTo>
                      <a:pt x="296" y="133"/>
                    </a:lnTo>
                    <a:lnTo>
                      <a:pt x="277" y="134"/>
                    </a:lnTo>
                    <a:lnTo>
                      <a:pt x="317" y="115"/>
                    </a:lnTo>
                    <a:lnTo>
                      <a:pt x="358" y="96"/>
                    </a:lnTo>
                    <a:lnTo>
                      <a:pt x="408" y="95"/>
                    </a:lnTo>
                    <a:lnTo>
                      <a:pt x="432" y="93"/>
                    </a:lnTo>
                    <a:lnTo>
                      <a:pt x="455" y="88"/>
                    </a:lnTo>
                    <a:lnTo>
                      <a:pt x="475" y="83"/>
                    </a:lnTo>
                    <a:lnTo>
                      <a:pt x="494" y="77"/>
                    </a:lnTo>
                    <a:lnTo>
                      <a:pt x="510" y="72"/>
                    </a:lnTo>
                    <a:lnTo>
                      <a:pt x="524" y="65"/>
                    </a:lnTo>
                    <a:lnTo>
                      <a:pt x="532" y="58"/>
                    </a:lnTo>
                    <a:lnTo>
                      <a:pt x="538" y="53"/>
                    </a:lnTo>
                    <a:lnTo>
                      <a:pt x="539" y="48"/>
                    </a:lnTo>
                    <a:lnTo>
                      <a:pt x="538" y="45"/>
                    </a:lnTo>
                    <a:lnTo>
                      <a:pt x="532" y="43"/>
                    </a:lnTo>
                    <a:lnTo>
                      <a:pt x="524" y="40"/>
                    </a:lnTo>
                    <a:lnTo>
                      <a:pt x="512" y="38"/>
                    </a:lnTo>
                    <a:lnTo>
                      <a:pt x="496" y="38"/>
                    </a:lnTo>
                    <a:lnTo>
                      <a:pt x="460" y="40"/>
                    </a:lnTo>
                    <a:lnTo>
                      <a:pt x="422" y="46"/>
                    </a:lnTo>
                    <a:lnTo>
                      <a:pt x="386" y="57"/>
                    </a:lnTo>
                    <a:lnTo>
                      <a:pt x="369" y="64"/>
                    </a:lnTo>
                    <a:lnTo>
                      <a:pt x="351" y="71"/>
                    </a:lnTo>
                    <a:lnTo>
                      <a:pt x="296" y="67"/>
                    </a:lnTo>
                    <a:lnTo>
                      <a:pt x="241" y="64"/>
                    </a:lnTo>
                    <a:lnTo>
                      <a:pt x="293" y="43"/>
                    </a:lnTo>
                    <a:lnTo>
                      <a:pt x="343" y="27"/>
                    </a:lnTo>
                    <a:lnTo>
                      <a:pt x="394" y="15"/>
                    </a:lnTo>
                    <a:lnTo>
                      <a:pt x="451" y="7"/>
                    </a:lnTo>
                    <a:lnTo>
                      <a:pt x="510" y="2"/>
                    </a:lnTo>
                    <a:lnTo>
                      <a:pt x="567" y="0"/>
                    </a:lnTo>
                    <a:lnTo>
                      <a:pt x="591" y="0"/>
                    </a:lnTo>
                    <a:lnTo>
                      <a:pt x="612" y="2"/>
                    </a:lnTo>
                    <a:lnTo>
                      <a:pt x="629" y="3"/>
                    </a:lnTo>
                    <a:lnTo>
                      <a:pt x="646" y="5"/>
                    </a:lnTo>
                    <a:lnTo>
                      <a:pt x="658" y="8"/>
                    </a:lnTo>
                    <a:lnTo>
                      <a:pt x="670" y="12"/>
                    </a:lnTo>
                    <a:lnTo>
                      <a:pt x="679" y="17"/>
                    </a:lnTo>
                    <a:lnTo>
                      <a:pt x="684" y="22"/>
                    </a:lnTo>
                    <a:lnTo>
                      <a:pt x="687" y="27"/>
                    </a:lnTo>
                    <a:lnTo>
                      <a:pt x="689" y="31"/>
                    </a:lnTo>
                    <a:lnTo>
                      <a:pt x="689" y="36"/>
                    </a:lnTo>
                    <a:lnTo>
                      <a:pt x="687" y="41"/>
                    </a:lnTo>
                    <a:lnTo>
                      <a:pt x="684" y="46"/>
                    </a:lnTo>
                    <a:lnTo>
                      <a:pt x="679" y="52"/>
                    </a:lnTo>
                    <a:lnTo>
                      <a:pt x="670" y="57"/>
                    </a:lnTo>
                    <a:lnTo>
                      <a:pt x="662" y="62"/>
                    </a:lnTo>
                    <a:lnTo>
                      <a:pt x="646" y="69"/>
                    </a:lnTo>
                    <a:lnTo>
                      <a:pt x="629" y="77"/>
                    </a:lnTo>
                    <a:lnTo>
                      <a:pt x="608" y="84"/>
                    </a:lnTo>
                    <a:lnTo>
                      <a:pt x="586" y="91"/>
                    </a:lnTo>
                    <a:lnTo>
                      <a:pt x="562" y="96"/>
                    </a:lnTo>
                    <a:lnTo>
                      <a:pt x="534" y="103"/>
                    </a:lnTo>
                    <a:lnTo>
                      <a:pt x="505" y="108"/>
                    </a:lnTo>
                    <a:lnTo>
                      <a:pt x="472" y="114"/>
                    </a:lnTo>
                    <a:lnTo>
                      <a:pt x="496" y="115"/>
                    </a:lnTo>
                    <a:lnTo>
                      <a:pt x="513" y="120"/>
                    </a:lnTo>
                    <a:lnTo>
                      <a:pt x="525" y="126"/>
                    </a:lnTo>
                    <a:lnTo>
                      <a:pt x="532" y="133"/>
                    </a:lnTo>
                    <a:lnTo>
                      <a:pt x="534" y="141"/>
                    </a:lnTo>
                    <a:lnTo>
                      <a:pt x="529" y="150"/>
                    </a:lnTo>
                    <a:lnTo>
                      <a:pt x="519" y="160"/>
                    </a:lnTo>
                    <a:lnTo>
                      <a:pt x="501" y="170"/>
                    </a:lnTo>
                    <a:lnTo>
                      <a:pt x="470" y="186"/>
                    </a:lnTo>
                    <a:lnTo>
                      <a:pt x="432" y="201"/>
                    </a:lnTo>
                    <a:lnTo>
                      <a:pt x="389" y="214"/>
                    </a:lnTo>
                    <a:lnTo>
                      <a:pt x="363" y="220"/>
                    </a:lnTo>
                    <a:lnTo>
                      <a:pt x="338" y="226"/>
                    </a:lnTo>
                    <a:lnTo>
                      <a:pt x="286" y="236"/>
                    </a:lnTo>
                    <a:lnTo>
                      <a:pt x="234" y="243"/>
                    </a:lnTo>
                    <a:lnTo>
                      <a:pt x="183" y="246"/>
                    </a:lnTo>
                    <a:lnTo>
                      <a:pt x="133" y="248"/>
                    </a:lnTo>
                    <a:lnTo>
                      <a:pt x="110" y="248"/>
                    </a:lnTo>
                    <a:lnTo>
                      <a:pt x="89" y="246"/>
                    </a:lnTo>
                    <a:lnTo>
                      <a:pt x="72" y="245"/>
                    </a:lnTo>
                    <a:lnTo>
                      <a:pt x="55" y="243"/>
                    </a:lnTo>
                    <a:lnTo>
                      <a:pt x="41" y="241"/>
                    </a:lnTo>
                    <a:lnTo>
                      <a:pt x="29" y="238"/>
                    </a:lnTo>
                    <a:lnTo>
                      <a:pt x="19" y="234"/>
                    </a:lnTo>
                    <a:lnTo>
                      <a:pt x="10" y="229"/>
                    </a:lnTo>
                    <a:lnTo>
                      <a:pt x="5" y="224"/>
                    </a:lnTo>
                    <a:lnTo>
                      <a:pt x="2" y="219"/>
                    </a:lnTo>
                    <a:lnTo>
                      <a:pt x="0" y="214"/>
                    </a:lnTo>
                    <a:lnTo>
                      <a:pt x="2" y="207"/>
                    </a:lnTo>
                    <a:lnTo>
                      <a:pt x="5" y="200"/>
                    </a:lnTo>
                    <a:lnTo>
                      <a:pt x="10" y="195"/>
                    </a:lnTo>
                    <a:lnTo>
                      <a:pt x="17" y="186"/>
                    </a:lnTo>
                    <a:lnTo>
                      <a:pt x="27" y="179"/>
                    </a:lnTo>
                    <a:lnTo>
                      <a:pt x="27" y="17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426" name="Freeform 946"/>
              <p:cNvSpPr>
                <a:spLocks noEditPoints="1"/>
              </p:cNvSpPr>
              <p:nvPr/>
            </p:nvSpPr>
            <p:spPr bwMode="auto">
              <a:xfrm>
                <a:off x="1812" y="3227"/>
                <a:ext cx="351" cy="124"/>
              </a:xfrm>
              <a:custGeom>
                <a:avLst/>
                <a:gdLst>
                  <a:gd name="T0" fmla="*/ 236 w 701"/>
                  <a:gd name="T1" fmla="*/ 103 h 248"/>
                  <a:gd name="T2" fmla="*/ 229 w 701"/>
                  <a:gd name="T3" fmla="*/ 84 h 248"/>
                  <a:gd name="T4" fmla="*/ 255 w 701"/>
                  <a:gd name="T5" fmla="*/ 62 h 248"/>
                  <a:gd name="T6" fmla="*/ 348 w 701"/>
                  <a:gd name="T7" fmla="*/ 27 h 248"/>
                  <a:gd name="T8" fmla="*/ 477 w 701"/>
                  <a:gd name="T9" fmla="*/ 3 h 248"/>
                  <a:gd name="T10" fmla="*/ 598 w 701"/>
                  <a:gd name="T11" fmla="*/ 0 h 248"/>
                  <a:gd name="T12" fmla="*/ 653 w 701"/>
                  <a:gd name="T13" fmla="*/ 3 h 248"/>
                  <a:gd name="T14" fmla="*/ 687 w 701"/>
                  <a:gd name="T15" fmla="*/ 14 h 248"/>
                  <a:gd name="T16" fmla="*/ 701 w 701"/>
                  <a:gd name="T17" fmla="*/ 27 h 248"/>
                  <a:gd name="T18" fmla="*/ 696 w 701"/>
                  <a:gd name="T19" fmla="*/ 43 h 248"/>
                  <a:gd name="T20" fmla="*/ 670 w 701"/>
                  <a:gd name="T21" fmla="*/ 62 h 248"/>
                  <a:gd name="T22" fmla="*/ 615 w 701"/>
                  <a:gd name="T23" fmla="*/ 86 h 248"/>
                  <a:gd name="T24" fmla="*/ 541 w 701"/>
                  <a:gd name="T25" fmla="*/ 105 h 248"/>
                  <a:gd name="T26" fmla="*/ 520 w 701"/>
                  <a:gd name="T27" fmla="*/ 122 h 248"/>
                  <a:gd name="T28" fmla="*/ 531 w 701"/>
                  <a:gd name="T29" fmla="*/ 145 h 248"/>
                  <a:gd name="T30" fmla="*/ 498 w 701"/>
                  <a:gd name="T31" fmla="*/ 172 h 248"/>
                  <a:gd name="T32" fmla="*/ 388 w 701"/>
                  <a:gd name="T33" fmla="*/ 215 h 248"/>
                  <a:gd name="T34" fmla="*/ 241 w 701"/>
                  <a:gd name="T35" fmla="*/ 243 h 248"/>
                  <a:gd name="T36" fmla="*/ 119 w 701"/>
                  <a:gd name="T37" fmla="*/ 248 h 248"/>
                  <a:gd name="T38" fmla="*/ 62 w 701"/>
                  <a:gd name="T39" fmla="*/ 245 h 248"/>
                  <a:gd name="T40" fmla="*/ 22 w 701"/>
                  <a:gd name="T41" fmla="*/ 234 h 248"/>
                  <a:gd name="T42" fmla="*/ 2 w 701"/>
                  <a:gd name="T43" fmla="*/ 219 h 248"/>
                  <a:gd name="T44" fmla="*/ 7 w 701"/>
                  <a:gd name="T45" fmla="*/ 200 h 248"/>
                  <a:gd name="T46" fmla="*/ 39 w 701"/>
                  <a:gd name="T47" fmla="*/ 174 h 248"/>
                  <a:gd name="T48" fmla="*/ 103 w 701"/>
                  <a:gd name="T49" fmla="*/ 146 h 248"/>
                  <a:gd name="T50" fmla="*/ 193 w 701"/>
                  <a:gd name="T51" fmla="*/ 124 h 248"/>
                  <a:gd name="T52" fmla="*/ 263 w 701"/>
                  <a:gd name="T53" fmla="*/ 112 h 248"/>
                  <a:gd name="T54" fmla="*/ 358 w 701"/>
                  <a:gd name="T55" fmla="*/ 79 h 248"/>
                  <a:gd name="T56" fmla="*/ 363 w 701"/>
                  <a:gd name="T57" fmla="*/ 91 h 248"/>
                  <a:gd name="T58" fmla="*/ 405 w 701"/>
                  <a:gd name="T59" fmla="*/ 95 h 248"/>
                  <a:gd name="T60" fmla="*/ 512 w 701"/>
                  <a:gd name="T61" fmla="*/ 79 h 248"/>
                  <a:gd name="T62" fmla="*/ 549 w 701"/>
                  <a:gd name="T63" fmla="*/ 58 h 248"/>
                  <a:gd name="T64" fmla="*/ 555 w 701"/>
                  <a:gd name="T65" fmla="*/ 45 h 248"/>
                  <a:gd name="T66" fmla="*/ 525 w 701"/>
                  <a:gd name="T67" fmla="*/ 36 h 248"/>
                  <a:gd name="T68" fmla="*/ 434 w 701"/>
                  <a:gd name="T69" fmla="*/ 45 h 248"/>
                  <a:gd name="T70" fmla="*/ 374 w 701"/>
                  <a:gd name="T71" fmla="*/ 65 h 248"/>
                  <a:gd name="T72" fmla="*/ 163 w 701"/>
                  <a:gd name="T73" fmla="*/ 179 h 248"/>
                  <a:gd name="T74" fmla="*/ 153 w 701"/>
                  <a:gd name="T75" fmla="*/ 200 h 248"/>
                  <a:gd name="T76" fmla="*/ 186 w 701"/>
                  <a:gd name="T77" fmla="*/ 210 h 248"/>
                  <a:gd name="T78" fmla="*/ 291 w 701"/>
                  <a:gd name="T79" fmla="*/ 200 h 248"/>
                  <a:gd name="T80" fmla="*/ 370 w 701"/>
                  <a:gd name="T81" fmla="*/ 170 h 248"/>
                  <a:gd name="T82" fmla="*/ 394 w 701"/>
                  <a:gd name="T83" fmla="*/ 148 h 248"/>
                  <a:gd name="T84" fmla="*/ 374 w 701"/>
                  <a:gd name="T85" fmla="*/ 136 h 248"/>
                  <a:gd name="T86" fmla="*/ 293 w 701"/>
                  <a:gd name="T87" fmla="*/ 136 h 248"/>
                  <a:gd name="T88" fmla="*/ 226 w 701"/>
                  <a:gd name="T89" fmla="*/ 150 h 248"/>
                  <a:gd name="T90" fmla="*/ 177 w 701"/>
                  <a:gd name="T91" fmla="*/ 17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1" h="248">
                    <a:moveTo>
                      <a:pt x="263" y="112"/>
                    </a:moveTo>
                    <a:lnTo>
                      <a:pt x="248" y="108"/>
                    </a:lnTo>
                    <a:lnTo>
                      <a:pt x="236" y="103"/>
                    </a:lnTo>
                    <a:lnTo>
                      <a:pt x="229" y="98"/>
                    </a:lnTo>
                    <a:lnTo>
                      <a:pt x="227" y="91"/>
                    </a:lnTo>
                    <a:lnTo>
                      <a:pt x="229" y="84"/>
                    </a:lnTo>
                    <a:lnTo>
                      <a:pt x="234" y="77"/>
                    </a:lnTo>
                    <a:lnTo>
                      <a:pt x="243" y="71"/>
                    </a:lnTo>
                    <a:lnTo>
                      <a:pt x="255" y="62"/>
                    </a:lnTo>
                    <a:lnTo>
                      <a:pt x="281" y="50"/>
                    </a:lnTo>
                    <a:lnTo>
                      <a:pt x="312" y="38"/>
                    </a:lnTo>
                    <a:lnTo>
                      <a:pt x="348" y="27"/>
                    </a:lnTo>
                    <a:lnTo>
                      <a:pt x="388" y="17"/>
                    </a:lnTo>
                    <a:lnTo>
                      <a:pt x="431" y="10"/>
                    </a:lnTo>
                    <a:lnTo>
                      <a:pt x="477" y="3"/>
                    </a:lnTo>
                    <a:lnTo>
                      <a:pt x="524" y="2"/>
                    </a:lnTo>
                    <a:lnTo>
                      <a:pt x="574" y="0"/>
                    </a:lnTo>
                    <a:lnTo>
                      <a:pt x="598" y="0"/>
                    </a:lnTo>
                    <a:lnTo>
                      <a:pt x="618" y="2"/>
                    </a:lnTo>
                    <a:lnTo>
                      <a:pt x="637" y="2"/>
                    </a:lnTo>
                    <a:lnTo>
                      <a:pt x="653" y="3"/>
                    </a:lnTo>
                    <a:lnTo>
                      <a:pt x="667" y="7"/>
                    </a:lnTo>
                    <a:lnTo>
                      <a:pt x="679" y="10"/>
                    </a:lnTo>
                    <a:lnTo>
                      <a:pt x="687" y="14"/>
                    </a:lnTo>
                    <a:lnTo>
                      <a:pt x="694" y="17"/>
                    </a:lnTo>
                    <a:lnTo>
                      <a:pt x="699" y="22"/>
                    </a:lnTo>
                    <a:lnTo>
                      <a:pt x="701" y="27"/>
                    </a:lnTo>
                    <a:lnTo>
                      <a:pt x="701" y="33"/>
                    </a:lnTo>
                    <a:lnTo>
                      <a:pt x="699" y="38"/>
                    </a:lnTo>
                    <a:lnTo>
                      <a:pt x="696" y="43"/>
                    </a:lnTo>
                    <a:lnTo>
                      <a:pt x="689" y="50"/>
                    </a:lnTo>
                    <a:lnTo>
                      <a:pt x="680" y="55"/>
                    </a:lnTo>
                    <a:lnTo>
                      <a:pt x="670" y="62"/>
                    </a:lnTo>
                    <a:lnTo>
                      <a:pt x="653" y="71"/>
                    </a:lnTo>
                    <a:lnTo>
                      <a:pt x="636" y="79"/>
                    </a:lnTo>
                    <a:lnTo>
                      <a:pt x="615" y="86"/>
                    </a:lnTo>
                    <a:lnTo>
                      <a:pt x="591" y="93"/>
                    </a:lnTo>
                    <a:lnTo>
                      <a:pt x="567" y="100"/>
                    </a:lnTo>
                    <a:lnTo>
                      <a:pt x="541" y="105"/>
                    </a:lnTo>
                    <a:lnTo>
                      <a:pt x="486" y="112"/>
                    </a:lnTo>
                    <a:lnTo>
                      <a:pt x="505" y="117"/>
                    </a:lnTo>
                    <a:lnTo>
                      <a:pt x="520" y="122"/>
                    </a:lnTo>
                    <a:lnTo>
                      <a:pt x="529" y="129"/>
                    </a:lnTo>
                    <a:lnTo>
                      <a:pt x="532" y="136"/>
                    </a:lnTo>
                    <a:lnTo>
                      <a:pt x="531" y="145"/>
                    </a:lnTo>
                    <a:lnTo>
                      <a:pt x="524" y="153"/>
                    </a:lnTo>
                    <a:lnTo>
                      <a:pt x="513" y="162"/>
                    </a:lnTo>
                    <a:lnTo>
                      <a:pt x="498" y="172"/>
                    </a:lnTo>
                    <a:lnTo>
                      <a:pt x="465" y="188"/>
                    </a:lnTo>
                    <a:lnTo>
                      <a:pt x="429" y="203"/>
                    </a:lnTo>
                    <a:lnTo>
                      <a:pt x="388" y="215"/>
                    </a:lnTo>
                    <a:lnTo>
                      <a:pt x="341" y="227"/>
                    </a:lnTo>
                    <a:lnTo>
                      <a:pt x="291" y="236"/>
                    </a:lnTo>
                    <a:lnTo>
                      <a:pt x="241" y="243"/>
                    </a:lnTo>
                    <a:lnTo>
                      <a:pt x="191" y="246"/>
                    </a:lnTo>
                    <a:lnTo>
                      <a:pt x="141" y="248"/>
                    </a:lnTo>
                    <a:lnTo>
                      <a:pt x="119" y="248"/>
                    </a:lnTo>
                    <a:lnTo>
                      <a:pt x="98" y="246"/>
                    </a:lnTo>
                    <a:lnTo>
                      <a:pt x="79" y="246"/>
                    </a:lnTo>
                    <a:lnTo>
                      <a:pt x="62" y="245"/>
                    </a:lnTo>
                    <a:lnTo>
                      <a:pt x="46" y="241"/>
                    </a:lnTo>
                    <a:lnTo>
                      <a:pt x="34" y="239"/>
                    </a:lnTo>
                    <a:lnTo>
                      <a:pt x="22" y="234"/>
                    </a:lnTo>
                    <a:lnTo>
                      <a:pt x="14" y="231"/>
                    </a:lnTo>
                    <a:lnTo>
                      <a:pt x="7" y="226"/>
                    </a:lnTo>
                    <a:lnTo>
                      <a:pt x="2" y="219"/>
                    </a:lnTo>
                    <a:lnTo>
                      <a:pt x="0" y="214"/>
                    </a:lnTo>
                    <a:lnTo>
                      <a:pt x="2" y="207"/>
                    </a:lnTo>
                    <a:lnTo>
                      <a:pt x="7" y="200"/>
                    </a:lnTo>
                    <a:lnTo>
                      <a:pt x="15" y="191"/>
                    </a:lnTo>
                    <a:lnTo>
                      <a:pt x="26" y="183"/>
                    </a:lnTo>
                    <a:lnTo>
                      <a:pt x="39" y="174"/>
                    </a:lnTo>
                    <a:lnTo>
                      <a:pt x="58" y="165"/>
                    </a:lnTo>
                    <a:lnTo>
                      <a:pt x="81" y="157"/>
                    </a:lnTo>
                    <a:lnTo>
                      <a:pt x="103" y="146"/>
                    </a:lnTo>
                    <a:lnTo>
                      <a:pt x="131" y="138"/>
                    </a:lnTo>
                    <a:lnTo>
                      <a:pt x="160" y="131"/>
                    </a:lnTo>
                    <a:lnTo>
                      <a:pt x="193" y="124"/>
                    </a:lnTo>
                    <a:lnTo>
                      <a:pt x="227" y="117"/>
                    </a:lnTo>
                    <a:lnTo>
                      <a:pt x="263" y="112"/>
                    </a:lnTo>
                    <a:lnTo>
                      <a:pt x="263" y="112"/>
                    </a:lnTo>
                    <a:close/>
                    <a:moveTo>
                      <a:pt x="374" y="65"/>
                    </a:moveTo>
                    <a:lnTo>
                      <a:pt x="363" y="72"/>
                    </a:lnTo>
                    <a:lnTo>
                      <a:pt x="358" y="79"/>
                    </a:lnTo>
                    <a:lnTo>
                      <a:pt x="356" y="84"/>
                    </a:lnTo>
                    <a:lnTo>
                      <a:pt x="358" y="88"/>
                    </a:lnTo>
                    <a:lnTo>
                      <a:pt x="363" y="91"/>
                    </a:lnTo>
                    <a:lnTo>
                      <a:pt x="374" y="93"/>
                    </a:lnTo>
                    <a:lnTo>
                      <a:pt x="388" y="95"/>
                    </a:lnTo>
                    <a:lnTo>
                      <a:pt x="405" y="95"/>
                    </a:lnTo>
                    <a:lnTo>
                      <a:pt x="443" y="93"/>
                    </a:lnTo>
                    <a:lnTo>
                      <a:pt x="479" y="88"/>
                    </a:lnTo>
                    <a:lnTo>
                      <a:pt x="512" y="79"/>
                    </a:lnTo>
                    <a:lnTo>
                      <a:pt x="527" y="72"/>
                    </a:lnTo>
                    <a:lnTo>
                      <a:pt x="539" y="65"/>
                    </a:lnTo>
                    <a:lnTo>
                      <a:pt x="549" y="58"/>
                    </a:lnTo>
                    <a:lnTo>
                      <a:pt x="555" y="53"/>
                    </a:lnTo>
                    <a:lnTo>
                      <a:pt x="556" y="48"/>
                    </a:lnTo>
                    <a:lnTo>
                      <a:pt x="555" y="45"/>
                    </a:lnTo>
                    <a:lnTo>
                      <a:pt x="549" y="41"/>
                    </a:lnTo>
                    <a:lnTo>
                      <a:pt x="539" y="38"/>
                    </a:lnTo>
                    <a:lnTo>
                      <a:pt x="525" y="36"/>
                    </a:lnTo>
                    <a:lnTo>
                      <a:pt x="508" y="36"/>
                    </a:lnTo>
                    <a:lnTo>
                      <a:pt x="472" y="38"/>
                    </a:lnTo>
                    <a:lnTo>
                      <a:pt x="434" y="45"/>
                    </a:lnTo>
                    <a:lnTo>
                      <a:pt x="401" y="53"/>
                    </a:lnTo>
                    <a:lnTo>
                      <a:pt x="386" y="58"/>
                    </a:lnTo>
                    <a:lnTo>
                      <a:pt x="374" y="65"/>
                    </a:lnTo>
                    <a:lnTo>
                      <a:pt x="374" y="65"/>
                    </a:lnTo>
                    <a:close/>
                    <a:moveTo>
                      <a:pt x="177" y="170"/>
                    </a:moveTo>
                    <a:lnTo>
                      <a:pt x="163" y="179"/>
                    </a:lnTo>
                    <a:lnTo>
                      <a:pt x="155" y="188"/>
                    </a:lnTo>
                    <a:lnTo>
                      <a:pt x="151" y="195"/>
                    </a:lnTo>
                    <a:lnTo>
                      <a:pt x="153" y="200"/>
                    </a:lnTo>
                    <a:lnTo>
                      <a:pt x="160" y="205"/>
                    </a:lnTo>
                    <a:lnTo>
                      <a:pt x="170" y="208"/>
                    </a:lnTo>
                    <a:lnTo>
                      <a:pt x="186" y="210"/>
                    </a:lnTo>
                    <a:lnTo>
                      <a:pt x="205" y="210"/>
                    </a:lnTo>
                    <a:lnTo>
                      <a:pt x="246" y="208"/>
                    </a:lnTo>
                    <a:lnTo>
                      <a:pt x="291" y="200"/>
                    </a:lnTo>
                    <a:lnTo>
                      <a:pt x="334" y="188"/>
                    </a:lnTo>
                    <a:lnTo>
                      <a:pt x="353" y="179"/>
                    </a:lnTo>
                    <a:lnTo>
                      <a:pt x="370" y="170"/>
                    </a:lnTo>
                    <a:lnTo>
                      <a:pt x="384" y="162"/>
                    </a:lnTo>
                    <a:lnTo>
                      <a:pt x="391" y="155"/>
                    </a:lnTo>
                    <a:lnTo>
                      <a:pt x="394" y="148"/>
                    </a:lnTo>
                    <a:lnTo>
                      <a:pt x="391" y="143"/>
                    </a:lnTo>
                    <a:lnTo>
                      <a:pt x="384" y="138"/>
                    </a:lnTo>
                    <a:lnTo>
                      <a:pt x="374" y="136"/>
                    </a:lnTo>
                    <a:lnTo>
                      <a:pt x="360" y="133"/>
                    </a:lnTo>
                    <a:lnTo>
                      <a:pt x="341" y="133"/>
                    </a:lnTo>
                    <a:lnTo>
                      <a:pt x="293" y="136"/>
                    </a:lnTo>
                    <a:lnTo>
                      <a:pt x="270" y="139"/>
                    </a:lnTo>
                    <a:lnTo>
                      <a:pt x="248" y="145"/>
                    </a:lnTo>
                    <a:lnTo>
                      <a:pt x="226" y="150"/>
                    </a:lnTo>
                    <a:lnTo>
                      <a:pt x="208" y="157"/>
                    </a:lnTo>
                    <a:lnTo>
                      <a:pt x="191" y="164"/>
                    </a:lnTo>
                    <a:lnTo>
                      <a:pt x="177" y="170"/>
                    </a:lnTo>
                    <a:lnTo>
                      <a:pt x="177" y="17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427" name="Freeform 947"/>
              <p:cNvSpPr>
                <a:spLocks/>
              </p:cNvSpPr>
              <p:nvPr/>
            </p:nvSpPr>
            <p:spPr bwMode="auto">
              <a:xfrm>
                <a:off x="2085" y="3229"/>
                <a:ext cx="386" cy="122"/>
              </a:xfrm>
              <a:custGeom>
                <a:avLst/>
                <a:gdLst>
                  <a:gd name="T0" fmla="*/ 164 w 772"/>
                  <a:gd name="T1" fmla="*/ 173 h 245"/>
                  <a:gd name="T2" fmla="*/ 152 w 772"/>
                  <a:gd name="T3" fmla="*/ 186 h 245"/>
                  <a:gd name="T4" fmla="*/ 154 w 772"/>
                  <a:gd name="T5" fmla="*/ 198 h 245"/>
                  <a:gd name="T6" fmla="*/ 173 w 772"/>
                  <a:gd name="T7" fmla="*/ 205 h 245"/>
                  <a:gd name="T8" fmla="*/ 202 w 772"/>
                  <a:gd name="T9" fmla="*/ 207 h 245"/>
                  <a:gd name="T10" fmla="*/ 269 w 772"/>
                  <a:gd name="T11" fmla="*/ 200 h 245"/>
                  <a:gd name="T12" fmla="*/ 317 w 772"/>
                  <a:gd name="T13" fmla="*/ 188 h 245"/>
                  <a:gd name="T14" fmla="*/ 385 w 772"/>
                  <a:gd name="T15" fmla="*/ 161 h 245"/>
                  <a:gd name="T16" fmla="*/ 414 w 772"/>
                  <a:gd name="T17" fmla="*/ 142 h 245"/>
                  <a:gd name="T18" fmla="*/ 416 w 772"/>
                  <a:gd name="T19" fmla="*/ 126 h 245"/>
                  <a:gd name="T20" fmla="*/ 398 w 772"/>
                  <a:gd name="T21" fmla="*/ 119 h 245"/>
                  <a:gd name="T22" fmla="*/ 362 w 772"/>
                  <a:gd name="T23" fmla="*/ 116 h 245"/>
                  <a:gd name="T24" fmla="*/ 300 w 772"/>
                  <a:gd name="T25" fmla="*/ 119 h 245"/>
                  <a:gd name="T26" fmla="*/ 228 w 772"/>
                  <a:gd name="T27" fmla="*/ 133 h 245"/>
                  <a:gd name="T28" fmla="*/ 276 w 772"/>
                  <a:gd name="T29" fmla="*/ 64 h 245"/>
                  <a:gd name="T30" fmla="*/ 772 w 772"/>
                  <a:gd name="T31" fmla="*/ 0 h 245"/>
                  <a:gd name="T32" fmla="*/ 695 w 772"/>
                  <a:gd name="T33" fmla="*/ 45 h 245"/>
                  <a:gd name="T34" fmla="*/ 445 w 772"/>
                  <a:gd name="T35" fmla="*/ 45 h 245"/>
                  <a:gd name="T36" fmla="*/ 350 w 772"/>
                  <a:gd name="T37" fmla="*/ 86 h 245"/>
                  <a:gd name="T38" fmla="*/ 405 w 772"/>
                  <a:gd name="T39" fmla="*/ 80 h 245"/>
                  <a:gd name="T40" fmla="*/ 476 w 772"/>
                  <a:gd name="T41" fmla="*/ 78 h 245"/>
                  <a:gd name="T42" fmla="*/ 512 w 772"/>
                  <a:gd name="T43" fmla="*/ 81 h 245"/>
                  <a:gd name="T44" fmla="*/ 540 w 772"/>
                  <a:gd name="T45" fmla="*/ 86 h 245"/>
                  <a:gd name="T46" fmla="*/ 559 w 772"/>
                  <a:gd name="T47" fmla="*/ 95 h 245"/>
                  <a:gd name="T48" fmla="*/ 569 w 772"/>
                  <a:gd name="T49" fmla="*/ 107 h 245"/>
                  <a:gd name="T50" fmla="*/ 569 w 772"/>
                  <a:gd name="T51" fmla="*/ 119 h 245"/>
                  <a:gd name="T52" fmla="*/ 559 w 772"/>
                  <a:gd name="T53" fmla="*/ 133 h 245"/>
                  <a:gd name="T54" fmla="*/ 538 w 772"/>
                  <a:gd name="T55" fmla="*/ 150 h 245"/>
                  <a:gd name="T56" fmla="*/ 495 w 772"/>
                  <a:gd name="T57" fmla="*/ 174 h 245"/>
                  <a:gd name="T58" fmla="*/ 423 w 772"/>
                  <a:gd name="T59" fmla="*/ 200 h 245"/>
                  <a:gd name="T60" fmla="*/ 317 w 772"/>
                  <a:gd name="T61" fmla="*/ 226 h 245"/>
                  <a:gd name="T62" fmla="*/ 195 w 772"/>
                  <a:gd name="T63" fmla="*/ 243 h 245"/>
                  <a:gd name="T64" fmla="*/ 112 w 772"/>
                  <a:gd name="T65" fmla="*/ 245 h 245"/>
                  <a:gd name="T66" fmla="*/ 73 w 772"/>
                  <a:gd name="T67" fmla="*/ 243 h 245"/>
                  <a:gd name="T68" fmla="*/ 42 w 772"/>
                  <a:gd name="T69" fmla="*/ 238 h 245"/>
                  <a:gd name="T70" fmla="*/ 19 w 772"/>
                  <a:gd name="T71" fmla="*/ 231 h 245"/>
                  <a:gd name="T72" fmla="*/ 5 w 772"/>
                  <a:gd name="T73" fmla="*/ 221 h 245"/>
                  <a:gd name="T74" fmla="*/ 0 w 772"/>
                  <a:gd name="T75" fmla="*/ 211 h 245"/>
                  <a:gd name="T76" fmla="*/ 4 w 772"/>
                  <a:gd name="T77" fmla="*/ 198 h 245"/>
                  <a:gd name="T78" fmla="*/ 16 w 772"/>
                  <a:gd name="T79" fmla="*/ 185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72" h="245">
                    <a:moveTo>
                      <a:pt x="24" y="178"/>
                    </a:moveTo>
                    <a:lnTo>
                      <a:pt x="164" y="173"/>
                    </a:lnTo>
                    <a:lnTo>
                      <a:pt x="155" y="180"/>
                    </a:lnTo>
                    <a:lnTo>
                      <a:pt x="152" y="186"/>
                    </a:lnTo>
                    <a:lnTo>
                      <a:pt x="150" y="193"/>
                    </a:lnTo>
                    <a:lnTo>
                      <a:pt x="154" y="198"/>
                    </a:lnTo>
                    <a:lnTo>
                      <a:pt x="162" y="202"/>
                    </a:lnTo>
                    <a:lnTo>
                      <a:pt x="173" y="205"/>
                    </a:lnTo>
                    <a:lnTo>
                      <a:pt x="185" y="207"/>
                    </a:lnTo>
                    <a:lnTo>
                      <a:pt x="202" y="207"/>
                    </a:lnTo>
                    <a:lnTo>
                      <a:pt x="245" y="204"/>
                    </a:lnTo>
                    <a:lnTo>
                      <a:pt x="269" y="200"/>
                    </a:lnTo>
                    <a:lnTo>
                      <a:pt x="293" y="195"/>
                    </a:lnTo>
                    <a:lnTo>
                      <a:pt x="317" y="188"/>
                    </a:lnTo>
                    <a:lnTo>
                      <a:pt x="342" y="181"/>
                    </a:lnTo>
                    <a:lnTo>
                      <a:pt x="385" y="161"/>
                    </a:lnTo>
                    <a:lnTo>
                      <a:pt x="402" y="150"/>
                    </a:lnTo>
                    <a:lnTo>
                      <a:pt x="414" y="142"/>
                    </a:lnTo>
                    <a:lnTo>
                      <a:pt x="417" y="133"/>
                    </a:lnTo>
                    <a:lnTo>
                      <a:pt x="416" y="126"/>
                    </a:lnTo>
                    <a:lnTo>
                      <a:pt x="409" y="121"/>
                    </a:lnTo>
                    <a:lnTo>
                      <a:pt x="398" y="119"/>
                    </a:lnTo>
                    <a:lnTo>
                      <a:pt x="383" y="116"/>
                    </a:lnTo>
                    <a:lnTo>
                      <a:pt x="362" y="116"/>
                    </a:lnTo>
                    <a:lnTo>
                      <a:pt x="331" y="117"/>
                    </a:lnTo>
                    <a:lnTo>
                      <a:pt x="300" y="119"/>
                    </a:lnTo>
                    <a:lnTo>
                      <a:pt x="266" y="126"/>
                    </a:lnTo>
                    <a:lnTo>
                      <a:pt x="228" y="133"/>
                    </a:lnTo>
                    <a:lnTo>
                      <a:pt x="130" y="128"/>
                    </a:lnTo>
                    <a:lnTo>
                      <a:pt x="276" y="64"/>
                    </a:lnTo>
                    <a:lnTo>
                      <a:pt x="421" y="0"/>
                    </a:lnTo>
                    <a:lnTo>
                      <a:pt x="772" y="0"/>
                    </a:lnTo>
                    <a:lnTo>
                      <a:pt x="734" y="23"/>
                    </a:lnTo>
                    <a:lnTo>
                      <a:pt x="695" y="45"/>
                    </a:lnTo>
                    <a:lnTo>
                      <a:pt x="569" y="45"/>
                    </a:lnTo>
                    <a:lnTo>
                      <a:pt x="445" y="45"/>
                    </a:lnTo>
                    <a:lnTo>
                      <a:pt x="398" y="66"/>
                    </a:lnTo>
                    <a:lnTo>
                      <a:pt x="350" y="86"/>
                    </a:lnTo>
                    <a:lnTo>
                      <a:pt x="379" y="83"/>
                    </a:lnTo>
                    <a:lnTo>
                      <a:pt x="405" y="80"/>
                    </a:lnTo>
                    <a:lnTo>
                      <a:pt x="455" y="78"/>
                    </a:lnTo>
                    <a:lnTo>
                      <a:pt x="476" y="78"/>
                    </a:lnTo>
                    <a:lnTo>
                      <a:pt x="495" y="80"/>
                    </a:lnTo>
                    <a:lnTo>
                      <a:pt x="512" y="81"/>
                    </a:lnTo>
                    <a:lnTo>
                      <a:pt x="528" y="83"/>
                    </a:lnTo>
                    <a:lnTo>
                      <a:pt x="540" y="86"/>
                    </a:lnTo>
                    <a:lnTo>
                      <a:pt x="550" y="90"/>
                    </a:lnTo>
                    <a:lnTo>
                      <a:pt x="559" y="95"/>
                    </a:lnTo>
                    <a:lnTo>
                      <a:pt x="566" y="100"/>
                    </a:lnTo>
                    <a:lnTo>
                      <a:pt x="569" y="107"/>
                    </a:lnTo>
                    <a:lnTo>
                      <a:pt x="571" y="112"/>
                    </a:lnTo>
                    <a:lnTo>
                      <a:pt x="569" y="119"/>
                    </a:lnTo>
                    <a:lnTo>
                      <a:pt x="566" y="126"/>
                    </a:lnTo>
                    <a:lnTo>
                      <a:pt x="559" y="133"/>
                    </a:lnTo>
                    <a:lnTo>
                      <a:pt x="550" y="142"/>
                    </a:lnTo>
                    <a:lnTo>
                      <a:pt x="538" y="150"/>
                    </a:lnTo>
                    <a:lnTo>
                      <a:pt x="522" y="159"/>
                    </a:lnTo>
                    <a:lnTo>
                      <a:pt x="495" y="174"/>
                    </a:lnTo>
                    <a:lnTo>
                      <a:pt x="460" y="188"/>
                    </a:lnTo>
                    <a:lnTo>
                      <a:pt x="423" y="200"/>
                    </a:lnTo>
                    <a:lnTo>
                      <a:pt x="379" y="212"/>
                    </a:lnTo>
                    <a:lnTo>
                      <a:pt x="317" y="226"/>
                    </a:lnTo>
                    <a:lnTo>
                      <a:pt x="255" y="236"/>
                    </a:lnTo>
                    <a:lnTo>
                      <a:pt x="195" y="243"/>
                    </a:lnTo>
                    <a:lnTo>
                      <a:pt x="135" y="245"/>
                    </a:lnTo>
                    <a:lnTo>
                      <a:pt x="112" y="245"/>
                    </a:lnTo>
                    <a:lnTo>
                      <a:pt x="92" y="243"/>
                    </a:lnTo>
                    <a:lnTo>
                      <a:pt x="73" y="243"/>
                    </a:lnTo>
                    <a:lnTo>
                      <a:pt x="55" y="242"/>
                    </a:lnTo>
                    <a:lnTo>
                      <a:pt x="42" y="238"/>
                    </a:lnTo>
                    <a:lnTo>
                      <a:pt x="30" y="235"/>
                    </a:lnTo>
                    <a:lnTo>
                      <a:pt x="19" y="231"/>
                    </a:lnTo>
                    <a:lnTo>
                      <a:pt x="11" y="226"/>
                    </a:lnTo>
                    <a:lnTo>
                      <a:pt x="5" y="221"/>
                    </a:lnTo>
                    <a:lnTo>
                      <a:pt x="0" y="216"/>
                    </a:lnTo>
                    <a:lnTo>
                      <a:pt x="0" y="211"/>
                    </a:lnTo>
                    <a:lnTo>
                      <a:pt x="0" y="205"/>
                    </a:lnTo>
                    <a:lnTo>
                      <a:pt x="4" y="198"/>
                    </a:lnTo>
                    <a:lnTo>
                      <a:pt x="7" y="192"/>
                    </a:lnTo>
                    <a:lnTo>
                      <a:pt x="16" y="185"/>
                    </a:lnTo>
                    <a:lnTo>
                      <a:pt x="24" y="17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428" name="Freeform 948"/>
              <p:cNvSpPr>
                <a:spLocks/>
              </p:cNvSpPr>
              <p:nvPr/>
            </p:nvSpPr>
            <p:spPr bwMode="auto">
              <a:xfrm>
                <a:off x="1524" y="3213"/>
                <a:ext cx="344" cy="124"/>
              </a:xfrm>
              <a:custGeom>
                <a:avLst/>
                <a:gdLst>
                  <a:gd name="T0" fmla="*/ 96 w 689"/>
                  <a:gd name="T1" fmla="*/ 178 h 248"/>
                  <a:gd name="T2" fmla="*/ 155 w 689"/>
                  <a:gd name="T3" fmla="*/ 181 h 248"/>
                  <a:gd name="T4" fmla="*/ 148 w 689"/>
                  <a:gd name="T5" fmla="*/ 195 h 248"/>
                  <a:gd name="T6" fmla="*/ 158 w 689"/>
                  <a:gd name="T7" fmla="*/ 205 h 248"/>
                  <a:gd name="T8" fmla="*/ 182 w 689"/>
                  <a:gd name="T9" fmla="*/ 209 h 248"/>
                  <a:gd name="T10" fmla="*/ 242 w 689"/>
                  <a:gd name="T11" fmla="*/ 207 h 248"/>
                  <a:gd name="T12" fmla="*/ 311 w 689"/>
                  <a:gd name="T13" fmla="*/ 193 h 248"/>
                  <a:gd name="T14" fmla="*/ 368 w 689"/>
                  <a:gd name="T15" fmla="*/ 169 h 248"/>
                  <a:gd name="T16" fmla="*/ 389 w 689"/>
                  <a:gd name="T17" fmla="*/ 154 h 248"/>
                  <a:gd name="T18" fmla="*/ 391 w 689"/>
                  <a:gd name="T19" fmla="*/ 142 h 248"/>
                  <a:gd name="T20" fmla="*/ 375 w 689"/>
                  <a:gd name="T21" fmla="*/ 135 h 248"/>
                  <a:gd name="T22" fmla="*/ 344 w 689"/>
                  <a:gd name="T23" fmla="*/ 131 h 248"/>
                  <a:gd name="T24" fmla="*/ 315 w 689"/>
                  <a:gd name="T25" fmla="*/ 133 h 248"/>
                  <a:gd name="T26" fmla="*/ 277 w 689"/>
                  <a:gd name="T27" fmla="*/ 135 h 248"/>
                  <a:gd name="T28" fmla="*/ 358 w 689"/>
                  <a:gd name="T29" fmla="*/ 97 h 248"/>
                  <a:gd name="T30" fmla="*/ 432 w 689"/>
                  <a:gd name="T31" fmla="*/ 93 h 248"/>
                  <a:gd name="T32" fmla="*/ 475 w 689"/>
                  <a:gd name="T33" fmla="*/ 83 h 248"/>
                  <a:gd name="T34" fmla="*/ 510 w 689"/>
                  <a:gd name="T35" fmla="*/ 73 h 248"/>
                  <a:gd name="T36" fmla="*/ 532 w 689"/>
                  <a:gd name="T37" fmla="*/ 59 h 248"/>
                  <a:gd name="T38" fmla="*/ 539 w 689"/>
                  <a:gd name="T39" fmla="*/ 49 h 248"/>
                  <a:gd name="T40" fmla="*/ 532 w 689"/>
                  <a:gd name="T41" fmla="*/ 43 h 248"/>
                  <a:gd name="T42" fmla="*/ 511 w 689"/>
                  <a:gd name="T43" fmla="*/ 38 h 248"/>
                  <a:gd name="T44" fmla="*/ 460 w 689"/>
                  <a:gd name="T45" fmla="*/ 40 h 248"/>
                  <a:gd name="T46" fmla="*/ 386 w 689"/>
                  <a:gd name="T47" fmla="*/ 57 h 248"/>
                  <a:gd name="T48" fmla="*/ 351 w 689"/>
                  <a:gd name="T49" fmla="*/ 71 h 248"/>
                  <a:gd name="T50" fmla="*/ 241 w 689"/>
                  <a:gd name="T51" fmla="*/ 64 h 248"/>
                  <a:gd name="T52" fmla="*/ 342 w 689"/>
                  <a:gd name="T53" fmla="*/ 28 h 248"/>
                  <a:gd name="T54" fmla="*/ 451 w 689"/>
                  <a:gd name="T55" fmla="*/ 7 h 248"/>
                  <a:gd name="T56" fmla="*/ 566 w 689"/>
                  <a:gd name="T57" fmla="*/ 0 h 248"/>
                  <a:gd name="T58" fmla="*/ 611 w 689"/>
                  <a:gd name="T59" fmla="*/ 2 h 248"/>
                  <a:gd name="T60" fmla="*/ 646 w 689"/>
                  <a:gd name="T61" fmla="*/ 5 h 248"/>
                  <a:gd name="T62" fmla="*/ 670 w 689"/>
                  <a:gd name="T63" fmla="*/ 12 h 248"/>
                  <a:gd name="T64" fmla="*/ 684 w 689"/>
                  <a:gd name="T65" fmla="*/ 23 h 248"/>
                  <a:gd name="T66" fmla="*/ 689 w 689"/>
                  <a:gd name="T67" fmla="*/ 31 h 248"/>
                  <a:gd name="T68" fmla="*/ 687 w 689"/>
                  <a:gd name="T69" fmla="*/ 42 h 248"/>
                  <a:gd name="T70" fmla="*/ 678 w 689"/>
                  <a:gd name="T71" fmla="*/ 52 h 248"/>
                  <a:gd name="T72" fmla="*/ 661 w 689"/>
                  <a:gd name="T73" fmla="*/ 62 h 248"/>
                  <a:gd name="T74" fmla="*/ 628 w 689"/>
                  <a:gd name="T75" fmla="*/ 78 h 248"/>
                  <a:gd name="T76" fmla="*/ 585 w 689"/>
                  <a:gd name="T77" fmla="*/ 92 h 248"/>
                  <a:gd name="T78" fmla="*/ 534 w 689"/>
                  <a:gd name="T79" fmla="*/ 104 h 248"/>
                  <a:gd name="T80" fmla="*/ 472 w 689"/>
                  <a:gd name="T81" fmla="*/ 114 h 248"/>
                  <a:gd name="T82" fmla="*/ 513 w 689"/>
                  <a:gd name="T83" fmla="*/ 121 h 248"/>
                  <a:gd name="T84" fmla="*/ 532 w 689"/>
                  <a:gd name="T85" fmla="*/ 133 h 248"/>
                  <a:gd name="T86" fmla="*/ 529 w 689"/>
                  <a:gd name="T87" fmla="*/ 150 h 248"/>
                  <a:gd name="T88" fmla="*/ 501 w 689"/>
                  <a:gd name="T89" fmla="*/ 171 h 248"/>
                  <a:gd name="T90" fmla="*/ 432 w 689"/>
                  <a:gd name="T91" fmla="*/ 202 h 248"/>
                  <a:gd name="T92" fmla="*/ 363 w 689"/>
                  <a:gd name="T93" fmla="*/ 221 h 248"/>
                  <a:gd name="T94" fmla="*/ 286 w 689"/>
                  <a:gd name="T95" fmla="*/ 236 h 248"/>
                  <a:gd name="T96" fmla="*/ 182 w 689"/>
                  <a:gd name="T97" fmla="*/ 247 h 248"/>
                  <a:gd name="T98" fmla="*/ 110 w 689"/>
                  <a:gd name="T99" fmla="*/ 248 h 248"/>
                  <a:gd name="T100" fmla="*/ 72 w 689"/>
                  <a:gd name="T101" fmla="*/ 245 h 248"/>
                  <a:gd name="T102" fmla="*/ 41 w 689"/>
                  <a:gd name="T103" fmla="*/ 242 h 248"/>
                  <a:gd name="T104" fmla="*/ 18 w 689"/>
                  <a:gd name="T105" fmla="*/ 235 h 248"/>
                  <a:gd name="T106" fmla="*/ 5 w 689"/>
                  <a:gd name="T107" fmla="*/ 224 h 248"/>
                  <a:gd name="T108" fmla="*/ 0 w 689"/>
                  <a:gd name="T109" fmla="*/ 214 h 248"/>
                  <a:gd name="T110" fmla="*/ 5 w 689"/>
                  <a:gd name="T111" fmla="*/ 200 h 248"/>
                  <a:gd name="T112" fmla="*/ 17 w 689"/>
                  <a:gd name="T113" fmla="*/ 186 h 248"/>
                  <a:gd name="T114" fmla="*/ 27 w 689"/>
                  <a:gd name="T115" fmla="*/ 18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89" h="248">
                    <a:moveTo>
                      <a:pt x="27" y="180"/>
                    </a:moveTo>
                    <a:lnTo>
                      <a:pt x="96" y="178"/>
                    </a:lnTo>
                    <a:lnTo>
                      <a:pt x="165" y="174"/>
                    </a:lnTo>
                    <a:lnTo>
                      <a:pt x="155" y="181"/>
                    </a:lnTo>
                    <a:lnTo>
                      <a:pt x="149" y="188"/>
                    </a:lnTo>
                    <a:lnTo>
                      <a:pt x="148" y="195"/>
                    </a:lnTo>
                    <a:lnTo>
                      <a:pt x="151" y="200"/>
                    </a:lnTo>
                    <a:lnTo>
                      <a:pt x="158" y="205"/>
                    </a:lnTo>
                    <a:lnTo>
                      <a:pt x="168" y="207"/>
                    </a:lnTo>
                    <a:lnTo>
                      <a:pt x="182" y="209"/>
                    </a:lnTo>
                    <a:lnTo>
                      <a:pt x="199" y="209"/>
                    </a:lnTo>
                    <a:lnTo>
                      <a:pt x="242" y="207"/>
                    </a:lnTo>
                    <a:lnTo>
                      <a:pt x="289" y="198"/>
                    </a:lnTo>
                    <a:lnTo>
                      <a:pt x="311" y="193"/>
                    </a:lnTo>
                    <a:lnTo>
                      <a:pt x="332" y="186"/>
                    </a:lnTo>
                    <a:lnTo>
                      <a:pt x="368" y="169"/>
                    </a:lnTo>
                    <a:lnTo>
                      <a:pt x="382" y="161"/>
                    </a:lnTo>
                    <a:lnTo>
                      <a:pt x="389" y="154"/>
                    </a:lnTo>
                    <a:lnTo>
                      <a:pt x="392" y="147"/>
                    </a:lnTo>
                    <a:lnTo>
                      <a:pt x="391" y="142"/>
                    </a:lnTo>
                    <a:lnTo>
                      <a:pt x="386" y="136"/>
                    </a:lnTo>
                    <a:lnTo>
                      <a:pt x="375" y="135"/>
                    </a:lnTo>
                    <a:lnTo>
                      <a:pt x="361" y="131"/>
                    </a:lnTo>
                    <a:lnTo>
                      <a:pt x="344" y="131"/>
                    </a:lnTo>
                    <a:lnTo>
                      <a:pt x="330" y="131"/>
                    </a:lnTo>
                    <a:lnTo>
                      <a:pt x="315" y="133"/>
                    </a:lnTo>
                    <a:lnTo>
                      <a:pt x="296" y="133"/>
                    </a:lnTo>
                    <a:lnTo>
                      <a:pt x="277" y="135"/>
                    </a:lnTo>
                    <a:lnTo>
                      <a:pt x="317" y="116"/>
                    </a:lnTo>
                    <a:lnTo>
                      <a:pt x="358" y="97"/>
                    </a:lnTo>
                    <a:lnTo>
                      <a:pt x="408" y="95"/>
                    </a:lnTo>
                    <a:lnTo>
                      <a:pt x="432" y="93"/>
                    </a:lnTo>
                    <a:lnTo>
                      <a:pt x="454" y="88"/>
                    </a:lnTo>
                    <a:lnTo>
                      <a:pt x="475" y="83"/>
                    </a:lnTo>
                    <a:lnTo>
                      <a:pt x="494" y="78"/>
                    </a:lnTo>
                    <a:lnTo>
                      <a:pt x="510" y="73"/>
                    </a:lnTo>
                    <a:lnTo>
                      <a:pt x="523" y="66"/>
                    </a:lnTo>
                    <a:lnTo>
                      <a:pt x="532" y="59"/>
                    </a:lnTo>
                    <a:lnTo>
                      <a:pt x="537" y="54"/>
                    </a:lnTo>
                    <a:lnTo>
                      <a:pt x="539" y="49"/>
                    </a:lnTo>
                    <a:lnTo>
                      <a:pt x="537" y="45"/>
                    </a:lnTo>
                    <a:lnTo>
                      <a:pt x="532" y="43"/>
                    </a:lnTo>
                    <a:lnTo>
                      <a:pt x="523" y="40"/>
                    </a:lnTo>
                    <a:lnTo>
                      <a:pt x="511" y="38"/>
                    </a:lnTo>
                    <a:lnTo>
                      <a:pt x="496" y="38"/>
                    </a:lnTo>
                    <a:lnTo>
                      <a:pt x="460" y="40"/>
                    </a:lnTo>
                    <a:lnTo>
                      <a:pt x="422" y="47"/>
                    </a:lnTo>
                    <a:lnTo>
                      <a:pt x="386" y="57"/>
                    </a:lnTo>
                    <a:lnTo>
                      <a:pt x="368" y="64"/>
                    </a:lnTo>
                    <a:lnTo>
                      <a:pt x="351" y="71"/>
                    </a:lnTo>
                    <a:lnTo>
                      <a:pt x="296" y="68"/>
                    </a:lnTo>
                    <a:lnTo>
                      <a:pt x="241" y="64"/>
                    </a:lnTo>
                    <a:lnTo>
                      <a:pt x="292" y="43"/>
                    </a:lnTo>
                    <a:lnTo>
                      <a:pt x="342" y="28"/>
                    </a:lnTo>
                    <a:lnTo>
                      <a:pt x="394" y="16"/>
                    </a:lnTo>
                    <a:lnTo>
                      <a:pt x="451" y="7"/>
                    </a:lnTo>
                    <a:lnTo>
                      <a:pt x="510" y="2"/>
                    </a:lnTo>
                    <a:lnTo>
                      <a:pt x="566" y="0"/>
                    </a:lnTo>
                    <a:lnTo>
                      <a:pt x="591" y="0"/>
                    </a:lnTo>
                    <a:lnTo>
                      <a:pt x="611" y="2"/>
                    </a:lnTo>
                    <a:lnTo>
                      <a:pt x="628" y="4"/>
                    </a:lnTo>
                    <a:lnTo>
                      <a:pt x="646" y="5"/>
                    </a:lnTo>
                    <a:lnTo>
                      <a:pt x="658" y="9"/>
                    </a:lnTo>
                    <a:lnTo>
                      <a:pt x="670" y="12"/>
                    </a:lnTo>
                    <a:lnTo>
                      <a:pt x="678" y="18"/>
                    </a:lnTo>
                    <a:lnTo>
                      <a:pt x="684" y="23"/>
                    </a:lnTo>
                    <a:lnTo>
                      <a:pt x="687" y="28"/>
                    </a:lnTo>
                    <a:lnTo>
                      <a:pt x="689" y="31"/>
                    </a:lnTo>
                    <a:lnTo>
                      <a:pt x="689" y="36"/>
                    </a:lnTo>
                    <a:lnTo>
                      <a:pt x="687" y="42"/>
                    </a:lnTo>
                    <a:lnTo>
                      <a:pt x="684" y="47"/>
                    </a:lnTo>
                    <a:lnTo>
                      <a:pt x="678" y="52"/>
                    </a:lnTo>
                    <a:lnTo>
                      <a:pt x="670" y="57"/>
                    </a:lnTo>
                    <a:lnTo>
                      <a:pt x="661" y="62"/>
                    </a:lnTo>
                    <a:lnTo>
                      <a:pt x="646" y="69"/>
                    </a:lnTo>
                    <a:lnTo>
                      <a:pt x="628" y="78"/>
                    </a:lnTo>
                    <a:lnTo>
                      <a:pt x="608" y="85"/>
                    </a:lnTo>
                    <a:lnTo>
                      <a:pt x="585" y="92"/>
                    </a:lnTo>
                    <a:lnTo>
                      <a:pt x="561" y="97"/>
                    </a:lnTo>
                    <a:lnTo>
                      <a:pt x="534" y="104"/>
                    </a:lnTo>
                    <a:lnTo>
                      <a:pt x="504" y="109"/>
                    </a:lnTo>
                    <a:lnTo>
                      <a:pt x="472" y="114"/>
                    </a:lnTo>
                    <a:lnTo>
                      <a:pt x="496" y="116"/>
                    </a:lnTo>
                    <a:lnTo>
                      <a:pt x="513" y="121"/>
                    </a:lnTo>
                    <a:lnTo>
                      <a:pt x="525" y="126"/>
                    </a:lnTo>
                    <a:lnTo>
                      <a:pt x="532" y="133"/>
                    </a:lnTo>
                    <a:lnTo>
                      <a:pt x="534" y="142"/>
                    </a:lnTo>
                    <a:lnTo>
                      <a:pt x="529" y="150"/>
                    </a:lnTo>
                    <a:lnTo>
                      <a:pt x="518" y="161"/>
                    </a:lnTo>
                    <a:lnTo>
                      <a:pt x="501" y="171"/>
                    </a:lnTo>
                    <a:lnTo>
                      <a:pt x="470" y="186"/>
                    </a:lnTo>
                    <a:lnTo>
                      <a:pt x="432" y="202"/>
                    </a:lnTo>
                    <a:lnTo>
                      <a:pt x="389" y="214"/>
                    </a:lnTo>
                    <a:lnTo>
                      <a:pt x="363" y="221"/>
                    </a:lnTo>
                    <a:lnTo>
                      <a:pt x="337" y="226"/>
                    </a:lnTo>
                    <a:lnTo>
                      <a:pt x="286" y="236"/>
                    </a:lnTo>
                    <a:lnTo>
                      <a:pt x="234" y="243"/>
                    </a:lnTo>
                    <a:lnTo>
                      <a:pt x="182" y="247"/>
                    </a:lnTo>
                    <a:lnTo>
                      <a:pt x="132" y="248"/>
                    </a:lnTo>
                    <a:lnTo>
                      <a:pt x="110" y="248"/>
                    </a:lnTo>
                    <a:lnTo>
                      <a:pt x="89" y="247"/>
                    </a:lnTo>
                    <a:lnTo>
                      <a:pt x="72" y="245"/>
                    </a:lnTo>
                    <a:lnTo>
                      <a:pt x="55" y="243"/>
                    </a:lnTo>
                    <a:lnTo>
                      <a:pt x="41" y="242"/>
                    </a:lnTo>
                    <a:lnTo>
                      <a:pt x="29" y="238"/>
                    </a:lnTo>
                    <a:lnTo>
                      <a:pt x="18" y="235"/>
                    </a:lnTo>
                    <a:lnTo>
                      <a:pt x="10" y="229"/>
                    </a:lnTo>
                    <a:lnTo>
                      <a:pt x="5" y="224"/>
                    </a:lnTo>
                    <a:lnTo>
                      <a:pt x="1" y="219"/>
                    </a:lnTo>
                    <a:lnTo>
                      <a:pt x="0" y="214"/>
                    </a:lnTo>
                    <a:lnTo>
                      <a:pt x="1" y="207"/>
                    </a:lnTo>
                    <a:lnTo>
                      <a:pt x="5" y="200"/>
                    </a:lnTo>
                    <a:lnTo>
                      <a:pt x="10" y="195"/>
                    </a:lnTo>
                    <a:lnTo>
                      <a:pt x="17" y="186"/>
                    </a:lnTo>
                    <a:lnTo>
                      <a:pt x="27" y="180"/>
                    </a:lnTo>
                    <a:lnTo>
                      <a:pt x="27" y="18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429" name="Freeform 949"/>
              <p:cNvSpPr>
                <a:spLocks noEditPoints="1"/>
              </p:cNvSpPr>
              <p:nvPr/>
            </p:nvSpPr>
            <p:spPr bwMode="auto">
              <a:xfrm>
                <a:off x="1792" y="3213"/>
                <a:ext cx="350" cy="124"/>
              </a:xfrm>
              <a:custGeom>
                <a:avLst/>
                <a:gdLst>
                  <a:gd name="T0" fmla="*/ 237 w 702"/>
                  <a:gd name="T1" fmla="*/ 104 h 248"/>
                  <a:gd name="T2" fmla="*/ 230 w 702"/>
                  <a:gd name="T3" fmla="*/ 85 h 248"/>
                  <a:gd name="T4" fmla="*/ 255 w 702"/>
                  <a:gd name="T5" fmla="*/ 62 h 248"/>
                  <a:gd name="T6" fmla="*/ 349 w 702"/>
                  <a:gd name="T7" fmla="*/ 28 h 248"/>
                  <a:gd name="T8" fmla="*/ 478 w 702"/>
                  <a:gd name="T9" fmla="*/ 4 h 248"/>
                  <a:gd name="T10" fmla="*/ 598 w 702"/>
                  <a:gd name="T11" fmla="*/ 0 h 248"/>
                  <a:gd name="T12" fmla="*/ 654 w 702"/>
                  <a:gd name="T13" fmla="*/ 4 h 248"/>
                  <a:gd name="T14" fmla="*/ 688 w 702"/>
                  <a:gd name="T15" fmla="*/ 14 h 248"/>
                  <a:gd name="T16" fmla="*/ 702 w 702"/>
                  <a:gd name="T17" fmla="*/ 28 h 248"/>
                  <a:gd name="T18" fmla="*/ 697 w 702"/>
                  <a:gd name="T19" fmla="*/ 43 h 248"/>
                  <a:gd name="T20" fmla="*/ 671 w 702"/>
                  <a:gd name="T21" fmla="*/ 62 h 248"/>
                  <a:gd name="T22" fmla="*/ 616 w 702"/>
                  <a:gd name="T23" fmla="*/ 86 h 248"/>
                  <a:gd name="T24" fmla="*/ 542 w 702"/>
                  <a:gd name="T25" fmla="*/ 105 h 248"/>
                  <a:gd name="T26" fmla="*/ 521 w 702"/>
                  <a:gd name="T27" fmla="*/ 123 h 248"/>
                  <a:gd name="T28" fmla="*/ 531 w 702"/>
                  <a:gd name="T29" fmla="*/ 145 h 248"/>
                  <a:gd name="T30" fmla="*/ 498 w 702"/>
                  <a:gd name="T31" fmla="*/ 173 h 248"/>
                  <a:gd name="T32" fmla="*/ 388 w 702"/>
                  <a:gd name="T33" fmla="*/ 216 h 248"/>
                  <a:gd name="T34" fmla="*/ 242 w 702"/>
                  <a:gd name="T35" fmla="*/ 243 h 248"/>
                  <a:gd name="T36" fmla="*/ 119 w 702"/>
                  <a:gd name="T37" fmla="*/ 248 h 248"/>
                  <a:gd name="T38" fmla="*/ 62 w 702"/>
                  <a:gd name="T39" fmla="*/ 245 h 248"/>
                  <a:gd name="T40" fmla="*/ 23 w 702"/>
                  <a:gd name="T41" fmla="*/ 235 h 248"/>
                  <a:gd name="T42" fmla="*/ 2 w 702"/>
                  <a:gd name="T43" fmla="*/ 219 h 248"/>
                  <a:gd name="T44" fmla="*/ 7 w 702"/>
                  <a:gd name="T45" fmla="*/ 200 h 248"/>
                  <a:gd name="T46" fmla="*/ 40 w 702"/>
                  <a:gd name="T47" fmla="*/ 174 h 248"/>
                  <a:gd name="T48" fmla="*/ 104 w 702"/>
                  <a:gd name="T49" fmla="*/ 147 h 248"/>
                  <a:gd name="T50" fmla="*/ 193 w 702"/>
                  <a:gd name="T51" fmla="*/ 124 h 248"/>
                  <a:gd name="T52" fmla="*/ 264 w 702"/>
                  <a:gd name="T53" fmla="*/ 112 h 248"/>
                  <a:gd name="T54" fmla="*/ 359 w 702"/>
                  <a:gd name="T55" fmla="*/ 80 h 248"/>
                  <a:gd name="T56" fmla="*/ 364 w 702"/>
                  <a:gd name="T57" fmla="*/ 92 h 248"/>
                  <a:gd name="T58" fmla="*/ 405 w 702"/>
                  <a:gd name="T59" fmla="*/ 95 h 248"/>
                  <a:gd name="T60" fmla="*/ 512 w 702"/>
                  <a:gd name="T61" fmla="*/ 80 h 248"/>
                  <a:gd name="T62" fmla="*/ 550 w 702"/>
                  <a:gd name="T63" fmla="*/ 59 h 248"/>
                  <a:gd name="T64" fmla="*/ 555 w 702"/>
                  <a:gd name="T65" fmla="*/ 45 h 248"/>
                  <a:gd name="T66" fmla="*/ 526 w 702"/>
                  <a:gd name="T67" fmla="*/ 36 h 248"/>
                  <a:gd name="T68" fmla="*/ 435 w 702"/>
                  <a:gd name="T69" fmla="*/ 45 h 248"/>
                  <a:gd name="T70" fmla="*/ 374 w 702"/>
                  <a:gd name="T71" fmla="*/ 66 h 248"/>
                  <a:gd name="T72" fmla="*/ 164 w 702"/>
                  <a:gd name="T73" fmla="*/ 180 h 248"/>
                  <a:gd name="T74" fmla="*/ 154 w 702"/>
                  <a:gd name="T75" fmla="*/ 200 h 248"/>
                  <a:gd name="T76" fmla="*/ 187 w 702"/>
                  <a:gd name="T77" fmla="*/ 211 h 248"/>
                  <a:gd name="T78" fmla="*/ 292 w 702"/>
                  <a:gd name="T79" fmla="*/ 200 h 248"/>
                  <a:gd name="T80" fmla="*/ 371 w 702"/>
                  <a:gd name="T81" fmla="*/ 171 h 248"/>
                  <a:gd name="T82" fmla="*/ 395 w 702"/>
                  <a:gd name="T83" fmla="*/ 148 h 248"/>
                  <a:gd name="T84" fmla="*/ 374 w 702"/>
                  <a:gd name="T85" fmla="*/ 136 h 248"/>
                  <a:gd name="T86" fmla="*/ 293 w 702"/>
                  <a:gd name="T87" fmla="*/ 136 h 248"/>
                  <a:gd name="T88" fmla="*/ 226 w 702"/>
                  <a:gd name="T89" fmla="*/ 150 h 248"/>
                  <a:gd name="T90" fmla="*/ 178 w 702"/>
                  <a:gd name="T91" fmla="*/ 171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2" h="248">
                    <a:moveTo>
                      <a:pt x="264" y="112"/>
                    </a:moveTo>
                    <a:lnTo>
                      <a:pt x="249" y="109"/>
                    </a:lnTo>
                    <a:lnTo>
                      <a:pt x="237" y="104"/>
                    </a:lnTo>
                    <a:lnTo>
                      <a:pt x="230" y="99"/>
                    </a:lnTo>
                    <a:lnTo>
                      <a:pt x="228" y="92"/>
                    </a:lnTo>
                    <a:lnTo>
                      <a:pt x="230" y="85"/>
                    </a:lnTo>
                    <a:lnTo>
                      <a:pt x="235" y="78"/>
                    </a:lnTo>
                    <a:lnTo>
                      <a:pt x="243" y="71"/>
                    </a:lnTo>
                    <a:lnTo>
                      <a:pt x="255" y="62"/>
                    </a:lnTo>
                    <a:lnTo>
                      <a:pt x="281" y="50"/>
                    </a:lnTo>
                    <a:lnTo>
                      <a:pt x="312" y="38"/>
                    </a:lnTo>
                    <a:lnTo>
                      <a:pt x="349" y="28"/>
                    </a:lnTo>
                    <a:lnTo>
                      <a:pt x="388" y="18"/>
                    </a:lnTo>
                    <a:lnTo>
                      <a:pt x="431" y="11"/>
                    </a:lnTo>
                    <a:lnTo>
                      <a:pt x="478" y="4"/>
                    </a:lnTo>
                    <a:lnTo>
                      <a:pt x="524" y="2"/>
                    </a:lnTo>
                    <a:lnTo>
                      <a:pt x="574" y="0"/>
                    </a:lnTo>
                    <a:lnTo>
                      <a:pt x="598" y="0"/>
                    </a:lnTo>
                    <a:lnTo>
                      <a:pt x="619" y="2"/>
                    </a:lnTo>
                    <a:lnTo>
                      <a:pt x="638" y="2"/>
                    </a:lnTo>
                    <a:lnTo>
                      <a:pt x="654" y="4"/>
                    </a:lnTo>
                    <a:lnTo>
                      <a:pt x="667" y="7"/>
                    </a:lnTo>
                    <a:lnTo>
                      <a:pt x="679" y="11"/>
                    </a:lnTo>
                    <a:lnTo>
                      <a:pt x="688" y="14"/>
                    </a:lnTo>
                    <a:lnTo>
                      <a:pt x="695" y="18"/>
                    </a:lnTo>
                    <a:lnTo>
                      <a:pt x="700" y="23"/>
                    </a:lnTo>
                    <a:lnTo>
                      <a:pt x="702" y="28"/>
                    </a:lnTo>
                    <a:lnTo>
                      <a:pt x="702" y="33"/>
                    </a:lnTo>
                    <a:lnTo>
                      <a:pt x="700" y="38"/>
                    </a:lnTo>
                    <a:lnTo>
                      <a:pt x="697" y="43"/>
                    </a:lnTo>
                    <a:lnTo>
                      <a:pt x="690" y="50"/>
                    </a:lnTo>
                    <a:lnTo>
                      <a:pt x="681" y="55"/>
                    </a:lnTo>
                    <a:lnTo>
                      <a:pt x="671" y="62"/>
                    </a:lnTo>
                    <a:lnTo>
                      <a:pt x="654" y="71"/>
                    </a:lnTo>
                    <a:lnTo>
                      <a:pt x="636" y="80"/>
                    </a:lnTo>
                    <a:lnTo>
                      <a:pt x="616" y="86"/>
                    </a:lnTo>
                    <a:lnTo>
                      <a:pt x="591" y="93"/>
                    </a:lnTo>
                    <a:lnTo>
                      <a:pt x="567" y="100"/>
                    </a:lnTo>
                    <a:lnTo>
                      <a:pt x="542" y="105"/>
                    </a:lnTo>
                    <a:lnTo>
                      <a:pt x="486" y="112"/>
                    </a:lnTo>
                    <a:lnTo>
                      <a:pt x="505" y="117"/>
                    </a:lnTo>
                    <a:lnTo>
                      <a:pt x="521" y="123"/>
                    </a:lnTo>
                    <a:lnTo>
                      <a:pt x="529" y="130"/>
                    </a:lnTo>
                    <a:lnTo>
                      <a:pt x="533" y="136"/>
                    </a:lnTo>
                    <a:lnTo>
                      <a:pt x="531" y="145"/>
                    </a:lnTo>
                    <a:lnTo>
                      <a:pt x="524" y="154"/>
                    </a:lnTo>
                    <a:lnTo>
                      <a:pt x="514" y="162"/>
                    </a:lnTo>
                    <a:lnTo>
                      <a:pt x="498" y="173"/>
                    </a:lnTo>
                    <a:lnTo>
                      <a:pt x="466" y="188"/>
                    </a:lnTo>
                    <a:lnTo>
                      <a:pt x="430" y="204"/>
                    </a:lnTo>
                    <a:lnTo>
                      <a:pt x="388" y="216"/>
                    </a:lnTo>
                    <a:lnTo>
                      <a:pt x="342" y="228"/>
                    </a:lnTo>
                    <a:lnTo>
                      <a:pt x="292" y="236"/>
                    </a:lnTo>
                    <a:lnTo>
                      <a:pt x="242" y="243"/>
                    </a:lnTo>
                    <a:lnTo>
                      <a:pt x="192" y="247"/>
                    </a:lnTo>
                    <a:lnTo>
                      <a:pt x="142" y="248"/>
                    </a:lnTo>
                    <a:lnTo>
                      <a:pt x="119" y="248"/>
                    </a:lnTo>
                    <a:lnTo>
                      <a:pt x="99" y="247"/>
                    </a:lnTo>
                    <a:lnTo>
                      <a:pt x="80" y="247"/>
                    </a:lnTo>
                    <a:lnTo>
                      <a:pt x="62" y="245"/>
                    </a:lnTo>
                    <a:lnTo>
                      <a:pt x="47" y="242"/>
                    </a:lnTo>
                    <a:lnTo>
                      <a:pt x="35" y="240"/>
                    </a:lnTo>
                    <a:lnTo>
                      <a:pt x="23" y="235"/>
                    </a:lnTo>
                    <a:lnTo>
                      <a:pt x="14" y="231"/>
                    </a:lnTo>
                    <a:lnTo>
                      <a:pt x="7" y="226"/>
                    </a:lnTo>
                    <a:lnTo>
                      <a:pt x="2" y="219"/>
                    </a:lnTo>
                    <a:lnTo>
                      <a:pt x="0" y="214"/>
                    </a:lnTo>
                    <a:lnTo>
                      <a:pt x="2" y="207"/>
                    </a:lnTo>
                    <a:lnTo>
                      <a:pt x="7" y="200"/>
                    </a:lnTo>
                    <a:lnTo>
                      <a:pt x="16" y="192"/>
                    </a:lnTo>
                    <a:lnTo>
                      <a:pt x="26" y="183"/>
                    </a:lnTo>
                    <a:lnTo>
                      <a:pt x="40" y="174"/>
                    </a:lnTo>
                    <a:lnTo>
                      <a:pt x="59" y="166"/>
                    </a:lnTo>
                    <a:lnTo>
                      <a:pt x="81" y="157"/>
                    </a:lnTo>
                    <a:lnTo>
                      <a:pt x="104" y="147"/>
                    </a:lnTo>
                    <a:lnTo>
                      <a:pt x="131" y="138"/>
                    </a:lnTo>
                    <a:lnTo>
                      <a:pt x="161" y="131"/>
                    </a:lnTo>
                    <a:lnTo>
                      <a:pt x="193" y="124"/>
                    </a:lnTo>
                    <a:lnTo>
                      <a:pt x="228" y="117"/>
                    </a:lnTo>
                    <a:lnTo>
                      <a:pt x="264" y="112"/>
                    </a:lnTo>
                    <a:lnTo>
                      <a:pt x="264" y="112"/>
                    </a:lnTo>
                    <a:close/>
                    <a:moveTo>
                      <a:pt x="374" y="66"/>
                    </a:moveTo>
                    <a:lnTo>
                      <a:pt x="364" y="73"/>
                    </a:lnTo>
                    <a:lnTo>
                      <a:pt x="359" y="80"/>
                    </a:lnTo>
                    <a:lnTo>
                      <a:pt x="357" y="85"/>
                    </a:lnTo>
                    <a:lnTo>
                      <a:pt x="359" y="88"/>
                    </a:lnTo>
                    <a:lnTo>
                      <a:pt x="364" y="92"/>
                    </a:lnTo>
                    <a:lnTo>
                      <a:pt x="374" y="93"/>
                    </a:lnTo>
                    <a:lnTo>
                      <a:pt x="388" y="95"/>
                    </a:lnTo>
                    <a:lnTo>
                      <a:pt x="405" y="95"/>
                    </a:lnTo>
                    <a:lnTo>
                      <a:pt x="443" y="93"/>
                    </a:lnTo>
                    <a:lnTo>
                      <a:pt x="479" y="88"/>
                    </a:lnTo>
                    <a:lnTo>
                      <a:pt x="512" y="80"/>
                    </a:lnTo>
                    <a:lnTo>
                      <a:pt x="528" y="73"/>
                    </a:lnTo>
                    <a:lnTo>
                      <a:pt x="540" y="66"/>
                    </a:lnTo>
                    <a:lnTo>
                      <a:pt x="550" y="59"/>
                    </a:lnTo>
                    <a:lnTo>
                      <a:pt x="555" y="54"/>
                    </a:lnTo>
                    <a:lnTo>
                      <a:pt x="557" y="49"/>
                    </a:lnTo>
                    <a:lnTo>
                      <a:pt x="555" y="45"/>
                    </a:lnTo>
                    <a:lnTo>
                      <a:pt x="550" y="42"/>
                    </a:lnTo>
                    <a:lnTo>
                      <a:pt x="540" y="38"/>
                    </a:lnTo>
                    <a:lnTo>
                      <a:pt x="526" y="36"/>
                    </a:lnTo>
                    <a:lnTo>
                      <a:pt x="509" y="36"/>
                    </a:lnTo>
                    <a:lnTo>
                      <a:pt x="473" y="38"/>
                    </a:lnTo>
                    <a:lnTo>
                      <a:pt x="435" y="45"/>
                    </a:lnTo>
                    <a:lnTo>
                      <a:pt x="402" y="54"/>
                    </a:lnTo>
                    <a:lnTo>
                      <a:pt x="386" y="59"/>
                    </a:lnTo>
                    <a:lnTo>
                      <a:pt x="374" y="66"/>
                    </a:lnTo>
                    <a:lnTo>
                      <a:pt x="374" y="66"/>
                    </a:lnTo>
                    <a:close/>
                    <a:moveTo>
                      <a:pt x="178" y="171"/>
                    </a:moveTo>
                    <a:lnTo>
                      <a:pt x="164" y="180"/>
                    </a:lnTo>
                    <a:lnTo>
                      <a:pt x="156" y="188"/>
                    </a:lnTo>
                    <a:lnTo>
                      <a:pt x="152" y="195"/>
                    </a:lnTo>
                    <a:lnTo>
                      <a:pt x="154" y="200"/>
                    </a:lnTo>
                    <a:lnTo>
                      <a:pt x="161" y="205"/>
                    </a:lnTo>
                    <a:lnTo>
                      <a:pt x="171" y="209"/>
                    </a:lnTo>
                    <a:lnTo>
                      <a:pt x="187" y="211"/>
                    </a:lnTo>
                    <a:lnTo>
                      <a:pt x="205" y="211"/>
                    </a:lnTo>
                    <a:lnTo>
                      <a:pt x="247" y="209"/>
                    </a:lnTo>
                    <a:lnTo>
                      <a:pt x="292" y="200"/>
                    </a:lnTo>
                    <a:lnTo>
                      <a:pt x="335" y="188"/>
                    </a:lnTo>
                    <a:lnTo>
                      <a:pt x="354" y="180"/>
                    </a:lnTo>
                    <a:lnTo>
                      <a:pt x="371" y="171"/>
                    </a:lnTo>
                    <a:lnTo>
                      <a:pt x="385" y="162"/>
                    </a:lnTo>
                    <a:lnTo>
                      <a:pt x="392" y="155"/>
                    </a:lnTo>
                    <a:lnTo>
                      <a:pt x="395" y="148"/>
                    </a:lnTo>
                    <a:lnTo>
                      <a:pt x="392" y="143"/>
                    </a:lnTo>
                    <a:lnTo>
                      <a:pt x="385" y="138"/>
                    </a:lnTo>
                    <a:lnTo>
                      <a:pt x="374" y="136"/>
                    </a:lnTo>
                    <a:lnTo>
                      <a:pt x="361" y="133"/>
                    </a:lnTo>
                    <a:lnTo>
                      <a:pt x="342" y="133"/>
                    </a:lnTo>
                    <a:lnTo>
                      <a:pt x="293" y="136"/>
                    </a:lnTo>
                    <a:lnTo>
                      <a:pt x="271" y="140"/>
                    </a:lnTo>
                    <a:lnTo>
                      <a:pt x="249" y="145"/>
                    </a:lnTo>
                    <a:lnTo>
                      <a:pt x="226" y="150"/>
                    </a:lnTo>
                    <a:lnTo>
                      <a:pt x="209" y="157"/>
                    </a:lnTo>
                    <a:lnTo>
                      <a:pt x="192" y="164"/>
                    </a:lnTo>
                    <a:lnTo>
                      <a:pt x="178" y="171"/>
                    </a:lnTo>
                    <a:lnTo>
                      <a:pt x="178" y="171"/>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430" name="Freeform 950"/>
              <p:cNvSpPr>
                <a:spLocks/>
              </p:cNvSpPr>
              <p:nvPr/>
            </p:nvSpPr>
            <p:spPr bwMode="auto">
              <a:xfrm>
                <a:off x="2064" y="3215"/>
                <a:ext cx="386" cy="122"/>
              </a:xfrm>
              <a:custGeom>
                <a:avLst/>
                <a:gdLst>
                  <a:gd name="T0" fmla="*/ 164 w 772"/>
                  <a:gd name="T1" fmla="*/ 172 h 244"/>
                  <a:gd name="T2" fmla="*/ 152 w 772"/>
                  <a:gd name="T3" fmla="*/ 186 h 244"/>
                  <a:gd name="T4" fmla="*/ 153 w 772"/>
                  <a:gd name="T5" fmla="*/ 198 h 244"/>
                  <a:gd name="T6" fmla="*/ 172 w 772"/>
                  <a:gd name="T7" fmla="*/ 205 h 244"/>
                  <a:gd name="T8" fmla="*/ 202 w 772"/>
                  <a:gd name="T9" fmla="*/ 207 h 244"/>
                  <a:gd name="T10" fmla="*/ 269 w 772"/>
                  <a:gd name="T11" fmla="*/ 200 h 244"/>
                  <a:gd name="T12" fmla="*/ 317 w 772"/>
                  <a:gd name="T13" fmla="*/ 188 h 244"/>
                  <a:gd name="T14" fmla="*/ 384 w 772"/>
                  <a:gd name="T15" fmla="*/ 160 h 244"/>
                  <a:gd name="T16" fmla="*/ 414 w 772"/>
                  <a:gd name="T17" fmla="*/ 141 h 244"/>
                  <a:gd name="T18" fmla="*/ 415 w 772"/>
                  <a:gd name="T19" fmla="*/ 126 h 244"/>
                  <a:gd name="T20" fmla="*/ 398 w 772"/>
                  <a:gd name="T21" fmla="*/ 119 h 244"/>
                  <a:gd name="T22" fmla="*/ 362 w 772"/>
                  <a:gd name="T23" fmla="*/ 115 h 244"/>
                  <a:gd name="T24" fmla="*/ 300 w 772"/>
                  <a:gd name="T25" fmla="*/ 119 h 244"/>
                  <a:gd name="T26" fmla="*/ 227 w 772"/>
                  <a:gd name="T27" fmla="*/ 132 h 244"/>
                  <a:gd name="T28" fmla="*/ 276 w 772"/>
                  <a:gd name="T29" fmla="*/ 64 h 244"/>
                  <a:gd name="T30" fmla="*/ 772 w 772"/>
                  <a:gd name="T31" fmla="*/ 0 h 244"/>
                  <a:gd name="T32" fmla="*/ 694 w 772"/>
                  <a:gd name="T33" fmla="*/ 45 h 244"/>
                  <a:gd name="T34" fmla="*/ 445 w 772"/>
                  <a:gd name="T35" fmla="*/ 45 h 244"/>
                  <a:gd name="T36" fmla="*/ 350 w 772"/>
                  <a:gd name="T37" fmla="*/ 86 h 244"/>
                  <a:gd name="T38" fmla="*/ 405 w 772"/>
                  <a:gd name="T39" fmla="*/ 79 h 244"/>
                  <a:gd name="T40" fmla="*/ 476 w 772"/>
                  <a:gd name="T41" fmla="*/ 77 h 244"/>
                  <a:gd name="T42" fmla="*/ 512 w 772"/>
                  <a:gd name="T43" fmla="*/ 81 h 244"/>
                  <a:gd name="T44" fmla="*/ 539 w 772"/>
                  <a:gd name="T45" fmla="*/ 86 h 244"/>
                  <a:gd name="T46" fmla="*/ 558 w 772"/>
                  <a:gd name="T47" fmla="*/ 95 h 244"/>
                  <a:gd name="T48" fmla="*/ 569 w 772"/>
                  <a:gd name="T49" fmla="*/ 107 h 244"/>
                  <a:gd name="T50" fmla="*/ 569 w 772"/>
                  <a:gd name="T51" fmla="*/ 119 h 244"/>
                  <a:gd name="T52" fmla="*/ 558 w 772"/>
                  <a:gd name="T53" fmla="*/ 132 h 244"/>
                  <a:gd name="T54" fmla="*/ 538 w 772"/>
                  <a:gd name="T55" fmla="*/ 150 h 244"/>
                  <a:gd name="T56" fmla="*/ 495 w 772"/>
                  <a:gd name="T57" fmla="*/ 174 h 244"/>
                  <a:gd name="T58" fmla="*/ 422 w 772"/>
                  <a:gd name="T59" fmla="*/ 200 h 244"/>
                  <a:gd name="T60" fmla="*/ 317 w 772"/>
                  <a:gd name="T61" fmla="*/ 225 h 244"/>
                  <a:gd name="T62" fmla="*/ 195 w 772"/>
                  <a:gd name="T63" fmla="*/ 243 h 244"/>
                  <a:gd name="T64" fmla="*/ 112 w 772"/>
                  <a:gd name="T65" fmla="*/ 244 h 244"/>
                  <a:gd name="T66" fmla="*/ 72 w 772"/>
                  <a:gd name="T67" fmla="*/ 243 h 244"/>
                  <a:gd name="T68" fmla="*/ 41 w 772"/>
                  <a:gd name="T69" fmla="*/ 238 h 244"/>
                  <a:gd name="T70" fmla="*/ 19 w 772"/>
                  <a:gd name="T71" fmla="*/ 231 h 244"/>
                  <a:gd name="T72" fmla="*/ 5 w 772"/>
                  <a:gd name="T73" fmla="*/ 220 h 244"/>
                  <a:gd name="T74" fmla="*/ 0 w 772"/>
                  <a:gd name="T75" fmla="*/ 210 h 244"/>
                  <a:gd name="T76" fmla="*/ 3 w 772"/>
                  <a:gd name="T77" fmla="*/ 198 h 244"/>
                  <a:gd name="T78" fmla="*/ 15 w 772"/>
                  <a:gd name="T79" fmla="*/ 18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72" h="244">
                    <a:moveTo>
                      <a:pt x="24" y="177"/>
                    </a:moveTo>
                    <a:lnTo>
                      <a:pt x="164" y="172"/>
                    </a:lnTo>
                    <a:lnTo>
                      <a:pt x="155" y="179"/>
                    </a:lnTo>
                    <a:lnTo>
                      <a:pt x="152" y="186"/>
                    </a:lnTo>
                    <a:lnTo>
                      <a:pt x="150" y="193"/>
                    </a:lnTo>
                    <a:lnTo>
                      <a:pt x="153" y="198"/>
                    </a:lnTo>
                    <a:lnTo>
                      <a:pt x="162" y="201"/>
                    </a:lnTo>
                    <a:lnTo>
                      <a:pt x="172" y="205"/>
                    </a:lnTo>
                    <a:lnTo>
                      <a:pt x="184" y="207"/>
                    </a:lnTo>
                    <a:lnTo>
                      <a:pt x="202" y="207"/>
                    </a:lnTo>
                    <a:lnTo>
                      <a:pt x="245" y="203"/>
                    </a:lnTo>
                    <a:lnTo>
                      <a:pt x="269" y="200"/>
                    </a:lnTo>
                    <a:lnTo>
                      <a:pt x="293" y="194"/>
                    </a:lnTo>
                    <a:lnTo>
                      <a:pt x="317" y="188"/>
                    </a:lnTo>
                    <a:lnTo>
                      <a:pt x="341" y="181"/>
                    </a:lnTo>
                    <a:lnTo>
                      <a:pt x="384" y="160"/>
                    </a:lnTo>
                    <a:lnTo>
                      <a:pt x="401" y="150"/>
                    </a:lnTo>
                    <a:lnTo>
                      <a:pt x="414" y="141"/>
                    </a:lnTo>
                    <a:lnTo>
                      <a:pt x="417" y="132"/>
                    </a:lnTo>
                    <a:lnTo>
                      <a:pt x="415" y="126"/>
                    </a:lnTo>
                    <a:lnTo>
                      <a:pt x="408" y="120"/>
                    </a:lnTo>
                    <a:lnTo>
                      <a:pt x="398" y="119"/>
                    </a:lnTo>
                    <a:lnTo>
                      <a:pt x="383" y="115"/>
                    </a:lnTo>
                    <a:lnTo>
                      <a:pt x="362" y="115"/>
                    </a:lnTo>
                    <a:lnTo>
                      <a:pt x="331" y="117"/>
                    </a:lnTo>
                    <a:lnTo>
                      <a:pt x="300" y="119"/>
                    </a:lnTo>
                    <a:lnTo>
                      <a:pt x="265" y="126"/>
                    </a:lnTo>
                    <a:lnTo>
                      <a:pt x="227" y="132"/>
                    </a:lnTo>
                    <a:lnTo>
                      <a:pt x="129" y="127"/>
                    </a:lnTo>
                    <a:lnTo>
                      <a:pt x="276" y="64"/>
                    </a:lnTo>
                    <a:lnTo>
                      <a:pt x="420" y="0"/>
                    </a:lnTo>
                    <a:lnTo>
                      <a:pt x="772" y="0"/>
                    </a:lnTo>
                    <a:lnTo>
                      <a:pt x="734" y="22"/>
                    </a:lnTo>
                    <a:lnTo>
                      <a:pt x="694" y="45"/>
                    </a:lnTo>
                    <a:lnTo>
                      <a:pt x="569" y="45"/>
                    </a:lnTo>
                    <a:lnTo>
                      <a:pt x="445" y="45"/>
                    </a:lnTo>
                    <a:lnTo>
                      <a:pt x="398" y="65"/>
                    </a:lnTo>
                    <a:lnTo>
                      <a:pt x="350" y="86"/>
                    </a:lnTo>
                    <a:lnTo>
                      <a:pt x="379" y="82"/>
                    </a:lnTo>
                    <a:lnTo>
                      <a:pt x="405" y="79"/>
                    </a:lnTo>
                    <a:lnTo>
                      <a:pt x="455" y="77"/>
                    </a:lnTo>
                    <a:lnTo>
                      <a:pt x="476" y="77"/>
                    </a:lnTo>
                    <a:lnTo>
                      <a:pt x="495" y="79"/>
                    </a:lnTo>
                    <a:lnTo>
                      <a:pt x="512" y="81"/>
                    </a:lnTo>
                    <a:lnTo>
                      <a:pt x="527" y="82"/>
                    </a:lnTo>
                    <a:lnTo>
                      <a:pt x="539" y="86"/>
                    </a:lnTo>
                    <a:lnTo>
                      <a:pt x="550" y="89"/>
                    </a:lnTo>
                    <a:lnTo>
                      <a:pt x="558" y="95"/>
                    </a:lnTo>
                    <a:lnTo>
                      <a:pt x="565" y="100"/>
                    </a:lnTo>
                    <a:lnTo>
                      <a:pt x="569" y="107"/>
                    </a:lnTo>
                    <a:lnTo>
                      <a:pt x="570" y="112"/>
                    </a:lnTo>
                    <a:lnTo>
                      <a:pt x="569" y="119"/>
                    </a:lnTo>
                    <a:lnTo>
                      <a:pt x="565" y="126"/>
                    </a:lnTo>
                    <a:lnTo>
                      <a:pt x="558" y="132"/>
                    </a:lnTo>
                    <a:lnTo>
                      <a:pt x="550" y="141"/>
                    </a:lnTo>
                    <a:lnTo>
                      <a:pt x="538" y="150"/>
                    </a:lnTo>
                    <a:lnTo>
                      <a:pt x="522" y="158"/>
                    </a:lnTo>
                    <a:lnTo>
                      <a:pt x="495" y="174"/>
                    </a:lnTo>
                    <a:lnTo>
                      <a:pt x="460" y="188"/>
                    </a:lnTo>
                    <a:lnTo>
                      <a:pt x="422" y="200"/>
                    </a:lnTo>
                    <a:lnTo>
                      <a:pt x="379" y="212"/>
                    </a:lnTo>
                    <a:lnTo>
                      <a:pt x="317" y="225"/>
                    </a:lnTo>
                    <a:lnTo>
                      <a:pt x="255" y="236"/>
                    </a:lnTo>
                    <a:lnTo>
                      <a:pt x="195" y="243"/>
                    </a:lnTo>
                    <a:lnTo>
                      <a:pt x="134" y="244"/>
                    </a:lnTo>
                    <a:lnTo>
                      <a:pt x="112" y="244"/>
                    </a:lnTo>
                    <a:lnTo>
                      <a:pt x="91" y="243"/>
                    </a:lnTo>
                    <a:lnTo>
                      <a:pt x="72" y="243"/>
                    </a:lnTo>
                    <a:lnTo>
                      <a:pt x="55" y="241"/>
                    </a:lnTo>
                    <a:lnTo>
                      <a:pt x="41" y="238"/>
                    </a:lnTo>
                    <a:lnTo>
                      <a:pt x="29" y="234"/>
                    </a:lnTo>
                    <a:lnTo>
                      <a:pt x="19" y="231"/>
                    </a:lnTo>
                    <a:lnTo>
                      <a:pt x="10" y="225"/>
                    </a:lnTo>
                    <a:lnTo>
                      <a:pt x="5" y="220"/>
                    </a:lnTo>
                    <a:lnTo>
                      <a:pt x="0" y="215"/>
                    </a:lnTo>
                    <a:lnTo>
                      <a:pt x="0" y="210"/>
                    </a:lnTo>
                    <a:lnTo>
                      <a:pt x="0" y="205"/>
                    </a:lnTo>
                    <a:lnTo>
                      <a:pt x="3" y="198"/>
                    </a:lnTo>
                    <a:lnTo>
                      <a:pt x="7" y="191"/>
                    </a:lnTo>
                    <a:lnTo>
                      <a:pt x="15" y="184"/>
                    </a:lnTo>
                    <a:lnTo>
                      <a:pt x="24" y="177"/>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49431" name="Group 951"/>
            <p:cNvGrpSpPr>
              <a:grpSpLocks/>
            </p:cNvGrpSpPr>
            <p:nvPr/>
          </p:nvGrpSpPr>
          <p:grpSpPr bwMode="auto">
            <a:xfrm>
              <a:off x="1540" y="3403"/>
              <a:ext cx="846" cy="138"/>
              <a:chOff x="1557" y="3420"/>
              <a:chExt cx="846" cy="138"/>
            </a:xfrm>
          </p:grpSpPr>
          <p:sp>
            <p:nvSpPr>
              <p:cNvPr id="149432" name="Freeform 952"/>
              <p:cNvSpPr>
                <a:spLocks noEditPoints="1"/>
              </p:cNvSpPr>
              <p:nvPr/>
            </p:nvSpPr>
            <p:spPr bwMode="auto">
              <a:xfrm>
                <a:off x="1578" y="3434"/>
                <a:ext cx="316" cy="124"/>
              </a:xfrm>
              <a:custGeom>
                <a:avLst/>
                <a:gdLst>
                  <a:gd name="T0" fmla="*/ 203 w 632"/>
                  <a:gd name="T1" fmla="*/ 104 h 249"/>
                  <a:gd name="T2" fmla="*/ 193 w 632"/>
                  <a:gd name="T3" fmla="*/ 85 h 249"/>
                  <a:gd name="T4" fmla="*/ 214 w 632"/>
                  <a:gd name="T5" fmla="*/ 62 h 249"/>
                  <a:gd name="T6" fmla="*/ 295 w 632"/>
                  <a:gd name="T7" fmla="*/ 28 h 249"/>
                  <a:gd name="T8" fmla="*/ 412 w 632"/>
                  <a:gd name="T9" fmla="*/ 4 h 249"/>
                  <a:gd name="T10" fmla="*/ 526 w 632"/>
                  <a:gd name="T11" fmla="*/ 0 h 249"/>
                  <a:gd name="T12" fmla="*/ 579 w 632"/>
                  <a:gd name="T13" fmla="*/ 4 h 249"/>
                  <a:gd name="T14" fmla="*/ 615 w 632"/>
                  <a:gd name="T15" fmla="*/ 14 h 249"/>
                  <a:gd name="T16" fmla="*/ 631 w 632"/>
                  <a:gd name="T17" fmla="*/ 28 h 249"/>
                  <a:gd name="T18" fmla="*/ 629 w 632"/>
                  <a:gd name="T19" fmla="*/ 43 h 249"/>
                  <a:gd name="T20" fmla="*/ 607 w 632"/>
                  <a:gd name="T21" fmla="*/ 62 h 249"/>
                  <a:gd name="T22" fmla="*/ 558 w 632"/>
                  <a:gd name="T23" fmla="*/ 87 h 249"/>
                  <a:gd name="T24" fmla="*/ 441 w 632"/>
                  <a:gd name="T25" fmla="*/ 112 h 249"/>
                  <a:gd name="T26" fmla="*/ 484 w 632"/>
                  <a:gd name="T27" fmla="*/ 130 h 249"/>
                  <a:gd name="T28" fmla="*/ 486 w 632"/>
                  <a:gd name="T29" fmla="*/ 154 h 249"/>
                  <a:gd name="T30" fmla="*/ 438 w 632"/>
                  <a:gd name="T31" fmla="*/ 188 h 249"/>
                  <a:gd name="T32" fmla="*/ 326 w 632"/>
                  <a:gd name="T33" fmla="*/ 228 h 249"/>
                  <a:gd name="T34" fmla="*/ 188 w 632"/>
                  <a:gd name="T35" fmla="*/ 247 h 249"/>
                  <a:gd name="T36" fmla="*/ 66 w 632"/>
                  <a:gd name="T37" fmla="*/ 245 h 249"/>
                  <a:gd name="T38" fmla="*/ 26 w 632"/>
                  <a:gd name="T39" fmla="*/ 235 h 249"/>
                  <a:gd name="T40" fmla="*/ 4 w 632"/>
                  <a:gd name="T41" fmla="*/ 219 h 249"/>
                  <a:gd name="T42" fmla="*/ 4 w 632"/>
                  <a:gd name="T43" fmla="*/ 200 h 249"/>
                  <a:gd name="T44" fmla="*/ 31 w 632"/>
                  <a:gd name="T45" fmla="*/ 174 h 249"/>
                  <a:gd name="T46" fmla="*/ 86 w 632"/>
                  <a:gd name="T47" fmla="*/ 147 h 249"/>
                  <a:gd name="T48" fmla="*/ 165 w 632"/>
                  <a:gd name="T49" fmla="*/ 124 h 249"/>
                  <a:gd name="T50" fmla="*/ 231 w 632"/>
                  <a:gd name="T51" fmla="*/ 112 h 249"/>
                  <a:gd name="T52" fmla="*/ 319 w 632"/>
                  <a:gd name="T53" fmla="*/ 73 h 249"/>
                  <a:gd name="T54" fmla="*/ 317 w 632"/>
                  <a:gd name="T55" fmla="*/ 88 h 249"/>
                  <a:gd name="T56" fmla="*/ 345 w 632"/>
                  <a:gd name="T57" fmla="*/ 95 h 249"/>
                  <a:gd name="T58" fmla="*/ 431 w 632"/>
                  <a:gd name="T59" fmla="*/ 88 h 249"/>
                  <a:gd name="T60" fmla="*/ 484 w 632"/>
                  <a:gd name="T61" fmla="*/ 66 h 249"/>
                  <a:gd name="T62" fmla="*/ 496 w 632"/>
                  <a:gd name="T63" fmla="*/ 49 h 249"/>
                  <a:gd name="T64" fmla="*/ 477 w 632"/>
                  <a:gd name="T65" fmla="*/ 38 h 249"/>
                  <a:gd name="T66" fmla="*/ 414 w 632"/>
                  <a:gd name="T67" fmla="*/ 38 h 249"/>
                  <a:gd name="T68" fmla="*/ 338 w 632"/>
                  <a:gd name="T69" fmla="*/ 59 h 249"/>
                  <a:gd name="T70" fmla="*/ 327 w 632"/>
                  <a:gd name="T71" fmla="*/ 66 h 249"/>
                  <a:gd name="T72" fmla="*/ 141 w 632"/>
                  <a:gd name="T73" fmla="*/ 188 h 249"/>
                  <a:gd name="T74" fmla="*/ 150 w 632"/>
                  <a:gd name="T75" fmla="*/ 205 h 249"/>
                  <a:gd name="T76" fmla="*/ 193 w 632"/>
                  <a:gd name="T77" fmla="*/ 211 h 249"/>
                  <a:gd name="T78" fmla="*/ 312 w 632"/>
                  <a:gd name="T79" fmla="*/ 188 h 249"/>
                  <a:gd name="T80" fmla="*/ 353 w 632"/>
                  <a:gd name="T81" fmla="*/ 162 h 249"/>
                  <a:gd name="T82" fmla="*/ 358 w 632"/>
                  <a:gd name="T83" fmla="*/ 143 h 249"/>
                  <a:gd name="T84" fmla="*/ 326 w 632"/>
                  <a:gd name="T85" fmla="*/ 133 h 249"/>
                  <a:gd name="T86" fmla="*/ 243 w 632"/>
                  <a:gd name="T87" fmla="*/ 140 h 249"/>
                  <a:gd name="T88" fmla="*/ 186 w 632"/>
                  <a:gd name="T89" fmla="*/ 157 h 249"/>
                  <a:gd name="T90" fmla="*/ 160 w 632"/>
                  <a:gd name="T91" fmla="*/ 171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2" h="249">
                    <a:moveTo>
                      <a:pt x="231" y="112"/>
                    </a:moveTo>
                    <a:lnTo>
                      <a:pt x="215" y="109"/>
                    </a:lnTo>
                    <a:lnTo>
                      <a:pt x="203" y="104"/>
                    </a:lnTo>
                    <a:lnTo>
                      <a:pt x="197" y="99"/>
                    </a:lnTo>
                    <a:lnTo>
                      <a:pt x="193" y="92"/>
                    </a:lnTo>
                    <a:lnTo>
                      <a:pt x="193" y="85"/>
                    </a:lnTo>
                    <a:lnTo>
                      <a:pt x="197" y="78"/>
                    </a:lnTo>
                    <a:lnTo>
                      <a:pt x="203" y="71"/>
                    </a:lnTo>
                    <a:lnTo>
                      <a:pt x="214" y="62"/>
                    </a:lnTo>
                    <a:lnTo>
                      <a:pt x="236" y="50"/>
                    </a:lnTo>
                    <a:lnTo>
                      <a:pt x="262" y="38"/>
                    </a:lnTo>
                    <a:lnTo>
                      <a:pt x="295" y="28"/>
                    </a:lnTo>
                    <a:lnTo>
                      <a:pt x="331" y="18"/>
                    </a:lnTo>
                    <a:lnTo>
                      <a:pt x="371" y="11"/>
                    </a:lnTo>
                    <a:lnTo>
                      <a:pt x="412" y="4"/>
                    </a:lnTo>
                    <a:lnTo>
                      <a:pt x="457" y="2"/>
                    </a:lnTo>
                    <a:lnTo>
                      <a:pt x="503" y="0"/>
                    </a:lnTo>
                    <a:lnTo>
                      <a:pt x="526" y="0"/>
                    </a:lnTo>
                    <a:lnTo>
                      <a:pt x="546" y="2"/>
                    </a:lnTo>
                    <a:lnTo>
                      <a:pt x="564" y="2"/>
                    </a:lnTo>
                    <a:lnTo>
                      <a:pt x="579" y="4"/>
                    </a:lnTo>
                    <a:lnTo>
                      <a:pt x="593" y="7"/>
                    </a:lnTo>
                    <a:lnTo>
                      <a:pt x="605" y="11"/>
                    </a:lnTo>
                    <a:lnTo>
                      <a:pt x="615" y="14"/>
                    </a:lnTo>
                    <a:lnTo>
                      <a:pt x="622" y="18"/>
                    </a:lnTo>
                    <a:lnTo>
                      <a:pt x="627" y="23"/>
                    </a:lnTo>
                    <a:lnTo>
                      <a:pt x="631" y="28"/>
                    </a:lnTo>
                    <a:lnTo>
                      <a:pt x="632" y="33"/>
                    </a:lnTo>
                    <a:lnTo>
                      <a:pt x="631" y="38"/>
                    </a:lnTo>
                    <a:lnTo>
                      <a:pt x="629" y="43"/>
                    </a:lnTo>
                    <a:lnTo>
                      <a:pt x="624" y="50"/>
                    </a:lnTo>
                    <a:lnTo>
                      <a:pt x="615" y="56"/>
                    </a:lnTo>
                    <a:lnTo>
                      <a:pt x="607" y="62"/>
                    </a:lnTo>
                    <a:lnTo>
                      <a:pt x="593" y="71"/>
                    </a:lnTo>
                    <a:lnTo>
                      <a:pt x="577" y="80"/>
                    </a:lnTo>
                    <a:lnTo>
                      <a:pt x="558" y="87"/>
                    </a:lnTo>
                    <a:lnTo>
                      <a:pt x="539" y="93"/>
                    </a:lnTo>
                    <a:lnTo>
                      <a:pt x="493" y="106"/>
                    </a:lnTo>
                    <a:lnTo>
                      <a:pt x="441" y="112"/>
                    </a:lnTo>
                    <a:lnTo>
                      <a:pt x="460" y="118"/>
                    </a:lnTo>
                    <a:lnTo>
                      <a:pt x="476" y="123"/>
                    </a:lnTo>
                    <a:lnTo>
                      <a:pt x="484" y="130"/>
                    </a:lnTo>
                    <a:lnTo>
                      <a:pt x="489" y="137"/>
                    </a:lnTo>
                    <a:lnTo>
                      <a:pt x="489" y="145"/>
                    </a:lnTo>
                    <a:lnTo>
                      <a:pt x="486" y="154"/>
                    </a:lnTo>
                    <a:lnTo>
                      <a:pt x="477" y="162"/>
                    </a:lnTo>
                    <a:lnTo>
                      <a:pt x="465" y="173"/>
                    </a:lnTo>
                    <a:lnTo>
                      <a:pt x="438" y="188"/>
                    </a:lnTo>
                    <a:lnTo>
                      <a:pt x="405" y="204"/>
                    </a:lnTo>
                    <a:lnTo>
                      <a:pt x="367" y="216"/>
                    </a:lnTo>
                    <a:lnTo>
                      <a:pt x="326" y="228"/>
                    </a:lnTo>
                    <a:lnTo>
                      <a:pt x="281" y="236"/>
                    </a:lnTo>
                    <a:lnTo>
                      <a:pt x="234" y="243"/>
                    </a:lnTo>
                    <a:lnTo>
                      <a:pt x="188" y="247"/>
                    </a:lnTo>
                    <a:lnTo>
                      <a:pt x="140" y="249"/>
                    </a:lnTo>
                    <a:lnTo>
                      <a:pt x="98" y="247"/>
                    </a:lnTo>
                    <a:lnTo>
                      <a:pt x="66" y="245"/>
                    </a:lnTo>
                    <a:lnTo>
                      <a:pt x="50" y="242"/>
                    </a:lnTo>
                    <a:lnTo>
                      <a:pt x="38" y="240"/>
                    </a:lnTo>
                    <a:lnTo>
                      <a:pt x="26" y="235"/>
                    </a:lnTo>
                    <a:lnTo>
                      <a:pt x="17" y="231"/>
                    </a:lnTo>
                    <a:lnTo>
                      <a:pt x="9" y="226"/>
                    </a:lnTo>
                    <a:lnTo>
                      <a:pt x="4" y="219"/>
                    </a:lnTo>
                    <a:lnTo>
                      <a:pt x="0" y="214"/>
                    </a:lnTo>
                    <a:lnTo>
                      <a:pt x="2" y="207"/>
                    </a:lnTo>
                    <a:lnTo>
                      <a:pt x="4" y="200"/>
                    </a:lnTo>
                    <a:lnTo>
                      <a:pt x="10" y="192"/>
                    </a:lnTo>
                    <a:lnTo>
                      <a:pt x="19" y="183"/>
                    </a:lnTo>
                    <a:lnTo>
                      <a:pt x="31" y="174"/>
                    </a:lnTo>
                    <a:lnTo>
                      <a:pt x="47" y="166"/>
                    </a:lnTo>
                    <a:lnTo>
                      <a:pt x="66" y="157"/>
                    </a:lnTo>
                    <a:lnTo>
                      <a:pt x="86" y="147"/>
                    </a:lnTo>
                    <a:lnTo>
                      <a:pt x="110" y="138"/>
                    </a:lnTo>
                    <a:lnTo>
                      <a:pt x="138" y="131"/>
                    </a:lnTo>
                    <a:lnTo>
                      <a:pt x="165" y="124"/>
                    </a:lnTo>
                    <a:lnTo>
                      <a:pt x="198" y="118"/>
                    </a:lnTo>
                    <a:lnTo>
                      <a:pt x="231" y="112"/>
                    </a:lnTo>
                    <a:lnTo>
                      <a:pt x="231" y="112"/>
                    </a:lnTo>
                    <a:lnTo>
                      <a:pt x="231" y="112"/>
                    </a:lnTo>
                    <a:close/>
                    <a:moveTo>
                      <a:pt x="327" y="66"/>
                    </a:moveTo>
                    <a:lnTo>
                      <a:pt x="319" y="73"/>
                    </a:lnTo>
                    <a:lnTo>
                      <a:pt x="315" y="80"/>
                    </a:lnTo>
                    <a:lnTo>
                      <a:pt x="314" y="85"/>
                    </a:lnTo>
                    <a:lnTo>
                      <a:pt x="317" y="88"/>
                    </a:lnTo>
                    <a:lnTo>
                      <a:pt x="322" y="92"/>
                    </a:lnTo>
                    <a:lnTo>
                      <a:pt x="333" y="93"/>
                    </a:lnTo>
                    <a:lnTo>
                      <a:pt x="345" y="95"/>
                    </a:lnTo>
                    <a:lnTo>
                      <a:pt x="362" y="95"/>
                    </a:lnTo>
                    <a:lnTo>
                      <a:pt x="396" y="93"/>
                    </a:lnTo>
                    <a:lnTo>
                      <a:pt x="431" y="88"/>
                    </a:lnTo>
                    <a:lnTo>
                      <a:pt x="460" y="80"/>
                    </a:lnTo>
                    <a:lnTo>
                      <a:pt x="474" y="73"/>
                    </a:lnTo>
                    <a:lnTo>
                      <a:pt x="484" y="66"/>
                    </a:lnTo>
                    <a:lnTo>
                      <a:pt x="491" y="59"/>
                    </a:lnTo>
                    <a:lnTo>
                      <a:pt x="496" y="54"/>
                    </a:lnTo>
                    <a:lnTo>
                      <a:pt x="496" y="49"/>
                    </a:lnTo>
                    <a:lnTo>
                      <a:pt x="495" y="45"/>
                    </a:lnTo>
                    <a:lnTo>
                      <a:pt x="488" y="42"/>
                    </a:lnTo>
                    <a:lnTo>
                      <a:pt x="477" y="38"/>
                    </a:lnTo>
                    <a:lnTo>
                      <a:pt x="465" y="37"/>
                    </a:lnTo>
                    <a:lnTo>
                      <a:pt x="450" y="37"/>
                    </a:lnTo>
                    <a:lnTo>
                      <a:pt x="414" y="38"/>
                    </a:lnTo>
                    <a:lnTo>
                      <a:pt x="379" y="45"/>
                    </a:lnTo>
                    <a:lnTo>
                      <a:pt x="350" y="54"/>
                    </a:lnTo>
                    <a:lnTo>
                      <a:pt x="338" y="59"/>
                    </a:lnTo>
                    <a:lnTo>
                      <a:pt x="327" y="66"/>
                    </a:lnTo>
                    <a:lnTo>
                      <a:pt x="327" y="66"/>
                    </a:lnTo>
                    <a:lnTo>
                      <a:pt x="327" y="66"/>
                    </a:lnTo>
                    <a:close/>
                    <a:moveTo>
                      <a:pt x="160" y="171"/>
                    </a:moveTo>
                    <a:lnTo>
                      <a:pt x="148" y="180"/>
                    </a:lnTo>
                    <a:lnTo>
                      <a:pt x="141" y="188"/>
                    </a:lnTo>
                    <a:lnTo>
                      <a:pt x="140" y="195"/>
                    </a:lnTo>
                    <a:lnTo>
                      <a:pt x="143" y="200"/>
                    </a:lnTo>
                    <a:lnTo>
                      <a:pt x="150" y="205"/>
                    </a:lnTo>
                    <a:lnTo>
                      <a:pt x="160" y="209"/>
                    </a:lnTo>
                    <a:lnTo>
                      <a:pt x="176" y="211"/>
                    </a:lnTo>
                    <a:lnTo>
                      <a:pt x="193" y="211"/>
                    </a:lnTo>
                    <a:lnTo>
                      <a:pt x="233" y="209"/>
                    </a:lnTo>
                    <a:lnTo>
                      <a:pt x="274" y="200"/>
                    </a:lnTo>
                    <a:lnTo>
                      <a:pt x="312" y="188"/>
                    </a:lnTo>
                    <a:lnTo>
                      <a:pt x="327" y="180"/>
                    </a:lnTo>
                    <a:lnTo>
                      <a:pt x="343" y="171"/>
                    </a:lnTo>
                    <a:lnTo>
                      <a:pt x="353" y="162"/>
                    </a:lnTo>
                    <a:lnTo>
                      <a:pt x="360" y="155"/>
                    </a:lnTo>
                    <a:lnTo>
                      <a:pt x="362" y="149"/>
                    </a:lnTo>
                    <a:lnTo>
                      <a:pt x="358" y="143"/>
                    </a:lnTo>
                    <a:lnTo>
                      <a:pt x="352" y="138"/>
                    </a:lnTo>
                    <a:lnTo>
                      <a:pt x="341" y="137"/>
                    </a:lnTo>
                    <a:lnTo>
                      <a:pt x="326" y="133"/>
                    </a:lnTo>
                    <a:lnTo>
                      <a:pt x="309" y="133"/>
                    </a:lnTo>
                    <a:lnTo>
                      <a:pt x="264" y="137"/>
                    </a:lnTo>
                    <a:lnTo>
                      <a:pt x="243" y="140"/>
                    </a:lnTo>
                    <a:lnTo>
                      <a:pt x="222" y="145"/>
                    </a:lnTo>
                    <a:lnTo>
                      <a:pt x="203" y="150"/>
                    </a:lnTo>
                    <a:lnTo>
                      <a:pt x="186" y="157"/>
                    </a:lnTo>
                    <a:lnTo>
                      <a:pt x="172" y="164"/>
                    </a:lnTo>
                    <a:lnTo>
                      <a:pt x="160" y="171"/>
                    </a:lnTo>
                    <a:lnTo>
                      <a:pt x="160" y="171"/>
                    </a:lnTo>
                    <a:lnTo>
                      <a:pt x="160" y="17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433" name="Freeform 953"/>
              <p:cNvSpPr>
                <a:spLocks/>
              </p:cNvSpPr>
              <p:nvPr/>
            </p:nvSpPr>
            <p:spPr bwMode="auto">
              <a:xfrm>
                <a:off x="1842" y="3435"/>
                <a:ext cx="349" cy="120"/>
              </a:xfrm>
              <a:custGeom>
                <a:avLst/>
                <a:gdLst>
                  <a:gd name="T0" fmla="*/ 204 w 698"/>
                  <a:gd name="T1" fmla="*/ 45 h 239"/>
                  <a:gd name="T2" fmla="*/ 236 w 698"/>
                  <a:gd name="T3" fmla="*/ 22 h 239"/>
                  <a:gd name="T4" fmla="*/ 267 w 698"/>
                  <a:gd name="T5" fmla="*/ 0 h 239"/>
                  <a:gd name="T6" fmla="*/ 483 w 698"/>
                  <a:gd name="T7" fmla="*/ 0 h 239"/>
                  <a:gd name="T8" fmla="*/ 698 w 698"/>
                  <a:gd name="T9" fmla="*/ 0 h 239"/>
                  <a:gd name="T10" fmla="*/ 672 w 698"/>
                  <a:gd name="T11" fmla="*/ 17 h 239"/>
                  <a:gd name="T12" fmla="*/ 647 w 698"/>
                  <a:gd name="T13" fmla="*/ 34 h 239"/>
                  <a:gd name="T14" fmla="*/ 605 w 698"/>
                  <a:gd name="T15" fmla="*/ 45 h 239"/>
                  <a:gd name="T16" fmla="*/ 559 w 698"/>
                  <a:gd name="T17" fmla="*/ 58 h 239"/>
                  <a:gd name="T18" fmla="*/ 510 w 698"/>
                  <a:gd name="T19" fmla="*/ 72 h 239"/>
                  <a:gd name="T20" fmla="*/ 457 w 698"/>
                  <a:gd name="T21" fmla="*/ 89 h 239"/>
                  <a:gd name="T22" fmla="*/ 404 w 698"/>
                  <a:gd name="T23" fmla="*/ 108 h 239"/>
                  <a:gd name="T24" fmla="*/ 354 w 698"/>
                  <a:gd name="T25" fmla="*/ 127 h 239"/>
                  <a:gd name="T26" fmla="*/ 304 w 698"/>
                  <a:gd name="T27" fmla="*/ 146 h 239"/>
                  <a:gd name="T28" fmla="*/ 259 w 698"/>
                  <a:gd name="T29" fmla="*/ 167 h 239"/>
                  <a:gd name="T30" fmla="*/ 216 w 698"/>
                  <a:gd name="T31" fmla="*/ 188 h 239"/>
                  <a:gd name="T32" fmla="*/ 180 w 698"/>
                  <a:gd name="T33" fmla="*/ 207 h 239"/>
                  <a:gd name="T34" fmla="*/ 147 w 698"/>
                  <a:gd name="T35" fmla="*/ 224 h 239"/>
                  <a:gd name="T36" fmla="*/ 121 w 698"/>
                  <a:gd name="T37" fmla="*/ 239 h 239"/>
                  <a:gd name="T38" fmla="*/ 61 w 698"/>
                  <a:gd name="T39" fmla="*/ 239 h 239"/>
                  <a:gd name="T40" fmla="*/ 0 w 698"/>
                  <a:gd name="T41" fmla="*/ 239 h 239"/>
                  <a:gd name="T42" fmla="*/ 42 w 698"/>
                  <a:gd name="T43" fmla="*/ 215 h 239"/>
                  <a:gd name="T44" fmla="*/ 92 w 698"/>
                  <a:gd name="T45" fmla="*/ 189 h 239"/>
                  <a:gd name="T46" fmla="*/ 118 w 698"/>
                  <a:gd name="T47" fmla="*/ 176 h 239"/>
                  <a:gd name="T48" fmla="*/ 147 w 698"/>
                  <a:gd name="T49" fmla="*/ 164 h 239"/>
                  <a:gd name="T50" fmla="*/ 176 w 698"/>
                  <a:gd name="T51" fmla="*/ 151 h 239"/>
                  <a:gd name="T52" fmla="*/ 209 w 698"/>
                  <a:gd name="T53" fmla="*/ 138 h 239"/>
                  <a:gd name="T54" fmla="*/ 276 w 698"/>
                  <a:gd name="T55" fmla="*/ 112 h 239"/>
                  <a:gd name="T56" fmla="*/ 345 w 698"/>
                  <a:gd name="T57" fmla="*/ 88 h 239"/>
                  <a:gd name="T58" fmla="*/ 416 w 698"/>
                  <a:gd name="T59" fmla="*/ 65 h 239"/>
                  <a:gd name="T60" fmla="*/ 490 w 698"/>
                  <a:gd name="T61" fmla="*/ 45 h 239"/>
                  <a:gd name="T62" fmla="*/ 347 w 698"/>
                  <a:gd name="T63" fmla="*/ 45 h 239"/>
                  <a:gd name="T64" fmla="*/ 204 w 698"/>
                  <a:gd name="T65" fmla="*/ 45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8" h="239">
                    <a:moveTo>
                      <a:pt x="204" y="45"/>
                    </a:moveTo>
                    <a:lnTo>
                      <a:pt x="236" y="22"/>
                    </a:lnTo>
                    <a:lnTo>
                      <a:pt x="267" y="0"/>
                    </a:lnTo>
                    <a:lnTo>
                      <a:pt x="483" y="0"/>
                    </a:lnTo>
                    <a:lnTo>
                      <a:pt x="698" y="0"/>
                    </a:lnTo>
                    <a:lnTo>
                      <a:pt x="672" y="17"/>
                    </a:lnTo>
                    <a:lnTo>
                      <a:pt x="647" y="34"/>
                    </a:lnTo>
                    <a:lnTo>
                      <a:pt x="605" y="45"/>
                    </a:lnTo>
                    <a:lnTo>
                      <a:pt x="559" y="58"/>
                    </a:lnTo>
                    <a:lnTo>
                      <a:pt x="510" y="72"/>
                    </a:lnTo>
                    <a:lnTo>
                      <a:pt x="457" y="89"/>
                    </a:lnTo>
                    <a:lnTo>
                      <a:pt x="404" y="108"/>
                    </a:lnTo>
                    <a:lnTo>
                      <a:pt x="354" y="127"/>
                    </a:lnTo>
                    <a:lnTo>
                      <a:pt x="304" y="146"/>
                    </a:lnTo>
                    <a:lnTo>
                      <a:pt x="259" y="167"/>
                    </a:lnTo>
                    <a:lnTo>
                      <a:pt x="216" y="188"/>
                    </a:lnTo>
                    <a:lnTo>
                      <a:pt x="180" y="207"/>
                    </a:lnTo>
                    <a:lnTo>
                      <a:pt x="147" y="224"/>
                    </a:lnTo>
                    <a:lnTo>
                      <a:pt x="121" y="239"/>
                    </a:lnTo>
                    <a:lnTo>
                      <a:pt x="61" y="239"/>
                    </a:lnTo>
                    <a:lnTo>
                      <a:pt x="0" y="239"/>
                    </a:lnTo>
                    <a:lnTo>
                      <a:pt x="42" y="215"/>
                    </a:lnTo>
                    <a:lnTo>
                      <a:pt x="92" y="189"/>
                    </a:lnTo>
                    <a:lnTo>
                      <a:pt x="118" y="176"/>
                    </a:lnTo>
                    <a:lnTo>
                      <a:pt x="147" y="164"/>
                    </a:lnTo>
                    <a:lnTo>
                      <a:pt x="176" y="151"/>
                    </a:lnTo>
                    <a:lnTo>
                      <a:pt x="209" y="138"/>
                    </a:lnTo>
                    <a:lnTo>
                      <a:pt x="276" y="112"/>
                    </a:lnTo>
                    <a:lnTo>
                      <a:pt x="345" y="88"/>
                    </a:lnTo>
                    <a:lnTo>
                      <a:pt x="416" y="65"/>
                    </a:lnTo>
                    <a:lnTo>
                      <a:pt x="490" y="45"/>
                    </a:lnTo>
                    <a:lnTo>
                      <a:pt x="347" y="45"/>
                    </a:lnTo>
                    <a:lnTo>
                      <a:pt x="204" y="4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434" name="Freeform 954"/>
              <p:cNvSpPr>
                <a:spLocks noEditPoints="1"/>
              </p:cNvSpPr>
              <p:nvPr/>
            </p:nvSpPr>
            <p:spPr bwMode="auto">
              <a:xfrm>
                <a:off x="2088" y="3434"/>
                <a:ext cx="315" cy="124"/>
              </a:xfrm>
              <a:custGeom>
                <a:avLst/>
                <a:gdLst>
                  <a:gd name="T0" fmla="*/ 202 w 631"/>
                  <a:gd name="T1" fmla="*/ 104 h 249"/>
                  <a:gd name="T2" fmla="*/ 191 w 631"/>
                  <a:gd name="T3" fmla="*/ 85 h 249"/>
                  <a:gd name="T4" fmla="*/ 212 w 631"/>
                  <a:gd name="T5" fmla="*/ 62 h 249"/>
                  <a:gd name="T6" fmla="*/ 295 w 631"/>
                  <a:gd name="T7" fmla="*/ 28 h 249"/>
                  <a:gd name="T8" fmla="*/ 412 w 631"/>
                  <a:gd name="T9" fmla="*/ 4 h 249"/>
                  <a:gd name="T10" fmla="*/ 524 w 631"/>
                  <a:gd name="T11" fmla="*/ 0 h 249"/>
                  <a:gd name="T12" fmla="*/ 579 w 631"/>
                  <a:gd name="T13" fmla="*/ 4 h 249"/>
                  <a:gd name="T14" fmla="*/ 614 w 631"/>
                  <a:gd name="T15" fmla="*/ 14 h 249"/>
                  <a:gd name="T16" fmla="*/ 629 w 631"/>
                  <a:gd name="T17" fmla="*/ 28 h 249"/>
                  <a:gd name="T18" fmla="*/ 627 w 631"/>
                  <a:gd name="T19" fmla="*/ 43 h 249"/>
                  <a:gd name="T20" fmla="*/ 607 w 631"/>
                  <a:gd name="T21" fmla="*/ 62 h 249"/>
                  <a:gd name="T22" fmla="*/ 559 w 631"/>
                  <a:gd name="T23" fmla="*/ 87 h 249"/>
                  <a:gd name="T24" fmla="*/ 441 w 631"/>
                  <a:gd name="T25" fmla="*/ 112 h 249"/>
                  <a:gd name="T26" fmla="*/ 484 w 631"/>
                  <a:gd name="T27" fmla="*/ 130 h 249"/>
                  <a:gd name="T28" fmla="*/ 484 w 631"/>
                  <a:gd name="T29" fmla="*/ 154 h 249"/>
                  <a:gd name="T30" fmla="*/ 436 w 631"/>
                  <a:gd name="T31" fmla="*/ 188 h 249"/>
                  <a:gd name="T32" fmla="*/ 324 w 631"/>
                  <a:gd name="T33" fmla="*/ 228 h 249"/>
                  <a:gd name="T34" fmla="*/ 188 w 631"/>
                  <a:gd name="T35" fmla="*/ 247 h 249"/>
                  <a:gd name="T36" fmla="*/ 98 w 631"/>
                  <a:gd name="T37" fmla="*/ 247 h 249"/>
                  <a:gd name="T38" fmla="*/ 48 w 631"/>
                  <a:gd name="T39" fmla="*/ 242 h 249"/>
                  <a:gd name="T40" fmla="*/ 16 w 631"/>
                  <a:gd name="T41" fmla="*/ 231 h 249"/>
                  <a:gd name="T42" fmla="*/ 0 w 631"/>
                  <a:gd name="T43" fmla="*/ 214 h 249"/>
                  <a:gd name="T44" fmla="*/ 9 w 631"/>
                  <a:gd name="T45" fmla="*/ 192 h 249"/>
                  <a:gd name="T46" fmla="*/ 45 w 631"/>
                  <a:gd name="T47" fmla="*/ 166 h 249"/>
                  <a:gd name="T48" fmla="*/ 111 w 631"/>
                  <a:gd name="T49" fmla="*/ 138 h 249"/>
                  <a:gd name="T50" fmla="*/ 197 w 631"/>
                  <a:gd name="T51" fmla="*/ 118 h 249"/>
                  <a:gd name="T52" fmla="*/ 326 w 631"/>
                  <a:gd name="T53" fmla="*/ 66 h 249"/>
                  <a:gd name="T54" fmla="*/ 312 w 631"/>
                  <a:gd name="T55" fmla="*/ 85 h 249"/>
                  <a:gd name="T56" fmla="*/ 331 w 631"/>
                  <a:gd name="T57" fmla="*/ 93 h 249"/>
                  <a:gd name="T58" fmla="*/ 395 w 631"/>
                  <a:gd name="T59" fmla="*/ 93 h 249"/>
                  <a:gd name="T60" fmla="*/ 459 w 631"/>
                  <a:gd name="T61" fmla="*/ 80 h 249"/>
                  <a:gd name="T62" fmla="*/ 497 w 631"/>
                  <a:gd name="T63" fmla="*/ 54 h 249"/>
                  <a:gd name="T64" fmla="*/ 486 w 631"/>
                  <a:gd name="T65" fmla="*/ 42 h 249"/>
                  <a:gd name="T66" fmla="*/ 448 w 631"/>
                  <a:gd name="T67" fmla="*/ 37 h 249"/>
                  <a:gd name="T68" fmla="*/ 364 w 631"/>
                  <a:gd name="T69" fmla="*/ 49 h 249"/>
                  <a:gd name="T70" fmla="*/ 326 w 631"/>
                  <a:gd name="T71" fmla="*/ 66 h 249"/>
                  <a:gd name="T72" fmla="*/ 142 w 631"/>
                  <a:gd name="T73" fmla="*/ 188 h 249"/>
                  <a:gd name="T74" fmla="*/ 150 w 631"/>
                  <a:gd name="T75" fmla="*/ 205 h 249"/>
                  <a:gd name="T76" fmla="*/ 193 w 631"/>
                  <a:gd name="T77" fmla="*/ 211 h 249"/>
                  <a:gd name="T78" fmla="*/ 293 w 631"/>
                  <a:gd name="T79" fmla="*/ 195 h 249"/>
                  <a:gd name="T80" fmla="*/ 353 w 631"/>
                  <a:gd name="T81" fmla="*/ 162 h 249"/>
                  <a:gd name="T82" fmla="*/ 357 w 631"/>
                  <a:gd name="T83" fmla="*/ 143 h 249"/>
                  <a:gd name="T84" fmla="*/ 324 w 631"/>
                  <a:gd name="T85" fmla="*/ 133 h 249"/>
                  <a:gd name="T86" fmla="*/ 241 w 631"/>
                  <a:gd name="T87" fmla="*/ 140 h 249"/>
                  <a:gd name="T88" fmla="*/ 186 w 631"/>
                  <a:gd name="T89" fmla="*/ 157 h 249"/>
                  <a:gd name="T90" fmla="*/ 160 w 631"/>
                  <a:gd name="T91" fmla="*/ 171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1" h="249">
                    <a:moveTo>
                      <a:pt x="231" y="112"/>
                    </a:moveTo>
                    <a:lnTo>
                      <a:pt x="214" y="109"/>
                    </a:lnTo>
                    <a:lnTo>
                      <a:pt x="202" y="104"/>
                    </a:lnTo>
                    <a:lnTo>
                      <a:pt x="195" y="99"/>
                    </a:lnTo>
                    <a:lnTo>
                      <a:pt x="191" y="92"/>
                    </a:lnTo>
                    <a:lnTo>
                      <a:pt x="191" y="85"/>
                    </a:lnTo>
                    <a:lnTo>
                      <a:pt x="195" y="78"/>
                    </a:lnTo>
                    <a:lnTo>
                      <a:pt x="202" y="71"/>
                    </a:lnTo>
                    <a:lnTo>
                      <a:pt x="212" y="62"/>
                    </a:lnTo>
                    <a:lnTo>
                      <a:pt x="235" y="50"/>
                    </a:lnTo>
                    <a:lnTo>
                      <a:pt x="262" y="38"/>
                    </a:lnTo>
                    <a:lnTo>
                      <a:pt x="295" y="28"/>
                    </a:lnTo>
                    <a:lnTo>
                      <a:pt x="331" y="18"/>
                    </a:lnTo>
                    <a:lnTo>
                      <a:pt x="371" y="11"/>
                    </a:lnTo>
                    <a:lnTo>
                      <a:pt x="412" y="4"/>
                    </a:lnTo>
                    <a:lnTo>
                      <a:pt x="455" y="2"/>
                    </a:lnTo>
                    <a:lnTo>
                      <a:pt x="502" y="0"/>
                    </a:lnTo>
                    <a:lnTo>
                      <a:pt x="524" y="0"/>
                    </a:lnTo>
                    <a:lnTo>
                      <a:pt x="545" y="2"/>
                    </a:lnTo>
                    <a:lnTo>
                      <a:pt x="562" y="2"/>
                    </a:lnTo>
                    <a:lnTo>
                      <a:pt x="579" y="4"/>
                    </a:lnTo>
                    <a:lnTo>
                      <a:pt x="593" y="7"/>
                    </a:lnTo>
                    <a:lnTo>
                      <a:pt x="605" y="11"/>
                    </a:lnTo>
                    <a:lnTo>
                      <a:pt x="614" y="14"/>
                    </a:lnTo>
                    <a:lnTo>
                      <a:pt x="621" y="18"/>
                    </a:lnTo>
                    <a:lnTo>
                      <a:pt x="626" y="23"/>
                    </a:lnTo>
                    <a:lnTo>
                      <a:pt x="629" y="28"/>
                    </a:lnTo>
                    <a:lnTo>
                      <a:pt x="631" y="33"/>
                    </a:lnTo>
                    <a:lnTo>
                      <a:pt x="629" y="38"/>
                    </a:lnTo>
                    <a:lnTo>
                      <a:pt x="627" y="43"/>
                    </a:lnTo>
                    <a:lnTo>
                      <a:pt x="622" y="50"/>
                    </a:lnTo>
                    <a:lnTo>
                      <a:pt x="615" y="56"/>
                    </a:lnTo>
                    <a:lnTo>
                      <a:pt x="607" y="62"/>
                    </a:lnTo>
                    <a:lnTo>
                      <a:pt x="593" y="71"/>
                    </a:lnTo>
                    <a:lnTo>
                      <a:pt x="577" y="80"/>
                    </a:lnTo>
                    <a:lnTo>
                      <a:pt x="559" y="87"/>
                    </a:lnTo>
                    <a:lnTo>
                      <a:pt x="538" y="93"/>
                    </a:lnTo>
                    <a:lnTo>
                      <a:pt x="491" y="106"/>
                    </a:lnTo>
                    <a:lnTo>
                      <a:pt x="441" y="112"/>
                    </a:lnTo>
                    <a:lnTo>
                      <a:pt x="460" y="118"/>
                    </a:lnTo>
                    <a:lnTo>
                      <a:pt x="474" y="123"/>
                    </a:lnTo>
                    <a:lnTo>
                      <a:pt x="484" y="130"/>
                    </a:lnTo>
                    <a:lnTo>
                      <a:pt x="490" y="137"/>
                    </a:lnTo>
                    <a:lnTo>
                      <a:pt x="490" y="145"/>
                    </a:lnTo>
                    <a:lnTo>
                      <a:pt x="484" y="154"/>
                    </a:lnTo>
                    <a:lnTo>
                      <a:pt x="478" y="162"/>
                    </a:lnTo>
                    <a:lnTo>
                      <a:pt x="464" y="173"/>
                    </a:lnTo>
                    <a:lnTo>
                      <a:pt x="436" y="188"/>
                    </a:lnTo>
                    <a:lnTo>
                      <a:pt x="405" y="204"/>
                    </a:lnTo>
                    <a:lnTo>
                      <a:pt x="367" y="216"/>
                    </a:lnTo>
                    <a:lnTo>
                      <a:pt x="324" y="228"/>
                    </a:lnTo>
                    <a:lnTo>
                      <a:pt x="279" y="236"/>
                    </a:lnTo>
                    <a:lnTo>
                      <a:pt x="235" y="243"/>
                    </a:lnTo>
                    <a:lnTo>
                      <a:pt x="188" y="247"/>
                    </a:lnTo>
                    <a:lnTo>
                      <a:pt x="140" y="249"/>
                    </a:lnTo>
                    <a:lnTo>
                      <a:pt x="117" y="249"/>
                    </a:lnTo>
                    <a:lnTo>
                      <a:pt x="98" y="247"/>
                    </a:lnTo>
                    <a:lnTo>
                      <a:pt x="79" y="247"/>
                    </a:lnTo>
                    <a:lnTo>
                      <a:pt x="64" y="245"/>
                    </a:lnTo>
                    <a:lnTo>
                      <a:pt x="48" y="242"/>
                    </a:lnTo>
                    <a:lnTo>
                      <a:pt x="36" y="240"/>
                    </a:lnTo>
                    <a:lnTo>
                      <a:pt x="24" y="235"/>
                    </a:lnTo>
                    <a:lnTo>
                      <a:pt x="16" y="231"/>
                    </a:lnTo>
                    <a:lnTo>
                      <a:pt x="7" y="226"/>
                    </a:lnTo>
                    <a:lnTo>
                      <a:pt x="2" y="219"/>
                    </a:lnTo>
                    <a:lnTo>
                      <a:pt x="0" y="214"/>
                    </a:lnTo>
                    <a:lnTo>
                      <a:pt x="0" y="207"/>
                    </a:lnTo>
                    <a:lnTo>
                      <a:pt x="4" y="200"/>
                    </a:lnTo>
                    <a:lnTo>
                      <a:pt x="9" y="192"/>
                    </a:lnTo>
                    <a:lnTo>
                      <a:pt x="17" y="183"/>
                    </a:lnTo>
                    <a:lnTo>
                      <a:pt x="30" y="174"/>
                    </a:lnTo>
                    <a:lnTo>
                      <a:pt x="45" y="166"/>
                    </a:lnTo>
                    <a:lnTo>
                      <a:pt x="64" y="157"/>
                    </a:lnTo>
                    <a:lnTo>
                      <a:pt x="86" y="147"/>
                    </a:lnTo>
                    <a:lnTo>
                      <a:pt x="111" y="138"/>
                    </a:lnTo>
                    <a:lnTo>
                      <a:pt x="136" y="131"/>
                    </a:lnTo>
                    <a:lnTo>
                      <a:pt x="166" y="124"/>
                    </a:lnTo>
                    <a:lnTo>
                      <a:pt x="197" y="118"/>
                    </a:lnTo>
                    <a:lnTo>
                      <a:pt x="231" y="112"/>
                    </a:lnTo>
                    <a:lnTo>
                      <a:pt x="231" y="112"/>
                    </a:lnTo>
                    <a:close/>
                    <a:moveTo>
                      <a:pt x="326" y="66"/>
                    </a:moveTo>
                    <a:lnTo>
                      <a:pt x="317" y="73"/>
                    </a:lnTo>
                    <a:lnTo>
                      <a:pt x="314" y="80"/>
                    </a:lnTo>
                    <a:lnTo>
                      <a:pt x="312" y="85"/>
                    </a:lnTo>
                    <a:lnTo>
                      <a:pt x="316" y="88"/>
                    </a:lnTo>
                    <a:lnTo>
                      <a:pt x="322" y="92"/>
                    </a:lnTo>
                    <a:lnTo>
                      <a:pt x="331" y="93"/>
                    </a:lnTo>
                    <a:lnTo>
                      <a:pt x="345" y="95"/>
                    </a:lnTo>
                    <a:lnTo>
                      <a:pt x="360" y="95"/>
                    </a:lnTo>
                    <a:lnTo>
                      <a:pt x="395" y="93"/>
                    </a:lnTo>
                    <a:lnTo>
                      <a:pt x="429" y="88"/>
                    </a:lnTo>
                    <a:lnTo>
                      <a:pt x="445" y="85"/>
                    </a:lnTo>
                    <a:lnTo>
                      <a:pt x="459" y="80"/>
                    </a:lnTo>
                    <a:lnTo>
                      <a:pt x="483" y="66"/>
                    </a:lnTo>
                    <a:lnTo>
                      <a:pt x="491" y="59"/>
                    </a:lnTo>
                    <a:lnTo>
                      <a:pt x="497" y="54"/>
                    </a:lnTo>
                    <a:lnTo>
                      <a:pt x="497" y="49"/>
                    </a:lnTo>
                    <a:lnTo>
                      <a:pt x="493" y="45"/>
                    </a:lnTo>
                    <a:lnTo>
                      <a:pt x="486" y="42"/>
                    </a:lnTo>
                    <a:lnTo>
                      <a:pt x="478" y="38"/>
                    </a:lnTo>
                    <a:lnTo>
                      <a:pt x="464" y="37"/>
                    </a:lnTo>
                    <a:lnTo>
                      <a:pt x="448" y="37"/>
                    </a:lnTo>
                    <a:lnTo>
                      <a:pt x="414" y="38"/>
                    </a:lnTo>
                    <a:lnTo>
                      <a:pt x="379" y="45"/>
                    </a:lnTo>
                    <a:lnTo>
                      <a:pt x="364" y="49"/>
                    </a:lnTo>
                    <a:lnTo>
                      <a:pt x="350" y="54"/>
                    </a:lnTo>
                    <a:lnTo>
                      <a:pt x="326" y="66"/>
                    </a:lnTo>
                    <a:lnTo>
                      <a:pt x="326" y="66"/>
                    </a:lnTo>
                    <a:close/>
                    <a:moveTo>
                      <a:pt x="160" y="171"/>
                    </a:moveTo>
                    <a:lnTo>
                      <a:pt x="148" y="180"/>
                    </a:lnTo>
                    <a:lnTo>
                      <a:pt x="142" y="188"/>
                    </a:lnTo>
                    <a:lnTo>
                      <a:pt x="140" y="195"/>
                    </a:lnTo>
                    <a:lnTo>
                      <a:pt x="143" y="200"/>
                    </a:lnTo>
                    <a:lnTo>
                      <a:pt x="150" y="205"/>
                    </a:lnTo>
                    <a:lnTo>
                      <a:pt x="160" y="209"/>
                    </a:lnTo>
                    <a:lnTo>
                      <a:pt x="174" y="211"/>
                    </a:lnTo>
                    <a:lnTo>
                      <a:pt x="193" y="211"/>
                    </a:lnTo>
                    <a:lnTo>
                      <a:pt x="233" y="209"/>
                    </a:lnTo>
                    <a:lnTo>
                      <a:pt x="272" y="200"/>
                    </a:lnTo>
                    <a:lnTo>
                      <a:pt x="293" y="195"/>
                    </a:lnTo>
                    <a:lnTo>
                      <a:pt x="310" y="188"/>
                    </a:lnTo>
                    <a:lnTo>
                      <a:pt x="343" y="171"/>
                    </a:lnTo>
                    <a:lnTo>
                      <a:pt x="353" y="162"/>
                    </a:lnTo>
                    <a:lnTo>
                      <a:pt x="359" y="155"/>
                    </a:lnTo>
                    <a:lnTo>
                      <a:pt x="360" y="149"/>
                    </a:lnTo>
                    <a:lnTo>
                      <a:pt x="357" y="143"/>
                    </a:lnTo>
                    <a:lnTo>
                      <a:pt x="350" y="138"/>
                    </a:lnTo>
                    <a:lnTo>
                      <a:pt x="340" y="137"/>
                    </a:lnTo>
                    <a:lnTo>
                      <a:pt x="324" y="133"/>
                    </a:lnTo>
                    <a:lnTo>
                      <a:pt x="307" y="133"/>
                    </a:lnTo>
                    <a:lnTo>
                      <a:pt x="262" y="137"/>
                    </a:lnTo>
                    <a:lnTo>
                      <a:pt x="241" y="140"/>
                    </a:lnTo>
                    <a:lnTo>
                      <a:pt x="221" y="145"/>
                    </a:lnTo>
                    <a:lnTo>
                      <a:pt x="202" y="150"/>
                    </a:lnTo>
                    <a:lnTo>
                      <a:pt x="186" y="157"/>
                    </a:lnTo>
                    <a:lnTo>
                      <a:pt x="173" y="164"/>
                    </a:lnTo>
                    <a:lnTo>
                      <a:pt x="160" y="171"/>
                    </a:lnTo>
                    <a:lnTo>
                      <a:pt x="160" y="17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435" name="Freeform 955"/>
              <p:cNvSpPr>
                <a:spLocks noEditPoints="1"/>
              </p:cNvSpPr>
              <p:nvPr/>
            </p:nvSpPr>
            <p:spPr bwMode="auto">
              <a:xfrm>
                <a:off x="1557" y="3420"/>
                <a:ext cx="317" cy="124"/>
              </a:xfrm>
              <a:custGeom>
                <a:avLst/>
                <a:gdLst>
                  <a:gd name="T0" fmla="*/ 203 w 632"/>
                  <a:gd name="T1" fmla="*/ 103 h 248"/>
                  <a:gd name="T2" fmla="*/ 193 w 632"/>
                  <a:gd name="T3" fmla="*/ 84 h 248"/>
                  <a:gd name="T4" fmla="*/ 213 w 632"/>
                  <a:gd name="T5" fmla="*/ 62 h 248"/>
                  <a:gd name="T6" fmla="*/ 294 w 632"/>
                  <a:gd name="T7" fmla="*/ 27 h 248"/>
                  <a:gd name="T8" fmla="*/ 412 w 632"/>
                  <a:gd name="T9" fmla="*/ 3 h 248"/>
                  <a:gd name="T10" fmla="*/ 525 w 632"/>
                  <a:gd name="T11" fmla="*/ 0 h 248"/>
                  <a:gd name="T12" fmla="*/ 579 w 632"/>
                  <a:gd name="T13" fmla="*/ 3 h 248"/>
                  <a:gd name="T14" fmla="*/ 615 w 632"/>
                  <a:gd name="T15" fmla="*/ 14 h 248"/>
                  <a:gd name="T16" fmla="*/ 630 w 632"/>
                  <a:gd name="T17" fmla="*/ 27 h 248"/>
                  <a:gd name="T18" fmla="*/ 629 w 632"/>
                  <a:gd name="T19" fmla="*/ 43 h 248"/>
                  <a:gd name="T20" fmla="*/ 606 w 632"/>
                  <a:gd name="T21" fmla="*/ 62 h 248"/>
                  <a:gd name="T22" fmla="*/ 558 w 632"/>
                  <a:gd name="T23" fmla="*/ 86 h 248"/>
                  <a:gd name="T24" fmla="*/ 441 w 632"/>
                  <a:gd name="T25" fmla="*/ 112 h 248"/>
                  <a:gd name="T26" fmla="*/ 484 w 632"/>
                  <a:gd name="T27" fmla="*/ 129 h 248"/>
                  <a:gd name="T28" fmla="*/ 486 w 632"/>
                  <a:gd name="T29" fmla="*/ 153 h 248"/>
                  <a:gd name="T30" fmla="*/ 437 w 632"/>
                  <a:gd name="T31" fmla="*/ 188 h 248"/>
                  <a:gd name="T32" fmla="*/ 325 w 632"/>
                  <a:gd name="T33" fmla="*/ 227 h 248"/>
                  <a:gd name="T34" fmla="*/ 188 w 632"/>
                  <a:gd name="T35" fmla="*/ 246 h 248"/>
                  <a:gd name="T36" fmla="*/ 65 w 632"/>
                  <a:gd name="T37" fmla="*/ 245 h 248"/>
                  <a:gd name="T38" fmla="*/ 26 w 632"/>
                  <a:gd name="T39" fmla="*/ 234 h 248"/>
                  <a:gd name="T40" fmla="*/ 3 w 632"/>
                  <a:gd name="T41" fmla="*/ 219 h 248"/>
                  <a:gd name="T42" fmla="*/ 3 w 632"/>
                  <a:gd name="T43" fmla="*/ 200 h 248"/>
                  <a:gd name="T44" fmla="*/ 31 w 632"/>
                  <a:gd name="T45" fmla="*/ 174 h 248"/>
                  <a:gd name="T46" fmla="*/ 86 w 632"/>
                  <a:gd name="T47" fmla="*/ 146 h 248"/>
                  <a:gd name="T48" fmla="*/ 165 w 632"/>
                  <a:gd name="T49" fmla="*/ 124 h 248"/>
                  <a:gd name="T50" fmla="*/ 231 w 632"/>
                  <a:gd name="T51" fmla="*/ 112 h 248"/>
                  <a:gd name="T52" fmla="*/ 319 w 632"/>
                  <a:gd name="T53" fmla="*/ 72 h 248"/>
                  <a:gd name="T54" fmla="*/ 317 w 632"/>
                  <a:gd name="T55" fmla="*/ 88 h 248"/>
                  <a:gd name="T56" fmla="*/ 344 w 632"/>
                  <a:gd name="T57" fmla="*/ 95 h 248"/>
                  <a:gd name="T58" fmla="*/ 431 w 632"/>
                  <a:gd name="T59" fmla="*/ 88 h 248"/>
                  <a:gd name="T60" fmla="*/ 484 w 632"/>
                  <a:gd name="T61" fmla="*/ 65 h 248"/>
                  <a:gd name="T62" fmla="*/ 496 w 632"/>
                  <a:gd name="T63" fmla="*/ 48 h 248"/>
                  <a:gd name="T64" fmla="*/ 477 w 632"/>
                  <a:gd name="T65" fmla="*/ 38 h 248"/>
                  <a:gd name="T66" fmla="*/ 413 w 632"/>
                  <a:gd name="T67" fmla="*/ 38 h 248"/>
                  <a:gd name="T68" fmla="*/ 337 w 632"/>
                  <a:gd name="T69" fmla="*/ 58 h 248"/>
                  <a:gd name="T70" fmla="*/ 327 w 632"/>
                  <a:gd name="T71" fmla="*/ 65 h 248"/>
                  <a:gd name="T72" fmla="*/ 141 w 632"/>
                  <a:gd name="T73" fmla="*/ 188 h 248"/>
                  <a:gd name="T74" fmla="*/ 150 w 632"/>
                  <a:gd name="T75" fmla="*/ 205 h 248"/>
                  <a:gd name="T76" fmla="*/ 193 w 632"/>
                  <a:gd name="T77" fmla="*/ 210 h 248"/>
                  <a:gd name="T78" fmla="*/ 312 w 632"/>
                  <a:gd name="T79" fmla="*/ 188 h 248"/>
                  <a:gd name="T80" fmla="*/ 353 w 632"/>
                  <a:gd name="T81" fmla="*/ 162 h 248"/>
                  <a:gd name="T82" fmla="*/ 358 w 632"/>
                  <a:gd name="T83" fmla="*/ 143 h 248"/>
                  <a:gd name="T84" fmla="*/ 325 w 632"/>
                  <a:gd name="T85" fmla="*/ 133 h 248"/>
                  <a:gd name="T86" fmla="*/ 243 w 632"/>
                  <a:gd name="T87" fmla="*/ 139 h 248"/>
                  <a:gd name="T88" fmla="*/ 186 w 632"/>
                  <a:gd name="T89" fmla="*/ 157 h 248"/>
                  <a:gd name="T90" fmla="*/ 160 w 632"/>
                  <a:gd name="T91" fmla="*/ 17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2" h="248">
                    <a:moveTo>
                      <a:pt x="231" y="112"/>
                    </a:moveTo>
                    <a:lnTo>
                      <a:pt x="215" y="108"/>
                    </a:lnTo>
                    <a:lnTo>
                      <a:pt x="203" y="103"/>
                    </a:lnTo>
                    <a:lnTo>
                      <a:pt x="196" y="98"/>
                    </a:lnTo>
                    <a:lnTo>
                      <a:pt x="193" y="91"/>
                    </a:lnTo>
                    <a:lnTo>
                      <a:pt x="193" y="84"/>
                    </a:lnTo>
                    <a:lnTo>
                      <a:pt x="196" y="77"/>
                    </a:lnTo>
                    <a:lnTo>
                      <a:pt x="203" y="70"/>
                    </a:lnTo>
                    <a:lnTo>
                      <a:pt x="213" y="62"/>
                    </a:lnTo>
                    <a:lnTo>
                      <a:pt x="236" y="50"/>
                    </a:lnTo>
                    <a:lnTo>
                      <a:pt x="262" y="38"/>
                    </a:lnTo>
                    <a:lnTo>
                      <a:pt x="294" y="27"/>
                    </a:lnTo>
                    <a:lnTo>
                      <a:pt x="331" y="17"/>
                    </a:lnTo>
                    <a:lnTo>
                      <a:pt x="370" y="10"/>
                    </a:lnTo>
                    <a:lnTo>
                      <a:pt x="412" y="3"/>
                    </a:lnTo>
                    <a:lnTo>
                      <a:pt x="456" y="2"/>
                    </a:lnTo>
                    <a:lnTo>
                      <a:pt x="503" y="0"/>
                    </a:lnTo>
                    <a:lnTo>
                      <a:pt x="525" y="0"/>
                    </a:lnTo>
                    <a:lnTo>
                      <a:pt x="546" y="2"/>
                    </a:lnTo>
                    <a:lnTo>
                      <a:pt x="563" y="2"/>
                    </a:lnTo>
                    <a:lnTo>
                      <a:pt x="579" y="3"/>
                    </a:lnTo>
                    <a:lnTo>
                      <a:pt x="592" y="7"/>
                    </a:lnTo>
                    <a:lnTo>
                      <a:pt x="605" y="10"/>
                    </a:lnTo>
                    <a:lnTo>
                      <a:pt x="615" y="14"/>
                    </a:lnTo>
                    <a:lnTo>
                      <a:pt x="622" y="17"/>
                    </a:lnTo>
                    <a:lnTo>
                      <a:pt x="627" y="22"/>
                    </a:lnTo>
                    <a:lnTo>
                      <a:pt x="630" y="27"/>
                    </a:lnTo>
                    <a:lnTo>
                      <a:pt x="632" y="33"/>
                    </a:lnTo>
                    <a:lnTo>
                      <a:pt x="630" y="38"/>
                    </a:lnTo>
                    <a:lnTo>
                      <a:pt x="629" y="43"/>
                    </a:lnTo>
                    <a:lnTo>
                      <a:pt x="624" y="50"/>
                    </a:lnTo>
                    <a:lnTo>
                      <a:pt x="615" y="55"/>
                    </a:lnTo>
                    <a:lnTo>
                      <a:pt x="606" y="62"/>
                    </a:lnTo>
                    <a:lnTo>
                      <a:pt x="592" y="70"/>
                    </a:lnTo>
                    <a:lnTo>
                      <a:pt x="577" y="79"/>
                    </a:lnTo>
                    <a:lnTo>
                      <a:pt x="558" y="86"/>
                    </a:lnTo>
                    <a:lnTo>
                      <a:pt x="539" y="93"/>
                    </a:lnTo>
                    <a:lnTo>
                      <a:pt x="493" y="105"/>
                    </a:lnTo>
                    <a:lnTo>
                      <a:pt x="441" y="112"/>
                    </a:lnTo>
                    <a:lnTo>
                      <a:pt x="460" y="117"/>
                    </a:lnTo>
                    <a:lnTo>
                      <a:pt x="475" y="122"/>
                    </a:lnTo>
                    <a:lnTo>
                      <a:pt x="484" y="129"/>
                    </a:lnTo>
                    <a:lnTo>
                      <a:pt x="489" y="136"/>
                    </a:lnTo>
                    <a:lnTo>
                      <a:pt x="489" y="145"/>
                    </a:lnTo>
                    <a:lnTo>
                      <a:pt x="486" y="153"/>
                    </a:lnTo>
                    <a:lnTo>
                      <a:pt x="477" y="162"/>
                    </a:lnTo>
                    <a:lnTo>
                      <a:pt x="465" y="172"/>
                    </a:lnTo>
                    <a:lnTo>
                      <a:pt x="437" y="188"/>
                    </a:lnTo>
                    <a:lnTo>
                      <a:pt x="405" y="203"/>
                    </a:lnTo>
                    <a:lnTo>
                      <a:pt x="367" y="215"/>
                    </a:lnTo>
                    <a:lnTo>
                      <a:pt x="325" y="227"/>
                    </a:lnTo>
                    <a:lnTo>
                      <a:pt x="281" y="236"/>
                    </a:lnTo>
                    <a:lnTo>
                      <a:pt x="234" y="243"/>
                    </a:lnTo>
                    <a:lnTo>
                      <a:pt x="188" y="246"/>
                    </a:lnTo>
                    <a:lnTo>
                      <a:pt x="139" y="248"/>
                    </a:lnTo>
                    <a:lnTo>
                      <a:pt x="98" y="246"/>
                    </a:lnTo>
                    <a:lnTo>
                      <a:pt x="65" y="245"/>
                    </a:lnTo>
                    <a:lnTo>
                      <a:pt x="50" y="241"/>
                    </a:lnTo>
                    <a:lnTo>
                      <a:pt x="38" y="239"/>
                    </a:lnTo>
                    <a:lnTo>
                      <a:pt x="26" y="234"/>
                    </a:lnTo>
                    <a:lnTo>
                      <a:pt x="17" y="231"/>
                    </a:lnTo>
                    <a:lnTo>
                      <a:pt x="8" y="226"/>
                    </a:lnTo>
                    <a:lnTo>
                      <a:pt x="3" y="219"/>
                    </a:lnTo>
                    <a:lnTo>
                      <a:pt x="0" y="214"/>
                    </a:lnTo>
                    <a:lnTo>
                      <a:pt x="1" y="207"/>
                    </a:lnTo>
                    <a:lnTo>
                      <a:pt x="3" y="200"/>
                    </a:lnTo>
                    <a:lnTo>
                      <a:pt x="10" y="191"/>
                    </a:lnTo>
                    <a:lnTo>
                      <a:pt x="19" y="182"/>
                    </a:lnTo>
                    <a:lnTo>
                      <a:pt x="31" y="174"/>
                    </a:lnTo>
                    <a:lnTo>
                      <a:pt x="46" y="165"/>
                    </a:lnTo>
                    <a:lnTo>
                      <a:pt x="65" y="157"/>
                    </a:lnTo>
                    <a:lnTo>
                      <a:pt x="86" y="146"/>
                    </a:lnTo>
                    <a:lnTo>
                      <a:pt x="110" y="138"/>
                    </a:lnTo>
                    <a:lnTo>
                      <a:pt x="138" y="131"/>
                    </a:lnTo>
                    <a:lnTo>
                      <a:pt x="165" y="124"/>
                    </a:lnTo>
                    <a:lnTo>
                      <a:pt x="198" y="117"/>
                    </a:lnTo>
                    <a:lnTo>
                      <a:pt x="231" y="112"/>
                    </a:lnTo>
                    <a:lnTo>
                      <a:pt x="231" y="112"/>
                    </a:lnTo>
                    <a:lnTo>
                      <a:pt x="231" y="112"/>
                    </a:lnTo>
                    <a:close/>
                    <a:moveTo>
                      <a:pt x="327" y="65"/>
                    </a:moveTo>
                    <a:lnTo>
                      <a:pt x="319" y="72"/>
                    </a:lnTo>
                    <a:lnTo>
                      <a:pt x="315" y="79"/>
                    </a:lnTo>
                    <a:lnTo>
                      <a:pt x="313" y="84"/>
                    </a:lnTo>
                    <a:lnTo>
                      <a:pt x="317" y="88"/>
                    </a:lnTo>
                    <a:lnTo>
                      <a:pt x="322" y="91"/>
                    </a:lnTo>
                    <a:lnTo>
                      <a:pt x="332" y="93"/>
                    </a:lnTo>
                    <a:lnTo>
                      <a:pt x="344" y="95"/>
                    </a:lnTo>
                    <a:lnTo>
                      <a:pt x="362" y="95"/>
                    </a:lnTo>
                    <a:lnTo>
                      <a:pt x="396" y="93"/>
                    </a:lnTo>
                    <a:lnTo>
                      <a:pt x="431" y="88"/>
                    </a:lnTo>
                    <a:lnTo>
                      <a:pt x="460" y="79"/>
                    </a:lnTo>
                    <a:lnTo>
                      <a:pt x="474" y="72"/>
                    </a:lnTo>
                    <a:lnTo>
                      <a:pt x="484" y="65"/>
                    </a:lnTo>
                    <a:lnTo>
                      <a:pt x="491" y="58"/>
                    </a:lnTo>
                    <a:lnTo>
                      <a:pt x="496" y="53"/>
                    </a:lnTo>
                    <a:lnTo>
                      <a:pt x="496" y="48"/>
                    </a:lnTo>
                    <a:lnTo>
                      <a:pt x="494" y="45"/>
                    </a:lnTo>
                    <a:lnTo>
                      <a:pt x="487" y="41"/>
                    </a:lnTo>
                    <a:lnTo>
                      <a:pt x="477" y="38"/>
                    </a:lnTo>
                    <a:lnTo>
                      <a:pt x="465" y="36"/>
                    </a:lnTo>
                    <a:lnTo>
                      <a:pt x="449" y="36"/>
                    </a:lnTo>
                    <a:lnTo>
                      <a:pt x="413" y="38"/>
                    </a:lnTo>
                    <a:lnTo>
                      <a:pt x="379" y="45"/>
                    </a:lnTo>
                    <a:lnTo>
                      <a:pt x="350" y="53"/>
                    </a:lnTo>
                    <a:lnTo>
                      <a:pt x="337" y="58"/>
                    </a:lnTo>
                    <a:lnTo>
                      <a:pt x="327" y="65"/>
                    </a:lnTo>
                    <a:lnTo>
                      <a:pt x="327" y="65"/>
                    </a:lnTo>
                    <a:lnTo>
                      <a:pt x="327" y="65"/>
                    </a:lnTo>
                    <a:close/>
                    <a:moveTo>
                      <a:pt x="160" y="170"/>
                    </a:moveTo>
                    <a:lnTo>
                      <a:pt x="148" y="179"/>
                    </a:lnTo>
                    <a:lnTo>
                      <a:pt x="141" y="188"/>
                    </a:lnTo>
                    <a:lnTo>
                      <a:pt x="139" y="195"/>
                    </a:lnTo>
                    <a:lnTo>
                      <a:pt x="143" y="200"/>
                    </a:lnTo>
                    <a:lnTo>
                      <a:pt x="150" y="205"/>
                    </a:lnTo>
                    <a:lnTo>
                      <a:pt x="160" y="208"/>
                    </a:lnTo>
                    <a:lnTo>
                      <a:pt x="175" y="210"/>
                    </a:lnTo>
                    <a:lnTo>
                      <a:pt x="193" y="210"/>
                    </a:lnTo>
                    <a:lnTo>
                      <a:pt x="232" y="208"/>
                    </a:lnTo>
                    <a:lnTo>
                      <a:pt x="274" y="200"/>
                    </a:lnTo>
                    <a:lnTo>
                      <a:pt x="312" y="188"/>
                    </a:lnTo>
                    <a:lnTo>
                      <a:pt x="327" y="179"/>
                    </a:lnTo>
                    <a:lnTo>
                      <a:pt x="343" y="170"/>
                    </a:lnTo>
                    <a:lnTo>
                      <a:pt x="353" y="162"/>
                    </a:lnTo>
                    <a:lnTo>
                      <a:pt x="360" y="155"/>
                    </a:lnTo>
                    <a:lnTo>
                      <a:pt x="362" y="148"/>
                    </a:lnTo>
                    <a:lnTo>
                      <a:pt x="358" y="143"/>
                    </a:lnTo>
                    <a:lnTo>
                      <a:pt x="351" y="138"/>
                    </a:lnTo>
                    <a:lnTo>
                      <a:pt x="341" y="136"/>
                    </a:lnTo>
                    <a:lnTo>
                      <a:pt x="325" y="133"/>
                    </a:lnTo>
                    <a:lnTo>
                      <a:pt x="308" y="133"/>
                    </a:lnTo>
                    <a:lnTo>
                      <a:pt x="263" y="136"/>
                    </a:lnTo>
                    <a:lnTo>
                      <a:pt x="243" y="139"/>
                    </a:lnTo>
                    <a:lnTo>
                      <a:pt x="222" y="145"/>
                    </a:lnTo>
                    <a:lnTo>
                      <a:pt x="203" y="150"/>
                    </a:lnTo>
                    <a:lnTo>
                      <a:pt x="186" y="157"/>
                    </a:lnTo>
                    <a:lnTo>
                      <a:pt x="172" y="164"/>
                    </a:lnTo>
                    <a:lnTo>
                      <a:pt x="160" y="170"/>
                    </a:lnTo>
                    <a:lnTo>
                      <a:pt x="160" y="170"/>
                    </a:lnTo>
                    <a:lnTo>
                      <a:pt x="160" y="17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436" name="Freeform 956"/>
              <p:cNvSpPr>
                <a:spLocks/>
              </p:cNvSpPr>
              <p:nvPr/>
            </p:nvSpPr>
            <p:spPr bwMode="auto">
              <a:xfrm>
                <a:off x="1821" y="3422"/>
                <a:ext cx="349" cy="119"/>
              </a:xfrm>
              <a:custGeom>
                <a:avLst/>
                <a:gdLst>
                  <a:gd name="T0" fmla="*/ 203 w 698"/>
                  <a:gd name="T1" fmla="*/ 45 h 240"/>
                  <a:gd name="T2" fmla="*/ 236 w 698"/>
                  <a:gd name="T3" fmla="*/ 23 h 240"/>
                  <a:gd name="T4" fmla="*/ 267 w 698"/>
                  <a:gd name="T5" fmla="*/ 0 h 240"/>
                  <a:gd name="T6" fmla="*/ 483 w 698"/>
                  <a:gd name="T7" fmla="*/ 0 h 240"/>
                  <a:gd name="T8" fmla="*/ 698 w 698"/>
                  <a:gd name="T9" fmla="*/ 0 h 240"/>
                  <a:gd name="T10" fmla="*/ 672 w 698"/>
                  <a:gd name="T11" fmla="*/ 18 h 240"/>
                  <a:gd name="T12" fmla="*/ 646 w 698"/>
                  <a:gd name="T13" fmla="*/ 35 h 240"/>
                  <a:gd name="T14" fmla="*/ 605 w 698"/>
                  <a:gd name="T15" fmla="*/ 45 h 240"/>
                  <a:gd name="T16" fmla="*/ 558 w 698"/>
                  <a:gd name="T17" fmla="*/ 59 h 240"/>
                  <a:gd name="T18" fmla="*/ 510 w 698"/>
                  <a:gd name="T19" fmla="*/ 73 h 240"/>
                  <a:gd name="T20" fmla="*/ 457 w 698"/>
                  <a:gd name="T21" fmla="*/ 90 h 240"/>
                  <a:gd name="T22" fmla="*/ 403 w 698"/>
                  <a:gd name="T23" fmla="*/ 109 h 240"/>
                  <a:gd name="T24" fmla="*/ 353 w 698"/>
                  <a:gd name="T25" fmla="*/ 128 h 240"/>
                  <a:gd name="T26" fmla="*/ 303 w 698"/>
                  <a:gd name="T27" fmla="*/ 147 h 240"/>
                  <a:gd name="T28" fmla="*/ 259 w 698"/>
                  <a:gd name="T29" fmla="*/ 167 h 240"/>
                  <a:gd name="T30" fmla="*/ 215 w 698"/>
                  <a:gd name="T31" fmla="*/ 188 h 240"/>
                  <a:gd name="T32" fmla="*/ 179 w 698"/>
                  <a:gd name="T33" fmla="*/ 207 h 240"/>
                  <a:gd name="T34" fmla="*/ 146 w 698"/>
                  <a:gd name="T35" fmla="*/ 224 h 240"/>
                  <a:gd name="T36" fmla="*/ 121 w 698"/>
                  <a:gd name="T37" fmla="*/ 240 h 240"/>
                  <a:gd name="T38" fmla="*/ 60 w 698"/>
                  <a:gd name="T39" fmla="*/ 240 h 240"/>
                  <a:gd name="T40" fmla="*/ 0 w 698"/>
                  <a:gd name="T41" fmla="*/ 240 h 240"/>
                  <a:gd name="T42" fmla="*/ 41 w 698"/>
                  <a:gd name="T43" fmla="*/ 216 h 240"/>
                  <a:gd name="T44" fmla="*/ 91 w 698"/>
                  <a:gd name="T45" fmla="*/ 190 h 240"/>
                  <a:gd name="T46" fmla="*/ 117 w 698"/>
                  <a:gd name="T47" fmla="*/ 176 h 240"/>
                  <a:gd name="T48" fmla="*/ 146 w 698"/>
                  <a:gd name="T49" fmla="*/ 164 h 240"/>
                  <a:gd name="T50" fmla="*/ 176 w 698"/>
                  <a:gd name="T51" fmla="*/ 152 h 240"/>
                  <a:gd name="T52" fmla="*/ 209 w 698"/>
                  <a:gd name="T53" fmla="*/ 138 h 240"/>
                  <a:gd name="T54" fmla="*/ 276 w 698"/>
                  <a:gd name="T55" fmla="*/ 112 h 240"/>
                  <a:gd name="T56" fmla="*/ 345 w 698"/>
                  <a:gd name="T57" fmla="*/ 88 h 240"/>
                  <a:gd name="T58" fmla="*/ 415 w 698"/>
                  <a:gd name="T59" fmla="*/ 66 h 240"/>
                  <a:gd name="T60" fmla="*/ 489 w 698"/>
                  <a:gd name="T61" fmla="*/ 45 h 240"/>
                  <a:gd name="T62" fmla="*/ 346 w 698"/>
                  <a:gd name="T63" fmla="*/ 45 h 240"/>
                  <a:gd name="T64" fmla="*/ 203 w 698"/>
                  <a:gd name="T65" fmla="*/ 45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8" h="240">
                    <a:moveTo>
                      <a:pt x="203" y="45"/>
                    </a:moveTo>
                    <a:lnTo>
                      <a:pt x="236" y="23"/>
                    </a:lnTo>
                    <a:lnTo>
                      <a:pt x="267" y="0"/>
                    </a:lnTo>
                    <a:lnTo>
                      <a:pt x="483" y="0"/>
                    </a:lnTo>
                    <a:lnTo>
                      <a:pt x="698" y="0"/>
                    </a:lnTo>
                    <a:lnTo>
                      <a:pt x="672" y="18"/>
                    </a:lnTo>
                    <a:lnTo>
                      <a:pt x="646" y="35"/>
                    </a:lnTo>
                    <a:lnTo>
                      <a:pt x="605" y="45"/>
                    </a:lnTo>
                    <a:lnTo>
                      <a:pt x="558" y="59"/>
                    </a:lnTo>
                    <a:lnTo>
                      <a:pt x="510" y="73"/>
                    </a:lnTo>
                    <a:lnTo>
                      <a:pt x="457" y="90"/>
                    </a:lnTo>
                    <a:lnTo>
                      <a:pt x="403" y="109"/>
                    </a:lnTo>
                    <a:lnTo>
                      <a:pt x="353" y="128"/>
                    </a:lnTo>
                    <a:lnTo>
                      <a:pt x="303" y="147"/>
                    </a:lnTo>
                    <a:lnTo>
                      <a:pt x="259" y="167"/>
                    </a:lnTo>
                    <a:lnTo>
                      <a:pt x="215" y="188"/>
                    </a:lnTo>
                    <a:lnTo>
                      <a:pt x="179" y="207"/>
                    </a:lnTo>
                    <a:lnTo>
                      <a:pt x="146" y="224"/>
                    </a:lnTo>
                    <a:lnTo>
                      <a:pt x="121" y="240"/>
                    </a:lnTo>
                    <a:lnTo>
                      <a:pt x="60" y="240"/>
                    </a:lnTo>
                    <a:lnTo>
                      <a:pt x="0" y="240"/>
                    </a:lnTo>
                    <a:lnTo>
                      <a:pt x="41" y="216"/>
                    </a:lnTo>
                    <a:lnTo>
                      <a:pt x="91" y="190"/>
                    </a:lnTo>
                    <a:lnTo>
                      <a:pt x="117" y="176"/>
                    </a:lnTo>
                    <a:lnTo>
                      <a:pt x="146" y="164"/>
                    </a:lnTo>
                    <a:lnTo>
                      <a:pt x="176" y="152"/>
                    </a:lnTo>
                    <a:lnTo>
                      <a:pt x="209" y="138"/>
                    </a:lnTo>
                    <a:lnTo>
                      <a:pt x="276" y="112"/>
                    </a:lnTo>
                    <a:lnTo>
                      <a:pt x="345" y="88"/>
                    </a:lnTo>
                    <a:lnTo>
                      <a:pt x="415" y="66"/>
                    </a:lnTo>
                    <a:lnTo>
                      <a:pt x="489" y="45"/>
                    </a:lnTo>
                    <a:lnTo>
                      <a:pt x="346" y="45"/>
                    </a:lnTo>
                    <a:lnTo>
                      <a:pt x="203" y="45"/>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437" name="Freeform 957"/>
              <p:cNvSpPr>
                <a:spLocks noEditPoints="1"/>
              </p:cNvSpPr>
              <p:nvPr/>
            </p:nvSpPr>
            <p:spPr bwMode="auto">
              <a:xfrm>
                <a:off x="2067" y="3420"/>
                <a:ext cx="316" cy="124"/>
              </a:xfrm>
              <a:custGeom>
                <a:avLst/>
                <a:gdLst>
                  <a:gd name="T0" fmla="*/ 201 w 631"/>
                  <a:gd name="T1" fmla="*/ 103 h 248"/>
                  <a:gd name="T2" fmla="*/ 191 w 631"/>
                  <a:gd name="T3" fmla="*/ 84 h 248"/>
                  <a:gd name="T4" fmla="*/ 212 w 631"/>
                  <a:gd name="T5" fmla="*/ 62 h 248"/>
                  <a:gd name="T6" fmla="*/ 295 w 631"/>
                  <a:gd name="T7" fmla="*/ 27 h 248"/>
                  <a:gd name="T8" fmla="*/ 412 w 631"/>
                  <a:gd name="T9" fmla="*/ 3 h 248"/>
                  <a:gd name="T10" fmla="*/ 524 w 631"/>
                  <a:gd name="T11" fmla="*/ 0 h 248"/>
                  <a:gd name="T12" fmla="*/ 579 w 631"/>
                  <a:gd name="T13" fmla="*/ 3 h 248"/>
                  <a:gd name="T14" fmla="*/ 613 w 631"/>
                  <a:gd name="T15" fmla="*/ 14 h 248"/>
                  <a:gd name="T16" fmla="*/ 629 w 631"/>
                  <a:gd name="T17" fmla="*/ 27 h 248"/>
                  <a:gd name="T18" fmla="*/ 627 w 631"/>
                  <a:gd name="T19" fmla="*/ 43 h 248"/>
                  <a:gd name="T20" fmla="*/ 606 w 631"/>
                  <a:gd name="T21" fmla="*/ 62 h 248"/>
                  <a:gd name="T22" fmla="*/ 558 w 631"/>
                  <a:gd name="T23" fmla="*/ 86 h 248"/>
                  <a:gd name="T24" fmla="*/ 441 w 631"/>
                  <a:gd name="T25" fmla="*/ 112 h 248"/>
                  <a:gd name="T26" fmla="*/ 484 w 631"/>
                  <a:gd name="T27" fmla="*/ 129 h 248"/>
                  <a:gd name="T28" fmla="*/ 484 w 631"/>
                  <a:gd name="T29" fmla="*/ 153 h 248"/>
                  <a:gd name="T30" fmla="*/ 436 w 631"/>
                  <a:gd name="T31" fmla="*/ 188 h 248"/>
                  <a:gd name="T32" fmla="*/ 324 w 631"/>
                  <a:gd name="T33" fmla="*/ 227 h 248"/>
                  <a:gd name="T34" fmla="*/ 188 w 631"/>
                  <a:gd name="T35" fmla="*/ 246 h 248"/>
                  <a:gd name="T36" fmla="*/ 98 w 631"/>
                  <a:gd name="T37" fmla="*/ 246 h 248"/>
                  <a:gd name="T38" fmla="*/ 48 w 631"/>
                  <a:gd name="T39" fmla="*/ 241 h 248"/>
                  <a:gd name="T40" fmla="*/ 15 w 631"/>
                  <a:gd name="T41" fmla="*/ 231 h 248"/>
                  <a:gd name="T42" fmla="*/ 0 w 631"/>
                  <a:gd name="T43" fmla="*/ 214 h 248"/>
                  <a:gd name="T44" fmla="*/ 8 w 631"/>
                  <a:gd name="T45" fmla="*/ 191 h 248"/>
                  <a:gd name="T46" fmla="*/ 45 w 631"/>
                  <a:gd name="T47" fmla="*/ 165 h 248"/>
                  <a:gd name="T48" fmla="*/ 110 w 631"/>
                  <a:gd name="T49" fmla="*/ 138 h 248"/>
                  <a:gd name="T50" fmla="*/ 196 w 631"/>
                  <a:gd name="T51" fmla="*/ 117 h 248"/>
                  <a:gd name="T52" fmla="*/ 326 w 631"/>
                  <a:gd name="T53" fmla="*/ 65 h 248"/>
                  <a:gd name="T54" fmla="*/ 312 w 631"/>
                  <a:gd name="T55" fmla="*/ 84 h 248"/>
                  <a:gd name="T56" fmla="*/ 331 w 631"/>
                  <a:gd name="T57" fmla="*/ 93 h 248"/>
                  <a:gd name="T58" fmla="*/ 394 w 631"/>
                  <a:gd name="T59" fmla="*/ 93 h 248"/>
                  <a:gd name="T60" fmla="*/ 458 w 631"/>
                  <a:gd name="T61" fmla="*/ 79 h 248"/>
                  <a:gd name="T62" fmla="*/ 496 w 631"/>
                  <a:gd name="T63" fmla="*/ 53 h 248"/>
                  <a:gd name="T64" fmla="*/ 486 w 631"/>
                  <a:gd name="T65" fmla="*/ 41 h 248"/>
                  <a:gd name="T66" fmla="*/ 448 w 631"/>
                  <a:gd name="T67" fmla="*/ 36 h 248"/>
                  <a:gd name="T68" fmla="*/ 363 w 631"/>
                  <a:gd name="T69" fmla="*/ 48 h 248"/>
                  <a:gd name="T70" fmla="*/ 326 w 631"/>
                  <a:gd name="T71" fmla="*/ 65 h 248"/>
                  <a:gd name="T72" fmla="*/ 141 w 631"/>
                  <a:gd name="T73" fmla="*/ 188 h 248"/>
                  <a:gd name="T74" fmla="*/ 150 w 631"/>
                  <a:gd name="T75" fmla="*/ 205 h 248"/>
                  <a:gd name="T76" fmla="*/ 193 w 631"/>
                  <a:gd name="T77" fmla="*/ 210 h 248"/>
                  <a:gd name="T78" fmla="*/ 293 w 631"/>
                  <a:gd name="T79" fmla="*/ 195 h 248"/>
                  <a:gd name="T80" fmla="*/ 353 w 631"/>
                  <a:gd name="T81" fmla="*/ 162 h 248"/>
                  <a:gd name="T82" fmla="*/ 357 w 631"/>
                  <a:gd name="T83" fmla="*/ 143 h 248"/>
                  <a:gd name="T84" fmla="*/ 324 w 631"/>
                  <a:gd name="T85" fmla="*/ 133 h 248"/>
                  <a:gd name="T86" fmla="*/ 241 w 631"/>
                  <a:gd name="T87" fmla="*/ 139 h 248"/>
                  <a:gd name="T88" fmla="*/ 186 w 631"/>
                  <a:gd name="T89" fmla="*/ 157 h 248"/>
                  <a:gd name="T90" fmla="*/ 160 w 631"/>
                  <a:gd name="T91" fmla="*/ 17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1" h="248">
                    <a:moveTo>
                      <a:pt x="231" y="112"/>
                    </a:moveTo>
                    <a:lnTo>
                      <a:pt x="214" y="108"/>
                    </a:lnTo>
                    <a:lnTo>
                      <a:pt x="201" y="103"/>
                    </a:lnTo>
                    <a:lnTo>
                      <a:pt x="195" y="98"/>
                    </a:lnTo>
                    <a:lnTo>
                      <a:pt x="191" y="91"/>
                    </a:lnTo>
                    <a:lnTo>
                      <a:pt x="191" y="84"/>
                    </a:lnTo>
                    <a:lnTo>
                      <a:pt x="195" y="77"/>
                    </a:lnTo>
                    <a:lnTo>
                      <a:pt x="201" y="70"/>
                    </a:lnTo>
                    <a:lnTo>
                      <a:pt x="212" y="62"/>
                    </a:lnTo>
                    <a:lnTo>
                      <a:pt x="234" y="50"/>
                    </a:lnTo>
                    <a:lnTo>
                      <a:pt x="262" y="38"/>
                    </a:lnTo>
                    <a:lnTo>
                      <a:pt x="295" y="27"/>
                    </a:lnTo>
                    <a:lnTo>
                      <a:pt x="331" y="17"/>
                    </a:lnTo>
                    <a:lnTo>
                      <a:pt x="370" y="10"/>
                    </a:lnTo>
                    <a:lnTo>
                      <a:pt x="412" y="3"/>
                    </a:lnTo>
                    <a:lnTo>
                      <a:pt x="455" y="2"/>
                    </a:lnTo>
                    <a:lnTo>
                      <a:pt x="501" y="0"/>
                    </a:lnTo>
                    <a:lnTo>
                      <a:pt x="524" y="0"/>
                    </a:lnTo>
                    <a:lnTo>
                      <a:pt x="544" y="2"/>
                    </a:lnTo>
                    <a:lnTo>
                      <a:pt x="562" y="2"/>
                    </a:lnTo>
                    <a:lnTo>
                      <a:pt x="579" y="3"/>
                    </a:lnTo>
                    <a:lnTo>
                      <a:pt x="593" y="7"/>
                    </a:lnTo>
                    <a:lnTo>
                      <a:pt x="605" y="10"/>
                    </a:lnTo>
                    <a:lnTo>
                      <a:pt x="613" y="14"/>
                    </a:lnTo>
                    <a:lnTo>
                      <a:pt x="620" y="17"/>
                    </a:lnTo>
                    <a:lnTo>
                      <a:pt x="625" y="22"/>
                    </a:lnTo>
                    <a:lnTo>
                      <a:pt x="629" y="27"/>
                    </a:lnTo>
                    <a:lnTo>
                      <a:pt x="631" y="33"/>
                    </a:lnTo>
                    <a:lnTo>
                      <a:pt x="629" y="38"/>
                    </a:lnTo>
                    <a:lnTo>
                      <a:pt x="627" y="43"/>
                    </a:lnTo>
                    <a:lnTo>
                      <a:pt x="622" y="50"/>
                    </a:lnTo>
                    <a:lnTo>
                      <a:pt x="615" y="55"/>
                    </a:lnTo>
                    <a:lnTo>
                      <a:pt x="606" y="62"/>
                    </a:lnTo>
                    <a:lnTo>
                      <a:pt x="593" y="70"/>
                    </a:lnTo>
                    <a:lnTo>
                      <a:pt x="577" y="79"/>
                    </a:lnTo>
                    <a:lnTo>
                      <a:pt x="558" y="86"/>
                    </a:lnTo>
                    <a:lnTo>
                      <a:pt x="538" y="93"/>
                    </a:lnTo>
                    <a:lnTo>
                      <a:pt x="491" y="105"/>
                    </a:lnTo>
                    <a:lnTo>
                      <a:pt x="441" y="112"/>
                    </a:lnTo>
                    <a:lnTo>
                      <a:pt x="460" y="117"/>
                    </a:lnTo>
                    <a:lnTo>
                      <a:pt x="474" y="122"/>
                    </a:lnTo>
                    <a:lnTo>
                      <a:pt x="484" y="129"/>
                    </a:lnTo>
                    <a:lnTo>
                      <a:pt x="489" y="136"/>
                    </a:lnTo>
                    <a:lnTo>
                      <a:pt x="489" y="145"/>
                    </a:lnTo>
                    <a:lnTo>
                      <a:pt x="484" y="153"/>
                    </a:lnTo>
                    <a:lnTo>
                      <a:pt x="477" y="162"/>
                    </a:lnTo>
                    <a:lnTo>
                      <a:pt x="463" y="172"/>
                    </a:lnTo>
                    <a:lnTo>
                      <a:pt x="436" y="188"/>
                    </a:lnTo>
                    <a:lnTo>
                      <a:pt x="405" y="203"/>
                    </a:lnTo>
                    <a:lnTo>
                      <a:pt x="367" y="215"/>
                    </a:lnTo>
                    <a:lnTo>
                      <a:pt x="324" y="227"/>
                    </a:lnTo>
                    <a:lnTo>
                      <a:pt x="279" y="236"/>
                    </a:lnTo>
                    <a:lnTo>
                      <a:pt x="234" y="243"/>
                    </a:lnTo>
                    <a:lnTo>
                      <a:pt x="188" y="246"/>
                    </a:lnTo>
                    <a:lnTo>
                      <a:pt x="139" y="248"/>
                    </a:lnTo>
                    <a:lnTo>
                      <a:pt x="117" y="248"/>
                    </a:lnTo>
                    <a:lnTo>
                      <a:pt x="98" y="246"/>
                    </a:lnTo>
                    <a:lnTo>
                      <a:pt x="79" y="246"/>
                    </a:lnTo>
                    <a:lnTo>
                      <a:pt x="64" y="245"/>
                    </a:lnTo>
                    <a:lnTo>
                      <a:pt x="48" y="241"/>
                    </a:lnTo>
                    <a:lnTo>
                      <a:pt x="36" y="239"/>
                    </a:lnTo>
                    <a:lnTo>
                      <a:pt x="24" y="234"/>
                    </a:lnTo>
                    <a:lnTo>
                      <a:pt x="15" y="231"/>
                    </a:lnTo>
                    <a:lnTo>
                      <a:pt x="7" y="226"/>
                    </a:lnTo>
                    <a:lnTo>
                      <a:pt x="2" y="219"/>
                    </a:lnTo>
                    <a:lnTo>
                      <a:pt x="0" y="214"/>
                    </a:lnTo>
                    <a:lnTo>
                      <a:pt x="0" y="207"/>
                    </a:lnTo>
                    <a:lnTo>
                      <a:pt x="3" y="200"/>
                    </a:lnTo>
                    <a:lnTo>
                      <a:pt x="8" y="191"/>
                    </a:lnTo>
                    <a:lnTo>
                      <a:pt x="17" y="182"/>
                    </a:lnTo>
                    <a:lnTo>
                      <a:pt x="29" y="174"/>
                    </a:lnTo>
                    <a:lnTo>
                      <a:pt x="45" y="165"/>
                    </a:lnTo>
                    <a:lnTo>
                      <a:pt x="64" y="157"/>
                    </a:lnTo>
                    <a:lnTo>
                      <a:pt x="86" y="146"/>
                    </a:lnTo>
                    <a:lnTo>
                      <a:pt x="110" y="138"/>
                    </a:lnTo>
                    <a:lnTo>
                      <a:pt x="136" y="131"/>
                    </a:lnTo>
                    <a:lnTo>
                      <a:pt x="165" y="124"/>
                    </a:lnTo>
                    <a:lnTo>
                      <a:pt x="196" y="117"/>
                    </a:lnTo>
                    <a:lnTo>
                      <a:pt x="231" y="112"/>
                    </a:lnTo>
                    <a:lnTo>
                      <a:pt x="231" y="112"/>
                    </a:lnTo>
                    <a:close/>
                    <a:moveTo>
                      <a:pt x="326" y="65"/>
                    </a:moveTo>
                    <a:lnTo>
                      <a:pt x="317" y="72"/>
                    </a:lnTo>
                    <a:lnTo>
                      <a:pt x="313" y="79"/>
                    </a:lnTo>
                    <a:lnTo>
                      <a:pt x="312" y="84"/>
                    </a:lnTo>
                    <a:lnTo>
                      <a:pt x="315" y="88"/>
                    </a:lnTo>
                    <a:lnTo>
                      <a:pt x="322" y="91"/>
                    </a:lnTo>
                    <a:lnTo>
                      <a:pt x="331" y="93"/>
                    </a:lnTo>
                    <a:lnTo>
                      <a:pt x="345" y="95"/>
                    </a:lnTo>
                    <a:lnTo>
                      <a:pt x="360" y="95"/>
                    </a:lnTo>
                    <a:lnTo>
                      <a:pt x="394" y="93"/>
                    </a:lnTo>
                    <a:lnTo>
                      <a:pt x="429" y="88"/>
                    </a:lnTo>
                    <a:lnTo>
                      <a:pt x="444" y="84"/>
                    </a:lnTo>
                    <a:lnTo>
                      <a:pt x="458" y="79"/>
                    </a:lnTo>
                    <a:lnTo>
                      <a:pt x="482" y="65"/>
                    </a:lnTo>
                    <a:lnTo>
                      <a:pt x="491" y="58"/>
                    </a:lnTo>
                    <a:lnTo>
                      <a:pt x="496" y="53"/>
                    </a:lnTo>
                    <a:lnTo>
                      <a:pt x="496" y="48"/>
                    </a:lnTo>
                    <a:lnTo>
                      <a:pt x="493" y="45"/>
                    </a:lnTo>
                    <a:lnTo>
                      <a:pt x="486" y="41"/>
                    </a:lnTo>
                    <a:lnTo>
                      <a:pt x="477" y="38"/>
                    </a:lnTo>
                    <a:lnTo>
                      <a:pt x="463" y="36"/>
                    </a:lnTo>
                    <a:lnTo>
                      <a:pt x="448" y="36"/>
                    </a:lnTo>
                    <a:lnTo>
                      <a:pt x="413" y="38"/>
                    </a:lnTo>
                    <a:lnTo>
                      <a:pt x="379" y="45"/>
                    </a:lnTo>
                    <a:lnTo>
                      <a:pt x="363" y="48"/>
                    </a:lnTo>
                    <a:lnTo>
                      <a:pt x="350" y="53"/>
                    </a:lnTo>
                    <a:lnTo>
                      <a:pt x="326" y="65"/>
                    </a:lnTo>
                    <a:lnTo>
                      <a:pt x="326" y="65"/>
                    </a:lnTo>
                    <a:close/>
                    <a:moveTo>
                      <a:pt x="160" y="170"/>
                    </a:moveTo>
                    <a:lnTo>
                      <a:pt x="148" y="179"/>
                    </a:lnTo>
                    <a:lnTo>
                      <a:pt x="141" y="188"/>
                    </a:lnTo>
                    <a:lnTo>
                      <a:pt x="139" y="195"/>
                    </a:lnTo>
                    <a:lnTo>
                      <a:pt x="143" y="200"/>
                    </a:lnTo>
                    <a:lnTo>
                      <a:pt x="150" y="205"/>
                    </a:lnTo>
                    <a:lnTo>
                      <a:pt x="160" y="208"/>
                    </a:lnTo>
                    <a:lnTo>
                      <a:pt x="174" y="210"/>
                    </a:lnTo>
                    <a:lnTo>
                      <a:pt x="193" y="210"/>
                    </a:lnTo>
                    <a:lnTo>
                      <a:pt x="232" y="208"/>
                    </a:lnTo>
                    <a:lnTo>
                      <a:pt x="272" y="200"/>
                    </a:lnTo>
                    <a:lnTo>
                      <a:pt x="293" y="195"/>
                    </a:lnTo>
                    <a:lnTo>
                      <a:pt x="310" y="188"/>
                    </a:lnTo>
                    <a:lnTo>
                      <a:pt x="343" y="170"/>
                    </a:lnTo>
                    <a:lnTo>
                      <a:pt x="353" y="162"/>
                    </a:lnTo>
                    <a:lnTo>
                      <a:pt x="358" y="155"/>
                    </a:lnTo>
                    <a:lnTo>
                      <a:pt x="360" y="148"/>
                    </a:lnTo>
                    <a:lnTo>
                      <a:pt x="357" y="143"/>
                    </a:lnTo>
                    <a:lnTo>
                      <a:pt x="350" y="138"/>
                    </a:lnTo>
                    <a:lnTo>
                      <a:pt x="339" y="136"/>
                    </a:lnTo>
                    <a:lnTo>
                      <a:pt x="324" y="133"/>
                    </a:lnTo>
                    <a:lnTo>
                      <a:pt x="307" y="133"/>
                    </a:lnTo>
                    <a:lnTo>
                      <a:pt x="262" y="136"/>
                    </a:lnTo>
                    <a:lnTo>
                      <a:pt x="241" y="139"/>
                    </a:lnTo>
                    <a:lnTo>
                      <a:pt x="220" y="145"/>
                    </a:lnTo>
                    <a:lnTo>
                      <a:pt x="201" y="150"/>
                    </a:lnTo>
                    <a:lnTo>
                      <a:pt x="186" y="157"/>
                    </a:lnTo>
                    <a:lnTo>
                      <a:pt x="172" y="164"/>
                    </a:lnTo>
                    <a:lnTo>
                      <a:pt x="160" y="170"/>
                    </a:lnTo>
                    <a:lnTo>
                      <a:pt x="160" y="17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49438" name="Group 958"/>
            <p:cNvGrpSpPr>
              <a:grpSpLocks/>
            </p:cNvGrpSpPr>
            <p:nvPr/>
          </p:nvGrpSpPr>
          <p:grpSpPr bwMode="auto">
            <a:xfrm>
              <a:off x="1794" y="3610"/>
              <a:ext cx="555" cy="138"/>
              <a:chOff x="1811" y="3627"/>
              <a:chExt cx="555" cy="138"/>
            </a:xfrm>
          </p:grpSpPr>
          <p:sp>
            <p:nvSpPr>
              <p:cNvPr id="149439" name="Freeform 959"/>
              <p:cNvSpPr>
                <a:spLocks noEditPoints="1"/>
              </p:cNvSpPr>
              <p:nvPr/>
            </p:nvSpPr>
            <p:spPr bwMode="auto">
              <a:xfrm>
                <a:off x="1831" y="3640"/>
                <a:ext cx="342" cy="125"/>
              </a:xfrm>
              <a:custGeom>
                <a:avLst/>
                <a:gdLst>
                  <a:gd name="T0" fmla="*/ 134 w 682"/>
                  <a:gd name="T1" fmla="*/ 248 h 248"/>
                  <a:gd name="T2" fmla="*/ 179 w 682"/>
                  <a:gd name="T3" fmla="*/ 224 h 248"/>
                  <a:gd name="T4" fmla="*/ 224 w 682"/>
                  <a:gd name="T5" fmla="*/ 198 h 248"/>
                  <a:gd name="T6" fmla="*/ 112 w 682"/>
                  <a:gd name="T7" fmla="*/ 198 h 248"/>
                  <a:gd name="T8" fmla="*/ 0 w 682"/>
                  <a:gd name="T9" fmla="*/ 198 h 248"/>
                  <a:gd name="T10" fmla="*/ 38 w 682"/>
                  <a:gd name="T11" fmla="*/ 177 h 248"/>
                  <a:gd name="T12" fmla="*/ 74 w 682"/>
                  <a:gd name="T13" fmla="*/ 157 h 248"/>
                  <a:gd name="T14" fmla="*/ 334 w 682"/>
                  <a:gd name="T15" fmla="*/ 79 h 248"/>
                  <a:gd name="T16" fmla="*/ 594 w 682"/>
                  <a:gd name="T17" fmla="*/ 0 h 248"/>
                  <a:gd name="T18" fmla="*/ 682 w 682"/>
                  <a:gd name="T19" fmla="*/ 0 h 248"/>
                  <a:gd name="T20" fmla="*/ 541 w 682"/>
                  <a:gd name="T21" fmla="*/ 79 h 248"/>
                  <a:gd name="T22" fmla="*/ 399 w 682"/>
                  <a:gd name="T23" fmla="*/ 157 h 248"/>
                  <a:gd name="T24" fmla="*/ 434 w 682"/>
                  <a:gd name="T25" fmla="*/ 157 h 248"/>
                  <a:gd name="T26" fmla="*/ 468 w 682"/>
                  <a:gd name="T27" fmla="*/ 157 h 248"/>
                  <a:gd name="T28" fmla="*/ 431 w 682"/>
                  <a:gd name="T29" fmla="*/ 177 h 248"/>
                  <a:gd name="T30" fmla="*/ 393 w 682"/>
                  <a:gd name="T31" fmla="*/ 198 h 248"/>
                  <a:gd name="T32" fmla="*/ 325 w 682"/>
                  <a:gd name="T33" fmla="*/ 198 h 248"/>
                  <a:gd name="T34" fmla="*/ 281 w 682"/>
                  <a:gd name="T35" fmla="*/ 224 h 248"/>
                  <a:gd name="T36" fmla="*/ 236 w 682"/>
                  <a:gd name="T37" fmla="*/ 248 h 248"/>
                  <a:gd name="T38" fmla="*/ 184 w 682"/>
                  <a:gd name="T39" fmla="*/ 248 h 248"/>
                  <a:gd name="T40" fmla="*/ 134 w 682"/>
                  <a:gd name="T41" fmla="*/ 248 h 248"/>
                  <a:gd name="T42" fmla="*/ 134 w 682"/>
                  <a:gd name="T43" fmla="*/ 248 h 248"/>
                  <a:gd name="T44" fmla="*/ 298 w 682"/>
                  <a:gd name="T45" fmla="*/ 157 h 248"/>
                  <a:gd name="T46" fmla="*/ 375 w 682"/>
                  <a:gd name="T47" fmla="*/ 115 h 248"/>
                  <a:gd name="T48" fmla="*/ 451 w 682"/>
                  <a:gd name="T49" fmla="*/ 72 h 248"/>
                  <a:gd name="T50" fmla="*/ 312 w 682"/>
                  <a:gd name="T51" fmla="*/ 114 h 248"/>
                  <a:gd name="T52" fmla="*/ 174 w 682"/>
                  <a:gd name="T53" fmla="*/ 157 h 248"/>
                  <a:gd name="T54" fmla="*/ 298 w 682"/>
                  <a:gd name="T55" fmla="*/ 157 h 248"/>
                  <a:gd name="T56" fmla="*/ 298 w 682"/>
                  <a:gd name="T57" fmla="*/ 157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2" h="248">
                    <a:moveTo>
                      <a:pt x="134" y="248"/>
                    </a:moveTo>
                    <a:lnTo>
                      <a:pt x="179" y="224"/>
                    </a:lnTo>
                    <a:lnTo>
                      <a:pt x="224" y="198"/>
                    </a:lnTo>
                    <a:lnTo>
                      <a:pt x="112" y="198"/>
                    </a:lnTo>
                    <a:lnTo>
                      <a:pt x="0" y="198"/>
                    </a:lnTo>
                    <a:lnTo>
                      <a:pt x="38" y="177"/>
                    </a:lnTo>
                    <a:lnTo>
                      <a:pt x="74" y="157"/>
                    </a:lnTo>
                    <a:lnTo>
                      <a:pt x="334" y="79"/>
                    </a:lnTo>
                    <a:lnTo>
                      <a:pt x="594" y="0"/>
                    </a:lnTo>
                    <a:lnTo>
                      <a:pt x="682" y="0"/>
                    </a:lnTo>
                    <a:lnTo>
                      <a:pt x="541" y="79"/>
                    </a:lnTo>
                    <a:lnTo>
                      <a:pt x="399" y="157"/>
                    </a:lnTo>
                    <a:lnTo>
                      <a:pt x="434" y="157"/>
                    </a:lnTo>
                    <a:lnTo>
                      <a:pt x="468" y="157"/>
                    </a:lnTo>
                    <a:lnTo>
                      <a:pt x="431" y="177"/>
                    </a:lnTo>
                    <a:lnTo>
                      <a:pt x="393" y="198"/>
                    </a:lnTo>
                    <a:lnTo>
                      <a:pt x="325" y="198"/>
                    </a:lnTo>
                    <a:lnTo>
                      <a:pt x="281" y="224"/>
                    </a:lnTo>
                    <a:lnTo>
                      <a:pt x="236" y="248"/>
                    </a:lnTo>
                    <a:lnTo>
                      <a:pt x="184" y="248"/>
                    </a:lnTo>
                    <a:lnTo>
                      <a:pt x="134" y="248"/>
                    </a:lnTo>
                    <a:lnTo>
                      <a:pt x="134" y="248"/>
                    </a:lnTo>
                    <a:close/>
                    <a:moveTo>
                      <a:pt x="298" y="157"/>
                    </a:moveTo>
                    <a:lnTo>
                      <a:pt x="375" y="115"/>
                    </a:lnTo>
                    <a:lnTo>
                      <a:pt x="451" y="72"/>
                    </a:lnTo>
                    <a:lnTo>
                      <a:pt x="312" y="114"/>
                    </a:lnTo>
                    <a:lnTo>
                      <a:pt x="174" y="157"/>
                    </a:lnTo>
                    <a:lnTo>
                      <a:pt x="298" y="157"/>
                    </a:lnTo>
                    <a:lnTo>
                      <a:pt x="298" y="15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440" name="Freeform 960"/>
              <p:cNvSpPr>
                <a:spLocks/>
              </p:cNvSpPr>
              <p:nvPr/>
            </p:nvSpPr>
            <p:spPr bwMode="auto">
              <a:xfrm>
                <a:off x="2090" y="3640"/>
                <a:ext cx="276" cy="125"/>
              </a:xfrm>
              <a:custGeom>
                <a:avLst/>
                <a:gdLst>
                  <a:gd name="T0" fmla="*/ 103 w 551"/>
                  <a:gd name="T1" fmla="*/ 248 h 248"/>
                  <a:gd name="T2" fmla="*/ 0 w 551"/>
                  <a:gd name="T3" fmla="*/ 248 h 248"/>
                  <a:gd name="T4" fmla="*/ 160 w 551"/>
                  <a:gd name="T5" fmla="*/ 158 h 248"/>
                  <a:gd name="T6" fmla="*/ 320 w 551"/>
                  <a:gd name="T7" fmla="*/ 69 h 248"/>
                  <a:gd name="T8" fmla="*/ 270 w 551"/>
                  <a:gd name="T9" fmla="*/ 81 h 248"/>
                  <a:gd name="T10" fmla="*/ 220 w 551"/>
                  <a:gd name="T11" fmla="*/ 91 h 248"/>
                  <a:gd name="T12" fmla="*/ 170 w 551"/>
                  <a:gd name="T13" fmla="*/ 98 h 248"/>
                  <a:gd name="T14" fmla="*/ 120 w 551"/>
                  <a:gd name="T15" fmla="*/ 105 h 248"/>
                  <a:gd name="T16" fmla="*/ 160 w 551"/>
                  <a:gd name="T17" fmla="*/ 84 h 248"/>
                  <a:gd name="T18" fmla="*/ 198 w 551"/>
                  <a:gd name="T19" fmla="*/ 62 h 248"/>
                  <a:gd name="T20" fmla="*/ 225 w 551"/>
                  <a:gd name="T21" fmla="*/ 59 h 248"/>
                  <a:gd name="T22" fmla="*/ 256 w 551"/>
                  <a:gd name="T23" fmla="*/ 53 h 248"/>
                  <a:gd name="T24" fmla="*/ 291 w 551"/>
                  <a:gd name="T25" fmla="*/ 48 h 248"/>
                  <a:gd name="T26" fmla="*/ 329 w 551"/>
                  <a:gd name="T27" fmla="*/ 40 h 248"/>
                  <a:gd name="T28" fmla="*/ 367 w 551"/>
                  <a:gd name="T29" fmla="*/ 31 h 248"/>
                  <a:gd name="T30" fmla="*/ 403 w 551"/>
                  <a:gd name="T31" fmla="*/ 21 h 248"/>
                  <a:gd name="T32" fmla="*/ 436 w 551"/>
                  <a:gd name="T33" fmla="*/ 10 h 248"/>
                  <a:gd name="T34" fmla="*/ 465 w 551"/>
                  <a:gd name="T35" fmla="*/ 0 h 248"/>
                  <a:gd name="T36" fmla="*/ 508 w 551"/>
                  <a:gd name="T37" fmla="*/ 0 h 248"/>
                  <a:gd name="T38" fmla="*/ 551 w 551"/>
                  <a:gd name="T39" fmla="*/ 0 h 248"/>
                  <a:gd name="T40" fmla="*/ 327 w 551"/>
                  <a:gd name="T41" fmla="*/ 124 h 248"/>
                  <a:gd name="T42" fmla="*/ 103 w 551"/>
                  <a:gd name="T43" fmla="*/ 24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51" h="248">
                    <a:moveTo>
                      <a:pt x="103" y="248"/>
                    </a:moveTo>
                    <a:lnTo>
                      <a:pt x="0" y="248"/>
                    </a:lnTo>
                    <a:lnTo>
                      <a:pt x="160" y="158"/>
                    </a:lnTo>
                    <a:lnTo>
                      <a:pt x="320" y="69"/>
                    </a:lnTo>
                    <a:lnTo>
                      <a:pt x="270" y="81"/>
                    </a:lnTo>
                    <a:lnTo>
                      <a:pt x="220" y="91"/>
                    </a:lnTo>
                    <a:lnTo>
                      <a:pt x="170" y="98"/>
                    </a:lnTo>
                    <a:lnTo>
                      <a:pt x="120" y="105"/>
                    </a:lnTo>
                    <a:lnTo>
                      <a:pt x="160" y="84"/>
                    </a:lnTo>
                    <a:lnTo>
                      <a:pt x="198" y="62"/>
                    </a:lnTo>
                    <a:lnTo>
                      <a:pt x="225" y="59"/>
                    </a:lnTo>
                    <a:lnTo>
                      <a:pt x="256" y="53"/>
                    </a:lnTo>
                    <a:lnTo>
                      <a:pt x="291" y="48"/>
                    </a:lnTo>
                    <a:lnTo>
                      <a:pt x="329" y="40"/>
                    </a:lnTo>
                    <a:lnTo>
                      <a:pt x="367" y="31"/>
                    </a:lnTo>
                    <a:lnTo>
                      <a:pt x="403" y="21"/>
                    </a:lnTo>
                    <a:lnTo>
                      <a:pt x="436" y="10"/>
                    </a:lnTo>
                    <a:lnTo>
                      <a:pt x="465" y="0"/>
                    </a:lnTo>
                    <a:lnTo>
                      <a:pt x="508" y="0"/>
                    </a:lnTo>
                    <a:lnTo>
                      <a:pt x="551" y="0"/>
                    </a:lnTo>
                    <a:lnTo>
                      <a:pt x="327" y="124"/>
                    </a:lnTo>
                    <a:lnTo>
                      <a:pt x="103" y="24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441" name="Freeform 961"/>
              <p:cNvSpPr>
                <a:spLocks noEditPoints="1"/>
              </p:cNvSpPr>
              <p:nvPr/>
            </p:nvSpPr>
            <p:spPr bwMode="auto">
              <a:xfrm>
                <a:off x="1811" y="3627"/>
                <a:ext cx="341" cy="124"/>
              </a:xfrm>
              <a:custGeom>
                <a:avLst/>
                <a:gdLst>
                  <a:gd name="T0" fmla="*/ 135 w 683"/>
                  <a:gd name="T1" fmla="*/ 249 h 249"/>
                  <a:gd name="T2" fmla="*/ 180 w 683"/>
                  <a:gd name="T3" fmla="*/ 224 h 249"/>
                  <a:gd name="T4" fmla="*/ 224 w 683"/>
                  <a:gd name="T5" fmla="*/ 199 h 249"/>
                  <a:gd name="T6" fmla="*/ 112 w 683"/>
                  <a:gd name="T7" fmla="*/ 199 h 249"/>
                  <a:gd name="T8" fmla="*/ 0 w 683"/>
                  <a:gd name="T9" fmla="*/ 199 h 249"/>
                  <a:gd name="T10" fmla="*/ 38 w 683"/>
                  <a:gd name="T11" fmla="*/ 178 h 249"/>
                  <a:gd name="T12" fmla="*/ 74 w 683"/>
                  <a:gd name="T13" fmla="*/ 157 h 249"/>
                  <a:gd name="T14" fmla="*/ 335 w 683"/>
                  <a:gd name="T15" fmla="*/ 80 h 249"/>
                  <a:gd name="T16" fmla="*/ 595 w 683"/>
                  <a:gd name="T17" fmla="*/ 0 h 249"/>
                  <a:gd name="T18" fmla="*/ 683 w 683"/>
                  <a:gd name="T19" fmla="*/ 0 h 249"/>
                  <a:gd name="T20" fmla="*/ 541 w 683"/>
                  <a:gd name="T21" fmla="*/ 80 h 249"/>
                  <a:gd name="T22" fmla="*/ 400 w 683"/>
                  <a:gd name="T23" fmla="*/ 157 h 249"/>
                  <a:gd name="T24" fmla="*/ 435 w 683"/>
                  <a:gd name="T25" fmla="*/ 157 h 249"/>
                  <a:gd name="T26" fmla="*/ 469 w 683"/>
                  <a:gd name="T27" fmla="*/ 157 h 249"/>
                  <a:gd name="T28" fmla="*/ 431 w 683"/>
                  <a:gd name="T29" fmla="*/ 178 h 249"/>
                  <a:gd name="T30" fmla="*/ 393 w 683"/>
                  <a:gd name="T31" fmla="*/ 199 h 249"/>
                  <a:gd name="T32" fmla="*/ 326 w 683"/>
                  <a:gd name="T33" fmla="*/ 199 h 249"/>
                  <a:gd name="T34" fmla="*/ 281 w 683"/>
                  <a:gd name="T35" fmla="*/ 224 h 249"/>
                  <a:gd name="T36" fmla="*/ 236 w 683"/>
                  <a:gd name="T37" fmla="*/ 249 h 249"/>
                  <a:gd name="T38" fmla="*/ 185 w 683"/>
                  <a:gd name="T39" fmla="*/ 249 h 249"/>
                  <a:gd name="T40" fmla="*/ 135 w 683"/>
                  <a:gd name="T41" fmla="*/ 249 h 249"/>
                  <a:gd name="T42" fmla="*/ 135 w 683"/>
                  <a:gd name="T43" fmla="*/ 249 h 249"/>
                  <a:gd name="T44" fmla="*/ 298 w 683"/>
                  <a:gd name="T45" fmla="*/ 157 h 249"/>
                  <a:gd name="T46" fmla="*/ 376 w 683"/>
                  <a:gd name="T47" fmla="*/ 116 h 249"/>
                  <a:gd name="T48" fmla="*/ 452 w 683"/>
                  <a:gd name="T49" fmla="*/ 73 h 249"/>
                  <a:gd name="T50" fmla="*/ 312 w 683"/>
                  <a:gd name="T51" fmla="*/ 114 h 249"/>
                  <a:gd name="T52" fmla="*/ 174 w 683"/>
                  <a:gd name="T53" fmla="*/ 157 h 249"/>
                  <a:gd name="T54" fmla="*/ 298 w 683"/>
                  <a:gd name="T55" fmla="*/ 157 h 249"/>
                  <a:gd name="T56" fmla="*/ 298 w 683"/>
                  <a:gd name="T57" fmla="*/ 15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3" h="249">
                    <a:moveTo>
                      <a:pt x="135" y="249"/>
                    </a:moveTo>
                    <a:lnTo>
                      <a:pt x="180" y="224"/>
                    </a:lnTo>
                    <a:lnTo>
                      <a:pt x="224" y="199"/>
                    </a:lnTo>
                    <a:lnTo>
                      <a:pt x="112" y="199"/>
                    </a:lnTo>
                    <a:lnTo>
                      <a:pt x="0" y="199"/>
                    </a:lnTo>
                    <a:lnTo>
                      <a:pt x="38" y="178"/>
                    </a:lnTo>
                    <a:lnTo>
                      <a:pt x="74" y="157"/>
                    </a:lnTo>
                    <a:lnTo>
                      <a:pt x="335" y="80"/>
                    </a:lnTo>
                    <a:lnTo>
                      <a:pt x="595" y="0"/>
                    </a:lnTo>
                    <a:lnTo>
                      <a:pt x="683" y="0"/>
                    </a:lnTo>
                    <a:lnTo>
                      <a:pt x="541" y="80"/>
                    </a:lnTo>
                    <a:lnTo>
                      <a:pt x="400" y="157"/>
                    </a:lnTo>
                    <a:lnTo>
                      <a:pt x="435" y="157"/>
                    </a:lnTo>
                    <a:lnTo>
                      <a:pt x="469" y="157"/>
                    </a:lnTo>
                    <a:lnTo>
                      <a:pt x="431" y="178"/>
                    </a:lnTo>
                    <a:lnTo>
                      <a:pt x="393" y="199"/>
                    </a:lnTo>
                    <a:lnTo>
                      <a:pt x="326" y="199"/>
                    </a:lnTo>
                    <a:lnTo>
                      <a:pt x="281" y="224"/>
                    </a:lnTo>
                    <a:lnTo>
                      <a:pt x="236" y="249"/>
                    </a:lnTo>
                    <a:lnTo>
                      <a:pt x="185" y="249"/>
                    </a:lnTo>
                    <a:lnTo>
                      <a:pt x="135" y="249"/>
                    </a:lnTo>
                    <a:lnTo>
                      <a:pt x="135" y="249"/>
                    </a:lnTo>
                    <a:close/>
                    <a:moveTo>
                      <a:pt x="298" y="157"/>
                    </a:moveTo>
                    <a:lnTo>
                      <a:pt x="376" y="116"/>
                    </a:lnTo>
                    <a:lnTo>
                      <a:pt x="452" y="73"/>
                    </a:lnTo>
                    <a:lnTo>
                      <a:pt x="312" y="114"/>
                    </a:lnTo>
                    <a:lnTo>
                      <a:pt x="174" y="157"/>
                    </a:lnTo>
                    <a:lnTo>
                      <a:pt x="298" y="157"/>
                    </a:lnTo>
                    <a:lnTo>
                      <a:pt x="298" y="157"/>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9442" name="Freeform 962"/>
              <p:cNvSpPr>
                <a:spLocks/>
              </p:cNvSpPr>
              <p:nvPr/>
            </p:nvSpPr>
            <p:spPr bwMode="auto">
              <a:xfrm>
                <a:off x="2069" y="3627"/>
                <a:ext cx="276" cy="124"/>
              </a:xfrm>
              <a:custGeom>
                <a:avLst/>
                <a:gdLst>
                  <a:gd name="T0" fmla="*/ 104 w 552"/>
                  <a:gd name="T1" fmla="*/ 249 h 249"/>
                  <a:gd name="T2" fmla="*/ 0 w 552"/>
                  <a:gd name="T3" fmla="*/ 249 h 249"/>
                  <a:gd name="T4" fmla="*/ 161 w 552"/>
                  <a:gd name="T5" fmla="*/ 159 h 249"/>
                  <a:gd name="T6" fmla="*/ 321 w 552"/>
                  <a:gd name="T7" fmla="*/ 69 h 249"/>
                  <a:gd name="T8" fmla="*/ 271 w 552"/>
                  <a:gd name="T9" fmla="*/ 81 h 249"/>
                  <a:gd name="T10" fmla="*/ 221 w 552"/>
                  <a:gd name="T11" fmla="*/ 92 h 249"/>
                  <a:gd name="T12" fmla="*/ 171 w 552"/>
                  <a:gd name="T13" fmla="*/ 99 h 249"/>
                  <a:gd name="T14" fmla="*/ 121 w 552"/>
                  <a:gd name="T15" fmla="*/ 105 h 249"/>
                  <a:gd name="T16" fmla="*/ 161 w 552"/>
                  <a:gd name="T17" fmla="*/ 85 h 249"/>
                  <a:gd name="T18" fmla="*/ 198 w 552"/>
                  <a:gd name="T19" fmla="*/ 62 h 249"/>
                  <a:gd name="T20" fmla="*/ 226 w 552"/>
                  <a:gd name="T21" fmla="*/ 59 h 249"/>
                  <a:gd name="T22" fmla="*/ 257 w 552"/>
                  <a:gd name="T23" fmla="*/ 54 h 249"/>
                  <a:gd name="T24" fmla="*/ 292 w 552"/>
                  <a:gd name="T25" fmla="*/ 49 h 249"/>
                  <a:gd name="T26" fmla="*/ 329 w 552"/>
                  <a:gd name="T27" fmla="*/ 40 h 249"/>
                  <a:gd name="T28" fmla="*/ 367 w 552"/>
                  <a:gd name="T29" fmla="*/ 31 h 249"/>
                  <a:gd name="T30" fmla="*/ 404 w 552"/>
                  <a:gd name="T31" fmla="*/ 21 h 249"/>
                  <a:gd name="T32" fmla="*/ 436 w 552"/>
                  <a:gd name="T33" fmla="*/ 11 h 249"/>
                  <a:gd name="T34" fmla="*/ 466 w 552"/>
                  <a:gd name="T35" fmla="*/ 0 h 249"/>
                  <a:gd name="T36" fmla="*/ 509 w 552"/>
                  <a:gd name="T37" fmla="*/ 0 h 249"/>
                  <a:gd name="T38" fmla="*/ 552 w 552"/>
                  <a:gd name="T39" fmla="*/ 0 h 249"/>
                  <a:gd name="T40" fmla="*/ 328 w 552"/>
                  <a:gd name="T41" fmla="*/ 124 h 249"/>
                  <a:gd name="T42" fmla="*/ 104 w 552"/>
                  <a:gd name="T43" fmla="*/ 249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52" h="249">
                    <a:moveTo>
                      <a:pt x="104" y="249"/>
                    </a:moveTo>
                    <a:lnTo>
                      <a:pt x="0" y="249"/>
                    </a:lnTo>
                    <a:lnTo>
                      <a:pt x="161" y="159"/>
                    </a:lnTo>
                    <a:lnTo>
                      <a:pt x="321" y="69"/>
                    </a:lnTo>
                    <a:lnTo>
                      <a:pt x="271" y="81"/>
                    </a:lnTo>
                    <a:lnTo>
                      <a:pt x="221" y="92"/>
                    </a:lnTo>
                    <a:lnTo>
                      <a:pt x="171" y="99"/>
                    </a:lnTo>
                    <a:lnTo>
                      <a:pt x="121" y="105"/>
                    </a:lnTo>
                    <a:lnTo>
                      <a:pt x="161" y="85"/>
                    </a:lnTo>
                    <a:lnTo>
                      <a:pt x="198" y="62"/>
                    </a:lnTo>
                    <a:lnTo>
                      <a:pt x="226" y="59"/>
                    </a:lnTo>
                    <a:lnTo>
                      <a:pt x="257" y="54"/>
                    </a:lnTo>
                    <a:lnTo>
                      <a:pt x="292" y="49"/>
                    </a:lnTo>
                    <a:lnTo>
                      <a:pt x="329" y="40"/>
                    </a:lnTo>
                    <a:lnTo>
                      <a:pt x="367" y="31"/>
                    </a:lnTo>
                    <a:lnTo>
                      <a:pt x="404" y="21"/>
                    </a:lnTo>
                    <a:lnTo>
                      <a:pt x="436" y="11"/>
                    </a:lnTo>
                    <a:lnTo>
                      <a:pt x="466" y="0"/>
                    </a:lnTo>
                    <a:lnTo>
                      <a:pt x="509" y="0"/>
                    </a:lnTo>
                    <a:lnTo>
                      <a:pt x="552" y="0"/>
                    </a:lnTo>
                    <a:lnTo>
                      <a:pt x="328" y="124"/>
                    </a:lnTo>
                    <a:lnTo>
                      <a:pt x="104" y="249"/>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49443" name="Group 963"/>
            <p:cNvGrpSpPr>
              <a:grpSpLocks/>
            </p:cNvGrpSpPr>
            <p:nvPr/>
          </p:nvGrpSpPr>
          <p:grpSpPr bwMode="auto">
            <a:xfrm>
              <a:off x="1253" y="2907"/>
              <a:ext cx="1461" cy="262"/>
              <a:chOff x="1270" y="2924"/>
              <a:chExt cx="1461" cy="262"/>
            </a:xfrm>
          </p:grpSpPr>
          <p:sp>
            <p:nvSpPr>
              <p:cNvPr id="149444" name="Freeform 964"/>
              <p:cNvSpPr>
                <a:spLocks/>
              </p:cNvSpPr>
              <p:nvPr/>
            </p:nvSpPr>
            <p:spPr bwMode="auto">
              <a:xfrm>
                <a:off x="1283" y="2937"/>
                <a:ext cx="1448" cy="249"/>
              </a:xfrm>
              <a:custGeom>
                <a:avLst/>
                <a:gdLst>
                  <a:gd name="T0" fmla="*/ 889 w 2895"/>
                  <a:gd name="T1" fmla="*/ 0 h 496"/>
                  <a:gd name="T2" fmla="*/ 0 w 2895"/>
                  <a:gd name="T3" fmla="*/ 496 h 496"/>
                  <a:gd name="T4" fmla="*/ 2006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6" y="496"/>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9445" name="Group 965"/>
              <p:cNvGrpSpPr>
                <a:grpSpLocks/>
              </p:cNvGrpSpPr>
              <p:nvPr/>
            </p:nvGrpSpPr>
            <p:grpSpPr bwMode="auto">
              <a:xfrm>
                <a:off x="1270" y="2924"/>
                <a:ext cx="1448" cy="249"/>
                <a:chOff x="1270" y="2924"/>
                <a:chExt cx="1448" cy="249"/>
              </a:xfrm>
            </p:grpSpPr>
            <p:pic>
              <p:nvPicPr>
                <p:cNvPr id="149446" name="Picture 96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0" y="2924"/>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447" name="Picture 96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7" y="2924"/>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448" name="Freeform 968"/>
                <p:cNvSpPr>
                  <a:spLocks/>
                </p:cNvSpPr>
                <p:nvPr/>
              </p:nvSpPr>
              <p:spPr bwMode="auto">
                <a:xfrm>
                  <a:off x="1270" y="2924"/>
                  <a:ext cx="1447"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449" name="Freeform 969"/>
                <p:cNvSpPr>
                  <a:spLocks/>
                </p:cNvSpPr>
                <p:nvPr/>
              </p:nvSpPr>
              <p:spPr bwMode="auto">
                <a:xfrm>
                  <a:off x="1270" y="2924"/>
                  <a:ext cx="1447"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149450" name="Picture 97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0" y="2924"/>
                  <a:ext cx="8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451" name="Picture 97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7" y="2924"/>
                  <a:ext cx="6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452" name="Freeform 972"/>
              <p:cNvSpPr>
                <a:spLocks/>
              </p:cNvSpPr>
              <p:nvPr/>
            </p:nvSpPr>
            <p:spPr bwMode="auto">
              <a:xfrm>
                <a:off x="1270" y="2924"/>
                <a:ext cx="1447"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9453" name="Group 973"/>
            <p:cNvGrpSpPr>
              <a:grpSpLocks/>
            </p:cNvGrpSpPr>
            <p:nvPr/>
          </p:nvGrpSpPr>
          <p:grpSpPr bwMode="auto">
            <a:xfrm>
              <a:off x="1046" y="3816"/>
              <a:ext cx="1655" cy="84"/>
              <a:chOff x="1063" y="3833"/>
              <a:chExt cx="1655" cy="84"/>
            </a:xfrm>
          </p:grpSpPr>
          <p:grpSp>
            <p:nvGrpSpPr>
              <p:cNvPr id="149454" name="Group 974"/>
              <p:cNvGrpSpPr>
                <a:grpSpLocks/>
              </p:cNvGrpSpPr>
              <p:nvPr/>
            </p:nvGrpSpPr>
            <p:grpSpPr bwMode="auto">
              <a:xfrm>
                <a:off x="1063" y="3833"/>
                <a:ext cx="1654" cy="83"/>
                <a:chOff x="1063" y="3833"/>
                <a:chExt cx="1654" cy="83"/>
              </a:xfrm>
            </p:grpSpPr>
            <p:sp>
              <p:nvSpPr>
                <p:cNvPr id="149455" name="Rectangle 975"/>
                <p:cNvSpPr>
                  <a:spLocks noChangeArrowheads="1"/>
                </p:cNvSpPr>
                <p:nvPr/>
              </p:nvSpPr>
              <p:spPr bwMode="auto">
                <a:xfrm>
                  <a:off x="1063" y="3833"/>
                  <a:ext cx="1654" cy="2"/>
                </a:xfrm>
                <a:prstGeom prst="rect">
                  <a:avLst/>
                </a:prstGeom>
                <a:solidFill>
                  <a:srgbClr val="FEFE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56" name="Rectangle 976"/>
                <p:cNvSpPr>
                  <a:spLocks noChangeArrowheads="1"/>
                </p:cNvSpPr>
                <p:nvPr/>
              </p:nvSpPr>
              <p:spPr bwMode="auto">
                <a:xfrm>
                  <a:off x="1063" y="3835"/>
                  <a:ext cx="1654" cy="2"/>
                </a:xfrm>
                <a:prstGeom prst="rect">
                  <a:avLst/>
                </a:prstGeom>
                <a:solidFill>
                  <a:srgbClr val="FEFE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57" name="Rectangle 977"/>
                <p:cNvSpPr>
                  <a:spLocks noChangeArrowheads="1"/>
                </p:cNvSpPr>
                <p:nvPr/>
              </p:nvSpPr>
              <p:spPr bwMode="auto">
                <a:xfrm>
                  <a:off x="1063" y="3837"/>
                  <a:ext cx="1654" cy="2"/>
                </a:xfrm>
                <a:prstGeom prst="rect">
                  <a:avLst/>
                </a:prstGeom>
                <a:solidFill>
                  <a:srgbClr val="FDFD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58" name="Rectangle 978"/>
                <p:cNvSpPr>
                  <a:spLocks noChangeArrowheads="1"/>
                </p:cNvSpPr>
                <p:nvPr/>
              </p:nvSpPr>
              <p:spPr bwMode="auto">
                <a:xfrm>
                  <a:off x="1063" y="3839"/>
                  <a:ext cx="1654" cy="1"/>
                </a:xfrm>
                <a:prstGeom prst="rect">
                  <a:avLst/>
                </a:prstGeom>
                <a:solidFill>
                  <a:srgbClr val="FCFC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59" name="Rectangle 979"/>
                <p:cNvSpPr>
                  <a:spLocks noChangeArrowheads="1"/>
                </p:cNvSpPr>
                <p:nvPr/>
              </p:nvSpPr>
              <p:spPr bwMode="auto">
                <a:xfrm>
                  <a:off x="1063" y="3840"/>
                  <a:ext cx="1654" cy="2"/>
                </a:xfrm>
                <a:prstGeom prst="rect">
                  <a:avLst/>
                </a:prstGeom>
                <a:solidFill>
                  <a:srgbClr val="FBFB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60" name="Rectangle 980"/>
                <p:cNvSpPr>
                  <a:spLocks noChangeArrowheads="1"/>
                </p:cNvSpPr>
                <p:nvPr/>
              </p:nvSpPr>
              <p:spPr bwMode="auto">
                <a:xfrm>
                  <a:off x="1063" y="3842"/>
                  <a:ext cx="1654" cy="2"/>
                </a:xfrm>
                <a:prstGeom prst="rect">
                  <a:avLst/>
                </a:prstGeom>
                <a:solidFill>
                  <a:srgbClr val="FAFA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61" name="Rectangle 981"/>
                <p:cNvSpPr>
                  <a:spLocks noChangeArrowheads="1"/>
                </p:cNvSpPr>
                <p:nvPr/>
              </p:nvSpPr>
              <p:spPr bwMode="auto">
                <a:xfrm>
                  <a:off x="1063" y="3844"/>
                  <a:ext cx="1654" cy="2"/>
                </a:xfrm>
                <a:prstGeom prst="rect">
                  <a:avLst/>
                </a:prstGeom>
                <a:solidFill>
                  <a:srgbClr val="F9F9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62" name="Rectangle 982"/>
                <p:cNvSpPr>
                  <a:spLocks noChangeArrowheads="1"/>
                </p:cNvSpPr>
                <p:nvPr/>
              </p:nvSpPr>
              <p:spPr bwMode="auto">
                <a:xfrm>
                  <a:off x="1063" y="3846"/>
                  <a:ext cx="1654" cy="1"/>
                </a:xfrm>
                <a:prstGeom prst="rect">
                  <a:avLst/>
                </a:prstGeom>
                <a:solidFill>
                  <a:srgbClr val="F8F8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63" name="Rectangle 983"/>
                <p:cNvSpPr>
                  <a:spLocks noChangeArrowheads="1"/>
                </p:cNvSpPr>
                <p:nvPr/>
              </p:nvSpPr>
              <p:spPr bwMode="auto">
                <a:xfrm>
                  <a:off x="1063" y="3847"/>
                  <a:ext cx="1654" cy="2"/>
                </a:xfrm>
                <a:prstGeom prst="rect">
                  <a:avLst/>
                </a:prstGeom>
                <a:solidFill>
                  <a:srgbClr val="F6F6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64" name="Rectangle 984"/>
                <p:cNvSpPr>
                  <a:spLocks noChangeArrowheads="1"/>
                </p:cNvSpPr>
                <p:nvPr/>
              </p:nvSpPr>
              <p:spPr bwMode="auto">
                <a:xfrm>
                  <a:off x="1063" y="3849"/>
                  <a:ext cx="1654" cy="2"/>
                </a:xfrm>
                <a:prstGeom prst="rect">
                  <a:avLst/>
                </a:prstGeom>
                <a:solidFill>
                  <a:srgbClr val="F5F5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65" name="Rectangle 985"/>
                <p:cNvSpPr>
                  <a:spLocks noChangeArrowheads="1"/>
                </p:cNvSpPr>
                <p:nvPr/>
              </p:nvSpPr>
              <p:spPr bwMode="auto">
                <a:xfrm>
                  <a:off x="1063" y="3851"/>
                  <a:ext cx="1654" cy="1"/>
                </a:xfrm>
                <a:prstGeom prst="rect">
                  <a:avLst/>
                </a:prstGeom>
                <a:solidFill>
                  <a:srgbClr val="F3F3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66" name="Rectangle 986"/>
                <p:cNvSpPr>
                  <a:spLocks noChangeArrowheads="1"/>
                </p:cNvSpPr>
                <p:nvPr/>
              </p:nvSpPr>
              <p:spPr bwMode="auto">
                <a:xfrm>
                  <a:off x="1063" y="3852"/>
                  <a:ext cx="1654" cy="2"/>
                </a:xfrm>
                <a:prstGeom prst="rect">
                  <a:avLst/>
                </a:prstGeom>
                <a:solidFill>
                  <a:srgbClr val="F1F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67" name="Rectangle 987"/>
                <p:cNvSpPr>
                  <a:spLocks noChangeArrowheads="1"/>
                </p:cNvSpPr>
                <p:nvPr/>
              </p:nvSpPr>
              <p:spPr bwMode="auto">
                <a:xfrm>
                  <a:off x="1063" y="3854"/>
                  <a:ext cx="1654" cy="2"/>
                </a:xfrm>
                <a:prstGeom prst="rect">
                  <a:avLst/>
                </a:prstGeom>
                <a:solidFill>
                  <a:srgbClr val="EFE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68" name="Rectangle 988"/>
                <p:cNvSpPr>
                  <a:spLocks noChangeArrowheads="1"/>
                </p:cNvSpPr>
                <p:nvPr/>
              </p:nvSpPr>
              <p:spPr bwMode="auto">
                <a:xfrm>
                  <a:off x="1063" y="3856"/>
                  <a:ext cx="1654" cy="2"/>
                </a:xfrm>
                <a:prstGeom prst="rect">
                  <a:avLst/>
                </a:prstGeom>
                <a:solidFill>
                  <a:srgbClr val="ECECB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69" name="Rectangle 989"/>
                <p:cNvSpPr>
                  <a:spLocks noChangeArrowheads="1"/>
                </p:cNvSpPr>
                <p:nvPr/>
              </p:nvSpPr>
              <p:spPr bwMode="auto">
                <a:xfrm>
                  <a:off x="1063" y="3858"/>
                  <a:ext cx="1654" cy="1"/>
                </a:xfrm>
                <a:prstGeom prst="rect">
                  <a:avLst/>
                </a:prstGeom>
                <a:solidFill>
                  <a:srgbClr val="EAEAB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70" name="Rectangle 990"/>
                <p:cNvSpPr>
                  <a:spLocks noChangeArrowheads="1"/>
                </p:cNvSpPr>
                <p:nvPr/>
              </p:nvSpPr>
              <p:spPr bwMode="auto">
                <a:xfrm>
                  <a:off x="1063" y="3859"/>
                  <a:ext cx="1654" cy="2"/>
                </a:xfrm>
                <a:prstGeom prst="rect">
                  <a:avLst/>
                </a:prstGeom>
                <a:solidFill>
                  <a:srgbClr val="E7E7B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71" name="Rectangle 991"/>
                <p:cNvSpPr>
                  <a:spLocks noChangeArrowheads="1"/>
                </p:cNvSpPr>
                <p:nvPr/>
              </p:nvSpPr>
              <p:spPr bwMode="auto">
                <a:xfrm>
                  <a:off x="1063" y="3861"/>
                  <a:ext cx="1654" cy="2"/>
                </a:xfrm>
                <a:prstGeom prst="rect">
                  <a:avLst/>
                </a:prstGeom>
                <a:solidFill>
                  <a:srgbClr val="E3E3B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72" name="Rectangle 992"/>
                <p:cNvSpPr>
                  <a:spLocks noChangeArrowheads="1"/>
                </p:cNvSpPr>
                <p:nvPr/>
              </p:nvSpPr>
              <p:spPr bwMode="auto">
                <a:xfrm>
                  <a:off x="1063" y="3863"/>
                  <a:ext cx="1654" cy="1"/>
                </a:xfrm>
                <a:prstGeom prst="rect">
                  <a:avLst/>
                </a:prstGeom>
                <a:solidFill>
                  <a:srgbClr val="E0E0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73" name="Rectangle 993"/>
                <p:cNvSpPr>
                  <a:spLocks noChangeArrowheads="1"/>
                </p:cNvSpPr>
                <p:nvPr/>
              </p:nvSpPr>
              <p:spPr bwMode="auto">
                <a:xfrm>
                  <a:off x="1063" y="3864"/>
                  <a:ext cx="1654" cy="2"/>
                </a:xfrm>
                <a:prstGeom prst="rect">
                  <a:avLst/>
                </a:prstGeom>
                <a:solidFill>
                  <a:srgbClr val="DDDDB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74" name="Rectangle 994"/>
                <p:cNvSpPr>
                  <a:spLocks noChangeArrowheads="1"/>
                </p:cNvSpPr>
                <p:nvPr/>
              </p:nvSpPr>
              <p:spPr bwMode="auto">
                <a:xfrm>
                  <a:off x="1063" y="3866"/>
                  <a:ext cx="1654" cy="2"/>
                </a:xfrm>
                <a:prstGeom prst="rect">
                  <a:avLst/>
                </a:prstGeom>
                <a:solidFill>
                  <a:srgbClr val="D9D9A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75" name="Rectangle 995"/>
                <p:cNvSpPr>
                  <a:spLocks noChangeArrowheads="1"/>
                </p:cNvSpPr>
                <p:nvPr/>
              </p:nvSpPr>
              <p:spPr bwMode="auto">
                <a:xfrm>
                  <a:off x="1063" y="3868"/>
                  <a:ext cx="1654" cy="2"/>
                </a:xfrm>
                <a:prstGeom prst="rect">
                  <a:avLst/>
                </a:prstGeom>
                <a:solidFill>
                  <a:srgbClr val="D5D5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76" name="Rectangle 996"/>
                <p:cNvSpPr>
                  <a:spLocks noChangeArrowheads="1"/>
                </p:cNvSpPr>
                <p:nvPr/>
              </p:nvSpPr>
              <p:spPr bwMode="auto">
                <a:xfrm>
                  <a:off x="1063" y="3870"/>
                  <a:ext cx="1654" cy="1"/>
                </a:xfrm>
                <a:prstGeom prst="rect">
                  <a:avLst/>
                </a:prstGeom>
                <a:solidFill>
                  <a:srgbClr val="D1D1A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77" name="Rectangle 997"/>
                <p:cNvSpPr>
                  <a:spLocks noChangeArrowheads="1"/>
                </p:cNvSpPr>
                <p:nvPr/>
              </p:nvSpPr>
              <p:spPr bwMode="auto">
                <a:xfrm>
                  <a:off x="1063" y="3871"/>
                  <a:ext cx="1654" cy="2"/>
                </a:xfrm>
                <a:prstGeom prst="rect">
                  <a:avLst/>
                </a:prstGeom>
                <a:solidFill>
                  <a:srgbClr val="CCCCA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78" name="Rectangle 998"/>
                <p:cNvSpPr>
                  <a:spLocks noChangeArrowheads="1"/>
                </p:cNvSpPr>
                <p:nvPr/>
              </p:nvSpPr>
              <p:spPr bwMode="auto">
                <a:xfrm>
                  <a:off x="1063" y="3873"/>
                  <a:ext cx="1654" cy="2"/>
                </a:xfrm>
                <a:prstGeom prst="rect">
                  <a:avLst/>
                </a:prstGeom>
                <a:solidFill>
                  <a:srgbClr val="C8C8A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79" name="Rectangle 999"/>
                <p:cNvSpPr>
                  <a:spLocks noChangeArrowheads="1"/>
                </p:cNvSpPr>
                <p:nvPr/>
              </p:nvSpPr>
              <p:spPr bwMode="auto">
                <a:xfrm>
                  <a:off x="1063" y="3875"/>
                  <a:ext cx="1654" cy="2"/>
                </a:xfrm>
                <a:prstGeom prst="rect">
                  <a:avLst/>
                </a:prstGeom>
                <a:solidFill>
                  <a:srgbClr val="C4C4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80" name="Rectangle 1000"/>
                <p:cNvSpPr>
                  <a:spLocks noChangeArrowheads="1"/>
                </p:cNvSpPr>
                <p:nvPr/>
              </p:nvSpPr>
              <p:spPr bwMode="auto">
                <a:xfrm>
                  <a:off x="1063" y="3877"/>
                  <a:ext cx="1654" cy="1"/>
                </a:xfrm>
                <a:prstGeom prst="rect">
                  <a:avLst/>
                </a:prstGeom>
                <a:solidFill>
                  <a:srgbClr val="BFBF9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81" name="Rectangle 1001"/>
                <p:cNvSpPr>
                  <a:spLocks noChangeArrowheads="1"/>
                </p:cNvSpPr>
                <p:nvPr/>
              </p:nvSpPr>
              <p:spPr bwMode="auto">
                <a:xfrm>
                  <a:off x="1063" y="3878"/>
                  <a:ext cx="1654" cy="2"/>
                </a:xfrm>
                <a:prstGeom prst="rect">
                  <a:avLst/>
                </a:prstGeom>
                <a:solidFill>
                  <a:srgbClr val="BBBB9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82" name="Rectangle 1002"/>
                <p:cNvSpPr>
                  <a:spLocks noChangeArrowheads="1"/>
                </p:cNvSpPr>
                <p:nvPr/>
              </p:nvSpPr>
              <p:spPr bwMode="auto">
                <a:xfrm>
                  <a:off x="1063" y="3880"/>
                  <a:ext cx="1654" cy="2"/>
                </a:xfrm>
                <a:prstGeom prst="rect">
                  <a:avLst/>
                </a:prstGeom>
                <a:solidFill>
                  <a:srgbClr val="B6B6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83" name="Rectangle 1003"/>
                <p:cNvSpPr>
                  <a:spLocks noChangeArrowheads="1"/>
                </p:cNvSpPr>
                <p:nvPr/>
              </p:nvSpPr>
              <p:spPr bwMode="auto">
                <a:xfrm>
                  <a:off x="1063" y="3882"/>
                  <a:ext cx="1654" cy="1"/>
                </a:xfrm>
                <a:prstGeom prst="rect">
                  <a:avLst/>
                </a:prstGeom>
                <a:solidFill>
                  <a:srgbClr val="B1B18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84" name="Rectangle 1004"/>
                <p:cNvSpPr>
                  <a:spLocks noChangeArrowheads="1"/>
                </p:cNvSpPr>
                <p:nvPr/>
              </p:nvSpPr>
              <p:spPr bwMode="auto">
                <a:xfrm>
                  <a:off x="1063" y="3883"/>
                  <a:ext cx="1654" cy="2"/>
                </a:xfrm>
                <a:prstGeom prst="rect">
                  <a:avLst/>
                </a:prstGeom>
                <a:solidFill>
                  <a:srgbClr val="ADAD8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85" name="Rectangle 1005"/>
                <p:cNvSpPr>
                  <a:spLocks noChangeArrowheads="1"/>
                </p:cNvSpPr>
                <p:nvPr/>
              </p:nvSpPr>
              <p:spPr bwMode="auto">
                <a:xfrm>
                  <a:off x="1063" y="3885"/>
                  <a:ext cx="1654" cy="2"/>
                </a:xfrm>
                <a:prstGeom prst="rect">
                  <a:avLst/>
                </a:prstGeom>
                <a:solidFill>
                  <a:srgbClr val="A8A88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86" name="Rectangle 1006"/>
                <p:cNvSpPr>
                  <a:spLocks noChangeArrowheads="1"/>
                </p:cNvSpPr>
                <p:nvPr/>
              </p:nvSpPr>
              <p:spPr bwMode="auto">
                <a:xfrm>
                  <a:off x="1063" y="3887"/>
                  <a:ext cx="1654" cy="2"/>
                </a:xfrm>
                <a:prstGeom prst="rect">
                  <a:avLst/>
                </a:prstGeom>
                <a:solidFill>
                  <a:srgbClr val="A3A38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87" name="Rectangle 1007"/>
                <p:cNvSpPr>
                  <a:spLocks noChangeArrowheads="1"/>
                </p:cNvSpPr>
                <p:nvPr/>
              </p:nvSpPr>
              <p:spPr bwMode="auto">
                <a:xfrm>
                  <a:off x="1063" y="3889"/>
                  <a:ext cx="1654" cy="1"/>
                </a:xfrm>
                <a:prstGeom prst="rect">
                  <a:avLst/>
                </a:prstGeom>
                <a:solidFill>
                  <a:srgbClr val="9F9F7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88" name="Rectangle 1008"/>
                <p:cNvSpPr>
                  <a:spLocks noChangeArrowheads="1"/>
                </p:cNvSpPr>
                <p:nvPr/>
              </p:nvSpPr>
              <p:spPr bwMode="auto">
                <a:xfrm>
                  <a:off x="1063" y="3890"/>
                  <a:ext cx="1654" cy="2"/>
                </a:xfrm>
                <a:prstGeom prst="rect">
                  <a:avLst/>
                </a:prstGeom>
                <a:solidFill>
                  <a:srgbClr val="9B9B7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89" name="Rectangle 1009"/>
                <p:cNvSpPr>
                  <a:spLocks noChangeArrowheads="1"/>
                </p:cNvSpPr>
                <p:nvPr/>
              </p:nvSpPr>
              <p:spPr bwMode="auto">
                <a:xfrm>
                  <a:off x="1063" y="3892"/>
                  <a:ext cx="1654" cy="2"/>
                </a:xfrm>
                <a:prstGeom prst="rect">
                  <a:avLst/>
                </a:prstGeom>
                <a:solidFill>
                  <a:srgbClr val="96967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90" name="Rectangle 1010"/>
                <p:cNvSpPr>
                  <a:spLocks noChangeArrowheads="1"/>
                </p:cNvSpPr>
                <p:nvPr/>
              </p:nvSpPr>
              <p:spPr bwMode="auto">
                <a:xfrm>
                  <a:off x="1063" y="3894"/>
                  <a:ext cx="1654" cy="1"/>
                </a:xfrm>
                <a:prstGeom prst="rect">
                  <a:avLst/>
                </a:prstGeom>
                <a:solidFill>
                  <a:srgbClr val="93937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91" name="Rectangle 1011"/>
                <p:cNvSpPr>
                  <a:spLocks noChangeArrowheads="1"/>
                </p:cNvSpPr>
                <p:nvPr/>
              </p:nvSpPr>
              <p:spPr bwMode="auto">
                <a:xfrm>
                  <a:off x="1063" y="3895"/>
                  <a:ext cx="1654" cy="2"/>
                </a:xfrm>
                <a:prstGeom prst="rect">
                  <a:avLst/>
                </a:prstGeom>
                <a:solidFill>
                  <a:srgbClr val="8F8F7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92" name="Rectangle 1012"/>
                <p:cNvSpPr>
                  <a:spLocks noChangeArrowheads="1"/>
                </p:cNvSpPr>
                <p:nvPr/>
              </p:nvSpPr>
              <p:spPr bwMode="auto">
                <a:xfrm>
                  <a:off x="1063" y="3897"/>
                  <a:ext cx="1654" cy="2"/>
                </a:xfrm>
                <a:prstGeom prst="rect">
                  <a:avLst/>
                </a:prstGeom>
                <a:solidFill>
                  <a:srgbClr val="8B8B6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93" name="Rectangle 1013"/>
                <p:cNvSpPr>
                  <a:spLocks noChangeArrowheads="1"/>
                </p:cNvSpPr>
                <p:nvPr/>
              </p:nvSpPr>
              <p:spPr bwMode="auto">
                <a:xfrm>
                  <a:off x="1063" y="3899"/>
                  <a:ext cx="1654" cy="2"/>
                </a:xfrm>
                <a:prstGeom prst="rect">
                  <a:avLst/>
                </a:prstGeom>
                <a:solidFill>
                  <a:srgbClr val="88886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94" name="Rectangle 1014"/>
                <p:cNvSpPr>
                  <a:spLocks noChangeArrowheads="1"/>
                </p:cNvSpPr>
                <p:nvPr/>
              </p:nvSpPr>
              <p:spPr bwMode="auto">
                <a:xfrm>
                  <a:off x="1063" y="3901"/>
                  <a:ext cx="1654" cy="1"/>
                </a:xfrm>
                <a:prstGeom prst="rect">
                  <a:avLst/>
                </a:prstGeom>
                <a:solidFill>
                  <a:srgbClr val="85856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95" name="Rectangle 1015"/>
                <p:cNvSpPr>
                  <a:spLocks noChangeArrowheads="1"/>
                </p:cNvSpPr>
                <p:nvPr/>
              </p:nvSpPr>
              <p:spPr bwMode="auto">
                <a:xfrm>
                  <a:off x="1063" y="3902"/>
                  <a:ext cx="1654" cy="2"/>
                </a:xfrm>
                <a:prstGeom prst="rect">
                  <a:avLst/>
                </a:prstGeom>
                <a:solidFill>
                  <a:srgbClr val="82826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96" name="Rectangle 1016"/>
                <p:cNvSpPr>
                  <a:spLocks noChangeArrowheads="1"/>
                </p:cNvSpPr>
                <p:nvPr/>
              </p:nvSpPr>
              <p:spPr bwMode="auto">
                <a:xfrm>
                  <a:off x="1063" y="3904"/>
                  <a:ext cx="1654" cy="2"/>
                </a:xfrm>
                <a:prstGeom prst="rect">
                  <a:avLst/>
                </a:prstGeom>
                <a:solidFill>
                  <a:srgbClr val="8080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97" name="Rectangle 1017"/>
                <p:cNvSpPr>
                  <a:spLocks noChangeArrowheads="1"/>
                </p:cNvSpPr>
                <p:nvPr/>
              </p:nvSpPr>
              <p:spPr bwMode="auto">
                <a:xfrm>
                  <a:off x="1063" y="3906"/>
                  <a:ext cx="1654" cy="2"/>
                </a:xfrm>
                <a:prstGeom prst="rect">
                  <a:avLst/>
                </a:prstGeom>
                <a:solidFill>
                  <a:srgbClr val="7E7E6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98" name="Rectangle 1018"/>
                <p:cNvSpPr>
                  <a:spLocks noChangeArrowheads="1"/>
                </p:cNvSpPr>
                <p:nvPr/>
              </p:nvSpPr>
              <p:spPr bwMode="auto">
                <a:xfrm>
                  <a:off x="1063" y="3908"/>
                  <a:ext cx="1654" cy="1"/>
                </a:xfrm>
                <a:prstGeom prst="rect">
                  <a:avLst/>
                </a:prstGeom>
                <a:solidFill>
                  <a:srgbClr val="7C7C6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499" name="Rectangle 1019"/>
                <p:cNvSpPr>
                  <a:spLocks noChangeArrowheads="1"/>
                </p:cNvSpPr>
                <p:nvPr/>
              </p:nvSpPr>
              <p:spPr bwMode="auto">
                <a:xfrm>
                  <a:off x="1063" y="3909"/>
                  <a:ext cx="1654" cy="2"/>
                </a:xfrm>
                <a:prstGeom prst="rect">
                  <a:avLst/>
                </a:prstGeom>
                <a:solidFill>
                  <a:srgbClr val="7A7A6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500" name="Rectangle 1020"/>
                <p:cNvSpPr>
                  <a:spLocks noChangeArrowheads="1"/>
                </p:cNvSpPr>
                <p:nvPr/>
              </p:nvSpPr>
              <p:spPr bwMode="auto">
                <a:xfrm>
                  <a:off x="1063" y="3911"/>
                  <a:ext cx="1654" cy="2"/>
                </a:xfrm>
                <a:prstGeom prst="rect">
                  <a:avLst/>
                </a:prstGeom>
                <a:solidFill>
                  <a:srgbClr val="79796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501" name="Rectangle 1021"/>
                <p:cNvSpPr>
                  <a:spLocks noChangeArrowheads="1"/>
                </p:cNvSpPr>
                <p:nvPr/>
              </p:nvSpPr>
              <p:spPr bwMode="auto">
                <a:xfrm>
                  <a:off x="1063" y="3913"/>
                  <a:ext cx="1654" cy="1"/>
                </a:xfrm>
                <a:prstGeom prst="rect">
                  <a:avLst/>
                </a:prstGeom>
                <a:solidFill>
                  <a:srgbClr val="77775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502" name="Rectangle 1022"/>
                <p:cNvSpPr>
                  <a:spLocks noChangeArrowheads="1"/>
                </p:cNvSpPr>
                <p:nvPr/>
              </p:nvSpPr>
              <p:spPr bwMode="auto">
                <a:xfrm>
                  <a:off x="1063" y="3914"/>
                  <a:ext cx="1654" cy="2"/>
                </a:xfrm>
                <a:prstGeom prst="rect">
                  <a:avLst/>
                </a:prstGeom>
                <a:solidFill>
                  <a:srgbClr val="76765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sp>
            <p:nvSpPr>
              <p:cNvPr id="149503" name="Rectangle 1023"/>
              <p:cNvSpPr>
                <a:spLocks noChangeArrowheads="1"/>
              </p:cNvSpPr>
              <p:nvPr/>
            </p:nvSpPr>
            <p:spPr bwMode="auto">
              <a:xfrm>
                <a:off x="1063" y="3833"/>
                <a:ext cx="1655" cy="84"/>
              </a:xfrm>
              <a:prstGeom prst="rect">
                <a:avLst/>
              </a:prstGeom>
              <a:noFill/>
              <a:ln w="7938">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02080" name="Group 1024"/>
            <p:cNvGrpSpPr>
              <a:grpSpLocks/>
            </p:cNvGrpSpPr>
            <p:nvPr/>
          </p:nvGrpSpPr>
          <p:grpSpPr bwMode="auto">
            <a:xfrm>
              <a:off x="963" y="3941"/>
              <a:ext cx="1668" cy="261"/>
              <a:chOff x="980" y="3958"/>
              <a:chExt cx="1668" cy="261"/>
            </a:xfrm>
          </p:grpSpPr>
          <p:sp>
            <p:nvSpPr>
              <p:cNvPr id="302081" name="Freeform 1025"/>
              <p:cNvSpPr>
                <a:spLocks/>
              </p:cNvSpPr>
              <p:nvPr/>
            </p:nvSpPr>
            <p:spPr bwMode="auto">
              <a:xfrm>
                <a:off x="994" y="3971"/>
                <a:ext cx="1654" cy="248"/>
              </a:xfrm>
              <a:custGeom>
                <a:avLst/>
                <a:gdLst>
                  <a:gd name="T0" fmla="*/ 827 w 3308"/>
                  <a:gd name="T1" fmla="*/ 0 h 496"/>
                  <a:gd name="T2" fmla="*/ 0 w 3308"/>
                  <a:gd name="T3" fmla="*/ 496 h 496"/>
                  <a:gd name="T4" fmla="*/ 2481 w 3308"/>
                  <a:gd name="T5" fmla="*/ 496 h 496"/>
                  <a:gd name="T6" fmla="*/ 3308 w 3308"/>
                  <a:gd name="T7" fmla="*/ 0 h 496"/>
                  <a:gd name="T8" fmla="*/ 827 w 3308"/>
                  <a:gd name="T9" fmla="*/ 0 h 496"/>
                </a:gdLst>
                <a:ahLst/>
                <a:cxnLst>
                  <a:cxn ang="0">
                    <a:pos x="T0" y="T1"/>
                  </a:cxn>
                  <a:cxn ang="0">
                    <a:pos x="T2" y="T3"/>
                  </a:cxn>
                  <a:cxn ang="0">
                    <a:pos x="T4" y="T5"/>
                  </a:cxn>
                  <a:cxn ang="0">
                    <a:pos x="T6" y="T7"/>
                  </a:cxn>
                  <a:cxn ang="0">
                    <a:pos x="T8" y="T9"/>
                  </a:cxn>
                </a:cxnLst>
                <a:rect l="0" t="0" r="r" b="b"/>
                <a:pathLst>
                  <a:path w="3308" h="496">
                    <a:moveTo>
                      <a:pt x="827" y="0"/>
                    </a:moveTo>
                    <a:lnTo>
                      <a:pt x="0" y="496"/>
                    </a:lnTo>
                    <a:lnTo>
                      <a:pt x="2481" y="496"/>
                    </a:lnTo>
                    <a:lnTo>
                      <a:pt x="3308" y="0"/>
                    </a:lnTo>
                    <a:lnTo>
                      <a:pt x="827"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02082" name="Group 1026"/>
              <p:cNvGrpSpPr>
                <a:grpSpLocks/>
              </p:cNvGrpSpPr>
              <p:nvPr/>
            </p:nvGrpSpPr>
            <p:grpSpPr bwMode="auto">
              <a:xfrm>
                <a:off x="980" y="3958"/>
                <a:ext cx="1655" cy="249"/>
                <a:chOff x="980" y="3958"/>
                <a:chExt cx="1655" cy="249"/>
              </a:xfrm>
            </p:grpSpPr>
            <p:pic>
              <p:nvPicPr>
                <p:cNvPr id="302083" name="Picture 10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0" y="3958"/>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2084" name="Picture 10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28" y="3958"/>
                  <a:ext cx="80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2085" name="Freeform 1029"/>
                <p:cNvSpPr>
                  <a:spLocks/>
                </p:cNvSpPr>
                <p:nvPr/>
              </p:nvSpPr>
              <p:spPr bwMode="auto">
                <a:xfrm>
                  <a:off x="980" y="3958"/>
                  <a:ext cx="1654" cy="248"/>
                </a:xfrm>
                <a:custGeom>
                  <a:avLst/>
                  <a:gdLst>
                    <a:gd name="T0" fmla="*/ 827 w 3309"/>
                    <a:gd name="T1" fmla="*/ 0 h 496"/>
                    <a:gd name="T2" fmla="*/ 0 w 3309"/>
                    <a:gd name="T3" fmla="*/ 496 h 496"/>
                    <a:gd name="T4" fmla="*/ 2482 w 3309"/>
                    <a:gd name="T5" fmla="*/ 496 h 496"/>
                    <a:gd name="T6" fmla="*/ 3309 w 3309"/>
                    <a:gd name="T7" fmla="*/ 0 h 496"/>
                    <a:gd name="T8" fmla="*/ 827 w 3309"/>
                    <a:gd name="T9" fmla="*/ 0 h 496"/>
                  </a:gdLst>
                  <a:ahLst/>
                  <a:cxnLst>
                    <a:cxn ang="0">
                      <a:pos x="T0" y="T1"/>
                    </a:cxn>
                    <a:cxn ang="0">
                      <a:pos x="T2" y="T3"/>
                    </a:cxn>
                    <a:cxn ang="0">
                      <a:pos x="T4" y="T5"/>
                    </a:cxn>
                    <a:cxn ang="0">
                      <a:pos x="T6" y="T7"/>
                    </a:cxn>
                    <a:cxn ang="0">
                      <a:pos x="T8" y="T9"/>
                    </a:cxn>
                  </a:cxnLst>
                  <a:rect l="0" t="0" r="r" b="b"/>
                  <a:pathLst>
                    <a:path w="3309" h="496">
                      <a:moveTo>
                        <a:pt x="827" y="0"/>
                      </a:moveTo>
                      <a:lnTo>
                        <a:pt x="0" y="496"/>
                      </a:lnTo>
                      <a:lnTo>
                        <a:pt x="2482" y="496"/>
                      </a:lnTo>
                      <a:lnTo>
                        <a:pt x="3309" y="0"/>
                      </a:lnTo>
                      <a:lnTo>
                        <a:pt x="827"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2086" name="Freeform 1030"/>
                <p:cNvSpPr>
                  <a:spLocks/>
                </p:cNvSpPr>
                <p:nvPr/>
              </p:nvSpPr>
              <p:spPr bwMode="auto">
                <a:xfrm>
                  <a:off x="980" y="3958"/>
                  <a:ext cx="1654" cy="248"/>
                </a:xfrm>
                <a:custGeom>
                  <a:avLst/>
                  <a:gdLst>
                    <a:gd name="T0" fmla="*/ 827 w 3309"/>
                    <a:gd name="T1" fmla="*/ 0 h 496"/>
                    <a:gd name="T2" fmla="*/ 0 w 3309"/>
                    <a:gd name="T3" fmla="*/ 496 h 496"/>
                    <a:gd name="T4" fmla="*/ 2482 w 3309"/>
                    <a:gd name="T5" fmla="*/ 496 h 496"/>
                    <a:gd name="T6" fmla="*/ 3309 w 3309"/>
                    <a:gd name="T7" fmla="*/ 0 h 496"/>
                    <a:gd name="T8" fmla="*/ 827 w 3309"/>
                    <a:gd name="T9" fmla="*/ 0 h 496"/>
                  </a:gdLst>
                  <a:ahLst/>
                  <a:cxnLst>
                    <a:cxn ang="0">
                      <a:pos x="T0" y="T1"/>
                    </a:cxn>
                    <a:cxn ang="0">
                      <a:pos x="T2" y="T3"/>
                    </a:cxn>
                    <a:cxn ang="0">
                      <a:pos x="T4" y="T5"/>
                    </a:cxn>
                    <a:cxn ang="0">
                      <a:pos x="T6" y="T7"/>
                    </a:cxn>
                    <a:cxn ang="0">
                      <a:pos x="T8" y="T9"/>
                    </a:cxn>
                  </a:cxnLst>
                  <a:rect l="0" t="0" r="r" b="b"/>
                  <a:pathLst>
                    <a:path w="3309" h="496">
                      <a:moveTo>
                        <a:pt x="827" y="0"/>
                      </a:moveTo>
                      <a:lnTo>
                        <a:pt x="0" y="496"/>
                      </a:lnTo>
                      <a:lnTo>
                        <a:pt x="2482" y="496"/>
                      </a:lnTo>
                      <a:lnTo>
                        <a:pt x="3309" y="0"/>
                      </a:lnTo>
                      <a:lnTo>
                        <a:pt x="82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302087" name="Picture 10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0" y="3958"/>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2088" name="Picture 10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28" y="3958"/>
                  <a:ext cx="80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2089" name="Freeform 1033"/>
              <p:cNvSpPr>
                <a:spLocks/>
              </p:cNvSpPr>
              <p:nvPr/>
            </p:nvSpPr>
            <p:spPr bwMode="auto">
              <a:xfrm>
                <a:off x="980" y="3958"/>
                <a:ext cx="1654" cy="248"/>
              </a:xfrm>
              <a:custGeom>
                <a:avLst/>
                <a:gdLst>
                  <a:gd name="T0" fmla="*/ 827 w 3309"/>
                  <a:gd name="T1" fmla="*/ 0 h 496"/>
                  <a:gd name="T2" fmla="*/ 0 w 3309"/>
                  <a:gd name="T3" fmla="*/ 496 h 496"/>
                  <a:gd name="T4" fmla="*/ 2482 w 3309"/>
                  <a:gd name="T5" fmla="*/ 496 h 496"/>
                  <a:gd name="T6" fmla="*/ 3309 w 3309"/>
                  <a:gd name="T7" fmla="*/ 0 h 496"/>
                  <a:gd name="T8" fmla="*/ 827 w 3309"/>
                  <a:gd name="T9" fmla="*/ 0 h 496"/>
                </a:gdLst>
                <a:ahLst/>
                <a:cxnLst>
                  <a:cxn ang="0">
                    <a:pos x="T0" y="T1"/>
                  </a:cxn>
                  <a:cxn ang="0">
                    <a:pos x="T2" y="T3"/>
                  </a:cxn>
                  <a:cxn ang="0">
                    <a:pos x="T4" y="T5"/>
                  </a:cxn>
                  <a:cxn ang="0">
                    <a:pos x="T6" y="T7"/>
                  </a:cxn>
                  <a:cxn ang="0">
                    <a:pos x="T8" y="T9"/>
                  </a:cxn>
                </a:cxnLst>
                <a:rect l="0" t="0" r="r" b="b"/>
                <a:pathLst>
                  <a:path w="3309" h="496">
                    <a:moveTo>
                      <a:pt x="827" y="0"/>
                    </a:moveTo>
                    <a:lnTo>
                      <a:pt x="0" y="496"/>
                    </a:lnTo>
                    <a:lnTo>
                      <a:pt x="2482" y="496"/>
                    </a:lnTo>
                    <a:lnTo>
                      <a:pt x="3309" y="0"/>
                    </a:lnTo>
                    <a:lnTo>
                      <a:pt x="827"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02090" name="Group 1034"/>
            <p:cNvGrpSpPr>
              <a:grpSpLocks/>
            </p:cNvGrpSpPr>
            <p:nvPr/>
          </p:nvGrpSpPr>
          <p:grpSpPr bwMode="auto">
            <a:xfrm>
              <a:off x="1247" y="3982"/>
              <a:ext cx="1041" cy="179"/>
              <a:chOff x="1264" y="3999"/>
              <a:chExt cx="1041" cy="179"/>
            </a:xfrm>
          </p:grpSpPr>
          <p:sp>
            <p:nvSpPr>
              <p:cNvPr id="302091" name="Freeform 1035"/>
              <p:cNvSpPr>
                <a:spLocks/>
              </p:cNvSpPr>
              <p:nvPr/>
            </p:nvSpPr>
            <p:spPr bwMode="auto">
              <a:xfrm>
                <a:off x="1285" y="4013"/>
                <a:ext cx="356" cy="162"/>
              </a:xfrm>
              <a:custGeom>
                <a:avLst/>
                <a:gdLst>
                  <a:gd name="T0" fmla="*/ 110 w 712"/>
                  <a:gd name="T1" fmla="*/ 326 h 326"/>
                  <a:gd name="T2" fmla="*/ 55 w 712"/>
                  <a:gd name="T3" fmla="*/ 326 h 326"/>
                  <a:gd name="T4" fmla="*/ 0 w 712"/>
                  <a:gd name="T5" fmla="*/ 326 h 326"/>
                  <a:gd name="T6" fmla="*/ 216 w 712"/>
                  <a:gd name="T7" fmla="*/ 209 h 326"/>
                  <a:gd name="T8" fmla="*/ 431 w 712"/>
                  <a:gd name="T9" fmla="*/ 92 h 326"/>
                  <a:gd name="T10" fmla="*/ 372 w 712"/>
                  <a:gd name="T11" fmla="*/ 105 h 326"/>
                  <a:gd name="T12" fmla="*/ 314 w 712"/>
                  <a:gd name="T13" fmla="*/ 119 h 326"/>
                  <a:gd name="T14" fmla="*/ 257 w 712"/>
                  <a:gd name="T15" fmla="*/ 130 h 326"/>
                  <a:gd name="T16" fmla="*/ 200 w 712"/>
                  <a:gd name="T17" fmla="*/ 138 h 326"/>
                  <a:gd name="T18" fmla="*/ 253 w 712"/>
                  <a:gd name="T19" fmla="*/ 111 h 326"/>
                  <a:gd name="T20" fmla="*/ 305 w 712"/>
                  <a:gd name="T21" fmla="*/ 83 h 326"/>
                  <a:gd name="T22" fmla="*/ 336 w 712"/>
                  <a:gd name="T23" fmla="*/ 78 h 326"/>
                  <a:gd name="T24" fmla="*/ 372 w 712"/>
                  <a:gd name="T25" fmla="*/ 71 h 326"/>
                  <a:gd name="T26" fmla="*/ 412 w 712"/>
                  <a:gd name="T27" fmla="*/ 62 h 326"/>
                  <a:gd name="T28" fmla="*/ 455 w 712"/>
                  <a:gd name="T29" fmla="*/ 52 h 326"/>
                  <a:gd name="T30" fmla="*/ 500 w 712"/>
                  <a:gd name="T31" fmla="*/ 40 h 326"/>
                  <a:gd name="T32" fmla="*/ 543 w 712"/>
                  <a:gd name="T33" fmla="*/ 28 h 326"/>
                  <a:gd name="T34" fmla="*/ 583 w 712"/>
                  <a:gd name="T35" fmla="*/ 14 h 326"/>
                  <a:gd name="T36" fmla="*/ 621 w 712"/>
                  <a:gd name="T37" fmla="*/ 0 h 326"/>
                  <a:gd name="T38" fmla="*/ 667 w 712"/>
                  <a:gd name="T39" fmla="*/ 0 h 326"/>
                  <a:gd name="T40" fmla="*/ 712 w 712"/>
                  <a:gd name="T41" fmla="*/ 0 h 326"/>
                  <a:gd name="T42" fmla="*/ 410 w 712"/>
                  <a:gd name="T43" fmla="*/ 164 h 326"/>
                  <a:gd name="T44" fmla="*/ 110 w 712"/>
                  <a:gd name="T45" fmla="*/ 326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12" h="326">
                    <a:moveTo>
                      <a:pt x="110" y="326"/>
                    </a:moveTo>
                    <a:lnTo>
                      <a:pt x="55" y="326"/>
                    </a:lnTo>
                    <a:lnTo>
                      <a:pt x="0" y="326"/>
                    </a:lnTo>
                    <a:lnTo>
                      <a:pt x="216" y="209"/>
                    </a:lnTo>
                    <a:lnTo>
                      <a:pt x="431" y="92"/>
                    </a:lnTo>
                    <a:lnTo>
                      <a:pt x="372" y="105"/>
                    </a:lnTo>
                    <a:lnTo>
                      <a:pt x="314" y="119"/>
                    </a:lnTo>
                    <a:lnTo>
                      <a:pt x="257" y="130"/>
                    </a:lnTo>
                    <a:lnTo>
                      <a:pt x="200" y="138"/>
                    </a:lnTo>
                    <a:lnTo>
                      <a:pt x="253" y="111"/>
                    </a:lnTo>
                    <a:lnTo>
                      <a:pt x="305" y="83"/>
                    </a:lnTo>
                    <a:lnTo>
                      <a:pt x="336" y="78"/>
                    </a:lnTo>
                    <a:lnTo>
                      <a:pt x="372" y="71"/>
                    </a:lnTo>
                    <a:lnTo>
                      <a:pt x="412" y="62"/>
                    </a:lnTo>
                    <a:lnTo>
                      <a:pt x="455" y="52"/>
                    </a:lnTo>
                    <a:lnTo>
                      <a:pt x="500" y="40"/>
                    </a:lnTo>
                    <a:lnTo>
                      <a:pt x="543" y="28"/>
                    </a:lnTo>
                    <a:lnTo>
                      <a:pt x="583" y="14"/>
                    </a:lnTo>
                    <a:lnTo>
                      <a:pt x="621" y="0"/>
                    </a:lnTo>
                    <a:lnTo>
                      <a:pt x="667" y="0"/>
                    </a:lnTo>
                    <a:lnTo>
                      <a:pt x="712" y="0"/>
                    </a:lnTo>
                    <a:lnTo>
                      <a:pt x="410" y="164"/>
                    </a:lnTo>
                    <a:lnTo>
                      <a:pt x="110" y="32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092" name="Freeform 1036"/>
              <p:cNvSpPr>
                <a:spLocks/>
              </p:cNvSpPr>
              <p:nvPr/>
            </p:nvSpPr>
            <p:spPr bwMode="auto">
              <a:xfrm>
                <a:off x="1472" y="4015"/>
                <a:ext cx="429" cy="163"/>
              </a:xfrm>
              <a:custGeom>
                <a:avLst/>
                <a:gdLst>
                  <a:gd name="T0" fmla="*/ 119 w 858"/>
                  <a:gd name="T1" fmla="*/ 235 h 326"/>
                  <a:gd name="T2" fmla="*/ 167 w 858"/>
                  <a:gd name="T3" fmla="*/ 242 h 326"/>
                  <a:gd name="T4" fmla="*/ 150 w 858"/>
                  <a:gd name="T5" fmla="*/ 257 h 326"/>
                  <a:gd name="T6" fmla="*/ 150 w 858"/>
                  <a:gd name="T7" fmla="*/ 269 h 326"/>
                  <a:gd name="T8" fmla="*/ 166 w 858"/>
                  <a:gd name="T9" fmla="*/ 276 h 326"/>
                  <a:gd name="T10" fmla="*/ 198 w 858"/>
                  <a:gd name="T11" fmla="*/ 274 h 326"/>
                  <a:gd name="T12" fmla="*/ 241 w 858"/>
                  <a:gd name="T13" fmla="*/ 268 h 326"/>
                  <a:gd name="T14" fmla="*/ 293 w 858"/>
                  <a:gd name="T15" fmla="*/ 252 h 326"/>
                  <a:gd name="T16" fmla="*/ 350 w 858"/>
                  <a:gd name="T17" fmla="*/ 228 h 326"/>
                  <a:gd name="T18" fmla="*/ 403 w 858"/>
                  <a:gd name="T19" fmla="*/ 199 h 326"/>
                  <a:gd name="T20" fmla="*/ 433 w 858"/>
                  <a:gd name="T21" fmla="*/ 176 h 326"/>
                  <a:gd name="T22" fmla="*/ 438 w 858"/>
                  <a:gd name="T23" fmla="*/ 168 h 326"/>
                  <a:gd name="T24" fmla="*/ 431 w 858"/>
                  <a:gd name="T25" fmla="*/ 157 h 326"/>
                  <a:gd name="T26" fmla="*/ 403 w 858"/>
                  <a:gd name="T27" fmla="*/ 154 h 326"/>
                  <a:gd name="T28" fmla="*/ 346 w 858"/>
                  <a:gd name="T29" fmla="*/ 159 h 326"/>
                  <a:gd name="T30" fmla="*/ 274 w 858"/>
                  <a:gd name="T31" fmla="*/ 176 h 326"/>
                  <a:gd name="T32" fmla="*/ 197 w 858"/>
                  <a:gd name="T33" fmla="*/ 169 h 326"/>
                  <a:gd name="T34" fmla="*/ 565 w 858"/>
                  <a:gd name="T35" fmla="*/ 0 h 326"/>
                  <a:gd name="T36" fmla="*/ 858 w 858"/>
                  <a:gd name="T37" fmla="*/ 0 h 326"/>
                  <a:gd name="T38" fmla="*/ 751 w 858"/>
                  <a:gd name="T39" fmla="*/ 59 h 326"/>
                  <a:gd name="T40" fmla="*/ 541 w 858"/>
                  <a:gd name="T41" fmla="*/ 59 h 326"/>
                  <a:gd name="T42" fmla="*/ 422 w 858"/>
                  <a:gd name="T43" fmla="*/ 114 h 326"/>
                  <a:gd name="T44" fmla="*/ 476 w 858"/>
                  <a:gd name="T45" fmla="*/ 107 h 326"/>
                  <a:gd name="T46" fmla="*/ 519 w 858"/>
                  <a:gd name="T47" fmla="*/ 104 h 326"/>
                  <a:gd name="T48" fmla="*/ 550 w 858"/>
                  <a:gd name="T49" fmla="*/ 106 h 326"/>
                  <a:gd name="T50" fmla="*/ 572 w 858"/>
                  <a:gd name="T51" fmla="*/ 111 h 326"/>
                  <a:gd name="T52" fmla="*/ 586 w 858"/>
                  <a:gd name="T53" fmla="*/ 121 h 326"/>
                  <a:gd name="T54" fmla="*/ 588 w 858"/>
                  <a:gd name="T55" fmla="*/ 133 h 326"/>
                  <a:gd name="T56" fmla="*/ 581 w 858"/>
                  <a:gd name="T57" fmla="*/ 150 h 326"/>
                  <a:gd name="T58" fmla="*/ 562 w 858"/>
                  <a:gd name="T59" fmla="*/ 168 h 326"/>
                  <a:gd name="T60" fmla="*/ 534 w 858"/>
                  <a:gd name="T61" fmla="*/ 190 h 326"/>
                  <a:gd name="T62" fmla="*/ 495 w 858"/>
                  <a:gd name="T63" fmla="*/ 212 h 326"/>
                  <a:gd name="T64" fmla="*/ 415 w 858"/>
                  <a:gd name="T65" fmla="*/ 250 h 326"/>
                  <a:gd name="T66" fmla="*/ 322 w 858"/>
                  <a:gd name="T67" fmla="*/ 283 h 326"/>
                  <a:gd name="T68" fmla="*/ 197 w 858"/>
                  <a:gd name="T69" fmla="*/ 316 h 326"/>
                  <a:gd name="T70" fmla="*/ 86 w 858"/>
                  <a:gd name="T71" fmla="*/ 326 h 326"/>
                  <a:gd name="T72" fmla="*/ 50 w 858"/>
                  <a:gd name="T73" fmla="*/ 324 h 326"/>
                  <a:gd name="T74" fmla="*/ 24 w 858"/>
                  <a:gd name="T75" fmla="*/ 319 h 326"/>
                  <a:gd name="T76" fmla="*/ 7 w 858"/>
                  <a:gd name="T77" fmla="*/ 312 h 326"/>
                  <a:gd name="T78" fmla="*/ 0 w 858"/>
                  <a:gd name="T79" fmla="*/ 302 h 326"/>
                  <a:gd name="T80" fmla="*/ 2 w 858"/>
                  <a:gd name="T81" fmla="*/ 288 h 326"/>
                  <a:gd name="T82" fmla="*/ 12 w 858"/>
                  <a:gd name="T83" fmla="*/ 273 h 326"/>
                  <a:gd name="T84" fmla="*/ 29 w 858"/>
                  <a:gd name="T85" fmla="*/ 256 h 326"/>
                  <a:gd name="T86" fmla="*/ 59 w 858"/>
                  <a:gd name="T87" fmla="*/ 237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8" h="326">
                    <a:moveTo>
                      <a:pt x="59" y="237"/>
                    </a:moveTo>
                    <a:lnTo>
                      <a:pt x="119" y="235"/>
                    </a:lnTo>
                    <a:lnTo>
                      <a:pt x="181" y="231"/>
                    </a:lnTo>
                    <a:lnTo>
                      <a:pt x="167" y="242"/>
                    </a:lnTo>
                    <a:lnTo>
                      <a:pt x="157" y="250"/>
                    </a:lnTo>
                    <a:lnTo>
                      <a:pt x="150" y="257"/>
                    </a:lnTo>
                    <a:lnTo>
                      <a:pt x="148" y="264"/>
                    </a:lnTo>
                    <a:lnTo>
                      <a:pt x="150" y="269"/>
                    </a:lnTo>
                    <a:lnTo>
                      <a:pt x="157" y="273"/>
                    </a:lnTo>
                    <a:lnTo>
                      <a:pt x="166" y="276"/>
                    </a:lnTo>
                    <a:lnTo>
                      <a:pt x="179" y="276"/>
                    </a:lnTo>
                    <a:lnTo>
                      <a:pt x="198" y="274"/>
                    </a:lnTo>
                    <a:lnTo>
                      <a:pt x="219" y="273"/>
                    </a:lnTo>
                    <a:lnTo>
                      <a:pt x="241" y="268"/>
                    </a:lnTo>
                    <a:lnTo>
                      <a:pt x="267" y="261"/>
                    </a:lnTo>
                    <a:lnTo>
                      <a:pt x="293" y="252"/>
                    </a:lnTo>
                    <a:lnTo>
                      <a:pt x="321" y="242"/>
                    </a:lnTo>
                    <a:lnTo>
                      <a:pt x="350" y="228"/>
                    </a:lnTo>
                    <a:lnTo>
                      <a:pt x="379" y="212"/>
                    </a:lnTo>
                    <a:lnTo>
                      <a:pt x="403" y="199"/>
                    </a:lnTo>
                    <a:lnTo>
                      <a:pt x="422" y="187"/>
                    </a:lnTo>
                    <a:lnTo>
                      <a:pt x="433" y="176"/>
                    </a:lnTo>
                    <a:lnTo>
                      <a:pt x="436" y="171"/>
                    </a:lnTo>
                    <a:lnTo>
                      <a:pt x="438" y="168"/>
                    </a:lnTo>
                    <a:lnTo>
                      <a:pt x="438" y="162"/>
                    </a:lnTo>
                    <a:lnTo>
                      <a:pt x="431" y="157"/>
                    </a:lnTo>
                    <a:lnTo>
                      <a:pt x="421" y="156"/>
                    </a:lnTo>
                    <a:lnTo>
                      <a:pt x="403" y="154"/>
                    </a:lnTo>
                    <a:lnTo>
                      <a:pt x="377" y="156"/>
                    </a:lnTo>
                    <a:lnTo>
                      <a:pt x="346" y="159"/>
                    </a:lnTo>
                    <a:lnTo>
                      <a:pt x="312" y="166"/>
                    </a:lnTo>
                    <a:lnTo>
                      <a:pt x="274" y="176"/>
                    </a:lnTo>
                    <a:lnTo>
                      <a:pt x="236" y="173"/>
                    </a:lnTo>
                    <a:lnTo>
                      <a:pt x="197" y="169"/>
                    </a:lnTo>
                    <a:lnTo>
                      <a:pt x="381" y="85"/>
                    </a:lnTo>
                    <a:lnTo>
                      <a:pt x="565" y="0"/>
                    </a:lnTo>
                    <a:lnTo>
                      <a:pt x="712" y="0"/>
                    </a:lnTo>
                    <a:lnTo>
                      <a:pt x="858" y="0"/>
                    </a:lnTo>
                    <a:lnTo>
                      <a:pt x="805" y="30"/>
                    </a:lnTo>
                    <a:lnTo>
                      <a:pt x="751" y="59"/>
                    </a:lnTo>
                    <a:lnTo>
                      <a:pt x="646" y="59"/>
                    </a:lnTo>
                    <a:lnTo>
                      <a:pt x="541" y="59"/>
                    </a:lnTo>
                    <a:lnTo>
                      <a:pt x="483" y="87"/>
                    </a:lnTo>
                    <a:lnTo>
                      <a:pt x="422" y="114"/>
                    </a:lnTo>
                    <a:lnTo>
                      <a:pt x="450" y="109"/>
                    </a:lnTo>
                    <a:lnTo>
                      <a:pt x="476" y="107"/>
                    </a:lnTo>
                    <a:lnTo>
                      <a:pt x="498" y="104"/>
                    </a:lnTo>
                    <a:lnTo>
                      <a:pt x="519" y="104"/>
                    </a:lnTo>
                    <a:lnTo>
                      <a:pt x="536" y="104"/>
                    </a:lnTo>
                    <a:lnTo>
                      <a:pt x="550" y="106"/>
                    </a:lnTo>
                    <a:lnTo>
                      <a:pt x="564" y="109"/>
                    </a:lnTo>
                    <a:lnTo>
                      <a:pt x="572" y="111"/>
                    </a:lnTo>
                    <a:lnTo>
                      <a:pt x="581" y="116"/>
                    </a:lnTo>
                    <a:lnTo>
                      <a:pt x="586" y="121"/>
                    </a:lnTo>
                    <a:lnTo>
                      <a:pt x="588" y="126"/>
                    </a:lnTo>
                    <a:lnTo>
                      <a:pt x="588" y="133"/>
                    </a:lnTo>
                    <a:lnTo>
                      <a:pt x="586" y="142"/>
                    </a:lnTo>
                    <a:lnTo>
                      <a:pt x="581" y="150"/>
                    </a:lnTo>
                    <a:lnTo>
                      <a:pt x="572" y="159"/>
                    </a:lnTo>
                    <a:lnTo>
                      <a:pt x="562" y="168"/>
                    </a:lnTo>
                    <a:lnTo>
                      <a:pt x="550" y="178"/>
                    </a:lnTo>
                    <a:lnTo>
                      <a:pt x="534" y="190"/>
                    </a:lnTo>
                    <a:lnTo>
                      <a:pt x="515" y="200"/>
                    </a:lnTo>
                    <a:lnTo>
                      <a:pt x="495" y="212"/>
                    </a:lnTo>
                    <a:lnTo>
                      <a:pt x="457" y="231"/>
                    </a:lnTo>
                    <a:lnTo>
                      <a:pt x="415" y="250"/>
                    </a:lnTo>
                    <a:lnTo>
                      <a:pt x="371" y="268"/>
                    </a:lnTo>
                    <a:lnTo>
                      <a:pt x="322" y="283"/>
                    </a:lnTo>
                    <a:lnTo>
                      <a:pt x="257" y="302"/>
                    </a:lnTo>
                    <a:lnTo>
                      <a:pt x="197" y="316"/>
                    </a:lnTo>
                    <a:lnTo>
                      <a:pt x="140" y="324"/>
                    </a:lnTo>
                    <a:lnTo>
                      <a:pt x="86" y="326"/>
                    </a:lnTo>
                    <a:lnTo>
                      <a:pt x="67" y="326"/>
                    </a:lnTo>
                    <a:lnTo>
                      <a:pt x="50" y="324"/>
                    </a:lnTo>
                    <a:lnTo>
                      <a:pt x="36" y="323"/>
                    </a:lnTo>
                    <a:lnTo>
                      <a:pt x="24" y="319"/>
                    </a:lnTo>
                    <a:lnTo>
                      <a:pt x="14" y="316"/>
                    </a:lnTo>
                    <a:lnTo>
                      <a:pt x="7" y="312"/>
                    </a:lnTo>
                    <a:lnTo>
                      <a:pt x="2" y="307"/>
                    </a:lnTo>
                    <a:lnTo>
                      <a:pt x="0" y="302"/>
                    </a:lnTo>
                    <a:lnTo>
                      <a:pt x="0" y="295"/>
                    </a:lnTo>
                    <a:lnTo>
                      <a:pt x="2" y="288"/>
                    </a:lnTo>
                    <a:lnTo>
                      <a:pt x="5" y="281"/>
                    </a:lnTo>
                    <a:lnTo>
                      <a:pt x="12" y="273"/>
                    </a:lnTo>
                    <a:lnTo>
                      <a:pt x="19" y="264"/>
                    </a:lnTo>
                    <a:lnTo>
                      <a:pt x="29" y="256"/>
                    </a:lnTo>
                    <a:lnTo>
                      <a:pt x="43" y="247"/>
                    </a:lnTo>
                    <a:lnTo>
                      <a:pt x="59" y="2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093" name="Freeform 1037"/>
              <p:cNvSpPr>
                <a:spLocks noEditPoints="1"/>
              </p:cNvSpPr>
              <p:nvPr/>
            </p:nvSpPr>
            <p:spPr bwMode="auto">
              <a:xfrm>
                <a:off x="1700" y="4013"/>
                <a:ext cx="412" cy="162"/>
              </a:xfrm>
              <a:custGeom>
                <a:avLst/>
                <a:gdLst>
                  <a:gd name="T0" fmla="*/ 117 w 825"/>
                  <a:gd name="T1" fmla="*/ 326 h 326"/>
                  <a:gd name="T2" fmla="*/ 178 w 825"/>
                  <a:gd name="T3" fmla="*/ 293 h 326"/>
                  <a:gd name="T4" fmla="*/ 238 w 825"/>
                  <a:gd name="T5" fmla="*/ 261 h 326"/>
                  <a:gd name="T6" fmla="*/ 0 w 825"/>
                  <a:gd name="T7" fmla="*/ 261 h 326"/>
                  <a:gd name="T8" fmla="*/ 50 w 825"/>
                  <a:gd name="T9" fmla="*/ 233 h 326"/>
                  <a:gd name="T10" fmla="*/ 100 w 825"/>
                  <a:gd name="T11" fmla="*/ 205 h 326"/>
                  <a:gd name="T12" fmla="*/ 415 w 825"/>
                  <a:gd name="T13" fmla="*/ 104 h 326"/>
                  <a:gd name="T14" fmla="*/ 732 w 825"/>
                  <a:gd name="T15" fmla="*/ 0 h 326"/>
                  <a:gd name="T16" fmla="*/ 825 w 825"/>
                  <a:gd name="T17" fmla="*/ 0 h 326"/>
                  <a:gd name="T18" fmla="*/ 636 w 825"/>
                  <a:gd name="T19" fmla="*/ 104 h 326"/>
                  <a:gd name="T20" fmla="*/ 446 w 825"/>
                  <a:gd name="T21" fmla="*/ 205 h 326"/>
                  <a:gd name="T22" fmla="*/ 481 w 825"/>
                  <a:gd name="T23" fmla="*/ 205 h 326"/>
                  <a:gd name="T24" fmla="*/ 517 w 825"/>
                  <a:gd name="T25" fmla="*/ 205 h 326"/>
                  <a:gd name="T26" fmla="*/ 467 w 825"/>
                  <a:gd name="T27" fmla="*/ 233 h 326"/>
                  <a:gd name="T28" fmla="*/ 417 w 825"/>
                  <a:gd name="T29" fmla="*/ 261 h 326"/>
                  <a:gd name="T30" fmla="*/ 345 w 825"/>
                  <a:gd name="T31" fmla="*/ 261 h 326"/>
                  <a:gd name="T32" fmla="*/ 284 w 825"/>
                  <a:gd name="T33" fmla="*/ 293 h 326"/>
                  <a:gd name="T34" fmla="*/ 224 w 825"/>
                  <a:gd name="T35" fmla="*/ 326 h 326"/>
                  <a:gd name="T36" fmla="*/ 171 w 825"/>
                  <a:gd name="T37" fmla="*/ 326 h 326"/>
                  <a:gd name="T38" fmla="*/ 117 w 825"/>
                  <a:gd name="T39" fmla="*/ 326 h 326"/>
                  <a:gd name="T40" fmla="*/ 117 w 825"/>
                  <a:gd name="T41" fmla="*/ 326 h 326"/>
                  <a:gd name="T42" fmla="*/ 338 w 825"/>
                  <a:gd name="T43" fmla="*/ 205 h 326"/>
                  <a:gd name="T44" fmla="*/ 441 w 825"/>
                  <a:gd name="T45" fmla="*/ 150 h 326"/>
                  <a:gd name="T46" fmla="*/ 543 w 825"/>
                  <a:gd name="T47" fmla="*/ 95 h 326"/>
                  <a:gd name="T48" fmla="*/ 374 w 825"/>
                  <a:gd name="T49" fmla="*/ 150 h 326"/>
                  <a:gd name="T50" fmla="*/ 205 w 825"/>
                  <a:gd name="T51" fmla="*/ 205 h 326"/>
                  <a:gd name="T52" fmla="*/ 271 w 825"/>
                  <a:gd name="T53" fmla="*/ 205 h 326"/>
                  <a:gd name="T54" fmla="*/ 338 w 825"/>
                  <a:gd name="T55" fmla="*/ 205 h 326"/>
                  <a:gd name="T56" fmla="*/ 338 w 825"/>
                  <a:gd name="T57" fmla="*/ 205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25" h="326">
                    <a:moveTo>
                      <a:pt x="117" y="326"/>
                    </a:moveTo>
                    <a:lnTo>
                      <a:pt x="178" y="293"/>
                    </a:lnTo>
                    <a:lnTo>
                      <a:pt x="238" y="261"/>
                    </a:lnTo>
                    <a:lnTo>
                      <a:pt x="0" y="261"/>
                    </a:lnTo>
                    <a:lnTo>
                      <a:pt x="50" y="233"/>
                    </a:lnTo>
                    <a:lnTo>
                      <a:pt x="100" y="205"/>
                    </a:lnTo>
                    <a:lnTo>
                      <a:pt x="415" y="104"/>
                    </a:lnTo>
                    <a:lnTo>
                      <a:pt x="732" y="0"/>
                    </a:lnTo>
                    <a:lnTo>
                      <a:pt x="825" y="0"/>
                    </a:lnTo>
                    <a:lnTo>
                      <a:pt x="636" y="104"/>
                    </a:lnTo>
                    <a:lnTo>
                      <a:pt x="446" y="205"/>
                    </a:lnTo>
                    <a:lnTo>
                      <a:pt x="481" y="205"/>
                    </a:lnTo>
                    <a:lnTo>
                      <a:pt x="517" y="205"/>
                    </a:lnTo>
                    <a:lnTo>
                      <a:pt x="467" y="233"/>
                    </a:lnTo>
                    <a:lnTo>
                      <a:pt x="417" y="261"/>
                    </a:lnTo>
                    <a:lnTo>
                      <a:pt x="345" y="261"/>
                    </a:lnTo>
                    <a:lnTo>
                      <a:pt x="284" y="293"/>
                    </a:lnTo>
                    <a:lnTo>
                      <a:pt x="224" y="326"/>
                    </a:lnTo>
                    <a:lnTo>
                      <a:pt x="171" y="326"/>
                    </a:lnTo>
                    <a:lnTo>
                      <a:pt x="117" y="326"/>
                    </a:lnTo>
                    <a:lnTo>
                      <a:pt x="117" y="326"/>
                    </a:lnTo>
                    <a:close/>
                    <a:moveTo>
                      <a:pt x="338" y="205"/>
                    </a:moveTo>
                    <a:lnTo>
                      <a:pt x="441" y="150"/>
                    </a:lnTo>
                    <a:lnTo>
                      <a:pt x="543" y="95"/>
                    </a:lnTo>
                    <a:lnTo>
                      <a:pt x="374" y="150"/>
                    </a:lnTo>
                    <a:lnTo>
                      <a:pt x="205" y="205"/>
                    </a:lnTo>
                    <a:lnTo>
                      <a:pt x="271" y="205"/>
                    </a:lnTo>
                    <a:lnTo>
                      <a:pt x="338" y="205"/>
                    </a:lnTo>
                    <a:lnTo>
                      <a:pt x="338" y="20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094" name="Freeform 1038"/>
              <p:cNvSpPr>
                <a:spLocks/>
              </p:cNvSpPr>
              <p:nvPr/>
            </p:nvSpPr>
            <p:spPr bwMode="auto">
              <a:xfrm>
                <a:off x="1921" y="4013"/>
                <a:ext cx="384" cy="165"/>
              </a:xfrm>
              <a:custGeom>
                <a:avLst/>
                <a:gdLst>
                  <a:gd name="T0" fmla="*/ 122 w 768"/>
                  <a:gd name="T1" fmla="*/ 236 h 331"/>
                  <a:gd name="T2" fmla="*/ 167 w 768"/>
                  <a:gd name="T3" fmla="*/ 243 h 331"/>
                  <a:gd name="T4" fmla="*/ 148 w 768"/>
                  <a:gd name="T5" fmla="*/ 261 h 331"/>
                  <a:gd name="T6" fmla="*/ 146 w 768"/>
                  <a:gd name="T7" fmla="*/ 273 h 331"/>
                  <a:gd name="T8" fmla="*/ 164 w 768"/>
                  <a:gd name="T9" fmla="*/ 279 h 331"/>
                  <a:gd name="T10" fmla="*/ 196 w 768"/>
                  <a:gd name="T11" fmla="*/ 278 h 331"/>
                  <a:gd name="T12" fmla="*/ 238 w 768"/>
                  <a:gd name="T13" fmla="*/ 271 h 331"/>
                  <a:gd name="T14" fmla="*/ 312 w 768"/>
                  <a:gd name="T15" fmla="*/ 248 h 331"/>
                  <a:gd name="T16" fmla="*/ 377 w 768"/>
                  <a:gd name="T17" fmla="*/ 216 h 331"/>
                  <a:gd name="T18" fmla="*/ 401 w 768"/>
                  <a:gd name="T19" fmla="*/ 195 h 331"/>
                  <a:gd name="T20" fmla="*/ 403 w 768"/>
                  <a:gd name="T21" fmla="*/ 183 h 331"/>
                  <a:gd name="T22" fmla="*/ 389 w 768"/>
                  <a:gd name="T23" fmla="*/ 176 h 331"/>
                  <a:gd name="T24" fmla="*/ 364 w 768"/>
                  <a:gd name="T25" fmla="*/ 174 h 331"/>
                  <a:gd name="T26" fmla="*/ 334 w 768"/>
                  <a:gd name="T27" fmla="*/ 178 h 331"/>
                  <a:gd name="T28" fmla="*/ 369 w 768"/>
                  <a:gd name="T29" fmla="*/ 154 h 331"/>
                  <a:gd name="T30" fmla="*/ 465 w 768"/>
                  <a:gd name="T31" fmla="*/ 126 h 331"/>
                  <a:gd name="T32" fmla="*/ 510 w 768"/>
                  <a:gd name="T33" fmla="*/ 117 h 331"/>
                  <a:gd name="T34" fmla="*/ 553 w 768"/>
                  <a:gd name="T35" fmla="*/ 105 h 331"/>
                  <a:gd name="T36" fmla="*/ 603 w 768"/>
                  <a:gd name="T37" fmla="*/ 80 h 331"/>
                  <a:gd name="T38" fmla="*/ 619 w 768"/>
                  <a:gd name="T39" fmla="*/ 66 h 331"/>
                  <a:gd name="T40" fmla="*/ 620 w 768"/>
                  <a:gd name="T41" fmla="*/ 57 h 331"/>
                  <a:gd name="T42" fmla="*/ 605 w 768"/>
                  <a:gd name="T43" fmla="*/ 52 h 331"/>
                  <a:gd name="T44" fmla="*/ 562 w 768"/>
                  <a:gd name="T45" fmla="*/ 55 h 331"/>
                  <a:gd name="T46" fmla="*/ 524 w 768"/>
                  <a:gd name="T47" fmla="*/ 62 h 331"/>
                  <a:gd name="T48" fmla="*/ 482 w 768"/>
                  <a:gd name="T49" fmla="*/ 76 h 331"/>
                  <a:gd name="T50" fmla="*/ 398 w 768"/>
                  <a:gd name="T51" fmla="*/ 90 h 331"/>
                  <a:gd name="T52" fmla="*/ 417 w 768"/>
                  <a:gd name="T53" fmla="*/ 59 h 331"/>
                  <a:gd name="T54" fmla="*/ 529 w 768"/>
                  <a:gd name="T55" fmla="*/ 23 h 331"/>
                  <a:gd name="T56" fmla="*/ 641 w 768"/>
                  <a:gd name="T57" fmla="*/ 4 h 331"/>
                  <a:gd name="T58" fmla="*/ 710 w 768"/>
                  <a:gd name="T59" fmla="*/ 0 h 331"/>
                  <a:gd name="T60" fmla="*/ 739 w 768"/>
                  <a:gd name="T61" fmla="*/ 5 h 331"/>
                  <a:gd name="T62" fmla="*/ 760 w 768"/>
                  <a:gd name="T63" fmla="*/ 12 h 331"/>
                  <a:gd name="T64" fmla="*/ 768 w 768"/>
                  <a:gd name="T65" fmla="*/ 23 h 331"/>
                  <a:gd name="T66" fmla="*/ 763 w 768"/>
                  <a:gd name="T67" fmla="*/ 42 h 331"/>
                  <a:gd name="T68" fmla="*/ 734 w 768"/>
                  <a:gd name="T69" fmla="*/ 69 h 331"/>
                  <a:gd name="T70" fmla="*/ 667 w 768"/>
                  <a:gd name="T71" fmla="*/ 104 h 331"/>
                  <a:gd name="T72" fmla="*/ 562 w 768"/>
                  <a:gd name="T73" fmla="*/ 138 h 331"/>
                  <a:gd name="T74" fmla="*/ 500 w 768"/>
                  <a:gd name="T75" fmla="*/ 152 h 331"/>
                  <a:gd name="T76" fmla="*/ 527 w 768"/>
                  <a:gd name="T77" fmla="*/ 161 h 331"/>
                  <a:gd name="T78" fmla="*/ 531 w 768"/>
                  <a:gd name="T79" fmla="*/ 178 h 331"/>
                  <a:gd name="T80" fmla="*/ 510 w 768"/>
                  <a:gd name="T81" fmla="*/ 200 h 331"/>
                  <a:gd name="T82" fmla="*/ 467 w 768"/>
                  <a:gd name="T83" fmla="*/ 228 h 331"/>
                  <a:gd name="T84" fmla="*/ 381 w 768"/>
                  <a:gd name="T85" fmla="*/ 267 h 331"/>
                  <a:gd name="T86" fmla="*/ 277 w 768"/>
                  <a:gd name="T87" fmla="*/ 300 h 331"/>
                  <a:gd name="T88" fmla="*/ 172 w 768"/>
                  <a:gd name="T89" fmla="*/ 324 h 331"/>
                  <a:gd name="T90" fmla="*/ 83 w 768"/>
                  <a:gd name="T91" fmla="*/ 331 h 331"/>
                  <a:gd name="T92" fmla="*/ 48 w 768"/>
                  <a:gd name="T93" fmla="*/ 329 h 331"/>
                  <a:gd name="T94" fmla="*/ 22 w 768"/>
                  <a:gd name="T95" fmla="*/ 324 h 331"/>
                  <a:gd name="T96" fmla="*/ 7 w 768"/>
                  <a:gd name="T97" fmla="*/ 317 h 331"/>
                  <a:gd name="T98" fmla="*/ 0 w 768"/>
                  <a:gd name="T99" fmla="*/ 305 h 331"/>
                  <a:gd name="T100" fmla="*/ 2 w 768"/>
                  <a:gd name="T101" fmla="*/ 292 h 331"/>
                  <a:gd name="T102" fmla="*/ 14 w 768"/>
                  <a:gd name="T103" fmla="*/ 276 h 331"/>
                  <a:gd name="T104" fmla="*/ 33 w 768"/>
                  <a:gd name="T105" fmla="*/ 259 h 331"/>
                  <a:gd name="T106" fmla="*/ 62 w 768"/>
                  <a:gd name="T107" fmla="*/ 240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68" h="331">
                    <a:moveTo>
                      <a:pt x="62" y="240"/>
                    </a:moveTo>
                    <a:lnTo>
                      <a:pt x="122" y="236"/>
                    </a:lnTo>
                    <a:lnTo>
                      <a:pt x="183" y="233"/>
                    </a:lnTo>
                    <a:lnTo>
                      <a:pt x="167" y="243"/>
                    </a:lnTo>
                    <a:lnTo>
                      <a:pt x="155" y="252"/>
                    </a:lnTo>
                    <a:lnTo>
                      <a:pt x="148" y="261"/>
                    </a:lnTo>
                    <a:lnTo>
                      <a:pt x="145" y="267"/>
                    </a:lnTo>
                    <a:lnTo>
                      <a:pt x="146" y="273"/>
                    </a:lnTo>
                    <a:lnTo>
                      <a:pt x="153" y="276"/>
                    </a:lnTo>
                    <a:lnTo>
                      <a:pt x="164" y="279"/>
                    </a:lnTo>
                    <a:lnTo>
                      <a:pt x="177" y="279"/>
                    </a:lnTo>
                    <a:lnTo>
                      <a:pt x="196" y="278"/>
                    </a:lnTo>
                    <a:lnTo>
                      <a:pt x="215" y="276"/>
                    </a:lnTo>
                    <a:lnTo>
                      <a:pt x="238" y="271"/>
                    </a:lnTo>
                    <a:lnTo>
                      <a:pt x="262" y="266"/>
                    </a:lnTo>
                    <a:lnTo>
                      <a:pt x="312" y="248"/>
                    </a:lnTo>
                    <a:lnTo>
                      <a:pt x="358" y="226"/>
                    </a:lnTo>
                    <a:lnTo>
                      <a:pt x="377" y="216"/>
                    </a:lnTo>
                    <a:lnTo>
                      <a:pt x="393" y="205"/>
                    </a:lnTo>
                    <a:lnTo>
                      <a:pt x="401" y="195"/>
                    </a:lnTo>
                    <a:lnTo>
                      <a:pt x="405" y="188"/>
                    </a:lnTo>
                    <a:lnTo>
                      <a:pt x="403" y="183"/>
                    </a:lnTo>
                    <a:lnTo>
                      <a:pt x="398" y="178"/>
                    </a:lnTo>
                    <a:lnTo>
                      <a:pt x="389" y="176"/>
                    </a:lnTo>
                    <a:lnTo>
                      <a:pt x="376" y="174"/>
                    </a:lnTo>
                    <a:lnTo>
                      <a:pt x="364" y="174"/>
                    </a:lnTo>
                    <a:lnTo>
                      <a:pt x="350" y="176"/>
                    </a:lnTo>
                    <a:lnTo>
                      <a:pt x="334" y="178"/>
                    </a:lnTo>
                    <a:lnTo>
                      <a:pt x="315" y="180"/>
                    </a:lnTo>
                    <a:lnTo>
                      <a:pt x="369" y="154"/>
                    </a:lnTo>
                    <a:lnTo>
                      <a:pt x="420" y="130"/>
                    </a:lnTo>
                    <a:lnTo>
                      <a:pt x="465" y="126"/>
                    </a:lnTo>
                    <a:lnTo>
                      <a:pt x="488" y="123"/>
                    </a:lnTo>
                    <a:lnTo>
                      <a:pt x="510" y="117"/>
                    </a:lnTo>
                    <a:lnTo>
                      <a:pt x="532" y="112"/>
                    </a:lnTo>
                    <a:lnTo>
                      <a:pt x="553" y="105"/>
                    </a:lnTo>
                    <a:lnTo>
                      <a:pt x="591" y="86"/>
                    </a:lnTo>
                    <a:lnTo>
                      <a:pt x="603" y="80"/>
                    </a:lnTo>
                    <a:lnTo>
                      <a:pt x="613" y="73"/>
                    </a:lnTo>
                    <a:lnTo>
                      <a:pt x="619" y="66"/>
                    </a:lnTo>
                    <a:lnTo>
                      <a:pt x="622" y="61"/>
                    </a:lnTo>
                    <a:lnTo>
                      <a:pt x="620" y="57"/>
                    </a:lnTo>
                    <a:lnTo>
                      <a:pt x="615" y="54"/>
                    </a:lnTo>
                    <a:lnTo>
                      <a:pt x="605" y="52"/>
                    </a:lnTo>
                    <a:lnTo>
                      <a:pt x="593" y="52"/>
                    </a:lnTo>
                    <a:lnTo>
                      <a:pt x="562" y="55"/>
                    </a:lnTo>
                    <a:lnTo>
                      <a:pt x="543" y="57"/>
                    </a:lnTo>
                    <a:lnTo>
                      <a:pt x="524" y="62"/>
                    </a:lnTo>
                    <a:lnTo>
                      <a:pt x="503" y="69"/>
                    </a:lnTo>
                    <a:lnTo>
                      <a:pt x="482" y="76"/>
                    </a:lnTo>
                    <a:lnTo>
                      <a:pt x="439" y="95"/>
                    </a:lnTo>
                    <a:lnTo>
                      <a:pt x="398" y="90"/>
                    </a:lnTo>
                    <a:lnTo>
                      <a:pt x="355" y="85"/>
                    </a:lnTo>
                    <a:lnTo>
                      <a:pt x="417" y="59"/>
                    </a:lnTo>
                    <a:lnTo>
                      <a:pt x="474" y="38"/>
                    </a:lnTo>
                    <a:lnTo>
                      <a:pt x="529" y="23"/>
                    </a:lnTo>
                    <a:lnTo>
                      <a:pt x="586" y="11"/>
                    </a:lnTo>
                    <a:lnTo>
                      <a:pt x="641" y="4"/>
                    </a:lnTo>
                    <a:lnTo>
                      <a:pt x="691" y="0"/>
                    </a:lnTo>
                    <a:lnTo>
                      <a:pt x="710" y="0"/>
                    </a:lnTo>
                    <a:lnTo>
                      <a:pt x="725" y="2"/>
                    </a:lnTo>
                    <a:lnTo>
                      <a:pt x="739" y="5"/>
                    </a:lnTo>
                    <a:lnTo>
                      <a:pt x="751" y="7"/>
                    </a:lnTo>
                    <a:lnTo>
                      <a:pt x="760" y="12"/>
                    </a:lnTo>
                    <a:lnTo>
                      <a:pt x="765" y="18"/>
                    </a:lnTo>
                    <a:lnTo>
                      <a:pt x="768" y="23"/>
                    </a:lnTo>
                    <a:lnTo>
                      <a:pt x="768" y="30"/>
                    </a:lnTo>
                    <a:lnTo>
                      <a:pt x="763" y="42"/>
                    </a:lnTo>
                    <a:lnTo>
                      <a:pt x="751" y="55"/>
                    </a:lnTo>
                    <a:lnTo>
                      <a:pt x="734" y="69"/>
                    </a:lnTo>
                    <a:lnTo>
                      <a:pt x="710" y="83"/>
                    </a:lnTo>
                    <a:lnTo>
                      <a:pt x="667" y="104"/>
                    </a:lnTo>
                    <a:lnTo>
                      <a:pt x="619" y="123"/>
                    </a:lnTo>
                    <a:lnTo>
                      <a:pt x="562" y="138"/>
                    </a:lnTo>
                    <a:lnTo>
                      <a:pt x="532" y="145"/>
                    </a:lnTo>
                    <a:lnTo>
                      <a:pt x="500" y="152"/>
                    </a:lnTo>
                    <a:lnTo>
                      <a:pt x="517" y="155"/>
                    </a:lnTo>
                    <a:lnTo>
                      <a:pt x="527" y="161"/>
                    </a:lnTo>
                    <a:lnTo>
                      <a:pt x="532" y="169"/>
                    </a:lnTo>
                    <a:lnTo>
                      <a:pt x="531" y="178"/>
                    </a:lnTo>
                    <a:lnTo>
                      <a:pt x="524" y="188"/>
                    </a:lnTo>
                    <a:lnTo>
                      <a:pt x="510" y="200"/>
                    </a:lnTo>
                    <a:lnTo>
                      <a:pt x="491" y="214"/>
                    </a:lnTo>
                    <a:lnTo>
                      <a:pt x="467" y="228"/>
                    </a:lnTo>
                    <a:lnTo>
                      <a:pt x="426" y="248"/>
                    </a:lnTo>
                    <a:lnTo>
                      <a:pt x="381" y="267"/>
                    </a:lnTo>
                    <a:lnTo>
                      <a:pt x="331" y="285"/>
                    </a:lnTo>
                    <a:lnTo>
                      <a:pt x="277" y="300"/>
                    </a:lnTo>
                    <a:lnTo>
                      <a:pt x="224" y="314"/>
                    </a:lnTo>
                    <a:lnTo>
                      <a:pt x="172" y="324"/>
                    </a:lnTo>
                    <a:lnTo>
                      <a:pt x="126" y="329"/>
                    </a:lnTo>
                    <a:lnTo>
                      <a:pt x="83" y="331"/>
                    </a:lnTo>
                    <a:lnTo>
                      <a:pt x="64" y="331"/>
                    </a:lnTo>
                    <a:lnTo>
                      <a:pt x="48" y="329"/>
                    </a:lnTo>
                    <a:lnTo>
                      <a:pt x="34" y="328"/>
                    </a:lnTo>
                    <a:lnTo>
                      <a:pt x="22" y="324"/>
                    </a:lnTo>
                    <a:lnTo>
                      <a:pt x="14" y="321"/>
                    </a:lnTo>
                    <a:lnTo>
                      <a:pt x="7" y="317"/>
                    </a:lnTo>
                    <a:lnTo>
                      <a:pt x="2" y="312"/>
                    </a:lnTo>
                    <a:lnTo>
                      <a:pt x="0" y="305"/>
                    </a:lnTo>
                    <a:lnTo>
                      <a:pt x="0" y="298"/>
                    </a:lnTo>
                    <a:lnTo>
                      <a:pt x="2" y="292"/>
                    </a:lnTo>
                    <a:lnTo>
                      <a:pt x="7" y="285"/>
                    </a:lnTo>
                    <a:lnTo>
                      <a:pt x="14" y="276"/>
                    </a:lnTo>
                    <a:lnTo>
                      <a:pt x="22" y="267"/>
                    </a:lnTo>
                    <a:lnTo>
                      <a:pt x="33" y="259"/>
                    </a:lnTo>
                    <a:lnTo>
                      <a:pt x="46" y="250"/>
                    </a:lnTo>
                    <a:lnTo>
                      <a:pt x="62" y="24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095" name="Freeform 1039"/>
              <p:cNvSpPr>
                <a:spLocks/>
              </p:cNvSpPr>
              <p:nvPr/>
            </p:nvSpPr>
            <p:spPr bwMode="auto">
              <a:xfrm>
                <a:off x="1264" y="3999"/>
                <a:ext cx="356" cy="163"/>
              </a:xfrm>
              <a:custGeom>
                <a:avLst/>
                <a:gdLst>
                  <a:gd name="T0" fmla="*/ 110 w 712"/>
                  <a:gd name="T1" fmla="*/ 325 h 325"/>
                  <a:gd name="T2" fmla="*/ 55 w 712"/>
                  <a:gd name="T3" fmla="*/ 325 h 325"/>
                  <a:gd name="T4" fmla="*/ 0 w 712"/>
                  <a:gd name="T5" fmla="*/ 325 h 325"/>
                  <a:gd name="T6" fmla="*/ 215 w 712"/>
                  <a:gd name="T7" fmla="*/ 208 h 325"/>
                  <a:gd name="T8" fmla="*/ 431 w 712"/>
                  <a:gd name="T9" fmla="*/ 91 h 325"/>
                  <a:gd name="T10" fmla="*/ 372 w 712"/>
                  <a:gd name="T11" fmla="*/ 105 h 325"/>
                  <a:gd name="T12" fmla="*/ 313 w 712"/>
                  <a:gd name="T13" fmla="*/ 119 h 325"/>
                  <a:gd name="T14" fmla="*/ 257 w 712"/>
                  <a:gd name="T15" fmla="*/ 129 h 325"/>
                  <a:gd name="T16" fmla="*/ 200 w 712"/>
                  <a:gd name="T17" fmla="*/ 138 h 325"/>
                  <a:gd name="T18" fmla="*/ 253 w 712"/>
                  <a:gd name="T19" fmla="*/ 110 h 325"/>
                  <a:gd name="T20" fmla="*/ 305 w 712"/>
                  <a:gd name="T21" fmla="*/ 82 h 325"/>
                  <a:gd name="T22" fmla="*/ 336 w 712"/>
                  <a:gd name="T23" fmla="*/ 77 h 325"/>
                  <a:gd name="T24" fmla="*/ 372 w 712"/>
                  <a:gd name="T25" fmla="*/ 70 h 325"/>
                  <a:gd name="T26" fmla="*/ 412 w 712"/>
                  <a:gd name="T27" fmla="*/ 62 h 325"/>
                  <a:gd name="T28" fmla="*/ 455 w 712"/>
                  <a:gd name="T29" fmla="*/ 51 h 325"/>
                  <a:gd name="T30" fmla="*/ 500 w 712"/>
                  <a:gd name="T31" fmla="*/ 39 h 325"/>
                  <a:gd name="T32" fmla="*/ 543 w 712"/>
                  <a:gd name="T33" fmla="*/ 27 h 325"/>
                  <a:gd name="T34" fmla="*/ 582 w 712"/>
                  <a:gd name="T35" fmla="*/ 14 h 325"/>
                  <a:gd name="T36" fmla="*/ 620 w 712"/>
                  <a:gd name="T37" fmla="*/ 0 h 325"/>
                  <a:gd name="T38" fmla="*/ 667 w 712"/>
                  <a:gd name="T39" fmla="*/ 0 h 325"/>
                  <a:gd name="T40" fmla="*/ 712 w 712"/>
                  <a:gd name="T41" fmla="*/ 0 h 325"/>
                  <a:gd name="T42" fmla="*/ 410 w 712"/>
                  <a:gd name="T43" fmla="*/ 163 h 325"/>
                  <a:gd name="T44" fmla="*/ 110 w 712"/>
                  <a:gd name="T45" fmla="*/ 325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12" h="325">
                    <a:moveTo>
                      <a:pt x="110" y="325"/>
                    </a:moveTo>
                    <a:lnTo>
                      <a:pt x="55" y="325"/>
                    </a:lnTo>
                    <a:lnTo>
                      <a:pt x="0" y="325"/>
                    </a:lnTo>
                    <a:lnTo>
                      <a:pt x="215" y="208"/>
                    </a:lnTo>
                    <a:lnTo>
                      <a:pt x="431" y="91"/>
                    </a:lnTo>
                    <a:lnTo>
                      <a:pt x="372" y="105"/>
                    </a:lnTo>
                    <a:lnTo>
                      <a:pt x="313" y="119"/>
                    </a:lnTo>
                    <a:lnTo>
                      <a:pt x="257" y="129"/>
                    </a:lnTo>
                    <a:lnTo>
                      <a:pt x="200" y="138"/>
                    </a:lnTo>
                    <a:lnTo>
                      <a:pt x="253" y="110"/>
                    </a:lnTo>
                    <a:lnTo>
                      <a:pt x="305" y="82"/>
                    </a:lnTo>
                    <a:lnTo>
                      <a:pt x="336" y="77"/>
                    </a:lnTo>
                    <a:lnTo>
                      <a:pt x="372" y="70"/>
                    </a:lnTo>
                    <a:lnTo>
                      <a:pt x="412" y="62"/>
                    </a:lnTo>
                    <a:lnTo>
                      <a:pt x="455" y="51"/>
                    </a:lnTo>
                    <a:lnTo>
                      <a:pt x="500" y="39"/>
                    </a:lnTo>
                    <a:lnTo>
                      <a:pt x="543" y="27"/>
                    </a:lnTo>
                    <a:lnTo>
                      <a:pt x="582" y="14"/>
                    </a:lnTo>
                    <a:lnTo>
                      <a:pt x="620" y="0"/>
                    </a:lnTo>
                    <a:lnTo>
                      <a:pt x="667" y="0"/>
                    </a:lnTo>
                    <a:lnTo>
                      <a:pt x="712" y="0"/>
                    </a:lnTo>
                    <a:lnTo>
                      <a:pt x="410" y="163"/>
                    </a:lnTo>
                    <a:lnTo>
                      <a:pt x="110" y="325"/>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096" name="Freeform 1040"/>
              <p:cNvSpPr>
                <a:spLocks/>
              </p:cNvSpPr>
              <p:nvPr/>
            </p:nvSpPr>
            <p:spPr bwMode="auto">
              <a:xfrm>
                <a:off x="1451" y="4001"/>
                <a:ext cx="429" cy="163"/>
              </a:xfrm>
              <a:custGeom>
                <a:avLst/>
                <a:gdLst>
                  <a:gd name="T0" fmla="*/ 119 w 858"/>
                  <a:gd name="T1" fmla="*/ 234 h 326"/>
                  <a:gd name="T2" fmla="*/ 167 w 858"/>
                  <a:gd name="T3" fmla="*/ 241 h 326"/>
                  <a:gd name="T4" fmla="*/ 150 w 858"/>
                  <a:gd name="T5" fmla="*/ 257 h 326"/>
                  <a:gd name="T6" fmla="*/ 150 w 858"/>
                  <a:gd name="T7" fmla="*/ 269 h 326"/>
                  <a:gd name="T8" fmla="*/ 165 w 858"/>
                  <a:gd name="T9" fmla="*/ 276 h 326"/>
                  <a:gd name="T10" fmla="*/ 198 w 858"/>
                  <a:gd name="T11" fmla="*/ 274 h 326"/>
                  <a:gd name="T12" fmla="*/ 241 w 858"/>
                  <a:gd name="T13" fmla="*/ 267 h 326"/>
                  <a:gd name="T14" fmla="*/ 293 w 858"/>
                  <a:gd name="T15" fmla="*/ 251 h 326"/>
                  <a:gd name="T16" fmla="*/ 350 w 858"/>
                  <a:gd name="T17" fmla="*/ 227 h 326"/>
                  <a:gd name="T18" fmla="*/ 403 w 858"/>
                  <a:gd name="T19" fmla="*/ 198 h 326"/>
                  <a:gd name="T20" fmla="*/ 432 w 858"/>
                  <a:gd name="T21" fmla="*/ 176 h 326"/>
                  <a:gd name="T22" fmla="*/ 437 w 858"/>
                  <a:gd name="T23" fmla="*/ 167 h 326"/>
                  <a:gd name="T24" fmla="*/ 431 w 858"/>
                  <a:gd name="T25" fmla="*/ 157 h 326"/>
                  <a:gd name="T26" fmla="*/ 403 w 858"/>
                  <a:gd name="T27" fmla="*/ 153 h 326"/>
                  <a:gd name="T28" fmla="*/ 346 w 858"/>
                  <a:gd name="T29" fmla="*/ 158 h 326"/>
                  <a:gd name="T30" fmla="*/ 274 w 858"/>
                  <a:gd name="T31" fmla="*/ 176 h 326"/>
                  <a:gd name="T32" fmla="*/ 196 w 858"/>
                  <a:gd name="T33" fmla="*/ 169 h 326"/>
                  <a:gd name="T34" fmla="*/ 565 w 858"/>
                  <a:gd name="T35" fmla="*/ 0 h 326"/>
                  <a:gd name="T36" fmla="*/ 858 w 858"/>
                  <a:gd name="T37" fmla="*/ 0 h 326"/>
                  <a:gd name="T38" fmla="*/ 751 w 858"/>
                  <a:gd name="T39" fmla="*/ 59 h 326"/>
                  <a:gd name="T40" fmla="*/ 541 w 858"/>
                  <a:gd name="T41" fmla="*/ 59 h 326"/>
                  <a:gd name="T42" fmla="*/ 422 w 858"/>
                  <a:gd name="T43" fmla="*/ 114 h 326"/>
                  <a:gd name="T44" fmla="*/ 475 w 858"/>
                  <a:gd name="T45" fmla="*/ 107 h 326"/>
                  <a:gd name="T46" fmla="*/ 518 w 858"/>
                  <a:gd name="T47" fmla="*/ 103 h 326"/>
                  <a:gd name="T48" fmla="*/ 549 w 858"/>
                  <a:gd name="T49" fmla="*/ 105 h 326"/>
                  <a:gd name="T50" fmla="*/ 572 w 858"/>
                  <a:gd name="T51" fmla="*/ 110 h 326"/>
                  <a:gd name="T52" fmla="*/ 586 w 858"/>
                  <a:gd name="T53" fmla="*/ 121 h 326"/>
                  <a:gd name="T54" fmla="*/ 587 w 858"/>
                  <a:gd name="T55" fmla="*/ 133 h 326"/>
                  <a:gd name="T56" fmla="*/ 580 w 858"/>
                  <a:gd name="T57" fmla="*/ 150 h 326"/>
                  <a:gd name="T58" fmla="*/ 562 w 858"/>
                  <a:gd name="T59" fmla="*/ 167 h 326"/>
                  <a:gd name="T60" fmla="*/ 534 w 858"/>
                  <a:gd name="T61" fmla="*/ 189 h 326"/>
                  <a:gd name="T62" fmla="*/ 494 w 858"/>
                  <a:gd name="T63" fmla="*/ 212 h 326"/>
                  <a:gd name="T64" fmla="*/ 415 w 858"/>
                  <a:gd name="T65" fmla="*/ 250 h 326"/>
                  <a:gd name="T66" fmla="*/ 322 w 858"/>
                  <a:gd name="T67" fmla="*/ 283 h 326"/>
                  <a:gd name="T68" fmla="*/ 196 w 858"/>
                  <a:gd name="T69" fmla="*/ 315 h 326"/>
                  <a:gd name="T70" fmla="*/ 86 w 858"/>
                  <a:gd name="T71" fmla="*/ 326 h 326"/>
                  <a:gd name="T72" fmla="*/ 50 w 858"/>
                  <a:gd name="T73" fmla="*/ 324 h 326"/>
                  <a:gd name="T74" fmla="*/ 24 w 858"/>
                  <a:gd name="T75" fmla="*/ 319 h 326"/>
                  <a:gd name="T76" fmla="*/ 7 w 858"/>
                  <a:gd name="T77" fmla="*/ 312 h 326"/>
                  <a:gd name="T78" fmla="*/ 0 w 858"/>
                  <a:gd name="T79" fmla="*/ 301 h 326"/>
                  <a:gd name="T80" fmla="*/ 1 w 858"/>
                  <a:gd name="T81" fmla="*/ 288 h 326"/>
                  <a:gd name="T82" fmla="*/ 12 w 858"/>
                  <a:gd name="T83" fmla="*/ 272 h 326"/>
                  <a:gd name="T84" fmla="*/ 29 w 858"/>
                  <a:gd name="T85" fmla="*/ 255 h 326"/>
                  <a:gd name="T86" fmla="*/ 58 w 858"/>
                  <a:gd name="T87" fmla="*/ 236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8" h="326">
                    <a:moveTo>
                      <a:pt x="58" y="236"/>
                    </a:moveTo>
                    <a:lnTo>
                      <a:pt x="119" y="234"/>
                    </a:lnTo>
                    <a:lnTo>
                      <a:pt x="181" y="231"/>
                    </a:lnTo>
                    <a:lnTo>
                      <a:pt x="167" y="241"/>
                    </a:lnTo>
                    <a:lnTo>
                      <a:pt x="157" y="250"/>
                    </a:lnTo>
                    <a:lnTo>
                      <a:pt x="150" y="257"/>
                    </a:lnTo>
                    <a:lnTo>
                      <a:pt x="148" y="264"/>
                    </a:lnTo>
                    <a:lnTo>
                      <a:pt x="150" y="269"/>
                    </a:lnTo>
                    <a:lnTo>
                      <a:pt x="157" y="272"/>
                    </a:lnTo>
                    <a:lnTo>
                      <a:pt x="165" y="276"/>
                    </a:lnTo>
                    <a:lnTo>
                      <a:pt x="179" y="276"/>
                    </a:lnTo>
                    <a:lnTo>
                      <a:pt x="198" y="274"/>
                    </a:lnTo>
                    <a:lnTo>
                      <a:pt x="219" y="272"/>
                    </a:lnTo>
                    <a:lnTo>
                      <a:pt x="241" y="267"/>
                    </a:lnTo>
                    <a:lnTo>
                      <a:pt x="267" y="260"/>
                    </a:lnTo>
                    <a:lnTo>
                      <a:pt x="293" y="251"/>
                    </a:lnTo>
                    <a:lnTo>
                      <a:pt x="320" y="241"/>
                    </a:lnTo>
                    <a:lnTo>
                      <a:pt x="350" y="227"/>
                    </a:lnTo>
                    <a:lnTo>
                      <a:pt x="379" y="212"/>
                    </a:lnTo>
                    <a:lnTo>
                      <a:pt x="403" y="198"/>
                    </a:lnTo>
                    <a:lnTo>
                      <a:pt x="422" y="186"/>
                    </a:lnTo>
                    <a:lnTo>
                      <a:pt x="432" y="176"/>
                    </a:lnTo>
                    <a:lnTo>
                      <a:pt x="436" y="171"/>
                    </a:lnTo>
                    <a:lnTo>
                      <a:pt x="437" y="167"/>
                    </a:lnTo>
                    <a:lnTo>
                      <a:pt x="437" y="162"/>
                    </a:lnTo>
                    <a:lnTo>
                      <a:pt x="431" y="157"/>
                    </a:lnTo>
                    <a:lnTo>
                      <a:pt x="420" y="155"/>
                    </a:lnTo>
                    <a:lnTo>
                      <a:pt x="403" y="153"/>
                    </a:lnTo>
                    <a:lnTo>
                      <a:pt x="377" y="155"/>
                    </a:lnTo>
                    <a:lnTo>
                      <a:pt x="346" y="158"/>
                    </a:lnTo>
                    <a:lnTo>
                      <a:pt x="312" y="165"/>
                    </a:lnTo>
                    <a:lnTo>
                      <a:pt x="274" y="176"/>
                    </a:lnTo>
                    <a:lnTo>
                      <a:pt x="236" y="172"/>
                    </a:lnTo>
                    <a:lnTo>
                      <a:pt x="196" y="169"/>
                    </a:lnTo>
                    <a:lnTo>
                      <a:pt x="381" y="84"/>
                    </a:lnTo>
                    <a:lnTo>
                      <a:pt x="565" y="0"/>
                    </a:lnTo>
                    <a:lnTo>
                      <a:pt x="711" y="0"/>
                    </a:lnTo>
                    <a:lnTo>
                      <a:pt x="858" y="0"/>
                    </a:lnTo>
                    <a:lnTo>
                      <a:pt x="804" y="29"/>
                    </a:lnTo>
                    <a:lnTo>
                      <a:pt x="751" y="59"/>
                    </a:lnTo>
                    <a:lnTo>
                      <a:pt x="646" y="59"/>
                    </a:lnTo>
                    <a:lnTo>
                      <a:pt x="541" y="59"/>
                    </a:lnTo>
                    <a:lnTo>
                      <a:pt x="482" y="86"/>
                    </a:lnTo>
                    <a:lnTo>
                      <a:pt x="422" y="114"/>
                    </a:lnTo>
                    <a:lnTo>
                      <a:pt x="450" y="108"/>
                    </a:lnTo>
                    <a:lnTo>
                      <a:pt x="475" y="107"/>
                    </a:lnTo>
                    <a:lnTo>
                      <a:pt x="498" y="103"/>
                    </a:lnTo>
                    <a:lnTo>
                      <a:pt x="518" y="103"/>
                    </a:lnTo>
                    <a:lnTo>
                      <a:pt x="536" y="103"/>
                    </a:lnTo>
                    <a:lnTo>
                      <a:pt x="549" y="105"/>
                    </a:lnTo>
                    <a:lnTo>
                      <a:pt x="563" y="108"/>
                    </a:lnTo>
                    <a:lnTo>
                      <a:pt x="572" y="110"/>
                    </a:lnTo>
                    <a:lnTo>
                      <a:pt x="580" y="115"/>
                    </a:lnTo>
                    <a:lnTo>
                      <a:pt x="586" y="121"/>
                    </a:lnTo>
                    <a:lnTo>
                      <a:pt x="587" y="126"/>
                    </a:lnTo>
                    <a:lnTo>
                      <a:pt x="587" y="133"/>
                    </a:lnTo>
                    <a:lnTo>
                      <a:pt x="586" y="141"/>
                    </a:lnTo>
                    <a:lnTo>
                      <a:pt x="580" y="150"/>
                    </a:lnTo>
                    <a:lnTo>
                      <a:pt x="572" y="158"/>
                    </a:lnTo>
                    <a:lnTo>
                      <a:pt x="562" y="167"/>
                    </a:lnTo>
                    <a:lnTo>
                      <a:pt x="549" y="177"/>
                    </a:lnTo>
                    <a:lnTo>
                      <a:pt x="534" y="189"/>
                    </a:lnTo>
                    <a:lnTo>
                      <a:pt x="515" y="200"/>
                    </a:lnTo>
                    <a:lnTo>
                      <a:pt x="494" y="212"/>
                    </a:lnTo>
                    <a:lnTo>
                      <a:pt x="456" y="231"/>
                    </a:lnTo>
                    <a:lnTo>
                      <a:pt x="415" y="250"/>
                    </a:lnTo>
                    <a:lnTo>
                      <a:pt x="370" y="267"/>
                    </a:lnTo>
                    <a:lnTo>
                      <a:pt x="322" y="283"/>
                    </a:lnTo>
                    <a:lnTo>
                      <a:pt x="257" y="301"/>
                    </a:lnTo>
                    <a:lnTo>
                      <a:pt x="196" y="315"/>
                    </a:lnTo>
                    <a:lnTo>
                      <a:pt x="139" y="324"/>
                    </a:lnTo>
                    <a:lnTo>
                      <a:pt x="86" y="326"/>
                    </a:lnTo>
                    <a:lnTo>
                      <a:pt x="67" y="326"/>
                    </a:lnTo>
                    <a:lnTo>
                      <a:pt x="50" y="324"/>
                    </a:lnTo>
                    <a:lnTo>
                      <a:pt x="36" y="322"/>
                    </a:lnTo>
                    <a:lnTo>
                      <a:pt x="24" y="319"/>
                    </a:lnTo>
                    <a:lnTo>
                      <a:pt x="14" y="315"/>
                    </a:lnTo>
                    <a:lnTo>
                      <a:pt x="7" y="312"/>
                    </a:lnTo>
                    <a:lnTo>
                      <a:pt x="1" y="307"/>
                    </a:lnTo>
                    <a:lnTo>
                      <a:pt x="0" y="301"/>
                    </a:lnTo>
                    <a:lnTo>
                      <a:pt x="0" y="295"/>
                    </a:lnTo>
                    <a:lnTo>
                      <a:pt x="1" y="288"/>
                    </a:lnTo>
                    <a:lnTo>
                      <a:pt x="5" y="281"/>
                    </a:lnTo>
                    <a:lnTo>
                      <a:pt x="12" y="272"/>
                    </a:lnTo>
                    <a:lnTo>
                      <a:pt x="19" y="264"/>
                    </a:lnTo>
                    <a:lnTo>
                      <a:pt x="29" y="255"/>
                    </a:lnTo>
                    <a:lnTo>
                      <a:pt x="43" y="246"/>
                    </a:lnTo>
                    <a:lnTo>
                      <a:pt x="58" y="236"/>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097" name="Freeform 1041"/>
              <p:cNvSpPr>
                <a:spLocks noEditPoints="1"/>
              </p:cNvSpPr>
              <p:nvPr/>
            </p:nvSpPr>
            <p:spPr bwMode="auto">
              <a:xfrm>
                <a:off x="1679" y="3999"/>
                <a:ext cx="413" cy="163"/>
              </a:xfrm>
              <a:custGeom>
                <a:avLst/>
                <a:gdLst>
                  <a:gd name="T0" fmla="*/ 117 w 825"/>
                  <a:gd name="T1" fmla="*/ 325 h 325"/>
                  <a:gd name="T2" fmla="*/ 177 w 825"/>
                  <a:gd name="T3" fmla="*/ 293 h 325"/>
                  <a:gd name="T4" fmla="*/ 237 w 825"/>
                  <a:gd name="T5" fmla="*/ 260 h 325"/>
                  <a:gd name="T6" fmla="*/ 0 w 825"/>
                  <a:gd name="T7" fmla="*/ 260 h 325"/>
                  <a:gd name="T8" fmla="*/ 50 w 825"/>
                  <a:gd name="T9" fmla="*/ 232 h 325"/>
                  <a:gd name="T10" fmla="*/ 100 w 825"/>
                  <a:gd name="T11" fmla="*/ 205 h 325"/>
                  <a:gd name="T12" fmla="*/ 415 w 825"/>
                  <a:gd name="T13" fmla="*/ 103 h 325"/>
                  <a:gd name="T14" fmla="*/ 732 w 825"/>
                  <a:gd name="T15" fmla="*/ 0 h 325"/>
                  <a:gd name="T16" fmla="*/ 825 w 825"/>
                  <a:gd name="T17" fmla="*/ 0 h 325"/>
                  <a:gd name="T18" fmla="*/ 636 w 825"/>
                  <a:gd name="T19" fmla="*/ 103 h 325"/>
                  <a:gd name="T20" fmla="*/ 446 w 825"/>
                  <a:gd name="T21" fmla="*/ 205 h 325"/>
                  <a:gd name="T22" fmla="*/ 480 w 825"/>
                  <a:gd name="T23" fmla="*/ 205 h 325"/>
                  <a:gd name="T24" fmla="*/ 517 w 825"/>
                  <a:gd name="T25" fmla="*/ 205 h 325"/>
                  <a:gd name="T26" fmla="*/ 467 w 825"/>
                  <a:gd name="T27" fmla="*/ 232 h 325"/>
                  <a:gd name="T28" fmla="*/ 417 w 825"/>
                  <a:gd name="T29" fmla="*/ 260 h 325"/>
                  <a:gd name="T30" fmla="*/ 344 w 825"/>
                  <a:gd name="T31" fmla="*/ 260 h 325"/>
                  <a:gd name="T32" fmla="*/ 284 w 825"/>
                  <a:gd name="T33" fmla="*/ 293 h 325"/>
                  <a:gd name="T34" fmla="*/ 224 w 825"/>
                  <a:gd name="T35" fmla="*/ 325 h 325"/>
                  <a:gd name="T36" fmla="*/ 170 w 825"/>
                  <a:gd name="T37" fmla="*/ 325 h 325"/>
                  <a:gd name="T38" fmla="*/ 117 w 825"/>
                  <a:gd name="T39" fmla="*/ 325 h 325"/>
                  <a:gd name="T40" fmla="*/ 117 w 825"/>
                  <a:gd name="T41" fmla="*/ 325 h 325"/>
                  <a:gd name="T42" fmla="*/ 337 w 825"/>
                  <a:gd name="T43" fmla="*/ 205 h 325"/>
                  <a:gd name="T44" fmla="*/ 441 w 825"/>
                  <a:gd name="T45" fmla="*/ 150 h 325"/>
                  <a:gd name="T46" fmla="*/ 543 w 825"/>
                  <a:gd name="T47" fmla="*/ 95 h 325"/>
                  <a:gd name="T48" fmla="*/ 374 w 825"/>
                  <a:gd name="T49" fmla="*/ 150 h 325"/>
                  <a:gd name="T50" fmla="*/ 205 w 825"/>
                  <a:gd name="T51" fmla="*/ 205 h 325"/>
                  <a:gd name="T52" fmla="*/ 270 w 825"/>
                  <a:gd name="T53" fmla="*/ 205 h 325"/>
                  <a:gd name="T54" fmla="*/ 337 w 825"/>
                  <a:gd name="T55" fmla="*/ 205 h 325"/>
                  <a:gd name="T56" fmla="*/ 337 w 825"/>
                  <a:gd name="T57" fmla="*/ 205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25" h="325">
                    <a:moveTo>
                      <a:pt x="117" y="325"/>
                    </a:moveTo>
                    <a:lnTo>
                      <a:pt x="177" y="293"/>
                    </a:lnTo>
                    <a:lnTo>
                      <a:pt x="237" y="260"/>
                    </a:lnTo>
                    <a:lnTo>
                      <a:pt x="0" y="260"/>
                    </a:lnTo>
                    <a:lnTo>
                      <a:pt x="50" y="232"/>
                    </a:lnTo>
                    <a:lnTo>
                      <a:pt x="100" y="205"/>
                    </a:lnTo>
                    <a:lnTo>
                      <a:pt x="415" y="103"/>
                    </a:lnTo>
                    <a:lnTo>
                      <a:pt x="732" y="0"/>
                    </a:lnTo>
                    <a:lnTo>
                      <a:pt x="825" y="0"/>
                    </a:lnTo>
                    <a:lnTo>
                      <a:pt x="636" y="103"/>
                    </a:lnTo>
                    <a:lnTo>
                      <a:pt x="446" y="205"/>
                    </a:lnTo>
                    <a:lnTo>
                      <a:pt x="480" y="205"/>
                    </a:lnTo>
                    <a:lnTo>
                      <a:pt x="517" y="205"/>
                    </a:lnTo>
                    <a:lnTo>
                      <a:pt x="467" y="232"/>
                    </a:lnTo>
                    <a:lnTo>
                      <a:pt x="417" y="260"/>
                    </a:lnTo>
                    <a:lnTo>
                      <a:pt x="344" y="260"/>
                    </a:lnTo>
                    <a:lnTo>
                      <a:pt x="284" y="293"/>
                    </a:lnTo>
                    <a:lnTo>
                      <a:pt x="224" y="325"/>
                    </a:lnTo>
                    <a:lnTo>
                      <a:pt x="170" y="325"/>
                    </a:lnTo>
                    <a:lnTo>
                      <a:pt x="117" y="325"/>
                    </a:lnTo>
                    <a:lnTo>
                      <a:pt x="117" y="325"/>
                    </a:lnTo>
                    <a:close/>
                    <a:moveTo>
                      <a:pt x="337" y="205"/>
                    </a:moveTo>
                    <a:lnTo>
                      <a:pt x="441" y="150"/>
                    </a:lnTo>
                    <a:lnTo>
                      <a:pt x="543" y="95"/>
                    </a:lnTo>
                    <a:lnTo>
                      <a:pt x="374" y="150"/>
                    </a:lnTo>
                    <a:lnTo>
                      <a:pt x="205" y="205"/>
                    </a:lnTo>
                    <a:lnTo>
                      <a:pt x="270" y="205"/>
                    </a:lnTo>
                    <a:lnTo>
                      <a:pt x="337" y="205"/>
                    </a:lnTo>
                    <a:lnTo>
                      <a:pt x="337" y="205"/>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098" name="Freeform 1042"/>
              <p:cNvSpPr>
                <a:spLocks/>
              </p:cNvSpPr>
              <p:nvPr/>
            </p:nvSpPr>
            <p:spPr bwMode="auto">
              <a:xfrm>
                <a:off x="1900" y="3999"/>
                <a:ext cx="385" cy="165"/>
              </a:xfrm>
              <a:custGeom>
                <a:avLst/>
                <a:gdLst>
                  <a:gd name="T0" fmla="*/ 122 w 768"/>
                  <a:gd name="T1" fmla="*/ 236 h 331"/>
                  <a:gd name="T2" fmla="*/ 167 w 768"/>
                  <a:gd name="T3" fmla="*/ 243 h 331"/>
                  <a:gd name="T4" fmla="*/ 148 w 768"/>
                  <a:gd name="T5" fmla="*/ 260 h 331"/>
                  <a:gd name="T6" fmla="*/ 146 w 768"/>
                  <a:gd name="T7" fmla="*/ 272 h 331"/>
                  <a:gd name="T8" fmla="*/ 163 w 768"/>
                  <a:gd name="T9" fmla="*/ 279 h 331"/>
                  <a:gd name="T10" fmla="*/ 196 w 768"/>
                  <a:gd name="T11" fmla="*/ 277 h 331"/>
                  <a:gd name="T12" fmla="*/ 237 w 768"/>
                  <a:gd name="T13" fmla="*/ 270 h 331"/>
                  <a:gd name="T14" fmla="*/ 311 w 768"/>
                  <a:gd name="T15" fmla="*/ 248 h 331"/>
                  <a:gd name="T16" fmla="*/ 377 w 768"/>
                  <a:gd name="T17" fmla="*/ 215 h 331"/>
                  <a:gd name="T18" fmla="*/ 401 w 768"/>
                  <a:gd name="T19" fmla="*/ 194 h 331"/>
                  <a:gd name="T20" fmla="*/ 403 w 768"/>
                  <a:gd name="T21" fmla="*/ 182 h 331"/>
                  <a:gd name="T22" fmla="*/ 389 w 768"/>
                  <a:gd name="T23" fmla="*/ 176 h 331"/>
                  <a:gd name="T24" fmla="*/ 363 w 768"/>
                  <a:gd name="T25" fmla="*/ 174 h 331"/>
                  <a:gd name="T26" fmla="*/ 334 w 768"/>
                  <a:gd name="T27" fmla="*/ 177 h 331"/>
                  <a:gd name="T28" fmla="*/ 368 w 768"/>
                  <a:gd name="T29" fmla="*/ 153 h 331"/>
                  <a:gd name="T30" fmla="*/ 465 w 768"/>
                  <a:gd name="T31" fmla="*/ 126 h 331"/>
                  <a:gd name="T32" fmla="*/ 510 w 768"/>
                  <a:gd name="T33" fmla="*/ 117 h 331"/>
                  <a:gd name="T34" fmla="*/ 553 w 768"/>
                  <a:gd name="T35" fmla="*/ 105 h 331"/>
                  <a:gd name="T36" fmla="*/ 603 w 768"/>
                  <a:gd name="T37" fmla="*/ 79 h 331"/>
                  <a:gd name="T38" fmla="*/ 618 w 768"/>
                  <a:gd name="T39" fmla="*/ 65 h 331"/>
                  <a:gd name="T40" fmla="*/ 620 w 768"/>
                  <a:gd name="T41" fmla="*/ 57 h 331"/>
                  <a:gd name="T42" fmla="*/ 604 w 768"/>
                  <a:gd name="T43" fmla="*/ 51 h 331"/>
                  <a:gd name="T44" fmla="*/ 561 w 768"/>
                  <a:gd name="T45" fmla="*/ 55 h 331"/>
                  <a:gd name="T46" fmla="*/ 523 w 768"/>
                  <a:gd name="T47" fmla="*/ 62 h 331"/>
                  <a:gd name="T48" fmla="*/ 482 w 768"/>
                  <a:gd name="T49" fmla="*/ 76 h 331"/>
                  <a:gd name="T50" fmla="*/ 398 w 768"/>
                  <a:gd name="T51" fmla="*/ 89 h 331"/>
                  <a:gd name="T52" fmla="*/ 417 w 768"/>
                  <a:gd name="T53" fmla="*/ 58 h 331"/>
                  <a:gd name="T54" fmla="*/ 529 w 768"/>
                  <a:gd name="T55" fmla="*/ 22 h 331"/>
                  <a:gd name="T56" fmla="*/ 641 w 768"/>
                  <a:gd name="T57" fmla="*/ 3 h 331"/>
                  <a:gd name="T58" fmla="*/ 710 w 768"/>
                  <a:gd name="T59" fmla="*/ 0 h 331"/>
                  <a:gd name="T60" fmla="*/ 739 w 768"/>
                  <a:gd name="T61" fmla="*/ 5 h 331"/>
                  <a:gd name="T62" fmla="*/ 759 w 768"/>
                  <a:gd name="T63" fmla="*/ 12 h 331"/>
                  <a:gd name="T64" fmla="*/ 768 w 768"/>
                  <a:gd name="T65" fmla="*/ 22 h 331"/>
                  <a:gd name="T66" fmla="*/ 763 w 768"/>
                  <a:gd name="T67" fmla="*/ 41 h 331"/>
                  <a:gd name="T68" fmla="*/ 734 w 768"/>
                  <a:gd name="T69" fmla="*/ 69 h 331"/>
                  <a:gd name="T70" fmla="*/ 666 w 768"/>
                  <a:gd name="T71" fmla="*/ 103 h 331"/>
                  <a:gd name="T72" fmla="*/ 561 w 768"/>
                  <a:gd name="T73" fmla="*/ 138 h 331"/>
                  <a:gd name="T74" fmla="*/ 499 w 768"/>
                  <a:gd name="T75" fmla="*/ 151 h 331"/>
                  <a:gd name="T76" fmla="*/ 527 w 768"/>
                  <a:gd name="T77" fmla="*/ 160 h 331"/>
                  <a:gd name="T78" fmla="*/ 530 w 768"/>
                  <a:gd name="T79" fmla="*/ 177 h 331"/>
                  <a:gd name="T80" fmla="*/ 510 w 768"/>
                  <a:gd name="T81" fmla="*/ 200 h 331"/>
                  <a:gd name="T82" fmla="*/ 467 w 768"/>
                  <a:gd name="T83" fmla="*/ 227 h 331"/>
                  <a:gd name="T84" fmla="*/ 380 w 768"/>
                  <a:gd name="T85" fmla="*/ 267 h 331"/>
                  <a:gd name="T86" fmla="*/ 277 w 768"/>
                  <a:gd name="T87" fmla="*/ 300 h 331"/>
                  <a:gd name="T88" fmla="*/ 172 w 768"/>
                  <a:gd name="T89" fmla="*/ 324 h 331"/>
                  <a:gd name="T90" fmla="*/ 82 w 768"/>
                  <a:gd name="T91" fmla="*/ 331 h 331"/>
                  <a:gd name="T92" fmla="*/ 48 w 768"/>
                  <a:gd name="T93" fmla="*/ 329 h 331"/>
                  <a:gd name="T94" fmla="*/ 22 w 768"/>
                  <a:gd name="T95" fmla="*/ 324 h 331"/>
                  <a:gd name="T96" fmla="*/ 6 w 768"/>
                  <a:gd name="T97" fmla="*/ 317 h 331"/>
                  <a:gd name="T98" fmla="*/ 0 w 768"/>
                  <a:gd name="T99" fmla="*/ 305 h 331"/>
                  <a:gd name="T100" fmla="*/ 1 w 768"/>
                  <a:gd name="T101" fmla="*/ 291 h 331"/>
                  <a:gd name="T102" fmla="*/ 13 w 768"/>
                  <a:gd name="T103" fmla="*/ 275 h 331"/>
                  <a:gd name="T104" fmla="*/ 32 w 768"/>
                  <a:gd name="T105" fmla="*/ 258 h 331"/>
                  <a:gd name="T106" fmla="*/ 62 w 768"/>
                  <a:gd name="T107" fmla="*/ 239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68" h="331">
                    <a:moveTo>
                      <a:pt x="62" y="239"/>
                    </a:moveTo>
                    <a:lnTo>
                      <a:pt x="122" y="236"/>
                    </a:lnTo>
                    <a:lnTo>
                      <a:pt x="182" y="232"/>
                    </a:lnTo>
                    <a:lnTo>
                      <a:pt x="167" y="243"/>
                    </a:lnTo>
                    <a:lnTo>
                      <a:pt x="155" y="251"/>
                    </a:lnTo>
                    <a:lnTo>
                      <a:pt x="148" y="260"/>
                    </a:lnTo>
                    <a:lnTo>
                      <a:pt x="144" y="267"/>
                    </a:lnTo>
                    <a:lnTo>
                      <a:pt x="146" y="272"/>
                    </a:lnTo>
                    <a:lnTo>
                      <a:pt x="153" y="275"/>
                    </a:lnTo>
                    <a:lnTo>
                      <a:pt x="163" y="279"/>
                    </a:lnTo>
                    <a:lnTo>
                      <a:pt x="177" y="279"/>
                    </a:lnTo>
                    <a:lnTo>
                      <a:pt x="196" y="277"/>
                    </a:lnTo>
                    <a:lnTo>
                      <a:pt x="215" y="275"/>
                    </a:lnTo>
                    <a:lnTo>
                      <a:pt x="237" y="270"/>
                    </a:lnTo>
                    <a:lnTo>
                      <a:pt x="261" y="265"/>
                    </a:lnTo>
                    <a:lnTo>
                      <a:pt x="311" y="248"/>
                    </a:lnTo>
                    <a:lnTo>
                      <a:pt x="358" y="225"/>
                    </a:lnTo>
                    <a:lnTo>
                      <a:pt x="377" y="215"/>
                    </a:lnTo>
                    <a:lnTo>
                      <a:pt x="392" y="205"/>
                    </a:lnTo>
                    <a:lnTo>
                      <a:pt x="401" y="194"/>
                    </a:lnTo>
                    <a:lnTo>
                      <a:pt x="405" y="188"/>
                    </a:lnTo>
                    <a:lnTo>
                      <a:pt x="403" y="182"/>
                    </a:lnTo>
                    <a:lnTo>
                      <a:pt x="398" y="177"/>
                    </a:lnTo>
                    <a:lnTo>
                      <a:pt x="389" y="176"/>
                    </a:lnTo>
                    <a:lnTo>
                      <a:pt x="375" y="174"/>
                    </a:lnTo>
                    <a:lnTo>
                      <a:pt x="363" y="174"/>
                    </a:lnTo>
                    <a:lnTo>
                      <a:pt x="349" y="176"/>
                    </a:lnTo>
                    <a:lnTo>
                      <a:pt x="334" y="177"/>
                    </a:lnTo>
                    <a:lnTo>
                      <a:pt x="315" y="179"/>
                    </a:lnTo>
                    <a:lnTo>
                      <a:pt x="368" y="153"/>
                    </a:lnTo>
                    <a:lnTo>
                      <a:pt x="420" y="129"/>
                    </a:lnTo>
                    <a:lnTo>
                      <a:pt x="465" y="126"/>
                    </a:lnTo>
                    <a:lnTo>
                      <a:pt x="487" y="122"/>
                    </a:lnTo>
                    <a:lnTo>
                      <a:pt x="510" y="117"/>
                    </a:lnTo>
                    <a:lnTo>
                      <a:pt x="532" y="112"/>
                    </a:lnTo>
                    <a:lnTo>
                      <a:pt x="553" y="105"/>
                    </a:lnTo>
                    <a:lnTo>
                      <a:pt x="591" y="86"/>
                    </a:lnTo>
                    <a:lnTo>
                      <a:pt x="603" y="79"/>
                    </a:lnTo>
                    <a:lnTo>
                      <a:pt x="613" y="72"/>
                    </a:lnTo>
                    <a:lnTo>
                      <a:pt x="618" y="65"/>
                    </a:lnTo>
                    <a:lnTo>
                      <a:pt x="622" y="60"/>
                    </a:lnTo>
                    <a:lnTo>
                      <a:pt x="620" y="57"/>
                    </a:lnTo>
                    <a:lnTo>
                      <a:pt x="615" y="53"/>
                    </a:lnTo>
                    <a:lnTo>
                      <a:pt x="604" y="51"/>
                    </a:lnTo>
                    <a:lnTo>
                      <a:pt x="592" y="51"/>
                    </a:lnTo>
                    <a:lnTo>
                      <a:pt x="561" y="55"/>
                    </a:lnTo>
                    <a:lnTo>
                      <a:pt x="542" y="57"/>
                    </a:lnTo>
                    <a:lnTo>
                      <a:pt x="523" y="62"/>
                    </a:lnTo>
                    <a:lnTo>
                      <a:pt x="503" y="69"/>
                    </a:lnTo>
                    <a:lnTo>
                      <a:pt x="482" y="76"/>
                    </a:lnTo>
                    <a:lnTo>
                      <a:pt x="439" y="95"/>
                    </a:lnTo>
                    <a:lnTo>
                      <a:pt x="398" y="89"/>
                    </a:lnTo>
                    <a:lnTo>
                      <a:pt x="355" y="84"/>
                    </a:lnTo>
                    <a:lnTo>
                      <a:pt x="417" y="58"/>
                    </a:lnTo>
                    <a:lnTo>
                      <a:pt x="473" y="38"/>
                    </a:lnTo>
                    <a:lnTo>
                      <a:pt x="529" y="22"/>
                    </a:lnTo>
                    <a:lnTo>
                      <a:pt x="585" y="10"/>
                    </a:lnTo>
                    <a:lnTo>
                      <a:pt x="641" y="3"/>
                    </a:lnTo>
                    <a:lnTo>
                      <a:pt x="691" y="0"/>
                    </a:lnTo>
                    <a:lnTo>
                      <a:pt x="710" y="0"/>
                    </a:lnTo>
                    <a:lnTo>
                      <a:pt x="725" y="1"/>
                    </a:lnTo>
                    <a:lnTo>
                      <a:pt x="739" y="5"/>
                    </a:lnTo>
                    <a:lnTo>
                      <a:pt x="751" y="7"/>
                    </a:lnTo>
                    <a:lnTo>
                      <a:pt x="759" y="12"/>
                    </a:lnTo>
                    <a:lnTo>
                      <a:pt x="765" y="17"/>
                    </a:lnTo>
                    <a:lnTo>
                      <a:pt x="768" y="22"/>
                    </a:lnTo>
                    <a:lnTo>
                      <a:pt x="768" y="29"/>
                    </a:lnTo>
                    <a:lnTo>
                      <a:pt x="763" y="41"/>
                    </a:lnTo>
                    <a:lnTo>
                      <a:pt x="751" y="55"/>
                    </a:lnTo>
                    <a:lnTo>
                      <a:pt x="734" y="69"/>
                    </a:lnTo>
                    <a:lnTo>
                      <a:pt x="710" y="82"/>
                    </a:lnTo>
                    <a:lnTo>
                      <a:pt x="666" y="103"/>
                    </a:lnTo>
                    <a:lnTo>
                      <a:pt x="618" y="122"/>
                    </a:lnTo>
                    <a:lnTo>
                      <a:pt x="561" y="138"/>
                    </a:lnTo>
                    <a:lnTo>
                      <a:pt x="532" y="144"/>
                    </a:lnTo>
                    <a:lnTo>
                      <a:pt x="499" y="151"/>
                    </a:lnTo>
                    <a:lnTo>
                      <a:pt x="517" y="155"/>
                    </a:lnTo>
                    <a:lnTo>
                      <a:pt x="527" y="160"/>
                    </a:lnTo>
                    <a:lnTo>
                      <a:pt x="532" y="169"/>
                    </a:lnTo>
                    <a:lnTo>
                      <a:pt x="530" y="177"/>
                    </a:lnTo>
                    <a:lnTo>
                      <a:pt x="523" y="188"/>
                    </a:lnTo>
                    <a:lnTo>
                      <a:pt x="510" y="200"/>
                    </a:lnTo>
                    <a:lnTo>
                      <a:pt x="491" y="213"/>
                    </a:lnTo>
                    <a:lnTo>
                      <a:pt x="467" y="227"/>
                    </a:lnTo>
                    <a:lnTo>
                      <a:pt x="425" y="248"/>
                    </a:lnTo>
                    <a:lnTo>
                      <a:pt x="380" y="267"/>
                    </a:lnTo>
                    <a:lnTo>
                      <a:pt x="330" y="284"/>
                    </a:lnTo>
                    <a:lnTo>
                      <a:pt x="277" y="300"/>
                    </a:lnTo>
                    <a:lnTo>
                      <a:pt x="224" y="313"/>
                    </a:lnTo>
                    <a:lnTo>
                      <a:pt x="172" y="324"/>
                    </a:lnTo>
                    <a:lnTo>
                      <a:pt x="125" y="329"/>
                    </a:lnTo>
                    <a:lnTo>
                      <a:pt x="82" y="331"/>
                    </a:lnTo>
                    <a:lnTo>
                      <a:pt x="63" y="331"/>
                    </a:lnTo>
                    <a:lnTo>
                      <a:pt x="48" y="329"/>
                    </a:lnTo>
                    <a:lnTo>
                      <a:pt x="34" y="327"/>
                    </a:lnTo>
                    <a:lnTo>
                      <a:pt x="22" y="324"/>
                    </a:lnTo>
                    <a:lnTo>
                      <a:pt x="13" y="320"/>
                    </a:lnTo>
                    <a:lnTo>
                      <a:pt x="6" y="317"/>
                    </a:lnTo>
                    <a:lnTo>
                      <a:pt x="1" y="312"/>
                    </a:lnTo>
                    <a:lnTo>
                      <a:pt x="0" y="305"/>
                    </a:lnTo>
                    <a:lnTo>
                      <a:pt x="0" y="298"/>
                    </a:lnTo>
                    <a:lnTo>
                      <a:pt x="1" y="291"/>
                    </a:lnTo>
                    <a:lnTo>
                      <a:pt x="6" y="284"/>
                    </a:lnTo>
                    <a:lnTo>
                      <a:pt x="13" y="275"/>
                    </a:lnTo>
                    <a:lnTo>
                      <a:pt x="22" y="267"/>
                    </a:lnTo>
                    <a:lnTo>
                      <a:pt x="32" y="258"/>
                    </a:lnTo>
                    <a:lnTo>
                      <a:pt x="46" y="250"/>
                    </a:lnTo>
                    <a:lnTo>
                      <a:pt x="62" y="239"/>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02099" name="Group 1043"/>
            <p:cNvGrpSpPr>
              <a:grpSpLocks/>
            </p:cNvGrpSpPr>
            <p:nvPr/>
          </p:nvGrpSpPr>
          <p:grpSpPr bwMode="auto">
            <a:xfrm>
              <a:off x="3610" y="3610"/>
              <a:ext cx="544" cy="138"/>
              <a:chOff x="3627" y="3627"/>
              <a:chExt cx="544" cy="138"/>
            </a:xfrm>
          </p:grpSpPr>
          <p:sp>
            <p:nvSpPr>
              <p:cNvPr id="302100" name="Freeform 1044"/>
              <p:cNvSpPr>
                <a:spLocks noEditPoints="1"/>
              </p:cNvSpPr>
              <p:nvPr/>
            </p:nvSpPr>
            <p:spPr bwMode="auto">
              <a:xfrm>
                <a:off x="3888" y="3640"/>
                <a:ext cx="283" cy="125"/>
              </a:xfrm>
              <a:custGeom>
                <a:avLst/>
                <a:gdLst>
                  <a:gd name="T0" fmla="*/ 126 w 565"/>
                  <a:gd name="T1" fmla="*/ 248 h 248"/>
                  <a:gd name="T2" fmla="*/ 171 w 565"/>
                  <a:gd name="T3" fmla="*/ 224 h 248"/>
                  <a:gd name="T4" fmla="*/ 214 w 565"/>
                  <a:gd name="T5" fmla="*/ 198 h 248"/>
                  <a:gd name="T6" fmla="*/ 493 w 565"/>
                  <a:gd name="T7" fmla="*/ 198 h 248"/>
                  <a:gd name="T8" fmla="*/ 565 w 565"/>
                  <a:gd name="T9" fmla="*/ 157 h 248"/>
                  <a:gd name="T10" fmla="*/ 562 w 565"/>
                  <a:gd name="T11" fmla="*/ 117 h 248"/>
                  <a:gd name="T12" fmla="*/ 557 w 565"/>
                  <a:gd name="T13" fmla="*/ 79 h 248"/>
                  <a:gd name="T14" fmla="*/ 551 w 565"/>
                  <a:gd name="T15" fmla="*/ 40 h 248"/>
                  <a:gd name="T16" fmla="*/ 548 w 565"/>
                  <a:gd name="T17" fmla="*/ 0 h 248"/>
                  <a:gd name="T18" fmla="*/ 493 w 565"/>
                  <a:gd name="T19" fmla="*/ 0 h 248"/>
                  <a:gd name="T20" fmla="*/ 438 w 565"/>
                  <a:gd name="T21" fmla="*/ 0 h 248"/>
                  <a:gd name="T22" fmla="*/ 300 w 565"/>
                  <a:gd name="T23" fmla="*/ 79 h 248"/>
                  <a:gd name="T24" fmla="*/ 162 w 565"/>
                  <a:gd name="T25" fmla="*/ 157 h 248"/>
                  <a:gd name="T26" fmla="*/ 119 w 565"/>
                  <a:gd name="T27" fmla="*/ 157 h 248"/>
                  <a:gd name="T28" fmla="*/ 78 w 565"/>
                  <a:gd name="T29" fmla="*/ 157 h 248"/>
                  <a:gd name="T30" fmla="*/ 40 w 565"/>
                  <a:gd name="T31" fmla="*/ 177 h 248"/>
                  <a:gd name="T32" fmla="*/ 3 w 565"/>
                  <a:gd name="T33" fmla="*/ 198 h 248"/>
                  <a:gd name="T34" fmla="*/ 47 w 565"/>
                  <a:gd name="T35" fmla="*/ 198 h 248"/>
                  <a:gd name="T36" fmla="*/ 88 w 565"/>
                  <a:gd name="T37" fmla="*/ 198 h 248"/>
                  <a:gd name="T38" fmla="*/ 45 w 565"/>
                  <a:gd name="T39" fmla="*/ 224 h 248"/>
                  <a:gd name="T40" fmla="*/ 0 w 565"/>
                  <a:gd name="T41" fmla="*/ 248 h 248"/>
                  <a:gd name="T42" fmla="*/ 64 w 565"/>
                  <a:gd name="T43" fmla="*/ 248 h 248"/>
                  <a:gd name="T44" fmla="*/ 126 w 565"/>
                  <a:gd name="T45" fmla="*/ 248 h 248"/>
                  <a:gd name="T46" fmla="*/ 126 w 565"/>
                  <a:gd name="T47" fmla="*/ 248 h 248"/>
                  <a:gd name="T48" fmla="*/ 288 w 565"/>
                  <a:gd name="T49" fmla="*/ 157 h 248"/>
                  <a:gd name="T50" fmla="*/ 362 w 565"/>
                  <a:gd name="T51" fmla="*/ 115 h 248"/>
                  <a:gd name="T52" fmla="*/ 436 w 565"/>
                  <a:gd name="T53" fmla="*/ 72 h 248"/>
                  <a:gd name="T54" fmla="*/ 441 w 565"/>
                  <a:gd name="T55" fmla="*/ 115 h 248"/>
                  <a:gd name="T56" fmla="*/ 445 w 565"/>
                  <a:gd name="T57" fmla="*/ 157 h 248"/>
                  <a:gd name="T58" fmla="*/ 365 w 565"/>
                  <a:gd name="T59" fmla="*/ 157 h 248"/>
                  <a:gd name="T60" fmla="*/ 288 w 565"/>
                  <a:gd name="T61" fmla="*/ 157 h 248"/>
                  <a:gd name="T62" fmla="*/ 288 w 565"/>
                  <a:gd name="T63" fmla="*/ 157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65" h="248">
                    <a:moveTo>
                      <a:pt x="126" y="248"/>
                    </a:moveTo>
                    <a:lnTo>
                      <a:pt x="171" y="224"/>
                    </a:lnTo>
                    <a:lnTo>
                      <a:pt x="214" y="198"/>
                    </a:lnTo>
                    <a:lnTo>
                      <a:pt x="493" y="198"/>
                    </a:lnTo>
                    <a:lnTo>
                      <a:pt x="565" y="157"/>
                    </a:lnTo>
                    <a:lnTo>
                      <a:pt x="562" y="117"/>
                    </a:lnTo>
                    <a:lnTo>
                      <a:pt x="557" y="79"/>
                    </a:lnTo>
                    <a:lnTo>
                      <a:pt x="551" y="40"/>
                    </a:lnTo>
                    <a:lnTo>
                      <a:pt x="548" y="0"/>
                    </a:lnTo>
                    <a:lnTo>
                      <a:pt x="493" y="0"/>
                    </a:lnTo>
                    <a:lnTo>
                      <a:pt x="438" y="0"/>
                    </a:lnTo>
                    <a:lnTo>
                      <a:pt x="300" y="79"/>
                    </a:lnTo>
                    <a:lnTo>
                      <a:pt x="162" y="157"/>
                    </a:lnTo>
                    <a:lnTo>
                      <a:pt x="119" y="157"/>
                    </a:lnTo>
                    <a:lnTo>
                      <a:pt x="78" y="157"/>
                    </a:lnTo>
                    <a:lnTo>
                      <a:pt x="40" y="177"/>
                    </a:lnTo>
                    <a:lnTo>
                      <a:pt x="3" y="198"/>
                    </a:lnTo>
                    <a:lnTo>
                      <a:pt x="47" y="198"/>
                    </a:lnTo>
                    <a:lnTo>
                      <a:pt x="88" y="198"/>
                    </a:lnTo>
                    <a:lnTo>
                      <a:pt x="45" y="224"/>
                    </a:lnTo>
                    <a:lnTo>
                      <a:pt x="0" y="248"/>
                    </a:lnTo>
                    <a:lnTo>
                      <a:pt x="64" y="248"/>
                    </a:lnTo>
                    <a:lnTo>
                      <a:pt x="126" y="248"/>
                    </a:lnTo>
                    <a:lnTo>
                      <a:pt x="126" y="248"/>
                    </a:lnTo>
                    <a:close/>
                    <a:moveTo>
                      <a:pt x="288" y="157"/>
                    </a:moveTo>
                    <a:lnTo>
                      <a:pt x="362" y="115"/>
                    </a:lnTo>
                    <a:lnTo>
                      <a:pt x="436" y="72"/>
                    </a:lnTo>
                    <a:lnTo>
                      <a:pt x="441" y="115"/>
                    </a:lnTo>
                    <a:lnTo>
                      <a:pt x="445" y="157"/>
                    </a:lnTo>
                    <a:lnTo>
                      <a:pt x="365" y="157"/>
                    </a:lnTo>
                    <a:lnTo>
                      <a:pt x="288" y="157"/>
                    </a:lnTo>
                    <a:lnTo>
                      <a:pt x="288" y="15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01" name="Freeform 1045"/>
              <p:cNvSpPr>
                <a:spLocks/>
              </p:cNvSpPr>
              <p:nvPr/>
            </p:nvSpPr>
            <p:spPr bwMode="auto">
              <a:xfrm>
                <a:off x="3648" y="3640"/>
                <a:ext cx="313" cy="125"/>
              </a:xfrm>
              <a:custGeom>
                <a:avLst/>
                <a:gdLst>
                  <a:gd name="T0" fmla="*/ 0 w 628"/>
                  <a:gd name="T1" fmla="*/ 248 h 248"/>
                  <a:gd name="T2" fmla="*/ 66 w 628"/>
                  <a:gd name="T3" fmla="*/ 248 h 248"/>
                  <a:gd name="T4" fmla="*/ 131 w 628"/>
                  <a:gd name="T5" fmla="*/ 248 h 248"/>
                  <a:gd name="T6" fmla="*/ 290 w 628"/>
                  <a:gd name="T7" fmla="*/ 158 h 248"/>
                  <a:gd name="T8" fmla="*/ 447 w 628"/>
                  <a:gd name="T9" fmla="*/ 69 h 248"/>
                  <a:gd name="T10" fmla="*/ 464 w 628"/>
                  <a:gd name="T11" fmla="*/ 81 h 248"/>
                  <a:gd name="T12" fmla="*/ 486 w 628"/>
                  <a:gd name="T13" fmla="*/ 91 h 248"/>
                  <a:gd name="T14" fmla="*/ 516 w 628"/>
                  <a:gd name="T15" fmla="*/ 98 h 248"/>
                  <a:gd name="T16" fmla="*/ 552 w 628"/>
                  <a:gd name="T17" fmla="*/ 105 h 248"/>
                  <a:gd name="T18" fmla="*/ 590 w 628"/>
                  <a:gd name="T19" fmla="*/ 84 h 248"/>
                  <a:gd name="T20" fmla="*/ 628 w 628"/>
                  <a:gd name="T21" fmla="*/ 62 h 248"/>
                  <a:gd name="T22" fmla="*/ 609 w 628"/>
                  <a:gd name="T23" fmla="*/ 59 h 248"/>
                  <a:gd name="T24" fmla="*/ 590 w 628"/>
                  <a:gd name="T25" fmla="*/ 53 h 248"/>
                  <a:gd name="T26" fmla="*/ 572 w 628"/>
                  <a:gd name="T27" fmla="*/ 48 h 248"/>
                  <a:gd name="T28" fmla="*/ 557 w 628"/>
                  <a:gd name="T29" fmla="*/ 40 h 248"/>
                  <a:gd name="T30" fmla="*/ 545 w 628"/>
                  <a:gd name="T31" fmla="*/ 31 h 248"/>
                  <a:gd name="T32" fmla="*/ 540 w 628"/>
                  <a:gd name="T33" fmla="*/ 21 h 248"/>
                  <a:gd name="T34" fmla="*/ 540 w 628"/>
                  <a:gd name="T35" fmla="*/ 10 h 248"/>
                  <a:gd name="T36" fmla="*/ 545 w 628"/>
                  <a:gd name="T37" fmla="*/ 0 h 248"/>
                  <a:gd name="T38" fmla="*/ 491 w 628"/>
                  <a:gd name="T39" fmla="*/ 0 h 248"/>
                  <a:gd name="T40" fmla="*/ 438 w 628"/>
                  <a:gd name="T41" fmla="*/ 0 h 248"/>
                  <a:gd name="T42" fmla="*/ 219 w 628"/>
                  <a:gd name="T43" fmla="*/ 124 h 248"/>
                  <a:gd name="T44" fmla="*/ 0 w 628"/>
                  <a:gd name="T45" fmla="*/ 24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8" h="248">
                    <a:moveTo>
                      <a:pt x="0" y="248"/>
                    </a:moveTo>
                    <a:lnTo>
                      <a:pt x="66" y="248"/>
                    </a:lnTo>
                    <a:lnTo>
                      <a:pt x="131" y="248"/>
                    </a:lnTo>
                    <a:lnTo>
                      <a:pt x="290" y="158"/>
                    </a:lnTo>
                    <a:lnTo>
                      <a:pt x="447" y="69"/>
                    </a:lnTo>
                    <a:lnTo>
                      <a:pt x="464" y="81"/>
                    </a:lnTo>
                    <a:lnTo>
                      <a:pt x="486" y="91"/>
                    </a:lnTo>
                    <a:lnTo>
                      <a:pt x="516" y="98"/>
                    </a:lnTo>
                    <a:lnTo>
                      <a:pt x="552" y="105"/>
                    </a:lnTo>
                    <a:lnTo>
                      <a:pt x="590" y="84"/>
                    </a:lnTo>
                    <a:lnTo>
                      <a:pt x="628" y="62"/>
                    </a:lnTo>
                    <a:lnTo>
                      <a:pt x="609" y="59"/>
                    </a:lnTo>
                    <a:lnTo>
                      <a:pt x="590" y="53"/>
                    </a:lnTo>
                    <a:lnTo>
                      <a:pt x="572" y="48"/>
                    </a:lnTo>
                    <a:lnTo>
                      <a:pt x="557" y="40"/>
                    </a:lnTo>
                    <a:lnTo>
                      <a:pt x="545" y="31"/>
                    </a:lnTo>
                    <a:lnTo>
                      <a:pt x="540" y="21"/>
                    </a:lnTo>
                    <a:lnTo>
                      <a:pt x="540" y="10"/>
                    </a:lnTo>
                    <a:lnTo>
                      <a:pt x="545" y="0"/>
                    </a:lnTo>
                    <a:lnTo>
                      <a:pt x="491" y="0"/>
                    </a:lnTo>
                    <a:lnTo>
                      <a:pt x="438" y="0"/>
                    </a:lnTo>
                    <a:lnTo>
                      <a:pt x="219" y="124"/>
                    </a:lnTo>
                    <a:lnTo>
                      <a:pt x="0" y="24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02" name="Freeform 1046"/>
              <p:cNvSpPr>
                <a:spLocks noEditPoints="1"/>
              </p:cNvSpPr>
              <p:nvPr/>
            </p:nvSpPr>
            <p:spPr bwMode="auto">
              <a:xfrm>
                <a:off x="3867" y="3627"/>
                <a:ext cx="283" cy="124"/>
              </a:xfrm>
              <a:custGeom>
                <a:avLst/>
                <a:gdLst>
                  <a:gd name="T0" fmla="*/ 125 w 565"/>
                  <a:gd name="T1" fmla="*/ 249 h 249"/>
                  <a:gd name="T2" fmla="*/ 170 w 565"/>
                  <a:gd name="T3" fmla="*/ 224 h 249"/>
                  <a:gd name="T4" fmla="*/ 213 w 565"/>
                  <a:gd name="T5" fmla="*/ 199 h 249"/>
                  <a:gd name="T6" fmla="*/ 493 w 565"/>
                  <a:gd name="T7" fmla="*/ 199 h 249"/>
                  <a:gd name="T8" fmla="*/ 565 w 565"/>
                  <a:gd name="T9" fmla="*/ 157 h 249"/>
                  <a:gd name="T10" fmla="*/ 561 w 565"/>
                  <a:gd name="T11" fmla="*/ 118 h 249"/>
                  <a:gd name="T12" fmla="*/ 556 w 565"/>
                  <a:gd name="T13" fmla="*/ 80 h 249"/>
                  <a:gd name="T14" fmla="*/ 551 w 565"/>
                  <a:gd name="T15" fmla="*/ 40 h 249"/>
                  <a:gd name="T16" fmla="*/ 548 w 565"/>
                  <a:gd name="T17" fmla="*/ 0 h 249"/>
                  <a:gd name="T18" fmla="*/ 493 w 565"/>
                  <a:gd name="T19" fmla="*/ 0 h 249"/>
                  <a:gd name="T20" fmla="*/ 437 w 565"/>
                  <a:gd name="T21" fmla="*/ 0 h 249"/>
                  <a:gd name="T22" fmla="*/ 300 w 565"/>
                  <a:gd name="T23" fmla="*/ 80 h 249"/>
                  <a:gd name="T24" fmla="*/ 162 w 565"/>
                  <a:gd name="T25" fmla="*/ 157 h 249"/>
                  <a:gd name="T26" fmla="*/ 119 w 565"/>
                  <a:gd name="T27" fmla="*/ 157 h 249"/>
                  <a:gd name="T28" fmla="*/ 77 w 565"/>
                  <a:gd name="T29" fmla="*/ 157 h 249"/>
                  <a:gd name="T30" fmla="*/ 39 w 565"/>
                  <a:gd name="T31" fmla="*/ 178 h 249"/>
                  <a:gd name="T32" fmla="*/ 3 w 565"/>
                  <a:gd name="T33" fmla="*/ 199 h 249"/>
                  <a:gd name="T34" fmla="*/ 46 w 565"/>
                  <a:gd name="T35" fmla="*/ 199 h 249"/>
                  <a:gd name="T36" fmla="*/ 88 w 565"/>
                  <a:gd name="T37" fmla="*/ 199 h 249"/>
                  <a:gd name="T38" fmla="*/ 44 w 565"/>
                  <a:gd name="T39" fmla="*/ 224 h 249"/>
                  <a:gd name="T40" fmla="*/ 0 w 565"/>
                  <a:gd name="T41" fmla="*/ 249 h 249"/>
                  <a:gd name="T42" fmla="*/ 63 w 565"/>
                  <a:gd name="T43" fmla="*/ 249 h 249"/>
                  <a:gd name="T44" fmla="*/ 125 w 565"/>
                  <a:gd name="T45" fmla="*/ 249 h 249"/>
                  <a:gd name="T46" fmla="*/ 125 w 565"/>
                  <a:gd name="T47" fmla="*/ 249 h 249"/>
                  <a:gd name="T48" fmla="*/ 287 w 565"/>
                  <a:gd name="T49" fmla="*/ 157 h 249"/>
                  <a:gd name="T50" fmla="*/ 362 w 565"/>
                  <a:gd name="T51" fmla="*/ 116 h 249"/>
                  <a:gd name="T52" fmla="*/ 436 w 565"/>
                  <a:gd name="T53" fmla="*/ 73 h 249"/>
                  <a:gd name="T54" fmla="*/ 441 w 565"/>
                  <a:gd name="T55" fmla="*/ 116 h 249"/>
                  <a:gd name="T56" fmla="*/ 444 w 565"/>
                  <a:gd name="T57" fmla="*/ 157 h 249"/>
                  <a:gd name="T58" fmla="*/ 365 w 565"/>
                  <a:gd name="T59" fmla="*/ 157 h 249"/>
                  <a:gd name="T60" fmla="*/ 287 w 565"/>
                  <a:gd name="T61" fmla="*/ 157 h 249"/>
                  <a:gd name="T62" fmla="*/ 287 w 565"/>
                  <a:gd name="T63" fmla="*/ 15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65" h="249">
                    <a:moveTo>
                      <a:pt x="125" y="249"/>
                    </a:moveTo>
                    <a:lnTo>
                      <a:pt x="170" y="224"/>
                    </a:lnTo>
                    <a:lnTo>
                      <a:pt x="213" y="199"/>
                    </a:lnTo>
                    <a:lnTo>
                      <a:pt x="493" y="199"/>
                    </a:lnTo>
                    <a:lnTo>
                      <a:pt x="565" y="157"/>
                    </a:lnTo>
                    <a:lnTo>
                      <a:pt x="561" y="118"/>
                    </a:lnTo>
                    <a:lnTo>
                      <a:pt x="556" y="80"/>
                    </a:lnTo>
                    <a:lnTo>
                      <a:pt x="551" y="40"/>
                    </a:lnTo>
                    <a:lnTo>
                      <a:pt x="548" y="0"/>
                    </a:lnTo>
                    <a:lnTo>
                      <a:pt x="493" y="0"/>
                    </a:lnTo>
                    <a:lnTo>
                      <a:pt x="437" y="0"/>
                    </a:lnTo>
                    <a:lnTo>
                      <a:pt x="300" y="80"/>
                    </a:lnTo>
                    <a:lnTo>
                      <a:pt x="162" y="157"/>
                    </a:lnTo>
                    <a:lnTo>
                      <a:pt x="119" y="157"/>
                    </a:lnTo>
                    <a:lnTo>
                      <a:pt x="77" y="157"/>
                    </a:lnTo>
                    <a:lnTo>
                      <a:pt x="39" y="178"/>
                    </a:lnTo>
                    <a:lnTo>
                      <a:pt x="3" y="199"/>
                    </a:lnTo>
                    <a:lnTo>
                      <a:pt x="46" y="199"/>
                    </a:lnTo>
                    <a:lnTo>
                      <a:pt x="88" y="199"/>
                    </a:lnTo>
                    <a:lnTo>
                      <a:pt x="44" y="224"/>
                    </a:lnTo>
                    <a:lnTo>
                      <a:pt x="0" y="249"/>
                    </a:lnTo>
                    <a:lnTo>
                      <a:pt x="63" y="249"/>
                    </a:lnTo>
                    <a:lnTo>
                      <a:pt x="125" y="249"/>
                    </a:lnTo>
                    <a:lnTo>
                      <a:pt x="125" y="249"/>
                    </a:lnTo>
                    <a:close/>
                    <a:moveTo>
                      <a:pt x="287" y="157"/>
                    </a:moveTo>
                    <a:lnTo>
                      <a:pt x="362" y="116"/>
                    </a:lnTo>
                    <a:lnTo>
                      <a:pt x="436" y="73"/>
                    </a:lnTo>
                    <a:lnTo>
                      <a:pt x="441" y="116"/>
                    </a:lnTo>
                    <a:lnTo>
                      <a:pt x="444" y="157"/>
                    </a:lnTo>
                    <a:lnTo>
                      <a:pt x="365" y="157"/>
                    </a:lnTo>
                    <a:lnTo>
                      <a:pt x="287" y="157"/>
                    </a:lnTo>
                    <a:lnTo>
                      <a:pt x="287" y="157"/>
                    </a:lnTo>
                    <a:close/>
                  </a:path>
                </a:pathLst>
              </a:custGeom>
              <a:solidFill>
                <a:srgbClr val="CC33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03" name="Freeform 1047"/>
              <p:cNvSpPr>
                <a:spLocks/>
              </p:cNvSpPr>
              <p:nvPr/>
            </p:nvSpPr>
            <p:spPr bwMode="auto">
              <a:xfrm>
                <a:off x="3627" y="3627"/>
                <a:ext cx="314" cy="124"/>
              </a:xfrm>
              <a:custGeom>
                <a:avLst/>
                <a:gdLst>
                  <a:gd name="T0" fmla="*/ 0 w 627"/>
                  <a:gd name="T1" fmla="*/ 249 h 249"/>
                  <a:gd name="T2" fmla="*/ 65 w 627"/>
                  <a:gd name="T3" fmla="*/ 249 h 249"/>
                  <a:gd name="T4" fmla="*/ 131 w 627"/>
                  <a:gd name="T5" fmla="*/ 249 h 249"/>
                  <a:gd name="T6" fmla="*/ 289 w 627"/>
                  <a:gd name="T7" fmla="*/ 159 h 249"/>
                  <a:gd name="T8" fmla="*/ 446 w 627"/>
                  <a:gd name="T9" fmla="*/ 69 h 249"/>
                  <a:gd name="T10" fmla="*/ 463 w 627"/>
                  <a:gd name="T11" fmla="*/ 81 h 249"/>
                  <a:gd name="T12" fmla="*/ 486 w 627"/>
                  <a:gd name="T13" fmla="*/ 92 h 249"/>
                  <a:gd name="T14" fmla="*/ 515 w 627"/>
                  <a:gd name="T15" fmla="*/ 99 h 249"/>
                  <a:gd name="T16" fmla="*/ 551 w 627"/>
                  <a:gd name="T17" fmla="*/ 105 h 249"/>
                  <a:gd name="T18" fmla="*/ 589 w 627"/>
                  <a:gd name="T19" fmla="*/ 85 h 249"/>
                  <a:gd name="T20" fmla="*/ 627 w 627"/>
                  <a:gd name="T21" fmla="*/ 62 h 249"/>
                  <a:gd name="T22" fmla="*/ 608 w 627"/>
                  <a:gd name="T23" fmla="*/ 59 h 249"/>
                  <a:gd name="T24" fmla="*/ 589 w 627"/>
                  <a:gd name="T25" fmla="*/ 54 h 249"/>
                  <a:gd name="T26" fmla="*/ 572 w 627"/>
                  <a:gd name="T27" fmla="*/ 49 h 249"/>
                  <a:gd name="T28" fmla="*/ 557 w 627"/>
                  <a:gd name="T29" fmla="*/ 40 h 249"/>
                  <a:gd name="T30" fmla="*/ 544 w 627"/>
                  <a:gd name="T31" fmla="*/ 31 h 249"/>
                  <a:gd name="T32" fmla="*/ 539 w 627"/>
                  <a:gd name="T33" fmla="*/ 21 h 249"/>
                  <a:gd name="T34" fmla="*/ 539 w 627"/>
                  <a:gd name="T35" fmla="*/ 11 h 249"/>
                  <a:gd name="T36" fmla="*/ 544 w 627"/>
                  <a:gd name="T37" fmla="*/ 0 h 249"/>
                  <a:gd name="T38" fmla="*/ 491 w 627"/>
                  <a:gd name="T39" fmla="*/ 0 h 249"/>
                  <a:gd name="T40" fmla="*/ 438 w 627"/>
                  <a:gd name="T41" fmla="*/ 0 h 249"/>
                  <a:gd name="T42" fmla="*/ 219 w 627"/>
                  <a:gd name="T43" fmla="*/ 124 h 249"/>
                  <a:gd name="T44" fmla="*/ 0 w 627"/>
                  <a:gd name="T45" fmla="*/ 249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7" h="249">
                    <a:moveTo>
                      <a:pt x="0" y="249"/>
                    </a:moveTo>
                    <a:lnTo>
                      <a:pt x="65" y="249"/>
                    </a:lnTo>
                    <a:lnTo>
                      <a:pt x="131" y="249"/>
                    </a:lnTo>
                    <a:lnTo>
                      <a:pt x="289" y="159"/>
                    </a:lnTo>
                    <a:lnTo>
                      <a:pt x="446" y="69"/>
                    </a:lnTo>
                    <a:lnTo>
                      <a:pt x="463" y="81"/>
                    </a:lnTo>
                    <a:lnTo>
                      <a:pt x="486" y="92"/>
                    </a:lnTo>
                    <a:lnTo>
                      <a:pt x="515" y="99"/>
                    </a:lnTo>
                    <a:lnTo>
                      <a:pt x="551" y="105"/>
                    </a:lnTo>
                    <a:lnTo>
                      <a:pt x="589" y="85"/>
                    </a:lnTo>
                    <a:lnTo>
                      <a:pt x="627" y="62"/>
                    </a:lnTo>
                    <a:lnTo>
                      <a:pt x="608" y="59"/>
                    </a:lnTo>
                    <a:lnTo>
                      <a:pt x="589" y="54"/>
                    </a:lnTo>
                    <a:lnTo>
                      <a:pt x="572" y="49"/>
                    </a:lnTo>
                    <a:lnTo>
                      <a:pt x="557" y="40"/>
                    </a:lnTo>
                    <a:lnTo>
                      <a:pt x="544" y="31"/>
                    </a:lnTo>
                    <a:lnTo>
                      <a:pt x="539" y="21"/>
                    </a:lnTo>
                    <a:lnTo>
                      <a:pt x="539" y="11"/>
                    </a:lnTo>
                    <a:lnTo>
                      <a:pt x="544" y="0"/>
                    </a:lnTo>
                    <a:lnTo>
                      <a:pt x="491" y="0"/>
                    </a:lnTo>
                    <a:lnTo>
                      <a:pt x="438" y="0"/>
                    </a:lnTo>
                    <a:lnTo>
                      <a:pt x="219" y="124"/>
                    </a:lnTo>
                    <a:lnTo>
                      <a:pt x="0" y="249"/>
                    </a:lnTo>
                    <a:close/>
                  </a:path>
                </a:pathLst>
              </a:custGeom>
              <a:solidFill>
                <a:srgbClr val="CC33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02104" name="Group 1048"/>
            <p:cNvGrpSpPr>
              <a:grpSpLocks/>
            </p:cNvGrpSpPr>
            <p:nvPr/>
          </p:nvGrpSpPr>
          <p:grpSpPr bwMode="auto">
            <a:xfrm>
              <a:off x="3155" y="2907"/>
              <a:ext cx="1461" cy="262"/>
              <a:chOff x="3172" y="2924"/>
              <a:chExt cx="1461" cy="262"/>
            </a:xfrm>
          </p:grpSpPr>
          <p:sp>
            <p:nvSpPr>
              <p:cNvPr id="302105" name="Freeform 1049"/>
              <p:cNvSpPr>
                <a:spLocks/>
              </p:cNvSpPr>
              <p:nvPr/>
            </p:nvSpPr>
            <p:spPr bwMode="auto">
              <a:xfrm>
                <a:off x="3186" y="2937"/>
                <a:ext cx="1447" cy="249"/>
              </a:xfrm>
              <a:custGeom>
                <a:avLst/>
                <a:gdLst>
                  <a:gd name="T0" fmla="*/ 889 w 2895"/>
                  <a:gd name="T1" fmla="*/ 0 h 496"/>
                  <a:gd name="T2" fmla="*/ 0 w 2895"/>
                  <a:gd name="T3" fmla="*/ 496 h 496"/>
                  <a:gd name="T4" fmla="*/ 2005 w 2895"/>
                  <a:gd name="T5" fmla="*/ 496 h 496"/>
                  <a:gd name="T6" fmla="*/ 2895 w 2895"/>
                  <a:gd name="T7" fmla="*/ 0 h 496"/>
                  <a:gd name="T8" fmla="*/ 889 w 2895"/>
                  <a:gd name="T9" fmla="*/ 0 h 496"/>
                </a:gdLst>
                <a:ahLst/>
                <a:cxnLst>
                  <a:cxn ang="0">
                    <a:pos x="T0" y="T1"/>
                  </a:cxn>
                  <a:cxn ang="0">
                    <a:pos x="T2" y="T3"/>
                  </a:cxn>
                  <a:cxn ang="0">
                    <a:pos x="T4" y="T5"/>
                  </a:cxn>
                  <a:cxn ang="0">
                    <a:pos x="T6" y="T7"/>
                  </a:cxn>
                  <a:cxn ang="0">
                    <a:pos x="T8" y="T9"/>
                  </a:cxn>
                </a:cxnLst>
                <a:rect l="0" t="0" r="r" b="b"/>
                <a:pathLst>
                  <a:path w="2895" h="496">
                    <a:moveTo>
                      <a:pt x="889" y="0"/>
                    </a:moveTo>
                    <a:lnTo>
                      <a:pt x="0" y="496"/>
                    </a:lnTo>
                    <a:lnTo>
                      <a:pt x="2005" y="496"/>
                    </a:lnTo>
                    <a:lnTo>
                      <a:pt x="2895" y="0"/>
                    </a:lnTo>
                    <a:lnTo>
                      <a:pt x="889"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02106" name="Group 1050"/>
              <p:cNvGrpSpPr>
                <a:grpSpLocks/>
              </p:cNvGrpSpPr>
              <p:nvPr/>
            </p:nvGrpSpPr>
            <p:grpSpPr bwMode="auto">
              <a:xfrm>
                <a:off x="3172" y="2924"/>
                <a:ext cx="1448" cy="249"/>
                <a:chOff x="3172" y="2924"/>
                <a:chExt cx="1448" cy="249"/>
              </a:xfrm>
            </p:grpSpPr>
            <p:pic>
              <p:nvPicPr>
                <p:cNvPr id="302107" name="Picture 105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2" y="2924"/>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2108" name="Picture 105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20" y="2924"/>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2109" name="Freeform 1053"/>
                <p:cNvSpPr>
                  <a:spLocks/>
                </p:cNvSpPr>
                <p:nvPr/>
              </p:nvSpPr>
              <p:spPr bwMode="auto">
                <a:xfrm>
                  <a:off x="3172" y="2924"/>
                  <a:ext cx="1448"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2110" name="Freeform 1054"/>
                <p:cNvSpPr>
                  <a:spLocks/>
                </p:cNvSpPr>
                <p:nvPr/>
              </p:nvSpPr>
              <p:spPr bwMode="auto">
                <a:xfrm>
                  <a:off x="3172" y="2924"/>
                  <a:ext cx="1448"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302111" name="Picture 10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2" y="2924"/>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2112" name="Picture 10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20" y="2924"/>
                  <a:ext cx="6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2113" name="Freeform 1057"/>
              <p:cNvSpPr>
                <a:spLocks/>
              </p:cNvSpPr>
              <p:nvPr/>
            </p:nvSpPr>
            <p:spPr bwMode="auto">
              <a:xfrm>
                <a:off x="3172" y="2924"/>
                <a:ext cx="1448" cy="248"/>
              </a:xfrm>
              <a:custGeom>
                <a:avLst/>
                <a:gdLst>
                  <a:gd name="T0" fmla="*/ 889 w 2895"/>
                  <a:gd name="T1" fmla="*/ 0 h 497"/>
                  <a:gd name="T2" fmla="*/ 0 w 2895"/>
                  <a:gd name="T3" fmla="*/ 497 h 497"/>
                  <a:gd name="T4" fmla="*/ 2006 w 2895"/>
                  <a:gd name="T5" fmla="*/ 497 h 497"/>
                  <a:gd name="T6" fmla="*/ 2895 w 2895"/>
                  <a:gd name="T7" fmla="*/ 0 h 497"/>
                  <a:gd name="T8" fmla="*/ 889 w 2895"/>
                  <a:gd name="T9" fmla="*/ 0 h 497"/>
                </a:gdLst>
                <a:ahLst/>
                <a:cxnLst>
                  <a:cxn ang="0">
                    <a:pos x="T0" y="T1"/>
                  </a:cxn>
                  <a:cxn ang="0">
                    <a:pos x="T2" y="T3"/>
                  </a:cxn>
                  <a:cxn ang="0">
                    <a:pos x="T4" y="T5"/>
                  </a:cxn>
                  <a:cxn ang="0">
                    <a:pos x="T6" y="T7"/>
                  </a:cxn>
                  <a:cxn ang="0">
                    <a:pos x="T8" y="T9"/>
                  </a:cxn>
                </a:cxnLst>
                <a:rect l="0" t="0" r="r" b="b"/>
                <a:pathLst>
                  <a:path w="2895" h="497">
                    <a:moveTo>
                      <a:pt x="889" y="0"/>
                    </a:moveTo>
                    <a:lnTo>
                      <a:pt x="0" y="497"/>
                    </a:lnTo>
                    <a:lnTo>
                      <a:pt x="2006" y="497"/>
                    </a:lnTo>
                    <a:lnTo>
                      <a:pt x="2895" y="0"/>
                    </a:lnTo>
                    <a:lnTo>
                      <a:pt x="889"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02114" name="Group 1058"/>
            <p:cNvGrpSpPr>
              <a:grpSpLocks/>
            </p:cNvGrpSpPr>
            <p:nvPr/>
          </p:nvGrpSpPr>
          <p:grpSpPr bwMode="auto">
            <a:xfrm>
              <a:off x="3324" y="2989"/>
              <a:ext cx="1033" cy="138"/>
              <a:chOff x="3341" y="3006"/>
              <a:chExt cx="1033" cy="138"/>
            </a:xfrm>
          </p:grpSpPr>
          <p:sp>
            <p:nvSpPr>
              <p:cNvPr id="302115" name="Freeform 1059"/>
              <p:cNvSpPr>
                <a:spLocks/>
              </p:cNvSpPr>
              <p:nvPr/>
            </p:nvSpPr>
            <p:spPr bwMode="auto">
              <a:xfrm>
                <a:off x="3362" y="3020"/>
                <a:ext cx="423" cy="122"/>
              </a:xfrm>
              <a:custGeom>
                <a:avLst/>
                <a:gdLst>
                  <a:gd name="T0" fmla="*/ 558 w 848"/>
                  <a:gd name="T1" fmla="*/ 223 h 243"/>
                  <a:gd name="T2" fmla="*/ 0 w 848"/>
                  <a:gd name="T3" fmla="*/ 243 h 243"/>
                  <a:gd name="T4" fmla="*/ 59 w 848"/>
                  <a:gd name="T5" fmla="*/ 221 h 243"/>
                  <a:gd name="T6" fmla="*/ 129 w 848"/>
                  <a:gd name="T7" fmla="*/ 197 h 243"/>
                  <a:gd name="T8" fmla="*/ 176 w 848"/>
                  <a:gd name="T9" fmla="*/ 185 h 243"/>
                  <a:gd name="T10" fmla="*/ 236 w 848"/>
                  <a:gd name="T11" fmla="*/ 173 h 243"/>
                  <a:gd name="T12" fmla="*/ 309 w 848"/>
                  <a:gd name="T13" fmla="*/ 157 h 243"/>
                  <a:gd name="T14" fmla="*/ 395 w 848"/>
                  <a:gd name="T15" fmla="*/ 140 h 243"/>
                  <a:gd name="T16" fmla="*/ 464 w 848"/>
                  <a:gd name="T17" fmla="*/ 126 h 243"/>
                  <a:gd name="T18" fmla="*/ 517 w 848"/>
                  <a:gd name="T19" fmla="*/ 116 h 243"/>
                  <a:gd name="T20" fmla="*/ 558 w 848"/>
                  <a:gd name="T21" fmla="*/ 107 h 243"/>
                  <a:gd name="T22" fmla="*/ 584 w 848"/>
                  <a:gd name="T23" fmla="*/ 100 h 243"/>
                  <a:gd name="T24" fmla="*/ 633 w 848"/>
                  <a:gd name="T25" fmla="*/ 86 h 243"/>
                  <a:gd name="T26" fmla="*/ 664 w 848"/>
                  <a:gd name="T27" fmla="*/ 71 h 243"/>
                  <a:gd name="T28" fmla="*/ 681 w 848"/>
                  <a:gd name="T29" fmla="*/ 57 h 243"/>
                  <a:gd name="T30" fmla="*/ 677 w 848"/>
                  <a:gd name="T31" fmla="*/ 47 h 243"/>
                  <a:gd name="T32" fmla="*/ 655 w 848"/>
                  <a:gd name="T33" fmla="*/ 40 h 243"/>
                  <a:gd name="T34" fmla="*/ 617 w 848"/>
                  <a:gd name="T35" fmla="*/ 38 h 243"/>
                  <a:gd name="T36" fmla="*/ 527 w 848"/>
                  <a:gd name="T37" fmla="*/ 47 h 243"/>
                  <a:gd name="T38" fmla="*/ 467 w 848"/>
                  <a:gd name="T39" fmla="*/ 68 h 243"/>
                  <a:gd name="T40" fmla="*/ 378 w 848"/>
                  <a:gd name="T41" fmla="*/ 74 h 243"/>
                  <a:gd name="T42" fmla="*/ 347 w 848"/>
                  <a:gd name="T43" fmla="*/ 55 h 243"/>
                  <a:gd name="T44" fmla="*/ 434 w 848"/>
                  <a:gd name="T45" fmla="*/ 26 h 243"/>
                  <a:gd name="T46" fmla="*/ 533 w 848"/>
                  <a:gd name="T47" fmla="*/ 11 h 243"/>
                  <a:gd name="T48" fmla="*/ 634 w 848"/>
                  <a:gd name="T49" fmla="*/ 2 h 243"/>
                  <a:gd name="T50" fmla="*/ 714 w 848"/>
                  <a:gd name="T51" fmla="*/ 0 h 243"/>
                  <a:gd name="T52" fmla="*/ 760 w 848"/>
                  <a:gd name="T53" fmla="*/ 4 h 243"/>
                  <a:gd name="T54" fmla="*/ 798 w 848"/>
                  <a:gd name="T55" fmla="*/ 7 h 243"/>
                  <a:gd name="T56" fmla="*/ 824 w 848"/>
                  <a:gd name="T57" fmla="*/ 16 h 243"/>
                  <a:gd name="T58" fmla="*/ 841 w 848"/>
                  <a:gd name="T59" fmla="*/ 24 h 243"/>
                  <a:gd name="T60" fmla="*/ 848 w 848"/>
                  <a:gd name="T61" fmla="*/ 37 h 243"/>
                  <a:gd name="T62" fmla="*/ 845 w 848"/>
                  <a:gd name="T63" fmla="*/ 47 h 243"/>
                  <a:gd name="T64" fmla="*/ 829 w 848"/>
                  <a:gd name="T65" fmla="*/ 61 h 243"/>
                  <a:gd name="T66" fmla="*/ 803 w 848"/>
                  <a:gd name="T67" fmla="*/ 76 h 243"/>
                  <a:gd name="T68" fmla="*/ 748 w 848"/>
                  <a:gd name="T69" fmla="*/ 99 h 243"/>
                  <a:gd name="T70" fmla="*/ 698 w 848"/>
                  <a:gd name="T71" fmla="*/ 114 h 243"/>
                  <a:gd name="T72" fmla="*/ 636 w 848"/>
                  <a:gd name="T73" fmla="*/ 130 h 243"/>
                  <a:gd name="T74" fmla="*/ 608 w 848"/>
                  <a:gd name="T75" fmla="*/ 135 h 243"/>
                  <a:gd name="T76" fmla="*/ 576 w 848"/>
                  <a:gd name="T77" fmla="*/ 143 h 243"/>
                  <a:gd name="T78" fmla="*/ 534 w 848"/>
                  <a:gd name="T79" fmla="*/ 150 h 243"/>
                  <a:gd name="T80" fmla="*/ 486 w 848"/>
                  <a:gd name="T81" fmla="*/ 161 h 243"/>
                  <a:gd name="T82" fmla="*/ 440 w 848"/>
                  <a:gd name="T83" fmla="*/ 169 h 243"/>
                  <a:gd name="T84" fmla="*/ 402 w 848"/>
                  <a:gd name="T85" fmla="*/ 178 h 243"/>
                  <a:gd name="T86" fmla="*/ 372 w 848"/>
                  <a:gd name="T87" fmla="*/ 183 h 243"/>
                  <a:gd name="T88" fmla="*/ 352 w 848"/>
                  <a:gd name="T89" fmla="*/ 188 h 243"/>
                  <a:gd name="T90" fmla="*/ 300 w 848"/>
                  <a:gd name="T91" fmla="*/ 200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48" h="243">
                    <a:moveTo>
                      <a:pt x="595" y="200"/>
                    </a:moveTo>
                    <a:lnTo>
                      <a:pt x="558" y="223"/>
                    </a:lnTo>
                    <a:lnTo>
                      <a:pt x="522" y="243"/>
                    </a:lnTo>
                    <a:lnTo>
                      <a:pt x="0" y="243"/>
                    </a:lnTo>
                    <a:lnTo>
                      <a:pt x="28" y="231"/>
                    </a:lnTo>
                    <a:lnTo>
                      <a:pt x="59" y="221"/>
                    </a:lnTo>
                    <a:lnTo>
                      <a:pt x="91" y="209"/>
                    </a:lnTo>
                    <a:lnTo>
                      <a:pt x="129" y="197"/>
                    </a:lnTo>
                    <a:lnTo>
                      <a:pt x="152" y="192"/>
                    </a:lnTo>
                    <a:lnTo>
                      <a:pt x="176" y="185"/>
                    </a:lnTo>
                    <a:lnTo>
                      <a:pt x="203" y="180"/>
                    </a:lnTo>
                    <a:lnTo>
                      <a:pt x="236" y="173"/>
                    </a:lnTo>
                    <a:lnTo>
                      <a:pt x="271" y="166"/>
                    </a:lnTo>
                    <a:lnTo>
                      <a:pt x="309" y="157"/>
                    </a:lnTo>
                    <a:lnTo>
                      <a:pt x="350" y="149"/>
                    </a:lnTo>
                    <a:lnTo>
                      <a:pt x="395" y="140"/>
                    </a:lnTo>
                    <a:lnTo>
                      <a:pt x="431" y="133"/>
                    </a:lnTo>
                    <a:lnTo>
                      <a:pt x="464" y="126"/>
                    </a:lnTo>
                    <a:lnTo>
                      <a:pt x="491" y="121"/>
                    </a:lnTo>
                    <a:lnTo>
                      <a:pt x="517" y="116"/>
                    </a:lnTo>
                    <a:lnTo>
                      <a:pt x="540" y="111"/>
                    </a:lnTo>
                    <a:lnTo>
                      <a:pt x="558" y="107"/>
                    </a:lnTo>
                    <a:lnTo>
                      <a:pt x="572" y="104"/>
                    </a:lnTo>
                    <a:lnTo>
                      <a:pt x="584" y="100"/>
                    </a:lnTo>
                    <a:lnTo>
                      <a:pt x="610" y="93"/>
                    </a:lnTo>
                    <a:lnTo>
                      <a:pt x="633" y="86"/>
                    </a:lnTo>
                    <a:lnTo>
                      <a:pt x="650" y="78"/>
                    </a:lnTo>
                    <a:lnTo>
                      <a:pt x="664" y="71"/>
                    </a:lnTo>
                    <a:lnTo>
                      <a:pt x="674" y="64"/>
                    </a:lnTo>
                    <a:lnTo>
                      <a:pt x="681" y="57"/>
                    </a:lnTo>
                    <a:lnTo>
                      <a:pt x="681" y="52"/>
                    </a:lnTo>
                    <a:lnTo>
                      <a:pt x="677" y="47"/>
                    </a:lnTo>
                    <a:lnTo>
                      <a:pt x="669" y="43"/>
                    </a:lnTo>
                    <a:lnTo>
                      <a:pt x="655" y="40"/>
                    </a:lnTo>
                    <a:lnTo>
                      <a:pt x="638" y="38"/>
                    </a:lnTo>
                    <a:lnTo>
                      <a:pt x="617" y="38"/>
                    </a:lnTo>
                    <a:lnTo>
                      <a:pt x="572" y="40"/>
                    </a:lnTo>
                    <a:lnTo>
                      <a:pt x="527" y="47"/>
                    </a:lnTo>
                    <a:lnTo>
                      <a:pt x="486" y="59"/>
                    </a:lnTo>
                    <a:lnTo>
                      <a:pt x="467" y="68"/>
                    </a:lnTo>
                    <a:lnTo>
                      <a:pt x="448" y="76"/>
                    </a:lnTo>
                    <a:lnTo>
                      <a:pt x="378" y="74"/>
                    </a:lnTo>
                    <a:lnTo>
                      <a:pt x="307" y="73"/>
                    </a:lnTo>
                    <a:lnTo>
                      <a:pt x="347" y="55"/>
                    </a:lnTo>
                    <a:lnTo>
                      <a:pt x="390" y="40"/>
                    </a:lnTo>
                    <a:lnTo>
                      <a:pt x="434" y="26"/>
                    </a:lnTo>
                    <a:lnTo>
                      <a:pt x="483" y="18"/>
                    </a:lnTo>
                    <a:lnTo>
                      <a:pt x="533" y="11"/>
                    </a:lnTo>
                    <a:lnTo>
                      <a:pt x="583" y="4"/>
                    </a:lnTo>
                    <a:lnTo>
                      <a:pt x="634" y="2"/>
                    </a:lnTo>
                    <a:lnTo>
                      <a:pt x="686" y="0"/>
                    </a:lnTo>
                    <a:lnTo>
                      <a:pt x="714" y="0"/>
                    </a:lnTo>
                    <a:lnTo>
                      <a:pt x="738" y="2"/>
                    </a:lnTo>
                    <a:lnTo>
                      <a:pt x="760" y="4"/>
                    </a:lnTo>
                    <a:lnTo>
                      <a:pt x="781" y="6"/>
                    </a:lnTo>
                    <a:lnTo>
                      <a:pt x="798" y="7"/>
                    </a:lnTo>
                    <a:lnTo>
                      <a:pt x="812" y="11"/>
                    </a:lnTo>
                    <a:lnTo>
                      <a:pt x="824" y="16"/>
                    </a:lnTo>
                    <a:lnTo>
                      <a:pt x="834" y="19"/>
                    </a:lnTo>
                    <a:lnTo>
                      <a:pt x="841" y="24"/>
                    </a:lnTo>
                    <a:lnTo>
                      <a:pt x="846" y="30"/>
                    </a:lnTo>
                    <a:lnTo>
                      <a:pt x="848" y="37"/>
                    </a:lnTo>
                    <a:lnTo>
                      <a:pt x="848" y="42"/>
                    </a:lnTo>
                    <a:lnTo>
                      <a:pt x="845" y="47"/>
                    </a:lnTo>
                    <a:lnTo>
                      <a:pt x="838" y="54"/>
                    </a:lnTo>
                    <a:lnTo>
                      <a:pt x="829" y="61"/>
                    </a:lnTo>
                    <a:lnTo>
                      <a:pt x="819" y="68"/>
                    </a:lnTo>
                    <a:lnTo>
                      <a:pt x="803" y="76"/>
                    </a:lnTo>
                    <a:lnTo>
                      <a:pt x="786" y="85"/>
                    </a:lnTo>
                    <a:lnTo>
                      <a:pt x="748" y="99"/>
                    </a:lnTo>
                    <a:lnTo>
                      <a:pt x="724" y="107"/>
                    </a:lnTo>
                    <a:lnTo>
                      <a:pt x="698" y="114"/>
                    </a:lnTo>
                    <a:lnTo>
                      <a:pt x="669" y="123"/>
                    </a:lnTo>
                    <a:lnTo>
                      <a:pt x="636" y="130"/>
                    </a:lnTo>
                    <a:lnTo>
                      <a:pt x="624" y="133"/>
                    </a:lnTo>
                    <a:lnTo>
                      <a:pt x="608" y="135"/>
                    </a:lnTo>
                    <a:lnTo>
                      <a:pt x="593" y="138"/>
                    </a:lnTo>
                    <a:lnTo>
                      <a:pt x="576" y="143"/>
                    </a:lnTo>
                    <a:lnTo>
                      <a:pt x="555" y="147"/>
                    </a:lnTo>
                    <a:lnTo>
                      <a:pt x="534" y="150"/>
                    </a:lnTo>
                    <a:lnTo>
                      <a:pt x="512" y="155"/>
                    </a:lnTo>
                    <a:lnTo>
                      <a:pt x="486" y="161"/>
                    </a:lnTo>
                    <a:lnTo>
                      <a:pt x="462" y="166"/>
                    </a:lnTo>
                    <a:lnTo>
                      <a:pt x="440" y="169"/>
                    </a:lnTo>
                    <a:lnTo>
                      <a:pt x="419" y="174"/>
                    </a:lnTo>
                    <a:lnTo>
                      <a:pt x="402" y="178"/>
                    </a:lnTo>
                    <a:lnTo>
                      <a:pt x="384" y="181"/>
                    </a:lnTo>
                    <a:lnTo>
                      <a:pt x="372" y="183"/>
                    </a:lnTo>
                    <a:lnTo>
                      <a:pt x="360" y="186"/>
                    </a:lnTo>
                    <a:lnTo>
                      <a:pt x="352" y="188"/>
                    </a:lnTo>
                    <a:lnTo>
                      <a:pt x="324" y="195"/>
                    </a:lnTo>
                    <a:lnTo>
                      <a:pt x="300" y="200"/>
                    </a:lnTo>
                    <a:lnTo>
                      <a:pt x="595" y="20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16" name="Freeform 1060"/>
              <p:cNvSpPr>
                <a:spLocks/>
              </p:cNvSpPr>
              <p:nvPr/>
            </p:nvSpPr>
            <p:spPr bwMode="auto">
              <a:xfrm>
                <a:off x="3714" y="3020"/>
                <a:ext cx="361" cy="124"/>
              </a:xfrm>
              <a:custGeom>
                <a:avLst/>
                <a:gdLst>
                  <a:gd name="T0" fmla="*/ 98 w 722"/>
                  <a:gd name="T1" fmla="*/ 178 h 248"/>
                  <a:gd name="T2" fmla="*/ 165 w 722"/>
                  <a:gd name="T3" fmla="*/ 181 h 248"/>
                  <a:gd name="T4" fmla="*/ 162 w 722"/>
                  <a:gd name="T5" fmla="*/ 195 h 248"/>
                  <a:gd name="T6" fmla="*/ 176 w 722"/>
                  <a:gd name="T7" fmla="*/ 205 h 248"/>
                  <a:gd name="T8" fmla="*/ 205 w 722"/>
                  <a:gd name="T9" fmla="*/ 209 h 248"/>
                  <a:gd name="T10" fmla="*/ 272 w 722"/>
                  <a:gd name="T11" fmla="*/ 207 h 248"/>
                  <a:gd name="T12" fmla="*/ 346 w 722"/>
                  <a:gd name="T13" fmla="*/ 193 h 248"/>
                  <a:gd name="T14" fmla="*/ 384 w 722"/>
                  <a:gd name="T15" fmla="*/ 178 h 248"/>
                  <a:gd name="T16" fmla="*/ 414 w 722"/>
                  <a:gd name="T17" fmla="*/ 161 h 248"/>
                  <a:gd name="T18" fmla="*/ 422 w 722"/>
                  <a:gd name="T19" fmla="*/ 147 h 248"/>
                  <a:gd name="T20" fmla="*/ 410 w 722"/>
                  <a:gd name="T21" fmla="*/ 136 h 248"/>
                  <a:gd name="T22" fmla="*/ 383 w 722"/>
                  <a:gd name="T23" fmla="*/ 131 h 248"/>
                  <a:gd name="T24" fmla="*/ 346 w 722"/>
                  <a:gd name="T25" fmla="*/ 131 h 248"/>
                  <a:gd name="T26" fmla="*/ 310 w 722"/>
                  <a:gd name="T27" fmla="*/ 133 h 248"/>
                  <a:gd name="T28" fmla="*/ 329 w 722"/>
                  <a:gd name="T29" fmla="*/ 116 h 248"/>
                  <a:gd name="T30" fmla="*/ 398 w 722"/>
                  <a:gd name="T31" fmla="*/ 97 h 248"/>
                  <a:gd name="T32" fmla="*/ 474 w 722"/>
                  <a:gd name="T33" fmla="*/ 88 h 248"/>
                  <a:gd name="T34" fmla="*/ 515 w 722"/>
                  <a:gd name="T35" fmla="*/ 78 h 248"/>
                  <a:gd name="T36" fmla="*/ 544 w 722"/>
                  <a:gd name="T37" fmla="*/ 66 h 248"/>
                  <a:gd name="T38" fmla="*/ 558 w 722"/>
                  <a:gd name="T39" fmla="*/ 54 h 248"/>
                  <a:gd name="T40" fmla="*/ 555 w 722"/>
                  <a:gd name="T41" fmla="*/ 45 h 248"/>
                  <a:gd name="T42" fmla="*/ 538 w 722"/>
                  <a:gd name="T43" fmla="*/ 40 h 248"/>
                  <a:gd name="T44" fmla="*/ 505 w 722"/>
                  <a:gd name="T45" fmla="*/ 38 h 248"/>
                  <a:gd name="T46" fmla="*/ 426 w 722"/>
                  <a:gd name="T47" fmla="*/ 47 h 248"/>
                  <a:gd name="T48" fmla="*/ 351 w 722"/>
                  <a:gd name="T49" fmla="*/ 71 h 248"/>
                  <a:gd name="T50" fmla="*/ 227 w 722"/>
                  <a:gd name="T51" fmla="*/ 64 h 248"/>
                  <a:gd name="T52" fmla="*/ 329 w 722"/>
                  <a:gd name="T53" fmla="*/ 28 h 248"/>
                  <a:gd name="T54" fmla="*/ 414 w 722"/>
                  <a:gd name="T55" fmla="*/ 11 h 248"/>
                  <a:gd name="T56" fmla="*/ 510 w 722"/>
                  <a:gd name="T57" fmla="*/ 2 h 248"/>
                  <a:gd name="T58" fmla="*/ 600 w 722"/>
                  <a:gd name="T59" fmla="*/ 0 h 248"/>
                  <a:gd name="T60" fmla="*/ 644 w 722"/>
                  <a:gd name="T61" fmla="*/ 4 h 248"/>
                  <a:gd name="T62" fmla="*/ 679 w 722"/>
                  <a:gd name="T63" fmla="*/ 9 h 248"/>
                  <a:gd name="T64" fmla="*/ 703 w 722"/>
                  <a:gd name="T65" fmla="*/ 18 h 248"/>
                  <a:gd name="T66" fmla="*/ 717 w 722"/>
                  <a:gd name="T67" fmla="*/ 28 h 248"/>
                  <a:gd name="T68" fmla="*/ 722 w 722"/>
                  <a:gd name="T69" fmla="*/ 37 h 248"/>
                  <a:gd name="T70" fmla="*/ 719 w 722"/>
                  <a:gd name="T71" fmla="*/ 47 h 248"/>
                  <a:gd name="T72" fmla="*/ 708 w 722"/>
                  <a:gd name="T73" fmla="*/ 57 h 248"/>
                  <a:gd name="T74" fmla="*/ 684 w 722"/>
                  <a:gd name="T75" fmla="*/ 71 h 248"/>
                  <a:gd name="T76" fmla="*/ 646 w 722"/>
                  <a:gd name="T77" fmla="*/ 85 h 248"/>
                  <a:gd name="T78" fmla="*/ 596 w 722"/>
                  <a:gd name="T79" fmla="*/ 97 h 248"/>
                  <a:gd name="T80" fmla="*/ 536 w 722"/>
                  <a:gd name="T81" fmla="*/ 109 h 248"/>
                  <a:gd name="T82" fmla="*/ 529 w 722"/>
                  <a:gd name="T83" fmla="*/ 116 h 248"/>
                  <a:gd name="T84" fmla="*/ 565 w 722"/>
                  <a:gd name="T85" fmla="*/ 126 h 248"/>
                  <a:gd name="T86" fmla="*/ 579 w 722"/>
                  <a:gd name="T87" fmla="*/ 142 h 248"/>
                  <a:gd name="T88" fmla="*/ 567 w 722"/>
                  <a:gd name="T89" fmla="*/ 161 h 248"/>
                  <a:gd name="T90" fmla="*/ 538 w 722"/>
                  <a:gd name="T91" fmla="*/ 180 h 248"/>
                  <a:gd name="T92" fmla="*/ 503 w 722"/>
                  <a:gd name="T93" fmla="*/ 193 h 248"/>
                  <a:gd name="T94" fmla="*/ 462 w 722"/>
                  <a:gd name="T95" fmla="*/ 207 h 248"/>
                  <a:gd name="T96" fmla="*/ 414 w 722"/>
                  <a:gd name="T97" fmla="*/ 221 h 248"/>
                  <a:gd name="T98" fmla="*/ 329 w 722"/>
                  <a:gd name="T99" fmla="*/ 236 h 248"/>
                  <a:gd name="T100" fmla="*/ 217 w 722"/>
                  <a:gd name="T101" fmla="*/ 247 h 248"/>
                  <a:gd name="T102" fmla="*/ 136 w 722"/>
                  <a:gd name="T103" fmla="*/ 248 h 248"/>
                  <a:gd name="T104" fmla="*/ 91 w 722"/>
                  <a:gd name="T105" fmla="*/ 245 h 248"/>
                  <a:gd name="T106" fmla="*/ 57 w 722"/>
                  <a:gd name="T107" fmla="*/ 242 h 248"/>
                  <a:gd name="T108" fmla="*/ 29 w 722"/>
                  <a:gd name="T109" fmla="*/ 235 h 248"/>
                  <a:gd name="T110" fmla="*/ 10 w 722"/>
                  <a:gd name="T111" fmla="*/ 224 h 248"/>
                  <a:gd name="T112" fmla="*/ 2 w 722"/>
                  <a:gd name="T113" fmla="*/ 214 h 248"/>
                  <a:gd name="T114" fmla="*/ 2 w 722"/>
                  <a:gd name="T115" fmla="*/ 200 h 248"/>
                  <a:gd name="T116" fmla="*/ 12 w 722"/>
                  <a:gd name="T117" fmla="*/ 1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2" h="248">
                    <a:moveTo>
                      <a:pt x="21" y="180"/>
                    </a:moveTo>
                    <a:lnTo>
                      <a:pt x="98" y="178"/>
                    </a:lnTo>
                    <a:lnTo>
                      <a:pt x="174" y="174"/>
                    </a:lnTo>
                    <a:lnTo>
                      <a:pt x="165" y="181"/>
                    </a:lnTo>
                    <a:lnTo>
                      <a:pt x="162" y="188"/>
                    </a:lnTo>
                    <a:lnTo>
                      <a:pt x="162" y="195"/>
                    </a:lnTo>
                    <a:lnTo>
                      <a:pt x="167" y="200"/>
                    </a:lnTo>
                    <a:lnTo>
                      <a:pt x="176" y="205"/>
                    </a:lnTo>
                    <a:lnTo>
                      <a:pt x="190" y="207"/>
                    </a:lnTo>
                    <a:lnTo>
                      <a:pt x="205" y="209"/>
                    </a:lnTo>
                    <a:lnTo>
                      <a:pt x="226" y="209"/>
                    </a:lnTo>
                    <a:lnTo>
                      <a:pt x="272" y="207"/>
                    </a:lnTo>
                    <a:lnTo>
                      <a:pt x="322" y="198"/>
                    </a:lnTo>
                    <a:lnTo>
                      <a:pt x="346" y="193"/>
                    </a:lnTo>
                    <a:lnTo>
                      <a:pt x="367" y="186"/>
                    </a:lnTo>
                    <a:lnTo>
                      <a:pt x="384" y="178"/>
                    </a:lnTo>
                    <a:lnTo>
                      <a:pt x="401" y="169"/>
                    </a:lnTo>
                    <a:lnTo>
                      <a:pt x="414" y="161"/>
                    </a:lnTo>
                    <a:lnTo>
                      <a:pt x="420" y="154"/>
                    </a:lnTo>
                    <a:lnTo>
                      <a:pt x="422" y="147"/>
                    </a:lnTo>
                    <a:lnTo>
                      <a:pt x="419" y="142"/>
                    </a:lnTo>
                    <a:lnTo>
                      <a:pt x="410" y="136"/>
                    </a:lnTo>
                    <a:lnTo>
                      <a:pt x="398" y="135"/>
                    </a:lnTo>
                    <a:lnTo>
                      <a:pt x="383" y="131"/>
                    </a:lnTo>
                    <a:lnTo>
                      <a:pt x="362" y="131"/>
                    </a:lnTo>
                    <a:lnTo>
                      <a:pt x="346" y="131"/>
                    </a:lnTo>
                    <a:lnTo>
                      <a:pt x="329" y="133"/>
                    </a:lnTo>
                    <a:lnTo>
                      <a:pt x="310" y="133"/>
                    </a:lnTo>
                    <a:lnTo>
                      <a:pt x="288" y="135"/>
                    </a:lnTo>
                    <a:lnTo>
                      <a:pt x="329" y="116"/>
                    </a:lnTo>
                    <a:lnTo>
                      <a:pt x="369" y="97"/>
                    </a:lnTo>
                    <a:lnTo>
                      <a:pt x="398" y="97"/>
                    </a:lnTo>
                    <a:lnTo>
                      <a:pt x="424" y="95"/>
                    </a:lnTo>
                    <a:lnTo>
                      <a:pt x="474" y="88"/>
                    </a:lnTo>
                    <a:lnTo>
                      <a:pt x="496" y="83"/>
                    </a:lnTo>
                    <a:lnTo>
                      <a:pt x="515" y="78"/>
                    </a:lnTo>
                    <a:lnTo>
                      <a:pt x="531" y="73"/>
                    </a:lnTo>
                    <a:lnTo>
                      <a:pt x="544" y="66"/>
                    </a:lnTo>
                    <a:lnTo>
                      <a:pt x="553" y="59"/>
                    </a:lnTo>
                    <a:lnTo>
                      <a:pt x="558" y="54"/>
                    </a:lnTo>
                    <a:lnTo>
                      <a:pt x="558" y="49"/>
                    </a:lnTo>
                    <a:lnTo>
                      <a:pt x="555" y="45"/>
                    </a:lnTo>
                    <a:lnTo>
                      <a:pt x="548" y="43"/>
                    </a:lnTo>
                    <a:lnTo>
                      <a:pt x="538" y="40"/>
                    </a:lnTo>
                    <a:lnTo>
                      <a:pt x="522" y="38"/>
                    </a:lnTo>
                    <a:lnTo>
                      <a:pt x="505" y="38"/>
                    </a:lnTo>
                    <a:lnTo>
                      <a:pt x="465" y="40"/>
                    </a:lnTo>
                    <a:lnTo>
                      <a:pt x="426" y="47"/>
                    </a:lnTo>
                    <a:lnTo>
                      <a:pt x="386" y="57"/>
                    </a:lnTo>
                    <a:lnTo>
                      <a:pt x="351" y="71"/>
                    </a:lnTo>
                    <a:lnTo>
                      <a:pt x="289" y="68"/>
                    </a:lnTo>
                    <a:lnTo>
                      <a:pt x="227" y="64"/>
                    </a:lnTo>
                    <a:lnTo>
                      <a:pt x="279" y="43"/>
                    </a:lnTo>
                    <a:lnTo>
                      <a:pt x="329" y="28"/>
                    </a:lnTo>
                    <a:lnTo>
                      <a:pt x="384" y="16"/>
                    </a:lnTo>
                    <a:lnTo>
                      <a:pt x="414" y="11"/>
                    </a:lnTo>
                    <a:lnTo>
                      <a:pt x="445" y="7"/>
                    </a:lnTo>
                    <a:lnTo>
                      <a:pt x="510" y="2"/>
                    </a:lnTo>
                    <a:lnTo>
                      <a:pt x="574" y="0"/>
                    </a:lnTo>
                    <a:lnTo>
                      <a:pt x="600" y="0"/>
                    </a:lnTo>
                    <a:lnTo>
                      <a:pt x="624" y="2"/>
                    </a:lnTo>
                    <a:lnTo>
                      <a:pt x="644" y="4"/>
                    </a:lnTo>
                    <a:lnTo>
                      <a:pt x="663" y="6"/>
                    </a:lnTo>
                    <a:lnTo>
                      <a:pt x="679" y="9"/>
                    </a:lnTo>
                    <a:lnTo>
                      <a:pt x="693" y="12"/>
                    </a:lnTo>
                    <a:lnTo>
                      <a:pt x="703" y="18"/>
                    </a:lnTo>
                    <a:lnTo>
                      <a:pt x="712" y="23"/>
                    </a:lnTo>
                    <a:lnTo>
                      <a:pt x="717" y="28"/>
                    </a:lnTo>
                    <a:lnTo>
                      <a:pt x="720" y="31"/>
                    </a:lnTo>
                    <a:lnTo>
                      <a:pt x="722" y="37"/>
                    </a:lnTo>
                    <a:lnTo>
                      <a:pt x="722" y="42"/>
                    </a:lnTo>
                    <a:lnTo>
                      <a:pt x="719" y="47"/>
                    </a:lnTo>
                    <a:lnTo>
                      <a:pt x="713" y="52"/>
                    </a:lnTo>
                    <a:lnTo>
                      <a:pt x="708" y="57"/>
                    </a:lnTo>
                    <a:lnTo>
                      <a:pt x="700" y="62"/>
                    </a:lnTo>
                    <a:lnTo>
                      <a:pt x="684" y="71"/>
                    </a:lnTo>
                    <a:lnTo>
                      <a:pt x="667" y="78"/>
                    </a:lnTo>
                    <a:lnTo>
                      <a:pt x="646" y="85"/>
                    </a:lnTo>
                    <a:lnTo>
                      <a:pt x="624" y="92"/>
                    </a:lnTo>
                    <a:lnTo>
                      <a:pt x="596" y="97"/>
                    </a:lnTo>
                    <a:lnTo>
                      <a:pt x="569" y="104"/>
                    </a:lnTo>
                    <a:lnTo>
                      <a:pt x="536" y="109"/>
                    </a:lnTo>
                    <a:lnTo>
                      <a:pt x="501" y="114"/>
                    </a:lnTo>
                    <a:lnTo>
                      <a:pt x="529" y="116"/>
                    </a:lnTo>
                    <a:lnTo>
                      <a:pt x="550" y="121"/>
                    </a:lnTo>
                    <a:lnTo>
                      <a:pt x="565" y="126"/>
                    </a:lnTo>
                    <a:lnTo>
                      <a:pt x="576" y="133"/>
                    </a:lnTo>
                    <a:lnTo>
                      <a:pt x="579" y="142"/>
                    </a:lnTo>
                    <a:lnTo>
                      <a:pt x="576" y="152"/>
                    </a:lnTo>
                    <a:lnTo>
                      <a:pt x="567" y="161"/>
                    </a:lnTo>
                    <a:lnTo>
                      <a:pt x="551" y="171"/>
                    </a:lnTo>
                    <a:lnTo>
                      <a:pt x="538" y="180"/>
                    </a:lnTo>
                    <a:lnTo>
                      <a:pt x="520" y="186"/>
                    </a:lnTo>
                    <a:lnTo>
                      <a:pt x="503" y="193"/>
                    </a:lnTo>
                    <a:lnTo>
                      <a:pt x="482" y="202"/>
                    </a:lnTo>
                    <a:lnTo>
                      <a:pt x="462" y="207"/>
                    </a:lnTo>
                    <a:lnTo>
                      <a:pt x="438" y="214"/>
                    </a:lnTo>
                    <a:lnTo>
                      <a:pt x="414" y="221"/>
                    </a:lnTo>
                    <a:lnTo>
                      <a:pt x="386" y="226"/>
                    </a:lnTo>
                    <a:lnTo>
                      <a:pt x="329" y="236"/>
                    </a:lnTo>
                    <a:lnTo>
                      <a:pt x="274" y="243"/>
                    </a:lnTo>
                    <a:lnTo>
                      <a:pt x="217" y="247"/>
                    </a:lnTo>
                    <a:lnTo>
                      <a:pt x="162" y="248"/>
                    </a:lnTo>
                    <a:lnTo>
                      <a:pt x="136" y="248"/>
                    </a:lnTo>
                    <a:lnTo>
                      <a:pt x="114" y="247"/>
                    </a:lnTo>
                    <a:lnTo>
                      <a:pt x="91" y="245"/>
                    </a:lnTo>
                    <a:lnTo>
                      <a:pt x="72" y="243"/>
                    </a:lnTo>
                    <a:lnTo>
                      <a:pt x="57" y="242"/>
                    </a:lnTo>
                    <a:lnTo>
                      <a:pt x="41" y="238"/>
                    </a:lnTo>
                    <a:lnTo>
                      <a:pt x="29" y="235"/>
                    </a:lnTo>
                    <a:lnTo>
                      <a:pt x="19" y="230"/>
                    </a:lnTo>
                    <a:lnTo>
                      <a:pt x="10" y="224"/>
                    </a:lnTo>
                    <a:lnTo>
                      <a:pt x="5" y="219"/>
                    </a:lnTo>
                    <a:lnTo>
                      <a:pt x="2" y="214"/>
                    </a:lnTo>
                    <a:lnTo>
                      <a:pt x="0" y="207"/>
                    </a:lnTo>
                    <a:lnTo>
                      <a:pt x="2" y="200"/>
                    </a:lnTo>
                    <a:lnTo>
                      <a:pt x="5" y="195"/>
                    </a:lnTo>
                    <a:lnTo>
                      <a:pt x="12" y="186"/>
                    </a:lnTo>
                    <a:lnTo>
                      <a:pt x="21" y="18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17" name="Freeform 1061"/>
              <p:cNvSpPr>
                <a:spLocks noEditPoints="1"/>
              </p:cNvSpPr>
              <p:nvPr/>
            </p:nvSpPr>
            <p:spPr bwMode="auto">
              <a:xfrm>
                <a:off x="4015" y="3020"/>
                <a:ext cx="359" cy="124"/>
              </a:xfrm>
              <a:custGeom>
                <a:avLst/>
                <a:gdLst>
                  <a:gd name="T0" fmla="*/ 95 w 719"/>
                  <a:gd name="T1" fmla="*/ 186 h 248"/>
                  <a:gd name="T2" fmla="*/ 164 w 719"/>
                  <a:gd name="T3" fmla="*/ 190 h 248"/>
                  <a:gd name="T4" fmla="*/ 161 w 719"/>
                  <a:gd name="T5" fmla="*/ 200 h 248"/>
                  <a:gd name="T6" fmla="*/ 171 w 719"/>
                  <a:gd name="T7" fmla="*/ 207 h 248"/>
                  <a:gd name="T8" fmla="*/ 195 w 719"/>
                  <a:gd name="T9" fmla="*/ 211 h 248"/>
                  <a:gd name="T10" fmla="*/ 236 w 719"/>
                  <a:gd name="T11" fmla="*/ 209 h 248"/>
                  <a:gd name="T12" fmla="*/ 312 w 719"/>
                  <a:gd name="T13" fmla="*/ 197 h 248"/>
                  <a:gd name="T14" fmla="*/ 373 w 719"/>
                  <a:gd name="T15" fmla="*/ 176 h 248"/>
                  <a:gd name="T16" fmla="*/ 447 w 719"/>
                  <a:gd name="T17" fmla="*/ 142 h 248"/>
                  <a:gd name="T18" fmla="*/ 357 w 719"/>
                  <a:gd name="T19" fmla="*/ 157 h 248"/>
                  <a:gd name="T20" fmla="*/ 271 w 719"/>
                  <a:gd name="T21" fmla="*/ 162 h 248"/>
                  <a:gd name="T22" fmla="*/ 230 w 719"/>
                  <a:gd name="T23" fmla="*/ 161 h 248"/>
                  <a:gd name="T24" fmla="*/ 195 w 719"/>
                  <a:gd name="T25" fmla="*/ 157 h 248"/>
                  <a:gd name="T26" fmla="*/ 169 w 719"/>
                  <a:gd name="T27" fmla="*/ 150 h 248"/>
                  <a:gd name="T28" fmla="*/ 150 w 719"/>
                  <a:gd name="T29" fmla="*/ 140 h 248"/>
                  <a:gd name="T30" fmla="*/ 142 w 719"/>
                  <a:gd name="T31" fmla="*/ 128 h 248"/>
                  <a:gd name="T32" fmla="*/ 143 w 719"/>
                  <a:gd name="T33" fmla="*/ 114 h 248"/>
                  <a:gd name="T34" fmla="*/ 157 w 719"/>
                  <a:gd name="T35" fmla="*/ 99 h 248"/>
                  <a:gd name="T36" fmla="*/ 181 w 719"/>
                  <a:gd name="T37" fmla="*/ 83 h 248"/>
                  <a:gd name="T38" fmla="*/ 255 w 719"/>
                  <a:gd name="T39" fmla="*/ 49 h 248"/>
                  <a:gd name="T40" fmla="*/ 352 w 719"/>
                  <a:gd name="T41" fmla="*/ 23 h 248"/>
                  <a:gd name="T42" fmla="*/ 459 w 719"/>
                  <a:gd name="T43" fmla="*/ 6 h 248"/>
                  <a:gd name="T44" fmla="*/ 567 w 719"/>
                  <a:gd name="T45" fmla="*/ 0 h 248"/>
                  <a:gd name="T46" fmla="*/ 621 w 719"/>
                  <a:gd name="T47" fmla="*/ 2 h 248"/>
                  <a:gd name="T48" fmla="*/ 664 w 719"/>
                  <a:gd name="T49" fmla="*/ 7 h 248"/>
                  <a:gd name="T50" fmla="*/ 695 w 719"/>
                  <a:gd name="T51" fmla="*/ 16 h 248"/>
                  <a:gd name="T52" fmla="*/ 714 w 719"/>
                  <a:gd name="T53" fmla="*/ 30 h 248"/>
                  <a:gd name="T54" fmla="*/ 719 w 719"/>
                  <a:gd name="T55" fmla="*/ 47 h 248"/>
                  <a:gd name="T56" fmla="*/ 707 w 719"/>
                  <a:gd name="T57" fmla="*/ 68 h 248"/>
                  <a:gd name="T58" fmla="*/ 678 w 719"/>
                  <a:gd name="T59" fmla="*/ 93 h 248"/>
                  <a:gd name="T60" fmla="*/ 631 w 719"/>
                  <a:gd name="T61" fmla="*/ 123 h 248"/>
                  <a:gd name="T62" fmla="*/ 516 w 719"/>
                  <a:gd name="T63" fmla="*/ 180 h 248"/>
                  <a:gd name="T64" fmla="*/ 392 w 719"/>
                  <a:gd name="T65" fmla="*/ 219 h 248"/>
                  <a:gd name="T66" fmla="*/ 264 w 719"/>
                  <a:gd name="T67" fmla="*/ 242 h 248"/>
                  <a:gd name="T68" fmla="*/ 136 w 719"/>
                  <a:gd name="T69" fmla="*/ 248 h 248"/>
                  <a:gd name="T70" fmla="*/ 93 w 719"/>
                  <a:gd name="T71" fmla="*/ 247 h 248"/>
                  <a:gd name="T72" fmla="*/ 61 w 719"/>
                  <a:gd name="T73" fmla="*/ 245 h 248"/>
                  <a:gd name="T74" fmla="*/ 33 w 719"/>
                  <a:gd name="T75" fmla="*/ 240 h 248"/>
                  <a:gd name="T76" fmla="*/ 14 w 719"/>
                  <a:gd name="T77" fmla="*/ 233 h 248"/>
                  <a:gd name="T78" fmla="*/ 2 w 719"/>
                  <a:gd name="T79" fmla="*/ 224 h 248"/>
                  <a:gd name="T80" fmla="*/ 0 w 719"/>
                  <a:gd name="T81" fmla="*/ 214 h 248"/>
                  <a:gd name="T82" fmla="*/ 6 w 719"/>
                  <a:gd name="T83" fmla="*/ 202 h 248"/>
                  <a:gd name="T84" fmla="*/ 18 w 719"/>
                  <a:gd name="T85" fmla="*/ 188 h 248"/>
                  <a:gd name="T86" fmla="*/ 526 w 719"/>
                  <a:gd name="T87" fmla="*/ 86 h 248"/>
                  <a:gd name="T88" fmla="*/ 541 w 719"/>
                  <a:gd name="T89" fmla="*/ 76 h 248"/>
                  <a:gd name="T90" fmla="*/ 554 w 719"/>
                  <a:gd name="T91" fmla="*/ 59 h 248"/>
                  <a:gd name="T92" fmla="*/ 543 w 719"/>
                  <a:gd name="T93" fmla="*/ 47 h 248"/>
                  <a:gd name="T94" fmla="*/ 516 w 719"/>
                  <a:gd name="T95" fmla="*/ 40 h 248"/>
                  <a:gd name="T96" fmla="*/ 454 w 719"/>
                  <a:gd name="T97" fmla="*/ 42 h 248"/>
                  <a:gd name="T98" fmla="*/ 388 w 719"/>
                  <a:gd name="T99" fmla="*/ 55 h 248"/>
                  <a:gd name="T100" fmla="*/ 326 w 719"/>
                  <a:gd name="T101" fmla="*/ 83 h 248"/>
                  <a:gd name="T102" fmla="*/ 300 w 719"/>
                  <a:gd name="T103" fmla="*/ 104 h 248"/>
                  <a:gd name="T104" fmla="*/ 298 w 719"/>
                  <a:gd name="T105" fmla="*/ 118 h 248"/>
                  <a:gd name="T106" fmla="*/ 317 w 719"/>
                  <a:gd name="T107" fmla="*/ 126 h 248"/>
                  <a:gd name="T108" fmla="*/ 354 w 719"/>
                  <a:gd name="T109" fmla="*/ 128 h 248"/>
                  <a:gd name="T110" fmla="*/ 445 w 719"/>
                  <a:gd name="T111" fmla="*/ 118 h 248"/>
                  <a:gd name="T112" fmla="*/ 509 w 719"/>
                  <a:gd name="T113" fmla="*/ 97 h 248"/>
                  <a:gd name="T114" fmla="*/ 526 w 719"/>
                  <a:gd name="T115" fmla="*/ 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19" h="248">
                    <a:moveTo>
                      <a:pt x="18" y="188"/>
                    </a:moveTo>
                    <a:lnTo>
                      <a:pt x="95" y="186"/>
                    </a:lnTo>
                    <a:lnTo>
                      <a:pt x="171" y="183"/>
                    </a:lnTo>
                    <a:lnTo>
                      <a:pt x="164" y="190"/>
                    </a:lnTo>
                    <a:lnTo>
                      <a:pt x="161" y="195"/>
                    </a:lnTo>
                    <a:lnTo>
                      <a:pt x="161" y="200"/>
                    </a:lnTo>
                    <a:lnTo>
                      <a:pt x="164" y="204"/>
                    </a:lnTo>
                    <a:lnTo>
                      <a:pt x="171" y="207"/>
                    </a:lnTo>
                    <a:lnTo>
                      <a:pt x="181" y="209"/>
                    </a:lnTo>
                    <a:lnTo>
                      <a:pt x="195" y="211"/>
                    </a:lnTo>
                    <a:lnTo>
                      <a:pt x="212" y="211"/>
                    </a:lnTo>
                    <a:lnTo>
                      <a:pt x="236" y="209"/>
                    </a:lnTo>
                    <a:lnTo>
                      <a:pt x="261" y="207"/>
                    </a:lnTo>
                    <a:lnTo>
                      <a:pt x="312" y="197"/>
                    </a:lnTo>
                    <a:lnTo>
                      <a:pt x="342" y="188"/>
                    </a:lnTo>
                    <a:lnTo>
                      <a:pt x="373" y="176"/>
                    </a:lnTo>
                    <a:lnTo>
                      <a:pt x="409" y="161"/>
                    </a:lnTo>
                    <a:lnTo>
                      <a:pt x="447" y="142"/>
                    </a:lnTo>
                    <a:lnTo>
                      <a:pt x="402" y="150"/>
                    </a:lnTo>
                    <a:lnTo>
                      <a:pt x="357" y="157"/>
                    </a:lnTo>
                    <a:lnTo>
                      <a:pt x="314" y="161"/>
                    </a:lnTo>
                    <a:lnTo>
                      <a:pt x="271" y="162"/>
                    </a:lnTo>
                    <a:lnTo>
                      <a:pt x="249" y="162"/>
                    </a:lnTo>
                    <a:lnTo>
                      <a:pt x="230" y="161"/>
                    </a:lnTo>
                    <a:lnTo>
                      <a:pt x="211" y="159"/>
                    </a:lnTo>
                    <a:lnTo>
                      <a:pt x="195" y="157"/>
                    </a:lnTo>
                    <a:lnTo>
                      <a:pt x="181" y="154"/>
                    </a:lnTo>
                    <a:lnTo>
                      <a:pt x="169" y="150"/>
                    </a:lnTo>
                    <a:lnTo>
                      <a:pt x="159" y="145"/>
                    </a:lnTo>
                    <a:lnTo>
                      <a:pt x="150" y="140"/>
                    </a:lnTo>
                    <a:lnTo>
                      <a:pt x="145" y="135"/>
                    </a:lnTo>
                    <a:lnTo>
                      <a:pt x="142" y="128"/>
                    </a:lnTo>
                    <a:lnTo>
                      <a:pt x="142" y="121"/>
                    </a:lnTo>
                    <a:lnTo>
                      <a:pt x="143" y="114"/>
                    </a:lnTo>
                    <a:lnTo>
                      <a:pt x="149" y="107"/>
                    </a:lnTo>
                    <a:lnTo>
                      <a:pt x="157" y="99"/>
                    </a:lnTo>
                    <a:lnTo>
                      <a:pt x="168" y="92"/>
                    </a:lnTo>
                    <a:lnTo>
                      <a:pt x="181" y="83"/>
                    </a:lnTo>
                    <a:lnTo>
                      <a:pt x="216" y="66"/>
                    </a:lnTo>
                    <a:lnTo>
                      <a:pt x="255" y="49"/>
                    </a:lnTo>
                    <a:lnTo>
                      <a:pt x="300" y="35"/>
                    </a:lnTo>
                    <a:lnTo>
                      <a:pt x="352" y="23"/>
                    </a:lnTo>
                    <a:lnTo>
                      <a:pt x="405" y="12"/>
                    </a:lnTo>
                    <a:lnTo>
                      <a:pt x="459" y="6"/>
                    </a:lnTo>
                    <a:lnTo>
                      <a:pt x="514" y="2"/>
                    </a:lnTo>
                    <a:lnTo>
                      <a:pt x="567" y="0"/>
                    </a:lnTo>
                    <a:lnTo>
                      <a:pt x="595" y="0"/>
                    </a:lnTo>
                    <a:lnTo>
                      <a:pt x="621" y="2"/>
                    </a:lnTo>
                    <a:lnTo>
                      <a:pt x="645" y="4"/>
                    </a:lnTo>
                    <a:lnTo>
                      <a:pt x="664" y="7"/>
                    </a:lnTo>
                    <a:lnTo>
                      <a:pt x="681" y="11"/>
                    </a:lnTo>
                    <a:lnTo>
                      <a:pt x="695" y="16"/>
                    </a:lnTo>
                    <a:lnTo>
                      <a:pt x="705" y="23"/>
                    </a:lnTo>
                    <a:lnTo>
                      <a:pt x="714" y="30"/>
                    </a:lnTo>
                    <a:lnTo>
                      <a:pt x="719" y="37"/>
                    </a:lnTo>
                    <a:lnTo>
                      <a:pt x="719" y="47"/>
                    </a:lnTo>
                    <a:lnTo>
                      <a:pt x="715" y="55"/>
                    </a:lnTo>
                    <a:lnTo>
                      <a:pt x="707" y="68"/>
                    </a:lnTo>
                    <a:lnTo>
                      <a:pt x="695" y="80"/>
                    </a:lnTo>
                    <a:lnTo>
                      <a:pt x="678" y="93"/>
                    </a:lnTo>
                    <a:lnTo>
                      <a:pt x="657" y="107"/>
                    </a:lnTo>
                    <a:lnTo>
                      <a:pt x="631" y="123"/>
                    </a:lnTo>
                    <a:lnTo>
                      <a:pt x="574" y="154"/>
                    </a:lnTo>
                    <a:lnTo>
                      <a:pt x="516" y="180"/>
                    </a:lnTo>
                    <a:lnTo>
                      <a:pt x="454" y="202"/>
                    </a:lnTo>
                    <a:lnTo>
                      <a:pt x="392" y="219"/>
                    </a:lnTo>
                    <a:lnTo>
                      <a:pt x="328" y="231"/>
                    </a:lnTo>
                    <a:lnTo>
                      <a:pt x="264" y="242"/>
                    </a:lnTo>
                    <a:lnTo>
                      <a:pt x="200" y="247"/>
                    </a:lnTo>
                    <a:lnTo>
                      <a:pt x="136" y="248"/>
                    </a:lnTo>
                    <a:lnTo>
                      <a:pt x="114" y="248"/>
                    </a:lnTo>
                    <a:lnTo>
                      <a:pt x="93" y="247"/>
                    </a:lnTo>
                    <a:lnTo>
                      <a:pt x="76" y="247"/>
                    </a:lnTo>
                    <a:lnTo>
                      <a:pt x="61" y="245"/>
                    </a:lnTo>
                    <a:lnTo>
                      <a:pt x="45" y="243"/>
                    </a:lnTo>
                    <a:lnTo>
                      <a:pt x="33" y="240"/>
                    </a:lnTo>
                    <a:lnTo>
                      <a:pt x="23" y="236"/>
                    </a:lnTo>
                    <a:lnTo>
                      <a:pt x="14" y="233"/>
                    </a:lnTo>
                    <a:lnTo>
                      <a:pt x="7" y="230"/>
                    </a:lnTo>
                    <a:lnTo>
                      <a:pt x="2" y="224"/>
                    </a:lnTo>
                    <a:lnTo>
                      <a:pt x="0" y="219"/>
                    </a:lnTo>
                    <a:lnTo>
                      <a:pt x="0" y="214"/>
                    </a:lnTo>
                    <a:lnTo>
                      <a:pt x="2" y="209"/>
                    </a:lnTo>
                    <a:lnTo>
                      <a:pt x="6" y="202"/>
                    </a:lnTo>
                    <a:lnTo>
                      <a:pt x="11" y="195"/>
                    </a:lnTo>
                    <a:lnTo>
                      <a:pt x="18" y="188"/>
                    </a:lnTo>
                    <a:lnTo>
                      <a:pt x="18" y="188"/>
                    </a:lnTo>
                    <a:close/>
                    <a:moveTo>
                      <a:pt x="526" y="86"/>
                    </a:moveTo>
                    <a:lnTo>
                      <a:pt x="535" y="81"/>
                    </a:lnTo>
                    <a:lnTo>
                      <a:pt x="541" y="76"/>
                    </a:lnTo>
                    <a:lnTo>
                      <a:pt x="552" y="68"/>
                    </a:lnTo>
                    <a:lnTo>
                      <a:pt x="554" y="59"/>
                    </a:lnTo>
                    <a:lnTo>
                      <a:pt x="552" y="52"/>
                    </a:lnTo>
                    <a:lnTo>
                      <a:pt x="543" y="47"/>
                    </a:lnTo>
                    <a:lnTo>
                      <a:pt x="531" y="42"/>
                    </a:lnTo>
                    <a:lnTo>
                      <a:pt x="516" y="40"/>
                    </a:lnTo>
                    <a:lnTo>
                      <a:pt x="497" y="38"/>
                    </a:lnTo>
                    <a:lnTo>
                      <a:pt x="454" y="42"/>
                    </a:lnTo>
                    <a:lnTo>
                      <a:pt x="410" y="49"/>
                    </a:lnTo>
                    <a:lnTo>
                      <a:pt x="388" y="55"/>
                    </a:lnTo>
                    <a:lnTo>
                      <a:pt x="367" y="62"/>
                    </a:lnTo>
                    <a:lnTo>
                      <a:pt x="326" y="83"/>
                    </a:lnTo>
                    <a:lnTo>
                      <a:pt x="311" y="93"/>
                    </a:lnTo>
                    <a:lnTo>
                      <a:pt x="300" y="104"/>
                    </a:lnTo>
                    <a:lnTo>
                      <a:pt x="297" y="111"/>
                    </a:lnTo>
                    <a:lnTo>
                      <a:pt x="298" y="118"/>
                    </a:lnTo>
                    <a:lnTo>
                      <a:pt x="305" y="123"/>
                    </a:lnTo>
                    <a:lnTo>
                      <a:pt x="317" y="126"/>
                    </a:lnTo>
                    <a:lnTo>
                      <a:pt x="333" y="128"/>
                    </a:lnTo>
                    <a:lnTo>
                      <a:pt x="354" y="128"/>
                    </a:lnTo>
                    <a:lnTo>
                      <a:pt x="398" y="126"/>
                    </a:lnTo>
                    <a:lnTo>
                      <a:pt x="445" y="118"/>
                    </a:lnTo>
                    <a:lnTo>
                      <a:pt x="488" y="105"/>
                    </a:lnTo>
                    <a:lnTo>
                      <a:pt x="509" y="97"/>
                    </a:lnTo>
                    <a:lnTo>
                      <a:pt x="526" y="86"/>
                    </a:lnTo>
                    <a:lnTo>
                      <a:pt x="526" y="8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18" name="Freeform 1062"/>
              <p:cNvSpPr>
                <a:spLocks/>
              </p:cNvSpPr>
              <p:nvPr/>
            </p:nvSpPr>
            <p:spPr bwMode="auto">
              <a:xfrm>
                <a:off x="3341" y="3006"/>
                <a:ext cx="424" cy="122"/>
              </a:xfrm>
              <a:custGeom>
                <a:avLst/>
                <a:gdLst>
                  <a:gd name="T0" fmla="*/ 558 w 848"/>
                  <a:gd name="T1" fmla="*/ 222 h 243"/>
                  <a:gd name="T2" fmla="*/ 0 w 848"/>
                  <a:gd name="T3" fmla="*/ 243 h 243"/>
                  <a:gd name="T4" fmla="*/ 58 w 848"/>
                  <a:gd name="T5" fmla="*/ 220 h 243"/>
                  <a:gd name="T6" fmla="*/ 129 w 848"/>
                  <a:gd name="T7" fmla="*/ 196 h 243"/>
                  <a:gd name="T8" fmla="*/ 176 w 848"/>
                  <a:gd name="T9" fmla="*/ 184 h 243"/>
                  <a:gd name="T10" fmla="*/ 236 w 848"/>
                  <a:gd name="T11" fmla="*/ 172 h 243"/>
                  <a:gd name="T12" fmla="*/ 308 w 848"/>
                  <a:gd name="T13" fmla="*/ 157 h 243"/>
                  <a:gd name="T14" fmla="*/ 394 w 848"/>
                  <a:gd name="T15" fmla="*/ 139 h 243"/>
                  <a:gd name="T16" fmla="*/ 463 w 848"/>
                  <a:gd name="T17" fmla="*/ 126 h 243"/>
                  <a:gd name="T18" fmla="*/ 517 w 848"/>
                  <a:gd name="T19" fmla="*/ 115 h 243"/>
                  <a:gd name="T20" fmla="*/ 558 w 848"/>
                  <a:gd name="T21" fmla="*/ 107 h 243"/>
                  <a:gd name="T22" fmla="*/ 584 w 848"/>
                  <a:gd name="T23" fmla="*/ 100 h 243"/>
                  <a:gd name="T24" fmla="*/ 632 w 848"/>
                  <a:gd name="T25" fmla="*/ 86 h 243"/>
                  <a:gd name="T26" fmla="*/ 663 w 848"/>
                  <a:gd name="T27" fmla="*/ 70 h 243"/>
                  <a:gd name="T28" fmla="*/ 680 w 848"/>
                  <a:gd name="T29" fmla="*/ 57 h 243"/>
                  <a:gd name="T30" fmla="*/ 677 w 848"/>
                  <a:gd name="T31" fmla="*/ 46 h 243"/>
                  <a:gd name="T32" fmla="*/ 655 w 848"/>
                  <a:gd name="T33" fmla="*/ 39 h 243"/>
                  <a:gd name="T34" fmla="*/ 617 w 848"/>
                  <a:gd name="T35" fmla="*/ 38 h 243"/>
                  <a:gd name="T36" fmla="*/ 527 w 848"/>
                  <a:gd name="T37" fmla="*/ 46 h 243"/>
                  <a:gd name="T38" fmla="*/ 467 w 848"/>
                  <a:gd name="T39" fmla="*/ 67 h 243"/>
                  <a:gd name="T40" fmla="*/ 377 w 848"/>
                  <a:gd name="T41" fmla="*/ 74 h 243"/>
                  <a:gd name="T42" fmla="*/ 346 w 848"/>
                  <a:gd name="T43" fmla="*/ 55 h 243"/>
                  <a:gd name="T44" fmla="*/ 434 w 848"/>
                  <a:gd name="T45" fmla="*/ 26 h 243"/>
                  <a:gd name="T46" fmla="*/ 532 w 848"/>
                  <a:gd name="T47" fmla="*/ 10 h 243"/>
                  <a:gd name="T48" fmla="*/ 634 w 848"/>
                  <a:gd name="T49" fmla="*/ 1 h 243"/>
                  <a:gd name="T50" fmla="*/ 713 w 848"/>
                  <a:gd name="T51" fmla="*/ 0 h 243"/>
                  <a:gd name="T52" fmla="*/ 760 w 848"/>
                  <a:gd name="T53" fmla="*/ 3 h 243"/>
                  <a:gd name="T54" fmla="*/ 798 w 848"/>
                  <a:gd name="T55" fmla="*/ 7 h 243"/>
                  <a:gd name="T56" fmla="*/ 823 w 848"/>
                  <a:gd name="T57" fmla="*/ 15 h 243"/>
                  <a:gd name="T58" fmla="*/ 841 w 848"/>
                  <a:gd name="T59" fmla="*/ 24 h 243"/>
                  <a:gd name="T60" fmla="*/ 848 w 848"/>
                  <a:gd name="T61" fmla="*/ 36 h 243"/>
                  <a:gd name="T62" fmla="*/ 844 w 848"/>
                  <a:gd name="T63" fmla="*/ 46 h 243"/>
                  <a:gd name="T64" fmla="*/ 829 w 848"/>
                  <a:gd name="T65" fmla="*/ 60 h 243"/>
                  <a:gd name="T66" fmla="*/ 803 w 848"/>
                  <a:gd name="T67" fmla="*/ 76 h 243"/>
                  <a:gd name="T68" fmla="*/ 748 w 848"/>
                  <a:gd name="T69" fmla="*/ 98 h 243"/>
                  <a:gd name="T70" fmla="*/ 698 w 848"/>
                  <a:gd name="T71" fmla="*/ 113 h 243"/>
                  <a:gd name="T72" fmla="*/ 636 w 848"/>
                  <a:gd name="T73" fmla="*/ 129 h 243"/>
                  <a:gd name="T74" fmla="*/ 608 w 848"/>
                  <a:gd name="T75" fmla="*/ 134 h 243"/>
                  <a:gd name="T76" fmla="*/ 575 w 848"/>
                  <a:gd name="T77" fmla="*/ 143 h 243"/>
                  <a:gd name="T78" fmla="*/ 534 w 848"/>
                  <a:gd name="T79" fmla="*/ 150 h 243"/>
                  <a:gd name="T80" fmla="*/ 486 w 848"/>
                  <a:gd name="T81" fmla="*/ 160 h 243"/>
                  <a:gd name="T82" fmla="*/ 439 w 848"/>
                  <a:gd name="T83" fmla="*/ 169 h 243"/>
                  <a:gd name="T84" fmla="*/ 401 w 848"/>
                  <a:gd name="T85" fmla="*/ 177 h 243"/>
                  <a:gd name="T86" fmla="*/ 372 w 848"/>
                  <a:gd name="T87" fmla="*/ 182 h 243"/>
                  <a:gd name="T88" fmla="*/ 351 w 848"/>
                  <a:gd name="T89" fmla="*/ 188 h 243"/>
                  <a:gd name="T90" fmla="*/ 300 w 848"/>
                  <a:gd name="T91" fmla="*/ 200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48" h="243">
                    <a:moveTo>
                      <a:pt x="594" y="200"/>
                    </a:moveTo>
                    <a:lnTo>
                      <a:pt x="558" y="222"/>
                    </a:lnTo>
                    <a:lnTo>
                      <a:pt x="522" y="243"/>
                    </a:lnTo>
                    <a:lnTo>
                      <a:pt x="0" y="243"/>
                    </a:lnTo>
                    <a:lnTo>
                      <a:pt x="27" y="231"/>
                    </a:lnTo>
                    <a:lnTo>
                      <a:pt x="58" y="220"/>
                    </a:lnTo>
                    <a:lnTo>
                      <a:pt x="91" y="208"/>
                    </a:lnTo>
                    <a:lnTo>
                      <a:pt x="129" y="196"/>
                    </a:lnTo>
                    <a:lnTo>
                      <a:pt x="151" y="191"/>
                    </a:lnTo>
                    <a:lnTo>
                      <a:pt x="176" y="184"/>
                    </a:lnTo>
                    <a:lnTo>
                      <a:pt x="203" y="179"/>
                    </a:lnTo>
                    <a:lnTo>
                      <a:pt x="236" y="172"/>
                    </a:lnTo>
                    <a:lnTo>
                      <a:pt x="270" y="165"/>
                    </a:lnTo>
                    <a:lnTo>
                      <a:pt x="308" y="157"/>
                    </a:lnTo>
                    <a:lnTo>
                      <a:pt x="350" y="148"/>
                    </a:lnTo>
                    <a:lnTo>
                      <a:pt x="394" y="139"/>
                    </a:lnTo>
                    <a:lnTo>
                      <a:pt x="431" y="132"/>
                    </a:lnTo>
                    <a:lnTo>
                      <a:pt x="463" y="126"/>
                    </a:lnTo>
                    <a:lnTo>
                      <a:pt x="491" y="120"/>
                    </a:lnTo>
                    <a:lnTo>
                      <a:pt x="517" y="115"/>
                    </a:lnTo>
                    <a:lnTo>
                      <a:pt x="539" y="110"/>
                    </a:lnTo>
                    <a:lnTo>
                      <a:pt x="558" y="107"/>
                    </a:lnTo>
                    <a:lnTo>
                      <a:pt x="572" y="103"/>
                    </a:lnTo>
                    <a:lnTo>
                      <a:pt x="584" y="100"/>
                    </a:lnTo>
                    <a:lnTo>
                      <a:pt x="610" y="93"/>
                    </a:lnTo>
                    <a:lnTo>
                      <a:pt x="632" y="86"/>
                    </a:lnTo>
                    <a:lnTo>
                      <a:pt x="649" y="77"/>
                    </a:lnTo>
                    <a:lnTo>
                      <a:pt x="663" y="70"/>
                    </a:lnTo>
                    <a:lnTo>
                      <a:pt x="674" y="64"/>
                    </a:lnTo>
                    <a:lnTo>
                      <a:pt x="680" y="57"/>
                    </a:lnTo>
                    <a:lnTo>
                      <a:pt x="680" y="51"/>
                    </a:lnTo>
                    <a:lnTo>
                      <a:pt x="677" y="46"/>
                    </a:lnTo>
                    <a:lnTo>
                      <a:pt x="668" y="43"/>
                    </a:lnTo>
                    <a:lnTo>
                      <a:pt x="655" y="39"/>
                    </a:lnTo>
                    <a:lnTo>
                      <a:pt x="637" y="38"/>
                    </a:lnTo>
                    <a:lnTo>
                      <a:pt x="617" y="38"/>
                    </a:lnTo>
                    <a:lnTo>
                      <a:pt x="572" y="39"/>
                    </a:lnTo>
                    <a:lnTo>
                      <a:pt x="527" y="46"/>
                    </a:lnTo>
                    <a:lnTo>
                      <a:pt x="486" y="58"/>
                    </a:lnTo>
                    <a:lnTo>
                      <a:pt x="467" y="67"/>
                    </a:lnTo>
                    <a:lnTo>
                      <a:pt x="448" y="76"/>
                    </a:lnTo>
                    <a:lnTo>
                      <a:pt x="377" y="74"/>
                    </a:lnTo>
                    <a:lnTo>
                      <a:pt x="307" y="72"/>
                    </a:lnTo>
                    <a:lnTo>
                      <a:pt x="346" y="55"/>
                    </a:lnTo>
                    <a:lnTo>
                      <a:pt x="389" y="39"/>
                    </a:lnTo>
                    <a:lnTo>
                      <a:pt x="434" y="26"/>
                    </a:lnTo>
                    <a:lnTo>
                      <a:pt x="482" y="17"/>
                    </a:lnTo>
                    <a:lnTo>
                      <a:pt x="532" y="10"/>
                    </a:lnTo>
                    <a:lnTo>
                      <a:pt x="582" y="3"/>
                    </a:lnTo>
                    <a:lnTo>
                      <a:pt x="634" y="1"/>
                    </a:lnTo>
                    <a:lnTo>
                      <a:pt x="686" y="0"/>
                    </a:lnTo>
                    <a:lnTo>
                      <a:pt x="713" y="0"/>
                    </a:lnTo>
                    <a:lnTo>
                      <a:pt x="737" y="1"/>
                    </a:lnTo>
                    <a:lnTo>
                      <a:pt x="760" y="3"/>
                    </a:lnTo>
                    <a:lnTo>
                      <a:pt x="780" y="5"/>
                    </a:lnTo>
                    <a:lnTo>
                      <a:pt x="798" y="7"/>
                    </a:lnTo>
                    <a:lnTo>
                      <a:pt x="811" y="10"/>
                    </a:lnTo>
                    <a:lnTo>
                      <a:pt x="823" y="15"/>
                    </a:lnTo>
                    <a:lnTo>
                      <a:pt x="834" y="19"/>
                    </a:lnTo>
                    <a:lnTo>
                      <a:pt x="841" y="24"/>
                    </a:lnTo>
                    <a:lnTo>
                      <a:pt x="846" y="29"/>
                    </a:lnTo>
                    <a:lnTo>
                      <a:pt x="848" y="36"/>
                    </a:lnTo>
                    <a:lnTo>
                      <a:pt x="848" y="41"/>
                    </a:lnTo>
                    <a:lnTo>
                      <a:pt x="844" y="46"/>
                    </a:lnTo>
                    <a:lnTo>
                      <a:pt x="837" y="53"/>
                    </a:lnTo>
                    <a:lnTo>
                      <a:pt x="829" y="60"/>
                    </a:lnTo>
                    <a:lnTo>
                      <a:pt x="818" y="67"/>
                    </a:lnTo>
                    <a:lnTo>
                      <a:pt x="803" y="76"/>
                    </a:lnTo>
                    <a:lnTo>
                      <a:pt x="786" y="84"/>
                    </a:lnTo>
                    <a:lnTo>
                      <a:pt x="748" y="98"/>
                    </a:lnTo>
                    <a:lnTo>
                      <a:pt x="724" y="107"/>
                    </a:lnTo>
                    <a:lnTo>
                      <a:pt x="698" y="113"/>
                    </a:lnTo>
                    <a:lnTo>
                      <a:pt x="668" y="122"/>
                    </a:lnTo>
                    <a:lnTo>
                      <a:pt x="636" y="129"/>
                    </a:lnTo>
                    <a:lnTo>
                      <a:pt x="624" y="132"/>
                    </a:lnTo>
                    <a:lnTo>
                      <a:pt x="608" y="134"/>
                    </a:lnTo>
                    <a:lnTo>
                      <a:pt x="593" y="138"/>
                    </a:lnTo>
                    <a:lnTo>
                      <a:pt x="575" y="143"/>
                    </a:lnTo>
                    <a:lnTo>
                      <a:pt x="555" y="146"/>
                    </a:lnTo>
                    <a:lnTo>
                      <a:pt x="534" y="150"/>
                    </a:lnTo>
                    <a:lnTo>
                      <a:pt x="512" y="155"/>
                    </a:lnTo>
                    <a:lnTo>
                      <a:pt x="486" y="160"/>
                    </a:lnTo>
                    <a:lnTo>
                      <a:pt x="462" y="165"/>
                    </a:lnTo>
                    <a:lnTo>
                      <a:pt x="439" y="169"/>
                    </a:lnTo>
                    <a:lnTo>
                      <a:pt x="419" y="174"/>
                    </a:lnTo>
                    <a:lnTo>
                      <a:pt x="401" y="177"/>
                    </a:lnTo>
                    <a:lnTo>
                      <a:pt x="384" y="181"/>
                    </a:lnTo>
                    <a:lnTo>
                      <a:pt x="372" y="182"/>
                    </a:lnTo>
                    <a:lnTo>
                      <a:pt x="360" y="186"/>
                    </a:lnTo>
                    <a:lnTo>
                      <a:pt x="351" y="188"/>
                    </a:lnTo>
                    <a:lnTo>
                      <a:pt x="324" y="194"/>
                    </a:lnTo>
                    <a:lnTo>
                      <a:pt x="300" y="200"/>
                    </a:lnTo>
                    <a:lnTo>
                      <a:pt x="594" y="20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19" name="Freeform 1063"/>
              <p:cNvSpPr>
                <a:spLocks/>
              </p:cNvSpPr>
              <p:nvPr/>
            </p:nvSpPr>
            <p:spPr bwMode="auto">
              <a:xfrm>
                <a:off x="3693" y="3006"/>
                <a:ext cx="361" cy="124"/>
              </a:xfrm>
              <a:custGeom>
                <a:avLst/>
                <a:gdLst>
                  <a:gd name="T0" fmla="*/ 98 w 722"/>
                  <a:gd name="T1" fmla="*/ 177 h 248"/>
                  <a:gd name="T2" fmla="*/ 165 w 722"/>
                  <a:gd name="T3" fmla="*/ 181 h 248"/>
                  <a:gd name="T4" fmla="*/ 162 w 722"/>
                  <a:gd name="T5" fmla="*/ 194 h 248"/>
                  <a:gd name="T6" fmla="*/ 175 w 722"/>
                  <a:gd name="T7" fmla="*/ 205 h 248"/>
                  <a:gd name="T8" fmla="*/ 205 w 722"/>
                  <a:gd name="T9" fmla="*/ 208 h 248"/>
                  <a:gd name="T10" fmla="*/ 272 w 722"/>
                  <a:gd name="T11" fmla="*/ 207 h 248"/>
                  <a:gd name="T12" fmla="*/ 346 w 722"/>
                  <a:gd name="T13" fmla="*/ 193 h 248"/>
                  <a:gd name="T14" fmla="*/ 384 w 722"/>
                  <a:gd name="T15" fmla="*/ 177 h 248"/>
                  <a:gd name="T16" fmla="*/ 413 w 722"/>
                  <a:gd name="T17" fmla="*/ 160 h 248"/>
                  <a:gd name="T18" fmla="*/ 422 w 722"/>
                  <a:gd name="T19" fmla="*/ 146 h 248"/>
                  <a:gd name="T20" fmla="*/ 410 w 722"/>
                  <a:gd name="T21" fmla="*/ 136 h 248"/>
                  <a:gd name="T22" fmla="*/ 382 w 722"/>
                  <a:gd name="T23" fmla="*/ 131 h 248"/>
                  <a:gd name="T24" fmla="*/ 346 w 722"/>
                  <a:gd name="T25" fmla="*/ 131 h 248"/>
                  <a:gd name="T26" fmla="*/ 310 w 722"/>
                  <a:gd name="T27" fmla="*/ 132 h 248"/>
                  <a:gd name="T28" fmla="*/ 329 w 722"/>
                  <a:gd name="T29" fmla="*/ 115 h 248"/>
                  <a:gd name="T30" fmla="*/ 398 w 722"/>
                  <a:gd name="T31" fmla="*/ 96 h 248"/>
                  <a:gd name="T32" fmla="*/ 473 w 722"/>
                  <a:gd name="T33" fmla="*/ 88 h 248"/>
                  <a:gd name="T34" fmla="*/ 515 w 722"/>
                  <a:gd name="T35" fmla="*/ 77 h 248"/>
                  <a:gd name="T36" fmla="*/ 544 w 722"/>
                  <a:gd name="T37" fmla="*/ 65 h 248"/>
                  <a:gd name="T38" fmla="*/ 558 w 722"/>
                  <a:gd name="T39" fmla="*/ 53 h 248"/>
                  <a:gd name="T40" fmla="*/ 554 w 722"/>
                  <a:gd name="T41" fmla="*/ 45 h 248"/>
                  <a:gd name="T42" fmla="*/ 537 w 722"/>
                  <a:gd name="T43" fmla="*/ 39 h 248"/>
                  <a:gd name="T44" fmla="*/ 504 w 722"/>
                  <a:gd name="T45" fmla="*/ 38 h 248"/>
                  <a:gd name="T46" fmla="*/ 425 w 722"/>
                  <a:gd name="T47" fmla="*/ 46 h 248"/>
                  <a:gd name="T48" fmla="*/ 351 w 722"/>
                  <a:gd name="T49" fmla="*/ 70 h 248"/>
                  <a:gd name="T50" fmla="*/ 227 w 722"/>
                  <a:gd name="T51" fmla="*/ 64 h 248"/>
                  <a:gd name="T52" fmla="*/ 329 w 722"/>
                  <a:gd name="T53" fmla="*/ 27 h 248"/>
                  <a:gd name="T54" fmla="*/ 413 w 722"/>
                  <a:gd name="T55" fmla="*/ 10 h 248"/>
                  <a:gd name="T56" fmla="*/ 510 w 722"/>
                  <a:gd name="T57" fmla="*/ 1 h 248"/>
                  <a:gd name="T58" fmla="*/ 599 w 722"/>
                  <a:gd name="T59" fmla="*/ 0 h 248"/>
                  <a:gd name="T60" fmla="*/ 644 w 722"/>
                  <a:gd name="T61" fmla="*/ 3 h 248"/>
                  <a:gd name="T62" fmla="*/ 679 w 722"/>
                  <a:gd name="T63" fmla="*/ 8 h 248"/>
                  <a:gd name="T64" fmla="*/ 703 w 722"/>
                  <a:gd name="T65" fmla="*/ 17 h 248"/>
                  <a:gd name="T66" fmla="*/ 716 w 722"/>
                  <a:gd name="T67" fmla="*/ 27 h 248"/>
                  <a:gd name="T68" fmla="*/ 722 w 722"/>
                  <a:gd name="T69" fmla="*/ 36 h 248"/>
                  <a:gd name="T70" fmla="*/ 718 w 722"/>
                  <a:gd name="T71" fmla="*/ 46 h 248"/>
                  <a:gd name="T72" fmla="*/ 708 w 722"/>
                  <a:gd name="T73" fmla="*/ 57 h 248"/>
                  <a:gd name="T74" fmla="*/ 684 w 722"/>
                  <a:gd name="T75" fmla="*/ 70 h 248"/>
                  <a:gd name="T76" fmla="*/ 646 w 722"/>
                  <a:gd name="T77" fmla="*/ 84 h 248"/>
                  <a:gd name="T78" fmla="*/ 596 w 722"/>
                  <a:gd name="T79" fmla="*/ 96 h 248"/>
                  <a:gd name="T80" fmla="*/ 536 w 722"/>
                  <a:gd name="T81" fmla="*/ 108 h 248"/>
                  <a:gd name="T82" fmla="*/ 529 w 722"/>
                  <a:gd name="T83" fmla="*/ 115 h 248"/>
                  <a:gd name="T84" fmla="*/ 565 w 722"/>
                  <a:gd name="T85" fmla="*/ 126 h 248"/>
                  <a:gd name="T86" fmla="*/ 579 w 722"/>
                  <a:gd name="T87" fmla="*/ 141 h 248"/>
                  <a:gd name="T88" fmla="*/ 567 w 722"/>
                  <a:gd name="T89" fmla="*/ 160 h 248"/>
                  <a:gd name="T90" fmla="*/ 537 w 722"/>
                  <a:gd name="T91" fmla="*/ 179 h 248"/>
                  <a:gd name="T92" fmla="*/ 503 w 722"/>
                  <a:gd name="T93" fmla="*/ 193 h 248"/>
                  <a:gd name="T94" fmla="*/ 461 w 722"/>
                  <a:gd name="T95" fmla="*/ 207 h 248"/>
                  <a:gd name="T96" fmla="*/ 413 w 722"/>
                  <a:gd name="T97" fmla="*/ 220 h 248"/>
                  <a:gd name="T98" fmla="*/ 329 w 722"/>
                  <a:gd name="T99" fmla="*/ 236 h 248"/>
                  <a:gd name="T100" fmla="*/ 217 w 722"/>
                  <a:gd name="T101" fmla="*/ 246 h 248"/>
                  <a:gd name="T102" fmla="*/ 136 w 722"/>
                  <a:gd name="T103" fmla="*/ 248 h 248"/>
                  <a:gd name="T104" fmla="*/ 91 w 722"/>
                  <a:gd name="T105" fmla="*/ 244 h 248"/>
                  <a:gd name="T106" fmla="*/ 56 w 722"/>
                  <a:gd name="T107" fmla="*/ 241 h 248"/>
                  <a:gd name="T108" fmla="*/ 29 w 722"/>
                  <a:gd name="T109" fmla="*/ 234 h 248"/>
                  <a:gd name="T110" fmla="*/ 10 w 722"/>
                  <a:gd name="T111" fmla="*/ 224 h 248"/>
                  <a:gd name="T112" fmla="*/ 1 w 722"/>
                  <a:gd name="T113" fmla="*/ 213 h 248"/>
                  <a:gd name="T114" fmla="*/ 1 w 722"/>
                  <a:gd name="T115" fmla="*/ 200 h 248"/>
                  <a:gd name="T116" fmla="*/ 12 w 722"/>
                  <a:gd name="T117" fmla="*/ 1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2" h="248">
                    <a:moveTo>
                      <a:pt x="20" y="179"/>
                    </a:moveTo>
                    <a:lnTo>
                      <a:pt x="98" y="177"/>
                    </a:lnTo>
                    <a:lnTo>
                      <a:pt x="174" y="174"/>
                    </a:lnTo>
                    <a:lnTo>
                      <a:pt x="165" y="181"/>
                    </a:lnTo>
                    <a:lnTo>
                      <a:pt x="162" y="188"/>
                    </a:lnTo>
                    <a:lnTo>
                      <a:pt x="162" y="194"/>
                    </a:lnTo>
                    <a:lnTo>
                      <a:pt x="167" y="200"/>
                    </a:lnTo>
                    <a:lnTo>
                      <a:pt x="175" y="205"/>
                    </a:lnTo>
                    <a:lnTo>
                      <a:pt x="189" y="207"/>
                    </a:lnTo>
                    <a:lnTo>
                      <a:pt x="205" y="208"/>
                    </a:lnTo>
                    <a:lnTo>
                      <a:pt x="225" y="208"/>
                    </a:lnTo>
                    <a:lnTo>
                      <a:pt x="272" y="207"/>
                    </a:lnTo>
                    <a:lnTo>
                      <a:pt x="322" y="198"/>
                    </a:lnTo>
                    <a:lnTo>
                      <a:pt x="346" y="193"/>
                    </a:lnTo>
                    <a:lnTo>
                      <a:pt x="367" y="186"/>
                    </a:lnTo>
                    <a:lnTo>
                      <a:pt x="384" y="177"/>
                    </a:lnTo>
                    <a:lnTo>
                      <a:pt x="401" y="169"/>
                    </a:lnTo>
                    <a:lnTo>
                      <a:pt x="413" y="160"/>
                    </a:lnTo>
                    <a:lnTo>
                      <a:pt x="420" y="153"/>
                    </a:lnTo>
                    <a:lnTo>
                      <a:pt x="422" y="146"/>
                    </a:lnTo>
                    <a:lnTo>
                      <a:pt x="418" y="141"/>
                    </a:lnTo>
                    <a:lnTo>
                      <a:pt x="410" y="136"/>
                    </a:lnTo>
                    <a:lnTo>
                      <a:pt x="398" y="134"/>
                    </a:lnTo>
                    <a:lnTo>
                      <a:pt x="382" y="131"/>
                    </a:lnTo>
                    <a:lnTo>
                      <a:pt x="361" y="131"/>
                    </a:lnTo>
                    <a:lnTo>
                      <a:pt x="346" y="131"/>
                    </a:lnTo>
                    <a:lnTo>
                      <a:pt x="329" y="132"/>
                    </a:lnTo>
                    <a:lnTo>
                      <a:pt x="310" y="132"/>
                    </a:lnTo>
                    <a:lnTo>
                      <a:pt x="287" y="134"/>
                    </a:lnTo>
                    <a:lnTo>
                      <a:pt x="329" y="115"/>
                    </a:lnTo>
                    <a:lnTo>
                      <a:pt x="368" y="96"/>
                    </a:lnTo>
                    <a:lnTo>
                      <a:pt x="398" y="96"/>
                    </a:lnTo>
                    <a:lnTo>
                      <a:pt x="424" y="95"/>
                    </a:lnTo>
                    <a:lnTo>
                      <a:pt x="473" y="88"/>
                    </a:lnTo>
                    <a:lnTo>
                      <a:pt x="496" y="82"/>
                    </a:lnTo>
                    <a:lnTo>
                      <a:pt x="515" y="77"/>
                    </a:lnTo>
                    <a:lnTo>
                      <a:pt x="530" y="72"/>
                    </a:lnTo>
                    <a:lnTo>
                      <a:pt x="544" y="65"/>
                    </a:lnTo>
                    <a:lnTo>
                      <a:pt x="553" y="58"/>
                    </a:lnTo>
                    <a:lnTo>
                      <a:pt x="558" y="53"/>
                    </a:lnTo>
                    <a:lnTo>
                      <a:pt x="558" y="48"/>
                    </a:lnTo>
                    <a:lnTo>
                      <a:pt x="554" y="45"/>
                    </a:lnTo>
                    <a:lnTo>
                      <a:pt x="548" y="43"/>
                    </a:lnTo>
                    <a:lnTo>
                      <a:pt x="537" y="39"/>
                    </a:lnTo>
                    <a:lnTo>
                      <a:pt x="522" y="38"/>
                    </a:lnTo>
                    <a:lnTo>
                      <a:pt x="504" y="38"/>
                    </a:lnTo>
                    <a:lnTo>
                      <a:pt x="465" y="39"/>
                    </a:lnTo>
                    <a:lnTo>
                      <a:pt x="425" y="46"/>
                    </a:lnTo>
                    <a:lnTo>
                      <a:pt x="386" y="57"/>
                    </a:lnTo>
                    <a:lnTo>
                      <a:pt x="351" y="70"/>
                    </a:lnTo>
                    <a:lnTo>
                      <a:pt x="289" y="67"/>
                    </a:lnTo>
                    <a:lnTo>
                      <a:pt x="227" y="64"/>
                    </a:lnTo>
                    <a:lnTo>
                      <a:pt x="279" y="43"/>
                    </a:lnTo>
                    <a:lnTo>
                      <a:pt x="329" y="27"/>
                    </a:lnTo>
                    <a:lnTo>
                      <a:pt x="384" y="15"/>
                    </a:lnTo>
                    <a:lnTo>
                      <a:pt x="413" y="10"/>
                    </a:lnTo>
                    <a:lnTo>
                      <a:pt x="444" y="7"/>
                    </a:lnTo>
                    <a:lnTo>
                      <a:pt x="510" y="1"/>
                    </a:lnTo>
                    <a:lnTo>
                      <a:pt x="573" y="0"/>
                    </a:lnTo>
                    <a:lnTo>
                      <a:pt x="599" y="0"/>
                    </a:lnTo>
                    <a:lnTo>
                      <a:pt x="623" y="1"/>
                    </a:lnTo>
                    <a:lnTo>
                      <a:pt x="644" y="3"/>
                    </a:lnTo>
                    <a:lnTo>
                      <a:pt x="663" y="5"/>
                    </a:lnTo>
                    <a:lnTo>
                      <a:pt x="679" y="8"/>
                    </a:lnTo>
                    <a:lnTo>
                      <a:pt x="692" y="12"/>
                    </a:lnTo>
                    <a:lnTo>
                      <a:pt x="703" y="17"/>
                    </a:lnTo>
                    <a:lnTo>
                      <a:pt x="711" y="22"/>
                    </a:lnTo>
                    <a:lnTo>
                      <a:pt x="716" y="27"/>
                    </a:lnTo>
                    <a:lnTo>
                      <a:pt x="720" y="31"/>
                    </a:lnTo>
                    <a:lnTo>
                      <a:pt x="722" y="36"/>
                    </a:lnTo>
                    <a:lnTo>
                      <a:pt x="722" y="41"/>
                    </a:lnTo>
                    <a:lnTo>
                      <a:pt x="718" y="46"/>
                    </a:lnTo>
                    <a:lnTo>
                      <a:pt x="713" y="51"/>
                    </a:lnTo>
                    <a:lnTo>
                      <a:pt x="708" y="57"/>
                    </a:lnTo>
                    <a:lnTo>
                      <a:pt x="699" y="62"/>
                    </a:lnTo>
                    <a:lnTo>
                      <a:pt x="684" y="70"/>
                    </a:lnTo>
                    <a:lnTo>
                      <a:pt x="666" y="77"/>
                    </a:lnTo>
                    <a:lnTo>
                      <a:pt x="646" y="84"/>
                    </a:lnTo>
                    <a:lnTo>
                      <a:pt x="623" y="91"/>
                    </a:lnTo>
                    <a:lnTo>
                      <a:pt x="596" y="96"/>
                    </a:lnTo>
                    <a:lnTo>
                      <a:pt x="568" y="103"/>
                    </a:lnTo>
                    <a:lnTo>
                      <a:pt x="536" y="108"/>
                    </a:lnTo>
                    <a:lnTo>
                      <a:pt x="501" y="113"/>
                    </a:lnTo>
                    <a:lnTo>
                      <a:pt x="529" y="115"/>
                    </a:lnTo>
                    <a:lnTo>
                      <a:pt x="549" y="120"/>
                    </a:lnTo>
                    <a:lnTo>
                      <a:pt x="565" y="126"/>
                    </a:lnTo>
                    <a:lnTo>
                      <a:pt x="575" y="132"/>
                    </a:lnTo>
                    <a:lnTo>
                      <a:pt x="579" y="141"/>
                    </a:lnTo>
                    <a:lnTo>
                      <a:pt x="575" y="151"/>
                    </a:lnTo>
                    <a:lnTo>
                      <a:pt x="567" y="160"/>
                    </a:lnTo>
                    <a:lnTo>
                      <a:pt x="551" y="170"/>
                    </a:lnTo>
                    <a:lnTo>
                      <a:pt x="537" y="179"/>
                    </a:lnTo>
                    <a:lnTo>
                      <a:pt x="520" y="186"/>
                    </a:lnTo>
                    <a:lnTo>
                      <a:pt x="503" y="193"/>
                    </a:lnTo>
                    <a:lnTo>
                      <a:pt x="482" y="201"/>
                    </a:lnTo>
                    <a:lnTo>
                      <a:pt x="461" y="207"/>
                    </a:lnTo>
                    <a:lnTo>
                      <a:pt x="437" y="213"/>
                    </a:lnTo>
                    <a:lnTo>
                      <a:pt x="413" y="220"/>
                    </a:lnTo>
                    <a:lnTo>
                      <a:pt x="386" y="225"/>
                    </a:lnTo>
                    <a:lnTo>
                      <a:pt x="329" y="236"/>
                    </a:lnTo>
                    <a:lnTo>
                      <a:pt x="274" y="243"/>
                    </a:lnTo>
                    <a:lnTo>
                      <a:pt x="217" y="246"/>
                    </a:lnTo>
                    <a:lnTo>
                      <a:pt x="162" y="248"/>
                    </a:lnTo>
                    <a:lnTo>
                      <a:pt x="136" y="248"/>
                    </a:lnTo>
                    <a:lnTo>
                      <a:pt x="113" y="246"/>
                    </a:lnTo>
                    <a:lnTo>
                      <a:pt x="91" y="244"/>
                    </a:lnTo>
                    <a:lnTo>
                      <a:pt x="72" y="243"/>
                    </a:lnTo>
                    <a:lnTo>
                      <a:pt x="56" y="241"/>
                    </a:lnTo>
                    <a:lnTo>
                      <a:pt x="41" y="238"/>
                    </a:lnTo>
                    <a:lnTo>
                      <a:pt x="29" y="234"/>
                    </a:lnTo>
                    <a:lnTo>
                      <a:pt x="19" y="229"/>
                    </a:lnTo>
                    <a:lnTo>
                      <a:pt x="10" y="224"/>
                    </a:lnTo>
                    <a:lnTo>
                      <a:pt x="5" y="219"/>
                    </a:lnTo>
                    <a:lnTo>
                      <a:pt x="1" y="213"/>
                    </a:lnTo>
                    <a:lnTo>
                      <a:pt x="0" y="207"/>
                    </a:lnTo>
                    <a:lnTo>
                      <a:pt x="1" y="200"/>
                    </a:lnTo>
                    <a:lnTo>
                      <a:pt x="5" y="194"/>
                    </a:lnTo>
                    <a:lnTo>
                      <a:pt x="12" y="186"/>
                    </a:lnTo>
                    <a:lnTo>
                      <a:pt x="20" y="179"/>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20" name="Freeform 1064"/>
              <p:cNvSpPr>
                <a:spLocks noEditPoints="1"/>
              </p:cNvSpPr>
              <p:nvPr/>
            </p:nvSpPr>
            <p:spPr bwMode="auto">
              <a:xfrm>
                <a:off x="3994" y="3006"/>
                <a:ext cx="359" cy="124"/>
              </a:xfrm>
              <a:custGeom>
                <a:avLst/>
                <a:gdLst>
                  <a:gd name="T0" fmla="*/ 95 w 719"/>
                  <a:gd name="T1" fmla="*/ 186 h 248"/>
                  <a:gd name="T2" fmla="*/ 164 w 719"/>
                  <a:gd name="T3" fmla="*/ 189 h 248"/>
                  <a:gd name="T4" fmla="*/ 160 w 719"/>
                  <a:gd name="T5" fmla="*/ 200 h 248"/>
                  <a:gd name="T6" fmla="*/ 171 w 719"/>
                  <a:gd name="T7" fmla="*/ 207 h 248"/>
                  <a:gd name="T8" fmla="*/ 195 w 719"/>
                  <a:gd name="T9" fmla="*/ 210 h 248"/>
                  <a:gd name="T10" fmla="*/ 236 w 719"/>
                  <a:gd name="T11" fmla="*/ 208 h 248"/>
                  <a:gd name="T12" fmla="*/ 312 w 719"/>
                  <a:gd name="T13" fmla="*/ 196 h 248"/>
                  <a:gd name="T14" fmla="*/ 372 w 719"/>
                  <a:gd name="T15" fmla="*/ 176 h 248"/>
                  <a:gd name="T16" fmla="*/ 446 w 719"/>
                  <a:gd name="T17" fmla="*/ 141 h 248"/>
                  <a:gd name="T18" fmla="*/ 357 w 719"/>
                  <a:gd name="T19" fmla="*/ 157 h 248"/>
                  <a:gd name="T20" fmla="*/ 271 w 719"/>
                  <a:gd name="T21" fmla="*/ 162 h 248"/>
                  <a:gd name="T22" fmla="*/ 229 w 719"/>
                  <a:gd name="T23" fmla="*/ 160 h 248"/>
                  <a:gd name="T24" fmla="*/ 195 w 719"/>
                  <a:gd name="T25" fmla="*/ 157 h 248"/>
                  <a:gd name="T26" fmla="*/ 169 w 719"/>
                  <a:gd name="T27" fmla="*/ 150 h 248"/>
                  <a:gd name="T28" fmla="*/ 150 w 719"/>
                  <a:gd name="T29" fmla="*/ 139 h 248"/>
                  <a:gd name="T30" fmla="*/ 141 w 719"/>
                  <a:gd name="T31" fmla="*/ 127 h 248"/>
                  <a:gd name="T32" fmla="*/ 143 w 719"/>
                  <a:gd name="T33" fmla="*/ 113 h 248"/>
                  <a:gd name="T34" fmla="*/ 157 w 719"/>
                  <a:gd name="T35" fmla="*/ 98 h 248"/>
                  <a:gd name="T36" fmla="*/ 181 w 719"/>
                  <a:gd name="T37" fmla="*/ 82 h 248"/>
                  <a:gd name="T38" fmla="*/ 255 w 719"/>
                  <a:gd name="T39" fmla="*/ 48 h 248"/>
                  <a:gd name="T40" fmla="*/ 352 w 719"/>
                  <a:gd name="T41" fmla="*/ 22 h 248"/>
                  <a:gd name="T42" fmla="*/ 458 w 719"/>
                  <a:gd name="T43" fmla="*/ 5 h 248"/>
                  <a:gd name="T44" fmla="*/ 567 w 719"/>
                  <a:gd name="T45" fmla="*/ 0 h 248"/>
                  <a:gd name="T46" fmla="*/ 620 w 719"/>
                  <a:gd name="T47" fmla="*/ 1 h 248"/>
                  <a:gd name="T48" fmla="*/ 663 w 719"/>
                  <a:gd name="T49" fmla="*/ 7 h 248"/>
                  <a:gd name="T50" fmla="*/ 694 w 719"/>
                  <a:gd name="T51" fmla="*/ 15 h 248"/>
                  <a:gd name="T52" fmla="*/ 713 w 719"/>
                  <a:gd name="T53" fmla="*/ 29 h 248"/>
                  <a:gd name="T54" fmla="*/ 719 w 719"/>
                  <a:gd name="T55" fmla="*/ 46 h 248"/>
                  <a:gd name="T56" fmla="*/ 707 w 719"/>
                  <a:gd name="T57" fmla="*/ 67 h 248"/>
                  <a:gd name="T58" fmla="*/ 677 w 719"/>
                  <a:gd name="T59" fmla="*/ 93 h 248"/>
                  <a:gd name="T60" fmla="*/ 631 w 719"/>
                  <a:gd name="T61" fmla="*/ 122 h 248"/>
                  <a:gd name="T62" fmla="*/ 515 w 719"/>
                  <a:gd name="T63" fmla="*/ 179 h 248"/>
                  <a:gd name="T64" fmla="*/ 391 w 719"/>
                  <a:gd name="T65" fmla="*/ 219 h 248"/>
                  <a:gd name="T66" fmla="*/ 264 w 719"/>
                  <a:gd name="T67" fmla="*/ 241 h 248"/>
                  <a:gd name="T68" fmla="*/ 136 w 719"/>
                  <a:gd name="T69" fmla="*/ 248 h 248"/>
                  <a:gd name="T70" fmla="*/ 93 w 719"/>
                  <a:gd name="T71" fmla="*/ 246 h 248"/>
                  <a:gd name="T72" fmla="*/ 60 w 719"/>
                  <a:gd name="T73" fmla="*/ 244 h 248"/>
                  <a:gd name="T74" fmla="*/ 33 w 719"/>
                  <a:gd name="T75" fmla="*/ 239 h 248"/>
                  <a:gd name="T76" fmla="*/ 14 w 719"/>
                  <a:gd name="T77" fmla="*/ 232 h 248"/>
                  <a:gd name="T78" fmla="*/ 2 w 719"/>
                  <a:gd name="T79" fmla="*/ 224 h 248"/>
                  <a:gd name="T80" fmla="*/ 0 w 719"/>
                  <a:gd name="T81" fmla="*/ 213 h 248"/>
                  <a:gd name="T82" fmla="*/ 5 w 719"/>
                  <a:gd name="T83" fmla="*/ 201 h 248"/>
                  <a:gd name="T84" fmla="*/ 17 w 719"/>
                  <a:gd name="T85" fmla="*/ 188 h 248"/>
                  <a:gd name="T86" fmla="*/ 526 w 719"/>
                  <a:gd name="T87" fmla="*/ 86 h 248"/>
                  <a:gd name="T88" fmla="*/ 541 w 719"/>
                  <a:gd name="T89" fmla="*/ 76 h 248"/>
                  <a:gd name="T90" fmla="*/ 553 w 719"/>
                  <a:gd name="T91" fmla="*/ 58 h 248"/>
                  <a:gd name="T92" fmla="*/ 543 w 719"/>
                  <a:gd name="T93" fmla="*/ 46 h 248"/>
                  <a:gd name="T94" fmla="*/ 515 w 719"/>
                  <a:gd name="T95" fmla="*/ 39 h 248"/>
                  <a:gd name="T96" fmla="*/ 453 w 719"/>
                  <a:gd name="T97" fmla="*/ 41 h 248"/>
                  <a:gd name="T98" fmla="*/ 388 w 719"/>
                  <a:gd name="T99" fmla="*/ 55 h 248"/>
                  <a:gd name="T100" fmla="*/ 326 w 719"/>
                  <a:gd name="T101" fmla="*/ 82 h 248"/>
                  <a:gd name="T102" fmla="*/ 300 w 719"/>
                  <a:gd name="T103" fmla="*/ 103 h 248"/>
                  <a:gd name="T104" fmla="*/ 298 w 719"/>
                  <a:gd name="T105" fmla="*/ 117 h 248"/>
                  <a:gd name="T106" fmla="*/ 317 w 719"/>
                  <a:gd name="T107" fmla="*/ 126 h 248"/>
                  <a:gd name="T108" fmla="*/ 353 w 719"/>
                  <a:gd name="T109" fmla="*/ 127 h 248"/>
                  <a:gd name="T110" fmla="*/ 445 w 719"/>
                  <a:gd name="T111" fmla="*/ 117 h 248"/>
                  <a:gd name="T112" fmla="*/ 508 w 719"/>
                  <a:gd name="T113" fmla="*/ 96 h 248"/>
                  <a:gd name="T114" fmla="*/ 526 w 719"/>
                  <a:gd name="T115" fmla="*/ 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19" h="248">
                    <a:moveTo>
                      <a:pt x="17" y="188"/>
                    </a:moveTo>
                    <a:lnTo>
                      <a:pt x="95" y="186"/>
                    </a:lnTo>
                    <a:lnTo>
                      <a:pt x="171" y="182"/>
                    </a:lnTo>
                    <a:lnTo>
                      <a:pt x="164" y="189"/>
                    </a:lnTo>
                    <a:lnTo>
                      <a:pt x="160" y="194"/>
                    </a:lnTo>
                    <a:lnTo>
                      <a:pt x="160" y="200"/>
                    </a:lnTo>
                    <a:lnTo>
                      <a:pt x="164" y="203"/>
                    </a:lnTo>
                    <a:lnTo>
                      <a:pt x="171" y="207"/>
                    </a:lnTo>
                    <a:lnTo>
                      <a:pt x="181" y="208"/>
                    </a:lnTo>
                    <a:lnTo>
                      <a:pt x="195" y="210"/>
                    </a:lnTo>
                    <a:lnTo>
                      <a:pt x="212" y="210"/>
                    </a:lnTo>
                    <a:lnTo>
                      <a:pt x="236" y="208"/>
                    </a:lnTo>
                    <a:lnTo>
                      <a:pt x="260" y="207"/>
                    </a:lnTo>
                    <a:lnTo>
                      <a:pt x="312" y="196"/>
                    </a:lnTo>
                    <a:lnTo>
                      <a:pt x="341" y="188"/>
                    </a:lnTo>
                    <a:lnTo>
                      <a:pt x="372" y="176"/>
                    </a:lnTo>
                    <a:lnTo>
                      <a:pt x="408" y="160"/>
                    </a:lnTo>
                    <a:lnTo>
                      <a:pt x="446" y="141"/>
                    </a:lnTo>
                    <a:lnTo>
                      <a:pt x="402" y="150"/>
                    </a:lnTo>
                    <a:lnTo>
                      <a:pt x="357" y="157"/>
                    </a:lnTo>
                    <a:lnTo>
                      <a:pt x="314" y="160"/>
                    </a:lnTo>
                    <a:lnTo>
                      <a:pt x="271" y="162"/>
                    </a:lnTo>
                    <a:lnTo>
                      <a:pt x="248" y="162"/>
                    </a:lnTo>
                    <a:lnTo>
                      <a:pt x="229" y="160"/>
                    </a:lnTo>
                    <a:lnTo>
                      <a:pt x="210" y="158"/>
                    </a:lnTo>
                    <a:lnTo>
                      <a:pt x="195" y="157"/>
                    </a:lnTo>
                    <a:lnTo>
                      <a:pt x="181" y="153"/>
                    </a:lnTo>
                    <a:lnTo>
                      <a:pt x="169" y="150"/>
                    </a:lnTo>
                    <a:lnTo>
                      <a:pt x="159" y="145"/>
                    </a:lnTo>
                    <a:lnTo>
                      <a:pt x="150" y="139"/>
                    </a:lnTo>
                    <a:lnTo>
                      <a:pt x="145" y="134"/>
                    </a:lnTo>
                    <a:lnTo>
                      <a:pt x="141" y="127"/>
                    </a:lnTo>
                    <a:lnTo>
                      <a:pt x="141" y="120"/>
                    </a:lnTo>
                    <a:lnTo>
                      <a:pt x="143" y="113"/>
                    </a:lnTo>
                    <a:lnTo>
                      <a:pt x="148" y="107"/>
                    </a:lnTo>
                    <a:lnTo>
                      <a:pt x="157" y="98"/>
                    </a:lnTo>
                    <a:lnTo>
                      <a:pt x="167" y="91"/>
                    </a:lnTo>
                    <a:lnTo>
                      <a:pt x="181" y="82"/>
                    </a:lnTo>
                    <a:lnTo>
                      <a:pt x="215" y="65"/>
                    </a:lnTo>
                    <a:lnTo>
                      <a:pt x="255" y="48"/>
                    </a:lnTo>
                    <a:lnTo>
                      <a:pt x="300" y="34"/>
                    </a:lnTo>
                    <a:lnTo>
                      <a:pt x="352" y="22"/>
                    </a:lnTo>
                    <a:lnTo>
                      <a:pt x="405" y="12"/>
                    </a:lnTo>
                    <a:lnTo>
                      <a:pt x="458" y="5"/>
                    </a:lnTo>
                    <a:lnTo>
                      <a:pt x="514" y="1"/>
                    </a:lnTo>
                    <a:lnTo>
                      <a:pt x="567" y="0"/>
                    </a:lnTo>
                    <a:lnTo>
                      <a:pt x="595" y="0"/>
                    </a:lnTo>
                    <a:lnTo>
                      <a:pt x="620" y="1"/>
                    </a:lnTo>
                    <a:lnTo>
                      <a:pt x="644" y="3"/>
                    </a:lnTo>
                    <a:lnTo>
                      <a:pt x="663" y="7"/>
                    </a:lnTo>
                    <a:lnTo>
                      <a:pt x="681" y="10"/>
                    </a:lnTo>
                    <a:lnTo>
                      <a:pt x="694" y="15"/>
                    </a:lnTo>
                    <a:lnTo>
                      <a:pt x="705" y="22"/>
                    </a:lnTo>
                    <a:lnTo>
                      <a:pt x="713" y="29"/>
                    </a:lnTo>
                    <a:lnTo>
                      <a:pt x="719" y="36"/>
                    </a:lnTo>
                    <a:lnTo>
                      <a:pt x="719" y="46"/>
                    </a:lnTo>
                    <a:lnTo>
                      <a:pt x="715" y="55"/>
                    </a:lnTo>
                    <a:lnTo>
                      <a:pt x="707" y="67"/>
                    </a:lnTo>
                    <a:lnTo>
                      <a:pt x="694" y="79"/>
                    </a:lnTo>
                    <a:lnTo>
                      <a:pt x="677" y="93"/>
                    </a:lnTo>
                    <a:lnTo>
                      <a:pt x="657" y="107"/>
                    </a:lnTo>
                    <a:lnTo>
                      <a:pt x="631" y="122"/>
                    </a:lnTo>
                    <a:lnTo>
                      <a:pt x="574" y="153"/>
                    </a:lnTo>
                    <a:lnTo>
                      <a:pt x="515" y="179"/>
                    </a:lnTo>
                    <a:lnTo>
                      <a:pt x="453" y="201"/>
                    </a:lnTo>
                    <a:lnTo>
                      <a:pt x="391" y="219"/>
                    </a:lnTo>
                    <a:lnTo>
                      <a:pt x="327" y="231"/>
                    </a:lnTo>
                    <a:lnTo>
                      <a:pt x="264" y="241"/>
                    </a:lnTo>
                    <a:lnTo>
                      <a:pt x="200" y="246"/>
                    </a:lnTo>
                    <a:lnTo>
                      <a:pt x="136" y="248"/>
                    </a:lnTo>
                    <a:lnTo>
                      <a:pt x="114" y="248"/>
                    </a:lnTo>
                    <a:lnTo>
                      <a:pt x="93" y="246"/>
                    </a:lnTo>
                    <a:lnTo>
                      <a:pt x="76" y="246"/>
                    </a:lnTo>
                    <a:lnTo>
                      <a:pt x="60" y="244"/>
                    </a:lnTo>
                    <a:lnTo>
                      <a:pt x="45" y="243"/>
                    </a:lnTo>
                    <a:lnTo>
                      <a:pt x="33" y="239"/>
                    </a:lnTo>
                    <a:lnTo>
                      <a:pt x="22" y="236"/>
                    </a:lnTo>
                    <a:lnTo>
                      <a:pt x="14" y="232"/>
                    </a:lnTo>
                    <a:lnTo>
                      <a:pt x="7" y="229"/>
                    </a:lnTo>
                    <a:lnTo>
                      <a:pt x="2" y="224"/>
                    </a:lnTo>
                    <a:lnTo>
                      <a:pt x="0" y="219"/>
                    </a:lnTo>
                    <a:lnTo>
                      <a:pt x="0" y="213"/>
                    </a:lnTo>
                    <a:lnTo>
                      <a:pt x="2" y="208"/>
                    </a:lnTo>
                    <a:lnTo>
                      <a:pt x="5" y="201"/>
                    </a:lnTo>
                    <a:lnTo>
                      <a:pt x="10" y="194"/>
                    </a:lnTo>
                    <a:lnTo>
                      <a:pt x="17" y="188"/>
                    </a:lnTo>
                    <a:lnTo>
                      <a:pt x="17" y="188"/>
                    </a:lnTo>
                    <a:close/>
                    <a:moveTo>
                      <a:pt x="526" y="86"/>
                    </a:moveTo>
                    <a:lnTo>
                      <a:pt x="534" y="81"/>
                    </a:lnTo>
                    <a:lnTo>
                      <a:pt x="541" y="76"/>
                    </a:lnTo>
                    <a:lnTo>
                      <a:pt x="551" y="67"/>
                    </a:lnTo>
                    <a:lnTo>
                      <a:pt x="553" y="58"/>
                    </a:lnTo>
                    <a:lnTo>
                      <a:pt x="551" y="51"/>
                    </a:lnTo>
                    <a:lnTo>
                      <a:pt x="543" y="46"/>
                    </a:lnTo>
                    <a:lnTo>
                      <a:pt x="531" y="41"/>
                    </a:lnTo>
                    <a:lnTo>
                      <a:pt x="515" y="39"/>
                    </a:lnTo>
                    <a:lnTo>
                      <a:pt x="496" y="38"/>
                    </a:lnTo>
                    <a:lnTo>
                      <a:pt x="453" y="41"/>
                    </a:lnTo>
                    <a:lnTo>
                      <a:pt x="410" y="48"/>
                    </a:lnTo>
                    <a:lnTo>
                      <a:pt x="388" y="55"/>
                    </a:lnTo>
                    <a:lnTo>
                      <a:pt x="367" y="62"/>
                    </a:lnTo>
                    <a:lnTo>
                      <a:pt x="326" y="82"/>
                    </a:lnTo>
                    <a:lnTo>
                      <a:pt x="310" y="93"/>
                    </a:lnTo>
                    <a:lnTo>
                      <a:pt x="300" y="103"/>
                    </a:lnTo>
                    <a:lnTo>
                      <a:pt x="296" y="110"/>
                    </a:lnTo>
                    <a:lnTo>
                      <a:pt x="298" y="117"/>
                    </a:lnTo>
                    <a:lnTo>
                      <a:pt x="305" y="122"/>
                    </a:lnTo>
                    <a:lnTo>
                      <a:pt x="317" y="126"/>
                    </a:lnTo>
                    <a:lnTo>
                      <a:pt x="333" y="127"/>
                    </a:lnTo>
                    <a:lnTo>
                      <a:pt x="353" y="127"/>
                    </a:lnTo>
                    <a:lnTo>
                      <a:pt x="398" y="126"/>
                    </a:lnTo>
                    <a:lnTo>
                      <a:pt x="445" y="117"/>
                    </a:lnTo>
                    <a:lnTo>
                      <a:pt x="488" y="105"/>
                    </a:lnTo>
                    <a:lnTo>
                      <a:pt x="508" y="96"/>
                    </a:lnTo>
                    <a:lnTo>
                      <a:pt x="526" y="86"/>
                    </a:lnTo>
                    <a:lnTo>
                      <a:pt x="526" y="86"/>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02121" name="Group 1065"/>
            <p:cNvGrpSpPr>
              <a:grpSpLocks/>
            </p:cNvGrpSpPr>
            <p:nvPr/>
          </p:nvGrpSpPr>
          <p:grpSpPr bwMode="auto">
            <a:xfrm>
              <a:off x="1421" y="2989"/>
              <a:ext cx="1034" cy="138"/>
              <a:chOff x="1438" y="3006"/>
              <a:chExt cx="1034" cy="138"/>
            </a:xfrm>
          </p:grpSpPr>
          <p:sp>
            <p:nvSpPr>
              <p:cNvPr id="302122" name="Freeform 1066"/>
              <p:cNvSpPr>
                <a:spLocks/>
              </p:cNvSpPr>
              <p:nvPr/>
            </p:nvSpPr>
            <p:spPr bwMode="auto">
              <a:xfrm>
                <a:off x="1459" y="3020"/>
                <a:ext cx="424" cy="122"/>
              </a:xfrm>
              <a:custGeom>
                <a:avLst/>
                <a:gdLst>
                  <a:gd name="T0" fmla="*/ 559 w 848"/>
                  <a:gd name="T1" fmla="*/ 223 h 243"/>
                  <a:gd name="T2" fmla="*/ 0 w 848"/>
                  <a:gd name="T3" fmla="*/ 243 h 243"/>
                  <a:gd name="T4" fmla="*/ 59 w 848"/>
                  <a:gd name="T5" fmla="*/ 221 h 243"/>
                  <a:gd name="T6" fmla="*/ 130 w 848"/>
                  <a:gd name="T7" fmla="*/ 197 h 243"/>
                  <a:gd name="T8" fmla="*/ 176 w 848"/>
                  <a:gd name="T9" fmla="*/ 185 h 243"/>
                  <a:gd name="T10" fmla="*/ 236 w 848"/>
                  <a:gd name="T11" fmla="*/ 173 h 243"/>
                  <a:gd name="T12" fmla="*/ 309 w 848"/>
                  <a:gd name="T13" fmla="*/ 157 h 243"/>
                  <a:gd name="T14" fmla="*/ 395 w 848"/>
                  <a:gd name="T15" fmla="*/ 140 h 243"/>
                  <a:gd name="T16" fmla="*/ 464 w 848"/>
                  <a:gd name="T17" fmla="*/ 126 h 243"/>
                  <a:gd name="T18" fmla="*/ 517 w 848"/>
                  <a:gd name="T19" fmla="*/ 116 h 243"/>
                  <a:gd name="T20" fmla="*/ 559 w 848"/>
                  <a:gd name="T21" fmla="*/ 107 h 243"/>
                  <a:gd name="T22" fmla="*/ 584 w 848"/>
                  <a:gd name="T23" fmla="*/ 100 h 243"/>
                  <a:gd name="T24" fmla="*/ 633 w 848"/>
                  <a:gd name="T25" fmla="*/ 86 h 243"/>
                  <a:gd name="T26" fmla="*/ 664 w 848"/>
                  <a:gd name="T27" fmla="*/ 71 h 243"/>
                  <a:gd name="T28" fmla="*/ 681 w 848"/>
                  <a:gd name="T29" fmla="*/ 57 h 243"/>
                  <a:gd name="T30" fmla="*/ 677 w 848"/>
                  <a:gd name="T31" fmla="*/ 47 h 243"/>
                  <a:gd name="T32" fmla="*/ 655 w 848"/>
                  <a:gd name="T33" fmla="*/ 40 h 243"/>
                  <a:gd name="T34" fmla="*/ 617 w 848"/>
                  <a:gd name="T35" fmla="*/ 38 h 243"/>
                  <a:gd name="T36" fmla="*/ 528 w 848"/>
                  <a:gd name="T37" fmla="*/ 47 h 243"/>
                  <a:gd name="T38" fmla="*/ 467 w 848"/>
                  <a:gd name="T39" fmla="*/ 68 h 243"/>
                  <a:gd name="T40" fmla="*/ 378 w 848"/>
                  <a:gd name="T41" fmla="*/ 74 h 243"/>
                  <a:gd name="T42" fmla="*/ 347 w 848"/>
                  <a:gd name="T43" fmla="*/ 55 h 243"/>
                  <a:gd name="T44" fmla="*/ 435 w 848"/>
                  <a:gd name="T45" fmla="*/ 26 h 243"/>
                  <a:gd name="T46" fmla="*/ 533 w 848"/>
                  <a:gd name="T47" fmla="*/ 11 h 243"/>
                  <a:gd name="T48" fmla="*/ 634 w 848"/>
                  <a:gd name="T49" fmla="*/ 2 h 243"/>
                  <a:gd name="T50" fmla="*/ 714 w 848"/>
                  <a:gd name="T51" fmla="*/ 0 h 243"/>
                  <a:gd name="T52" fmla="*/ 760 w 848"/>
                  <a:gd name="T53" fmla="*/ 4 h 243"/>
                  <a:gd name="T54" fmla="*/ 798 w 848"/>
                  <a:gd name="T55" fmla="*/ 7 h 243"/>
                  <a:gd name="T56" fmla="*/ 824 w 848"/>
                  <a:gd name="T57" fmla="*/ 16 h 243"/>
                  <a:gd name="T58" fmla="*/ 841 w 848"/>
                  <a:gd name="T59" fmla="*/ 24 h 243"/>
                  <a:gd name="T60" fmla="*/ 848 w 848"/>
                  <a:gd name="T61" fmla="*/ 37 h 243"/>
                  <a:gd name="T62" fmla="*/ 845 w 848"/>
                  <a:gd name="T63" fmla="*/ 47 h 243"/>
                  <a:gd name="T64" fmla="*/ 829 w 848"/>
                  <a:gd name="T65" fmla="*/ 61 h 243"/>
                  <a:gd name="T66" fmla="*/ 803 w 848"/>
                  <a:gd name="T67" fmla="*/ 76 h 243"/>
                  <a:gd name="T68" fmla="*/ 748 w 848"/>
                  <a:gd name="T69" fmla="*/ 99 h 243"/>
                  <a:gd name="T70" fmla="*/ 698 w 848"/>
                  <a:gd name="T71" fmla="*/ 114 h 243"/>
                  <a:gd name="T72" fmla="*/ 636 w 848"/>
                  <a:gd name="T73" fmla="*/ 130 h 243"/>
                  <a:gd name="T74" fmla="*/ 609 w 848"/>
                  <a:gd name="T75" fmla="*/ 135 h 243"/>
                  <a:gd name="T76" fmla="*/ 576 w 848"/>
                  <a:gd name="T77" fmla="*/ 143 h 243"/>
                  <a:gd name="T78" fmla="*/ 534 w 848"/>
                  <a:gd name="T79" fmla="*/ 150 h 243"/>
                  <a:gd name="T80" fmla="*/ 486 w 848"/>
                  <a:gd name="T81" fmla="*/ 161 h 243"/>
                  <a:gd name="T82" fmla="*/ 440 w 848"/>
                  <a:gd name="T83" fmla="*/ 169 h 243"/>
                  <a:gd name="T84" fmla="*/ 402 w 848"/>
                  <a:gd name="T85" fmla="*/ 178 h 243"/>
                  <a:gd name="T86" fmla="*/ 372 w 848"/>
                  <a:gd name="T87" fmla="*/ 183 h 243"/>
                  <a:gd name="T88" fmla="*/ 352 w 848"/>
                  <a:gd name="T89" fmla="*/ 188 h 243"/>
                  <a:gd name="T90" fmla="*/ 300 w 848"/>
                  <a:gd name="T91" fmla="*/ 200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48" h="243">
                    <a:moveTo>
                      <a:pt x="595" y="200"/>
                    </a:moveTo>
                    <a:lnTo>
                      <a:pt x="559" y="223"/>
                    </a:lnTo>
                    <a:lnTo>
                      <a:pt x="522" y="243"/>
                    </a:lnTo>
                    <a:lnTo>
                      <a:pt x="0" y="243"/>
                    </a:lnTo>
                    <a:lnTo>
                      <a:pt x="28" y="231"/>
                    </a:lnTo>
                    <a:lnTo>
                      <a:pt x="59" y="221"/>
                    </a:lnTo>
                    <a:lnTo>
                      <a:pt x="92" y="209"/>
                    </a:lnTo>
                    <a:lnTo>
                      <a:pt x="130" y="197"/>
                    </a:lnTo>
                    <a:lnTo>
                      <a:pt x="152" y="192"/>
                    </a:lnTo>
                    <a:lnTo>
                      <a:pt x="176" y="185"/>
                    </a:lnTo>
                    <a:lnTo>
                      <a:pt x="204" y="180"/>
                    </a:lnTo>
                    <a:lnTo>
                      <a:pt x="236" y="173"/>
                    </a:lnTo>
                    <a:lnTo>
                      <a:pt x="271" y="166"/>
                    </a:lnTo>
                    <a:lnTo>
                      <a:pt x="309" y="157"/>
                    </a:lnTo>
                    <a:lnTo>
                      <a:pt x="350" y="149"/>
                    </a:lnTo>
                    <a:lnTo>
                      <a:pt x="395" y="140"/>
                    </a:lnTo>
                    <a:lnTo>
                      <a:pt x="431" y="133"/>
                    </a:lnTo>
                    <a:lnTo>
                      <a:pt x="464" y="126"/>
                    </a:lnTo>
                    <a:lnTo>
                      <a:pt x="491" y="121"/>
                    </a:lnTo>
                    <a:lnTo>
                      <a:pt x="517" y="116"/>
                    </a:lnTo>
                    <a:lnTo>
                      <a:pt x="540" y="111"/>
                    </a:lnTo>
                    <a:lnTo>
                      <a:pt x="559" y="107"/>
                    </a:lnTo>
                    <a:lnTo>
                      <a:pt x="572" y="104"/>
                    </a:lnTo>
                    <a:lnTo>
                      <a:pt x="584" y="100"/>
                    </a:lnTo>
                    <a:lnTo>
                      <a:pt x="610" y="93"/>
                    </a:lnTo>
                    <a:lnTo>
                      <a:pt x="633" y="86"/>
                    </a:lnTo>
                    <a:lnTo>
                      <a:pt x="650" y="78"/>
                    </a:lnTo>
                    <a:lnTo>
                      <a:pt x="664" y="71"/>
                    </a:lnTo>
                    <a:lnTo>
                      <a:pt x="674" y="64"/>
                    </a:lnTo>
                    <a:lnTo>
                      <a:pt x="681" y="57"/>
                    </a:lnTo>
                    <a:lnTo>
                      <a:pt x="681" y="52"/>
                    </a:lnTo>
                    <a:lnTo>
                      <a:pt x="677" y="47"/>
                    </a:lnTo>
                    <a:lnTo>
                      <a:pt x="669" y="43"/>
                    </a:lnTo>
                    <a:lnTo>
                      <a:pt x="655" y="40"/>
                    </a:lnTo>
                    <a:lnTo>
                      <a:pt x="638" y="38"/>
                    </a:lnTo>
                    <a:lnTo>
                      <a:pt x="617" y="38"/>
                    </a:lnTo>
                    <a:lnTo>
                      <a:pt x="572" y="40"/>
                    </a:lnTo>
                    <a:lnTo>
                      <a:pt x="528" y="47"/>
                    </a:lnTo>
                    <a:lnTo>
                      <a:pt x="486" y="59"/>
                    </a:lnTo>
                    <a:lnTo>
                      <a:pt x="467" y="68"/>
                    </a:lnTo>
                    <a:lnTo>
                      <a:pt x="448" y="76"/>
                    </a:lnTo>
                    <a:lnTo>
                      <a:pt x="378" y="74"/>
                    </a:lnTo>
                    <a:lnTo>
                      <a:pt x="307" y="73"/>
                    </a:lnTo>
                    <a:lnTo>
                      <a:pt x="347" y="55"/>
                    </a:lnTo>
                    <a:lnTo>
                      <a:pt x="390" y="40"/>
                    </a:lnTo>
                    <a:lnTo>
                      <a:pt x="435" y="26"/>
                    </a:lnTo>
                    <a:lnTo>
                      <a:pt x="483" y="18"/>
                    </a:lnTo>
                    <a:lnTo>
                      <a:pt x="533" y="11"/>
                    </a:lnTo>
                    <a:lnTo>
                      <a:pt x="583" y="4"/>
                    </a:lnTo>
                    <a:lnTo>
                      <a:pt x="634" y="2"/>
                    </a:lnTo>
                    <a:lnTo>
                      <a:pt x="686" y="0"/>
                    </a:lnTo>
                    <a:lnTo>
                      <a:pt x="714" y="0"/>
                    </a:lnTo>
                    <a:lnTo>
                      <a:pt x="738" y="2"/>
                    </a:lnTo>
                    <a:lnTo>
                      <a:pt x="760" y="4"/>
                    </a:lnTo>
                    <a:lnTo>
                      <a:pt x="781" y="6"/>
                    </a:lnTo>
                    <a:lnTo>
                      <a:pt x="798" y="7"/>
                    </a:lnTo>
                    <a:lnTo>
                      <a:pt x="812" y="11"/>
                    </a:lnTo>
                    <a:lnTo>
                      <a:pt x="824" y="16"/>
                    </a:lnTo>
                    <a:lnTo>
                      <a:pt x="834" y="19"/>
                    </a:lnTo>
                    <a:lnTo>
                      <a:pt x="841" y="24"/>
                    </a:lnTo>
                    <a:lnTo>
                      <a:pt x="846" y="30"/>
                    </a:lnTo>
                    <a:lnTo>
                      <a:pt x="848" y="37"/>
                    </a:lnTo>
                    <a:lnTo>
                      <a:pt x="848" y="42"/>
                    </a:lnTo>
                    <a:lnTo>
                      <a:pt x="845" y="47"/>
                    </a:lnTo>
                    <a:lnTo>
                      <a:pt x="838" y="54"/>
                    </a:lnTo>
                    <a:lnTo>
                      <a:pt x="829" y="61"/>
                    </a:lnTo>
                    <a:lnTo>
                      <a:pt x="819" y="68"/>
                    </a:lnTo>
                    <a:lnTo>
                      <a:pt x="803" y="76"/>
                    </a:lnTo>
                    <a:lnTo>
                      <a:pt x="786" y="85"/>
                    </a:lnTo>
                    <a:lnTo>
                      <a:pt x="748" y="99"/>
                    </a:lnTo>
                    <a:lnTo>
                      <a:pt x="724" y="107"/>
                    </a:lnTo>
                    <a:lnTo>
                      <a:pt x="698" y="114"/>
                    </a:lnTo>
                    <a:lnTo>
                      <a:pt x="669" y="123"/>
                    </a:lnTo>
                    <a:lnTo>
                      <a:pt x="636" y="130"/>
                    </a:lnTo>
                    <a:lnTo>
                      <a:pt x="624" y="133"/>
                    </a:lnTo>
                    <a:lnTo>
                      <a:pt x="609" y="135"/>
                    </a:lnTo>
                    <a:lnTo>
                      <a:pt x="593" y="138"/>
                    </a:lnTo>
                    <a:lnTo>
                      <a:pt x="576" y="143"/>
                    </a:lnTo>
                    <a:lnTo>
                      <a:pt x="555" y="147"/>
                    </a:lnTo>
                    <a:lnTo>
                      <a:pt x="534" y="150"/>
                    </a:lnTo>
                    <a:lnTo>
                      <a:pt x="512" y="155"/>
                    </a:lnTo>
                    <a:lnTo>
                      <a:pt x="486" y="161"/>
                    </a:lnTo>
                    <a:lnTo>
                      <a:pt x="462" y="166"/>
                    </a:lnTo>
                    <a:lnTo>
                      <a:pt x="440" y="169"/>
                    </a:lnTo>
                    <a:lnTo>
                      <a:pt x="419" y="174"/>
                    </a:lnTo>
                    <a:lnTo>
                      <a:pt x="402" y="178"/>
                    </a:lnTo>
                    <a:lnTo>
                      <a:pt x="385" y="181"/>
                    </a:lnTo>
                    <a:lnTo>
                      <a:pt x="372" y="183"/>
                    </a:lnTo>
                    <a:lnTo>
                      <a:pt x="360" y="186"/>
                    </a:lnTo>
                    <a:lnTo>
                      <a:pt x="352" y="188"/>
                    </a:lnTo>
                    <a:lnTo>
                      <a:pt x="324" y="195"/>
                    </a:lnTo>
                    <a:lnTo>
                      <a:pt x="300" y="200"/>
                    </a:lnTo>
                    <a:lnTo>
                      <a:pt x="595" y="20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23" name="Freeform 1067"/>
              <p:cNvSpPr>
                <a:spLocks/>
              </p:cNvSpPr>
              <p:nvPr/>
            </p:nvSpPr>
            <p:spPr bwMode="auto">
              <a:xfrm>
                <a:off x="1812" y="3020"/>
                <a:ext cx="361" cy="124"/>
              </a:xfrm>
              <a:custGeom>
                <a:avLst/>
                <a:gdLst>
                  <a:gd name="T0" fmla="*/ 98 w 722"/>
                  <a:gd name="T1" fmla="*/ 178 h 248"/>
                  <a:gd name="T2" fmla="*/ 165 w 722"/>
                  <a:gd name="T3" fmla="*/ 181 h 248"/>
                  <a:gd name="T4" fmla="*/ 162 w 722"/>
                  <a:gd name="T5" fmla="*/ 195 h 248"/>
                  <a:gd name="T6" fmla="*/ 176 w 722"/>
                  <a:gd name="T7" fmla="*/ 205 h 248"/>
                  <a:gd name="T8" fmla="*/ 205 w 722"/>
                  <a:gd name="T9" fmla="*/ 209 h 248"/>
                  <a:gd name="T10" fmla="*/ 272 w 722"/>
                  <a:gd name="T11" fmla="*/ 207 h 248"/>
                  <a:gd name="T12" fmla="*/ 346 w 722"/>
                  <a:gd name="T13" fmla="*/ 193 h 248"/>
                  <a:gd name="T14" fmla="*/ 384 w 722"/>
                  <a:gd name="T15" fmla="*/ 178 h 248"/>
                  <a:gd name="T16" fmla="*/ 414 w 722"/>
                  <a:gd name="T17" fmla="*/ 161 h 248"/>
                  <a:gd name="T18" fmla="*/ 422 w 722"/>
                  <a:gd name="T19" fmla="*/ 147 h 248"/>
                  <a:gd name="T20" fmla="*/ 410 w 722"/>
                  <a:gd name="T21" fmla="*/ 136 h 248"/>
                  <a:gd name="T22" fmla="*/ 383 w 722"/>
                  <a:gd name="T23" fmla="*/ 131 h 248"/>
                  <a:gd name="T24" fmla="*/ 346 w 722"/>
                  <a:gd name="T25" fmla="*/ 131 h 248"/>
                  <a:gd name="T26" fmla="*/ 310 w 722"/>
                  <a:gd name="T27" fmla="*/ 133 h 248"/>
                  <a:gd name="T28" fmla="*/ 329 w 722"/>
                  <a:gd name="T29" fmla="*/ 116 h 248"/>
                  <a:gd name="T30" fmla="*/ 398 w 722"/>
                  <a:gd name="T31" fmla="*/ 97 h 248"/>
                  <a:gd name="T32" fmla="*/ 474 w 722"/>
                  <a:gd name="T33" fmla="*/ 88 h 248"/>
                  <a:gd name="T34" fmla="*/ 515 w 722"/>
                  <a:gd name="T35" fmla="*/ 78 h 248"/>
                  <a:gd name="T36" fmla="*/ 545 w 722"/>
                  <a:gd name="T37" fmla="*/ 66 h 248"/>
                  <a:gd name="T38" fmla="*/ 558 w 722"/>
                  <a:gd name="T39" fmla="*/ 54 h 248"/>
                  <a:gd name="T40" fmla="*/ 555 w 722"/>
                  <a:gd name="T41" fmla="*/ 45 h 248"/>
                  <a:gd name="T42" fmla="*/ 538 w 722"/>
                  <a:gd name="T43" fmla="*/ 40 h 248"/>
                  <a:gd name="T44" fmla="*/ 505 w 722"/>
                  <a:gd name="T45" fmla="*/ 38 h 248"/>
                  <a:gd name="T46" fmla="*/ 426 w 722"/>
                  <a:gd name="T47" fmla="*/ 47 h 248"/>
                  <a:gd name="T48" fmla="*/ 352 w 722"/>
                  <a:gd name="T49" fmla="*/ 71 h 248"/>
                  <a:gd name="T50" fmla="*/ 228 w 722"/>
                  <a:gd name="T51" fmla="*/ 64 h 248"/>
                  <a:gd name="T52" fmla="*/ 329 w 722"/>
                  <a:gd name="T53" fmla="*/ 28 h 248"/>
                  <a:gd name="T54" fmla="*/ 414 w 722"/>
                  <a:gd name="T55" fmla="*/ 11 h 248"/>
                  <a:gd name="T56" fmla="*/ 510 w 722"/>
                  <a:gd name="T57" fmla="*/ 2 h 248"/>
                  <a:gd name="T58" fmla="*/ 600 w 722"/>
                  <a:gd name="T59" fmla="*/ 0 h 248"/>
                  <a:gd name="T60" fmla="*/ 645 w 722"/>
                  <a:gd name="T61" fmla="*/ 4 h 248"/>
                  <a:gd name="T62" fmla="*/ 679 w 722"/>
                  <a:gd name="T63" fmla="*/ 9 h 248"/>
                  <a:gd name="T64" fmla="*/ 703 w 722"/>
                  <a:gd name="T65" fmla="*/ 18 h 248"/>
                  <a:gd name="T66" fmla="*/ 717 w 722"/>
                  <a:gd name="T67" fmla="*/ 28 h 248"/>
                  <a:gd name="T68" fmla="*/ 722 w 722"/>
                  <a:gd name="T69" fmla="*/ 37 h 248"/>
                  <a:gd name="T70" fmla="*/ 719 w 722"/>
                  <a:gd name="T71" fmla="*/ 47 h 248"/>
                  <a:gd name="T72" fmla="*/ 708 w 722"/>
                  <a:gd name="T73" fmla="*/ 57 h 248"/>
                  <a:gd name="T74" fmla="*/ 684 w 722"/>
                  <a:gd name="T75" fmla="*/ 71 h 248"/>
                  <a:gd name="T76" fmla="*/ 646 w 722"/>
                  <a:gd name="T77" fmla="*/ 85 h 248"/>
                  <a:gd name="T78" fmla="*/ 596 w 722"/>
                  <a:gd name="T79" fmla="*/ 97 h 248"/>
                  <a:gd name="T80" fmla="*/ 536 w 722"/>
                  <a:gd name="T81" fmla="*/ 109 h 248"/>
                  <a:gd name="T82" fmla="*/ 529 w 722"/>
                  <a:gd name="T83" fmla="*/ 116 h 248"/>
                  <a:gd name="T84" fmla="*/ 565 w 722"/>
                  <a:gd name="T85" fmla="*/ 126 h 248"/>
                  <a:gd name="T86" fmla="*/ 579 w 722"/>
                  <a:gd name="T87" fmla="*/ 142 h 248"/>
                  <a:gd name="T88" fmla="*/ 567 w 722"/>
                  <a:gd name="T89" fmla="*/ 161 h 248"/>
                  <a:gd name="T90" fmla="*/ 538 w 722"/>
                  <a:gd name="T91" fmla="*/ 180 h 248"/>
                  <a:gd name="T92" fmla="*/ 503 w 722"/>
                  <a:gd name="T93" fmla="*/ 193 h 248"/>
                  <a:gd name="T94" fmla="*/ 462 w 722"/>
                  <a:gd name="T95" fmla="*/ 207 h 248"/>
                  <a:gd name="T96" fmla="*/ 414 w 722"/>
                  <a:gd name="T97" fmla="*/ 221 h 248"/>
                  <a:gd name="T98" fmla="*/ 329 w 722"/>
                  <a:gd name="T99" fmla="*/ 236 h 248"/>
                  <a:gd name="T100" fmla="*/ 217 w 722"/>
                  <a:gd name="T101" fmla="*/ 247 h 248"/>
                  <a:gd name="T102" fmla="*/ 136 w 722"/>
                  <a:gd name="T103" fmla="*/ 248 h 248"/>
                  <a:gd name="T104" fmla="*/ 91 w 722"/>
                  <a:gd name="T105" fmla="*/ 245 h 248"/>
                  <a:gd name="T106" fmla="*/ 57 w 722"/>
                  <a:gd name="T107" fmla="*/ 242 h 248"/>
                  <a:gd name="T108" fmla="*/ 29 w 722"/>
                  <a:gd name="T109" fmla="*/ 235 h 248"/>
                  <a:gd name="T110" fmla="*/ 10 w 722"/>
                  <a:gd name="T111" fmla="*/ 224 h 248"/>
                  <a:gd name="T112" fmla="*/ 2 w 722"/>
                  <a:gd name="T113" fmla="*/ 214 h 248"/>
                  <a:gd name="T114" fmla="*/ 2 w 722"/>
                  <a:gd name="T115" fmla="*/ 200 h 248"/>
                  <a:gd name="T116" fmla="*/ 12 w 722"/>
                  <a:gd name="T117" fmla="*/ 1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2" h="248">
                    <a:moveTo>
                      <a:pt x="21" y="180"/>
                    </a:moveTo>
                    <a:lnTo>
                      <a:pt x="98" y="178"/>
                    </a:lnTo>
                    <a:lnTo>
                      <a:pt x="174" y="174"/>
                    </a:lnTo>
                    <a:lnTo>
                      <a:pt x="165" y="181"/>
                    </a:lnTo>
                    <a:lnTo>
                      <a:pt x="162" y="188"/>
                    </a:lnTo>
                    <a:lnTo>
                      <a:pt x="162" y="195"/>
                    </a:lnTo>
                    <a:lnTo>
                      <a:pt x="167" y="200"/>
                    </a:lnTo>
                    <a:lnTo>
                      <a:pt x="176" y="205"/>
                    </a:lnTo>
                    <a:lnTo>
                      <a:pt x="190" y="207"/>
                    </a:lnTo>
                    <a:lnTo>
                      <a:pt x="205" y="209"/>
                    </a:lnTo>
                    <a:lnTo>
                      <a:pt x="226" y="209"/>
                    </a:lnTo>
                    <a:lnTo>
                      <a:pt x="272" y="207"/>
                    </a:lnTo>
                    <a:lnTo>
                      <a:pt x="322" y="198"/>
                    </a:lnTo>
                    <a:lnTo>
                      <a:pt x="346" y="193"/>
                    </a:lnTo>
                    <a:lnTo>
                      <a:pt x="367" y="186"/>
                    </a:lnTo>
                    <a:lnTo>
                      <a:pt x="384" y="178"/>
                    </a:lnTo>
                    <a:lnTo>
                      <a:pt x="402" y="169"/>
                    </a:lnTo>
                    <a:lnTo>
                      <a:pt x="414" y="161"/>
                    </a:lnTo>
                    <a:lnTo>
                      <a:pt x="421" y="154"/>
                    </a:lnTo>
                    <a:lnTo>
                      <a:pt x="422" y="147"/>
                    </a:lnTo>
                    <a:lnTo>
                      <a:pt x="419" y="142"/>
                    </a:lnTo>
                    <a:lnTo>
                      <a:pt x="410" y="136"/>
                    </a:lnTo>
                    <a:lnTo>
                      <a:pt x="398" y="135"/>
                    </a:lnTo>
                    <a:lnTo>
                      <a:pt x="383" y="131"/>
                    </a:lnTo>
                    <a:lnTo>
                      <a:pt x="362" y="131"/>
                    </a:lnTo>
                    <a:lnTo>
                      <a:pt x="346" y="131"/>
                    </a:lnTo>
                    <a:lnTo>
                      <a:pt x="329" y="133"/>
                    </a:lnTo>
                    <a:lnTo>
                      <a:pt x="310" y="133"/>
                    </a:lnTo>
                    <a:lnTo>
                      <a:pt x="288" y="135"/>
                    </a:lnTo>
                    <a:lnTo>
                      <a:pt x="329" y="116"/>
                    </a:lnTo>
                    <a:lnTo>
                      <a:pt x="369" y="97"/>
                    </a:lnTo>
                    <a:lnTo>
                      <a:pt x="398" y="97"/>
                    </a:lnTo>
                    <a:lnTo>
                      <a:pt x="424" y="95"/>
                    </a:lnTo>
                    <a:lnTo>
                      <a:pt x="474" y="88"/>
                    </a:lnTo>
                    <a:lnTo>
                      <a:pt x="496" y="83"/>
                    </a:lnTo>
                    <a:lnTo>
                      <a:pt x="515" y="78"/>
                    </a:lnTo>
                    <a:lnTo>
                      <a:pt x="531" y="73"/>
                    </a:lnTo>
                    <a:lnTo>
                      <a:pt x="545" y="66"/>
                    </a:lnTo>
                    <a:lnTo>
                      <a:pt x="553" y="59"/>
                    </a:lnTo>
                    <a:lnTo>
                      <a:pt x="558" y="54"/>
                    </a:lnTo>
                    <a:lnTo>
                      <a:pt x="558" y="49"/>
                    </a:lnTo>
                    <a:lnTo>
                      <a:pt x="555" y="45"/>
                    </a:lnTo>
                    <a:lnTo>
                      <a:pt x="548" y="43"/>
                    </a:lnTo>
                    <a:lnTo>
                      <a:pt x="538" y="40"/>
                    </a:lnTo>
                    <a:lnTo>
                      <a:pt x="522" y="38"/>
                    </a:lnTo>
                    <a:lnTo>
                      <a:pt x="505" y="38"/>
                    </a:lnTo>
                    <a:lnTo>
                      <a:pt x="465" y="40"/>
                    </a:lnTo>
                    <a:lnTo>
                      <a:pt x="426" y="47"/>
                    </a:lnTo>
                    <a:lnTo>
                      <a:pt x="386" y="57"/>
                    </a:lnTo>
                    <a:lnTo>
                      <a:pt x="352" y="71"/>
                    </a:lnTo>
                    <a:lnTo>
                      <a:pt x="290" y="68"/>
                    </a:lnTo>
                    <a:lnTo>
                      <a:pt x="228" y="64"/>
                    </a:lnTo>
                    <a:lnTo>
                      <a:pt x="279" y="43"/>
                    </a:lnTo>
                    <a:lnTo>
                      <a:pt x="329" y="28"/>
                    </a:lnTo>
                    <a:lnTo>
                      <a:pt x="384" y="16"/>
                    </a:lnTo>
                    <a:lnTo>
                      <a:pt x="414" y="11"/>
                    </a:lnTo>
                    <a:lnTo>
                      <a:pt x="445" y="7"/>
                    </a:lnTo>
                    <a:lnTo>
                      <a:pt x="510" y="2"/>
                    </a:lnTo>
                    <a:lnTo>
                      <a:pt x="574" y="0"/>
                    </a:lnTo>
                    <a:lnTo>
                      <a:pt x="600" y="0"/>
                    </a:lnTo>
                    <a:lnTo>
                      <a:pt x="624" y="2"/>
                    </a:lnTo>
                    <a:lnTo>
                      <a:pt x="645" y="4"/>
                    </a:lnTo>
                    <a:lnTo>
                      <a:pt x="664" y="6"/>
                    </a:lnTo>
                    <a:lnTo>
                      <a:pt x="679" y="9"/>
                    </a:lnTo>
                    <a:lnTo>
                      <a:pt x="693" y="12"/>
                    </a:lnTo>
                    <a:lnTo>
                      <a:pt x="703" y="18"/>
                    </a:lnTo>
                    <a:lnTo>
                      <a:pt x="712" y="23"/>
                    </a:lnTo>
                    <a:lnTo>
                      <a:pt x="717" y="28"/>
                    </a:lnTo>
                    <a:lnTo>
                      <a:pt x="720" y="31"/>
                    </a:lnTo>
                    <a:lnTo>
                      <a:pt x="722" y="37"/>
                    </a:lnTo>
                    <a:lnTo>
                      <a:pt x="722" y="42"/>
                    </a:lnTo>
                    <a:lnTo>
                      <a:pt x="719" y="47"/>
                    </a:lnTo>
                    <a:lnTo>
                      <a:pt x="713" y="52"/>
                    </a:lnTo>
                    <a:lnTo>
                      <a:pt x="708" y="57"/>
                    </a:lnTo>
                    <a:lnTo>
                      <a:pt x="700" y="62"/>
                    </a:lnTo>
                    <a:lnTo>
                      <a:pt x="684" y="71"/>
                    </a:lnTo>
                    <a:lnTo>
                      <a:pt x="667" y="78"/>
                    </a:lnTo>
                    <a:lnTo>
                      <a:pt x="646" y="85"/>
                    </a:lnTo>
                    <a:lnTo>
                      <a:pt x="624" y="92"/>
                    </a:lnTo>
                    <a:lnTo>
                      <a:pt x="596" y="97"/>
                    </a:lnTo>
                    <a:lnTo>
                      <a:pt x="569" y="104"/>
                    </a:lnTo>
                    <a:lnTo>
                      <a:pt x="536" y="109"/>
                    </a:lnTo>
                    <a:lnTo>
                      <a:pt x="502" y="114"/>
                    </a:lnTo>
                    <a:lnTo>
                      <a:pt x="529" y="116"/>
                    </a:lnTo>
                    <a:lnTo>
                      <a:pt x="550" y="121"/>
                    </a:lnTo>
                    <a:lnTo>
                      <a:pt x="565" y="126"/>
                    </a:lnTo>
                    <a:lnTo>
                      <a:pt x="576" y="133"/>
                    </a:lnTo>
                    <a:lnTo>
                      <a:pt x="579" y="142"/>
                    </a:lnTo>
                    <a:lnTo>
                      <a:pt x="576" y="152"/>
                    </a:lnTo>
                    <a:lnTo>
                      <a:pt x="567" y="161"/>
                    </a:lnTo>
                    <a:lnTo>
                      <a:pt x="551" y="171"/>
                    </a:lnTo>
                    <a:lnTo>
                      <a:pt x="538" y="180"/>
                    </a:lnTo>
                    <a:lnTo>
                      <a:pt x="520" y="186"/>
                    </a:lnTo>
                    <a:lnTo>
                      <a:pt x="503" y="193"/>
                    </a:lnTo>
                    <a:lnTo>
                      <a:pt x="483" y="202"/>
                    </a:lnTo>
                    <a:lnTo>
                      <a:pt x="462" y="207"/>
                    </a:lnTo>
                    <a:lnTo>
                      <a:pt x="438" y="214"/>
                    </a:lnTo>
                    <a:lnTo>
                      <a:pt x="414" y="221"/>
                    </a:lnTo>
                    <a:lnTo>
                      <a:pt x="386" y="226"/>
                    </a:lnTo>
                    <a:lnTo>
                      <a:pt x="329" y="236"/>
                    </a:lnTo>
                    <a:lnTo>
                      <a:pt x="274" y="243"/>
                    </a:lnTo>
                    <a:lnTo>
                      <a:pt x="217" y="247"/>
                    </a:lnTo>
                    <a:lnTo>
                      <a:pt x="162" y="248"/>
                    </a:lnTo>
                    <a:lnTo>
                      <a:pt x="136" y="248"/>
                    </a:lnTo>
                    <a:lnTo>
                      <a:pt x="114" y="247"/>
                    </a:lnTo>
                    <a:lnTo>
                      <a:pt x="91" y="245"/>
                    </a:lnTo>
                    <a:lnTo>
                      <a:pt x="72" y="243"/>
                    </a:lnTo>
                    <a:lnTo>
                      <a:pt x="57" y="242"/>
                    </a:lnTo>
                    <a:lnTo>
                      <a:pt x="41" y="238"/>
                    </a:lnTo>
                    <a:lnTo>
                      <a:pt x="29" y="235"/>
                    </a:lnTo>
                    <a:lnTo>
                      <a:pt x="19" y="230"/>
                    </a:lnTo>
                    <a:lnTo>
                      <a:pt x="10" y="224"/>
                    </a:lnTo>
                    <a:lnTo>
                      <a:pt x="5" y="219"/>
                    </a:lnTo>
                    <a:lnTo>
                      <a:pt x="2" y="214"/>
                    </a:lnTo>
                    <a:lnTo>
                      <a:pt x="0" y="207"/>
                    </a:lnTo>
                    <a:lnTo>
                      <a:pt x="2" y="200"/>
                    </a:lnTo>
                    <a:lnTo>
                      <a:pt x="5" y="195"/>
                    </a:lnTo>
                    <a:lnTo>
                      <a:pt x="12" y="186"/>
                    </a:lnTo>
                    <a:lnTo>
                      <a:pt x="21" y="18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24" name="Freeform 1068"/>
              <p:cNvSpPr>
                <a:spLocks noEditPoints="1"/>
              </p:cNvSpPr>
              <p:nvPr/>
            </p:nvSpPr>
            <p:spPr bwMode="auto">
              <a:xfrm>
                <a:off x="2112" y="3020"/>
                <a:ext cx="360" cy="124"/>
              </a:xfrm>
              <a:custGeom>
                <a:avLst/>
                <a:gdLst>
                  <a:gd name="T0" fmla="*/ 95 w 719"/>
                  <a:gd name="T1" fmla="*/ 186 h 248"/>
                  <a:gd name="T2" fmla="*/ 164 w 719"/>
                  <a:gd name="T3" fmla="*/ 190 h 248"/>
                  <a:gd name="T4" fmla="*/ 161 w 719"/>
                  <a:gd name="T5" fmla="*/ 200 h 248"/>
                  <a:gd name="T6" fmla="*/ 171 w 719"/>
                  <a:gd name="T7" fmla="*/ 207 h 248"/>
                  <a:gd name="T8" fmla="*/ 195 w 719"/>
                  <a:gd name="T9" fmla="*/ 211 h 248"/>
                  <a:gd name="T10" fmla="*/ 237 w 719"/>
                  <a:gd name="T11" fmla="*/ 209 h 248"/>
                  <a:gd name="T12" fmla="*/ 312 w 719"/>
                  <a:gd name="T13" fmla="*/ 197 h 248"/>
                  <a:gd name="T14" fmla="*/ 373 w 719"/>
                  <a:gd name="T15" fmla="*/ 176 h 248"/>
                  <a:gd name="T16" fmla="*/ 447 w 719"/>
                  <a:gd name="T17" fmla="*/ 142 h 248"/>
                  <a:gd name="T18" fmla="*/ 357 w 719"/>
                  <a:gd name="T19" fmla="*/ 157 h 248"/>
                  <a:gd name="T20" fmla="*/ 271 w 719"/>
                  <a:gd name="T21" fmla="*/ 162 h 248"/>
                  <a:gd name="T22" fmla="*/ 230 w 719"/>
                  <a:gd name="T23" fmla="*/ 161 h 248"/>
                  <a:gd name="T24" fmla="*/ 195 w 719"/>
                  <a:gd name="T25" fmla="*/ 157 h 248"/>
                  <a:gd name="T26" fmla="*/ 169 w 719"/>
                  <a:gd name="T27" fmla="*/ 150 h 248"/>
                  <a:gd name="T28" fmla="*/ 150 w 719"/>
                  <a:gd name="T29" fmla="*/ 140 h 248"/>
                  <a:gd name="T30" fmla="*/ 142 w 719"/>
                  <a:gd name="T31" fmla="*/ 128 h 248"/>
                  <a:gd name="T32" fmla="*/ 143 w 719"/>
                  <a:gd name="T33" fmla="*/ 114 h 248"/>
                  <a:gd name="T34" fmla="*/ 157 w 719"/>
                  <a:gd name="T35" fmla="*/ 99 h 248"/>
                  <a:gd name="T36" fmla="*/ 181 w 719"/>
                  <a:gd name="T37" fmla="*/ 83 h 248"/>
                  <a:gd name="T38" fmla="*/ 256 w 719"/>
                  <a:gd name="T39" fmla="*/ 49 h 248"/>
                  <a:gd name="T40" fmla="*/ 352 w 719"/>
                  <a:gd name="T41" fmla="*/ 23 h 248"/>
                  <a:gd name="T42" fmla="*/ 459 w 719"/>
                  <a:gd name="T43" fmla="*/ 6 h 248"/>
                  <a:gd name="T44" fmla="*/ 567 w 719"/>
                  <a:gd name="T45" fmla="*/ 0 h 248"/>
                  <a:gd name="T46" fmla="*/ 621 w 719"/>
                  <a:gd name="T47" fmla="*/ 2 h 248"/>
                  <a:gd name="T48" fmla="*/ 664 w 719"/>
                  <a:gd name="T49" fmla="*/ 7 h 248"/>
                  <a:gd name="T50" fmla="*/ 695 w 719"/>
                  <a:gd name="T51" fmla="*/ 16 h 248"/>
                  <a:gd name="T52" fmla="*/ 714 w 719"/>
                  <a:gd name="T53" fmla="*/ 30 h 248"/>
                  <a:gd name="T54" fmla="*/ 719 w 719"/>
                  <a:gd name="T55" fmla="*/ 47 h 248"/>
                  <a:gd name="T56" fmla="*/ 707 w 719"/>
                  <a:gd name="T57" fmla="*/ 68 h 248"/>
                  <a:gd name="T58" fmla="*/ 678 w 719"/>
                  <a:gd name="T59" fmla="*/ 93 h 248"/>
                  <a:gd name="T60" fmla="*/ 631 w 719"/>
                  <a:gd name="T61" fmla="*/ 123 h 248"/>
                  <a:gd name="T62" fmla="*/ 516 w 719"/>
                  <a:gd name="T63" fmla="*/ 180 h 248"/>
                  <a:gd name="T64" fmla="*/ 392 w 719"/>
                  <a:gd name="T65" fmla="*/ 219 h 248"/>
                  <a:gd name="T66" fmla="*/ 264 w 719"/>
                  <a:gd name="T67" fmla="*/ 242 h 248"/>
                  <a:gd name="T68" fmla="*/ 137 w 719"/>
                  <a:gd name="T69" fmla="*/ 248 h 248"/>
                  <a:gd name="T70" fmla="*/ 94 w 719"/>
                  <a:gd name="T71" fmla="*/ 247 h 248"/>
                  <a:gd name="T72" fmla="*/ 61 w 719"/>
                  <a:gd name="T73" fmla="*/ 245 h 248"/>
                  <a:gd name="T74" fmla="*/ 33 w 719"/>
                  <a:gd name="T75" fmla="*/ 240 h 248"/>
                  <a:gd name="T76" fmla="*/ 14 w 719"/>
                  <a:gd name="T77" fmla="*/ 233 h 248"/>
                  <a:gd name="T78" fmla="*/ 2 w 719"/>
                  <a:gd name="T79" fmla="*/ 224 h 248"/>
                  <a:gd name="T80" fmla="*/ 0 w 719"/>
                  <a:gd name="T81" fmla="*/ 214 h 248"/>
                  <a:gd name="T82" fmla="*/ 6 w 719"/>
                  <a:gd name="T83" fmla="*/ 202 h 248"/>
                  <a:gd name="T84" fmla="*/ 18 w 719"/>
                  <a:gd name="T85" fmla="*/ 188 h 248"/>
                  <a:gd name="T86" fmla="*/ 526 w 719"/>
                  <a:gd name="T87" fmla="*/ 86 h 248"/>
                  <a:gd name="T88" fmla="*/ 542 w 719"/>
                  <a:gd name="T89" fmla="*/ 76 h 248"/>
                  <a:gd name="T90" fmla="*/ 554 w 719"/>
                  <a:gd name="T91" fmla="*/ 59 h 248"/>
                  <a:gd name="T92" fmla="*/ 543 w 719"/>
                  <a:gd name="T93" fmla="*/ 47 h 248"/>
                  <a:gd name="T94" fmla="*/ 516 w 719"/>
                  <a:gd name="T95" fmla="*/ 40 h 248"/>
                  <a:gd name="T96" fmla="*/ 454 w 719"/>
                  <a:gd name="T97" fmla="*/ 42 h 248"/>
                  <a:gd name="T98" fmla="*/ 388 w 719"/>
                  <a:gd name="T99" fmla="*/ 55 h 248"/>
                  <a:gd name="T100" fmla="*/ 326 w 719"/>
                  <a:gd name="T101" fmla="*/ 83 h 248"/>
                  <a:gd name="T102" fmla="*/ 300 w 719"/>
                  <a:gd name="T103" fmla="*/ 104 h 248"/>
                  <a:gd name="T104" fmla="*/ 299 w 719"/>
                  <a:gd name="T105" fmla="*/ 118 h 248"/>
                  <a:gd name="T106" fmla="*/ 318 w 719"/>
                  <a:gd name="T107" fmla="*/ 126 h 248"/>
                  <a:gd name="T108" fmla="*/ 354 w 719"/>
                  <a:gd name="T109" fmla="*/ 128 h 248"/>
                  <a:gd name="T110" fmla="*/ 445 w 719"/>
                  <a:gd name="T111" fmla="*/ 118 h 248"/>
                  <a:gd name="T112" fmla="*/ 509 w 719"/>
                  <a:gd name="T113" fmla="*/ 97 h 248"/>
                  <a:gd name="T114" fmla="*/ 526 w 719"/>
                  <a:gd name="T115" fmla="*/ 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19" h="248">
                    <a:moveTo>
                      <a:pt x="18" y="188"/>
                    </a:moveTo>
                    <a:lnTo>
                      <a:pt x="95" y="186"/>
                    </a:lnTo>
                    <a:lnTo>
                      <a:pt x="171" y="183"/>
                    </a:lnTo>
                    <a:lnTo>
                      <a:pt x="164" y="190"/>
                    </a:lnTo>
                    <a:lnTo>
                      <a:pt x="161" y="195"/>
                    </a:lnTo>
                    <a:lnTo>
                      <a:pt x="161" y="200"/>
                    </a:lnTo>
                    <a:lnTo>
                      <a:pt x="164" y="204"/>
                    </a:lnTo>
                    <a:lnTo>
                      <a:pt x="171" y="207"/>
                    </a:lnTo>
                    <a:lnTo>
                      <a:pt x="181" y="209"/>
                    </a:lnTo>
                    <a:lnTo>
                      <a:pt x="195" y="211"/>
                    </a:lnTo>
                    <a:lnTo>
                      <a:pt x="212" y="211"/>
                    </a:lnTo>
                    <a:lnTo>
                      <a:pt x="237" y="209"/>
                    </a:lnTo>
                    <a:lnTo>
                      <a:pt x="261" y="207"/>
                    </a:lnTo>
                    <a:lnTo>
                      <a:pt x="312" y="197"/>
                    </a:lnTo>
                    <a:lnTo>
                      <a:pt x="342" y="188"/>
                    </a:lnTo>
                    <a:lnTo>
                      <a:pt x="373" y="176"/>
                    </a:lnTo>
                    <a:lnTo>
                      <a:pt x="409" y="161"/>
                    </a:lnTo>
                    <a:lnTo>
                      <a:pt x="447" y="142"/>
                    </a:lnTo>
                    <a:lnTo>
                      <a:pt x="402" y="150"/>
                    </a:lnTo>
                    <a:lnTo>
                      <a:pt x="357" y="157"/>
                    </a:lnTo>
                    <a:lnTo>
                      <a:pt x="314" y="161"/>
                    </a:lnTo>
                    <a:lnTo>
                      <a:pt x="271" y="162"/>
                    </a:lnTo>
                    <a:lnTo>
                      <a:pt x="249" y="162"/>
                    </a:lnTo>
                    <a:lnTo>
                      <a:pt x="230" y="161"/>
                    </a:lnTo>
                    <a:lnTo>
                      <a:pt x="211" y="159"/>
                    </a:lnTo>
                    <a:lnTo>
                      <a:pt x="195" y="157"/>
                    </a:lnTo>
                    <a:lnTo>
                      <a:pt x="181" y="154"/>
                    </a:lnTo>
                    <a:lnTo>
                      <a:pt x="169" y="150"/>
                    </a:lnTo>
                    <a:lnTo>
                      <a:pt x="159" y="145"/>
                    </a:lnTo>
                    <a:lnTo>
                      <a:pt x="150" y="140"/>
                    </a:lnTo>
                    <a:lnTo>
                      <a:pt x="145" y="135"/>
                    </a:lnTo>
                    <a:lnTo>
                      <a:pt x="142" y="128"/>
                    </a:lnTo>
                    <a:lnTo>
                      <a:pt x="142" y="121"/>
                    </a:lnTo>
                    <a:lnTo>
                      <a:pt x="143" y="114"/>
                    </a:lnTo>
                    <a:lnTo>
                      <a:pt x="149" y="107"/>
                    </a:lnTo>
                    <a:lnTo>
                      <a:pt x="157" y="99"/>
                    </a:lnTo>
                    <a:lnTo>
                      <a:pt x="168" y="92"/>
                    </a:lnTo>
                    <a:lnTo>
                      <a:pt x="181" y="83"/>
                    </a:lnTo>
                    <a:lnTo>
                      <a:pt x="216" y="66"/>
                    </a:lnTo>
                    <a:lnTo>
                      <a:pt x="256" y="49"/>
                    </a:lnTo>
                    <a:lnTo>
                      <a:pt x="300" y="35"/>
                    </a:lnTo>
                    <a:lnTo>
                      <a:pt x="352" y="23"/>
                    </a:lnTo>
                    <a:lnTo>
                      <a:pt x="405" y="12"/>
                    </a:lnTo>
                    <a:lnTo>
                      <a:pt x="459" y="6"/>
                    </a:lnTo>
                    <a:lnTo>
                      <a:pt x="514" y="2"/>
                    </a:lnTo>
                    <a:lnTo>
                      <a:pt x="567" y="0"/>
                    </a:lnTo>
                    <a:lnTo>
                      <a:pt x="595" y="0"/>
                    </a:lnTo>
                    <a:lnTo>
                      <a:pt x="621" y="2"/>
                    </a:lnTo>
                    <a:lnTo>
                      <a:pt x="645" y="4"/>
                    </a:lnTo>
                    <a:lnTo>
                      <a:pt x="664" y="7"/>
                    </a:lnTo>
                    <a:lnTo>
                      <a:pt x="681" y="11"/>
                    </a:lnTo>
                    <a:lnTo>
                      <a:pt x="695" y="16"/>
                    </a:lnTo>
                    <a:lnTo>
                      <a:pt x="705" y="23"/>
                    </a:lnTo>
                    <a:lnTo>
                      <a:pt x="714" y="30"/>
                    </a:lnTo>
                    <a:lnTo>
                      <a:pt x="719" y="37"/>
                    </a:lnTo>
                    <a:lnTo>
                      <a:pt x="719" y="47"/>
                    </a:lnTo>
                    <a:lnTo>
                      <a:pt x="716" y="55"/>
                    </a:lnTo>
                    <a:lnTo>
                      <a:pt x="707" y="68"/>
                    </a:lnTo>
                    <a:lnTo>
                      <a:pt x="695" y="80"/>
                    </a:lnTo>
                    <a:lnTo>
                      <a:pt x="678" y="93"/>
                    </a:lnTo>
                    <a:lnTo>
                      <a:pt x="657" y="107"/>
                    </a:lnTo>
                    <a:lnTo>
                      <a:pt x="631" y="123"/>
                    </a:lnTo>
                    <a:lnTo>
                      <a:pt x="574" y="154"/>
                    </a:lnTo>
                    <a:lnTo>
                      <a:pt x="516" y="180"/>
                    </a:lnTo>
                    <a:lnTo>
                      <a:pt x="454" y="202"/>
                    </a:lnTo>
                    <a:lnTo>
                      <a:pt x="392" y="219"/>
                    </a:lnTo>
                    <a:lnTo>
                      <a:pt x="328" y="231"/>
                    </a:lnTo>
                    <a:lnTo>
                      <a:pt x="264" y="242"/>
                    </a:lnTo>
                    <a:lnTo>
                      <a:pt x="200" y="247"/>
                    </a:lnTo>
                    <a:lnTo>
                      <a:pt x="137" y="248"/>
                    </a:lnTo>
                    <a:lnTo>
                      <a:pt x="114" y="248"/>
                    </a:lnTo>
                    <a:lnTo>
                      <a:pt x="94" y="247"/>
                    </a:lnTo>
                    <a:lnTo>
                      <a:pt x="76" y="247"/>
                    </a:lnTo>
                    <a:lnTo>
                      <a:pt x="61" y="245"/>
                    </a:lnTo>
                    <a:lnTo>
                      <a:pt x="45" y="243"/>
                    </a:lnTo>
                    <a:lnTo>
                      <a:pt x="33" y="240"/>
                    </a:lnTo>
                    <a:lnTo>
                      <a:pt x="23" y="236"/>
                    </a:lnTo>
                    <a:lnTo>
                      <a:pt x="14" y="233"/>
                    </a:lnTo>
                    <a:lnTo>
                      <a:pt x="7" y="230"/>
                    </a:lnTo>
                    <a:lnTo>
                      <a:pt x="2" y="224"/>
                    </a:lnTo>
                    <a:lnTo>
                      <a:pt x="0" y="219"/>
                    </a:lnTo>
                    <a:lnTo>
                      <a:pt x="0" y="214"/>
                    </a:lnTo>
                    <a:lnTo>
                      <a:pt x="2" y="209"/>
                    </a:lnTo>
                    <a:lnTo>
                      <a:pt x="6" y="202"/>
                    </a:lnTo>
                    <a:lnTo>
                      <a:pt x="11" y="195"/>
                    </a:lnTo>
                    <a:lnTo>
                      <a:pt x="18" y="188"/>
                    </a:lnTo>
                    <a:lnTo>
                      <a:pt x="18" y="188"/>
                    </a:lnTo>
                    <a:close/>
                    <a:moveTo>
                      <a:pt x="526" y="86"/>
                    </a:moveTo>
                    <a:lnTo>
                      <a:pt x="535" y="81"/>
                    </a:lnTo>
                    <a:lnTo>
                      <a:pt x="542" y="76"/>
                    </a:lnTo>
                    <a:lnTo>
                      <a:pt x="552" y="68"/>
                    </a:lnTo>
                    <a:lnTo>
                      <a:pt x="554" y="59"/>
                    </a:lnTo>
                    <a:lnTo>
                      <a:pt x="552" y="52"/>
                    </a:lnTo>
                    <a:lnTo>
                      <a:pt x="543" y="47"/>
                    </a:lnTo>
                    <a:lnTo>
                      <a:pt x="531" y="42"/>
                    </a:lnTo>
                    <a:lnTo>
                      <a:pt x="516" y="40"/>
                    </a:lnTo>
                    <a:lnTo>
                      <a:pt x="497" y="38"/>
                    </a:lnTo>
                    <a:lnTo>
                      <a:pt x="454" y="42"/>
                    </a:lnTo>
                    <a:lnTo>
                      <a:pt x="411" y="49"/>
                    </a:lnTo>
                    <a:lnTo>
                      <a:pt x="388" y="55"/>
                    </a:lnTo>
                    <a:lnTo>
                      <a:pt x="368" y="62"/>
                    </a:lnTo>
                    <a:lnTo>
                      <a:pt x="326" y="83"/>
                    </a:lnTo>
                    <a:lnTo>
                      <a:pt x="311" y="93"/>
                    </a:lnTo>
                    <a:lnTo>
                      <a:pt x="300" y="104"/>
                    </a:lnTo>
                    <a:lnTo>
                      <a:pt x="297" y="111"/>
                    </a:lnTo>
                    <a:lnTo>
                      <a:pt x="299" y="118"/>
                    </a:lnTo>
                    <a:lnTo>
                      <a:pt x="305" y="123"/>
                    </a:lnTo>
                    <a:lnTo>
                      <a:pt x="318" y="126"/>
                    </a:lnTo>
                    <a:lnTo>
                      <a:pt x="333" y="128"/>
                    </a:lnTo>
                    <a:lnTo>
                      <a:pt x="354" y="128"/>
                    </a:lnTo>
                    <a:lnTo>
                      <a:pt x="399" y="126"/>
                    </a:lnTo>
                    <a:lnTo>
                      <a:pt x="445" y="118"/>
                    </a:lnTo>
                    <a:lnTo>
                      <a:pt x="488" y="105"/>
                    </a:lnTo>
                    <a:lnTo>
                      <a:pt x="509" y="97"/>
                    </a:lnTo>
                    <a:lnTo>
                      <a:pt x="526" y="86"/>
                    </a:lnTo>
                    <a:lnTo>
                      <a:pt x="526" y="8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25" name="Freeform 1069"/>
              <p:cNvSpPr>
                <a:spLocks/>
              </p:cNvSpPr>
              <p:nvPr/>
            </p:nvSpPr>
            <p:spPr bwMode="auto">
              <a:xfrm>
                <a:off x="1438" y="3006"/>
                <a:ext cx="424" cy="122"/>
              </a:xfrm>
              <a:custGeom>
                <a:avLst/>
                <a:gdLst>
                  <a:gd name="T0" fmla="*/ 558 w 848"/>
                  <a:gd name="T1" fmla="*/ 222 h 243"/>
                  <a:gd name="T2" fmla="*/ 0 w 848"/>
                  <a:gd name="T3" fmla="*/ 243 h 243"/>
                  <a:gd name="T4" fmla="*/ 58 w 848"/>
                  <a:gd name="T5" fmla="*/ 220 h 243"/>
                  <a:gd name="T6" fmla="*/ 129 w 848"/>
                  <a:gd name="T7" fmla="*/ 196 h 243"/>
                  <a:gd name="T8" fmla="*/ 176 w 848"/>
                  <a:gd name="T9" fmla="*/ 184 h 243"/>
                  <a:gd name="T10" fmla="*/ 236 w 848"/>
                  <a:gd name="T11" fmla="*/ 172 h 243"/>
                  <a:gd name="T12" fmla="*/ 308 w 848"/>
                  <a:gd name="T13" fmla="*/ 157 h 243"/>
                  <a:gd name="T14" fmla="*/ 395 w 848"/>
                  <a:gd name="T15" fmla="*/ 139 h 243"/>
                  <a:gd name="T16" fmla="*/ 463 w 848"/>
                  <a:gd name="T17" fmla="*/ 126 h 243"/>
                  <a:gd name="T18" fmla="*/ 517 w 848"/>
                  <a:gd name="T19" fmla="*/ 115 h 243"/>
                  <a:gd name="T20" fmla="*/ 558 w 848"/>
                  <a:gd name="T21" fmla="*/ 107 h 243"/>
                  <a:gd name="T22" fmla="*/ 584 w 848"/>
                  <a:gd name="T23" fmla="*/ 100 h 243"/>
                  <a:gd name="T24" fmla="*/ 632 w 848"/>
                  <a:gd name="T25" fmla="*/ 86 h 243"/>
                  <a:gd name="T26" fmla="*/ 663 w 848"/>
                  <a:gd name="T27" fmla="*/ 70 h 243"/>
                  <a:gd name="T28" fmla="*/ 681 w 848"/>
                  <a:gd name="T29" fmla="*/ 57 h 243"/>
                  <a:gd name="T30" fmla="*/ 677 w 848"/>
                  <a:gd name="T31" fmla="*/ 46 h 243"/>
                  <a:gd name="T32" fmla="*/ 655 w 848"/>
                  <a:gd name="T33" fmla="*/ 39 h 243"/>
                  <a:gd name="T34" fmla="*/ 617 w 848"/>
                  <a:gd name="T35" fmla="*/ 38 h 243"/>
                  <a:gd name="T36" fmla="*/ 527 w 848"/>
                  <a:gd name="T37" fmla="*/ 46 h 243"/>
                  <a:gd name="T38" fmla="*/ 467 w 848"/>
                  <a:gd name="T39" fmla="*/ 67 h 243"/>
                  <a:gd name="T40" fmla="*/ 377 w 848"/>
                  <a:gd name="T41" fmla="*/ 74 h 243"/>
                  <a:gd name="T42" fmla="*/ 346 w 848"/>
                  <a:gd name="T43" fmla="*/ 55 h 243"/>
                  <a:gd name="T44" fmla="*/ 434 w 848"/>
                  <a:gd name="T45" fmla="*/ 26 h 243"/>
                  <a:gd name="T46" fmla="*/ 532 w 848"/>
                  <a:gd name="T47" fmla="*/ 10 h 243"/>
                  <a:gd name="T48" fmla="*/ 634 w 848"/>
                  <a:gd name="T49" fmla="*/ 1 h 243"/>
                  <a:gd name="T50" fmla="*/ 713 w 848"/>
                  <a:gd name="T51" fmla="*/ 0 h 243"/>
                  <a:gd name="T52" fmla="*/ 760 w 848"/>
                  <a:gd name="T53" fmla="*/ 3 h 243"/>
                  <a:gd name="T54" fmla="*/ 798 w 848"/>
                  <a:gd name="T55" fmla="*/ 7 h 243"/>
                  <a:gd name="T56" fmla="*/ 824 w 848"/>
                  <a:gd name="T57" fmla="*/ 15 h 243"/>
                  <a:gd name="T58" fmla="*/ 841 w 848"/>
                  <a:gd name="T59" fmla="*/ 24 h 243"/>
                  <a:gd name="T60" fmla="*/ 848 w 848"/>
                  <a:gd name="T61" fmla="*/ 36 h 243"/>
                  <a:gd name="T62" fmla="*/ 844 w 848"/>
                  <a:gd name="T63" fmla="*/ 46 h 243"/>
                  <a:gd name="T64" fmla="*/ 829 w 848"/>
                  <a:gd name="T65" fmla="*/ 60 h 243"/>
                  <a:gd name="T66" fmla="*/ 803 w 848"/>
                  <a:gd name="T67" fmla="*/ 76 h 243"/>
                  <a:gd name="T68" fmla="*/ 748 w 848"/>
                  <a:gd name="T69" fmla="*/ 98 h 243"/>
                  <a:gd name="T70" fmla="*/ 698 w 848"/>
                  <a:gd name="T71" fmla="*/ 113 h 243"/>
                  <a:gd name="T72" fmla="*/ 636 w 848"/>
                  <a:gd name="T73" fmla="*/ 129 h 243"/>
                  <a:gd name="T74" fmla="*/ 608 w 848"/>
                  <a:gd name="T75" fmla="*/ 134 h 243"/>
                  <a:gd name="T76" fmla="*/ 575 w 848"/>
                  <a:gd name="T77" fmla="*/ 143 h 243"/>
                  <a:gd name="T78" fmla="*/ 534 w 848"/>
                  <a:gd name="T79" fmla="*/ 150 h 243"/>
                  <a:gd name="T80" fmla="*/ 486 w 848"/>
                  <a:gd name="T81" fmla="*/ 160 h 243"/>
                  <a:gd name="T82" fmla="*/ 439 w 848"/>
                  <a:gd name="T83" fmla="*/ 169 h 243"/>
                  <a:gd name="T84" fmla="*/ 401 w 848"/>
                  <a:gd name="T85" fmla="*/ 177 h 243"/>
                  <a:gd name="T86" fmla="*/ 372 w 848"/>
                  <a:gd name="T87" fmla="*/ 182 h 243"/>
                  <a:gd name="T88" fmla="*/ 351 w 848"/>
                  <a:gd name="T89" fmla="*/ 188 h 243"/>
                  <a:gd name="T90" fmla="*/ 300 w 848"/>
                  <a:gd name="T91" fmla="*/ 200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48" h="243">
                    <a:moveTo>
                      <a:pt x="594" y="200"/>
                    </a:moveTo>
                    <a:lnTo>
                      <a:pt x="558" y="222"/>
                    </a:lnTo>
                    <a:lnTo>
                      <a:pt x="522" y="243"/>
                    </a:lnTo>
                    <a:lnTo>
                      <a:pt x="0" y="243"/>
                    </a:lnTo>
                    <a:lnTo>
                      <a:pt x="27" y="231"/>
                    </a:lnTo>
                    <a:lnTo>
                      <a:pt x="58" y="220"/>
                    </a:lnTo>
                    <a:lnTo>
                      <a:pt x="91" y="208"/>
                    </a:lnTo>
                    <a:lnTo>
                      <a:pt x="129" y="196"/>
                    </a:lnTo>
                    <a:lnTo>
                      <a:pt x="152" y="191"/>
                    </a:lnTo>
                    <a:lnTo>
                      <a:pt x="176" y="184"/>
                    </a:lnTo>
                    <a:lnTo>
                      <a:pt x="203" y="179"/>
                    </a:lnTo>
                    <a:lnTo>
                      <a:pt x="236" y="172"/>
                    </a:lnTo>
                    <a:lnTo>
                      <a:pt x="270" y="165"/>
                    </a:lnTo>
                    <a:lnTo>
                      <a:pt x="308" y="157"/>
                    </a:lnTo>
                    <a:lnTo>
                      <a:pt x="350" y="148"/>
                    </a:lnTo>
                    <a:lnTo>
                      <a:pt x="395" y="139"/>
                    </a:lnTo>
                    <a:lnTo>
                      <a:pt x="431" y="132"/>
                    </a:lnTo>
                    <a:lnTo>
                      <a:pt x="463" y="126"/>
                    </a:lnTo>
                    <a:lnTo>
                      <a:pt x="491" y="120"/>
                    </a:lnTo>
                    <a:lnTo>
                      <a:pt x="517" y="115"/>
                    </a:lnTo>
                    <a:lnTo>
                      <a:pt x="539" y="110"/>
                    </a:lnTo>
                    <a:lnTo>
                      <a:pt x="558" y="107"/>
                    </a:lnTo>
                    <a:lnTo>
                      <a:pt x="572" y="103"/>
                    </a:lnTo>
                    <a:lnTo>
                      <a:pt x="584" y="100"/>
                    </a:lnTo>
                    <a:lnTo>
                      <a:pt x="610" y="93"/>
                    </a:lnTo>
                    <a:lnTo>
                      <a:pt x="632" y="86"/>
                    </a:lnTo>
                    <a:lnTo>
                      <a:pt x="650" y="77"/>
                    </a:lnTo>
                    <a:lnTo>
                      <a:pt x="663" y="70"/>
                    </a:lnTo>
                    <a:lnTo>
                      <a:pt x="674" y="64"/>
                    </a:lnTo>
                    <a:lnTo>
                      <a:pt x="681" y="57"/>
                    </a:lnTo>
                    <a:lnTo>
                      <a:pt x="681" y="51"/>
                    </a:lnTo>
                    <a:lnTo>
                      <a:pt x="677" y="46"/>
                    </a:lnTo>
                    <a:lnTo>
                      <a:pt x="669" y="43"/>
                    </a:lnTo>
                    <a:lnTo>
                      <a:pt x="655" y="39"/>
                    </a:lnTo>
                    <a:lnTo>
                      <a:pt x="637" y="38"/>
                    </a:lnTo>
                    <a:lnTo>
                      <a:pt x="617" y="38"/>
                    </a:lnTo>
                    <a:lnTo>
                      <a:pt x="572" y="39"/>
                    </a:lnTo>
                    <a:lnTo>
                      <a:pt x="527" y="46"/>
                    </a:lnTo>
                    <a:lnTo>
                      <a:pt x="486" y="58"/>
                    </a:lnTo>
                    <a:lnTo>
                      <a:pt x="467" y="67"/>
                    </a:lnTo>
                    <a:lnTo>
                      <a:pt x="448" y="76"/>
                    </a:lnTo>
                    <a:lnTo>
                      <a:pt x="377" y="74"/>
                    </a:lnTo>
                    <a:lnTo>
                      <a:pt x="307" y="72"/>
                    </a:lnTo>
                    <a:lnTo>
                      <a:pt x="346" y="55"/>
                    </a:lnTo>
                    <a:lnTo>
                      <a:pt x="389" y="39"/>
                    </a:lnTo>
                    <a:lnTo>
                      <a:pt x="434" y="26"/>
                    </a:lnTo>
                    <a:lnTo>
                      <a:pt x="482" y="17"/>
                    </a:lnTo>
                    <a:lnTo>
                      <a:pt x="532" y="10"/>
                    </a:lnTo>
                    <a:lnTo>
                      <a:pt x="582" y="3"/>
                    </a:lnTo>
                    <a:lnTo>
                      <a:pt x="634" y="1"/>
                    </a:lnTo>
                    <a:lnTo>
                      <a:pt x="686" y="0"/>
                    </a:lnTo>
                    <a:lnTo>
                      <a:pt x="713" y="0"/>
                    </a:lnTo>
                    <a:lnTo>
                      <a:pt x="737" y="1"/>
                    </a:lnTo>
                    <a:lnTo>
                      <a:pt x="760" y="3"/>
                    </a:lnTo>
                    <a:lnTo>
                      <a:pt x="781" y="5"/>
                    </a:lnTo>
                    <a:lnTo>
                      <a:pt x="798" y="7"/>
                    </a:lnTo>
                    <a:lnTo>
                      <a:pt x="812" y="10"/>
                    </a:lnTo>
                    <a:lnTo>
                      <a:pt x="824" y="15"/>
                    </a:lnTo>
                    <a:lnTo>
                      <a:pt x="834" y="19"/>
                    </a:lnTo>
                    <a:lnTo>
                      <a:pt x="841" y="24"/>
                    </a:lnTo>
                    <a:lnTo>
                      <a:pt x="846" y="29"/>
                    </a:lnTo>
                    <a:lnTo>
                      <a:pt x="848" y="36"/>
                    </a:lnTo>
                    <a:lnTo>
                      <a:pt x="848" y="41"/>
                    </a:lnTo>
                    <a:lnTo>
                      <a:pt x="844" y="46"/>
                    </a:lnTo>
                    <a:lnTo>
                      <a:pt x="837" y="53"/>
                    </a:lnTo>
                    <a:lnTo>
                      <a:pt x="829" y="60"/>
                    </a:lnTo>
                    <a:lnTo>
                      <a:pt x="818" y="67"/>
                    </a:lnTo>
                    <a:lnTo>
                      <a:pt x="803" y="76"/>
                    </a:lnTo>
                    <a:lnTo>
                      <a:pt x="786" y="84"/>
                    </a:lnTo>
                    <a:lnTo>
                      <a:pt x="748" y="98"/>
                    </a:lnTo>
                    <a:lnTo>
                      <a:pt x="724" y="107"/>
                    </a:lnTo>
                    <a:lnTo>
                      <a:pt x="698" y="113"/>
                    </a:lnTo>
                    <a:lnTo>
                      <a:pt x="669" y="122"/>
                    </a:lnTo>
                    <a:lnTo>
                      <a:pt x="636" y="129"/>
                    </a:lnTo>
                    <a:lnTo>
                      <a:pt x="624" y="132"/>
                    </a:lnTo>
                    <a:lnTo>
                      <a:pt x="608" y="134"/>
                    </a:lnTo>
                    <a:lnTo>
                      <a:pt x="593" y="138"/>
                    </a:lnTo>
                    <a:lnTo>
                      <a:pt x="575" y="143"/>
                    </a:lnTo>
                    <a:lnTo>
                      <a:pt x="555" y="146"/>
                    </a:lnTo>
                    <a:lnTo>
                      <a:pt x="534" y="150"/>
                    </a:lnTo>
                    <a:lnTo>
                      <a:pt x="512" y="155"/>
                    </a:lnTo>
                    <a:lnTo>
                      <a:pt x="486" y="160"/>
                    </a:lnTo>
                    <a:lnTo>
                      <a:pt x="462" y="165"/>
                    </a:lnTo>
                    <a:lnTo>
                      <a:pt x="439" y="169"/>
                    </a:lnTo>
                    <a:lnTo>
                      <a:pt x="419" y="174"/>
                    </a:lnTo>
                    <a:lnTo>
                      <a:pt x="401" y="177"/>
                    </a:lnTo>
                    <a:lnTo>
                      <a:pt x="384" y="181"/>
                    </a:lnTo>
                    <a:lnTo>
                      <a:pt x="372" y="182"/>
                    </a:lnTo>
                    <a:lnTo>
                      <a:pt x="360" y="186"/>
                    </a:lnTo>
                    <a:lnTo>
                      <a:pt x="351" y="188"/>
                    </a:lnTo>
                    <a:lnTo>
                      <a:pt x="324" y="194"/>
                    </a:lnTo>
                    <a:lnTo>
                      <a:pt x="300" y="200"/>
                    </a:lnTo>
                    <a:lnTo>
                      <a:pt x="594" y="20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26" name="Freeform 1070"/>
              <p:cNvSpPr>
                <a:spLocks/>
              </p:cNvSpPr>
              <p:nvPr/>
            </p:nvSpPr>
            <p:spPr bwMode="auto">
              <a:xfrm>
                <a:off x="1791" y="3006"/>
                <a:ext cx="361" cy="124"/>
              </a:xfrm>
              <a:custGeom>
                <a:avLst/>
                <a:gdLst>
                  <a:gd name="T0" fmla="*/ 98 w 722"/>
                  <a:gd name="T1" fmla="*/ 177 h 248"/>
                  <a:gd name="T2" fmla="*/ 165 w 722"/>
                  <a:gd name="T3" fmla="*/ 181 h 248"/>
                  <a:gd name="T4" fmla="*/ 162 w 722"/>
                  <a:gd name="T5" fmla="*/ 194 h 248"/>
                  <a:gd name="T6" fmla="*/ 175 w 722"/>
                  <a:gd name="T7" fmla="*/ 205 h 248"/>
                  <a:gd name="T8" fmla="*/ 205 w 722"/>
                  <a:gd name="T9" fmla="*/ 208 h 248"/>
                  <a:gd name="T10" fmla="*/ 272 w 722"/>
                  <a:gd name="T11" fmla="*/ 207 h 248"/>
                  <a:gd name="T12" fmla="*/ 346 w 722"/>
                  <a:gd name="T13" fmla="*/ 193 h 248"/>
                  <a:gd name="T14" fmla="*/ 384 w 722"/>
                  <a:gd name="T15" fmla="*/ 177 h 248"/>
                  <a:gd name="T16" fmla="*/ 413 w 722"/>
                  <a:gd name="T17" fmla="*/ 160 h 248"/>
                  <a:gd name="T18" fmla="*/ 422 w 722"/>
                  <a:gd name="T19" fmla="*/ 146 h 248"/>
                  <a:gd name="T20" fmla="*/ 410 w 722"/>
                  <a:gd name="T21" fmla="*/ 136 h 248"/>
                  <a:gd name="T22" fmla="*/ 382 w 722"/>
                  <a:gd name="T23" fmla="*/ 131 h 248"/>
                  <a:gd name="T24" fmla="*/ 346 w 722"/>
                  <a:gd name="T25" fmla="*/ 131 h 248"/>
                  <a:gd name="T26" fmla="*/ 310 w 722"/>
                  <a:gd name="T27" fmla="*/ 132 h 248"/>
                  <a:gd name="T28" fmla="*/ 329 w 722"/>
                  <a:gd name="T29" fmla="*/ 115 h 248"/>
                  <a:gd name="T30" fmla="*/ 398 w 722"/>
                  <a:gd name="T31" fmla="*/ 96 h 248"/>
                  <a:gd name="T32" fmla="*/ 474 w 722"/>
                  <a:gd name="T33" fmla="*/ 88 h 248"/>
                  <a:gd name="T34" fmla="*/ 515 w 722"/>
                  <a:gd name="T35" fmla="*/ 77 h 248"/>
                  <a:gd name="T36" fmla="*/ 544 w 722"/>
                  <a:gd name="T37" fmla="*/ 65 h 248"/>
                  <a:gd name="T38" fmla="*/ 558 w 722"/>
                  <a:gd name="T39" fmla="*/ 53 h 248"/>
                  <a:gd name="T40" fmla="*/ 555 w 722"/>
                  <a:gd name="T41" fmla="*/ 45 h 248"/>
                  <a:gd name="T42" fmla="*/ 537 w 722"/>
                  <a:gd name="T43" fmla="*/ 39 h 248"/>
                  <a:gd name="T44" fmla="*/ 505 w 722"/>
                  <a:gd name="T45" fmla="*/ 38 h 248"/>
                  <a:gd name="T46" fmla="*/ 425 w 722"/>
                  <a:gd name="T47" fmla="*/ 46 h 248"/>
                  <a:gd name="T48" fmla="*/ 351 w 722"/>
                  <a:gd name="T49" fmla="*/ 70 h 248"/>
                  <a:gd name="T50" fmla="*/ 227 w 722"/>
                  <a:gd name="T51" fmla="*/ 64 h 248"/>
                  <a:gd name="T52" fmla="*/ 329 w 722"/>
                  <a:gd name="T53" fmla="*/ 27 h 248"/>
                  <a:gd name="T54" fmla="*/ 413 w 722"/>
                  <a:gd name="T55" fmla="*/ 10 h 248"/>
                  <a:gd name="T56" fmla="*/ 510 w 722"/>
                  <a:gd name="T57" fmla="*/ 1 h 248"/>
                  <a:gd name="T58" fmla="*/ 599 w 722"/>
                  <a:gd name="T59" fmla="*/ 0 h 248"/>
                  <a:gd name="T60" fmla="*/ 644 w 722"/>
                  <a:gd name="T61" fmla="*/ 3 h 248"/>
                  <a:gd name="T62" fmla="*/ 679 w 722"/>
                  <a:gd name="T63" fmla="*/ 8 h 248"/>
                  <a:gd name="T64" fmla="*/ 703 w 722"/>
                  <a:gd name="T65" fmla="*/ 17 h 248"/>
                  <a:gd name="T66" fmla="*/ 717 w 722"/>
                  <a:gd name="T67" fmla="*/ 27 h 248"/>
                  <a:gd name="T68" fmla="*/ 722 w 722"/>
                  <a:gd name="T69" fmla="*/ 36 h 248"/>
                  <a:gd name="T70" fmla="*/ 718 w 722"/>
                  <a:gd name="T71" fmla="*/ 46 h 248"/>
                  <a:gd name="T72" fmla="*/ 708 w 722"/>
                  <a:gd name="T73" fmla="*/ 57 h 248"/>
                  <a:gd name="T74" fmla="*/ 684 w 722"/>
                  <a:gd name="T75" fmla="*/ 70 h 248"/>
                  <a:gd name="T76" fmla="*/ 646 w 722"/>
                  <a:gd name="T77" fmla="*/ 84 h 248"/>
                  <a:gd name="T78" fmla="*/ 596 w 722"/>
                  <a:gd name="T79" fmla="*/ 96 h 248"/>
                  <a:gd name="T80" fmla="*/ 536 w 722"/>
                  <a:gd name="T81" fmla="*/ 108 h 248"/>
                  <a:gd name="T82" fmla="*/ 529 w 722"/>
                  <a:gd name="T83" fmla="*/ 115 h 248"/>
                  <a:gd name="T84" fmla="*/ 565 w 722"/>
                  <a:gd name="T85" fmla="*/ 126 h 248"/>
                  <a:gd name="T86" fmla="*/ 579 w 722"/>
                  <a:gd name="T87" fmla="*/ 141 h 248"/>
                  <a:gd name="T88" fmla="*/ 567 w 722"/>
                  <a:gd name="T89" fmla="*/ 160 h 248"/>
                  <a:gd name="T90" fmla="*/ 537 w 722"/>
                  <a:gd name="T91" fmla="*/ 179 h 248"/>
                  <a:gd name="T92" fmla="*/ 503 w 722"/>
                  <a:gd name="T93" fmla="*/ 193 h 248"/>
                  <a:gd name="T94" fmla="*/ 462 w 722"/>
                  <a:gd name="T95" fmla="*/ 207 h 248"/>
                  <a:gd name="T96" fmla="*/ 413 w 722"/>
                  <a:gd name="T97" fmla="*/ 220 h 248"/>
                  <a:gd name="T98" fmla="*/ 329 w 722"/>
                  <a:gd name="T99" fmla="*/ 236 h 248"/>
                  <a:gd name="T100" fmla="*/ 217 w 722"/>
                  <a:gd name="T101" fmla="*/ 246 h 248"/>
                  <a:gd name="T102" fmla="*/ 136 w 722"/>
                  <a:gd name="T103" fmla="*/ 248 h 248"/>
                  <a:gd name="T104" fmla="*/ 91 w 722"/>
                  <a:gd name="T105" fmla="*/ 244 h 248"/>
                  <a:gd name="T106" fmla="*/ 57 w 722"/>
                  <a:gd name="T107" fmla="*/ 241 h 248"/>
                  <a:gd name="T108" fmla="*/ 29 w 722"/>
                  <a:gd name="T109" fmla="*/ 234 h 248"/>
                  <a:gd name="T110" fmla="*/ 10 w 722"/>
                  <a:gd name="T111" fmla="*/ 224 h 248"/>
                  <a:gd name="T112" fmla="*/ 1 w 722"/>
                  <a:gd name="T113" fmla="*/ 213 h 248"/>
                  <a:gd name="T114" fmla="*/ 1 w 722"/>
                  <a:gd name="T115" fmla="*/ 200 h 248"/>
                  <a:gd name="T116" fmla="*/ 12 w 722"/>
                  <a:gd name="T117" fmla="*/ 1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2" h="248">
                    <a:moveTo>
                      <a:pt x="20" y="179"/>
                    </a:moveTo>
                    <a:lnTo>
                      <a:pt x="98" y="177"/>
                    </a:lnTo>
                    <a:lnTo>
                      <a:pt x="174" y="174"/>
                    </a:lnTo>
                    <a:lnTo>
                      <a:pt x="165" y="181"/>
                    </a:lnTo>
                    <a:lnTo>
                      <a:pt x="162" y="188"/>
                    </a:lnTo>
                    <a:lnTo>
                      <a:pt x="162" y="194"/>
                    </a:lnTo>
                    <a:lnTo>
                      <a:pt x="167" y="200"/>
                    </a:lnTo>
                    <a:lnTo>
                      <a:pt x="175" y="205"/>
                    </a:lnTo>
                    <a:lnTo>
                      <a:pt x="189" y="207"/>
                    </a:lnTo>
                    <a:lnTo>
                      <a:pt x="205" y="208"/>
                    </a:lnTo>
                    <a:lnTo>
                      <a:pt x="225" y="208"/>
                    </a:lnTo>
                    <a:lnTo>
                      <a:pt x="272" y="207"/>
                    </a:lnTo>
                    <a:lnTo>
                      <a:pt x="322" y="198"/>
                    </a:lnTo>
                    <a:lnTo>
                      <a:pt x="346" y="193"/>
                    </a:lnTo>
                    <a:lnTo>
                      <a:pt x="367" y="186"/>
                    </a:lnTo>
                    <a:lnTo>
                      <a:pt x="384" y="177"/>
                    </a:lnTo>
                    <a:lnTo>
                      <a:pt x="401" y="169"/>
                    </a:lnTo>
                    <a:lnTo>
                      <a:pt x="413" y="160"/>
                    </a:lnTo>
                    <a:lnTo>
                      <a:pt x="420" y="153"/>
                    </a:lnTo>
                    <a:lnTo>
                      <a:pt x="422" y="146"/>
                    </a:lnTo>
                    <a:lnTo>
                      <a:pt x="418" y="141"/>
                    </a:lnTo>
                    <a:lnTo>
                      <a:pt x="410" y="136"/>
                    </a:lnTo>
                    <a:lnTo>
                      <a:pt x="398" y="134"/>
                    </a:lnTo>
                    <a:lnTo>
                      <a:pt x="382" y="131"/>
                    </a:lnTo>
                    <a:lnTo>
                      <a:pt x="362" y="131"/>
                    </a:lnTo>
                    <a:lnTo>
                      <a:pt x="346" y="131"/>
                    </a:lnTo>
                    <a:lnTo>
                      <a:pt x="329" y="132"/>
                    </a:lnTo>
                    <a:lnTo>
                      <a:pt x="310" y="132"/>
                    </a:lnTo>
                    <a:lnTo>
                      <a:pt x="287" y="134"/>
                    </a:lnTo>
                    <a:lnTo>
                      <a:pt x="329" y="115"/>
                    </a:lnTo>
                    <a:lnTo>
                      <a:pt x="368" y="96"/>
                    </a:lnTo>
                    <a:lnTo>
                      <a:pt x="398" y="96"/>
                    </a:lnTo>
                    <a:lnTo>
                      <a:pt x="424" y="95"/>
                    </a:lnTo>
                    <a:lnTo>
                      <a:pt x="474" y="88"/>
                    </a:lnTo>
                    <a:lnTo>
                      <a:pt x="496" y="82"/>
                    </a:lnTo>
                    <a:lnTo>
                      <a:pt x="515" y="77"/>
                    </a:lnTo>
                    <a:lnTo>
                      <a:pt x="530" y="72"/>
                    </a:lnTo>
                    <a:lnTo>
                      <a:pt x="544" y="65"/>
                    </a:lnTo>
                    <a:lnTo>
                      <a:pt x="553" y="58"/>
                    </a:lnTo>
                    <a:lnTo>
                      <a:pt x="558" y="53"/>
                    </a:lnTo>
                    <a:lnTo>
                      <a:pt x="558" y="48"/>
                    </a:lnTo>
                    <a:lnTo>
                      <a:pt x="555" y="45"/>
                    </a:lnTo>
                    <a:lnTo>
                      <a:pt x="548" y="43"/>
                    </a:lnTo>
                    <a:lnTo>
                      <a:pt x="537" y="39"/>
                    </a:lnTo>
                    <a:lnTo>
                      <a:pt x="522" y="38"/>
                    </a:lnTo>
                    <a:lnTo>
                      <a:pt x="505" y="38"/>
                    </a:lnTo>
                    <a:lnTo>
                      <a:pt x="465" y="39"/>
                    </a:lnTo>
                    <a:lnTo>
                      <a:pt x="425" y="46"/>
                    </a:lnTo>
                    <a:lnTo>
                      <a:pt x="386" y="57"/>
                    </a:lnTo>
                    <a:lnTo>
                      <a:pt x="351" y="70"/>
                    </a:lnTo>
                    <a:lnTo>
                      <a:pt x="289" y="67"/>
                    </a:lnTo>
                    <a:lnTo>
                      <a:pt x="227" y="64"/>
                    </a:lnTo>
                    <a:lnTo>
                      <a:pt x="279" y="43"/>
                    </a:lnTo>
                    <a:lnTo>
                      <a:pt x="329" y="27"/>
                    </a:lnTo>
                    <a:lnTo>
                      <a:pt x="384" y="15"/>
                    </a:lnTo>
                    <a:lnTo>
                      <a:pt x="413" y="10"/>
                    </a:lnTo>
                    <a:lnTo>
                      <a:pt x="444" y="7"/>
                    </a:lnTo>
                    <a:lnTo>
                      <a:pt x="510" y="1"/>
                    </a:lnTo>
                    <a:lnTo>
                      <a:pt x="574" y="0"/>
                    </a:lnTo>
                    <a:lnTo>
                      <a:pt x="599" y="0"/>
                    </a:lnTo>
                    <a:lnTo>
                      <a:pt x="624" y="1"/>
                    </a:lnTo>
                    <a:lnTo>
                      <a:pt x="644" y="3"/>
                    </a:lnTo>
                    <a:lnTo>
                      <a:pt x="663" y="5"/>
                    </a:lnTo>
                    <a:lnTo>
                      <a:pt x="679" y="8"/>
                    </a:lnTo>
                    <a:lnTo>
                      <a:pt x="692" y="12"/>
                    </a:lnTo>
                    <a:lnTo>
                      <a:pt x="703" y="17"/>
                    </a:lnTo>
                    <a:lnTo>
                      <a:pt x="711" y="22"/>
                    </a:lnTo>
                    <a:lnTo>
                      <a:pt x="717" y="27"/>
                    </a:lnTo>
                    <a:lnTo>
                      <a:pt x="720" y="31"/>
                    </a:lnTo>
                    <a:lnTo>
                      <a:pt x="722" y="36"/>
                    </a:lnTo>
                    <a:lnTo>
                      <a:pt x="722" y="41"/>
                    </a:lnTo>
                    <a:lnTo>
                      <a:pt x="718" y="46"/>
                    </a:lnTo>
                    <a:lnTo>
                      <a:pt x="713" y="51"/>
                    </a:lnTo>
                    <a:lnTo>
                      <a:pt x="708" y="57"/>
                    </a:lnTo>
                    <a:lnTo>
                      <a:pt x="699" y="62"/>
                    </a:lnTo>
                    <a:lnTo>
                      <a:pt x="684" y="70"/>
                    </a:lnTo>
                    <a:lnTo>
                      <a:pt x="667" y="77"/>
                    </a:lnTo>
                    <a:lnTo>
                      <a:pt x="646" y="84"/>
                    </a:lnTo>
                    <a:lnTo>
                      <a:pt x="624" y="91"/>
                    </a:lnTo>
                    <a:lnTo>
                      <a:pt x="596" y="96"/>
                    </a:lnTo>
                    <a:lnTo>
                      <a:pt x="568" y="103"/>
                    </a:lnTo>
                    <a:lnTo>
                      <a:pt x="536" y="108"/>
                    </a:lnTo>
                    <a:lnTo>
                      <a:pt x="501" y="113"/>
                    </a:lnTo>
                    <a:lnTo>
                      <a:pt x="529" y="115"/>
                    </a:lnTo>
                    <a:lnTo>
                      <a:pt x="549" y="120"/>
                    </a:lnTo>
                    <a:lnTo>
                      <a:pt x="565" y="126"/>
                    </a:lnTo>
                    <a:lnTo>
                      <a:pt x="575" y="132"/>
                    </a:lnTo>
                    <a:lnTo>
                      <a:pt x="579" y="141"/>
                    </a:lnTo>
                    <a:lnTo>
                      <a:pt x="575" y="151"/>
                    </a:lnTo>
                    <a:lnTo>
                      <a:pt x="567" y="160"/>
                    </a:lnTo>
                    <a:lnTo>
                      <a:pt x="551" y="170"/>
                    </a:lnTo>
                    <a:lnTo>
                      <a:pt x="537" y="179"/>
                    </a:lnTo>
                    <a:lnTo>
                      <a:pt x="520" y="186"/>
                    </a:lnTo>
                    <a:lnTo>
                      <a:pt x="503" y="193"/>
                    </a:lnTo>
                    <a:lnTo>
                      <a:pt x="482" y="201"/>
                    </a:lnTo>
                    <a:lnTo>
                      <a:pt x="462" y="207"/>
                    </a:lnTo>
                    <a:lnTo>
                      <a:pt x="437" y="213"/>
                    </a:lnTo>
                    <a:lnTo>
                      <a:pt x="413" y="220"/>
                    </a:lnTo>
                    <a:lnTo>
                      <a:pt x="386" y="225"/>
                    </a:lnTo>
                    <a:lnTo>
                      <a:pt x="329" y="236"/>
                    </a:lnTo>
                    <a:lnTo>
                      <a:pt x="274" y="243"/>
                    </a:lnTo>
                    <a:lnTo>
                      <a:pt x="217" y="246"/>
                    </a:lnTo>
                    <a:lnTo>
                      <a:pt x="162" y="248"/>
                    </a:lnTo>
                    <a:lnTo>
                      <a:pt x="136" y="248"/>
                    </a:lnTo>
                    <a:lnTo>
                      <a:pt x="113" y="246"/>
                    </a:lnTo>
                    <a:lnTo>
                      <a:pt x="91" y="244"/>
                    </a:lnTo>
                    <a:lnTo>
                      <a:pt x="72" y="243"/>
                    </a:lnTo>
                    <a:lnTo>
                      <a:pt x="57" y="241"/>
                    </a:lnTo>
                    <a:lnTo>
                      <a:pt x="41" y="238"/>
                    </a:lnTo>
                    <a:lnTo>
                      <a:pt x="29" y="234"/>
                    </a:lnTo>
                    <a:lnTo>
                      <a:pt x="19" y="229"/>
                    </a:lnTo>
                    <a:lnTo>
                      <a:pt x="10" y="224"/>
                    </a:lnTo>
                    <a:lnTo>
                      <a:pt x="5" y="219"/>
                    </a:lnTo>
                    <a:lnTo>
                      <a:pt x="1" y="213"/>
                    </a:lnTo>
                    <a:lnTo>
                      <a:pt x="0" y="207"/>
                    </a:lnTo>
                    <a:lnTo>
                      <a:pt x="1" y="200"/>
                    </a:lnTo>
                    <a:lnTo>
                      <a:pt x="5" y="194"/>
                    </a:lnTo>
                    <a:lnTo>
                      <a:pt x="12" y="186"/>
                    </a:lnTo>
                    <a:lnTo>
                      <a:pt x="20" y="179"/>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27" name="Freeform 1071"/>
              <p:cNvSpPr>
                <a:spLocks noEditPoints="1"/>
              </p:cNvSpPr>
              <p:nvPr/>
            </p:nvSpPr>
            <p:spPr bwMode="auto">
              <a:xfrm>
                <a:off x="2092" y="3006"/>
                <a:ext cx="359" cy="124"/>
              </a:xfrm>
              <a:custGeom>
                <a:avLst/>
                <a:gdLst>
                  <a:gd name="T0" fmla="*/ 95 w 719"/>
                  <a:gd name="T1" fmla="*/ 186 h 248"/>
                  <a:gd name="T2" fmla="*/ 164 w 719"/>
                  <a:gd name="T3" fmla="*/ 189 h 248"/>
                  <a:gd name="T4" fmla="*/ 160 w 719"/>
                  <a:gd name="T5" fmla="*/ 200 h 248"/>
                  <a:gd name="T6" fmla="*/ 171 w 719"/>
                  <a:gd name="T7" fmla="*/ 207 h 248"/>
                  <a:gd name="T8" fmla="*/ 195 w 719"/>
                  <a:gd name="T9" fmla="*/ 210 h 248"/>
                  <a:gd name="T10" fmla="*/ 236 w 719"/>
                  <a:gd name="T11" fmla="*/ 208 h 248"/>
                  <a:gd name="T12" fmla="*/ 312 w 719"/>
                  <a:gd name="T13" fmla="*/ 196 h 248"/>
                  <a:gd name="T14" fmla="*/ 372 w 719"/>
                  <a:gd name="T15" fmla="*/ 176 h 248"/>
                  <a:gd name="T16" fmla="*/ 446 w 719"/>
                  <a:gd name="T17" fmla="*/ 141 h 248"/>
                  <a:gd name="T18" fmla="*/ 357 w 719"/>
                  <a:gd name="T19" fmla="*/ 157 h 248"/>
                  <a:gd name="T20" fmla="*/ 271 w 719"/>
                  <a:gd name="T21" fmla="*/ 162 h 248"/>
                  <a:gd name="T22" fmla="*/ 229 w 719"/>
                  <a:gd name="T23" fmla="*/ 160 h 248"/>
                  <a:gd name="T24" fmla="*/ 195 w 719"/>
                  <a:gd name="T25" fmla="*/ 157 h 248"/>
                  <a:gd name="T26" fmla="*/ 169 w 719"/>
                  <a:gd name="T27" fmla="*/ 150 h 248"/>
                  <a:gd name="T28" fmla="*/ 150 w 719"/>
                  <a:gd name="T29" fmla="*/ 139 h 248"/>
                  <a:gd name="T30" fmla="*/ 141 w 719"/>
                  <a:gd name="T31" fmla="*/ 127 h 248"/>
                  <a:gd name="T32" fmla="*/ 143 w 719"/>
                  <a:gd name="T33" fmla="*/ 113 h 248"/>
                  <a:gd name="T34" fmla="*/ 157 w 719"/>
                  <a:gd name="T35" fmla="*/ 98 h 248"/>
                  <a:gd name="T36" fmla="*/ 181 w 719"/>
                  <a:gd name="T37" fmla="*/ 82 h 248"/>
                  <a:gd name="T38" fmla="*/ 255 w 719"/>
                  <a:gd name="T39" fmla="*/ 48 h 248"/>
                  <a:gd name="T40" fmla="*/ 352 w 719"/>
                  <a:gd name="T41" fmla="*/ 22 h 248"/>
                  <a:gd name="T42" fmla="*/ 458 w 719"/>
                  <a:gd name="T43" fmla="*/ 5 h 248"/>
                  <a:gd name="T44" fmla="*/ 567 w 719"/>
                  <a:gd name="T45" fmla="*/ 0 h 248"/>
                  <a:gd name="T46" fmla="*/ 620 w 719"/>
                  <a:gd name="T47" fmla="*/ 1 h 248"/>
                  <a:gd name="T48" fmla="*/ 664 w 719"/>
                  <a:gd name="T49" fmla="*/ 7 h 248"/>
                  <a:gd name="T50" fmla="*/ 695 w 719"/>
                  <a:gd name="T51" fmla="*/ 15 h 248"/>
                  <a:gd name="T52" fmla="*/ 714 w 719"/>
                  <a:gd name="T53" fmla="*/ 29 h 248"/>
                  <a:gd name="T54" fmla="*/ 719 w 719"/>
                  <a:gd name="T55" fmla="*/ 46 h 248"/>
                  <a:gd name="T56" fmla="*/ 707 w 719"/>
                  <a:gd name="T57" fmla="*/ 67 h 248"/>
                  <a:gd name="T58" fmla="*/ 677 w 719"/>
                  <a:gd name="T59" fmla="*/ 93 h 248"/>
                  <a:gd name="T60" fmla="*/ 631 w 719"/>
                  <a:gd name="T61" fmla="*/ 122 h 248"/>
                  <a:gd name="T62" fmla="*/ 515 w 719"/>
                  <a:gd name="T63" fmla="*/ 179 h 248"/>
                  <a:gd name="T64" fmla="*/ 391 w 719"/>
                  <a:gd name="T65" fmla="*/ 219 h 248"/>
                  <a:gd name="T66" fmla="*/ 264 w 719"/>
                  <a:gd name="T67" fmla="*/ 241 h 248"/>
                  <a:gd name="T68" fmla="*/ 136 w 719"/>
                  <a:gd name="T69" fmla="*/ 248 h 248"/>
                  <a:gd name="T70" fmla="*/ 93 w 719"/>
                  <a:gd name="T71" fmla="*/ 246 h 248"/>
                  <a:gd name="T72" fmla="*/ 60 w 719"/>
                  <a:gd name="T73" fmla="*/ 244 h 248"/>
                  <a:gd name="T74" fmla="*/ 33 w 719"/>
                  <a:gd name="T75" fmla="*/ 239 h 248"/>
                  <a:gd name="T76" fmla="*/ 14 w 719"/>
                  <a:gd name="T77" fmla="*/ 232 h 248"/>
                  <a:gd name="T78" fmla="*/ 2 w 719"/>
                  <a:gd name="T79" fmla="*/ 224 h 248"/>
                  <a:gd name="T80" fmla="*/ 0 w 719"/>
                  <a:gd name="T81" fmla="*/ 213 h 248"/>
                  <a:gd name="T82" fmla="*/ 5 w 719"/>
                  <a:gd name="T83" fmla="*/ 201 h 248"/>
                  <a:gd name="T84" fmla="*/ 17 w 719"/>
                  <a:gd name="T85" fmla="*/ 188 h 248"/>
                  <a:gd name="T86" fmla="*/ 526 w 719"/>
                  <a:gd name="T87" fmla="*/ 86 h 248"/>
                  <a:gd name="T88" fmla="*/ 541 w 719"/>
                  <a:gd name="T89" fmla="*/ 76 h 248"/>
                  <a:gd name="T90" fmla="*/ 553 w 719"/>
                  <a:gd name="T91" fmla="*/ 58 h 248"/>
                  <a:gd name="T92" fmla="*/ 543 w 719"/>
                  <a:gd name="T93" fmla="*/ 46 h 248"/>
                  <a:gd name="T94" fmla="*/ 515 w 719"/>
                  <a:gd name="T95" fmla="*/ 39 h 248"/>
                  <a:gd name="T96" fmla="*/ 453 w 719"/>
                  <a:gd name="T97" fmla="*/ 41 h 248"/>
                  <a:gd name="T98" fmla="*/ 388 w 719"/>
                  <a:gd name="T99" fmla="*/ 55 h 248"/>
                  <a:gd name="T100" fmla="*/ 326 w 719"/>
                  <a:gd name="T101" fmla="*/ 82 h 248"/>
                  <a:gd name="T102" fmla="*/ 300 w 719"/>
                  <a:gd name="T103" fmla="*/ 103 h 248"/>
                  <a:gd name="T104" fmla="*/ 298 w 719"/>
                  <a:gd name="T105" fmla="*/ 117 h 248"/>
                  <a:gd name="T106" fmla="*/ 317 w 719"/>
                  <a:gd name="T107" fmla="*/ 126 h 248"/>
                  <a:gd name="T108" fmla="*/ 353 w 719"/>
                  <a:gd name="T109" fmla="*/ 127 h 248"/>
                  <a:gd name="T110" fmla="*/ 445 w 719"/>
                  <a:gd name="T111" fmla="*/ 117 h 248"/>
                  <a:gd name="T112" fmla="*/ 508 w 719"/>
                  <a:gd name="T113" fmla="*/ 96 h 248"/>
                  <a:gd name="T114" fmla="*/ 526 w 719"/>
                  <a:gd name="T115" fmla="*/ 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19" h="248">
                    <a:moveTo>
                      <a:pt x="17" y="188"/>
                    </a:moveTo>
                    <a:lnTo>
                      <a:pt x="95" y="186"/>
                    </a:lnTo>
                    <a:lnTo>
                      <a:pt x="171" y="182"/>
                    </a:lnTo>
                    <a:lnTo>
                      <a:pt x="164" y="189"/>
                    </a:lnTo>
                    <a:lnTo>
                      <a:pt x="160" y="194"/>
                    </a:lnTo>
                    <a:lnTo>
                      <a:pt x="160" y="200"/>
                    </a:lnTo>
                    <a:lnTo>
                      <a:pt x="164" y="203"/>
                    </a:lnTo>
                    <a:lnTo>
                      <a:pt x="171" y="207"/>
                    </a:lnTo>
                    <a:lnTo>
                      <a:pt x="181" y="208"/>
                    </a:lnTo>
                    <a:lnTo>
                      <a:pt x="195" y="210"/>
                    </a:lnTo>
                    <a:lnTo>
                      <a:pt x="212" y="210"/>
                    </a:lnTo>
                    <a:lnTo>
                      <a:pt x="236" y="208"/>
                    </a:lnTo>
                    <a:lnTo>
                      <a:pt x="260" y="207"/>
                    </a:lnTo>
                    <a:lnTo>
                      <a:pt x="312" y="196"/>
                    </a:lnTo>
                    <a:lnTo>
                      <a:pt x="341" y="188"/>
                    </a:lnTo>
                    <a:lnTo>
                      <a:pt x="372" y="176"/>
                    </a:lnTo>
                    <a:lnTo>
                      <a:pt x="409" y="160"/>
                    </a:lnTo>
                    <a:lnTo>
                      <a:pt x="446" y="141"/>
                    </a:lnTo>
                    <a:lnTo>
                      <a:pt x="402" y="150"/>
                    </a:lnTo>
                    <a:lnTo>
                      <a:pt x="357" y="157"/>
                    </a:lnTo>
                    <a:lnTo>
                      <a:pt x="314" y="160"/>
                    </a:lnTo>
                    <a:lnTo>
                      <a:pt x="271" y="162"/>
                    </a:lnTo>
                    <a:lnTo>
                      <a:pt x="248" y="162"/>
                    </a:lnTo>
                    <a:lnTo>
                      <a:pt x="229" y="160"/>
                    </a:lnTo>
                    <a:lnTo>
                      <a:pt x="210" y="158"/>
                    </a:lnTo>
                    <a:lnTo>
                      <a:pt x="195" y="157"/>
                    </a:lnTo>
                    <a:lnTo>
                      <a:pt x="181" y="153"/>
                    </a:lnTo>
                    <a:lnTo>
                      <a:pt x="169" y="150"/>
                    </a:lnTo>
                    <a:lnTo>
                      <a:pt x="159" y="145"/>
                    </a:lnTo>
                    <a:lnTo>
                      <a:pt x="150" y="139"/>
                    </a:lnTo>
                    <a:lnTo>
                      <a:pt x="145" y="134"/>
                    </a:lnTo>
                    <a:lnTo>
                      <a:pt x="141" y="127"/>
                    </a:lnTo>
                    <a:lnTo>
                      <a:pt x="141" y="120"/>
                    </a:lnTo>
                    <a:lnTo>
                      <a:pt x="143" y="113"/>
                    </a:lnTo>
                    <a:lnTo>
                      <a:pt x="148" y="107"/>
                    </a:lnTo>
                    <a:lnTo>
                      <a:pt x="157" y="98"/>
                    </a:lnTo>
                    <a:lnTo>
                      <a:pt x="167" y="91"/>
                    </a:lnTo>
                    <a:lnTo>
                      <a:pt x="181" y="82"/>
                    </a:lnTo>
                    <a:lnTo>
                      <a:pt x="216" y="65"/>
                    </a:lnTo>
                    <a:lnTo>
                      <a:pt x="255" y="48"/>
                    </a:lnTo>
                    <a:lnTo>
                      <a:pt x="300" y="34"/>
                    </a:lnTo>
                    <a:lnTo>
                      <a:pt x="352" y="22"/>
                    </a:lnTo>
                    <a:lnTo>
                      <a:pt x="405" y="12"/>
                    </a:lnTo>
                    <a:lnTo>
                      <a:pt x="458" y="5"/>
                    </a:lnTo>
                    <a:lnTo>
                      <a:pt x="514" y="1"/>
                    </a:lnTo>
                    <a:lnTo>
                      <a:pt x="567" y="0"/>
                    </a:lnTo>
                    <a:lnTo>
                      <a:pt x="595" y="0"/>
                    </a:lnTo>
                    <a:lnTo>
                      <a:pt x="620" y="1"/>
                    </a:lnTo>
                    <a:lnTo>
                      <a:pt x="645" y="3"/>
                    </a:lnTo>
                    <a:lnTo>
                      <a:pt x="664" y="7"/>
                    </a:lnTo>
                    <a:lnTo>
                      <a:pt x="681" y="10"/>
                    </a:lnTo>
                    <a:lnTo>
                      <a:pt x="695" y="15"/>
                    </a:lnTo>
                    <a:lnTo>
                      <a:pt x="705" y="22"/>
                    </a:lnTo>
                    <a:lnTo>
                      <a:pt x="714" y="29"/>
                    </a:lnTo>
                    <a:lnTo>
                      <a:pt x="719" y="36"/>
                    </a:lnTo>
                    <a:lnTo>
                      <a:pt x="719" y="46"/>
                    </a:lnTo>
                    <a:lnTo>
                      <a:pt x="715" y="55"/>
                    </a:lnTo>
                    <a:lnTo>
                      <a:pt x="707" y="67"/>
                    </a:lnTo>
                    <a:lnTo>
                      <a:pt x="695" y="79"/>
                    </a:lnTo>
                    <a:lnTo>
                      <a:pt x="677" y="93"/>
                    </a:lnTo>
                    <a:lnTo>
                      <a:pt x="657" y="107"/>
                    </a:lnTo>
                    <a:lnTo>
                      <a:pt x="631" y="122"/>
                    </a:lnTo>
                    <a:lnTo>
                      <a:pt x="574" y="153"/>
                    </a:lnTo>
                    <a:lnTo>
                      <a:pt x="515" y="179"/>
                    </a:lnTo>
                    <a:lnTo>
                      <a:pt x="453" y="201"/>
                    </a:lnTo>
                    <a:lnTo>
                      <a:pt x="391" y="219"/>
                    </a:lnTo>
                    <a:lnTo>
                      <a:pt x="328" y="231"/>
                    </a:lnTo>
                    <a:lnTo>
                      <a:pt x="264" y="241"/>
                    </a:lnTo>
                    <a:lnTo>
                      <a:pt x="200" y="246"/>
                    </a:lnTo>
                    <a:lnTo>
                      <a:pt x="136" y="248"/>
                    </a:lnTo>
                    <a:lnTo>
                      <a:pt x="114" y="248"/>
                    </a:lnTo>
                    <a:lnTo>
                      <a:pt x="93" y="246"/>
                    </a:lnTo>
                    <a:lnTo>
                      <a:pt x="76" y="246"/>
                    </a:lnTo>
                    <a:lnTo>
                      <a:pt x="60" y="244"/>
                    </a:lnTo>
                    <a:lnTo>
                      <a:pt x="45" y="243"/>
                    </a:lnTo>
                    <a:lnTo>
                      <a:pt x="33" y="239"/>
                    </a:lnTo>
                    <a:lnTo>
                      <a:pt x="23" y="236"/>
                    </a:lnTo>
                    <a:lnTo>
                      <a:pt x="14" y="232"/>
                    </a:lnTo>
                    <a:lnTo>
                      <a:pt x="7" y="229"/>
                    </a:lnTo>
                    <a:lnTo>
                      <a:pt x="2" y="224"/>
                    </a:lnTo>
                    <a:lnTo>
                      <a:pt x="0" y="219"/>
                    </a:lnTo>
                    <a:lnTo>
                      <a:pt x="0" y="213"/>
                    </a:lnTo>
                    <a:lnTo>
                      <a:pt x="2" y="208"/>
                    </a:lnTo>
                    <a:lnTo>
                      <a:pt x="5" y="201"/>
                    </a:lnTo>
                    <a:lnTo>
                      <a:pt x="10" y="194"/>
                    </a:lnTo>
                    <a:lnTo>
                      <a:pt x="17" y="188"/>
                    </a:lnTo>
                    <a:lnTo>
                      <a:pt x="17" y="188"/>
                    </a:lnTo>
                    <a:close/>
                    <a:moveTo>
                      <a:pt x="526" y="86"/>
                    </a:moveTo>
                    <a:lnTo>
                      <a:pt x="534" y="81"/>
                    </a:lnTo>
                    <a:lnTo>
                      <a:pt x="541" y="76"/>
                    </a:lnTo>
                    <a:lnTo>
                      <a:pt x="552" y="67"/>
                    </a:lnTo>
                    <a:lnTo>
                      <a:pt x="553" y="58"/>
                    </a:lnTo>
                    <a:lnTo>
                      <a:pt x="552" y="51"/>
                    </a:lnTo>
                    <a:lnTo>
                      <a:pt x="543" y="46"/>
                    </a:lnTo>
                    <a:lnTo>
                      <a:pt x="531" y="41"/>
                    </a:lnTo>
                    <a:lnTo>
                      <a:pt x="515" y="39"/>
                    </a:lnTo>
                    <a:lnTo>
                      <a:pt x="496" y="38"/>
                    </a:lnTo>
                    <a:lnTo>
                      <a:pt x="453" y="41"/>
                    </a:lnTo>
                    <a:lnTo>
                      <a:pt x="410" y="48"/>
                    </a:lnTo>
                    <a:lnTo>
                      <a:pt x="388" y="55"/>
                    </a:lnTo>
                    <a:lnTo>
                      <a:pt x="367" y="62"/>
                    </a:lnTo>
                    <a:lnTo>
                      <a:pt x="326" y="82"/>
                    </a:lnTo>
                    <a:lnTo>
                      <a:pt x="310" y="93"/>
                    </a:lnTo>
                    <a:lnTo>
                      <a:pt x="300" y="103"/>
                    </a:lnTo>
                    <a:lnTo>
                      <a:pt x="297" y="110"/>
                    </a:lnTo>
                    <a:lnTo>
                      <a:pt x="298" y="117"/>
                    </a:lnTo>
                    <a:lnTo>
                      <a:pt x="305" y="122"/>
                    </a:lnTo>
                    <a:lnTo>
                      <a:pt x="317" y="126"/>
                    </a:lnTo>
                    <a:lnTo>
                      <a:pt x="333" y="127"/>
                    </a:lnTo>
                    <a:lnTo>
                      <a:pt x="353" y="127"/>
                    </a:lnTo>
                    <a:lnTo>
                      <a:pt x="398" y="126"/>
                    </a:lnTo>
                    <a:lnTo>
                      <a:pt x="445" y="117"/>
                    </a:lnTo>
                    <a:lnTo>
                      <a:pt x="488" y="105"/>
                    </a:lnTo>
                    <a:lnTo>
                      <a:pt x="508" y="96"/>
                    </a:lnTo>
                    <a:lnTo>
                      <a:pt x="526" y="86"/>
                    </a:lnTo>
                    <a:lnTo>
                      <a:pt x="526" y="86"/>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02128" name="Group 1072"/>
            <p:cNvGrpSpPr>
              <a:grpSpLocks/>
            </p:cNvGrpSpPr>
            <p:nvPr/>
          </p:nvGrpSpPr>
          <p:grpSpPr bwMode="auto">
            <a:xfrm>
              <a:off x="3376" y="3196"/>
              <a:ext cx="989" cy="138"/>
              <a:chOff x="3393" y="3213"/>
              <a:chExt cx="989" cy="138"/>
            </a:xfrm>
          </p:grpSpPr>
          <p:sp>
            <p:nvSpPr>
              <p:cNvPr id="302129" name="Freeform 1073"/>
              <p:cNvSpPr>
                <a:spLocks/>
              </p:cNvSpPr>
              <p:nvPr/>
            </p:nvSpPr>
            <p:spPr bwMode="auto">
              <a:xfrm>
                <a:off x="4010" y="3227"/>
                <a:ext cx="372" cy="124"/>
              </a:xfrm>
              <a:custGeom>
                <a:avLst/>
                <a:gdLst>
                  <a:gd name="T0" fmla="*/ 463 w 742"/>
                  <a:gd name="T1" fmla="*/ 177 h 248"/>
                  <a:gd name="T2" fmla="*/ 358 w 742"/>
                  <a:gd name="T3" fmla="*/ 189 h 248"/>
                  <a:gd name="T4" fmla="*/ 313 w 742"/>
                  <a:gd name="T5" fmla="*/ 200 h 248"/>
                  <a:gd name="T6" fmla="*/ 269 w 742"/>
                  <a:gd name="T7" fmla="*/ 207 h 248"/>
                  <a:gd name="T8" fmla="*/ 205 w 742"/>
                  <a:gd name="T9" fmla="*/ 208 h 248"/>
                  <a:gd name="T10" fmla="*/ 176 w 742"/>
                  <a:gd name="T11" fmla="*/ 203 h 248"/>
                  <a:gd name="T12" fmla="*/ 165 w 742"/>
                  <a:gd name="T13" fmla="*/ 193 h 248"/>
                  <a:gd name="T14" fmla="*/ 176 w 742"/>
                  <a:gd name="T15" fmla="*/ 177 h 248"/>
                  <a:gd name="T16" fmla="*/ 207 w 742"/>
                  <a:gd name="T17" fmla="*/ 160 h 248"/>
                  <a:gd name="T18" fmla="*/ 246 w 742"/>
                  <a:gd name="T19" fmla="*/ 146 h 248"/>
                  <a:gd name="T20" fmla="*/ 315 w 742"/>
                  <a:gd name="T21" fmla="*/ 134 h 248"/>
                  <a:gd name="T22" fmla="*/ 387 w 742"/>
                  <a:gd name="T23" fmla="*/ 133 h 248"/>
                  <a:gd name="T24" fmla="*/ 446 w 742"/>
                  <a:gd name="T25" fmla="*/ 115 h 248"/>
                  <a:gd name="T26" fmla="*/ 443 w 742"/>
                  <a:gd name="T27" fmla="*/ 96 h 248"/>
                  <a:gd name="T28" fmla="*/ 405 w 742"/>
                  <a:gd name="T29" fmla="*/ 93 h 248"/>
                  <a:gd name="T30" fmla="*/ 389 w 742"/>
                  <a:gd name="T31" fmla="*/ 83 h 248"/>
                  <a:gd name="T32" fmla="*/ 394 w 742"/>
                  <a:gd name="T33" fmla="*/ 72 h 248"/>
                  <a:gd name="T34" fmla="*/ 417 w 742"/>
                  <a:gd name="T35" fmla="*/ 58 h 248"/>
                  <a:gd name="T36" fmla="*/ 444 w 742"/>
                  <a:gd name="T37" fmla="*/ 48 h 248"/>
                  <a:gd name="T38" fmla="*/ 498 w 742"/>
                  <a:gd name="T39" fmla="*/ 40 h 248"/>
                  <a:gd name="T40" fmla="*/ 553 w 742"/>
                  <a:gd name="T41" fmla="*/ 38 h 248"/>
                  <a:gd name="T42" fmla="*/ 577 w 742"/>
                  <a:gd name="T43" fmla="*/ 43 h 248"/>
                  <a:gd name="T44" fmla="*/ 589 w 742"/>
                  <a:gd name="T45" fmla="*/ 52 h 248"/>
                  <a:gd name="T46" fmla="*/ 584 w 742"/>
                  <a:gd name="T47" fmla="*/ 64 h 248"/>
                  <a:gd name="T48" fmla="*/ 649 w 742"/>
                  <a:gd name="T49" fmla="*/ 67 h 248"/>
                  <a:gd name="T50" fmla="*/ 734 w 742"/>
                  <a:gd name="T51" fmla="*/ 53 h 248"/>
                  <a:gd name="T52" fmla="*/ 742 w 742"/>
                  <a:gd name="T53" fmla="*/ 34 h 248"/>
                  <a:gd name="T54" fmla="*/ 737 w 742"/>
                  <a:gd name="T55" fmla="*/ 21 h 248"/>
                  <a:gd name="T56" fmla="*/ 717 w 742"/>
                  <a:gd name="T57" fmla="*/ 10 h 248"/>
                  <a:gd name="T58" fmla="*/ 679 w 742"/>
                  <a:gd name="T59" fmla="*/ 3 h 248"/>
                  <a:gd name="T60" fmla="*/ 629 w 742"/>
                  <a:gd name="T61" fmla="*/ 0 h 248"/>
                  <a:gd name="T62" fmla="*/ 546 w 742"/>
                  <a:gd name="T63" fmla="*/ 2 h 248"/>
                  <a:gd name="T64" fmla="*/ 439 w 742"/>
                  <a:gd name="T65" fmla="*/ 12 h 248"/>
                  <a:gd name="T66" fmla="*/ 348 w 742"/>
                  <a:gd name="T67" fmla="*/ 31 h 248"/>
                  <a:gd name="T68" fmla="*/ 286 w 742"/>
                  <a:gd name="T69" fmla="*/ 52 h 248"/>
                  <a:gd name="T70" fmla="*/ 250 w 742"/>
                  <a:gd name="T71" fmla="*/ 71 h 248"/>
                  <a:gd name="T72" fmla="*/ 238 w 742"/>
                  <a:gd name="T73" fmla="*/ 84 h 248"/>
                  <a:gd name="T74" fmla="*/ 243 w 742"/>
                  <a:gd name="T75" fmla="*/ 96 h 248"/>
                  <a:gd name="T76" fmla="*/ 265 w 742"/>
                  <a:gd name="T77" fmla="*/ 108 h 248"/>
                  <a:gd name="T78" fmla="*/ 246 w 742"/>
                  <a:gd name="T79" fmla="*/ 115 h 248"/>
                  <a:gd name="T80" fmla="*/ 141 w 742"/>
                  <a:gd name="T81" fmla="*/ 133 h 248"/>
                  <a:gd name="T82" fmla="*/ 81 w 742"/>
                  <a:gd name="T83" fmla="*/ 150 h 248"/>
                  <a:gd name="T84" fmla="*/ 36 w 742"/>
                  <a:gd name="T85" fmla="*/ 170 h 248"/>
                  <a:gd name="T86" fmla="*/ 14 w 742"/>
                  <a:gd name="T87" fmla="*/ 186 h 248"/>
                  <a:gd name="T88" fmla="*/ 1 w 742"/>
                  <a:gd name="T89" fmla="*/ 201 h 248"/>
                  <a:gd name="T90" fmla="*/ 1 w 742"/>
                  <a:gd name="T91" fmla="*/ 214 h 248"/>
                  <a:gd name="T92" fmla="*/ 12 w 742"/>
                  <a:gd name="T93" fmla="*/ 226 h 248"/>
                  <a:gd name="T94" fmla="*/ 34 w 742"/>
                  <a:gd name="T95" fmla="*/ 236 h 248"/>
                  <a:gd name="T96" fmla="*/ 65 w 742"/>
                  <a:gd name="T97" fmla="*/ 243 h 248"/>
                  <a:gd name="T98" fmla="*/ 105 w 742"/>
                  <a:gd name="T99" fmla="*/ 246 h 248"/>
                  <a:gd name="T100" fmla="*/ 155 w 742"/>
                  <a:gd name="T101" fmla="*/ 248 h 248"/>
                  <a:gd name="T102" fmla="*/ 260 w 742"/>
                  <a:gd name="T103" fmla="*/ 243 h 248"/>
                  <a:gd name="T104" fmla="*/ 362 w 742"/>
                  <a:gd name="T105" fmla="*/ 229 h 248"/>
                  <a:gd name="T106" fmla="*/ 455 w 742"/>
                  <a:gd name="T107" fmla="*/ 207 h 248"/>
                  <a:gd name="T108" fmla="*/ 529 w 742"/>
                  <a:gd name="T109" fmla="*/ 17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42" h="248">
                    <a:moveTo>
                      <a:pt x="529" y="179"/>
                    </a:moveTo>
                    <a:lnTo>
                      <a:pt x="463" y="177"/>
                    </a:lnTo>
                    <a:lnTo>
                      <a:pt x="396" y="174"/>
                    </a:lnTo>
                    <a:lnTo>
                      <a:pt x="358" y="189"/>
                    </a:lnTo>
                    <a:lnTo>
                      <a:pt x="336" y="195"/>
                    </a:lnTo>
                    <a:lnTo>
                      <a:pt x="313" y="200"/>
                    </a:lnTo>
                    <a:lnTo>
                      <a:pt x="291" y="205"/>
                    </a:lnTo>
                    <a:lnTo>
                      <a:pt x="269" y="207"/>
                    </a:lnTo>
                    <a:lnTo>
                      <a:pt x="225" y="208"/>
                    </a:lnTo>
                    <a:lnTo>
                      <a:pt x="205" y="208"/>
                    </a:lnTo>
                    <a:lnTo>
                      <a:pt x="188" y="207"/>
                    </a:lnTo>
                    <a:lnTo>
                      <a:pt x="176" y="203"/>
                    </a:lnTo>
                    <a:lnTo>
                      <a:pt x="167" y="198"/>
                    </a:lnTo>
                    <a:lnTo>
                      <a:pt x="165" y="193"/>
                    </a:lnTo>
                    <a:lnTo>
                      <a:pt x="167" y="186"/>
                    </a:lnTo>
                    <a:lnTo>
                      <a:pt x="176" y="177"/>
                    </a:lnTo>
                    <a:lnTo>
                      <a:pt x="189" y="169"/>
                    </a:lnTo>
                    <a:lnTo>
                      <a:pt x="207" y="160"/>
                    </a:lnTo>
                    <a:lnTo>
                      <a:pt x="224" y="153"/>
                    </a:lnTo>
                    <a:lnTo>
                      <a:pt x="246" y="146"/>
                    </a:lnTo>
                    <a:lnTo>
                      <a:pt x="269" y="141"/>
                    </a:lnTo>
                    <a:lnTo>
                      <a:pt x="315" y="134"/>
                    </a:lnTo>
                    <a:lnTo>
                      <a:pt x="358" y="131"/>
                    </a:lnTo>
                    <a:lnTo>
                      <a:pt x="387" y="133"/>
                    </a:lnTo>
                    <a:lnTo>
                      <a:pt x="420" y="134"/>
                    </a:lnTo>
                    <a:lnTo>
                      <a:pt x="446" y="115"/>
                    </a:lnTo>
                    <a:lnTo>
                      <a:pt x="470" y="96"/>
                    </a:lnTo>
                    <a:lnTo>
                      <a:pt x="443" y="96"/>
                    </a:lnTo>
                    <a:lnTo>
                      <a:pt x="422" y="95"/>
                    </a:lnTo>
                    <a:lnTo>
                      <a:pt x="405" y="93"/>
                    </a:lnTo>
                    <a:lnTo>
                      <a:pt x="394" y="88"/>
                    </a:lnTo>
                    <a:lnTo>
                      <a:pt x="389" y="83"/>
                    </a:lnTo>
                    <a:lnTo>
                      <a:pt x="389" y="77"/>
                    </a:lnTo>
                    <a:lnTo>
                      <a:pt x="394" y="72"/>
                    </a:lnTo>
                    <a:lnTo>
                      <a:pt x="405" y="65"/>
                    </a:lnTo>
                    <a:lnTo>
                      <a:pt x="417" y="58"/>
                    </a:lnTo>
                    <a:lnTo>
                      <a:pt x="429" y="53"/>
                    </a:lnTo>
                    <a:lnTo>
                      <a:pt x="444" y="48"/>
                    </a:lnTo>
                    <a:lnTo>
                      <a:pt x="462" y="45"/>
                    </a:lnTo>
                    <a:lnTo>
                      <a:pt x="498" y="40"/>
                    </a:lnTo>
                    <a:lnTo>
                      <a:pt x="536" y="38"/>
                    </a:lnTo>
                    <a:lnTo>
                      <a:pt x="553" y="38"/>
                    </a:lnTo>
                    <a:lnTo>
                      <a:pt x="567" y="40"/>
                    </a:lnTo>
                    <a:lnTo>
                      <a:pt x="577" y="43"/>
                    </a:lnTo>
                    <a:lnTo>
                      <a:pt x="586" y="46"/>
                    </a:lnTo>
                    <a:lnTo>
                      <a:pt x="589" y="52"/>
                    </a:lnTo>
                    <a:lnTo>
                      <a:pt x="589" y="57"/>
                    </a:lnTo>
                    <a:lnTo>
                      <a:pt x="584" y="64"/>
                    </a:lnTo>
                    <a:lnTo>
                      <a:pt x="575" y="71"/>
                    </a:lnTo>
                    <a:lnTo>
                      <a:pt x="649" y="67"/>
                    </a:lnTo>
                    <a:lnTo>
                      <a:pt x="723" y="64"/>
                    </a:lnTo>
                    <a:lnTo>
                      <a:pt x="734" y="53"/>
                    </a:lnTo>
                    <a:lnTo>
                      <a:pt x="741" y="43"/>
                    </a:lnTo>
                    <a:lnTo>
                      <a:pt x="742" y="34"/>
                    </a:lnTo>
                    <a:lnTo>
                      <a:pt x="742" y="27"/>
                    </a:lnTo>
                    <a:lnTo>
                      <a:pt x="737" y="21"/>
                    </a:lnTo>
                    <a:lnTo>
                      <a:pt x="729" y="15"/>
                    </a:lnTo>
                    <a:lnTo>
                      <a:pt x="717" y="10"/>
                    </a:lnTo>
                    <a:lnTo>
                      <a:pt x="699" y="7"/>
                    </a:lnTo>
                    <a:lnTo>
                      <a:pt x="679" y="3"/>
                    </a:lnTo>
                    <a:lnTo>
                      <a:pt x="656" y="2"/>
                    </a:lnTo>
                    <a:lnTo>
                      <a:pt x="629" y="0"/>
                    </a:lnTo>
                    <a:lnTo>
                      <a:pt x="599" y="0"/>
                    </a:lnTo>
                    <a:lnTo>
                      <a:pt x="546" y="2"/>
                    </a:lnTo>
                    <a:lnTo>
                      <a:pt x="493" y="5"/>
                    </a:lnTo>
                    <a:lnTo>
                      <a:pt x="439" y="12"/>
                    </a:lnTo>
                    <a:lnTo>
                      <a:pt x="387" y="22"/>
                    </a:lnTo>
                    <a:lnTo>
                      <a:pt x="348" y="31"/>
                    </a:lnTo>
                    <a:lnTo>
                      <a:pt x="313" y="41"/>
                    </a:lnTo>
                    <a:lnTo>
                      <a:pt x="286" y="52"/>
                    </a:lnTo>
                    <a:lnTo>
                      <a:pt x="262" y="62"/>
                    </a:lnTo>
                    <a:lnTo>
                      <a:pt x="250" y="71"/>
                    </a:lnTo>
                    <a:lnTo>
                      <a:pt x="241" y="77"/>
                    </a:lnTo>
                    <a:lnTo>
                      <a:pt x="238" y="84"/>
                    </a:lnTo>
                    <a:lnTo>
                      <a:pt x="239" y="91"/>
                    </a:lnTo>
                    <a:lnTo>
                      <a:pt x="243" y="96"/>
                    </a:lnTo>
                    <a:lnTo>
                      <a:pt x="251" y="103"/>
                    </a:lnTo>
                    <a:lnTo>
                      <a:pt x="265" y="108"/>
                    </a:lnTo>
                    <a:lnTo>
                      <a:pt x="282" y="114"/>
                    </a:lnTo>
                    <a:lnTo>
                      <a:pt x="246" y="115"/>
                    </a:lnTo>
                    <a:lnTo>
                      <a:pt x="210" y="120"/>
                    </a:lnTo>
                    <a:lnTo>
                      <a:pt x="141" y="133"/>
                    </a:lnTo>
                    <a:lnTo>
                      <a:pt x="110" y="141"/>
                    </a:lnTo>
                    <a:lnTo>
                      <a:pt x="81" y="150"/>
                    </a:lnTo>
                    <a:lnTo>
                      <a:pt x="57" y="160"/>
                    </a:lnTo>
                    <a:lnTo>
                      <a:pt x="36" y="170"/>
                    </a:lnTo>
                    <a:lnTo>
                      <a:pt x="24" y="179"/>
                    </a:lnTo>
                    <a:lnTo>
                      <a:pt x="14" y="186"/>
                    </a:lnTo>
                    <a:lnTo>
                      <a:pt x="7" y="193"/>
                    </a:lnTo>
                    <a:lnTo>
                      <a:pt x="1" y="201"/>
                    </a:lnTo>
                    <a:lnTo>
                      <a:pt x="0" y="207"/>
                    </a:lnTo>
                    <a:lnTo>
                      <a:pt x="1" y="214"/>
                    </a:lnTo>
                    <a:lnTo>
                      <a:pt x="5" y="220"/>
                    </a:lnTo>
                    <a:lnTo>
                      <a:pt x="12" y="226"/>
                    </a:lnTo>
                    <a:lnTo>
                      <a:pt x="22" y="231"/>
                    </a:lnTo>
                    <a:lnTo>
                      <a:pt x="34" y="236"/>
                    </a:lnTo>
                    <a:lnTo>
                      <a:pt x="48" y="239"/>
                    </a:lnTo>
                    <a:lnTo>
                      <a:pt x="65" y="243"/>
                    </a:lnTo>
                    <a:lnTo>
                      <a:pt x="84" y="245"/>
                    </a:lnTo>
                    <a:lnTo>
                      <a:pt x="105" y="246"/>
                    </a:lnTo>
                    <a:lnTo>
                      <a:pt x="129" y="248"/>
                    </a:lnTo>
                    <a:lnTo>
                      <a:pt x="155" y="248"/>
                    </a:lnTo>
                    <a:lnTo>
                      <a:pt x="208" y="246"/>
                    </a:lnTo>
                    <a:lnTo>
                      <a:pt x="260" y="243"/>
                    </a:lnTo>
                    <a:lnTo>
                      <a:pt x="312" y="238"/>
                    </a:lnTo>
                    <a:lnTo>
                      <a:pt x="362" y="229"/>
                    </a:lnTo>
                    <a:lnTo>
                      <a:pt x="410" y="219"/>
                    </a:lnTo>
                    <a:lnTo>
                      <a:pt x="455" y="207"/>
                    </a:lnTo>
                    <a:lnTo>
                      <a:pt x="494" y="195"/>
                    </a:lnTo>
                    <a:lnTo>
                      <a:pt x="529" y="179"/>
                    </a:lnTo>
                    <a:lnTo>
                      <a:pt x="529" y="17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30" name="Freeform 1074"/>
              <p:cNvSpPr>
                <a:spLocks noEditPoints="1"/>
              </p:cNvSpPr>
              <p:nvPr/>
            </p:nvSpPr>
            <p:spPr bwMode="auto">
              <a:xfrm>
                <a:off x="3711" y="3227"/>
                <a:ext cx="373" cy="124"/>
              </a:xfrm>
              <a:custGeom>
                <a:avLst/>
                <a:gdLst>
                  <a:gd name="T0" fmla="*/ 584 w 746"/>
                  <a:gd name="T1" fmla="*/ 103 h 248"/>
                  <a:gd name="T2" fmla="*/ 663 w 746"/>
                  <a:gd name="T3" fmla="*/ 84 h 248"/>
                  <a:gd name="T4" fmla="*/ 717 w 746"/>
                  <a:gd name="T5" fmla="*/ 62 h 248"/>
                  <a:gd name="T6" fmla="*/ 741 w 746"/>
                  <a:gd name="T7" fmla="*/ 43 h 248"/>
                  <a:gd name="T8" fmla="*/ 744 w 746"/>
                  <a:gd name="T9" fmla="*/ 27 h 248"/>
                  <a:gd name="T10" fmla="*/ 727 w 746"/>
                  <a:gd name="T11" fmla="*/ 14 h 248"/>
                  <a:gd name="T12" fmla="*/ 687 w 746"/>
                  <a:gd name="T13" fmla="*/ 3 h 248"/>
                  <a:gd name="T14" fmla="*/ 624 w 746"/>
                  <a:gd name="T15" fmla="*/ 0 h 248"/>
                  <a:gd name="T16" fmla="*/ 493 w 746"/>
                  <a:gd name="T17" fmla="*/ 3 h 248"/>
                  <a:gd name="T18" fmla="*/ 353 w 746"/>
                  <a:gd name="T19" fmla="*/ 27 h 248"/>
                  <a:gd name="T20" fmla="*/ 257 w 746"/>
                  <a:gd name="T21" fmla="*/ 62 h 248"/>
                  <a:gd name="T22" fmla="*/ 231 w 746"/>
                  <a:gd name="T23" fmla="*/ 86 h 248"/>
                  <a:gd name="T24" fmla="*/ 244 w 746"/>
                  <a:gd name="T25" fmla="*/ 105 h 248"/>
                  <a:gd name="T26" fmla="*/ 236 w 746"/>
                  <a:gd name="T27" fmla="*/ 117 h 248"/>
                  <a:gd name="T28" fmla="*/ 134 w 746"/>
                  <a:gd name="T29" fmla="*/ 136 h 248"/>
                  <a:gd name="T30" fmla="*/ 57 w 746"/>
                  <a:gd name="T31" fmla="*/ 162 h 248"/>
                  <a:gd name="T32" fmla="*/ 14 w 746"/>
                  <a:gd name="T33" fmla="*/ 188 h 248"/>
                  <a:gd name="T34" fmla="*/ 0 w 746"/>
                  <a:gd name="T35" fmla="*/ 208 h 248"/>
                  <a:gd name="T36" fmla="*/ 8 w 746"/>
                  <a:gd name="T37" fmla="*/ 227 h 248"/>
                  <a:gd name="T38" fmla="*/ 43 w 746"/>
                  <a:gd name="T39" fmla="*/ 239 h 248"/>
                  <a:gd name="T40" fmla="*/ 101 w 746"/>
                  <a:gd name="T41" fmla="*/ 246 h 248"/>
                  <a:gd name="T42" fmla="*/ 203 w 746"/>
                  <a:gd name="T43" fmla="*/ 246 h 248"/>
                  <a:gd name="T44" fmla="*/ 356 w 746"/>
                  <a:gd name="T45" fmla="*/ 231 h 248"/>
                  <a:gd name="T46" fmla="*/ 437 w 746"/>
                  <a:gd name="T47" fmla="*/ 214 h 248"/>
                  <a:gd name="T48" fmla="*/ 503 w 746"/>
                  <a:gd name="T49" fmla="*/ 191 h 248"/>
                  <a:gd name="T50" fmla="*/ 553 w 746"/>
                  <a:gd name="T51" fmla="*/ 165 h 248"/>
                  <a:gd name="T52" fmla="*/ 572 w 746"/>
                  <a:gd name="T53" fmla="*/ 138 h 248"/>
                  <a:gd name="T54" fmla="*/ 541 w 746"/>
                  <a:gd name="T55" fmla="*/ 117 h 248"/>
                  <a:gd name="T56" fmla="*/ 572 w 746"/>
                  <a:gd name="T57" fmla="*/ 65 h 248"/>
                  <a:gd name="T58" fmla="*/ 508 w 746"/>
                  <a:gd name="T59" fmla="*/ 88 h 248"/>
                  <a:gd name="T60" fmla="*/ 410 w 746"/>
                  <a:gd name="T61" fmla="*/ 95 h 248"/>
                  <a:gd name="T62" fmla="*/ 375 w 746"/>
                  <a:gd name="T63" fmla="*/ 88 h 248"/>
                  <a:gd name="T64" fmla="*/ 379 w 746"/>
                  <a:gd name="T65" fmla="*/ 72 h 248"/>
                  <a:gd name="T66" fmla="*/ 417 w 746"/>
                  <a:gd name="T67" fmla="*/ 53 h 248"/>
                  <a:gd name="T68" fmla="*/ 491 w 746"/>
                  <a:gd name="T69" fmla="*/ 38 h 248"/>
                  <a:gd name="T70" fmla="*/ 565 w 746"/>
                  <a:gd name="T71" fmla="*/ 38 h 248"/>
                  <a:gd name="T72" fmla="*/ 587 w 746"/>
                  <a:gd name="T73" fmla="*/ 48 h 248"/>
                  <a:gd name="T74" fmla="*/ 572 w 746"/>
                  <a:gd name="T75" fmla="*/ 65 h 248"/>
                  <a:gd name="T76" fmla="*/ 384 w 746"/>
                  <a:gd name="T77" fmla="*/ 179 h 248"/>
                  <a:gd name="T78" fmla="*/ 317 w 746"/>
                  <a:gd name="T79" fmla="*/ 200 h 248"/>
                  <a:gd name="T80" fmla="*/ 200 w 746"/>
                  <a:gd name="T81" fmla="*/ 210 h 248"/>
                  <a:gd name="T82" fmla="*/ 163 w 746"/>
                  <a:gd name="T83" fmla="*/ 200 h 248"/>
                  <a:gd name="T84" fmla="*/ 172 w 746"/>
                  <a:gd name="T85" fmla="*/ 179 h 248"/>
                  <a:gd name="T86" fmla="*/ 220 w 746"/>
                  <a:gd name="T87" fmla="*/ 155 h 248"/>
                  <a:gd name="T88" fmla="*/ 313 w 746"/>
                  <a:gd name="T89" fmla="*/ 136 h 248"/>
                  <a:gd name="T90" fmla="*/ 403 w 746"/>
                  <a:gd name="T91" fmla="*/ 136 h 248"/>
                  <a:gd name="T92" fmla="*/ 420 w 746"/>
                  <a:gd name="T93" fmla="*/ 150 h 248"/>
                  <a:gd name="T94" fmla="*/ 401 w 746"/>
                  <a:gd name="T95" fmla="*/ 17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6" h="248">
                    <a:moveTo>
                      <a:pt x="518" y="112"/>
                    </a:moveTo>
                    <a:lnTo>
                      <a:pt x="553" y="108"/>
                    </a:lnTo>
                    <a:lnTo>
                      <a:pt x="584" y="103"/>
                    </a:lnTo>
                    <a:lnTo>
                      <a:pt x="613" y="98"/>
                    </a:lnTo>
                    <a:lnTo>
                      <a:pt x="639" y="91"/>
                    </a:lnTo>
                    <a:lnTo>
                      <a:pt x="663" y="84"/>
                    </a:lnTo>
                    <a:lnTo>
                      <a:pt x="684" y="77"/>
                    </a:lnTo>
                    <a:lnTo>
                      <a:pt x="701" y="71"/>
                    </a:lnTo>
                    <a:lnTo>
                      <a:pt x="717" y="62"/>
                    </a:lnTo>
                    <a:lnTo>
                      <a:pt x="727" y="55"/>
                    </a:lnTo>
                    <a:lnTo>
                      <a:pt x="736" y="50"/>
                    </a:lnTo>
                    <a:lnTo>
                      <a:pt x="741" y="43"/>
                    </a:lnTo>
                    <a:lnTo>
                      <a:pt x="744" y="38"/>
                    </a:lnTo>
                    <a:lnTo>
                      <a:pt x="746" y="33"/>
                    </a:lnTo>
                    <a:lnTo>
                      <a:pt x="744" y="27"/>
                    </a:lnTo>
                    <a:lnTo>
                      <a:pt x="741" y="22"/>
                    </a:lnTo>
                    <a:lnTo>
                      <a:pt x="736" y="17"/>
                    </a:lnTo>
                    <a:lnTo>
                      <a:pt x="727" y="14"/>
                    </a:lnTo>
                    <a:lnTo>
                      <a:pt x="717" y="10"/>
                    </a:lnTo>
                    <a:lnTo>
                      <a:pt x="703" y="7"/>
                    </a:lnTo>
                    <a:lnTo>
                      <a:pt x="687" y="3"/>
                    </a:lnTo>
                    <a:lnTo>
                      <a:pt x="668" y="2"/>
                    </a:lnTo>
                    <a:lnTo>
                      <a:pt x="648" y="2"/>
                    </a:lnTo>
                    <a:lnTo>
                      <a:pt x="624" y="0"/>
                    </a:lnTo>
                    <a:lnTo>
                      <a:pt x="598" y="0"/>
                    </a:lnTo>
                    <a:lnTo>
                      <a:pt x="544" y="2"/>
                    </a:lnTo>
                    <a:lnTo>
                      <a:pt x="493" y="3"/>
                    </a:lnTo>
                    <a:lnTo>
                      <a:pt x="444" y="10"/>
                    </a:lnTo>
                    <a:lnTo>
                      <a:pt x="396" y="17"/>
                    </a:lnTo>
                    <a:lnTo>
                      <a:pt x="353" y="27"/>
                    </a:lnTo>
                    <a:lnTo>
                      <a:pt x="317" y="38"/>
                    </a:lnTo>
                    <a:lnTo>
                      <a:pt x="284" y="50"/>
                    </a:lnTo>
                    <a:lnTo>
                      <a:pt x="257" y="62"/>
                    </a:lnTo>
                    <a:lnTo>
                      <a:pt x="244" y="71"/>
                    </a:lnTo>
                    <a:lnTo>
                      <a:pt x="236" y="79"/>
                    </a:lnTo>
                    <a:lnTo>
                      <a:pt x="231" y="86"/>
                    </a:lnTo>
                    <a:lnTo>
                      <a:pt x="231" y="93"/>
                    </a:lnTo>
                    <a:lnTo>
                      <a:pt x="236" y="100"/>
                    </a:lnTo>
                    <a:lnTo>
                      <a:pt x="244" y="105"/>
                    </a:lnTo>
                    <a:lnTo>
                      <a:pt x="257" y="108"/>
                    </a:lnTo>
                    <a:lnTo>
                      <a:pt x="274" y="112"/>
                    </a:lnTo>
                    <a:lnTo>
                      <a:pt x="236" y="117"/>
                    </a:lnTo>
                    <a:lnTo>
                      <a:pt x="200" y="122"/>
                    </a:lnTo>
                    <a:lnTo>
                      <a:pt x="167" y="129"/>
                    </a:lnTo>
                    <a:lnTo>
                      <a:pt x="134" y="136"/>
                    </a:lnTo>
                    <a:lnTo>
                      <a:pt x="107" y="145"/>
                    </a:lnTo>
                    <a:lnTo>
                      <a:pt x="81" y="153"/>
                    </a:lnTo>
                    <a:lnTo>
                      <a:pt x="57" y="162"/>
                    </a:lnTo>
                    <a:lnTo>
                      <a:pt x="38" y="172"/>
                    </a:lnTo>
                    <a:lnTo>
                      <a:pt x="24" y="181"/>
                    </a:lnTo>
                    <a:lnTo>
                      <a:pt x="14" y="188"/>
                    </a:lnTo>
                    <a:lnTo>
                      <a:pt x="7" y="195"/>
                    </a:lnTo>
                    <a:lnTo>
                      <a:pt x="2" y="203"/>
                    </a:lnTo>
                    <a:lnTo>
                      <a:pt x="0" y="208"/>
                    </a:lnTo>
                    <a:lnTo>
                      <a:pt x="0" y="215"/>
                    </a:lnTo>
                    <a:lnTo>
                      <a:pt x="3" y="222"/>
                    </a:lnTo>
                    <a:lnTo>
                      <a:pt x="8" y="227"/>
                    </a:lnTo>
                    <a:lnTo>
                      <a:pt x="17" y="232"/>
                    </a:lnTo>
                    <a:lnTo>
                      <a:pt x="29" y="236"/>
                    </a:lnTo>
                    <a:lnTo>
                      <a:pt x="43" y="239"/>
                    </a:lnTo>
                    <a:lnTo>
                      <a:pt x="60" y="243"/>
                    </a:lnTo>
                    <a:lnTo>
                      <a:pt x="79" y="245"/>
                    </a:lnTo>
                    <a:lnTo>
                      <a:pt x="101" y="246"/>
                    </a:lnTo>
                    <a:lnTo>
                      <a:pt x="126" y="248"/>
                    </a:lnTo>
                    <a:lnTo>
                      <a:pt x="151" y="248"/>
                    </a:lnTo>
                    <a:lnTo>
                      <a:pt x="203" y="246"/>
                    </a:lnTo>
                    <a:lnTo>
                      <a:pt x="255" y="245"/>
                    </a:lnTo>
                    <a:lnTo>
                      <a:pt x="307" y="239"/>
                    </a:lnTo>
                    <a:lnTo>
                      <a:pt x="356" y="231"/>
                    </a:lnTo>
                    <a:lnTo>
                      <a:pt x="386" y="226"/>
                    </a:lnTo>
                    <a:lnTo>
                      <a:pt x="412" y="219"/>
                    </a:lnTo>
                    <a:lnTo>
                      <a:pt x="437" y="214"/>
                    </a:lnTo>
                    <a:lnTo>
                      <a:pt x="462" y="207"/>
                    </a:lnTo>
                    <a:lnTo>
                      <a:pt x="482" y="200"/>
                    </a:lnTo>
                    <a:lnTo>
                      <a:pt x="503" y="191"/>
                    </a:lnTo>
                    <a:lnTo>
                      <a:pt x="522" y="183"/>
                    </a:lnTo>
                    <a:lnTo>
                      <a:pt x="537" y="174"/>
                    </a:lnTo>
                    <a:lnTo>
                      <a:pt x="553" y="165"/>
                    </a:lnTo>
                    <a:lnTo>
                      <a:pt x="563" y="157"/>
                    </a:lnTo>
                    <a:lnTo>
                      <a:pt x="570" y="146"/>
                    </a:lnTo>
                    <a:lnTo>
                      <a:pt x="572" y="138"/>
                    </a:lnTo>
                    <a:lnTo>
                      <a:pt x="568" y="131"/>
                    </a:lnTo>
                    <a:lnTo>
                      <a:pt x="558" y="124"/>
                    </a:lnTo>
                    <a:lnTo>
                      <a:pt x="541" y="117"/>
                    </a:lnTo>
                    <a:lnTo>
                      <a:pt x="518" y="112"/>
                    </a:lnTo>
                    <a:lnTo>
                      <a:pt x="518" y="112"/>
                    </a:lnTo>
                    <a:close/>
                    <a:moveTo>
                      <a:pt x="572" y="65"/>
                    </a:moveTo>
                    <a:lnTo>
                      <a:pt x="543" y="79"/>
                    </a:lnTo>
                    <a:lnTo>
                      <a:pt x="527" y="84"/>
                    </a:lnTo>
                    <a:lnTo>
                      <a:pt x="508" y="88"/>
                    </a:lnTo>
                    <a:lnTo>
                      <a:pt x="468" y="93"/>
                    </a:lnTo>
                    <a:lnTo>
                      <a:pt x="429" y="95"/>
                    </a:lnTo>
                    <a:lnTo>
                      <a:pt x="410" y="95"/>
                    </a:lnTo>
                    <a:lnTo>
                      <a:pt x="394" y="93"/>
                    </a:lnTo>
                    <a:lnTo>
                      <a:pt x="382" y="91"/>
                    </a:lnTo>
                    <a:lnTo>
                      <a:pt x="375" y="88"/>
                    </a:lnTo>
                    <a:lnTo>
                      <a:pt x="372" y="84"/>
                    </a:lnTo>
                    <a:lnTo>
                      <a:pt x="374" y="79"/>
                    </a:lnTo>
                    <a:lnTo>
                      <a:pt x="379" y="72"/>
                    </a:lnTo>
                    <a:lnTo>
                      <a:pt x="389" y="65"/>
                    </a:lnTo>
                    <a:lnTo>
                      <a:pt x="401" y="58"/>
                    </a:lnTo>
                    <a:lnTo>
                      <a:pt x="417" y="53"/>
                    </a:lnTo>
                    <a:lnTo>
                      <a:pt x="432" y="48"/>
                    </a:lnTo>
                    <a:lnTo>
                      <a:pt x="451" y="45"/>
                    </a:lnTo>
                    <a:lnTo>
                      <a:pt x="491" y="38"/>
                    </a:lnTo>
                    <a:lnTo>
                      <a:pt x="531" y="36"/>
                    </a:lnTo>
                    <a:lnTo>
                      <a:pt x="549" y="36"/>
                    </a:lnTo>
                    <a:lnTo>
                      <a:pt x="565" y="38"/>
                    </a:lnTo>
                    <a:lnTo>
                      <a:pt x="577" y="41"/>
                    </a:lnTo>
                    <a:lnTo>
                      <a:pt x="584" y="45"/>
                    </a:lnTo>
                    <a:lnTo>
                      <a:pt x="587" y="48"/>
                    </a:lnTo>
                    <a:lnTo>
                      <a:pt x="586" y="53"/>
                    </a:lnTo>
                    <a:lnTo>
                      <a:pt x="581" y="58"/>
                    </a:lnTo>
                    <a:lnTo>
                      <a:pt x="572" y="65"/>
                    </a:lnTo>
                    <a:lnTo>
                      <a:pt x="572" y="65"/>
                    </a:lnTo>
                    <a:close/>
                    <a:moveTo>
                      <a:pt x="401" y="170"/>
                    </a:moveTo>
                    <a:lnTo>
                      <a:pt x="384" y="179"/>
                    </a:lnTo>
                    <a:lnTo>
                      <a:pt x="363" y="188"/>
                    </a:lnTo>
                    <a:lnTo>
                      <a:pt x="341" y="195"/>
                    </a:lnTo>
                    <a:lnTo>
                      <a:pt x="317" y="200"/>
                    </a:lnTo>
                    <a:lnTo>
                      <a:pt x="269" y="208"/>
                    </a:lnTo>
                    <a:lnTo>
                      <a:pt x="220" y="210"/>
                    </a:lnTo>
                    <a:lnTo>
                      <a:pt x="200" y="210"/>
                    </a:lnTo>
                    <a:lnTo>
                      <a:pt x="182" y="208"/>
                    </a:lnTo>
                    <a:lnTo>
                      <a:pt x="170" y="205"/>
                    </a:lnTo>
                    <a:lnTo>
                      <a:pt x="163" y="200"/>
                    </a:lnTo>
                    <a:lnTo>
                      <a:pt x="162" y="195"/>
                    </a:lnTo>
                    <a:lnTo>
                      <a:pt x="163" y="188"/>
                    </a:lnTo>
                    <a:lnTo>
                      <a:pt x="172" y="179"/>
                    </a:lnTo>
                    <a:lnTo>
                      <a:pt x="186" y="170"/>
                    </a:lnTo>
                    <a:lnTo>
                      <a:pt x="203" y="162"/>
                    </a:lnTo>
                    <a:lnTo>
                      <a:pt x="220" y="155"/>
                    </a:lnTo>
                    <a:lnTo>
                      <a:pt x="243" y="148"/>
                    </a:lnTo>
                    <a:lnTo>
                      <a:pt x="265" y="143"/>
                    </a:lnTo>
                    <a:lnTo>
                      <a:pt x="313" y="136"/>
                    </a:lnTo>
                    <a:lnTo>
                      <a:pt x="360" y="133"/>
                    </a:lnTo>
                    <a:lnTo>
                      <a:pt x="384" y="133"/>
                    </a:lnTo>
                    <a:lnTo>
                      <a:pt x="403" y="136"/>
                    </a:lnTo>
                    <a:lnTo>
                      <a:pt x="415" y="139"/>
                    </a:lnTo>
                    <a:lnTo>
                      <a:pt x="420" y="145"/>
                    </a:lnTo>
                    <a:lnTo>
                      <a:pt x="420" y="150"/>
                    </a:lnTo>
                    <a:lnTo>
                      <a:pt x="419" y="157"/>
                    </a:lnTo>
                    <a:lnTo>
                      <a:pt x="412" y="164"/>
                    </a:lnTo>
                    <a:lnTo>
                      <a:pt x="401" y="170"/>
                    </a:lnTo>
                    <a:lnTo>
                      <a:pt x="401" y="17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31" name="Freeform 1075"/>
              <p:cNvSpPr>
                <a:spLocks/>
              </p:cNvSpPr>
              <p:nvPr/>
            </p:nvSpPr>
            <p:spPr bwMode="auto">
              <a:xfrm>
                <a:off x="3413" y="3229"/>
                <a:ext cx="372" cy="122"/>
              </a:xfrm>
              <a:custGeom>
                <a:avLst/>
                <a:gdLst>
                  <a:gd name="T0" fmla="*/ 454 w 744"/>
                  <a:gd name="T1" fmla="*/ 176 h 245"/>
                  <a:gd name="T2" fmla="*/ 368 w 744"/>
                  <a:gd name="T3" fmla="*/ 180 h 245"/>
                  <a:gd name="T4" fmla="*/ 305 w 744"/>
                  <a:gd name="T5" fmla="*/ 198 h 245"/>
                  <a:gd name="T6" fmla="*/ 237 w 744"/>
                  <a:gd name="T7" fmla="*/ 207 h 245"/>
                  <a:gd name="T8" fmla="*/ 196 w 744"/>
                  <a:gd name="T9" fmla="*/ 207 h 245"/>
                  <a:gd name="T10" fmla="*/ 167 w 744"/>
                  <a:gd name="T11" fmla="*/ 200 h 245"/>
                  <a:gd name="T12" fmla="*/ 158 w 744"/>
                  <a:gd name="T13" fmla="*/ 188 h 245"/>
                  <a:gd name="T14" fmla="*/ 174 w 744"/>
                  <a:gd name="T15" fmla="*/ 171 h 245"/>
                  <a:gd name="T16" fmla="*/ 234 w 744"/>
                  <a:gd name="T17" fmla="*/ 140 h 245"/>
                  <a:gd name="T18" fmla="*/ 282 w 744"/>
                  <a:gd name="T19" fmla="*/ 126 h 245"/>
                  <a:gd name="T20" fmla="*/ 384 w 744"/>
                  <a:gd name="T21" fmla="*/ 116 h 245"/>
                  <a:gd name="T22" fmla="*/ 437 w 744"/>
                  <a:gd name="T23" fmla="*/ 119 h 245"/>
                  <a:gd name="T24" fmla="*/ 467 w 744"/>
                  <a:gd name="T25" fmla="*/ 133 h 245"/>
                  <a:gd name="T26" fmla="*/ 594 w 744"/>
                  <a:gd name="T27" fmla="*/ 128 h 245"/>
                  <a:gd name="T28" fmla="*/ 744 w 744"/>
                  <a:gd name="T29" fmla="*/ 0 h 245"/>
                  <a:gd name="T30" fmla="*/ 355 w 744"/>
                  <a:gd name="T31" fmla="*/ 0 h 245"/>
                  <a:gd name="T32" fmla="*/ 279 w 744"/>
                  <a:gd name="T33" fmla="*/ 45 h 245"/>
                  <a:gd name="T34" fmla="*/ 554 w 744"/>
                  <a:gd name="T35" fmla="*/ 45 h 245"/>
                  <a:gd name="T36" fmla="*/ 504 w 744"/>
                  <a:gd name="T37" fmla="*/ 86 h 245"/>
                  <a:gd name="T38" fmla="*/ 465 w 744"/>
                  <a:gd name="T39" fmla="*/ 80 h 245"/>
                  <a:gd name="T40" fmla="*/ 418 w 744"/>
                  <a:gd name="T41" fmla="*/ 78 h 245"/>
                  <a:gd name="T42" fmla="*/ 318 w 744"/>
                  <a:gd name="T43" fmla="*/ 83 h 245"/>
                  <a:gd name="T44" fmla="*/ 213 w 744"/>
                  <a:gd name="T45" fmla="*/ 100 h 245"/>
                  <a:gd name="T46" fmla="*/ 117 w 744"/>
                  <a:gd name="T47" fmla="*/ 126 h 245"/>
                  <a:gd name="T48" fmla="*/ 43 w 744"/>
                  <a:gd name="T49" fmla="*/ 159 h 245"/>
                  <a:gd name="T50" fmla="*/ 20 w 744"/>
                  <a:gd name="T51" fmla="*/ 174 h 245"/>
                  <a:gd name="T52" fmla="*/ 6 w 744"/>
                  <a:gd name="T53" fmla="*/ 188 h 245"/>
                  <a:gd name="T54" fmla="*/ 0 w 744"/>
                  <a:gd name="T55" fmla="*/ 200 h 245"/>
                  <a:gd name="T56" fmla="*/ 1 w 744"/>
                  <a:gd name="T57" fmla="*/ 212 h 245"/>
                  <a:gd name="T58" fmla="*/ 17 w 744"/>
                  <a:gd name="T59" fmla="*/ 226 h 245"/>
                  <a:gd name="T60" fmla="*/ 48 w 744"/>
                  <a:gd name="T61" fmla="*/ 236 h 245"/>
                  <a:gd name="T62" fmla="*/ 93 w 744"/>
                  <a:gd name="T63" fmla="*/ 243 h 245"/>
                  <a:gd name="T64" fmla="*/ 153 w 744"/>
                  <a:gd name="T65" fmla="*/ 245 h 245"/>
                  <a:gd name="T66" fmla="*/ 256 w 744"/>
                  <a:gd name="T67" fmla="*/ 240 h 245"/>
                  <a:gd name="T68" fmla="*/ 356 w 744"/>
                  <a:gd name="T69" fmla="*/ 226 h 245"/>
                  <a:gd name="T70" fmla="*/ 448 w 744"/>
                  <a:gd name="T71" fmla="*/ 205 h 245"/>
                  <a:gd name="T72" fmla="*/ 523 w 744"/>
                  <a:gd name="T73" fmla="*/ 178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44" h="245">
                    <a:moveTo>
                      <a:pt x="523" y="178"/>
                    </a:moveTo>
                    <a:lnTo>
                      <a:pt x="454" y="176"/>
                    </a:lnTo>
                    <a:lnTo>
                      <a:pt x="386" y="173"/>
                    </a:lnTo>
                    <a:lnTo>
                      <a:pt x="368" y="180"/>
                    </a:lnTo>
                    <a:lnTo>
                      <a:pt x="348" y="186"/>
                    </a:lnTo>
                    <a:lnTo>
                      <a:pt x="305" y="198"/>
                    </a:lnTo>
                    <a:lnTo>
                      <a:pt x="258" y="205"/>
                    </a:lnTo>
                    <a:lnTo>
                      <a:pt x="237" y="207"/>
                    </a:lnTo>
                    <a:lnTo>
                      <a:pt x="217" y="207"/>
                    </a:lnTo>
                    <a:lnTo>
                      <a:pt x="196" y="207"/>
                    </a:lnTo>
                    <a:lnTo>
                      <a:pt x="179" y="204"/>
                    </a:lnTo>
                    <a:lnTo>
                      <a:pt x="167" y="200"/>
                    </a:lnTo>
                    <a:lnTo>
                      <a:pt x="160" y="195"/>
                    </a:lnTo>
                    <a:lnTo>
                      <a:pt x="158" y="188"/>
                    </a:lnTo>
                    <a:lnTo>
                      <a:pt x="163" y="181"/>
                    </a:lnTo>
                    <a:lnTo>
                      <a:pt x="174" y="171"/>
                    </a:lnTo>
                    <a:lnTo>
                      <a:pt x="191" y="161"/>
                    </a:lnTo>
                    <a:lnTo>
                      <a:pt x="234" y="140"/>
                    </a:lnTo>
                    <a:lnTo>
                      <a:pt x="258" y="133"/>
                    </a:lnTo>
                    <a:lnTo>
                      <a:pt x="282" y="126"/>
                    </a:lnTo>
                    <a:lnTo>
                      <a:pt x="334" y="119"/>
                    </a:lnTo>
                    <a:lnTo>
                      <a:pt x="384" y="116"/>
                    </a:lnTo>
                    <a:lnTo>
                      <a:pt x="413" y="117"/>
                    </a:lnTo>
                    <a:lnTo>
                      <a:pt x="437" y="119"/>
                    </a:lnTo>
                    <a:lnTo>
                      <a:pt x="454" y="126"/>
                    </a:lnTo>
                    <a:lnTo>
                      <a:pt x="467" y="133"/>
                    </a:lnTo>
                    <a:lnTo>
                      <a:pt x="530" y="131"/>
                    </a:lnTo>
                    <a:lnTo>
                      <a:pt x="594" y="128"/>
                    </a:lnTo>
                    <a:lnTo>
                      <a:pt x="670" y="64"/>
                    </a:lnTo>
                    <a:lnTo>
                      <a:pt x="744" y="0"/>
                    </a:lnTo>
                    <a:lnTo>
                      <a:pt x="549" y="0"/>
                    </a:lnTo>
                    <a:lnTo>
                      <a:pt x="355" y="0"/>
                    </a:lnTo>
                    <a:lnTo>
                      <a:pt x="317" y="23"/>
                    </a:lnTo>
                    <a:lnTo>
                      <a:pt x="279" y="45"/>
                    </a:lnTo>
                    <a:lnTo>
                      <a:pt x="417" y="45"/>
                    </a:lnTo>
                    <a:lnTo>
                      <a:pt x="554" y="45"/>
                    </a:lnTo>
                    <a:lnTo>
                      <a:pt x="530" y="66"/>
                    </a:lnTo>
                    <a:lnTo>
                      <a:pt x="504" y="86"/>
                    </a:lnTo>
                    <a:lnTo>
                      <a:pt x="485" y="83"/>
                    </a:lnTo>
                    <a:lnTo>
                      <a:pt x="465" y="80"/>
                    </a:lnTo>
                    <a:lnTo>
                      <a:pt x="442" y="78"/>
                    </a:lnTo>
                    <a:lnTo>
                      <a:pt x="418" y="78"/>
                    </a:lnTo>
                    <a:lnTo>
                      <a:pt x="368" y="80"/>
                    </a:lnTo>
                    <a:lnTo>
                      <a:pt x="318" y="83"/>
                    </a:lnTo>
                    <a:lnTo>
                      <a:pt x="267" y="90"/>
                    </a:lnTo>
                    <a:lnTo>
                      <a:pt x="213" y="100"/>
                    </a:lnTo>
                    <a:lnTo>
                      <a:pt x="162" y="112"/>
                    </a:lnTo>
                    <a:lnTo>
                      <a:pt x="117" y="126"/>
                    </a:lnTo>
                    <a:lnTo>
                      <a:pt x="77" y="142"/>
                    </a:lnTo>
                    <a:lnTo>
                      <a:pt x="43" y="159"/>
                    </a:lnTo>
                    <a:lnTo>
                      <a:pt x="31" y="166"/>
                    </a:lnTo>
                    <a:lnTo>
                      <a:pt x="20" y="174"/>
                    </a:lnTo>
                    <a:lnTo>
                      <a:pt x="12" y="181"/>
                    </a:lnTo>
                    <a:lnTo>
                      <a:pt x="6" y="188"/>
                    </a:lnTo>
                    <a:lnTo>
                      <a:pt x="1" y="193"/>
                    </a:lnTo>
                    <a:lnTo>
                      <a:pt x="0" y="200"/>
                    </a:lnTo>
                    <a:lnTo>
                      <a:pt x="0" y="207"/>
                    </a:lnTo>
                    <a:lnTo>
                      <a:pt x="1" y="212"/>
                    </a:lnTo>
                    <a:lnTo>
                      <a:pt x="8" y="221"/>
                    </a:lnTo>
                    <a:lnTo>
                      <a:pt x="17" y="226"/>
                    </a:lnTo>
                    <a:lnTo>
                      <a:pt x="31" y="233"/>
                    </a:lnTo>
                    <a:lnTo>
                      <a:pt x="48" y="236"/>
                    </a:lnTo>
                    <a:lnTo>
                      <a:pt x="68" y="240"/>
                    </a:lnTo>
                    <a:lnTo>
                      <a:pt x="93" y="243"/>
                    </a:lnTo>
                    <a:lnTo>
                      <a:pt x="122" y="245"/>
                    </a:lnTo>
                    <a:lnTo>
                      <a:pt x="153" y="245"/>
                    </a:lnTo>
                    <a:lnTo>
                      <a:pt x="205" y="243"/>
                    </a:lnTo>
                    <a:lnTo>
                      <a:pt x="256" y="240"/>
                    </a:lnTo>
                    <a:lnTo>
                      <a:pt x="306" y="235"/>
                    </a:lnTo>
                    <a:lnTo>
                      <a:pt x="356" y="226"/>
                    </a:lnTo>
                    <a:lnTo>
                      <a:pt x="405" y="216"/>
                    </a:lnTo>
                    <a:lnTo>
                      <a:pt x="448" y="205"/>
                    </a:lnTo>
                    <a:lnTo>
                      <a:pt x="487" y="192"/>
                    </a:lnTo>
                    <a:lnTo>
                      <a:pt x="523" y="17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32" name="Freeform 1076"/>
              <p:cNvSpPr>
                <a:spLocks/>
              </p:cNvSpPr>
              <p:nvPr/>
            </p:nvSpPr>
            <p:spPr bwMode="auto">
              <a:xfrm>
                <a:off x="3990" y="3213"/>
                <a:ext cx="371" cy="124"/>
              </a:xfrm>
              <a:custGeom>
                <a:avLst/>
                <a:gdLst>
                  <a:gd name="T0" fmla="*/ 464 w 743"/>
                  <a:gd name="T1" fmla="*/ 178 h 248"/>
                  <a:gd name="T2" fmla="*/ 359 w 743"/>
                  <a:gd name="T3" fmla="*/ 190 h 248"/>
                  <a:gd name="T4" fmla="*/ 314 w 743"/>
                  <a:gd name="T5" fmla="*/ 200 h 248"/>
                  <a:gd name="T6" fmla="*/ 269 w 743"/>
                  <a:gd name="T7" fmla="*/ 207 h 248"/>
                  <a:gd name="T8" fmla="*/ 205 w 743"/>
                  <a:gd name="T9" fmla="*/ 209 h 248"/>
                  <a:gd name="T10" fmla="*/ 176 w 743"/>
                  <a:gd name="T11" fmla="*/ 204 h 248"/>
                  <a:gd name="T12" fmla="*/ 166 w 743"/>
                  <a:gd name="T13" fmla="*/ 193 h 248"/>
                  <a:gd name="T14" fmla="*/ 176 w 743"/>
                  <a:gd name="T15" fmla="*/ 178 h 248"/>
                  <a:gd name="T16" fmla="*/ 207 w 743"/>
                  <a:gd name="T17" fmla="*/ 161 h 248"/>
                  <a:gd name="T18" fmla="*/ 247 w 743"/>
                  <a:gd name="T19" fmla="*/ 147 h 248"/>
                  <a:gd name="T20" fmla="*/ 316 w 743"/>
                  <a:gd name="T21" fmla="*/ 135 h 248"/>
                  <a:gd name="T22" fmla="*/ 388 w 743"/>
                  <a:gd name="T23" fmla="*/ 133 h 248"/>
                  <a:gd name="T24" fmla="*/ 447 w 743"/>
                  <a:gd name="T25" fmla="*/ 116 h 248"/>
                  <a:gd name="T26" fmla="*/ 443 w 743"/>
                  <a:gd name="T27" fmla="*/ 97 h 248"/>
                  <a:gd name="T28" fmla="*/ 405 w 743"/>
                  <a:gd name="T29" fmla="*/ 93 h 248"/>
                  <a:gd name="T30" fmla="*/ 390 w 743"/>
                  <a:gd name="T31" fmla="*/ 83 h 248"/>
                  <a:gd name="T32" fmla="*/ 395 w 743"/>
                  <a:gd name="T33" fmla="*/ 73 h 248"/>
                  <a:gd name="T34" fmla="*/ 417 w 743"/>
                  <a:gd name="T35" fmla="*/ 59 h 248"/>
                  <a:gd name="T36" fmla="*/ 445 w 743"/>
                  <a:gd name="T37" fmla="*/ 49 h 248"/>
                  <a:gd name="T38" fmla="*/ 498 w 743"/>
                  <a:gd name="T39" fmla="*/ 40 h 248"/>
                  <a:gd name="T40" fmla="*/ 554 w 743"/>
                  <a:gd name="T41" fmla="*/ 38 h 248"/>
                  <a:gd name="T42" fmla="*/ 578 w 743"/>
                  <a:gd name="T43" fmla="*/ 43 h 248"/>
                  <a:gd name="T44" fmla="*/ 590 w 743"/>
                  <a:gd name="T45" fmla="*/ 52 h 248"/>
                  <a:gd name="T46" fmla="*/ 585 w 743"/>
                  <a:gd name="T47" fmla="*/ 64 h 248"/>
                  <a:gd name="T48" fmla="*/ 650 w 743"/>
                  <a:gd name="T49" fmla="*/ 68 h 248"/>
                  <a:gd name="T50" fmla="*/ 734 w 743"/>
                  <a:gd name="T51" fmla="*/ 54 h 248"/>
                  <a:gd name="T52" fmla="*/ 743 w 743"/>
                  <a:gd name="T53" fmla="*/ 35 h 248"/>
                  <a:gd name="T54" fmla="*/ 738 w 743"/>
                  <a:gd name="T55" fmla="*/ 21 h 248"/>
                  <a:gd name="T56" fmla="*/ 717 w 743"/>
                  <a:gd name="T57" fmla="*/ 11 h 248"/>
                  <a:gd name="T58" fmla="*/ 679 w 743"/>
                  <a:gd name="T59" fmla="*/ 4 h 248"/>
                  <a:gd name="T60" fmla="*/ 629 w 743"/>
                  <a:gd name="T61" fmla="*/ 0 h 248"/>
                  <a:gd name="T62" fmla="*/ 547 w 743"/>
                  <a:gd name="T63" fmla="*/ 2 h 248"/>
                  <a:gd name="T64" fmla="*/ 440 w 743"/>
                  <a:gd name="T65" fmla="*/ 12 h 248"/>
                  <a:gd name="T66" fmla="*/ 348 w 743"/>
                  <a:gd name="T67" fmla="*/ 31 h 248"/>
                  <a:gd name="T68" fmla="*/ 286 w 743"/>
                  <a:gd name="T69" fmla="*/ 52 h 248"/>
                  <a:gd name="T70" fmla="*/ 250 w 743"/>
                  <a:gd name="T71" fmla="*/ 71 h 248"/>
                  <a:gd name="T72" fmla="*/ 238 w 743"/>
                  <a:gd name="T73" fmla="*/ 85 h 248"/>
                  <a:gd name="T74" fmla="*/ 243 w 743"/>
                  <a:gd name="T75" fmla="*/ 97 h 248"/>
                  <a:gd name="T76" fmla="*/ 266 w 743"/>
                  <a:gd name="T77" fmla="*/ 109 h 248"/>
                  <a:gd name="T78" fmla="*/ 247 w 743"/>
                  <a:gd name="T79" fmla="*/ 116 h 248"/>
                  <a:gd name="T80" fmla="*/ 142 w 743"/>
                  <a:gd name="T81" fmla="*/ 133 h 248"/>
                  <a:gd name="T82" fmla="*/ 81 w 743"/>
                  <a:gd name="T83" fmla="*/ 150 h 248"/>
                  <a:gd name="T84" fmla="*/ 37 w 743"/>
                  <a:gd name="T85" fmla="*/ 171 h 248"/>
                  <a:gd name="T86" fmla="*/ 14 w 743"/>
                  <a:gd name="T87" fmla="*/ 186 h 248"/>
                  <a:gd name="T88" fmla="*/ 2 w 743"/>
                  <a:gd name="T89" fmla="*/ 202 h 248"/>
                  <a:gd name="T90" fmla="*/ 2 w 743"/>
                  <a:gd name="T91" fmla="*/ 214 h 248"/>
                  <a:gd name="T92" fmla="*/ 12 w 743"/>
                  <a:gd name="T93" fmla="*/ 226 h 248"/>
                  <a:gd name="T94" fmla="*/ 35 w 743"/>
                  <a:gd name="T95" fmla="*/ 236 h 248"/>
                  <a:gd name="T96" fmla="*/ 66 w 743"/>
                  <a:gd name="T97" fmla="*/ 243 h 248"/>
                  <a:gd name="T98" fmla="*/ 106 w 743"/>
                  <a:gd name="T99" fmla="*/ 247 h 248"/>
                  <a:gd name="T100" fmla="*/ 155 w 743"/>
                  <a:gd name="T101" fmla="*/ 248 h 248"/>
                  <a:gd name="T102" fmla="*/ 261 w 743"/>
                  <a:gd name="T103" fmla="*/ 243 h 248"/>
                  <a:gd name="T104" fmla="*/ 362 w 743"/>
                  <a:gd name="T105" fmla="*/ 229 h 248"/>
                  <a:gd name="T106" fmla="*/ 455 w 743"/>
                  <a:gd name="T107" fmla="*/ 207 h 248"/>
                  <a:gd name="T108" fmla="*/ 529 w 743"/>
                  <a:gd name="T109" fmla="*/ 18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43" h="248">
                    <a:moveTo>
                      <a:pt x="529" y="180"/>
                    </a:moveTo>
                    <a:lnTo>
                      <a:pt x="464" y="178"/>
                    </a:lnTo>
                    <a:lnTo>
                      <a:pt x="397" y="174"/>
                    </a:lnTo>
                    <a:lnTo>
                      <a:pt x="359" y="190"/>
                    </a:lnTo>
                    <a:lnTo>
                      <a:pt x="336" y="195"/>
                    </a:lnTo>
                    <a:lnTo>
                      <a:pt x="314" y="200"/>
                    </a:lnTo>
                    <a:lnTo>
                      <a:pt x="292" y="205"/>
                    </a:lnTo>
                    <a:lnTo>
                      <a:pt x="269" y="207"/>
                    </a:lnTo>
                    <a:lnTo>
                      <a:pt x="226" y="209"/>
                    </a:lnTo>
                    <a:lnTo>
                      <a:pt x="205" y="209"/>
                    </a:lnTo>
                    <a:lnTo>
                      <a:pt x="188" y="207"/>
                    </a:lnTo>
                    <a:lnTo>
                      <a:pt x="176" y="204"/>
                    </a:lnTo>
                    <a:lnTo>
                      <a:pt x="168" y="198"/>
                    </a:lnTo>
                    <a:lnTo>
                      <a:pt x="166" y="193"/>
                    </a:lnTo>
                    <a:lnTo>
                      <a:pt x="168" y="186"/>
                    </a:lnTo>
                    <a:lnTo>
                      <a:pt x="176" y="178"/>
                    </a:lnTo>
                    <a:lnTo>
                      <a:pt x="190" y="169"/>
                    </a:lnTo>
                    <a:lnTo>
                      <a:pt x="207" y="161"/>
                    </a:lnTo>
                    <a:lnTo>
                      <a:pt x="224" y="154"/>
                    </a:lnTo>
                    <a:lnTo>
                      <a:pt x="247" y="147"/>
                    </a:lnTo>
                    <a:lnTo>
                      <a:pt x="269" y="142"/>
                    </a:lnTo>
                    <a:lnTo>
                      <a:pt x="316" y="135"/>
                    </a:lnTo>
                    <a:lnTo>
                      <a:pt x="359" y="131"/>
                    </a:lnTo>
                    <a:lnTo>
                      <a:pt x="388" y="133"/>
                    </a:lnTo>
                    <a:lnTo>
                      <a:pt x="421" y="135"/>
                    </a:lnTo>
                    <a:lnTo>
                      <a:pt x="447" y="116"/>
                    </a:lnTo>
                    <a:lnTo>
                      <a:pt x="471" y="97"/>
                    </a:lnTo>
                    <a:lnTo>
                      <a:pt x="443" y="97"/>
                    </a:lnTo>
                    <a:lnTo>
                      <a:pt x="423" y="95"/>
                    </a:lnTo>
                    <a:lnTo>
                      <a:pt x="405" y="93"/>
                    </a:lnTo>
                    <a:lnTo>
                      <a:pt x="395" y="88"/>
                    </a:lnTo>
                    <a:lnTo>
                      <a:pt x="390" y="83"/>
                    </a:lnTo>
                    <a:lnTo>
                      <a:pt x="390" y="78"/>
                    </a:lnTo>
                    <a:lnTo>
                      <a:pt x="395" y="73"/>
                    </a:lnTo>
                    <a:lnTo>
                      <a:pt x="405" y="66"/>
                    </a:lnTo>
                    <a:lnTo>
                      <a:pt x="417" y="59"/>
                    </a:lnTo>
                    <a:lnTo>
                      <a:pt x="429" y="54"/>
                    </a:lnTo>
                    <a:lnTo>
                      <a:pt x="445" y="49"/>
                    </a:lnTo>
                    <a:lnTo>
                      <a:pt x="462" y="45"/>
                    </a:lnTo>
                    <a:lnTo>
                      <a:pt x="498" y="40"/>
                    </a:lnTo>
                    <a:lnTo>
                      <a:pt x="536" y="38"/>
                    </a:lnTo>
                    <a:lnTo>
                      <a:pt x="554" y="38"/>
                    </a:lnTo>
                    <a:lnTo>
                      <a:pt x="567" y="40"/>
                    </a:lnTo>
                    <a:lnTo>
                      <a:pt x="578" y="43"/>
                    </a:lnTo>
                    <a:lnTo>
                      <a:pt x="586" y="47"/>
                    </a:lnTo>
                    <a:lnTo>
                      <a:pt x="590" y="52"/>
                    </a:lnTo>
                    <a:lnTo>
                      <a:pt x="590" y="57"/>
                    </a:lnTo>
                    <a:lnTo>
                      <a:pt x="585" y="64"/>
                    </a:lnTo>
                    <a:lnTo>
                      <a:pt x="576" y="71"/>
                    </a:lnTo>
                    <a:lnTo>
                      <a:pt x="650" y="68"/>
                    </a:lnTo>
                    <a:lnTo>
                      <a:pt x="724" y="64"/>
                    </a:lnTo>
                    <a:lnTo>
                      <a:pt x="734" y="54"/>
                    </a:lnTo>
                    <a:lnTo>
                      <a:pt x="741" y="43"/>
                    </a:lnTo>
                    <a:lnTo>
                      <a:pt x="743" y="35"/>
                    </a:lnTo>
                    <a:lnTo>
                      <a:pt x="743" y="28"/>
                    </a:lnTo>
                    <a:lnTo>
                      <a:pt x="738" y="21"/>
                    </a:lnTo>
                    <a:lnTo>
                      <a:pt x="729" y="16"/>
                    </a:lnTo>
                    <a:lnTo>
                      <a:pt x="717" y="11"/>
                    </a:lnTo>
                    <a:lnTo>
                      <a:pt x="700" y="7"/>
                    </a:lnTo>
                    <a:lnTo>
                      <a:pt x="679" y="4"/>
                    </a:lnTo>
                    <a:lnTo>
                      <a:pt x="657" y="2"/>
                    </a:lnTo>
                    <a:lnTo>
                      <a:pt x="629" y="0"/>
                    </a:lnTo>
                    <a:lnTo>
                      <a:pt x="600" y="0"/>
                    </a:lnTo>
                    <a:lnTo>
                      <a:pt x="547" y="2"/>
                    </a:lnTo>
                    <a:lnTo>
                      <a:pt x="493" y="5"/>
                    </a:lnTo>
                    <a:lnTo>
                      <a:pt x="440" y="12"/>
                    </a:lnTo>
                    <a:lnTo>
                      <a:pt x="388" y="23"/>
                    </a:lnTo>
                    <a:lnTo>
                      <a:pt x="348" y="31"/>
                    </a:lnTo>
                    <a:lnTo>
                      <a:pt x="314" y="42"/>
                    </a:lnTo>
                    <a:lnTo>
                      <a:pt x="286" y="52"/>
                    </a:lnTo>
                    <a:lnTo>
                      <a:pt x="262" y="62"/>
                    </a:lnTo>
                    <a:lnTo>
                      <a:pt x="250" y="71"/>
                    </a:lnTo>
                    <a:lnTo>
                      <a:pt x="242" y="78"/>
                    </a:lnTo>
                    <a:lnTo>
                      <a:pt x="238" y="85"/>
                    </a:lnTo>
                    <a:lnTo>
                      <a:pt x="240" y="92"/>
                    </a:lnTo>
                    <a:lnTo>
                      <a:pt x="243" y="97"/>
                    </a:lnTo>
                    <a:lnTo>
                      <a:pt x="252" y="104"/>
                    </a:lnTo>
                    <a:lnTo>
                      <a:pt x="266" y="109"/>
                    </a:lnTo>
                    <a:lnTo>
                      <a:pt x="283" y="114"/>
                    </a:lnTo>
                    <a:lnTo>
                      <a:pt x="247" y="116"/>
                    </a:lnTo>
                    <a:lnTo>
                      <a:pt x="211" y="121"/>
                    </a:lnTo>
                    <a:lnTo>
                      <a:pt x="142" y="133"/>
                    </a:lnTo>
                    <a:lnTo>
                      <a:pt x="111" y="142"/>
                    </a:lnTo>
                    <a:lnTo>
                      <a:pt x="81" y="150"/>
                    </a:lnTo>
                    <a:lnTo>
                      <a:pt x="57" y="161"/>
                    </a:lnTo>
                    <a:lnTo>
                      <a:pt x="37" y="171"/>
                    </a:lnTo>
                    <a:lnTo>
                      <a:pt x="25" y="180"/>
                    </a:lnTo>
                    <a:lnTo>
                      <a:pt x="14" y="186"/>
                    </a:lnTo>
                    <a:lnTo>
                      <a:pt x="7" y="193"/>
                    </a:lnTo>
                    <a:lnTo>
                      <a:pt x="2" y="202"/>
                    </a:lnTo>
                    <a:lnTo>
                      <a:pt x="0" y="207"/>
                    </a:lnTo>
                    <a:lnTo>
                      <a:pt x="2" y="214"/>
                    </a:lnTo>
                    <a:lnTo>
                      <a:pt x="6" y="221"/>
                    </a:lnTo>
                    <a:lnTo>
                      <a:pt x="12" y="226"/>
                    </a:lnTo>
                    <a:lnTo>
                      <a:pt x="23" y="231"/>
                    </a:lnTo>
                    <a:lnTo>
                      <a:pt x="35" y="236"/>
                    </a:lnTo>
                    <a:lnTo>
                      <a:pt x="49" y="240"/>
                    </a:lnTo>
                    <a:lnTo>
                      <a:pt x="66" y="243"/>
                    </a:lnTo>
                    <a:lnTo>
                      <a:pt x="85" y="245"/>
                    </a:lnTo>
                    <a:lnTo>
                      <a:pt x="106" y="247"/>
                    </a:lnTo>
                    <a:lnTo>
                      <a:pt x="130" y="248"/>
                    </a:lnTo>
                    <a:lnTo>
                      <a:pt x="155" y="248"/>
                    </a:lnTo>
                    <a:lnTo>
                      <a:pt x="209" y="247"/>
                    </a:lnTo>
                    <a:lnTo>
                      <a:pt x="261" y="243"/>
                    </a:lnTo>
                    <a:lnTo>
                      <a:pt x="312" y="238"/>
                    </a:lnTo>
                    <a:lnTo>
                      <a:pt x="362" y="229"/>
                    </a:lnTo>
                    <a:lnTo>
                      <a:pt x="411" y="219"/>
                    </a:lnTo>
                    <a:lnTo>
                      <a:pt x="455" y="207"/>
                    </a:lnTo>
                    <a:lnTo>
                      <a:pt x="495" y="195"/>
                    </a:lnTo>
                    <a:lnTo>
                      <a:pt x="529" y="180"/>
                    </a:lnTo>
                    <a:lnTo>
                      <a:pt x="529" y="180"/>
                    </a:lnTo>
                    <a:close/>
                  </a:path>
                </a:pathLst>
              </a:custGeom>
              <a:solidFill>
                <a:srgbClr val="CC33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33" name="Freeform 1077"/>
              <p:cNvSpPr>
                <a:spLocks noEditPoints="1"/>
              </p:cNvSpPr>
              <p:nvPr/>
            </p:nvSpPr>
            <p:spPr bwMode="auto">
              <a:xfrm>
                <a:off x="3691" y="3213"/>
                <a:ext cx="373" cy="124"/>
              </a:xfrm>
              <a:custGeom>
                <a:avLst/>
                <a:gdLst>
                  <a:gd name="T0" fmla="*/ 585 w 747"/>
                  <a:gd name="T1" fmla="*/ 104 h 248"/>
                  <a:gd name="T2" fmla="*/ 664 w 747"/>
                  <a:gd name="T3" fmla="*/ 85 h 248"/>
                  <a:gd name="T4" fmla="*/ 717 w 747"/>
                  <a:gd name="T5" fmla="*/ 62 h 248"/>
                  <a:gd name="T6" fmla="*/ 741 w 747"/>
                  <a:gd name="T7" fmla="*/ 43 h 248"/>
                  <a:gd name="T8" fmla="*/ 745 w 747"/>
                  <a:gd name="T9" fmla="*/ 28 h 248"/>
                  <a:gd name="T10" fmla="*/ 728 w 747"/>
                  <a:gd name="T11" fmla="*/ 14 h 248"/>
                  <a:gd name="T12" fmla="*/ 688 w 747"/>
                  <a:gd name="T13" fmla="*/ 4 h 248"/>
                  <a:gd name="T14" fmla="*/ 624 w 747"/>
                  <a:gd name="T15" fmla="*/ 0 h 248"/>
                  <a:gd name="T16" fmla="*/ 493 w 747"/>
                  <a:gd name="T17" fmla="*/ 4 h 248"/>
                  <a:gd name="T18" fmla="*/ 354 w 747"/>
                  <a:gd name="T19" fmla="*/ 28 h 248"/>
                  <a:gd name="T20" fmla="*/ 257 w 747"/>
                  <a:gd name="T21" fmla="*/ 62 h 248"/>
                  <a:gd name="T22" fmla="*/ 231 w 747"/>
                  <a:gd name="T23" fmla="*/ 86 h 248"/>
                  <a:gd name="T24" fmla="*/ 245 w 747"/>
                  <a:gd name="T25" fmla="*/ 105 h 248"/>
                  <a:gd name="T26" fmla="*/ 237 w 747"/>
                  <a:gd name="T27" fmla="*/ 117 h 248"/>
                  <a:gd name="T28" fmla="*/ 135 w 747"/>
                  <a:gd name="T29" fmla="*/ 136 h 248"/>
                  <a:gd name="T30" fmla="*/ 57 w 747"/>
                  <a:gd name="T31" fmla="*/ 162 h 248"/>
                  <a:gd name="T32" fmla="*/ 14 w 747"/>
                  <a:gd name="T33" fmla="*/ 188 h 248"/>
                  <a:gd name="T34" fmla="*/ 0 w 747"/>
                  <a:gd name="T35" fmla="*/ 209 h 248"/>
                  <a:gd name="T36" fmla="*/ 9 w 747"/>
                  <a:gd name="T37" fmla="*/ 228 h 248"/>
                  <a:gd name="T38" fmla="*/ 44 w 747"/>
                  <a:gd name="T39" fmla="*/ 240 h 248"/>
                  <a:gd name="T40" fmla="*/ 102 w 747"/>
                  <a:gd name="T41" fmla="*/ 247 h 248"/>
                  <a:gd name="T42" fmla="*/ 204 w 747"/>
                  <a:gd name="T43" fmla="*/ 247 h 248"/>
                  <a:gd name="T44" fmla="*/ 357 w 747"/>
                  <a:gd name="T45" fmla="*/ 231 h 248"/>
                  <a:gd name="T46" fmla="*/ 438 w 747"/>
                  <a:gd name="T47" fmla="*/ 214 h 248"/>
                  <a:gd name="T48" fmla="*/ 504 w 747"/>
                  <a:gd name="T49" fmla="*/ 192 h 248"/>
                  <a:gd name="T50" fmla="*/ 554 w 747"/>
                  <a:gd name="T51" fmla="*/ 166 h 248"/>
                  <a:gd name="T52" fmla="*/ 573 w 747"/>
                  <a:gd name="T53" fmla="*/ 138 h 248"/>
                  <a:gd name="T54" fmla="*/ 542 w 747"/>
                  <a:gd name="T55" fmla="*/ 117 h 248"/>
                  <a:gd name="T56" fmla="*/ 573 w 747"/>
                  <a:gd name="T57" fmla="*/ 66 h 248"/>
                  <a:gd name="T58" fmla="*/ 509 w 747"/>
                  <a:gd name="T59" fmla="*/ 88 h 248"/>
                  <a:gd name="T60" fmla="*/ 411 w 747"/>
                  <a:gd name="T61" fmla="*/ 95 h 248"/>
                  <a:gd name="T62" fmla="*/ 376 w 747"/>
                  <a:gd name="T63" fmla="*/ 88 h 248"/>
                  <a:gd name="T64" fmla="*/ 380 w 747"/>
                  <a:gd name="T65" fmla="*/ 73 h 248"/>
                  <a:gd name="T66" fmla="*/ 417 w 747"/>
                  <a:gd name="T67" fmla="*/ 54 h 248"/>
                  <a:gd name="T68" fmla="*/ 492 w 747"/>
                  <a:gd name="T69" fmla="*/ 38 h 248"/>
                  <a:gd name="T70" fmla="*/ 566 w 747"/>
                  <a:gd name="T71" fmla="*/ 38 h 248"/>
                  <a:gd name="T72" fmla="*/ 588 w 747"/>
                  <a:gd name="T73" fmla="*/ 49 h 248"/>
                  <a:gd name="T74" fmla="*/ 573 w 747"/>
                  <a:gd name="T75" fmla="*/ 66 h 248"/>
                  <a:gd name="T76" fmla="*/ 385 w 747"/>
                  <a:gd name="T77" fmla="*/ 180 h 248"/>
                  <a:gd name="T78" fmla="*/ 317 w 747"/>
                  <a:gd name="T79" fmla="*/ 200 h 248"/>
                  <a:gd name="T80" fmla="*/ 200 w 747"/>
                  <a:gd name="T81" fmla="*/ 211 h 248"/>
                  <a:gd name="T82" fmla="*/ 164 w 747"/>
                  <a:gd name="T83" fmla="*/ 200 h 248"/>
                  <a:gd name="T84" fmla="*/ 173 w 747"/>
                  <a:gd name="T85" fmla="*/ 180 h 248"/>
                  <a:gd name="T86" fmla="*/ 221 w 747"/>
                  <a:gd name="T87" fmla="*/ 155 h 248"/>
                  <a:gd name="T88" fmla="*/ 314 w 747"/>
                  <a:gd name="T89" fmla="*/ 136 h 248"/>
                  <a:gd name="T90" fmla="*/ 404 w 747"/>
                  <a:gd name="T91" fmla="*/ 136 h 248"/>
                  <a:gd name="T92" fmla="*/ 421 w 747"/>
                  <a:gd name="T93" fmla="*/ 150 h 248"/>
                  <a:gd name="T94" fmla="*/ 402 w 747"/>
                  <a:gd name="T95" fmla="*/ 171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7" h="248">
                    <a:moveTo>
                      <a:pt x="519" y="112"/>
                    </a:moveTo>
                    <a:lnTo>
                      <a:pt x="554" y="109"/>
                    </a:lnTo>
                    <a:lnTo>
                      <a:pt x="585" y="104"/>
                    </a:lnTo>
                    <a:lnTo>
                      <a:pt x="614" y="99"/>
                    </a:lnTo>
                    <a:lnTo>
                      <a:pt x="640" y="92"/>
                    </a:lnTo>
                    <a:lnTo>
                      <a:pt x="664" y="85"/>
                    </a:lnTo>
                    <a:lnTo>
                      <a:pt x="685" y="78"/>
                    </a:lnTo>
                    <a:lnTo>
                      <a:pt x="702" y="71"/>
                    </a:lnTo>
                    <a:lnTo>
                      <a:pt x="717" y="62"/>
                    </a:lnTo>
                    <a:lnTo>
                      <a:pt x="728" y="55"/>
                    </a:lnTo>
                    <a:lnTo>
                      <a:pt x="736" y="50"/>
                    </a:lnTo>
                    <a:lnTo>
                      <a:pt x="741" y="43"/>
                    </a:lnTo>
                    <a:lnTo>
                      <a:pt x="745" y="38"/>
                    </a:lnTo>
                    <a:lnTo>
                      <a:pt x="747" y="33"/>
                    </a:lnTo>
                    <a:lnTo>
                      <a:pt x="745" y="28"/>
                    </a:lnTo>
                    <a:lnTo>
                      <a:pt x="741" y="23"/>
                    </a:lnTo>
                    <a:lnTo>
                      <a:pt x="736" y="18"/>
                    </a:lnTo>
                    <a:lnTo>
                      <a:pt x="728" y="14"/>
                    </a:lnTo>
                    <a:lnTo>
                      <a:pt x="717" y="11"/>
                    </a:lnTo>
                    <a:lnTo>
                      <a:pt x="704" y="7"/>
                    </a:lnTo>
                    <a:lnTo>
                      <a:pt x="688" y="4"/>
                    </a:lnTo>
                    <a:lnTo>
                      <a:pt x="669" y="2"/>
                    </a:lnTo>
                    <a:lnTo>
                      <a:pt x="648" y="2"/>
                    </a:lnTo>
                    <a:lnTo>
                      <a:pt x="624" y="0"/>
                    </a:lnTo>
                    <a:lnTo>
                      <a:pt x="598" y="0"/>
                    </a:lnTo>
                    <a:lnTo>
                      <a:pt x="545" y="2"/>
                    </a:lnTo>
                    <a:lnTo>
                      <a:pt x="493" y="4"/>
                    </a:lnTo>
                    <a:lnTo>
                      <a:pt x="445" y="11"/>
                    </a:lnTo>
                    <a:lnTo>
                      <a:pt x="397" y="18"/>
                    </a:lnTo>
                    <a:lnTo>
                      <a:pt x="354" y="28"/>
                    </a:lnTo>
                    <a:lnTo>
                      <a:pt x="317" y="38"/>
                    </a:lnTo>
                    <a:lnTo>
                      <a:pt x="285" y="50"/>
                    </a:lnTo>
                    <a:lnTo>
                      <a:pt x="257" y="62"/>
                    </a:lnTo>
                    <a:lnTo>
                      <a:pt x="245" y="71"/>
                    </a:lnTo>
                    <a:lnTo>
                      <a:pt x="237" y="80"/>
                    </a:lnTo>
                    <a:lnTo>
                      <a:pt x="231" y="86"/>
                    </a:lnTo>
                    <a:lnTo>
                      <a:pt x="231" y="93"/>
                    </a:lnTo>
                    <a:lnTo>
                      <a:pt x="237" y="100"/>
                    </a:lnTo>
                    <a:lnTo>
                      <a:pt x="245" y="105"/>
                    </a:lnTo>
                    <a:lnTo>
                      <a:pt x="257" y="109"/>
                    </a:lnTo>
                    <a:lnTo>
                      <a:pt x="274" y="112"/>
                    </a:lnTo>
                    <a:lnTo>
                      <a:pt x="237" y="117"/>
                    </a:lnTo>
                    <a:lnTo>
                      <a:pt x="200" y="123"/>
                    </a:lnTo>
                    <a:lnTo>
                      <a:pt x="168" y="130"/>
                    </a:lnTo>
                    <a:lnTo>
                      <a:pt x="135" y="136"/>
                    </a:lnTo>
                    <a:lnTo>
                      <a:pt x="107" y="145"/>
                    </a:lnTo>
                    <a:lnTo>
                      <a:pt x="81" y="154"/>
                    </a:lnTo>
                    <a:lnTo>
                      <a:pt x="57" y="162"/>
                    </a:lnTo>
                    <a:lnTo>
                      <a:pt x="38" y="173"/>
                    </a:lnTo>
                    <a:lnTo>
                      <a:pt x="25" y="181"/>
                    </a:lnTo>
                    <a:lnTo>
                      <a:pt x="14" y="188"/>
                    </a:lnTo>
                    <a:lnTo>
                      <a:pt x="7" y="195"/>
                    </a:lnTo>
                    <a:lnTo>
                      <a:pt x="2" y="204"/>
                    </a:lnTo>
                    <a:lnTo>
                      <a:pt x="0" y="209"/>
                    </a:lnTo>
                    <a:lnTo>
                      <a:pt x="0" y="216"/>
                    </a:lnTo>
                    <a:lnTo>
                      <a:pt x="4" y="223"/>
                    </a:lnTo>
                    <a:lnTo>
                      <a:pt x="9" y="228"/>
                    </a:lnTo>
                    <a:lnTo>
                      <a:pt x="18" y="233"/>
                    </a:lnTo>
                    <a:lnTo>
                      <a:pt x="30" y="236"/>
                    </a:lnTo>
                    <a:lnTo>
                      <a:pt x="44" y="240"/>
                    </a:lnTo>
                    <a:lnTo>
                      <a:pt x="61" y="243"/>
                    </a:lnTo>
                    <a:lnTo>
                      <a:pt x="80" y="245"/>
                    </a:lnTo>
                    <a:lnTo>
                      <a:pt x="102" y="247"/>
                    </a:lnTo>
                    <a:lnTo>
                      <a:pt x="126" y="248"/>
                    </a:lnTo>
                    <a:lnTo>
                      <a:pt x="152" y="248"/>
                    </a:lnTo>
                    <a:lnTo>
                      <a:pt x="204" y="247"/>
                    </a:lnTo>
                    <a:lnTo>
                      <a:pt x="255" y="245"/>
                    </a:lnTo>
                    <a:lnTo>
                      <a:pt x="307" y="240"/>
                    </a:lnTo>
                    <a:lnTo>
                      <a:pt x="357" y="231"/>
                    </a:lnTo>
                    <a:lnTo>
                      <a:pt x="386" y="226"/>
                    </a:lnTo>
                    <a:lnTo>
                      <a:pt x="412" y="219"/>
                    </a:lnTo>
                    <a:lnTo>
                      <a:pt x="438" y="214"/>
                    </a:lnTo>
                    <a:lnTo>
                      <a:pt x="462" y="207"/>
                    </a:lnTo>
                    <a:lnTo>
                      <a:pt x="483" y="200"/>
                    </a:lnTo>
                    <a:lnTo>
                      <a:pt x="504" y="192"/>
                    </a:lnTo>
                    <a:lnTo>
                      <a:pt x="523" y="183"/>
                    </a:lnTo>
                    <a:lnTo>
                      <a:pt x="538" y="174"/>
                    </a:lnTo>
                    <a:lnTo>
                      <a:pt x="554" y="166"/>
                    </a:lnTo>
                    <a:lnTo>
                      <a:pt x="564" y="157"/>
                    </a:lnTo>
                    <a:lnTo>
                      <a:pt x="571" y="147"/>
                    </a:lnTo>
                    <a:lnTo>
                      <a:pt x="573" y="138"/>
                    </a:lnTo>
                    <a:lnTo>
                      <a:pt x="569" y="131"/>
                    </a:lnTo>
                    <a:lnTo>
                      <a:pt x="559" y="124"/>
                    </a:lnTo>
                    <a:lnTo>
                      <a:pt x="542" y="117"/>
                    </a:lnTo>
                    <a:lnTo>
                      <a:pt x="519" y="112"/>
                    </a:lnTo>
                    <a:lnTo>
                      <a:pt x="519" y="112"/>
                    </a:lnTo>
                    <a:close/>
                    <a:moveTo>
                      <a:pt x="573" y="66"/>
                    </a:moveTo>
                    <a:lnTo>
                      <a:pt x="543" y="80"/>
                    </a:lnTo>
                    <a:lnTo>
                      <a:pt x="528" y="85"/>
                    </a:lnTo>
                    <a:lnTo>
                      <a:pt x="509" y="88"/>
                    </a:lnTo>
                    <a:lnTo>
                      <a:pt x="469" y="93"/>
                    </a:lnTo>
                    <a:lnTo>
                      <a:pt x="430" y="95"/>
                    </a:lnTo>
                    <a:lnTo>
                      <a:pt x="411" y="95"/>
                    </a:lnTo>
                    <a:lnTo>
                      <a:pt x="395" y="93"/>
                    </a:lnTo>
                    <a:lnTo>
                      <a:pt x="383" y="92"/>
                    </a:lnTo>
                    <a:lnTo>
                      <a:pt x="376" y="88"/>
                    </a:lnTo>
                    <a:lnTo>
                      <a:pt x="373" y="85"/>
                    </a:lnTo>
                    <a:lnTo>
                      <a:pt x="374" y="80"/>
                    </a:lnTo>
                    <a:lnTo>
                      <a:pt x="380" y="73"/>
                    </a:lnTo>
                    <a:lnTo>
                      <a:pt x="390" y="66"/>
                    </a:lnTo>
                    <a:lnTo>
                      <a:pt x="402" y="59"/>
                    </a:lnTo>
                    <a:lnTo>
                      <a:pt x="417" y="54"/>
                    </a:lnTo>
                    <a:lnTo>
                      <a:pt x="433" y="49"/>
                    </a:lnTo>
                    <a:lnTo>
                      <a:pt x="452" y="45"/>
                    </a:lnTo>
                    <a:lnTo>
                      <a:pt x="492" y="38"/>
                    </a:lnTo>
                    <a:lnTo>
                      <a:pt x="531" y="36"/>
                    </a:lnTo>
                    <a:lnTo>
                      <a:pt x="550" y="36"/>
                    </a:lnTo>
                    <a:lnTo>
                      <a:pt x="566" y="38"/>
                    </a:lnTo>
                    <a:lnTo>
                      <a:pt x="578" y="42"/>
                    </a:lnTo>
                    <a:lnTo>
                      <a:pt x="585" y="45"/>
                    </a:lnTo>
                    <a:lnTo>
                      <a:pt x="588" y="49"/>
                    </a:lnTo>
                    <a:lnTo>
                      <a:pt x="586" y="54"/>
                    </a:lnTo>
                    <a:lnTo>
                      <a:pt x="581" y="59"/>
                    </a:lnTo>
                    <a:lnTo>
                      <a:pt x="573" y="66"/>
                    </a:lnTo>
                    <a:lnTo>
                      <a:pt x="573" y="66"/>
                    </a:lnTo>
                    <a:close/>
                    <a:moveTo>
                      <a:pt x="402" y="171"/>
                    </a:moveTo>
                    <a:lnTo>
                      <a:pt x="385" y="180"/>
                    </a:lnTo>
                    <a:lnTo>
                      <a:pt x="364" y="188"/>
                    </a:lnTo>
                    <a:lnTo>
                      <a:pt x="342" y="195"/>
                    </a:lnTo>
                    <a:lnTo>
                      <a:pt x="317" y="200"/>
                    </a:lnTo>
                    <a:lnTo>
                      <a:pt x="269" y="209"/>
                    </a:lnTo>
                    <a:lnTo>
                      <a:pt x="221" y="211"/>
                    </a:lnTo>
                    <a:lnTo>
                      <a:pt x="200" y="211"/>
                    </a:lnTo>
                    <a:lnTo>
                      <a:pt x="183" y="209"/>
                    </a:lnTo>
                    <a:lnTo>
                      <a:pt x="171" y="205"/>
                    </a:lnTo>
                    <a:lnTo>
                      <a:pt x="164" y="200"/>
                    </a:lnTo>
                    <a:lnTo>
                      <a:pt x="162" y="195"/>
                    </a:lnTo>
                    <a:lnTo>
                      <a:pt x="164" y="188"/>
                    </a:lnTo>
                    <a:lnTo>
                      <a:pt x="173" y="180"/>
                    </a:lnTo>
                    <a:lnTo>
                      <a:pt x="187" y="171"/>
                    </a:lnTo>
                    <a:lnTo>
                      <a:pt x="204" y="162"/>
                    </a:lnTo>
                    <a:lnTo>
                      <a:pt x="221" y="155"/>
                    </a:lnTo>
                    <a:lnTo>
                      <a:pt x="243" y="148"/>
                    </a:lnTo>
                    <a:lnTo>
                      <a:pt x="266" y="143"/>
                    </a:lnTo>
                    <a:lnTo>
                      <a:pt x="314" y="136"/>
                    </a:lnTo>
                    <a:lnTo>
                      <a:pt x="361" y="133"/>
                    </a:lnTo>
                    <a:lnTo>
                      <a:pt x="385" y="133"/>
                    </a:lnTo>
                    <a:lnTo>
                      <a:pt x="404" y="136"/>
                    </a:lnTo>
                    <a:lnTo>
                      <a:pt x="416" y="140"/>
                    </a:lnTo>
                    <a:lnTo>
                      <a:pt x="421" y="145"/>
                    </a:lnTo>
                    <a:lnTo>
                      <a:pt x="421" y="150"/>
                    </a:lnTo>
                    <a:lnTo>
                      <a:pt x="419" y="157"/>
                    </a:lnTo>
                    <a:lnTo>
                      <a:pt x="412" y="164"/>
                    </a:lnTo>
                    <a:lnTo>
                      <a:pt x="402" y="171"/>
                    </a:lnTo>
                    <a:lnTo>
                      <a:pt x="402" y="171"/>
                    </a:lnTo>
                    <a:close/>
                  </a:path>
                </a:pathLst>
              </a:custGeom>
              <a:solidFill>
                <a:srgbClr val="CC33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34" name="Freeform 1078"/>
              <p:cNvSpPr>
                <a:spLocks/>
              </p:cNvSpPr>
              <p:nvPr/>
            </p:nvSpPr>
            <p:spPr bwMode="auto">
              <a:xfrm>
                <a:off x="3393" y="3215"/>
                <a:ext cx="372" cy="122"/>
              </a:xfrm>
              <a:custGeom>
                <a:avLst/>
                <a:gdLst>
                  <a:gd name="T0" fmla="*/ 455 w 745"/>
                  <a:gd name="T1" fmla="*/ 176 h 244"/>
                  <a:gd name="T2" fmla="*/ 369 w 745"/>
                  <a:gd name="T3" fmla="*/ 179 h 244"/>
                  <a:gd name="T4" fmla="*/ 305 w 745"/>
                  <a:gd name="T5" fmla="*/ 198 h 244"/>
                  <a:gd name="T6" fmla="*/ 238 w 745"/>
                  <a:gd name="T7" fmla="*/ 207 h 244"/>
                  <a:gd name="T8" fmla="*/ 197 w 745"/>
                  <a:gd name="T9" fmla="*/ 207 h 244"/>
                  <a:gd name="T10" fmla="*/ 167 w 745"/>
                  <a:gd name="T11" fmla="*/ 200 h 244"/>
                  <a:gd name="T12" fmla="*/ 159 w 745"/>
                  <a:gd name="T13" fmla="*/ 188 h 244"/>
                  <a:gd name="T14" fmla="*/ 174 w 745"/>
                  <a:gd name="T15" fmla="*/ 170 h 244"/>
                  <a:gd name="T16" fmla="*/ 235 w 745"/>
                  <a:gd name="T17" fmla="*/ 139 h 244"/>
                  <a:gd name="T18" fmla="*/ 283 w 745"/>
                  <a:gd name="T19" fmla="*/ 126 h 244"/>
                  <a:gd name="T20" fmla="*/ 384 w 745"/>
                  <a:gd name="T21" fmla="*/ 115 h 244"/>
                  <a:gd name="T22" fmla="*/ 438 w 745"/>
                  <a:gd name="T23" fmla="*/ 119 h 244"/>
                  <a:gd name="T24" fmla="*/ 467 w 745"/>
                  <a:gd name="T25" fmla="*/ 132 h 244"/>
                  <a:gd name="T26" fmla="*/ 595 w 745"/>
                  <a:gd name="T27" fmla="*/ 127 h 244"/>
                  <a:gd name="T28" fmla="*/ 745 w 745"/>
                  <a:gd name="T29" fmla="*/ 0 h 244"/>
                  <a:gd name="T30" fmla="*/ 355 w 745"/>
                  <a:gd name="T31" fmla="*/ 0 h 244"/>
                  <a:gd name="T32" fmla="*/ 279 w 745"/>
                  <a:gd name="T33" fmla="*/ 45 h 244"/>
                  <a:gd name="T34" fmla="*/ 555 w 745"/>
                  <a:gd name="T35" fmla="*/ 45 h 244"/>
                  <a:gd name="T36" fmla="*/ 505 w 745"/>
                  <a:gd name="T37" fmla="*/ 86 h 244"/>
                  <a:gd name="T38" fmla="*/ 465 w 745"/>
                  <a:gd name="T39" fmla="*/ 79 h 244"/>
                  <a:gd name="T40" fmla="*/ 419 w 745"/>
                  <a:gd name="T41" fmla="*/ 77 h 244"/>
                  <a:gd name="T42" fmla="*/ 319 w 745"/>
                  <a:gd name="T43" fmla="*/ 82 h 244"/>
                  <a:gd name="T44" fmla="*/ 214 w 745"/>
                  <a:gd name="T45" fmla="*/ 100 h 244"/>
                  <a:gd name="T46" fmla="*/ 117 w 745"/>
                  <a:gd name="T47" fmla="*/ 126 h 244"/>
                  <a:gd name="T48" fmla="*/ 43 w 745"/>
                  <a:gd name="T49" fmla="*/ 158 h 244"/>
                  <a:gd name="T50" fmla="*/ 21 w 745"/>
                  <a:gd name="T51" fmla="*/ 174 h 244"/>
                  <a:gd name="T52" fmla="*/ 7 w 745"/>
                  <a:gd name="T53" fmla="*/ 188 h 244"/>
                  <a:gd name="T54" fmla="*/ 0 w 745"/>
                  <a:gd name="T55" fmla="*/ 200 h 244"/>
                  <a:gd name="T56" fmla="*/ 2 w 745"/>
                  <a:gd name="T57" fmla="*/ 212 h 244"/>
                  <a:gd name="T58" fmla="*/ 17 w 745"/>
                  <a:gd name="T59" fmla="*/ 225 h 244"/>
                  <a:gd name="T60" fmla="*/ 48 w 745"/>
                  <a:gd name="T61" fmla="*/ 236 h 244"/>
                  <a:gd name="T62" fmla="*/ 93 w 745"/>
                  <a:gd name="T63" fmla="*/ 243 h 244"/>
                  <a:gd name="T64" fmla="*/ 154 w 745"/>
                  <a:gd name="T65" fmla="*/ 244 h 244"/>
                  <a:gd name="T66" fmla="*/ 257 w 745"/>
                  <a:gd name="T67" fmla="*/ 239 h 244"/>
                  <a:gd name="T68" fmla="*/ 357 w 745"/>
                  <a:gd name="T69" fmla="*/ 225 h 244"/>
                  <a:gd name="T70" fmla="*/ 448 w 745"/>
                  <a:gd name="T71" fmla="*/ 205 h 244"/>
                  <a:gd name="T72" fmla="*/ 524 w 745"/>
                  <a:gd name="T73" fmla="*/ 177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45" h="244">
                    <a:moveTo>
                      <a:pt x="524" y="177"/>
                    </a:moveTo>
                    <a:lnTo>
                      <a:pt x="455" y="176"/>
                    </a:lnTo>
                    <a:lnTo>
                      <a:pt x="386" y="172"/>
                    </a:lnTo>
                    <a:lnTo>
                      <a:pt x="369" y="179"/>
                    </a:lnTo>
                    <a:lnTo>
                      <a:pt x="348" y="186"/>
                    </a:lnTo>
                    <a:lnTo>
                      <a:pt x="305" y="198"/>
                    </a:lnTo>
                    <a:lnTo>
                      <a:pt x="259" y="205"/>
                    </a:lnTo>
                    <a:lnTo>
                      <a:pt x="238" y="207"/>
                    </a:lnTo>
                    <a:lnTo>
                      <a:pt x="217" y="207"/>
                    </a:lnTo>
                    <a:lnTo>
                      <a:pt x="197" y="207"/>
                    </a:lnTo>
                    <a:lnTo>
                      <a:pt x="179" y="203"/>
                    </a:lnTo>
                    <a:lnTo>
                      <a:pt x="167" y="200"/>
                    </a:lnTo>
                    <a:lnTo>
                      <a:pt x="160" y="194"/>
                    </a:lnTo>
                    <a:lnTo>
                      <a:pt x="159" y="188"/>
                    </a:lnTo>
                    <a:lnTo>
                      <a:pt x="164" y="181"/>
                    </a:lnTo>
                    <a:lnTo>
                      <a:pt x="174" y="170"/>
                    </a:lnTo>
                    <a:lnTo>
                      <a:pt x="191" y="160"/>
                    </a:lnTo>
                    <a:lnTo>
                      <a:pt x="235" y="139"/>
                    </a:lnTo>
                    <a:lnTo>
                      <a:pt x="259" y="132"/>
                    </a:lnTo>
                    <a:lnTo>
                      <a:pt x="283" y="126"/>
                    </a:lnTo>
                    <a:lnTo>
                      <a:pt x="334" y="119"/>
                    </a:lnTo>
                    <a:lnTo>
                      <a:pt x="384" y="115"/>
                    </a:lnTo>
                    <a:lnTo>
                      <a:pt x="414" y="117"/>
                    </a:lnTo>
                    <a:lnTo>
                      <a:pt x="438" y="119"/>
                    </a:lnTo>
                    <a:lnTo>
                      <a:pt x="455" y="126"/>
                    </a:lnTo>
                    <a:lnTo>
                      <a:pt x="467" y="132"/>
                    </a:lnTo>
                    <a:lnTo>
                      <a:pt x="531" y="131"/>
                    </a:lnTo>
                    <a:lnTo>
                      <a:pt x="595" y="127"/>
                    </a:lnTo>
                    <a:lnTo>
                      <a:pt x="671" y="64"/>
                    </a:lnTo>
                    <a:lnTo>
                      <a:pt x="745" y="0"/>
                    </a:lnTo>
                    <a:lnTo>
                      <a:pt x="550" y="0"/>
                    </a:lnTo>
                    <a:lnTo>
                      <a:pt x="355" y="0"/>
                    </a:lnTo>
                    <a:lnTo>
                      <a:pt x="317" y="22"/>
                    </a:lnTo>
                    <a:lnTo>
                      <a:pt x="279" y="45"/>
                    </a:lnTo>
                    <a:lnTo>
                      <a:pt x="417" y="45"/>
                    </a:lnTo>
                    <a:lnTo>
                      <a:pt x="555" y="45"/>
                    </a:lnTo>
                    <a:lnTo>
                      <a:pt x="531" y="65"/>
                    </a:lnTo>
                    <a:lnTo>
                      <a:pt x="505" y="86"/>
                    </a:lnTo>
                    <a:lnTo>
                      <a:pt x="486" y="82"/>
                    </a:lnTo>
                    <a:lnTo>
                      <a:pt x="465" y="79"/>
                    </a:lnTo>
                    <a:lnTo>
                      <a:pt x="443" y="77"/>
                    </a:lnTo>
                    <a:lnTo>
                      <a:pt x="419" y="77"/>
                    </a:lnTo>
                    <a:lnTo>
                      <a:pt x="369" y="79"/>
                    </a:lnTo>
                    <a:lnTo>
                      <a:pt x="319" y="82"/>
                    </a:lnTo>
                    <a:lnTo>
                      <a:pt x="267" y="89"/>
                    </a:lnTo>
                    <a:lnTo>
                      <a:pt x="214" y="100"/>
                    </a:lnTo>
                    <a:lnTo>
                      <a:pt x="162" y="112"/>
                    </a:lnTo>
                    <a:lnTo>
                      <a:pt x="117" y="126"/>
                    </a:lnTo>
                    <a:lnTo>
                      <a:pt x="78" y="141"/>
                    </a:lnTo>
                    <a:lnTo>
                      <a:pt x="43" y="158"/>
                    </a:lnTo>
                    <a:lnTo>
                      <a:pt x="31" y="165"/>
                    </a:lnTo>
                    <a:lnTo>
                      <a:pt x="21" y="174"/>
                    </a:lnTo>
                    <a:lnTo>
                      <a:pt x="12" y="181"/>
                    </a:lnTo>
                    <a:lnTo>
                      <a:pt x="7" y="188"/>
                    </a:lnTo>
                    <a:lnTo>
                      <a:pt x="2" y="193"/>
                    </a:lnTo>
                    <a:lnTo>
                      <a:pt x="0" y="200"/>
                    </a:lnTo>
                    <a:lnTo>
                      <a:pt x="0" y="207"/>
                    </a:lnTo>
                    <a:lnTo>
                      <a:pt x="2" y="212"/>
                    </a:lnTo>
                    <a:lnTo>
                      <a:pt x="9" y="220"/>
                    </a:lnTo>
                    <a:lnTo>
                      <a:pt x="17" y="225"/>
                    </a:lnTo>
                    <a:lnTo>
                      <a:pt x="31" y="232"/>
                    </a:lnTo>
                    <a:lnTo>
                      <a:pt x="48" y="236"/>
                    </a:lnTo>
                    <a:lnTo>
                      <a:pt x="69" y="239"/>
                    </a:lnTo>
                    <a:lnTo>
                      <a:pt x="93" y="243"/>
                    </a:lnTo>
                    <a:lnTo>
                      <a:pt x="123" y="244"/>
                    </a:lnTo>
                    <a:lnTo>
                      <a:pt x="154" y="244"/>
                    </a:lnTo>
                    <a:lnTo>
                      <a:pt x="205" y="243"/>
                    </a:lnTo>
                    <a:lnTo>
                      <a:pt x="257" y="239"/>
                    </a:lnTo>
                    <a:lnTo>
                      <a:pt x="307" y="234"/>
                    </a:lnTo>
                    <a:lnTo>
                      <a:pt x="357" y="225"/>
                    </a:lnTo>
                    <a:lnTo>
                      <a:pt x="405" y="215"/>
                    </a:lnTo>
                    <a:lnTo>
                      <a:pt x="448" y="205"/>
                    </a:lnTo>
                    <a:lnTo>
                      <a:pt x="488" y="191"/>
                    </a:lnTo>
                    <a:lnTo>
                      <a:pt x="524" y="177"/>
                    </a:lnTo>
                    <a:close/>
                  </a:path>
                </a:pathLst>
              </a:custGeom>
              <a:solidFill>
                <a:srgbClr val="CC33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02135" name="Group 1079"/>
            <p:cNvGrpSpPr>
              <a:grpSpLocks/>
            </p:cNvGrpSpPr>
            <p:nvPr/>
          </p:nvGrpSpPr>
          <p:grpSpPr bwMode="auto">
            <a:xfrm>
              <a:off x="3443" y="3403"/>
              <a:ext cx="846" cy="138"/>
              <a:chOff x="3460" y="3420"/>
              <a:chExt cx="846" cy="138"/>
            </a:xfrm>
          </p:grpSpPr>
          <p:sp>
            <p:nvSpPr>
              <p:cNvPr id="302136" name="Freeform 1080"/>
              <p:cNvSpPr>
                <a:spLocks noEditPoints="1"/>
              </p:cNvSpPr>
              <p:nvPr/>
            </p:nvSpPr>
            <p:spPr bwMode="auto">
              <a:xfrm>
                <a:off x="3480" y="3434"/>
                <a:ext cx="317" cy="124"/>
              </a:xfrm>
              <a:custGeom>
                <a:avLst/>
                <a:gdLst>
                  <a:gd name="T0" fmla="*/ 203 w 632"/>
                  <a:gd name="T1" fmla="*/ 104 h 249"/>
                  <a:gd name="T2" fmla="*/ 193 w 632"/>
                  <a:gd name="T3" fmla="*/ 85 h 249"/>
                  <a:gd name="T4" fmla="*/ 214 w 632"/>
                  <a:gd name="T5" fmla="*/ 62 h 249"/>
                  <a:gd name="T6" fmla="*/ 295 w 632"/>
                  <a:gd name="T7" fmla="*/ 28 h 249"/>
                  <a:gd name="T8" fmla="*/ 412 w 632"/>
                  <a:gd name="T9" fmla="*/ 4 h 249"/>
                  <a:gd name="T10" fmla="*/ 526 w 632"/>
                  <a:gd name="T11" fmla="*/ 0 h 249"/>
                  <a:gd name="T12" fmla="*/ 579 w 632"/>
                  <a:gd name="T13" fmla="*/ 4 h 249"/>
                  <a:gd name="T14" fmla="*/ 615 w 632"/>
                  <a:gd name="T15" fmla="*/ 14 h 249"/>
                  <a:gd name="T16" fmla="*/ 631 w 632"/>
                  <a:gd name="T17" fmla="*/ 28 h 249"/>
                  <a:gd name="T18" fmla="*/ 629 w 632"/>
                  <a:gd name="T19" fmla="*/ 43 h 249"/>
                  <a:gd name="T20" fmla="*/ 607 w 632"/>
                  <a:gd name="T21" fmla="*/ 62 h 249"/>
                  <a:gd name="T22" fmla="*/ 558 w 632"/>
                  <a:gd name="T23" fmla="*/ 87 h 249"/>
                  <a:gd name="T24" fmla="*/ 441 w 632"/>
                  <a:gd name="T25" fmla="*/ 112 h 249"/>
                  <a:gd name="T26" fmla="*/ 484 w 632"/>
                  <a:gd name="T27" fmla="*/ 130 h 249"/>
                  <a:gd name="T28" fmla="*/ 486 w 632"/>
                  <a:gd name="T29" fmla="*/ 154 h 249"/>
                  <a:gd name="T30" fmla="*/ 438 w 632"/>
                  <a:gd name="T31" fmla="*/ 188 h 249"/>
                  <a:gd name="T32" fmla="*/ 326 w 632"/>
                  <a:gd name="T33" fmla="*/ 228 h 249"/>
                  <a:gd name="T34" fmla="*/ 188 w 632"/>
                  <a:gd name="T35" fmla="*/ 247 h 249"/>
                  <a:gd name="T36" fmla="*/ 65 w 632"/>
                  <a:gd name="T37" fmla="*/ 245 h 249"/>
                  <a:gd name="T38" fmla="*/ 26 w 632"/>
                  <a:gd name="T39" fmla="*/ 235 h 249"/>
                  <a:gd name="T40" fmla="*/ 3 w 632"/>
                  <a:gd name="T41" fmla="*/ 219 h 249"/>
                  <a:gd name="T42" fmla="*/ 3 w 632"/>
                  <a:gd name="T43" fmla="*/ 200 h 249"/>
                  <a:gd name="T44" fmla="*/ 31 w 632"/>
                  <a:gd name="T45" fmla="*/ 174 h 249"/>
                  <a:gd name="T46" fmla="*/ 86 w 632"/>
                  <a:gd name="T47" fmla="*/ 147 h 249"/>
                  <a:gd name="T48" fmla="*/ 165 w 632"/>
                  <a:gd name="T49" fmla="*/ 124 h 249"/>
                  <a:gd name="T50" fmla="*/ 231 w 632"/>
                  <a:gd name="T51" fmla="*/ 112 h 249"/>
                  <a:gd name="T52" fmla="*/ 319 w 632"/>
                  <a:gd name="T53" fmla="*/ 73 h 249"/>
                  <a:gd name="T54" fmla="*/ 317 w 632"/>
                  <a:gd name="T55" fmla="*/ 88 h 249"/>
                  <a:gd name="T56" fmla="*/ 345 w 632"/>
                  <a:gd name="T57" fmla="*/ 95 h 249"/>
                  <a:gd name="T58" fmla="*/ 431 w 632"/>
                  <a:gd name="T59" fmla="*/ 88 h 249"/>
                  <a:gd name="T60" fmla="*/ 484 w 632"/>
                  <a:gd name="T61" fmla="*/ 66 h 249"/>
                  <a:gd name="T62" fmla="*/ 496 w 632"/>
                  <a:gd name="T63" fmla="*/ 49 h 249"/>
                  <a:gd name="T64" fmla="*/ 477 w 632"/>
                  <a:gd name="T65" fmla="*/ 38 h 249"/>
                  <a:gd name="T66" fmla="*/ 414 w 632"/>
                  <a:gd name="T67" fmla="*/ 38 h 249"/>
                  <a:gd name="T68" fmla="*/ 338 w 632"/>
                  <a:gd name="T69" fmla="*/ 59 h 249"/>
                  <a:gd name="T70" fmla="*/ 327 w 632"/>
                  <a:gd name="T71" fmla="*/ 66 h 249"/>
                  <a:gd name="T72" fmla="*/ 141 w 632"/>
                  <a:gd name="T73" fmla="*/ 188 h 249"/>
                  <a:gd name="T74" fmla="*/ 150 w 632"/>
                  <a:gd name="T75" fmla="*/ 205 h 249"/>
                  <a:gd name="T76" fmla="*/ 193 w 632"/>
                  <a:gd name="T77" fmla="*/ 211 h 249"/>
                  <a:gd name="T78" fmla="*/ 312 w 632"/>
                  <a:gd name="T79" fmla="*/ 188 h 249"/>
                  <a:gd name="T80" fmla="*/ 353 w 632"/>
                  <a:gd name="T81" fmla="*/ 162 h 249"/>
                  <a:gd name="T82" fmla="*/ 358 w 632"/>
                  <a:gd name="T83" fmla="*/ 143 h 249"/>
                  <a:gd name="T84" fmla="*/ 326 w 632"/>
                  <a:gd name="T85" fmla="*/ 133 h 249"/>
                  <a:gd name="T86" fmla="*/ 243 w 632"/>
                  <a:gd name="T87" fmla="*/ 140 h 249"/>
                  <a:gd name="T88" fmla="*/ 186 w 632"/>
                  <a:gd name="T89" fmla="*/ 157 h 249"/>
                  <a:gd name="T90" fmla="*/ 160 w 632"/>
                  <a:gd name="T91" fmla="*/ 171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2" h="249">
                    <a:moveTo>
                      <a:pt x="231" y="112"/>
                    </a:moveTo>
                    <a:lnTo>
                      <a:pt x="215" y="109"/>
                    </a:lnTo>
                    <a:lnTo>
                      <a:pt x="203" y="104"/>
                    </a:lnTo>
                    <a:lnTo>
                      <a:pt x="196" y="99"/>
                    </a:lnTo>
                    <a:lnTo>
                      <a:pt x="193" y="92"/>
                    </a:lnTo>
                    <a:lnTo>
                      <a:pt x="193" y="85"/>
                    </a:lnTo>
                    <a:lnTo>
                      <a:pt x="196" y="78"/>
                    </a:lnTo>
                    <a:lnTo>
                      <a:pt x="203" y="71"/>
                    </a:lnTo>
                    <a:lnTo>
                      <a:pt x="214" y="62"/>
                    </a:lnTo>
                    <a:lnTo>
                      <a:pt x="236" y="50"/>
                    </a:lnTo>
                    <a:lnTo>
                      <a:pt x="262" y="38"/>
                    </a:lnTo>
                    <a:lnTo>
                      <a:pt x="295" y="28"/>
                    </a:lnTo>
                    <a:lnTo>
                      <a:pt x="331" y="18"/>
                    </a:lnTo>
                    <a:lnTo>
                      <a:pt x="370" y="11"/>
                    </a:lnTo>
                    <a:lnTo>
                      <a:pt x="412" y="4"/>
                    </a:lnTo>
                    <a:lnTo>
                      <a:pt x="457" y="2"/>
                    </a:lnTo>
                    <a:lnTo>
                      <a:pt x="503" y="0"/>
                    </a:lnTo>
                    <a:lnTo>
                      <a:pt x="526" y="0"/>
                    </a:lnTo>
                    <a:lnTo>
                      <a:pt x="546" y="2"/>
                    </a:lnTo>
                    <a:lnTo>
                      <a:pt x="563" y="2"/>
                    </a:lnTo>
                    <a:lnTo>
                      <a:pt x="579" y="4"/>
                    </a:lnTo>
                    <a:lnTo>
                      <a:pt x="593" y="7"/>
                    </a:lnTo>
                    <a:lnTo>
                      <a:pt x="605" y="11"/>
                    </a:lnTo>
                    <a:lnTo>
                      <a:pt x="615" y="14"/>
                    </a:lnTo>
                    <a:lnTo>
                      <a:pt x="622" y="18"/>
                    </a:lnTo>
                    <a:lnTo>
                      <a:pt x="627" y="23"/>
                    </a:lnTo>
                    <a:lnTo>
                      <a:pt x="631" y="28"/>
                    </a:lnTo>
                    <a:lnTo>
                      <a:pt x="632" y="33"/>
                    </a:lnTo>
                    <a:lnTo>
                      <a:pt x="631" y="38"/>
                    </a:lnTo>
                    <a:lnTo>
                      <a:pt x="629" y="43"/>
                    </a:lnTo>
                    <a:lnTo>
                      <a:pt x="624" y="50"/>
                    </a:lnTo>
                    <a:lnTo>
                      <a:pt x="615" y="56"/>
                    </a:lnTo>
                    <a:lnTo>
                      <a:pt x="607" y="62"/>
                    </a:lnTo>
                    <a:lnTo>
                      <a:pt x="593" y="71"/>
                    </a:lnTo>
                    <a:lnTo>
                      <a:pt x="577" y="80"/>
                    </a:lnTo>
                    <a:lnTo>
                      <a:pt x="558" y="87"/>
                    </a:lnTo>
                    <a:lnTo>
                      <a:pt x="539" y="93"/>
                    </a:lnTo>
                    <a:lnTo>
                      <a:pt x="493" y="106"/>
                    </a:lnTo>
                    <a:lnTo>
                      <a:pt x="441" y="112"/>
                    </a:lnTo>
                    <a:lnTo>
                      <a:pt x="460" y="118"/>
                    </a:lnTo>
                    <a:lnTo>
                      <a:pt x="476" y="123"/>
                    </a:lnTo>
                    <a:lnTo>
                      <a:pt x="484" y="130"/>
                    </a:lnTo>
                    <a:lnTo>
                      <a:pt x="489" y="137"/>
                    </a:lnTo>
                    <a:lnTo>
                      <a:pt x="489" y="145"/>
                    </a:lnTo>
                    <a:lnTo>
                      <a:pt x="486" y="154"/>
                    </a:lnTo>
                    <a:lnTo>
                      <a:pt x="477" y="162"/>
                    </a:lnTo>
                    <a:lnTo>
                      <a:pt x="465" y="173"/>
                    </a:lnTo>
                    <a:lnTo>
                      <a:pt x="438" y="188"/>
                    </a:lnTo>
                    <a:lnTo>
                      <a:pt x="405" y="204"/>
                    </a:lnTo>
                    <a:lnTo>
                      <a:pt x="367" y="216"/>
                    </a:lnTo>
                    <a:lnTo>
                      <a:pt x="326" y="228"/>
                    </a:lnTo>
                    <a:lnTo>
                      <a:pt x="281" y="236"/>
                    </a:lnTo>
                    <a:lnTo>
                      <a:pt x="234" y="243"/>
                    </a:lnTo>
                    <a:lnTo>
                      <a:pt x="188" y="247"/>
                    </a:lnTo>
                    <a:lnTo>
                      <a:pt x="140" y="249"/>
                    </a:lnTo>
                    <a:lnTo>
                      <a:pt x="98" y="247"/>
                    </a:lnTo>
                    <a:lnTo>
                      <a:pt x="65" y="245"/>
                    </a:lnTo>
                    <a:lnTo>
                      <a:pt x="50" y="242"/>
                    </a:lnTo>
                    <a:lnTo>
                      <a:pt x="38" y="240"/>
                    </a:lnTo>
                    <a:lnTo>
                      <a:pt x="26" y="235"/>
                    </a:lnTo>
                    <a:lnTo>
                      <a:pt x="17" y="231"/>
                    </a:lnTo>
                    <a:lnTo>
                      <a:pt x="9" y="226"/>
                    </a:lnTo>
                    <a:lnTo>
                      <a:pt x="3" y="219"/>
                    </a:lnTo>
                    <a:lnTo>
                      <a:pt x="0" y="214"/>
                    </a:lnTo>
                    <a:lnTo>
                      <a:pt x="2" y="207"/>
                    </a:lnTo>
                    <a:lnTo>
                      <a:pt x="3" y="200"/>
                    </a:lnTo>
                    <a:lnTo>
                      <a:pt x="10" y="192"/>
                    </a:lnTo>
                    <a:lnTo>
                      <a:pt x="19" y="183"/>
                    </a:lnTo>
                    <a:lnTo>
                      <a:pt x="31" y="174"/>
                    </a:lnTo>
                    <a:lnTo>
                      <a:pt x="46" y="166"/>
                    </a:lnTo>
                    <a:lnTo>
                      <a:pt x="65" y="157"/>
                    </a:lnTo>
                    <a:lnTo>
                      <a:pt x="86" y="147"/>
                    </a:lnTo>
                    <a:lnTo>
                      <a:pt x="110" y="138"/>
                    </a:lnTo>
                    <a:lnTo>
                      <a:pt x="138" y="131"/>
                    </a:lnTo>
                    <a:lnTo>
                      <a:pt x="165" y="124"/>
                    </a:lnTo>
                    <a:lnTo>
                      <a:pt x="198" y="118"/>
                    </a:lnTo>
                    <a:lnTo>
                      <a:pt x="231" y="112"/>
                    </a:lnTo>
                    <a:lnTo>
                      <a:pt x="231" y="112"/>
                    </a:lnTo>
                    <a:lnTo>
                      <a:pt x="231" y="112"/>
                    </a:lnTo>
                    <a:close/>
                    <a:moveTo>
                      <a:pt x="327" y="66"/>
                    </a:moveTo>
                    <a:lnTo>
                      <a:pt x="319" y="73"/>
                    </a:lnTo>
                    <a:lnTo>
                      <a:pt x="315" y="80"/>
                    </a:lnTo>
                    <a:lnTo>
                      <a:pt x="314" y="85"/>
                    </a:lnTo>
                    <a:lnTo>
                      <a:pt x="317" y="88"/>
                    </a:lnTo>
                    <a:lnTo>
                      <a:pt x="322" y="92"/>
                    </a:lnTo>
                    <a:lnTo>
                      <a:pt x="333" y="93"/>
                    </a:lnTo>
                    <a:lnTo>
                      <a:pt x="345" y="95"/>
                    </a:lnTo>
                    <a:lnTo>
                      <a:pt x="362" y="95"/>
                    </a:lnTo>
                    <a:lnTo>
                      <a:pt x="396" y="93"/>
                    </a:lnTo>
                    <a:lnTo>
                      <a:pt x="431" y="88"/>
                    </a:lnTo>
                    <a:lnTo>
                      <a:pt x="460" y="80"/>
                    </a:lnTo>
                    <a:lnTo>
                      <a:pt x="474" y="73"/>
                    </a:lnTo>
                    <a:lnTo>
                      <a:pt x="484" y="66"/>
                    </a:lnTo>
                    <a:lnTo>
                      <a:pt x="491" y="59"/>
                    </a:lnTo>
                    <a:lnTo>
                      <a:pt x="496" y="54"/>
                    </a:lnTo>
                    <a:lnTo>
                      <a:pt x="496" y="49"/>
                    </a:lnTo>
                    <a:lnTo>
                      <a:pt x="495" y="45"/>
                    </a:lnTo>
                    <a:lnTo>
                      <a:pt x="488" y="42"/>
                    </a:lnTo>
                    <a:lnTo>
                      <a:pt x="477" y="38"/>
                    </a:lnTo>
                    <a:lnTo>
                      <a:pt x="465" y="37"/>
                    </a:lnTo>
                    <a:lnTo>
                      <a:pt x="450" y="37"/>
                    </a:lnTo>
                    <a:lnTo>
                      <a:pt x="414" y="38"/>
                    </a:lnTo>
                    <a:lnTo>
                      <a:pt x="379" y="45"/>
                    </a:lnTo>
                    <a:lnTo>
                      <a:pt x="350" y="54"/>
                    </a:lnTo>
                    <a:lnTo>
                      <a:pt x="338" y="59"/>
                    </a:lnTo>
                    <a:lnTo>
                      <a:pt x="327" y="66"/>
                    </a:lnTo>
                    <a:lnTo>
                      <a:pt x="327" y="66"/>
                    </a:lnTo>
                    <a:lnTo>
                      <a:pt x="327" y="66"/>
                    </a:lnTo>
                    <a:close/>
                    <a:moveTo>
                      <a:pt x="160" y="171"/>
                    </a:moveTo>
                    <a:lnTo>
                      <a:pt x="148" y="180"/>
                    </a:lnTo>
                    <a:lnTo>
                      <a:pt x="141" y="188"/>
                    </a:lnTo>
                    <a:lnTo>
                      <a:pt x="140" y="195"/>
                    </a:lnTo>
                    <a:lnTo>
                      <a:pt x="143" y="200"/>
                    </a:lnTo>
                    <a:lnTo>
                      <a:pt x="150" y="205"/>
                    </a:lnTo>
                    <a:lnTo>
                      <a:pt x="160" y="209"/>
                    </a:lnTo>
                    <a:lnTo>
                      <a:pt x="176" y="211"/>
                    </a:lnTo>
                    <a:lnTo>
                      <a:pt x="193" y="211"/>
                    </a:lnTo>
                    <a:lnTo>
                      <a:pt x="233" y="209"/>
                    </a:lnTo>
                    <a:lnTo>
                      <a:pt x="274" y="200"/>
                    </a:lnTo>
                    <a:lnTo>
                      <a:pt x="312" y="188"/>
                    </a:lnTo>
                    <a:lnTo>
                      <a:pt x="327" y="180"/>
                    </a:lnTo>
                    <a:lnTo>
                      <a:pt x="343" y="171"/>
                    </a:lnTo>
                    <a:lnTo>
                      <a:pt x="353" y="162"/>
                    </a:lnTo>
                    <a:lnTo>
                      <a:pt x="360" y="155"/>
                    </a:lnTo>
                    <a:lnTo>
                      <a:pt x="362" y="149"/>
                    </a:lnTo>
                    <a:lnTo>
                      <a:pt x="358" y="143"/>
                    </a:lnTo>
                    <a:lnTo>
                      <a:pt x="351" y="138"/>
                    </a:lnTo>
                    <a:lnTo>
                      <a:pt x="341" y="137"/>
                    </a:lnTo>
                    <a:lnTo>
                      <a:pt x="326" y="133"/>
                    </a:lnTo>
                    <a:lnTo>
                      <a:pt x="308" y="133"/>
                    </a:lnTo>
                    <a:lnTo>
                      <a:pt x="264" y="137"/>
                    </a:lnTo>
                    <a:lnTo>
                      <a:pt x="243" y="140"/>
                    </a:lnTo>
                    <a:lnTo>
                      <a:pt x="222" y="145"/>
                    </a:lnTo>
                    <a:lnTo>
                      <a:pt x="203" y="150"/>
                    </a:lnTo>
                    <a:lnTo>
                      <a:pt x="186" y="157"/>
                    </a:lnTo>
                    <a:lnTo>
                      <a:pt x="172" y="164"/>
                    </a:lnTo>
                    <a:lnTo>
                      <a:pt x="160" y="171"/>
                    </a:lnTo>
                    <a:lnTo>
                      <a:pt x="160" y="171"/>
                    </a:lnTo>
                    <a:lnTo>
                      <a:pt x="160" y="17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37" name="Freeform 1081"/>
              <p:cNvSpPr>
                <a:spLocks/>
              </p:cNvSpPr>
              <p:nvPr/>
            </p:nvSpPr>
            <p:spPr bwMode="auto">
              <a:xfrm>
                <a:off x="3744" y="3435"/>
                <a:ext cx="349" cy="120"/>
              </a:xfrm>
              <a:custGeom>
                <a:avLst/>
                <a:gdLst>
                  <a:gd name="T0" fmla="*/ 204 w 698"/>
                  <a:gd name="T1" fmla="*/ 45 h 239"/>
                  <a:gd name="T2" fmla="*/ 236 w 698"/>
                  <a:gd name="T3" fmla="*/ 22 h 239"/>
                  <a:gd name="T4" fmla="*/ 267 w 698"/>
                  <a:gd name="T5" fmla="*/ 0 h 239"/>
                  <a:gd name="T6" fmla="*/ 483 w 698"/>
                  <a:gd name="T7" fmla="*/ 0 h 239"/>
                  <a:gd name="T8" fmla="*/ 698 w 698"/>
                  <a:gd name="T9" fmla="*/ 0 h 239"/>
                  <a:gd name="T10" fmla="*/ 672 w 698"/>
                  <a:gd name="T11" fmla="*/ 17 h 239"/>
                  <a:gd name="T12" fmla="*/ 646 w 698"/>
                  <a:gd name="T13" fmla="*/ 34 h 239"/>
                  <a:gd name="T14" fmla="*/ 605 w 698"/>
                  <a:gd name="T15" fmla="*/ 45 h 239"/>
                  <a:gd name="T16" fmla="*/ 559 w 698"/>
                  <a:gd name="T17" fmla="*/ 58 h 239"/>
                  <a:gd name="T18" fmla="*/ 510 w 698"/>
                  <a:gd name="T19" fmla="*/ 72 h 239"/>
                  <a:gd name="T20" fmla="*/ 457 w 698"/>
                  <a:gd name="T21" fmla="*/ 89 h 239"/>
                  <a:gd name="T22" fmla="*/ 403 w 698"/>
                  <a:gd name="T23" fmla="*/ 108 h 239"/>
                  <a:gd name="T24" fmla="*/ 354 w 698"/>
                  <a:gd name="T25" fmla="*/ 127 h 239"/>
                  <a:gd name="T26" fmla="*/ 304 w 698"/>
                  <a:gd name="T27" fmla="*/ 146 h 239"/>
                  <a:gd name="T28" fmla="*/ 259 w 698"/>
                  <a:gd name="T29" fmla="*/ 167 h 239"/>
                  <a:gd name="T30" fmla="*/ 216 w 698"/>
                  <a:gd name="T31" fmla="*/ 188 h 239"/>
                  <a:gd name="T32" fmla="*/ 179 w 698"/>
                  <a:gd name="T33" fmla="*/ 207 h 239"/>
                  <a:gd name="T34" fmla="*/ 147 w 698"/>
                  <a:gd name="T35" fmla="*/ 224 h 239"/>
                  <a:gd name="T36" fmla="*/ 121 w 698"/>
                  <a:gd name="T37" fmla="*/ 239 h 239"/>
                  <a:gd name="T38" fmla="*/ 61 w 698"/>
                  <a:gd name="T39" fmla="*/ 239 h 239"/>
                  <a:gd name="T40" fmla="*/ 0 w 698"/>
                  <a:gd name="T41" fmla="*/ 239 h 239"/>
                  <a:gd name="T42" fmla="*/ 42 w 698"/>
                  <a:gd name="T43" fmla="*/ 215 h 239"/>
                  <a:gd name="T44" fmla="*/ 92 w 698"/>
                  <a:gd name="T45" fmla="*/ 189 h 239"/>
                  <a:gd name="T46" fmla="*/ 117 w 698"/>
                  <a:gd name="T47" fmla="*/ 176 h 239"/>
                  <a:gd name="T48" fmla="*/ 147 w 698"/>
                  <a:gd name="T49" fmla="*/ 164 h 239"/>
                  <a:gd name="T50" fmla="*/ 176 w 698"/>
                  <a:gd name="T51" fmla="*/ 151 h 239"/>
                  <a:gd name="T52" fmla="*/ 209 w 698"/>
                  <a:gd name="T53" fmla="*/ 138 h 239"/>
                  <a:gd name="T54" fmla="*/ 276 w 698"/>
                  <a:gd name="T55" fmla="*/ 112 h 239"/>
                  <a:gd name="T56" fmla="*/ 345 w 698"/>
                  <a:gd name="T57" fmla="*/ 88 h 239"/>
                  <a:gd name="T58" fmla="*/ 416 w 698"/>
                  <a:gd name="T59" fmla="*/ 65 h 239"/>
                  <a:gd name="T60" fmla="*/ 490 w 698"/>
                  <a:gd name="T61" fmla="*/ 45 h 239"/>
                  <a:gd name="T62" fmla="*/ 347 w 698"/>
                  <a:gd name="T63" fmla="*/ 45 h 239"/>
                  <a:gd name="T64" fmla="*/ 204 w 698"/>
                  <a:gd name="T65" fmla="*/ 45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8" h="239">
                    <a:moveTo>
                      <a:pt x="204" y="45"/>
                    </a:moveTo>
                    <a:lnTo>
                      <a:pt x="236" y="22"/>
                    </a:lnTo>
                    <a:lnTo>
                      <a:pt x="267" y="0"/>
                    </a:lnTo>
                    <a:lnTo>
                      <a:pt x="483" y="0"/>
                    </a:lnTo>
                    <a:lnTo>
                      <a:pt x="698" y="0"/>
                    </a:lnTo>
                    <a:lnTo>
                      <a:pt x="672" y="17"/>
                    </a:lnTo>
                    <a:lnTo>
                      <a:pt x="646" y="34"/>
                    </a:lnTo>
                    <a:lnTo>
                      <a:pt x="605" y="45"/>
                    </a:lnTo>
                    <a:lnTo>
                      <a:pt x="559" y="58"/>
                    </a:lnTo>
                    <a:lnTo>
                      <a:pt x="510" y="72"/>
                    </a:lnTo>
                    <a:lnTo>
                      <a:pt x="457" y="89"/>
                    </a:lnTo>
                    <a:lnTo>
                      <a:pt x="403" y="108"/>
                    </a:lnTo>
                    <a:lnTo>
                      <a:pt x="354" y="127"/>
                    </a:lnTo>
                    <a:lnTo>
                      <a:pt x="304" y="146"/>
                    </a:lnTo>
                    <a:lnTo>
                      <a:pt x="259" y="167"/>
                    </a:lnTo>
                    <a:lnTo>
                      <a:pt x="216" y="188"/>
                    </a:lnTo>
                    <a:lnTo>
                      <a:pt x="179" y="207"/>
                    </a:lnTo>
                    <a:lnTo>
                      <a:pt x="147" y="224"/>
                    </a:lnTo>
                    <a:lnTo>
                      <a:pt x="121" y="239"/>
                    </a:lnTo>
                    <a:lnTo>
                      <a:pt x="61" y="239"/>
                    </a:lnTo>
                    <a:lnTo>
                      <a:pt x="0" y="239"/>
                    </a:lnTo>
                    <a:lnTo>
                      <a:pt x="42" y="215"/>
                    </a:lnTo>
                    <a:lnTo>
                      <a:pt x="92" y="189"/>
                    </a:lnTo>
                    <a:lnTo>
                      <a:pt x="117" y="176"/>
                    </a:lnTo>
                    <a:lnTo>
                      <a:pt x="147" y="164"/>
                    </a:lnTo>
                    <a:lnTo>
                      <a:pt x="176" y="151"/>
                    </a:lnTo>
                    <a:lnTo>
                      <a:pt x="209" y="138"/>
                    </a:lnTo>
                    <a:lnTo>
                      <a:pt x="276" y="112"/>
                    </a:lnTo>
                    <a:lnTo>
                      <a:pt x="345" y="88"/>
                    </a:lnTo>
                    <a:lnTo>
                      <a:pt x="416" y="65"/>
                    </a:lnTo>
                    <a:lnTo>
                      <a:pt x="490" y="45"/>
                    </a:lnTo>
                    <a:lnTo>
                      <a:pt x="347" y="45"/>
                    </a:lnTo>
                    <a:lnTo>
                      <a:pt x="204" y="4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38" name="Freeform 1082"/>
              <p:cNvSpPr>
                <a:spLocks noEditPoints="1"/>
              </p:cNvSpPr>
              <p:nvPr/>
            </p:nvSpPr>
            <p:spPr bwMode="auto">
              <a:xfrm>
                <a:off x="3991" y="3434"/>
                <a:ext cx="315" cy="124"/>
              </a:xfrm>
              <a:custGeom>
                <a:avLst/>
                <a:gdLst>
                  <a:gd name="T0" fmla="*/ 202 w 631"/>
                  <a:gd name="T1" fmla="*/ 104 h 249"/>
                  <a:gd name="T2" fmla="*/ 191 w 631"/>
                  <a:gd name="T3" fmla="*/ 85 h 249"/>
                  <a:gd name="T4" fmla="*/ 212 w 631"/>
                  <a:gd name="T5" fmla="*/ 62 h 249"/>
                  <a:gd name="T6" fmla="*/ 295 w 631"/>
                  <a:gd name="T7" fmla="*/ 28 h 249"/>
                  <a:gd name="T8" fmla="*/ 412 w 631"/>
                  <a:gd name="T9" fmla="*/ 4 h 249"/>
                  <a:gd name="T10" fmla="*/ 524 w 631"/>
                  <a:gd name="T11" fmla="*/ 0 h 249"/>
                  <a:gd name="T12" fmla="*/ 579 w 631"/>
                  <a:gd name="T13" fmla="*/ 4 h 249"/>
                  <a:gd name="T14" fmla="*/ 614 w 631"/>
                  <a:gd name="T15" fmla="*/ 14 h 249"/>
                  <a:gd name="T16" fmla="*/ 629 w 631"/>
                  <a:gd name="T17" fmla="*/ 28 h 249"/>
                  <a:gd name="T18" fmla="*/ 627 w 631"/>
                  <a:gd name="T19" fmla="*/ 43 h 249"/>
                  <a:gd name="T20" fmla="*/ 607 w 631"/>
                  <a:gd name="T21" fmla="*/ 62 h 249"/>
                  <a:gd name="T22" fmla="*/ 558 w 631"/>
                  <a:gd name="T23" fmla="*/ 87 h 249"/>
                  <a:gd name="T24" fmla="*/ 441 w 631"/>
                  <a:gd name="T25" fmla="*/ 112 h 249"/>
                  <a:gd name="T26" fmla="*/ 484 w 631"/>
                  <a:gd name="T27" fmla="*/ 130 h 249"/>
                  <a:gd name="T28" fmla="*/ 484 w 631"/>
                  <a:gd name="T29" fmla="*/ 154 h 249"/>
                  <a:gd name="T30" fmla="*/ 436 w 631"/>
                  <a:gd name="T31" fmla="*/ 188 h 249"/>
                  <a:gd name="T32" fmla="*/ 324 w 631"/>
                  <a:gd name="T33" fmla="*/ 228 h 249"/>
                  <a:gd name="T34" fmla="*/ 188 w 631"/>
                  <a:gd name="T35" fmla="*/ 247 h 249"/>
                  <a:gd name="T36" fmla="*/ 98 w 631"/>
                  <a:gd name="T37" fmla="*/ 247 h 249"/>
                  <a:gd name="T38" fmla="*/ 48 w 631"/>
                  <a:gd name="T39" fmla="*/ 242 h 249"/>
                  <a:gd name="T40" fmla="*/ 16 w 631"/>
                  <a:gd name="T41" fmla="*/ 231 h 249"/>
                  <a:gd name="T42" fmla="*/ 0 w 631"/>
                  <a:gd name="T43" fmla="*/ 214 h 249"/>
                  <a:gd name="T44" fmla="*/ 9 w 631"/>
                  <a:gd name="T45" fmla="*/ 192 h 249"/>
                  <a:gd name="T46" fmla="*/ 45 w 631"/>
                  <a:gd name="T47" fmla="*/ 166 h 249"/>
                  <a:gd name="T48" fmla="*/ 110 w 631"/>
                  <a:gd name="T49" fmla="*/ 138 h 249"/>
                  <a:gd name="T50" fmla="*/ 197 w 631"/>
                  <a:gd name="T51" fmla="*/ 118 h 249"/>
                  <a:gd name="T52" fmla="*/ 326 w 631"/>
                  <a:gd name="T53" fmla="*/ 66 h 249"/>
                  <a:gd name="T54" fmla="*/ 312 w 631"/>
                  <a:gd name="T55" fmla="*/ 85 h 249"/>
                  <a:gd name="T56" fmla="*/ 331 w 631"/>
                  <a:gd name="T57" fmla="*/ 93 h 249"/>
                  <a:gd name="T58" fmla="*/ 395 w 631"/>
                  <a:gd name="T59" fmla="*/ 93 h 249"/>
                  <a:gd name="T60" fmla="*/ 458 w 631"/>
                  <a:gd name="T61" fmla="*/ 80 h 249"/>
                  <a:gd name="T62" fmla="*/ 496 w 631"/>
                  <a:gd name="T63" fmla="*/ 54 h 249"/>
                  <a:gd name="T64" fmla="*/ 486 w 631"/>
                  <a:gd name="T65" fmla="*/ 42 h 249"/>
                  <a:gd name="T66" fmla="*/ 448 w 631"/>
                  <a:gd name="T67" fmla="*/ 37 h 249"/>
                  <a:gd name="T68" fmla="*/ 364 w 631"/>
                  <a:gd name="T69" fmla="*/ 49 h 249"/>
                  <a:gd name="T70" fmla="*/ 326 w 631"/>
                  <a:gd name="T71" fmla="*/ 66 h 249"/>
                  <a:gd name="T72" fmla="*/ 141 w 631"/>
                  <a:gd name="T73" fmla="*/ 188 h 249"/>
                  <a:gd name="T74" fmla="*/ 150 w 631"/>
                  <a:gd name="T75" fmla="*/ 205 h 249"/>
                  <a:gd name="T76" fmla="*/ 193 w 631"/>
                  <a:gd name="T77" fmla="*/ 211 h 249"/>
                  <a:gd name="T78" fmla="*/ 293 w 631"/>
                  <a:gd name="T79" fmla="*/ 195 h 249"/>
                  <a:gd name="T80" fmla="*/ 353 w 631"/>
                  <a:gd name="T81" fmla="*/ 162 h 249"/>
                  <a:gd name="T82" fmla="*/ 357 w 631"/>
                  <a:gd name="T83" fmla="*/ 143 h 249"/>
                  <a:gd name="T84" fmla="*/ 324 w 631"/>
                  <a:gd name="T85" fmla="*/ 133 h 249"/>
                  <a:gd name="T86" fmla="*/ 241 w 631"/>
                  <a:gd name="T87" fmla="*/ 140 h 249"/>
                  <a:gd name="T88" fmla="*/ 186 w 631"/>
                  <a:gd name="T89" fmla="*/ 157 h 249"/>
                  <a:gd name="T90" fmla="*/ 160 w 631"/>
                  <a:gd name="T91" fmla="*/ 171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1" h="249">
                    <a:moveTo>
                      <a:pt x="231" y="112"/>
                    </a:moveTo>
                    <a:lnTo>
                      <a:pt x="214" y="109"/>
                    </a:lnTo>
                    <a:lnTo>
                      <a:pt x="202" y="104"/>
                    </a:lnTo>
                    <a:lnTo>
                      <a:pt x="195" y="99"/>
                    </a:lnTo>
                    <a:lnTo>
                      <a:pt x="191" y="92"/>
                    </a:lnTo>
                    <a:lnTo>
                      <a:pt x="191" y="85"/>
                    </a:lnTo>
                    <a:lnTo>
                      <a:pt x="195" y="78"/>
                    </a:lnTo>
                    <a:lnTo>
                      <a:pt x="202" y="71"/>
                    </a:lnTo>
                    <a:lnTo>
                      <a:pt x="212" y="62"/>
                    </a:lnTo>
                    <a:lnTo>
                      <a:pt x="234" y="50"/>
                    </a:lnTo>
                    <a:lnTo>
                      <a:pt x="262" y="38"/>
                    </a:lnTo>
                    <a:lnTo>
                      <a:pt x="295" y="28"/>
                    </a:lnTo>
                    <a:lnTo>
                      <a:pt x="331" y="18"/>
                    </a:lnTo>
                    <a:lnTo>
                      <a:pt x="371" y="11"/>
                    </a:lnTo>
                    <a:lnTo>
                      <a:pt x="412" y="4"/>
                    </a:lnTo>
                    <a:lnTo>
                      <a:pt x="455" y="2"/>
                    </a:lnTo>
                    <a:lnTo>
                      <a:pt x="502" y="0"/>
                    </a:lnTo>
                    <a:lnTo>
                      <a:pt x="524" y="0"/>
                    </a:lnTo>
                    <a:lnTo>
                      <a:pt x="545" y="2"/>
                    </a:lnTo>
                    <a:lnTo>
                      <a:pt x="562" y="2"/>
                    </a:lnTo>
                    <a:lnTo>
                      <a:pt x="579" y="4"/>
                    </a:lnTo>
                    <a:lnTo>
                      <a:pt x="593" y="7"/>
                    </a:lnTo>
                    <a:lnTo>
                      <a:pt x="605" y="11"/>
                    </a:lnTo>
                    <a:lnTo>
                      <a:pt x="614" y="14"/>
                    </a:lnTo>
                    <a:lnTo>
                      <a:pt x="620" y="18"/>
                    </a:lnTo>
                    <a:lnTo>
                      <a:pt x="626" y="23"/>
                    </a:lnTo>
                    <a:lnTo>
                      <a:pt x="629" y="28"/>
                    </a:lnTo>
                    <a:lnTo>
                      <a:pt x="631" y="33"/>
                    </a:lnTo>
                    <a:lnTo>
                      <a:pt x="629" y="38"/>
                    </a:lnTo>
                    <a:lnTo>
                      <a:pt x="627" y="43"/>
                    </a:lnTo>
                    <a:lnTo>
                      <a:pt x="622" y="50"/>
                    </a:lnTo>
                    <a:lnTo>
                      <a:pt x="615" y="56"/>
                    </a:lnTo>
                    <a:lnTo>
                      <a:pt x="607" y="62"/>
                    </a:lnTo>
                    <a:lnTo>
                      <a:pt x="593" y="71"/>
                    </a:lnTo>
                    <a:lnTo>
                      <a:pt x="577" y="80"/>
                    </a:lnTo>
                    <a:lnTo>
                      <a:pt x="558" y="87"/>
                    </a:lnTo>
                    <a:lnTo>
                      <a:pt x="538" y="93"/>
                    </a:lnTo>
                    <a:lnTo>
                      <a:pt x="491" y="106"/>
                    </a:lnTo>
                    <a:lnTo>
                      <a:pt x="441" y="112"/>
                    </a:lnTo>
                    <a:lnTo>
                      <a:pt x="460" y="118"/>
                    </a:lnTo>
                    <a:lnTo>
                      <a:pt x="474" y="123"/>
                    </a:lnTo>
                    <a:lnTo>
                      <a:pt x="484" y="130"/>
                    </a:lnTo>
                    <a:lnTo>
                      <a:pt x="490" y="137"/>
                    </a:lnTo>
                    <a:lnTo>
                      <a:pt x="490" y="145"/>
                    </a:lnTo>
                    <a:lnTo>
                      <a:pt x="484" y="154"/>
                    </a:lnTo>
                    <a:lnTo>
                      <a:pt x="477" y="162"/>
                    </a:lnTo>
                    <a:lnTo>
                      <a:pt x="464" y="173"/>
                    </a:lnTo>
                    <a:lnTo>
                      <a:pt x="436" y="188"/>
                    </a:lnTo>
                    <a:lnTo>
                      <a:pt x="405" y="204"/>
                    </a:lnTo>
                    <a:lnTo>
                      <a:pt x="367" y="216"/>
                    </a:lnTo>
                    <a:lnTo>
                      <a:pt x="324" y="228"/>
                    </a:lnTo>
                    <a:lnTo>
                      <a:pt x="279" y="236"/>
                    </a:lnTo>
                    <a:lnTo>
                      <a:pt x="234" y="243"/>
                    </a:lnTo>
                    <a:lnTo>
                      <a:pt x="188" y="247"/>
                    </a:lnTo>
                    <a:lnTo>
                      <a:pt x="140" y="249"/>
                    </a:lnTo>
                    <a:lnTo>
                      <a:pt x="117" y="249"/>
                    </a:lnTo>
                    <a:lnTo>
                      <a:pt x="98" y="247"/>
                    </a:lnTo>
                    <a:lnTo>
                      <a:pt x="79" y="247"/>
                    </a:lnTo>
                    <a:lnTo>
                      <a:pt x="64" y="245"/>
                    </a:lnTo>
                    <a:lnTo>
                      <a:pt x="48" y="242"/>
                    </a:lnTo>
                    <a:lnTo>
                      <a:pt x="36" y="240"/>
                    </a:lnTo>
                    <a:lnTo>
                      <a:pt x="24" y="235"/>
                    </a:lnTo>
                    <a:lnTo>
                      <a:pt x="16" y="231"/>
                    </a:lnTo>
                    <a:lnTo>
                      <a:pt x="7" y="226"/>
                    </a:lnTo>
                    <a:lnTo>
                      <a:pt x="2" y="219"/>
                    </a:lnTo>
                    <a:lnTo>
                      <a:pt x="0" y="214"/>
                    </a:lnTo>
                    <a:lnTo>
                      <a:pt x="0" y="207"/>
                    </a:lnTo>
                    <a:lnTo>
                      <a:pt x="4" y="200"/>
                    </a:lnTo>
                    <a:lnTo>
                      <a:pt x="9" y="192"/>
                    </a:lnTo>
                    <a:lnTo>
                      <a:pt x="17" y="183"/>
                    </a:lnTo>
                    <a:lnTo>
                      <a:pt x="29" y="174"/>
                    </a:lnTo>
                    <a:lnTo>
                      <a:pt x="45" y="166"/>
                    </a:lnTo>
                    <a:lnTo>
                      <a:pt x="64" y="157"/>
                    </a:lnTo>
                    <a:lnTo>
                      <a:pt x="86" y="147"/>
                    </a:lnTo>
                    <a:lnTo>
                      <a:pt x="110" y="138"/>
                    </a:lnTo>
                    <a:lnTo>
                      <a:pt x="136" y="131"/>
                    </a:lnTo>
                    <a:lnTo>
                      <a:pt x="166" y="124"/>
                    </a:lnTo>
                    <a:lnTo>
                      <a:pt x="197" y="118"/>
                    </a:lnTo>
                    <a:lnTo>
                      <a:pt x="231" y="112"/>
                    </a:lnTo>
                    <a:lnTo>
                      <a:pt x="231" y="112"/>
                    </a:lnTo>
                    <a:close/>
                    <a:moveTo>
                      <a:pt x="326" y="66"/>
                    </a:moveTo>
                    <a:lnTo>
                      <a:pt x="317" y="73"/>
                    </a:lnTo>
                    <a:lnTo>
                      <a:pt x="314" y="80"/>
                    </a:lnTo>
                    <a:lnTo>
                      <a:pt x="312" y="85"/>
                    </a:lnTo>
                    <a:lnTo>
                      <a:pt x="315" y="88"/>
                    </a:lnTo>
                    <a:lnTo>
                      <a:pt x="322" y="92"/>
                    </a:lnTo>
                    <a:lnTo>
                      <a:pt x="331" y="93"/>
                    </a:lnTo>
                    <a:lnTo>
                      <a:pt x="345" y="95"/>
                    </a:lnTo>
                    <a:lnTo>
                      <a:pt x="360" y="95"/>
                    </a:lnTo>
                    <a:lnTo>
                      <a:pt x="395" y="93"/>
                    </a:lnTo>
                    <a:lnTo>
                      <a:pt x="429" y="88"/>
                    </a:lnTo>
                    <a:lnTo>
                      <a:pt x="445" y="85"/>
                    </a:lnTo>
                    <a:lnTo>
                      <a:pt x="458" y="80"/>
                    </a:lnTo>
                    <a:lnTo>
                      <a:pt x="483" y="66"/>
                    </a:lnTo>
                    <a:lnTo>
                      <a:pt x="491" y="59"/>
                    </a:lnTo>
                    <a:lnTo>
                      <a:pt x="496" y="54"/>
                    </a:lnTo>
                    <a:lnTo>
                      <a:pt x="496" y="49"/>
                    </a:lnTo>
                    <a:lnTo>
                      <a:pt x="493" y="45"/>
                    </a:lnTo>
                    <a:lnTo>
                      <a:pt x="486" y="42"/>
                    </a:lnTo>
                    <a:lnTo>
                      <a:pt x="477" y="38"/>
                    </a:lnTo>
                    <a:lnTo>
                      <a:pt x="464" y="37"/>
                    </a:lnTo>
                    <a:lnTo>
                      <a:pt x="448" y="37"/>
                    </a:lnTo>
                    <a:lnTo>
                      <a:pt x="414" y="38"/>
                    </a:lnTo>
                    <a:lnTo>
                      <a:pt x="379" y="45"/>
                    </a:lnTo>
                    <a:lnTo>
                      <a:pt x="364" y="49"/>
                    </a:lnTo>
                    <a:lnTo>
                      <a:pt x="350" y="54"/>
                    </a:lnTo>
                    <a:lnTo>
                      <a:pt x="326" y="66"/>
                    </a:lnTo>
                    <a:lnTo>
                      <a:pt x="326" y="66"/>
                    </a:lnTo>
                    <a:close/>
                    <a:moveTo>
                      <a:pt x="160" y="171"/>
                    </a:moveTo>
                    <a:lnTo>
                      <a:pt x="148" y="180"/>
                    </a:lnTo>
                    <a:lnTo>
                      <a:pt x="141" y="188"/>
                    </a:lnTo>
                    <a:lnTo>
                      <a:pt x="140" y="195"/>
                    </a:lnTo>
                    <a:lnTo>
                      <a:pt x="143" y="200"/>
                    </a:lnTo>
                    <a:lnTo>
                      <a:pt x="150" y="205"/>
                    </a:lnTo>
                    <a:lnTo>
                      <a:pt x="160" y="209"/>
                    </a:lnTo>
                    <a:lnTo>
                      <a:pt x="174" y="211"/>
                    </a:lnTo>
                    <a:lnTo>
                      <a:pt x="193" y="211"/>
                    </a:lnTo>
                    <a:lnTo>
                      <a:pt x="233" y="209"/>
                    </a:lnTo>
                    <a:lnTo>
                      <a:pt x="272" y="200"/>
                    </a:lnTo>
                    <a:lnTo>
                      <a:pt x="293" y="195"/>
                    </a:lnTo>
                    <a:lnTo>
                      <a:pt x="310" y="188"/>
                    </a:lnTo>
                    <a:lnTo>
                      <a:pt x="343" y="171"/>
                    </a:lnTo>
                    <a:lnTo>
                      <a:pt x="353" y="162"/>
                    </a:lnTo>
                    <a:lnTo>
                      <a:pt x="359" y="155"/>
                    </a:lnTo>
                    <a:lnTo>
                      <a:pt x="360" y="149"/>
                    </a:lnTo>
                    <a:lnTo>
                      <a:pt x="357" y="143"/>
                    </a:lnTo>
                    <a:lnTo>
                      <a:pt x="350" y="138"/>
                    </a:lnTo>
                    <a:lnTo>
                      <a:pt x="340" y="137"/>
                    </a:lnTo>
                    <a:lnTo>
                      <a:pt x="324" y="133"/>
                    </a:lnTo>
                    <a:lnTo>
                      <a:pt x="307" y="133"/>
                    </a:lnTo>
                    <a:lnTo>
                      <a:pt x="262" y="137"/>
                    </a:lnTo>
                    <a:lnTo>
                      <a:pt x="241" y="140"/>
                    </a:lnTo>
                    <a:lnTo>
                      <a:pt x="221" y="145"/>
                    </a:lnTo>
                    <a:lnTo>
                      <a:pt x="202" y="150"/>
                    </a:lnTo>
                    <a:lnTo>
                      <a:pt x="186" y="157"/>
                    </a:lnTo>
                    <a:lnTo>
                      <a:pt x="172" y="164"/>
                    </a:lnTo>
                    <a:lnTo>
                      <a:pt x="160" y="171"/>
                    </a:lnTo>
                    <a:lnTo>
                      <a:pt x="160" y="17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39" name="Freeform 1083"/>
              <p:cNvSpPr>
                <a:spLocks noEditPoints="1"/>
              </p:cNvSpPr>
              <p:nvPr/>
            </p:nvSpPr>
            <p:spPr bwMode="auto">
              <a:xfrm>
                <a:off x="3460" y="3420"/>
                <a:ext cx="316" cy="124"/>
              </a:xfrm>
              <a:custGeom>
                <a:avLst/>
                <a:gdLst>
                  <a:gd name="T0" fmla="*/ 203 w 632"/>
                  <a:gd name="T1" fmla="*/ 103 h 248"/>
                  <a:gd name="T2" fmla="*/ 193 w 632"/>
                  <a:gd name="T3" fmla="*/ 84 h 248"/>
                  <a:gd name="T4" fmla="*/ 213 w 632"/>
                  <a:gd name="T5" fmla="*/ 62 h 248"/>
                  <a:gd name="T6" fmla="*/ 294 w 632"/>
                  <a:gd name="T7" fmla="*/ 27 h 248"/>
                  <a:gd name="T8" fmla="*/ 411 w 632"/>
                  <a:gd name="T9" fmla="*/ 3 h 248"/>
                  <a:gd name="T10" fmla="*/ 525 w 632"/>
                  <a:gd name="T11" fmla="*/ 0 h 248"/>
                  <a:gd name="T12" fmla="*/ 579 w 632"/>
                  <a:gd name="T13" fmla="*/ 3 h 248"/>
                  <a:gd name="T14" fmla="*/ 615 w 632"/>
                  <a:gd name="T15" fmla="*/ 14 h 248"/>
                  <a:gd name="T16" fmla="*/ 630 w 632"/>
                  <a:gd name="T17" fmla="*/ 27 h 248"/>
                  <a:gd name="T18" fmla="*/ 629 w 632"/>
                  <a:gd name="T19" fmla="*/ 43 h 248"/>
                  <a:gd name="T20" fmla="*/ 606 w 632"/>
                  <a:gd name="T21" fmla="*/ 62 h 248"/>
                  <a:gd name="T22" fmla="*/ 558 w 632"/>
                  <a:gd name="T23" fmla="*/ 86 h 248"/>
                  <a:gd name="T24" fmla="*/ 441 w 632"/>
                  <a:gd name="T25" fmla="*/ 112 h 248"/>
                  <a:gd name="T26" fmla="*/ 484 w 632"/>
                  <a:gd name="T27" fmla="*/ 129 h 248"/>
                  <a:gd name="T28" fmla="*/ 486 w 632"/>
                  <a:gd name="T29" fmla="*/ 153 h 248"/>
                  <a:gd name="T30" fmla="*/ 437 w 632"/>
                  <a:gd name="T31" fmla="*/ 188 h 248"/>
                  <a:gd name="T32" fmla="*/ 325 w 632"/>
                  <a:gd name="T33" fmla="*/ 227 h 248"/>
                  <a:gd name="T34" fmla="*/ 187 w 632"/>
                  <a:gd name="T35" fmla="*/ 246 h 248"/>
                  <a:gd name="T36" fmla="*/ 65 w 632"/>
                  <a:gd name="T37" fmla="*/ 245 h 248"/>
                  <a:gd name="T38" fmla="*/ 25 w 632"/>
                  <a:gd name="T39" fmla="*/ 234 h 248"/>
                  <a:gd name="T40" fmla="*/ 3 w 632"/>
                  <a:gd name="T41" fmla="*/ 219 h 248"/>
                  <a:gd name="T42" fmla="*/ 3 w 632"/>
                  <a:gd name="T43" fmla="*/ 200 h 248"/>
                  <a:gd name="T44" fmla="*/ 31 w 632"/>
                  <a:gd name="T45" fmla="*/ 174 h 248"/>
                  <a:gd name="T46" fmla="*/ 86 w 632"/>
                  <a:gd name="T47" fmla="*/ 146 h 248"/>
                  <a:gd name="T48" fmla="*/ 165 w 632"/>
                  <a:gd name="T49" fmla="*/ 124 h 248"/>
                  <a:gd name="T50" fmla="*/ 231 w 632"/>
                  <a:gd name="T51" fmla="*/ 112 h 248"/>
                  <a:gd name="T52" fmla="*/ 318 w 632"/>
                  <a:gd name="T53" fmla="*/ 72 h 248"/>
                  <a:gd name="T54" fmla="*/ 317 w 632"/>
                  <a:gd name="T55" fmla="*/ 88 h 248"/>
                  <a:gd name="T56" fmla="*/ 344 w 632"/>
                  <a:gd name="T57" fmla="*/ 95 h 248"/>
                  <a:gd name="T58" fmla="*/ 430 w 632"/>
                  <a:gd name="T59" fmla="*/ 88 h 248"/>
                  <a:gd name="T60" fmla="*/ 484 w 632"/>
                  <a:gd name="T61" fmla="*/ 65 h 248"/>
                  <a:gd name="T62" fmla="*/ 496 w 632"/>
                  <a:gd name="T63" fmla="*/ 48 h 248"/>
                  <a:gd name="T64" fmla="*/ 477 w 632"/>
                  <a:gd name="T65" fmla="*/ 38 h 248"/>
                  <a:gd name="T66" fmla="*/ 413 w 632"/>
                  <a:gd name="T67" fmla="*/ 38 h 248"/>
                  <a:gd name="T68" fmla="*/ 337 w 632"/>
                  <a:gd name="T69" fmla="*/ 58 h 248"/>
                  <a:gd name="T70" fmla="*/ 327 w 632"/>
                  <a:gd name="T71" fmla="*/ 65 h 248"/>
                  <a:gd name="T72" fmla="*/ 141 w 632"/>
                  <a:gd name="T73" fmla="*/ 188 h 248"/>
                  <a:gd name="T74" fmla="*/ 150 w 632"/>
                  <a:gd name="T75" fmla="*/ 205 h 248"/>
                  <a:gd name="T76" fmla="*/ 193 w 632"/>
                  <a:gd name="T77" fmla="*/ 210 h 248"/>
                  <a:gd name="T78" fmla="*/ 312 w 632"/>
                  <a:gd name="T79" fmla="*/ 188 h 248"/>
                  <a:gd name="T80" fmla="*/ 353 w 632"/>
                  <a:gd name="T81" fmla="*/ 162 h 248"/>
                  <a:gd name="T82" fmla="*/ 358 w 632"/>
                  <a:gd name="T83" fmla="*/ 143 h 248"/>
                  <a:gd name="T84" fmla="*/ 325 w 632"/>
                  <a:gd name="T85" fmla="*/ 133 h 248"/>
                  <a:gd name="T86" fmla="*/ 243 w 632"/>
                  <a:gd name="T87" fmla="*/ 139 h 248"/>
                  <a:gd name="T88" fmla="*/ 186 w 632"/>
                  <a:gd name="T89" fmla="*/ 157 h 248"/>
                  <a:gd name="T90" fmla="*/ 160 w 632"/>
                  <a:gd name="T91" fmla="*/ 17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2" h="248">
                    <a:moveTo>
                      <a:pt x="231" y="112"/>
                    </a:moveTo>
                    <a:lnTo>
                      <a:pt x="215" y="108"/>
                    </a:lnTo>
                    <a:lnTo>
                      <a:pt x="203" y="103"/>
                    </a:lnTo>
                    <a:lnTo>
                      <a:pt x="196" y="98"/>
                    </a:lnTo>
                    <a:lnTo>
                      <a:pt x="193" y="91"/>
                    </a:lnTo>
                    <a:lnTo>
                      <a:pt x="193" y="84"/>
                    </a:lnTo>
                    <a:lnTo>
                      <a:pt x="196" y="77"/>
                    </a:lnTo>
                    <a:lnTo>
                      <a:pt x="203" y="70"/>
                    </a:lnTo>
                    <a:lnTo>
                      <a:pt x="213" y="62"/>
                    </a:lnTo>
                    <a:lnTo>
                      <a:pt x="236" y="50"/>
                    </a:lnTo>
                    <a:lnTo>
                      <a:pt x="262" y="38"/>
                    </a:lnTo>
                    <a:lnTo>
                      <a:pt x="294" y="27"/>
                    </a:lnTo>
                    <a:lnTo>
                      <a:pt x="330" y="17"/>
                    </a:lnTo>
                    <a:lnTo>
                      <a:pt x="370" y="10"/>
                    </a:lnTo>
                    <a:lnTo>
                      <a:pt x="411" y="3"/>
                    </a:lnTo>
                    <a:lnTo>
                      <a:pt x="456" y="2"/>
                    </a:lnTo>
                    <a:lnTo>
                      <a:pt x="503" y="0"/>
                    </a:lnTo>
                    <a:lnTo>
                      <a:pt x="525" y="0"/>
                    </a:lnTo>
                    <a:lnTo>
                      <a:pt x="546" y="2"/>
                    </a:lnTo>
                    <a:lnTo>
                      <a:pt x="563" y="2"/>
                    </a:lnTo>
                    <a:lnTo>
                      <a:pt x="579" y="3"/>
                    </a:lnTo>
                    <a:lnTo>
                      <a:pt x="592" y="7"/>
                    </a:lnTo>
                    <a:lnTo>
                      <a:pt x="604" y="10"/>
                    </a:lnTo>
                    <a:lnTo>
                      <a:pt x="615" y="14"/>
                    </a:lnTo>
                    <a:lnTo>
                      <a:pt x="622" y="17"/>
                    </a:lnTo>
                    <a:lnTo>
                      <a:pt x="627" y="22"/>
                    </a:lnTo>
                    <a:lnTo>
                      <a:pt x="630" y="27"/>
                    </a:lnTo>
                    <a:lnTo>
                      <a:pt x="632" y="33"/>
                    </a:lnTo>
                    <a:lnTo>
                      <a:pt x="630" y="38"/>
                    </a:lnTo>
                    <a:lnTo>
                      <a:pt x="629" y="43"/>
                    </a:lnTo>
                    <a:lnTo>
                      <a:pt x="623" y="50"/>
                    </a:lnTo>
                    <a:lnTo>
                      <a:pt x="615" y="55"/>
                    </a:lnTo>
                    <a:lnTo>
                      <a:pt x="606" y="62"/>
                    </a:lnTo>
                    <a:lnTo>
                      <a:pt x="592" y="70"/>
                    </a:lnTo>
                    <a:lnTo>
                      <a:pt x="577" y="79"/>
                    </a:lnTo>
                    <a:lnTo>
                      <a:pt x="558" y="86"/>
                    </a:lnTo>
                    <a:lnTo>
                      <a:pt x="539" y="93"/>
                    </a:lnTo>
                    <a:lnTo>
                      <a:pt x="492" y="105"/>
                    </a:lnTo>
                    <a:lnTo>
                      <a:pt x="441" y="112"/>
                    </a:lnTo>
                    <a:lnTo>
                      <a:pt x="460" y="117"/>
                    </a:lnTo>
                    <a:lnTo>
                      <a:pt x="475" y="122"/>
                    </a:lnTo>
                    <a:lnTo>
                      <a:pt x="484" y="129"/>
                    </a:lnTo>
                    <a:lnTo>
                      <a:pt x="489" y="136"/>
                    </a:lnTo>
                    <a:lnTo>
                      <a:pt x="489" y="145"/>
                    </a:lnTo>
                    <a:lnTo>
                      <a:pt x="486" y="153"/>
                    </a:lnTo>
                    <a:lnTo>
                      <a:pt x="477" y="162"/>
                    </a:lnTo>
                    <a:lnTo>
                      <a:pt x="465" y="172"/>
                    </a:lnTo>
                    <a:lnTo>
                      <a:pt x="437" y="188"/>
                    </a:lnTo>
                    <a:lnTo>
                      <a:pt x="405" y="203"/>
                    </a:lnTo>
                    <a:lnTo>
                      <a:pt x="367" y="215"/>
                    </a:lnTo>
                    <a:lnTo>
                      <a:pt x="325" y="227"/>
                    </a:lnTo>
                    <a:lnTo>
                      <a:pt x="280" y="236"/>
                    </a:lnTo>
                    <a:lnTo>
                      <a:pt x="234" y="243"/>
                    </a:lnTo>
                    <a:lnTo>
                      <a:pt x="187" y="246"/>
                    </a:lnTo>
                    <a:lnTo>
                      <a:pt x="139" y="248"/>
                    </a:lnTo>
                    <a:lnTo>
                      <a:pt x="98" y="246"/>
                    </a:lnTo>
                    <a:lnTo>
                      <a:pt x="65" y="245"/>
                    </a:lnTo>
                    <a:lnTo>
                      <a:pt x="50" y="241"/>
                    </a:lnTo>
                    <a:lnTo>
                      <a:pt x="38" y="239"/>
                    </a:lnTo>
                    <a:lnTo>
                      <a:pt x="25" y="234"/>
                    </a:lnTo>
                    <a:lnTo>
                      <a:pt x="17" y="231"/>
                    </a:lnTo>
                    <a:lnTo>
                      <a:pt x="8" y="226"/>
                    </a:lnTo>
                    <a:lnTo>
                      <a:pt x="3" y="219"/>
                    </a:lnTo>
                    <a:lnTo>
                      <a:pt x="0" y="214"/>
                    </a:lnTo>
                    <a:lnTo>
                      <a:pt x="1" y="207"/>
                    </a:lnTo>
                    <a:lnTo>
                      <a:pt x="3" y="200"/>
                    </a:lnTo>
                    <a:lnTo>
                      <a:pt x="10" y="191"/>
                    </a:lnTo>
                    <a:lnTo>
                      <a:pt x="19" y="182"/>
                    </a:lnTo>
                    <a:lnTo>
                      <a:pt x="31" y="174"/>
                    </a:lnTo>
                    <a:lnTo>
                      <a:pt x="46" y="165"/>
                    </a:lnTo>
                    <a:lnTo>
                      <a:pt x="65" y="157"/>
                    </a:lnTo>
                    <a:lnTo>
                      <a:pt x="86" y="146"/>
                    </a:lnTo>
                    <a:lnTo>
                      <a:pt x="110" y="138"/>
                    </a:lnTo>
                    <a:lnTo>
                      <a:pt x="137" y="131"/>
                    </a:lnTo>
                    <a:lnTo>
                      <a:pt x="165" y="124"/>
                    </a:lnTo>
                    <a:lnTo>
                      <a:pt x="198" y="117"/>
                    </a:lnTo>
                    <a:lnTo>
                      <a:pt x="231" y="112"/>
                    </a:lnTo>
                    <a:lnTo>
                      <a:pt x="231" y="112"/>
                    </a:lnTo>
                    <a:lnTo>
                      <a:pt x="231" y="112"/>
                    </a:lnTo>
                    <a:close/>
                    <a:moveTo>
                      <a:pt x="327" y="65"/>
                    </a:moveTo>
                    <a:lnTo>
                      <a:pt x="318" y="72"/>
                    </a:lnTo>
                    <a:lnTo>
                      <a:pt x="315" y="79"/>
                    </a:lnTo>
                    <a:lnTo>
                      <a:pt x="313" y="84"/>
                    </a:lnTo>
                    <a:lnTo>
                      <a:pt x="317" y="88"/>
                    </a:lnTo>
                    <a:lnTo>
                      <a:pt x="322" y="91"/>
                    </a:lnTo>
                    <a:lnTo>
                      <a:pt x="332" y="93"/>
                    </a:lnTo>
                    <a:lnTo>
                      <a:pt x="344" y="95"/>
                    </a:lnTo>
                    <a:lnTo>
                      <a:pt x="361" y="95"/>
                    </a:lnTo>
                    <a:lnTo>
                      <a:pt x="396" y="93"/>
                    </a:lnTo>
                    <a:lnTo>
                      <a:pt x="430" y="88"/>
                    </a:lnTo>
                    <a:lnTo>
                      <a:pt x="460" y="79"/>
                    </a:lnTo>
                    <a:lnTo>
                      <a:pt x="473" y="72"/>
                    </a:lnTo>
                    <a:lnTo>
                      <a:pt x="484" y="65"/>
                    </a:lnTo>
                    <a:lnTo>
                      <a:pt x="491" y="58"/>
                    </a:lnTo>
                    <a:lnTo>
                      <a:pt x="496" y="53"/>
                    </a:lnTo>
                    <a:lnTo>
                      <a:pt x="496" y="48"/>
                    </a:lnTo>
                    <a:lnTo>
                      <a:pt x="494" y="45"/>
                    </a:lnTo>
                    <a:lnTo>
                      <a:pt x="487" y="41"/>
                    </a:lnTo>
                    <a:lnTo>
                      <a:pt x="477" y="38"/>
                    </a:lnTo>
                    <a:lnTo>
                      <a:pt x="465" y="36"/>
                    </a:lnTo>
                    <a:lnTo>
                      <a:pt x="449" y="36"/>
                    </a:lnTo>
                    <a:lnTo>
                      <a:pt x="413" y="38"/>
                    </a:lnTo>
                    <a:lnTo>
                      <a:pt x="379" y="45"/>
                    </a:lnTo>
                    <a:lnTo>
                      <a:pt x="349" y="53"/>
                    </a:lnTo>
                    <a:lnTo>
                      <a:pt x="337" y="58"/>
                    </a:lnTo>
                    <a:lnTo>
                      <a:pt x="327" y="65"/>
                    </a:lnTo>
                    <a:lnTo>
                      <a:pt x="327" y="65"/>
                    </a:lnTo>
                    <a:lnTo>
                      <a:pt x="327" y="65"/>
                    </a:lnTo>
                    <a:close/>
                    <a:moveTo>
                      <a:pt x="160" y="170"/>
                    </a:moveTo>
                    <a:lnTo>
                      <a:pt x="148" y="179"/>
                    </a:lnTo>
                    <a:lnTo>
                      <a:pt x="141" y="188"/>
                    </a:lnTo>
                    <a:lnTo>
                      <a:pt x="139" y="195"/>
                    </a:lnTo>
                    <a:lnTo>
                      <a:pt x="143" y="200"/>
                    </a:lnTo>
                    <a:lnTo>
                      <a:pt x="150" y="205"/>
                    </a:lnTo>
                    <a:lnTo>
                      <a:pt x="160" y="208"/>
                    </a:lnTo>
                    <a:lnTo>
                      <a:pt x="175" y="210"/>
                    </a:lnTo>
                    <a:lnTo>
                      <a:pt x="193" y="210"/>
                    </a:lnTo>
                    <a:lnTo>
                      <a:pt x="232" y="208"/>
                    </a:lnTo>
                    <a:lnTo>
                      <a:pt x="274" y="200"/>
                    </a:lnTo>
                    <a:lnTo>
                      <a:pt x="312" y="188"/>
                    </a:lnTo>
                    <a:lnTo>
                      <a:pt x="327" y="179"/>
                    </a:lnTo>
                    <a:lnTo>
                      <a:pt x="343" y="170"/>
                    </a:lnTo>
                    <a:lnTo>
                      <a:pt x="353" y="162"/>
                    </a:lnTo>
                    <a:lnTo>
                      <a:pt x="360" y="155"/>
                    </a:lnTo>
                    <a:lnTo>
                      <a:pt x="361" y="148"/>
                    </a:lnTo>
                    <a:lnTo>
                      <a:pt x="358" y="143"/>
                    </a:lnTo>
                    <a:lnTo>
                      <a:pt x="351" y="138"/>
                    </a:lnTo>
                    <a:lnTo>
                      <a:pt x="341" y="136"/>
                    </a:lnTo>
                    <a:lnTo>
                      <a:pt x="325" y="133"/>
                    </a:lnTo>
                    <a:lnTo>
                      <a:pt x="308" y="133"/>
                    </a:lnTo>
                    <a:lnTo>
                      <a:pt x="263" y="136"/>
                    </a:lnTo>
                    <a:lnTo>
                      <a:pt x="243" y="139"/>
                    </a:lnTo>
                    <a:lnTo>
                      <a:pt x="222" y="145"/>
                    </a:lnTo>
                    <a:lnTo>
                      <a:pt x="203" y="150"/>
                    </a:lnTo>
                    <a:lnTo>
                      <a:pt x="186" y="157"/>
                    </a:lnTo>
                    <a:lnTo>
                      <a:pt x="172" y="164"/>
                    </a:lnTo>
                    <a:lnTo>
                      <a:pt x="160" y="170"/>
                    </a:lnTo>
                    <a:lnTo>
                      <a:pt x="160" y="170"/>
                    </a:lnTo>
                    <a:lnTo>
                      <a:pt x="160" y="17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40" name="Freeform 1084"/>
              <p:cNvSpPr>
                <a:spLocks/>
              </p:cNvSpPr>
              <p:nvPr/>
            </p:nvSpPr>
            <p:spPr bwMode="auto">
              <a:xfrm>
                <a:off x="3723" y="3422"/>
                <a:ext cx="349" cy="119"/>
              </a:xfrm>
              <a:custGeom>
                <a:avLst/>
                <a:gdLst>
                  <a:gd name="T0" fmla="*/ 203 w 698"/>
                  <a:gd name="T1" fmla="*/ 45 h 240"/>
                  <a:gd name="T2" fmla="*/ 236 w 698"/>
                  <a:gd name="T3" fmla="*/ 23 h 240"/>
                  <a:gd name="T4" fmla="*/ 267 w 698"/>
                  <a:gd name="T5" fmla="*/ 0 h 240"/>
                  <a:gd name="T6" fmla="*/ 482 w 698"/>
                  <a:gd name="T7" fmla="*/ 0 h 240"/>
                  <a:gd name="T8" fmla="*/ 698 w 698"/>
                  <a:gd name="T9" fmla="*/ 0 h 240"/>
                  <a:gd name="T10" fmla="*/ 672 w 698"/>
                  <a:gd name="T11" fmla="*/ 18 h 240"/>
                  <a:gd name="T12" fmla="*/ 646 w 698"/>
                  <a:gd name="T13" fmla="*/ 35 h 240"/>
                  <a:gd name="T14" fmla="*/ 605 w 698"/>
                  <a:gd name="T15" fmla="*/ 45 h 240"/>
                  <a:gd name="T16" fmla="*/ 558 w 698"/>
                  <a:gd name="T17" fmla="*/ 59 h 240"/>
                  <a:gd name="T18" fmla="*/ 510 w 698"/>
                  <a:gd name="T19" fmla="*/ 73 h 240"/>
                  <a:gd name="T20" fmla="*/ 457 w 698"/>
                  <a:gd name="T21" fmla="*/ 90 h 240"/>
                  <a:gd name="T22" fmla="*/ 403 w 698"/>
                  <a:gd name="T23" fmla="*/ 109 h 240"/>
                  <a:gd name="T24" fmla="*/ 353 w 698"/>
                  <a:gd name="T25" fmla="*/ 128 h 240"/>
                  <a:gd name="T26" fmla="*/ 303 w 698"/>
                  <a:gd name="T27" fmla="*/ 147 h 240"/>
                  <a:gd name="T28" fmla="*/ 258 w 698"/>
                  <a:gd name="T29" fmla="*/ 167 h 240"/>
                  <a:gd name="T30" fmla="*/ 215 w 698"/>
                  <a:gd name="T31" fmla="*/ 188 h 240"/>
                  <a:gd name="T32" fmla="*/ 179 w 698"/>
                  <a:gd name="T33" fmla="*/ 207 h 240"/>
                  <a:gd name="T34" fmla="*/ 146 w 698"/>
                  <a:gd name="T35" fmla="*/ 224 h 240"/>
                  <a:gd name="T36" fmla="*/ 121 w 698"/>
                  <a:gd name="T37" fmla="*/ 240 h 240"/>
                  <a:gd name="T38" fmla="*/ 60 w 698"/>
                  <a:gd name="T39" fmla="*/ 240 h 240"/>
                  <a:gd name="T40" fmla="*/ 0 w 698"/>
                  <a:gd name="T41" fmla="*/ 240 h 240"/>
                  <a:gd name="T42" fmla="*/ 41 w 698"/>
                  <a:gd name="T43" fmla="*/ 216 h 240"/>
                  <a:gd name="T44" fmla="*/ 91 w 698"/>
                  <a:gd name="T45" fmla="*/ 190 h 240"/>
                  <a:gd name="T46" fmla="*/ 117 w 698"/>
                  <a:gd name="T47" fmla="*/ 176 h 240"/>
                  <a:gd name="T48" fmla="*/ 146 w 698"/>
                  <a:gd name="T49" fmla="*/ 164 h 240"/>
                  <a:gd name="T50" fmla="*/ 176 w 698"/>
                  <a:gd name="T51" fmla="*/ 152 h 240"/>
                  <a:gd name="T52" fmla="*/ 208 w 698"/>
                  <a:gd name="T53" fmla="*/ 138 h 240"/>
                  <a:gd name="T54" fmla="*/ 276 w 698"/>
                  <a:gd name="T55" fmla="*/ 112 h 240"/>
                  <a:gd name="T56" fmla="*/ 345 w 698"/>
                  <a:gd name="T57" fmla="*/ 88 h 240"/>
                  <a:gd name="T58" fmla="*/ 415 w 698"/>
                  <a:gd name="T59" fmla="*/ 66 h 240"/>
                  <a:gd name="T60" fmla="*/ 489 w 698"/>
                  <a:gd name="T61" fmla="*/ 45 h 240"/>
                  <a:gd name="T62" fmla="*/ 346 w 698"/>
                  <a:gd name="T63" fmla="*/ 45 h 240"/>
                  <a:gd name="T64" fmla="*/ 203 w 698"/>
                  <a:gd name="T65" fmla="*/ 45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8" h="240">
                    <a:moveTo>
                      <a:pt x="203" y="45"/>
                    </a:moveTo>
                    <a:lnTo>
                      <a:pt x="236" y="23"/>
                    </a:lnTo>
                    <a:lnTo>
                      <a:pt x="267" y="0"/>
                    </a:lnTo>
                    <a:lnTo>
                      <a:pt x="482" y="0"/>
                    </a:lnTo>
                    <a:lnTo>
                      <a:pt x="698" y="0"/>
                    </a:lnTo>
                    <a:lnTo>
                      <a:pt x="672" y="18"/>
                    </a:lnTo>
                    <a:lnTo>
                      <a:pt x="646" y="35"/>
                    </a:lnTo>
                    <a:lnTo>
                      <a:pt x="605" y="45"/>
                    </a:lnTo>
                    <a:lnTo>
                      <a:pt x="558" y="59"/>
                    </a:lnTo>
                    <a:lnTo>
                      <a:pt x="510" y="73"/>
                    </a:lnTo>
                    <a:lnTo>
                      <a:pt x="457" y="90"/>
                    </a:lnTo>
                    <a:lnTo>
                      <a:pt x="403" y="109"/>
                    </a:lnTo>
                    <a:lnTo>
                      <a:pt x="353" y="128"/>
                    </a:lnTo>
                    <a:lnTo>
                      <a:pt x="303" y="147"/>
                    </a:lnTo>
                    <a:lnTo>
                      <a:pt x="258" y="167"/>
                    </a:lnTo>
                    <a:lnTo>
                      <a:pt x="215" y="188"/>
                    </a:lnTo>
                    <a:lnTo>
                      <a:pt x="179" y="207"/>
                    </a:lnTo>
                    <a:lnTo>
                      <a:pt x="146" y="224"/>
                    </a:lnTo>
                    <a:lnTo>
                      <a:pt x="121" y="240"/>
                    </a:lnTo>
                    <a:lnTo>
                      <a:pt x="60" y="240"/>
                    </a:lnTo>
                    <a:lnTo>
                      <a:pt x="0" y="240"/>
                    </a:lnTo>
                    <a:lnTo>
                      <a:pt x="41" y="216"/>
                    </a:lnTo>
                    <a:lnTo>
                      <a:pt x="91" y="190"/>
                    </a:lnTo>
                    <a:lnTo>
                      <a:pt x="117" y="176"/>
                    </a:lnTo>
                    <a:lnTo>
                      <a:pt x="146" y="164"/>
                    </a:lnTo>
                    <a:lnTo>
                      <a:pt x="176" y="152"/>
                    </a:lnTo>
                    <a:lnTo>
                      <a:pt x="208" y="138"/>
                    </a:lnTo>
                    <a:lnTo>
                      <a:pt x="276" y="112"/>
                    </a:lnTo>
                    <a:lnTo>
                      <a:pt x="345" y="88"/>
                    </a:lnTo>
                    <a:lnTo>
                      <a:pt x="415" y="66"/>
                    </a:lnTo>
                    <a:lnTo>
                      <a:pt x="489" y="45"/>
                    </a:lnTo>
                    <a:lnTo>
                      <a:pt x="346" y="45"/>
                    </a:lnTo>
                    <a:lnTo>
                      <a:pt x="203" y="45"/>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141" name="Freeform 1085"/>
              <p:cNvSpPr>
                <a:spLocks noEditPoints="1"/>
              </p:cNvSpPr>
              <p:nvPr/>
            </p:nvSpPr>
            <p:spPr bwMode="auto">
              <a:xfrm>
                <a:off x="3970" y="3420"/>
                <a:ext cx="315" cy="124"/>
              </a:xfrm>
              <a:custGeom>
                <a:avLst/>
                <a:gdLst>
                  <a:gd name="T0" fmla="*/ 201 w 630"/>
                  <a:gd name="T1" fmla="*/ 103 h 248"/>
                  <a:gd name="T2" fmla="*/ 191 w 630"/>
                  <a:gd name="T3" fmla="*/ 84 h 248"/>
                  <a:gd name="T4" fmla="*/ 212 w 630"/>
                  <a:gd name="T5" fmla="*/ 62 h 248"/>
                  <a:gd name="T6" fmla="*/ 294 w 630"/>
                  <a:gd name="T7" fmla="*/ 27 h 248"/>
                  <a:gd name="T8" fmla="*/ 412 w 630"/>
                  <a:gd name="T9" fmla="*/ 3 h 248"/>
                  <a:gd name="T10" fmla="*/ 524 w 630"/>
                  <a:gd name="T11" fmla="*/ 0 h 248"/>
                  <a:gd name="T12" fmla="*/ 579 w 630"/>
                  <a:gd name="T13" fmla="*/ 3 h 248"/>
                  <a:gd name="T14" fmla="*/ 613 w 630"/>
                  <a:gd name="T15" fmla="*/ 14 h 248"/>
                  <a:gd name="T16" fmla="*/ 629 w 630"/>
                  <a:gd name="T17" fmla="*/ 27 h 248"/>
                  <a:gd name="T18" fmla="*/ 627 w 630"/>
                  <a:gd name="T19" fmla="*/ 43 h 248"/>
                  <a:gd name="T20" fmla="*/ 606 w 630"/>
                  <a:gd name="T21" fmla="*/ 62 h 248"/>
                  <a:gd name="T22" fmla="*/ 558 w 630"/>
                  <a:gd name="T23" fmla="*/ 86 h 248"/>
                  <a:gd name="T24" fmla="*/ 441 w 630"/>
                  <a:gd name="T25" fmla="*/ 112 h 248"/>
                  <a:gd name="T26" fmla="*/ 484 w 630"/>
                  <a:gd name="T27" fmla="*/ 129 h 248"/>
                  <a:gd name="T28" fmla="*/ 484 w 630"/>
                  <a:gd name="T29" fmla="*/ 153 h 248"/>
                  <a:gd name="T30" fmla="*/ 436 w 630"/>
                  <a:gd name="T31" fmla="*/ 188 h 248"/>
                  <a:gd name="T32" fmla="*/ 324 w 630"/>
                  <a:gd name="T33" fmla="*/ 227 h 248"/>
                  <a:gd name="T34" fmla="*/ 188 w 630"/>
                  <a:gd name="T35" fmla="*/ 246 h 248"/>
                  <a:gd name="T36" fmla="*/ 98 w 630"/>
                  <a:gd name="T37" fmla="*/ 246 h 248"/>
                  <a:gd name="T38" fmla="*/ 48 w 630"/>
                  <a:gd name="T39" fmla="*/ 241 h 248"/>
                  <a:gd name="T40" fmla="*/ 15 w 630"/>
                  <a:gd name="T41" fmla="*/ 231 h 248"/>
                  <a:gd name="T42" fmla="*/ 0 w 630"/>
                  <a:gd name="T43" fmla="*/ 214 h 248"/>
                  <a:gd name="T44" fmla="*/ 8 w 630"/>
                  <a:gd name="T45" fmla="*/ 191 h 248"/>
                  <a:gd name="T46" fmla="*/ 45 w 630"/>
                  <a:gd name="T47" fmla="*/ 165 h 248"/>
                  <a:gd name="T48" fmla="*/ 110 w 630"/>
                  <a:gd name="T49" fmla="*/ 138 h 248"/>
                  <a:gd name="T50" fmla="*/ 196 w 630"/>
                  <a:gd name="T51" fmla="*/ 117 h 248"/>
                  <a:gd name="T52" fmla="*/ 325 w 630"/>
                  <a:gd name="T53" fmla="*/ 65 h 248"/>
                  <a:gd name="T54" fmla="*/ 312 w 630"/>
                  <a:gd name="T55" fmla="*/ 84 h 248"/>
                  <a:gd name="T56" fmla="*/ 331 w 630"/>
                  <a:gd name="T57" fmla="*/ 93 h 248"/>
                  <a:gd name="T58" fmla="*/ 394 w 630"/>
                  <a:gd name="T59" fmla="*/ 93 h 248"/>
                  <a:gd name="T60" fmla="*/ 458 w 630"/>
                  <a:gd name="T61" fmla="*/ 79 h 248"/>
                  <a:gd name="T62" fmla="*/ 496 w 630"/>
                  <a:gd name="T63" fmla="*/ 53 h 248"/>
                  <a:gd name="T64" fmla="*/ 486 w 630"/>
                  <a:gd name="T65" fmla="*/ 41 h 248"/>
                  <a:gd name="T66" fmla="*/ 448 w 630"/>
                  <a:gd name="T67" fmla="*/ 36 h 248"/>
                  <a:gd name="T68" fmla="*/ 363 w 630"/>
                  <a:gd name="T69" fmla="*/ 48 h 248"/>
                  <a:gd name="T70" fmla="*/ 325 w 630"/>
                  <a:gd name="T71" fmla="*/ 65 h 248"/>
                  <a:gd name="T72" fmla="*/ 141 w 630"/>
                  <a:gd name="T73" fmla="*/ 188 h 248"/>
                  <a:gd name="T74" fmla="*/ 150 w 630"/>
                  <a:gd name="T75" fmla="*/ 205 h 248"/>
                  <a:gd name="T76" fmla="*/ 193 w 630"/>
                  <a:gd name="T77" fmla="*/ 210 h 248"/>
                  <a:gd name="T78" fmla="*/ 293 w 630"/>
                  <a:gd name="T79" fmla="*/ 195 h 248"/>
                  <a:gd name="T80" fmla="*/ 353 w 630"/>
                  <a:gd name="T81" fmla="*/ 162 h 248"/>
                  <a:gd name="T82" fmla="*/ 356 w 630"/>
                  <a:gd name="T83" fmla="*/ 143 h 248"/>
                  <a:gd name="T84" fmla="*/ 324 w 630"/>
                  <a:gd name="T85" fmla="*/ 133 h 248"/>
                  <a:gd name="T86" fmla="*/ 241 w 630"/>
                  <a:gd name="T87" fmla="*/ 139 h 248"/>
                  <a:gd name="T88" fmla="*/ 186 w 630"/>
                  <a:gd name="T89" fmla="*/ 157 h 248"/>
                  <a:gd name="T90" fmla="*/ 160 w 630"/>
                  <a:gd name="T91" fmla="*/ 17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0" h="248">
                    <a:moveTo>
                      <a:pt x="231" y="112"/>
                    </a:moveTo>
                    <a:lnTo>
                      <a:pt x="213" y="108"/>
                    </a:lnTo>
                    <a:lnTo>
                      <a:pt x="201" y="103"/>
                    </a:lnTo>
                    <a:lnTo>
                      <a:pt x="194" y="98"/>
                    </a:lnTo>
                    <a:lnTo>
                      <a:pt x="191" y="91"/>
                    </a:lnTo>
                    <a:lnTo>
                      <a:pt x="191" y="84"/>
                    </a:lnTo>
                    <a:lnTo>
                      <a:pt x="194" y="77"/>
                    </a:lnTo>
                    <a:lnTo>
                      <a:pt x="201" y="70"/>
                    </a:lnTo>
                    <a:lnTo>
                      <a:pt x="212" y="62"/>
                    </a:lnTo>
                    <a:lnTo>
                      <a:pt x="234" y="50"/>
                    </a:lnTo>
                    <a:lnTo>
                      <a:pt x="262" y="38"/>
                    </a:lnTo>
                    <a:lnTo>
                      <a:pt x="294" y="27"/>
                    </a:lnTo>
                    <a:lnTo>
                      <a:pt x="331" y="17"/>
                    </a:lnTo>
                    <a:lnTo>
                      <a:pt x="370" y="10"/>
                    </a:lnTo>
                    <a:lnTo>
                      <a:pt x="412" y="3"/>
                    </a:lnTo>
                    <a:lnTo>
                      <a:pt x="455" y="2"/>
                    </a:lnTo>
                    <a:lnTo>
                      <a:pt x="501" y="0"/>
                    </a:lnTo>
                    <a:lnTo>
                      <a:pt x="524" y="0"/>
                    </a:lnTo>
                    <a:lnTo>
                      <a:pt x="544" y="2"/>
                    </a:lnTo>
                    <a:lnTo>
                      <a:pt x="562" y="2"/>
                    </a:lnTo>
                    <a:lnTo>
                      <a:pt x="579" y="3"/>
                    </a:lnTo>
                    <a:lnTo>
                      <a:pt x="593" y="7"/>
                    </a:lnTo>
                    <a:lnTo>
                      <a:pt x="605" y="10"/>
                    </a:lnTo>
                    <a:lnTo>
                      <a:pt x="613" y="14"/>
                    </a:lnTo>
                    <a:lnTo>
                      <a:pt x="620" y="17"/>
                    </a:lnTo>
                    <a:lnTo>
                      <a:pt x="625" y="22"/>
                    </a:lnTo>
                    <a:lnTo>
                      <a:pt x="629" y="27"/>
                    </a:lnTo>
                    <a:lnTo>
                      <a:pt x="630" y="33"/>
                    </a:lnTo>
                    <a:lnTo>
                      <a:pt x="629" y="38"/>
                    </a:lnTo>
                    <a:lnTo>
                      <a:pt x="627" y="43"/>
                    </a:lnTo>
                    <a:lnTo>
                      <a:pt x="622" y="50"/>
                    </a:lnTo>
                    <a:lnTo>
                      <a:pt x="615" y="55"/>
                    </a:lnTo>
                    <a:lnTo>
                      <a:pt x="606" y="62"/>
                    </a:lnTo>
                    <a:lnTo>
                      <a:pt x="593" y="70"/>
                    </a:lnTo>
                    <a:lnTo>
                      <a:pt x="577" y="79"/>
                    </a:lnTo>
                    <a:lnTo>
                      <a:pt x="558" y="86"/>
                    </a:lnTo>
                    <a:lnTo>
                      <a:pt x="537" y="93"/>
                    </a:lnTo>
                    <a:lnTo>
                      <a:pt x="491" y="105"/>
                    </a:lnTo>
                    <a:lnTo>
                      <a:pt x="441" y="112"/>
                    </a:lnTo>
                    <a:lnTo>
                      <a:pt x="460" y="117"/>
                    </a:lnTo>
                    <a:lnTo>
                      <a:pt x="474" y="122"/>
                    </a:lnTo>
                    <a:lnTo>
                      <a:pt x="484" y="129"/>
                    </a:lnTo>
                    <a:lnTo>
                      <a:pt x="489" y="136"/>
                    </a:lnTo>
                    <a:lnTo>
                      <a:pt x="489" y="145"/>
                    </a:lnTo>
                    <a:lnTo>
                      <a:pt x="484" y="153"/>
                    </a:lnTo>
                    <a:lnTo>
                      <a:pt x="477" y="162"/>
                    </a:lnTo>
                    <a:lnTo>
                      <a:pt x="463" y="172"/>
                    </a:lnTo>
                    <a:lnTo>
                      <a:pt x="436" y="188"/>
                    </a:lnTo>
                    <a:lnTo>
                      <a:pt x="405" y="203"/>
                    </a:lnTo>
                    <a:lnTo>
                      <a:pt x="367" y="215"/>
                    </a:lnTo>
                    <a:lnTo>
                      <a:pt x="324" y="227"/>
                    </a:lnTo>
                    <a:lnTo>
                      <a:pt x="279" y="236"/>
                    </a:lnTo>
                    <a:lnTo>
                      <a:pt x="234" y="243"/>
                    </a:lnTo>
                    <a:lnTo>
                      <a:pt x="188" y="246"/>
                    </a:lnTo>
                    <a:lnTo>
                      <a:pt x="139" y="248"/>
                    </a:lnTo>
                    <a:lnTo>
                      <a:pt x="117" y="248"/>
                    </a:lnTo>
                    <a:lnTo>
                      <a:pt x="98" y="246"/>
                    </a:lnTo>
                    <a:lnTo>
                      <a:pt x="79" y="246"/>
                    </a:lnTo>
                    <a:lnTo>
                      <a:pt x="64" y="245"/>
                    </a:lnTo>
                    <a:lnTo>
                      <a:pt x="48" y="241"/>
                    </a:lnTo>
                    <a:lnTo>
                      <a:pt x="36" y="239"/>
                    </a:lnTo>
                    <a:lnTo>
                      <a:pt x="24" y="234"/>
                    </a:lnTo>
                    <a:lnTo>
                      <a:pt x="15" y="231"/>
                    </a:lnTo>
                    <a:lnTo>
                      <a:pt x="7" y="226"/>
                    </a:lnTo>
                    <a:lnTo>
                      <a:pt x="1" y="219"/>
                    </a:lnTo>
                    <a:lnTo>
                      <a:pt x="0" y="214"/>
                    </a:lnTo>
                    <a:lnTo>
                      <a:pt x="0" y="207"/>
                    </a:lnTo>
                    <a:lnTo>
                      <a:pt x="3" y="200"/>
                    </a:lnTo>
                    <a:lnTo>
                      <a:pt x="8" y="191"/>
                    </a:lnTo>
                    <a:lnTo>
                      <a:pt x="17" y="182"/>
                    </a:lnTo>
                    <a:lnTo>
                      <a:pt x="29" y="174"/>
                    </a:lnTo>
                    <a:lnTo>
                      <a:pt x="45" y="165"/>
                    </a:lnTo>
                    <a:lnTo>
                      <a:pt x="64" y="157"/>
                    </a:lnTo>
                    <a:lnTo>
                      <a:pt x="86" y="146"/>
                    </a:lnTo>
                    <a:lnTo>
                      <a:pt x="110" y="138"/>
                    </a:lnTo>
                    <a:lnTo>
                      <a:pt x="136" y="131"/>
                    </a:lnTo>
                    <a:lnTo>
                      <a:pt x="165" y="124"/>
                    </a:lnTo>
                    <a:lnTo>
                      <a:pt x="196" y="117"/>
                    </a:lnTo>
                    <a:lnTo>
                      <a:pt x="231" y="112"/>
                    </a:lnTo>
                    <a:lnTo>
                      <a:pt x="231" y="112"/>
                    </a:lnTo>
                    <a:close/>
                    <a:moveTo>
                      <a:pt x="325" y="65"/>
                    </a:moveTo>
                    <a:lnTo>
                      <a:pt x="317" y="72"/>
                    </a:lnTo>
                    <a:lnTo>
                      <a:pt x="313" y="79"/>
                    </a:lnTo>
                    <a:lnTo>
                      <a:pt x="312" y="84"/>
                    </a:lnTo>
                    <a:lnTo>
                      <a:pt x="315" y="88"/>
                    </a:lnTo>
                    <a:lnTo>
                      <a:pt x="322" y="91"/>
                    </a:lnTo>
                    <a:lnTo>
                      <a:pt x="331" y="93"/>
                    </a:lnTo>
                    <a:lnTo>
                      <a:pt x="344" y="95"/>
                    </a:lnTo>
                    <a:lnTo>
                      <a:pt x="360" y="95"/>
                    </a:lnTo>
                    <a:lnTo>
                      <a:pt x="394" y="93"/>
                    </a:lnTo>
                    <a:lnTo>
                      <a:pt x="429" y="88"/>
                    </a:lnTo>
                    <a:lnTo>
                      <a:pt x="444" y="84"/>
                    </a:lnTo>
                    <a:lnTo>
                      <a:pt x="458" y="79"/>
                    </a:lnTo>
                    <a:lnTo>
                      <a:pt x="482" y="65"/>
                    </a:lnTo>
                    <a:lnTo>
                      <a:pt x="491" y="58"/>
                    </a:lnTo>
                    <a:lnTo>
                      <a:pt x="496" y="53"/>
                    </a:lnTo>
                    <a:lnTo>
                      <a:pt x="496" y="48"/>
                    </a:lnTo>
                    <a:lnTo>
                      <a:pt x="493" y="45"/>
                    </a:lnTo>
                    <a:lnTo>
                      <a:pt x="486" y="41"/>
                    </a:lnTo>
                    <a:lnTo>
                      <a:pt x="477" y="38"/>
                    </a:lnTo>
                    <a:lnTo>
                      <a:pt x="463" y="36"/>
                    </a:lnTo>
                    <a:lnTo>
                      <a:pt x="448" y="36"/>
                    </a:lnTo>
                    <a:lnTo>
                      <a:pt x="413" y="38"/>
                    </a:lnTo>
                    <a:lnTo>
                      <a:pt x="379" y="45"/>
                    </a:lnTo>
                    <a:lnTo>
                      <a:pt x="363" y="48"/>
                    </a:lnTo>
                    <a:lnTo>
                      <a:pt x="350" y="53"/>
                    </a:lnTo>
                    <a:lnTo>
                      <a:pt x="325" y="65"/>
                    </a:lnTo>
                    <a:lnTo>
                      <a:pt x="325" y="65"/>
                    </a:lnTo>
                    <a:close/>
                    <a:moveTo>
                      <a:pt x="160" y="170"/>
                    </a:moveTo>
                    <a:lnTo>
                      <a:pt x="148" y="179"/>
                    </a:lnTo>
                    <a:lnTo>
                      <a:pt x="141" y="188"/>
                    </a:lnTo>
                    <a:lnTo>
                      <a:pt x="139" y="195"/>
                    </a:lnTo>
                    <a:lnTo>
                      <a:pt x="143" y="200"/>
                    </a:lnTo>
                    <a:lnTo>
                      <a:pt x="150" y="205"/>
                    </a:lnTo>
                    <a:lnTo>
                      <a:pt x="160" y="208"/>
                    </a:lnTo>
                    <a:lnTo>
                      <a:pt x="174" y="210"/>
                    </a:lnTo>
                    <a:lnTo>
                      <a:pt x="193" y="210"/>
                    </a:lnTo>
                    <a:lnTo>
                      <a:pt x="232" y="208"/>
                    </a:lnTo>
                    <a:lnTo>
                      <a:pt x="272" y="200"/>
                    </a:lnTo>
                    <a:lnTo>
                      <a:pt x="293" y="195"/>
                    </a:lnTo>
                    <a:lnTo>
                      <a:pt x="310" y="188"/>
                    </a:lnTo>
                    <a:lnTo>
                      <a:pt x="343" y="170"/>
                    </a:lnTo>
                    <a:lnTo>
                      <a:pt x="353" y="162"/>
                    </a:lnTo>
                    <a:lnTo>
                      <a:pt x="358" y="155"/>
                    </a:lnTo>
                    <a:lnTo>
                      <a:pt x="360" y="148"/>
                    </a:lnTo>
                    <a:lnTo>
                      <a:pt x="356" y="143"/>
                    </a:lnTo>
                    <a:lnTo>
                      <a:pt x="350" y="138"/>
                    </a:lnTo>
                    <a:lnTo>
                      <a:pt x="339" y="136"/>
                    </a:lnTo>
                    <a:lnTo>
                      <a:pt x="324" y="133"/>
                    </a:lnTo>
                    <a:lnTo>
                      <a:pt x="306" y="133"/>
                    </a:lnTo>
                    <a:lnTo>
                      <a:pt x="262" y="136"/>
                    </a:lnTo>
                    <a:lnTo>
                      <a:pt x="241" y="139"/>
                    </a:lnTo>
                    <a:lnTo>
                      <a:pt x="220" y="145"/>
                    </a:lnTo>
                    <a:lnTo>
                      <a:pt x="201" y="150"/>
                    </a:lnTo>
                    <a:lnTo>
                      <a:pt x="186" y="157"/>
                    </a:lnTo>
                    <a:lnTo>
                      <a:pt x="172" y="164"/>
                    </a:lnTo>
                    <a:lnTo>
                      <a:pt x="160" y="170"/>
                    </a:lnTo>
                    <a:lnTo>
                      <a:pt x="160" y="17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02142" name="Group 1086"/>
            <p:cNvGrpSpPr>
              <a:grpSpLocks/>
            </p:cNvGrpSpPr>
            <p:nvPr/>
          </p:nvGrpSpPr>
          <p:grpSpPr bwMode="auto">
            <a:xfrm>
              <a:off x="2990" y="3816"/>
              <a:ext cx="1655" cy="84"/>
              <a:chOff x="3007" y="3833"/>
              <a:chExt cx="1655" cy="84"/>
            </a:xfrm>
          </p:grpSpPr>
          <p:grpSp>
            <p:nvGrpSpPr>
              <p:cNvPr id="302143" name="Group 1087"/>
              <p:cNvGrpSpPr>
                <a:grpSpLocks/>
              </p:cNvGrpSpPr>
              <p:nvPr/>
            </p:nvGrpSpPr>
            <p:grpSpPr bwMode="auto">
              <a:xfrm>
                <a:off x="3007" y="3833"/>
                <a:ext cx="1654" cy="83"/>
                <a:chOff x="3007" y="3833"/>
                <a:chExt cx="1654" cy="83"/>
              </a:xfrm>
            </p:grpSpPr>
            <p:sp>
              <p:nvSpPr>
                <p:cNvPr id="302144" name="Rectangle 1088"/>
                <p:cNvSpPr>
                  <a:spLocks noChangeArrowheads="1"/>
                </p:cNvSpPr>
                <p:nvPr/>
              </p:nvSpPr>
              <p:spPr bwMode="auto">
                <a:xfrm>
                  <a:off x="3007" y="3833"/>
                  <a:ext cx="1654" cy="2"/>
                </a:xfrm>
                <a:prstGeom prst="rect">
                  <a:avLst/>
                </a:prstGeom>
                <a:solidFill>
                  <a:srgbClr val="FEFE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45" name="Rectangle 1089"/>
                <p:cNvSpPr>
                  <a:spLocks noChangeArrowheads="1"/>
                </p:cNvSpPr>
                <p:nvPr/>
              </p:nvSpPr>
              <p:spPr bwMode="auto">
                <a:xfrm>
                  <a:off x="3007" y="3835"/>
                  <a:ext cx="1654" cy="2"/>
                </a:xfrm>
                <a:prstGeom prst="rect">
                  <a:avLst/>
                </a:prstGeom>
                <a:solidFill>
                  <a:srgbClr val="FEFE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46" name="Rectangle 1090"/>
                <p:cNvSpPr>
                  <a:spLocks noChangeArrowheads="1"/>
                </p:cNvSpPr>
                <p:nvPr/>
              </p:nvSpPr>
              <p:spPr bwMode="auto">
                <a:xfrm>
                  <a:off x="3007" y="3837"/>
                  <a:ext cx="1654" cy="2"/>
                </a:xfrm>
                <a:prstGeom prst="rect">
                  <a:avLst/>
                </a:prstGeom>
                <a:solidFill>
                  <a:srgbClr val="FDFD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47" name="Rectangle 1091"/>
                <p:cNvSpPr>
                  <a:spLocks noChangeArrowheads="1"/>
                </p:cNvSpPr>
                <p:nvPr/>
              </p:nvSpPr>
              <p:spPr bwMode="auto">
                <a:xfrm>
                  <a:off x="3007" y="3839"/>
                  <a:ext cx="1654" cy="1"/>
                </a:xfrm>
                <a:prstGeom prst="rect">
                  <a:avLst/>
                </a:prstGeom>
                <a:solidFill>
                  <a:srgbClr val="FCFC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48" name="Rectangle 1092"/>
                <p:cNvSpPr>
                  <a:spLocks noChangeArrowheads="1"/>
                </p:cNvSpPr>
                <p:nvPr/>
              </p:nvSpPr>
              <p:spPr bwMode="auto">
                <a:xfrm>
                  <a:off x="3007" y="3840"/>
                  <a:ext cx="1654" cy="2"/>
                </a:xfrm>
                <a:prstGeom prst="rect">
                  <a:avLst/>
                </a:prstGeom>
                <a:solidFill>
                  <a:srgbClr val="FBFB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49" name="Rectangle 1093"/>
                <p:cNvSpPr>
                  <a:spLocks noChangeArrowheads="1"/>
                </p:cNvSpPr>
                <p:nvPr/>
              </p:nvSpPr>
              <p:spPr bwMode="auto">
                <a:xfrm>
                  <a:off x="3007" y="3842"/>
                  <a:ext cx="1654" cy="2"/>
                </a:xfrm>
                <a:prstGeom prst="rect">
                  <a:avLst/>
                </a:prstGeom>
                <a:solidFill>
                  <a:srgbClr val="FAFA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50" name="Rectangle 1094"/>
                <p:cNvSpPr>
                  <a:spLocks noChangeArrowheads="1"/>
                </p:cNvSpPr>
                <p:nvPr/>
              </p:nvSpPr>
              <p:spPr bwMode="auto">
                <a:xfrm>
                  <a:off x="3007" y="3844"/>
                  <a:ext cx="1654" cy="2"/>
                </a:xfrm>
                <a:prstGeom prst="rect">
                  <a:avLst/>
                </a:prstGeom>
                <a:solidFill>
                  <a:srgbClr val="F9F9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51" name="Rectangle 1095"/>
                <p:cNvSpPr>
                  <a:spLocks noChangeArrowheads="1"/>
                </p:cNvSpPr>
                <p:nvPr/>
              </p:nvSpPr>
              <p:spPr bwMode="auto">
                <a:xfrm>
                  <a:off x="3007" y="3846"/>
                  <a:ext cx="1654" cy="1"/>
                </a:xfrm>
                <a:prstGeom prst="rect">
                  <a:avLst/>
                </a:prstGeom>
                <a:solidFill>
                  <a:srgbClr val="F8F8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52" name="Rectangle 1096"/>
                <p:cNvSpPr>
                  <a:spLocks noChangeArrowheads="1"/>
                </p:cNvSpPr>
                <p:nvPr/>
              </p:nvSpPr>
              <p:spPr bwMode="auto">
                <a:xfrm>
                  <a:off x="3007" y="3847"/>
                  <a:ext cx="1654" cy="2"/>
                </a:xfrm>
                <a:prstGeom prst="rect">
                  <a:avLst/>
                </a:prstGeom>
                <a:solidFill>
                  <a:srgbClr val="F6F6C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53" name="Rectangle 1097"/>
                <p:cNvSpPr>
                  <a:spLocks noChangeArrowheads="1"/>
                </p:cNvSpPr>
                <p:nvPr/>
              </p:nvSpPr>
              <p:spPr bwMode="auto">
                <a:xfrm>
                  <a:off x="3007" y="3849"/>
                  <a:ext cx="1654" cy="2"/>
                </a:xfrm>
                <a:prstGeom prst="rect">
                  <a:avLst/>
                </a:prstGeom>
                <a:solidFill>
                  <a:srgbClr val="F5F5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54" name="Rectangle 1098"/>
                <p:cNvSpPr>
                  <a:spLocks noChangeArrowheads="1"/>
                </p:cNvSpPr>
                <p:nvPr/>
              </p:nvSpPr>
              <p:spPr bwMode="auto">
                <a:xfrm>
                  <a:off x="3007" y="3851"/>
                  <a:ext cx="1654" cy="1"/>
                </a:xfrm>
                <a:prstGeom prst="rect">
                  <a:avLst/>
                </a:prstGeom>
                <a:solidFill>
                  <a:srgbClr val="F3F3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55" name="Rectangle 1099"/>
                <p:cNvSpPr>
                  <a:spLocks noChangeArrowheads="1"/>
                </p:cNvSpPr>
                <p:nvPr/>
              </p:nvSpPr>
              <p:spPr bwMode="auto">
                <a:xfrm>
                  <a:off x="3007" y="3852"/>
                  <a:ext cx="1654" cy="2"/>
                </a:xfrm>
                <a:prstGeom prst="rect">
                  <a:avLst/>
                </a:prstGeom>
                <a:solidFill>
                  <a:srgbClr val="F1F1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56" name="Rectangle 1100"/>
                <p:cNvSpPr>
                  <a:spLocks noChangeArrowheads="1"/>
                </p:cNvSpPr>
                <p:nvPr/>
              </p:nvSpPr>
              <p:spPr bwMode="auto">
                <a:xfrm>
                  <a:off x="3007" y="3854"/>
                  <a:ext cx="1654" cy="2"/>
                </a:xfrm>
                <a:prstGeom prst="rect">
                  <a:avLst/>
                </a:prstGeom>
                <a:solidFill>
                  <a:srgbClr val="EFEFB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57" name="Rectangle 1101"/>
                <p:cNvSpPr>
                  <a:spLocks noChangeArrowheads="1"/>
                </p:cNvSpPr>
                <p:nvPr/>
              </p:nvSpPr>
              <p:spPr bwMode="auto">
                <a:xfrm>
                  <a:off x="3007" y="3856"/>
                  <a:ext cx="1654" cy="2"/>
                </a:xfrm>
                <a:prstGeom prst="rect">
                  <a:avLst/>
                </a:prstGeom>
                <a:solidFill>
                  <a:srgbClr val="ECECB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58" name="Rectangle 1102"/>
                <p:cNvSpPr>
                  <a:spLocks noChangeArrowheads="1"/>
                </p:cNvSpPr>
                <p:nvPr/>
              </p:nvSpPr>
              <p:spPr bwMode="auto">
                <a:xfrm>
                  <a:off x="3007" y="3858"/>
                  <a:ext cx="1654" cy="1"/>
                </a:xfrm>
                <a:prstGeom prst="rect">
                  <a:avLst/>
                </a:prstGeom>
                <a:solidFill>
                  <a:srgbClr val="EAEAB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59" name="Rectangle 1103"/>
                <p:cNvSpPr>
                  <a:spLocks noChangeArrowheads="1"/>
                </p:cNvSpPr>
                <p:nvPr/>
              </p:nvSpPr>
              <p:spPr bwMode="auto">
                <a:xfrm>
                  <a:off x="3007" y="3859"/>
                  <a:ext cx="1654" cy="2"/>
                </a:xfrm>
                <a:prstGeom prst="rect">
                  <a:avLst/>
                </a:prstGeom>
                <a:solidFill>
                  <a:srgbClr val="E7E7B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60" name="Rectangle 1104"/>
                <p:cNvSpPr>
                  <a:spLocks noChangeArrowheads="1"/>
                </p:cNvSpPr>
                <p:nvPr/>
              </p:nvSpPr>
              <p:spPr bwMode="auto">
                <a:xfrm>
                  <a:off x="3007" y="3861"/>
                  <a:ext cx="1654" cy="2"/>
                </a:xfrm>
                <a:prstGeom prst="rect">
                  <a:avLst/>
                </a:prstGeom>
                <a:solidFill>
                  <a:srgbClr val="E3E3B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61" name="Rectangle 1105"/>
                <p:cNvSpPr>
                  <a:spLocks noChangeArrowheads="1"/>
                </p:cNvSpPr>
                <p:nvPr/>
              </p:nvSpPr>
              <p:spPr bwMode="auto">
                <a:xfrm>
                  <a:off x="3007" y="3863"/>
                  <a:ext cx="1654" cy="1"/>
                </a:xfrm>
                <a:prstGeom prst="rect">
                  <a:avLst/>
                </a:prstGeom>
                <a:solidFill>
                  <a:srgbClr val="E0E0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62" name="Rectangle 1106"/>
                <p:cNvSpPr>
                  <a:spLocks noChangeArrowheads="1"/>
                </p:cNvSpPr>
                <p:nvPr/>
              </p:nvSpPr>
              <p:spPr bwMode="auto">
                <a:xfrm>
                  <a:off x="3007" y="3864"/>
                  <a:ext cx="1654" cy="2"/>
                </a:xfrm>
                <a:prstGeom prst="rect">
                  <a:avLst/>
                </a:prstGeom>
                <a:solidFill>
                  <a:srgbClr val="DDDDB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63" name="Rectangle 1107"/>
                <p:cNvSpPr>
                  <a:spLocks noChangeArrowheads="1"/>
                </p:cNvSpPr>
                <p:nvPr/>
              </p:nvSpPr>
              <p:spPr bwMode="auto">
                <a:xfrm>
                  <a:off x="3007" y="3866"/>
                  <a:ext cx="1654" cy="2"/>
                </a:xfrm>
                <a:prstGeom prst="rect">
                  <a:avLst/>
                </a:prstGeom>
                <a:solidFill>
                  <a:srgbClr val="D9D9A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64" name="Rectangle 1108"/>
                <p:cNvSpPr>
                  <a:spLocks noChangeArrowheads="1"/>
                </p:cNvSpPr>
                <p:nvPr/>
              </p:nvSpPr>
              <p:spPr bwMode="auto">
                <a:xfrm>
                  <a:off x="3007" y="3868"/>
                  <a:ext cx="1654" cy="2"/>
                </a:xfrm>
                <a:prstGeom prst="rect">
                  <a:avLst/>
                </a:prstGeom>
                <a:solidFill>
                  <a:srgbClr val="D5D5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65" name="Rectangle 1109"/>
                <p:cNvSpPr>
                  <a:spLocks noChangeArrowheads="1"/>
                </p:cNvSpPr>
                <p:nvPr/>
              </p:nvSpPr>
              <p:spPr bwMode="auto">
                <a:xfrm>
                  <a:off x="3007" y="3870"/>
                  <a:ext cx="1654" cy="1"/>
                </a:xfrm>
                <a:prstGeom prst="rect">
                  <a:avLst/>
                </a:prstGeom>
                <a:solidFill>
                  <a:srgbClr val="D1D1A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66" name="Rectangle 1110"/>
                <p:cNvSpPr>
                  <a:spLocks noChangeArrowheads="1"/>
                </p:cNvSpPr>
                <p:nvPr/>
              </p:nvSpPr>
              <p:spPr bwMode="auto">
                <a:xfrm>
                  <a:off x="3007" y="3871"/>
                  <a:ext cx="1654" cy="2"/>
                </a:xfrm>
                <a:prstGeom prst="rect">
                  <a:avLst/>
                </a:prstGeom>
                <a:solidFill>
                  <a:srgbClr val="CCCCA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67" name="Rectangle 1111"/>
                <p:cNvSpPr>
                  <a:spLocks noChangeArrowheads="1"/>
                </p:cNvSpPr>
                <p:nvPr/>
              </p:nvSpPr>
              <p:spPr bwMode="auto">
                <a:xfrm>
                  <a:off x="3007" y="3873"/>
                  <a:ext cx="1654" cy="2"/>
                </a:xfrm>
                <a:prstGeom prst="rect">
                  <a:avLst/>
                </a:prstGeom>
                <a:solidFill>
                  <a:srgbClr val="C8C8A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68" name="Rectangle 1112"/>
                <p:cNvSpPr>
                  <a:spLocks noChangeArrowheads="1"/>
                </p:cNvSpPr>
                <p:nvPr/>
              </p:nvSpPr>
              <p:spPr bwMode="auto">
                <a:xfrm>
                  <a:off x="3007" y="3875"/>
                  <a:ext cx="1654" cy="2"/>
                </a:xfrm>
                <a:prstGeom prst="rect">
                  <a:avLst/>
                </a:prstGeom>
                <a:solidFill>
                  <a:srgbClr val="C4C4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69" name="Rectangle 1113"/>
                <p:cNvSpPr>
                  <a:spLocks noChangeArrowheads="1"/>
                </p:cNvSpPr>
                <p:nvPr/>
              </p:nvSpPr>
              <p:spPr bwMode="auto">
                <a:xfrm>
                  <a:off x="3007" y="3877"/>
                  <a:ext cx="1654" cy="1"/>
                </a:xfrm>
                <a:prstGeom prst="rect">
                  <a:avLst/>
                </a:prstGeom>
                <a:solidFill>
                  <a:srgbClr val="BFBF9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70" name="Rectangle 1114"/>
                <p:cNvSpPr>
                  <a:spLocks noChangeArrowheads="1"/>
                </p:cNvSpPr>
                <p:nvPr/>
              </p:nvSpPr>
              <p:spPr bwMode="auto">
                <a:xfrm>
                  <a:off x="3007" y="3878"/>
                  <a:ext cx="1654" cy="2"/>
                </a:xfrm>
                <a:prstGeom prst="rect">
                  <a:avLst/>
                </a:prstGeom>
                <a:solidFill>
                  <a:srgbClr val="BBBB9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71" name="Rectangle 1115"/>
                <p:cNvSpPr>
                  <a:spLocks noChangeArrowheads="1"/>
                </p:cNvSpPr>
                <p:nvPr/>
              </p:nvSpPr>
              <p:spPr bwMode="auto">
                <a:xfrm>
                  <a:off x="3007" y="3880"/>
                  <a:ext cx="1654" cy="2"/>
                </a:xfrm>
                <a:prstGeom prst="rect">
                  <a:avLst/>
                </a:prstGeom>
                <a:solidFill>
                  <a:srgbClr val="B6B6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72" name="Rectangle 1116"/>
                <p:cNvSpPr>
                  <a:spLocks noChangeArrowheads="1"/>
                </p:cNvSpPr>
                <p:nvPr/>
              </p:nvSpPr>
              <p:spPr bwMode="auto">
                <a:xfrm>
                  <a:off x="3007" y="3882"/>
                  <a:ext cx="1654" cy="1"/>
                </a:xfrm>
                <a:prstGeom prst="rect">
                  <a:avLst/>
                </a:prstGeom>
                <a:solidFill>
                  <a:srgbClr val="B1B18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73" name="Rectangle 1117"/>
                <p:cNvSpPr>
                  <a:spLocks noChangeArrowheads="1"/>
                </p:cNvSpPr>
                <p:nvPr/>
              </p:nvSpPr>
              <p:spPr bwMode="auto">
                <a:xfrm>
                  <a:off x="3007" y="3883"/>
                  <a:ext cx="1654" cy="2"/>
                </a:xfrm>
                <a:prstGeom prst="rect">
                  <a:avLst/>
                </a:prstGeom>
                <a:solidFill>
                  <a:srgbClr val="ADAD8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74" name="Rectangle 1118"/>
                <p:cNvSpPr>
                  <a:spLocks noChangeArrowheads="1"/>
                </p:cNvSpPr>
                <p:nvPr/>
              </p:nvSpPr>
              <p:spPr bwMode="auto">
                <a:xfrm>
                  <a:off x="3007" y="3885"/>
                  <a:ext cx="1654" cy="2"/>
                </a:xfrm>
                <a:prstGeom prst="rect">
                  <a:avLst/>
                </a:prstGeom>
                <a:solidFill>
                  <a:srgbClr val="A8A88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75" name="Rectangle 1119"/>
                <p:cNvSpPr>
                  <a:spLocks noChangeArrowheads="1"/>
                </p:cNvSpPr>
                <p:nvPr/>
              </p:nvSpPr>
              <p:spPr bwMode="auto">
                <a:xfrm>
                  <a:off x="3007" y="3887"/>
                  <a:ext cx="1654" cy="2"/>
                </a:xfrm>
                <a:prstGeom prst="rect">
                  <a:avLst/>
                </a:prstGeom>
                <a:solidFill>
                  <a:srgbClr val="A3A38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76" name="Rectangle 1120"/>
                <p:cNvSpPr>
                  <a:spLocks noChangeArrowheads="1"/>
                </p:cNvSpPr>
                <p:nvPr/>
              </p:nvSpPr>
              <p:spPr bwMode="auto">
                <a:xfrm>
                  <a:off x="3007" y="3889"/>
                  <a:ext cx="1654" cy="1"/>
                </a:xfrm>
                <a:prstGeom prst="rect">
                  <a:avLst/>
                </a:prstGeom>
                <a:solidFill>
                  <a:srgbClr val="9F9F7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77" name="Rectangle 1121"/>
                <p:cNvSpPr>
                  <a:spLocks noChangeArrowheads="1"/>
                </p:cNvSpPr>
                <p:nvPr/>
              </p:nvSpPr>
              <p:spPr bwMode="auto">
                <a:xfrm>
                  <a:off x="3007" y="3890"/>
                  <a:ext cx="1654" cy="2"/>
                </a:xfrm>
                <a:prstGeom prst="rect">
                  <a:avLst/>
                </a:prstGeom>
                <a:solidFill>
                  <a:srgbClr val="9B9B7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78" name="Rectangle 1122"/>
                <p:cNvSpPr>
                  <a:spLocks noChangeArrowheads="1"/>
                </p:cNvSpPr>
                <p:nvPr/>
              </p:nvSpPr>
              <p:spPr bwMode="auto">
                <a:xfrm>
                  <a:off x="3007" y="3892"/>
                  <a:ext cx="1654" cy="2"/>
                </a:xfrm>
                <a:prstGeom prst="rect">
                  <a:avLst/>
                </a:prstGeom>
                <a:solidFill>
                  <a:srgbClr val="96967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79" name="Rectangle 1123"/>
                <p:cNvSpPr>
                  <a:spLocks noChangeArrowheads="1"/>
                </p:cNvSpPr>
                <p:nvPr/>
              </p:nvSpPr>
              <p:spPr bwMode="auto">
                <a:xfrm>
                  <a:off x="3007" y="3894"/>
                  <a:ext cx="1654" cy="1"/>
                </a:xfrm>
                <a:prstGeom prst="rect">
                  <a:avLst/>
                </a:prstGeom>
                <a:solidFill>
                  <a:srgbClr val="93937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80" name="Rectangle 1124"/>
                <p:cNvSpPr>
                  <a:spLocks noChangeArrowheads="1"/>
                </p:cNvSpPr>
                <p:nvPr/>
              </p:nvSpPr>
              <p:spPr bwMode="auto">
                <a:xfrm>
                  <a:off x="3007" y="3895"/>
                  <a:ext cx="1654" cy="2"/>
                </a:xfrm>
                <a:prstGeom prst="rect">
                  <a:avLst/>
                </a:prstGeom>
                <a:solidFill>
                  <a:srgbClr val="8F8F7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81" name="Rectangle 1125"/>
                <p:cNvSpPr>
                  <a:spLocks noChangeArrowheads="1"/>
                </p:cNvSpPr>
                <p:nvPr/>
              </p:nvSpPr>
              <p:spPr bwMode="auto">
                <a:xfrm>
                  <a:off x="3007" y="3897"/>
                  <a:ext cx="1654" cy="2"/>
                </a:xfrm>
                <a:prstGeom prst="rect">
                  <a:avLst/>
                </a:prstGeom>
                <a:solidFill>
                  <a:srgbClr val="8B8B6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82" name="Rectangle 1126"/>
                <p:cNvSpPr>
                  <a:spLocks noChangeArrowheads="1"/>
                </p:cNvSpPr>
                <p:nvPr/>
              </p:nvSpPr>
              <p:spPr bwMode="auto">
                <a:xfrm>
                  <a:off x="3007" y="3899"/>
                  <a:ext cx="1654" cy="2"/>
                </a:xfrm>
                <a:prstGeom prst="rect">
                  <a:avLst/>
                </a:prstGeom>
                <a:solidFill>
                  <a:srgbClr val="88886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83" name="Rectangle 1127"/>
                <p:cNvSpPr>
                  <a:spLocks noChangeArrowheads="1"/>
                </p:cNvSpPr>
                <p:nvPr/>
              </p:nvSpPr>
              <p:spPr bwMode="auto">
                <a:xfrm>
                  <a:off x="3007" y="3901"/>
                  <a:ext cx="1654" cy="1"/>
                </a:xfrm>
                <a:prstGeom prst="rect">
                  <a:avLst/>
                </a:prstGeom>
                <a:solidFill>
                  <a:srgbClr val="85856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84" name="Rectangle 1128"/>
                <p:cNvSpPr>
                  <a:spLocks noChangeArrowheads="1"/>
                </p:cNvSpPr>
                <p:nvPr/>
              </p:nvSpPr>
              <p:spPr bwMode="auto">
                <a:xfrm>
                  <a:off x="3007" y="3902"/>
                  <a:ext cx="1654" cy="2"/>
                </a:xfrm>
                <a:prstGeom prst="rect">
                  <a:avLst/>
                </a:prstGeom>
                <a:solidFill>
                  <a:srgbClr val="82826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85" name="Rectangle 1129"/>
                <p:cNvSpPr>
                  <a:spLocks noChangeArrowheads="1"/>
                </p:cNvSpPr>
                <p:nvPr/>
              </p:nvSpPr>
              <p:spPr bwMode="auto">
                <a:xfrm>
                  <a:off x="3007" y="3904"/>
                  <a:ext cx="1654" cy="2"/>
                </a:xfrm>
                <a:prstGeom prst="rect">
                  <a:avLst/>
                </a:prstGeom>
                <a:solidFill>
                  <a:srgbClr val="8080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86" name="Rectangle 1130"/>
                <p:cNvSpPr>
                  <a:spLocks noChangeArrowheads="1"/>
                </p:cNvSpPr>
                <p:nvPr/>
              </p:nvSpPr>
              <p:spPr bwMode="auto">
                <a:xfrm>
                  <a:off x="3007" y="3906"/>
                  <a:ext cx="1654" cy="2"/>
                </a:xfrm>
                <a:prstGeom prst="rect">
                  <a:avLst/>
                </a:prstGeom>
                <a:solidFill>
                  <a:srgbClr val="7E7E6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87" name="Rectangle 1131"/>
                <p:cNvSpPr>
                  <a:spLocks noChangeArrowheads="1"/>
                </p:cNvSpPr>
                <p:nvPr/>
              </p:nvSpPr>
              <p:spPr bwMode="auto">
                <a:xfrm>
                  <a:off x="3007" y="3908"/>
                  <a:ext cx="1654" cy="1"/>
                </a:xfrm>
                <a:prstGeom prst="rect">
                  <a:avLst/>
                </a:prstGeom>
                <a:solidFill>
                  <a:srgbClr val="7C7C6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88" name="Rectangle 1132"/>
                <p:cNvSpPr>
                  <a:spLocks noChangeArrowheads="1"/>
                </p:cNvSpPr>
                <p:nvPr/>
              </p:nvSpPr>
              <p:spPr bwMode="auto">
                <a:xfrm>
                  <a:off x="3007" y="3909"/>
                  <a:ext cx="1654" cy="2"/>
                </a:xfrm>
                <a:prstGeom prst="rect">
                  <a:avLst/>
                </a:prstGeom>
                <a:solidFill>
                  <a:srgbClr val="7A7A6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89" name="Rectangle 1133"/>
                <p:cNvSpPr>
                  <a:spLocks noChangeArrowheads="1"/>
                </p:cNvSpPr>
                <p:nvPr/>
              </p:nvSpPr>
              <p:spPr bwMode="auto">
                <a:xfrm>
                  <a:off x="3007" y="3911"/>
                  <a:ext cx="1654" cy="2"/>
                </a:xfrm>
                <a:prstGeom prst="rect">
                  <a:avLst/>
                </a:prstGeom>
                <a:solidFill>
                  <a:srgbClr val="79796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90" name="Rectangle 1134"/>
                <p:cNvSpPr>
                  <a:spLocks noChangeArrowheads="1"/>
                </p:cNvSpPr>
                <p:nvPr/>
              </p:nvSpPr>
              <p:spPr bwMode="auto">
                <a:xfrm>
                  <a:off x="3007" y="3913"/>
                  <a:ext cx="1654" cy="1"/>
                </a:xfrm>
                <a:prstGeom prst="rect">
                  <a:avLst/>
                </a:prstGeom>
                <a:solidFill>
                  <a:srgbClr val="77775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2191" name="Rectangle 1135"/>
                <p:cNvSpPr>
                  <a:spLocks noChangeArrowheads="1"/>
                </p:cNvSpPr>
                <p:nvPr/>
              </p:nvSpPr>
              <p:spPr bwMode="auto">
                <a:xfrm>
                  <a:off x="3007" y="3914"/>
                  <a:ext cx="1654" cy="2"/>
                </a:xfrm>
                <a:prstGeom prst="rect">
                  <a:avLst/>
                </a:prstGeom>
                <a:solidFill>
                  <a:srgbClr val="76765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sp>
            <p:nvSpPr>
              <p:cNvPr id="302192" name="Rectangle 1136"/>
              <p:cNvSpPr>
                <a:spLocks noChangeArrowheads="1"/>
              </p:cNvSpPr>
              <p:nvPr/>
            </p:nvSpPr>
            <p:spPr bwMode="auto">
              <a:xfrm>
                <a:off x="3007" y="3833"/>
                <a:ext cx="1655" cy="84"/>
              </a:xfrm>
              <a:prstGeom prst="rect">
                <a:avLst/>
              </a:prstGeom>
              <a:noFill/>
              <a:ln w="7938">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02193" name="Group 1137"/>
            <p:cNvGrpSpPr>
              <a:grpSpLocks/>
            </p:cNvGrpSpPr>
            <p:nvPr/>
          </p:nvGrpSpPr>
          <p:grpSpPr bwMode="auto">
            <a:xfrm>
              <a:off x="2907" y="3941"/>
              <a:ext cx="1668" cy="261"/>
              <a:chOff x="2924" y="3958"/>
              <a:chExt cx="1668" cy="261"/>
            </a:xfrm>
          </p:grpSpPr>
          <p:sp>
            <p:nvSpPr>
              <p:cNvPr id="302194" name="Freeform 1138"/>
              <p:cNvSpPr>
                <a:spLocks/>
              </p:cNvSpPr>
              <p:nvPr/>
            </p:nvSpPr>
            <p:spPr bwMode="auto">
              <a:xfrm>
                <a:off x="2938" y="3971"/>
                <a:ext cx="1654" cy="248"/>
              </a:xfrm>
              <a:custGeom>
                <a:avLst/>
                <a:gdLst>
                  <a:gd name="T0" fmla="*/ 827 w 3309"/>
                  <a:gd name="T1" fmla="*/ 0 h 496"/>
                  <a:gd name="T2" fmla="*/ 0 w 3309"/>
                  <a:gd name="T3" fmla="*/ 496 h 496"/>
                  <a:gd name="T4" fmla="*/ 2482 w 3309"/>
                  <a:gd name="T5" fmla="*/ 496 h 496"/>
                  <a:gd name="T6" fmla="*/ 3309 w 3309"/>
                  <a:gd name="T7" fmla="*/ 0 h 496"/>
                  <a:gd name="T8" fmla="*/ 827 w 3309"/>
                  <a:gd name="T9" fmla="*/ 0 h 496"/>
                </a:gdLst>
                <a:ahLst/>
                <a:cxnLst>
                  <a:cxn ang="0">
                    <a:pos x="T0" y="T1"/>
                  </a:cxn>
                  <a:cxn ang="0">
                    <a:pos x="T2" y="T3"/>
                  </a:cxn>
                  <a:cxn ang="0">
                    <a:pos x="T4" y="T5"/>
                  </a:cxn>
                  <a:cxn ang="0">
                    <a:pos x="T6" y="T7"/>
                  </a:cxn>
                  <a:cxn ang="0">
                    <a:pos x="T8" y="T9"/>
                  </a:cxn>
                </a:cxnLst>
                <a:rect l="0" t="0" r="r" b="b"/>
                <a:pathLst>
                  <a:path w="3309" h="496">
                    <a:moveTo>
                      <a:pt x="827" y="0"/>
                    </a:moveTo>
                    <a:lnTo>
                      <a:pt x="0" y="496"/>
                    </a:lnTo>
                    <a:lnTo>
                      <a:pt x="2482" y="496"/>
                    </a:lnTo>
                    <a:lnTo>
                      <a:pt x="3309" y="0"/>
                    </a:lnTo>
                    <a:lnTo>
                      <a:pt x="827" y="0"/>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02195" name="Group 1139"/>
              <p:cNvGrpSpPr>
                <a:grpSpLocks/>
              </p:cNvGrpSpPr>
              <p:nvPr/>
            </p:nvGrpSpPr>
            <p:grpSpPr bwMode="auto">
              <a:xfrm>
                <a:off x="2924" y="3958"/>
                <a:ext cx="1655" cy="249"/>
                <a:chOff x="2924" y="3958"/>
                <a:chExt cx="1655" cy="249"/>
              </a:xfrm>
            </p:grpSpPr>
            <p:pic>
              <p:nvPicPr>
                <p:cNvPr id="302196" name="Picture 114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4" y="3958"/>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2197" name="Picture 11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72" y="3958"/>
                  <a:ext cx="80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2198" name="Freeform 1142"/>
                <p:cNvSpPr>
                  <a:spLocks/>
                </p:cNvSpPr>
                <p:nvPr/>
              </p:nvSpPr>
              <p:spPr bwMode="auto">
                <a:xfrm>
                  <a:off x="2924" y="3958"/>
                  <a:ext cx="1654" cy="248"/>
                </a:xfrm>
                <a:custGeom>
                  <a:avLst/>
                  <a:gdLst>
                    <a:gd name="T0" fmla="*/ 827 w 3308"/>
                    <a:gd name="T1" fmla="*/ 0 h 496"/>
                    <a:gd name="T2" fmla="*/ 0 w 3308"/>
                    <a:gd name="T3" fmla="*/ 496 h 496"/>
                    <a:gd name="T4" fmla="*/ 2481 w 3308"/>
                    <a:gd name="T5" fmla="*/ 496 h 496"/>
                    <a:gd name="T6" fmla="*/ 3308 w 3308"/>
                    <a:gd name="T7" fmla="*/ 0 h 496"/>
                    <a:gd name="T8" fmla="*/ 827 w 3308"/>
                    <a:gd name="T9" fmla="*/ 0 h 496"/>
                  </a:gdLst>
                  <a:ahLst/>
                  <a:cxnLst>
                    <a:cxn ang="0">
                      <a:pos x="T0" y="T1"/>
                    </a:cxn>
                    <a:cxn ang="0">
                      <a:pos x="T2" y="T3"/>
                    </a:cxn>
                    <a:cxn ang="0">
                      <a:pos x="T4" y="T5"/>
                    </a:cxn>
                    <a:cxn ang="0">
                      <a:pos x="T6" y="T7"/>
                    </a:cxn>
                    <a:cxn ang="0">
                      <a:pos x="T8" y="T9"/>
                    </a:cxn>
                  </a:cxnLst>
                  <a:rect l="0" t="0" r="r" b="b"/>
                  <a:pathLst>
                    <a:path w="3308" h="496">
                      <a:moveTo>
                        <a:pt x="827" y="0"/>
                      </a:moveTo>
                      <a:lnTo>
                        <a:pt x="0" y="496"/>
                      </a:lnTo>
                      <a:lnTo>
                        <a:pt x="2481" y="496"/>
                      </a:lnTo>
                      <a:lnTo>
                        <a:pt x="3308" y="0"/>
                      </a:lnTo>
                      <a:lnTo>
                        <a:pt x="827"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2199" name="Freeform 1143"/>
                <p:cNvSpPr>
                  <a:spLocks/>
                </p:cNvSpPr>
                <p:nvPr/>
              </p:nvSpPr>
              <p:spPr bwMode="auto">
                <a:xfrm>
                  <a:off x="2924" y="3958"/>
                  <a:ext cx="1654" cy="248"/>
                </a:xfrm>
                <a:custGeom>
                  <a:avLst/>
                  <a:gdLst>
                    <a:gd name="T0" fmla="*/ 827 w 3308"/>
                    <a:gd name="T1" fmla="*/ 0 h 496"/>
                    <a:gd name="T2" fmla="*/ 0 w 3308"/>
                    <a:gd name="T3" fmla="*/ 496 h 496"/>
                    <a:gd name="T4" fmla="*/ 2481 w 3308"/>
                    <a:gd name="T5" fmla="*/ 496 h 496"/>
                    <a:gd name="T6" fmla="*/ 3308 w 3308"/>
                    <a:gd name="T7" fmla="*/ 0 h 496"/>
                    <a:gd name="T8" fmla="*/ 827 w 3308"/>
                    <a:gd name="T9" fmla="*/ 0 h 496"/>
                  </a:gdLst>
                  <a:ahLst/>
                  <a:cxnLst>
                    <a:cxn ang="0">
                      <a:pos x="T0" y="T1"/>
                    </a:cxn>
                    <a:cxn ang="0">
                      <a:pos x="T2" y="T3"/>
                    </a:cxn>
                    <a:cxn ang="0">
                      <a:pos x="T4" y="T5"/>
                    </a:cxn>
                    <a:cxn ang="0">
                      <a:pos x="T6" y="T7"/>
                    </a:cxn>
                    <a:cxn ang="0">
                      <a:pos x="T8" y="T9"/>
                    </a:cxn>
                  </a:cxnLst>
                  <a:rect l="0" t="0" r="r" b="b"/>
                  <a:pathLst>
                    <a:path w="3308" h="496">
                      <a:moveTo>
                        <a:pt x="827" y="0"/>
                      </a:moveTo>
                      <a:lnTo>
                        <a:pt x="0" y="496"/>
                      </a:lnTo>
                      <a:lnTo>
                        <a:pt x="2481" y="496"/>
                      </a:lnTo>
                      <a:lnTo>
                        <a:pt x="3308" y="0"/>
                      </a:lnTo>
                      <a:lnTo>
                        <a:pt x="82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302200" name="Picture 11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4" y="3958"/>
                  <a:ext cx="8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2201" name="Picture 11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72" y="3958"/>
                  <a:ext cx="80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2202" name="Freeform 1146"/>
              <p:cNvSpPr>
                <a:spLocks/>
              </p:cNvSpPr>
              <p:nvPr/>
            </p:nvSpPr>
            <p:spPr bwMode="auto">
              <a:xfrm>
                <a:off x="2924" y="3958"/>
                <a:ext cx="1654" cy="248"/>
              </a:xfrm>
              <a:custGeom>
                <a:avLst/>
                <a:gdLst>
                  <a:gd name="T0" fmla="*/ 827 w 3308"/>
                  <a:gd name="T1" fmla="*/ 0 h 496"/>
                  <a:gd name="T2" fmla="*/ 0 w 3308"/>
                  <a:gd name="T3" fmla="*/ 496 h 496"/>
                  <a:gd name="T4" fmla="*/ 2481 w 3308"/>
                  <a:gd name="T5" fmla="*/ 496 h 496"/>
                  <a:gd name="T6" fmla="*/ 3308 w 3308"/>
                  <a:gd name="T7" fmla="*/ 0 h 496"/>
                  <a:gd name="T8" fmla="*/ 827 w 3308"/>
                  <a:gd name="T9" fmla="*/ 0 h 496"/>
                </a:gdLst>
                <a:ahLst/>
                <a:cxnLst>
                  <a:cxn ang="0">
                    <a:pos x="T0" y="T1"/>
                  </a:cxn>
                  <a:cxn ang="0">
                    <a:pos x="T2" y="T3"/>
                  </a:cxn>
                  <a:cxn ang="0">
                    <a:pos x="T4" y="T5"/>
                  </a:cxn>
                  <a:cxn ang="0">
                    <a:pos x="T6" y="T7"/>
                  </a:cxn>
                  <a:cxn ang="0">
                    <a:pos x="T8" y="T9"/>
                  </a:cxn>
                </a:cxnLst>
                <a:rect l="0" t="0" r="r" b="b"/>
                <a:pathLst>
                  <a:path w="3308" h="496">
                    <a:moveTo>
                      <a:pt x="827" y="0"/>
                    </a:moveTo>
                    <a:lnTo>
                      <a:pt x="0" y="496"/>
                    </a:lnTo>
                    <a:lnTo>
                      <a:pt x="2481" y="496"/>
                    </a:lnTo>
                    <a:lnTo>
                      <a:pt x="3308" y="0"/>
                    </a:lnTo>
                    <a:lnTo>
                      <a:pt x="827" y="0"/>
                    </a:lnTo>
                    <a:close/>
                  </a:path>
                </a:pathLst>
              </a:custGeom>
              <a:noFill/>
              <a:ln w="7938">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02203" name="Group 1147"/>
            <p:cNvGrpSpPr>
              <a:grpSpLocks/>
            </p:cNvGrpSpPr>
            <p:nvPr/>
          </p:nvGrpSpPr>
          <p:grpSpPr bwMode="auto">
            <a:xfrm>
              <a:off x="3227" y="3982"/>
              <a:ext cx="1071" cy="179"/>
              <a:chOff x="3244" y="3999"/>
              <a:chExt cx="1071" cy="179"/>
            </a:xfrm>
          </p:grpSpPr>
          <p:sp>
            <p:nvSpPr>
              <p:cNvPr id="302204" name="Freeform 1148"/>
              <p:cNvSpPr>
                <a:spLocks/>
              </p:cNvSpPr>
              <p:nvPr/>
            </p:nvSpPr>
            <p:spPr bwMode="auto">
              <a:xfrm>
                <a:off x="3264" y="4013"/>
                <a:ext cx="360" cy="165"/>
              </a:xfrm>
              <a:custGeom>
                <a:avLst/>
                <a:gdLst>
                  <a:gd name="T0" fmla="*/ 111 w 721"/>
                  <a:gd name="T1" fmla="*/ 331 h 331"/>
                  <a:gd name="T2" fmla="*/ 56 w 721"/>
                  <a:gd name="T3" fmla="*/ 331 h 331"/>
                  <a:gd name="T4" fmla="*/ 0 w 721"/>
                  <a:gd name="T5" fmla="*/ 331 h 331"/>
                  <a:gd name="T6" fmla="*/ 440 w 721"/>
                  <a:gd name="T7" fmla="*/ 93 h 331"/>
                  <a:gd name="T8" fmla="*/ 380 w 721"/>
                  <a:gd name="T9" fmla="*/ 109 h 331"/>
                  <a:gd name="T10" fmla="*/ 323 w 721"/>
                  <a:gd name="T11" fmla="*/ 121 h 331"/>
                  <a:gd name="T12" fmla="*/ 266 w 721"/>
                  <a:gd name="T13" fmla="*/ 133 h 331"/>
                  <a:gd name="T14" fmla="*/ 209 w 721"/>
                  <a:gd name="T15" fmla="*/ 142 h 331"/>
                  <a:gd name="T16" fmla="*/ 262 w 721"/>
                  <a:gd name="T17" fmla="*/ 112 h 331"/>
                  <a:gd name="T18" fmla="*/ 314 w 721"/>
                  <a:gd name="T19" fmla="*/ 83 h 331"/>
                  <a:gd name="T20" fmla="*/ 345 w 721"/>
                  <a:gd name="T21" fmla="*/ 78 h 331"/>
                  <a:gd name="T22" fmla="*/ 381 w 721"/>
                  <a:gd name="T23" fmla="*/ 71 h 331"/>
                  <a:gd name="T24" fmla="*/ 421 w 721"/>
                  <a:gd name="T25" fmla="*/ 62 h 331"/>
                  <a:gd name="T26" fmla="*/ 466 w 721"/>
                  <a:gd name="T27" fmla="*/ 52 h 331"/>
                  <a:gd name="T28" fmla="*/ 511 w 721"/>
                  <a:gd name="T29" fmla="*/ 42 h 331"/>
                  <a:gd name="T30" fmla="*/ 554 w 721"/>
                  <a:gd name="T31" fmla="*/ 30 h 331"/>
                  <a:gd name="T32" fmla="*/ 593 w 721"/>
                  <a:gd name="T33" fmla="*/ 16 h 331"/>
                  <a:gd name="T34" fmla="*/ 631 w 721"/>
                  <a:gd name="T35" fmla="*/ 0 h 331"/>
                  <a:gd name="T36" fmla="*/ 676 w 721"/>
                  <a:gd name="T37" fmla="*/ 0 h 331"/>
                  <a:gd name="T38" fmla="*/ 721 w 721"/>
                  <a:gd name="T39" fmla="*/ 0 h 331"/>
                  <a:gd name="T40" fmla="*/ 111 w 721"/>
                  <a:gd name="T41"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21" h="331">
                    <a:moveTo>
                      <a:pt x="111" y="331"/>
                    </a:moveTo>
                    <a:lnTo>
                      <a:pt x="56" y="331"/>
                    </a:lnTo>
                    <a:lnTo>
                      <a:pt x="0" y="331"/>
                    </a:lnTo>
                    <a:lnTo>
                      <a:pt x="440" y="93"/>
                    </a:lnTo>
                    <a:lnTo>
                      <a:pt x="380" y="109"/>
                    </a:lnTo>
                    <a:lnTo>
                      <a:pt x="323" y="121"/>
                    </a:lnTo>
                    <a:lnTo>
                      <a:pt x="266" y="133"/>
                    </a:lnTo>
                    <a:lnTo>
                      <a:pt x="209" y="142"/>
                    </a:lnTo>
                    <a:lnTo>
                      <a:pt x="262" y="112"/>
                    </a:lnTo>
                    <a:lnTo>
                      <a:pt x="314" y="83"/>
                    </a:lnTo>
                    <a:lnTo>
                      <a:pt x="345" y="78"/>
                    </a:lnTo>
                    <a:lnTo>
                      <a:pt x="381" y="71"/>
                    </a:lnTo>
                    <a:lnTo>
                      <a:pt x="421" y="62"/>
                    </a:lnTo>
                    <a:lnTo>
                      <a:pt x="466" y="52"/>
                    </a:lnTo>
                    <a:lnTo>
                      <a:pt x="511" y="42"/>
                    </a:lnTo>
                    <a:lnTo>
                      <a:pt x="554" y="30"/>
                    </a:lnTo>
                    <a:lnTo>
                      <a:pt x="593" y="16"/>
                    </a:lnTo>
                    <a:lnTo>
                      <a:pt x="631" y="0"/>
                    </a:lnTo>
                    <a:lnTo>
                      <a:pt x="676" y="0"/>
                    </a:lnTo>
                    <a:lnTo>
                      <a:pt x="721" y="0"/>
                    </a:lnTo>
                    <a:lnTo>
                      <a:pt x="111" y="33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205" name="Freeform 1149"/>
              <p:cNvSpPr>
                <a:spLocks/>
              </p:cNvSpPr>
              <p:nvPr/>
            </p:nvSpPr>
            <p:spPr bwMode="auto">
              <a:xfrm>
                <a:off x="3440" y="4015"/>
                <a:ext cx="450" cy="163"/>
              </a:xfrm>
              <a:custGeom>
                <a:avLst/>
                <a:gdLst>
                  <a:gd name="T0" fmla="*/ 415 w 899"/>
                  <a:gd name="T1" fmla="*/ 59 h 326"/>
                  <a:gd name="T2" fmla="*/ 470 w 899"/>
                  <a:gd name="T3" fmla="*/ 30 h 326"/>
                  <a:gd name="T4" fmla="*/ 524 w 899"/>
                  <a:gd name="T5" fmla="*/ 0 h 326"/>
                  <a:gd name="T6" fmla="*/ 712 w 899"/>
                  <a:gd name="T7" fmla="*/ 0 h 326"/>
                  <a:gd name="T8" fmla="*/ 899 w 899"/>
                  <a:gd name="T9" fmla="*/ 0 h 326"/>
                  <a:gd name="T10" fmla="*/ 858 w 899"/>
                  <a:gd name="T11" fmla="*/ 25 h 326"/>
                  <a:gd name="T12" fmla="*/ 815 w 899"/>
                  <a:gd name="T13" fmla="*/ 47 h 326"/>
                  <a:gd name="T14" fmla="*/ 765 w 899"/>
                  <a:gd name="T15" fmla="*/ 61 h 326"/>
                  <a:gd name="T16" fmla="*/ 708 w 899"/>
                  <a:gd name="T17" fmla="*/ 80 h 326"/>
                  <a:gd name="T18" fmla="*/ 648 w 899"/>
                  <a:gd name="T19" fmla="*/ 100 h 326"/>
                  <a:gd name="T20" fmla="*/ 581 w 899"/>
                  <a:gd name="T21" fmla="*/ 123 h 326"/>
                  <a:gd name="T22" fmla="*/ 512 w 899"/>
                  <a:gd name="T23" fmla="*/ 147 h 326"/>
                  <a:gd name="T24" fmla="*/ 445 w 899"/>
                  <a:gd name="T25" fmla="*/ 173 h 326"/>
                  <a:gd name="T26" fmla="*/ 315 w 899"/>
                  <a:gd name="T27" fmla="*/ 226 h 326"/>
                  <a:gd name="T28" fmla="*/ 253 w 899"/>
                  <a:gd name="T29" fmla="*/ 254 h 326"/>
                  <a:gd name="T30" fmla="*/ 198 w 899"/>
                  <a:gd name="T31" fmla="*/ 280 h 326"/>
                  <a:gd name="T32" fmla="*/ 150 w 899"/>
                  <a:gd name="T33" fmla="*/ 304 h 326"/>
                  <a:gd name="T34" fmla="*/ 107 w 899"/>
                  <a:gd name="T35" fmla="*/ 326 h 326"/>
                  <a:gd name="T36" fmla="*/ 53 w 899"/>
                  <a:gd name="T37" fmla="*/ 326 h 326"/>
                  <a:gd name="T38" fmla="*/ 0 w 899"/>
                  <a:gd name="T39" fmla="*/ 326 h 326"/>
                  <a:gd name="T40" fmla="*/ 67 w 899"/>
                  <a:gd name="T41" fmla="*/ 292 h 326"/>
                  <a:gd name="T42" fmla="*/ 141 w 899"/>
                  <a:gd name="T43" fmla="*/ 257 h 326"/>
                  <a:gd name="T44" fmla="*/ 221 w 899"/>
                  <a:gd name="T45" fmla="*/ 223 h 326"/>
                  <a:gd name="T46" fmla="*/ 307 w 899"/>
                  <a:gd name="T47" fmla="*/ 187 h 326"/>
                  <a:gd name="T48" fmla="*/ 396 w 899"/>
                  <a:gd name="T49" fmla="*/ 152 h 326"/>
                  <a:gd name="T50" fmla="*/ 486 w 899"/>
                  <a:gd name="T51" fmla="*/ 119 h 326"/>
                  <a:gd name="T52" fmla="*/ 576 w 899"/>
                  <a:gd name="T53" fmla="*/ 88 h 326"/>
                  <a:gd name="T54" fmla="*/ 665 w 899"/>
                  <a:gd name="T55" fmla="*/ 59 h 326"/>
                  <a:gd name="T56" fmla="*/ 541 w 899"/>
                  <a:gd name="T57" fmla="*/ 59 h 326"/>
                  <a:gd name="T58" fmla="*/ 415 w 899"/>
                  <a:gd name="T59" fmla="*/ 59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99" h="326">
                    <a:moveTo>
                      <a:pt x="415" y="59"/>
                    </a:moveTo>
                    <a:lnTo>
                      <a:pt x="470" y="30"/>
                    </a:lnTo>
                    <a:lnTo>
                      <a:pt x="524" y="0"/>
                    </a:lnTo>
                    <a:lnTo>
                      <a:pt x="712" y="0"/>
                    </a:lnTo>
                    <a:lnTo>
                      <a:pt x="899" y="0"/>
                    </a:lnTo>
                    <a:lnTo>
                      <a:pt x="858" y="25"/>
                    </a:lnTo>
                    <a:lnTo>
                      <a:pt x="815" y="47"/>
                    </a:lnTo>
                    <a:lnTo>
                      <a:pt x="765" y="61"/>
                    </a:lnTo>
                    <a:lnTo>
                      <a:pt x="708" y="80"/>
                    </a:lnTo>
                    <a:lnTo>
                      <a:pt x="648" y="100"/>
                    </a:lnTo>
                    <a:lnTo>
                      <a:pt x="581" y="123"/>
                    </a:lnTo>
                    <a:lnTo>
                      <a:pt x="512" y="147"/>
                    </a:lnTo>
                    <a:lnTo>
                      <a:pt x="445" y="173"/>
                    </a:lnTo>
                    <a:lnTo>
                      <a:pt x="315" y="226"/>
                    </a:lnTo>
                    <a:lnTo>
                      <a:pt x="253" y="254"/>
                    </a:lnTo>
                    <a:lnTo>
                      <a:pt x="198" y="280"/>
                    </a:lnTo>
                    <a:lnTo>
                      <a:pt x="150" y="304"/>
                    </a:lnTo>
                    <a:lnTo>
                      <a:pt x="107" y="326"/>
                    </a:lnTo>
                    <a:lnTo>
                      <a:pt x="53" y="326"/>
                    </a:lnTo>
                    <a:lnTo>
                      <a:pt x="0" y="326"/>
                    </a:lnTo>
                    <a:lnTo>
                      <a:pt x="67" y="292"/>
                    </a:lnTo>
                    <a:lnTo>
                      <a:pt x="141" y="257"/>
                    </a:lnTo>
                    <a:lnTo>
                      <a:pt x="221" y="223"/>
                    </a:lnTo>
                    <a:lnTo>
                      <a:pt x="307" y="187"/>
                    </a:lnTo>
                    <a:lnTo>
                      <a:pt x="396" y="152"/>
                    </a:lnTo>
                    <a:lnTo>
                      <a:pt x="486" y="119"/>
                    </a:lnTo>
                    <a:lnTo>
                      <a:pt x="576" y="88"/>
                    </a:lnTo>
                    <a:lnTo>
                      <a:pt x="665" y="59"/>
                    </a:lnTo>
                    <a:lnTo>
                      <a:pt x="541" y="59"/>
                    </a:lnTo>
                    <a:lnTo>
                      <a:pt x="415"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206" name="Freeform 1150"/>
              <p:cNvSpPr>
                <a:spLocks/>
              </p:cNvSpPr>
              <p:nvPr/>
            </p:nvSpPr>
            <p:spPr bwMode="auto">
              <a:xfrm>
                <a:off x="3711" y="4013"/>
                <a:ext cx="361" cy="165"/>
              </a:xfrm>
              <a:custGeom>
                <a:avLst/>
                <a:gdLst>
                  <a:gd name="T0" fmla="*/ 110 w 722"/>
                  <a:gd name="T1" fmla="*/ 331 h 331"/>
                  <a:gd name="T2" fmla="*/ 55 w 722"/>
                  <a:gd name="T3" fmla="*/ 331 h 331"/>
                  <a:gd name="T4" fmla="*/ 0 w 722"/>
                  <a:gd name="T5" fmla="*/ 331 h 331"/>
                  <a:gd name="T6" fmla="*/ 439 w 722"/>
                  <a:gd name="T7" fmla="*/ 93 h 331"/>
                  <a:gd name="T8" fmla="*/ 381 w 722"/>
                  <a:gd name="T9" fmla="*/ 109 h 331"/>
                  <a:gd name="T10" fmla="*/ 322 w 722"/>
                  <a:gd name="T11" fmla="*/ 121 h 331"/>
                  <a:gd name="T12" fmla="*/ 265 w 722"/>
                  <a:gd name="T13" fmla="*/ 133 h 331"/>
                  <a:gd name="T14" fmla="*/ 209 w 722"/>
                  <a:gd name="T15" fmla="*/ 142 h 331"/>
                  <a:gd name="T16" fmla="*/ 262 w 722"/>
                  <a:gd name="T17" fmla="*/ 112 h 331"/>
                  <a:gd name="T18" fmla="*/ 315 w 722"/>
                  <a:gd name="T19" fmla="*/ 83 h 331"/>
                  <a:gd name="T20" fmla="*/ 346 w 722"/>
                  <a:gd name="T21" fmla="*/ 78 h 331"/>
                  <a:gd name="T22" fmla="*/ 381 w 722"/>
                  <a:gd name="T23" fmla="*/ 71 h 331"/>
                  <a:gd name="T24" fmla="*/ 421 w 722"/>
                  <a:gd name="T25" fmla="*/ 62 h 331"/>
                  <a:gd name="T26" fmla="*/ 465 w 722"/>
                  <a:gd name="T27" fmla="*/ 52 h 331"/>
                  <a:gd name="T28" fmla="*/ 510 w 722"/>
                  <a:gd name="T29" fmla="*/ 42 h 331"/>
                  <a:gd name="T30" fmla="*/ 553 w 722"/>
                  <a:gd name="T31" fmla="*/ 30 h 331"/>
                  <a:gd name="T32" fmla="*/ 595 w 722"/>
                  <a:gd name="T33" fmla="*/ 16 h 331"/>
                  <a:gd name="T34" fmla="*/ 632 w 722"/>
                  <a:gd name="T35" fmla="*/ 0 h 331"/>
                  <a:gd name="T36" fmla="*/ 677 w 722"/>
                  <a:gd name="T37" fmla="*/ 0 h 331"/>
                  <a:gd name="T38" fmla="*/ 722 w 722"/>
                  <a:gd name="T39" fmla="*/ 0 h 331"/>
                  <a:gd name="T40" fmla="*/ 415 w 722"/>
                  <a:gd name="T41" fmla="*/ 166 h 331"/>
                  <a:gd name="T42" fmla="*/ 110 w 722"/>
                  <a:gd name="T43"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22" h="331">
                    <a:moveTo>
                      <a:pt x="110" y="331"/>
                    </a:moveTo>
                    <a:lnTo>
                      <a:pt x="55" y="331"/>
                    </a:lnTo>
                    <a:lnTo>
                      <a:pt x="0" y="331"/>
                    </a:lnTo>
                    <a:lnTo>
                      <a:pt x="439" y="93"/>
                    </a:lnTo>
                    <a:lnTo>
                      <a:pt x="381" y="109"/>
                    </a:lnTo>
                    <a:lnTo>
                      <a:pt x="322" y="121"/>
                    </a:lnTo>
                    <a:lnTo>
                      <a:pt x="265" y="133"/>
                    </a:lnTo>
                    <a:lnTo>
                      <a:pt x="209" y="142"/>
                    </a:lnTo>
                    <a:lnTo>
                      <a:pt x="262" y="112"/>
                    </a:lnTo>
                    <a:lnTo>
                      <a:pt x="315" y="83"/>
                    </a:lnTo>
                    <a:lnTo>
                      <a:pt x="346" y="78"/>
                    </a:lnTo>
                    <a:lnTo>
                      <a:pt x="381" y="71"/>
                    </a:lnTo>
                    <a:lnTo>
                      <a:pt x="421" y="62"/>
                    </a:lnTo>
                    <a:lnTo>
                      <a:pt x="465" y="52"/>
                    </a:lnTo>
                    <a:lnTo>
                      <a:pt x="510" y="42"/>
                    </a:lnTo>
                    <a:lnTo>
                      <a:pt x="553" y="30"/>
                    </a:lnTo>
                    <a:lnTo>
                      <a:pt x="595" y="16"/>
                    </a:lnTo>
                    <a:lnTo>
                      <a:pt x="632" y="0"/>
                    </a:lnTo>
                    <a:lnTo>
                      <a:pt x="677" y="0"/>
                    </a:lnTo>
                    <a:lnTo>
                      <a:pt x="722" y="0"/>
                    </a:lnTo>
                    <a:lnTo>
                      <a:pt x="415" y="166"/>
                    </a:lnTo>
                    <a:lnTo>
                      <a:pt x="110" y="33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207" name="Freeform 1151"/>
              <p:cNvSpPr>
                <a:spLocks noEditPoints="1"/>
              </p:cNvSpPr>
              <p:nvPr/>
            </p:nvSpPr>
            <p:spPr bwMode="auto">
              <a:xfrm>
                <a:off x="3900" y="4013"/>
                <a:ext cx="415" cy="165"/>
              </a:xfrm>
              <a:custGeom>
                <a:avLst/>
                <a:gdLst>
                  <a:gd name="T0" fmla="*/ 112 w 829"/>
                  <a:gd name="T1" fmla="*/ 331 h 331"/>
                  <a:gd name="T2" fmla="*/ 174 w 829"/>
                  <a:gd name="T3" fmla="*/ 298 h 331"/>
                  <a:gd name="T4" fmla="*/ 235 w 829"/>
                  <a:gd name="T5" fmla="*/ 264 h 331"/>
                  <a:gd name="T6" fmla="*/ 117 w 829"/>
                  <a:gd name="T7" fmla="*/ 264 h 331"/>
                  <a:gd name="T8" fmla="*/ 0 w 829"/>
                  <a:gd name="T9" fmla="*/ 264 h 331"/>
                  <a:gd name="T10" fmla="*/ 50 w 829"/>
                  <a:gd name="T11" fmla="*/ 236 h 331"/>
                  <a:gd name="T12" fmla="*/ 102 w 829"/>
                  <a:gd name="T13" fmla="*/ 209 h 331"/>
                  <a:gd name="T14" fmla="*/ 421 w 829"/>
                  <a:gd name="T15" fmla="*/ 105 h 331"/>
                  <a:gd name="T16" fmla="*/ 738 w 829"/>
                  <a:gd name="T17" fmla="*/ 0 h 331"/>
                  <a:gd name="T18" fmla="*/ 784 w 829"/>
                  <a:gd name="T19" fmla="*/ 0 h 331"/>
                  <a:gd name="T20" fmla="*/ 829 w 829"/>
                  <a:gd name="T21" fmla="*/ 0 h 331"/>
                  <a:gd name="T22" fmla="*/ 636 w 829"/>
                  <a:gd name="T23" fmla="*/ 105 h 331"/>
                  <a:gd name="T24" fmla="*/ 443 w 829"/>
                  <a:gd name="T25" fmla="*/ 209 h 331"/>
                  <a:gd name="T26" fmla="*/ 515 w 829"/>
                  <a:gd name="T27" fmla="*/ 209 h 331"/>
                  <a:gd name="T28" fmla="*/ 464 w 829"/>
                  <a:gd name="T29" fmla="*/ 236 h 331"/>
                  <a:gd name="T30" fmla="*/ 412 w 829"/>
                  <a:gd name="T31" fmla="*/ 264 h 331"/>
                  <a:gd name="T32" fmla="*/ 378 w 829"/>
                  <a:gd name="T33" fmla="*/ 264 h 331"/>
                  <a:gd name="T34" fmla="*/ 341 w 829"/>
                  <a:gd name="T35" fmla="*/ 264 h 331"/>
                  <a:gd name="T36" fmla="*/ 281 w 829"/>
                  <a:gd name="T37" fmla="*/ 298 h 331"/>
                  <a:gd name="T38" fmla="*/ 219 w 829"/>
                  <a:gd name="T39" fmla="*/ 331 h 331"/>
                  <a:gd name="T40" fmla="*/ 166 w 829"/>
                  <a:gd name="T41" fmla="*/ 331 h 331"/>
                  <a:gd name="T42" fmla="*/ 112 w 829"/>
                  <a:gd name="T43" fmla="*/ 331 h 331"/>
                  <a:gd name="T44" fmla="*/ 112 w 829"/>
                  <a:gd name="T45" fmla="*/ 331 h 331"/>
                  <a:gd name="T46" fmla="*/ 338 w 829"/>
                  <a:gd name="T47" fmla="*/ 209 h 331"/>
                  <a:gd name="T48" fmla="*/ 441 w 829"/>
                  <a:gd name="T49" fmla="*/ 154 h 331"/>
                  <a:gd name="T50" fmla="*/ 545 w 829"/>
                  <a:gd name="T51" fmla="*/ 97 h 331"/>
                  <a:gd name="T52" fmla="*/ 376 w 829"/>
                  <a:gd name="T53" fmla="*/ 154 h 331"/>
                  <a:gd name="T54" fmla="*/ 205 w 829"/>
                  <a:gd name="T55" fmla="*/ 209 h 331"/>
                  <a:gd name="T56" fmla="*/ 271 w 829"/>
                  <a:gd name="T57" fmla="*/ 209 h 331"/>
                  <a:gd name="T58" fmla="*/ 338 w 829"/>
                  <a:gd name="T59" fmla="*/ 209 h 331"/>
                  <a:gd name="T60" fmla="*/ 338 w 829"/>
                  <a:gd name="T61" fmla="*/ 209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29" h="331">
                    <a:moveTo>
                      <a:pt x="112" y="331"/>
                    </a:moveTo>
                    <a:lnTo>
                      <a:pt x="174" y="298"/>
                    </a:lnTo>
                    <a:lnTo>
                      <a:pt x="235" y="264"/>
                    </a:lnTo>
                    <a:lnTo>
                      <a:pt x="117" y="264"/>
                    </a:lnTo>
                    <a:lnTo>
                      <a:pt x="0" y="264"/>
                    </a:lnTo>
                    <a:lnTo>
                      <a:pt x="50" y="236"/>
                    </a:lnTo>
                    <a:lnTo>
                      <a:pt x="102" y="209"/>
                    </a:lnTo>
                    <a:lnTo>
                      <a:pt x="421" y="105"/>
                    </a:lnTo>
                    <a:lnTo>
                      <a:pt x="738" y="0"/>
                    </a:lnTo>
                    <a:lnTo>
                      <a:pt x="784" y="0"/>
                    </a:lnTo>
                    <a:lnTo>
                      <a:pt x="829" y="0"/>
                    </a:lnTo>
                    <a:lnTo>
                      <a:pt x="636" y="105"/>
                    </a:lnTo>
                    <a:lnTo>
                      <a:pt x="443" y="209"/>
                    </a:lnTo>
                    <a:lnTo>
                      <a:pt x="515" y="209"/>
                    </a:lnTo>
                    <a:lnTo>
                      <a:pt x="464" y="236"/>
                    </a:lnTo>
                    <a:lnTo>
                      <a:pt x="412" y="264"/>
                    </a:lnTo>
                    <a:lnTo>
                      <a:pt x="378" y="264"/>
                    </a:lnTo>
                    <a:lnTo>
                      <a:pt x="341" y="264"/>
                    </a:lnTo>
                    <a:lnTo>
                      <a:pt x="281" y="298"/>
                    </a:lnTo>
                    <a:lnTo>
                      <a:pt x="219" y="331"/>
                    </a:lnTo>
                    <a:lnTo>
                      <a:pt x="166" y="331"/>
                    </a:lnTo>
                    <a:lnTo>
                      <a:pt x="112" y="331"/>
                    </a:lnTo>
                    <a:lnTo>
                      <a:pt x="112" y="331"/>
                    </a:lnTo>
                    <a:close/>
                    <a:moveTo>
                      <a:pt x="338" y="209"/>
                    </a:moveTo>
                    <a:lnTo>
                      <a:pt x="441" y="154"/>
                    </a:lnTo>
                    <a:lnTo>
                      <a:pt x="545" y="97"/>
                    </a:lnTo>
                    <a:lnTo>
                      <a:pt x="376" y="154"/>
                    </a:lnTo>
                    <a:lnTo>
                      <a:pt x="205" y="209"/>
                    </a:lnTo>
                    <a:lnTo>
                      <a:pt x="271" y="209"/>
                    </a:lnTo>
                    <a:lnTo>
                      <a:pt x="338" y="209"/>
                    </a:lnTo>
                    <a:lnTo>
                      <a:pt x="338" y="20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208" name="Freeform 1152"/>
              <p:cNvSpPr>
                <a:spLocks/>
              </p:cNvSpPr>
              <p:nvPr/>
            </p:nvSpPr>
            <p:spPr bwMode="auto">
              <a:xfrm>
                <a:off x="3244" y="3999"/>
                <a:ext cx="360" cy="165"/>
              </a:xfrm>
              <a:custGeom>
                <a:avLst/>
                <a:gdLst>
                  <a:gd name="T0" fmla="*/ 110 w 720"/>
                  <a:gd name="T1" fmla="*/ 331 h 331"/>
                  <a:gd name="T2" fmla="*/ 55 w 720"/>
                  <a:gd name="T3" fmla="*/ 331 h 331"/>
                  <a:gd name="T4" fmla="*/ 0 w 720"/>
                  <a:gd name="T5" fmla="*/ 331 h 331"/>
                  <a:gd name="T6" fmla="*/ 439 w 720"/>
                  <a:gd name="T7" fmla="*/ 93 h 331"/>
                  <a:gd name="T8" fmla="*/ 379 w 720"/>
                  <a:gd name="T9" fmla="*/ 108 h 331"/>
                  <a:gd name="T10" fmla="*/ 322 w 720"/>
                  <a:gd name="T11" fmla="*/ 120 h 331"/>
                  <a:gd name="T12" fmla="*/ 265 w 720"/>
                  <a:gd name="T13" fmla="*/ 132 h 331"/>
                  <a:gd name="T14" fmla="*/ 209 w 720"/>
                  <a:gd name="T15" fmla="*/ 141 h 331"/>
                  <a:gd name="T16" fmla="*/ 262 w 720"/>
                  <a:gd name="T17" fmla="*/ 112 h 331"/>
                  <a:gd name="T18" fmla="*/ 314 w 720"/>
                  <a:gd name="T19" fmla="*/ 82 h 331"/>
                  <a:gd name="T20" fmla="*/ 345 w 720"/>
                  <a:gd name="T21" fmla="*/ 77 h 331"/>
                  <a:gd name="T22" fmla="*/ 381 w 720"/>
                  <a:gd name="T23" fmla="*/ 70 h 331"/>
                  <a:gd name="T24" fmla="*/ 421 w 720"/>
                  <a:gd name="T25" fmla="*/ 62 h 331"/>
                  <a:gd name="T26" fmla="*/ 465 w 720"/>
                  <a:gd name="T27" fmla="*/ 51 h 331"/>
                  <a:gd name="T28" fmla="*/ 510 w 720"/>
                  <a:gd name="T29" fmla="*/ 41 h 331"/>
                  <a:gd name="T30" fmla="*/ 553 w 720"/>
                  <a:gd name="T31" fmla="*/ 29 h 331"/>
                  <a:gd name="T32" fmla="*/ 593 w 720"/>
                  <a:gd name="T33" fmla="*/ 15 h 331"/>
                  <a:gd name="T34" fmla="*/ 631 w 720"/>
                  <a:gd name="T35" fmla="*/ 0 h 331"/>
                  <a:gd name="T36" fmla="*/ 676 w 720"/>
                  <a:gd name="T37" fmla="*/ 0 h 331"/>
                  <a:gd name="T38" fmla="*/ 720 w 720"/>
                  <a:gd name="T39" fmla="*/ 0 h 331"/>
                  <a:gd name="T40" fmla="*/ 110 w 720"/>
                  <a:gd name="T41"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20" h="331">
                    <a:moveTo>
                      <a:pt x="110" y="331"/>
                    </a:moveTo>
                    <a:lnTo>
                      <a:pt x="55" y="331"/>
                    </a:lnTo>
                    <a:lnTo>
                      <a:pt x="0" y="331"/>
                    </a:lnTo>
                    <a:lnTo>
                      <a:pt x="439" y="93"/>
                    </a:lnTo>
                    <a:lnTo>
                      <a:pt x="379" y="108"/>
                    </a:lnTo>
                    <a:lnTo>
                      <a:pt x="322" y="120"/>
                    </a:lnTo>
                    <a:lnTo>
                      <a:pt x="265" y="132"/>
                    </a:lnTo>
                    <a:lnTo>
                      <a:pt x="209" y="141"/>
                    </a:lnTo>
                    <a:lnTo>
                      <a:pt x="262" y="112"/>
                    </a:lnTo>
                    <a:lnTo>
                      <a:pt x="314" y="82"/>
                    </a:lnTo>
                    <a:lnTo>
                      <a:pt x="345" y="77"/>
                    </a:lnTo>
                    <a:lnTo>
                      <a:pt x="381" y="70"/>
                    </a:lnTo>
                    <a:lnTo>
                      <a:pt x="421" y="62"/>
                    </a:lnTo>
                    <a:lnTo>
                      <a:pt x="465" y="51"/>
                    </a:lnTo>
                    <a:lnTo>
                      <a:pt x="510" y="41"/>
                    </a:lnTo>
                    <a:lnTo>
                      <a:pt x="553" y="29"/>
                    </a:lnTo>
                    <a:lnTo>
                      <a:pt x="593" y="15"/>
                    </a:lnTo>
                    <a:lnTo>
                      <a:pt x="631" y="0"/>
                    </a:lnTo>
                    <a:lnTo>
                      <a:pt x="676" y="0"/>
                    </a:lnTo>
                    <a:lnTo>
                      <a:pt x="720" y="0"/>
                    </a:lnTo>
                    <a:lnTo>
                      <a:pt x="110" y="331"/>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209" name="Freeform 1153"/>
              <p:cNvSpPr>
                <a:spLocks/>
              </p:cNvSpPr>
              <p:nvPr/>
            </p:nvSpPr>
            <p:spPr bwMode="auto">
              <a:xfrm>
                <a:off x="3419" y="4001"/>
                <a:ext cx="450" cy="163"/>
              </a:xfrm>
              <a:custGeom>
                <a:avLst/>
                <a:gdLst>
                  <a:gd name="T0" fmla="*/ 415 w 899"/>
                  <a:gd name="T1" fmla="*/ 59 h 326"/>
                  <a:gd name="T2" fmla="*/ 470 w 899"/>
                  <a:gd name="T3" fmla="*/ 29 h 326"/>
                  <a:gd name="T4" fmla="*/ 523 w 899"/>
                  <a:gd name="T5" fmla="*/ 0 h 326"/>
                  <a:gd name="T6" fmla="*/ 711 w 899"/>
                  <a:gd name="T7" fmla="*/ 0 h 326"/>
                  <a:gd name="T8" fmla="*/ 899 w 899"/>
                  <a:gd name="T9" fmla="*/ 0 h 326"/>
                  <a:gd name="T10" fmla="*/ 858 w 899"/>
                  <a:gd name="T11" fmla="*/ 24 h 326"/>
                  <a:gd name="T12" fmla="*/ 815 w 899"/>
                  <a:gd name="T13" fmla="*/ 46 h 326"/>
                  <a:gd name="T14" fmla="*/ 765 w 899"/>
                  <a:gd name="T15" fmla="*/ 60 h 326"/>
                  <a:gd name="T16" fmla="*/ 708 w 899"/>
                  <a:gd name="T17" fmla="*/ 79 h 326"/>
                  <a:gd name="T18" fmla="*/ 648 w 899"/>
                  <a:gd name="T19" fmla="*/ 100 h 326"/>
                  <a:gd name="T20" fmla="*/ 580 w 899"/>
                  <a:gd name="T21" fmla="*/ 122 h 326"/>
                  <a:gd name="T22" fmla="*/ 511 w 899"/>
                  <a:gd name="T23" fmla="*/ 146 h 326"/>
                  <a:gd name="T24" fmla="*/ 444 w 899"/>
                  <a:gd name="T25" fmla="*/ 172 h 326"/>
                  <a:gd name="T26" fmla="*/ 315 w 899"/>
                  <a:gd name="T27" fmla="*/ 226 h 326"/>
                  <a:gd name="T28" fmla="*/ 253 w 899"/>
                  <a:gd name="T29" fmla="*/ 253 h 326"/>
                  <a:gd name="T30" fmla="*/ 198 w 899"/>
                  <a:gd name="T31" fmla="*/ 279 h 326"/>
                  <a:gd name="T32" fmla="*/ 150 w 899"/>
                  <a:gd name="T33" fmla="*/ 303 h 326"/>
                  <a:gd name="T34" fmla="*/ 106 w 899"/>
                  <a:gd name="T35" fmla="*/ 326 h 326"/>
                  <a:gd name="T36" fmla="*/ 53 w 899"/>
                  <a:gd name="T37" fmla="*/ 326 h 326"/>
                  <a:gd name="T38" fmla="*/ 0 w 899"/>
                  <a:gd name="T39" fmla="*/ 326 h 326"/>
                  <a:gd name="T40" fmla="*/ 67 w 899"/>
                  <a:gd name="T41" fmla="*/ 291 h 326"/>
                  <a:gd name="T42" fmla="*/ 141 w 899"/>
                  <a:gd name="T43" fmla="*/ 257 h 326"/>
                  <a:gd name="T44" fmla="*/ 220 w 899"/>
                  <a:gd name="T45" fmla="*/ 222 h 326"/>
                  <a:gd name="T46" fmla="*/ 306 w 899"/>
                  <a:gd name="T47" fmla="*/ 186 h 326"/>
                  <a:gd name="T48" fmla="*/ 396 w 899"/>
                  <a:gd name="T49" fmla="*/ 152 h 326"/>
                  <a:gd name="T50" fmla="*/ 486 w 899"/>
                  <a:gd name="T51" fmla="*/ 119 h 326"/>
                  <a:gd name="T52" fmla="*/ 575 w 899"/>
                  <a:gd name="T53" fmla="*/ 88 h 326"/>
                  <a:gd name="T54" fmla="*/ 665 w 899"/>
                  <a:gd name="T55" fmla="*/ 59 h 326"/>
                  <a:gd name="T56" fmla="*/ 541 w 899"/>
                  <a:gd name="T57" fmla="*/ 59 h 326"/>
                  <a:gd name="T58" fmla="*/ 415 w 899"/>
                  <a:gd name="T59" fmla="*/ 59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99" h="326">
                    <a:moveTo>
                      <a:pt x="415" y="59"/>
                    </a:moveTo>
                    <a:lnTo>
                      <a:pt x="470" y="29"/>
                    </a:lnTo>
                    <a:lnTo>
                      <a:pt x="523" y="0"/>
                    </a:lnTo>
                    <a:lnTo>
                      <a:pt x="711" y="0"/>
                    </a:lnTo>
                    <a:lnTo>
                      <a:pt x="899" y="0"/>
                    </a:lnTo>
                    <a:lnTo>
                      <a:pt x="858" y="24"/>
                    </a:lnTo>
                    <a:lnTo>
                      <a:pt x="815" y="46"/>
                    </a:lnTo>
                    <a:lnTo>
                      <a:pt x="765" y="60"/>
                    </a:lnTo>
                    <a:lnTo>
                      <a:pt x="708" y="79"/>
                    </a:lnTo>
                    <a:lnTo>
                      <a:pt x="648" y="100"/>
                    </a:lnTo>
                    <a:lnTo>
                      <a:pt x="580" y="122"/>
                    </a:lnTo>
                    <a:lnTo>
                      <a:pt x="511" y="146"/>
                    </a:lnTo>
                    <a:lnTo>
                      <a:pt x="444" y="172"/>
                    </a:lnTo>
                    <a:lnTo>
                      <a:pt x="315" y="226"/>
                    </a:lnTo>
                    <a:lnTo>
                      <a:pt x="253" y="253"/>
                    </a:lnTo>
                    <a:lnTo>
                      <a:pt x="198" y="279"/>
                    </a:lnTo>
                    <a:lnTo>
                      <a:pt x="150" y="303"/>
                    </a:lnTo>
                    <a:lnTo>
                      <a:pt x="106" y="326"/>
                    </a:lnTo>
                    <a:lnTo>
                      <a:pt x="53" y="326"/>
                    </a:lnTo>
                    <a:lnTo>
                      <a:pt x="0" y="326"/>
                    </a:lnTo>
                    <a:lnTo>
                      <a:pt x="67" y="291"/>
                    </a:lnTo>
                    <a:lnTo>
                      <a:pt x="141" y="257"/>
                    </a:lnTo>
                    <a:lnTo>
                      <a:pt x="220" y="222"/>
                    </a:lnTo>
                    <a:lnTo>
                      <a:pt x="306" y="186"/>
                    </a:lnTo>
                    <a:lnTo>
                      <a:pt x="396" y="152"/>
                    </a:lnTo>
                    <a:lnTo>
                      <a:pt x="486" y="119"/>
                    </a:lnTo>
                    <a:lnTo>
                      <a:pt x="575" y="88"/>
                    </a:lnTo>
                    <a:lnTo>
                      <a:pt x="665" y="59"/>
                    </a:lnTo>
                    <a:lnTo>
                      <a:pt x="541" y="59"/>
                    </a:lnTo>
                    <a:lnTo>
                      <a:pt x="415" y="59"/>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210" name="Freeform 1154"/>
              <p:cNvSpPr>
                <a:spLocks/>
              </p:cNvSpPr>
              <p:nvPr/>
            </p:nvSpPr>
            <p:spPr bwMode="auto">
              <a:xfrm>
                <a:off x="3690" y="3999"/>
                <a:ext cx="361" cy="165"/>
              </a:xfrm>
              <a:custGeom>
                <a:avLst/>
                <a:gdLst>
                  <a:gd name="T0" fmla="*/ 110 w 722"/>
                  <a:gd name="T1" fmla="*/ 331 h 331"/>
                  <a:gd name="T2" fmla="*/ 55 w 722"/>
                  <a:gd name="T3" fmla="*/ 331 h 331"/>
                  <a:gd name="T4" fmla="*/ 0 w 722"/>
                  <a:gd name="T5" fmla="*/ 331 h 331"/>
                  <a:gd name="T6" fmla="*/ 439 w 722"/>
                  <a:gd name="T7" fmla="*/ 93 h 331"/>
                  <a:gd name="T8" fmla="*/ 381 w 722"/>
                  <a:gd name="T9" fmla="*/ 108 h 331"/>
                  <a:gd name="T10" fmla="*/ 322 w 722"/>
                  <a:gd name="T11" fmla="*/ 120 h 331"/>
                  <a:gd name="T12" fmla="*/ 265 w 722"/>
                  <a:gd name="T13" fmla="*/ 132 h 331"/>
                  <a:gd name="T14" fmla="*/ 208 w 722"/>
                  <a:gd name="T15" fmla="*/ 141 h 331"/>
                  <a:gd name="T16" fmla="*/ 262 w 722"/>
                  <a:gd name="T17" fmla="*/ 112 h 331"/>
                  <a:gd name="T18" fmla="*/ 315 w 722"/>
                  <a:gd name="T19" fmla="*/ 82 h 331"/>
                  <a:gd name="T20" fmla="*/ 346 w 722"/>
                  <a:gd name="T21" fmla="*/ 77 h 331"/>
                  <a:gd name="T22" fmla="*/ 381 w 722"/>
                  <a:gd name="T23" fmla="*/ 70 h 331"/>
                  <a:gd name="T24" fmla="*/ 420 w 722"/>
                  <a:gd name="T25" fmla="*/ 62 h 331"/>
                  <a:gd name="T26" fmla="*/ 465 w 722"/>
                  <a:gd name="T27" fmla="*/ 51 h 331"/>
                  <a:gd name="T28" fmla="*/ 510 w 722"/>
                  <a:gd name="T29" fmla="*/ 41 h 331"/>
                  <a:gd name="T30" fmla="*/ 553 w 722"/>
                  <a:gd name="T31" fmla="*/ 29 h 331"/>
                  <a:gd name="T32" fmla="*/ 594 w 722"/>
                  <a:gd name="T33" fmla="*/ 15 h 331"/>
                  <a:gd name="T34" fmla="*/ 632 w 722"/>
                  <a:gd name="T35" fmla="*/ 0 h 331"/>
                  <a:gd name="T36" fmla="*/ 677 w 722"/>
                  <a:gd name="T37" fmla="*/ 0 h 331"/>
                  <a:gd name="T38" fmla="*/ 722 w 722"/>
                  <a:gd name="T39" fmla="*/ 0 h 331"/>
                  <a:gd name="T40" fmla="*/ 415 w 722"/>
                  <a:gd name="T41" fmla="*/ 165 h 331"/>
                  <a:gd name="T42" fmla="*/ 110 w 722"/>
                  <a:gd name="T43"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22" h="331">
                    <a:moveTo>
                      <a:pt x="110" y="331"/>
                    </a:moveTo>
                    <a:lnTo>
                      <a:pt x="55" y="331"/>
                    </a:lnTo>
                    <a:lnTo>
                      <a:pt x="0" y="331"/>
                    </a:lnTo>
                    <a:lnTo>
                      <a:pt x="439" y="93"/>
                    </a:lnTo>
                    <a:lnTo>
                      <a:pt x="381" y="108"/>
                    </a:lnTo>
                    <a:lnTo>
                      <a:pt x="322" y="120"/>
                    </a:lnTo>
                    <a:lnTo>
                      <a:pt x="265" y="132"/>
                    </a:lnTo>
                    <a:lnTo>
                      <a:pt x="208" y="141"/>
                    </a:lnTo>
                    <a:lnTo>
                      <a:pt x="262" y="112"/>
                    </a:lnTo>
                    <a:lnTo>
                      <a:pt x="315" y="82"/>
                    </a:lnTo>
                    <a:lnTo>
                      <a:pt x="346" y="77"/>
                    </a:lnTo>
                    <a:lnTo>
                      <a:pt x="381" y="70"/>
                    </a:lnTo>
                    <a:lnTo>
                      <a:pt x="420" y="62"/>
                    </a:lnTo>
                    <a:lnTo>
                      <a:pt x="465" y="51"/>
                    </a:lnTo>
                    <a:lnTo>
                      <a:pt x="510" y="41"/>
                    </a:lnTo>
                    <a:lnTo>
                      <a:pt x="553" y="29"/>
                    </a:lnTo>
                    <a:lnTo>
                      <a:pt x="594" y="15"/>
                    </a:lnTo>
                    <a:lnTo>
                      <a:pt x="632" y="0"/>
                    </a:lnTo>
                    <a:lnTo>
                      <a:pt x="677" y="0"/>
                    </a:lnTo>
                    <a:lnTo>
                      <a:pt x="722" y="0"/>
                    </a:lnTo>
                    <a:lnTo>
                      <a:pt x="415" y="165"/>
                    </a:lnTo>
                    <a:lnTo>
                      <a:pt x="110" y="331"/>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211" name="Freeform 1155"/>
              <p:cNvSpPr>
                <a:spLocks noEditPoints="1"/>
              </p:cNvSpPr>
              <p:nvPr/>
            </p:nvSpPr>
            <p:spPr bwMode="auto">
              <a:xfrm>
                <a:off x="3879" y="3999"/>
                <a:ext cx="415" cy="165"/>
              </a:xfrm>
              <a:custGeom>
                <a:avLst/>
                <a:gdLst>
                  <a:gd name="T0" fmla="*/ 112 w 829"/>
                  <a:gd name="T1" fmla="*/ 331 h 331"/>
                  <a:gd name="T2" fmla="*/ 174 w 829"/>
                  <a:gd name="T3" fmla="*/ 298 h 331"/>
                  <a:gd name="T4" fmla="*/ 234 w 829"/>
                  <a:gd name="T5" fmla="*/ 263 h 331"/>
                  <a:gd name="T6" fmla="*/ 117 w 829"/>
                  <a:gd name="T7" fmla="*/ 263 h 331"/>
                  <a:gd name="T8" fmla="*/ 0 w 829"/>
                  <a:gd name="T9" fmla="*/ 263 h 331"/>
                  <a:gd name="T10" fmla="*/ 50 w 829"/>
                  <a:gd name="T11" fmla="*/ 236 h 331"/>
                  <a:gd name="T12" fmla="*/ 101 w 829"/>
                  <a:gd name="T13" fmla="*/ 208 h 331"/>
                  <a:gd name="T14" fmla="*/ 420 w 829"/>
                  <a:gd name="T15" fmla="*/ 105 h 331"/>
                  <a:gd name="T16" fmla="*/ 737 w 829"/>
                  <a:gd name="T17" fmla="*/ 0 h 331"/>
                  <a:gd name="T18" fmla="*/ 784 w 829"/>
                  <a:gd name="T19" fmla="*/ 0 h 331"/>
                  <a:gd name="T20" fmla="*/ 829 w 829"/>
                  <a:gd name="T21" fmla="*/ 0 h 331"/>
                  <a:gd name="T22" fmla="*/ 636 w 829"/>
                  <a:gd name="T23" fmla="*/ 105 h 331"/>
                  <a:gd name="T24" fmla="*/ 443 w 829"/>
                  <a:gd name="T25" fmla="*/ 208 h 331"/>
                  <a:gd name="T26" fmla="*/ 515 w 829"/>
                  <a:gd name="T27" fmla="*/ 208 h 331"/>
                  <a:gd name="T28" fmla="*/ 463 w 829"/>
                  <a:gd name="T29" fmla="*/ 236 h 331"/>
                  <a:gd name="T30" fmla="*/ 412 w 829"/>
                  <a:gd name="T31" fmla="*/ 263 h 331"/>
                  <a:gd name="T32" fmla="*/ 377 w 829"/>
                  <a:gd name="T33" fmla="*/ 263 h 331"/>
                  <a:gd name="T34" fmla="*/ 341 w 829"/>
                  <a:gd name="T35" fmla="*/ 263 h 331"/>
                  <a:gd name="T36" fmla="*/ 281 w 829"/>
                  <a:gd name="T37" fmla="*/ 298 h 331"/>
                  <a:gd name="T38" fmla="*/ 219 w 829"/>
                  <a:gd name="T39" fmla="*/ 331 h 331"/>
                  <a:gd name="T40" fmla="*/ 165 w 829"/>
                  <a:gd name="T41" fmla="*/ 331 h 331"/>
                  <a:gd name="T42" fmla="*/ 112 w 829"/>
                  <a:gd name="T43" fmla="*/ 331 h 331"/>
                  <a:gd name="T44" fmla="*/ 112 w 829"/>
                  <a:gd name="T45" fmla="*/ 331 h 331"/>
                  <a:gd name="T46" fmla="*/ 338 w 829"/>
                  <a:gd name="T47" fmla="*/ 208 h 331"/>
                  <a:gd name="T48" fmla="*/ 441 w 829"/>
                  <a:gd name="T49" fmla="*/ 153 h 331"/>
                  <a:gd name="T50" fmla="*/ 544 w 829"/>
                  <a:gd name="T51" fmla="*/ 96 h 331"/>
                  <a:gd name="T52" fmla="*/ 375 w 829"/>
                  <a:gd name="T53" fmla="*/ 153 h 331"/>
                  <a:gd name="T54" fmla="*/ 205 w 829"/>
                  <a:gd name="T55" fmla="*/ 208 h 331"/>
                  <a:gd name="T56" fmla="*/ 270 w 829"/>
                  <a:gd name="T57" fmla="*/ 208 h 331"/>
                  <a:gd name="T58" fmla="*/ 338 w 829"/>
                  <a:gd name="T59" fmla="*/ 208 h 331"/>
                  <a:gd name="T60" fmla="*/ 338 w 829"/>
                  <a:gd name="T61" fmla="*/ 208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29" h="331">
                    <a:moveTo>
                      <a:pt x="112" y="331"/>
                    </a:moveTo>
                    <a:lnTo>
                      <a:pt x="174" y="298"/>
                    </a:lnTo>
                    <a:lnTo>
                      <a:pt x="234" y="263"/>
                    </a:lnTo>
                    <a:lnTo>
                      <a:pt x="117" y="263"/>
                    </a:lnTo>
                    <a:lnTo>
                      <a:pt x="0" y="263"/>
                    </a:lnTo>
                    <a:lnTo>
                      <a:pt x="50" y="236"/>
                    </a:lnTo>
                    <a:lnTo>
                      <a:pt x="101" y="208"/>
                    </a:lnTo>
                    <a:lnTo>
                      <a:pt x="420" y="105"/>
                    </a:lnTo>
                    <a:lnTo>
                      <a:pt x="737" y="0"/>
                    </a:lnTo>
                    <a:lnTo>
                      <a:pt x="784" y="0"/>
                    </a:lnTo>
                    <a:lnTo>
                      <a:pt x="829" y="0"/>
                    </a:lnTo>
                    <a:lnTo>
                      <a:pt x="636" y="105"/>
                    </a:lnTo>
                    <a:lnTo>
                      <a:pt x="443" y="208"/>
                    </a:lnTo>
                    <a:lnTo>
                      <a:pt x="515" y="208"/>
                    </a:lnTo>
                    <a:lnTo>
                      <a:pt x="463" y="236"/>
                    </a:lnTo>
                    <a:lnTo>
                      <a:pt x="412" y="263"/>
                    </a:lnTo>
                    <a:lnTo>
                      <a:pt x="377" y="263"/>
                    </a:lnTo>
                    <a:lnTo>
                      <a:pt x="341" y="263"/>
                    </a:lnTo>
                    <a:lnTo>
                      <a:pt x="281" y="298"/>
                    </a:lnTo>
                    <a:lnTo>
                      <a:pt x="219" y="331"/>
                    </a:lnTo>
                    <a:lnTo>
                      <a:pt x="165" y="331"/>
                    </a:lnTo>
                    <a:lnTo>
                      <a:pt x="112" y="331"/>
                    </a:lnTo>
                    <a:lnTo>
                      <a:pt x="112" y="331"/>
                    </a:lnTo>
                    <a:close/>
                    <a:moveTo>
                      <a:pt x="338" y="208"/>
                    </a:moveTo>
                    <a:lnTo>
                      <a:pt x="441" y="153"/>
                    </a:lnTo>
                    <a:lnTo>
                      <a:pt x="544" y="96"/>
                    </a:lnTo>
                    <a:lnTo>
                      <a:pt x="375" y="153"/>
                    </a:lnTo>
                    <a:lnTo>
                      <a:pt x="205" y="208"/>
                    </a:lnTo>
                    <a:lnTo>
                      <a:pt x="270" y="208"/>
                    </a:lnTo>
                    <a:lnTo>
                      <a:pt x="338" y="208"/>
                    </a:lnTo>
                    <a:lnTo>
                      <a:pt x="338" y="208"/>
                    </a:lnTo>
                    <a:close/>
                  </a:path>
                </a:pathLst>
              </a:custGeom>
              <a:solidFill>
                <a:srgbClr val="01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02212" name="Freeform 1156"/>
            <p:cNvSpPr>
              <a:spLocks/>
            </p:cNvSpPr>
            <p:nvPr/>
          </p:nvSpPr>
          <p:spPr bwMode="auto">
            <a:xfrm>
              <a:off x="1294" y="3982"/>
              <a:ext cx="248" cy="124"/>
            </a:xfrm>
            <a:custGeom>
              <a:avLst/>
              <a:gdLst>
                <a:gd name="T0" fmla="*/ 264 w 496"/>
                <a:gd name="T1" fmla="*/ 50 h 248"/>
                <a:gd name="T2" fmla="*/ 224 w 496"/>
                <a:gd name="T3" fmla="*/ 22 h 248"/>
                <a:gd name="T4" fmla="*/ 196 w 496"/>
                <a:gd name="T5" fmla="*/ 74 h 248"/>
                <a:gd name="T6" fmla="*/ 103 w 496"/>
                <a:gd name="T7" fmla="*/ 41 h 248"/>
                <a:gd name="T8" fmla="*/ 124 w 496"/>
                <a:gd name="T9" fmla="*/ 89 h 248"/>
                <a:gd name="T10" fmla="*/ 27 w 496"/>
                <a:gd name="T11" fmla="*/ 95 h 248"/>
                <a:gd name="T12" fmla="*/ 89 w 496"/>
                <a:gd name="T13" fmla="*/ 132 h 248"/>
                <a:gd name="T14" fmla="*/ 0 w 496"/>
                <a:gd name="T15" fmla="*/ 148 h 248"/>
                <a:gd name="T16" fmla="*/ 76 w 496"/>
                <a:gd name="T17" fmla="*/ 176 h 248"/>
                <a:gd name="T18" fmla="*/ 29 w 496"/>
                <a:gd name="T19" fmla="*/ 205 h 248"/>
                <a:gd name="T20" fmla="*/ 110 w 496"/>
                <a:gd name="T21" fmla="*/ 210 h 248"/>
                <a:gd name="T22" fmla="*/ 114 w 496"/>
                <a:gd name="T23" fmla="*/ 248 h 248"/>
                <a:gd name="T24" fmla="*/ 172 w 496"/>
                <a:gd name="T25" fmla="*/ 208 h 248"/>
                <a:gd name="T26" fmla="*/ 200 w 496"/>
                <a:gd name="T27" fmla="*/ 225 h 248"/>
                <a:gd name="T28" fmla="*/ 227 w 496"/>
                <a:gd name="T29" fmla="*/ 200 h 248"/>
                <a:gd name="T30" fmla="*/ 267 w 496"/>
                <a:gd name="T31" fmla="*/ 217 h 248"/>
                <a:gd name="T32" fmla="*/ 279 w 496"/>
                <a:gd name="T33" fmla="*/ 182 h 248"/>
                <a:gd name="T34" fmla="*/ 343 w 496"/>
                <a:gd name="T35" fmla="*/ 200 h 248"/>
                <a:gd name="T36" fmla="*/ 336 w 496"/>
                <a:gd name="T37" fmla="*/ 165 h 248"/>
                <a:gd name="T38" fmla="*/ 434 w 496"/>
                <a:gd name="T39" fmla="*/ 179 h 248"/>
                <a:gd name="T40" fmla="*/ 376 w 496"/>
                <a:gd name="T41" fmla="*/ 141 h 248"/>
                <a:gd name="T42" fmla="*/ 420 w 496"/>
                <a:gd name="T43" fmla="*/ 129 h 248"/>
                <a:gd name="T44" fmla="*/ 389 w 496"/>
                <a:gd name="T45" fmla="*/ 108 h 248"/>
                <a:gd name="T46" fmla="*/ 496 w 496"/>
                <a:gd name="T47" fmla="*/ 76 h 248"/>
                <a:gd name="T48" fmla="*/ 376 w 496"/>
                <a:gd name="T49" fmla="*/ 76 h 248"/>
                <a:gd name="T50" fmla="*/ 413 w 496"/>
                <a:gd name="T51" fmla="*/ 36 h 248"/>
                <a:gd name="T52" fmla="*/ 334 w 496"/>
                <a:gd name="T53" fmla="*/ 67 h 248"/>
                <a:gd name="T54" fmla="*/ 339 w 496"/>
                <a:gd name="T55" fmla="*/ 0 h 248"/>
                <a:gd name="T56" fmla="*/ 264 w 496"/>
                <a:gd name="T57" fmla="*/ 5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96" h="248">
                  <a:moveTo>
                    <a:pt x="264" y="50"/>
                  </a:moveTo>
                  <a:lnTo>
                    <a:pt x="224" y="22"/>
                  </a:lnTo>
                  <a:lnTo>
                    <a:pt x="196" y="74"/>
                  </a:lnTo>
                  <a:lnTo>
                    <a:pt x="103" y="41"/>
                  </a:lnTo>
                  <a:lnTo>
                    <a:pt x="124" y="89"/>
                  </a:lnTo>
                  <a:lnTo>
                    <a:pt x="27" y="95"/>
                  </a:lnTo>
                  <a:lnTo>
                    <a:pt x="89" y="132"/>
                  </a:lnTo>
                  <a:lnTo>
                    <a:pt x="0" y="148"/>
                  </a:lnTo>
                  <a:lnTo>
                    <a:pt x="76" y="176"/>
                  </a:lnTo>
                  <a:lnTo>
                    <a:pt x="29" y="205"/>
                  </a:lnTo>
                  <a:lnTo>
                    <a:pt x="110" y="210"/>
                  </a:lnTo>
                  <a:lnTo>
                    <a:pt x="114" y="248"/>
                  </a:lnTo>
                  <a:lnTo>
                    <a:pt x="172" y="208"/>
                  </a:lnTo>
                  <a:lnTo>
                    <a:pt x="200" y="225"/>
                  </a:lnTo>
                  <a:lnTo>
                    <a:pt x="227" y="200"/>
                  </a:lnTo>
                  <a:lnTo>
                    <a:pt x="267" y="217"/>
                  </a:lnTo>
                  <a:lnTo>
                    <a:pt x="279" y="182"/>
                  </a:lnTo>
                  <a:lnTo>
                    <a:pt x="343" y="200"/>
                  </a:lnTo>
                  <a:lnTo>
                    <a:pt x="336" y="165"/>
                  </a:lnTo>
                  <a:lnTo>
                    <a:pt x="434" y="179"/>
                  </a:lnTo>
                  <a:lnTo>
                    <a:pt x="376" y="141"/>
                  </a:lnTo>
                  <a:lnTo>
                    <a:pt x="420" y="129"/>
                  </a:lnTo>
                  <a:lnTo>
                    <a:pt x="389" y="108"/>
                  </a:lnTo>
                  <a:lnTo>
                    <a:pt x="496" y="76"/>
                  </a:lnTo>
                  <a:lnTo>
                    <a:pt x="376" y="76"/>
                  </a:lnTo>
                  <a:lnTo>
                    <a:pt x="413" y="36"/>
                  </a:lnTo>
                  <a:lnTo>
                    <a:pt x="334" y="67"/>
                  </a:lnTo>
                  <a:lnTo>
                    <a:pt x="339" y="0"/>
                  </a:lnTo>
                  <a:lnTo>
                    <a:pt x="264" y="50"/>
                  </a:lnTo>
                  <a:close/>
                </a:path>
              </a:pathLst>
            </a:custGeom>
            <a:noFill/>
            <a:ln w="7938">
              <a:solidFill>
                <a:srgbClr val="FF33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2213" name="Freeform 1157"/>
            <p:cNvSpPr>
              <a:spLocks/>
            </p:cNvSpPr>
            <p:nvPr/>
          </p:nvSpPr>
          <p:spPr bwMode="auto">
            <a:xfrm>
              <a:off x="3279" y="3982"/>
              <a:ext cx="248" cy="124"/>
            </a:xfrm>
            <a:custGeom>
              <a:avLst/>
              <a:gdLst>
                <a:gd name="T0" fmla="*/ 264 w 496"/>
                <a:gd name="T1" fmla="*/ 50 h 248"/>
                <a:gd name="T2" fmla="*/ 224 w 496"/>
                <a:gd name="T3" fmla="*/ 22 h 248"/>
                <a:gd name="T4" fmla="*/ 197 w 496"/>
                <a:gd name="T5" fmla="*/ 74 h 248"/>
                <a:gd name="T6" fmla="*/ 104 w 496"/>
                <a:gd name="T7" fmla="*/ 41 h 248"/>
                <a:gd name="T8" fmla="*/ 124 w 496"/>
                <a:gd name="T9" fmla="*/ 89 h 248"/>
                <a:gd name="T10" fmla="*/ 28 w 496"/>
                <a:gd name="T11" fmla="*/ 95 h 248"/>
                <a:gd name="T12" fmla="*/ 90 w 496"/>
                <a:gd name="T13" fmla="*/ 132 h 248"/>
                <a:gd name="T14" fmla="*/ 0 w 496"/>
                <a:gd name="T15" fmla="*/ 148 h 248"/>
                <a:gd name="T16" fmla="*/ 76 w 496"/>
                <a:gd name="T17" fmla="*/ 176 h 248"/>
                <a:gd name="T18" fmla="*/ 29 w 496"/>
                <a:gd name="T19" fmla="*/ 205 h 248"/>
                <a:gd name="T20" fmla="*/ 110 w 496"/>
                <a:gd name="T21" fmla="*/ 210 h 248"/>
                <a:gd name="T22" fmla="*/ 114 w 496"/>
                <a:gd name="T23" fmla="*/ 248 h 248"/>
                <a:gd name="T24" fmla="*/ 173 w 496"/>
                <a:gd name="T25" fmla="*/ 208 h 248"/>
                <a:gd name="T26" fmla="*/ 200 w 496"/>
                <a:gd name="T27" fmla="*/ 225 h 248"/>
                <a:gd name="T28" fmla="*/ 228 w 496"/>
                <a:gd name="T29" fmla="*/ 200 h 248"/>
                <a:gd name="T30" fmla="*/ 267 w 496"/>
                <a:gd name="T31" fmla="*/ 217 h 248"/>
                <a:gd name="T32" fmla="*/ 279 w 496"/>
                <a:gd name="T33" fmla="*/ 182 h 248"/>
                <a:gd name="T34" fmla="*/ 343 w 496"/>
                <a:gd name="T35" fmla="*/ 200 h 248"/>
                <a:gd name="T36" fmla="*/ 336 w 496"/>
                <a:gd name="T37" fmla="*/ 165 h 248"/>
                <a:gd name="T38" fmla="*/ 434 w 496"/>
                <a:gd name="T39" fmla="*/ 179 h 248"/>
                <a:gd name="T40" fmla="*/ 376 w 496"/>
                <a:gd name="T41" fmla="*/ 141 h 248"/>
                <a:gd name="T42" fmla="*/ 421 w 496"/>
                <a:gd name="T43" fmla="*/ 129 h 248"/>
                <a:gd name="T44" fmla="*/ 390 w 496"/>
                <a:gd name="T45" fmla="*/ 108 h 248"/>
                <a:gd name="T46" fmla="*/ 496 w 496"/>
                <a:gd name="T47" fmla="*/ 76 h 248"/>
                <a:gd name="T48" fmla="*/ 376 w 496"/>
                <a:gd name="T49" fmla="*/ 76 h 248"/>
                <a:gd name="T50" fmla="*/ 414 w 496"/>
                <a:gd name="T51" fmla="*/ 36 h 248"/>
                <a:gd name="T52" fmla="*/ 334 w 496"/>
                <a:gd name="T53" fmla="*/ 67 h 248"/>
                <a:gd name="T54" fmla="*/ 340 w 496"/>
                <a:gd name="T55" fmla="*/ 0 h 248"/>
                <a:gd name="T56" fmla="*/ 264 w 496"/>
                <a:gd name="T57" fmla="*/ 5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96" h="248">
                  <a:moveTo>
                    <a:pt x="264" y="50"/>
                  </a:moveTo>
                  <a:lnTo>
                    <a:pt x="224" y="22"/>
                  </a:lnTo>
                  <a:lnTo>
                    <a:pt x="197" y="74"/>
                  </a:lnTo>
                  <a:lnTo>
                    <a:pt x="104" y="41"/>
                  </a:lnTo>
                  <a:lnTo>
                    <a:pt x="124" y="89"/>
                  </a:lnTo>
                  <a:lnTo>
                    <a:pt x="28" y="95"/>
                  </a:lnTo>
                  <a:lnTo>
                    <a:pt x="90" y="132"/>
                  </a:lnTo>
                  <a:lnTo>
                    <a:pt x="0" y="148"/>
                  </a:lnTo>
                  <a:lnTo>
                    <a:pt x="76" y="176"/>
                  </a:lnTo>
                  <a:lnTo>
                    <a:pt x="29" y="205"/>
                  </a:lnTo>
                  <a:lnTo>
                    <a:pt x="110" y="210"/>
                  </a:lnTo>
                  <a:lnTo>
                    <a:pt x="114" y="248"/>
                  </a:lnTo>
                  <a:lnTo>
                    <a:pt x="173" y="208"/>
                  </a:lnTo>
                  <a:lnTo>
                    <a:pt x="200" y="225"/>
                  </a:lnTo>
                  <a:lnTo>
                    <a:pt x="228" y="200"/>
                  </a:lnTo>
                  <a:lnTo>
                    <a:pt x="267" y="217"/>
                  </a:lnTo>
                  <a:lnTo>
                    <a:pt x="279" y="182"/>
                  </a:lnTo>
                  <a:lnTo>
                    <a:pt x="343" y="200"/>
                  </a:lnTo>
                  <a:lnTo>
                    <a:pt x="336" y="165"/>
                  </a:lnTo>
                  <a:lnTo>
                    <a:pt x="434" y="179"/>
                  </a:lnTo>
                  <a:lnTo>
                    <a:pt x="376" y="141"/>
                  </a:lnTo>
                  <a:lnTo>
                    <a:pt x="421" y="129"/>
                  </a:lnTo>
                  <a:lnTo>
                    <a:pt x="390" y="108"/>
                  </a:lnTo>
                  <a:lnTo>
                    <a:pt x="496" y="76"/>
                  </a:lnTo>
                  <a:lnTo>
                    <a:pt x="376" y="76"/>
                  </a:lnTo>
                  <a:lnTo>
                    <a:pt x="414" y="36"/>
                  </a:lnTo>
                  <a:lnTo>
                    <a:pt x="334" y="67"/>
                  </a:lnTo>
                  <a:lnTo>
                    <a:pt x="340" y="0"/>
                  </a:lnTo>
                  <a:lnTo>
                    <a:pt x="264" y="50"/>
                  </a:lnTo>
                  <a:close/>
                </a:path>
              </a:pathLst>
            </a:custGeom>
            <a:noFill/>
            <a:ln w="7938">
              <a:solidFill>
                <a:srgbClr val="FF33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2214" name="Rectangle 1158"/>
            <p:cNvSpPr>
              <a:spLocks noChangeArrowheads="1"/>
            </p:cNvSpPr>
            <p:nvPr/>
          </p:nvSpPr>
          <p:spPr bwMode="auto">
            <a:xfrm>
              <a:off x="4740" y="3113"/>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0000FF"/>
                  </a:solidFill>
                  <a:latin typeface="隶书" charset="0"/>
                  <a:ea typeface="隶书" charset="0"/>
                </a:rPr>
                <a:t>间</a:t>
              </a:r>
              <a:endParaRPr lang="zh-CN" altLang="en-US">
                <a:latin typeface="Arial" charset="0"/>
              </a:endParaRPr>
            </a:p>
          </p:txBody>
        </p:sp>
        <p:sp>
          <p:nvSpPr>
            <p:cNvPr id="302215" name="Rectangle 1159"/>
            <p:cNvSpPr>
              <a:spLocks noChangeArrowheads="1"/>
            </p:cNvSpPr>
            <p:nvPr/>
          </p:nvSpPr>
          <p:spPr bwMode="auto">
            <a:xfrm>
              <a:off x="4752" y="3351"/>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C0C0C0"/>
                  </a:solidFill>
                  <a:latin typeface="隶书" charset="0"/>
                  <a:ea typeface="隶书" charset="0"/>
                </a:rPr>
                <a:t>界</a:t>
              </a:r>
              <a:endParaRPr lang="zh-CN" altLang="en-US">
                <a:latin typeface="Arial" charset="0"/>
              </a:endParaRPr>
            </a:p>
          </p:txBody>
        </p:sp>
        <p:sp>
          <p:nvSpPr>
            <p:cNvPr id="302216" name="Rectangle 1160"/>
            <p:cNvSpPr>
              <a:spLocks noChangeArrowheads="1"/>
            </p:cNvSpPr>
            <p:nvPr/>
          </p:nvSpPr>
          <p:spPr bwMode="auto">
            <a:xfrm>
              <a:off x="4744" y="3342"/>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0000FF"/>
                  </a:solidFill>
                  <a:latin typeface="隶书" charset="0"/>
                  <a:ea typeface="隶书" charset="0"/>
                </a:rPr>
                <a:t>界</a:t>
              </a:r>
              <a:endParaRPr lang="zh-CN" altLang="en-US">
                <a:latin typeface="Arial" charset="0"/>
              </a:endParaRPr>
            </a:p>
          </p:txBody>
        </p:sp>
        <p:sp>
          <p:nvSpPr>
            <p:cNvPr id="302217" name="Rectangle 1161"/>
            <p:cNvSpPr>
              <a:spLocks noChangeArrowheads="1"/>
            </p:cNvSpPr>
            <p:nvPr/>
          </p:nvSpPr>
          <p:spPr bwMode="auto">
            <a:xfrm>
              <a:off x="4752" y="3563"/>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C0C0C0"/>
                  </a:solidFill>
                  <a:latin typeface="隶书" charset="0"/>
                  <a:ea typeface="隶书" charset="0"/>
                </a:rPr>
                <a:t>法</a:t>
              </a:r>
              <a:endParaRPr lang="zh-CN" altLang="en-US">
                <a:latin typeface="Arial" charset="0"/>
              </a:endParaRPr>
            </a:p>
          </p:txBody>
        </p:sp>
        <p:sp>
          <p:nvSpPr>
            <p:cNvPr id="302218" name="Rectangle 1162"/>
            <p:cNvSpPr>
              <a:spLocks noChangeArrowheads="1"/>
            </p:cNvSpPr>
            <p:nvPr/>
          </p:nvSpPr>
          <p:spPr bwMode="auto">
            <a:xfrm>
              <a:off x="4744" y="3554"/>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800" b="1">
                  <a:solidFill>
                    <a:srgbClr val="0000FF"/>
                  </a:solidFill>
                  <a:latin typeface="隶书" charset="0"/>
                  <a:ea typeface="隶书" charset="0"/>
                </a:rPr>
                <a:t>法</a:t>
              </a:r>
              <a:endParaRPr lang="zh-CN" altLang="en-US">
                <a:latin typeface="Arial" charset="0"/>
              </a:endParaRPr>
            </a:p>
          </p:txBody>
        </p:sp>
      </p:grpSp>
    </p:spTree>
    <p:extLst>
      <p:ext uri="{BB962C8B-B14F-4D97-AF65-F5344CB8AC3E}">
        <p14:creationId xmlns:p14="http://schemas.microsoft.com/office/powerpoint/2010/main" val="9520924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48483"/>
                                        </p:tgtEl>
                                        <p:attrNameLst>
                                          <p:attrName>style.visibility</p:attrName>
                                        </p:attrNameLst>
                                      </p:cBhvr>
                                      <p:to>
                                        <p:strVal val="visible"/>
                                      </p:to>
                                    </p:set>
                                    <p:animEffect transition="in" filter="wipe(left)">
                                      <p:cBhvr>
                                        <p:cTn id="7" dur="300"/>
                                        <p:tgtEl>
                                          <p:spTgt spid="148483"/>
                                        </p:tgtEl>
                                      </p:cBhvr>
                                    </p:animEffect>
                                  </p:childTnLst>
                                </p:cTn>
                              </p:par>
                            </p:childTnLst>
                          </p:cTn>
                        </p:par>
                        <p:par>
                          <p:cTn id="8" fill="hold" nodeType="afterGroup">
                            <p:stCondLst>
                              <p:cond delay="1200"/>
                            </p:stCondLst>
                            <p:childTnLst>
                              <p:par>
                                <p:cTn id="9" presetID="17" presetClass="entr" presetSubtype="10" fill="hold" nodeType="afterEffect">
                                  <p:stCondLst>
                                    <p:cond delay="0"/>
                                  </p:stCondLst>
                                  <p:childTnLst>
                                    <p:set>
                                      <p:cBhvr>
                                        <p:cTn id="10" dur="1" fill="hold">
                                          <p:stCondLst>
                                            <p:cond delay="0"/>
                                          </p:stCondLst>
                                        </p:cTn>
                                        <p:tgtEl>
                                          <p:spTgt spid="148484"/>
                                        </p:tgtEl>
                                        <p:attrNameLst>
                                          <p:attrName>style.visibility</p:attrName>
                                        </p:attrNameLst>
                                      </p:cBhvr>
                                      <p:to>
                                        <p:strVal val="visible"/>
                                      </p:to>
                                    </p:set>
                                    <p:anim calcmode="lin" valueType="num">
                                      <p:cBhvr>
                                        <p:cTn id="11" dur="500" fill="hold"/>
                                        <p:tgtEl>
                                          <p:spTgt spid="148484"/>
                                        </p:tgtEl>
                                        <p:attrNameLst>
                                          <p:attrName>ppt_w</p:attrName>
                                        </p:attrNameLst>
                                      </p:cBhvr>
                                      <p:tavLst>
                                        <p:tav tm="0">
                                          <p:val>
                                            <p:fltVal val="0"/>
                                          </p:val>
                                        </p:tav>
                                        <p:tav tm="100000">
                                          <p:val>
                                            <p:strVal val="#ppt_w"/>
                                          </p:val>
                                        </p:tav>
                                      </p:tavLst>
                                    </p:anim>
                                    <p:anim calcmode="lin" valueType="num">
                                      <p:cBhvr>
                                        <p:cTn id="12" dur="500" fill="hold"/>
                                        <p:tgtEl>
                                          <p:spTgt spid="148484"/>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iterate type="wd">
                                    <p:tmPct val="100000"/>
                                  </p:iterate>
                                  <p:childTnLst>
                                    <p:set>
                                      <p:cBhvr>
                                        <p:cTn id="16" dur="1" fill="hold">
                                          <p:stCondLst>
                                            <p:cond delay="0"/>
                                          </p:stCondLst>
                                        </p:cTn>
                                        <p:tgtEl>
                                          <p:spTgt spid="148482"/>
                                        </p:tgtEl>
                                        <p:attrNameLst>
                                          <p:attrName>style.visibility</p:attrName>
                                        </p:attrNameLst>
                                      </p:cBhvr>
                                      <p:to>
                                        <p:strVal val="visible"/>
                                      </p:to>
                                    </p:set>
                                    <p:animEffect transition="in" filter="strips(downRight)">
                                      <p:cBhvr>
                                        <p:cTn id="17" dur="300"/>
                                        <p:tgtEl>
                                          <p:spTgt spid="1484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8486"/>
                                        </p:tgtEl>
                                        <p:attrNameLst>
                                          <p:attrName>style.visibility</p:attrName>
                                        </p:attrNameLst>
                                      </p:cBhvr>
                                      <p:to>
                                        <p:strVal val="visible"/>
                                      </p:to>
                                    </p:set>
                                    <p:animEffect transition="in" filter="wipe(left)">
                                      <p:cBhvr>
                                        <p:cTn id="22" dur="500"/>
                                        <p:tgtEl>
                                          <p:spTgt spid="148486"/>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148488"/>
                                        </p:tgtEl>
                                        <p:attrNameLst>
                                          <p:attrName>style.visibility</p:attrName>
                                        </p:attrNameLst>
                                      </p:cBhvr>
                                      <p:to>
                                        <p:strVal val="visible"/>
                                      </p:to>
                                    </p:set>
                                    <p:anim calcmode="lin" valueType="num">
                                      <p:cBhvr additive="base">
                                        <p:cTn id="26" dur="500" fill="hold"/>
                                        <p:tgtEl>
                                          <p:spTgt spid="148488"/>
                                        </p:tgtEl>
                                        <p:attrNameLst>
                                          <p:attrName>ppt_x</p:attrName>
                                        </p:attrNameLst>
                                      </p:cBhvr>
                                      <p:tavLst>
                                        <p:tav tm="0">
                                          <p:val>
                                            <p:strVal val="1+#ppt_w/2"/>
                                          </p:val>
                                        </p:tav>
                                        <p:tav tm="100000">
                                          <p:val>
                                            <p:strVal val="#ppt_x"/>
                                          </p:val>
                                        </p:tav>
                                      </p:tavLst>
                                    </p:anim>
                                    <p:anim calcmode="lin" valueType="num">
                                      <p:cBhvr additive="base">
                                        <p:cTn id="27" dur="500" fill="hold"/>
                                        <p:tgtEl>
                                          <p:spTgt spid="1484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2" grpId="0" autoUpdateAnimBg="0"/>
      <p:bldP spid="148483" grpId="0" autoUpdateAnimBg="0"/>
      <p:bldP spid="148486" grpId="0" autoUpdateAnimBg="0"/>
      <p:bldP spid="148488"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Text Box 3"/>
          <p:cNvSpPr txBox="1">
            <a:spLocks noChangeArrowheads="1"/>
          </p:cNvSpPr>
          <p:nvPr/>
        </p:nvSpPr>
        <p:spPr bwMode="auto">
          <a:xfrm>
            <a:off x="757238" y="533400"/>
            <a:ext cx="32559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A50021"/>
                </a:solidFill>
              </a:rPr>
              <a:t>5. </a:t>
            </a:r>
            <a:r>
              <a:rPr lang="zh-CN" altLang="en-US" sz="4000" b="1">
                <a:solidFill>
                  <a:srgbClr val="800000"/>
                </a:solidFill>
                <a:ea typeface="楷体_GB2312" charset="0"/>
              </a:rPr>
              <a:t>除留余数法</a:t>
            </a:r>
          </a:p>
        </p:txBody>
      </p:sp>
      <p:sp>
        <p:nvSpPr>
          <p:cNvPr id="147460" name="Text Box 4"/>
          <p:cNvSpPr txBox="1">
            <a:spLocks noChangeArrowheads="1"/>
          </p:cNvSpPr>
          <p:nvPr/>
        </p:nvSpPr>
        <p:spPr bwMode="auto">
          <a:xfrm>
            <a:off x="793750" y="1295400"/>
            <a:ext cx="7893050" cy="4868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50000"/>
              </a:lnSpc>
            </a:pPr>
            <a:r>
              <a:rPr lang="en-US" altLang="zh-CN" sz="3600" b="1">
                <a:solidFill>
                  <a:srgbClr val="006600"/>
                </a:solidFill>
                <a:ea typeface="楷体_GB2312" charset="0"/>
              </a:rPr>
              <a:t>    </a:t>
            </a:r>
            <a:r>
              <a:rPr lang="zh-CN" altLang="en-US" sz="3600" b="1">
                <a:solidFill>
                  <a:srgbClr val="A50021"/>
                </a:solidFill>
                <a:ea typeface="楷体_GB2312" charset="0"/>
              </a:rPr>
              <a:t>设定哈希函数为</a:t>
            </a:r>
            <a:r>
              <a:rPr lang="en-US" altLang="zh-CN" sz="3600" b="1">
                <a:solidFill>
                  <a:srgbClr val="A50021"/>
                </a:solidFill>
                <a:ea typeface="楷体_GB2312" charset="0"/>
              </a:rPr>
              <a:t>:</a:t>
            </a:r>
          </a:p>
          <a:p>
            <a:pPr>
              <a:lnSpc>
                <a:spcPct val="150000"/>
              </a:lnSpc>
            </a:pPr>
            <a:r>
              <a:rPr lang="en-US" altLang="zh-CN" sz="3600" b="1">
                <a:solidFill>
                  <a:srgbClr val="006600"/>
                </a:solidFill>
                <a:ea typeface="楷体_GB2312" charset="0"/>
              </a:rPr>
              <a:t>           H(key) = key MOD p    </a:t>
            </a:r>
          </a:p>
          <a:p>
            <a:pPr>
              <a:lnSpc>
                <a:spcPct val="150000"/>
              </a:lnSpc>
            </a:pPr>
            <a:r>
              <a:rPr lang="zh-CN" altLang="en-US" sz="3600" b="1">
                <a:solidFill>
                  <a:srgbClr val="A50021"/>
                </a:solidFill>
                <a:ea typeface="楷体_GB2312" charset="0"/>
              </a:rPr>
              <a:t>其中</a:t>
            </a:r>
            <a:r>
              <a:rPr lang="zh-CN" altLang="en-US" sz="3600">
                <a:solidFill>
                  <a:srgbClr val="A50021"/>
                </a:solidFill>
                <a:ea typeface="楷体_GB2312" charset="0"/>
              </a:rPr>
              <a:t>，</a:t>
            </a:r>
            <a:r>
              <a:rPr lang="zh-CN" altLang="en-US" sz="3600" b="1">
                <a:solidFill>
                  <a:srgbClr val="006600"/>
                </a:solidFill>
                <a:ea typeface="楷体_GB2312" charset="0"/>
              </a:rPr>
              <a:t>  </a:t>
            </a:r>
            <a:r>
              <a:rPr lang="en-US" altLang="zh-CN" sz="3600" b="1">
                <a:solidFill>
                  <a:srgbClr val="006600"/>
                </a:solidFill>
                <a:ea typeface="楷体_GB2312" charset="0"/>
              </a:rPr>
              <a:t>p≤m</a:t>
            </a:r>
            <a:r>
              <a:rPr lang="en-US" altLang="zh-CN" sz="3600" b="1">
                <a:solidFill>
                  <a:srgbClr val="006600"/>
                </a:solidFill>
                <a:latin typeface="楷体_GB2312" charset="0"/>
                <a:ea typeface="楷体_GB2312" charset="0"/>
              </a:rPr>
              <a:t> (</a:t>
            </a:r>
            <a:r>
              <a:rPr lang="zh-CN" altLang="en-US" sz="3600" b="1">
                <a:solidFill>
                  <a:srgbClr val="006600"/>
                </a:solidFill>
                <a:latin typeface="楷体_GB2312" charset="0"/>
                <a:ea typeface="楷体_GB2312" charset="0"/>
              </a:rPr>
              <a:t>表长</a:t>
            </a:r>
            <a:r>
              <a:rPr lang="en-US" altLang="zh-CN" sz="3600" b="1">
                <a:solidFill>
                  <a:srgbClr val="006600"/>
                </a:solidFill>
                <a:latin typeface="楷体_GB2312" charset="0"/>
                <a:ea typeface="楷体_GB2312" charset="0"/>
              </a:rPr>
              <a:t>)  </a:t>
            </a:r>
            <a:r>
              <a:rPr lang="zh-CN" altLang="en-US" sz="3600" b="1">
                <a:solidFill>
                  <a:srgbClr val="A50021"/>
                </a:solidFill>
                <a:latin typeface="楷体_GB2312" charset="0"/>
                <a:ea typeface="楷体_GB2312" charset="0"/>
              </a:rPr>
              <a:t>并且</a:t>
            </a:r>
            <a:endParaRPr lang="zh-CN" altLang="en-US" sz="3600" b="1">
              <a:solidFill>
                <a:srgbClr val="006600"/>
              </a:solidFill>
              <a:latin typeface="楷体_GB2312" charset="0"/>
              <a:ea typeface="楷体_GB2312" charset="0"/>
            </a:endParaRPr>
          </a:p>
          <a:p>
            <a:pPr lvl="2">
              <a:lnSpc>
                <a:spcPct val="140000"/>
              </a:lnSpc>
            </a:pPr>
            <a:r>
              <a:rPr lang="zh-CN" altLang="en-US" sz="3600" b="1">
                <a:solidFill>
                  <a:srgbClr val="FF6600"/>
                </a:solidFill>
                <a:ea typeface="楷体_GB2312" charset="0"/>
              </a:rPr>
              <a:t>      </a:t>
            </a:r>
            <a:r>
              <a:rPr lang="en-US" altLang="zh-CN" sz="3600" b="1">
                <a:solidFill>
                  <a:srgbClr val="FF6600"/>
                </a:solidFill>
                <a:ea typeface="楷体_GB2312" charset="0"/>
              </a:rPr>
              <a:t>p</a:t>
            </a:r>
            <a:r>
              <a:rPr lang="en-US" altLang="zh-CN" sz="3600" b="1">
                <a:solidFill>
                  <a:srgbClr val="FF6600"/>
                </a:solidFill>
                <a:latin typeface="楷体_GB2312" charset="0"/>
                <a:ea typeface="楷体_GB2312" charset="0"/>
              </a:rPr>
              <a:t> </a:t>
            </a:r>
            <a:r>
              <a:rPr lang="zh-CN" altLang="en-US" sz="3600" b="1">
                <a:solidFill>
                  <a:srgbClr val="FF6600"/>
                </a:solidFill>
                <a:latin typeface="楷体_GB2312" charset="0"/>
                <a:ea typeface="楷体_GB2312" charset="0"/>
              </a:rPr>
              <a:t>应为不大于 </a:t>
            </a:r>
            <a:r>
              <a:rPr lang="en-US" altLang="zh-CN" sz="3600" b="1">
                <a:solidFill>
                  <a:srgbClr val="FF6600"/>
                </a:solidFill>
                <a:ea typeface="楷体_GB2312" charset="0"/>
              </a:rPr>
              <a:t>m </a:t>
            </a:r>
            <a:r>
              <a:rPr lang="zh-CN" altLang="en-US" sz="3600" b="1">
                <a:solidFill>
                  <a:srgbClr val="FF6600"/>
                </a:solidFill>
                <a:latin typeface="楷体_GB2312" charset="0"/>
                <a:ea typeface="楷体_GB2312" charset="0"/>
              </a:rPr>
              <a:t>的素数</a:t>
            </a:r>
          </a:p>
          <a:p>
            <a:pPr lvl="2">
              <a:lnSpc>
                <a:spcPct val="140000"/>
              </a:lnSpc>
            </a:pPr>
            <a:r>
              <a:rPr lang="zh-CN" altLang="en-US" sz="3600" b="1">
                <a:solidFill>
                  <a:srgbClr val="FF6600"/>
                </a:solidFill>
                <a:latin typeface="楷体_GB2312" charset="0"/>
                <a:ea typeface="楷体_GB2312" charset="0"/>
              </a:rPr>
              <a:t>       或是</a:t>
            </a:r>
          </a:p>
          <a:p>
            <a:pPr lvl="2">
              <a:lnSpc>
                <a:spcPct val="140000"/>
              </a:lnSpc>
            </a:pPr>
            <a:r>
              <a:rPr lang="zh-CN" altLang="en-US" sz="3600" b="1">
                <a:solidFill>
                  <a:srgbClr val="FF6600"/>
                </a:solidFill>
                <a:latin typeface="楷体_GB2312" charset="0"/>
                <a:ea typeface="楷体_GB2312" charset="0"/>
              </a:rPr>
              <a:t>  不含 </a:t>
            </a:r>
            <a:r>
              <a:rPr lang="en-US" altLang="zh-CN" sz="3600" b="1">
                <a:solidFill>
                  <a:srgbClr val="FF6600"/>
                </a:solidFill>
                <a:ea typeface="楷体_GB2312" charset="0"/>
              </a:rPr>
              <a:t>20 </a:t>
            </a:r>
            <a:r>
              <a:rPr lang="zh-CN" altLang="en-US" sz="3600" b="1">
                <a:solidFill>
                  <a:srgbClr val="FF6600"/>
                </a:solidFill>
                <a:latin typeface="楷体_GB2312" charset="0"/>
                <a:ea typeface="楷体_GB2312" charset="0"/>
              </a:rPr>
              <a:t>以下的质因子</a:t>
            </a:r>
            <a:endParaRPr lang="zh-CN" altLang="en-US" sz="3600">
              <a:solidFill>
                <a:srgbClr val="006600"/>
              </a:solidFill>
              <a:latin typeface="楷体_GB2312" charset="0"/>
              <a:ea typeface="楷体_GB2312" charset="0"/>
            </a:endParaRPr>
          </a:p>
        </p:txBody>
      </p:sp>
      <p:pic>
        <p:nvPicPr>
          <p:cNvPr id="147462" name="Picture 6" descr="Autumn Leaves">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638" y="1143000"/>
            <a:ext cx="2895600" cy="11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09135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47459"/>
                                        </p:tgtEl>
                                        <p:attrNameLst>
                                          <p:attrName>style.visibility</p:attrName>
                                        </p:attrNameLst>
                                      </p:cBhvr>
                                      <p:to>
                                        <p:strVal val="visible"/>
                                      </p:to>
                                    </p:set>
                                    <p:animEffect transition="in" filter="wipe(left)">
                                      <p:cBhvr>
                                        <p:cTn id="7" dur="300"/>
                                        <p:tgtEl>
                                          <p:spTgt spid="147459"/>
                                        </p:tgtEl>
                                      </p:cBhvr>
                                    </p:animEffect>
                                  </p:childTnLst>
                                </p:cTn>
                              </p:par>
                            </p:childTnLst>
                          </p:cTn>
                        </p:par>
                        <p:par>
                          <p:cTn id="8" fill="hold" nodeType="afterGroup">
                            <p:stCondLst>
                              <p:cond delay="1800"/>
                            </p:stCondLst>
                            <p:childTnLst>
                              <p:par>
                                <p:cTn id="9" presetID="17" presetClass="entr" presetSubtype="10" fill="hold" nodeType="afterEffect">
                                  <p:stCondLst>
                                    <p:cond delay="0"/>
                                  </p:stCondLst>
                                  <p:childTnLst>
                                    <p:set>
                                      <p:cBhvr>
                                        <p:cTn id="10" dur="1" fill="hold">
                                          <p:stCondLst>
                                            <p:cond delay="0"/>
                                          </p:stCondLst>
                                        </p:cTn>
                                        <p:tgtEl>
                                          <p:spTgt spid="147462"/>
                                        </p:tgtEl>
                                        <p:attrNameLst>
                                          <p:attrName>style.visibility</p:attrName>
                                        </p:attrNameLst>
                                      </p:cBhvr>
                                      <p:to>
                                        <p:strVal val="visible"/>
                                      </p:to>
                                    </p:set>
                                    <p:anim calcmode="lin" valueType="num">
                                      <p:cBhvr>
                                        <p:cTn id="11" dur="500" fill="hold"/>
                                        <p:tgtEl>
                                          <p:spTgt spid="147462"/>
                                        </p:tgtEl>
                                        <p:attrNameLst>
                                          <p:attrName>ppt_w</p:attrName>
                                        </p:attrNameLst>
                                      </p:cBhvr>
                                      <p:tavLst>
                                        <p:tav tm="0">
                                          <p:val>
                                            <p:fltVal val="0"/>
                                          </p:val>
                                        </p:tav>
                                        <p:tav tm="100000">
                                          <p:val>
                                            <p:strVal val="#ppt_w"/>
                                          </p:val>
                                        </p:tav>
                                      </p:tavLst>
                                    </p:anim>
                                    <p:anim calcmode="lin" valueType="num">
                                      <p:cBhvr>
                                        <p:cTn id="12" dur="500" fill="hold"/>
                                        <p:tgtEl>
                                          <p:spTgt spid="147462"/>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iterate type="wd">
                                    <p:tmPct val="100000"/>
                                  </p:iterate>
                                  <p:childTnLst>
                                    <p:set>
                                      <p:cBhvr>
                                        <p:cTn id="16" dur="1" fill="hold">
                                          <p:stCondLst>
                                            <p:cond delay="0"/>
                                          </p:stCondLst>
                                        </p:cTn>
                                        <p:tgtEl>
                                          <p:spTgt spid="147460"/>
                                        </p:tgtEl>
                                        <p:attrNameLst>
                                          <p:attrName>style.visibility</p:attrName>
                                        </p:attrNameLst>
                                      </p:cBhvr>
                                      <p:to>
                                        <p:strVal val="visible"/>
                                      </p:to>
                                    </p:set>
                                    <p:animEffect transition="in" filter="strips(downRight)">
                                      <p:cBhvr>
                                        <p:cTn id="17" dur="300"/>
                                        <p:tgtEl>
                                          <p:spTgt spid="147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autoUpdateAnimBg="0"/>
      <p:bldP spid="147460" grpId="0" autoUpdateAnimBg="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2"/>
          <p:cNvSpPr txBox="1">
            <a:spLocks noChangeArrowheads="1"/>
          </p:cNvSpPr>
          <p:nvPr/>
        </p:nvSpPr>
        <p:spPr bwMode="auto">
          <a:xfrm>
            <a:off x="304800" y="1905000"/>
            <a:ext cx="8686800"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lang="en-US" altLang="zh-CN" sz="3600">
                <a:solidFill>
                  <a:srgbClr val="A50021"/>
                </a:solidFill>
                <a:ea typeface="楷体_GB2312" charset="0"/>
              </a:rPr>
              <a:t>   </a:t>
            </a:r>
            <a:r>
              <a:rPr lang="zh-CN" altLang="en-US" sz="3600">
                <a:solidFill>
                  <a:srgbClr val="A50021"/>
                </a:solidFill>
                <a:ea typeface="楷体_GB2312" charset="0"/>
              </a:rPr>
              <a:t>给定一组关键字为：</a:t>
            </a:r>
            <a:r>
              <a:rPr lang="en-US" altLang="zh-CN" sz="3600">
                <a:solidFill>
                  <a:schemeClr val="accent2"/>
                </a:solidFill>
                <a:ea typeface="楷体_GB2312" charset="0"/>
              </a:rPr>
              <a:t>12, 39, 18, 24, 33, 21</a:t>
            </a:r>
            <a:r>
              <a:rPr lang="zh-CN" altLang="en-US" sz="3600">
                <a:solidFill>
                  <a:schemeClr val="accent2"/>
                </a:solidFill>
                <a:ea typeface="楷体_GB2312" charset="0"/>
              </a:rPr>
              <a:t>，</a:t>
            </a:r>
            <a:r>
              <a:rPr lang="zh-CN" altLang="en-US" sz="3600">
                <a:solidFill>
                  <a:srgbClr val="A50021"/>
                </a:solidFill>
                <a:ea typeface="楷体_GB2312" charset="0"/>
              </a:rPr>
              <a:t>若取 </a:t>
            </a:r>
            <a:r>
              <a:rPr lang="en-US" altLang="zh-CN" sz="3600" b="1">
                <a:solidFill>
                  <a:srgbClr val="A50021"/>
                </a:solidFill>
                <a:ea typeface="楷体_GB2312" charset="0"/>
              </a:rPr>
              <a:t>p=9</a:t>
            </a:r>
            <a:r>
              <a:rPr lang="en-US" altLang="zh-CN" sz="3600">
                <a:solidFill>
                  <a:srgbClr val="A50021"/>
                </a:solidFill>
                <a:ea typeface="楷体_GB2312" charset="0"/>
              </a:rPr>
              <a:t>, </a:t>
            </a:r>
            <a:r>
              <a:rPr lang="zh-CN" altLang="en-US" sz="3600">
                <a:solidFill>
                  <a:srgbClr val="A50021"/>
                </a:solidFill>
                <a:ea typeface="楷体_GB2312" charset="0"/>
              </a:rPr>
              <a:t>则他们对应的哈希函数值将为： </a:t>
            </a:r>
            <a:r>
              <a:rPr lang="en-US" altLang="zh-CN" sz="3600">
                <a:solidFill>
                  <a:srgbClr val="FF00FF"/>
                </a:solidFill>
                <a:ea typeface="楷体_GB2312" charset="0"/>
              </a:rPr>
              <a:t>3, 3, 0, 6, 6, 3</a:t>
            </a:r>
            <a:endParaRPr lang="en-US" altLang="zh-CN" sz="3600">
              <a:solidFill>
                <a:srgbClr val="A50021"/>
              </a:solidFill>
              <a:ea typeface="楷体_GB2312" charset="0"/>
            </a:endParaRPr>
          </a:p>
        </p:txBody>
      </p:sp>
      <p:sp>
        <p:nvSpPr>
          <p:cNvPr id="153603" name="Text Box 3"/>
          <p:cNvSpPr txBox="1">
            <a:spLocks noChangeArrowheads="1"/>
          </p:cNvSpPr>
          <p:nvPr/>
        </p:nvSpPr>
        <p:spPr bwMode="auto">
          <a:xfrm>
            <a:off x="533400" y="1219200"/>
            <a:ext cx="17224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A50021"/>
                </a:solidFill>
                <a:ea typeface="楷体_GB2312" charset="0"/>
              </a:rPr>
              <a:t>例如：</a:t>
            </a:r>
            <a:endParaRPr lang="zh-CN" altLang="en-US" sz="4000" b="1">
              <a:ea typeface="楷体_GB2312" charset="0"/>
            </a:endParaRPr>
          </a:p>
        </p:txBody>
      </p:sp>
      <p:sp>
        <p:nvSpPr>
          <p:cNvPr id="153605" name="Text Box 5"/>
          <p:cNvSpPr txBox="1">
            <a:spLocks noChangeArrowheads="1"/>
          </p:cNvSpPr>
          <p:nvPr/>
        </p:nvSpPr>
        <p:spPr bwMode="auto">
          <a:xfrm>
            <a:off x="806450" y="349250"/>
            <a:ext cx="4756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chemeClr val="accent2"/>
                </a:solidFill>
                <a:ea typeface="楷体_GB2312" charset="0"/>
              </a:rPr>
              <a:t>为什么要对 </a:t>
            </a:r>
            <a:r>
              <a:rPr lang="en-US" altLang="zh-CN" sz="3600">
                <a:solidFill>
                  <a:schemeClr val="accent2"/>
                </a:solidFill>
                <a:ea typeface="楷体_GB2312" charset="0"/>
              </a:rPr>
              <a:t>p </a:t>
            </a:r>
            <a:r>
              <a:rPr lang="zh-CN" altLang="en-US" sz="3600">
                <a:solidFill>
                  <a:schemeClr val="accent2"/>
                </a:solidFill>
                <a:ea typeface="楷体_GB2312" charset="0"/>
              </a:rPr>
              <a:t>加限制？</a:t>
            </a:r>
          </a:p>
        </p:txBody>
      </p:sp>
      <p:sp>
        <p:nvSpPr>
          <p:cNvPr id="153606" name="Rectangle 6"/>
          <p:cNvSpPr>
            <a:spLocks noChangeArrowheads="1"/>
          </p:cNvSpPr>
          <p:nvPr/>
        </p:nvSpPr>
        <p:spPr bwMode="auto">
          <a:xfrm>
            <a:off x="304800" y="4322763"/>
            <a:ext cx="8610600" cy="215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600">
                <a:solidFill>
                  <a:srgbClr val="A50021"/>
                </a:solidFill>
                <a:ea typeface="楷体_GB2312" charset="0"/>
              </a:rPr>
              <a:t>    </a:t>
            </a:r>
            <a:r>
              <a:rPr lang="zh-CN" altLang="en-US" sz="3600">
                <a:solidFill>
                  <a:srgbClr val="A50021"/>
                </a:solidFill>
                <a:ea typeface="楷体_GB2312" charset="0"/>
              </a:rPr>
              <a:t>可见，若 </a:t>
            </a:r>
            <a:r>
              <a:rPr lang="en-US" altLang="zh-CN" sz="3600">
                <a:solidFill>
                  <a:srgbClr val="A50021"/>
                </a:solidFill>
                <a:ea typeface="楷体_GB2312" charset="0"/>
              </a:rPr>
              <a:t>p </a:t>
            </a:r>
            <a:r>
              <a:rPr lang="zh-CN" altLang="en-US" sz="3600">
                <a:solidFill>
                  <a:srgbClr val="A50021"/>
                </a:solidFill>
                <a:ea typeface="楷体_GB2312" charset="0"/>
              </a:rPr>
              <a:t>中含质因子 </a:t>
            </a:r>
            <a:r>
              <a:rPr lang="en-US" altLang="zh-CN" sz="3600">
                <a:solidFill>
                  <a:srgbClr val="A50021"/>
                </a:solidFill>
                <a:ea typeface="楷体_GB2312" charset="0"/>
              </a:rPr>
              <a:t>3</a:t>
            </a:r>
            <a:r>
              <a:rPr lang="zh-CN" altLang="en-US" sz="3600">
                <a:solidFill>
                  <a:srgbClr val="A50021"/>
                </a:solidFill>
                <a:ea typeface="楷体_GB2312" charset="0"/>
              </a:rPr>
              <a:t>， </a:t>
            </a:r>
            <a:r>
              <a:rPr lang="zh-CN" altLang="en-US" sz="3600" b="1">
                <a:solidFill>
                  <a:srgbClr val="FF0000"/>
                </a:solidFill>
                <a:ea typeface="楷体_GB2312" charset="0"/>
              </a:rPr>
              <a:t>则所有含质因子 </a:t>
            </a:r>
            <a:r>
              <a:rPr lang="en-US" altLang="zh-CN" sz="3600" b="1">
                <a:solidFill>
                  <a:srgbClr val="FF0000"/>
                </a:solidFill>
                <a:ea typeface="楷体_GB2312" charset="0"/>
              </a:rPr>
              <a:t>3 </a:t>
            </a:r>
            <a:r>
              <a:rPr lang="zh-CN" altLang="en-US" sz="3600" b="1">
                <a:solidFill>
                  <a:srgbClr val="FF0000"/>
                </a:solidFill>
                <a:ea typeface="楷体_GB2312" charset="0"/>
              </a:rPr>
              <a:t>的关键字均映射到“</a:t>
            </a:r>
            <a:r>
              <a:rPr lang="en-US" altLang="zh-CN" sz="3600" b="1">
                <a:solidFill>
                  <a:srgbClr val="FF0000"/>
                </a:solidFill>
                <a:ea typeface="楷体_GB2312" charset="0"/>
              </a:rPr>
              <a:t>3 </a:t>
            </a:r>
            <a:r>
              <a:rPr lang="zh-CN" altLang="en-US" sz="3600" b="1">
                <a:solidFill>
                  <a:srgbClr val="FF0000"/>
                </a:solidFill>
                <a:ea typeface="楷体_GB2312" charset="0"/>
              </a:rPr>
              <a:t>的倍数”的地址上</a:t>
            </a:r>
            <a:r>
              <a:rPr lang="zh-CN" altLang="en-US" sz="3600">
                <a:solidFill>
                  <a:srgbClr val="A50021"/>
                </a:solidFill>
                <a:ea typeface="楷体_GB2312" charset="0"/>
              </a:rPr>
              <a:t>，从而增加了“冲突”的可能。</a:t>
            </a:r>
          </a:p>
        </p:txBody>
      </p:sp>
      <p:sp>
        <p:nvSpPr>
          <p:cNvPr id="153608" name="AutoShape 8">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6368075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3605"/>
                                        </p:tgtEl>
                                        <p:attrNameLst>
                                          <p:attrName>style.visibility</p:attrName>
                                        </p:attrNameLst>
                                      </p:cBhvr>
                                      <p:to>
                                        <p:strVal val="visible"/>
                                      </p:to>
                                    </p:set>
                                    <p:anim calcmode="lin" valueType="num">
                                      <p:cBhvr additive="base">
                                        <p:cTn id="7" dur="500" fill="hold"/>
                                        <p:tgtEl>
                                          <p:spTgt spid="153605"/>
                                        </p:tgtEl>
                                        <p:attrNameLst>
                                          <p:attrName>ppt_x</p:attrName>
                                        </p:attrNameLst>
                                      </p:cBhvr>
                                      <p:tavLst>
                                        <p:tav tm="0">
                                          <p:val>
                                            <p:strVal val="0-#ppt_w/2"/>
                                          </p:val>
                                        </p:tav>
                                        <p:tav tm="100000">
                                          <p:val>
                                            <p:strVal val="#ppt_x"/>
                                          </p:val>
                                        </p:tav>
                                      </p:tavLst>
                                    </p:anim>
                                    <p:anim calcmode="lin" valueType="num">
                                      <p:cBhvr additive="base">
                                        <p:cTn id="8" dur="500" fill="hold"/>
                                        <p:tgtEl>
                                          <p:spTgt spid="15360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53603"/>
                                        </p:tgtEl>
                                        <p:attrNameLst>
                                          <p:attrName>style.visibility</p:attrName>
                                        </p:attrNameLst>
                                      </p:cBhvr>
                                      <p:to>
                                        <p:strVal val="visible"/>
                                      </p:to>
                                    </p:set>
                                    <p:animEffect transition="in" filter="wipe(left)">
                                      <p:cBhvr>
                                        <p:cTn id="13" dur="500"/>
                                        <p:tgtEl>
                                          <p:spTgt spid="15360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153602"/>
                                        </p:tgtEl>
                                        <p:attrNameLst>
                                          <p:attrName>style.visibility</p:attrName>
                                        </p:attrNameLst>
                                      </p:cBhvr>
                                      <p:to>
                                        <p:strVal val="visible"/>
                                      </p:to>
                                    </p:set>
                                    <p:animEffect transition="in" filter="wipe(left)">
                                      <p:cBhvr>
                                        <p:cTn id="18" dur="300"/>
                                        <p:tgtEl>
                                          <p:spTgt spid="15360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3606"/>
                                        </p:tgtEl>
                                        <p:attrNameLst>
                                          <p:attrName>style.visibility</p:attrName>
                                        </p:attrNameLst>
                                      </p:cBhvr>
                                      <p:to>
                                        <p:strVal val="visible"/>
                                      </p:to>
                                    </p:set>
                                    <p:animEffect transition="in" filter="wipe(left)">
                                      <p:cBhvr>
                                        <p:cTn id="23" dur="500"/>
                                        <p:tgtEl>
                                          <p:spTgt spid="153606"/>
                                        </p:tgtEl>
                                      </p:cBhvr>
                                    </p:animEffect>
                                  </p:childTnLst>
                                </p:cTn>
                              </p:par>
                            </p:childTnLst>
                          </p:cTn>
                        </p:par>
                        <p:par>
                          <p:cTn id="24" fill="hold" nodeType="afterGroup">
                            <p:stCondLst>
                              <p:cond delay="500"/>
                            </p:stCondLst>
                            <p:childTnLst>
                              <p:par>
                                <p:cTn id="25" presetID="2" presetClass="entr" presetSubtype="6" fill="hold" grpId="0" nodeType="afterEffect">
                                  <p:stCondLst>
                                    <p:cond delay="0"/>
                                  </p:stCondLst>
                                  <p:childTnLst>
                                    <p:set>
                                      <p:cBhvr>
                                        <p:cTn id="26" dur="1" fill="hold">
                                          <p:stCondLst>
                                            <p:cond delay="0"/>
                                          </p:stCondLst>
                                        </p:cTn>
                                        <p:tgtEl>
                                          <p:spTgt spid="153608"/>
                                        </p:tgtEl>
                                        <p:attrNameLst>
                                          <p:attrName>style.visibility</p:attrName>
                                        </p:attrNameLst>
                                      </p:cBhvr>
                                      <p:to>
                                        <p:strVal val="visible"/>
                                      </p:to>
                                    </p:set>
                                    <p:anim calcmode="lin" valueType="num">
                                      <p:cBhvr additive="base">
                                        <p:cTn id="27" dur="500" fill="hold"/>
                                        <p:tgtEl>
                                          <p:spTgt spid="153608"/>
                                        </p:tgtEl>
                                        <p:attrNameLst>
                                          <p:attrName>ppt_x</p:attrName>
                                        </p:attrNameLst>
                                      </p:cBhvr>
                                      <p:tavLst>
                                        <p:tav tm="0">
                                          <p:val>
                                            <p:strVal val="1+#ppt_w/2"/>
                                          </p:val>
                                        </p:tav>
                                        <p:tav tm="100000">
                                          <p:val>
                                            <p:strVal val="#ppt_x"/>
                                          </p:val>
                                        </p:tav>
                                      </p:tavLst>
                                    </p:anim>
                                    <p:anim calcmode="lin" valueType="num">
                                      <p:cBhvr additive="base">
                                        <p:cTn id="28" dur="500" fill="hold"/>
                                        <p:tgtEl>
                                          <p:spTgt spid="1536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2" grpId="0" autoUpdateAnimBg="0"/>
      <p:bldP spid="153603" grpId="0" autoUpdateAnimBg="0"/>
      <p:bldP spid="153605" grpId="0" autoUpdateAnimBg="0"/>
      <p:bldP spid="153606" grpId="0" autoUpdateAnimBg="0"/>
      <p:bldP spid="153608"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1" name="Text Box 3"/>
          <p:cNvSpPr txBox="1">
            <a:spLocks noChangeArrowheads="1"/>
          </p:cNvSpPr>
          <p:nvPr/>
        </p:nvSpPr>
        <p:spPr bwMode="auto">
          <a:xfrm>
            <a:off x="762000" y="517525"/>
            <a:ext cx="2616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a:solidFill>
                  <a:srgbClr val="990000"/>
                </a:solidFill>
              </a:rPr>
              <a:t>6.</a:t>
            </a:r>
            <a:r>
              <a:rPr lang="zh-CN" altLang="en-US" sz="4000" b="1">
                <a:solidFill>
                  <a:srgbClr val="800000"/>
                </a:solidFill>
                <a:ea typeface="楷体_GB2312" charset="0"/>
              </a:rPr>
              <a:t>随机数法</a:t>
            </a:r>
          </a:p>
        </p:txBody>
      </p:sp>
      <p:pic>
        <p:nvPicPr>
          <p:cNvPr id="145412" name="Picture 4" descr="Autumn Leaves">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127125"/>
            <a:ext cx="2362200" cy="92075"/>
          </a:xfrm>
          <a:prstGeom prst="rect">
            <a:avLst/>
          </a:prstGeom>
          <a:noFill/>
          <a:extLst>
            <a:ext uri="{909E8E84-426E-40DD-AFC4-6F175D3DCCD1}">
              <a14:hiddenFill xmlns:a14="http://schemas.microsoft.com/office/drawing/2010/main">
                <a:solidFill>
                  <a:srgbClr val="FFFFFF"/>
                </a:solidFill>
              </a14:hiddenFill>
            </a:ext>
          </a:extLst>
        </p:spPr>
      </p:pic>
      <p:sp>
        <p:nvSpPr>
          <p:cNvPr id="145414" name="Rectangle 6"/>
          <p:cNvSpPr>
            <a:spLocks noChangeArrowheads="1"/>
          </p:cNvSpPr>
          <p:nvPr/>
        </p:nvSpPr>
        <p:spPr bwMode="auto">
          <a:xfrm>
            <a:off x="1403350" y="1412875"/>
            <a:ext cx="6661150" cy="3478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50000"/>
              </a:lnSpc>
            </a:pPr>
            <a:r>
              <a:rPr lang="zh-CN" altLang="en-US" sz="3600" b="1">
                <a:solidFill>
                  <a:srgbClr val="A50021"/>
                </a:solidFill>
                <a:ea typeface="楷体_GB2312" charset="0"/>
              </a:rPr>
              <a:t>设定哈希函数为</a:t>
            </a:r>
            <a:r>
              <a:rPr lang="en-US" altLang="zh-CN" sz="3600" b="1">
                <a:solidFill>
                  <a:srgbClr val="A50021"/>
                </a:solidFill>
                <a:ea typeface="楷体_GB2312" charset="0"/>
              </a:rPr>
              <a:t>:</a:t>
            </a:r>
          </a:p>
          <a:p>
            <a:pPr>
              <a:lnSpc>
                <a:spcPct val="150000"/>
              </a:lnSpc>
            </a:pPr>
            <a:r>
              <a:rPr lang="en-US" altLang="zh-CN" sz="4000" b="1">
                <a:solidFill>
                  <a:schemeClr val="accent2"/>
                </a:solidFill>
                <a:ea typeface="楷体_GB2312" charset="0"/>
              </a:rPr>
              <a:t>    H(key) = Random(key)</a:t>
            </a:r>
            <a:endParaRPr lang="en-US" altLang="zh-CN" sz="3600" b="1">
              <a:solidFill>
                <a:srgbClr val="A50021"/>
              </a:solidFill>
              <a:ea typeface="楷体_GB2312" charset="0"/>
            </a:endParaRPr>
          </a:p>
          <a:p>
            <a:pPr>
              <a:lnSpc>
                <a:spcPct val="150000"/>
              </a:lnSpc>
            </a:pPr>
            <a:r>
              <a:rPr lang="zh-CN" altLang="en-US" sz="3600" b="1">
                <a:solidFill>
                  <a:srgbClr val="A50021"/>
                </a:solidFill>
                <a:ea typeface="楷体_GB2312" charset="0"/>
              </a:rPr>
              <a:t>其中，</a:t>
            </a:r>
            <a:r>
              <a:rPr lang="en-US" altLang="zh-CN" sz="3600" b="1">
                <a:solidFill>
                  <a:srgbClr val="A50021"/>
                </a:solidFill>
                <a:ea typeface="楷体_GB2312" charset="0"/>
              </a:rPr>
              <a:t>Random </a:t>
            </a:r>
            <a:r>
              <a:rPr lang="zh-CN" altLang="en-US" sz="3600" b="1">
                <a:solidFill>
                  <a:srgbClr val="A50021"/>
                </a:solidFill>
                <a:ea typeface="楷体_GB2312" charset="0"/>
              </a:rPr>
              <a:t>为伪随机函数</a:t>
            </a:r>
            <a:r>
              <a:rPr lang="en-US" altLang="zh-CN" sz="3600" b="1">
                <a:solidFill>
                  <a:srgbClr val="A50021"/>
                </a:solidFill>
                <a:ea typeface="楷体_GB2312" charset="0"/>
              </a:rPr>
              <a:t>,</a:t>
            </a:r>
            <a:r>
              <a:rPr lang="zh-CN" altLang="en-US" sz="3600" b="1">
                <a:solidFill>
                  <a:srgbClr val="A50021"/>
                </a:solidFill>
                <a:ea typeface="楷体_GB2312" charset="0"/>
              </a:rPr>
              <a:t>要</a:t>
            </a:r>
          </a:p>
          <a:p>
            <a:pPr>
              <a:lnSpc>
                <a:spcPct val="150000"/>
              </a:lnSpc>
            </a:pPr>
            <a:r>
              <a:rPr lang="zh-CN" altLang="en-US" sz="3600" b="1">
                <a:solidFill>
                  <a:srgbClr val="A50021"/>
                </a:solidFill>
                <a:ea typeface="楷体_GB2312" charset="0"/>
              </a:rPr>
              <a:t>保证函数值是在</a:t>
            </a:r>
            <a:r>
              <a:rPr lang="en-US" altLang="zh-CN" sz="3600" b="1">
                <a:solidFill>
                  <a:srgbClr val="A50021"/>
                </a:solidFill>
                <a:ea typeface="楷体_GB2312" charset="0"/>
              </a:rPr>
              <a:t>0</a:t>
            </a:r>
            <a:r>
              <a:rPr lang="zh-CN" altLang="en-US" sz="3600" b="1">
                <a:solidFill>
                  <a:srgbClr val="A50021"/>
                </a:solidFill>
                <a:ea typeface="楷体_GB2312" charset="0"/>
              </a:rPr>
              <a:t>～</a:t>
            </a:r>
            <a:r>
              <a:rPr lang="en-US" altLang="zh-CN" sz="3600" b="1">
                <a:solidFill>
                  <a:srgbClr val="A50021"/>
                </a:solidFill>
                <a:ea typeface="楷体_GB2312" charset="0"/>
              </a:rPr>
              <a:t>m</a:t>
            </a:r>
            <a:r>
              <a:rPr lang="zh-CN" altLang="en-US" sz="3600" b="1">
                <a:solidFill>
                  <a:srgbClr val="A50021"/>
                </a:solidFill>
                <a:ea typeface="楷体_GB2312" charset="0"/>
              </a:rPr>
              <a:t>－</a:t>
            </a:r>
            <a:r>
              <a:rPr lang="en-US" altLang="zh-CN" sz="3600" b="1">
                <a:solidFill>
                  <a:srgbClr val="A50021"/>
                </a:solidFill>
                <a:ea typeface="楷体_GB2312" charset="0"/>
              </a:rPr>
              <a:t>1</a:t>
            </a:r>
            <a:r>
              <a:rPr lang="zh-CN" altLang="en-US" sz="3600" b="1">
                <a:solidFill>
                  <a:srgbClr val="A50021"/>
                </a:solidFill>
                <a:ea typeface="楷体_GB2312" charset="0"/>
              </a:rPr>
              <a:t>之间。</a:t>
            </a:r>
          </a:p>
        </p:txBody>
      </p:sp>
      <p:sp>
        <p:nvSpPr>
          <p:cNvPr id="145415" name="Text Box 7"/>
          <p:cNvSpPr txBox="1">
            <a:spLocks noChangeArrowheads="1"/>
          </p:cNvSpPr>
          <p:nvPr/>
        </p:nvSpPr>
        <p:spPr bwMode="auto">
          <a:xfrm>
            <a:off x="669925" y="5084763"/>
            <a:ext cx="8245475" cy="152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30000"/>
              </a:lnSpc>
            </a:pPr>
            <a:r>
              <a:rPr lang="en-US" altLang="zh-CN" sz="3600">
                <a:ea typeface="楷体_GB2312" charset="0"/>
              </a:rPr>
              <a:t>    </a:t>
            </a:r>
            <a:r>
              <a:rPr lang="zh-CN" altLang="en-US" sz="3600">
                <a:solidFill>
                  <a:schemeClr val="accent2"/>
                </a:solidFill>
                <a:ea typeface="楷体_GB2312" charset="0"/>
              </a:rPr>
              <a:t>通常，此方法用于对长度不等的关键字构造哈希函数。</a:t>
            </a:r>
          </a:p>
        </p:txBody>
      </p:sp>
      <p:sp>
        <p:nvSpPr>
          <p:cNvPr id="145418" name="AutoShape 10">
            <a:hlinkClick r:id="rId4"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8057646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45411"/>
                                        </p:tgtEl>
                                        <p:attrNameLst>
                                          <p:attrName>style.visibility</p:attrName>
                                        </p:attrNameLst>
                                      </p:cBhvr>
                                      <p:to>
                                        <p:strVal val="visible"/>
                                      </p:to>
                                    </p:set>
                                    <p:animEffect transition="in" filter="wipe(left)">
                                      <p:cBhvr>
                                        <p:cTn id="7" dur="300"/>
                                        <p:tgtEl>
                                          <p:spTgt spid="145411"/>
                                        </p:tgtEl>
                                      </p:cBhvr>
                                    </p:animEffect>
                                  </p:childTnLst>
                                </p:cTn>
                              </p:par>
                            </p:childTnLst>
                          </p:cTn>
                        </p:par>
                        <p:par>
                          <p:cTn id="8" fill="hold" nodeType="afterGroup">
                            <p:stCondLst>
                              <p:cond delay="1200"/>
                            </p:stCondLst>
                            <p:childTnLst>
                              <p:par>
                                <p:cTn id="9" presetID="17" presetClass="entr" presetSubtype="10" fill="hold" nodeType="afterEffect">
                                  <p:stCondLst>
                                    <p:cond delay="0"/>
                                  </p:stCondLst>
                                  <p:childTnLst>
                                    <p:set>
                                      <p:cBhvr>
                                        <p:cTn id="10" dur="1" fill="hold">
                                          <p:stCondLst>
                                            <p:cond delay="0"/>
                                          </p:stCondLst>
                                        </p:cTn>
                                        <p:tgtEl>
                                          <p:spTgt spid="145412"/>
                                        </p:tgtEl>
                                        <p:attrNameLst>
                                          <p:attrName>style.visibility</p:attrName>
                                        </p:attrNameLst>
                                      </p:cBhvr>
                                      <p:to>
                                        <p:strVal val="visible"/>
                                      </p:to>
                                    </p:set>
                                    <p:anim calcmode="lin" valueType="num">
                                      <p:cBhvr>
                                        <p:cTn id="11" dur="500" fill="hold"/>
                                        <p:tgtEl>
                                          <p:spTgt spid="145412"/>
                                        </p:tgtEl>
                                        <p:attrNameLst>
                                          <p:attrName>ppt_w</p:attrName>
                                        </p:attrNameLst>
                                      </p:cBhvr>
                                      <p:tavLst>
                                        <p:tav tm="0">
                                          <p:val>
                                            <p:fltVal val="0"/>
                                          </p:val>
                                        </p:tav>
                                        <p:tav tm="100000">
                                          <p:val>
                                            <p:strVal val="#ppt_w"/>
                                          </p:val>
                                        </p:tav>
                                      </p:tavLst>
                                    </p:anim>
                                    <p:anim calcmode="lin" valueType="num">
                                      <p:cBhvr>
                                        <p:cTn id="12" dur="500" fill="hold"/>
                                        <p:tgtEl>
                                          <p:spTgt spid="145412"/>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iterate type="wd">
                                    <p:tmPct val="100000"/>
                                  </p:iterate>
                                  <p:childTnLst>
                                    <p:set>
                                      <p:cBhvr>
                                        <p:cTn id="16" dur="1" fill="hold">
                                          <p:stCondLst>
                                            <p:cond delay="0"/>
                                          </p:stCondLst>
                                        </p:cTn>
                                        <p:tgtEl>
                                          <p:spTgt spid="145414"/>
                                        </p:tgtEl>
                                        <p:attrNameLst>
                                          <p:attrName>style.visibility</p:attrName>
                                        </p:attrNameLst>
                                      </p:cBhvr>
                                      <p:to>
                                        <p:strVal val="visible"/>
                                      </p:to>
                                    </p:set>
                                    <p:animEffect transition="in" filter="strips(downRight)">
                                      <p:cBhvr>
                                        <p:cTn id="17" dur="300"/>
                                        <p:tgtEl>
                                          <p:spTgt spid="1454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45415"/>
                                        </p:tgtEl>
                                        <p:attrNameLst>
                                          <p:attrName>style.visibility</p:attrName>
                                        </p:attrNameLst>
                                      </p:cBhvr>
                                      <p:to>
                                        <p:strVal val="visible"/>
                                      </p:to>
                                    </p:set>
                                    <p:animEffect transition="in" filter="strips(downRight)">
                                      <p:cBhvr>
                                        <p:cTn id="22" dur="500"/>
                                        <p:tgtEl>
                                          <p:spTgt spid="145415"/>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145418"/>
                                        </p:tgtEl>
                                        <p:attrNameLst>
                                          <p:attrName>style.visibility</p:attrName>
                                        </p:attrNameLst>
                                      </p:cBhvr>
                                      <p:to>
                                        <p:strVal val="visible"/>
                                      </p:to>
                                    </p:set>
                                    <p:anim calcmode="lin" valueType="num">
                                      <p:cBhvr additive="base">
                                        <p:cTn id="26" dur="500" fill="hold"/>
                                        <p:tgtEl>
                                          <p:spTgt spid="145418"/>
                                        </p:tgtEl>
                                        <p:attrNameLst>
                                          <p:attrName>ppt_x</p:attrName>
                                        </p:attrNameLst>
                                      </p:cBhvr>
                                      <p:tavLst>
                                        <p:tav tm="0">
                                          <p:val>
                                            <p:strVal val="1+#ppt_w/2"/>
                                          </p:val>
                                        </p:tav>
                                        <p:tav tm="100000">
                                          <p:val>
                                            <p:strVal val="#ppt_x"/>
                                          </p:val>
                                        </p:tav>
                                      </p:tavLst>
                                    </p:anim>
                                    <p:anim calcmode="lin" valueType="num">
                                      <p:cBhvr additive="base">
                                        <p:cTn id="27" dur="500" fill="hold"/>
                                        <p:tgtEl>
                                          <p:spTgt spid="1454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autoUpdateAnimBg="0"/>
      <p:bldP spid="145414" grpId="0" autoUpdateAnimBg="0"/>
      <p:bldP spid="145415" grpId="0" autoUpdateAnimBg="0"/>
      <p:bldP spid="145418" grpId="0" animBg="1"/>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ext Box 2"/>
          <p:cNvSpPr txBox="1">
            <a:spLocks noChangeArrowheads="1"/>
          </p:cNvSpPr>
          <p:nvPr/>
        </p:nvSpPr>
        <p:spPr bwMode="auto">
          <a:xfrm>
            <a:off x="250825" y="260350"/>
            <a:ext cx="8540750" cy="613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457200" indent="-457200">
              <a:defRPr kumimoji="1" sz="2400">
                <a:solidFill>
                  <a:schemeClr val="tx1"/>
                </a:solidFill>
                <a:latin typeface="Times New Roman" charset="0"/>
                <a:ea typeface="宋体" charset="-122"/>
              </a:defRPr>
            </a:lvl1pPr>
            <a:lvl2pPr marL="914400" indent="-457200">
              <a:defRPr kumimoji="1" sz="2400">
                <a:solidFill>
                  <a:schemeClr val="tx1"/>
                </a:solidFill>
                <a:latin typeface="Times New Roman" charset="0"/>
                <a:ea typeface="宋体" charset="-122"/>
              </a:defRPr>
            </a:lvl2pPr>
            <a:lvl3pPr marL="1371600" indent="-457200">
              <a:defRPr kumimoji="1" sz="2400">
                <a:solidFill>
                  <a:schemeClr val="tx1"/>
                </a:solidFill>
                <a:latin typeface="Times New Roman" charset="0"/>
                <a:ea typeface="宋体" charset="-122"/>
              </a:defRPr>
            </a:lvl3pPr>
            <a:lvl4pPr marL="1828800" indent="-457200">
              <a:defRPr kumimoji="1" sz="2400">
                <a:solidFill>
                  <a:schemeClr val="tx1"/>
                </a:solidFill>
                <a:latin typeface="Times New Roman" charset="0"/>
                <a:ea typeface="宋体" charset="-122"/>
              </a:defRPr>
            </a:lvl4pPr>
            <a:lvl5pPr marL="2286000" indent="-457200">
              <a:defRPr kumimoji="1" sz="2400">
                <a:solidFill>
                  <a:schemeClr val="tx1"/>
                </a:solidFill>
                <a:latin typeface="Times New Roman" charset="0"/>
                <a:ea typeface="宋体" charset="-122"/>
              </a:defRPr>
            </a:lvl5pPr>
            <a:lvl6pPr marL="2743200" indent="-457200" fontAlgn="base">
              <a:spcBef>
                <a:spcPct val="0"/>
              </a:spcBef>
              <a:spcAft>
                <a:spcPct val="0"/>
              </a:spcAft>
              <a:defRPr kumimoji="1" sz="2400">
                <a:solidFill>
                  <a:schemeClr val="tx1"/>
                </a:solidFill>
                <a:latin typeface="Times New Roman" charset="0"/>
                <a:ea typeface="宋体" charset="-122"/>
              </a:defRPr>
            </a:lvl6pPr>
            <a:lvl7pPr marL="3200400" indent="-457200" fontAlgn="base">
              <a:spcBef>
                <a:spcPct val="0"/>
              </a:spcBef>
              <a:spcAft>
                <a:spcPct val="0"/>
              </a:spcAft>
              <a:defRPr kumimoji="1" sz="2400">
                <a:solidFill>
                  <a:schemeClr val="tx1"/>
                </a:solidFill>
                <a:latin typeface="Times New Roman" charset="0"/>
                <a:ea typeface="宋体" charset="-122"/>
              </a:defRPr>
            </a:lvl7pPr>
            <a:lvl8pPr marL="3657600" indent="-457200" fontAlgn="base">
              <a:spcBef>
                <a:spcPct val="0"/>
              </a:spcBef>
              <a:spcAft>
                <a:spcPct val="0"/>
              </a:spcAft>
              <a:defRPr kumimoji="1" sz="2400">
                <a:solidFill>
                  <a:schemeClr val="tx1"/>
                </a:solidFill>
                <a:latin typeface="Times New Roman" charset="0"/>
                <a:ea typeface="宋体" charset="-122"/>
              </a:defRPr>
            </a:lvl8pPr>
            <a:lvl9pPr marL="4114800" indent="-457200" fontAlgn="base">
              <a:spcBef>
                <a:spcPct val="0"/>
              </a:spcBef>
              <a:spcAft>
                <a:spcPct val="0"/>
              </a:spcAft>
              <a:defRPr kumimoji="1" sz="2400">
                <a:solidFill>
                  <a:schemeClr val="tx1"/>
                </a:solidFill>
                <a:latin typeface="Times New Roman" charset="0"/>
                <a:ea typeface="宋体" charset="-122"/>
              </a:defRPr>
            </a:lvl9pPr>
          </a:lstStyle>
          <a:p>
            <a:pPr>
              <a:lnSpc>
                <a:spcPct val="150000"/>
              </a:lnSpc>
            </a:pPr>
            <a:r>
              <a:rPr lang="en-US" altLang="zh-CN" sz="4000">
                <a:ea typeface="楷体_GB2312" charset="0"/>
              </a:rPr>
              <a:t>       </a:t>
            </a:r>
            <a:r>
              <a:rPr lang="zh-CN" altLang="en-US" sz="2800">
                <a:solidFill>
                  <a:srgbClr val="A50021"/>
                </a:solidFill>
                <a:ea typeface="楷体_GB2312" charset="0"/>
              </a:rPr>
              <a:t>实际造表时，</a:t>
            </a:r>
            <a:r>
              <a:rPr lang="zh-CN" altLang="en-US" sz="2800" b="1">
                <a:solidFill>
                  <a:schemeClr val="accent2"/>
                </a:solidFill>
                <a:ea typeface="楷体_GB2312" charset="0"/>
              </a:rPr>
              <a:t>采用何种</a:t>
            </a:r>
            <a:r>
              <a:rPr lang="zh-CN" altLang="en-US" sz="2800">
                <a:solidFill>
                  <a:srgbClr val="A50021"/>
                </a:solidFill>
                <a:ea typeface="楷体_GB2312" charset="0"/>
              </a:rPr>
              <a:t>构造哈希函数的</a:t>
            </a:r>
            <a:r>
              <a:rPr lang="zh-CN" altLang="en-US" sz="2800" b="1">
                <a:solidFill>
                  <a:schemeClr val="accent2"/>
                </a:solidFill>
                <a:ea typeface="楷体_GB2312" charset="0"/>
              </a:rPr>
              <a:t>方法</a:t>
            </a:r>
            <a:r>
              <a:rPr lang="zh-CN" altLang="en-US" sz="2800">
                <a:solidFill>
                  <a:srgbClr val="A50021"/>
                </a:solidFill>
                <a:ea typeface="楷体_GB2312" charset="0"/>
              </a:rPr>
              <a:t>取决于建表的关键字集合的情况</a:t>
            </a:r>
            <a:r>
              <a:rPr lang="en-US" altLang="zh-CN" sz="2800">
                <a:solidFill>
                  <a:srgbClr val="A50021"/>
                </a:solidFill>
                <a:ea typeface="楷体_GB2312" charset="0"/>
              </a:rPr>
              <a:t>(</a:t>
            </a:r>
            <a:r>
              <a:rPr lang="zh-CN" altLang="en-US" sz="2800">
                <a:solidFill>
                  <a:srgbClr val="A50021"/>
                </a:solidFill>
                <a:ea typeface="楷体_GB2312" charset="0"/>
              </a:rPr>
              <a:t>包括关键字的范围和形态</a:t>
            </a:r>
            <a:r>
              <a:rPr lang="en-US" altLang="zh-CN" sz="2800">
                <a:solidFill>
                  <a:srgbClr val="A50021"/>
                </a:solidFill>
                <a:ea typeface="楷体_GB2312" charset="0"/>
              </a:rPr>
              <a:t>)</a:t>
            </a:r>
            <a:r>
              <a:rPr lang="zh-CN" altLang="en-US" sz="2800">
                <a:solidFill>
                  <a:srgbClr val="A50021"/>
                </a:solidFill>
                <a:ea typeface="楷体_GB2312" charset="0"/>
              </a:rPr>
              <a:t>。</a:t>
            </a:r>
            <a:r>
              <a:rPr lang="zh-CN" altLang="en-US" sz="2800" b="1">
                <a:solidFill>
                  <a:srgbClr val="A50021"/>
                </a:solidFill>
                <a:ea typeface="楷体_GB2312" charset="0"/>
              </a:rPr>
              <a:t>考虑的因素包括：</a:t>
            </a:r>
          </a:p>
          <a:p>
            <a:pPr lvl="1">
              <a:lnSpc>
                <a:spcPct val="150000"/>
              </a:lnSpc>
              <a:buFontTx/>
              <a:buAutoNum type="arabicPeriod"/>
            </a:pPr>
            <a:r>
              <a:rPr lang="zh-CN" altLang="en-US" sz="2800" b="1">
                <a:solidFill>
                  <a:srgbClr val="A50021"/>
                </a:solidFill>
                <a:ea typeface="楷体_GB2312" charset="0"/>
              </a:rPr>
              <a:t>计算哈希函数所需时间；</a:t>
            </a:r>
          </a:p>
          <a:p>
            <a:pPr lvl="1">
              <a:lnSpc>
                <a:spcPct val="150000"/>
              </a:lnSpc>
              <a:buFontTx/>
              <a:buAutoNum type="arabicPeriod"/>
            </a:pPr>
            <a:r>
              <a:rPr lang="zh-CN" altLang="en-US" sz="2800" b="1">
                <a:solidFill>
                  <a:srgbClr val="A50021"/>
                </a:solidFill>
                <a:ea typeface="楷体_GB2312" charset="0"/>
              </a:rPr>
              <a:t>关键字的长度；</a:t>
            </a:r>
          </a:p>
          <a:p>
            <a:pPr lvl="1">
              <a:lnSpc>
                <a:spcPct val="150000"/>
              </a:lnSpc>
              <a:buFontTx/>
              <a:buAutoNum type="arabicPeriod"/>
            </a:pPr>
            <a:r>
              <a:rPr lang="zh-CN" altLang="en-US" sz="2800" b="1">
                <a:solidFill>
                  <a:srgbClr val="A50021"/>
                </a:solidFill>
                <a:ea typeface="楷体_GB2312" charset="0"/>
              </a:rPr>
              <a:t>哈希表的大小；</a:t>
            </a:r>
          </a:p>
          <a:p>
            <a:pPr lvl="1">
              <a:lnSpc>
                <a:spcPct val="150000"/>
              </a:lnSpc>
              <a:buFontTx/>
              <a:buAutoNum type="arabicPeriod"/>
            </a:pPr>
            <a:r>
              <a:rPr lang="zh-CN" altLang="en-US" sz="2800" b="1">
                <a:solidFill>
                  <a:srgbClr val="A50021"/>
                </a:solidFill>
                <a:ea typeface="楷体_GB2312" charset="0"/>
              </a:rPr>
              <a:t>关键字的分布情况；</a:t>
            </a:r>
          </a:p>
          <a:p>
            <a:pPr lvl="1">
              <a:lnSpc>
                <a:spcPct val="150000"/>
              </a:lnSpc>
              <a:buFontTx/>
              <a:buAutoNum type="arabicPeriod"/>
            </a:pPr>
            <a:r>
              <a:rPr lang="zh-CN" altLang="en-US" sz="2800" b="1">
                <a:solidFill>
                  <a:srgbClr val="A50021"/>
                </a:solidFill>
                <a:ea typeface="楷体_GB2312" charset="0"/>
              </a:rPr>
              <a:t>记录的查找频率</a:t>
            </a:r>
          </a:p>
          <a:p>
            <a:pPr>
              <a:lnSpc>
                <a:spcPct val="150000"/>
              </a:lnSpc>
            </a:pPr>
            <a:r>
              <a:rPr lang="zh-CN" altLang="en-US" sz="2800">
                <a:solidFill>
                  <a:srgbClr val="A50021"/>
                </a:solidFill>
                <a:ea typeface="楷体_GB2312" charset="0"/>
              </a:rPr>
              <a:t>总</a:t>
            </a:r>
            <a:r>
              <a:rPr lang="zh-CN" altLang="en-US" sz="2800" b="1">
                <a:solidFill>
                  <a:schemeClr val="accent2"/>
                </a:solidFill>
                <a:ea typeface="楷体_GB2312" charset="0"/>
              </a:rPr>
              <a:t>的原则是使产生冲突的可能性降到尽可能地小</a:t>
            </a:r>
            <a:r>
              <a:rPr lang="zh-CN" altLang="en-US" sz="2800" b="1">
                <a:solidFill>
                  <a:srgbClr val="A50021"/>
                </a:solidFill>
                <a:ea typeface="楷体_GB2312" charset="0"/>
              </a:rPr>
              <a:t>。</a:t>
            </a:r>
          </a:p>
        </p:txBody>
      </p:sp>
      <p:sp>
        <p:nvSpPr>
          <p:cNvPr id="146438" name="AutoShape 6">
            <a:hlinkClick r:id="" action="ppaction://hlinkshowjump?jump=lastslideviewed" highlightClick="1"/>
          </p:cNvPr>
          <p:cNvSpPr>
            <a:spLocks noChangeArrowheads="1"/>
          </p:cNvSpPr>
          <p:nvPr/>
        </p:nvSpPr>
        <p:spPr bwMode="auto">
          <a:xfrm>
            <a:off x="8077200" y="60198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405511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iterate type="wd">
                                    <p:tmPct val="100000"/>
                                  </p:iterate>
                                  <p:childTnLst>
                                    <p:set>
                                      <p:cBhvr>
                                        <p:cTn id="6" dur="1" fill="hold">
                                          <p:stCondLst>
                                            <p:cond delay="0"/>
                                          </p:stCondLst>
                                        </p:cTn>
                                        <p:tgtEl>
                                          <p:spTgt spid="146434"/>
                                        </p:tgtEl>
                                        <p:attrNameLst>
                                          <p:attrName>style.visibility</p:attrName>
                                        </p:attrNameLst>
                                      </p:cBhvr>
                                      <p:to>
                                        <p:strVal val="visible"/>
                                      </p:to>
                                    </p:set>
                                    <p:animEffect transition="in" filter="strips(downRight)">
                                      <p:cBhvr>
                                        <p:cTn id="7" dur="300"/>
                                        <p:tgtEl>
                                          <p:spTgt spid="146434"/>
                                        </p:tgtEl>
                                      </p:cBhvr>
                                    </p:animEffect>
                                  </p:childTnLst>
                                </p:cTn>
                              </p:par>
                            </p:childTnLst>
                          </p:cTn>
                        </p:par>
                        <p:par>
                          <p:cTn id="8" fill="hold" nodeType="afterGroup">
                            <p:stCondLst>
                              <p:cond delay="21600"/>
                            </p:stCondLst>
                            <p:childTnLst>
                              <p:par>
                                <p:cTn id="9" presetID="2" presetClass="entr" presetSubtype="6" fill="hold" grpId="0" nodeType="afterEffect">
                                  <p:stCondLst>
                                    <p:cond delay="0"/>
                                  </p:stCondLst>
                                  <p:childTnLst>
                                    <p:set>
                                      <p:cBhvr>
                                        <p:cTn id="10" dur="1" fill="hold">
                                          <p:stCondLst>
                                            <p:cond delay="0"/>
                                          </p:stCondLst>
                                        </p:cTn>
                                        <p:tgtEl>
                                          <p:spTgt spid="146438"/>
                                        </p:tgtEl>
                                        <p:attrNameLst>
                                          <p:attrName>style.visibility</p:attrName>
                                        </p:attrNameLst>
                                      </p:cBhvr>
                                      <p:to>
                                        <p:strVal val="visible"/>
                                      </p:to>
                                    </p:set>
                                    <p:anim calcmode="lin" valueType="num">
                                      <p:cBhvr additive="base">
                                        <p:cTn id="11" dur="500" fill="hold"/>
                                        <p:tgtEl>
                                          <p:spTgt spid="146438"/>
                                        </p:tgtEl>
                                        <p:attrNameLst>
                                          <p:attrName>ppt_x</p:attrName>
                                        </p:attrNameLst>
                                      </p:cBhvr>
                                      <p:tavLst>
                                        <p:tav tm="0">
                                          <p:val>
                                            <p:strVal val="1+#ppt_w/2"/>
                                          </p:val>
                                        </p:tav>
                                        <p:tav tm="100000">
                                          <p:val>
                                            <p:strVal val="#ppt_x"/>
                                          </p:val>
                                        </p:tav>
                                      </p:tavLst>
                                    </p:anim>
                                    <p:anim calcmode="lin" valueType="num">
                                      <p:cBhvr additive="base">
                                        <p:cTn id="12" dur="500" fill="hold"/>
                                        <p:tgtEl>
                                          <p:spTgt spid="1464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4" grpId="0" autoUpdateAnimBg="0"/>
      <p:bldP spid="146438" grpId="0" animBg="1"/>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Text Box 3"/>
          <p:cNvSpPr txBox="1">
            <a:spLocks noChangeArrowheads="1"/>
          </p:cNvSpPr>
          <p:nvPr/>
        </p:nvSpPr>
        <p:spPr bwMode="auto">
          <a:xfrm>
            <a:off x="-141288" y="566738"/>
            <a:ext cx="58308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lvl="2"/>
            <a:r>
              <a:rPr lang="zh-CN" altLang="en-US" sz="4000">
                <a:solidFill>
                  <a:srgbClr val="FF00FF"/>
                </a:solidFill>
                <a:ea typeface="楷体_GB2312" charset="0"/>
              </a:rPr>
              <a:t>三、</a:t>
            </a:r>
            <a:r>
              <a:rPr lang="zh-CN" altLang="en-US" sz="4000" b="1">
                <a:solidFill>
                  <a:srgbClr val="FF00FF"/>
                </a:solidFill>
                <a:ea typeface="楷体_GB2312" charset="0"/>
              </a:rPr>
              <a:t>处理冲突的方法</a:t>
            </a:r>
            <a:r>
              <a:rPr lang="zh-CN" altLang="en-US" sz="4000">
                <a:ea typeface="楷体_GB2312" charset="0"/>
              </a:rPr>
              <a:t> </a:t>
            </a:r>
            <a:endParaRPr lang="zh-CN" altLang="en-US">
              <a:solidFill>
                <a:srgbClr val="0000FF"/>
              </a:solidFill>
              <a:ea typeface="楷体_GB2312" charset="0"/>
            </a:endParaRPr>
          </a:p>
        </p:txBody>
      </p:sp>
      <p:sp>
        <p:nvSpPr>
          <p:cNvPr id="154628" name="Text Box 4"/>
          <p:cNvSpPr txBox="1">
            <a:spLocks noChangeArrowheads="1"/>
          </p:cNvSpPr>
          <p:nvPr/>
        </p:nvSpPr>
        <p:spPr bwMode="auto">
          <a:xfrm>
            <a:off x="457200" y="1333500"/>
            <a:ext cx="8429625"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lang="en-US" altLang="zh-CN" sz="4000">
                <a:solidFill>
                  <a:srgbClr val="A50021"/>
                </a:solidFill>
                <a:ea typeface="楷体_GB2312" charset="0"/>
              </a:rPr>
              <a:t>     “</a:t>
            </a:r>
            <a:r>
              <a:rPr lang="zh-CN" altLang="en-US" sz="4000" b="1">
                <a:solidFill>
                  <a:srgbClr val="A50021"/>
                </a:solidFill>
                <a:ea typeface="楷体_GB2312" charset="0"/>
              </a:rPr>
              <a:t>处理冲突</a:t>
            </a:r>
            <a:r>
              <a:rPr lang="zh-CN" altLang="en-US" sz="4000">
                <a:solidFill>
                  <a:srgbClr val="A50021"/>
                </a:solidFill>
                <a:ea typeface="楷体_GB2312" charset="0"/>
              </a:rPr>
              <a:t>” 的实际含义是：</a:t>
            </a:r>
          </a:p>
          <a:p>
            <a:pPr>
              <a:lnSpc>
                <a:spcPct val="140000"/>
              </a:lnSpc>
            </a:pPr>
            <a:r>
              <a:rPr lang="zh-CN" altLang="en-US" sz="3600">
                <a:solidFill>
                  <a:srgbClr val="0000FF"/>
                </a:solidFill>
                <a:ea typeface="楷体_GB2312" charset="0"/>
              </a:rPr>
              <a:t>为产生冲突的地址</a:t>
            </a:r>
            <a:r>
              <a:rPr lang="zh-CN" altLang="en-US" sz="3600" b="1">
                <a:solidFill>
                  <a:srgbClr val="0000FF"/>
                </a:solidFill>
                <a:ea typeface="楷体_GB2312" charset="0"/>
              </a:rPr>
              <a:t>寻找下一个</a:t>
            </a:r>
            <a:r>
              <a:rPr lang="zh-CN" altLang="en-US" sz="3600">
                <a:solidFill>
                  <a:srgbClr val="0000FF"/>
                </a:solidFill>
                <a:ea typeface="楷体_GB2312" charset="0"/>
              </a:rPr>
              <a:t>哈希地址。</a:t>
            </a:r>
          </a:p>
        </p:txBody>
      </p:sp>
      <p:sp>
        <p:nvSpPr>
          <p:cNvPr id="154629" name="Rectangle 5">
            <a:hlinkClick r:id="" action="ppaction://hlinkshowjump?jump=nextslide" highlightClick="1"/>
          </p:cNvPr>
          <p:cNvSpPr>
            <a:spLocks noChangeArrowheads="1"/>
          </p:cNvSpPr>
          <p:nvPr/>
        </p:nvSpPr>
        <p:spPr bwMode="auto">
          <a:xfrm>
            <a:off x="1752600" y="3810000"/>
            <a:ext cx="323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006600"/>
                </a:solidFill>
                <a:ea typeface="隶书" charset="0"/>
              </a:rPr>
              <a:t>1. </a:t>
            </a:r>
            <a:r>
              <a:rPr lang="zh-CN" altLang="en-US" sz="4000" b="1">
                <a:solidFill>
                  <a:srgbClr val="006600"/>
                </a:solidFill>
                <a:latin typeface="隶书" charset="0"/>
                <a:ea typeface="隶书" charset="0"/>
              </a:rPr>
              <a:t>开放定址法</a:t>
            </a:r>
            <a:endParaRPr lang="zh-CN" altLang="en-US" sz="4000" b="1">
              <a:solidFill>
                <a:srgbClr val="800000"/>
              </a:solidFill>
              <a:ea typeface="楷体_GB2312" charset="0"/>
            </a:endParaRPr>
          </a:p>
        </p:txBody>
      </p:sp>
      <p:sp>
        <p:nvSpPr>
          <p:cNvPr id="154630" name="Text Box 6">
            <a:hlinkClick r:id="rId2" action="ppaction://hlinksldjump" highlightClick="1"/>
          </p:cNvPr>
          <p:cNvSpPr txBox="1">
            <a:spLocks noChangeArrowheads="1"/>
          </p:cNvSpPr>
          <p:nvPr/>
        </p:nvSpPr>
        <p:spPr bwMode="auto">
          <a:xfrm>
            <a:off x="838200" y="5029200"/>
            <a:ext cx="3733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r>
              <a:rPr lang="en-US" altLang="zh-CN" sz="4000" b="1">
                <a:solidFill>
                  <a:srgbClr val="006600"/>
                </a:solidFill>
                <a:ea typeface="隶书" charset="0"/>
              </a:rPr>
              <a:t>2. </a:t>
            </a:r>
            <a:r>
              <a:rPr lang="zh-CN" altLang="en-US" sz="4000" b="1">
                <a:solidFill>
                  <a:srgbClr val="006600"/>
                </a:solidFill>
                <a:latin typeface="隶书" charset="0"/>
                <a:ea typeface="隶书" charset="0"/>
              </a:rPr>
              <a:t>链地址法</a:t>
            </a:r>
            <a:endParaRPr lang="zh-CN" altLang="en-US"/>
          </a:p>
        </p:txBody>
      </p:sp>
      <p:sp>
        <p:nvSpPr>
          <p:cNvPr id="154633" name="AutoShape 9">
            <a:hlinkClick r:id="rId3" action="ppaction://hlinksldjump" highlightClick="1"/>
          </p:cNvPr>
          <p:cNvSpPr>
            <a:spLocks noChangeArrowheads="1"/>
          </p:cNvSpPr>
          <p:nvPr/>
        </p:nvSpPr>
        <p:spPr bwMode="auto">
          <a:xfrm>
            <a:off x="82296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880513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154627"/>
                                        </p:tgtEl>
                                        <p:attrNameLst>
                                          <p:attrName>style.visibility</p:attrName>
                                        </p:attrNameLst>
                                      </p:cBhvr>
                                      <p:to>
                                        <p:strVal val="visible"/>
                                      </p:to>
                                    </p:set>
                                    <p:animEffect transition="in" filter="randombar(vertical)">
                                      <p:cBhvr>
                                        <p:cTn id="7" dur="500"/>
                                        <p:tgtEl>
                                          <p:spTgt spid="1546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154628"/>
                                        </p:tgtEl>
                                        <p:attrNameLst>
                                          <p:attrName>style.visibility</p:attrName>
                                        </p:attrNameLst>
                                      </p:cBhvr>
                                      <p:to>
                                        <p:strVal val="visible"/>
                                      </p:to>
                                    </p:set>
                                    <p:animEffect transition="in" filter="slide(fromLeft)">
                                      <p:cBhvr>
                                        <p:cTn id="12" dur="500"/>
                                        <p:tgtEl>
                                          <p:spTgt spid="1546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154629"/>
                                        </p:tgtEl>
                                        <p:attrNameLst>
                                          <p:attrName>style.visibility</p:attrName>
                                        </p:attrNameLst>
                                      </p:cBhvr>
                                      <p:to>
                                        <p:strVal val="visible"/>
                                      </p:to>
                                    </p:set>
                                    <p:anim calcmode="lin" valueType="num">
                                      <p:cBhvr>
                                        <p:cTn id="17" dur="500" fill="hold"/>
                                        <p:tgtEl>
                                          <p:spTgt spid="154629"/>
                                        </p:tgtEl>
                                        <p:attrNameLst>
                                          <p:attrName>ppt_w</p:attrName>
                                        </p:attrNameLst>
                                      </p:cBhvr>
                                      <p:tavLst>
                                        <p:tav tm="0">
                                          <p:val>
                                            <p:fltVal val="0"/>
                                          </p:val>
                                        </p:tav>
                                        <p:tav tm="100000">
                                          <p:val>
                                            <p:strVal val="#ppt_w"/>
                                          </p:val>
                                        </p:tav>
                                      </p:tavLst>
                                    </p:anim>
                                    <p:anim calcmode="lin" valueType="num">
                                      <p:cBhvr>
                                        <p:cTn id="18" dur="500" fill="hold"/>
                                        <p:tgtEl>
                                          <p:spTgt spid="154629"/>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154630"/>
                                        </p:tgtEl>
                                        <p:attrNameLst>
                                          <p:attrName>style.visibility</p:attrName>
                                        </p:attrNameLst>
                                      </p:cBhvr>
                                      <p:to>
                                        <p:strVal val="visible"/>
                                      </p:to>
                                    </p:set>
                                    <p:anim calcmode="lin" valueType="num">
                                      <p:cBhvr>
                                        <p:cTn id="23" dur="500" fill="hold"/>
                                        <p:tgtEl>
                                          <p:spTgt spid="154630"/>
                                        </p:tgtEl>
                                        <p:attrNameLst>
                                          <p:attrName>ppt_w</p:attrName>
                                        </p:attrNameLst>
                                      </p:cBhvr>
                                      <p:tavLst>
                                        <p:tav tm="0">
                                          <p:val>
                                            <p:fltVal val="0"/>
                                          </p:val>
                                        </p:tav>
                                        <p:tav tm="100000">
                                          <p:val>
                                            <p:strVal val="#ppt_w"/>
                                          </p:val>
                                        </p:tav>
                                      </p:tavLst>
                                    </p:anim>
                                    <p:anim calcmode="lin" valueType="num">
                                      <p:cBhvr>
                                        <p:cTn id="24" dur="500" fill="hold"/>
                                        <p:tgtEl>
                                          <p:spTgt spid="154630"/>
                                        </p:tgtEl>
                                        <p:attrNameLst>
                                          <p:attrName>ppt_h</p:attrName>
                                        </p:attrNameLst>
                                      </p:cBhvr>
                                      <p:tavLst>
                                        <p:tav tm="0">
                                          <p:val>
                                            <p:strVal val="#ppt_h"/>
                                          </p:val>
                                        </p:tav>
                                        <p:tav tm="100000">
                                          <p:val>
                                            <p:strVal val="#ppt_h"/>
                                          </p:val>
                                        </p:tav>
                                      </p:tavLst>
                                    </p:anim>
                                  </p:childTnLst>
                                </p:cTn>
                              </p:par>
                            </p:childTnLst>
                          </p:cTn>
                        </p:par>
                        <p:par>
                          <p:cTn id="25" fill="hold" nodeType="afterGroup">
                            <p:stCondLst>
                              <p:cond delay="500"/>
                            </p:stCondLst>
                            <p:childTnLst>
                              <p:par>
                                <p:cTn id="26" presetID="2" presetClass="entr" presetSubtype="6" fill="hold" grpId="0" nodeType="afterEffect">
                                  <p:stCondLst>
                                    <p:cond delay="0"/>
                                  </p:stCondLst>
                                  <p:childTnLst>
                                    <p:set>
                                      <p:cBhvr>
                                        <p:cTn id="27" dur="1" fill="hold">
                                          <p:stCondLst>
                                            <p:cond delay="0"/>
                                          </p:stCondLst>
                                        </p:cTn>
                                        <p:tgtEl>
                                          <p:spTgt spid="154633"/>
                                        </p:tgtEl>
                                        <p:attrNameLst>
                                          <p:attrName>style.visibility</p:attrName>
                                        </p:attrNameLst>
                                      </p:cBhvr>
                                      <p:to>
                                        <p:strVal val="visible"/>
                                      </p:to>
                                    </p:set>
                                    <p:anim calcmode="lin" valueType="num">
                                      <p:cBhvr additive="base">
                                        <p:cTn id="28" dur="500" fill="hold"/>
                                        <p:tgtEl>
                                          <p:spTgt spid="154633"/>
                                        </p:tgtEl>
                                        <p:attrNameLst>
                                          <p:attrName>ppt_x</p:attrName>
                                        </p:attrNameLst>
                                      </p:cBhvr>
                                      <p:tavLst>
                                        <p:tav tm="0">
                                          <p:val>
                                            <p:strVal val="1+#ppt_w/2"/>
                                          </p:val>
                                        </p:tav>
                                        <p:tav tm="100000">
                                          <p:val>
                                            <p:strVal val="#ppt_x"/>
                                          </p:val>
                                        </p:tav>
                                      </p:tavLst>
                                    </p:anim>
                                    <p:anim calcmode="lin" valueType="num">
                                      <p:cBhvr additive="base">
                                        <p:cTn id="29" dur="500" fill="hold"/>
                                        <p:tgtEl>
                                          <p:spTgt spid="1546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autoUpdateAnimBg="0"/>
      <p:bldP spid="154628" grpId="0" autoUpdateAnimBg="0"/>
      <p:bldP spid="154629" grpId="0" autoUpdateAnimBg="0"/>
      <p:bldP spid="154630" grpId="0" autoUpdateAnimBg="0"/>
      <p:bldP spid="154633"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1" name="Text Box 3"/>
          <p:cNvSpPr txBox="1">
            <a:spLocks noChangeArrowheads="1"/>
          </p:cNvSpPr>
          <p:nvPr/>
        </p:nvSpPr>
        <p:spPr bwMode="auto">
          <a:xfrm>
            <a:off x="-76200" y="1371600"/>
            <a:ext cx="8839200" cy="512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lnSpc>
                <a:spcPct val="150000"/>
              </a:lnSpc>
            </a:pPr>
            <a:r>
              <a:rPr lang="en-US" altLang="zh-CN" sz="4000">
                <a:solidFill>
                  <a:srgbClr val="A50021"/>
                </a:solidFill>
                <a:ea typeface="楷体_GB2312" charset="0"/>
              </a:rPr>
              <a:t>   </a:t>
            </a:r>
            <a:r>
              <a:rPr lang="zh-CN" altLang="en-US" sz="3600">
                <a:solidFill>
                  <a:srgbClr val="A50021"/>
                </a:solidFill>
                <a:ea typeface="楷体_GB2312" charset="0"/>
              </a:rPr>
              <a:t>为产生冲突的地址 </a:t>
            </a:r>
            <a:r>
              <a:rPr lang="en-US" altLang="zh-CN" sz="3600">
                <a:solidFill>
                  <a:srgbClr val="A50021"/>
                </a:solidFill>
                <a:ea typeface="楷体_GB2312" charset="0"/>
              </a:rPr>
              <a:t>H(key) </a:t>
            </a:r>
            <a:r>
              <a:rPr lang="zh-CN" altLang="en-US" sz="3600">
                <a:solidFill>
                  <a:srgbClr val="A50021"/>
                </a:solidFill>
                <a:ea typeface="楷体_GB2312" charset="0"/>
              </a:rPr>
              <a:t>求得一个</a:t>
            </a:r>
            <a:r>
              <a:rPr lang="zh-CN" altLang="en-US" sz="3600" b="1">
                <a:solidFill>
                  <a:srgbClr val="FF00FF"/>
                </a:solidFill>
                <a:ea typeface="楷体_GB2312" charset="0"/>
              </a:rPr>
              <a:t>地址序列</a:t>
            </a:r>
            <a:r>
              <a:rPr lang="zh-CN" altLang="en-US" sz="3600">
                <a:solidFill>
                  <a:srgbClr val="A50021"/>
                </a:solidFill>
                <a:ea typeface="楷体_GB2312" charset="0"/>
              </a:rPr>
              <a:t>：</a:t>
            </a:r>
          </a:p>
          <a:p>
            <a:pPr lvl="2">
              <a:lnSpc>
                <a:spcPct val="150000"/>
              </a:lnSpc>
            </a:pPr>
            <a:r>
              <a:rPr lang="zh-CN" altLang="en-US" sz="3600">
                <a:solidFill>
                  <a:srgbClr val="A50021"/>
                </a:solidFill>
                <a:ea typeface="楷体_GB2312" charset="0"/>
              </a:rPr>
              <a:t>   </a:t>
            </a:r>
            <a:r>
              <a:rPr lang="en-US" altLang="zh-CN" sz="3600" b="1">
                <a:solidFill>
                  <a:srgbClr val="A50021"/>
                </a:solidFill>
                <a:ea typeface="楷体_GB2312" charset="0"/>
              </a:rPr>
              <a:t>H</a:t>
            </a:r>
            <a:r>
              <a:rPr lang="en-US" altLang="zh-CN" sz="3600" b="1" baseline="-25000">
                <a:solidFill>
                  <a:srgbClr val="A50021"/>
                </a:solidFill>
                <a:ea typeface="楷体_GB2312" charset="0"/>
              </a:rPr>
              <a:t>0</a:t>
            </a:r>
            <a:r>
              <a:rPr lang="en-US" altLang="zh-CN" sz="3600" b="1">
                <a:solidFill>
                  <a:srgbClr val="A50021"/>
                </a:solidFill>
                <a:ea typeface="楷体_GB2312" charset="0"/>
              </a:rPr>
              <a:t>, H</a:t>
            </a:r>
            <a:r>
              <a:rPr lang="en-US" altLang="zh-CN" sz="3600" b="1" baseline="-25000">
                <a:solidFill>
                  <a:srgbClr val="A50021"/>
                </a:solidFill>
                <a:ea typeface="楷体_GB2312" charset="0"/>
              </a:rPr>
              <a:t>1</a:t>
            </a:r>
            <a:r>
              <a:rPr lang="en-US" altLang="zh-CN" sz="3600" b="1">
                <a:solidFill>
                  <a:srgbClr val="A50021"/>
                </a:solidFill>
                <a:ea typeface="楷体_GB2312" charset="0"/>
              </a:rPr>
              <a:t>, H</a:t>
            </a:r>
            <a:r>
              <a:rPr lang="en-US" altLang="zh-CN" sz="3600" b="1" baseline="-25000">
                <a:solidFill>
                  <a:srgbClr val="A50021"/>
                </a:solidFill>
                <a:ea typeface="楷体_GB2312" charset="0"/>
              </a:rPr>
              <a:t>2</a:t>
            </a:r>
            <a:r>
              <a:rPr lang="en-US" altLang="zh-CN" sz="3600" b="1">
                <a:solidFill>
                  <a:srgbClr val="A50021"/>
                </a:solidFill>
                <a:ea typeface="楷体_GB2312" charset="0"/>
              </a:rPr>
              <a:t>, …</a:t>
            </a:r>
            <a:r>
              <a:rPr lang="en-US" altLang="zh-CN" sz="3600" b="1">
                <a:solidFill>
                  <a:srgbClr val="A50021"/>
                </a:solidFill>
                <a:latin typeface="楷体_GB2312" charset="0"/>
                <a:ea typeface="楷体_GB2312" charset="0"/>
              </a:rPr>
              <a:t>, </a:t>
            </a:r>
            <a:r>
              <a:rPr lang="en-US" altLang="zh-CN" sz="3600" b="1">
                <a:solidFill>
                  <a:srgbClr val="A50021"/>
                </a:solidFill>
                <a:ea typeface="楷体_GB2312" charset="0"/>
              </a:rPr>
              <a:t>H</a:t>
            </a:r>
            <a:r>
              <a:rPr lang="en-US" altLang="zh-CN" sz="3600" b="1" baseline="-25000">
                <a:solidFill>
                  <a:srgbClr val="A50021"/>
                </a:solidFill>
                <a:ea typeface="楷体_GB2312" charset="0"/>
              </a:rPr>
              <a:t>s</a:t>
            </a:r>
            <a:r>
              <a:rPr lang="en-US" altLang="zh-CN" sz="3600">
                <a:solidFill>
                  <a:srgbClr val="A50021"/>
                </a:solidFill>
                <a:ea typeface="楷体_GB2312" charset="0"/>
              </a:rPr>
              <a:t>     </a:t>
            </a:r>
            <a:r>
              <a:rPr lang="en-US" altLang="zh-CN" sz="3600" b="1" i="1">
                <a:solidFill>
                  <a:srgbClr val="A50021"/>
                </a:solidFill>
                <a:ea typeface="楷体_GB2312" charset="0"/>
              </a:rPr>
              <a:t>1≤ s≤m-1</a:t>
            </a:r>
            <a:endParaRPr lang="en-US" altLang="zh-CN" sz="3600">
              <a:solidFill>
                <a:srgbClr val="A50021"/>
              </a:solidFill>
              <a:ea typeface="楷体_GB2312" charset="0"/>
            </a:endParaRPr>
          </a:p>
          <a:p>
            <a:pPr lvl="2">
              <a:lnSpc>
                <a:spcPct val="150000"/>
              </a:lnSpc>
            </a:pPr>
            <a:r>
              <a:rPr lang="zh-CN" altLang="en-US" sz="3600">
                <a:solidFill>
                  <a:srgbClr val="A50021"/>
                </a:solidFill>
                <a:ea typeface="楷体_GB2312" charset="0"/>
              </a:rPr>
              <a:t>其中：</a:t>
            </a:r>
            <a:r>
              <a:rPr lang="en-US" altLang="zh-CN" sz="3600" b="1">
                <a:solidFill>
                  <a:srgbClr val="A50021"/>
                </a:solidFill>
                <a:ea typeface="楷体_GB2312" charset="0"/>
              </a:rPr>
              <a:t>H</a:t>
            </a:r>
            <a:r>
              <a:rPr lang="en-US" altLang="zh-CN" sz="3600" b="1" baseline="-25000">
                <a:solidFill>
                  <a:srgbClr val="A50021"/>
                </a:solidFill>
                <a:ea typeface="楷体_GB2312" charset="0"/>
              </a:rPr>
              <a:t>0</a:t>
            </a:r>
            <a:r>
              <a:rPr lang="en-US" altLang="zh-CN" sz="3600" b="1">
                <a:solidFill>
                  <a:srgbClr val="A50021"/>
                </a:solidFill>
                <a:ea typeface="楷体_GB2312" charset="0"/>
              </a:rPr>
              <a:t> = H(key)</a:t>
            </a:r>
          </a:p>
          <a:p>
            <a:pPr lvl="2">
              <a:lnSpc>
                <a:spcPct val="150000"/>
              </a:lnSpc>
            </a:pPr>
            <a:r>
              <a:rPr lang="en-US" altLang="zh-CN" sz="3600" b="1">
                <a:solidFill>
                  <a:srgbClr val="A50021"/>
                </a:solidFill>
                <a:ea typeface="楷体_GB2312" charset="0"/>
              </a:rPr>
              <a:t>            H</a:t>
            </a:r>
            <a:r>
              <a:rPr lang="en-US" altLang="zh-CN" sz="3600" b="1" baseline="-25000">
                <a:solidFill>
                  <a:srgbClr val="A50021"/>
                </a:solidFill>
                <a:ea typeface="楷体_GB2312" charset="0"/>
              </a:rPr>
              <a:t>i</a:t>
            </a:r>
            <a:r>
              <a:rPr lang="en-US" altLang="zh-CN" sz="3600" b="1">
                <a:solidFill>
                  <a:srgbClr val="A50021"/>
                </a:solidFill>
                <a:ea typeface="楷体_GB2312" charset="0"/>
              </a:rPr>
              <a:t> = ( H(key) + </a:t>
            </a:r>
            <a:r>
              <a:rPr lang="en-US" altLang="zh-CN" sz="3600" b="1" i="1">
                <a:solidFill>
                  <a:srgbClr val="FF0000"/>
                </a:solidFill>
                <a:ea typeface="楷体_GB2312" charset="0"/>
              </a:rPr>
              <a:t>d</a:t>
            </a:r>
            <a:r>
              <a:rPr lang="en-US" altLang="zh-CN" sz="3600" b="1" i="1" baseline="-25000">
                <a:solidFill>
                  <a:srgbClr val="FF0000"/>
                </a:solidFill>
                <a:ea typeface="楷体_GB2312" charset="0"/>
              </a:rPr>
              <a:t>i</a:t>
            </a:r>
            <a:r>
              <a:rPr lang="en-US" altLang="zh-CN" sz="3600" b="1" i="1">
                <a:solidFill>
                  <a:srgbClr val="FF0000"/>
                </a:solidFill>
                <a:ea typeface="楷体_GB2312" charset="0"/>
              </a:rPr>
              <a:t> </a:t>
            </a:r>
            <a:r>
              <a:rPr lang="en-US" altLang="zh-CN" sz="3600" b="1">
                <a:solidFill>
                  <a:srgbClr val="A50021"/>
                </a:solidFill>
                <a:ea typeface="楷体_GB2312" charset="0"/>
              </a:rPr>
              <a:t>) MOD m </a:t>
            </a:r>
          </a:p>
          <a:p>
            <a:pPr lvl="2">
              <a:lnSpc>
                <a:spcPct val="150000"/>
              </a:lnSpc>
            </a:pPr>
            <a:r>
              <a:rPr lang="en-US" altLang="zh-CN" sz="3600" b="1">
                <a:solidFill>
                  <a:srgbClr val="A50021"/>
                </a:solidFill>
                <a:ea typeface="楷体_GB2312" charset="0"/>
              </a:rPr>
              <a:t>                       </a:t>
            </a:r>
            <a:r>
              <a:rPr lang="en-US" altLang="zh-CN" sz="3600" b="1" i="1">
                <a:solidFill>
                  <a:srgbClr val="FF0000"/>
                </a:solidFill>
                <a:ea typeface="楷体_GB2312" charset="0"/>
              </a:rPr>
              <a:t>i=1, 2, …, s</a:t>
            </a:r>
            <a:endParaRPr lang="en-US" altLang="zh-CN" sz="4000" b="1"/>
          </a:p>
        </p:txBody>
      </p:sp>
      <p:sp>
        <p:nvSpPr>
          <p:cNvPr id="155652" name="Text Box 4"/>
          <p:cNvSpPr txBox="1">
            <a:spLocks noChangeArrowheads="1"/>
          </p:cNvSpPr>
          <p:nvPr/>
        </p:nvSpPr>
        <p:spPr bwMode="auto">
          <a:xfrm>
            <a:off x="762000" y="441325"/>
            <a:ext cx="3255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solidFill>
                  <a:srgbClr val="990000"/>
                </a:solidFill>
              </a:rPr>
              <a:t>1. </a:t>
            </a:r>
            <a:r>
              <a:rPr lang="zh-CN" altLang="en-US" sz="4000" b="1">
                <a:solidFill>
                  <a:srgbClr val="800000"/>
                </a:solidFill>
                <a:ea typeface="楷体_GB2312" charset="0"/>
              </a:rPr>
              <a:t>开放定址法</a:t>
            </a:r>
          </a:p>
        </p:txBody>
      </p:sp>
    </p:spTree>
    <p:extLst>
      <p:ext uri="{BB962C8B-B14F-4D97-AF65-F5344CB8AC3E}">
        <p14:creationId xmlns:p14="http://schemas.microsoft.com/office/powerpoint/2010/main" val="21050016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155652"/>
                                        </p:tgtEl>
                                        <p:attrNameLst>
                                          <p:attrName>style.visibility</p:attrName>
                                        </p:attrNameLst>
                                      </p:cBhvr>
                                      <p:to>
                                        <p:strVal val="visible"/>
                                      </p:to>
                                    </p:set>
                                    <p:animEffect transition="in" filter="randombar(vertical)">
                                      <p:cBhvr>
                                        <p:cTn id="7" dur="500"/>
                                        <p:tgtEl>
                                          <p:spTgt spid="1556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9" fill="hold" grpId="0" nodeType="clickEffect">
                                  <p:stCondLst>
                                    <p:cond delay="0"/>
                                  </p:stCondLst>
                                  <p:childTnLst>
                                    <p:set>
                                      <p:cBhvr>
                                        <p:cTn id="11" dur="1" fill="hold">
                                          <p:stCondLst>
                                            <p:cond delay="0"/>
                                          </p:stCondLst>
                                        </p:cTn>
                                        <p:tgtEl>
                                          <p:spTgt spid="155651"/>
                                        </p:tgtEl>
                                        <p:attrNameLst>
                                          <p:attrName>style.visibility</p:attrName>
                                        </p:attrNameLst>
                                      </p:cBhvr>
                                      <p:to>
                                        <p:strVal val="visible"/>
                                      </p:to>
                                    </p:set>
                                    <p:animEffect transition="in" filter="strips(upLeft)">
                                      <p:cBhvr>
                                        <p:cTn id="12" dur="500"/>
                                        <p:tgtEl>
                                          <p:spTgt spid="155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autoUpdateAnimBg="0"/>
      <p:bldP spid="155652" grpId="0" autoUpdateAnimBg="0"/>
    </p:bldLst>
  </p:timing>
</p:sld>
</file>

<file path=ppt/slides/slide1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0" name="Rectangle 2"/>
          <p:cNvSpPr>
            <a:spLocks noGrp="1" noChangeArrowheads="1"/>
          </p:cNvSpPr>
          <p:nvPr>
            <p:ph type="title" idx="4294967295"/>
          </p:nvPr>
        </p:nvSpPr>
        <p:spPr>
          <a:xfrm>
            <a:off x="762000" y="304800"/>
            <a:ext cx="7772400" cy="685800"/>
          </a:xfrm>
        </p:spPr>
        <p:txBody>
          <a:bodyPr/>
          <a:lstStyle/>
          <a:p>
            <a:pPr algn="just"/>
            <a:r>
              <a:rPr lang="zh-CN" altLang="en-US" sz="4000">
                <a:solidFill>
                  <a:srgbClr val="A50021"/>
                </a:solidFill>
                <a:ea typeface="楷体_GB2312" charset="0"/>
              </a:rPr>
              <a:t>对增量</a:t>
            </a:r>
            <a:r>
              <a:rPr lang="zh-CN" altLang="en-US" sz="4000">
                <a:solidFill>
                  <a:schemeClr val="tx1"/>
                </a:solidFill>
                <a:ea typeface="楷体_GB2312" charset="0"/>
              </a:rPr>
              <a:t> </a:t>
            </a:r>
            <a:r>
              <a:rPr lang="en-US" altLang="zh-CN" sz="4000" b="1" i="1">
                <a:solidFill>
                  <a:srgbClr val="9D9DFF"/>
                </a:solidFill>
                <a:ea typeface="楷体_GB2312" charset="0"/>
              </a:rPr>
              <a:t>d</a:t>
            </a:r>
            <a:r>
              <a:rPr lang="en-US" altLang="zh-CN" sz="4000" b="1" i="1" baseline="-25000">
                <a:solidFill>
                  <a:srgbClr val="9D9DFF"/>
                </a:solidFill>
                <a:ea typeface="楷体_GB2312" charset="0"/>
              </a:rPr>
              <a:t>i</a:t>
            </a:r>
            <a:r>
              <a:rPr lang="en-US" altLang="zh-CN" sz="4000" baseline="-25000">
                <a:solidFill>
                  <a:schemeClr val="tx1"/>
                </a:solidFill>
                <a:ea typeface="楷体_GB2312" charset="0"/>
              </a:rPr>
              <a:t>  </a:t>
            </a:r>
            <a:r>
              <a:rPr lang="zh-CN" altLang="en-US" sz="4000">
                <a:solidFill>
                  <a:srgbClr val="A50021"/>
                </a:solidFill>
                <a:ea typeface="楷体_GB2312" charset="0"/>
              </a:rPr>
              <a:t>有三种取法：</a:t>
            </a:r>
            <a:endParaRPr lang="zh-CN" altLang="en-US">
              <a:solidFill>
                <a:schemeClr val="tx1"/>
              </a:solidFill>
              <a:ea typeface="楷体_GB2312" charset="0"/>
            </a:endParaRPr>
          </a:p>
        </p:txBody>
      </p:sp>
      <p:sp>
        <p:nvSpPr>
          <p:cNvPr id="160771" name="Rectangle 3"/>
          <p:cNvSpPr>
            <a:spLocks noGrp="1" noChangeArrowheads="1"/>
          </p:cNvSpPr>
          <p:nvPr>
            <p:ph type="body" idx="4294967295"/>
          </p:nvPr>
        </p:nvSpPr>
        <p:spPr>
          <a:xfrm>
            <a:off x="762000" y="1066800"/>
            <a:ext cx="8382000" cy="5486400"/>
          </a:xfrm>
        </p:spPr>
        <p:txBody>
          <a:bodyPr/>
          <a:lstStyle/>
          <a:p>
            <a:pPr algn="just">
              <a:lnSpc>
                <a:spcPct val="130000"/>
              </a:lnSpc>
            </a:pPr>
            <a:r>
              <a:rPr lang="en-US" altLang="zh-CN" sz="3600">
                <a:solidFill>
                  <a:srgbClr val="A50021"/>
                </a:solidFill>
                <a:ea typeface="楷体_GB2312" charset="0"/>
              </a:rPr>
              <a:t>1</a:t>
            </a:r>
            <a:r>
              <a:rPr lang="en-US" altLang="zh-CN" sz="3600">
                <a:solidFill>
                  <a:srgbClr val="A50021"/>
                </a:solidFill>
              </a:rPr>
              <a:t>) </a:t>
            </a:r>
            <a:r>
              <a:rPr lang="zh-CN" altLang="en-US" sz="3600" b="1">
                <a:solidFill>
                  <a:srgbClr val="A50021"/>
                </a:solidFill>
                <a:ea typeface="楷体_GB2312" charset="0"/>
              </a:rPr>
              <a:t>线性探测再散列</a:t>
            </a:r>
            <a:br>
              <a:rPr lang="zh-CN" altLang="en-US" sz="3600" b="1">
                <a:solidFill>
                  <a:srgbClr val="A50021"/>
                </a:solidFill>
                <a:ea typeface="楷体_GB2312" charset="0"/>
              </a:rPr>
            </a:br>
            <a:r>
              <a:rPr lang="zh-CN" altLang="en-US" sz="3600">
                <a:solidFill>
                  <a:srgbClr val="A50021"/>
                </a:solidFill>
                <a:ea typeface="楷体_GB2312" charset="0"/>
              </a:rPr>
              <a:t>      </a:t>
            </a:r>
            <a:r>
              <a:rPr lang="en-US" altLang="zh-CN" sz="3600" b="1" i="1">
                <a:solidFill>
                  <a:srgbClr val="FF0000"/>
                </a:solidFill>
                <a:ea typeface="楷体_GB2312" charset="0"/>
              </a:rPr>
              <a:t>d</a:t>
            </a:r>
            <a:r>
              <a:rPr lang="en-US" altLang="zh-CN" sz="3600" b="1" i="1" baseline="-25000">
                <a:solidFill>
                  <a:srgbClr val="FF0000"/>
                </a:solidFill>
                <a:ea typeface="楷体_GB2312" charset="0"/>
              </a:rPr>
              <a:t>i</a:t>
            </a:r>
            <a:r>
              <a:rPr lang="en-US" altLang="zh-CN" sz="3600" b="1" i="1">
                <a:solidFill>
                  <a:srgbClr val="FF0000"/>
                </a:solidFill>
                <a:ea typeface="楷体_GB2312" charset="0"/>
              </a:rPr>
              <a:t> = c</a:t>
            </a:r>
            <a:r>
              <a:rPr lang="en-US" altLang="zh-CN" sz="3600" b="1" i="1">
                <a:solidFill>
                  <a:srgbClr val="FF0000"/>
                </a:solidFill>
                <a:ea typeface="楷体_GB2312" charset="0"/>
                <a:sym typeface="Symbol" charset="2"/>
              </a:rPr>
              <a:t>  </a:t>
            </a:r>
            <a:r>
              <a:rPr lang="en-US" altLang="zh-CN" sz="3600" b="1" i="1">
                <a:solidFill>
                  <a:srgbClr val="FF0000"/>
                </a:solidFill>
                <a:ea typeface="楷体_GB2312" charset="0"/>
              </a:rPr>
              <a:t>i</a:t>
            </a:r>
            <a:r>
              <a:rPr lang="en-US" altLang="zh-CN" sz="3600">
                <a:solidFill>
                  <a:srgbClr val="A50021"/>
                </a:solidFill>
                <a:ea typeface="楷体_GB2312" charset="0"/>
              </a:rPr>
              <a:t>   </a:t>
            </a:r>
            <a:r>
              <a:rPr lang="zh-CN" altLang="en-US" sz="3600">
                <a:solidFill>
                  <a:srgbClr val="A50021"/>
                </a:solidFill>
                <a:ea typeface="楷体_GB2312" charset="0"/>
              </a:rPr>
              <a:t>最简单的情况  </a:t>
            </a:r>
            <a:r>
              <a:rPr lang="en-US" altLang="zh-CN" sz="3600" b="1" i="1">
                <a:solidFill>
                  <a:srgbClr val="A50021"/>
                </a:solidFill>
                <a:ea typeface="楷体_GB2312" charset="0"/>
              </a:rPr>
              <a:t>c=1</a:t>
            </a:r>
            <a:endParaRPr lang="en-US" altLang="zh-CN" sz="3600">
              <a:solidFill>
                <a:srgbClr val="A50021"/>
              </a:solidFill>
              <a:ea typeface="楷体_GB2312" charset="0"/>
            </a:endParaRPr>
          </a:p>
          <a:p>
            <a:pPr algn="just">
              <a:lnSpc>
                <a:spcPct val="130000"/>
              </a:lnSpc>
            </a:pPr>
            <a:r>
              <a:rPr lang="en-US" altLang="zh-CN" sz="3600">
                <a:solidFill>
                  <a:srgbClr val="A50021"/>
                </a:solidFill>
                <a:ea typeface="楷体_GB2312" charset="0"/>
              </a:rPr>
              <a:t>2</a:t>
            </a:r>
            <a:r>
              <a:rPr lang="en-US" altLang="zh-CN" sz="3600">
                <a:solidFill>
                  <a:srgbClr val="A50021"/>
                </a:solidFill>
              </a:rPr>
              <a:t>) </a:t>
            </a:r>
            <a:r>
              <a:rPr lang="zh-CN" altLang="en-US" sz="3600" b="1">
                <a:solidFill>
                  <a:srgbClr val="A50021"/>
                </a:solidFill>
                <a:ea typeface="楷体_GB2312" charset="0"/>
              </a:rPr>
              <a:t>平方探测再散列</a:t>
            </a:r>
            <a:br>
              <a:rPr lang="zh-CN" altLang="en-US" sz="3600" b="1">
                <a:solidFill>
                  <a:srgbClr val="A50021"/>
                </a:solidFill>
                <a:ea typeface="楷体_GB2312" charset="0"/>
              </a:rPr>
            </a:br>
            <a:r>
              <a:rPr lang="zh-CN" altLang="en-US" sz="3600">
                <a:solidFill>
                  <a:srgbClr val="A50021"/>
                </a:solidFill>
                <a:ea typeface="楷体_GB2312" charset="0"/>
              </a:rPr>
              <a:t>      </a:t>
            </a:r>
            <a:r>
              <a:rPr lang="en-US" altLang="zh-CN" sz="3600" b="1" i="1">
                <a:solidFill>
                  <a:srgbClr val="FF0000"/>
                </a:solidFill>
                <a:ea typeface="楷体_GB2312" charset="0"/>
              </a:rPr>
              <a:t>d</a:t>
            </a:r>
            <a:r>
              <a:rPr lang="en-US" altLang="zh-CN" sz="3600" b="1" i="1" baseline="-25000">
                <a:solidFill>
                  <a:srgbClr val="FF0000"/>
                </a:solidFill>
                <a:ea typeface="楷体_GB2312" charset="0"/>
              </a:rPr>
              <a:t>i</a:t>
            </a:r>
            <a:r>
              <a:rPr lang="en-US" altLang="zh-CN" sz="3600" b="1" i="1">
                <a:solidFill>
                  <a:srgbClr val="FF0000"/>
                </a:solidFill>
                <a:ea typeface="楷体_GB2312" charset="0"/>
              </a:rPr>
              <a:t> = 1</a:t>
            </a:r>
            <a:r>
              <a:rPr lang="en-US" altLang="zh-CN" sz="3600" b="1" i="1" baseline="30000">
                <a:solidFill>
                  <a:srgbClr val="FF0000"/>
                </a:solidFill>
                <a:ea typeface="楷体_GB2312" charset="0"/>
              </a:rPr>
              <a:t>2</a:t>
            </a:r>
            <a:r>
              <a:rPr lang="en-US" altLang="zh-CN" sz="3600" b="1" i="1">
                <a:solidFill>
                  <a:srgbClr val="FF0000"/>
                </a:solidFill>
                <a:ea typeface="楷体_GB2312" charset="0"/>
              </a:rPr>
              <a:t>, -1</a:t>
            </a:r>
            <a:r>
              <a:rPr lang="en-US" altLang="zh-CN" sz="3600" b="1" i="1" baseline="30000">
                <a:solidFill>
                  <a:srgbClr val="FF0000"/>
                </a:solidFill>
                <a:ea typeface="楷体_GB2312" charset="0"/>
              </a:rPr>
              <a:t>2</a:t>
            </a:r>
            <a:r>
              <a:rPr lang="en-US" altLang="zh-CN" sz="3600" b="1" i="1">
                <a:solidFill>
                  <a:srgbClr val="FF0000"/>
                </a:solidFill>
                <a:ea typeface="楷体_GB2312" charset="0"/>
              </a:rPr>
              <a:t>, 2</a:t>
            </a:r>
            <a:r>
              <a:rPr lang="en-US" altLang="zh-CN" sz="3600" b="1" i="1" baseline="30000">
                <a:solidFill>
                  <a:srgbClr val="FF0000"/>
                </a:solidFill>
                <a:ea typeface="楷体_GB2312" charset="0"/>
              </a:rPr>
              <a:t>2</a:t>
            </a:r>
            <a:r>
              <a:rPr lang="en-US" altLang="zh-CN" sz="3600" b="1" i="1">
                <a:solidFill>
                  <a:srgbClr val="FF0000"/>
                </a:solidFill>
                <a:ea typeface="楷体_GB2312" charset="0"/>
              </a:rPr>
              <a:t>, -2</a:t>
            </a:r>
            <a:r>
              <a:rPr lang="en-US" altLang="zh-CN" sz="3600" b="1" i="1" baseline="30000">
                <a:solidFill>
                  <a:srgbClr val="FF0000"/>
                </a:solidFill>
                <a:ea typeface="楷体_GB2312" charset="0"/>
              </a:rPr>
              <a:t>2</a:t>
            </a:r>
            <a:r>
              <a:rPr lang="en-US" altLang="zh-CN" sz="3600" b="1" i="1">
                <a:solidFill>
                  <a:srgbClr val="FF0000"/>
                </a:solidFill>
                <a:ea typeface="楷体_GB2312" charset="0"/>
              </a:rPr>
              <a:t>, …</a:t>
            </a:r>
            <a:r>
              <a:rPr lang="en-US" altLang="zh-CN" sz="3600" b="1" i="1">
                <a:solidFill>
                  <a:srgbClr val="FF0000"/>
                </a:solidFill>
                <a:latin typeface="楷体_GB2312" charset="0"/>
                <a:ea typeface="楷体_GB2312" charset="0"/>
              </a:rPr>
              <a:t>,</a:t>
            </a:r>
            <a:endParaRPr lang="en-US" altLang="zh-CN" sz="3600">
              <a:solidFill>
                <a:srgbClr val="A50021"/>
              </a:solidFill>
              <a:latin typeface="楷体_GB2312" charset="0"/>
              <a:ea typeface="楷体_GB2312" charset="0"/>
            </a:endParaRPr>
          </a:p>
          <a:p>
            <a:pPr algn="just">
              <a:lnSpc>
                <a:spcPct val="130000"/>
              </a:lnSpc>
            </a:pPr>
            <a:r>
              <a:rPr lang="en-US" altLang="zh-CN" sz="3600">
                <a:solidFill>
                  <a:srgbClr val="A50021"/>
                </a:solidFill>
                <a:ea typeface="楷体_GB2312" charset="0"/>
              </a:rPr>
              <a:t>3</a:t>
            </a:r>
            <a:r>
              <a:rPr lang="en-US" altLang="zh-CN" sz="3600">
                <a:solidFill>
                  <a:srgbClr val="A50021"/>
                </a:solidFill>
              </a:rPr>
              <a:t>) </a:t>
            </a:r>
            <a:r>
              <a:rPr lang="zh-CN" altLang="en-US" sz="3600" b="1">
                <a:solidFill>
                  <a:srgbClr val="A50021"/>
                </a:solidFill>
                <a:ea typeface="楷体_GB2312" charset="0"/>
              </a:rPr>
              <a:t>随机探测再散列</a:t>
            </a:r>
            <a:br>
              <a:rPr lang="zh-CN" altLang="en-US" sz="3600" b="1">
                <a:solidFill>
                  <a:srgbClr val="A50021"/>
                </a:solidFill>
                <a:ea typeface="楷体_GB2312" charset="0"/>
              </a:rPr>
            </a:br>
            <a:r>
              <a:rPr lang="zh-CN" altLang="en-US" sz="3600">
                <a:solidFill>
                  <a:srgbClr val="A50021"/>
                </a:solidFill>
                <a:ea typeface="楷体_GB2312" charset="0"/>
              </a:rPr>
              <a:t>      </a:t>
            </a:r>
            <a:r>
              <a:rPr lang="en-US" altLang="zh-CN" sz="3600" b="1" i="1">
                <a:solidFill>
                  <a:srgbClr val="FF0000"/>
                </a:solidFill>
                <a:ea typeface="楷体_GB2312" charset="0"/>
              </a:rPr>
              <a:t>d</a:t>
            </a:r>
            <a:r>
              <a:rPr lang="en-US" altLang="zh-CN" sz="3600" b="1" i="1" baseline="-25000">
                <a:solidFill>
                  <a:srgbClr val="FF0000"/>
                </a:solidFill>
                <a:ea typeface="楷体_GB2312" charset="0"/>
              </a:rPr>
              <a:t>i</a:t>
            </a:r>
            <a:r>
              <a:rPr lang="en-US" altLang="zh-CN" sz="3600" b="1" i="1">
                <a:solidFill>
                  <a:srgbClr val="FF0000"/>
                </a:solidFill>
                <a:ea typeface="楷体_GB2312" charset="0"/>
              </a:rPr>
              <a:t> </a:t>
            </a:r>
            <a:r>
              <a:rPr lang="zh-CN" altLang="en-US" sz="3600">
                <a:solidFill>
                  <a:srgbClr val="FF0000"/>
                </a:solidFill>
                <a:ea typeface="楷体_GB2312" charset="0"/>
              </a:rPr>
              <a:t>是一组</a:t>
            </a:r>
            <a:r>
              <a:rPr lang="zh-CN" altLang="en-US" sz="3600" b="1">
                <a:solidFill>
                  <a:srgbClr val="FF0000"/>
                </a:solidFill>
                <a:ea typeface="楷体_GB2312" charset="0"/>
              </a:rPr>
              <a:t>伪随机数列</a:t>
            </a:r>
            <a:r>
              <a:rPr lang="zh-CN" altLang="en-US" sz="3600">
                <a:solidFill>
                  <a:srgbClr val="A50021"/>
                </a:solidFill>
                <a:ea typeface="楷体_GB2312" charset="0"/>
              </a:rPr>
              <a:t>   或者</a:t>
            </a:r>
          </a:p>
          <a:p>
            <a:pPr algn="just">
              <a:lnSpc>
                <a:spcPct val="130000"/>
              </a:lnSpc>
            </a:pPr>
            <a:r>
              <a:rPr lang="zh-CN" altLang="en-US" sz="3600">
                <a:solidFill>
                  <a:srgbClr val="A50021"/>
                </a:solidFill>
                <a:ea typeface="楷体_GB2312" charset="0"/>
              </a:rPr>
              <a:t>     </a:t>
            </a:r>
            <a:r>
              <a:rPr lang="en-US" altLang="zh-CN" sz="3600" b="1" i="1">
                <a:solidFill>
                  <a:srgbClr val="FF0000"/>
                </a:solidFill>
                <a:ea typeface="楷体_GB2312" charset="0"/>
              </a:rPr>
              <a:t>d</a:t>
            </a:r>
            <a:r>
              <a:rPr lang="en-US" altLang="zh-CN" sz="3600" b="1" i="1" baseline="-25000">
                <a:solidFill>
                  <a:srgbClr val="FF0000"/>
                </a:solidFill>
                <a:ea typeface="楷体_GB2312" charset="0"/>
              </a:rPr>
              <a:t>i</a:t>
            </a:r>
            <a:r>
              <a:rPr lang="en-US" altLang="zh-CN" sz="3600" b="1" i="1">
                <a:solidFill>
                  <a:srgbClr val="FF0000"/>
                </a:solidFill>
                <a:ea typeface="楷体_GB2312" charset="0"/>
              </a:rPr>
              <a:t>=i</a:t>
            </a:r>
            <a:r>
              <a:rPr lang="en-US" altLang="zh-CN" sz="3600" b="1" i="1">
                <a:solidFill>
                  <a:srgbClr val="FF0000"/>
                </a:solidFill>
                <a:ea typeface="楷体_GB2312" charset="0"/>
                <a:sym typeface="Symbol" charset="2"/>
              </a:rPr>
              <a:t>×H</a:t>
            </a:r>
            <a:r>
              <a:rPr lang="en-US" altLang="zh-CN" sz="3600" b="1" i="1" baseline="-25000">
                <a:solidFill>
                  <a:srgbClr val="FF0000"/>
                </a:solidFill>
                <a:ea typeface="楷体_GB2312" charset="0"/>
                <a:sym typeface="Symbol" charset="2"/>
              </a:rPr>
              <a:t>2</a:t>
            </a:r>
            <a:r>
              <a:rPr lang="en-US" altLang="zh-CN" sz="3600" b="1" i="1">
                <a:solidFill>
                  <a:srgbClr val="FF0000"/>
                </a:solidFill>
                <a:ea typeface="楷体_GB2312" charset="0"/>
                <a:sym typeface="Symbol" charset="2"/>
              </a:rPr>
              <a:t>(key) </a:t>
            </a:r>
            <a:r>
              <a:rPr lang="en-US" altLang="zh-CN" sz="3600" b="1">
                <a:solidFill>
                  <a:srgbClr val="A50021"/>
                </a:solidFill>
                <a:ea typeface="楷体_GB2312" charset="0"/>
                <a:sym typeface="Symbol" charset="2"/>
              </a:rPr>
              <a:t>(</a:t>
            </a:r>
            <a:r>
              <a:rPr lang="zh-CN" altLang="en-US" sz="3600" b="1">
                <a:solidFill>
                  <a:srgbClr val="A50021"/>
                </a:solidFill>
                <a:ea typeface="楷体_GB2312" charset="0"/>
                <a:sym typeface="Symbol" charset="2"/>
              </a:rPr>
              <a:t>又称双散列函数探测</a:t>
            </a:r>
            <a:r>
              <a:rPr lang="en-US" altLang="zh-CN" sz="3600" b="1">
                <a:solidFill>
                  <a:srgbClr val="A50021"/>
                </a:solidFill>
                <a:ea typeface="楷体_GB2312" charset="0"/>
                <a:sym typeface="Symbol" charset="2"/>
              </a:rPr>
              <a:t>)</a:t>
            </a:r>
            <a:endParaRPr lang="en-US" altLang="zh-CN" sz="3600" b="1" i="1">
              <a:solidFill>
                <a:srgbClr val="A50021"/>
              </a:solidFill>
              <a:ea typeface="楷体_GB2312" charset="0"/>
            </a:endParaRPr>
          </a:p>
        </p:txBody>
      </p:sp>
      <p:sp>
        <p:nvSpPr>
          <p:cNvPr id="160772" name="Rectangle 4">
            <a:hlinkClick r:id="rId2" action="ppaction://hlinksldjump"/>
          </p:cNvPr>
          <p:cNvSpPr>
            <a:spLocks noChangeArrowheads="1"/>
          </p:cNvSpPr>
          <p:nvPr/>
        </p:nvSpPr>
        <p:spPr bwMode="auto">
          <a:xfrm>
            <a:off x="1676400" y="1219200"/>
            <a:ext cx="60198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0773" name="Rectangle 5">
            <a:hlinkClick r:id="rId3" action="ppaction://hlinksldjump"/>
          </p:cNvPr>
          <p:cNvSpPr>
            <a:spLocks noChangeArrowheads="1"/>
          </p:cNvSpPr>
          <p:nvPr/>
        </p:nvSpPr>
        <p:spPr bwMode="auto">
          <a:xfrm>
            <a:off x="1676400" y="5791200"/>
            <a:ext cx="7467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9762098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60770"/>
                                        </p:tgtEl>
                                        <p:attrNameLst>
                                          <p:attrName>style.visibility</p:attrName>
                                        </p:attrNameLst>
                                      </p:cBhvr>
                                      <p:to>
                                        <p:strVal val="visible"/>
                                      </p:to>
                                    </p:set>
                                    <p:animEffect transition="in" filter="strips(downRight)">
                                      <p:cBhvr>
                                        <p:cTn id="7" dur="500"/>
                                        <p:tgtEl>
                                          <p:spTgt spid="1607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0771">
                                            <p:txEl>
                                              <p:pRg st="0" end="0"/>
                                            </p:txEl>
                                          </p:spTgt>
                                        </p:tgtEl>
                                        <p:attrNameLst>
                                          <p:attrName>style.visibility</p:attrName>
                                        </p:attrNameLst>
                                      </p:cBhvr>
                                      <p:to>
                                        <p:strVal val="visible"/>
                                      </p:to>
                                    </p:set>
                                    <p:animEffect transition="in" filter="wipe(left)">
                                      <p:cBhvr>
                                        <p:cTn id="12" dur="500"/>
                                        <p:tgtEl>
                                          <p:spTgt spid="16077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0771">
                                            <p:txEl>
                                              <p:pRg st="1" end="1"/>
                                            </p:txEl>
                                          </p:spTgt>
                                        </p:tgtEl>
                                        <p:attrNameLst>
                                          <p:attrName>style.visibility</p:attrName>
                                        </p:attrNameLst>
                                      </p:cBhvr>
                                      <p:to>
                                        <p:strVal val="visible"/>
                                      </p:to>
                                    </p:set>
                                    <p:animEffect transition="in" filter="wipe(left)">
                                      <p:cBhvr>
                                        <p:cTn id="17" dur="500"/>
                                        <p:tgtEl>
                                          <p:spTgt spid="16077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0771">
                                            <p:txEl>
                                              <p:pRg st="2" end="2"/>
                                            </p:txEl>
                                          </p:spTgt>
                                        </p:tgtEl>
                                        <p:attrNameLst>
                                          <p:attrName>style.visibility</p:attrName>
                                        </p:attrNameLst>
                                      </p:cBhvr>
                                      <p:to>
                                        <p:strVal val="visible"/>
                                      </p:to>
                                    </p:set>
                                    <p:animEffect transition="in" filter="wipe(left)">
                                      <p:cBhvr>
                                        <p:cTn id="22" dur="500"/>
                                        <p:tgtEl>
                                          <p:spTgt spid="160771">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0771">
                                            <p:txEl>
                                              <p:pRg st="3" end="3"/>
                                            </p:txEl>
                                          </p:spTgt>
                                        </p:tgtEl>
                                        <p:attrNameLst>
                                          <p:attrName>style.visibility</p:attrName>
                                        </p:attrNameLst>
                                      </p:cBhvr>
                                      <p:to>
                                        <p:strVal val="visible"/>
                                      </p:to>
                                    </p:set>
                                    <p:animEffect transition="in" filter="wipe(left)">
                                      <p:cBhvr>
                                        <p:cTn id="27" dur="500"/>
                                        <p:tgtEl>
                                          <p:spTgt spid="1607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autoUpdateAnimBg="0"/>
      <p:bldP spid="160771" grpId="0" build="p" autoUpdateAnimBg="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p:cNvSpPr txBox="1">
            <a:spLocks noChangeArrowheads="1"/>
          </p:cNvSpPr>
          <p:nvPr/>
        </p:nvSpPr>
        <p:spPr bwMode="auto">
          <a:xfrm>
            <a:off x="228600" y="1571625"/>
            <a:ext cx="8610600" cy="195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2400">
                <a:solidFill>
                  <a:schemeClr val="tx1"/>
                </a:solidFill>
                <a:latin typeface="Times New Roman" charset="0"/>
                <a:ea typeface="宋体" charset="-122"/>
              </a:defRPr>
            </a:lvl1pPr>
            <a:lvl2pPr marL="190500">
              <a:defRPr kumimoji="1" sz="2400">
                <a:solidFill>
                  <a:schemeClr val="tx1"/>
                </a:solidFill>
                <a:latin typeface="Times New Roman" charset="0"/>
                <a:ea typeface="宋体" charset="-122"/>
              </a:defRPr>
            </a:lvl2pPr>
            <a:lvl3pPr marL="381000">
              <a:defRPr kumimoji="1" sz="2400">
                <a:solidFill>
                  <a:schemeClr val="tx1"/>
                </a:solidFill>
                <a:latin typeface="Times New Roman" charset="0"/>
                <a:ea typeface="宋体" charset="-122"/>
              </a:defRPr>
            </a:lvl3pPr>
            <a:lvl4pPr>
              <a:defRPr kumimoji="1" sz="2400">
                <a:solidFill>
                  <a:schemeClr val="tx1"/>
                </a:solidFill>
                <a:latin typeface="Times New Roman" charset="0"/>
                <a:ea typeface="宋体" charset="-122"/>
              </a:defRPr>
            </a:lvl4pPr>
            <a:lvl5pPr>
              <a:defRPr kumimoji="1" sz="2400">
                <a:solidFill>
                  <a:schemeClr val="tx1"/>
                </a:solidFill>
                <a:latin typeface="Times New Roman" charset="0"/>
                <a:ea typeface="宋体" charset="-122"/>
              </a:defRPr>
            </a:lvl5pPr>
            <a:lvl6pPr fontAlgn="base">
              <a:spcBef>
                <a:spcPct val="0"/>
              </a:spcBef>
              <a:spcAft>
                <a:spcPct val="0"/>
              </a:spcAft>
              <a:defRPr kumimoji="1" sz="2400">
                <a:solidFill>
                  <a:schemeClr val="tx1"/>
                </a:solidFill>
                <a:latin typeface="Times New Roman" charset="0"/>
                <a:ea typeface="宋体" charset="-122"/>
              </a:defRPr>
            </a:lvl6pPr>
            <a:lvl7pPr fontAlgn="base">
              <a:spcBef>
                <a:spcPct val="0"/>
              </a:spcBef>
              <a:spcAft>
                <a:spcPct val="0"/>
              </a:spcAft>
              <a:defRPr kumimoji="1" sz="2400">
                <a:solidFill>
                  <a:schemeClr val="tx1"/>
                </a:solidFill>
                <a:latin typeface="Times New Roman" charset="0"/>
                <a:ea typeface="宋体" charset="-122"/>
              </a:defRPr>
            </a:lvl7pPr>
            <a:lvl8pPr fontAlgn="base">
              <a:spcBef>
                <a:spcPct val="0"/>
              </a:spcBef>
              <a:spcAft>
                <a:spcPct val="0"/>
              </a:spcAft>
              <a:defRPr kumimoji="1" sz="2400">
                <a:solidFill>
                  <a:schemeClr val="tx1"/>
                </a:solidFill>
                <a:latin typeface="Times New Roman" charset="0"/>
                <a:ea typeface="宋体" charset="-122"/>
              </a:defRPr>
            </a:lvl8pPr>
            <a:lvl9pPr fontAlgn="base">
              <a:spcBef>
                <a:spcPct val="0"/>
              </a:spcBef>
              <a:spcAft>
                <a:spcPct val="0"/>
              </a:spcAft>
              <a:defRPr kumimoji="1" sz="2400">
                <a:solidFill>
                  <a:schemeClr val="tx1"/>
                </a:solidFill>
                <a:latin typeface="Times New Roman" charset="0"/>
                <a:ea typeface="宋体" charset="-122"/>
              </a:defRPr>
            </a:lvl9pPr>
          </a:lstStyle>
          <a:p>
            <a:pPr lvl="2"/>
            <a:r>
              <a:rPr lang="zh-CN" altLang="en-US" sz="3600">
                <a:solidFill>
                  <a:srgbClr val="A50021"/>
                </a:solidFill>
                <a:ea typeface="楷体_GB2312" charset="0"/>
              </a:rPr>
              <a:t>即：产生的 </a:t>
            </a:r>
            <a:r>
              <a:rPr lang="en-US" altLang="zh-CN" sz="3600" b="1">
                <a:solidFill>
                  <a:srgbClr val="A50021"/>
                </a:solidFill>
                <a:ea typeface="楷体_GB2312" charset="0"/>
              </a:rPr>
              <a:t>H</a:t>
            </a:r>
            <a:r>
              <a:rPr lang="en-US" altLang="zh-CN" sz="3600" b="1" baseline="-25000">
                <a:solidFill>
                  <a:srgbClr val="A50021"/>
                </a:solidFill>
                <a:ea typeface="楷体_GB2312" charset="0"/>
              </a:rPr>
              <a:t>i</a:t>
            </a:r>
            <a:r>
              <a:rPr lang="en-US" altLang="zh-CN" sz="3600" b="1">
                <a:solidFill>
                  <a:srgbClr val="A50021"/>
                </a:solidFill>
                <a:ea typeface="楷体_GB2312" charset="0"/>
              </a:rPr>
              <a:t> </a:t>
            </a:r>
            <a:r>
              <a:rPr lang="zh-CN" altLang="en-US" sz="3600">
                <a:solidFill>
                  <a:srgbClr val="A50021"/>
                </a:solidFill>
                <a:ea typeface="楷体_GB2312" charset="0"/>
              </a:rPr>
              <a:t>均不相同，且所产生的</a:t>
            </a:r>
          </a:p>
          <a:p>
            <a:pPr>
              <a:lnSpc>
                <a:spcPct val="120000"/>
              </a:lnSpc>
            </a:pPr>
            <a:r>
              <a:rPr lang="zh-CN" altLang="en-US" sz="3600">
                <a:solidFill>
                  <a:srgbClr val="A50021"/>
                </a:solidFill>
                <a:ea typeface="楷体_GB2312" charset="0"/>
              </a:rPr>
              <a:t>            </a:t>
            </a:r>
            <a:r>
              <a:rPr lang="en-US" altLang="zh-CN" sz="3600" b="1">
                <a:solidFill>
                  <a:srgbClr val="A50021"/>
                </a:solidFill>
                <a:ea typeface="楷体_GB2312" charset="0"/>
              </a:rPr>
              <a:t>s(m-1)</a:t>
            </a:r>
            <a:r>
              <a:rPr lang="zh-CN" altLang="en-US" sz="3600" b="1">
                <a:solidFill>
                  <a:srgbClr val="A50021"/>
                </a:solidFill>
                <a:ea typeface="楷体_GB2312" charset="0"/>
              </a:rPr>
              <a:t>个 </a:t>
            </a:r>
            <a:r>
              <a:rPr lang="en-US" altLang="zh-CN" sz="3600" b="1">
                <a:solidFill>
                  <a:srgbClr val="A50021"/>
                </a:solidFill>
                <a:ea typeface="楷体_GB2312" charset="0"/>
              </a:rPr>
              <a:t>H</a:t>
            </a:r>
            <a:r>
              <a:rPr lang="en-US" altLang="zh-CN" sz="3600" b="1" baseline="-25000">
                <a:solidFill>
                  <a:srgbClr val="A50021"/>
                </a:solidFill>
                <a:ea typeface="楷体_GB2312" charset="0"/>
              </a:rPr>
              <a:t>i</a:t>
            </a:r>
            <a:r>
              <a:rPr lang="en-US" altLang="zh-CN" sz="3600" baseline="-25000">
                <a:solidFill>
                  <a:srgbClr val="A50021"/>
                </a:solidFill>
                <a:ea typeface="楷体_GB2312" charset="0"/>
              </a:rPr>
              <a:t> </a:t>
            </a:r>
            <a:r>
              <a:rPr lang="zh-CN" altLang="en-US" sz="3600">
                <a:solidFill>
                  <a:srgbClr val="A50021"/>
                </a:solidFill>
                <a:ea typeface="楷体_GB2312" charset="0"/>
              </a:rPr>
              <a:t>值能</a:t>
            </a:r>
            <a:r>
              <a:rPr lang="zh-CN" altLang="en-US" sz="3600" b="1">
                <a:solidFill>
                  <a:srgbClr val="FF00FF"/>
                </a:solidFill>
                <a:ea typeface="楷体_GB2312" charset="0"/>
              </a:rPr>
              <a:t>覆盖</a:t>
            </a:r>
            <a:r>
              <a:rPr lang="zh-CN" altLang="en-US" sz="3600">
                <a:solidFill>
                  <a:srgbClr val="A50021"/>
                </a:solidFill>
                <a:ea typeface="楷体_GB2312" charset="0"/>
              </a:rPr>
              <a:t>哈希表中所有</a:t>
            </a:r>
          </a:p>
          <a:p>
            <a:pPr>
              <a:lnSpc>
                <a:spcPct val="120000"/>
              </a:lnSpc>
            </a:pPr>
            <a:r>
              <a:rPr lang="zh-CN" altLang="en-US" sz="3600">
                <a:solidFill>
                  <a:srgbClr val="A50021"/>
                </a:solidFill>
                <a:ea typeface="楷体_GB2312" charset="0"/>
              </a:rPr>
              <a:t>            地址。则要求：</a:t>
            </a:r>
            <a:r>
              <a:rPr lang="zh-CN" altLang="en-US" sz="4000" b="1">
                <a:solidFill>
                  <a:srgbClr val="0000FF"/>
                </a:solidFill>
                <a:latin typeface="楷体_GB2312" charset="0"/>
                <a:ea typeface="楷体_GB2312" charset="0"/>
              </a:rPr>
              <a:t>   </a:t>
            </a:r>
            <a:endParaRPr lang="zh-CN" altLang="en-US" sz="4000"/>
          </a:p>
        </p:txBody>
      </p:sp>
      <p:sp>
        <p:nvSpPr>
          <p:cNvPr id="161795" name="Text Box 3"/>
          <p:cNvSpPr txBox="1">
            <a:spLocks noChangeArrowheads="1"/>
          </p:cNvSpPr>
          <p:nvPr/>
        </p:nvSpPr>
        <p:spPr bwMode="auto">
          <a:xfrm>
            <a:off x="457200" y="609600"/>
            <a:ext cx="68945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A50021"/>
                </a:solidFill>
                <a:ea typeface="楷体_GB2312" charset="0"/>
              </a:rPr>
              <a:t>注意：</a:t>
            </a:r>
            <a:r>
              <a:rPr lang="zh-CN" altLang="en-US" sz="4000" b="1">
                <a:solidFill>
                  <a:srgbClr val="0000FF"/>
                </a:solidFill>
                <a:ea typeface="楷体_GB2312" charset="0"/>
              </a:rPr>
              <a:t>增量 </a:t>
            </a:r>
            <a:r>
              <a:rPr lang="en-US" altLang="zh-CN" sz="4000" b="1" i="1">
                <a:solidFill>
                  <a:srgbClr val="0000FF"/>
                </a:solidFill>
                <a:ea typeface="楷体_GB2312" charset="0"/>
              </a:rPr>
              <a:t>d</a:t>
            </a:r>
            <a:r>
              <a:rPr lang="en-US" altLang="zh-CN" sz="4000" b="1" i="1" baseline="-25000">
                <a:solidFill>
                  <a:srgbClr val="0000FF"/>
                </a:solidFill>
                <a:ea typeface="楷体_GB2312" charset="0"/>
              </a:rPr>
              <a:t>i</a:t>
            </a:r>
            <a:r>
              <a:rPr lang="en-US" altLang="zh-CN" sz="4000" b="1" baseline="-25000">
                <a:solidFill>
                  <a:srgbClr val="0000FF"/>
                </a:solidFill>
                <a:ea typeface="楷体_GB2312" charset="0"/>
              </a:rPr>
              <a:t> </a:t>
            </a:r>
            <a:r>
              <a:rPr lang="zh-CN" altLang="en-US" sz="4000" b="1">
                <a:solidFill>
                  <a:srgbClr val="0000FF"/>
                </a:solidFill>
                <a:ea typeface="楷体_GB2312" charset="0"/>
              </a:rPr>
              <a:t>应具有“完备性”</a:t>
            </a:r>
          </a:p>
        </p:txBody>
      </p:sp>
      <p:sp>
        <p:nvSpPr>
          <p:cNvPr id="161796" name="Text Box 4"/>
          <p:cNvSpPr txBox="1">
            <a:spLocks noChangeArrowheads="1"/>
          </p:cNvSpPr>
          <p:nvPr/>
        </p:nvSpPr>
        <p:spPr bwMode="auto">
          <a:xfrm>
            <a:off x="457200" y="5403850"/>
            <a:ext cx="79295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0000FF"/>
                </a:solidFill>
                <a:latin typeface="楷体_GB2312" charset="0"/>
                <a:ea typeface="楷体_GB2312" charset="0"/>
              </a:rPr>
              <a:t>※</a:t>
            </a:r>
            <a:r>
              <a:rPr lang="en-US" altLang="zh-CN" sz="4000">
                <a:latin typeface="楷体_GB2312" charset="0"/>
                <a:ea typeface="楷体_GB2312" charset="0"/>
              </a:rPr>
              <a:t> </a:t>
            </a:r>
            <a:r>
              <a:rPr lang="zh-CN" altLang="en-US" sz="3600">
                <a:solidFill>
                  <a:srgbClr val="A50021"/>
                </a:solidFill>
                <a:ea typeface="楷体_GB2312" charset="0"/>
              </a:rPr>
              <a:t>随机探测时的 </a:t>
            </a:r>
            <a:r>
              <a:rPr lang="en-US" altLang="zh-CN" sz="3600" b="1" i="1">
                <a:solidFill>
                  <a:srgbClr val="FF0000"/>
                </a:solidFill>
                <a:ea typeface="楷体_GB2312" charset="0"/>
              </a:rPr>
              <a:t>m</a:t>
            </a:r>
            <a:r>
              <a:rPr lang="en-US" altLang="zh-CN" sz="3600">
                <a:solidFill>
                  <a:srgbClr val="A50021"/>
                </a:solidFill>
                <a:ea typeface="楷体_GB2312" charset="0"/>
              </a:rPr>
              <a:t> </a:t>
            </a:r>
            <a:r>
              <a:rPr lang="zh-CN" altLang="en-US" sz="3600">
                <a:solidFill>
                  <a:srgbClr val="A50021"/>
                </a:solidFill>
                <a:ea typeface="楷体_GB2312" charset="0"/>
              </a:rPr>
              <a:t>和 </a:t>
            </a:r>
            <a:r>
              <a:rPr lang="en-US" altLang="zh-CN" sz="3600" b="1" i="1">
                <a:solidFill>
                  <a:srgbClr val="FF0000"/>
                </a:solidFill>
                <a:ea typeface="楷体_GB2312" charset="0"/>
              </a:rPr>
              <a:t>d</a:t>
            </a:r>
            <a:r>
              <a:rPr lang="en-US" altLang="zh-CN" sz="3600" b="1" i="1" baseline="-25000">
                <a:solidFill>
                  <a:srgbClr val="FF0000"/>
                </a:solidFill>
                <a:ea typeface="楷体_GB2312" charset="0"/>
              </a:rPr>
              <a:t>i </a:t>
            </a:r>
            <a:r>
              <a:rPr lang="zh-CN" altLang="en-US" sz="3600">
                <a:solidFill>
                  <a:srgbClr val="A50021"/>
                </a:solidFill>
                <a:ea typeface="楷体_GB2312" charset="0"/>
              </a:rPr>
              <a:t>没有公因子。</a:t>
            </a:r>
            <a:endParaRPr lang="zh-CN" altLang="en-US" sz="4000">
              <a:ea typeface="楷体_GB2312" charset="0"/>
            </a:endParaRPr>
          </a:p>
        </p:txBody>
      </p:sp>
      <p:sp>
        <p:nvSpPr>
          <p:cNvPr id="161797" name="Text Box 5"/>
          <p:cNvSpPr txBox="1">
            <a:spLocks noChangeArrowheads="1"/>
          </p:cNvSpPr>
          <p:nvPr/>
        </p:nvSpPr>
        <p:spPr bwMode="auto">
          <a:xfrm>
            <a:off x="457200" y="3649663"/>
            <a:ext cx="8458200" cy="148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lang="en-US" altLang="zh-CN" sz="3600" b="1">
                <a:solidFill>
                  <a:srgbClr val="0000FF"/>
                </a:solidFill>
                <a:latin typeface="楷体_GB2312" charset="0"/>
                <a:ea typeface="楷体_GB2312" charset="0"/>
              </a:rPr>
              <a:t>※</a:t>
            </a:r>
            <a:r>
              <a:rPr lang="en-US" altLang="zh-CN" sz="4000">
                <a:latin typeface="楷体_GB2312" charset="0"/>
                <a:ea typeface="楷体_GB2312" charset="0"/>
              </a:rPr>
              <a:t> </a:t>
            </a:r>
            <a:r>
              <a:rPr lang="zh-CN" altLang="en-US" sz="3600">
                <a:solidFill>
                  <a:srgbClr val="A50021"/>
                </a:solidFill>
                <a:ea typeface="楷体_GB2312" charset="0"/>
              </a:rPr>
              <a:t>平方探测时的表长</a:t>
            </a:r>
            <a:r>
              <a:rPr lang="zh-CN" altLang="en-US" sz="3600">
                <a:solidFill>
                  <a:srgbClr val="FF0000"/>
                </a:solidFill>
                <a:ea typeface="楷体_GB2312" charset="0"/>
              </a:rPr>
              <a:t> </a:t>
            </a:r>
            <a:r>
              <a:rPr lang="en-US" altLang="zh-CN" sz="3600" b="1" i="1">
                <a:solidFill>
                  <a:srgbClr val="FF0000"/>
                </a:solidFill>
                <a:ea typeface="楷体_GB2312" charset="0"/>
              </a:rPr>
              <a:t>m</a:t>
            </a:r>
            <a:r>
              <a:rPr lang="en-US" altLang="zh-CN" sz="3600" b="1" i="1">
                <a:solidFill>
                  <a:srgbClr val="A50021"/>
                </a:solidFill>
                <a:ea typeface="楷体_GB2312" charset="0"/>
              </a:rPr>
              <a:t> </a:t>
            </a:r>
            <a:r>
              <a:rPr lang="zh-CN" altLang="en-US" sz="3600">
                <a:solidFill>
                  <a:srgbClr val="A50021"/>
                </a:solidFill>
                <a:ea typeface="楷体_GB2312" charset="0"/>
              </a:rPr>
              <a:t>必为形如 </a:t>
            </a:r>
            <a:r>
              <a:rPr lang="en-US" altLang="zh-CN" sz="3600" b="1" i="1">
                <a:solidFill>
                  <a:srgbClr val="FF0000"/>
                </a:solidFill>
                <a:ea typeface="楷体_GB2312" charset="0"/>
              </a:rPr>
              <a:t>4j+3</a:t>
            </a:r>
            <a:r>
              <a:rPr lang="en-US" altLang="zh-CN" sz="3600">
                <a:solidFill>
                  <a:srgbClr val="A50021"/>
                </a:solidFill>
                <a:ea typeface="楷体_GB2312" charset="0"/>
              </a:rPr>
              <a:t> </a:t>
            </a:r>
          </a:p>
          <a:p>
            <a:pPr>
              <a:lnSpc>
                <a:spcPct val="120000"/>
              </a:lnSpc>
            </a:pPr>
            <a:r>
              <a:rPr lang="en-US" altLang="zh-CN" sz="3600">
                <a:solidFill>
                  <a:srgbClr val="A50021"/>
                </a:solidFill>
                <a:ea typeface="楷体_GB2312" charset="0"/>
              </a:rPr>
              <a:t>    </a:t>
            </a:r>
            <a:r>
              <a:rPr lang="zh-CN" altLang="en-US" sz="3600">
                <a:solidFill>
                  <a:srgbClr val="A50021"/>
                </a:solidFill>
                <a:ea typeface="楷体_GB2312" charset="0"/>
              </a:rPr>
              <a:t>的素数（如</a:t>
            </a:r>
            <a:r>
              <a:rPr lang="en-US" altLang="zh-CN" sz="3600">
                <a:solidFill>
                  <a:srgbClr val="A50021"/>
                </a:solidFill>
                <a:ea typeface="楷体_GB2312" charset="0"/>
              </a:rPr>
              <a:t>: 7, 11, 19, 23, … </a:t>
            </a:r>
            <a:r>
              <a:rPr lang="zh-CN" altLang="en-US" sz="3600">
                <a:solidFill>
                  <a:srgbClr val="A50021"/>
                </a:solidFill>
                <a:ea typeface="楷体_GB2312" charset="0"/>
              </a:rPr>
              <a:t>等）；</a:t>
            </a:r>
            <a:endParaRPr lang="zh-CN" altLang="en-US"/>
          </a:p>
        </p:txBody>
      </p:sp>
      <p:sp>
        <p:nvSpPr>
          <p:cNvPr id="161799" name="AutoShape 7">
            <a:hlinkClick r:id="rId2" action="ppaction://hlinksldjump" highlightClick="1"/>
          </p:cNvPr>
          <p:cNvSpPr>
            <a:spLocks noChangeArrowheads="1"/>
          </p:cNvSpPr>
          <p:nvPr/>
        </p:nvSpPr>
        <p:spPr bwMode="auto">
          <a:xfrm>
            <a:off x="83820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2213088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61795"/>
                                        </p:tgtEl>
                                        <p:attrNameLst>
                                          <p:attrName>style.visibility</p:attrName>
                                        </p:attrNameLst>
                                      </p:cBhvr>
                                      <p:to>
                                        <p:strVal val="visible"/>
                                      </p:to>
                                    </p:set>
                                    <p:animEffect transition="in" filter="slide(fromTop)">
                                      <p:cBhvr>
                                        <p:cTn id="7" dur="500"/>
                                        <p:tgtEl>
                                          <p:spTgt spid="1617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61794"/>
                                        </p:tgtEl>
                                        <p:attrNameLst>
                                          <p:attrName>style.visibility</p:attrName>
                                        </p:attrNameLst>
                                      </p:cBhvr>
                                      <p:to>
                                        <p:strVal val="visible"/>
                                      </p:to>
                                    </p:set>
                                    <p:animEffect transition="in" filter="strips(downRight)">
                                      <p:cBhvr>
                                        <p:cTn id="12" dur="500"/>
                                        <p:tgtEl>
                                          <p:spTgt spid="1617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1797"/>
                                        </p:tgtEl>
                                        <p:attrNameLst>
                                          <p:attrName>style.visibility</p:attrName>
                                        </p:attrNameLst>
                                      </p:cBhvr>
                                      <p:to>
                                        <p:strVal val="visible"/>
                                      </p:to>
                                    </p:set>
                                    <p:animEffect transition="in" filter="wipe(left)">
                                      <p:cBhvr>
                                        <p:cTn id="17" dur="500"/>
                                        <p:tgtEl>
                                          <p:spTgt spid="1617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1796"/>
                                        </p:tgtEl>
                                        <p:attrNameLst>
                                          <p:attrName>style.visibility</p:attrName>
                                        </p:attrNameLst>
                                      </p:cBhvr>
                                      <p:to>
                                        <p:strVal val="visible"/>
                                      </p:to>
                                    </p:set>
                                    <p:animEffect transition="in" filter="wipe(left)">
                                      <p:cBhvr>
                                        <p:cTn id="22" dur="500"/>
                                        <p:tgtEl>
                                          <p:spTgt spid="161796"/>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161799"/>
                                        </p:tgtEl>
                                        <p:attrNameLst>
                                          <p:attrName>style.visibility</p:attrName>
                                        </p:attrNameLst>
                                      </p:cBhvr>
                                      <p:to>
                                        <p:strVal val="visible"/>
                                      </p:to>
                                    </p:set>
                                    <p:anim calcmode="lin" valueType="num">
                                      <p:cBhvr additive="base">
                                        <p:cTn id="26" dur="500" fill="hold"/>
                                        <p:tgtEl>
                                          <p:spTgt spid="161799"/>
                                        </p:tgtEl>
                                        <p:attrNameLst>
                                          <p:attrName>ppt_x</p:attrName>
                                        </p:attrNameLst>
                                      </p:cBhvr>
                                      <p:tavLst>
                                        <p:tav tm="0">
                                          <p:val>
                                            <p:strVal val="1+#ppt_w/2"/>
                                          </p:val>
                                        </p:tav>
                                        <p:tav tm="100000">
                                          <p:val>
                                            <p:strVal val="#ppt_x"/>
                                          </p:val>
                                        </p:tav>
                                      </p:tavLst>
                                    </p:anim>
                                    <p:anim calcmode="lin" valueType="num">
                                      <p:cBhvr additive="base">
                                        <p:cTn id="27" dur="500" fill="hold"/>
                                        <p:tgtEl>
                                          <p:spTgt spid="1617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autoUpdateAnimBg="0"/>
      <p:bldP spid="161795" grpId="0" autoUpdateAnimBg="0"/>
      <p:bldP spid="161796" grpId="0" autoUpdateAnimBg="0"/>
      <p:bldP spid="161797" grpId="0" autoUpdateAnimBg="0"/>
      <p:bldP spid="161799"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Text Box 2"/>
          <p:cNvSpPr txBox="1">
            <a:spLocks noChangeArrowheads="1"/>
          </p:cNvSpPr>
          <p:nvPr/>
        </p:nvSpPr>
        <p:spPr bwMode="auto">
          <a:xfrm>
            <a:off x="760413" y="152400"/>
            <a:ext cx="7011987"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zh-CN" altLang="en-US" sz="3600" b="1">
                <a:solidFill>
                  <a:srgbClr val="A50021"/>
                </a:solidFill>
                <a:ea typeface="楷体_GB2312" charset="0"/>
              </a:rPr>
              <a:t>例如</a:t>
            </a:r>
            <a:r>
              <a:rPr lang="en-US" altLang="zh-CN" sz="3600" b="1">
                <a:solidFill>
                  <a:srgbClr val="A50021"/>
                </a:solidFill>
                <a:ea typeface="楷体_GB2312" charset="0"/>
              </a:rPr>
              <a:t>:</a:t>
            </a:r>
            <a:r>
              <a:rPr lang="en-US" altLang="zh-CN" sz="3600">
                <a:solidFill>
                  <a:srgbClr val="A50021"/>
                </a:solidFill>
                <a:ea typeface="楷体_GB2312" charset="0"/>
              </a:rPr>
              <a:t>  </a:t>
            </a:r>
            <a:r>
              <a:rPr lang="zh-CN" altLang="en-US" sz="3600">
                <a:solidFill>
                  <a:srgbClr val="A50021"/>
                </a:solidFill>
                <a:ea typeface="楷体_GB2312" charset="0"/>
              </a:rPr>
              <a:t>关键字集合 </a:t>
            </a:r>
          </a:p>
          <a:p>
            <a:pPr>
              <a:lnSpc>
                <a:spcPct val="125000"/>
              </a:lnSpc>
            </a:pPr>
            <a:r>
              <a:rPr lang="zh-CN" altLang="en-US" sz="3600">
                <a:solidFill>
                  <a:srgbClr val="A50021"/>
                </a:solidFill>
                <a:ea typeface="楷体_GB2312" charset="0"/>
              </a:rPr>
              <a:t>        </a:t>
            </a:r>
            <a:r>
              <a:rPr lang="en-US" altLang="zh-CN" sz="3600">
                <a:solidFill>
                  <a:srgbClr val="A50021"/>
                </a:solidFill>
                <a:ea typeface="楷体_GB2312" charset="0"/>
              </a:rPr>
              <a:t>{ </a:t>
            </a:r>
            <a:r>
              <a:rPr lang="en-US" altLang="zh-CN" sz="3200">
                <a:solidFill>
                  <a:srgbClr val="A50021"/>
                </a:solidFill>
                <a:ea typeface="楷体_GB2312" charset="0"/>
              </a:rPr>
              <a:t>19, 01, 23, 14, 55, 68, 11, 82, 36 }</a:t>
            </a:r>
            <a:endParaRPr lang="en-US" altLang="zh-CN" sz="3600">
              <a:ea typeface="楷体_GB2312" charset="0"/>
            </a:endParaRPr>
          </a:p>
        </p:txBody>
      </p:sp>
      <p:sp>
        <p:nvSpPr>
          <p:cNvPr id="231427" name="Text Box 3"/>
          <p:cNvSpPr txBox="1">
            <a:spLocks noChangeArrowheads="1"/>
          </p:cNvSpPr>
          <p:nvPr/>
        </p:nvSpPr>
        <p:spPr bwMode="auto">
          <a:xfrm>
            <a:off x="304800" y="1676400"/>
            <a:ext cx="85264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200" b="1">
                <a:solidFill>
                  <a:srgbClr val="A50021"/>
                </a:solidFill>
                <a:ea typeface="楷体_GB2312" charset="0"/>
              </a:rPr>
              <a:t>设定</a:t>
            </a:r>
            <a:r>
              <a:rPr lang="zh-CN" altLang="en-US" sz="3200">
                <a:solidFill>
                  <a:srgbClr val="A50021"/>
                </a:solidFill>
                <a:ea typeface="楷体_GB2312" charset="0"/>
              </a:rPr>
              <a:t>哈希函数 </a:t>
            </a:r>
            <a:r>
              <a:rPr lang="en-US" altLang="zh-CN" sz="3200">
                <a:solidFill>
                  <a:srgbClr val="A50021"/>
                </a:solidFill>
                <a:ea typeface="楷体_GB2312" charset="0"/>
              </a:rPr>
              <a:t>H(key) = key </a:t>
            </a:r>
            <a:r>
              <a:rPr lang="en-US" altLang="zh-CN" sz="3200" b="1">
                <a:solidFill>
                  <a:srgbClr val="A50021"/>
                </a:solidFill>
                <a:ea typeface="楷体_GB2312" charset="0"/>
              </a:rPr>
              <a:t>MOD</a:t>
            </a:r>
            <a:r>
              <a:rPr lang="en-US" altLang="zh-CN" sz="3200">
                <a:solidFill>
                  <a:srgbClr val="A50021"/>
                </a:solidFill>
                <a:ea typeface="楷体_GB2312" charset="0"/>
              </a:rPr>
              <a:t> 11 ( </a:t>
            </a:r>
            <a:r>
              <a:rPr lang="zh-CN" altLang="en-US" sz="3200">
                <a:solidFill>
                  <a:srgbClr val="A50021"/>
                </a:solidFill>
                <a:ea typeface="楷体_GB2312" charset="0"/>
              </a:rPr>
              <a:t>表长</a:t>
            </a:r>
            <a:r>
              <a:rPr lang="en-US" altLang="zh-CN" sz="3200">
                <a:solidFill>
                  <a:srgbClr val="A50021"/>
                </a:solidFill>
                <a:ea typeface="楷体_GB2312" charset="0"/>
              </a:rPr>
              <a:t>=11 )</a:t>
            </a:r>
            <a:endParaRPr lang="en-US" altLang="zh-CN" sz="3200">
              <a:ea typeface="楷体_GB2312" charset="0"/>
            </a:endParaRPr>
          </a:p>
        </p:txBody>
      </p:sp>
      <p:graphicFrame>
        <p:nvGraphicFramePr>
          <p:cNvPr id="231430" name="Object 6"/>
          <p:cNvGraphicFramePr>
            <a:graphicFrameLocks noChangeAspect="1"/>
          </p:cNvGraphicFramePr>
          <p:nvPr/>
        </p:nvGraphicFramePr>
        <p:xfrm>
          <a:off x="762000" y="3200400"/>
          <a:ext cx="8039100" cy="990600"/>
        </p:xfrm>
        <a:graphic>
          <a:graphicData uri="http://schemas.openxmlformats.org/presentationml/2006/ole">
            <mc:AlternateContent xmlns:mc="http://schemas.openxmlformats.org/markup-compatibility/2006">
              <mc:Choice xmlns:v="urn:schemas-microsoft-com:vml" Requires="v">
                <p:oleObj spid="_x0000_s1443843" name="文档" r:id="rId3" imgW="6001560" imgH="749520" progId="Word.Document.8">
                  <p:embed/>
                </p:oleObj>
              </mc:Choice>
              <mc:Fallback>
                <p:oleObj name="文档" r:id="rId3" imgW="6001560" imgH="74952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200400"/>
                        <a:ext cx="80391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231431" name="Object 7"/>
          <p:cNvGraphicFramePr>
            <a:graphicFrameLocks noChangeAspect="1"/>
          </p:cNvGraphicFramePr>
          <p:nvPr/>
        </p:nvGraphicFramePr>
        <p:xfrm>
          <a:off x="685800" y="5486400"/>
          <a:ext cx="8077200" cy="1066800"/>
        </p:xfrm>
        <a:graphic>
          <a:graphicData uri="http://schemas.openxmlformats.org/presentationml/2006/ole">
            <mc:AlternateContent xmlns:mc="http://schemas.openxmlformats.org/markup-compatibility/2006">
              <mc:Choice xmlns:v="urn:schemas-microsoft-com:vml" Requires="v">
                <p:oleObj spid="_x0000_s1443844" name="文档" r:id="rId5" imgW="6001560" imgH="749520" progId="Word.Document.8">
                  <p:embed/>
                </p:oleObj>
              </mc:Choice>
              <mc:Fallback>
                <p:oleObj name="文档" r:id="rId5" imgW="6001560" imgH="74952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5486400"/>
                        <a:ext cx="8077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31432" name="Text Box 8"/>
          <p:cNvSpPr txBox="1">
            <a:spLocks noChangeArrowheads="1"/>
          </p:cNvSpPr>
          <p:nvPr/>
        </p:nvSpPr>
        <p:spPr bwMode="auto">
          <a:xfrm>
            <a:off x="6629400" y="34290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rPr>
              <a:t>19</a:t>
            </a:r>
            <a:endParaRPr lang="en-US" altLang="zh-CN" sz="3600"/>
          </a:p>
        </p:txBody>
      </p:sp>
      <p:sp>
        <p:nvSpPr>
          <p:cNvPr id="231433" name="Text Box 9"/>
          <p:cNvSpPr txBox="1">
            <a:spLocks noChangeArrowheads="1"/>
          </p:cNvSpPr>
          <p:nvPr/>
        </p:nvSpPr>
        <p:spPr bwMode="auto">
          <a:xfrm>
            <a:off x="1524000" y="34290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rPr>
              <a:t>01</a:t>
            </a:r>
            <a:endParaRPr lang="en-US" altLang="zh-CN" sz="3600"/>
          </a:p>
        </p:txBody>
      </p:sp>
      <p:sp>
        <p:nvSpPr>
          <p:cNvPr id="231434" name="Text Box 10"/>
          <p:cNvSpPr txBox="1">
            <a:spLocks noChangeArrowheads="1"/>
          </p:cNvSpPr>
          <p:nvPr/>
        </p:nvSpPr>
        <p:spPr bwMode="auto">
          <a:xfrm>
            <a:off x="2305050" y="34290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3333FF"/>
                </a:solidFill>
              </a:rPr>
              <a:t>23</a:t>
            </a:r>
            <a:endParaRPr lang="en-US" altLang="zh-CN" sz="3600"/>
          </a:p>
        </p:txBody>
      </p:sp>
      <p:sp>
        <p:nvSpPr>
          <p:cNvPr id="231435" name="Text Box 11"/>
          <p:cNvSpPr txBox="1">
            <a:spLocks noChangeArrowheads="1"/>
          </p:cNvSpPr>
          <p:nvPr/>
        </p:nvSpPr>
        <p:spPr bwMode="auto">
          <a:xfrm>
            <a:off x="2990850" y="34290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rPr>
              <a:t>14</a:t>
            </a:r>
            <a:endParaRPr lang="en-US" altLang="zh-CN" sz="3600"/>
          </a:p>
        </p:txBody>
      </p:sp>
      <p:sp>
        <p:nvSpPr>
          <p:cNvPr id="231436" name="Text Box 12"/>
          <p:cNvSpPr txBox="1">
            <a:spLocks noChangeArrowheads="1"/>
          </p:cNvSpPr>
          <p:nvPr/>
        </p:nvSpPr>
        <p:spPr bwMode="auto">
          <a:xfrm>
            <a:off x="857250" y="34290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rPr>
              <a:t>55</a:t>
            </a:r>
            <a:endParaRPr lang="en-US" altLang="zh-CN" sz="3600"/>
          </a:p>
        </p:txBody>
      </p:sp>
      <p:sp>
        <p:nvSpPr>
          <p:cNvPr id="231437" name="Text Box 13"/>
          <p:cNvSpPr txBox="1">
            <a:spLocks noChangeArrowheads="1"/>
          </p:cNvSpPr>
          <p:nvPr/>
        </p:nvSpPr>
        <p:spPr bwMode="auto">
          <a:xfrm>
            <a:off x="3733800" y="34290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FF00FF"/>
                </a:solidFill>
              </a:rPr>
              <a:t>68</a:t>
            </a:r>
            <a:endParaRPr lang="en-US" altLang="zh-CN" sz="3600"/>
          </a:p>
        </p:txBody>
      </p:sp>
      <p:sp>
        <p:nvSpPr>
          <p:cNvPr id="231438" name="Text Box 14"/>
          <p:cNvSpPr txBox="1">
            <a:spLocks noChangeArrowheads="1"/>
          </p:cNvSpPr>
          <p:nvPr/>
        </p:nvSpPr>
        <p:spPr bwMode="auto">
          <a:xfrm>
            <a:off x="6572250" y="57451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rPr>
              <a:t>19</a:t>
            </a:r>
            <a:endParaRPr lang="en-US" altLang="zh-CN" sz="3600"/>
          </a:p>
        </p:txBody>
      </p:sp>
      <p:sp>
        <p:nvSpPr>
          <p:cNvPr id="231439" name="Text Box 15"/>
          <p:cNvSpPr txBox="1">
            <a:spLocks noChangeArrowheads="1"/>
          </p:cNvSpPr>
          <p:nvPr/>
        </p:nvSpPr>
        <p:spPr bwMode="auto">
          <a:xfrm>
            <a:off x="1466850" y="57451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rPr>
              <a:t>01</a:t>
            </a:r>
            <a:endParaRPr lang="en-US" altLang="zh-CN" sz="3600"/>
          </a:p>
        </p:txBody>
      </p:sp>
      <p:sp>
        <p:nvSpPr>
          <p:cNvPr id="231440" name="Text Box 16"/>
          <p:cNvSpPr txBox="1">
            <a:spLocks noChangeArrowheads="1"/>
          </p:cNvSpPr>
          <p:nvPr/>
        </p:nvSpPr>
        <p:spPr bwMode="auto">
          <a:xfrm>
            <a:off x="2228850" y="57451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3333FF"/>
                </a:solidFill>
              </a:rPr>
              <a:t>23</a:t>
            </a:r>
            <a:endParaRPr lang="en-US" altLang="zh-CN" sz="3600"/>
          </a:p>
        </p:txBody>
      </p:sp>
      <p:sp>
        <p:nvSpPr>
          <p:cNvPr id="231441" name="Text Box 17"/>
          <p:cNvSpPr txBox="1">
            <a:spLocks noChangeArrowheads="1"/>
          </p:cNvSpPr>
          <p:nvPr/>
        </p:nvSpPr>
        <p:spPr bwMode="auto">
          <a:xfrm>
            <a:off x="2895600" y="57451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rPr>
              <a:t>14</a:t>
            </a:r>
            <a:endParaRPr lang="en-US" altLang="zh-CN" sz="3600"/>
          </a:p>
        </p:txBody>
      </p:sp>
      <p:sp>
        <p:nvSpPr>
          <p:cNvPr id="231442" name="Text Box 18"/>
          <p:cNvSpPr txBox="1">
            <a:spLocks noChangeArrowheads="1"/>
          </p:cNvSpPr>
          <p:nvPr/>
        </p:nvSpPr>
        <p:spPr bwMode="auto">
          <a:xfrm>
            <a:off x="5105400" y="57451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FF00FF"/>
                </a:solidFill>
              </a:rPr>
              <a:t>68</a:t>
            </a:r>
            <a:endParaRPr lang="en-US" altLang="zh-CN" sz="3600"/>
          </a:p>
        </p:txBody>
      </p:sp>
      <p:sp>
        <p:nvSpPr>
          <p:cNvPr id="231443" name="Rectangle 19"/>
          <p:cNvSpPr>
            <a:spLocks noChangeArrowheads="1"/>
          </p:cNvSpPr>
          <p:nvPr/>
        </p:nvSpPr>
        <p:spPr bwMode="auto">
          <a:xfrm>
            <a:off x="381000" y="2519363"/>
            <a:ext cx="5162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2800">
                <a:solidFill>
                  <a:schemeClr val="accent2"/>
                </a:solidFill>
                <a:ea typeface="楷体_GB2312" charset="0"/>
              </a:rPr>
              <a:t>若采用</a:t>
            </a:r>
            <a:r>
              <a:rPr lang="zh-CN" altLang="en-US" sz="2800" b="1">
                <a:solidFill>
                  <a:schemeClr val="accent2"/>
                </a:solidFill>
                <a:ea typeface="楷体_GB2312" charset="0"/>
              </a:rPr>
              <a:t>线性探测再散列</a:t>
            </a:r>
            <a:r>
              <a:rPr lang="zh-CN" altLang="en-US" sz="2800">
                <a:solidFill>
                  <a:schemeClr val="accent2"/>
                </a:solidFill>
                <a:ea typeface="楷体_GB2312" charset="0"/>
              </a:rPr>
              <a:t>处理冲突</a:t>
            </a:r>
            <a:endParaRPr lang="zh-CN" altLang="en-US" sz="2800" b="1">
              <a:solidFill>
                <a:srgbClr val="A50021"/>
              </a:solidFill>
              <a:ea typeface="楷体_GB2312" charset="0"/>
            </a:endParaRPr>
          </a:p>
        </p:txBody>
      </p:sp>
      <p:sp>
        <p:nvSpPr>
          <p:cNvPr id="231444" name="Rectangle 20"/>
          <p:cNvSpPr>
            <a:spLocks noChangeArrowheads="1"/>
          </p:cNvSpPr>
          <p:nvPr/>
        </p:nvSpPr>
        <p:spPr bwMode="auto">
          <a:xfrm>
            <a:off x="381000" y="4814888"/>
            <a:ext cx="5184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2800">
                <a:solidFill>
                  <a:schemeClr val="accent2"/>
                </a:solidFill>
                <a:ea typeface="楷体_GB2312" charset="0"/>
              </a:rPr>
              <a:t>若采用</a:t>
            </a:r>
            <a:r>
              <a:rPr lang="zh-CN" altLang="en-US" sz="2800" b="1">
                <a:solidFill>
                  <a:schemeClr val="accent2"/>
                </a:solidFill>
                <a:ea typeface="楷体_GB2312" charset="0"/>
              </a:rPr>
              <a:t>二次探测再散列</a:t>
            </a:r>
            <a:r>
              <a:rPr lang="zh-CN" altLang="en-US" sz="2800">
                <a:solidFill>
                  <a:schemeClr val="accent2"/>
                </a:solidFill>
                <a:ea typeface="楷体_GB2312" charset="0"/>
              </a:rPr>
              <a:t>处理冲突</a:t>
            </a:r>
            <a:endParaRPr lang="zh-CN" altLang="en-US" sz="2800" b="1">
              <a:solidFill>
                <a:schemeClr val="accent2"/>
              </a:solidFill>
              <a:ea typeface="楷体_GB2312" charset="0"/>
            </a:endParaRPr>
          </a:p>
        </p:txBody>
      </p:sp>
      <p:sp>
        <p:nvSpPr>
          <p:cNvPr id="231445" name="Text Box 21"/>
          <p:cNvSpPr txBox="1">
            <a:spLocks noChangeArrowheads="1"/>
          </p:cNvSpPr>
          <p:nvPr/>
        </p:nvSpPr>
        <p:spPr bwMode="auto">
          <a:xfrm>
            <a:off x="4438650" y="34290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006600"/>
                </a:solidFill>
              </a:rPr>
              <a:t>11</a:t>
            </a:r>
            <a:endParaRPr lang="en-US" altLang="zh-CN" sz="3600"/>
          </a:p>
        </p:txBody>
      </p:sp>
      <p:sp>
        <p:nvSpPr>
          <p:cNvPr id="231446" name="Text Box 22"/>
          <p:cNvSpPr txBox="1">
            <a:spLocks noChangeArrowheads="1"/>
          </p:cNvSpPr>
          <p:nvPr/>
        </p:nvSpPr>
        <p:spPr bwMode="auto">
          <a:xfrm>
            <a:off x="5124450" y="34290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3333FF"/>
                </a:solidFill>
              </a:rPr>
              <a:t>82</a:t>
            </a:r>
            <a:endParaRPr lang="en-US" altLang="zh-CN" sz="3600"/>
          </a:p>
        </p:txBody>
      </p:sp>
      <p:sp>
        <p:nvSpPr>
          <p:cNvPr id="231447" name="Text Box 23"/>
          <p:cNvSpPr txBox="1">
            <a:spLocks noChangeArrowheads="1"/>
          </p:cNvSpPr>
          <p:nvPr/>
        </p:nvSpPr>
        <p:spPr bwMode="auto">
          <a:xfrm>
            <a:off x="5886450" y="34290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FF0000"/>
                </a:solidFill>
              </a:rPr>
              <a:t>36</a:t>
            </a:r>
            <a:endParaRPr lang="en-US" altLang="zh-CN" sz="3600"/>
          </a:p>
        </p:txBody>
      </p:sp>
      <p:sp>
        <p:nvSpPr>
          <p:cNvPr id="231448" name="Text Box 24"/>
          <p:cNvSpPr txBox="1">
            <a:spLocks noChangeArrowheads="1"/>
          </p:cNvSpPr>
          <p:nvPr/>
        </p:nvSpPr>
        <p:spPr bwMode="auto">
          <a:xfrm>
            <a:off x="762000" y="57150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rPr>
              <a:t>55</a:t>
            </a:r>
            <a:endParaRPr lang="en-US" altLang="zh-CN" sz="3600"/>
          </a:p>
        </p:txBody>
      </p:sp>
      <p:sp>
        <p:nvSpPr>
          <p:cNvPr id="231449" name="Text Box 25"/>
          <p:cNvSpPr txBox="1">
            <a:spLocks noChangeArrowheads="1"/>
          </p:cNvSpPr>
          <p:nvPr/>
        </p:nvSpPr>
        <p:spPr bwMode="auto">
          <a:xfrm>
            <a:off x="8001000" y="57451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006600"/>
                </a:solidFill>
              </a:rPr>
              <a:t>11</a:t>
            </a:r>
            <a:endParaRPr lang="en-US" altLang="zh-CN" sz="3600"/>
          </a:p>
        </p:txBody>
      </p:sp>
      <p:sp>
        <p:nvSpPr>
          <p:cNvPr id="231450" name="Text Box 26"/>
          <p:cNvSpPr txBox="1">
            <a:spLocks noChangeArrowheads="1"/>
          </p:cNvSpPr>
          <p:nvPr/>
        </p:nvSpPr>
        <p:spPr bwMode="auto">
          <a:xfrm>
            <a:off x="4362450" y="57451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rPr>
              <a:t>82</a:t>
            </a:r>
            <a:endParaRPr lang="en-US" altLang="zh-CN" sz="3600"/>
          </a:p>
        </p:txBody>
      </p:sp>
      <p:sp>
        <p:nvSpPr>
          <p:cNvPr id="231451" name="Text Box 27"/>
          <p:cNvSpPr txBox="1">
            <a:spLocks noChangeArrowheads="1"/>
          </p:cNvSpPr>
          <p:nvPr/>
        </p:nvSpPr>
        <p:spPr bwMode="auto">
          <a:xfrm>
            <a:off x="3657600" y="57451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FF0000"/>
                </a:solidFill>
              </a:rPr>
              <a:t>36</a:t>
            </a:r>
            <a:endParaRPr lang="en-US" altLang="zh-CN" sz="3600"/>
          </a:p>
        </p:txBody>
      </p:sp>
      <p:sp>
        <p:nvSpPr>
          <p:cNvPr id="231453" name="Text Box 29"/>
          <p:cNvSpPr txBox="1">
            <a:spLocks noChangeArrowheads="1"/>
          </p:cNvSpPr>
          <p:nvPr/>
        </p:nvSpPr>
        <p:spPr bwMode="auto">
          <a:xfrm>
            <a:off x="933450" y="3952875"/>
            <a:ext cx="6140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A50021"/>
                </a:solidFill>
              </a:rPr>
              <a:t>1      1      2      1      3       6      2      5      1</a:t>
            </a:r>
            <a:endParaRPr lang="en-US" altLang="zh-CN" sz="2800"/>
          </a:p>
        </p:txBody>
      </p:sp>
      <p:sp>
        <p:nvSpPr>
          <p:cNvPr id="231455" name="AutoShape 31">
            <a:hlinkClick r:id="rId7" action="ppaction://hlinksldjump" highlightClick="1"/>
          </p:cNvPr>
          <p:cNvSpPr>
            <a:spLocks noChangeArrowheads="1"/>
          </p:cNvSpPr>
          <p:nvPr/>
        </p:nvSpPr>
        <p:spPr bwMode="auto">
          <a:xfrm>
            <a:off x="8458200" y="44958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1456" name="AutoShape 32">
            <a:hlinkClick r:id="" action="ppaction://hlinkshowjump?jump=lastslideviewed" highlightClick="1"/>
          </p:cNvPr>
          <p:cNvSpPr>
            <a:spLocks noChangeArrowheads="1"/>
          </p:cNvSpPr>
          <p:nvPr/>
        </p:nvSpPr>
        <p:spPr bwMode="auto">
          <a:xfrm>
            <a:off x="304800" y="42672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3715983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1426"/>
                                        </p:tgtEl>
                                        <p:attrNameLst>
                                          <p:attrName>style.visibility</p:attrName>
                                        </p:attrNameLst>
                                      </p:cBhvr>
                                      <p:to>
                                        <p:strVal val="visible"/>
                                      </p:to>
                                    </p:set>
                                    <p:animEffect transition="in" filter="wipe(left)">
                                      <p:cBhvr>
                                        <p:cTn id="7" dur="500"/>
                                        <p:tgtEl>
                                          <p:spTgt spid="2314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1427"/>
                                        </p:tgtEl>
                                        <p:attrNameLst>
                                          <p:attrName>style.visibility</p:attrName>
                                        </p:attrNameLst>
                                      </p:cBhvr>
                                      <p:to>
                                        <p:strVal val="visible"/>
                                      </p:to>
                                    </p:set>
                                    <p:animEffect transition="in" filter="wipe(left)">
                                      <p:cBhvr>
                                        <p:cTn id="12" dur="500"/>
                                        <p:tgtEl>
                                          <p:spTgt spid="2314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31443"/>
                                        </p:tgtEl>
                                        <p:attrNameLst>
                                          <p:attrName>style.visibility</p:attrName>
                                        </p:attrNameLst>
                                      </p:cBhvr>
                                      <p:to>
                                        <p:strVal val="visible"/>
                                      </p:to>
                                    </p:set>
                                    <p:anim calcmode="lin" valueType="num">
                                      <p:cBhvr additive="base">
                                        <p:cTn id="17" dur="500" fill="hold"/>
                                        <p:tgtEl>
                                          <p:spTgt spid="231443"/>
                                        </p:tgtEl>
                                        <p:attrNameLst>
                                          <p:attrName>ppt_x</p:attrName>
                                        </p:attrNameLst>
                                      </p:cBhvr>
                                      <p:tavLst>
                                        <p:tav tm="0">
                                          <p:val>
                                            <p:strVal val="0-#ppt_w/2"/>
                                          </p:val>
                                        </p:tav>
                                        <p:tav tm="100000">
                                          <p:val>
                                            <p:strVal val="#ppt_x"/>
                                          </p:val>
                                        </p:tav>
                                      </p:tavLst>
                                    </p:anim>
                                    <p:anim calcmode="lin" valueType="num">
                                      <p:cBhvr additive="base">
                                        <p:cTn id="18" dur="500" fill="hold"/>
                                        <p:tgtEl>
                                          <p:spTgt spid="231443"/>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500"/>
                            </p:stCondLst>
                            <p:childTnLst>
                              <p:par>
                                <p:cTn id="20" presetID="22" presetClass="entr" presetSubtype="8" fill="hold" nodeType="afterEffect">
                                  <p:stCondLst>
                                    <p:cond delay="0"/>
                                  </p:stCondLst>
                                  <p:childTnLst>
                                    <p:set>
                                      <p:cBhvr>
                                        <p:cTn id="21" dur="1" fill="hold">
                                          <p:stCondLst>
                                            <p:cond delay="0"/>
                                          </p:stCondLst>
                                        </p:cTn>
                                        <p:tgtEl>
                                          <p:spTgt spid="231430"/>
                                        </p:tgtEl>
                                        <p:attrNameLst>
                                          <p:attrName>style.visibility</p:attrName>
                                        </p:attrNameLst>
                                      </p:cBhvr>
                                      <p:to>
                                        <p:strVal val="visible"/>
                                      </p:to>
                                    </p:set>
                                    <p:animEffect transition="in" filter="wipe(left)">
                                      <p:cBhvr>
                                        <p:cTn id="22" dur="500"/>
                                        <p:tgtEl>
                                          <p:spTgt spid="2314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31432"/>
                                        </p:tgtEl>
                                        <p:attrNameLst>
                                          <p:attrName>style.visibility</p:attrName>
                                        </p:attrNameLst>
                                      </p:cBhvr>
                                      <p:to>
                                        <p:strVal val="visible"/>
                                      </p:to>
                                    </p:set>
                                    <p:animEffect transition="in" filter="wipe(up)">
                                      <p:cBhvr>
                                        <p:cTn id="27" dur="500"/>
                                        <p:tgtEl>
                                          <p:spTgt spid="2314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31433"/>
                                        </p:tgtEl>
                                        <p:attrNameLst>
                                          <p:attrName>style.visibility</p:attrName>
                                        </p:attrNameLst>
                                      </p:cBhvr>
                                      <p:to>
                                        <p:strVal val="visible"/>
                                      </p:to>
                                    </p:set>
                                    <p:animEffect transition="in" filter="wipe(up)">
                                      <p:cBhvr>
                                        <p:cTn id="32" dur="500"/>
                                        <p:tgtEl>
                                          <p:spTgt spid="231433"/>
                                        </p:tgtEl>
                                      </p:cBhvr>
                                    </p:animEffect>
                                  </p:childTnLst>
                                </p:cTn>
                              </p:par>
                            </p:childTnLst>
                          </p:cTn>
                        </p:par>
                        <p:par>
                          <p:cTn id="33" fill="hold" nodeType="afterGroup">
                            <p:stCondLst>
                              <p:cond delay="500"/>
                            </p:stCondLst>
                            <p:childTnLst>
                              <p:par>
                                <p:cTn id="34" presetID="2" presetClass="entr" presetSubtype="12" fill="hold" grpId="0" nodeType="afterEffect">
                                  <p:stCondLst>
                                    <p:cond delay="0"/>
                                  </p:stCondLst>
                                  <p:childTnLst>
                                    <p:set>
                                      <p:cBhvr>
                                        <p:cTn id="35" dur="1" fill="hold">
                                          <p:stCondLst>
                                            <p:cond delay="0"/>
                                          </p:stCondLst>
                                        </p:cTn>
                                        <p:tgtEl>
                                          <p:spTgt spid="231456"/>
                                        </p:tgtEl>
                                        <p:attrNameLst>
                                          <p:attrName>style.visibility</p:attrName>
                                        </p:attrNameLst>
                                      </p:cBhvr>
                                      <p:to>
                                        <p:strVal val="visible"/>
                                      </p:to>
                                    </p:set>
                                    <p:anim calcmode="lin" valueType="num">
                                      <p:cBhvr additive="base">
                                        <p:cTn id="36" dur="500" fill="hold"/>
                                        <p:tgtEl>
                                          <p:spTgt spid="231456"/>
                                        </p:tgtEl>
                                        <p:attrNameLst>
                                          <p:attrName>ppt_x</p:attrName>
                                        </p:attrNameLst>
                                      </p:cBhvr>
                                      <p:tavLst>
                                        <p:tav tm="0">
                                          <p:val>
                                            <p:strVal val="0-#ppt_w/2"/>
                                          </p:val>
                                        </p:tav>
                                        <p:tav tm="100000">
                                          <p:val>
                                            <p:strVal val="#ppt_x"/>
                                          </p:val>
                                        </p:tav>
                                      </p:tavLst>
                                    </p:anim>
                                    <p:anim calcmode="lin" valueType="num">
                                      <p:cBhvr additive="base">
                                        <p:cTn id="37" dur="500" fill="hold"/>
                                        <p:tgtEl>
                                          <p:spTgt spid="231456"/>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31434"/>
                                        </p:tgtEl>
                                        <p:attrNameLst>
                                          <p:attrName>style.visibility</p:attrName>
                                        </p:attrNameLst>
                                      </p:cBhvr>
                                      <p:to>
                                        <p:strVal val="visible"/>
                                      </p:to>
                                    </p:set>
                                    <p:animEffect transition="in" filter="wipe(up)">
                                      <p:cBhvr>
                                        <p:cTn id="42" dur="500"/>
                                        <p:tgtEl>
                                          <p:spTgt spid="23143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31435"/>
                                        </p:tgtEl>
                                        <p:attrNameLst>
                                          <p:attrName>style.visibility</p:attrName>
                                        </p:attrNameLst>
                                      </p:cBhvr>
                                      <p:to>
                                        <p:strVal val="visible"/>
                                      </p:to>
                                    </p:set>
                                    <p:animEffect transition="in" filter="wipe(up)">
                                      <p:cBhvr>
                                        <p:cTn id="47" dur="500"/>
                                        <p:tgtEl>
                                          <p:spTgt spid="23143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231436"/>
                                        </p:tgtEl>
                                        <p:attrNameLst>
                                          <p:attrName>style.visibility</p:attrName>
                                        </p:attrNameLst>
                                      </p:cBhvr>
                                      <p:to>
                                        <p:strVal val="visible"/>
                                      </p:to>
                                    </p:set>
                                    <p:animEffect transition="in" filter="wipe(up)">
                                      <p:cBhvr>
                                        <p:cTn id="52" dur="500"/>
                                        <p:tgtEl>
                                          <p:spTgt spid="23143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31437"/>
                                        </p:tgtEl>
                                        <p:attrNameLst>
                                          <p:attrName>style.visibility</p:attrName>
                                        </p:attrNameLst>
                                      </p:cBhvr>
                                      <p:to>
                                        <p:strVal val="visible"/>
                                      </p:to>
                                    </p:set>
                                    <p:animEffect transition="in" filter="wipe(up)">
                                      <p:cBhvr>
                                        <p:cTn id="57" dur="500"/>
                                        <p:tgtEl>
                                          <p:spTgt spid="23143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231445"/>
                                        </p:tgtEl>
                                        <p:attrNameLst>
                                          <p:attrName>style.visibility</p:attrName>
                                        </p:attrNameLst>
                                      </p:cBhvr>
                                      <p:to>
                                        <p:strVal val="visible"/>
                                      </p:to>
                                    </p:set>
                                    <p:animEffect transition="in" filter="wipe(up)">
                                      <p:cBhvr>
                                        <p:cTn id="62" dur="500"/>
                                        <p:tgtEl>
                                          <p:spTgt spid="23144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231446"/>
                                        </p:tgtEl>
                                        <p:attrNameLst>
                                          <p:attrName>style.visibility</p:attrName>
                                        </p:attrNameLst>
                                      </p:cBhvr>
                                      <p:to>
                                        <p:strVal val="visible"/>
                                      </p:to>
                                    </p:set>
                                    <p:animEffect transition="in" filter="wipe(up)">
                                      <p:cBhvr>
                                        <p:cTn id="67" dur="500"/>
                                        <p:tgtEl>
                                          <p:spTgt spid="23144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231447"/>
                                        </p:tgtEl>
                                        <p:attrNameLst>
                                          <p:attrName>style.visibility</p:attrName>
                                        </p:attrNameLst>
                                      </p:cBhvr>
                                      <p:to>
                                        <p:strVal val="visible"/>
                                      </p:to>
                                    </p:set>
                                    <p:animEffect transition="in" filter="wipe(up)">
                                      <p:cBhvr>
                                        <p:cTn id="72" dur="500"/>
                                        <p:tgtEl>
                                          <p:spTgt spid="23144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31444"/>
                                        </p:tgtEl>
                                        <p:attrNameLst>
                                          <p:attrName>style.visibility</p:attrName>
                                        </p:attrNameLst>
                                      </p:cBhvr>
                                      <p:to>
                                        <p:strVal val="visible"/>
                                      </p:to>
                                    </p:set>
                                    <p:animEffect transition="in" filter="wipe(left)">
                                      <p:cBhvr>
                                        <p:cTn id="77" dur="500"/>
                                        <p:tgtEl>
                                          <p:spTgt spid="231444"/>
                                        </p:tgtEl>
                                      </p:cBhvr>
                                    </p:animEffect>
                                  </p:childTnLst>
                                </p:cTn>
                              </p:par>
                            </p:childTnLst>
                          </p:cTn>
                        </p:par>
                        <p:par>
                          <p:cTn id="78" fill="hold" nodeType="afterGroup">
                            <p:stCondLst>
                              <p:cond delay="500"/>
                            </p:stCondLst>
                            <p:childTnLst>
                              <p:par>
                                <p:cTn id="79" presetID="22" presetClass="entr" presetSubtype="8" fill="hold" nodeType="afterEffect">
                                  <p:stCondLst>
                                    <p:cond delay="0"/>
                                  </p:stCondLst>
                                  <p:childTnLst>
                                    <p:set>
                                      <p:cBhvr>
                                        <p:cTn id="80" dur="1" fill="hold">
                                          <p:stCondLst>
                                            <p:cond delay="0"/>
                                          </p:stCondLst>
                                        </p:cTn>
                                        <p:tgtEl>
                                          <p:spTgt spid="231431"/>
                                        </p:tgtEl>
                                        <p:attrNameLst>
                                          <p:attrName>style.visibility</p:attrName>
                                        </p:attrNameLst>
                                      </p:cBhvr>
                                      <p:to>
                                        <p:strVal val="visible"/>
                                      </p:to>
                                    </p:set>
                                    <p:animEffect transition="in" filter="wipe(left)">
                                      <p:cBhvr>
                                        <p:cTn id="81" dur="500"/>
                                        <p:tgtEl>
                                          <p:spTgt spid="231431"/>
                                        </p:tgtEl>
                                      </p:cBhvr>
                                    </p:animEffect>
                                  </p:childTnLst>
                                </p:cTn>
                              </p:par>
                            </p:childTnLst>
                          </p:cTn>
                        </p:par>
                        <p:par>
                          <p:cTn id="82" fill="hold" nodeType="afterGroup">
                            <p:stCondLst>
                              <p:cond delay="1000"/>
                            </p:stCondLst>
                            <p:childTnLst>
                              <p:par>
                                <p:cTn id="83" presetID="2" presetClass="entr" presetSubtype="6" fill="hold" grpId="0" nodeType="afterEffect">
                                  <p:stCondLst>
                                    <p:cond delay="0"/>
                                  </p:stCondLst>
                                  <p:childTnLst>
                                    <p:set>
                                      <p:cBhvr>
                                        <p:cTn id="84" dur="1" fill="hold">
                                          <p:stCondLst>
                                            <p:cond delay="0"/>
                                          </p:stCondLst>
                                        </p:cTn>
                                        <p:tgtEl>
                                          <p:spTgt spid="231455"/>
                                        </p:tgtEl>
                                        <p:attrNameLst>
                                          <p:attrName>style.visibility</p:attrName>
                                        </p:attrNameLst>
                                      </p:cBhvr>
                                      <p:to>
                                        <p:strVal val="visible"/>
                                      </p:to>
                                    </p:set>
                                    <p:anim calcmode="lin" valueType="num">
                                      <p:cBhvr additive="base">
                                        <p:cTn id="85" dur="500" fill="hold"/>
                                        <p:tgtEl>
                                          <p:spTgt spid="231455"/>
                                        </p:tgtEl>
                                        <p:attrNameLst>
                                          <p:attrName>ppt_x</p:attrName>
                                        </p:attrNameLst>
                                      </p:cBhvr>
                                      <p:tavLst>
                                        <p:tav tm="0">
                                          <p:val>
                                            <p:strVal val="1+#ppt_w/2"/>
                                          </p:val>
                                        </p:tav>
                                        <p:tav tm="100000">
                                          <p:val>
                                            <p:strVal val="#ppt_x"/>
                                          </p:val>
                                        </p:tav>
                                      </p:tavLst>
                                    </p:anim>
                                    <p:anim calcmode="lin" valueType="num">
                                      <p:cBhvr additive="base">
                                        <p:cTn id="86" dur="500" fill="hold"/>
                                        <p:tgtEl>
                                          <p:spTgt spid="231455"/>
                                        </p:tgtEl>
                                        <p:attrNameLst>
                                          <p:attrName>ppt_y</p:attrName>
                                        </p:attrNameLst>
                                      </p:cBhvr>
                                      <p:tavLst>
                                        <p:tav tm="0">
                                          <p:val>
                                            <p:strVal val="1+#ppt_h/2"/>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1" fill="hold" grpId="0" nodeType="clickEffect">
                                  <p:stCondLst>
                                    <p:cond delay="0"/>
                                  </p:stCondLst>
                                  <p:childTnLst>
                                    <p:set>
                                      <p:cBhvr>
                                        <p:cTn id="90" dur="1" fill="hold">
                                          <p:stCondLst>
                                            <p:cond delay="0"/>
                                          </p:stCondLst>
                                        </p:cTn>
                                        <p:tgtEl>
                                          <p:spTgt spid="231438"/>
                                        </p:tgtEl>
                                        <p:attrNameLst>
                                          <p:attrName>style.visibility</p:attrName>
                                        </p:attrNameLst>
                                      </p:cBhvr>
                                      <p:to>
                                        <p:strVal val="visible"/>
                                      </p:to>
                                    </p:set>
                                    <p:animEffect transition="in" filter="wipe(up)">
                                      <p:cBhvr>
                                        <p:cTn id="91" dur="500"/>
                                        <p:tgtEl>
                                          <p:spTgt spid="231438"/>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1" fill="hold" grpId="0" nodeType="clickEffect">
                                  <p:stCondLst>
                                    <p:cond delay="0"/>
                                  </p:stCondLst>
                                  <p:childTnLst>
                                    <p:set>
                                      <p:cBhvr>
                                        <p:cTn id="95" dur="1" fill="hold">
                                          <p:stCondLst>
                                            <p:cond delay="0"/>
                                          </p:stCondLst>
                                        </p:cTn>
                                        <p:tgtEl>
                                          <p:spTgt spid="231439"/>
                                        </p:tgtEl>
                                        <p:attrNameLst>
                                          <p:attrName>style.visibility</p:attrName>
                                        </p:attrNameLst>
                                      </p:cBhvr>
                                      <p:to>
                                        <p:strVal val="visible"/>
                                      </p:to>
                                    </p:set>
                                    <p:animEffect transition="in" filter="wipe(up)">
                                      <p:cBhvr>
                                        <p:cTn id="96" dur="500"/>
                                        <p:tgtEl>
                                          <p:spTgt spid="231439"/>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1" fill="hold" grpId="0" nodeType="clickEffect">
                                  <p:stCondLst>
                                    <p:cond delay="0"/>
                                  </p:stCondLst>
                                  <p:childTnLst>
                                    <p:set>
                                      <p:cBhvr>
                                        <p:cTn id="100" dur="1" fill="hold">
                                          <p:stCondLst>
                                            <p:cond delay="0"/>
                                          </p:stCondLst>
                                        </p:cTn>
                                        <p:tgtEl>
                                          <p:spTgt spid="231440"/>
                                        </p:tgtEl>
                                        <p:attrNameLst>
                                          <p:attrName>style.visibility</p:attrName>
                                        </p:attrNameLst>
                                      </p:cBhvr>
                                      <p:to>
                                        <p:strVal val="visible"/>
                                      </p:to>
                                    </p:set>
                                    <p:animEffect transition="in" filter="wipe(up)">
                                      <p:cBhvr>
                                        <p:cTn id="101" dur="500"/>
                                        <p:tgtEl>
                                          <p:spTgt spid="231440"/>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1" fill="hold" grpId="0" nodeType="clickEffect">
                                  <p:stCondLst>
                                    <p:cond delay="0"/>
                                  </p:stCondLst>
                                  <p:childTnLst>
                                    <p:set>
                                      <p:cBhvr>
                                        <p:cTn id="105" dur="1" fill="hold">
                                          <p:stCondLst>
                                            <p:cond delay="0"/>
                                          </p:stCondLst>
                                        </p:cTn>
                                        <p:tgtEl>
                                          <p:spTgt spid="231441"/>
                                        </p:tgtEl>
                                        <p:attrNameLst>
                                          <p:attrName>style.visibility</p:attrName>
                                        </p:attrNameLst>
                                      </p:cBhvr>
                                      <p:to>
                                        <p:strVal val="visible"/>
                                      </p:to>
                                    </p:set>
                                    <p:animEffect transition="in" filter="wipe(up)">
                                      <p:cBhvr>
                                        <p:cTn id="106" dur="500"/>
                                        <p:tgtEl>
                                          <p:spTgt spid="231441"/>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1" fill="hold" grpId="0" nodeType="clickEffect">
                                  <p:stCondLst>
                                    <p:cond delay="0"/>
                                  </p:stCondLst>
                                  <p:childTnLst>
                                    <p:set>
                                      <p:cBhvr>
                                        <p:cTn id="110" dur="1" fill="hold">
                                          <p:stCondLst>
                                            <p:cond delay="0"/>
                                          </p:stCondLst>
                                        </p:cTn>
                                        <p:tgtEl>
                                          <p:spTgt spid="231448"/>
                                        </p:tgtEl>
                                        <p:attrNameLst>
                                          <p:attrName>style.visibility</p:attrName>
                                        </p:attrNameLst>
                                      </p:cBhvr>
                                      <p:to>
                                        <p:strVal val="visible"/>
                                      </p:to>
                                    </p:set>
                                    <p:animEffect transition="in" filter="wipe(up)">
                                      <p:cBhvr>
                                        <p:cTn id="111" dur="500"/>
                                        <p:tgtEl>
                                          <p:spTgt spid="231448"/>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1" fill="hold" grpId="0" nodeType="clickEffect">
                                  <p:stCondLst>
                                    <p:cond delay="0"/>
                                  </p:stCondLst>
                                  <p:childTnLst>
                                    <p:set>
                                      <p:cBhvr>
                                        <p:cTn id="115" dur="1" fill="hold">
                                          <p:stCondLst>
                                            <p:cond delay="0"/>
                                          </p:stCondLst>
                                        </p:cTn>
                                        <p:tgtEl>
                                          <p:spTgt spid="231442"/>
                                        </p:tgtEl>
                                        <p:attrNameLst>
                                          <p:attrName>style.visibility</p:attrName>
                                        </p:attrNameLst>
                                      </p:cBhvr>
                                      <p:to>
                                        <p:strVal val="visible"/>
                                      </p:to>
                                    </p:set>
                                    <p:animEffect transition="in" filter="wipe(up)">
                                      <p:cBhvr>
                                        <p:cTn id="116" dur="500"/>
                                        <p:tgtEl>
                                          <p:spTgt spid="231442"/>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1" fill="hold" grpId="0" nodeType="clickEffect">
                                  <p:stCondLst>
                                    <p:cond delay="0"/>
                                  </p:stCondLst>
                                  <p:childTnLst>
                                    <p:set>
                                      <p:cBhvr>
                                        <p:cTn id="120" dur="1" fill="hold">
                                          <p:stCondLst>
                                            <p:cond delay="0"/>
                                          </p:stCondLst>
                                        </p:cTn>
                                        <p:tgtEl>
                                          <p:spTgt spid="231449"/>
                                        </p:tgtEl>
                                        <p:attrNameLst>
                                          <p:attrName>style.visibility</p:attrName>
                                        </p:attrNameLst>
                                      </p:cBhvr>
                                      <p:to>
                                        <p:strVal val="visible"/>
                                      </p:to>
                                    </p:set>
                                    <p:animEffect transition="in" filter="wipe(up)">
                                      <p:cBhvr>
                                        <p:cTn id="121" dur="500"/>
                                        <p:tgtEl>
                                          <p:spTgt spid="231449"/>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1" fill="hold" grpId="0" nodeType="clickEffect">
                                  <p:stCondLst>
                                    <p:cond delay="0"/>
                                  </p:stCondLst>
                                  <p:childTnLst>
                                    <p:set>
                                      <p:cBhvr>
                                        <p:cTn id="125" dur="1" fill="hold">
                                          <p:stCondLst>
                                            <p:cond delay="0"/>
                                          </p:stCondLst>
                                        </p:cTn>
                                        <p:tgtEl>
                                          <p:spTgt spid="231450"/>
                                        </p:tgtEl>
                                        <p:attrNameLst>
                                          <p:attrName>style.visibility</p:attrName>
                                        </p:attrNameLst>
                                      </p:cBhvr>
                                      <p:to>
                                        <p:strVal val="visible"/>
                                      </p:to>
                                    </p:set>
                                    <p:animEffect transition="in" filter="wipe(up)">
                                      <p:cBhvr>
                                        <p:cTn id="126" dur="500"/>
                                        <p:tgtEl>
                                          <p:spTgt spid="231450"/>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1" fill="hold" grpId="0" nodeType="clickEffect">
                                  <p:stCondLst>
                                    <p:cond delay="0"/>
                                  </p:stCondLst>
                                  <p:childTnLst>
                                    <p:set>
                                      <p:cBhvr>
                                        <p:cTn id="130" dur="1" fill="hold">
                                          <p:stCondLst>
                                            <p:cond delay="0"/>
                                          </p:stCondLst>
                                        </p:cTn>
                                        <p:tgtEl>
                                          <p:spTgt spid="231451"/>
                                        </p:tgtEl>
                                        <p:attrNameLst>
                                          <p:attrName>style.visibility</p:attrName>
                                        </p:attrNameLst>
                                      </p:cBhvr>
                                      <p:to>
                                        <p:strVal val="visible"/>
                                      </p:to>
                                    </p:set>
                                    <p:animEffect transition="in" filter="wipe(up)">
                                      <p:cBhvr>
                                        <p:cTn id="131" dur="500"/>
                                        <p:tgtEl>
                                          <p:spTgt spid="231451"/>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231453"/>
                                        </p:tgtEl>
                                        <p:attrNameLst>
                                          <p:attrName>style.visibility</p:attrName>
                                        </p:attrNameLst>
                                      </p:cBhvr>
                                      <p:to>
                                        <p:strVal val="visible"/>
                                      </p:to>
                                    </p:set>
                                    <p:animEffect transition="in" filter="wipe(left)">
                                      <p:cBhvr>
                                        <p:cTn id="136" dur="500"/>
                                        <p:tgtEl>
                                          <p:spTgt spid="231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6" grpId="0" autoUpdateAnimBg="0"/>
      <p:bldP spid="231427" grpId="0" autoUpdateAnimBg="0"/>
      <p:bldP spid="231432" grpId="0" autoUpdateAnimBg="0"/>
      <p:bldP spid="231433" grpId="0" autoUpdateAnimBg="0"/>
      <p:bldP spid="231434" grpId="0" autoUpdateAnimBg="0"/>
      <p:bldP spid="231435" grpId="0" autoUpdateAnimBg="0"/>
      <p:bldP spid="231436" grpId="0" autoUpdateAnimBg="0"/>
      <p:bldP spid="231437" grpId="0" autoUpdateAnimBg="0"/>
      <p:bldP spid="231438" grpId="0" autoUpdateAnimBg="0"/>
      <p:bldP spid="231439" grpId="0" autoUpdateAnimBg="0"/>
      <p:bldP spid="231440" grpId="0" autoUpdateAnimBg="0"/>
      <p:bldP spid="231441" grpId="0" autoUpdateAnimBg="0"/>
      <p:bldP spid="231442" grpId="0" autoUpdateAnimBg="0"/>
      <p:bldP spid="231443" grpId="0" autoUpdateAnimBg="0"/>
      <p:bldP spid="231444" grpId="0" autoUpdateAnimBg="0"/>
      <p:bldP spid="231445" grpId="0" autoUpdateAnimBg="0"/>
      <p:bldP spid="231446" grpId="0" autoUpdateAnimBg="0"/>
      <p:bldP spid="231447" grpId="0" autoUpdateAnimBg="0"/>
      <p:bldP spid="231448" grpId="0" autoUpdateAnimBg="0"/>
      <p:bldP spid="231449" grpId="0" autoUpdateAnimBg="0"/>
      <p:bldP spid="231450" grpId="0" autoUpdateAnimBg="0"/>
      <p:bldP spid="231451" grpId="0" autoUpdateAnimBg="0"/>
      <p:bldP spid="231453" grpId="0" autoUpdateAnimBg="0"/>
      <p:bldP spid="231455" grpId="0" animBg="1"/>
      <p:bldP spid="231456" grpId="0"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Text Box 2"/>
          <p:cNvSpPr txBox="1">
            <a:spLocks noChangeArrowheads="1"/>
          </p:cNvSpPr>
          <p:nvPr/>
        </p:nvSpPr>
        <p:spPr bwMode="auto">
          <a:xfrm>
            <a:off x="381000" y="152400"/>
            <a:ext cx="7940675"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600" b="1" i="1">
                <a:solidFill>
                  <a:srgbClr val="A50021"/>
                </a:solidFill>
                <a:ea typeface="楷体_GB2312" charset="0"/>
              </a:rPr>
              <a:t>    H</a:t>
            </a:r>
            <a:r>
              <a:rPr lang="en-US" altLang="zh-CN" sz="3600" b="1" i="1" baseline="-25000">
                <a:solidFill>
                  <a:srgbClr val="A50021"/>
                </a:solidFill>
                <a:ea typeface="楷体_GB2312" charset="0"/>
              </a:rPr>
              <a:t>2</a:t>
            </a:r>
            <a:r>
              <a:rPr lang="en-US" altLang="zh-CN" sz="3600" b="1" i="1">
                <a:solidFill>
                  <a:srgbClr val="A50021"/>
                </a:solidFill>
                <a:ea typeface="楷体_GB2312" charset="0"/>
              </a:rPr>
              <a:t>(key) </a:t>
            </a:r>
            <a:r>
              <a:rPr lang="zh-CN" altLang="en-US" sz="3600">
                <a:solidFill>
                  <a:srgbClr val="A50021"/>
                </a:solidFill>
                <a:ea typeface="楷体_GB2312" charset="0"/>
              </a:rPr>
              <a:t>是另设定的一个哈希函数，它的函数值应和 </a:t>
            </a:r>
            <a:r>
              <a:rPr lang="en-US" altLang="zh-CN" sz="3600" b="1" i="1">
                <a:solidFill>
                  <a:srgbClr val="A50021"/>
                </a:solidFill>
                <a:ea typeface="楷体_GB2312" charset="0"/>
              </a:rPr>
              <a:t>m</a:t>
            </a:r>
            <a:r>
              <a:rPr lang="en-US" altLang="zh-CN" sz="3600">
                <a:solidFill>
                  <a:srgbClr val="A50021"/>
                </a:solidFill>
                <a:ea typeface="楷体_GB2312" charset="0"/>
              </a:rPr>
              <a:t> </a:t>
            </a:r>
            <a:r>
              <a:rPr lang="zh-CN" altLang="en-US" sz="3600">
                <a:solidFill>
                  <a:srgbClr val="FF0000"/>
                </a:solidFill>
                <a:ea typeface="楷体_GB2312" charset="0"/>
              </a:rPr>
              <a:t>互为素数</a:t>
            </a:r>
            <a:r>
              <a:rPr lang="zh-CN" altLang="en-US" sz="3600">
                <a:solidFill>
                  <a:srgbClr val="A50021"/>
                </a:solidFill>
                <a:ea typeface="楷体_GB2312" charset="0"/>
              </a:rPr>
              <a:t>。</a:t>
            </a:r>
            <a:endParaRPr lang="zh-CN" altLang="en-US" sz="3600">
              <a:ea typeface="楷体_GB2312" charset="0"/>
            </a:endParaRPr>
          </a:p>
        </p:txBody>
      </p:sp>
      <p:sp>
        <p:nvSpPr>
          <p:cNvPr id="232451" name="Text Box 3"/>
          <p:cNvSpPr txBox="1">
            <a:spLocks noChangeArrowheads="1"/>
          </p:cNvSpPr>
          <p:nvPr/>
        </p:nvSpPr>
        <p:spPr bwMode="auto">
          <a:xfrm>
            <a:off x="381000" y="1676400"/>
            <a:ext cx="85344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zh-CN" altLang="en-US" sz="3600">
                <a:solidFill>
                  <a:schemeClr val="accent2"/>
                </a:solidFill>
                <a:ea typeface="楷体_GB2312" charset="0"/>
              </a:rPr>
              <a:t>若 </a:t>
            </a:r>
            <a:r>
              <a:rPr lang="en-US" altLang="zh-CN" sz="3600" b="1" i="1">
                <a:solidFill>
                  <a:schemeClr val="accent2"/>
                </a:solidFill>
                <a:ea typeface="楷体_GB2312" charset="0"/>
              </a:rPr>
              <a:t>m</a:t>
            </a:r>
            <a:r>
              <a:rPr lang="en-US" altLang="zh-CN" sz="3600">
                <a:solidFill>
                  <a:schemeClr val="accent2"/>
                </a:solidFill>
                <a:ea typeface="楷体_GB2312" charset="0"/>
              </a:rPr>
              <a:t> </a:t>
            </a:r>
            <a:r>
              <a:rPr lang="zh-CN" altLang="en-US" sz="3600">
                <a:solidFill>
                  <a:schemeClr val="accent2"/>
                </a:solidFill>
                <a:ea typeface="楷体_GB2312" charset="0"/>
              </a:rPr>
              <a:t>为素数，则 </a:t>
            </a:r>
            <a:r>
              <a:rPr lang="en-US" altLang="zh-CN" sz="3600" b="1" i="1">
                <a:solidFill>
                  <a:schemeClr val="accent2"/>
                </a:solidFill>
                <a:ea typeface="楷体_GB2312" charset="0"/>
              </a:rPr>
              <a:t>H</a:t>
            </a:r>
            <a:r>
              <a:rPr lang="en-US" altLang="zh-CN" sz="3600" b="1" i="1" baseline="-25000">
                <a:solidFill>
                  <a:schemeClr val="accent2"/>
                </a:solidFill>
                <a:ea typeface="楷体_GB2312" charset="0"/>
              </a:rPr>
              <a:t>2</a:t>
            </a:r>
            <a:r>
              <a:rPr lang="en-US" altLang="zh-CN" sz="3600" b="1" i="1">
                <a:solidFill>
                  <a:schemeClr val="accent2"/>
                </a:solidFill>
                <a:ea typeface="楷体_GB2312" charset="0"/>
              </a:rPr>
              <a:t>(key)</a:t>
            </a:r>
            <a:r>
              <a:rPr lang="en-US" altLang="zh-CN" sz="3600">
                <a:solidFill>
                  <a:schemeClr val="accent2"/>
                </a:solidFill>
                <a:ea typeface="楷体_GB2312" charset="0"/>
              </a:rPr>
              <a:t> </a:t>
            </a:r>
            <a:r>
              <a:rPr lang="zh-CN" altLang="en-US" sz="3600">
                <a:solidFill>
                  <a:schemeClr val="accent2"/>
                </a:solidFill>
                <a:ea typeface="楷体_GB2312" charset="0"/>
              </a:rPr>
              <a:t>可以是 </a:t>
            </a:r>
            <a:r>
              <a:rPr lang="en-US" altLang="zh-CN" sz="3600" b="1">
                <a:solidFill>
                  <a:schemeClr val="accent2"/>
                </a:solidFill>
                <a:ea typeface="楷体_GB2312" charset="0"/>
              </a:rPr>
              <a:t>1</a:t>
            </a:r>
            <a:r>
              <a:rPr lang="en-US" altLang="zh-CN" sz="3600">
                <a:solidFill>
                  <a:schemeClr val="accent2"/>
                </a:solidFill>
                <a:ea typeface="楷体_GB2312" charset="0"/>
              </a:rPr>
              <a:t> </a:t>
            </a:r>
            <a:r>
              <a:rPr lang="zh-CN" altLang="en-US" sz="3600">
                <a:solidFill>
                  <a:schemeClr val="accent2"/>
                </a:solidFill>
                <a:ea typeface="楷体_GB2312" charset="0"/>
              </a:rPr>
              <a:t>至 </a:t>
            </a:r>
            <a:r>
              <a:rPr lang="en-US" altLang="zh-CN" sz="3600" b="1">
                <a:solidFill>
                  <a:schemeClr val="accent2"/>
                </a:solidFill>
                <a:ea typeface="楷体_GB2312" charset="0"/>
              </a:rPr>
              <a:t>m-1</a:t>
            </a:r>
            <a:r>
              <a:rPr lang="en-US" altLang="zh-CN" sz="3600">
                <a:solidFill>
                  <a:schemeClr val="accent2"/>
                </a:solidFill>
                <a:ea typeface="楷体_GB2312" charset="0"/>
              </a:rPr>
              <a:t> </a:t>
            </a:r>
            <a:r>
              <a:rPr lang="zh-CN" altLang="en-US" sz="3600">
                <a:solidFill>
                  <a:schemeClr val="accent2"/>
                </a:solidFill>
                <a:ea typeface="楷体_GB2312" charset="0"/>
              </a:rPr>
              <a:t>之间的</a:t>
            </a:r>
            <a:r>
              <a:rPr lang="zh-CN" altLang="en-US" sz="3600" b="1">
                <a:solidFill>
                  <a:srgbClr val="FF0000"/>
                </a:solidFill>
                <a:ea typeface="楷体_GB2312" charset="0"/>
              </a:rPr>
              <a:t>任意数</a:t>
            </a:r>
            <a:r>
              <a:rPr lang="zh-CN" altLang="en-US" sz="3600">
                <a:solidFill>
                  <a:schemeClr val="accent2"/>
                </a:solidFill>
                <a:ea typeface="楷体_GB2312" charset="0"/>
              </a:rPr>
              <a:t>；</a:t>
            </a:r>
          </a:p>
        </p:txBody>
      </p:sp>
      <p:sp>
        <p:nvSpPr>
          <p:cNvPr id="232453" name="Rectangle 5"/>
          <p:cNvSpPr>
            <a:spLocks noChangeArrowheads="1"/>
          </p:cNvSpPr>
          <p:nvPr/>
        </p:nvSpPr>
        <p:spPr bwMode="auto">
          <a:xfrm>
            <a:off x="381000" y="2362200"/>
            <a:ext cx="823595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600">
                <a:solidFill>
                  <a:schemeClr val="accent2"/>
                </a:solidFill>
                <a:ea typeface="楷体_GB2312" charset="0"/>
              </a:rPr>
              <a:t>                           </a:t>
            </a:r>
            <a:r>
              <a:rPr lang="zh-CN" altLang="en-US" sz="3600">
                <a:solidFill>
                  <a:schemeClr val="accent2"/>
                </a:solidFill>
                <a:ea typeface="楷体_GB2312" charset="0"/>
              </a:rPr>
              <a:t>若 </a:t>
            </a:r>
            <a:r>
              <a:rPr lang="en-US" altLang="zh-CN" sz="3600" b="1" i="1">
                <a:solidFill>
                  <a:schemeClr val="accent2"/>
                </a:solidFill>
                <a:ea typeface="楷体_GB2312" charset="0"/>
              </a:rPr>
              <a:t>m</a:t>
            </a:r>
            <a:r>
              <a:rPr lang="en-US" altLang="zh-CN" sz="3600">
                <a:solidFill>
                  <a:schemeClr val="accent2"/>
                </a:solidFill>
                <a:ea typeface="楷体_GB2312" charset="0"/>
              </a:rPr>
              <a:t> </a:t>
            </a:r>
            <a:r>
              <a:rPr lang="zh-CN" altLang="en-US" sz="3600">
                <a:solidFill>
                  <a:schemeClr val="accent2"/>
                </a:solidFill>
                <a:ea typeface="楷体_GB2312" charset="0"/>
              </a:rPr>
              <a:t>为 </a:t>
            </a:r>
            <a:r>
              <a:rPr lang="en-US" altLang="zh-CN" sz="3600">
                <a:solidFill>
                  <a:schemeClr val="accent2"/>
                </a:solidFill>
                <a:ea typeface="楷体_GB2312" charset="0"/>
              </a:rPr>
              <a:t>2 </a:t>
            </a:r>
            <a:r>
              <a:rPr lang="zh-CN" altLang="en-US" sz="3600">
                <a:solidFill>
                  <a:schemeClr val="accent2"/>
                </a:solidFill>
                <a:ea typeface="楷体_GB2312" charset="0"/>
              </a:rPr>
              <a:t>的幂次，则 </a:t>
            </a:r>
          </a:p>
          <a:p>
            <a:pPr>
              <a:lnSpc>
                <a:spcPct val="125000"/>
              </a:lnSpc>
            </a:pPr>
            <a:r>
              <a:rPr lang="en-US" altLang="zh-CN" sz="3600" b="1" i="1">
                <a:solidFill>
                  <a:schemeClr val="accent2"/>
                </a:solidFill>
                <a:ea typeface="楷体_GB2312" charset="0"/>
              </a:rPr>
              <a:t>H</a:t>
            </a:r>
            <a:r>
              <a:rPr lang="en-US" altLang="zh-CN" sz="3600" b="1" i="1" baseline="-25000">
                <a:solidFill>
                  <a:schemeClr val="accent2"/>
                </a:solidFill>
                <a:ea typeface="楷体_GB2312" charset="0"/>
              </a:rPr>
              <a:t>2</a:t>
            </a:r>
            <a:r>
              <a:rPr lang="en-US" altLang="zh-CN" sz="3600" b="1" i="1">
                <a:solidFill>
                  <a:schemeClr val="accent2"/>
                </a:solidFill>
                <a:ea typeface="楷体_GB2312" charset="0"/>
              </a:rPr>
              <a:t>(key)</a:t>
            </a:r>
            <a:r>
              <a:rPr lang="en-US" altLang="zh-CN" sz="3600">
                <a:solidFill>
                  <a:schemeClr val="accent2"/>
                </a:solidFill>
                <a:ea typeface="楷体_GB2312" charset="0"/>
              </a:rPr>
              <a:t> </a:t>
            </a:r>
            <a:r>
              <a:rPr lang="zh-CN" altLang="en-US" sz="3600">
                <a:solidFill>
                  <a:schemeClr val="accent2"/>
                </a:solidFill>
                <a:ea typeface="楷体_GB2312" charset="0"/>
              </a:rPr>
              <a:t>应是 </a:t>
            </a:r>
            <a:r>
              <a:rPr lang="en-US" altLang="zh-CN" sz="3600" b="1">
                <a:solidFill>
                  <a:schemeClr val="accent2"/>
                </a:solidFill>
                <a:ea typeface="楷体_GB2312" charset="0"/>
              </a:rPr>
              <a:t>1</a:t>
            </a:r>
            <a:r>
              <a:rPr lang="en-US" altLang="zh-CN" sz="3600">
                <a:solidFill>
                  <a:schemeClr val="accent2"/>
                </a:solidFill>
                <a:ea typeface="楷体_GB2312" charset="0"/>
              </a:rPr>
              <a:t> </a:t>
            </a:r>
            <a:r>
              <a:rPr lang="zh-CN" altLang="en-US" sz="3600">
                <a:solidFill>
                  <a:schemeClr val="accent2"/>
                </a:solidFill>
                <a:ea typeface="楷体_GB2312" charset="0"/>
              </a:rPr>
              <a:t>至 </a:t>
            </a:r>
            <a:r>
              <a:rPr lang="en-US" altLang="zh-CN" sz="3600" b="1">
                <a:solidFill>
                  <a:schemeClr val="accent2"/>
                </a:solidFill>
                <a:ea typeface="楷体_GB2312" charset="0"/>
              </a:rPr>
              <a:t>m-1</a:t>
            </a:r>
            <a:r>
              <a:rPr lang="en-US" altLang="zh-CN" sz="3600">
                <a:solidFill>
                  <a:schemeClr val="accent2"/>
                </a:solidFill>
                <a:ea typeface="楷体_GB2312" charset="0"/>
              </a:rPr>
              <a:t> </a:t>
            </a:r>
            <a:r>
              <a:rPr lang="zh-CN" altLang="en-US" sz="3600">
                <a:solidFill>
                  <a:schemeClr val="accent2"/>
                </a:solidFill>
                <a:ea typeface="楷体_GB2312" charset="0"/>
              </a:rPr>
              <a:t>之间的</a:t>
            </a:r>
            <a:r>
              <a:rPr lang="zh-CN" altLang="en-US" sz="3600" b="1">
                <a:solidFill>
                  <a:srgbClr val="FF0000"/>
                </a:solidFill>
                <a:ea typeface="楷体_GB2312" charset="0"/>
              </a:rPr>
              <a:t>任意奇数</a:t>
            </a:r>
            <a:r>
              <a:rPr lang="zh-CN" altLang="en-US" sz="3600">
                <a:solidFill>
                  <a:schemeClr val="accent2"/>
                </a:solidFill>
                <a:ea typeface="楷体_GB2312" charset="0"/>
              </a:rPr>
              <a:t>。</a:t>
            </a:r>
          </a:p>
        </p:txBody>
      </p:sp>
      <p:sp>
        <p:nvSpPr>
          <p:cNvPr id="232454" name="Text Box 6"/>
          <p:cNvSpPr txBox="1">
            <a:spLocks noChangeArrowheads="1"/>
          </p:cNvSpPr>
          <p:nvPr/>
        </p:nvSpPr>
        <p:spPr bwMode="auto">
          <a:xfrm>
            <a:off x="336550" y="4038600"/>
            <a:ext cx="79692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A50021"/>
                </a:solidFill>
                <a:ea typeface="隶书" charset="0"/>
              </a:rPr>
              <a:t>例如，当 </a:t>
            </a:r>
            <a:r>
              <a:rPr lang="en-US" altLang="zh-CN" sz="3600">
                <a:solidFill>
                  <a:srgbClr val="A50021"/>
                </a:solidFill>
                <a:ea typeface="隶书" charset="0"/>
              </a:rPr>
              <a:t>m=11</a:t>
            </a:r>
            <a:r>
              <a:rPr lang="zh-CN" altLang="en-US" sz="3600">
                <a:solidFill>
                  <a:srgbClr val="A50021"/>
                </a:solidFill>
                <a:ea typeface="隶书" charset="0"/>
              </a:rPr>
              <a:t>时，</a:t>
            </a:r>
          </a:p>
          <a:p>
            <a:r>
              <a:rPr lang="zh-CN" altLang="en-US" sz="3600">
                <a:solidFill>
                  <a:srgbClr val="A50021"/>
                </a:solidFill>
                <a:ea typeface="隶书" charset="0"/>
              </a:rPr>
              <a:t>            可设 </a:t>
            </a:r>
            <a:r>
              <a:rPr lang="en-US" altLang="zh-CN" sz="3600" b="1">
                <a:solidFill>
                  <a:srgbClr val="A50021"/>
                </a:solidFill>
                <a:ea typeface="隶书" charset="0"/>
              </a:rPr>
              <a:t>H</a:t>
            </a:r>
            <a:r>
              <a:rPr lang="en-US" altLang="zh-CN" sz="3600" b="1" baseline="-25000">
                <a:solidFill>
                  <a:srgbClr val="A50021"/>
                </a:solidFill>
                <a:ea typeface="隶书" charset="0"/>
              </a:rPr>
              <a:t>2</a:t>
            </a:r>
            <a:r>
              <a:rPr lang="en-US" altLang="zh-CN" sz="3600" b="1">
                <a:solidFill>
                  <a:srgbClr val="A50021"/>
                </a:solidFill>
                <a:ea typeface="隶书" charset="0"/>
              </a:rPr>
              <a:t>(key)=(3 key) MOD 10+1</a:t>
            </a:r>
            <a:endParaRPr lang="en-US" altLang="zh-CN" sz="3600">
              <a:ea typeface="隶书" charset="0"/>
            </a:endParaRPr>
          </a:p>
        </p:txBody>
      </p:sp>
      <p:graphicFrame>
        <p:nvGraphicFramePr>
          <p:cNvPr id="232455" name="Object 7"/>
          <p:cNvGraphicFramePr>
            <a:graphicFrameLocks noChangeAspect="1"/>
          </p:cNvGraphicFramePr>
          <p:nvPr/>
        </p:nvGraphicFramePr>
        <p:xfrm>
          <a:off x="457200" y="5334000"/>
          <a:ext cx="7905750" cy="914400"/>
        </p:xfrm>
        <a:graphic>
          <a:graphicData uri="http://schemas.openxmlformats.org/presentationml/2006/ole">
            <mc:AlternateContent xmlns:mc="http://schemas.openxmlformats.org/markup-compatibility/2006">
              <mc:Choice xmlns:v="urn:schemas-microsoft-com:vml" Requires="v">
                <p:oleObj spid="_x0000_s1444866" name="文档" r:id="rId3" imgW="5942160" imgH="749520" progId="Word.Document.8">
                  <p:embed/>
                </p:oleObj>
              </mc:Choice>
              <mc:Fallback>
                <p:oleObj name="文档" r:id="rId3" imgW="5942160" imgH="74952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5334000"/>
                        <a:ext cx="79057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32456" name="Text Box 8"/>
          <p:cNvSpPr txBox="1">
            <a:spLocks noChangeArrowheads="1"/>
          </p:cNvSpPr>
          <p:nvPr/>
        </p:nvSpPr>
        <p:spPr bwMode="auto">
          <a:xfrm>
            <a:off x="6229350" y="55165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rPr>
              <a:t>19</a:t>
            </a:r>
            <a:endParaRPr lang="en-US" altLang="zh-CN" sz="3600"/>
          </a:p>
        </p:txBody>
      </p:sp>
      <p:sp>
        <p:nvSpPr>
          <p:cNvPr id="232457" name="Text Box 9"/>
          <p:cNvSpPr txBox="1">
            <a:spLocks noChangeArrowheads="1"/>
          </p:cNvSpPr>
          <p:nvPr/>
        </p:nvSpPr>
        <p:spPr bwMode="auto">
          <a:xfrm>
            <a:off x="1219200" y="55165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rPr>
              <a:t>01</a:t>
            </a:r>
            <a:endParaRPr lang="en-US" altLang="zh-CN" sz="3600"/>
          </a:p>
        </p:txBody>
      </p:sp>
      <p:sp>
        <p:nvSpPr>
          <p:cNvPr id="232458" name="Text Box 10"/>
          <p:cNvSpPr txBox="1">
            <a:spLocks noChangeArrowheads="1"/>
          </p:cNvSpPr>
          <p:nvPr/>
        </p:nvSpPr>
        <p:spPr bwMode="auto">
          <a:xfrm>
            <a:off x="514350" y="55165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3333FF"/>
                </a:solidFill>
              </a:rPr>
              <a:t>23</a:t>
            </a:r>
            <a:endParaRPr lang="en-US" altLang="zh-CN" sz="3600"/>
          </a:p>
        </p:txBody>
      </p:sp>
      <p:sp>
        <p:nvSpPr>
          <p:cNvPr id="232459" name="Text Box 11"/>
          <p:cNvSpPr txBox="1">
            <a:spLocks noChangeArrowheads="1"/>
          </p:cNvSpPr>
          <p:nvPr/>
        </p:nvSpPr>
        <p:spPr bwMode="auto">
          <a:xfrm>
            <a:off x="2647950" y="55165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rPr>
              <a:t>14</a:t>
            </a:r>
            <a:endParaRPr lang="en-US" altLang="zh-CN" sz="3600"/>
          </a:p>
        </p:txBody>
      </p:sp>
      <p:sp>
        <p:nvSpPr>
          <p:cNvPr id="232460" name="Text Box 12"/>
          <p:cNvSpPr txBox="1">
            <a:spLocks noChangeArrowheads="1"/>
          </p:cNvSpPr>
          <p:nvPr/>
        </p:nvSpPr>
        <p:spPr bwMode="auto">
          <a:xfrm>
            <a:off x="4800600" y="55165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3333FF"/>
                </a:solidFill>
              </a:rPr>
              <a:t>55</a:t>
            </a:r>
            <a:endParaRPr lang="en-US" altLang="zh-CN" sz="3600"/>
          </a:p>
        </p:txBody>
      </p:sp>
      <p:sp>
        <p:nvSpPr>
          <p:cNvPr id="232461" name="Text Box 13"/>
          <p:cNvSpPr txBox="1">
            <a:spLocks noChangeArrowheads="1"/>
          </p:cNvSpPr>
          <p:nvPr/>
        </p:nvSpPr>
        <p:spPr bwMode="auto">
          <a:xfrm>
            <a:off x="1905000" y="55165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rPr>
              <a:t>68</a:t>
            </a:r>
            <a:endParaRPr lang="en-US" altLang="zh-CN" sz="3600"/>
          </a:p>
        </p:txBody>
      </p:sp>
      <p:sp>
        <p:nvSpPr>
          <p:cNvPr id="232462" name="Text Box 14"/>
          <p:cNvSpPr txBox="1">
            <a:spLocks noChangeArrowheads="1"/>
          </p:cNvSpPr>
          <p:nvPr/>
        </p:nvSpPr>
        <p:spPr bwMode="auto">
          <a:xfrm>
            <a:off x="3352800" y="55165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3333FF"/>
                </a:solidFill>
              </a:rPr>
              <a:t>11</a:t>
            </a:r>
            <a:endParaRPr lang="en-US" altLang="zh-CN" sz="3600"/>
          </a:p>
        </p:txBody>
      </p:sp>
      <p:sp>
        <p:nvSpPr>
          <p:cNvPr id="232463" name="Text Box 15"/>
          <p:cNvSpPr txBox="1">
            <a:spLocks noChangeArrowheads="1"/>
          </p:cNvSpPr>
          <p:nvPr/>
        </p:nvSpPr>
        <p:spPr bwMode="auto">
          <a:xfrm>
            <a:off x="4114800" y="55165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rPr>
              <a:t>82</a:t>
            </a:r>
            <a:endParaRPr lang="en-US" altLang="zh-CN" sz="3600"/>
          </a:p>
        </p:txBody>
      </p:sp>
      <p:sp>
        <p:nvSpPr>
          <p:cNvPr id="232464" name="Text Box 16"/>
          <p:cNvSpPr txBox="1">
            <a:spLocks noChangeArrowheads="1"/>
          </p:cNvSpPr>
          <p:nvPr/>
        </p:nvSpPr>
        <p:spPr bwMode="auto">
          <a:xfrm>
            <a:off x="7696200" y="55165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FF00FF"/>
                </a:solidFill>
              </a:rPr>
              <a:t>36</a:t>
            </a:r>
            <a:endParaRPr lang="en-US" altLang="zh-CN" sz="3600"/>
          </a:p>
        </p:txBody>
      </p:sp>
      <p:sp>
        <p:nvSpPr>
          <p:cNvPr id="232466" name="Text Box 18"/>
          <p:cNvSpPr txBox="1">
            <a:spLocks noChangeArrowheads="1"/>
          </p:cNvSpPr>
          <p:nvPr/>
        </p:nvSpPr>
        <p:spPr bwMode="auto">
          <a:xfrm>
            <a:off x="666750" y="6034088"/>
            <a:ext cx="75628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A50021"/>
                </a:solidFill>
              </a:rPr>
              <a:t>2      1      1      1      2      1      2              1               3</a:t>
            </a:r>
            <a:endParaRPr lang="en-US" altLang="zh-CN" sz="2800"/>
          </a:p>
        </p:txBody>
      </p:sp>
      <p:sp>
        <p:nvSpPr>
          <p:cNvPr id="232468" name="AutoShape 20">
            <a:hlinkClick r:id="" action="ppaction://hlinkshowjump?jump=lastslideviewed" highlightClick="1"/>
          </p:cNvPr>
          <p:cNvSpPr>
            <a:spLocks noChangeArrowheads="1"/>
          </p:cNvSpPr>
          <p:nvPr/>
        </p:nvSpPr>
        <p:spPr bwMode="auto">
          <a:xfrm>
            <a:off x="228600" y="62484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2469" name="AutoShape 21">
            <a:hlinkClick r:id="rId5"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289235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2450"/>
                                        </p:tgtEl>
                                        <p:attrNameLst>
                                          <p:attrName>style.visibility</p:attrName>
                                        </p:attrNameLst>
                                      </p:cBhvr>
                                      <p:to>
                                        <p:strVal val="visible"/>
                                      </p:to>
                                    </p:set>
                                    <p:animEffect transition="in" filter="wipe(left)">
                                      <p:cBhvr>
                                        <p:cTn id="7" dur="500"/>
                                        <p:tgtEl>
                                          <p:spTgt spid="2324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32451"/>
                                        </p:tgtEl>
                                        <p:attrNameLst>
                                          <p:attrName>style.visibility</p:attrName>
                                        </p:attrNameLst>
                                      </p:cBhvr>
                                      <p:to>
                                        <p:strVal val="visible"/>
                                      </p:to>
                                    </p:set>
                                    <p:animEffect transition="in" filter="wipe(left)">
                                      <p:cBhvr>
                                        <p:cTn id="12" dur="300"/>
                                        <p:tgtEl>
                                          <p:spTgt spid="2324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232453"/>
                                        </p:tgtEl>
                                        <p:attrNameLst>
                                          <p:attrName>style.visibility</p:attrName>
                                        </p:attrNameLst>
                                      </p:cBhvr>
                                      <p:to>
                                        <p:strVal val="visible"/>
                                      </p:to>
                                    </p:set>
                                    <p:animEffect transition="in" filter="wipe(left)">
                                      <p:cBhvr>
                                        <p:cTn id="17" dur="300"/>
                                        <p:tgtEl>
                                          <p:spTgt spid="2324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2454"/>
                                        </p:tgtEl>
                                        <p:attrNameLst>
                                          <p:attrName>style.visibility</p:attrName>
                                        </p:attrNameLst>
                                      </p:cBhvr>
                                      <p:to>
                                        <p:strVal val="visible"/>
                                      </p:to>
                                    </p:set>
                                    <p:animEffect transition="in" filter="wipe(left)">
                                      <p:cBhvr>
                                        <p:cTn id="22" dur="500"/>
                                        <p:tgtEl>
                                          <p:spTgt spid="232454"/>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232455"/>
                                        </p:tgtEl>
                                        <p:attrNameLst>
                                          <p:attrName>style.visibility</p:attrName>
                                        </p:attrNameLst>
                                      </p:cBhvr>
                                      <p:to>
                                        <p:strVal val="visible"/>
                                      </p:to>
                                    </p:set>
                                    <p:animEffect transition="in" filter="wipe(left)">
                                      <p:cBhvr>
                                        <p:cTn id="26" dur="500"/>
                                        <p:tgtEl>
                                          <p:spTgt spid="23245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232456"/>
                                        </p:tgtEl>
                                        <p:attrNameLst>
                                          <p:attrName>style.visibility</p:attrName>
                                        </p:attrNameLst>
                                      </p:cBhvr>
                                      <p:to>
                                        <p:strVal val="visible"/>
                                      </p:to>
                                    </p:set>
                                    <p:animEffect transition="in" filter="wipe(up)">
                                      <p:cBhvr>
                                        <p:cTn id="31" dur="500"/>
                                        <p:tgtEl>
                                          <p:spTgt spid="232456"/>
                                        </p:tgtEl>
                                      </p:cBhvr>
                                    </p:animEffect>
                                  </p:childTnLst>
                                </p:cTn>
                              </p:par>
                            </p:childTnLst>
                          </p:cTn>
                        </p:par>
                        <p:par>
                          <p:cTn id="32" fill="hold" nodeType="afterGroup">
                            <p:stCondLst>
                              <p:cond delay="500"/>
                            </p:stCondLst>
                            <p:childTnLst>
                              <p:par>
                                <p:cTn id="33" presetID="2" presetClass="entr" presetSubtype="12" fill="hold" grpId="0" nodeType="afterEffect">
                                  <p:stCondLst>
                                    <p:cond delay="0"/>
                                  </p:stCondLst>
                                  <p:childTnLst>
                                    <p:set>
                                      <p:cBhvr>
                                        <p:cTn id="34" dur="1" fill="hold">
                                          <p:stCondLst>
                                            <p:cond delay="0"/>
                                          </p:stCondLst>
                                        </p:cTn>
                                        <p:tgtEl>
                                          <p:spTgt spid="232468"/>
                                        </p:tgtEl>
                                        <p:attrNameLst>
                                          <p:attrName>style.visibility</p:attrName>
                                        </p:attrNameLst>
                                      </p:cBhvr>
                                      <p:to>
                                        <p:strVal val="visible"/>
                                      </p:to>
                                    </p:set>
                                    <p:anim calcmode="lin" valueType="num">
                                      <p:cBhvr additive="base">
                                        <p:cTn id="35" dur="500" fill="hold"/>
                                        <p:tgtEl>
                                          <p:spTgt spid="232468"/>
                                        </p:tgtEl>
                                        <p:attrNameLst>
                                          <p:attrName>ppt_x</p:attrName>
                                        </p:attrNameLst>
                                      </p:cBhvr>
                                      <p:tavLst>
                                        <p:tav tm="0">
                                          <p:val>
                                            <p:strVal val="0-#ppt_w/2"/>
                                          </p:val>
                                        </p:tav>
                                        <p:tav tm="100000">
                                          <p:val>
                                            <p:strVal val="#ppt_x"/>
                                          </p:val>
                                        </p:tav>
                                      </p:tavLst>
                                    </p:anim>
                                    <p:anim calcmode="lin" valueType="num">
                                      <p:cBhvr additive="base">
                                        <p:cTn id="36" dur="500" fill="hold"/>
                                        <p:tgtEl>
                                          <p:spTgt spid="232468"/>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232457"/>
                                        </p:tgtEl>
                                        <p:attrNameLst>
                                          <p:attrName>style.visibility</p:attrName>
                                        </p:attrNameLst>
                                      </p:cBhvr>
                                      <p:to>
                                        <p:strVal val="visible"/>
                                      </p:to>
                                    </p:set>
                                    <p:animEffect transition="in" filter="wipe(up)">
                                      <p:cBhvr>
                                        <p:cTn id="41" dur="500"/>
                                        <p:tgtEl>
                                          <p:spTgt spid="23245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232458"/>
                                        </p:tgtEl>
                                        <p:attrNameLst>
                                          <p:attrName>style.visibility</p:attrName>
                                        </p:attrNameLst>
                                      </p:cBhvr>
                                      <p:to>
                                        <p:strVal val="visible"/>
                                      </p:to>
                                    </p:set>
                                    <p:animEffect transition="in" filter="wipe(up)">
                                      <p:cBhvr>
                                        <p:cTn id="46" dur="500"/>
                                        <p:tgtEl>
                                          <p:spTgt spid="23245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232459"/>
                                        </p:tgtEl>
                                        <p:attrNameLst>
                                          <p:attrName>style.visibility</p:attrName>
                                        </p:attrNameLst>
                                      </p:cBhvr>
                                      <p:to>
                                        <p:strVal val="visible"/>
                                      </p:to>
                                    </p:set>
                                    <p:animEffect transition="in" filter="wipe(up)">
                                      <p:cBhvr>
                                        <p:cTn id="51" dur="500"/>
                                        <p:tgtEl>
                                          <p:spTgt spid="232459"/>
                                        </p:tgtEl>
                                      </p:cBhvr>
                                    </p:animEffect>
                                  </p:childTnLst>
                                </p:cTn>
                              </p:par>
                            </p:childTnLst>
                          </p:cTn>
                        </p:par>
                        <p:par>
                          <p:cTn id="52" fill="hold" nodeType="afterGroup">
                            <p:stCondLst>
                              <p:cond delay="500"/>
                            </p:stCondLst>
                            <p:childTnLst>
                              <p:par>
                                <p:cTn id="53" presetID="22" presetClass="entr" presetSubtype="1" fill="hold" grpId="0" nodeType="afterEffect">
                                  <p:stCondLst>
                                    <p:cond delay="0"/>
                                  </p:stCondLst>
                                  <p:childTnLst>
                                    <p:set>
                                      <p:cBhvr>
                                        <p:cTn id="54" dur="1" fill="hold">
                                          <p:stCondLst>
                                            <p:cond delay="0"/>
                                          </p:stCondLst>
                                        </p:cTn>
                                        <p:tgtEl>
                                          <p:spTgt spid="232460"/>
                                        </p:tgtEl>
                                        <p:attrNameLst>
                                          <p:attrName>style.visibility</p:attrName>
                                        </p:attrNameLst>
                                      </p:cBhvr>
                                      <p:to>
                                        <p:strVal val="visible"/>
                                      </p:to>
                                    </p:set>
                                    <p:animEffect transition="in" filter="wipe(up)">
                                      <p:cBhvr>
                                        <p:cTn id="55" dur="500"/>
                                        <p:tgtEl>
                                          <p:spTgt spid="232460"/>
                                        </p:tgtEl>
                                      </p:cBhvr>
                                    </p:animEffect>
                                  </p:childTnLst>
                                </p:cTn>
                              </p:par>
                            </p:childTnLst>
                          </p:cTn>
                        </p:par>
                        <p:par>
                          <p:cTn id="56" fill="hold" nodeType="afterGroup">
                            <p:stCondLst>
                              <p:cond delay="1000"/>
                            </p:stCondLst>
                            <p:childTnLst>
                              <p:par>
                                <p:cTn id="57" presetID="22" presetClass="entr" presetSubtype="1" fill="hold" grpId="0" nodeType="afterEffect">
                                  <p:stCondLst>
                                    <p:cond delay="0"/>
                                  </p:stCondLst>
                                  <p:childTnLst>
                                    <p:set>
                                      <p:cBhvr>
                                        <p:cTn id="58" dur="1" fill="hold">
                                          <p:stCondLst>
                                            <p:cond delay="0"/>
                                          </p:stCondLst>
                                        </p:cTn>
                                        <p:tgtEl>
                                          <p:spTgt spid="232461"/>
                                        </p:tgtEl>
                                        <p:attrNameLst>
                                          <p:attrName>style.visibility</p:attrName>
                                        </p:attrNameLst>
                                      </p:cBhvr>
                                      <p:to>
                                        <p:strVal val="visible"/>
                                      </p:to>
                                    </p:set>
                                    <p:animEffect transition="in" filter="wipe(up)">
                                      <p:cBhvr>
                                        <p:cTn id="59" dur="500"/>
                                        <p:tgtEl>
                                          <p:spTgt spid="232461"/>
                                        </p:tgtEl>
                                      </p:cBhvr>
                                    </p:animEffect>
                                  </p:childTnLst>
                                </p:cTn>
                              </p:par>
                            </p:childTnLst>
                          </p:cTn>
                        </p:par>
                        <p:par>
                          <p:cTn id="60" fill="hold" nodeType="afterGroup">
                            <p:stCondLst>
                              <p:cond delay="1500"/>
                            </p:stCondLst>
                            <p:childTnLst>
                              <p:par>
                                <p:cTn id="61" presetID="22" presetClass="entr" presetSubtype="1" fill="hold" grpId="0" nodeType="afterEffect">
                                  <p:stCondLst>
                                    <p:cond delay="0"/>
                                  </p:stCondLst>
                                  <p:childTnLst>
                                    <p:set>
                                      <p:cBhvr>
                                        <p:cTn id="62" dur="1" fill="hold">
                                          <p:stCondLst>
                                            <p:cond delay="0"/>
                                          </p:stCondLst>
                                        </p:cTn>
                                        <p:tgtEl>
                                          <p:spTgt spid="232462"/>
                                        </p:tgtEl>
                                        <p:attrNameLst>
                                          <p:attrName>style.visibility</p:attrName>
                                        </p:attrNameLst>
                                      </p:cBhvr>
                                      <p:to>
                                        <p:strVal val="visible"/>
                                      </p:to>
                                    </p:set>
                                    <p:animEffect transition="in" filter="wipe(up)">
                                      <p:cBhvr>
                                        <p:cTn id="63" dur="500"/>
                                        <p:tgtEl>
                                          <p:spTgt spid="232462"/>
                                        </p:tgtEl>
                                      </p:cBhvr>
                                    </p:animEffect>
                                  </p:childTnLst>
                                </p:cTn>
                              </p:par>
                            </p:childTnLst>
                          </p:cTn>
                        </p:par>
                        <p:par>
                          <p:cTn id="64" fill="hold" nodeType="afterGroup">
                            <p:stCondLst>
                              <p:cond delay="2000"/>
                            </p:stCondLst>
                            <p:childTnLst>
                              <p:par>
                                <p:cTn id="65" presetID="22" presetClass="entr" presetSubtype="1" fill="hold" grpId="0" nodeType="afterEffect">
                                  <p:stCondLst>
                                    <p:cond delay="0"/>
                                  </p:stCondLst>
                                  <p:childTnLst>
                                    <p:set>
                                      <p:cBhvr>
                                        <p:cTn id="66" dur="1" fill="hold">
                                          <p:stCondLst>
                                            <p:cond delay="0"/>
                                          </p:stCondLst>
                                        </p:cTn>
                                        <p:tgtEl>
                                          <p:spTgt spid="232463"/>
                                        </p:tgtEl>
                                        <p:attrNameLst>
                                          <p:attrName>style.visibility</p:attrName>
                                        </p:attrNameLst>
                                      </p:cBhvr>
                                      <p:to>
                                        <p:strVal val="visible"/>
                                      </p:to>
                                    </p:set>
                                    <p:animEffect transition="in" filter="wipe(up)">
                                      <p:cBhvr>
                                        <p:cTn id="67" dur="500"/>
                                        <p:tgtEl>
                                          <p:spTgt spid="23246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232464"/>
                                        </p:tgtEl>
                                        <p:attrNameLst>
                                          <p:attrName>style.visibility</p:attrName>
                                        </p:attrNameLst>
                                      </p:cBhvr>
                                      <p:to>
                                        <p:strVal val="visible"/>
                                      </p:to>
                                    </p:set>
                                    <p:animEffect transition="in" filter="wipe(up)">
                                      <p:cBhvr>
                                        <p:cTn id="72" dur="500"/>
                                        <p:tgtEl>
                                          <p:spTgt spid="23246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32466"/>
                                        </p:tgtEl>
                                        <p:attrNameLst>
                                          <p:attrName>style.visibility</p:attrName>
                                        </p:attrNameLst>
                                      </p:cBhvr>
                                      <p:to>
                                        <p:strVal val="visible"/>
                                      </p:to>
                                    </p:set>
                                    <p:animEffect transition="in" filter="wipe(left)">
                                      <p:cBhvr>
                                        <p:cTn id="77" dur="500"/>
                                        <p:tgtEl>
                                          <p:spTgt spid="232466"/>
                                        </p:tgtEl>
                                      </p:cBhvr>
                                    </p:animEffect>
                                  </p:childTnLst>
                                </p:cTn>
                              </p:par>
                            </p:childTnLst>
                          </p:cTn>
                        </p:par>
                        <p:par>
                          <p:cTn id="78" fill="hold" nodeType="afterGroup">
                            <p:stCondLst>
                              <p:cond delay="500"/>
                            </p:stCondLst>
                            <p:childTnLst>
                              <p:par>
                                <p:cTn id="79" presetID="2" presetClass="entr" presetSubtype="6" fill="hold" grpId="0" nodeType="afterEffect">
                                  <p:stCondLst>
                                    <p:cond delay="0"/>
                                  </p:stCondLst>
                                  <p:childTnLst>
                                    <p:set>
                                      <p:cBhvr>
                                        <p:cTn id="80" dur="1" fill="hold">
                                          <p:stCondLst>
                                            <p:cond delay="0"/>
                                          </p:stCondLst>
                                        </p:cTn>
                                        <p:tgtEl>
                                          <p:spTgt spid="232469"/>
                                        </p:tgtEl>
                                        <p:attrNameLst>
                                          <p:attrName>style.visibility</p:attrName>
                                        </p:attrNameLst>
                                      </p:cBhvr>
                                      <p:to>
                                        <p:strVal val="visible"/>
                                      </p:to>
                                    </p:set>
                                    <p:anim calcmode="lin" valueType="num">
                                      <p:cBhvr additive="base">
                                        <p:cTn id="81" dur="500" fill="hold"/>
                                        <p:tgtEl>
                                          <p:spTgt spid="232469"/>
                                        </p:tgtEl>
                                        <p:attrNameLst>
                                          <p:attrName>ppt_x</p:attrName>
                                        </p:attrNameLst>
                                      </p:cBhvr>
                                      <p:tavLst>
                                        <p:tav tm="0">
                                          <p:val>
                                            <p:strVal val="1+#ppt_w/2"/>
                                          </p:val>
                                        </p:tav>
                                        <p:tav tm="100000">
                                          <p:val>
                                            <p:strVal val="#ppt_x"/>
                                          </p:val>
                                        </p:tav>
                                      </p:tavLst>
                                    </p:anim>
                                    <p:anim calcmode="lin" valueType="num">
                                      <p:cBhvr additive="base">
                                        <p:cTn id="82" dur="500" fill="hold"/>
                                        <p:tgtEl>
                                          <p:spTgt spid="2324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0" grpId="0" autoUpdateAnimBg="0"/>
      <p:bldP spid="232451" grpId="0" autoUpdateAnimBg="0"/>
      <p:bldP spid="232453" grpId="0" autoUpdateAnimBg="0"/>
      <p:bldP spid="232454" grpId="0" autoUpdateAnimBg="0"/>
      <p:bldP spid="232456" grpId="0" autoUpdateAnimBg="0"/>
      <p:bldP spid="232457" grpId="0" autoUpdateAnimBg="0"/>
      <p:bldP spid="232458" grpId="0" autoUpdateAnimBg="0"/>
      <p:bldP spid="232459" grpId="0" autoUpdateAnimBg="0"/>
      <p:bldP spid="232460" grpId="0" autoUpdateAnimBg="0"/>
      <p:bldP spid="232461" grpId="0" autoUpdateAnimBg="0"/>
      <p:bldP spid="232462" grpId="0" autoUpdateAnimBg="0"/>
      <p:bldP spid="232463" grpId="0" autoUpdateAnimBg="0"/>
      <p:bldP spid="232464" grpId="0" autoUpdateAnimBg="0"/>
      <p:bldP spid="232466" grpId="0" autoUpdateAnimBg="0"/>
      <p:bldP spid="232468" grpId="0" animBg="1"/>
      <p:bldP spid="232469" grpId="0" animBg="1"/>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9" name="Text Box 3"/>
          <p:cNvSpPr txBox="1">
            <a:spLocks noChangeArrowheads="1"/>
          </p:cNvSpPr>
          <p:nvPr/>
        </p:nvSpPr>
        <p:spPr bwMode="auto">
          <a:xfrm>
            <a:off x="2971800" y="304800"/>
            <a:ext cx="62484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2400">
                <a:solidFill>
                  <a:schemeClr val="tx1"/>
                </a:solidFill>
                <a:latin typeface="Times New Roman" charset="0"/>
                <a:ea typeface="宋体" charset="-122"/>
              </a:defRPr>
            </a:lvl1pPr>
            <a:lvl2pPr marL="190500">
              <a:defRPr kumimoji="1" sz="2400">
                <a:solidFill>
                  <a:schemeClr val="tx1"/>
                </a:solidFill>
                <a:latin typeface="Times New Roman" charset="0"/>
                <a:ea typeface="宋体" charset="-122"/>
              </a:defRPr>
            </a:lvl2pPr>
            <a:lvl3pPr marL="381000">
              <a:defRPr kumimoji="1" sz="2400">
                <a:solidFill>
                  <a:schemeClr val="tx1"/>
                </a:solidFill>
                <a:latin typeface="Times New Roman" charset="0"/>
                <a:ea typeface="宋体" charset="-122"/>
              </a:defRPr>
            </a:lvl3pPr>
            <a:lvl4pPr>
              <a:defRPr kumimoji="1" sz="2400">
                <a:solidFill>
                  <a:schemeClr val="tx1"/>
                </a:solidFill>
                <a:latin typeface="Times New Roman" charset="0"/>
                <a:ea typeface="宋体" charset="-122"/>
              </a:defRPr>
            </a:lvl4pPr>
            <a:lvl5pPr>
              <a:defRPr kumimoji="1" sz="2400">
                <a:solidFill>
                  <a:schemeClr val="tx1"/>
                </a:solidFill>
                <a:latin typeface="Times New Roman" charset="0"/>
                <a:ea typeface="宋体" charset="-122"/>
              </a:defRPr>
            </a:lvl5pPr>
            <a:lvl6pPr fontAlgn="base">
              <a:spcBef>
                <a:spcPct val="0"/>
              </a:spcBef>
              <a:spcAft>
                <a:spcPct val="0"/>
              </a:spcAft>
              <a:defRPr kumimoji="1" sz="2400">
                <a:solidFill>
                  <a:schemeClr val="tx1"/>
                </a:solidFill>
                <a:latin typeface="Times New Roman" charset="0"/>
                <a:ea typeface="宋体" charset="-122"/>
              </a:defRPr>
            </a:lvl6pPr>
            <a:lvl7pPr fontAlgn="base">
              <a:spcBef>
                <a:spcPct val="0"/>
              </a:spcBef>
              <a:spcAft>
                <a:spcPct val="0"/>
              </a:spcAft>
              <a:defRPr kumimoji="1" sz="2400">
                <a:solidFill>
                  <a:schemeClr val="tx1"/>
                </a:solidFill>
                <a:latin typeface="Times New Roman" charset="0"/>
                <a:ea typeface="宋体" charset="-122"/>
              </a:defRPr>
            </a:lvl7pPr>
            <a:lvl8pPr fontAlgn="base">
              <a:spcBef>
                <a:spcPct val="0"/>
              </a:spcBef>
              <a:spcAft>
                <a:spcPct val="0"/>
              </a:spcAft>
              <a:defRPr kumimoji="1" sz="2400">
                <a:solidFill>
                  <a:schemeClr val="tx1"/>
                </a:solidFill>
                <a:latin typeface="Times New Roman" charset="0"/>
                <a:ea typeface="宋体" charset="-122"/>
              </a:defRPr>
            </a:lvl8pPr>
            <a:lvl9pPr fontAlgn="base">
              <a:spcBef>
                <a:spcPct val="0"/>
              </a:spcBef>
              <a:spcAft>
                <a:spcPct val="0"/>
              </a:spcAft>
              <a:defRPr kumimoji="1" sz="2400">
                <a:solidFill>
                  <a:schemeClr val="tx1"/>
                </a:solidFill>
                <a:latin typeface="Times New Roman" charset="0"/>
                <a:ea typeface="宋体" charset="-122"/>
              </a:defRPr>
            </a:lvl9pPr>
          </a:lstStyle>
          <a:p>
            <a:pPr lvl="2">
              <a:lnSpc>
                <a:spcPct val="120000"/>
              </a:lnSpc>
            </a:pPr>
            <a:r>
              <a:rPr lang="zh-CN" altLang="en-US" sz="3600">
                <a:solidFill>
                  <a:schemeClr val="accent2"/>
                </a:solidFill>
                <a:ea typeface="楷体_GB2312" charset="0"/>
              </a:rPr>
              <a:t>将所有哈希地址相同的记录</a:t>
            </a:r>
          </a:p>
          <a:p>
            <a:pPr lvl="2">
              <a:lnSpc>
                <a:spcPct val="120000"/>
              </a:lnSpc>
            </a:pPr>
            <a:r>
              <a:rPr lang="zh-CN" altLang="en-US" sz="3600">
                <a:solidFill>
                  <a:schemeClr val="accent2"/>
                </a:solidFill>
                <a:ea typeface="楷体_GB2312" charset="0"/>
              </a:rPr>
              <a:t>都链接在同一链表中。</a:t>
            </a:r>
            <a:r>
              <a:rPr lang="zh-CN" altLang="en-US" sz="4000">
                <a:ea typeface="楷体_GB2312" charset="0"/>
              </a:rPr>
              <a:t>       </a:t>
            </a:r>
          </a:p>
        </p:txBody>
      </p:sp>
      <p:sp>
        <p:nvSpPr>
          <p:cNvPr id="162820" name="Text Box 4"/>
          <p:cNvSpPr txBox="1">
            <a:spLocks noChangeArrowheads="1"/>
          </p:cNvSpPr>
          <p:nvPr/>
        </p:nvSpPr>
        <p:spPr bwMode="auto">
          <a:xfrm>
            <a:off x="-457200" y="304800"/>
            <a:ext cx="3733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r>
              <a:rPr lang="en-US" altLang="zh-CN" sz="4000" b="1">
                <a:solidFill>
                  <a:srgbClr val="990000"/>
                </a:solidFill>
              </a:rPr>
              <a:t>2. </a:t>
            </a:r>
            <a:r>
              <a:rPr lang="zh-CN" altLang="en-US" sz="4000" b="1">
                <a:solidFill>
                  <a:srgbClr val="990000"/>
                </a:solidFill>
                <a:ea typeface="楷体_GB2312" charset="0"/>
              </a:rPr>
              <a:t>链地址法</a:t>
            </a:r>
            <a:endParaRPr lang="zh-CN" altLang="en-US"/>
          </a:p>
        </p:txBody>
      </p:sp>
      <p:sp>
        <p:nvSpPr>
          <p:cNvPr id="162823" name="Rectangle 7"/>
          <p:cNvSpPr>
            <a:spLocks noChangeArrowheads="1"/>
          </p:cNvSpPr>
          <p:nvPr/>
        </p:nvSpPr>
        <p:spPr bwMode="auto">
          <a:xfrm>
            <a:off x="1524000" y="1905000"/>
            <a:ext cx="457200" cy="45720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24" name="Line 8"/>
          <p:cNvSpPr>
            <a:spLocks noChangeShapeType="1"/>
          </p:cNvSpPr>
          <p:nvPr/>
        </p:nvSpPr>
        <p:spPr bwMode="auto">
          <a:xfrm>
            <a:off x="1524000" y="2590800"/>
            <a:ext cx="4572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25" name="Line 9"/>
          <p:cNvSpPr>
            <a:spLocks noChangeShapeType="1"/>
          </p:cNvSpPr>
          <p:nvPr/>
        </p:nvSpPr>
        <p:spPr bwMode="auto">
          <a:xfrm>
            <a:off x="1524000" y="3200400"/>
            <a:ext cx="4572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27" name="Line 11"/>
          <p:cNvSpPr>
            <a:spLocks noChangeShapeType="1"/>
          </p:cNvSpPr>
          <p:nvPr/>
        </p:nvSpPr>
        <p:spPr bwMode="auto">
          <a:xfrm>
            <a:off x="1524000" y="3810000"/>
            <a:ext cx="4572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28" name="Line 12"/>
          <p:cNvSpPr>
            <a:spLocks noChangeShapeType="1"/>
          </p:cNvSpPr>
          <p:nvPr/>
        </p:nvSpPr>
        <p:spPr bwMode="auto">
          <a:xfrm>
            <a:off x="1524000" y="4419600"/>
            <a:ext cx="4572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29" name="Line 13"/>
          <p:cNvSpPr>
            <a:spLocks noChangeShapeType="1"/>
          </p:cNvSpPr>
          <p:nvPr/>
        </p:nvSpPr>
        <p:spPr bwMode="auto">
          <a:xfrm>
            <a:off x="1524000" y="5105400"/>
            <a:ext cx="4572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31" name="Line 15"/>
          <p:cNvSpPr>
            <a:spLocks noChangeShapeType="1"/>
          </p:cNvSpPr>
          <p:nvPr/>
        </p:nvSpPr>
        <p:spPr bwMode="auto">
          <a:xfrm>
            <a:off x="1524000" y="5791200"/>
            <a:ext cx="4572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33" name="Text Box 17"/>
          <p:cNvSpPr txBox="1">
            <a:spLocks noChangeArrowheads="1"/>
          </p:cNvSpPr>
          <p:nvPr/>
        </p:nvSpPr>
        <p:spPr bwMode="auto">
          <a:xfrm>
            <a:off x="1066800" y="1957388"/>
            <a:ext cx="533400" cy="436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ltLang="zh-CN" sz="2800">
                <a:solidFill>
                  <a:srgbClr val="6600CC"/>
                </a:solidFill>
              </a:rPr>
              <a:t>0</a:t>
            </a:r>
          </a:p>
          <a:p>
            <a:pPr>
              <a:spcBef>
                <a:spcPct val="50000"/>
              </a:spcBef>
            </a:pPr>
            <a:r>
              <a:rPr lang="en-US" altLang="zh-CN" sz="2800">
                <a:solidFill>
                  <a:srgbClr val="6600CC"/>
                </a:solidFill>
              </a:rPr>
              <a:t>1</a:t>
            </a:r>
          </a:p>
          <a:p>
            <a:pPr>
              <a:spcBef>
                <a:spcPct val="50000"/>
              </a:spcBef>
            </a:pPr>
            <a:r>
              <a:rPr lang="en-US" altLang="zh-CN" sz="2800">
                <a:solidFill>
                  <a:srgbClr val="6600CC"/>
                </a:solidFill>
              </a:rPr>
              <a:t>2</a:t>
            </a:r>
          </a:p>
          <a:p>
            <a:pPr>
              <a:spcBef>
                <a:spcPct val="50000"/>
              </a:spcBef>
            </a:pPr>
            <a:r>
              <a:rPr lang="en-US" altLang="zh-CN" sz="2800">
                <a:solidFill>
                  <a:srgbClr val="6600CC"/>
                </a:solidFill>
              </a:rPr>
              <a:t>3</a:t>
            </a:r>
          </a:p>
          <a:p>
            <a:pPr>
              <a:spcBef>
                <a:spcPct val="50000"/>
              </a:spcBef>
            </a:pPr>
            <a:r>
              <a:rPr lang="en-US" altLang="zh-CN" sz="2800">
                <a:solidFill>
                  <a:srgbClr val="6600CC"/>
                </a:solidFill>
              </a:rPr>
              <a:t>4</a:t>
            </a:r>
          </a:p>
          <a:p>
            <a:pPr>
              <a:spcBef>
                <a:spcPct val="50000"/>
              </a:spcBef>
            </a:pPr>
            <a:r>
              <a:rPr lang="en-US" altLang="zh-CN" sz="2800">
                <a:solidFill>
                  <a:srgbClr val="6600CC"/>
                </a:solidFill>
              </a:rPr>
              <a:t>5</a:t>
            </a:r>
          </a:p>
          <a:p>
            <a:pPr>
              <a:spcBef>
                <a:spcPct val="50000"/>
              </a:spcBef>
            </a:pPr>
            <a:r>
              <a:rPr lang="en-US" altLang="zh-CN" sz="2800">
                <a:solidFill>
                  <a:srgbClr val="6600CC"/>
                </a:solidFill>
              </a:rPr>
              <a:t>6</a:t>
            </a:r>
            <a:endParaRPr lang="en-US" altLang="zh-CN" sz="2800"/>
          </a:p>
        </p:txBody>
      </p:sp>
      <p:sp>
        <p:nvSpPr>
          <p:cNvPr id="162834" name="Rectangle 18"/>
          <p:cNvSpPr>
            <a:spLocks noChangeArrowheads="1"/>
          </p:cNvSpPr>
          <p:nvPr/>
        </p:nvSpPr>
        <p:spPr bwMode="auto">
          <a:xfrm>
            <a:off x="2590800" y="1981200"/>
            <a:ext cx="8382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b="1">
                <a:solidFill>
                  <a:schemeClr val="accent2"/>
                </a:solidFill>
              </a:rPr>
              <a:t>14</a:t>
            </a:r>
            <a:endParaRPr lang="en-US" altLang="zh-CN"/>
          </a:p>
        </p:txBody>
      </p:sp>
      <p:sp>
        <p:nvSpPr>
          <p:cNvPr id="162835" name="Line 19"/>
          <p:cNvSpPr>
            <a:spLocks noChangeShapeType="1"/>
          </p:cNvSpPr>
          <p:nvPr/>
        </p:nvSpPr>
        <p:spPr bwMode="auto">
          <a:xfrm>
            <a:off x="3124200" y="19812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36" name="Rectangle 20"/>
          <p:cNvSpPr>
            <a:spLocks noChangeArrowheads="1"/>
          </p:cNvSpPr>
          <p:nvPr/>
        </p:nvSpPr>
        <p:spPr bwMode="auto">
          <a:xfrm>
            <a:off x="2590800" y="2667000"/>
            <a:ext cx="8382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b="1">
                <a:solidFill>
                  <a:schemeClr val="accent2"/>
                </a:solidFill>
              </a:rPr>
              <a:t>01</a:t>
            </a:r>
            <a:endParaRPr lang="en-US" altLang="zh-CN"/>
          </a:p>
        </p:txBody>
      </p:sp>
      <p:sp>
        <p:nvSpPr>
          <p:cNvPr id="162837" name="Line 21"/>
          <p:cNvSpPr>
            <a:spLocks noChangeShapeType="1"/>
          </p:cNvSpPr>
          <p:nvPr/>
        </p:nvSpPr>
        <p:spPr bwMode="auto">
          <a:xfrm>
            <a:off x="3124200" y="26670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38" name="Rectangle 22"/>
          <p:cNvSpPr>
            <a:spLocks noChangeArrowheads="1"/>
          </p:cNvSpPr>
          <p:nvPr/>
        </p:nvSpPr>
        <p:spPr bwMode="auto">
          <a:xfrm>
            <a:off x="4114800" y="2667000"/>
            <a:ext cx="8382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b="1">
                <a:solidFill>
                  <a:schemeClr val="accent2"/>
                </a:solidFill>
              </a:rPr>
              <a:t>36</a:t>
            </a:r>
            <a:endParaRPr lang="en-US" altLang="zh-CN"/>
          </a:p>
        </p:txBody>
      </p:sp>
      <p:sp>
        <p:nvSpPr>
          <p:cNvPr id="162839" name="Line 23"/>
          <p:cNvSpPr>
            <a:spLocks noChangeShapeType="1"/>
          </p:cNvSpPr>
          <p:nvPr/>
        </p:nvSpPr>
        <p:spPr bwMode="auto">
          <a:xfrm>
            <a:off x="4648200" y="26670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40" name="Rectangle 24"/>
          <p:cNvSpPr>
            <a:spLocks noChangeArrowheads="1"/>
          </p:cNvSpPr>
          <p:nvPr/>
        </p:nvSpPr>
        <p:spPr bwMode="auto">
          <a:xfrm>
            <a:off x="2590800" y="3276600"/>
            <a:ext cx="8382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41" name="Line 25"/>
          <p:cNvSpPr>
            <a:spLocks noChangeShapeType="1"/>
          </p:cNvSpPr>
          <p:nvPr/>
        </p:nvSpPr>
        <p:spPr bwMode="auto">
          <a:xfrm>
            <a:off x="3124200" y="32766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42" name="Rectangle 26"/>
          <p:cNvSpPr>
            <a:spLocks noChangeArrowheads="1"/>
          </p:cNvSpPr>
          <p:nvPr/>
        </p:nvSpPr>
        <p:spPr bwMode="auto">
          <a:xfrm>
            <a:off x="2590800" y="4495800"/>
            <a:ext cx="8382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43" name="Line 27"/>
          <p:cNvSpPr>
            <a:spLocks noChangeShapeType="1"/>
          </p:cNvSpPr>
          <p:nvPr/>
        </p:nvSpPr>
        <p:spPr bwMode="auto">
          <a:xfrm>
            <a:off x="3124200" y="44958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44" name="Rectangle 28"/>
          <p:cNvSpPr>
            <a:spLocks noChangeArrowheads="1"/>
          </p:cNvSpPr>
          <p:nvPr/>
        </p:nvSpPr>
        <p:spPr bwMode="auto">
          <a:xfrm>
            <a:off x="2590800" y="5257800"/>
            <a:ext cx="8382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b="1">
                <a:solidFill>
                  <a:schemeClr val="accent2"/>
                </a:solidFill>
              </a:rPr>
              <a:t>19</a:t>
            </a:r>
            <a:endParaRPr lang="en-US" altLang="zh-CN"/>
          </a:p>
        </p:txBody>
      </p:sp>
      <p:sp>
        <p:nvSpPr>
          <p:cNvPr id="162845" name="Line 29"/>
          <p:cNvSpPr>
            <a:spLocks noChangeShapeType="1"/>
          </p:cNvSpPr>
          <p:nvPr/>
        </p:nvSpPr>
        <p:spPr bwMode="auto">
          <a:xfrm>
            <a:off x="3124200" y="52578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46" name="Rectangle 30"/>
          <p:cNvSpPr>
            <a:spLocks noChangeArrowheads="1"/>
          </p:cNvSpPr>
          <p:nvPr/>
        </p:nvSpPr>
        <p:spPr bwMode="auto">
          <a:xfrm>
            <a:off x="4114800" y="5257800"/>
            <a:ext cx="8382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47" name="Line 31"/>
          <p:cNvSpPr>
            <a:spLocks noChangeShapeType="1"/>
          </p:cNvSpPr>
          <p:nvPr/>
        </p:nvSpPr>
        <p:spPr bwMode="auto">
          <a:xfrm>
            <a:off x="4648200" y="52578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48" name="Rectangle 32"/>
          <p:cNvSpPr>
            <a:spLocks noChangeArrowheads="1"/>
          </p:cNvSpPr>
          <p:nvPr/>
        </p:nvSpPr>
        <p:spPr bwMode="auto">
          <a:xfrm>
            <a:off x="5638800" y="5257800"/>
            <a:ext cx="8382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b="1">
                <a:solidFill>
                  <a:schemeClr val="accent2"/>
                </a:solidFill>
              </a:rPr>
              <a:t>82</a:t>
            </a:r>
            <a:endParaRPr lang="en-US" altLang="zh-CN"/>
          </a:p>
        </p:txBody>
      </p:sp>
      <p:sp>
        <p:nvSpPr>
          <p:cNvPr id="162849" name="Line 33"/>
          <p:cNvSpPr>
            <a:spLocks noChangeShapeType="1"/>
          </p:cNvSpPr>
          <p:nvPr/>
        </p:nvSpPr>
        <p:spPr bwMode="auto">
          <a:xfrm>
            <a:off x="6172200" y="52578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50" name="Rectangle 34"/>
          <p:cNvSpPr>
            <a:spLocks noChangeArrowheads="1"/>
          </p:cNvSpPr>
          <p:nvPr/>
        </p:nvSpPr>
        <p:spPr bwMode="auto">
          <a:xfrm>
            <a:off x="2590800" y="5943600"/>
            <a:ext cx="8382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51" name="Line 35"/>
          <p:cNvSpPr>
            <a:spLocks noChangeShapeType="1"/>
          </p:cNvSpPr>
          <p:nvPr/>
        </p:nvSpPr>
        <p:spPr bwMode="auto">
          <a:xfrm>
            <a:off x="3124200" y="59436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52" name="Line 36"/>
          <p:cNvSpPr>
            <a:spLocks noChangeShapeType="1"/>
          </p:cNvSpPr>
          <p:nvPr/>
        </p:nvSpPr>
        <p:spPr bwMode="auto">
          <a:xfrm>
            <a:off x="1828800" y="2286000"/>
            <a:ext cx="7620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53" name="Line 37"/>
          <p:cNvSpPr>
            <a:spLocks noChangeShapeType="1"/>
          </p:cNvSpPr>
          <p:nvPr/>
        </p:nvSpPr>
        <p:spPr bwMode="auto">
          <a:xfrm>
            <a:off x="1828800" y="2895600"/>
            <a:ext cx="7620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54" name="Line 38"/>
          <p:cNvSpPr>
            <a:spLocks noChangeShapeType="1"/>
          </p:cNvSpPr>
          <p:nvPr/>
        </p:nvSpPr>
        <p:spPr bwMode="auto">
          <a:xfrm>
            <a:off x="1828800" y="3505200"/>
            <a:ext cx="7620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55" name="Line 39"/>
          <p:cNvSpPr>
            <a:spLocks noChangeShapeType="1"/>
          </p:cNvSpPr>
          <p:nvPr/>
        </p:nvSpPr>
        <p:spPr bwMode="auto">
          <a:xfrm>
            <a:off x="1828800" y="4724400"/>
            <a:ext cx="7620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56" name="Line 40"/>
          <p:cNvSpPr>
            <a:spLocks noChangeShapeType="1"/>
          </p:cNvSpPr>
          <p:nvPr/>
        </p:nvSpPr>
        <p:spPr bwMode="auto">
          <a:xfrm>
            <a:off x="1828800" y="5486400"/>
            <a:ext cx="7620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57" name="Line 41"/>
          <p:cNvSpPr>
            <a:spLocks noChangeShapeType="1"/>
          </p:cNvSpPr>
          <p:nvPr/>
        </p:nvSpPr>
        <p:spPr bwMode="auto">
          <a:xfrm>
            <a:off x="1828800" y="6096000"/>
            <a:ext cx="7620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58" name="Line 42"/>
          <p:cNvSpPr>
            <a:spLocks noChangeShapeType="1"/>
          </p:cNvSpPr>
          <p:nvPr/>
        </p:nvSpPr>
        <p:spPr bwMode="auto">
          <a:xfrm>
            <a:off x="3276600" y="2895600"/>
            <a:ext cx="8382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59" name="Line 43"/>
          <p:cNvSpPr>
            <a:spLocks noChangeShapeType="1"/>
          </p:cNvSpPr>
          <p:nvPr/>
        </p:nvSpPr>
        <p:spPr bwMode="auto">
          <a:xfrm>
            <a:off x="3276600" y="5486400"/>
            <a:ext cx="8382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60" name="Line 44"/>
          <p:cNvSpPr>
            <a:spLocks noChangeShapeType="1"/>
          </p:cNvSpPr>
          <p:nvPr/>
        </p:nvSpPr>
        <p:spPr bwMode="auto">
          <a:xfrm>
            <a:off x="4800600" y="5486400"/>
            <a:ext cx="8382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68" name="Text Box 52"/>
          <p:cNvSpPr txBox="1">
            <a:spLocks noChangeArrowheads="1"/>
          </p:cNvSpPr>
          <p:nvPr/>
        </p:nvSpPr>
        <p:spPr bwMode="auto">
          <a:xfrm>
            <a:off x="2635250" y="331787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b="1">
                <a:solidFill>
                  <a:schemeClr val="accent2"/>
                </a:solidFill>
              </a:rPr>
              <a:t>23</a:t>
            </a:r>
            <a:endParaRPr lang="en-US" altLang="zh-CN"/>
          </a:p>
        </p:txBody>
      </p:sp>
      <p:sp>
        <p:nvSpPr>
          <p:cNvPr id="162869" name="Text Box 53"/>
          <p:cNvSpPr txBox="1">
            <a:spLocks noChangeArrowheads="1"/>
          </p:cNvSpPr>
          <p:nvPr/>
        </p:nvSpPr>
        <p:spPr bwMode="auto">
          <a:xfrm>
            <a:off x="2635250" y="449580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b="1">
                <a:solidFill>
                  <a:schemeClr val="accent2"/>
                </a:solidFill>
              </a:rPr>
              <a:t>11</a:t>
            </a:r>
            <a:endParaRPr lang="en-US" altLang="zh-CN"/>
          </a:p>
        </p:txBody>
      </p:sp>
      <p:sp>
        <p:nvSpPr>
          <p:cNvPr id="162871" name="Text Box 55"/>
          <p:cNvSpPr txBox="1">
            <a:spLocks noChangeArrowheads="1"/>
          </p:cNvSpPr>
          <p:nvPr/>
        </p:nvSpPr>
        <p:spPr bwMode="auto">
          <a:xfrm>
            <a:off x="4159250" y="529907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b="1">
                <a:solidFill>
                  <a:schemeClr val="accent2"/>
                </a:solidFill>
              </a:rPr>
              <a:t>68</a:t>
            </a:r>
            <a:endParaRPr lang="en-US" altLang="zh-CN"/>
          </a:p>
        </p:txBody>
      </p:sp>
      <p:sp>
        <p:nvSpPr>
          <p:cNvPr id="162873" name="Text Box 57"/>
          <p:cNvSpPr txBox="1">
            <a:spLocks noChangeArrowheads="1"/>
          </p:cNvSpPr>
          <p:nvPr/>
        </p:nvSpPr>
        <p:spPr bwMode="auto">
          <a:xfrm>
            <a:off x="2635250" y="594360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b="1">
                <a:solidFill>
                  <a:schemeClr val="accent2"/>
                </a:solidFill>
              </a:rPr>
              <a:t>55</a:t>
            </a:r>
            <a:endParaRPr lang="en-US" altLang="zh-CN"/>
          </a:p>
        </p:txBody>
      </p:sp>
      <p:sp>
        <p:nvSpPr>
          <p:cNvPr id="162874" name="Text Box 58"/>
          <p:cNvSpPr txBox="1">
            <a:spLocks noChangeArrowheads="1"/>
          </p:cNvSpPr>
          <p:nvPr/>
        </p:nvSpPr>
        <p:spPr bwMode="auto">
          <a:xfrm>
            <a:off x="3106738" y="1905000"/>
            <a:ext cx="3984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chemeClr val="accent2"/>
                </a:solidFill>
                <a:sym typeface="Symbol" charset="2"/>
              </a:rPr>
              <a:t></a:t>
            </a:r>
            <a:endParaRPr lang="en-US" altLang="zh-CN"/>
          </a:p>
        </p:txBody>
      </p:sp>
      <p:sp>
        <p:nvSpPr>
          <p:cNvPr id="162875" name="Text Box 59"/>
          <p:cNvSpPr txBox="1">
            <a:spLocks noChangeArrowheads="1"/>
          </p:cNvSpPr>
          <p:nvPr/>
        </p:nvSpPr>
        <p:spPr bwMode="auto">
          <a:xfrm>
            <a:off x="4630738" y="2605088"/>
            <a:ext cx="3984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chemeClr val="accent2"/>
                </a:solidFill>
                <a:sym typeface="Symbol" charset="2"/>
              </a:rPr>
              <a:t></a:t>
            </a:r>
            <a:endParaRPr lang="en-US" altLang="zh-CN"/>
          </a:p>
        </p:txBody>
      </p:sp>
      <p:sp>
        <p:nvSpPr>
          <p:cNvPr id="162876" name="Text Box 60"/>
          <p:cNvSpPr txBox="1">
            <a:spLocks noChangeArrowheads="1"/>
          </p:cNvSpPr>
          <p:nvPr/>
        </p:nvSpPr>
        <p:spPr bwMode="auto">
          <a:xfrm>
            <a:off x="3106738" y="3214688"/>
            <a:ext cx="3984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chemeClr val="accent2"/>
                </a:solidFill>
                <a:sym typeface="Symbol" charset="2"/>
              </a:rPr>
              <a:t></a:t>
            </a:r>
            <a:endParaRPr lang="en-US" altLang="zh-CN"/>
          </a:p>
        </p:txBody>
      </p:sp>
      <p:sp>
        <p:nvSpPr>
          <p:cNvPr id="162877" name="Text Box 61"/>
          <p:cNvSpPr txBox="1">
            <a:spLocks noChangeArrowheads="1"/>
          </p:cNvSpPr>
          <p:nvPr/>
        </p:nvSpPr>
        <p:spPr bwMode="auto">
          <a:xfrm>
            <a:off x="3106738" y="4433888"/>
            <a:ext cx="3984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chemeClr val="accent2"/>
                </a:solidFill>
                <a:sym typeface="Symbol" charset="2"/>
              </a:rPr>
              <a:t></a:t>
            </a:r>
            <a:endParaRPr lang="en-US" altLang="zh-CN"/>
          </a:p>
        </p:txBody>
      </p:sp>
      <p:sp>
        <p:nvSpPr>
          <p:cNvPr id="162878" name="Text Box 62"/>
          <p:cNvSpPr txBox="1">
            <a:spLocks noChangeArrowheads="1"/>
          </p:cNvSpPr>
          <p:nvPr/>
        </p:nvSpPr>
        <p:spPr bwMode="auto">
          <a:xfrm>
            <a:off x="6154738" y="5181600"/>
            <a:ext cx="3984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chemeClr val="accent2"/>
                </a:solidFill>
                <a:sym typeface="Symbol" charset="2"/>
              </a:rPr>
              <a:t></a:t>
            </a:r>
            <a:endParaRPr lang="en-US" altLang="zh-CN"/>
          </a:p>
        </p:txBody>
      </p:sp>
      <p:sp>
        <p:nvSpPr>
          <p:cNvPr id="162879" name="Text Box 63"/>
          <p:cNvSpPr txBox="1">
            <a:spLocks noChangeArrowheads="1"/>
          </p:cNvSpPr>
          <p:nvPr/>
        </p:nvSpPr>
        <p:spPr bwMode="auto">
          <a:xfrm>
            <a:off x="3048000" y="5881688"/>
            <a:ext cx="3984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chemeClr val="accent2"/>
                </a:solidFill>
                <a:sym typeface="Symbol" charset="2"/>
              </a:rPr>
              <a:t></a:t>
            </a:r>
            <a:endParaRPr lang="en-US" altLang="zh-CN"/>
          </a:p>
        </p:txBody>
      </p:sp>
      <p:sp>
        <p:nvSpPr>
          <p:cNvPr id="162880" name="Text Box 64"/>
          <p:cNvSpPr txBox="1">
            <a:spLocks noChangeArrowheads="1"/>
          </p:cNvSpPr>
          <p:nvPr/>
        </p:nvSpPr>
        <p:spPr bwMode="auto">
          <a:xfrm>
            <a:off x="1582738" y="3824288"/>
            <a:ext cx="3984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solidFill>
                  <a:schemeClr val="accent2"/>
                </a:solidFill>
                <a:sym typeface="Symbol" charset="2"/>
              </a:rPr>
              <a:t></a:t>
            </a:r>
            <a:endParaRPr lang="en-US" altLang="zh-CN"/>
          </a:p>
        </p:txBody>
      </p:sp>
      <p:sp>
        <p:nvSpPr>
          <p:cNvPr id="162882" name="Text Box 66"/>
          <p:cNvSpPr txBox="1">
            <a:spLocks noChangeArrowheads="1"/>
          </p:cNvSpPr>
          <p:nvPr/>
        </p:nvSpPr>
        <p:spPr bwMode="auto">
          <a:xfrm>
            <a:off x="4343400" y="3900488"/>
            <a:ext cx="4403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solidFill>
                  <a:srgbClr val="A50021"/>
                </a:solidFill>
              </a:rPr>
              <a:t>ASL=(6×1+2×2+3)/9=13/9</a:t>
            </a:r>
            <a:endParaRPr lang="en-US" altLang="zh-CN" sz="2800"/>
          </a:p>
        </p:txBody>
      </p:sp>
      <p:sp>
        <p:nvSpPr>
          <p:cNvPr id="162883" name="Text Box 67"/>
          <p:cNvSpPr txBox="1">
            <a:spLocks noChangeArrowheads="1"/>
          </p:cNvSpPr>
          <p:nvPr/>
        </p:nvSpPr>
        <p:spPr bwMode="auto">
          <a:xfrm>
            <a:off x="5334000" y="1847850"/>
            <a:ext cx="3810000"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zh-CN" altLang="en-US" sz="3200">
                <a:solidFill>
                  <a:srgbClr val="006600"/>
                </a:solidFill>
                <a:ea typeface="隶书" charset="0"/>
              </a:rPr>
              <a:t>例如</a:t>
            </a:r>
            <a:r>
              <a:rPr lang="en-US" altLang="zh-CN" sz="3200">
                <a:solidFill>
                  <a:srgbClr val="006600"/>
                </a:solidFill>
                <a:ea typeface="隶书" charset="0"/>
              </a:rPr>
              <a:t>:</a:t>
            </a:r>
            <a:r>
              <a:rPr lang="zh-CN" altLang="en-US" sz="3200">
                <a:solidFill>
                  <a:srgbClr val="006600"/>
                </a:solidFill>
                <a:ea typeface="隶书" charset="0"/>
              </a:rPr>
              <a:t>同前例的关键字，哈希函数为 </a:t>
            </a:r>
            <a:r>
              <a:rPr lang="en-US" altLang="zh-CN" sz="3200">
                <a:solidFill>
                  <a:srgbClr val="006600"/>
                </a:solidFill>
                <a:ea typeface="隶书" charset="0"/>
              </a:rPr>
              <a:t>H(key)=key MOD 7</a:t>
            </a:r>
          </a:p>
        </p:txBody>
      </p:sp>
      <p:sp>
        <p:nvSpPr>
          <p:cNvPr id="162884" name="AutoShape 68">
            <a:hlinkClick r:id="rId2" action="ppaction://hlinksldjump" highlightClick="1"/>
          </p:cNvPr>
          <p:cNvSpPr>
            <a:spLocks noChangeArrowheads="1"/>
          </p:cNvSpPr>
          <p:nvPr/>
        </p:nvSpPr>
        <p:spPr bwMode="auto">
          <a:xfrm>
            <a:off x="8382000" y="6096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2885" name="AutoShape 69">
            <a:hlinkClick r:id="" action="ppaction://hlinkshowjump?jump=lastslideviewed" highlightClick="1"/>
          </p:cNvPr>
          <p:cNvSpPr>
            <a:spLocks noChangeArrowheads="1"/>
          </p:cNvSpPr>
          <p:nvPr/>
        </p:nvSpPr>
        <p:spPr bwMode="auto">
          <a:xfrm>
            <a:off x="228600" y="62484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6841580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162820"/>
                                        </p:tgtEl>
                                        <p:attrNameLst>
                                          <p:attrName>style.visibility</p:attrName>
                                        </p:attrNameLst>
                                      </p:cBhvr>
                                      <p:to>
                                        <p:strVal val="visible"/>
                                      </p:to>
                                    </p:set>
                                    <p:animEffect transition="in" filter="randombar(vertical)">
                                      <p:cBhvr>
                                        <p:cTn id="7" dur="500"/>
                                        <p:tgtEl>
                                          <p:spTgt spid="162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162819"/>
                                        </p:tgtEl>
                                        <p:attrNameLst>
                                          <p:attrName>style.visibility</p:attrName>
                                        </p:attrNameLst>
                                      </p:cBhvr>
                                      <p:to>
                                        <p:strVal val="visible"/>
                                      </p:to>
                                    </p:set>
                                    <p:animEffect transition="in" filter="strips(upRight)">
                                      <p:cBhvr>
                                        <p:cTn id="12" dur="500"/>
                                        <p:tgtEl>
                                          <p:spTgt spid="1628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62883"/>
                                        </p:tgtEl>
                                        <p:attrNameLst>
                                          <p:attrName>style.visibility</p:attrName>
                                        </p:attrNameLst>
                                      </p:cBhvr>
                                      <p:to>
                                        <p:strVal val="visible"/>
                                      </p:to>
                                    </p:set>
                                    <p:animEffect transition="in" filter="wipe(left)">
                                      <p:cBhvr>
                                        <p:cTn id="17" dur="300"/>
                                        <p:tgtEl>
                                          <p:spTgt spid="1628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62823"/>
                                        </p:tgtEl>
                                        <p:attrNameLst>
                                          <p:attrName>style.visibility</p:attrName>
                                        </p:attrNameLst>
                                      </p:cBhvr>
                                      <p:to>
                                        <p:strVal val="visible"/>
                                      </p:to>
                                    </p:set>
                                  </p:childTnLst>
                                </p:cTn>
                              </p:par>
                            </p:childTnLst>
                          </p:cTn>
                        </p:par>
                        <p:par>
                          <p:cTn id="22" fill="hold" nodeType="afterGroup">
                            <p:stCondLst>
                              <p:cond delay="500"/>
                            </p:stCondLst>
                            <p:childTnLst>
                              <p:par>
                                <p:cTn id="23" presetID="1" presetClass="entr" presetSubtype="0" fill="hold" grpId="0" nodeType="afterEffect">
                                  <p:stCondLst>
                                    <p:cond delay="0"/>
                                  </p:stCondLst>
                                  <p:childTnLst>
                                    <p:set>
                                      <p:cBhvr>
                                        <p:cTn id="24" dur="1" fill="hold">
                                          <p:stCondLst>
                                            <p:cond delay="499"/>
                                          </p:stCondLst>
                                        </p:cTn>
                                        <p:tgtEl>
                                          <p:spTgt spid="162824"/>
                                        </p:tgtEl>
                                        <p:attrNameLst>
                                          <p:attrName>style.visibility</p:attrName>
                                        </p:attrNameLst>
                                      </p:cBhvr>
                                      <p:to>
                                        <p:strVal val="visible"/>
                                      </p:to>
                                    </p:set>
                                  </p:childTnLst>
                                </p:cTn>
                              </p:par>
                            </p:childTnLst>
                          </p:cTn>
                        </p:par>
                        <p:par>
                          <p:cTn id="25" fill="hold" nodeType="afterGroup">
                            <p:stCondLst>
                              <p:cond delay="1000"/>
                            </p:stCondLst>
                            <p:childTnLst>
                              <p:par>
                                <p:cTn id="26" presetID="1" presetClass="entr" presetSubtype="0" fill="hold" grpId="0" nodeType="afterEffect">
                                  <p:stCondLst>
                                    <p:cond delay="0"/>
                                  </p:stCondLst>
                                  <p:childTnLst>
                                    <p:set>
                                      <p:cBhvr>
                                        <p:cTn id="27" dur="1" fill="hold">
                                          <p:stCondLst>
                                            <p:cond delay="499"/>
                                          </p:stCondLst>
                                        </p:cTn>
                                        <p:tgtEl>
                                          <p:spTgt spid="162825"/>
                                        </p:tgtEl>
                                        <p:attrNameLst>
                                          <p:attrName>style.visibility</p:attrName>
                                        </p:attrNameLst>
                                      </p:cBhvr>
                                      <p:to>
                                        <p:strVal val="visible"/>
                                      </p:to>
                                    </p:set>
                                  </p:childTnLst>
                                </p:cTn>
                              </p:par>
                            </p:childTnLst>
                          </p:cTn>
                        </p:par>
                        <p:par>
                          <p:cTn id="28" fill="hold" nodeType="afterGroup">
                            <p:stCondLst>
                              <p:cond delay="1500"/>
                            </p:stCondLst>
                            <p:childTnLst>
                              <p:par>
                                <p:cTn id="29" presetID="2" presetClass="entr" presetSubtype="12" fill="hold" grpId="0" nodeType="afterEffect">
                                  <p:stCondLst>
                                    <p:cond delay="0"/>
                                  </p:stCondLst>
                                  <p:childTnLst>
                                    <p:set>
                                      <p:cBhvr>
                                        <p:cTn id="30" dur="1" fill="hold">
                                          <p:stCondLst>
                                            <p:cond delay="0"/>
                                          </p:stCondLst>
                                        </p:cTn>
                                        <p:tgtEl>
                                          <p:spTgt spid="162885"/>
                                        </p:tgtEl>
                                        <p:attrNameLst>
                                          <p:attrName>style.visibility</p:attrName>
                                        </p:attrNameLst>
                                      </p:cBhvr>
                                      <p:to>
                                        <p:strVal val="visible"/>
                                      </p:to>
                                    </p:set>
                                    <p:anim calcmode="lin" valueType="num">
                                      <p:cBhvr additive="base">
                                        <p:cTn id="31" dur="500" fill="hold"/>
                                        <p:tgtEl>
                                          <p:spTgt spid="162885"/>
                                        </p:tgtEl>
                                        <p:attrNameLst>
                                          <p:attrName>ppt_x</p:attrName>
                                        </p:attrNameLst>
                                      </p:cBhvr>
                                      <p:tavLst>
                                        <p:tav tm="0">
                                          <p:val>
                                            <p:strVal val="0-#ppt_w/2"/>
                                          </p:val>
                                        </p:tav>
                                        <p:tav tm="100000">
                                          <p:val>
                                            <p:strVal val="#ppt_x"/>
                                          </p:val>
                                        </p:tav>
                                      </p:tavLst>
                                    </p:anim>
                                    <p:anim calcmode="lin" valueType="num">
                                      <p:cBhvr additive="base">
                                        <p:cTn id="32" dur="500" fill="hold"/>
                                        <p:tgtEl>
                                          <p:spTgt spid="162885"/>
                                        </p:tgtEl>
                                        <p:attrNameLst>
                                          <p:attrName>ppt_y</p:attrName>
                                        </p:attrNameLst>
                                      </p:cBhvr>
                                      <p:tavLst>
                                        <p:tav tm="0">
                                          <p:val>
                                            <p:strVal val="1+#ppt_h/2"/>
                                          </p:val>
                                        </p:tav>
                                        <p:tav tm="100000">
                                          <p:val>
                                            <p:strVal val="#ppt_y"/>
                                          </p:val>
                                        </p:tav>
                                      </p:tavLst>
                                    </p:anim>
                                  </p:childTnLst>
                                </p:cTn>
                              </p:par>
                            </p:childTnLst>
                          </p:cTn>
                        </p:par>
                        <p:par>
                          <p:cTn id="33" fill="hold" nodeType="afterGroup">
                            <p:stCondLst>
                              <p:cond delay="2000"/>
                            </p:stCondLst>
                            <p:childTnLst>
                              <p:par>
                                <p:cTn id="34" presetID="1" presetClass="entr" presetSubtype="0" fill="hold" grpId="0" nodeType="afterEffect">
                                  <p:stCondLst>
                                    <p:cond delay="0"/>
                                  </p:stCondLst>
                                  <p:childTnLst>
                                    <p:set>
                                      <p:cBhvr>
                                        <p:cTn id="35" dur="1" fill="hold">
                                          <p:stCondLst>
                                            <p:cond delay="499"/>
                                          </p:stCondLst>
                                        </p:cTn>
                                        <p:tgtEl>
                                          <p:spTgt spid="162827"/>
                                        </p:tgtEl>
                                        <p:attrNameLst>
                                          <p:attrName>style.visibility</p:attrName>
                                        </p:attrNameLst>
                                      </p:cBhvr>
                                      <p:to>
                                        <p:strVal val="visible"/>
                                      </p:to>
                                    </p:set>
                                  </p:childTnLst>
                                </p:cTn>
                              </p:par>
                            </p:childTnLst>
                          </p:cTn>
                        </p:par>
                        <p:par>
                          <p:cTn id="36" fill="hold" nodeType="afterGroup">
                            <p:stCondLst>
                              <p:cond delay="2500"/>
                            </p:stCondLst>
                            <p:childTnLst>
                              <p:par>
                                <p:cTn id="37" presetID="1" presetClass="entr" presetSubtype="0" fill="hold" grpId="0" nodeType="afterEffect">
                                  <p:stCondLst>
                                    <p:cond delay="0"/>
                                  </p:stCondLst>
                                  <p:childTnLst>
                                    <p:set>
                                      <p:cBhvr>
                                        <p:cTn id="38" dur="1" fill="hold">
                                          <p:stCondLst>
                                            <p:cond delay="499"/>
                                          </p:stCondLst>
                                        </p:cTn>
                                        <p:tgtEl>
                                          <p:spTgt spid="162828"/>
                                        </p:tgtEl>
                                        <p:attrNameLst>
                                          <p:attrName>style.visibility</p:attrName>
                                        </p:attrNameLst>
                                      </p:cBhvr>
                                      <p:to>
                                        <p:strVal val="visible"/>
                                      </p:to>
                                    </p:set>
                                  </p:childTnLst>
                                </p:cTn>
                              </p:par>
                            </p:childTnLst>
                          </p:cTn>
                        </p:par>
                        <p:par>
                          <p:cTn id="39" fill="hold" nodeType="afterGroup">
                            <p:stCondLst>
                              <p:cond delay="3000"/>
                            </p:stCondLst>
                            <p:childTnLst>
                              <p:par>
                                <p:cTn id="40" presetID="1" presetClass="entr" presetSubtype="0" fill="hold" grpId="0" nodeType="afterEffect">
                                  <p:stCondLst>
                                    <p:cond delay="0"/>
                                  </p:stCondLst>
                                  <p:childTnLst>
                                    <p:set>
                                      <p:cBhvr>
                                        <p:cTn id="41" dur="1" fill="hold">
                                          <p:stCondLst>
                                            <p:cond delay="499"/>
                                          </p:stCondLst>
                                        </p:cTn>
                                        <p:tgtEl>
                                          <p:spTgt spid="162829"/>
                                        </p:tgtEl>
                                        <p:attrNameLst>
                                          <p:attrName>style.visibility</p:attrName>
                                        </p:attrNameLst>
                                      </p:cBhvr>
                                      <p:to>
                                        <p:strVal val="visible"/>
                                      </p:to>
                                    </p:set>
                                  </p:childTnLst>
                                </p:cTn>
                              </p:par>
                            </p:childTnLst>
                          </p:cTn>
                        </p:par>
                        <p:par>
                          <p:cTn id="42" fill="hold" nodeType="afterGroup">
                            <p:stCondLst>
                              <p:cond delay="3500"/>
                            </p:stCondLst>
                            <p:childTnLst>
                              <p:par>
                                <p:cTn id="43" presetID="1" presetClass="entr" presetSubtype="0" fill="hold" grpId="0" nodeType="afterEffect">
                                  <p:stCondLst>
                                    <p:cond delay="0"/>
                                  </p:stCondLst>
                                  <p:childTnLst>
                                    <p:set>
                                      <p:cBhvr>
                                        <p:cTn id="44" dur="1" fill="hold">
                                          <p:stCondLst>
                                            <p:cond delay="499"/>
                                          </p:stCondLst>
                                        </p:cTn>
                                        <p:tgtEl>
                                          <p:spTgt spid="162831"/>
                                        </p:tgtEl>
                                        <p:attrNameLst>
                                          <p:attrName>style.visibility</p:attrName>
                                        </p:attrNameLst>
                                      </p:cBhvr>
                                      <p:to>
                                        <p:strVal val="visible"/>
                                      </p:to>
                                    </p:set>
                                  </p:childTnLst>
                                </p:cTn>
                              </p:par>
                            </p:childTnLst>
                          </p:cTn>
                        </p:par>
                        <p:par>
                          <p:cTn id="45" fill="hold" nodeType="afterGroup">
                            <p:stCondLst>
                              <p:cond delay="4000"/>
                            </p:stCondLst>
                            <p:childTnLst>
                              <p:par>
                                <p:cTn id="46" presetID="1" presetClass="entr" presetSubtype="0" fill="hold" grpId="0" nodeType="afterEffect">
                                  <p:stCondLst>
                                    <p:cond delay="0"/>
                                  </p:stCondLst>
                                  <p:childTnLst>
                                    <p:set>
                                      <p:cBhvr>
                                        <p:cTn id="47" dur="1" fill="hold">
                                          <p:stCondLst>
                                            <p:cond delay="499"/>
                                          </p:stCondLst>
                                        </p:cTn>
                                        <p:tgtEl>
                                          <p:spTgt spid="162833"/>
                                        </p:tgtEl>
                                        <p:attrNameLst>
                                          <p:attrName>style.visibility</p:attrName>
                                        </p:attrNameLst>
                                      </p:cBhvr>
                                      <p:to>
                                        <p:strVal val="visible"/>
                                      </p:to>
                                    </p:set>
                                  </p:childTnLst>
                                </p:cTn>
                              </p:par>
                            </p:childTnLst>
                          </p:cTn>
                        </p:par>
                        <p:par>
                          <p:cTn id="48" fill="hold" nodeType="afterGroup">
                            <p:stCondLst>
                              <p:cond delay="4500"/>
                            </p:stCondLst>
                            <p:childTnLst>
                              <p:par>
                                <p:cTn id="49" presetID="1" presetClass="entr" presetSubtype="0" fill="hold" grpId="0" nodeType="afterEffect">
                                  <p:stCondLst>
                                    <p:cond delay="0"/>
                                  </p:stCondLst>
                                  <p:childTnLst>
                                    <p:set>
                                      <p:cBhvr>
                                        <p:cTn id="50" dur="1" fill="hold">
                                          <p:stCondLst>
                                            <p:cond delay="499"/>
                                          </p:stCondLst>
                                        </p:cTn>
                                        <p:tgtEl>
                                          <p:spTgt spid="162834"/>
                                        </p:tgtEl>
                                        <p:attrNameLst>
                                          <p:attrName>style.visibility</p:attrName>
                                        </p:attrNameLst>
                                      </p:cBhvr>
                                      <p:to>
                                        <p:strVal val="visible"/>
                                      </p:to>
                                    </p:set>
                                  </p:childTnLst>
                                </p:cTn>
                              </p:par>
                            </p:childTnLst>
                          </p:cTn>
                        </p:par>
                        <p:par>
                          <p:cTn id="51" fill="hold" nodeType="afterGroup">
                            <p:stCondLst>
                              <p:cond delay="5000"/>
                            </p:stCondLst>
                            <p:childTnLst>
                              <p:par>
                                <p:cTn id="52" presetID="1" presetClass="entr" presetSubtype="0" fill="hold" grpId="0" nodeType="afterEffect">
                                  <p:stCondLst>
                                    <p:cond delay="0"/>
                                  </p:stCondLst>
                                  <p:childTnLst>
                                    <p:set>
                                      <p:cBhvr>
                                        <p:cTn id="53" dur="1" fill="hold">
                                          <p:stCondLst>
                                            <p:cond delay="499"/>
                                          </p:stCondLst>
                                        </p:cTn>
                                        <p:tgtEl>
                                          <p:spTgt spid="162835"/>
                                        </p:tgtEl>
                                        <p:attrNameLst>
                                          <p:attrName>style.visibility</p:attrName>
                                        </p:attrNameLst>
                                      </p:cBhvr>
                                      <p:to>
                                        <p:strVal val="visible"/>
                                      </p:to>
                                    </p:set>
                                  </p:childTnLst>
                                </p:cTn>
                              </p:par>
                            </p:childTnLst>
                          </p:cTn>
                        </p:par>
                        <p:par>
                          <p:cTn id="54" fill="hold" nodeType="afterGroup">
                            <p:stCondLst>
                              <p:cond delay="5500"/>
                            </p:stCondLst>
                            <p:childTnLst>
                              <p:par>
                                <p:cTn id="55" presetID="1" presetClass="entr" presetSubtype="0" fill="hold" grpId="0" nodeType="afterEffect">
                                  <p:stCondLst>
                                    <p:cond delay="0"/>
                                  </p:stCondLst>
                                  <p:childTnLst>
                                    <p:set>
                                      <p:cBhvr>
                                        <p:cTn id="56" dur="1" fill="hold">
                                          <p:stCondLst>
                                            <p:cond delay="499"/>
                                          </p:stCondLst>
                                        </p:cTn>
                                        <p:tgtEl>
                                          <p:spTgt spid="162836"/>
                                        </p:tgtEl>
                                        <p:attrNameLst>
                                          <p:attrName>style.visibility</p:attrName>
                                        </p:attrNameLst>
                                      </p:cBhvr>
                                      <p:to>
                                        <p:strVal val="visible"/>
                                      </p:to>
                                    </p:set>
                                  </p:childTnLst>
                                </p:cTn>
                              </p:par>
                            </p:childTnLst>
                          </p:cTn>
                        </p:par>
                        <p:par>
                          <p:cTn id="57" fill="hold" nodeType="afterGroup">
                            <p:stCondLst>
                              <p:cond delay="6000"/>
                            </p:stCondLst>
                            <p:childTnLst>
                              <p:par>
                                <p:cTn id="58" presetID="1" presetClass="entr" presetSubtype="0" fill="hold" grpId="0" nodeType="afterEffect">
                                  <p:stCondLst>
                                    <p:cond delay="0"/>
                                  </p:stCondLst>
                                  <p:childTnLst>
                                    <p:set>
                                      <p:cBhvr>
                                        <p:cTn id="59" dur="1" fill="hold">
                                          <p:stCondLst>
                                            <p:cond delay="499"/>
                                          </p:stCondLst>
                                        </p:cTn>
                                        <p:tgtEl>
                                          <p:spTgt spid="162837"/>
                                        </p:tgtEl>
                                        <p:attrNameLst>
                                          <p:attrName>style.visibility</p:attrName>
                                        </p:attrNameLst>
                                      </p:cBhvr>
                                      <p:to>
                                        <p:strVal val="visible"/>
                                      </p:to>
                                    </p:set>
                                  </p:childTnLst>
                                </p:cTn>
                              </p:par>
                            </p:childTnLst>
                          </p:cTn>
                        </p:par>
                        <p:par>
                          <p:cTn id="60" fill="hold" nodeType="afterGroup">
                            <p:stCondLst>
                              <p:cond delay="6500"/>
                            </p:stCondLst>
                            <p:childTnLst>
                              <p:par>
                                <p:cTn id="61" presetID="1" presetClass="entr" presetSubtype="0" fill="hold" grpId="0" nodeType="afterEffect">
                                  <p:stCondLst>
                                    <p:cond delay="0"/>
                                  </p:stCondLst>
                                  <p:childTnLst>
                                    <p:set>
                                      <p:cBhvr>
                                        <p:cTn id="62" dur="1" fill="hold">
                                          <p:stCondLst>
                                            <p:cond delay="499"/>
                                          </p:stCondLst>
                                        </p:cTn>
                                        <p:tgtEl>
                                          <p:spTgt spid="162838"/>
                                        </p:tgtEl>
                                        <p:attrNameLst>
                                          <p:attrName>style.visibility</p:attrName>
                                        </p:attrNameLst>
                                      </p:cBhvr>
                                      <p:to>
                                        <p:strVal val="visible"/>
                                      </p:to>
                                    </p:set>
                                  </p:childTnLst>
                                </p:cTn>
                              </p:par>
                            </p:childTnLst>
                          </p:cTn>
                        </p:par>
                        <p:par>
                          <p:cTn id="63" fill="hold" nodeType="afterGroup">
                            <p:stCondLst>
                              <p:cond delay="7000"/>
                            </p:stCondLst>
                            <p:childTnLst>
                              <p:par>
                                <p:cTn id="64" presetID="2" presetClass="entr" presetSubtype="6" fill="hold" grpId="0" nodeType="afterEffect">
                                  <p:stCondLst>
                                    <p:cond delay="0"/>
                                  </p:stCondLst>
                                  <p:childTnLst>
                                    <p:set>
                                      <p:cBhvr>
                                        <p:cTn id="65" dur="1" fill="hold">
                                          <p:stCondLst>
                                            <p:cond delay="0"/>
                                          </p:stCondLst>
                                        </p:cTn>
                                        <p:tgtEl>
                                          <p:spTgt spid="162884"/>
                                        </p:tgtEl>
                                        <p:attrNameLst>
                                          <p:attrName>style.visibility</p:attrName>
                                        </p:attrNameLst>
                                      </p:cBhvr>
                                      <p:to>
                                        <p:strVal val="visible"/>
                                      </p:to>
                                    </p:set>
                                    <p:anim calcmode="lin" valueType="num">
                                      <p:cBhvr additive="base">
                                        <p:cTn id="66" dur="500" fill="hold"/>
                                        <p:tgtEl>
                                          <p:spTgt spid="162884"/>
                                        </p:tgtEl>
                                        <p:attrNameLst>
                                          <p:attrName>ppt_x</p:attrName>
                                        </p:attrNameLst>
                                      </p:cBhvr>
                                      <p:tavLst>
                                        <p:tav tm="0">
                                          <p:val>
                                            <p:strVal val="1+#ppt_w/2"/>
                                          </p:val>
                                        </p:tav>
                                        <p:tav tm="100000">
                                          <p:val>
                                            <p:strVal val="#ppt_x"/>
                                          </p:val>
                                        </p:tav>
                                      </p:tavLst>
                                    </p:anim>
                                    <p:anim calcmode="lin" valueType="num">
                                      <p:cBhvr additive="base">
                                        <p:cTn id="67" dur="500" fill="hold"/>
                                        <p:tgtEl>
                                          <p:spTgt spid="162884"/>
                                        </p:tgtEl>
                                        <p:attrNameLst>
                                          <p:attrName>ppt_y</p:attrName>
                                        </p:attrNameLst>
                                      </p:cBhvr>
                                      <p:tavLst>
                                        <p:tav tm="0">
                                          <p:val>
                                            <p:strVal val="1+#ppt_h/2"/>
                                          </p:val>
                                        </p:tav>
                                        <p:tav tm="100000">
                                          <p:val>
                                            <p:strVal val="#ppt_y"/>
                                          </p:val>
                                        </p:tav>
                                      </p:tavLst>
                                    </p:anim>
                                  </p:childTnLst>
                                </p:cTn>
                              </p:par>
                            </p:childTnLst>
                          </p:cTn>
                        </p:par>
                        <p:par>
                          <p:cTn id="68" fill="hold" nodeType="afterGroup">
                            <p:stCondLst>
                              <p:cond delay="7500"/>
                            </p:stCondLst>
                            <p:childTnLst>
                              <p:par>
                                <p:cTn id="69" presetID="1" presetClass="entr" presetSubtype="0" fill="hold" grpId="0" nodeType="afterEffect">
                                  <p:stCondLst>
                                    <p:cond delay="0"/>
                                  </p:stCondLst>
                                  <p:childTnLst>
                                    <p:set>
                                      <p:cBhvr>
                                        <p:cTn id="70" dur="1" fill="hold">
                                          <p:stCondLst>
                                            <p:cond delay="499"/>
                                          </p:stCondLst>
                                        </p:cTn>
                                        <p:tgtEl>
                                          <p:spTgt spid="162839"/>
                                        </p:tgtEl>
                                        <p:attrNameLst>
                                          <p:attrName>style.visibility</p:attrName>
                                        </p:attrNameLst>
                                      </p:cBhvr>
                                      <p:to>
                                        <p:strVal val="visible"/>
                                      </p:to>
                                    </p:set>
                                  </p:childTnLst>
                                </p:cTn>
                              </p:par>
                            </p:childTnLst>
                          </p:cTn>
                        </p:par>
                        <p:par>
                          <p:cTn id="71" fill="hold" nodeType="afterGroup">
                            <p:stCondLst>
                              <p:cond delay="8000"/>
                            </p:stCondLst>
                            <p:childTnLst>
                              <p:par>
                                <p:cTn id="72" presetID="1" presetClass="entr" presetSubtype="0" fill="hold" grpId="0" nodeType="afterEffect">
                                  <p:stCondLst>
                                    <p:cond delay="0"/>
                                  </p:stCondLst>
                                  <p:childTnLst>
                                    <p:set>
                                      <p:cBhvr>
                                        <p:cTn id="73" dur="1" fill="hold">
                                          <p:stCondLst>
                                            <p:cond delay="499"/>
                                          </p:stCondLst>
                                        </p:cTn>
                                        <p:tgtEl>
                                          <p:spTgt spid="162840"/>
                                        </p:tgtEl>
                                        <p:attrNameLst>
                                          <p:attrName>style.visibility</p:attrName>
                                        </p:attrNameLst>
                                      </p:cBhvr>
                                      <p:to>
                                        <p:strVal val="visible"/>
                                      </p:to>
                                    </p:set>
                                  </p:childTnLst>
                                </p:cTn>
                              </p:par>
                            </p:childTnLst>
                          </p:cTn>
                        </p:par>
                        <p:par>
                          <p:cTn id="74" fill="hold" nodeType="afterGroup">
                            <p:stCondLst>
                              <p:cond delay="8500"/>
                            </p:stCondLst>
                            <p:childTnLst>
                              <p:par>
                                <p:cTn id="75" presetID="1" presetClass="entr" presetSubtype="0" fill="hold" grpId="0" nodeType="afterEffect">
                                  <p:stCondLst>
                                    <p:cond delay="0"/>
                                  </p:stCondLst>
                                  <p:childTnLst>
                                    <p:set>
                                      <p:cBhvr>
                                        <p:cTn id="76" dur="1" fill="hold">
                                          <p:stCondLst>
                                            <p:cond delay="499"/>
                                          </p:stCondLst>
                                        </p:cTn>
                                        <p:tgtEl>
                                          <p:spTgt spid="162841"/>
                                        </p:tgtEl>
                                        <p:attrNameLst>
                                          <p:attrName>style.visibility</p:attrName>
                                        </p:attrNameLst>
                                      </p:cBhvr>
                                      <p:to>
                                        <p:strVal val="visible"/>
                                      </p:to>
                                    </p:set>
                                  </p:childTnLst>
                                </p:cTn>
                              </p:par>
                            </p:childTnLst>
                          </p:cTn>
                        </p:par>
                        <p:par>
                          <p:cTn id="77" fill="hold" nodeType="afterGroup">
                            <p:stCondLst>
                              <p:cond delay="9000"/>
                            </p:stCondLst>
                            <p:childTnLst>
                              <p:par>
                                <p:cTn id="78" presetID="1" presetClass="entr" presetSubtype="0" fill="hold" grpId="0" nodeType="afterEffect">
                                  <p:stCondLst>
                                    <p:cond delay="0"/>
                                  </p:stCondLst>
                                  <p:childTnLst>
                                    <p:set>
                                      <p:cBhvr>
                                        <p:cTn id="79" dur="1" fill="hold">
                                          <p:stCondLst>
                                            <p:cond delay="499"/>
                                          </p:stCondLst>
                                        </p:cTn>
                                        <p:tgtEl>
                                          <p:spTgt spid="162842"/>
                                        </p:tgtEl>
                                        <p:attrNameLst>
                                          <p:attrName>style.visibility</p:attrName>
                                        </p:attrNameLst>
                                      </p:cBhvr>
                                      <p:to>
                                        <p:strVal val="visible"/>
                                      </p:to>
                                    </p:set>
                                  </p:childTnLst>
                                </p:cTn>
                              </p:par>
                            </p:childTnLst>
                          </p:cTn>
                        </p:par>
                        <p:par>
                          <p:cTn id="80" fill="hold" nodeType="afterGroup">
                            <p:stCondLst>
                              <p:cond delay="9500"/>
                            </p:stCondLst>
                            <p:childTnLst>
                              <p:par>
                                <p:cTn id="81" presetID="1" presetClass="entr" presetSubtype="0" fill="hold" grpId="0" nodeType="afterEffect">
                                  <p:stCondLst>
                                    <p:cond delay="0"/>
                                  </p:stCondLst>
                                  <p:childTnLst>
                                    <p:set>
                                      <p:cBhvr>
                                        <p:cTn id="82" dur="1" fill="hold">
                                          <p:stCondLst>
                                            <p:cond delay="499"/>
                                          </p:stCondLst>
                                        </p:cTn>
                                        <p:tgtEl>
                                          <p:spTgt spid="162843"/>
                                        </p:tgtEl>
                                        <p:attrNameLst>
                                          <p:attrName>style.visibility</p:attrName>
                                        </p:attrNameLst>
                                      </p:cBhvr>
                                      <p:to>
                                        <p:strVal val="visible"/>
                                      </p:to>
                                    </p:set>
                                  </p:childTnLst>
                                </p:cTn>
                              </p:par>
                            </p:childTnLst>
                          </p:cTn>
                        </p:par>
                        <p:par>
                          <p:cTn id="83" fill="hold" nodeType="afterGroup">
                            <p:stCondLst>
                              <p:cond delay="10000"/>
                            </p:stCondLst>
                            <p:childTnLst>
                              <p:par>
                                <p:cTn id="84" presetID="1" presetClass="entr" presetSubtype="0" fill="hold" grpId="0" nodeType="afterEffect">
                                  <p:stCondLst>
                                    <p:cond delay="0"/>
                                  </p:stCondLst>
                                  <p:childTnLst>
                                    <p:set>
                                      <p:cBhvr>
                                        <p:cTn id="85" dur="1" fill="hold">
                                          <p:stCondLst>
                                            <p:cond delay="499"/>
                                          </p:stCondLst>
                                        </p:cTn>
                                        <p:tgtEl>
                                          <p:spTgt spid="162844"/>
                                        </p:tgtEl>
                                        <p:attrNameLst>
                                          <p:attrName>style.visibility</p:attrName>
                                        </p:attrNameLst>
                                      </p:cBhvr>
                                      <p:to>
                                        <p:strVal val="visible"/>
                                      </p:to>
                                    </p:set>
                                  </p:childTnLst>
                                </p:cTn>
                              </p:par>
                            </p:childTnLst>
                          </p:cTn>
                        </p:par>
                        <p:par>
                          <p:cTn id="86" fill="hold" nodeType="afterGroup">
                            <p:stCondLst>
                              <p:cond delay="10500"/>
                            </p:stCondLst>
                            <p:childTnLst>
                              <p:par>
                                <p:cTn id="87" presetID="1" presetClass="entr" presetSubtype="0" fill="hold" grpId="0" nodeType="afterEffect">
                                  <p:stCondLst>
                                    <p:cond delay="0"/>
                                  </p:stCondLst>
                                  <p:childTnLst>
                                    <p:set>
                                      <p:cBhvr>
                                        <p:cTn id="88" dur="1" fill="hold">
                                          <p:stCondLst>
                                            <p:cond delay="499"/>
                                          </p:stCondLst>
                                        </p:cTn>
                                        <p:tgtEl>
                                          <p:spTgt spid="162845"/>
                                        </p:tgtEl>
                                        <p:attrNameLst>
                                          <p:attrName>style.visibility</p:attrName>
                                        </p:attrNameLst>
                                      </p:cBhvr>
                                      <p:to>
                                        <p:strVal val="visible"/>
                                      </p:to>
                                    </p:set>
                                  </p:childTnLst>
                                </p:cTn>
                              </p:par>
                            </p:childTnLst>
                          </p:cTn>
                        </p:par>
                        <p:par>
                          <p:cTn id="89" fill="hold" nodeType="afterGroup">
                            <p:stCondLst>
                              <p:cond delay="11000"/>
                            </p:stCondLst>
                            <p:childTnLst>
                              <p:par>
                                <p:cTn id="90" presetID="1" presetClass="entr" presetSubtype="0" fill="hold" grpId="0" nodeType="afterEffect">
                                  <p:stCondLst>
                                    <p:cond delay="0"/>
                                  </p:stCondLst>
                                  <p:childTnLst>
                                    <p:set>
                                      <p:cBhvr>
                                        <p:cTn id="91" dur="1" fill="hold">
                                          <p:stCondLst>
                                            <p:cond delay="499"/>
                                          </p:stCondLst>
                                        </p:cTn>
                                        <p:tgtEl>
                                          <p:spTgt spid="162846"/>
                                        </p:tgtEl>
                                        <p:attrNameLst>
                                          <p:attrName>style.visibility</p:attrName>
                                        </p:attrNameLst>
                                      </p:cBhvr>
                                      <p:to>
                                        <p:strVal val="visible"/>
                                      </p:to>
                                    </p:set>
                                  </p:childTnLst>
                                </p:cTn>
                              </p:par>
                            </p:childTnLst>
                          </p:cTn>
                        </p:par>
                        <p:par>
                          <p:cTn id="92" fill="hold" nodeType="afterGroup">
                            <p:stCondLst>
                              <p:cond delay="11500"/>
                            </p:stCondLst>
                            <p:childTnLst>
                              <p:par>
                                <p:cTn id="93" presetID="1" presetClass="entr" presetSubtype="0" fill="hold" grpId="0" nodeType="afterEffect">
                                  <p:stCondLst>
                                    <p:cond delay="0"/>
                                  </p:stCondLst>
                                  <p:childTnLst>
                                    <p:set>
                                      <p:cBhvr>
                                        <p:cTn id="94" dur="1" fill="hold">
                                          <p:stCondLst>
                                            <p:cond delay="499"/>
                                          </p:stCondLst>
                                        </p:cTn>
                                        <p:tgtEl>
                                          <p:spTgt spid="162847"/>
                                        </p:tgtEl>
                                        <p:attrNameLst>
                                          <p:attrName>style.visibility</p:attrName>
                                        </p:attrNameLst>
                                      </p:cBhvr>
                                      <p:to>
                                        <p:strVal val="visible"/>
                                      </p:to>
                                    </p:set>
                                  </p:childTnLst>
                                </p:cTn>
                              </p:par>
                            </p:childTnLst>
                          </p:cTn>
                        </p:par>
                        <p:par>
                          <p:cTn id="95" fill="hold" nodeType="afterGroup">
                            <p:stCondLst>
                              <p:cond delay="12000"/>
                            </p:stCondLst>
                            <p:childTnLst>
                              <p:par>
                                <p:cTn id="96" presetID="1" presetClass="entr" presetSubtype="0" fill="hold" grpId="0" nodeType="afterEffect">
                                  <p:stCondLst>
                                    <p:cond delay="0"/>
                                  </p:stCondLst>
                                  <p:childTnLst>
                                    <p:set>
                                      <p:cBhvr>
                                        <p:cTn id="97" dur="1" fill="hold">
                                          <p:stCondLst>
                                            <p:cond delay="499"/>
                                          </p:stCondLst>
                                        </p:cTn>
                                        <p:tgtEl>
                                          <p:spTgt spid="162848"/>
                                        </p:tgtEl>
                                        <p:attrNameLst>
                                          <p:attrName>style.visibility</p:attrName>
                                        </p:attrNameLst>
                                      </p:cBhvr>
                                      <p:to>
                                        <p:strVal val="visible"/>
                                      </p:to>
                                    </p:set>
                                  </p:childTnLst>
                                </p:cTn>
                              </p:par>
                            </p:childTnLst>
                          </p:cTn>
                        </p:par>
                        <p:par>
                          <p:cTn id="98" fill="hold" nodeType="afterGroup">
                            <p:stCondLst>
                              <p:cond delay="12500"/>
                            </p:stCondLst>
                            <p:childTnLst>
                              <p:par>
                                <p:cTn id="99" presetID="1" presetClass="entr" presetSubtype="0" fill="hold" grpId="0" nodeType="afterEffect">
                                  <p:stCondLst>
                                    <p:cond delay="0"/>
                                  </p:stCondLst>
                                  <p:childTnLst>
                                    <p:set>
                                      <p:cBhvr>
                                        <p:cTn id="100" dur="1" fill="hold">
                                          <p:stCondLst>
                                            <p:cond delay="499"/>
                                          </p:stCondLst>
                                        </p:cTn>
                                        <p:tgtEl>
                                          <p:spTgt spid="162849"/>
                                        </p:tgtEl>
                                        <p:attrNameLst>
                                          <p:attrName>style.visibility</p:attrName>
                                        </p:attrNameLst>
                                      </p:cBhvr>
                                      <p:to>
                                        <p:strVal val="visible"/>
                                      </p:to>
                                    </p:set>
                                  </p:childTnLst>
                                </p:cTn>
                              </p:par>
                            </p:childTnLst>
                          </p:cTn>
                        </p:par>
                        <p:par>
                          <p:cTn id="101" fill="hold" nodeType="afterGroup">
                            <p:stCondLst>
                              <p:cond delay="13000"/>
                            </p:stCondLst>
                            <p:childTnLst>
                              <p:par>
                                <p:cTn id="102" presetID="1" presetClass="entr" presetSubtype="0" fill="hold" grpId="0" nodeType="afterEffect">
                                  <p:stCondLst>
                                    <p:cond delay="0"/>
                                  </p:stCondLst>
                                  <p:childTnLst>
                                    <p:set>
                                      <p:cBhvr>
                                        <p:cTn id="103" dur="1" fill="hold">
                                          <p:stCondLst>
                                            <p:cond delay="499"/>
                                          </p:stCondLst>
                                        </p:cTn>
                                        <p:tgtEl>
                                          <p:spTgt spid="162850"/>
                                        </p:tgtEl>
                                        <p:attrNameLst>
                                          <p:attrName>style.visibility</p:attrName>
                                        </p:attrNameLst>
                                      </p:cBhvr>
                                      <p:to>
                                        <p:strVal val="visible"/>
                                      </p:to>
                                    </p:set>
                                  </p:childTnLst>
                                </p:cTn>
                              </p:par>
                            </p:childTnLst>
                          </p:cTn>
                        </p:par>
                        <p:par>
                          <p:cTn id="104" fill="hold" nodeType="afterGroup">
                            <p:stCondLst>
                              <p:cond delay="13500"/>
                            </p:stCondLst>
                            <p:childTnLst>
                              <p:par>
                                <p:cTn id="105" presetID="1" presetClass="entr" presetSubtype="0" fill="hold" grpId="0" nodeType="afterEffect">
                                  <p:stCondLst>
                                    <p:cond delay="0"/>
                                  </p:stCondLst>
                                  <p:childTnLst>
                                    <p:set>
                                      <p:cBhvr>
                                        <p:cTn id="106" dur="1" fill="hold">
                                          <p:stCondLst>
                                            <p:cond delay="499"/>
                                          </p:stCondLst>
                                        </p:cTn>
                                        <p:tgtEl>
                                          <p:spTgt spid="162851"/>
                                        </p:tgtEl>
                                        <p:attrNameLst>
                                          <p:attrName>style.visibility</p:attrName>
                                        </p:attrNameLst>
                                      </p:cBhvr>
                                      <p:to>
                                        <p:strVal val="visible"/>
                                      </p:to>
                                    </p:set>
                                  </p:childTnLst>
                                </p:cTn>
                              </p:par>
                            </p:childTnLst>
                          </p:cTn>
                        </p:par>
                        <p:par>
                          <p:cTn id="107" fill="hold" nodeType="afterGroup">
                            <p:stCondLst>
                              <p:cond delay="14000"/>
                            </p:stCondLst>
                            <p:childTnLst>
                              <p:par>
                                <p:cTn id="108" presetID="1" presetClass="entr" presetSubtype="0" fill="hold" grpId="0" nodeType="afterEffect">
                                  <p:stCondLst>
                                    <p:cond delay="0"/>
                                  </p:stCondLst>
                                  <p:childTnLst>
                                    <p:set>
                                      <p:cBhvr>
                                        <p:cTn id="109" dur="1" fill="hold">
                                          <p:stCondLst>
                                            <p:cond delay="499"/>
                                          </p:stCondLst>
                                        </p:cTn>
                                        <p:tgtEl>
                                          <p:spTgt spid="162852"/>
                                        </p:tgtEl>
                                        <p:attrNameLst>
                                          <p:attrName>style.visibility</p:attrName>
                                        </p:attrNameLst>
                                      </p:cBhvr>
                                      <p:to>
                                        <p:strVal val="visible"/>
                                      </p:to>
                                    </p:set>
                                  </p:childTnLst>
                                </p:cTn>
                              </p:par>
                            </p:childTnLst>
                          </p:cTn>
                        </p:par>
                        <p:par>
                          <p:cTn id="110" fill="hold" nodeType="afterGroup">
                            <p:stCondLst>
                              <p:cond delay="14500"/>
                            </p:stCondLst>
                            <p:childTnLst>
                              <p:par>
                                <p:cTn id="111" presetID="1" presetClass="entr" presetSubtype="0" fill="hold" grpId="0" nodeType="afterEffect">
                                  <p:stCondLst>
                                    <p:cond delay="0"/>
                                  </p:stCondLst>
                                  <p:childTnLst>
                                    <p:set>
                                      <p:cBhvr>
                                        <p:cTn id="112" dur="1" fill="hold">
                                          <p:stCondLst>
                                            <p:cond delay="499"/>
                                          </p:stCondLst>
                                        </p:cTn>
                                        <p:tgtEl>
                                          <p:spTgt spid="162853"/>
                                        </p:tgtEl>
                                        <p:attrNameLst>
                                          <p:attrName>style.visibility</p:attrName>
                                        </p:attrNameLst>
                                      </p:cBhvr>
                                      <p:to>
                                        <p:strVal val="visible"/>
                                      </p:to>
                                    </p:set>
                                  </p:childTnLst>
                                </p:cTn>
                              </p:par>
                            </p:childTnLst>
                          </p:cTn>
                        </p:par>
                        <p:par>
                          <p:cTn id="113" fill="hold" nodeType="afterGroup">
                            <p:stCondLst>
                              <p:cond delay="15000"/>
                            </p:stCondLst>
                            <p:childTnLst>
                              <p:par>
                                <p:cTn id="114" presetID="1" presetClass="entr" presetSubtype="0" fill="hold" grpId="0" nodeType="afterEffect">
                                  <p:stCondLst>
                                    <p:cond delay="0"/>
                                  </p:stCondLst>
                                  <p:childTnLst>
                                    <p:set>
                                      <p:cBhvr>
                                        <p:cTn id="115" dur="1" fill="hold">
                                          <p:stCondLst>
                                            <p:cond delay="499"/>
                                          </p:stCondLst>
                                        </p:cTn>
                                        <p:tgtEl>
                                          <p:spTgt spid="162854"/>
                                        </p:tgtEl>
                                        <p:attrNameLst>
                                          <p:attrName>style.visibility</p:attrName>
                                        </p:attrNameLst>
                                      </p:cBhvr>
                                      <p:to>
                                        <p:strVal val="visible"/>
                                      </p:to>
                                    </p:set>
                                  </p:childTnLst>
                                </p:cTn>
                              </p:par>
                            </p:childTnLst>
                          </p:cTn>
                        </p:par>
                        <p:par>
                          <p:cTn id="116" fill="hold" nodeType="afterGroup">
                            <p:stCondLst>
                              <p:cond delay="15500"/>
                            </p:stCondLst>
                            <p:childTnLst>
                              <p:par>
                                <p:cTn id="117" presetID="1" presetClass="entr" presetSubtype="0" fill="hold" grpId="0" nodeType="afterEffect">
                                  <p:stCondLst>
                                    <p:cond delay="0"/>
                                  </p:stCondLst>
                                  <p:childTnLst>
                                    <p:set>
                                      <p:cBhvr>
                                        <p:cTn id="118" dur="1" fill="hold">
                                          <p:stCondLst>
                                            <p:cond delay="499"/>
                                          </p:stCondLst>
                                        </p:cTn>
                                        <p:tgtEl>
                                          <p:spTgt spid="162855"/>
                                        </p:tgtEl>
                                        <p:attrNameLst>
                                          <p:attrName>style.visibility</p:attrName>
                                        </p:attrNameLst>
                                      </p:cBhvr>
                                      <p:to>
                                        <p:strVal val="visible"/>
                                      </p:to>
                                    </p:set>
                                  </p:childTnLst>
                                </p:cTn>
                              </p:par>
                            </p:childTnLst>
                          </p:cTn>
                        </p:par>
                        <p:par>
                          <p:cTn id="119" fill="hold" nodeType="afterGroup">
                            <p:stCondLst>
                              <p:cond delay="16000"/>
                            </p:stCondLst>
                            <p:childTnLst>
                              <p:par>
                                <p:cTn id="120" presetID="1" presetClass="entr" presetSubtype="0" fill="hold" grpId="0" nodeType="afterEffect">
                                  <p:stCondLst>
                                    <p:cond delay="0"/>
                                  </p:stCondLst>
                                  <p:childTnLst>
                                    <p:set>
                                      <p:cBhvr>
                                        <p:cTn id="121" dur="1" fill="hold">
                                          <p:stCondLst>
                                            <p:cond delay="499"/>
                                          </p:stCondLst>
                                        </p:cTn>
                                        <p:tgtEl>
                                          <p:spTgt spid="162856"/>
                                        </p:tgtEl>
                                        <p:attrNameLst>
                                          <p:attrName>style.visibility</p:attrName>
                                        </p:attrNameLst>
                                      </p:cBhvr>
                                      <p:to>
                                        <p:strVal val="visible"/>
                                      </p:to>
                                    </p:set>
                                  </p:childTnLst>
                                </p:cTn>
                              </p:par>
                            </p:childTnLst>
                          </p:cTn>
                        </p:par>
                        <p:par>
                          <p:cTn id="122" fill="hold" nodeType="afterGroup">
                            <p:stCondLst>
                              <p:cond delay="16500"/>
                            </p:stCondLst>
                            <p:childTnLst>
                              <p:par>
                                <p:cTn id="123" presetID="1" presetClass="entr" presetSubtype="0" fill="hold" grpId="0" nodeType="afterEffect">
                                  <p:stCondLst>
                                    <p:cond delay="0"/>
                                  </p:stCondLst>
                                  <p:childTnLst>
                                    <p:set>
                                      <p:cBhvr>
                                        <p:cTn id="124" dur="1" fill="hold">
                                          <p:stCondLst>
                                            <p:cond delay="499"/>
                                          </p:stCondLst>
                                        </p:cTn>
                                        <p:tgtEl>
                                          <p:spTgt spid="162857"/>
                                        </p:tgtEl>
                                        <p:attrNameLst>
                                          <p:attrName>style.visibility</p:attrName>
                                        </p:attrNameLst>
                                      </p:cBhvr>
                                      <p:to>
                                        <p:strVal val="visible"/>
                                      </p:to>
                                    </p:set>
                                  </p:childTnLst>
                                </p:cTn>
                              </p:par>
                            </p:childTnLst>
                          </p:cTn>
                        </p:par>
                        <p:par>
                          <p:cTn id="125" fill="hold" nodeType="afterGroup">
                            <p:stCondLst>
                              <p:cond delay="17000"/>
                            </p:stCondLst>
                            <p:childTnLst>
                              <p:par>
                                <p:cTn id="126" presetID="1" presetClass="entr" presetSubtype="0" fill="hold" grpId="0" nodeType="afterEffect">
                                  <p:stCondLst>
                                    <p:cond delay="0"/>
                                  </p:stCondLst>
                                  <p:childTnLst>
                                    <p:set>
                                      <p:cBhvr>
                                        <p:cTn id="127" dur="1" fill="hold">
                                          <p:stCondLst>
                                            <p:cond delay="499"/>
                                          </p:stCondLst>
                                        </p:cTn>
                                        <p:tgtEl>
                                          <p:spTgt spid="162858"/>
                                        </p:tgtEl>
                                        <p:attrNameLst>
                                          <p:attrName>style.visibility</p:attrName>
                                        </p:attrNameLst>
                                      </p:cBhvr>
                                      <p:to>
                                        <p:strVal val="visible"/>
                                      </p:to>
                                    </p:set>
                                  </p:childTnLst>
                                </p:cTn>
                              </p:par>
                            </p:childTnLst>
                          </p:cTn>
                        </p:par>
                        <p:par>
                          <p:cTn id="128" fill="hold" nodeType="afterGroup">
                            <p:stCondLst>
                              <p:cond delay="17500"/>
                            </p:stCondLst>
                            <p:childTnLst>
                              <p:par>
                                <p:cTn id="129" presetID="1" presetClass="entr" presetSubtype="0" fill="hold" grpId="0" nodeType="afterEffect">
                                  <p:stCondLst>
                                    <p:cond delay="0"/>
                                  </p:stCondLst>
                                  <p:childTnLst>
                                    <p:set>
                                      <p:cBhvr>
                                        <p:cTn id="130" dur="1" fill="hold">
                                          <p:stCondLst>
                                            <p:cond delay="499"/>
                                          </p:stCondLst>
                                        </p:cTn>
                                        <p:tgtEl>
                                          <p:spTgt spid="162859"/>
                                        </p:tgtEl>
                                        <p:attrNameLst>
                                          <p:attrName>style.visibility</p:attrName>
                                        </p:attrNameLst>
                                      </p:cBhvr>
                                      <p:to>
                                        <p:strVal val="visible"/>
                                      </p:to>
                                    </p:set>
                                  </p:childTnLst>
                                </p:cTn>
                              </p:par>
                            </p:childTnLst>
                          </p:cTn>
                        </p:par>
                        <p:par>
                          <p:cTn id="131" fill="hold" nodeType="afterGroup">
                            <p:stCondLst>
                              <p:cond delay="18000"/>
                            </p:stCondLst>
                            <p:childTnLst>
                              <p:par>
                                <p:cTn id="132" presetID="1" presetClass="entr" presetSubtype="0" fill="hold" grpId="0" nodeType="afterEffect">
                                  <p:stCondLst>
                                    <p:cond delay="0"/>
                                  </p:stCondLst>
                                  <p:childTnLst>
                                    <p:set>
                                      <p:cBhvr>
                                        <p:cTn id="133" dur="1" fill="hold">
                                          <p:stCondLst>
                                            <p:cond delay="499"/>
                                          </p:stCondLst>
                                        </p:cTn>
                                        <p:tgtEl>
                                          <p:spTgt spid="162860"/>
                                        </p:tgtEl>
                                        <p:attrNameLst>
                                          <p:attrName>style.visibility</p:attrName>
                                        </p:attrNameLst>
                                      </p:cBhvr>
                                      <p:to>
                                        <p:strVal val="visible"/>
                                      </p:to>
                                    </p:set>
                                  </p:childTnLst>
                                </p:cTn>
                              </p:par>
                            </p:childTnLst>
                          </p:cTn>
                        </p:par>
                        <p:par>
                          <p:cTn id="134" fill="hold" nodeType="afterGroup">
                            <p:stCondLst>
                              <p:cond delay="18500"/>
                            </p:stCondLst>
                            <p:childTnLst>
                              <p:par>
                                <p:cTn id="135" presetID="1" presetClass="entr" presetSubtype="0" fill="hold" grpId="0" nodeType="afterEffect">
                                  <p:stCondLst>
                                    <p:cond delay="0"/>
                                  </p:stCondLst>
                                  <p:childTnLst>
                                    <p:set>
                                      <p:cBhvr>
                                        <p:cTn id="136" dur="1" fill="hold">
                                          <p:stCondLst>
                                            <p:cond delay="499"/>
                                          </p:stCondLst>
                                        </p:cTn>
                                        <p:tgtEl>
                                          <p:spTgt spid="162868"/>
                                        </p:tgtEl>
                                        <p:attrNameLst>
                                          <p:attrName>style.visibility</p:attrName>
                                        </p:attrNameLst>
                                      </p:cBhvr>
                                      <p:to>
                                        <p:strVal val="visible"/>
                                      </p:to>
                                    </p:set>
                                  </p:childTnLst>
                                </p:cTn>
                              </p:par>
                            </p:childTnLst>
                          </p:cTn>
                        </p:par>
                        <p:par>
                          <p:cTn id="137" fill="hold" nodeType="afterGroup">
                            <p:stCondLst>
                              <p:cond delay="19000"/>
                            </p:stCondLst>
                            <p:childTnLst>
                              <p:par>
                                <p:cTn id="138" presetID="1" presetClass="entr" presetSubtype="0" fill="hold" grpId="0" nodeType="afterEffect">
                                  <p:stCondLst>
                                    <p:cond delay="0"/>
                                  </p:stCondLst>
                                  <p:childTnLst>
                                    <p:set>
                                      <p:cBhvr>
                                        <p:cTn id="139" dur="1" fill="hold">
                                          <p:stCondLst>
                                            <p:cond delay="499"/>
                                          </p:stCondLst>
                                        </p:cTn>
                                        <p:tgtEl>
                                          <p:spTgt spid="162869"/>
                                        </p:tgtEl>
                                        <p:attrNameLst>
                                          <p:attrName>style.visibility</p:attrName>
                                        </p:attrNameLst>
                                      </p:cBhvr>
                                      <p:to>
                                        <p:strVal val="visible"/>
                                      </p:to>
                                    </p:set>
                                  </p:childTnLst>
                                </p:cTn>
                              </p:par>
                            </p:childTnLst>
                          </p:cTn>
                        </p:par>
                        <p:par>
                          <p:cTn id="140" fill="hold" nodeType="afterGroup">
                            <p:stCondLst>
                              <p:cond delay="19500"/>
                            </p:stCondLst>
                            <p:childTnLst>
                              <p:par>
                                <p:cTn id="141" presetID="1" presetClass="entr" presetSubtype="0" fill="hold" grpId="0" nodeType="afterEffect">
                                  <p:stCondLst>
                                    <p:cond delay="0"/>
                                  </p:stCondLst>
                                  <p:childTnLst>
                                    <p:set>
                                      <p:cBhvr>
                                        <p:cTn id="142" dur="1" fill="hold">
                                          <p:stCondLst>
                                            <p:cond delay="499"/>
                                          </p:stCondLst>
                                        </p:cTn>
                                        <p:tgtEl>
                                          <p:spTgt spid="162871"/>
                                        </p:tgtEl>
                                        <p:attrNameLst>
                                          <p:attrName>style.visibility</p:attrName>
                                        </p:attrNameLst>
                                      </p:cBhvr>
                                      <p:to>
                                        <p:strVal val="visible"/>
                                      </p:to>
                                    </p:set>
                                  </p:childTnLst>
                                </p:cTn>
                              </p:par>
                            </p:childTnLst>
                          </p:cTn>
                        </p:par>
                        <p:par>
                          <p:cTn id="143" fill="hold" nodeType="afterGroup">
                            <p:stCondLst>
                              <p:cond delay="20000"/>
                            </p:stCondLst>
                            <p:childTnLst>
                              <p:par>
                                <p:cTn id="144" presetID="1" presetClass="entr" presetSubtype="0" fill="hold" grpId="0" nodeType="afterEffect">
                                  <p:stCondLst>
                                    <p:cond delay="0"/>
                                  </p:stCondLst>
                                  <p:childTnLst>
                                    <p:set>
                                      <p:cBhvr>
                                        <p:cTn id="145" dur="1" fill="hold">
                                          <p:stCondLst>
                                            <p:cond delay="499"/>
                                          </p:stCondLst>
                                        </p:cTn>
                                        <p:tgtEl>
                                          <p:spTgt spid="162873"/>
                                        </p:tgtEl>
                                        <p:attrNameLst>
                                          <p:attrName>style.visibility</p:attrName>
                                        </p:attrNameLst>
                                      </p:cBhvr>
                                      <p:to>
                                        <p:strVal val="visible"/>
                                      </p:to>
                                    </p:set>
                                  </p:childTnLst>
                                </p:cTn>
                              </p:par>
                            </p:childTnLst>
                          </p:cTn>
                        </p:par>
                        <p:par>
                          <p:cTn id="146" fill="hold" nodeType="afterGroup">
                            <p:stCondLst>
                              <p:cond delay="20500"/>
                            </p:stCondLst>
                            <p:childTnLst>
                              <p:par>
                                <p:cTn id="147" presetID="1" presetClass="entr" presetSubtype="0" fill="hold" grpId="0" nodeType="afterEffect">
                                  <p:stCondLst>
                                    <p:cond delay="0"/>
                                  </p:stCondLst>
                                  <p:childTnLst>
                                    <p:set>
                                      <p:cBhvr>
                                        <p:cTn id="148" dur="1" fill="hold">
                                          <p:stCondLst>
                                            <p:cond delay="499"/>
                                          </p:stCondLst>
                                        </p:cTn>
                                        <p:tgtEl>
                                          <p:spTgt spid="162874"/>
                                        </p:tgtEl>
                                        <p:attrNameLst>
                                          <p:attrName>style.visibility</p:attrName>
                                        </p:attrNameLst>
                                      </p:cBhvr>
                                      <p:to>
                                        <p:strVal val="visible"/>
                                      </p:to>
                                    </p:set>
                                  </p:childTnLst>
                                </p:cTn>
                              </p:par>
                            </p:childTnLst>
                          </p:cTn>
                        </p:par>
                        <p:par>
                          <p:cTn id="149" fill="hold" nodeType="afterGroup">
                            <p:stCondLst>
                              <p:cond delay="21000"/>
                            </p:stCondLst>
                            <p:childTnLst>
                              <p:par>
                                <p:cTn id="150" presetID="1" presetClass="entr" presetSubtype="0" fill="hold" grpId="0" nodeType="afterEffect">
                                  <p:stCondLst>
                                    <p:cond delay="0"/>
                                  </p:stCondLst>
                                  <p:childTnLst>
                                    <p:set>
                                      <p:cBhvr>
                                        <p:cTn id="151" dur="1" fill="hold">
                                          <p:stCondLst>
                                            <p:cond delay="499"/>
                                          </p:stCondLst>
                                        </p:cTn>
                                        <p:tgtEl>
                                          <p:spTgt spid="162875"/>
                                        </p:tgtEl>
                                        <p:attrNameLst>
                                          <p:attrName>style.visibility</p:attrName>
                                        </p:attrNameLst>
                                      </p:cBhvr>
                                      <p:to>
                                        <p:strVal val="visible"/>
                                      </p:to>
                                    </p:set>
                                  </p:childTnLst>
                                </p:cTn>
                              </p:par>
                            </p:childTnLst>
                          </p:cTn>
                        </p:par>
                        <p:par>
                          <p:cTn id="152" fill="hold" nodeType="afterGroup">
                            <p:stCondLst>
                              <p:cond delay="21500"/>
                            </p:stCondLst>
                            <p:childTnLst>
                              <p:par>
                                <p:cTn id="153" presetID="1" presetClass="entr" presetSubtype="0" fill="hold" grpId="0" nodeType="afterEffect">
                                  <p:stCondLst>
                                    <p:cond delay="0"/>
                                  </p:stCondLst>
                                  <p:childTnLst>
                                    <p:set>
                                      <p:cBhvr>
                                        <p:cTn id="154" dur="1" fill="hold">
                                          <p:stCondLst>
                                            <p:cond delay="499"/>
                                          </p:stCondLst>
                                        </p:cTn>
                                        <p:tgtEl>
                                          <p:spTgt spid="162876"/>
                                        </p:tgtEl>
                                        <p:attrNameLst>
                                          <p:attrName>style.visibility</p:attrName>
                                        </p:attrNameLst>
                                      </p:cBhvr>
                                      <p:to>
                                        <p:strVal val="visible"/>
                                      </p:to>
                                    </p:set>
                                  </p:childTnLst>
                                </p:cTn>
                              </p:par>
                            </p:childTnLst>
                          </p:cTn>
                        </p:par>
                        <p:par>
                          <p:cTn id="155" fill="hold" nodeType="afterGroup">
                            <p:stCondLst>
                              <p:cond delay="22000"/>
                            </p:stCondLst>
                            <p:childTnLst>
                              <p:par>
                                <p:cTn id="156" presetID="1" presetClass="entr" presetSubtype="0" fill="hold" grpId="0" nodeType="afterEffect">
                                  <p:stCondLst>
                                    <p:cond delay="0"/>
                                  </p:stCondLst>
                                  <p:childTnLst>
                                    <p:set>
                                      <p:cBhvr>
                                        <p:cTn id="157" dur="1" fill="hold">
                                          <p:stCondLst>
                                            <p:cond delay="499"/>
                                          </p:stCondLst>
                                        </p:cTn>
                                        <p:tgtEl>
                                          <p:spTgt spid="162877"/>
                                        </p:tgtEl>
                                        <p:attrNameLst>
                                          <p:attrName>style.visibility</p:attrName>
                                        </p:attrNameLst>
                                      </p:cBhvr>
                                      <p:to>
                                        <p:strVal val="visible"/>
                                      </p:to>
                                    </p:set>
                                  </p:childTnLst>
                                </p:cTn>
                              </p:par>
                            </p:childTnLst>
                          </p:cTn>
                        </p:par>
                        <p:par>
                          <p:cTn id="158" fill="hold" nodeType="afterGroup">
                            <p:stCondLst>
                              <p:cond delay="22500"/>
                            </p:stCondLst>
                            <p:childTnLst>
                              <p:par>
                                <p:cTn id="159" presetID="1" presetClass="entr" presetSubtype="0" fill="hold" grpId="0" nodeType="afterEffect">
                                  <p:stCondLst>
                                    <p:cond delay="0"/>
                                  </p:stCondLst>
                                  <p:childTnLst>
                                    <p:set>
                                      <p:cBhvr>
                                        <p:cTn id="160" dur="1" fill="hold">
                                          <p:stCondLst>
                                            <p:cond delay="499"/>
                                          </p:stCondLst>
                                        </p:cTn>
                                        <p:tgtEl>
                                          <p:spTgt spid="162878"/>
                                        </p:tgtEl>
                                        <p:attrNameLst>
                                          <p:attrName>style.visibility</p:attrName>
                                        </p:attrNameLst>
                                      </p:cBhvr>
                                      <p:to>
                                        <p:strVal val="visible"/>
                                      </p:to>
                                    </p:set>
                                  </p:childTnLst>
                                </p:cTn>
                              </p:par>
                            </p:childTnLst>
                          </p:cTn>
                        </p:par>
                        <p:par>
                          <p:cTn id="161" fill="hold" nodeType="afterGroup">
                            <p:stCondLst>
                              <p:cond delay="23000"/>
                            </p:stCondLst>
                            <p:childTnLst>
                              <p:par>
                                <p:cTn id="162" presetID="1" presetClass="entr" presetSubtype="0" fill="hold" grpId="0" nodeType="afterEffect">
                                  <p:stCondLst>
                                    <p:cond delay="0"/>
                                  </p:stCondLst>
                                  <p:childTnLst>
                                    <p:set>
                                      <p:cBhvr>
                                        <p:cTn id="163" dur="1" fill="hold">
                                          <p:stCondLst>
                                            <p:cond delay="499"/>
                                          </p:stCondLst>
                                        </p:cTn>
                                        <p:tgtEl>
                                          <p:spTgt spid="162879"/>
                                        </p:tgtEl>
                                        <p:attrNameLst>
                                          <p:attrName>style.visibility</p:attrName>
                                        </p:attrNameLst>
                                      </p:cBhvr>
                                      <p:to>
                                        <p:strVal val="visible"/>
                                      </p:to>
                                    </p:set>
                                  </p:childTnLst>
                                </p:cTn>
                              </p:par>
                            </p:childTnLst>
                          </p:cTn>
                        </p:par>
                        <p:par>
                          <p:cTn id="164" fill="hold" nodeType="afterGroup">
                            <p:stCondLst>
                              <p:cond delay="23500"/>
                            </p:stCondLst>
                            <p:childTnLst>
                              <p:par>
                                <p:cTn id="165" presetID="1" presetClass="entr" presetSubtype="0" fill="hold" grpId="0" nodeType="afterEffect">
                                  <p:stCondLst>
                                    <p:cond delay="0"/>
                                  </p:stCondLst>
                                  <p:childTnLst>
                                    <p:set>
                                      <p:cBhvr>
                                        <p:cTn id="166" dur="1" fill="hold">
                                          <p:stCondLst>
                                            <p:cond delay="499"/>
                                          </p:stCondLst>
                                        </p:cTn>
                                        <p:tgtEl>
                                          <p:spTgt spid="162880"/>
                                        </p:tgtEl>
                                        <p:attrNameLst>
                                          <p:attrName>style.visibility</p:attrName>
                                        </p:attrNameLst>
                                      </p:cBhvr>
                                      <p:to>
                                        <p:strVal val="visible"/>
                                      </p:to>
                                    </p:se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22" presetClass="entr" presetSubtype="8" fill="hold" grpId="0" nodeType="clickEffect">
                                  <p:stCondLst>
                                    <p:cond delay="0"/>
                                  </p:stCondLst>
                                  <p:childTnLst>
                                    <p:set>
                                      <p:cBhvr>
                                        <p:cTn id="170" dur="1" fill="hold">
                                          <p:stCondLst>
                                            <p:cond delay="0"/>
                                          </p:stCondLst>
                                        </p:cTn>
                                        <p:tgtEl>
                                          <p:spTgt spid="162882"/>
                                        </p:tgtEl>
                                        <p:attrNameLst>
                                          <p:attrName>style.visibility</p:attrName>
                                        </p:attrNameLst>
                                      </p:cBhvr>
                                      <p:to>
                                        <p:strVal val="visible"/>
                                      </p:to>
                                    </p:set>
                                    <p:animEffect transition="in" filter="wipe(left)">
                                      <p:cBhvr>
                                        <p:cTn id="171" dur="500"/>
                                        <p:tgtEl>
                                          <p:spTgt spid="162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autoUpdateAnimBg="0"/>
      <p:bldP spid="162820" grpId="0" autoUpdateAnimBg="0"/>
      <p:bldP spid="162823" grpId="0" animBg="1"/>
      <p:bldP spid="162824" grpId="0" animBg="1"/>
      <p:bldP spid="162825" grpId="0" animBg="1"/>
      <p:bldP spid="162827" grpId="0" animBg="1"/>
      <p:bldP spid="162828" grpId="0" animBg="1"/>
      <p:bldP spid="162829" grpId="0" animBg="1"/>
      <p:bldP spid="162831" grpId="0" animBg="1"/>
      <p:bldP spid="162833" grpId="0" autoUpdateAnimBg="0"/>
      <p:bldP spid="162834" grpId="0" animBg="1" autoUpdateAnimBg="0"/>
      <p:bldP spid="162835" grpId="0" animBg="1"/>
      <p:bldP spid="162836" grpId="0" animBg="1" autoUpdateAnimBg="0"/>
      <p:bldP spid="162837" grpId="0" animBg="1"/>
      <p:bldP spid="162838" grpId="0" animBg="1" autoUpdateAnimBg="0"/>
      <p:bldP spid="162839" grpId="0" animBg="1"/>
      <p:bldP spid="162840" grpId="0" animBg="1"/>
      <p:bldP spid="162841" grpId="0" animBg="1"/>
      <p:bldP spid="162842" grpId="0" animBg="1"/>
      <p:bldP spid="162843" grpId="0" animBg="1"/>
      <p:bldP spid="162844" grpId="0" animBg="1" autoUpdateAnimBg="0"/>
      <p:bldP spid="162845" grpId="0" animBg="1"/>
      <p:bldP spid="162846" grpId="0" animBg="1"/>
      <p:bldP spid="162847" grpId="0" animBg="1"/>
      <p:bldP spid="162848" grpId="0" animBg="1" autoUpdateAnimBg="0"/>
      <p:bldP spid="162849" grpId="0" animBg="1"/>
      <p:bldP spid="162850" grpId="0" animBg="1"/>
      <p:bldP spid="162851" grpId="0" animBg="1"/>
      <p:bldP spid="162852" grpId="0" animBg="1"/>
      <p:bldP spid="162853" grpId="0" animBg="1"/>
      <p:bldP spid="162854" grpId="0" animBg="1"/>
      <p:bldP spid="162855" grpId="0" animBg="1"/>
      <p:bldP spid="162856" grpId="0" animBg="1"/>
      <p:bldP spid="162857" grpId="0" animBg="1"/>
      <p:bldP spid="162858" grpId="0" animBg="1"/>
      <p:bldP spid="162859" grpId="0" animBg="1"/>
      <p:bldP spid="162860" grpId="0" animBg="1"/>
      <p:bldP spid="162868" grpId="0" autoUpdateAnimBg="0"/>
      <p:bldP spid="162869" grpId="0" autoUpdateAnimBg="0"/>
      <p:bldP spid="162871" grpId="0" autoUpdateAnimBg="0"/>
      <p:bldP spid="162873" grpId="0" autoUpdateAnimBg="0"/>
      <p:bldP spid="162874" grpId="0" autoUpdateAnimBg="0"/>
      <p:bldP spid="162875" grpId="0" autoUpdateAnimBg="0"/>
      <p:bldP spid="162876" grpId="0" autoUpdateAnimBg="0"/>
      <p:bldP spid="162877" grpId="0" autoUpdateAnimBg="0"/>
      <p:bldP spid="162878" grpId="0" autoUpdateAnimBg="0"/>
      <p:bldP spid="162879" grpId="0" autoUpdateAnimBg="0"/>
      <p:bldP spid="162880" grpId="0" autoUpdateAnimBg="0"/>
      <p:bldP spid="162882" grpId="0" autoUpdateAnimBg="0"/>
      <p:bldP spid="162883" grpId="0" autoUpdateAnimBg="0"/>
      <p:bldP spid="162884" grpId="0" animBg="1"/>
      <p:bldP spid="162885" grpId="0" animBg="1"/>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 Box 2"/>
          <p:cNvSpPr txBox="1">
            <a:spLocks noChangeArrowheads="1"/>
          </p:cNvSpPr>
          <p:nvPr/>
        </p:nvSpPr>
        <p:spPr bwMode="auto">
          <a:xfrm>
            <a:off x="-609600" y="990600"/>
            <a:ext cx="97536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lnSpc>
                <a:spcPct val="125000"/>
              </a:lnSpc>
            </a:pPr>
            <a:r>
              <a:rPr lang="en-US" altLang="zh-CN" sz="3600">
                <a:ea typeface="楷体_GB2312" charset="0"/>
              </a:rPr>
              <a:t>        </a:t>
            </a:r>
            <a:r>
              <a:rPr lang="zh-CN" altLang="en-US" sz="3600">
                <a:solidFill>
                  <a:srgbClr val="A50021"/>
                </a:solidFill>
                <a:ea typeface="楷体_GB2312" charset="0"/>
              </a:rPr>
              <a:t>查找过程和造表过程一致。假设采用开放定址处理冲突，则</a:t>
            </a:r>
            <a:r>
              <a:rPr lang="zh-CN" altLang="en-US" sz="3600" b="1">
                <a:solidFill>
                  <a:srgbClr val="FF0000"/>
                </a:solidFill>
                <a:ea typeface="楷体_GB2312" charset="0"/>
              </a:rPr>
              <a:t>查找过程</a:t>
            </a:r>
            <a:r>
              <a:rPr lang="zh-CN" altLang="en-US" sz="3600">
                <a:solidFill>
                  <a:srgbClr val="A50021"/>
                </a:solidFill>
                <a:ea typeface="楷体_GB2312" charset="0"/>
              </a:rPr>
              <a:t>为：</a:t>
            </a:r>
            <a:r>
              <a:rPr lang="zh-CN" altLang="en-US" sz="3600">
                <a:ea typeface="楷体_GB2312" charset="0"/>
              </a:rPr>
              <a:t>       </a:t>
            </a:r>
            <a:endParaRPr lang="zh-CN" altLang="en-US" sz="3600"/>
          </a:p>
        </p:txBody>
      </p:sp>
      <p:sp>
        <p:nvSpPr>
          <p:cNvPr id="163843" name="Text Box 3"/>
          <p:cNvSpPr txBox="1">
            <a:spLocks noChangeArrowheads="1"/>
          </p:cNvSpPr>
          <p:nvPr/>
        </p:nvSpPr>
        <p:spPr bwMode="auto">
          <a:xfrm>
            <a:off x="752475" y="228600"/>
            <a:ext cx="42767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a:solidFill>
                  <a:schemeClr val="accent2"/>
                </a:solidFill>
                <a:ea typeface="楷体_GB2312" charset="0"/>
              </a:rPr>
              <a:t>四、</a:t>
            </a:r>
            <a:r>
              <a:rPr lang="zh-CN" altLang="en-US" sz="4000" b="1">
                <a:solidFill>
                  <a:schemeClr val="accent2"/>
                </a:solidFill>
                <a:ea typeface="楷体_GB2312" charset="0"/>
              </a:rPr>
              <a:t>哈希表的查找</a:t>
            </a:r>
            <a:endParaRPr lang="zh-CN" altLang="en-US" sz="4000" b="1">
              <a:solidFill>
                <a:srgbClr val="FF00FF"/>
              </a:solidFill>
              <a:ea typeface="楷体_GB2312" charset="0"/>
            </a:endParaRPr>
          </a:p>
        </p:txBody>
      </p:sp>
      <p:sp>
        <p:nvSpPr>
          <p:cNvPr id="163844" name="Text Box 4"/>
          <p:cNvSpPr txBox="1">
            <a:spLocks noChangeArrowheads="1"/>
          </p:cNvSpPr>
          <p:nvPr/>
        </p:nvSpPr>
        <p:spPr bwMode="auto">
          <a:xfrm>
            <a:off x="574675" y="2444750"/>
            <a:ext cx="8264525"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600">
                <a:solidFill>
                  <a:srgbClr val="A50021"/>
                </a:solidFill>
                <a:ea typeface="楷体_GB2312" charset="0"/>
              </a:rPr>
              <a:t>   </a:t>
            </a:r>
            <a:r>
              <a:rPr lang="zh-CN" altLang="en-US" sz="3600">
                <a:solidFill>
                  <a:schemeClr val="accent2"/>
                </a:solidFill>
                <a:ea typeface="楷体_GB2312" charset="0"/>
              </a:rPr>
              <a:t>对于</a:t>
            </a:r>
            <a:r>
              <a:rPr lang="zh-CN" altLang="en-US" sz="3600">
                <a:solidFill>
                  <a:srgbClr val="0000FF"/>
                </a:solidFill>
                <a:ea typeface="楷体_GB2312" charset="0"/>
              </a:rPr>
              <a:t>给定值 </a:t>
            </a:r>
            <a:r>
              <a:rPr lang="en-US" altLang="zh-CN" sz="3600">
                <a:solidFill>
                  <a:srgbClr val="0000FF"/>
                </a:solidFill>
                <a:ea typeface="楷体_GB2312" charset="0"/>
              </a:rPr>
              <a:t>K</a:t>
            </a:r>
            <a:r>
              <a:rPr lang="zh-CN" altLang="en-US" sz="3600">
                <a:ea typeface="楷体_GB2312" charset="0"/>
              </a:rPr>
              <a:t>， </a:t>
            </a:r>
            <a:r>
              <a:rPr lang="zh-CN" altLang="en-US" sz="3600">
                <a:solidFill>
                  <a:schemeClr val="accent2"/>
                </a:solidFill>
                <a:ea typeface="楷体_GB2312" charset="0"/>
              </a:rPr>
              <a:t>计算</a:t>
            </a:r>
            <a:r>
              <a:rPr lang="zh-CN" altLang="en-US" sz="3600">
                <a:solidFill>
                  <a:srgbClr val="0000FF"/>
                </a:solidFill>
                <a:ea typeface="楷体_GB2312" charset="0"/>
              </a:rPr>
              <a:t>哈希地址 </a:t>
            </a:r>
            <a:r>
              <a:rPr lang="en-US" altLang="zh-CN" sz="3600">
                <a:solidFill>
                  <a:srgbClr val="0000FF"/>
                </a:solidFill>
                <a:ea typeface="楷体_GB2312" charset="0"/>
              </a:rPr>
              <a:t>i = H(K)</a:t>
            </a:r>
            <a:endParaRPr lang="en-US" altLang="zh-CN"/>
          </a:p>
        </p:txBody>
      </p:sp>
      <p:sp>
        <p:nvSpPr>
          <p:cNvPr id="163845" name="Rectangle 5"/>
          <p:cNvSpPr>
            <a:spLocks noChangeArrowheads="1"/>
          </p:cNvSpPr>
          <p:nvPr/>
        </p:nvSpPr>
        <p:spPr bwMode="auto">
          <a:xfrm>
            <a:off x="762000" y="3124200"/>
            <a:ext cx="6124575"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zh-CN" altLang="en-US" sz="3600" b="1">
                <a:solidFill>
                  <a:srgbClr val="006600"/>
                </a:solidFill>
                <a:ea typeface="楷体_GB2312" charset="0"/>
              </a:rPr>
              <a:t>若 </a:t>
            </a:r>
            <a:r>
              <a:rPr lang="en-US" altLang="zh-CN" sz="3600" b="1">
                <a:solidFill>
                  <a:srgbClr val="006600"/>
                </a:solidFill>
                <a:ea typeface="楷体_GB2312" charset="0"/>
              </a:rPr>
              <a:t>r[i] = NULL</a:t>
            </a:r>
            <a:r>
              <a:rPr lang="en-US" altLang="zh-CN" sz="3600">
                <a:solidFill>
                  <a:srgbClr val="006600"/>
                </a:solidFill>
                <a:ea typeface="楷体_GB2312" charset="0"/>
              </a:rPr>
              <a:t>  </a:t>
            </a:r>
            <a:r>
              <a:rPr lang="zh-CN" altLang="en-US" sz="3600">
                <a:solidFill>
                  <a:srgbClr val="006600"/>
                </a:solidFill>
                <a:ea typeface="楷体_GB2312" charset="0"/>
              </a:rPr>
              <a:t>则查找不成功</a:t>
            </a:r>
            <a:endParaRPr lang="zh-CN" altLang="en-US" sz="3600">
              <a:solidFill>
                <a:srgbClr val="A50021"/>
              </a:solidFill>
              <a:ea typeface="楷体_GB2312" charset="0"/>
            </a:endParaRPr>
          </a:p>
        </p:txBody>
      </p:sp>
      <p:sp>
        <p:nvSpPr>
          <p:cNvPr id="163846" name="Rectangle 6"/>
          <p:cNvSpPr>
            <a:spLocks noChangeArrowheads="1"/>
          </p:cNvSpPr>
          <p:nvPr/>
        </p:nvSpPr>
        <p:spPr bwMode="auto">
          <a:xfrm>
            <a:off x="762000" y="3886200"/>
            <a:ext cx="5553075"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zh-CN" altLang="en-US" sz="3600" b="1">
                <a:solidFill>
                  <a:srgbClr val="CC0000"/>
                </a:solidFill>
                <a:ea typeface="楷体_GB2312" charset="0"/>
              </a:rPr>
              <a:t>若</a:t>
            </a:r>
            <a:r>
              <a:rPr lang="zh-CN" altLang="en-US" sz="3600">
                <a:solidFill>
                  <a:srgbClr val="CC0000"/>
                </a:solidFill>
                <a:ea typeface="楷体_GB2312" charset="0"/>
              </a:rPr>
              <a:t> </a:t>
            </a:r>
            <a:r>
              <a:rPr lang="en-US" altLang="zh-CN" sz="3600" b="1">
                <a:solidFill>
                  <a:srgbClr val="CC0000"/>
                </a:solidFill>
                <a:ea typeface="楷体_GB2312" charset="0"/>
              </a:rPr>
              <a:t>r[i].key = K</a:t>
            </a:r>
            <a:r>
              <a:rPr lang="en-US" altLang="zh-CN" sz="3600">
                <a:solidFill>
                  <a:srgbClr val="CC0000"/>
                </a:solidFill>
                <a:ea typeface="楷体_GB2312" charset="0"/>
              </a:rPr>
              <a:t>  </a:t>
            </a:r>
            <a:r>
              <a:rPr lang="zh-CN" altLang="en-US" sz="3600">
                <a:solidFill>
                  <a:srgbClr val="CC0000"/>
                </a:solidFill>
                <a:ea typeface="楷体_GB2312" charset="0"/>
              </a:rPr>
              <a:t>则查找成功</a:t>
            </a:r>
            <a:endParaRPr lang="zh-CN" altLang="en-US" sz="3600">
              <a:solidFill>
                <a:srgbClr val="A50021"/>
              </a:solidFill>
              <a:ea typeface="楷体_GB2312" charset="0"/>
            </a:endParaRPr>
          </a:p>
        </p:txBody>
      </p:sp>
      <p:sp>
        <p:nvSpPr>
          <p:cNvPr id="163847" name="Rectangle 7"/>
          <p:cNvSpPr>
            <a:spLocks noChangeArrowheads="1"/>
          </p:cNvSpPr>
          <p:nvPr/>
        </p:nvSpPr>
        <p:spPr bwMode="auto">
          <a:xfrm>
            <a:off x="762000" y="4648200"/>
            <a:ext cx="76962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zh-CN" altLang="en-US" sz="3600" b="1">
                <a:solidFill>
                  <a:srgbClr val="000080"/>
                </a:solidFill>
                <a:ea typeface="楷体_GB2312" charset="0"/>
              </a:rPr>
              <a:t>否则</a:t>
            </a:r>
            <a:r>
              <a:rPr lang="zh-CN" altLang="en-US" sz="3600">
                <a:solidFill>
                  <a:srgbClr val="000080"/>
                </a:solidFill>
                <a:ea typeface="楷体_GB2312" charset="0"/>
              </a:rPr>
              <a:t> “求下一地址 </a:t>
            </a:r>
            <a:r>
              <a:rPr lang="en-US" altLang="zh-CN" sz="3600" b="1">
                <a:solidFill>
                  <a:srgbClr val="000080"/>
                </a:solidFill>
                <a:ea typeface="楷体_GB2312" charset="0"/>
              </a:rPr>
              <a:t>Hi</a:t>
            </a:r>
            <a:r>
              <a:rPr lang="en-US" altLang="zh-CN" sz="3600">
                <a:solidFill>
                  <a:srgbClr val="000080"/>
                </a:solidFill>
                <a:ea typeface="楷体_GB2312" charset="0"/>
              </a:rPr>
              <a:t>” </a:t>
            </a:r>
            <a:r>
              <a:rPr lang="zh-CN" altLang="en-US" sz="3600">
                <a:solidFill>
                  <a:srgbClr val="000080"/>
                </a:solidFill>
                <a:ea typeface="楷体_GB2312" charset="0"/>
              </a:rPr>
              <a:t>，直至</a:t>
            </a:r>
          </a:p>
          <a:p>
            <a:pPr>
              <a:lnSpc>
                <a:spcPct val="125000"/>
              </a:lnSpc>
            </a:pPr>
            <a:r>
              <a:rPr lang="zh-CN" altLang="en-US" sz="3600">
                <a:ea typeface="楷体_GB2312" charset="0"/>
              </a:rPr>
              <a:t>    </a:t>
            </a:r>
            <a:r>
              <a:rPr lang="zh-CN" altLang="en-US" sz="3600">
                <a:solidFill>
                  <a:srgbClr val="800000"/>
                </a:solidFill>
                <a:ea typeface="楷体_GB2312" charset="0"/>
              </a:rPr>
              <a:t>     </a:t>
            </a:r>
            <a:r>
              <a:rPr lang="en-US" altLang="zh-CN" sz="3600" b="1">
                <a:solidFill>
                  <a:srgbClr val="006600"/>
                </a:solidFill>
                <a:ea typeface="楷体_GB2312" charset="0"/>
              </a:rPr>
              <a:t>r[Hi] = NULL</a:t>
            </a:r>
            <a:r>
              <a:rPr lang="en-US" altLang="zh-CN" sz="3600">
                <a:solidFill>
                  <a:srgbClr val="006600"/>
                </a:solidFill>
                <a:ea typeface="楷体_GB2312" charset="0"/>
              </a:rPr>
              <a:t>  (</a:t>
            </a:r>
            <a:r>
              <a:rPr lang="zh-CN" altLang="en-US" sz="3600">
                <a:solidFill>
                  <a:srgbClr val="006600"/>
                </a:solidFill>
                <a:ea typeface="楷体_GB2312" charset="0"/>
              </a:rPr>
              <a:t>查找不成功</a:t>
            </a:r>
            <a:r>
              <a:rPr lang="en-US" altLang="zh-CN" sz="3600">
                <a:solidFill>
                  <a:srgbClr val="006600"/>
                </a:solidFill>
                <a:ea typeface="楷体_GB2312" charset="0"/>
              </a:rPr>
              <a:t>)</a:t>
            </a:r>
          </a:p>
          <a:p>
            <a:pPr>
              <a:lnSpc>
                <a:spcPct val="125000"/>
              </a:lnSpc>
            </a:pPr>
            <a:r>
              <a:rPr lang="en-US" altLang="zh-CN" sz="3600">
                <a:ea typeface="楷体_GB2312" charset="0"/>
              </a:rPr>
              <a:t> </a:t>
            </a:r>
            <a:r>
              <a:rPr lang="zh-CN" altLang="en-US" sz="3600">
                <a:solidFill>
                  <a:schemeClr val="accent2"/>
                </a:solidFill>
                <a:ea typeface="楷体_GB2312" charset="0"/>
              </a:rPr>
              <a:t>或</a:t>
            </a:r>
            <a:r>
              <a:rPr lang="zh-CN" altLang="en-US" sz="3600">
                <a:solidFill>
                  <a:srgbClr val="A50021"/>
                </a:solidFill>
                <a:ea typeface="楷体_GB2312" charset="0"/>
              </a:rPr>
              <a:t> </a:t>
            </a:r>
            <a:r>
              <a:rPr lang="zh-CN" altLang="en-US" sz="3600">
                <a:ea typeface="楷体_GB2312" charset="0"/>
              </a:rPr>
              <a:t>  </a:t>
            </a:r>
            <a:r>
              <a:rPr lang="zh-CN" altLang="en-US" sz="3600">
                <a:solidFill>
                  <a:srgbClr val="008080"/>
                </a:solidFill>
                <a:ea typeface="楷体_GB2312" charset="0"/>
              </a:rPr>
              <a:t> </a:t>
            </a:r>
            <a:r>
              <a:rPr lang="en-US" altLang="zh-CN" sz="3600" b="1">
                <a:solidFill>
                  <a:srgbClr val="CC0000"/>
                </a:solidFill>
                <a:ea typeface="楷体_GB2312" charset="0"/>
              </a:rPr>
              <a:t>r[Hi].key = K</a:t>
            </a:r>
            <a:r>
              <a:rPr lang="en-US" altLang="zh-CN" sz="3600">
                <a:solidFill>
                  <a:srgbClr val="CC0000"/>
                </a:solidFill>
                <a:ea typeface="楷体_GB2312" charset="0"/>
              </a:rPr>
              <a:t>  (</a:t>
            </a:r>
            <a:r>
              <a:rPr lang="zh-CN" altLang="en-US" sz="3600">
                <a:solidFill>
                  <a:srgbClr val="CC0000"/>
                </a:solidFill>
                <a:ea typeface="楷体_GB2312" charset="0"/>
              </a:rPr>
              <a:t>查找成功</a:t>
            </a:r>
            <a:r>
              <a:rPr lang="en-US" altLang="zh-CN" sz="3600">
                <a:solidFill>
                  <a:srgbClr val="CC0000"/>
                </a:solidFill>
                <a:ea typeface="楷体_GB2312" charset="0"/>
              </a:rPr>
              <a:t>) </a:t>
            </a:r>
            <a:r>
              <a:rPr lang="zh-CN" altLang="en-US" sz="3600">
                <a:solidFill>
                  <a:srgbClr val="A50021"/>
                </a:solidFill>
                <a:ea typeface="楷体_GB2312" charset="0"/>
              </a:rPr>
              <a:t>为止。</a:t>
            </a:r>
          </a:p>
        </p:txBody>
      </p:sp>
    </p:spTree>
    <p:extLst>
      <p:ext uri="{BB962C8B-B14F-4D97-AF65-F5344CB8AC3E}">
        <p14:creationId xmlns:p14="http://schemas.microsoft.com/office/powerpoint/2010/main" val="58145076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63843"/>
                                        </p:tgtEl>
                                        <p:attrNameLst>
                                          <p:attrName>style.visibility</p:attrName>
                                        </p:attrNameLst>
                                      </p:cBhvr>
                                      <p:to>
                                        <p:strVal val="visible"/>
                                      </p:to>
                                    </p:set>
                                    <p:animEffect transition="in" filter="blinds(horizontal)">
                                      <p:cBhvr>
                                        <p:cTn id="7" dur="500"/>
                                        <p:tgtEl>
                                          <p:spTgt spid="1638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42"/>
                                        </p:tgtEl>
                                        <p:attrNameLst>
                                          <p:attrName>style.visibility</p:attrName>
                                        </p:attrNameLst>
                                      </p:cBhvr>
                                      <p:to>
                                        <p:strVal val="visible"/>
                                      </p:to>
                                    </p:set>
                                    <p:animEffect transition="in" filter="wipe(left)">
                                      <p:cBhvr>
                                        <p:cTn id="12" dur="500"/>
                                        <p:tgtEl>
                                          <p:spTgt spid="1638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163844"/>
                                        </p:tgtEl>
                                        <p:attrNameLst>
                                          <p:attrName>style.visibility</p:attrName>
                                        </p:attrNameLst>
                                      </p:cBhvr>
                                      <p:to>
                                        <p:strVal val="visible"/>
                                      </p:to>
                                    </p:set>
                                    <p:animEffect transition="in" filter="strips(upRight)">
                                      <p:cBhvr>
                                        <p:cTn id="17" dur="500"/>
                                        <p:tgtEl>
                                          <p:spTgt spid="1638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63845"/>
                                        </p:tgtEl>
                                        <p:attrNameLst>
                                          <p:attrName>style.visibility</p:attrName>
                                        </p:attrNameLst>
                                      </p:cBhvr>
                                      <p:to>
                                        <p:strVal val="visible"/>
                                      </p:to>
                                    </p:set>
                                    <p:animEffect transition="in" filter="wipe(left)">
                                      <p:cBhvr>
                                        <p:cTn id="22" dur="300"/>
                                        <p:tgtEl>
                                          <p:spTgt spid="1638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63846"/>
                                        </p:tgtEl>
                                        <p:attrNameLst>
                                          <p:attrName>style.visibility</p:attrName>
                                        </p:attrNameLst>
                                      </p:cBhvr>
                                      <p:to>
                                        <p:strVal val="visible"/>
                                      </p:to>
                                    </p:set>
                                    <p:animEffect transition="in" filter="wipe(left)">
                                      <p:cBhvr>
                                        <p:cTn id="27" dur="300"/>
                                        <p:tgtEl>
                                          <p:spTgt spid="1638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63847"/>
                                        </p:tgtEl>
                                        <p:attrNameLst>
                                          <p:attrName>style.visibility</p:attrName>
                                        </p:attrNameLst>
                                      </p:cBhvr>
                                      <p:to>
                                        <p:strVal val="visible"/>
                                      </p:to>
                                    </p:set>
                                    <p:animEffect transition="in" filter="wipe(left)">
                                      <p:cBhvr>
                                        <p:cTn id="32" dur="300"/>
                                        <p:tgtEl>
                                          <p:spTgt spid="163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2" grpId="0" autoUpdateAnimBg="0"/>
      <p:bldP spid="163843" grpId="0" autoUpdateAnimBg="0"/>
      <p:bldP spid="163844" grpId="0" autoUpdateAnimBg="0"/>
      <p:bldP spid="163845" grpId="0" autoUpdateAnimBg="0"/>
      <p:bldP spid="163846" grpId="0" autoUpdateAnimBg="0"/>
      <p:bldP spid="163847" grpId="0" autoUpdateAnimBg="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2"/>
          <p:cNvSpPr txBox="1">
            <a:spLocks noChangeArrowheads="1"/>
          </p:cNvSpPr>
          <p:nvPr/>
        </p:nvSpPr>
        <p:spPr bwMode="auto">
          <a:xfrm>
            <a:off x="609600" y="1044575"/>
            <a:ext cx="8134350" cy="558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rgbClr val="A50021"/>
                </a:solidFill>
                <a:ea typeface="楷体_GB2312" charset="0"/>
              </a:rPr>
              <a:t>int</a:t>
            </a:r>
            <a:r>
              <a:rPr lang="en-US" altLang="zh-CN" sz="3600">
                <a:solidFill>
                  <a:srgbClr val="A50021"/>
                </a:solidFill>
                <a:ea typeface="楷体_GB2312" charset="0"/>
              </a:rPr>
              <a:t>  hashsize[] = { 997, ... };  </a:t>
            </a:r>
            <a:endParaRPr lang="en-US" altLang="zh-CN" sz="2800">
              <a:solidFill>
                <a:srgbClr val="A50021"/>
              </a:solidFill>
              <a:ea typeface="楷体_GB2312" charset="0"/>
            </a:endParaRPr>
          </a:p>
          <a:p>
            <a:r>
              <a:rPr lang="en-US" altLang="zh-CN" sz="3600" b="1">
                <a:solidFill>
                  <a:srgbClr val="A50021"/>
                </a:solidFill>
                <a:ea typeface="楷体_GB2312" charset="0"/>
              </a:rPr>
              <a:t>typedef struct {</a:t>
            </a:r>
          </a:p>
          <a:p>
            <a:r>
              <a:rPr lang="en-US" altLang="zh-CN" sz="3600">
                <a:solidFill>
                  <a:srgbClr val="A50021"/>
                </a:solidFill>
                <a:ea typeface="楷体_GB2312" charset="0"/>
              </a:rPr>
              <a:t>  ElemType  </a:t>
            </a:r>
            <a:r>
              <a:rPr lang="en-US" altLang="zh-CN" sz="3600" b="1">
                <a:solidFill>
                  <a:srgbClr val="A50021"/>
                </a:solidFill>
                <a:ea typeface="楷体_GB2312" charset="0"/>
              </a:rPr>
              <a:t>*</a:t>
            </a:r>
            <a:r>
              <a:rPr lang="en-US" altLang="zh-CN" sz="3600">
                <a:solidFill>
                  <a:srgbClr val="A50021"/>
                </a:solidFill>
                <a:ea typeface="楷体_GB2312" charset="0"/>
              </a:rPr>
              <a:t>elem;    </a:t>
            </a:r>
          </a:p>
          <a:p>
            <a:r>
              <a:rPr lang="en-US" altLang="zh-CN" sz="3600">
                <a:solidFill>
                  <a:srgbClr val="A50021"/>
                </a:solidFill>
                <a:ea typeface="楷体_GB2312" charset="0"/>
              </a:rPr>
              <a:t>  </a:t>
            </a:r>
            <a:r>
              <a:rPr lang="en-US" altLang="zh-CN" sz="3600" b="1">
                <a:solidFill>
                  <a:srgbClr val="A50021"/>
                </a:solidFill>
                <a:ea typeface="楷体_GB2312" charset="0"/>
              </a:rPr>
              <a:t>int</a:t>
            </a:r>
            <a:r>
              <a:rPr lang="en-US" altLang="zh-CN" sz="3600">
                <a:solidFill>
                  <a:srgbClr val="A50021"/>
                </a:solidFill>
                <a:ea typeface="楷体_GB2312" charset="0"/>
              </a:rPr>
              <a:t>  count;            // </a:t>
            </a:r>
            <a:r>
              <a:rPr lang="zh-CN" altLang="en-US" sz="3600">
                <a:solidFill>
                  <a:srgbClr val="A50021"/>
                </a:solidFill>
                <a:ea typeface="楷体_GB2312" charset="0"/>
              </a:rPr>
              <a:t>当前数据元素个数</a:t>
            </a:r>
          </a:p>
          <a:p>
            <a:r>
              <a:rPr lang="zh-CN" altLang="en-US" sz="3600">
                <a:solidFill>
                  <a:srgbClr val="A50021"/>
                </a:solidFill>
                <a:ea typeface="楷体_GB2312" charset="0"/>
              </a:rPr>
              <a:t>  </a:t>
            </a:r>
            <a:r>
              <a:rPr lang="en-US" altLang="zh-CN" sz="3600" b="1">
                <a:solidFill>
                  <a:srgbClr val="A50021"/>
                </a:solidFill>
                <a:ea typeface="楷体_GB2312" charset="0"/>
              </a:rPr>
              <a:t>int</a:t>
            </a:r>
            <a:r>
              <a:rPr lang="en-US" altLang="zh-CN" sz="3600">
                <a:solidFill>
                  <a:srgbClr val="A50021"/>
                </a:solidFill>
                <a:ea typeface="楷体_GB2312" charset="0"/>
              </a:rPr>
              <a:t>  sizeindex;</a:t>
            </a:r>
          </a:p>
          <a:p>
            <a:r>
              <a:rPr lang="en-US" altLang="zh-CN" sz="3600">
                <a:solidFill>
                  <a:srgbClr val="A50021"/>
                </a:solidFill>
                <a:ea typeface="楷体_GB2312" charset="0"/>
              </a:rPr>
              <a:t>               // hashsize[sizeindex]</a:t>
            </a:r>
            <a:r>
              <a:rPr lang="zh-CN" altLang="en-US" sz="3600">
                <a:solidFill>
                  <a:srgbClr val="A50021"/>
                </a:solidFill>
                <a:ea typeface="楷体_GB2312" charset="0"/>
              </a:rPr>
              <a:t>为当前容量</a:t>
            </a:r>
          </a:p>
          <a:p>
            <a:r>
              <a:rPr lang="en-US" altLang="zh-CN" sz="3600" b="1">
                <a:solidFill>
                  <a:srgbClr val="A50021"/>
                </a:solidFill>
                <a:ea typeface="楷体_GB2312" charset="0"/>
              </a:rPr>
              <a:t>}</a:t>
            </a:r>
            <a:r>
              <a:rPr lang="en-US" altLang="zh-CN" sz="3600">
                <a:solidFill>
                  <a:srgbClr val="A50021"/>
                </a:solidFill>
                <a:ea typeface="楷体_GB2312" charset="0"/>
              </a:rPr>
              <a:t> HashTable;</a:t>
            </a:r>
          </a:p>
          <a:p>
            <a:r>
              <a:rPr lang="en-US" altLang="zh-CN" sz="3600">
                <a:solidFill>
                  <a:srgbClr val="A50021"/>
                </a:solidFill>
                <a:ea typeface="楷体_GB2312" charset="0"/>
              </a:rPr>
              <a:t>#define  SUCCESS  1</a:t>
            </a:r>
          </a:p>
          <a:p>
            <a:r>
              <a:rPr lang="en-US" altLang="zh-CN" sz="3600">
                <a:solidFill>
                  <a:srgbClr val="A50021"/>
                </a:solidFill>
                <a:ea typeface="楷体_GB2312" charset="0"/>
              </a:rPr>
              <a:t>#define  UNSUCCESS  0</a:t>
            </a:r>
          </a:p>
          <a:p>
            <a:r>
              <a:rPr lang="en-US" altLang="zh-CN" sz="3600">
                <a:solidFill>
                  <a:srgbClr val="A50021"/>
                </a:solidFill>
                <a:ea typeface="楷体_GB2312" charset="0"/>
              </a:rPr>
              <a:t>#define  DUPLICATE  -1</a:t>
            </a:r>
            <a:endParaRPr lang="en-US" altLang="zh-CN" sz="3600">
              <a:solidFill>
                <a:srgbClr val="A50021"/>
              </a:solidFill>
            </a:endParaRPr>
          </a:p>
        </p:txBody>
      </p:sp>
      <p:sp>
        <p:nvSpPr>
          <p:cNvPr id="164867" name="Rectangle 3"/>
          <p:cNvSpPr>
            <a:spLocks noChangeArrowheads="1"/>
          </p:cNvSpPr>
          <p:nvPr/>
        </p:nvSpPr>
        <p:spPr bwMode="auto">
          <a:xfrm>
            <a:off x="762000" y="228600"/>
            <a:ext cx="70897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a:solidFill>
                  <a:schemeClr val="accent2"/>
                </a:solidFill>
                <a:ea typeface="楷体_GB2312" charset="0"/>
              </a:rPr>
              <a:t>//--- </a:t>
            </a:r>
            <a:r>
              <a:rPr lang="zh-CN" altLang="en-US" sz="3600" b="1">
                <a:solidFill>
                  <a:schemeClr val="accent2"/>
                </a:solidFill>
                <a:ea typeface="楷体_GB2312" charset="0"/>
              </a:rPr>
              <a:t>开放定址哈希表</a:t>
            </a:r>
            <a:r>
              <a:rPr lang="zh-CN" altLang="en-US" sz="3600">
                <a:solidFill>
                  <a:schemeClr val="accent2"/>
                </a:solidFill>
                <a:ea typeface="楷体_GB2312" charset="0"/>
              </a:rPr>
              <a:t>的存储结构 </a:t>
            </a:r>
            <a:r>
              <a:rPr lang="en-US" altLang="zh-CN" sz="3600">
                <a:solidFill>
                  <a:schemeClr val="accent2"/>
                </a:solidFill>
                <a:ea typeface="楷体_GB2312" charset="0"/>
              </a:rPr>
              <a:t>---</a:t>
            </a:r>
          </a:p>
        </p:txBody>
      </p:sp>
    </p:spTree>
    <p:extLst>
      <p:ext uri="{BB962C8B-B14F-4D97-AF65-F5344CB8AC3E}">
        <p14:creationId xmlns:p14="http://schemas.microsoft.com/office/powerpoint/2010/main" val="13924135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4867"/>
                                        </p:tgtEl>
                                        <p:attrNameLst>
                                          <p:attrName>style.visibility</p:attrName>
                                        </p:attrNameLst>
                                      </p:cBhvr>
                                      <p:to>
                                        <p:strVal val="visible"/>
                                      </p:to>
                                    </p:set>
                                    <p:anim calcmode="lin" valueType="num">
                                      <p:cBhvr additive="base">
                                        <p:cTn id="7" dur="500" fill="hold"/>
                                        <p:tgtEl>
                                          <p:spTgt spid="164867"/>
                                        </p:tgtEl>
                                        <p:attrNameLst>
                                          <p:attrName>ppt_x</p:attrName>
                                        </p:attrNameLst>
                                      </p:cBhvr>
                                      <p:tavLst>
                                        <p:tav tm="0">
                                          <p:val>
                                            <p:strVal val="0-#ppt_w/2"/>
                                          </p:val>
                                        </p:tav>
                                        <p:tav tm="100000">
                                          <p:val>
                                            <p:strVal val="#ppt_x"/>
                                          </p:val>
                                        </p:tav>
                                      </p:tavLst>
                                    </p:anim>
                                    <p:anim calcmode="lin" valueType="num">
                                      <p:cBhvr additive="base">
                                        <p:cTn id="8" dur="500" fill="hold"/>
                                        <p:tgtEl>
                                          <p:spTgt spid="16486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3" fill="hold" grpId="0" nodeType="clickEffect">
                                  <p:stCondLst>
                                    <p:cond delay="0"/>
                                  </p:stCondLst>
                                  <p:childTnLst>
                                    <p:set>
                                      <p:cBhvr>
                                        <p:cTn id="12" dur="1" fill="hold">
                                          <p:stCondLst>
                                            <p:cond delay="0"/>
                                          </p:stCondLst>
                                        </p:cTn>
                                        <p:tgtEl>
                                          <p:spTgt spid="164866"/>
                                        </p:tgtEl>
                                        <p:attrNameLst>
                                          <p:attrName>style.visibility</p:attrName>
                                        </p:attrNameLst>
                                      </p:cBhvr>
                                      <p:to>
                                        <p:strVal val="visible"/>
                                      </p:to>
                                    </p:set>
                                    <p:animEffect transition="in" filter="strips(upRight)">
                                      <p:cBhvr>
                                        <p:cTn id="13" dur="500"/>
                                        <p:tgtEl>
                                          <p:spTgt spid="1648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6" grpId="0" autoUpdateAnimBg="0"/>
      <p:bldP spid="164867" grpId="0" autoUpdateAnimBg="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ext Box 2"/>
          <p:cNvSpPr txBox="1">
            <a:spLocks noChangeArrowheads="1"/>
          </p:cNvSpPr>
          <p:nvPr/>
        </p:nvSpPr>
        <p:spPr bwMode="auto">
          <a:xfrm>
            <a:off x="228600" y="76200"/>
            <a:ext cx="8763000" cy="679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200" b="1">
                <a:solidFill>
                  <a:srgbClr val="A50021"/>
                </a:solidFill>
                <a:ea typeface="楷体_GB2312" charset="0"/>
              </a:rPr>
              <a:t>Status</a:t>
            </a:r>
            <a:r>
              <a:rPr lang="en-US" altLang="zh-CN" sz="3200">
                <a:solidFill>
                  <a:srgbClr val="A50021"/>
                </a:solidFill>
                <a:ea typeface="楷体_GB2312" charset="0"/>
              </a:rPr>
              <a:t> SearchHash (HashTable H, KeyType K, </a:t>
            </a:r>
          </a:p>
          <a:p>
            <a:pPr>
              <a:lnSpc>
                <a:spcPct val="125000"/>
              </a:lnSpc>
            </a:pPr>
            <a:r>
              <a:rPr lang="en-US" altLang="zh-CN" sz="3200">
                <a:solidFill>
                  <a:srgbClr val="A50021"/>
                </a:solidFill>
                <a:ea typeface="楷体_GB2312" charset="0"/>
              </a:rPr>
              <a:t>                                      </a:t>
            </a:r>
            <a:r>
              <a:rPr lang="en-US" altLang="zh-CN" sz="3200" b="1">
                <a:solidFill>
                  <a:srgbClr val="A50021"/>
                </a:solidFill>
                <a:ea typeface="楷体_GB2312" charset="0"/>
              </a:rPr>
              <a:t>int &amp;</a:t>
            </a:r>
            <a:r>
              <a:rPr lang="en-US" altLang="zh-CN" sz="3200">
                <a:solidFill>
                  <a:srgbClr val="A50021"/>
                </a:solidFill>
                <a:ea typeface="楷体_GB2312" charset="0"/>
              </a:rPr>
              <a:t>p, </a:t>
            </a:r>
            <a:r>
              <a:rPr lang="en-US" altLang="zh-CN" sz="3200" b="1">
                <a:solidFill>
                  <a:srgbClr val="A50021"/>
                </a:solidFill>
                <a:ea typeface="楷体_GB2312" charset="0"/>
              </a:rPr>
              <a:t>int &amp;</a:t>
            </a:r>
            <a:r>
              <a:rPr lang="en-US" altLang="zh-CN" sz="3200">
                <a:solidFill>
                  <a:srgbClr val="A50021"/>
                </a:solidFill>
                <a:ea typeface="楷体_GB2312" charset="0"/>
              </a:rPr>
              <a:t>c) </a:t>
            </a:r>
            <a:r>
              <a:rPr lang="en-US" altLang="zh-CN" sz="3200" b="1">
                <a:solidFill>
                  <a:srgbClr val="A50021"/>
                </a:solidFill>
                <a:ea typeface="楷体_GB2312" charset="0"/>
              </a:rPr>
              <a:t>{</a:t>
            </a:r>
            <a:endParaRPr lang="en-US" altLang="zh-CN" sz="3200">
              <a:solidFill>
                <a:srgbClr val="A50021"/>
              </a:solidFill>
              <a:ea typeface="楷体_GB2312" charset="0"/>
            </a:endParaRPr>
          </a:p>
          <a:p>
            <a:pPr>
              <a:lnSpc>
                <a:spcPct val="125000"/>
              </a:lnSpc>
            </a:pPr>
            <a:r>
              <a:rPr lang="en-US" altLang="zh-CN" sz="3200">
                <a:solidFill>
                  <a:srgbClr val="A50021"/>
                </a:solidFill>
                <a:ea typeface="楷体_GB2312" charset="0"/>
              </a:rPr>
              <a:t>   // </a:t>
            </a:r>
            <a:r>
              <a:rPr lang="zh-CN" altLang="en-US" sz="3200">
                <a:solidFill>
                  <a:srgbClr val="A50021"/>
                </a:solidFill>
                <a:ea typeface="楷体_GB2312" charset="0"/>
              </a:rPr>
              <a:t>在开放定址哈希表</a:t>
            </a:r>
            <a:r>
              <a:rPr lang="en-US" altLang="zh-CN" sz="3200">
                <a:solidFill>
                  <a:srgbClr val="A50021"/>
                </a:solidFill>
                <a:ea typeface="楷体_GB2312" charset="0"/>
              </a:rPr>
              <a:t>H</a:t>
            </a:r>
            <a:r>
              <a:rPr lang="zh-CN" altLang="en-US" sz="3200">
                <a:solidFill>
                  <a:srgbClr val="A50021"/>
                </a:solidFill>
                <a:ea typeface="楷体_GB2312" charset="0"/>
              </a:rPr>
              <a:t>中查找关键码为</a:t>
            </a:r>
            <a:r>
              <a:rPr lang="en-US" altLang="zh-CN" sz="3200">
                <a:solidFill>
                  <a:srgbClr val="A50021"/>
                </a:solidFill>
                <a:ea typeface="楷体_GB2312" charset="0"/>
              </a:rPr>
              <a:t>K</a:t>
            </a:r>
            <a:r>
              <a:rPr lang="zh-CN" altLang="en-US" sz="3200">
                <a:solidFill>
                  <a:srgbClr val="A50021"/>
                </a:solidFill>
                <a:ea typeface="楷体_GB2312" charset="0"/>
              </a:rPr>
              <a:t>的记录</a:t>
            </a:r>
          </a:p>
          <a:p>
            <a:pPr>
              <a:lnSpc>
                <a:spcPct val="125000"/>
              </a:lnSpc>
            </a:pPr>
            <a:endParaRPr lang="zh-CN" altLang="en-US" sz="3200">
              <a:solidFill>
                <a:srgbClr val="A50021"/>
              </a:solidFill>
              <a:ea typeface="楷体_GB2312" charset="0"/>
            </a:endParaRPr>
          </a:p>
          <a:p>
            <a:pPr>
              <a:lnSpc>
                <a:spcPct val="125000"/>
              </a:lnSpc>
            </a:pPr>
            <a:endParaRPr lang="zh-CN" altLang="en-US" sz="3200">
              <a:solidFill>
                <a:srgbClr val="A50021"/>
              </a:solidFill>
              <a:ea typeface="楷体_GB2312" charset="0"/>
            </a:endParaRPr>
          </a:p>
          <a:p>
            <a:pPr>
              <a:lnSpc>
                <a:spcPct val="125000"/>
              </a:lnSpc>
            </a:pPr>
            <a:endParaRPr lang="zh-CN" altLang="en-US" sz="3200">
              <a:solidFill>
                <a:srgbClr val="A50021"/>
              </a:solidFill>
              <a:ea typeface="楷体_GB2312" charset="0"/>
            </a:endParaRPr>
          </a:p>
          <a:p>
            <a:pPr>
              <a:lnSpc>
                <a:spcPct val="125000"/>
              </a:lnSpc>
            </a:pPr>
            <a:endParaRPr lang="zh-CN" altLang="en-US" sz="3200">
              <a:solidFill>
                <a:srgbClr val="A50021"/>
              </a:solidFill>
              <a:ea typeface="楷体_GB2312" charset="0"/>
            </a:endParaRPr>
          </a:p>
          <a:p>
            <a:pPr>
              <a:lnSpc>
                <a:spcPct val="125000"/>
              </a:lnSpc>
            </a:pPr>
            <a:endParaRPr lang="zh-CN" altLang="en-US" sz="3200">
              <a:solidFill>
                <a:srgbClr val="A50021"/>
              </a:solidFill>
              <a:ea typeface="楷体_GB2312" charset="0"/>
            </a:endParaRPr>
          </a:p>
          <a:p>
            <a:pPr>
              <a:lnSpc>
                <a:spcPct val="125000"/>
              </a:lnSpc>
            </a:pPr>
            <a:endParaRPr lang="zh-CN" altLang="en-US" sz="3200">
              <a:solidFill>
                <a:srgbClr val="A50021"/>
              </a:solidFill>
              <a:ea typeface="楷体_GB2312" charset="0"/>
            </a:endParaRPr>
          </a:p>
          <a:p>
            <a:pPr>
              <a:lnSpc>
                <a:spcPct val="125000"/>
              </a:lnSpc>
            </a:pPr>
            <a:endParaRPr lang="zh-CN" altLang="en-US" sz="3200">
              <a:solidFill>
                <a:srgbClr val="A50021"/>
              </a:solidFill>
              <a:ea typeface="楷体_GB2312" charset="0"/>
            </a:endParaRPr>
          </a:p>
          <a:p>
            <a:pPr>
              <a:lnSpc>
                <a:spcPct val="125000"/>
              </a:lnSpc>
            </a:pPr>
            <a:r>
              <a:rPr lang="en-US" altLang="zh-CN" sz="3200">
                <a:solidFill>
                  <a:srgbClr val="A50021"/>
                </a:solidFill>
                <a:ea typeface="楷体_GB2312" charset="0"/>
              </a:rPr>
              <a:t>} // SearchHash</a:t>
            </a:r>
            <a:endParaRPr lang="en-US" altLang="zh-CN" sz="3200"/>
          </a:p>
        </p:txBody>
      </p:sp>
      <p:sp>
        <p:nvSpPr>
          <p:cNvPr id="165892" name="Rectangle 4"/>
          <p:cNvSpPr>
            <a:spLocks noChangeArrowheads="1"/>
          </p:cNvSpPr>
          <p:nvPr/>
        </p:nvSpPr>
        <p:spPr bwMode="auto">
          <a:xfrm>
            <a:off x="762000" y="1905000"/>
            <a:ext cx="8509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200">
                <a:solidFill>
                  <a:srgbClr val="A50021"/>
                </a:solidFill>
                <a:ea typeface="楷体_GB2312" charset="0"/>
              </a:rPr>
              <a:t>p = Hash(K);        // </a:t>
            </a:r>
            <a:r>
              <a:rPr lang="zh-CN" altLang="en-US" sz="3200">
                <a:solidFill>
                  <a:srgbClr val="A50021"/>
                </a:solidFill>
                <a:ea typeface="楷体_GB2312" charset="0"/>
              </a:rPr>
              <a:t>求得哈希地址</a:t>
            </a:r>
          </a:p>
        </p:txBody>
      </p:sp>
      <p:sp>
        <p:nvSpPr>
          <p:cNvPr id="165893" name="Rectangle 5"/>
          <p:cNvSpPr>
            <a:spLocks noChangeArrowheads="1"/>
          </p:cNvSpPr>
          <p:nvPr/>
        </p:nvSpPr>
        <p:spPr bwMode="auto">
          <a:xfrm>
            <a:off x="762000" y="2574925"/>
            <a:ext cx="8162925"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200" b="1">
                <a:solidFill>
                  <a:srgbClr val="A50021"/>
                </a:solidFill>
                <a:ea typeface="楷体_GB2312" charset="0"/>
              </a:rPr>
              <a:t>while</a:t>
            </a:r>
            <a:r>
              <a:rPr lang="en-US" altLang="zh-CN" sz="3200">
                <a:solidFill>
                  <a:srgbClr val="A50021"/>
                </a:solidFill>
                <a:ea typeface="楷体_GB2312" charset="0"/>
              </a:rPr>
              <a:t> ( </a:t>
            </a:r>
            <a:r>
              <a:rPr lang="en-US" altLang="zh-CN" sz="3200">
                <a:solidFill>
                  <a:srgbClr val="FF00FF"/>
                </a:solidFill>
                <a:ea typeface="楷体_GB2312" charset="0"/>
              </a:rPr>
              <a:t>H.elem[p].key </a:t>
            </a:r>
            <a:r>
              <a:rPr lang="en-US" altLang="zh-CN" sz="3200" b="1">
                <a:solidFill>
                  <a:srgbClr val="FF00FF"/>
                </a:solidFill>
                <a:ea typeface="楷体_GB2312" charset="0"/>
              </a:rPr>
              <a:t>!= </a:t>
            </a:r>
            <a:r>
              <a:rPr lang="en-US" altLang="zh-CN" sz="3200">
                <a:solidFill>
                  <a:srgbClr val="FF00FF"/>
                </a:solidFill>
                <a:ea typeface="楷体_GB2312" charset="0"/>
              </a:rPr>
              <a:t>NULLKEY</a:t>
            </a:r>
            <a:r>
              <a:rPr lang="en-US" altLang="zh-CN" sz="3200" b="1">
                <a:solidFill>
                  <a:srgbClr val="FF00FF"/>
                </a:solidFill>
                <a:ea typeface="楷体_GB2312" charset="0"/>
              </a:rPr>
              <a:t> &amp;&amp;</a:t>
            </a:r>
            <a:r>
              <a:rPr lang="en-US" altLang="zh-CN" sz="3200">
                <a:solidFill>
                  <a:srgbClr val="A50021"/>
                </a:solidFill>
                <a:ea typeface="楷体_GB2312" charset="0"/>
              </a:rPr>
              <a:t> </a:t>
            </a:r>
          </a:p>
          <a:p>
            <a:pPr>
              <a:lnSpc>
                <a:spcPct val="125000"/>
              </a:lnSpc>
            </a:pPr>
            <a:r>
              <a:rPr lang="en-US" altLang="zh-CN" sz="3200">
                <a:solidFill>
                  <a:srgbClr val="A50021"/>
                </a:solidFill>
                <a:ea typeface="楷体_GB2312" charset="0"/>
              </a:rPr>
              <a:t>                         </a:t>
            </a:r>
            <a:r>
              <a:rPr lang="en-US" altLang="zh-CN" sz="3200" b="1">
                <a:solidFill>
                  <a:srgbClr val="FF00FF"/>
                </a:solidFill>
                <a:ea typeface="楷体_GB2312" charset="0"/>
              </a:rPr>
              <a:t>!</a:t>
            </a:r>
            <a:r>
              <a:rPr lang="en-US" altLang="zh-CN" sz="3200">
                <a:solidFill>
                  <a:srgbClr val="FF00FF"/>
                </a:solidFill>
                <a:ea typeface="楷体_GB2312" charset="0"/>
              </a:rPr>
              <a:t>EQ(K, H.elem[p].key)</a:t>
            </a:r>
            <a:r>
              <a:rPr lang="zh-CN" altLang="en-US" sz="3200">
                <a:solidFill>
                  <a:srgbClr val="A50021"/>
                </a:solidFill>
                <a:ea typeface="楷体_GB2312" charset="0"/>
              </a:rPr>
              <a:t>）</a:t>
            </a:r>
            <a:r>
              <a:rPr lang="zh-CN" altLang="en-US" sz="3200" b="1">
                <a:solidFill>
                  <a:srgbClr val="A50021"/>
                </a:solidFill>
                <a:ea typeface="楷体_GB2312" charset="0"/>
              </a:rPr>
              <a:t> </a:t>
            </a:r>
          </a:p>
          <a:p>
            <a:pPr>
              <a:lnSpc>
                <a:spcPct val="125000"/>
              </a:lnSpc>
            </a:pPr>
            <a:r>
              <a:rPr lang="zh-CN" altLang="en-US" sz="3200" b="1">
                <a:solidFill>
                  <a:srgbClr val="A50021"/>
                </a:solidFill>
                <a:ea typeface="楷体_GB2312" charset="0"/>
              </a:rPr>
              <a:t>     </a:t>
            </a:r>
            <a:r>
              <a:rPr lang="en-US" altLang="zh-CN" sz="3200">
                <a:solidFill>
                  <a:srgbClr val="A50021"/>
                </a:solidFill>
                <a:ea typeface="楷体_GB2312" charset="0"/>
              </a:rPr>
              <a:t>collision(p, ++c);       // </a:t>
            </a:r>
            <a:r>
              <a:rPr lang="zh-CN" altLang="en-US" sz="3200">
                <a:solidFill>
                  <a:srgbClr val="A50021"/>
                </a:solidFill>
                <a:ea typeface="楷体_GB2312" charset="0"/>
              </a:rPr>
              <a:t>求得下一探查地址 </a:t>
            </a:r>
            <a:r>
              <a:rPr lang="en-US" altLang="zh-CN" sz="3200">
                <a:solidFill>
                  <a:srgbClr val="A50021"/>
                </a:solidFill>
                <a:ea typeface="楷体_GB2312" charset="0"/>
              </a:rPr>
              <a:t>p</a:t>
            </a:r>
          </a:p>
        </p:txBody>
      </p:sp>
      <p:sp>
        <p:nvSpPr>
          <p:cNvPr id="165894" name="Rectangle 6"/>
          <p:cNvSpPr>
            <a:spLocks noChangeArrowheads="1"/>
          </p:cNvSpPr>
          <p:nvPr/>
        </p:nvSpPr>
        <p:spPr bwMode="auto">
          <a:xfrm>
            <a:off x="762000" y="4419600"/>
            <a:ext cx="8382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200" b="1">
                <a:solidFill>
                  <a:srgbClr val="A50021"/>
                </a:solidFill>
                <a:ea typeface="楷体_GB2312" charset="0"/>
              </a:rPr>
              <a:t>if</a:t>
            </a:r>
            <a:r>
              <a:rPr lang="en-US" altLang="zh-CN" sz="3200">
                <a:solidFill>
                  <a:srgbClr val="A50021"/>
                </a:solidFill>
                <a:ea typeface="楷体_GB2312" charset="0"/>
              </a:rPr>
              <a:t> (</a:t>
            </a:r>
            <a:r>
              <a:rPr lang="en-US" altLang="zh-CN" sz="3200">
                <a:solidFill>
                  <a:srgbClr val="FF0000"/>
                </a:solidFill>
                <a:ea typeface="楷体_GB2312" charset="0"/>
              </a:rPr>
              <a:t>EQ(K, H.elem[p].key)</a:t>
            </a:r>
            <a:r>
              <a:rPr lang="en-US" altLang="zh-CN" sz="3200">
                <a:solidFill>
                  <a:srgbClr val="A50021"/>
                </a:solidFill>
                <a:ea typeface="楷体_GB2312" charset="0"/>
              </a:rPr>
              <a:t>) </a:t>
            </a:r>
            <a:r>
              <a:rPr lang="en-US" altLang="zh-CN" sz="3200" b="1">
                <a:solidFill>
                  <a:srgbClr val="A50021"/>
                </a:solidFill>
                <a:ea typeface="楷体_GB2312" charset="0"/>
              </a:rPr>
              <a:t>return</a:t>
            </a:r>
            <a:r>
              <a:rPr lang="en-US" altLang="zh-CN" sz="3200">
                <a:solidFill>
                  <a:srgbClr val="A50021"/>
                </a:solidFill>
                <a:ea typeface="楷体_GB2312" charset="0"/>
              </a:rPr>
              <a:t> SUCCESS;                 </a:t>
            </a:r>
          </a:p>
          <a:p>
            <a:pPr>
              <a:lnSpc>
                <a:spcPct val="125000"/>
              </a:lnSpc>
            </a:pPr>
            <a:r>
              <a:rPr lang="en-US" altLang="zh-CN" sz="3200">
                <a:solidFill>
                  <a:srgbClr val="A50021"/>
                </a:solidFill>
                <a:ea typeface="楷体_GB2312" charset="0"/>
              </a:rPr>
              <a:t>            // </a:t>
            </a:r>
            <a:r>
              <a:rPr lang="zh-CN" altLang="en-US" sz="3200">
                <a:solidFill>
                  <a:srgbClr val="FF0000"/>
                </a:solidFill>
                <a:ea typeface="楷体_GB2312" charset="0"/>
              </a:rPr>
              <a:t>查找成功</a:t>
            </a:r>
            <a:r>
              <a:rPr lang="zh-CN" altLang="en-US" sz="3200">
                <a:solidFill>
                  <a:srgbClr val="A50021"/>
                </a:solidFill>
                <a:ea typeface="楷体_GB2312" charset="0"/>
              </a:rPr>
              <a:t>，返回待查数据元素位置 </a:t>
            </a:r>
            <a:r>
              <a:rPr lang="en-US" altLang="zh-CN" sz="3200">
                <a:solidFill>
                  <a:srgbClr val="A50021"/>
                </a:solidFill>
                <a:ea typeface="楷体_GB2312" charset="0"/>
              </a:rPr>
              <a:t>p</a:t>
            </a:r>
          </a:p>
        </p:txBody>
      </p:sp>
      <p:sp>
        <p:nvSpPr>
          <p:cNvPr id="165895" name="Rectangle 7">
            <a:hlinkClick r:id="" action="ppaction://hlinkshowjump?jump=nextslide"/>
          </p:cNvPr>
          <p:cNvSpPr>
            <a:spLocks noChangeArrowheads="1"/>
          </p:cNvSpPr>
          <p:nvPr/>
        </p:nvSpPr>
        <p:spPr bwMode="auto">
          <a:xfrm>
            <a:off x="762000" y="5715000"/>
            <a:ext cx="73183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200" b="1">
                <a:solidFill>
                  <a:srgbClr val="A50021"/>
                </a:solidFill>
                <a:ea typeface="楷体_GB2312" charset="0"/>
              </a:rPr>
              <a:t>else return</a:t>
            </a:r>
            <a:r>
              <a:rPr lang="en-US" altLang="zh-CN" sz="3200">
                <a:solidFill>
                  <a:srgbClr val="A50021"/>
                </a:solidFill>
                <a:ea typeface="楷体_GB2312" charset="0"/>
              </a:rPr>
              <a:t> UNSUCCESS;   // </a:t>
            </a:r>
            <a:r>
              <a:rPr lang="zh-CN" altLang="en-US" sz="3200">
                <a:solidFill>
                  <a:srgbClr val="006600"/>
                </a:solidFill>
                <a:ea typeface="楷体_GB2312" charset="0"/>
              </a:rPr>
              <a:t>查找不成功</a:t>
            </a:r>
            <a:endParaRPr lang="zh-CN" altLang="en-US" sz="3200">
              <a:solidFill>
                <a:srgbClr val="A50021"/>
              </a:solidFill>
              <a:ea typeface="楷体_GB2312" charset="0"/>
            </a:endParaRPr>
          </a:p>
        </p:txBody>
      </p:sp>
      <p:sp>
        <p:nvSpPr>
          <p:cNvPr id="165897" name="AutoShape 9">
            <a:hlinkClick r:id="rId2" action="ppaction://hlinksldjump" highlightClick="1"/>
          </p:cNvPr>
          <p:cNvSpPr>
            <a:spLocks noChangeArrowheads="1"/>
          </p:cNvSpPr>
          <p:nvPr/>
        </p:nvSpPr>
        <p:spPr bwMode="auto">
          <a:xfrm>
            <a:off x="8382000" y="6248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63260815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9" fill="hold" grpId="0" nodeType="afterEffect">
                                  <p:stCondLst>
                                    <p:cond delay="0"/>
                                  </p:stCondLst>
                                  <p:childTnLst>
                                    <p:set>
                                      <p:cBhvr>
                                        <p:cTn id="6" dur="1" fill="hold">
                                          <p:stCondLst>
                                            <p:cond delay="0"/>
                                          </p:stCondLst>
                                        </p:cTn>
                                        <p:tgtEl>
                                          <p:spTgt spid="165890"/>
                                        </p:tgtEl>
                                        <p:attrNameLst>
                                          <p:attrName>style.visibility</p:attrName>
                                        </p:attrNameLst>
                                      </p:cBhvr>
                                      <p:to>
                                        <p:strVal val="visible"/>
                                      </p:to>
                                    </p:set>
                                    <p:animEffect transition="in" filter="strips(upLeft)">
                                      <p:cBhvr>
                                        <p:cTn id="7" dur="500"/>
                                        <p:tgtEl>
                                          <p:spTgt spid="1658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65892"/>
                                        </p:tgtEl>
                                        <p:attrNameLst>
                                          <p:attrName>style.visibility</p:attrName>
                                        </p:attrNameLst>
                                      </p:cBhvr>
                                      <p:to>
                                        <p:strVal val="visible"/>
                                      </p:to>
                                    </p:set>
                                    <p:animEffect transition="in" filter="wipe(left)">
                                      <p:cBhvr>
                                        <p:cTn id="12" dur="300"/>
                                        <p:tgtEl>
                                          <p:spTgt spid="1658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65893"/>
                                        </p:tgtEl>
                                        <p:attrNameLst>
                                          <p:attrName>style.visibility</p:attrName>
                                        </p:attrNameLst>
                                      </p:cBhvr>
                                      <p:to>
                                        <p:strVal val="visible"/>
                                      </p:to>
                                    </p:set>
                                    <p:animEffect transition="in" filter="wipe(left)">
                                      <p:cBhvr>
                                        <p:cTn id="17" dur="300"/>
                                        <p:tgtEl>
                                          <p:spTgt spid="1658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65894"/>
                                        </p:tgtEl>
                                        <p:attrNameLst>
                                          <p:attrName>style.visibility</p:attrName>
                                        </p:attrNameLst>
                                      </p:cBhvr>
                                      <p:to>
                                        <p:strVal val="visible"/>
                                      </p:to>
                                    </p:set>
                                    <p:animEffect transition="in" filter="wipe(left)">
                                      <p:cBhvr>
                                        <p:cTn id="22" dur="300"/>
                                        <p:tgtEl>
                                          <p:spTgt spid="1658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65895"/>
                                        </p:tgtEl>
                                        <p:attrNameLst>
                                          <p:attrName>style.visibility</p:attrName>
                                        </p:attrNameLst>
                                      </p:cBhvr>
                                      <p:to>
                                        <p:strVal val="visible"/>
                                      </p:to>
                                    </p:set>
                                    <p:animEffect transition="in" filter="wipe(left)">
                                      <p:cBhvr>
                                        <p:cTn id="27" dur="300"/>
                                        <p:tgtEl>
                                          <p:spTgt spid="165895"/>
                                        </p:tgtEl>
                                      </p:cBhvr>
                                    </p:animEffect>
                                  </p:childTnLst>
                                </p:cTn>
                              </p:par>
                            </p:childTnLst>
                          </p:cTn>
                        </p:par>
                        <p:par>
                          <p:cTn id="28" fill="hold" nodeType="afterGroup">
                            <p:stCondLst>
                              <p:cond delay="2400"/>
                            </p:stCondLst>
                            <p:childTnLst>
                              <p:par>
                                <p:cTn id="29" presetID="2" presetClass="entr" presetSubtype="6" fill="hold" grpId="0" nodeType="afterEffect">
                                  <p:stCondLst>
                                    <p:cond delay="0"/>
                                  </p:stCondLst>
                                  <p:childTnLst>
                                    <p:set>
                                      <p:cBhvr>
                                        <p:cTn id="30" dur="1" fill="hold">
                                          <p:stCondLst>
                                            <p:cond delay="0"/>
                                          </p:stCondLst>
                                        </p:cTn>
                                        <p:tgtEl>
                                          <p:spTgt spid="165897"/>
                                        </p:tgtEl>
                                        <p:attrNameLst>
                                          <p:attrName>style.visibility</p:attrName>
                                        </p:attrNameLst>
                                      </p:cBhvr>
                                      <p:to>
                                        <p:strVal val="visible"/>
                                      </p:to>
                                    </p:set>
                                    <p:anim calcmode="lin" valueType="num">
                                      <p:cBhvr additive="base">
                                        <p:cTn id="31" dur="500" fill="hold"/>
                                        <p:tgtEl>
                                          <p:spTgt spid="165897"/>
                                        </p:tgtEl>
                                        <p:attrNameLst>
                                          <p:attrName>ppt_x</p:attrName>
                                        </p:attrNameLst>
                                      </p:cBhvr>
                                      <p:tavLst>
                                        <p:tav tm="0">
                                          <p:val>
                                            <p:strVal val="1+#ppt_w/2"/>
                                          </p:val>
                                        </p:tav>
                                        <p:tav tm="100000">
                                          <p:val>
                                            <p:strVal val="#ppt_x"/>
                                          </p:val>
                                        </p:tav>
                                      </p:tavLst>
                                    </p:anim>
                                    <p:anim calcmode="lin" valueType="num">
                                      <p:cBhvr additive="base">
                                        <p:cTn id="32" dur="500" fill="hold"/>
                                        <p:tgtEl>
                                          <p:spTgt spid="1658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0" grpId="0" autoUpdateAnimBg="0"/>
      <p:bldP spid="165892" grpId="0" autoUpdateAnimBg="0"/>
      <p:bldP spid="165893" grpId="0" autoUpdateAnimBg="0"/>
      <p:bldP spid="165894" grpId="0" autoUpdateAnimBg="0"/>
      <p:bldP spid="165895" grpId="0" autoUpdateAnimBg="0"/>
      <p:bldP spid="165897" grpId="0" animBg="1"/>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ext Box 2"/>
          <p:cNvSpPr txBox="1">
            <a:spLocks noChangeArrowheads="1"/>
          </p:cNvSpPr>
          <p:nvPr/>
        </p:nvSpPr>
        <p:spPr bwMode="auto">
          <a:xfrm>
            <a:off x="228600" y="131763"/>
            <a:ext cx="8201025" cy="679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200" b="1">
                <a:solidFill>
                  <a:srgbClr val="A50021"/>
                </a:solidFill>
                <a:ea typeface="楷体_GB2312" charset="0"/>
              </a:rPr>
              <a:t>Status</a:t>
            </a:r>
            <a:r>
              <a:rPr lang="en-US" altLang="zh-CN" sz="3200">
                <a:solidFill>
                  <a:srgbClr val="A50021"/>
                </a:solidFill>
                <a:ea typeface="楷体_GB2312" charset="0"/>
              </a:rPr>
              <a:t> InsertHash (HashTable </a:t>
            </a:r>
            <a:r>
              <a:rPr lang="en-US" altLang="zh-CN" sz="3200" b="1">
                <a:solidFill>
                  <a:srgbClr val="A50021"/>
                </a:solidFill>
                <a:ea typeface="楷体_GB2312" charset="0"/>
              </a:rPr>
              <a:t>&amp;</a:t>
            </a:r>
            <a:r>
              <a:rPr lang="en-US" altLang="zh-CN" sz="3200">
                <a:solidFill>
                  <a:srgbClr val="A50021"/>
                </a:solidFill>
                <a:ea typeface="楷体_GB2312" charset="0"/>
              </a:rPr>
              <a:t>H, Elemtype e)</a:t>
            </a:r>
            <a:r>
              <a:rPr lang="en-US" altLang="zh-CN" sz="3200" b="1">
                <a:solidFill>
                  <a:srgbClr val="A50021"/>
                </a:solidFill>
                <a:ea typeface="楷体_GB2312" charset="0"/>
              </a:rPr>
              <a:t>{</a:t>
            </a:r>
            <a:endParaRPr lang="en-US" altLang="zh-CN" sz="3200">
              <a:solidFill>
                <a:srgbClr val="A50021"/>
              </a:solidFill>
              <a:ea typeface="楷体_GB2312" charset="0"/>
            </a:endParaRPr>
          </a:p>
          <a:p>
            <a:pPr>
              <a:lnSpc>
                <a:spcPct val="125000"/>
              </a:lnSpc>
            </a:pPr>
            <a:endParaRPr lang="en-US" altLang="zh-CN" sz="3200">
              <a:solidFill>
                <a:srgbClr val="A50021"/>
              </a:solidFill>
              <a:ea typeface="楷体_GB2312" charset="0"/>
            </a:endParaRPr>
          </a:p>
          <a:p>
            <a:pPr>
              <a:lnSpc>
                <a:spcPct val="125000"/>
              </a:lnSpc>
            </a:pPr>
            <a:endParaRPr lang="en-US" altLang="zh-CN" sz="3200">
              <a:solidFill>
                <a:srgbClr val="A50021"/>
              </a:solidFill>
              <a:ea typeface="楷体_GB2312" charset="0"/>
            </a:endParaRPr>
          </a:p>
          <a:p>
            <a:pPr>
              <a:lnSpc>
                <a:spcPct val="125000"/>
              </a:lnSpc>
            </a:pPr>
            <a:endParaRPr lang="en-US" altLang="zh-CN" sz="3200">
              <a:solidFill>
                <a:srgbClr val="A50021"/>
              </a:solidFill>
              <a:ea typeface="楷体_GB2312" charset="0"/>
            </a:endParaRPr>
          </a:p>
          <a:p>
            <a:pPr>
              <a:lnSpc>
                <a:spcPct val="125000"/>
              </a:lnSpc>
            </a:pPr>
            <a:endParaRPr lang="en-US" altLang="zh-CN" sz="3200">
              <a:solidFill>
                <a:srgbClr val="A50021"/>
              </a:solidFill>
              <a:ea typeface="楷体_GB2312" charset="0"/>
            </a:endParaRPr>
          </a:p>
          <a:p>
            <a:pPr>
              <a:lnSpc>
                <a:spcPct val="125000"/>
              </a:lnSpc>
            </a:pPr>
            <a:endParaRPr lang="en-US" altLang="zh-CN" sz="3200">
              <a:solidFill>
                <a:srgbClr val="A50021"/>
              </a:solidFill>
              <a:ea typeface="楷体_GB2312" charset="0"/>
            </a:endParaRPr>
          </a:p>
          <a:p>
            <a:pPr>
              <a:lnSpc>
                <a:spcPct val="125000"/>
              </a:lnSpc>
            </a:pPr>
            <a:endParaRPr lang="en-US" altLang="zh-CN" sz="3200">
              <a:solidFill>
                <a:srgbClr val="A50021"/>
              </a:solidFill>
              <a:ea typeface="楷体_GB2312" charset="0"/>
            </a:endParaRPr>
          </a:p>
          <a:p>
            <a:pPr>
              <a:lnSpc>
                <a:spcPct val="125000"/>
              </a:lnSpc>
            </a:pPr>
            <a:endParaRPr lang="en-US" altLang="zh-CN" sz="3200">
              <a:solidFill>
                <a:srgbClr val="A50021"/>
              </a:solidFill>
              <a:ea typeface="楷体_GB2312" charset="0"/>
            </a:endParaRPr>
          </a:p>
          <a:p>
            <a:pPr>
              <a:lnSpc>
                <a:spcPct val="125000"/>
              </a:lnSpc>
            </a:pPr>
            <a:endParaRPr lang="en-US" altLang="zh-CN" sz="3200">
              <a:solidFill>
                <a:srgbClr val="A50021"/>
              </a:solidFill>
              <a:ea typeface="楷体_GB2312" charset="0"/>
            </a:endParaRPr>
          </a:p>
          <a:p>
            <a:pPr>
              <a:lnSpc>
                <a:spcPct val="125000"/>
              </a:lnSpc>
            </a:pPr>
            <a:r>
              <a:rPr lang="en-US" altLang="zh-CN" sz="3200">
                <a:solidFill>
                  <a:srgbClr val="A50021"/>
                </a:solidFill>
                <a:ea typeface="楷体_GB2312" charset="0"/>
              </a:rPr>
              <a:t>  </a:t>
            </a:r>
          </a:p>
          <a:p>
            <a:pPr>
              <a:lnSpc>
                <a:spcPct val="125000"/>
              </a:lnSpc>
            </a:pPr>
            <a:r>
              <a:rPr lang="en-US" altLang="zh-CN" sz="3200" b="1">
                <a:solidFill>
                  <a:srgbClr val="A50021"/>
                </a:solidFill>
                <a:ea typeface="楷体_GB2312" charset="0"/>
              </a:rPr>
              <a:t>}</a:t>
            </a:r>
            <a:r>
              <a:rPr lang="en-US" altLang="zh-CN" sz="3200">
                <a:solidFill>
                  <a:srgbClr val="A50021"/>
                </a:solidFill>
                <a:ea typeface="楷体_GB2312" charset="0"/>
              </a:rPr>
              <a:t> // InsertHash</a:t>
            </a:r>
            <a:endParaRPr lang="en-US" altLang="zh-CN" sz="3200"/>
          </a:p>
        </p:txBody>
      </p:sp>
      <p:sp>
        <p:nvSpPr>
          <p:cNvPr id="166915" name="Rectangle 3"/>
          <p:cNvSpPr>
            <a:spLocks noChangeArrowheads="1"/>
          </p:cNvSpPr>
          <p:nvPr/>
        </p:nvSpPr>
        <p:spPr bwMode="auto">
          <a:xfrm>
            <a:off x="609600" y="762000"/>
            <a:ext cx="11128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200">
                <a:solidFill>
                  <a:srgbClr val="A50021"/>
                </a:solidFill>
                <a:ea typeface="楷体_GB2312" charset="0"/>
              </a:rPr>
              <a:t>c = 0;</a:t>
            </a:r>
          </a:p>
        </p:txBody>
      </p:sp>
      <p:sp>
        <p:nvSpPr>
          <p:cNvPr id="166916" name="Rectangle 4"/>
          <p:cNvSpPr>
            <a:spLocks noChangeArrowheads="1"/>
          </p:cNvSpPr>
          <p:nvPr/>
        </p:nvSpPr>
        <p:spPr bwMode="auto">
          <a:xfrm>
            <a:off x="609600" y="1371600"/>
            <a:ext cx="81026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lang="en-US" altLang="zh-CN" sz="3200" b="1">
                <a:solidFill>
                  <a:srgbClr val="A50021"/>
                </a:solidFill>
                <a:ea typeface="楷体_GB2312" charset="0"/>
              </a:rPr>
              <a:t>if</a:t>
            </a:r>
            <a:r>
              <a:rPr lang="en-US" altLang="zh-CN" sz="3200">
                <a:solidFill>
                  <a:srgbClr val="A50021"/>
                </a:solidFill>
                <a:ea typeface="楷体_GB2312" charset="0"/>
              </a:rPr>
              <a:t> ( HashSearch ( H, e.key, p, c ) == SUCCESS )</a:t>
            </a:r>
          </a:p>
          <a:p>
            <a:pPr>
              <a:lnSpc>
                <a:spcPct val="125000"/>
              </a:lnSpc>
            </a:pPr>
            <a:r>
              <a:rPr lang="en-US" altLang="zh-CN" sz="3200" b="1">
                <a:solidFill>
                  <a:srgbClr val="A50021"/>
                </a:solidFill>
                <a:ea typeface="楷体_GB2312" charset="0"/>
              </a:rPr>
              <a:t>      return</a:t>
            </a:r>
            <a:r>
              <a:rPr lang="en-US" altLang="zh-CN" sz="3200">
                <a:solidFill>
                  <a:srgbClr val="A50021"/>
                </a:solidFill>
                <a:ea typeface="楷体_GB2312" charset="0"/>
              </a:rPr>
              <a:t> DUPLICATE;</a:t>
            </a:r>
          </a:p>
          <a:p>
            <a:pPr>
              <a:lnSpc>
                <a:spcPct val="125000"/>
              </a:lnSpc>
            </a:pPr>
            <a:r>
              <a:rPr lang="en-US" altLang="zh-CN" sz="3200">
                <a:solidFill>
                  <a:srgbClr val="A50021"/>
                </a:solidFill>
                <a:ea typeface="楷体_GB2312" charset="0"/>
              </a:rPr>
              <a:t>         // </a:t>
            </a:r>
            <a:r>
              <a:rPr lang="zh-CN" altLang="en-US" sz="3200">
                <a:solidFill>
                  <a:srgbClr val="A50021"/>
                </a:solidFill>
                <a:ea typeface="楷体_GB2312" charset="0"/>
              </a:rPr>
              <a:t>表中已有与 </a:t>
            </a:r>
            <a:r>
              <a:rPr lang="en-US" altLang="zh-CN" sz="3200">
                <a:solidFill>
                  <a:srgbClr val="A50021"/>
                </a:solidFill>
                <a:ea typeface="楷体_GB2312" charset="0"/>
              </a:rPr>
              <a:t>e </a:t>
            </a:r>
            <a:r>
              <a:rPr lang="zh-CN" altLang="en-US" sz="3200">
                <a:solidFill>
                  <a:srgbClr val="A50021"/>
                </a:solidFill>
                <a:ea typeface="楷体_GB2312" charset="0"/>
              </a:rPr>
              <a:t>有相同关键字的元素</a:t>
            </a:r>
          </a:p>
        </p:txBody>
      </p:sp>
      <p:sp>
        <p:nvSpPr>
          <p:cNvPr id="166917" name="Rectangle 5"/>
          <p:cNvSpPr>
            <a:spLocks noChangeArrowheads="1"/>
          </p:cNvSpPr>
          <p:nvPr/>
        </p:nvSpPr>
        <p:spPr bwMode="auto">
          <a:xfrm>
            <a:off x="609600" y="3276600"/>
            <a:ext cx="822960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200" b="1">
                <a:solidFill>
                  <a:srgbClr val="A50021"/>
                </a:solidFill>
                <a:ea typeface="楷体_GB2312" charset="0"/>
              </a:rPr>
              <a:t>else</a:t>
            </a:r>
          </a:p>
          <a:p>
            <a:pPr>
              <a:lnSpc>
                <a:spcPct val="125000"/>
              </a:lnSpc>
            </a:pPr>
            <a:endParaRPr lang="en-US" altLang="zh-CN" sz="3200">
              <a:solidFill>
                <a:srgbClr val="A50021"/>
              </a:solidFill>
              <a:ea typeface="楷体_GB2312" charset="0"/>
            </a:endParaRPr>
          </a:p>
          <a:p>
            <a:pPr>
              <a:lnSpc>
                <a:spcPct val="125000"/>
              </a:lnSpc>
            </a:pPr>
            <a:r>
              <a:rPr lang="en-US" altLang="zh-CN" sz="3200">
                <a:solidFill>
                  <a:srgbClr val="A50021"/>
                </a:solidFill>
                <a:ea typeface="楷体_GB2312" charset="0"/>
              </a:rPr>
              <a:t>              </a:t>
            </a:r>
            <a:r>
              <a:rPr lang="en-US" altLang="zh-CN" sz="3200">
                <a:solidFill>
                  <a:srgbClr val="FF0000"/>
                </a:solidFill>
                <a:ea typeface="楷体_GB2312" charset="0"/>
              </a:rPr>
              <a:t>H.elem[p] = e;  </a:t>
            </a:r>
            <a:r>
              <a:rPr lang="en-US" altLang="zh-CN" sz="3200" b="1">
                <a:solidFill>
                  <a:srgbClr val="FF0000"/>
                </a:solidFill>
                <a:ea typeface="楷体_GB2312" charset="0"/>
              </a:rPr>
              <a:t>++</a:t>
            </a:r>
            <a:r>
              <a:rPr lang="en-US" altLang="zh-CN" sz="3200">
                <a:solidFill>
                  <a:srgbClr val="FF0000"/>
                </a:solidFill>
                <a:ea typeface="楷体_GB2312" charset="0"/>
              </a:rPr>
              <a:t>H.count;  </a:t>
            </a:r>
            <a:r>
              <a:rPr lang="en-US" altLang="zh-CN" sz="3200" b="1">
                <a:solidFill>
                  <a:srgbClr val="FF0000"/>
                </a:solidFill>
                <a:ea typeface="楷体_GB2312" charset="0"/>
              </a:rPr>
              <a:t>return</a:t>
            </a:r>
            <a:r>
              <a:rPr lang="en-US" altLang="zh-CN" sz="3200">
                <a:solidFill>
                  <a:srgbClr val="FF0000"/>
                </a:solidFill>
                <a:ea typeface="楷体_GB2312" charset="0"/>
              </a:rPr>
              <a:t> OK;</a:t>
            </a:r>
          </a:p>
          <a:p>
            <a:pPr>
              <a:lnSpc>
                <a:spcPct val="125000"/>
              </a:lnSpc>
            </a:pPr>
            <a:r>
              <a:rPr lang="en-US" altLang="zh-CN" sz="3200">
                <a:solidFill>
                  <a:srgbClr val="A50021"/>
                </a:solidFill>
                <a:ea typeface="楷体_GB2312" charset="0"/>
              </a:rPr>
              <a:t>              // </a:t>
            </a:r>
            <a:r>
              <a:rPr lang="zh-CN" altLang="en-US" sz="3200">
                <a:solidFill>
                  <a:srgbClr val="A50021"/>
                </a:solidFill>
                <a:ea typeface="楷体_GB2312" charset="0"/>
              </a:rPr>
              <a:t>查找不成功时，返回 </a:t>
            </a:r>
            <a:r>
              <a:rPr lang="en-US" altLang="zh-CN" sz="3200">
                <a:solidFill>
                  <a:srgbClr val="A50021"/>
                </a:solidFill>
                <a:ea typeface="楷体_GB2312" charset="0"/>
              </a:rPr>
              <a:t>p</a:t>
            </a:r>
            <a:r>
              <a:rPr lang="zh-CN" altLang="en-US" sz="3200">
                <a:solidFill>
                  <a:srgbClr val="A50021"/>
                </a:solidFill>
                <a:ea typeface="楷体_GB2312" charset="0"/>
              </a:rPr>
              <a:t>为插入位置</a:t>
            </a:r>
          </a:p>
        </p:txBody>
      </p:sp>
      <p:sp>
        <p:nvSpPr>
          <p:cNvPr id="166918" name="Rectangle 6"/>
          <p:cNvSpPr>
            <a:spLocks noChangeArrowheads="1"/>
          </p:cNvSpPr>
          <p:nvPr/>
        </p:nvSpPr>
        <p:spPr bwMode="auto">
          <a:xfrm>
            <a:off x="609600" y="5791200"/>
            <a:ext cx="80549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A50021"/>
                </a:solidFill>
                <a:ea typeface="楷体_GB2312" charset="0"/>
              </a:rPr>
              <a:t>else</a:t>
            </a:r>
            <a:r>
              <a:rPr lang="en-US" altLang="zh-CN" sz="3200">
                <a:solidFill>
                  <a:srgbClr val="A50021"/>
                </a:solidFill>
                <a:ea typeface="楷体_GB2312" charset="0"/>
              </a:rPr>
              <a:t>  RecreateHashTable(H);        // </a:t>
            </a:r>
            <a:r>
              <a:rPr lang="zh-CN" altLang="en-US" sz="3200">
                <a:solidFill>
                  <a:srgbClr val="A50021"/>
                </a:solidFill>
                <a:ea typeface="楷体_GB2312" charset="0"/>
              </a:rPr>
              <a:t>重建哈希表</a:t>
            </a:r>
          </a:p>
        </p:txBody>
      </p:sp>
      <p:sp>
        <p:nvSpPr>
          <p:cNvPr id="166919" name="Rectangle 7"/>
          <p:cNvSpPr>
            <a:spLocks noChangeArrowheads="1"/>
          </p:cNvSpPr>
          <p:nvPr/>
        </p:nvSpPr>
        <p:spPr bwMode="auto">
          <a:xfrm>
            <a:off x="609600" y="3276600"/>
            <a:ext cx="853440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200" b="1">
                <a:solidFill>
                  <a:srgbClr val="A50021"/>
                </a:solidFill>
                <a:ea typeface="楷体_GB2312" charset="0"/>
              </a:rPr>
              <a:t>          if</a:t>
            </a:r>
            <a:r>
              <a:rPr lang="en-US" altLang="zh-CN" sz="3200">
                <a:solidFill>
                  <a:srgbClr val="A50021"/>
                </a:solidFill>
                <a:ea typeface="楷体_GB2312" charset="0"/>
              </a:rPr>
              <a:t> ( c &lt; hashsize[H.sizeindex]/2 ) </a:t>
            </a:r>
            <a:r>
              <a:rPr lang="en-US" altLang="zh-CN" sz="3200" b="1">
                <a:solidFill>
                  <a:srgbClr val="A50021"/>
                </a:solidFill>
                <a:ea typeface="楷体_GB2312" charset="0"/>
              </a:rPr>
              <a:t>{</a:t>
            </a:r>
          </a:p>
          <a:p>
            <a:pPr>
              <a:lnSpc>
                <a:spcPct val="125000"/>
              </a:lnSpc>
            </a:pPr>
            <a:r>
              <a:rPr lang="en-US" altLang="zh-CN" sz="3200" b="1">
                <a:solidFill>
                  <a:srgbClr val="A50021"/>
                </a:solidFill>
                <a:ea typeface="楷体_GB2312" charset="0"/>
              </a:rPr>
              <a:t> </a:t>
            </a:r>
            <a:r>
              <a:rPr lang="en-US" altLang="zh-CN" sz="3200">
                <a:solidFill>
                  <a:srgbClr val="A50021"/>
                </a:solidFill>
                <a:ea typeface="楷体_GB2312" charset="0"/>
              </a:rPr>
              <a:t>       // </a:t>
            </a:r>
            <a:r>
              <a:rPr lang="zh-CN" altLang="en-US" sz="3200">
                <a:solidFill>
                  <a:srgbClr val="A50021"/>
                </a:solidFill>
                <a:ea typeface="楷体_GB2312" charset="0"/>
              </a:rPr>
              <a:t>冲突次数 </a:t>
            </a:r>
            <a:r>
              <a:rPr lang="en-US" altLang="zh-CN" sz="3200">
                <a:solidFill>
                  <a:srgbClr val="A50021"/>
                </a:solidFill>
                <a:ea typeface="楷体_GB2312" charset="0"/>
              </a:rPr>
              <a:t>c </a:t>
            </a:r>
            <a:r>
              <a:rPr lang="zh-CN" altLang="en-US" sz="3200">
                <a:solidFill>
                  <a:srgbClr val="A50021"/>
                </a:solidFill>
                <a:ea typeface="楷体_GB2312" charset="0"/>
              </a:rPr>
              <a:t>未达到上限，（阀值 </a:t>
            </a:r>
            <a:r>
              <a:rPr lang="en-US" altLang="zh-CN" sz="3200">
                <a:solidFill>
                  <a:srgbClr val="A50021"/>
                </a:solidFill>
                <a:ea typeface="楷体_GB2312" charset="0"/>
              </a:rPr>
              <a:t>c </a:t>
            </a:r>
            <a:r>
              <a:rPr lang="zh-CN" altLang="en-US" sz="3200">
                <a:solidFill>
                  <a:srgbClr val="A50021"/>
                </a:solidFill>
                <a:ea typeface="楷体_GB2312" charset="0"/>
              </a:rPr>
              <a:t>可调）</a:t>
            </a:r>
          </a:p>
          <a:p>
            <a:pPr>
              <a:lnSpc>
                <a:spcPct val="125000"/>
              </a:lnSpc>
            </a:pPr>
            <a:r>
              <a:rPr lang="zh-CN" altLang="en-US" sz="3200">
                <a:solidFill>
                  <a:srgbClr val="A50021"/>
                </a:solidFill>
                <a:ea typeface="楷体_GB2312" charset="0"/>
              </a:rPr>
              <a:t>        </a:t>
            </a:r>
          </a:p>
          <a:p>
            <a:pPr>
              <a:lnSpc>
                <a:spcPct val="125000"/>
              </a:lnSpc>
            </a:pPr>
            <a:r>
              <a:rPr lang="en-US" altLang="zh-CN" sz="3200" b="1">
                <a:solidFill>
                  <a:srgbClr val="A50021"/>
                </a:solidFill>
                <a:ea typeface="楷体_GB2312" charset="0"/>
              </a:rPr>
              <a:t>}</a:t>
            </a:r>
            <a:r>
              <a:rPr lang="en-US" altLang="zh-CN" sz="3200">
                <a:solidFill>
                  <a:srgbClr val="A50021"/>
                </a:solidFill>
                <a:ea typeface="楷体_GB2312" charset="0"/>
              </a:rPr>
              <a:t>                                  </a:t>
            </a:r>
          </a:p>
        </p:txBody>
      </p:sp>
      <p:sp>
        <p:nvSpPr>
          <p:cNvPr id="166923" name="AutoShape 11">
            <a:hlinkClick r:id="" action="ppaction://hlinkshowjump?jump=previousslide" highlightClick="1"/>
          </p:cNvPr>
          <p:cNvSpPr>
            <a:spLocks noChangeArrowheads="1"/>
          </p:cNvSpPr>
          <p:nvPr/>
        </p:nvSpPr>
        <p:spPr bwMode="auto">
          <a:xfrm>
            <a:off x="8534400" y="62484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0499716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66914"/>
                                        </p:tgtEl>
                                        <p:attrNameLst>
                                          <p:attrName>style.visibility</p:attrName>
                                        </p:attrNameLst>
                                      </p:cBhvr>
                                      <p:to>
                                        <p:strVal val="visible"/>
                                      </p:to>
                                    </p:set>
                                    <p:animEffect transition="in" filter="strips(downRight)">
                                      <p:cBhvr>
                                        <p:cTn id="7" dur="500"/>
                                        <p:tgtEl>
                                          <p:spTgt spid="1669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66916"/>
                                        </p:tgtEl>
                                        <p:attrNameLst>
                                          <p:attrName>style.visibility</p:attrName>
                                        </p:attrNameLst>
                                      </p:cBhvr>
                                      <p:to>
                                        <p:strVal val="visible"/>
                                      </p:to>
                                    </p:set>
                                    <p:animEffect transition="in" filter="wipe(left)">
                                      <p:cBhvr>
                                        <p:cTn id="12" dur="300"/>
                                        <p:tgtEl>
                                          <p:spTgt spid="1669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66917"/>
                                        </p:tgtEl>
                                        <p:attrNameLst>
                                          <p:attrName>style.visibility</p:attrName>
                                        </p:attrNameLst>
                                      </p:cBhvr>
                                      <p:to>
                                        <p:strVal val="visible"/>
                                      </p:to>
                                    </p:set>
                                    <p:animEffect transition="in" filter="wipe(left)">
                                      <p:cBhvr>
                                        <p:cTn id="17" dur="300"/>
                                        <p:tgtEl>
                                          <p:spTgt spid="1669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66919"/>
                                        </p:tgtEl>
                                        <p:attrNameLst>
                                          <p:attrName>style.visibility</p:attrName>
                                        </p:attrNameLst>
                                      </p:cBhvr>
                                      <p:to>
                                        <p:strVal val="visible"/>
                                      </p:to>
                                    </p:set>
                                    <p:animEffect transition="in" filter="wipe(left)">
                                      <p:cBhvr>
                                        <p:cTn id="22" dur="300"/>
                                        <p:tgtEl>
                                          <p:spTgt spid="1669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66915"/>
                                        </p:tgtEl>
                                        <p:attrNameLst>
                                          <p:attrName>style.visibility</p:attrName>
                                        </p:attrNameLst>
                                      </p:cBhvr>
                                      <p:to>
                                        <p:strVal val="visible"/>
                                      </p:to>
                                    </p:set>
                                    <p:animEffect transition="in" filter="wipe(left)">
                                      <p:cBhvr>
                                        <p:cTn id="27" dur="300"/>
                                        <p:tgtEl>
                                          <p:spTgt spid="1669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66918"/>
                                        </p:tgtEl>
                                        <p:attrNameLst>
                                          <p:attrName>style.visibility</p:attrName>
                                        </p:attrNameLst>
                                      </p:cBhvr>
                                      <p:to>
                                        <p:strVal val="visible"/>
                                      </p:to>
                                    </p:set>
                                    <p:animEffect transition="in" filter="wipe(left)">
                                      <p:cBhvr>
                                        <p:cTn id="32" dur="300"/>
                                        <p:tgtEl>
                                          <p:spTgt spid="166918"/>
                                        </p:tgtEl>
                                      </p:cBhvr>
                                    </p:animEffect>
                                  </p:childTnLst>
                                </p:cTn>
                              </p:par>
                            </p:childTnLst>
                          </p:cTn>
                        </p:par>
                        <p:par>
                          <p:cTn id="33" fill="hold" nodeType="afterGroup">
                            <p:stCondLst>
                              <p:cond delay="2100"/>
                            </p:stCondLst>
                            <p:childTnLst>
                              <p:par>
                                <p:cTn id="34" presetID="2" presetClass="entr" presetSubtype="6" fill="hold" grpId="0" nodeType="afterEffect">
                                  <p:stCondLst>
                                    <p:cond delay="0"/>
                                  </p:stCondLst>
                                  <p:childTnLst>
                                    <p:set>
                                      <p:cBhvr>
                                        <p:cTn id="35" dur="1" fill="hold">
                                          <p:stCondLst>
                                            <p:cond delay="0"/>
                                          </p:stCondLst>
                                        </p:cTn>
                                        <p:tgtEl>
                                          <p:spTgt spid="166923"/>
                                        </p:tgtEl>
                                        <p:attrNameLst>
                                          <p:attrName>style.visibility</p:attrName>
                                        </p:attrNameLst>
                                      </p:cBhvr>
                                      <p:to>
                                        <p:strVal val="visible"/>
                                      </p:to>
                                    </p:set>
                                    <p:anim calcmode="lin" valueType="num">
                                      <p:cBhvr additive="base">
                                        <p:cTn id="36" dur="500" fill="hold"/>
                                        <p:tgtEl>
                                          <p:spTgt spid="166923"/>
                                        </p:tgtEl>
                                        <p:attrNameLst>
                                          <p:attrName>ppt_x</p:attrName>
                                        </p:attrNameLst>
                                      </p:cBhvr>
                                      <p:tavLst>
                                        <p:tav tm="0">
                                          <p:val>
                                            <p:strVal val="1+#ppt_w/2"/>
                                          </p:val>
                                        </p:tav>
                                        <p:tav tm="100000">
                                          <p:val>
                                            <p:strVal val="#ppt_x"/>
                                          </p:val>
                                        </p:tav>
                                      </p:tavLst>
                                    </p:anim>
                                    <p:anim calcmode="lin" valueType="num">
                                      <p:cBhvr additive="base">
                                        <p:cTn id="37" dur="500" fill="hold"/>
                                        <p:tgtEl>
                                          <p:spTgt spid="1669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autoUpdateAnimBg="0"/>
      <p:bldP spid="166915" grpId="0" autoUpdateAnimBg="0"/>
      <p:bldP spid="166916" grpId="0" autoUpdateAnimBg="0"/>
      <p:bldP spid="166917" grpId="0" autoUpdateAnimBg="0"/>
      <p:bldP spid="166918" grpId="0" autoUpdateAnimBg="0"/>
      <p:bldP spid="166919" grpId="0" autoUpdateAnimBg="0"/>
      <p:bldP spid="166923" grpId="0" animBg="1"/>
    </p:bldLst>
  </p:timing>
</p:sld>
</file>

<file path=ppt/slides/slide1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2035" name="Rectangle 3"/>
          <p:cNvSpPr>
            <a:spLocks noGrp="1" noChangeArrowheads="1"/>
          </p:cNvSpPr>
          <p:nvPr>
            <p:ph type="body" idx="4294967295"/>
          </p:nvPr>
        </p:nvSpPr>
        <p:spPr>
          <a:xfrm>
            <a:off x="228600" y="3505200"/>
            <a:ext cx="8763000" cy="2971800"/>
          </a:xfrm>
        </p:spPr>
        <p:txBody>
          <a:bodyPr/>
          <a:lstStyle/>
          <a:p>
            <a:pPr>
              <a:lnSpc>
                <a:spcPct val="125000"/>
              </a:lnSpc>
            </a:pPr>
            <a:r>
              <a:rPr lang="en-US" altLang="zh-CN" sz="3600">
                <a:solidFill>
                  <a:srgbClr val="A50021"/>
                </a:solidFill>
                <a:ea typeface="楷体_GB2312" charset="0"/>
              </a:rPr>
              <a:t>1</a:t>
            </a:r>
            <a:r>
              <a:rPr lang="en-US" altLang="zh-CN" sz="3600">
                <a:solidFill>
                  <a:srgbClr val="A50021"/>
                </a:solidFill>
              </a:rPr>
              <a:t>)  </a:t>
            </a:r>
            <a:r>
              <a:rPr lang="zh-CN" altLang="en-US" sz="3600">
                <a:solidFill>
                  <a:srgbClr val="A50021"/>
                </a:solidFill>
                <a:ea typeface="楷体_GB2312" charset="0"/>
              </a:rPr>
              <a:t>选用的</a:t>
            </a:r>
            <a:r>
              <a:rPr lang="zh-CN" altLang="en-US" sz="3600" b="1">
                <a:solidFill>
                  <a:srgbClr val="FF0000"/>
                </a:solidFill>
                <a:ea typeface="楷体_GB2312" charset="0"/>
              </a:rPr>
              <a:t>哈希函数</a:t>
            </a:r>
            <a:r>
              <a:rPr lang="zh-CN" altLang="en-US" sz="3600">
                <a:solidFill>
                  <a:srgbClr val="A50021"/>
                </a:solidFill>
                <a:ea typeface="楷体_GB2312" charset="0"/>
              </a:rPr>
              <a:t>；</a:t>
            </a:r>
          </a:p>
          <a:p>
            <a:pPr>
              <a:lnSpc>
                <a:spcPct val="125000"/>
              </a:lnSpc>
            </a:pPr>
            <a:r>
              <a:rPr lang="en-US" altLang="zh-CN" sz="3600">
                <a:solidFill>
                  <a:srgbClr val="A50021"/>
                </a:solidFill>
                <a:ea typeface="楷体_GB2312" charset="0"/>
              </a:rPr>
              <a:t>2</a:t>
            </a:r>
            <a:r>
              <a:rPr lang="en-US" altLang="zh-CN" sz="3600">
                <a:solidFill>
                  <a:srgbClr val="A50021"/>
                </a:solidFill>
              </a:rPr>
              <a:t>)  </a:t>
            </a:r>
            <a:r>
              <a:rPr lang="zh-CN" altLang="en-US" sz="3600">
                <a:solidFill>
                  <a:srgbClr val="A50021"/>
                </a:solidFill>
                <a:ea typeface="楷体_GB2312" charset="0"/>
              </a:rPr>
              <a:t>选用的</a:t>
            </a:r>
            <a:r>
              <a:rPr lang="zh-CN" altLang="en-US" sz="3600" b="1">
                <a:solidFill>
                  <a:srgbClr val="FF0000"/>
                </a:solidFill>
                <a:ea typeface="楷体_GB2312" charset="0"/>
              </a:rPr>
              <a:t>处理冲突的方法</a:t>
            </a:r>
            <a:r>
              <a:rPr lang="zh-CN" altLang="en-US" sz="3600">
                <a:solidFill>
                  <a:srgbClr val="A50021"/>
                </a:solidFill>
                <a:ea typeface="楷体_GB2312" charset="0"/>
              </a:rPr>
              <a:t>；</a:t>
            </a:r>
          </a:p>
          <a:p>
            <a:pPr>
              <a:lnSpc>
                <a:spcPct val="125000"/>
              </a:lnSpc>
            </a:pPr>
            <a:r>
              <a:rPr lang="en-US" altLang="zh-CN" sz="3600">
                <a:solidFill>
                  <a:srgbClr val="A50021"/>
                </a:solidFill>
                <a:ea typeface="楷体_GB2312" charset="0"/>
              </a:rPr>
              <a:t>3</a:t>
            </a:r>
            <a:r>
              <a:rPr lang="en-US" altLang="zh-CN" sz="3600">
                <a:solidFill>
                  <a:srgbClr val="A50021"/>
                </a:solidFill>
              </a:rPr>
              <a:t>)  </a:t>
            </a:r>
            <a:r>
              <a:rPr lang="zh-CN" altLang="en-US" sz="3600">
                <a:solidFill>
                  <a:srgbClr val="A50021"/>
                </a:solidFill>
                <a:ea typeface="楷体_GB2312" charset="0"/>
              </a:rPr>
              <a:t>哈希表饱和的程度，</a:t>
            </a:r>
            <a:r>
              <a:rPr lang="zh-CN" altLang="en-US" sz="3600" b="1">
                <a:solidFill>
                  <a:srgbClr val="FF0000"/>
                </a:solidFill>
                <a:ea typeface="楷体_GB2312" charset="0"/>
              </a:rPr>
              <a:t>装载因子         </a:t>
            </a:r>
            <a:r>
              <a:rPr lang="en-US" altLang="zh-CN" sz="3600">
                <a:solidFill>
                  <a:srgbClr val="A50021"/>
                </a:solidFill>
                <a:latin typeface="楷体_GB2312" charset="0"/>
                <a:ea typeface="楷体_GB2312" charset="0"/>
              </a:rPr>
              <a:t>α</a:t>
            </a:r>
            <a:r>
              <a:rPr lang="en-US" altLang="zh-CN" sz="3600">
                <a:solidFill>
                  <a:srgbClr val="A50021"/>
                </a:solidFill>
                <a:ea typeface="楷体_GB2312" charset="0"/>
              </a:rPr>
              <a:t>=n/m </a:t>
            </a:r>
            <a:r>
              <a:rPr lang="zh-CN" altLang="en-US" sz="3600">
                <a:solidFill>
                  <a:srgbClr val="A50021"/>
                </a:solidFill>
                <a:ea typeface="楷体_GB2312" charset="0"/>
              </a:rPr>
              <a:t>值的</a:t>
            </a:r>
            <a:r>
              <a:rPr lang="zh-CN" altLang="en-US" sz="3600" b="1">
                <a:solidFill>
                  <a:srgbClr val="FF0000"/>
                </a:solidFill>
                <a:ea typeface="楷体_GB2312" charset="0"/>
              </a:rPr>
              <a:t>大小</a:t>
            </a:r>
            <a:r>
              <a:rPr lang="zh-CN" altLang="en-US" sz="3600" b="1">
                <a:solidFill>
                  <a:srgbClr val="A50021"/>
                </a:solidFill>
                <a:ea typeface="楷体_GB2312" charset="0"/>
              </a:rPr>
              <a:t>（</a:t>
            </a:r>
            <a:r>
              <a:rPr lang="en-US" altLang="zh-CN" sz="2800" b="1">
                <a:solidFill>
                  <a:srgbClr val="A50021"/>
                </a:solidFill>
                <a:ea typeface="楷体_GB2312" charset="0"/>
              </a:rPr>
              <a:t>n—</a:t>
            </a:r>
            <a:r>
              <a:rPr lang="zh-CN" altLang="en-US" sz="2800" b="1">
                <a:solidFill>
                  <a:srgbClr val="A50021"/>
                </a:solidFill>
                <a:ea typeface="楷体_GB2312" charset="0"/>
              </a:rPr>
              <a:t>记录数，</a:t>
            </a:r>
            <a:r>
              <a:rPr lang="en-US" altLang="zh-CN" sz="2800" b="1">
                <a:solidFill>
                  <a:srgbClr val="A50021"/>
                </a:solidFill>
                <a:ea typeface="楷体_GB2312" charset="0"/>
              </a:rPr>
              <a:t>m—</a:t>
            </a:r>
            <a:r>
              <a:rPr lang="zh-CN" altLang="en-US" sz="2800" b="1">
                <a:solidFill>
                  <a:srgbClr val="A50021"/>
                </a:solidFill>
                <a:ea typeface="楷体_GB2312" charset="0"/>
              </a:rPr>
              <a:t>表长度）</a:t>
            </a:r>
            <a:endParaRPr lang="zh-CN" altLang="en-US" sz="3600">
              <a:ea typeface="楷体_GB2312" charset="0"/>
            </a:endParaRPr>
          </a:p>
        </p:txBody>
      </p:sp>
      <p:sp>
        <p:nvSpPr>
          <p:cNvPr id="172036" name="Text Box 4"/>
          <p:cNvSpPr txBox="1">
            <a:spLocks noChangeArrowheads="1"/>
          </p:cNvSpPr>
          <p:nvPr/>
        </p:nvSpPr>
        <p:spPr bwMode="auto">
          <a:xfrm>
            <a:off x="762000" y="2651125"/>
            <a:ext cx="72675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0000FF"/>
                </a:solidFill>
                <a:ea typeface="楷体_GB2312" charset="0"/>
              </a:rPr>
              <a:t>决定哈希表查找的</a:t>
            </a:r>
            <a:r>
              <a:rPr lang="en-US" altLang="zh-CN" sz="4000" b="1">
                <a:solidFill>
                  <a:srgbClr val="0000FF"/>
                </a:solidFill>
                <a:ea typeface="楷体_GB2312" charset="0"/>
              </a:rPr>
              <a:t>ASL</a:t>
            </a:r>
            <a:r>
              <a:rPr lang="zh-CN" altLang="en-US" sz="4000" b="1">
                <a:solidFill>
                  <a:srgbClr val="0000FF"/>
                </a:solidFill>
                <a:ea typeface="楷体_GB2312" charset="0"/>
              </a:rPr>
              <a:t>的因素</a:t>
            </a:r>
            <a:r>
              <a:rPr lang="zh-CN" altLang="en-US" sz="4000">
                <a:ea typeface="楷体_GB2312" charset="0"/>
              </a:rPr>
              <a:t>：</a:t>
            </a:r>
            <a:endParaRPr lang="zh-CN" altLang="en-US">
              <a:ea typeface="楷体_GB2312" charset="0"/>
            </a:endParaRPr>
          </a:p>
        </p:txBody>
      </p:sp>
      <p:sp>
        <p:nvSpPr>
          <p:cNvPr id="172037" name="Text Box 5"/>
          <p:cNvSpPr txBox="1">
            <a:spLocks noChangeArrowheads="1"/>
          </p:cNvSpPr>
          <p:nvPr/>
        </p:nvSpPr>
        <p:spPr bwMode="auto">
          <a:xfrm>
            <a:off x="517525" y="169863"/>
            <a:ext cx="49339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400">
                <a:solidFill>
                  <a:srgbClr val="6600CC"/>
                </a:solidFill>
                <a:latin typeface="隶书" charset="0"/>
                <a:ea typeface="隶书" charset="0"/>
              </a:rPr>
              <a:t>哈希表查找的分析</a:t>
            </a:r>
            <a:r>
              <a:rPr lang="en-US" altLang="zh-CN" sz="4400">
                <a:solidFill>
                  <a:srgbClr val="6600CC"/>
                </a:solidFill>
                <a:latin typeface="隶书" charset="0"/>
                <a:ea typeface="隶书" charset="0"/>
              </a:rPr>
              <a:t>:</a:t>
            </a:r>
            <a:endParaRPr lang="en-US" altLang="zh-CN" sz="3600">
              <a:ea typeface="楷体_GB2312" charset="0"/>
            </a:endParaRPr>
          </a:p>
        </p:txBody>
      </p:sp>
      <p:sp>
        <p:nvSpPr>
          <p:cNvPr id="172038" name="Text Box 6"/>
          <p:cNvSpPr txBox="1">
            <a:spLocks noChangeArrowheads="1"/>
          </p:cNvSpPr>
          <p:nvPr/>
        </p:nvSpPr>
        <p:spPr bwMode="auto">
          <a:xfrm>
            <a:off x="1050925" y="914400"/>
            <a:ext cx="7483475"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600">
                <a:solidFill>
                  <a:srgbClr val="A50021"/>
                </a:solidFill>
                <a:ea typeface="楷体_GB2312" charset="0"/>
              </a:rPr>
              <a:t>    </a:t>
            </a:r>
            <a:r>
              <a:rPr lang="zh-CN" altLang="en-US" sz="3600">
                <a:solidFill>
                  <a:srgbClr val="A50021"/>
                </a:solidFill>
                <a:ea typeface="楷体_GB2312" charset="0"/>
              </a:rPr>
              <a:t>从查找过程得知，哈希表查找的平均查找长度</a:t>
            </a:r>
            <a:r>
              <a:rPr lang="zh-CN" altLang="en-US" sz="3600" b="1">
                <a:solidFill>
                  <a:srgbClr val="A50021"/>
                </a:solidFill>
                <a:ea typeface="楷体_GB2312" charset="0"/>
              </a:rPr>
              <a:t>实际上并不等于零</a:t>
            </a:r>
            <a:r>
              <a:rPr lang="zh-CN" altLang="en-US" sz="3600">
                <a:solidFill>
                  <a:srgbClr val="A50021"/>
                </a:solidFill>
                <a:ea typeface="楷体_GB2312" charset="0"/>
              </a:rPr>
              <a:t>。</a:t>
            </a:r>
          </a:p>
        </p:txBody>
      </p:sp>
    </p:spTree>
    <p:extLst>
      <p:ext uri="{BB962C8B-B14F-4D97-AF65-F5344CB8AC3E}">
        <p14:creationId xmlns:p14="http://schemas.microsoft.com/office/powerpoint/2010/main" val="72062692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2037"/>
                                        </p:tgtEl>
                                        <p:attrNameLst>
                                          <p:attrName>style.visibility</p:attrName>
                                        </p:attrNameLst>
                                      </p:cBhvr>
                                      <p:to>
                                        <p:strVal val="visible"/>
                                      </p:to>
                                    </p:set>
                                    <p:anim calcmode="lin" valueType="num">
                                      <p:cBhvr additive="base">
                                        <p:cTn id="7" dur="500" fill="hold"/>
                                        <p:tgtEl>
                                          <p:spTgt spid="172037"/>
                                        </p:tgtEl>
                                        <p:attrNameLst>
                                          <p:attrName>ppt_x</p:attrName>
                                        </p:attrNameLst>
                                      </p:cBhvr>
                                      <p:tavLst>
                                        <p:tav tm="0">
                                          <p:val>
                                            <p:strVal val="0-#ppt_w/2"/>
                                          </p:val>
                                        </p:tav>
                                        <p:tav tm="100000">
                                          <p:val>
                                            <p:strVal val="#ppt_x"/>
                                          </p:val>
                                        </p:tav>
                                      </p:tavLst>
                                    </p:anim>
                                    <p:anim calcmode="lin" valueType="num">
                                      <p:cBhvr additive="base">
                                        <p:cTn id="8" dur="500" fill="hold"/>
                                        <p:tgtEl>
                                          <p:spTgt spid="17203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72038"/>
                                        </p:tgtEl>
                                        <p:attrNameLst>
                                          <p:attrName>style.visibility</p:attrName>
                                        </p:attrNameLst>
                                      </p:cBhvr>
                                      <p:to>
                                        <p:strVal val="visible"/>
                                      </p:to>
                                    </p:set>
                                    <p:animEffect transition="in" filter="wipe(left)">
                                      <p:cBhvr>
                                        <p:cTn id="13" dur="500"/>
                                        <p:tgtEl>
                                          <p:spTgt spid="17203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72036"/>
                                        </p:tgtEl>
                                        <p:attrNameLst>
                                          <p:attrName>style.visibility</p:attrName>
                                        </p:attrNameLst>
                                      </p:cBhvr>
                                      <p:to>
                                        <p:strVal val="visible"/>
                                      </p:to>
                                    </p:set>
                                    <p:animEffect transition="in" filter="wipe(left)">
                                      <p:cBhvr>
                                        <p:cTn id="18" dur="500"/>
                                        <p:tgtEl>
                                          <p:spTgt spid="17203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72035">
                                            <p:txEl>
                                              <p:pRg st="0" end="0"/>
                                            </p:txEl>
                                          </p:spTgt>
                                        </p:tgtEl>
                                        <p:attrNameLst>
                                          <p:attrName>style.visibility</p:attrName>
                                        </p:attrNameLst>
                                      </p:cBhvr>
                                      <p:to>
                                        <p:strVal val="visible"/>
                                      </p:to>
                                    </p:set>
                                    <p:animEffect transition="in" filter="wipe(left)">
                                      <p:cBhvr>
                                        <p:cTn id="23" dur="500"/>
                                        <p:tgtEl>
                                          <p:spTgt spid="172035">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2035">
                                            <p:txEl>
                                              <p:pRg st="1" end="1"/>
                                            </p:txEl>
                                          </p:spTgt>
                                        </p:tgtEl>
                                        <p:attrNameLst>
                                          <p:attrName>style.visibility</p:attrName>
                                        </p:attrNameLst>
                                      </p:cBhvr>
                                      <p:to>
                                        <p:strVal val="visible"/>
                                      </p:to>
                                    </p:set>
                                    <p:animEffect transition="in" filter="wipe(left)">
                                      <p:cBhvr>
                                        <p:cTn id="28" dur="500"/>
                                        <p:tgtEl>
                                          <p:spTgt spid="172035">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72035">
                                            <p:txEl>
                                              <p:pRg st="2" end="2"/>
                                            </p:txEl>
                                          </p:spTgt>
                                        </p:tgtEl>
                                        <p:attrNameLst>
                                          <p:attrName>style.visibility</p:attrName>
                                        </p:attrNameLst>
                                      </p:cBhvr>
                                      <p:to>
                                        <p:strVal val="visible"/>
                                      </p:to>
                                    </p:set>
                                    <p:animEffect transition="in" filter="wipe(left)">
                                      <p:cBhvr>
                                        <p:cTn id="33" dur="500"/>
                                        <p:tgtEl>
                                          <p:spTgt spid="1720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build="p" autoUpdateAnimBg="0"/>
      <p:bldP spid="172036" grpId="0" autoUpdateAnimBg="0"/>
      <p:bldP spid="172037" grpId="0" autoUpdateAnimBg="0"/>
      <p:bldP spid="172038" grpId="0" autoUpdateAnimBg="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2"/>
          <p:cNvSpPr txBox="1">
            <a:spLocks noChangeArrowheads="1"/>
          </p:cNvSpPr>
          <p:nvPr/>
        </p:nvSpPr>
        <p:spPr bwMode="auto">
          <a:xfrm>
            <a:off x="438150" y="152400"/>
            <a:ext cx="8401050" cy="231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30000"/>
              </a:lnSpc>
            </a:pPr>
            <a:r>
              <a:rPr lang="en-US" altLang="zh-CN" sz="4000">
                <a:ea typeface="楷体_GB2312" charset="0"/>
              </a:rPr>
              <a:t>        </a:t>
            </a:r>
            <a:r>
              <a:rPr lang="zh-CN" altLang="en-US" sz="3600">
                <a:solidFill>
                  <a:srgbClr val="006600"/>
                </a:solidFill>
                <a:ea typeface="楷体_GB2312" charset="0"/>
              </a:rPr>
              <a:t>一般情况下，可以认为选用的哈希函数是“均匀”的，则在讨论</a:t>
            </a:r>
            <a:r>
              <a:rPr lang="en-US" altLang="zh-CN" sz="3600">
                <a:solidFill>
                  <a:srgbClr val="006600"/>
                </a:solidFill>
                <a:ea typeface="楷体_GB2312" charset="0"/>
              </a:rPr>
              <a:t>ASL</a:t>
            </a:r>
            <a:r>
              <a:rPr lang="zh-CN" altLang="en-US" sz="3600">
                <a:solidFill>
                  <a:srgbClr val="006600"/>
                </a:solidFill>
                <a:ea typeface="楷体_GB2312" charset="0"/>
              </a:rPr>
              <a:t>时，可以不考虑它的因素。</a:t>
            </a:r>
            <a:endParaRPr lang="zh-CN" altLang="en-US" sz="4000"/>
          </a:p>
        </p:txBody>
      </p:sp>
      <p:sp>
        <p:nvSpPr>
          <p:cNvPr id="173059" name="Text Box 3"/>
          <p:cNvSpPr txBox="1">
            <a:spLocks noChangeArrowheads="1"/>
          </p:cNvSpPr>
          <p:nvPr/>
        </p:nvSpPr>
        <p:spPr bwMode="auto">
          <a:xfrm>
            <a:off x="533400" y="2438400"/>
            <a:ext cx="8610600" cy="159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30000"/>
              </a:lnSpc>
            </a:pPr>
            <a:r>
              <a:rPr lang="en-US" altLang="zh-CN" sz="4000">
                <a:ea typeface="楷体_GB2312" charset="0"/>
              </a:rPr>
              <a:t>       </a:t>
            </a:r>
            <a:r>
              <a:rPr lang="zh-CN" altLang="en-US" sz="3600" b="1">
                <a:solidFill>
                  <a:srgbClr val="A50021"/>
                </a:solidFill>
                <a:ea typeface="楷体_GB2312" charset="0"/>
              </a:rPr>
              <a:t>因此，</a:t>
            </a:r>
            <a:r>
              <a:rPr lang="zh-CN" altLang="en-US" sz="3600" b="1">
                <a:solidFill>
                  <a:srgbClr val="990000"/>
                </a:solidFill>
                <a:ea typeface="楷体_GB2312" charset="0"/>
              </a:rPr>
              <a:t>哈希表的</a:t>
            </a:r>
            <a:r>
              <a:rPr lang="en-US" altLang="zh-CN" sz="3600" b="1">
                <a:solidFill>
                  <a:srgbClr val="990000"/>
                </a:solidFill>
                <a:ea typeface="楷体_GB2312" charset="0"/>
              </a:rPr>
              <a:t>ASL</a:t>
            </a:r>
            <a:r>
              <a:rPr lang="zh-CN" altLang="en-US" sz="3600" b="1">
                <a:solidFill>
                  <a:srgbClr val="990000"/>
                </a:solidFill>
                <a:ea typeface="楷体_GB2312" charset="0"/>
              </a:rPr>
              <a:t>是</a:t>
            </a:r>
            <a:r>
              <a:rPr lang="zh-CN" altLang="en-US" sz="3600" b="1">
                <a:solidFill>
                  <a:srgbClr val="FF0000"/>
                </a:solidFill>
                <a:ea typeface="楷体_GB2312" charset="0"/>
              </a:rPr>
              <a:t>处理冲突方法</a:t>
            </a:r>
            <a:r>
              <a:rPr lang="zh-CN" altLang="en-US" sz="3600" b="1">
                <a:solidFill>
                  <a:srgbClr val="990000"/>
                </a:solidFill>
                <a:ea typeface="楷体_GB2312" charset="0"/>
              </a:rPr>
              <a:t>和</a:t>
            </a:r>
            <a:r>
              <a:rPr lang="zh-CN" altLang="en-US" sz="3600" b="1">
                <a:solidFill>
                  <a:srgbClr val="FF0000"/>
                </a:solidFill>
                <a:ea typeface="楷体_GB2312" charset="0"/>
              </a:rPr>
              <a:t>装载因子</a:t>
            </a:r>
            <a:r>
              <a:rPr lang="zh-CN" altLang="en-US" sz="3600" b="1">
                <a:solidFill>
                  <a:srgbClr val="990000"/>
                </a:solidFill>
                <a:ea typeface="楷体_GB2312" charset="0"/>
              </a:rPr>
              <a:t>的函数。</a:t>
            </a:r>
            <a:endParaRPr lang="zh-CN" altLang="en-US" sz="3600"/>
          </a:p>
        </p:txBody>
      </p:sp>
      <p:sp>
        <p:nvSpPr>
          <p:cNvPr id="173061" name="Text Box 5"/>
          <p:cNvSpPr txBox="1">
            <a:spLocks noChangeArrowheads="1"/>
          </p:cNvSpPr>
          <p:nvPr/>
        </p:nvSpPr>
        <p:spPr bwMode="auto">
          <a:xfrm>
            <a:off x="517525" y="4114800"/>
            <a:ext cx="338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3333FF"/>
                </a:solidFill>
                <a:ea typeface="楷体_GB2312" charset="0"/>
              </a:rPr>
              <a:t>例如：前述例子</a:t>
            </a:r>
            <a:endParaRPr lang="zh-CN" altLang="en-US" sz="3600">
              <a:ea typeface="楷体_GB2312" charset="0"/>
            </a:endParaRPr>
          </a:p>
        </p:txBody>
      </p:sp>
      <p:sp>
        <p:nvSpPr>
          <p:cNvPr id="173062" name="Text Box 6">
            <a:hlinkClick r:id="rId2" action="ppaction://hlinksldjump"/>
          </p:cNvPr>
          <p:cNvSpPr txBox="1">
            <a:spLocks noChangeArrowheads="1"/>
          </p:cNvSpPr>
          <p:nvPr/>
        </p:nvSpPr>
        <p:spPr bwMode="auto">
          <a:xfrm>
            <a:off x="1050925" y="4743450"/>
            <a:ext cx="57515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200">
                <a:solidFill>
                  <a:schemeClr val="accent2"/>
                </a:solidFill>
                <a:ea typeface="隶书" charset="0"/>
              </a:rPr>
              <a:t>线性探测处理冲突时，    </a:t>
            </a:r>
            <a:r>
              <a:rPr lang="en-US" altLang="zh-CN" sz="3200">
                <a:solidFill>
                  <a:schemeClr val="accent2"/>
                </a:solidFill>
                <a:ea typeface="隶书" charset="0"/>
              </a:rPr>
              <a:t>ASL =</a:t>
            </a:r>
            <a:endParaRPr lang="en-US" altLang="zh-CN" sz="3200">
              <a:ea typeface="隶书" charset="0"/>
            </a:endParaRPr>
          </a:p>
        </p:txBody>
      </p:sp>
      <p:sp>
        <p:nvSpPr>
          <p:cNvPr id="173063" name="Text Box 7">
            <a:hlinkClick r:id="rId3" action="ppaction://hlinksldjump"/>
          </p:cNvPr>
          <p:cNvSpPr txBox="1">
            <a:spLocks noChangeArrowheads="1"/>
          </p:cNvSpPr>
          <p:nvPr/>
        </p:nvSpPr>
        <p:spPr bwMode="auto">
          <a:xfrm>
            <a:off x="1066800" y="5364163"/>
            <a:ext cx="57515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200">
                <a:solidFill>
                  <a:schemeClr val="accent2"/>
                </a:solidFill>
                <a:ea typeface="隶书" charset="0"/>
              </a:rPr>
              <a:t>双散列探测处理冲突时，</a:t>
            </a:r>
            <a:r>
              <a:rPr lang="en-US" altLang="zh-CN" sz="3200">
                <a:solidFill>
                  <a:schemeClr val="accent2"/>
                </a:solidFill>
                <a:ea typeface="隶书" charset="0"/>
              </a:rPr>
              <a:t>ASL =</a:t>
            </a:r>
            <a:endParaRPr lang="en-US" altLang="zh-CN" sz="3200">
              <a:ea typeface="隶书" charset="0"/>
            </a:endParaRPr>
          </a:p>
        </p:txBody>
      </p:sp>
      <p:sp>
        <p:nvSpPr>
          <p:cNvPr id="173064" name="Text Box 8">
            <a:hlinkClick r:id="rId4" action="ppaction://hlinksldjump"/>
          </p:cNvPr>
          <p:cNvSpPr txBox="1">
            <a:spLocks noChangeArrowheads="1"/>
          </p:cNvSpPr>
          <p:nvPr/>
        </p:nvSpPr>
        <p:spPr bwMode="auto">
          <a:xfrm>
            <a:off x="1066800" y="6049963"/>
            <a:ext cx="57515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200">
                <a:solidFill>
                  <a:schemeClr val="accent2"/>
                </a:solidFill>
                <a:ea typeface="隶书" charset="0"/>
              </a:rPr>
              <a:t>链地址法处理冲突时，    </a:t>
            </a:r>
            <a:r>
              <a:rPr lang="en-US" altLang="zh-CN" sz="3200">
                <a:solidFill>
                  <a:schemeClr val="accent2"/>
                </a:solidFill>
                <a:ea typeface="隶书" charset="0"/>
              </a:rPr>
              <a:t>ASL =</a:t>
            </a:r>
            <a:endParaRPr lang="en-US" altLang="zh-CN" sz="3200">
              <a:ea typeface="隶书" charset="0"/>
            </a:endParaRPr>
          </a:p>
        </p:txBody>
      </p:sp>
      <p:sp>
        <p:nvSpPr>
          <p:cNvPr id="173065" name="Rectangle 9"/>
          <p:cNvSpPr>
            <a:spLocks noChangeArrowheads="1"/>
          </p:cNvSpPr>
          <p:nvPr/>
        </p:nvSpPr>
        <p:spPr bwMode="auto">
          <a:xfrm>
            <a:off x="6738938" y="4724400"/>
            <a:ext cx="9064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chemeClr val="accent2"/>
                </a:solidFill>
                <a:ea typeface="隶书" charset="0"/>
              </a:rPr>
              <a:t>22</a:t>
            </a:r>
            <a:r>
              <a:rPr lang="en-US" altLang="zh-CN" sz="3200">
                <a:solidFill>
                  <a:schemeClr val="accent2"/>
                </a:solidFill>
                <a:ea typeface="隶书" charset="0"/>
              </a:rPr>
              <a:t>/9</a:t>
            </a:r>
          </a:p>
        </p:txBody>
      </p:sp>
      <p:sp>
        <p:nvSpPr>
          <p:cNvPr id="173066" name="Rectangle 10"/>
          <p:cNvSpPr>
            <a:spLocks noChangeArrowheads="1"/>
          </p:cNvSpPr>
          <p:nvPr/>
        </p:nvSpPr>
        <p:spPr bwMode="auto">
          <a:xfrm>
            <a:off x="6738938" y="5364163"/>
            <a:ext cx="9064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chemeClr val="accent2"/>
                </a:solidFill>
                <a:ea typeface="隶书" charset="0"/>
              </a:rPr>
              <a:t>14</a:t>
            </a:r>
            <a:r>
              <a:rPr lang="en-US" altLang="zh-CN" sz="3200">
                <a:solidFill>
                  <a:schemeClr val="accent2"/>
                </a:solidFill>
                <a:ea typeface="隶书" charset="0"/>
              </a:rPr>
              <a:t>/9</a:t>
            </a:r>
          </a:p>
        </p:txBody>
      </p:sp>
      <p:sp>
        <p:nvSpPr>
          <p:cNvPr id="173067" name="Rectangle 11"/>
          <p:cNvSpPr>
            <a:spLocks noChangeArrowheads="1"/>
          </p:cNvSpPr>
          <p:nvPr/>
        </p:nvSpPr>
        <p:spPr bwMode="auto">
          <a:xfrm>
            <a:off x="6738938" y="6049963"/>
            <a:ext cx="9064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chemeClr val="accent2"/>
                </a:solidFill>
                <a:ea typeface="隶书" charset="0"/>
              </a:rPr>
              <a:t>13</a:t>
            </a:r>
            <a:r>
              <a:rPr lang="en-US" altLang="zh-CN" sz="3200">
                <a:solidFill>
                  <a:schemeClr val="accent2"/>
                </a:solidFill>
                <a:ea typeface="隶书" charset="0"/>
              </a:rPr>
              <a:t>/9</a:t>
            </a:r>
          </a:p>
        </p:txBody>
      </p:sp>
    </p:spTree>
    <p:extLst>
      <p:ext uri="{BB962C8B-B14F-4D97-AF65-F5344CB8AC3E}">
        <p14:creationId xmlns:p14="http://schemas.microsoft.com/office/powerpoint/2010/main" val="19164934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73058"/>
                                        </p:tgtEl>
                                        <p:attrNameLst>
                                          <p:attrName>style.visibility</p:attrName>
                                        </p:attrNameLst>
                                      </p:cBhvr>
                                      <p:to>
                                        <p:strVal val="visible"/>
                                      </p:to>
                                    </p:set>
                                    <p:animEffect transition="in" filter="strips(downRight)">
                                      <p:cBhvr>
                                        <p:cTn id="7" dur="500"/>
                                        <p:tgtEl>
                                          <p:spTgt spid="1730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73059"/>
                                        </p:tgtEl>
                                        <p:attrNameLst>
                                          <p:attrName>style.visibility</p:attrName>
                                        </p:attrNameLst>
                                      </p:cBhvr>
                                      <p:to>
                                        <p:strVal val="visible"/>
                                      </p:to>
                                    </p:set>
                                    <p:animEffect transition="in" filter="wipe(left)">
                                      <p:cBhvr>
                                        <p:cTn id="12" dur="300"/>
                                        <p:tgtEl>
                                          <p:spTgt spid="1730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3061"/>
                                        </p:tgtEl>
                                        <p:attrNameLst>
                                          <p:attrName>style.visibility</p:attrName>
                                        </p:attrNameLst>
                                      </p:cBhvr>
                                      <p:to>
                                        <p:strVal val="visible"/>
                                      </p:to>
                                    </p:set>
                                    <p:animEffect transition="in" filter="wipe(left)">
                                      <p:cBhvr>
                                        <p:cTn id="17" dur="500"/>
                                        <p:tgtEl>
                                          <p:spTgt spid="1730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3062"/>
                                        </p:tgtEl>
                                        <p:attrNameLst>
                                          <p:attrName>style.visibility</p:attrName>
                                        </p:attrNameLst>
                                      </p:cBhvr>
                                      <p:to>
                                        <p:strVal val="visible"/>
                                      </p:to>
                                    </p:set>
                                    <p:animEffect transition="in" filter="wipe(left)">
                                      <p:cBhvr>
                                        <p:cTn id="22" dur="500"/>
                                        <p:tgtEl>
                                          <p:spTgt spid="1730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3065"/>
                                        </p:tgtEl>
                                        <p:attrNameLst>
                                          <p:attrName>style.visibility</p:attrName>
                                        </p:attrNameLst>
                                      </p:cBhvr>
                                      <p:to>
                                        <p:strVal val="visible"/>
                                      </p:to>
                                    </p:set>
                                    <p:animEffect transition="in" filter="wipe(left)">
                                      <p:cBhvr>
                                        <p:cTn id="27" dur="500"/>
                                        <p:tgtEl>
                                          <p:spTgt spid="17306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3063"/>
                                        </p:tgtEl>
                                        <p:attrNameLst>
                                          <p:attrName>style.visibility</p:attrName>
                                        </p:attrNameLst>
                                      </p:cBhvr>
                                      <p:to>
                                        <p:strVal val="visible"/>
                                      </p:to>
                                    </p:set>
                                    <p:animEffect transition="in" filter="wipe(left)">
                                      <p:cBhvr>
                                        <p:cTn id="32" dur="500"/>
                                        <p:tgtEl>
                                          <p:spTgt spid="17306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3066"/>
                                        </p:tgtEl>
                                        <p:attrNameLst>
                                          <p:attrName>style.visibility</p:attrName>
                                        </p:attrNameLst>
                                      </p:cBhvr>
                                      <p:to>
                                        <p:strVal val="visible"/>
                                      </p:to>
                                    </p:set>
                                    <p:animEffect transition="in" filter="wipe(left)">
                                      <p:cBhvr>
                                        <p:cTn id="37" dur="500"/>
                                        <p:tgtEl>
                                          <p:spTgt spid="17306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3064"/>
                                        </p:tgtEl>
                                        <p:attrNameLst>
                                          <p:attrName>style.visibility</p:attrName>
                                        </p:attrNameLst>
                                      </p:cBhvr>
                                      <p:to>
                                        <p:strVal val="visible"/>
                                      </p:to>
                                    </p:set>
                                    <p:animEffect transition="in" filter="wipe(left)">
                                      <p:cBhvr>
                                        <p:cTn id="42" dur="500"/>
                                        <p:tgtEl>
                                          <p:spTgt spid="17306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3067"/>
                                        </p:tgtEl>
                                        <p:attrNameLst>
                                          <p:attrName>style.visibility</p:attrName>
                                        </p:attrNameLst>
                                      </p:cBhvr>
                                      <p:to>
                                        <p:strVal val="visible"/>
                                      </p:to>
                                    </p:set>
                                    <p:animEffect transition="in" filter="wipe(left)">
                                      <p:cBhvr>
                                        <p:cTn id="47" dur="500"/>
                                        <p:tgtEl>
                                          <p:spTgt spid="173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8" grpId="0" autoUpdateAnimBg="0"/>
      <p:bldP spid="173059" grpId="0" autoUpdateAnimBg="0"/>
      <p:bldP spid="173061" grpId="0" autoUpdateAnimBg="0"/>
      <p:bldP spid="173062" grpId="0" autoUpdateAnimBg="0"/>
      <p:bldP spid="173063" grpId="0" autoUpdateAnimBg="0"/>
      <p:bldP spid="173064" grpId="0" autoUpdateAnimBg="0"/>
      <p:bldP spid="173065" grpId="0" autoUpdateAnimBg="0"/>
      <p:bldP spid="173066" grpId="0" autoUpdateAnimBg="0"/>
      <p:bldP spid="173067" grpId="0" autoUpdateAnimBg="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Text Box 3"/>
          <p:cNvSpPr txBox="1">
            <a:spLocks noChangeArrowheads="1"/>
          </p:cNvSpPr>
          <p:nvPr/>
        </p:nvSpPr>
        <p:spPr bwMode="auto">
          <a:xfrm>
            <a:off x="406400" y="1203325"/>
            <a:ext cx="37734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0000FF"/>
                </a:solidFill>
                <a:ea typeface="隶书" charset="0"/>
              </a:rPr>
              <a:t>线性探测再散列</a:t>
            </a:r>
            <a:endParaRPr lang="zh-CN" altLang="en-US" sz="4000"/>
          </a:p>
        </p:txBody>
      </p:sp>
      <p:sp>
        <p:nvSpPr>
          <p:cNvPr id="174084" name="Text Box 4"/>
          <p:cNvSpPr txBox="1">
            <a:spLocks noChangeArrowheads="1"/>
          </p:cNvSpPr>
          <p:nvPr/>
        </p:nvSpPr>
        <p:spPr bwMode="auto">
          <a:xfrm>
            <a:off x="381000" y="4937125"/>
            <a:ext cx="223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b="1">
                <a:solidFill>
                  <a:srgbClr val="0000FF"/>
                </a:solidFill>
                <a:ea typeface="隶书" charset="0"/>
              </a:rPr>
              <a:t>链地址法</a:t>
            </a:r>
            <a:endParaRPr lang="zh-CN" altLang="en-US"/>
          </a:p>
        </p:txBody>
      </p:sp>
      <p:sp>
        <p:nvSpPr>
          <p:cNvPr id="174085" name="Text Box 5"/>
          <p:cNvSpPr txBox="1">
            <a:spLocks noChangeArrowheads="1"/>
          </p:cNvSpPr>
          <p:nvPr/>
        </p:nvSpPr>
        <p:spPr bwMode="auto">
          <a:xfrm>
            <a:off x="406400" y="3124200"/>
            <a:ext cx="39258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zh-CN" altLang="en-US" sz="4000" b="1">
                <a:solidFill>
                  <a:srgbClr val="0000FF"/>
                </a:solidFill>
                <a:ea typeface="隶书" charset="0"/>
              </a:rPr>
              <a:t>随机探测再散列</a:t>
            </a:r>
            <a:endParaRPr lang="zh-CN" altLang="en-US" sz="4000" b="1">
              <a:solidFill>
                <a:srgbClr val="0000FF"/>
              </a:solidFill>
              <a:ea typeface="楷体_GB2312" charset="0"/>
            </a:endParaRPr>
          </a:p>
        </p:txBody>
      </p:sp>
      <p:graphicFrame>
        <p:nvGraphicFramePr>
          <p:cNvPr id="174086" name="Object 6"/>
          <p:cNvGraphicFramePr>
            <a:graphicFrameLocks noChangeAspect="1"/>
          </p:cNvGraphicFramePr>
          <p:nvPr/>
        </p:nvGraphicFramePr>
        <p:xfrm>
          <a:off x="3505200" y="1728788"/>
          <a:ext cx="3886200" cy="1319212"/>
        </p:xfrm>
        <a:graphic>
          <a:graphicData uri="http://schemas.openxmlformats.org/presentationml/2006/ole">
            <mc:AlternateContent xmlns:mc="http://schemas.openxmlformats.org/markup-compatibility/2006">
              <mc:Choice xmlns:v="urn:schemas-microsoft-com:vml" Requires="v">
                <p:oleObj spid="_x0000_s1453060" name="公式" r:id="rId3" imgW="1155600" imgH="393480" progId="Equation.3">
                  <p:embed/>
                </p:oleObj>
              </mc:Choice>
              <mc:Fallback>
                <p:oleObj name="公式" r:id="rId3" imgW="115560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1728788"/>
                        <a:ext cx="3886200" cy="1319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74087" name="Object 7"/>
          <p:cNvGraphicFramePr>
            <a:graphicFrameLocks noChangeAspect="1"/>
          </p:cNvGraphicFramePr>
          <p:nvPr/>
        </p:nvGraphicFramePr>
        <p:xfrm>
          <a:off x="3505200" y="3568700"/>
          <a:ext cx="4495800" cy="1460500"/>
        </p:xfrm>
        <a:graphic>
          <a:graphicData uri="http://schemas.openxmlformats.org/presentationml/2006/ole">
            <mc:AlternateContent xmlns:mc="http://schemas.openxmlformats.org/markup-compatibility/2006">
              <mc:Choice xmlns:v="urn:schemas-microsoft-com:vml" Requires="v">
                <p:oleObj spid="_x0000_s1453061" name="公式" r:id="rId5" imgW="1206360" imgH="393480" progId="Equation.3">
                  <p:embed/>
                </p:oleObj>
              </mc:Choice>
              <mc:Fallback>
                <p:oleObj name="公式" r:id="rId5" imgW="120636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3568700"/>
                        <a:ext cx="4495800" cy="146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74088" name="Object 8"/>
          <p:cNvGraphicFramePr>
            <a:graphicFrameLocks noChangeAspect="1"/>
          </p:cNvGraphicFramePr>
          <p:nvPr/>
        </p:nvGraphicFramePr>
        <p:xfrm>
          <a:off x="3505200" y="5126038"/>
          <a:ext cx="3124200" cy="1503362"/>
        </p:xfrm>
        <a:graphic>
          <a:graphicData uri="http://schemas.openxmlformats.org/presentationml/2006/ole">
            <mc:AlternateContent xmlns:mc="http://schemas.openxmlformats.org/markup-compatibility/2006">
              <mc:Choice xmlns:v="urn:schemas-microsoft-com:vml" Requires="v">
                <p:oleObj spid="_x0000_s1453062" name="公式" r:id="rId7" imgW="761760" imgH="393480" progId="Equation.3">
                  <p:embed/>
                </p:oleObj>
              </mc:Choice>
              <mc:Fallback>
                <p:oleObj name="公式" r:id="rId7" imgW="761760" imgH="3934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5200" y="5126038"/>
                        <a:ext cx="3124200" cy="1503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74091" name="Text Box 11"/>
          <p:cNvSpPr txBox="1">
            <a:spLocks noChangeArrowheads="1"/>
          </p:cNvSpPr>
          <p:nvPr/>
        </p:nvSpPr>
        <p:spPr bwMode="auto">
          <a:xfrm>
            <a:off x="762000" y="190500"/>
            <a:ext cx="751205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lang="zh-CN" altLang="en-US" sz="3600">
                <a:solidFill>
                  <a:schemeClr val="accent2"/>
                </a:solidFill>
                <a:ea typeface="楷体_GB2312" charset="0"/>
              </a:rPr>
              <a:t>可以证明：</a:t>
            </a:r>
            <a:r>
              <a:rPr lang="zh-CN" altLang="en-US" sz="3600" b="1">
                <a:solidFill>
                  <a:srgbClr val="990000"/>
                </a:solidFill>
                <a:ea typeface="楷体_GB2312" charset="0"/>
              </a:rPr>
              <a:t>查找成功</a:t>
            </a:r>
            <a:r>
              <a:rPr lang="zh-CN" altLang="en-US" sz="3600">
                <a:solidFill>
                  <a:schemeClr val="accent2"/>
                </a:solidFill>
                <a:ea typeface="楷体_GB2312" charset="0"/>
              </a:rPr>
              <a:t>时有下列结果：</a:t>
            </a:r>
            <a:endParaRPr lang="zh-CN" altLang="en-US" sz="4000">
              <a:solidFill>
                <a:srgbClr val="00006C"/>
              </a:solidFill>
              <a:ea typeface="楷体_GB2312" charset="0"/>
            </a:endParaRPr>
          </a:p>
        </p:txBody>
      </p:sp>
    </p:spTree>
    <p:extLst>
      <p:ext uri="{BB962C8B-B14F-4D97-AF65-F5344CB8AC3E}">
        <p14:creationId xmlns:p14="http://schemas.microsoft.com/office/powerpoint/2010/main" val="17201158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74091"/>
                                        </p:tgtEl>
                                        <p:attrNameLst>
                                          <p:attrName>style.visibility</p:attrName>
                                        </p:attrNameLst>
                                      </p:cBhvr>
                                      <p:to>
                                        <p:strVal val="visible"/>
                                      </p:to>
                                    </p:set>
                                    <p:animEffect transition="in" filter="strips(downRight)">
                                      <p:cBhvr>
                                        <p:cTn id="7" dur="500"/>
                                        <p:tgtEl>
                                          <p:spTgt spid="1740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083"/>
                                        </p:tgtEl>
                                        <p:attrNameLst>
                                          <p:attrName>style.visibility</p:attrName>
                                        </p:attrNameLst>
                                      </p:cBhvr>
                                      <p:to>
                                        <p:strVal val="visible"/>
                                      </p:to>
                                    </p:set>
                                    <p:animEffect transition="in" filter="wipe(left)">
                                      <p:cBhvr>
                                        <p:cTn id="12" dur="500"/>
                                        <p:tgtEl>
                                          <p:spTgt spid="1740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74086"/>
                                        </p:tgtEl>
                                        <p:attrNameLst>
                                          <p:attrName>style.visibility</p:attrName>
                                        </p:attrNameLst>
                                      </p:cBhvr>
                                      <p:to>
                                        <p:strVal val="visible"/>
                                      </p:to>
                                    </p:set>
                                    <p:animEffect transition="in" filter="blinds(horizontal)">
                                      <p:cBhvr>
                                        <p:cTn id="17" dur="500"/>
                                        <p:tgtEl>
                                          <p:spTgt spid="1740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4085"/>
                                        </p:tgtEl>
                                        <p:attrNameLst>
                                          <p:attrName>style.visibility</p:attrName>
                                        </p:attrNameLst>
                                      </p:cBhvr>
                                      <p:to>
                                        <p:strVal val="visible"/>
                                      </p:to>
                                    </p:set>
                                    <p:animEffect transition="in" filter="wipe(left)">
                                      <p:cBhvr>
                                        <p:cTn id="22" dur="500"/>
                                        <p:tgtEl>
                                          <p:spTgt spid="1740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74087"/>
                                        </p:tgtEl>
                                        <p:attrNameLst>
                                          <p:attrName>style.visibility</p:attrName>
                                        </p:attrNameLst>
                                      </p:cBhvr>
                                      <p:to>
                                        <p:strVal val="visible"/>
                                      </p:to>
                                    </p:set>
                                    <p:animEffect transition="in" filter="blinds(horizontal)">
                                      <p:cBhvr>
                                        <p:cTn id="27" dur="500"/>
                                        <p:tgtEl>
                                          <p:spTgt spid="17408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4084"/>
                                        </p:tgtEl>
                                        <p:attrNameLst>
                                          <p:attrName>style.visibility</p:attrName>
                                        </p:attrNameLst>
                                      </p:cBhvr>
                                      <p:to>
                                        <p:strVal val="visible"/>
                                      </p:to>
                                    </p:set>
                                    <p:animEffect transition="in" filter="wipe(left)">
                                      <p:cBhvr>
                                        <p:cTn id="32" dur="500"/>
                                        <p:tgtEl>
                                          <p:spTgt spid="17408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74088"/>
                                        </p:tgtEl>
                                        <p:attrNameLst>
                                          <p:attrName>style.visibility</p:attrName>
                                        </p:attrNameLst>
                                      </p:cBhvr>
                                      <p:to>
                                        <p:strVal val="visible"/>
                                      </p:to>
                                    </p:set>
                                    <p:animEffect transition="in" filter="blinds(horizontal)">
                                      <p:cBhvr>
                                        <p:cTn id="37" dur="500"/>
                                        <p:tgtEl>
                                          <p:spTgt spid="174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3" grpId="0" autoUpdateAnimBg="0"/>
      <p:bldP spid="174084" grpId="0" autoUpdateAnimBg="0"/>
      <p:bldP spid="174085" grpId="0" autoUpdateAnimBg="0"/>
      <p:bldP spid="174091" grpId="0" autoUpdateAnimBg="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5" name="Text Box 3"/>
          <p:cNvSpPr txBox="1">
            <a:spLocks noChangeArrowheads="1"/>
          </p:cNvSpPr>
          <p:nvPr/>
        </p:nvSpPr>
        <p:spPr bwMode="auto">
          <a:xfrm>
            <a:off x="806450" y="425450"/>
            <a:ext cx="3841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a:solidFill>
                  <a:srgbClr val="A50021"/>
                </a:solidFill>
                <a:ea typeface="楷体_GB2312" charset="0"/>
              </a:rPr>
              <a:t>从以上结果可见：</a:t>
            </a:r>
            <a:endParaRPr lang="zh-CN" altLang="en-US" sz="3600">
              <a:ea typeface="楷体_GB2312" charset="0"/>
            </a:endParaRPr>
          </a:p>
        </p:txBody>
      </p:sp>
      <p:sp>
        <p:nvSpPr>
          <p:cNvPr id="238596" name="Text Box 4"/>
          <p:cNvSpPr txBox="1">
            <a:spLocks noChangeArrowheads="1"/>
          </p:cNvSpPr>
          <p:nvPr/>
        </p:nvSpPr>
        <p:spPr bwMode="auto">
          <a:xfrm>
            <a:off x="762000" y="1123950"/>
            <a:ext cx="76962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600">
                <a:solidFill>
                  <a:srgbClr val="A50021"/>
                </a:solidFill>
                <a:ea typeface="楷体_GB2312" charset="0"/>
              </a:rPr>
              <a:t>   </a:t>
            </a:r>
            <a:r>
              <a:rPr lang="zh-CN" altLang="en-US" sz="3600">
                <a:solidFill>
                  <a:srgbClr val="A50021"/>
                </a:solidFill>
                <a:ea typeface="楷体_GB2312" charset="0"/>
              </a:rPr>
              <a:t>哈希表的平均查找长度是 </a:t>
            </a:r>
            <a:r>
              <a:rPr lang="zh-CN" altLang="en-US" sz="3600" b="1">
                <a:solidFill>
                  <a:srgbClr val="FF0000"/>
                </a:solidFill>
                <a:ea typeface="楷体_GB2312" charset="0"/>
                <a:sym typeface="Symbol" charset="2"/>
              </a:rPr>
              <a:t></a:t>
            </a:r>
            <a:r>
              <a:rPr lang="zh-CN" altLang="en-US" sz="3600">
                <a:solidFill>
                  <a:srgbClr val="A50021"/>
                </a:solidFill>
                <a:ea typeface="楷体_GB2312" charset="0"/>
                <a:sym typeface="Symbol" charset="2"/>
              </a:rPr>
              <a:t> 的函数</a:t>
            </a:r>
            <a:r>
              <a:rPr lang="zh-CN" altLang="en-US" sz="3600">
                <a:solidFill>
                  <a:srgbClr val="A50021"/>
                </a:solidFill>
                <a:ea typeface="楷体_GB2312" charset="0"/>
              </a:rPr>
              <a:t>，而不是 </a:t>
            </a:r>
            <a:r>
              <a:rPr lang="en-US" altLang="zh-CN" sz="3600" b="1" i="1">
                <a:solidFill>
                  <a:srgbClr val="FF0000"/>
                </a:solidFill>
                <a:ea typeface="楷体_GB2312" charset="0"/>
              </a:rPr>
              <a:t>n</a:t>
            </a:r>
            <a:r>
              <a:rPr lang="en-US" altLang="zh-CN" sz="3600">
                <a:solidFill>
                  <a:srgbClr val="A50021"/>
                </a:solidFill>
                <a:ea typeface="楷体_GB2312" charset="0"/>
              </a:rPr>
              <a:t> </a:t>
            </a:r>
            <a:r>
              <a:rPr lang="zh-CN" altLang="en-US" sz="3600">
                <a:solidFill>
                  <a:srgbClr val="A50021"/>
                </a:solidFill>
                <a:ea typeface="楷体_GB2312" charset="0"/>
              </a:rPr>
              <a:t>的函数。</a:t>
            </a:r>
            <a:endParaRPr lang="zh-CN" altLang="en-US" sz="3600">
              <a:ea typeface="楷体_GB2312" charset="0"/>
            </a:endParaRPr>
          </a:p>
        </p:txBody>
      </p:sp>
      <p:sp>
        <p:nvSpPr>
          <p:cNvPr id="238597" name="Text Box 5"/>
          <p:cNvSpPr txBox="1">
            <a:spLocks noChangeArrowheads="1"/>
          </p:cNvSpPr>
          <p:nvPr/>
        </p:nvSpPr>
        <p:spPr bwMode="auto">
          <a:xfrm>
            <a:off x="762000" y="2743200"/>
            <a:ext cx="76962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600">
                <a:solidFill>
                  <a:srgbClr val="A50021"/>
                </a:solidFill>
                <a:ea typeface="楷体_GB2312" charset="0"/>
              </a:rPr>
              <a:t>    </a:t>
            </a:r>
            <a:r>
              <a:rPr lang="zh-CN" altLang="en-US" sz="3600">
                <a:solidFill>
                  <a:srgbClr val="A50021"/>
                </a:solidFill>
                <a:ea typeface="楷体_GB2312" charset="0"/>
              </a:rPr>
              <a:t>这说明，用哈希表构造查找表时，可以选择一个适当的装填因子 </a:t>
            </a:r>
            <a:r>
              <a:rPr lang="zh-CN" altLang="en-US" sz="3600">
                <a:solidFill>
                  <a:srgbClr val="A50021"/>
                </a:solidFill>
                <a:ea typeface="楷体_GB2312" charset="0"/>
                <a:sym typeface="Symbol" charset="2"/>
              </a:rPr>
              <a:t> ，使得</a:t>
            </a:r>
            <a:r>
              <a:rPr lang="zh-CN" altLang="en-US" sz="3600" b="1">
                <a:solidFill>
                  <a:srgbClr val="FF0000"/>
                </a:solidFill>
                <a:ea typeface="楷体_GB2312" charset="0"/>
              </a:rPr>
              <a:t>平均查找长度限定在某个范围内</a:t>
            </a:r>
            <a:r>
              <a:rPr lang="zh-CN" altLang="en-US" sz="3600">
                <a:solidFill>
                  <a:srgbClr val="A50021"/>
                </a:solidFill>
                <a:ea typeface="楷体_GB2312" charset="0"/>
              </a:rPr>
              <a:t>。</a:t>
            </a:r>
            <a:endParaRPr lang="zh-CN" altLang="en-US" sz="3600">
              <a:ea typeface="楷体_GB2312" charset="0"/>
            </a:endParaRPr>
          </a:p>
        </p:txBody>
      </p:sp>
      <p:sp>
        <p:nvSpPr>
          <p:cNvPr id="238598" name="Text Box 6"/>
          <p:cNvSpPr txBox="1">
            <a:spLocks noChangeArrowheads="1"/>
          </p:cNvSpPr>
          <p:nvPr/>
        </p:nvSpPr>
        <p:spPr bwMode="auto">
          <a:xfrm>
            <a:off x="2025650" y="5029200"/>
            <a:ext cx="673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600" b="1">
                <a:solidFill>
                  <a:schemeClr val="accent2"/>
                </a:solidFill>
                <a:ea typeface="楷体_GB2312" charset="0"/>
              </a:rPr>
              <a:t>—— </a:t>
            </a:r>
            <a:r>
              <a:rPr lang="zh-CN" altLang="en-US" sz="3600" b="1">
                <a:solidFill>
                  <a:schemeClr val="accent2"/>
                </a:solidFill>
                <a:ea typeface="楷体_GB2312" charset="0"/>
              </a:rPr>
              <a:t>这是哈希表所特有的特点。</a:t>
            </a:r>
            <a:endParaRPr lang="zh-CN" altLang="en-US" sz="3600">
              <a:ea typeface="楷体_GB2312" charset="0"/>
            </a:endParaRPr>
          </a:p>
        </p:txBody>
      </p:sp>
      <p:sp>
        <p:nvSpPr>
          <p:cNvPr id="238599" name="AutoShape 7">
            <a:hlinkClick r:id="rId2" action="ppaction://hlinksldjump" highlightClick="1"/>
          </p:cNvPr>
          <p:cNvSpPr>
            <a:spLocks noChangeArrowheads="1"/>
          </p:cNvSpPr>
          <p:nvPr/>
        </p:nvSpPr>
        <p:spPr bwMode="auto">
          <a:xfrm>
            <a:off x="83820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8374706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8595"/>
                                        </p:tgtEl>
                                        <p:attrNameLst>
                                          <p:attrName>style.visibility</p:attrName>
                                        </p:attrNameLst>
                                      </p:cBhvr>
                                      <p:to>
                                        <p:strVal val="visible"/>
                                      </p:to>
                                    </p:set>
                                    <p:animEffect transition="in" filter="wipe(left)">
                                      <p:cBhvr>
                                        <p:cTn id="7" dur="500"/>
                                        <p:tgtEl>
                                          <p:spTgt spid="2385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8596"/>
                                        </p:tgtEl>
                                        <p:attrNameLst>
                                          <p:attrName>style.visibility</p:attrName>
                                        </p:attrNameLst>
                                      </p:cBhvr>
                                      <p:to>
                                        <p:strVal val="visible"/>
                                      </p:to>
                                    </p:set>
                                    <p:animEffect transition="in" filter="wipe(left)">
                                      <p:cBhvr>
                                        <p:cTn id="12" dur="500"/>
                                        <p:tgtEl>
                                          <p:spTgt spid="2385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8597"/>
                                        </p:tgtEl>
                                        <p:attrNameLst>
                                          <p:attrName>style.visibility</p:attrName>
                                        </p:attrNameLst>
                                      </p:cBhvr>
                                      <p:to>
                                        <p:strVal val="visible"/>
                                      </p:to>
                                    </p:set>
                                    <p:animEffect transition="in" filter="wipe(left)">
                                      <p:cBhvr>
                                        <p:cTn id="17" dur="500"/>
                                        <p:tgtEl>
                                          <p:spTgt spid="2385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8598"/>
                                        </p:tgtEl>
                                        <p:attrNameLst>
                                          <p:attrName>style.visibility</p:attrName>
                                        </p:attrNameLst>
                                      </p:cBhvr>
                                      <p:to>
                                        <p:strVal val="visible"/>
                                      </p:to>
                                    </p:set>
                                    <p:animEffect transition="in" filter="wipe(left)">
                                      <p:cBhvr>
                                        <p:cTn id="22" dur="500"/>
                                        <p:tgtEl>
                                          <p:spTgt spid="238598"/>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238599"/>
                                        </p:tgtEl>
                                        <p:attrNameLst>
                                          <p:attrName>style.visibility</p:attrName>
                                        </p:attrNameLst>
                                      </p:cBhvr>
                                      <p:to>
                                        <p:strVal val="visible"/>
                                      </p:to>
                                    </p:set>
                                    <p:anim calcmode="lin" valueType="num">
                                      <p:cBhvr additive="base">
                                        <p:cTn id="26" dur="500" fill="hold"/>
                                        <p:tgtEl>
                                          <p:spTgt spid="238599"/>
                                        </p:tgtEl>
                                        <p:attrNameLst>
                                          <p:attrName>ppt_x</p:attrName>
                                        </p:attrNameLst>
                                      </p:cBhvr>
                                      <p:tavLst>
                                        <p:tav tm="0">
                                          <p:val>
                                            <p:strVal val="1+#ppt_w/2"/>
                                          </p:val>
                                        </p:tav>
                                        <p:tav tm="100000">
                                          <p:val>
                                            <p:strVal val="#ppt_x"/>
                                          </p:val>
                                        </p:tav>
                                      </p:tavLst>
                                    </p:anim>
                                    <p:anim calcmode="lin" valueType="num">
                                      <p:cBhvr additive="base">
                                        <p:cTn id="27" dur="500" fill="hold"/>
                                        <p:tgtEl>
                                          <p:spTgt spid="2385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autoUpdateAnimBg="0"/>
      <p:bldP spid="238596" grpId="0" autoUpdateAnimBg="0"/>
      <p:bldP spid="238597" grpId="0" autoUpdateAnimBg="0"/>
      <p:bldP spid="238598" grpId="0" autoUpdateAnimBg="0"/>
      <p:bldP spid="238599"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ext Box 2"/>
          <p:cNvSpPr txBox="1">
            <a:spLocks noChangeArrowheads="1"/>
          </p:cNvSpPr>
          <p:nvPr/>
        </p:nvSpPr>
        <p:spPr bwMode="auto">
          <a:xfrm>
            <a:off x="381000" y="2070100"/>
            <a:ext cx="71628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lnSpc>
                <a:spcPct val="140000"/>
              </a:lnSpc>
            </a:pPr>
            <a:r>
              <a:rPr lang="en-US" altLang="zh-CN" sz="4000">
                <a:ea typeface="楷体_GB2312" charset="0"/>
              </a:rPr>
              <a:t>    </a:t>
            </a:r>
            <a:r>
              <a:rPr lang="en-US" altLang="zh-CN" sz="4000">
                <a:solidFill>
                  <a:srgbClr val="A50021"/>
                </a:solidFill>
                <a:ea typeface="楷体_GB2312" charset="0"/>
              </a:rPr>
              <a:t> </a:t>
            </a:r>
            <a:r>
              <a:rPr lang="zh-CN" altLang="en-US" sz="4000">
                <a:solidFill>
                  <a:srgbClr val="A50021"/>
                </a:solidFill>
                <a:ea typeface="楷体_GB2312" charset="0"/>
              </a:rPr>
              <a:t>从哈希表中删除记录时，要作</a:t>
            </a:r>
            <a:r>
              <a:rPr lang="zh-CN" altLang="en-US" sz="4000" b="1">
                <a:solidFill>
                  <a:srgbClr val="FF0000"/>
                </a:solidFill>
                <a:ea typeface="楷体_GB2312" charset="0"/>
              </a:rPr>
              <a:t>特殊处理</a:t>
            </a:r>
            <a:r>
              <a:rPr lang="zh-CN" altLang="en-US" sz="4000">
                <a:solidFill>
                  <a:srgbClr val="A50021"/>
                </a:solidFill>
                <a:ea typeface="楷体_GB2312" charset="0"/>
              </a:rPr>
              <a:t>，相应地，需要修改查找的算法。</a:t>
            </a:r>
            <a:endParaRPr lang="zh-CN" altLang="en-US"/>
          </a:p>
        </p:txBody>
      </p:sp>
      <p:sp>
        <p:nvSpPr>
          <p:cNvPr id="175107" name="Text Box 3"/>
          <p:cNvSpPr txBox="1">
            <a:spLocks noChangeArrowheads="1"/>
          </p:cNvSpPr>
          <p:nvPr/>
        </p:nvSpPr>
        <p:spPr bwMode="auto">
          <a:xfrm>
            <a:off x="609600" y="914400"/>
            <a:ext cx="5302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000">
                <a:solidFill>
                  <a:srgbClr val="FF00FF"/>
                </a:solidFill>
                <a:ea typeface="楷体_GB2312" charset="0"/>
              </a:rPr>
              <a:t>五、</a:t>
            </a:r>
            <a:r>
              <a:rPr lang="zh-CN" altLang="en-US" sz="4000" b="1">
                <a:solidFill>
                  <a:srgbClr val="FF00FF"/>
                </a:solidFill>
                <a:ea typeface="楷体_GB2312" charset="0"/>
              </a:rPr>
              <a:t>哈希表的删除操作</a:t>
            </a:r>
          </a:p>
        </p:txBody>
      </p:sp>
      <p:sp>
        <p:nvSpPr>
          <p:cNvPr id="175110" name="AutoShape 6">
            <a:hlinkClick r:id="rId2" action="ppaction://hlinksldjump" highlightClick="1"/>
          </p:cNvPr>
          <p:cNvSpPr>
            <a:spLocks noChangeArrowheads="1"/>
          </p:cNvSpPr>
          <p:nvPr/>
        </p:nvSpPr>
        <p:spPr bwMode="auto">
          <a:xfrm>
            <a:off x="83820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263213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175107"/>
                                        </p:tgtEl>
                                        <p:attrNameLst>
                                          <p:attrName>style.visibility</p:attrName>
                                        </p:attrNameLst>
                                      </p:cBhvr>
                                      <p:to>
                                        <p:strVal val="visible"/>
                                      </p:to>
                                    </p:set>
                                    <p:animEffect transition="in" filter="randombar(vertical)">
                                      <p:cBhvr>
                                        <p:cTn id="7" dur="500"/>
                                        <p:tgtEl>
                                          <p:spTgt spid="1751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75106"/>
                                        </p:tgtEl>
                                        <p:attrNameLst>
                                          <p:attrName>style.visibility</p:attrName>
                                        </p:attrNameLst>
                                      </p:cBhvr>
                                      <p:to>
                                        <p:strVal val="visible"/>
                                      </p:to>
                                    </p:set>
                                    <p:animEffect transition="in" filter="wipe(left)">
                                      <p:cBhvr>
                                        <p:cTn id="12" dur="300"/>
                                        <p:tgtEl>
                                          <p:spTgt spid="175106"/>
                                        </p:tgtEl>
                                      </p:cBhvr>
                                    </p:animEffect>
                                  </p:childTnLst>
                                </p:cTn>
                              </p:par>
                            </p:childTnLst>
                          </p:cTn>
                        </p:par>
                        <p:par>
                          <p:cTn id="13" fill="hold" nodeType="afterGroup">
                            <p:stCondLst>
                              <p:cond delay="6600"/>
                            </p:stCondLst>
                            <p:childTnLst>
                              <p:par>
                                <p:cTn id="14" presetID="2" presetClass="entr" presetSubtype="6" fill="hold" grpId="0" nodeType="afterEffect">
                                  <p:stCondLst>
                                    <p:cond delay="0"/>
                                  </p:stCondLst>
                                  <p:childTnLst>
                                    <p:set>
                                      <p:cBhvr>
                                        <p:cTn id="15" dur="1" fill="hold">
                                          <p:stCondLst>
                                            <p:cond delay="0"/>
                                          </p:stCondLst>
                                        </p:cTn>
                                        <p:tgtEl>
                                          <p:spTgt spid="175110"/>
                                        </p:tgtEl>
                                        <p:attrNameLst>
                                          <p:attrName>style.visibility</p:attrName>
                                        </p:attrNameLst>
                                      </p:cBhvr>
                                      <p:to>
                                        <p:strVal val="visible"/>
                                      </p:to>
                                    </p:set>
                                    <p:anim calcmode="lin" valueType="num">
                                      <p:cBhvr additive="base">
                                        <p:cTn id="16" dur="500" fill="hold"/>
                                        <p:tgtEl>
                                          <p:spTgt spid="175110"/>
                                        </p:tgtEl>
                                        <p:attrNameLst>
                                          <p:attrName>ppt_x</p:attrName>
                                        </p:attrNameLst>
                                      </p:cBhvr>
                                      <p:tavLst>
                                        <p:tav tm="0">
                                          <p:val>
                                            <p:strVal val="1+#ppt_w/2"/>
                                          </p:val>
                                        </p:tav>
                                        <p:tav tm="100000">
                                          <p:val>
                                            <p:strVal val="#ppt_x"/>
                                          </p:val>
                                        </p:tav>
                                      </p:tavLst>
                                    </p:anim>
                                    <p:anim calcmode="lin" valueType="num">
                                      <p:cBhvr additive="base">
                                        <p:cTn id="17" dur="500" fill="hold"/>
                                        <p:tgtEl>
                                          <p:spTgt spid="1751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6" grpId="0" autoUpdateAnimBg="0"/>
      <p:bldP spid="175107" grpId="0" autoUpdateAnimBg="0"/>
      <p:bldP spid="175110"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ext Box 2"/>
          <p:cNvSpPr txBox="1">
            <a:spLocks noChangeArrowheads="1"/>
          </p:cNvSpPr>
          <p:nvPr/>
        </p:nvSpPr>
        <p:spPr bwMode="auto">
          <a:xfrm>
            <a:off x="381000" y="381000"/>
            <a:ext cx="84582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2400">
                <a:solidFill>
                  <a:schemeClr val="tx1"/>
                </a:solidFill>
                <a:latin typeface="Times New Roman" charset="0"/>
                <a:ea typeface="宋体" charset="-122"/>
              </a:defRPr>
            </a:lvl1pPr>
            <a:lvl2pPr marL="190500">
              <a:defRPr kumimoji="1" sz="2400">
                <a:solidFill>
                  <a:schemeClr val="tx1"/>
                </a:solidFill>
                <a:latin typeface="Times New Roman" charset="0"/>
                <a:ea typeface="宋体" charset="-122"/>
              </a:defRPr>
            </a:lvl2pPr>
            <a:lvl3pPr marL="381000">
              <a:defRPr kumimoji="1" sz="2400">
                <a:solidFill>
                  <a:schemeClr val="tx1"/>
                </a:solidFill>
                <a:latin typeface="Times New Roman" charset="0"/>
                <a:ea typeface="宋体" charset="-122"/>
              </a:defRPr>
            </a:lvl3pPr>
            <a:lvl4pPr>
              <a:defRPr kumimoji="1" sz="2400">
                <a:solidFill>
                  <a:schemeClr val="tx1"/>
                </a:solidFill>
                <a:latin typeface="Times New Roman" charset="0"/>
                <a:ea typeface="宋体" charset="-122"/>
              </a:defRPr>
            </a:lvl4pPr>
            <a:lvl5pPr>
              <a:defRPr kumimoji="1" sz="2400">
                <a:solidFill>
                  <a:schemeClr val="tx1"/>
                </a:solidFill>
                <a:latin typeface="Times New Roman" charset="0"/>
                <a:ea typeface="宋体" charset="-122"/>
              </a:defRPr>
            </a:lvl5pPr>
            <a:lvl6pPr fontAlgn="base">
              <a:spcBef>
                <a:spcPct val="0"/>
              </a:spcBef>
              <a:spcAft>
                <a:spcPct val="0"/>
              </a:spcAft>
              <a:defRPr kumimoji="1" sz="2400">
                <a:solidFill>
                  <a:schemeClr val="tx1"/>
                </a:solidFill>
                <a:latin typeface="Times New Roman" charset="0"/>
                <a:ea typeface="宋体" charset="-122"/>
              </a:defRPr>
            </a:lvl6pPr>
            <a:lvl7pPr fontAlgn="base">
              <a:spcBef>
                <a:spcPct val="0"/>
              </a:spcBef>
              <a:spcAft>
                <a:spcPct val="0"/>
              </a:spcAft>
              <a:defRPr kumimoji="1" sz="2400">
                <a:solidFill>
                  <a:schemeClr val="tx1"/>
                </a:solidFill>
                <a:latin typeface="Times New Roman" charset="0"/>
                <a:ea typeface="宋体" charset="-122"/>
              </a:defRPr>
            </a:lvl7pPr>
            <a:lvl8pPr fontAlgn="base">
              <a:spcBef>
                <a:spcPct val="0"/>
              </a:spcBef>
              <a:spcAft>
                <a:spcPct val="0"/>
              </a:spcAft>
              <a:defRPr kumimoji="1" sz="2400">
                <a:solidFill>
                  <a:schemeClr val="tx1"/>
                </a:solidFill>
                <a:latin typeface="Times New Roman" charset="0"/>
                <a:ea typeface="宋体" charset="-122"/>
              </a:defRPr>
            </a:lvl8pPr>
            <a:lvl9pPr fontAlgn="base">
              <a:spcBef>
                <a:spcPct val="0"/>
              </a:spcBef>
              <a:spcAft>
                <a:spcPct val="0"/>
              </a:spcAft>
              <a:defRPr kumimoji="1" sz="2400">
                <a:solidFill>
                  <a:schemeClr val="tx1"/>
                </a:solidFill>
                <a:latin typeface="Times New Roman" charset="0"/>
                <a:ea typeface="宋体" charset="-122"/>
              </a:defRPr>
            </a:lvl9pPr>
          </a:lstStyle>
          <a:p>
            <a:pPr lvl="2">
              <a:lnSpc>
                <a:spcPct val="130000"/>
              </a:lnSpc>
            </a:pPr>
            <a:r>
              <a:rPr lang="zh-CN" altLang="en-US" sz="4000" b="1">
                <a:solidFill>
                  <a:srgbClr val="3333FF"/>
                </a:solidFill>
                <a:ea typeface="楷体_GB2312" charset="0"/>
              </a:rPr>
              <a:t>六、哈希表也可以用来构造静态查找表</a:t>
            </a:r>
            <a:endParaRPr lang="zh-CN" altLang="en-US">
              <a:solidFill>
                <a:srgbClr val="FF0000"/>
              </a:solidFill>
            </a:endParaRPr>
          </a:p>
        </p:txBody>
      </p:sp>
      <p:sp>
        <p:nvSpPr>
          <p:cNvPr id="176133" name="Rectangle 5"/>
          <p:cNvSpPr>
            <a:spLocks noChangeArrowheads="1"/>
          </p:cNvSpPr>
          <p:nvPr/>
        </p:nvSpPr>
        <p:spPr bwMode="auto">
          <a:xfrm>
            <a:off x="-76200" y="2057400"/>
            <a:ext cx="8763000" cy="405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lnSpc>
                <a:spcPct val="130000"/>
              </a:lnSpc>
            </a:pPr>
            <a:r>
              <a:rPr lang="en-US" altLang="zh-CN" sz="4000">
                <a:solidFill>
                  <a:srgbClr val="A50021"/>
                </a:solidFill>
                <a:ea typeface="楷体_GB2312" charset="0"/>
              </a:rPr>
              <a:t>   </a:t>
            </a:r>
            <a:r>
              <a:rPr lang="zh-CN" altLang="en-US" sz="4000">
                <a:solidFill>
                  <a:srgbClr val="A50021"/>
                </a:solidFill>
                <a:ea typeface="楷体_GB2312" charset="0"/>
              </a:rPr>
              <a:t>并且，</a:t>
            </a:r>
            <a:r>
              <a:rPr lang="zh-CN" altLang="en-US" sz="4000" b="1">
                <a:solidFill>
                  <a:srgbClr val="A50021"/>
                </a:solidFill>
                <a:ea typeface="楷体_GB2312" charset="0"/>
              </a:rPr>
              <a:t>对静态查找表，有时可以</a:t>
            </a:r>
            <a:r>
              <a:rPr lang="zh-CN" altLang="en-US" sz="4000">
                <a:solidFill>
                  <a:srgbClr val="A50021"/>
                </a:solidFill>
                <a:ea typeface="楷体_GB2312" charset="0"/>
              </a:rPr>
              <a:t>找到不发生冲突的哈希函数。即，此时的</a:t>
            </a:r>
            <a:r>
              <a:rPr lang="zh-CN" altLang="en-US" sz="4000" b="1">
                <a:solidFill>
                  <a:srgbClr val="A50021"/>
                </a:solidFill>
                <a:ea typeface="楷体_GB2312" charset="0"/>
              </a:rPr>
              <a:t>哈希表的 </a:t>
            </a:r>
            <a:r>
              <a:rPr lang="en-US" altLang="zh-CN" sz="4000" b="1">
                <a:solidFill>
                  <a:srgbClr val="FF0000"/>
                </a:solidFill>
                <a:ea typeface="楷体_GB2312" charset="0"/>
              </a:rPr>
              <a:t>ASL=0</a:t>
            </a:r>
            <a:r>
              <a:rPr lang="en-US" altLang="zh-CN" sz="4000" b="1">
                <a:solidFill>
                  <a:srgbClr val="A50021"/>
                </a:solidFill>
                <a:ea typeface="楷体_GB2312" charset="0"/>
              </a:rPr>
              <a:t>,</a:t>
            </a:r>
            <a:r>
              <a:rPr lang="en-US" altLang="zh-CN" sz="4000">
                <a:solidFill>
                  <a:srgbClr val="A50021"/>
                </a:solidFill>
                <a:ea typeface="楷体_GB2312" charset="0"/>
              </a:rPr>
              <a:t>  </a:t>
            </a:r>
            <a:r>
              <a:rPr lang="zh-CN" altLang="en-US" sz="4000">
                <a:solidFill>
                  <a:srgbClr val="A50021"/>
                </a:solidFill>
                <a:ea typeface="楷体_GB2312" charset="0"/>
              </a:rPr>
              <a:t>称此类</a:t>
            </a:r>
          </a:p>
          <a:p>
            <a:pPr lvl="2">
              <a:lnSpc>
                <a:spcPct val="130000"/>
              </a:lnSpc>
            </a:pPr>
            <a:r>
              <a:rPr lang="zh-CN" altLang="en-US" sz="4000">
                <a:solidFill>
                  <a:srgbClr val="A50021"/>
                </a:solidFill>
                <a:ea typeface="楷体_GB2312" charset="0"/>
              </a:rPr>
              <a:t>哈希函数为</a:t>
            </a:r>
            <a:r>
              <a:rPr lang="zh-CN" altLang="en-US" sz="4000">
                <a:solidFill>
                  <a:srgbClr val="FF0000"/>
                </a:solidFill>
                <a:ea typeface="楷体_GB2312" charset="0"/>
              </a:rPr>
              <a:t>理想</a:t>
            </a:r>
            <a:r>
              <a:rPr lang="zh-CN" altLang="en-US" sz="4000">
                <a:solidFill>
                  <a:srgbClr val="A50021"/>
                </a:solidFill>
                <a:ea typeface="楷体_GB2312" charset="0"/>
              </a:rPr>
              <a:t>（</a:t>
            </a:r>
            <a:r>
              <a:rPr lang="en-US" altLang="zh-CN" sz="4000">
                <a:solidFill>
                  <a:srgbClr val="A50021"/>
                </a:solidFill>
                <a:ea typeface="楷体_GB2312" charset="0"/>
              </a:rPr>
              <a:t>perfect</a:t>
            </a:r>
            <a:r>
              <a:rPr lang="zh-CN" altLang="en-US" sz="4000">
                <a:solidFill>
                  <a:srgbClr val="A50021"/>
                </a:solidFill>
                <a:ea typeface="楷体_GB2312" charset="0"/>
              </a:rPr>
              <a:t>）</a:t>
            </a:r>
            <a:r>
              <a:rPr lang="zh-CN" altLang="en-US" sz="4000">
                <a:solidFill>
                  <a:srgbClr val="FF0000"/>
                </a:solidFill>
                <a:ea typeface="楷体_GB2312" charset="0"/>
              </a:rPr>
              <a:t>的哈希函数。</a:t>
            </a:r>
          </a:p>
        </p:txBody>
      </p:sp>
      <p:sp>
        <p:nvSpPr>
          <p:cNvPr id="176134" name="AutoShape 6">
            <a:hlinkClick r:id="rId2" action="ppaction://hlinksldjump" highlightClick="1"/>
          </p:cNvPr>
          <p:cNvSpPr>
            <a:spLocks noChangeArrowheads="1"/>
          </p:cNvSpPr>
          <p:nvPr/>
        </p:nvSpPr>
        <p:spPr bwMode="auto">
          <a:xfrm>
            <a:off x="83820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18244914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iterate type="wd">
                                    <p:tmPct val="100000"/>
                                  </p:iterate>
                                  <p:childTnLst>
                                    <p:set>
                                      <p:cBhvr>
                                        <p:cTn id="6" dur="1" fill="hold">
                                          <p:stCondLst>
                                            <p:cond delay="0"/>
                                          </p:stCondLst>
                                        </p:cTn>
                                        <p:tgtEl>
                                          <p:spTgt spid="176130"/>
                                        </p:tgtEl>
                                        <p:attrNameLst>
                                          <p:attrName>style.visibility</p:attrName>
                                        </p:attrNameLst>
                                      </p:cBhvr>
                                      <p:to>
                                        <p:strVal val="visible"/>
                                      </p:to>
                                    </p:set>
                                    <p:animEffect transition="in" filter="strips(downRight)">
                                      <p:cBhvr>
                                        <p:cTn id="7" dur="300"/>
                                        <p:tgtEl>
                                          <p:spTgt spid="1761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176133"/>
                                        </p:tgtEl>
                                        <p:attrNameLst>
                                          <p:attrName>style.visibility</p:attrName>
                                        </p:attrNameLst>
                                      </p:cBhvr>
                                      <p:to>
                                        <p:strVal val="visible"/>
                                      </p:to>
                                    </p:set>
                                    <p:animEffect transition="in" filter="strips(downRight)">
                                      <p:cBhvr>
                                        <p:cTn id="12" dur="300"/>
                                        <p:tgtEl>
                                          <p:spTgt spid="176133"/>
                                        </p:tgtEl>
                                      </p:cBhvr>
                                    </p:animEffect>
                                  </p:childTnLst>
                                </p:cTn>
                              </p:par>
                            </p:childTnLst>
                          </p:cTn>
                        </p:par>
                        <p:par>
                          <p:cTn id="13" fill="hold" nodeType="afterGroup">
                            <p:stCondLst>
                              <p:cond delay="12000"/>
                            </p:stCondLst>
                            <p:childTnLst>
                              <p:par>
                                <p:cTn id="14" presetID="2" presetClass="entr" presetSubtype="6" fill="hold" grpId="0" nodeType="afterEffect">
                                  <p:stCondLst>
                                    <p:cond delay="0"/>
                                  </p:stCondLst>
                                  <p:childTnLst>
                                    <p:set>
                                      <p:cBhvr>
                                        <p:cTn id="15" dur="1" fill="hold">
                                          <p:stCondLst>
                                            <p:cond delay="0"/>
                                          </p:stCondLst>
                                        </p:cTn>
                                        <p:tgtEl>
                                          <p:spTgt spid="176134"/>
                                        </p:tgtEl>
                                        <p:attrNameLst>
                                          <p:attrName>style.visibility</p:attrName>
                                        </p:attrNameLst>
                                      </p:cBhvr>
                                      <p:to>
                                        <p:strVal val="visible"/>
                                      </p:to>
                                    </p:set>
                                    <p:anim calcmode="lin" valueType="num">
                                      <p:cBhvr additive="base">
                                        <p:cTn id="16" dur="500" fill="hold"/>
                                        <p:tgtEl>
                                          <p:spTgt spid="176134"/>
                                        </p:tgtEl>
                                        <p:attrNameLst>
                                          <p:attrName>ppt_x</p:attrName>
                                        </p:attrNameLst>
                                      </p:cBhvr>
                                      <p:tavLst>
                                        <p:tav tm="0">
                                          <p:val>
                                            <p:strVal val="1+#ppt_w/2"/>
                                          </p:val>
                                        </p:tav>
                                        <p:tav tm="100000">
                                          <p:val>
                                            <p:strVal val="#ppt_x"/>
                                          </p:val>
                                        </p:tav>
                                      </p:tavLst>
                                    </p:anim>
                                    <p:anim calcmode="lin" valueType="num">
                                      <p:cBhvr additive="base">
                                        <p:cTn id="17" dur="500" fill="hold"/>
                                        <p:tgtEl>
                                          <p:spTgt spid="1761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autoUpdateAnimBg="0"/>
      <p:bldP spid="176133" grpId="0" autoUpdateAnimBg="0"/>
      <p:bldP spid="176134"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Text Box 2"/>
          <p:cNvSpPr txBox="1">
            <a:spLocks noChangeArrowheads="1"/>
          </p:cNvSpPr>
          <p:nvPr/>
        </p:nvSpPr>
        <p:spPr bwMode="auto">
          <a:xfrm>
            <a:off x="609600" y="609600"/>
            <a:ext cx="80772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600">
                <a:solidFill>
                  <a:srgbClr val="990000"/>
                </a:solidFill>
                <a:ea typeface="楷体_GB2312" charset="0"/>
              </a:rPr>
              <a:t>     </a:t>
            </a:r>
            <a:r>
              <a:rPr lang="en-US" altLang="zh-CN" sz="3600" b="1">
                <a:solidFill>
                  <a:srgbClr val="A50021"/>
                </a:solidFill>
                <a:ea typeface="楷体_GB2312" charset="0"/>
              </a:rPr>
              <a:t>1.</a:t>
            </a:r>
            <a:r>
              <a:rPr lang="en-US" altLang="zh-CN" sz="3600">
                <a:solidFill>
                  <a:srgbClr val="A50021"/>
                </a:solidFill>
                <a:latin typeface="楷体_GB2312" charset="0"/>
                <a:ea typeface="楷体_GB2312" charset="0"/>
              </a:rPr>
              <a:t> </a:t>
            </a:r>
            <a:r>
              <a:rPr lang="zh-CN" altLang="en-US" sz="3600" b="1">
                <a:solidFill>
                  <a:srgbClr val="A50021"/>
                </a:solidFill>
                <a:latin typeface="楷体_GB2312" charset="0"/>
                <a:ea typeface="楷体_GB2312" charset="0"/>
              </a:rPr>
              <a:t>顺序表</a:t>
            </a:r>
            <a:r>
              <a:rPr lang="zh-CN" altLang="en-US" sz="3600">
                <a:solidFill>
                  <a:srgbClr val="A50021"/>
                </a:solidFill>
                <a:latin typeface="楷体_GB2312" charset="0"/>
                <a:ea typeface="楷体_GB2312" charset="0"/>
              </a:rPr>
              <a:t>和</a:t>
            </a:r>
            <a:r>
              <a:rPr lang="zh-CN" altLang="en-US" sz="3600" b="1">
                <a:solidFill>
                  <a:srgbClr val="A50021"/>
                </a:solidFill>
                <a:latin typeface="楷体_GB2312" charset="0"/>
                <a:ea typeface="楷体_GB2312" charset="0"/>
              </a:rPr>
              <a:t>有序表</a:t>
            </a:r>
            <a:r>
              <a:rPr lang="zh-CN" altLang="en-US" sz="3600">
                <a:solidFill>
                  <a:srgbClr val="A50021"/>
                </a:solidFill>
                <a:latin typeface="楷体_GB2312" charset="0"/>
                <a:ea typeface="楷体_GB2312" charset="0"/>
              </a:rPr>
              <a:t>的查找方法及其平均查找长度的计算方法。</a:t>
            </a:r>
            <a:endParaRPr lang="zh-CN" altLang="en-US" sz="4000">
              <a:solidFill>
                <a:srgbClr val="A50021"/>
              </a:solidFill>
            </a:endParaRPr>
          </a:p>
        </p:txBody>
      </p:sp>
      <p:sp>
        <p:nvSpPr>
          <p:cNvPr id="183300" name="Text Box 4"/>
          <p:cNvSpPr txBox="1">
            <a:spLocks noChangeArrowheads="1"/>
          </p:cNvSpPr>
          <p:nvPr/>
        </p:nvSpPr>
        <p:spPr bwMode="auto">
          <a:xfrm>
            <a:off x="593725" y="4419600"/>
            <a:ext cx="8626475"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600" b="1">
                <a:solidFill>
                  <a:srgbClr val="990000"/>
                </a:solidFill>
                <a:ea typeface="楷体_GB2312" charset="0"/>
              </a:rPr>
              <a:t>     </a:t>
            </a:r>
            <a:r>
              <a:rPr lang="en-US" altLang="zh-CN" sz="3600" b="1">
                <a:solidFill>
                  <a:srgbClr val="FF0000"/>
                </a:solidFill>
                <a:ea typeface="楷体_GB2312" charset="0"/>
              </a:rPr>
              <a:t>3.</a:t>
            </a:r>
            <a:r>
              <a:rPr lang="en-US" altLang="zh-CN" sz="3600">
                <a:solidFill>
                  <a:srgbClr val="FF0000"/>
                </a:solidFill>
                <a:latin typeface="楷体_GB2312" charset="0"/>
                <a:ea typeface="楷体_GB2312" charset="0"/>
              </a:rPr>
              <a:t> </a:t>
            </a:r>
            <a:r>
              <a:rPr lang="zh-CN" altLang="en-US" sz="3600">
                <a:solidFill>
                  <a:srgbClr val="FF0000"/>
                </a:solidFill>
                <a:latin typeface="楷体_GB2312" charset="0"/>
                <a:ea typeface="楷体_GB2312" charset="0"/>
              </a:rPr>
              <a:t>熟练掌握</a:t>
            </a:r>
            <a:r>
              <a:rPr lang="zh-CN" altLang="en-US" sz="3600" b="1">
                <a:solidFill>
                  <a:srgbClr val="FF0000"/>
                </a:solidFill>
                <a:latin typeface="楷体_GB2312" charset="0"/>
                <a:ea typeface="楷体_GB2312" charset="0"/>
              </a:rPr>
              <a:t>二叉排序树</a:t>
            </a:r>
            <a:r>
              <a:rPr lang="zh-CN" altLang="en-US" sz="3600">
                <a:solidFill>
                  <a:srgbClr val="FF0000"/>
                </a:solidFill>
                <a:latin typeface="楷体_GB2312" charset="0"/>
                <a:ea typeface="楷体_GB2312" charset="0"/>
              </a:rPr>
              <a:t>的构造和查找方法。</a:t>
            </a:r>
            <a:endParaRPr lang="zh-CN" altLang="en-US" sz="3600">
              <a:solidFill>
                <a:srgbClr val="990000"/>
              </a:solidFill>
              <a:latin typeface="楷体_GB2312" charset="0"/>
              <a:ea typeface="楷体_GB2312" charset="0"/>
            </a:endParaRPr>
          </a:p>
        </p:txBody>
      </p:sp>
      <p:sp>
        <p:nvSpPr>
          <p:cNvPr id="183301" name="Text Box 5"/>
          <p:cNvSpPr txBox="1">
            <a:spLocks noChangeArrowheads="1"/>
          </p:cNvSpPr>
          <p:nvPr/>
        </p:nvSpPr>
        <p:spPr bwMode="auto">
          <a:xfrm>
            <a:off x="609600" y="2590800"/>
            <a:ext cx="83058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600" b="1">
                <a:solidFill>
                  <a:srgbClr val="A50021"/>
                </a:solidFill>
                <a:ea typeface="楷体_GB2312" charset="0"/>
              </a:rPr>
              <a:t>     2.</a:t>
            </a:r>
            <a:r>
              <a:rPr lang="en-US" altLang="zh-CN" sz="3600">
                <a:solidFill>
                  <a:srgbClr val="A50021"/>
                </a:solidFill>
                <a:latin typeface="楷体_GB2312" charset="0"/>
                <a:ea typeface="楷体_GB2312" charset="0"/>
              </a:rPr>
              <a:t> </a:t>
            </a:r>
            <a:r>
              <a:rPr lang="zh-CN" altLang="en-US" sz="3600">
                <a:solidFill>
                  <a:srgbClr val="A50021"/>
                </a:solidFill>
                <a:latin typeface="楷体_GB2312" charset="0"/>
                <a:ea typeface="楷体_GB2312" charset="0"/>
              </a:rPr>
              <a:t>静态查找树的构造方法和查找算法</a:t>
            </a:r>
            <a:r>
              <a:rPr lang="en-US" altLang="zh-CN" sz="3600">
                <a:solidFill>
                  <a:srgbClr val="A50021"/>
                </a:solidFill>
                <a:latin typeface="楷体_GB2312" charset="0"/>
                <a:ea typeface="楷体_GB2312" charset="0"/>
              </a:rPr>
              <a:t>,</a:t>
            </a:r>
            <a:r>
              <a:rPr lang="zh-CN" altLang="en-US" sz="3600">
                <a:solidFill>
                  <a:srgbClr val="A50021"/>
                </a:solidFill>
                <a:latin typeface="楷体_GB2312" charset="0"/>
                <a:ea typeface="楷体_GB2312" charset="0"/>
              </a:rPr>
              <a:t>理解静态查找树和折半查找的关系。</a:t>
            </a:r>
            <a:endParaRPr lang="zh-CN" altLang="en-US" sz="4000">
              <a:solidFill>
                <a:srgbClr val="A50021"/>
              </a:solidFill>
            </a:endParaRPr>
          </a:p>
        </p:txBody>
      </p:sp>
    </p:spTree>
    <p:extLst>
      <p:ext uri="{BB962C8B-B14F-4D97-AF65-F5344CB8AC3E}">
        <p14:creationId xmlns:p14="http://schemas.microsoft.com/office/powerpoint/2010/main" val="20241577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Text Box 2"/>
          <p:cNvSpPr txBox="1">
            <a:spLocks noChangeArrowheads="1"/>
          </p:cNvSpPr>
          <p:nvPr/>
        </p:nvSpPr>
        <p:spPr bwMode="auto">
          <a:xfrm>
            <a:off x="609600" y="514350"/>
            <a:ext cx="85344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600" b="1">
                <a:solidFill>
                  <a:srgbClr val="990000"/>
                </a:solidFill>
                <a:ea typeface="楷体_GB2312" charset="0"/>
              </a:rPr>
              <a:t>     4.</a:t>
            </a:r>
            <a:r>
              <a:rPr lang="en-US" altLang="zh-CN" sz="3600">
                <a:solidFill>
                  <a:srgbClr val="990000"/>
                </a:solidFill>
                <a:latin typeface="楷体_GB2312" charset="0"/>
                <a:ea typeface="楷体_GB2312" charset="0"/>
              </a:rPr>
              <a:t> </a:t>
            </a:r>
            <a:r>
              <a:rPr lang="zh-CN" altLang="en-US" sz="3600">
                <a:solidFill>
                  <a:srgbClr val="990000"/>
                </a:solidFill>
                <a:latin typeface="楷体_GB2312" charset="0"/>
                <a:ea typeface="楷体_GB2312" charset="0"/>
              </a:rPr>
              <a:t>理解</a:t>
            </a:r>
            <a:r>
              <a:rPr lang="en-US" altLang="zh-CN" sz="3600" b="1">
                <a:solidFill>
                  <a:srgbClr val="990000"/>
                </a:solidFill>
                <a:ea typeface="楷体_GB2312" charset="0"/>
              </a:rPr>
              <a:t>B-</a:t>
            </a:r>
            <a:r>
              <a:rPr lang="zh-CN" altLang="en-US" sz="3600" b="1">
                <a:solidFill>
                  <a:srgbClr val="990000"/>
                </a:solidFill>
                <a:latin typeface="楷体_GB2312" charset="0"/>
                <a:ea typeface="楷体_GB2312" charset="0"/>
              </a:rPr>
              <a:t>树</a:t>
            </a:r>
            <a:r>
              <a:rPr lang="zh-CN" altLang="en-US" sz="3600">
                <a:solidFill>
                  <a:srgbClr val="990000"/>
                </a:solidFill>
                <a:latin typeface="楷体_GB2312" charset="0"/>
                <a:ea typeface="楷体_GB2312" charset="0"/>
              </a:rPr>
              <a:t>和</a:t>
            </a:r>
            <a:r>
              <a:rPr lang="en-US" altLang="zh-CN" sz="3600" b="1">
                <a:solidFill>
                  <a:srgbClr val="990000"/>
                </a:solidFill>
                <a:ea typeface="楷体_GB2312" charset="0"/>
              </a:rPr>
              <a:t>B</a:t>
            </a:r>
            <a:r>
              <a:rPr lang="en-US" altLang="zh-CN" sz="3600" b="1" baseline="30000">
                <a:solidFill>
                  <a:srgbClr val="990000"/>
                </a:solidFill>
                <a:ea typeface="楷体_GB2312" charset="0"/>
              </a:rPr>
              <a:t>+</a:t>
            </a:r>
            <a:r>
              <a:rPr lang="zh-CN" altLang="en-US" sz="3600" b="1">
                <a:solidFill>
                  <a:srgbClr val="990000"/>
                </a:solidFill>
                <a:latin typeface="楷体_GB2312" charset="0"/>
                <a:ea typeface="楷体_GB2312" charset="0"/>
              </a:rPr>
              <a:t>树</a:t>
            </a:r>
            <a:r>
              <a:rPr lang="zh-CN" altLang="en-US" sz="3600">
                <a:solidFill>
                  <a:srgbClr val="990000"/>
                </a:solidFill>
                <a:latin typeface="楷体_GB2312" charset="0"/>
                <a:ea typeface="楷体_GB2312" charset="0"/>
              </a:rPr>
              <a:t>的</a:t>
            </a:r>
            <a:r>
              <a:rPr lang="zh-CN" altLang="en-US" sz="3600" b="1">
                <a:solidFill>
                  <a:srgbClr val="FF0000"/>
                </a:solidFill>
                <a:latin typeface="楷体_GB2312" charset="0"/>
                <a:ea typeface="楷体_GB2312" charset="0"/>
              </a:rPr>
              <a:t>特点</a:t>
            </a:r>
            <a:r>
              <a:rPr lang="zh-CN" altLang="en-US" sz="3600" b="1">
                <a:solidFill>
                  <a:srgbClr val="990000"/>
                </a:solidFill>
                <a:latin typeface="楷体_GB2312" charset="0"/>
                <a:ea typeface="楷体_GB2312" charset="0"/>
              </a:rPr>
              <a:t>以及它们的建树和查找的过程。</a:t>
            </a:r>
          </a:p>
        </p:txBody>
      </p:sp>
      <p:sp>
        <p:nvSpPr>
          <p:cNvPr id="184323" name="Text Box 3"/>
          <p:cNvSpPr txBox="1">
            <a:spLocks noChangeArrowheads="1"/>
          </p:cNvSpPr>
          <p:nvPr/>
        </p:nvSpPr>
        <p:spPr bwMode="auto">
          <a:xfrm>
            <a:off x="593725" y="2343150"/>
            <a:ext cx="8245475"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600" b="1">
                <a:solidFill>
                  <a:srgbClr val="990000"/>
                </a:solidFill>
                <a:ea typeface="楷体_GB2312" charset="0"/>
              </a:rPr>
              <a:t>     5.</a:t>
            </a:r>
            <a:r>
              <a:rPr lang="en-US" altLang="zh-CN" sz="3600">
                <a:solidFill>
                  <a:srgbClr val="990000"/>
                </a:solidFill>
                <a:latin typeface="楷体_GB2312" charset="0"/>
                <a:ea typeface="楷体_GB2312" charset="0"/>
              </a:rPr>
              <a:t> </a:t>
            </a:r>
            <a:r>
              <a:rPr lang="zh-CN" altLang="en-US" sz="3600">
                <a:solidFill>
                  <a:srgbClr val="990000"/>
                </a:solidFill>
                <a:latin typeface="楷体_GB2312" charset="0"/>
                <a:ea typeface="楷体_GB2312" charset="0"/>
              </a:rPr>
              <a:t>熟练掌握哈希表的构造方法，深刻理解哈希表与其它结构的表的实质性的差别。</a:t>
            </a:r>
            <a:endParaRPr lang="zh-CN" altLang="en-US" sz="3600"/>
          </a:p>
        </p:txBody>
      </p:sp>
      <p:sp>
        <p:nvSpPr>
          <p:cNvPr id="184324" name="Text Box 4"/>
          <p:cNvSpPr txBox="1">
            <a:spLocks noChangeArrowheads="1"/>
          </p:cNvSpPr>
          <p:nvPr/>
        </p:nvSpPr>
        <p:spPr bwMode="auto">
          <a:xfrm>
            <a:off x="593725" y="4705350"/>
            <a:ext cx="8321675"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lang="en-US" altLang="zh-CN" sz="3600" b="1">
                <a:solidFill>
                  <a:srgbClr val="990000"/>
                </a:solidFill>
                <a:ea typeface="楷体_GB2312" charset="0"/>
              </a:rPr>
              <a:t>     6.</a:t>
            </a:r>
            <a:r>
              <a:rPr lang="en-US" altLang="zh-CN" sz="3600">
                <a:solidFill>
                  <a:srgbClr val="990000"/>
                </a:solidFill>
                <a:latin typeface="楷体_GB2312" charset="0"/>
                <a:ea typeface="楷体_GB2312" charset="0"/>
              </a:rPr>
              <a:t> </a:t>
            </a:r>
            <a:r>
              <a:rPr lang="zh-CN" altLang="en-US" sz="3600">
                <a:solidFill>
                  <a:srgbClr val="990000"/>
                </a:solidFill>
                <a:latin typeface="楷体_GB2312" charset="0"/>
                <a:ea typeface="楷体_GB2312" charset="0"/>
              </a:rPr>
              <a:t>掌握按定义计算各种查找方法在等概率情况下查找成功时的平均查找长度。</a:t>
            </a:r>
            <a:endParaRPr lang="zh-CN" altLang="en-US"/>
          </a:p>
        </p:txBody>
      </p:sp>
    </p:spTree>
    <p:extLst>
      <p:ext uri="{BB962C8B-B14F-4D97-AF65-F5344CB8AC3E}">
        <p14:creationId xmlns:p14="http://schemas.microsoft.com/office/powerpoint/2010/main" val="5727701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NULL"/></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TM03457496[[fn=视差]]</Template>
  <TotalTime>42</TotalTime>
  <Words>9995</Words>
  <Application>Microsoft Macintosh PowerPoint</Application>
  <PresentationFormat>全屏显示(4:3)</PresentationFormat>
  <Paragraphs>1642</Paragraphs>
  <Slides>174</Slides>
  <Notes>1</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5</vt:i4>
      </vt:variant>
      <vt:variant>
        <vt:lpstr>幻灯片标题</vt:lpstr>
      </vt:variant>
      <vt:variant>
        <vt:i4>174</vt:i4>
      </vt:variant>
    </vt:vector>
  </HeadingPairs>
  <TitlesOfParts>
    <vt:vector size="196" baseType="lpstr">
      <vt:lpstr>Calibri</vt:lpstr>
      <vt:lpstr>Lucida Sans Unicode</vt:lpstr>
      <vt:lpstr>Verdana</vt:lpstr>
      <vt:lpstr>Wingdings 2</vt:lpstr>
      <vt:lpstr>Wingdings 3</vt:lpstr>
      <vt:lpstr>黑体</vt:lpstr>
      <vt:lpstr>华文行楷</vt:lpstr>
      <vt:lpstr>华文楷体</vt:lpstr>
      <vt:lpstr>楷体_GB2312</vt:lpstr>
      <vt:lpstr>隶书</vt:lpstr>
      <vt:lpstr>宋体</vt:lpstr>
      <vt:lpstr>Angsana New</vt:lpstr>
      <vt:lpstr>Arial</vt:lpstr>
      <vt:lpstr>Monotype Sorts</vt:lpstr>
      <vt:lpstr>Symbol</vt:lpstr>
      <vt:lpstr>Times New Roman</vt:lpstr>
      <vt:lpstr>聚合</vt:lpstr>
      <vt:lpstr>Microsoft Clip Gallery</vt:lpstr>
      <vt:lpstr>Microsoft Word 文档</vt:lpstr>
      <vt:lpstr>Microsoft Equation 3.0</vt:lpstr>
      <vt:lpstr>Microsoft 公式 3.0</vt:lpstr>
      <vt:lpstr>位图图像</vt:lpstr>
      <vt:lpstr>PowerPoint 演示文稿</vt:lpstr>
      <vt:lpstr>PowerPoint 演示文稿</vt:lpstr>
      <vt:lpstr>对查找表经常进行的操作: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2．二叉排序树的查找算法：</vt:lpstr>
      <vt:lpstr>PowerPoint 演示文稿</vt:lpstr>
      <vt:lpstr>PowerPoint 演示文稿</vt:lpstr>
      <vt:lpstr>PowerPoint 演示文稿</vt:lpstr>
      <vt:lpstr>PowerPoint 演示文稿</vt:lpstr>
      <vt:lpstr>PowerPoint 演示文稿</vt:lpstr>
      <vt:lpstr>3．二叉排序树的插入算法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二、二叉平衡树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对增量 di  有三种取法：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15.0027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in C</dc:title>
  <dc:creator>zl</dc:creator>
  <cp:lastModifiedBy>Microsoft Office User</cp:lastModifiedBy>
  <cp:revision>74</cp:revision>
  <dcterms:created xsi:type="dcterms:W3CDTF">2021-09-07T07:00:29Z</dcterms:created>
  <dcterms:modified xsi:type="dcterms:W3CDTF">2021-09-12T02:31:58Z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CADF6424C67F4878824CBAFDDE4F69C5</vt:lpwstr>
  </property>
  <property fmtid="{D5CDD505-2E9C-101B-9397-08002B2CF9AE}" pid="3" name="KSOProductBuildVer">
    <vt:lpwstr>2052-3.0.0.4824</vt:lpwstr>
  </property>
</Properties>
</file>